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ns0="http://schemas.openxmlformats.org/officeDocument/2006/relationships" id="273" ns0:id="rId18"/>
    <p:sldId xmlns:ns0="http://schemas.openxmlformats.org/officeDocument/2006/relationships" id="274" ns0:id="rId22"/>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4.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5.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6.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385.60661333</c:v>
                </c:pt>
                <c:pt idx="1">
                  <c:v>407.35513333</c:v>
                </c:pt>
                <c:pt idx="2">
                  <c:v>404.49516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40.0"/>
          <c:min val="3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1604.98211028</c:v>
                </c:pt>
                <c:pt idx="1">
                  <c:v>1644.29825304</c:v>
                </c:pt>
                <c:pt idx="2">
                  <c:v>1792.3996741</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900.0"/>
          <c:min val="13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4.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재사용률(분자: 환급 후 선택 지역 내 적격 재결제액 / 분모: 지급한 환급액), 인정 결제액, 성공/중단 기준은 착수 전 확정 예정",</a:t>
            </a:r>
          </a:p>
          <a:p xmlns:a="http://schemas.openxmlformats.org/drawingml/2006/main">
            <a:r>
              <a:t>    "title": "제주시 외지인 관광 소비 촉진을 위한 지역 상품권 환급 프로그램",</a:t>
            </a:r>
          </a:p>
          <a:p xmlns:a="http://schemas.openxmlformats.org/drawingml/2006/main">
            <a:r>
              <a:t>    "budget": "환급액 총액 100,000,000원 (기획 가정: 환급률 20%, 건별 상한 50,000원, 예상 참여자 10,000명 기준)",</a:t>
            </a:r>
          </a:p>
          <a:p xmlns:a="http://schemas.openxmlformats.org/drawingml/2006/main">
            <a:r>
              <a:t>    "evidence": "case:761228c746fb13",</a:t>
            </a:r>
          </a:p>
          <a:p xmlns:a="http://schemas.openxmlformats.org/drawingml/2006/main">
            <a:r>
              <a:t>    "priority": 1,</a:t>
            </a:r>
          </a:p>
          <a:p xmlns:a="http://schemas.openxmlformats.org/drawingml/2006/main">
            <a:r>
              <a:t>    "solution": "제주시 방문 외지인이 지정된 적격 업종에서 결제 시, 지출액의 일부를 제주시 지역 상품권으로 즉시 또는 사후 환급하여 지역 내 재사용을 유도함.",</a:t>
            </a:r>
          </a:p>
          <a:p xmlns:a="http://schemas.openxmlformats.org/drawingml/2006/main">
            <a:r>
              <a:t>    "timeframe": "2026-10 ~ 2026-12, 3개월",</a:t>
            </a:r>
          </a:p>
          <a:p xmlns:a="http://schemas.openxmlformats.org/drawingml/2006/main">
            <a:r>
              <a:t>    "expected_effect": "계획 목표: 최종월 ML 기준 전망 대비 방문 +20%, 소비 +20%. 월별 목표는 단계 적용하며 참여·이용 실적은 별도 집계합니다.",</a:t>
            </a:r>
          </a:p>
          <a:p xmlns:a="http://schemas.openxmlformats.org/drawingml/2006/main">
            <a:r>
              <a:t>    "problem_to_solve": "높은 관광 관심도(검색량) 대비 실제 지역 내 소비 전환 및 체류 유도 필요",</a:t>
            </a:r>
          </a:p>
          <a:p xmlns:a="http://schemas.openxmlformats.org/drawingml/2006/main">
            <a:r>
              <a:t>    "comparison_analysis": "강진 반값여행(case:761228c746fb13)은 지역 지출의 일부를 모바일 상품권으로 환급하여 재소비를 유도함. 제주시의 경우 규모가 훨씬 크므로, 전 지역이 아닌 특정 권역(전통시장, 외식업 등)과 업종에 집중한 시범 사업 형태로 운영하여 예산 효율성을 높임.",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"참여 업체 모집 및 정산 시스템 검증",</a:t>
            </a:r>
          </a:p>
          <a:p xmlns:a="http://schemas.openxmlformats.org/drawingml/2006/main">
            <a:r>
              <a:t>        "schedule": "2026-10",</a:t>
            </a:r>
          </a:p>
          <a:p xmlns:a="http://schemas.openxmlformats.org/drawingml/2006/main">
            <a:r>
              <a:t>        "deliverable": "참여 업체 명단 및 디지털 바우처/상품권 정산 프로세스 확정안"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"운영 규정 및 환급 가이드라인 수립",</a:t>
            </a:r>
          </a:p>
          <a:p xmlns:a="http://schemas.openxmlformats.org/drawingml/2006/main">
            <a:r>
              <a:t>        "schedule": "2026-10",</a:t>
            </a:r>
          </a:p>
          <a:p xmlns:a="http://schemas.openxmlformats.org/drawingml/2006/main">
            <a:r>
              <a:t>        "deliverable": "중복 수혜 방지 및 영수증 검증을 포함한 운영 매뉴얼"</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"시범 사업 운영 및 실시간 모니터링",</a:t>
            </a:r>
          </a:p>
          <a:p xmlns:a="http://schemas.openxmlformats.org/drawingml/2006/main">
            <a:r>
              <a:t>        "schedule": "2026-10 ~ 2026-12",</a:t>
            </a:r>
          </a:p>
          <a:p xmlns:a="http://schemas.openxmlformats.org/drawingml/2006/main">
            <a:r>
              <a:t>        "deliverable": "주간 단위 신청·승인·결제 원장"</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"중간 성과 점검 및 예산 소진율 확인",</a:t>
            </a:r>
          </a:p>
          <a:p xmlns:a="http://schemas.openxmlformats.org/drawingml/2006/main">
            <a:r>
              <a:t>        "schedule": "2026-11",</a:t>
            </a:r>
          </a:p>
          <a:p xmlns:a="http://schemas.openxmlformats.org/drawingml/2006/main">
            <a:r>
              <a:t>        "deliverable": "중간 분석 보고서 (예산 조기 소진 시 규모 축소 검토)"</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"최종 성과 분석 및 차기 사업 제언",</a:t>
            </a:r>
          </a:p>
          <a:p xmlns:a="http://schemas.openxmlformats.org/drawingml/2006/main">
            <a:r>
              <a:t>        "schedule": "2026-12",</a:t>
            </a:r>
          </a:p>
          <a:p xmlns:a="http://schemas.openxmlformats.org/drawingml/2006/main">
            <a:r>
              <a:t>        "deliverable": "최종 결과 보고서 (재사용률 및 순증 결제액 중심)"</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"dataset:50110:1",</a:t>
            </a:r>
          </a:p>
          <a:p xmlns:a="http://schemas.openxmlformats.org/drawingml/2006/main">
            <a:r>
              <a:t>      "dataset:50110:3"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후 재사용률(분자: 환급 후 선택 지역 내 적격 재결제액 / 분모: 지급한 환급액), 인정 결제액, 성공/중단 기준은 착수 전 확정 예정",</a:t>
            </a:r>
          </a:p>
          <a:p xmlns:a="http://schemas.openxmlformats.org/drawingml/2006/main">
            <a:r>
              <a:t>    "title": "제주시 외지인 관광 소비 촉진을 위한 지역 상품권 환급 프로그램",</a:t>
            </a:r>
          </a:p>
          <a:p xmlns:a="http://schemas.openxmlformats.org/drawingml/2006/main">
            <a:r>
              <a:t>    "budget": "환급액 총액 100,000,000원 (기획 가정: 환급률 20%, 건별 상한 50,000원, 예상 참여자 10,000명 기준)",</a:t>
            </a:r>
          </a:p>
          <a:p xmlns:a="http://schemas.openxmlformats.org/drawingml/2006/main">
            <a:r>
              <a:t>    "evidence": "case:761228c746fb13",</a:t>
            </a:r>
          </a:p>
          <a:p xmlns:a="http://schemas.openxmlformats.org/drawingml/2006/main">
            <a:r>
              <a:t>    "priority": 1,</a:t>
            </a:r>
          </a:p>
          <a:p xmlns:a="http://schemas.openxmlformats.org/drawingml/2006/main">
            <a:r>
              <a:t>    "solution": "제주시 방문 외지인이 지정된 적격 업종에서 결제 시, 지출액의 일부를 제주시 지역 상품권으로 즉시 또는 사후 환급하여 지역 내 재사용을 유도함.",</a:t>
            </a:r>
          </a:p>
          <a:p xmlns:a="http://schemas.openxmlformats.org/drawingml/2006/main">
            <a:r>
              <a:t>    "timeframe": "2026-10 ~ 2026-12, 3개월",</a:t>
            </a:r>
          </a:p>
          <a:p xmlns:a="http://schemas.openxmlformats.org/drawingml/2006/main">
            <a:r>
              <a:t>    "expected_effect": "계획 목표: 최종월 ML 기준 전망 대비 방문 +20%, 소비 +20%. 월별 목표는 단계 적용하며 참여·이용 실적은 별도 집계합니다.",</a:t>
            </a:r>
          </a:p>
          <a:p xmlns:a="http://schemas.openxmlformats.org/drawingml/2006/main">
            <a:r>
              <a:t>    "problem_to_solve": "높은 관광 관심도(검색량) 대비 실제 지역 내 소비 전환 및 체류 유도 필요",</a:t>
            </a:r>
          </a:p>
          <a:p xmlns:a="http://schemas.openxmlformats.org/drawingml/2006/main">
            <a:r>
              <a:t>    "comparison_analysis": "강진 반값여행(case:761228c746fb13)은 지역 지출의 일부를 모바일 상품권으로 환급하여 재소비를 유도함. 제주시의 경우 규모가 훨씬 크므로, 전 지역이 아닌 특정 권역(전통시장, 외식업 등)과 업종에 집중한 시범 사업 형태로 운영하여 예산 효율성을 높임.",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"참여 업체 모집 및 정산 시스템 검증",</a:t>
            </a:r>
          </a:p>
          <a:p xmlns:a="http://schemas.openxmlformats.org/drawingml/2006/main">
            <a:r>
              <a:t>        "schedule": "2026-10",</a:t>
            </a:r>
          </a:p>
          <a:p xmlns:a="http://schemas.openxmlformats.org/drawingml/2006/main">
            <a:r>
              <a:t>        "deliverable": "참여 업체 명단 및 디지털 바우처/상품권 정산 프로세스 확정안"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"운영 규정 및 환급 가이드라인 수립",</a:t>
            </a:r>
          </a:p>
          <a:p xmlns:a="http://schemas.openxmlformats.org/drawingml/2006/main">
            <a:r>
              <a:t>        "schedule": "2026-10",</a:t>
            </a:r>
          </a:p>
          <a:p xmlns:a="http://schemas.openxmlformats.org/drawingml/2006/main">
            <a:r>
              <a:t>        "deliverable": "중복 수혜 방지 및 영수증 검증을 포함한 운영 매뉴얼"</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"시범 사업 운영 및 실시간 모니터링",</a:t>
            </a:r>
          </a:p>
          <a:p xmlns:a="http://schemas.openxmlformats.org/drawingml/2006/main">
            <a:r>
              <a:t>        "schedule": "2026-10 ~ 2026-12",</a:t>
            </a:r>
          </a:p>
          <a:p xmlns:a="http://schemas.openxmlformats.org/drawingml/2006/main">
            <a:r>
              <a:t>        "deliverable": "주간 단위 신청·승인·결제 원장"</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"중간 성과 점검 및 예산 소진율 확인",</a:t>
            </a:r>
          </a:p>
          <a:p xmlns:a="http://schemas.openxmlformats.org/drawingml/2006/main">
            <a:r>
              <a:t>        "schedule": "2026-11",</a:t>
            </a:r>
          </a:p>
          <a:p xmlns:a="http://schemas.openxmlformats.org/drawingml/2006/main">
            <a:r>
              <a:t>        "deliverable": "중간 분석 보고서 (예산 조기 소진 시 규모 축소 검토)"</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"최종 성과 분석 및 차기 사업 제언",</a:t>
            </a:r>
          </a:p>
          <a:p xmlns:a="http://schemas.openxmlformats.org/drawingml/2006/main">
            <a:r>
              <a:t>        "schedule": "2026-12",</a:t>
            </a:r>
          </a:p>
          <a:p xmlns:a="http://schemas.openxmlformats.org/drawingml/2006/main">
            <a:r>
              <a:t>        "deliverable": "최종 결과 보고서 (재사용률 및 순증 결제액 중심)"</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"dataset:50110:1",</a:t>
            </a:r>
          </a:p>
          <a:p xmlns:a="http://schemas.openxmlformats.org/drawingml/2006/main">
            <a:r>
              <a:t>      "dataset:50110:3"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"한국관광 데이터랩 우수 활용사례(2025)—데이터 기반 강진 반값여행으로 지역 경제를 살리다",</a:t>
            </a:r>
          </a:p>
          <a:p xmlns:a="http://schemas.openxmlformats.org/drawingml/2006/main">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"source_id": "case:761228c746fb13",</a:t>
            </a:r>
          </a:p>
          <a:p xmlns:a="http://schemas.openxmlformats.org/drawingml/2006/main">
            <a:r>
              <a:t>      "source_url": "https://datalab.visitkorea.or.kr/html/interview5/interview01.jsp",</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반값여행—지역지출 환급과 지역상품권 재소비",</a:t>
            </a:r>
          </a:p>
          <a:p xmlns:a="http://schemas.openxmlformats.org/drawingml/2006/main">
            <a:r>
              <a:t>      "document_type": null,</a:t>
            </a:r>
          </a:p>
          <a:p xmlns:a="http://schemas.openxmlformats.org/drawingml/2006/main">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실적을 이전 연도 및 자체·통신·상품권 자료와 비교",</a:t>
            </a:r>
          </a:p>
          <a:p xmlns:a="http://schemas.openxmlformats.org/drawingml/2006/main">
            <a:r>
              <a:t>      "transfer_conditions": [</a:t>
            </a:r>
          </a:p>
          <a:p xmlns:a="http://schemas.openxmlformats.org/drawingml/2006/main">
            <a:r>
              <a:t>        "제주시에 적용하려면 대상 권역·참여자·환급 인정 업종·최대 환급액을 제한한 시범사업으로 축소해야 함",</a:t>
            </a:r>
          </a:p>
          <a:p xmlns:a="http://schemas.openxmlformats.org/drawingml/2006/main">
            <a:r>
              <a:t>        "지역화폐 또는 사용처가 제한된 디지털 바우처와 정산 시스템 확보 필요",</a:t>
            </a:r>
          </a:p>
          <a:p xmlns:a="http://schemas.openxmlformats.org/drawingml/2006/main">
            <a:r>
              <a:t>        "여행 전 신청, 현장 방문 및 결제 증빙, 중복·허위 영수증 검증 절차 필요",</a:t>
            </a:r>
          </a:p>
          <a:p xmlns:a="http://schemas.openxmlformats.org/drawingml/2006/main">
            <a:r>
              <a:t>        "제주시의 방문 규모와 상권 구조는 강진군과 크게 다르므로 강진 예산·증가율을 비례 환산하지 않음",</a:t>
            </a:r>
          </a:p>
          <a:p xmlns:a="http://schemas.openxmlformats.org/drawingml/2006/main">
            <a:r>
              <a:t>        "성과는 신청팀 수가 아니라 여행 완료율, 인정 결제액, 환급액, 환급분 재사용액, 참여업체별 순증 결제로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"서울달(SEOULDAL)—서울 정책 아카이브",</a:t>
            </a:r>
          </a:p>
          <a:p xmlns:a="http://schemas.openxmlformats.org/drawingml/2006/main">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"source_id": "case:946857867790a6",</a:t>
            </a:r>
          </a:p>
          <a:p xmlns:a="http://schemas.openxmlformats.org/drawingml/2006/main">
            <a:r>
              <a:t>      "source_url": "https://www.seoul.go.kr/policy/view.do?id=1022&amp;lan=",</a:t>
            </a:r>
          </a:p>
          <a:p xmlns:a="http://schemas.openxmlformats.org/drawingml/2006/main">
            <a:r>
              <a:t>      "case_region": "서울특별시 영등포구 여의도",</a:t>
            </a:r>
          </a:p>
          <a:p xmlns:a="http://schemas.openxmlformats.org/drawingml/2006/main">
            <a:r>
              <a:t>      "source_type": "benchmark_case",</a:t>
            </a:r>
          </a:p>
          <a:p xmlns:a="http://schemas.openxmlformats.org/drawingml/2006/main">
            <a:r>
              <a:t>      "intervention": "서울달—예약채널 확대와 야간 운영시간 연장",</a:t>
            </a:r>
          </a:p>
          <a:p xmlns:a="http://schemas.openxmlformats.org/drawingml/2006/main">
            <a:r>
              <a:t>      "document_type": null,</a:t>
            </a:r>
          </a:p>
          <a:p xmlns:a="http://schemas.openxmlformats.org/drawingml/2006/main">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8월 정식 운영 이후부터 2026년 6월까지 누적 실적",</a:t>
            </a:r>
          </a:p>
          <a:p xmlns:a="http://schemas.openxmlformats.org/drawingml/2006/main">
            <a:r>
              <a:t>      "transfer_conditions": [</a:t>
            </a:r>
          </a:p>
          <a:p xmlns:a="http://schemas.openxmlformats.org/drawingml/2006/main">
            <a:r>
              <a:t>        "제주시는 고비용 신규 시설을 복제하지 말고 기존 전망·문화·해양·공공시설의 미판매 시간대를 예약상품으로 전환",</a:t>
            </a:r>
          </a:p>
          <a:p xmlns:a="http://schemas.openxmlformats.org/drawingml/2006/main">
            <a:r>
              <a:t>        "10~12월 일몰시간과 항공 도착시간을 반영해 저녁 회차를 편성하고 기상 취소·환불 규칙을 사전 고지",</a:t>
            </a:r>
          </a:p>
          <a:p xmlns:a="http://schemas.openxmlformats.org/drawingml/2006/main">
            <a:r>
              <a:t>        "국내 예약 플랫폼과 외국어 판매채널에서 동일한 재고·시간표를 관리할 수 있는 운영자 필요",</a:t>
            </a:r>
          </a:p>
          <a:p xmlns:a="http://schemas.openxmlformats.org/drawingml/2006/main">
            <a:r>
              <a:t>        "예약 노출→결제→방문 완료→인근 상권 결제의 단계별 전환율을 수집",</a:t>
            </a:r>
          </a:p>
          <a:p xmlns:a="http://schemas.openxmlformats.org/drawingml/2006/main">
            <a:r>
              <a:t>        "야간 프로그램 운영일과 비운영일, 참여시설과 비참여시설을 구분해 비교"</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"외국인 개별관광객 지방 방문 촉진 고토치 셔틀 운영자료",</a:t>
            </a:r>
          </a:p>
          <a:p xmlns:a="http://schemas.openxmlformats.org/drawingml/2006/main">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"source_id": "case:199f928478e634",</a:t>
            </a:r>
          </a:p>
          <a:p xmlns:a="http://schemas.openxmlformats.org/drawingml/2006/main">
            <a:r>
              <a:t>      "source_url": "https://kto.visitkorea.or.kr/upload/flexer/upload/ktobiz/20190417/ca99de85-60a6-11e9-9d6f-39c7f0d61b75.hwp.files/Sections1.html",</a:t>
            </a:r>
          </a:p>
          <a:p xmlns:a="http://schemas.openxmlformats.org/drawingml/2006/main">
            <a:r>
              <a:t>      "case_region": "서울 출발 지방 관광지 연계 노선",</a:t>
            </a:r>
          </a:p>
          <a:p xmlns:a="http://schemas.openxmlformats.org/drawingml/2006/main">
            <a:r>
              <a:t>      "source_type": "benchmark_case",</a:t>
            </a:r>
          </a:p>
          <a:p xmlns:a="http://schemas.openxmlformats.org/drawingml/2006/main">
            <a:r>
              <a:t>      "intervention": "고토치 셔틀—외국인 대상 예약·결제형 지역관광 버스",</a:t>
            </a:r>
          </a:p>
          <a:p xmlns:a="http://schemas.openxmlformats.org/drawingml/2006/main">
            <a:r>
              <a:t>      "document_type": null,</a:t>
            </a:r>
          </a:p>
          <a:p xmlns:a="http://schemas.openxmlformats.org/drawingml/2006/main">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"2014년 사업 시작부터 2019년 공개 시점까지 누적",</a:t>
            </a:r>
          </a:p>
          <a:p xmlns:a="http://schemas.openxmlformats.org/drawingml/2006/main">
            <a:r>
              <a:t>      "transfer_conditions": [</a:t>
            </a:r>
          </a:p>
          <a:p xmlns:a="http://schemas.openxmlformats.org/drawingml/2006/main">
            <a:r>
              <a:t>        "제주시에서는 서울 출발 장거리 셔틀이 아니라 제주공항–제주시 도심–저녁 체험 또는 읍·면 거점을 연결하는 예약형 소규모 노선으로 변경",</a:t>
            </a:r>
          </a:p>
          <a:p xmlns:a="http://schemas.openxmlformats.org/drawingml/2006/main">
            <a:r>
              <a:t>        "정기 대중교통과 중복되지 않는 시간대·목적지를 선정하고 운송사업자와 적법한 운영계약 필요",</a:t>
            </a:r>
          </a:p>
          <a:p xmlns:a="http://schemas.openxmlformats.org/drawingml/2006/main">
            <a:r>
              <a:t>        "왕복 교통만 판매하지 말고 예약 가능한 체험·식음·야간 콘텐츠와 묶어 실제 이용기록을 남겨야 함",</a:t>
            </a:r>
          </a:p>
          <a:p xmlns:a="http://schemas.openxmlformats.org/drawingml/2006/main">
            <a:r>
              <a:t>        "항공편 지연을 고려한 탑승 유예·환불·대체 회차 규칙 필요",</a:t>
            </a:r>
          </a:p>
          <a:p xmlns:a="http://schemas.openxmlformats.org/drawingml/2006/main">
            <a:r>
              <a:t>        "좌석 예약률, 실제 탑승률, 체험 완료율, 권역 내 결제액을 분리 측정"</a:t>
            </a:r>
          </a:p>
          <a:p xmlns:a="http://schemas.openxmlformats.org/drawingml/2006/main">
            <a:r>
              <a:t>      ],</a:t>
            </a:r>
          </a:p>
          <a:p xmlns:a="http://schemas.openxmlformats.org/drawingml/2006/main">
            <a:r>
              <a:t>      "published_or_updated_at": "2019-04-17",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"유사 사업 참고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"유사 사업 참고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"참여 업체 모집 및 정산 시스템 검증", "schedule": "2026-10", "deliverable": "참여 업체 명단 및 디지털 바우처/상품권 정산 프로세스 확정안"}, {"step": 2, "task": "운영 규정 및 환급 가이드라인 수립", "schedule": "2026-10", "deliverable": "중복 수혜 방지 및 영수증 검증을 포함한 운영 매뉴얼"}, {"step": 3, "task": "시범 사업 운영 및 실시간 모니터링", "schedule": "2026-10 ~ 2026-12", "deliverable": "주간 단위 신청·승인·결제 원장"}, {"step": 4, "task": "중간 성과 점검 및 예산 소진율 확인", "schedule": "2026-11", "deliverable": "중간 분석 보고서 (예산 조기 소진 시 규모 축소 검토)"}, {"step": 5, "task": "최종 성과 분석 및 차기 사업 제언", "schedule": "2026-12", "deliverable": "최종 결과 보고서 (재사용률 및 순증 결제액 중심)"}]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11,974,569명 (추가 1,394,404명, +13.18%)\n관광소비액: 기준 444,918,852,321원 → 목표 504,168,003,742원 (추가 59,249,151,421원, +13.32%)\n월별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7개 예측값으로 학습한 지역 추천 모델이나 주민 인구 비례 순위가 아닙니다. 표시 건수는 보고서에 남은 기록 기준입니다."</a:t>
            </a:r>
          </a:p>
          <a:p>
            <a:r>
              <a:t>    ],</a:t>
            </a:r>
          </a:p>
          <a:p>
            <a:r>
              <a:t>    [</a:t>
            </a:r>
          </a:p>
          <a:p>
            <a:r>
              <a:t>      "목표율과 운영 예산의 연결",</a:t>
            </a:r>
          </a:p>
          <a:p>
            <a:r>
              <a:t>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아니다.\n사업기간 추가 방문 목표 1,394,404명 × 시범 담당 비중 1% → 13,945건(올림).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11974569.066666666,</a:t>
            </a:r>
          </a:p>
          <a:p>
            <a:r>
              <a:t>        "additional": 1394404.0666666664,</a:t>
            </a:r>
          </a:p>
          <a:p>
            <a:r>
              <a:t>        "pct": 13.179417019173778</a:t>
            </a:r>
          </a:p>
          <a:p>
            <a:r>
              <a:t>      },</a:t>
            </a:r>
          </a:p>
          <a:p>
            <a:r>
              <a:t>      {</a:t>
            </a:r>
          </a:p>
          <a:p>
            <a:r>
              <a:t>        "key": "spending",</a:t>
            </a:r>
          </a:p>
          <a:p>
            <a:r>
              <a:t>        "label": "관광소비액",</a:t>
            </a:r>
          </a:p>
          <a:p>
            <a:r>
              <a:t>        "unit": "원",</a:t>
            </a:r>
          </a:p>
          <a:p>
            <a:r>
              <a:t>        "baseline": 444918852321.0,</a:t>
            </a:r>
          </a:p>
          <a:p>
            <a:r>
              <a:t>        "target": 504168003741.7333,</a:t>
            </a:r>
          </a:p>
          <a:p>
            <a:r>
              <a:t>        "additional": 59249151420.73328,</a:t>
            </a:r>
          </a:p>
          <a:p>
            <a:r>
              <a:t>        "pct": 13.31684443391179</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8,</a:t>
            </a:r>
          </a:p>
          <a:p>
            <a:r>
              <a:t>    "case_region_count": 7,</a:t>
            </a:r>
          </a:p>
          <a:p>
            <a:r>
              <a:t>    "candidate_count": 2,</a:t>
            </a:r>
          </a:p>
          <a:p>
            <a:r>
              <a:t>    "displayed_count": 3,</a:t>
            </a:r>
          </a:p>
          <a:p>
            <a:r>
              <a:t>    "primary":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"selection_reason": "제주시의 외지인 관광소비 총액이 높고, 내비게이션 목적지 검색량이 높은 것으로 보여, 지역 상품권 환급 프로그램이 제주시의 관광 활성화에 효과적일 것으로 예상됩니다. 또한, 강진 반값여행 사례에서 확인된 환급 방식을 참고하여 제주시에 적용할 수 있으며, 지역 상품권 환급 프로그램은 제주시의 방문자 수 증가 및 소비 유도에 기여할 수 있습니다.",</a:t>
            </a:r>
          </a:p>
          <a:p>
            <a:r>
              <a:t>    "target_explanation":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"여행비 환급 지원",</a:t>
            </a:r>
          </a:p>
          <a:p>
            <a:r>
              <a:t>          "basis": "13,945건 × 50,000원",</a:t>
            </a:r>
          </a:p>
          <a:p>
            <a:r>
              <a:t>          "amount": 697250000</a:t>
            </a:r>
          </a:p>
          <a:p>
            <a:r>
              <a:t>        },</a:t>
            </a:r>
          </a:p>
          <a:p>
            <a:r>
              <a:t>        {</a:t>
            </a:r>
          </a:p>
          <a:p>
            <a:r>
              <a:t>          "name": "현장 운영·정산",</a:t>
            </a:r>
          </a:p>
          <a:p>
            <a:r>
              <a:t>          "basis": "max(월 20인일 × 3, 13,945건 ÷ 25건/인일 올림) = 558인일 × 150,000원",</a:t>
            </a:r>
          </a:p>
          <a:p>
            <a:r>
              <a:t>          "amount": 83700000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79,695만원 × 10%",</a:t>
            </a:r>
          </a:p>
          <a:p>
            <a:r>
              <a:t>          "amount": 79695000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"reference-estimate-v2",</a:t>
            </a:r>
          </a:p>
          <a:p>
            <a:r>
              <a:t>      "quantity": 13945,</a:t>
            </a:r>
          </a:p>
          <a:p>
            <a:r>
              <a:t>      "unit_krw": 50000,</a:t>
            </a:r>
          </a:p>
          <a:p>
            <a:r>
              <a:t>      "total_krw": 876645000,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79695000,</a:t>
            </a:r>
          </a:p>
          <a:p>
            <a:r>
              <a:t>      "scale_basis": "사업기간 추가 방문 목표 1,394,404명 × 시범 담당 비중 1% → 13,945건(올림). 1%는 직접 운영할 참여량 배분 가정이며 전환율 예측이 아닙니다.",</a:t>
            </a:r>
          </a:p>
          <a:p>
            <a:r>
              <a:t>      "subtotal_krw": 796950000,</a:t>
            </a:r>
          </a:p>
          <a:p>
            <a:r>
              <a:t>      "pilot_share_pct": 1,</a:t>
            </a:r>
          </a:p>
          <a:p>
            <a:r>
              <a:t>      "redemption_count": 11156,</a:t>
            </a:r>
          </a:p>
          <a:p>
            <a:r>
              <a:t>      "within_hard_budget": true,</a:t>
            </a:r>
          </a:p>
          <a:p>
            <a:r>
              <a:t>      "qualifying_spend_krw": 1394500000,</a:t>
            </a:r>
          </a:p>
          <a:p>
            <a:r>
              <a:t>      "redemption_target_pct": 80,</a:t>
            </a:r>
          </a:p>
          <a:p>
            <a:r>
              <a:t>      "additional_visitors_target": 1394404.0666666664</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"items": [</a:t>
            </a:r>
          </a:p>
          <a:p>
            <a:r>
              <a:t>    {</a:t>
            </a:r>
          </a:p>
          <a:p>
            <a:r>
              <a:t>      "name": "여행비 환급 지원",</a:t>
            </a:r>
          </a:p>
          <a:p>
            <a:r>
              <a:t>      "basis": "13,945건 × 50,000원",</a:t>
            </a:r>
          </a:p>
          <a:p>
            <a:r>
              <a:t>      "amount": 697250000</a:t>
            </a:r>
          </a:p>
          <a:p>
            <a:r>
              <a:t>    },</a:t>
            </a:r>
          </a:p>
          <a:p>
            <a:r>
              <a:t>    {</a:t>
            </a:r>
          </a:p>
          <a:p>
            <a:r>
              <a:t>      "name": "현장 운영·정산",</a:t>
            </a:r>
          </a:p>
          <a:p>
            <a:r>
              <a:t>      "basis": "max(월 20인일 × 3, 13,945건 ÷ 25건/인일 올림) = 558인일 × 150,000원",</a:t>
            </a:r>
          </a:p>
          <a:p>
            <a:r>
              <a:t>      "amount": 83700000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79,695만원 × 10%",</a:t>
            </a:r>
          </a:p>
          <a:p>
            <a:r>
              <a:t>      "amount": 79695000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"reference-estimate-v2",</a:t>
            </a:r>
          </a:p>
          <a:p>
            <a:r>
              <a:t>  "quantity": 13945,</a:t>
            </a:r>
          </a:p>
          <a:p>
            <a:r>
              <a:t>  "unit_krw": 50000,</a:t>
            </a:r>
          </a:p>
          <a:p>
            <a:r>
              <a:t>  "total_krw": 876645000,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79695000,</a:t>
            </a:r>
          </a:p>
          <a:p>
            <a:r>
              <a:t>  "scale_basis": "사업기간 추가 방문 목표 1,394,404명 × 시범 담당 비중 1% → 13,945건(올림). 1%는 직접 운영할 참여량 배분 가정이며 전환율 예측이 아닙니다.",</a:t>
            </a:r>
          </a:p>
          <a:p>
            <a:r>
              <a:t>  "subtotal_krw": 796950000,</a:t>
            </a:r>
          </a:p>
          <a:p>
            <a:r>
              <a:t>  "pilot_share_pct": 1,</a:t>
            </a:r>
          </a:p>
          <a:p>
            <a:r>
              <a:t>  "redemption_count": 11156,</a:t>
            </a:r>
          </a:p>
          <a:p>
            <a:r>
              <a:t>  "within_hard_budget": true,</a:t>
            </a:r>
          </a:p>
          <a:p>
            <a:r>
              <a:t>  "qualifying_spend_krw": 1394500000,</a:t>
            </a:r>
          </a:p>
          <a:p>
            <a:r>
              <a:t>  "redemption_target_pct": 80,</a:t>
            </a:r>
          </a:p>
          <a:p>
            <a:r>
              <a:t>  "additional_visitors_target": 1394404.0666666664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xmlns:a="http://schemas.openxmlformats.org/drawingml/2006/main">
            <a:r>
              <a:t>case:199f928478e634 | 외국인 개별관광객 지방 방문 촉진 고토치 셔틀 운영자료 | https://kto.visitkorea.or.kr/upload/flexer/upload/ktobiz/20190417/ca99de85-60a6-11e9-9d6f-39c7f0d61b75.hwp.files/Sections1.html</a:t>
            </a:r>
          </a:p>
          <a:p xmlns:a="http://schemas.openxmlformats.org/drawingml/2006/main">
            <a:r>
              <a:t>case:761228c746fb13 | 한국관광 데이터랩 우수 활용사례(2025)—데이터 기반 강진 반값여행으로 지역 경제를 살리다 | https://datalab.visitkorea.or.kr/html/interview5/interview01.jsp</a:t>
            </a:r>
          </a:p>
          <a:p xmlns:a="http://schemas.openxmlformats.org/drawingml/2006/main">
            <a:r>
              <a:t>case:946857867790a6 | 서울달(SEOULDAL)—서울 정책 아카이브 | https://www.seoul.go.kr/policy/view.do?id=1022&amp;lan=</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case:a40729ff2a147d | 야간관광 특화도시 인천, 5만원 할인 숙박상품 기획전 열어 | https://www.incheon.go.kr/IC010205/view?curPage=688&amp;repSeq=DOM_0000000007400989</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제주특별자치도 제주시 순 방문자 수 및 숙박 비율 (이동통신 기반 외지인)",</a:t>
            </a:r>
          </a:p>
          <a:p xmlns:a="http://schemas.openxmlformats.org/drawingml/2006/main">
            <a:r>
              <a:t>      "summary": "월간 순 방문자 수: 3,131,476명 (관측 기준월: 2026-06)",</a:t>
            </a:r>
          </a:p>
          <a:p xmlns:a="http://schemas.openxmlformats.org/drawingml/2006/main">
            <a:r>
              <a:t>      "source_id": "dataset:50110:1",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월간 순 방문자 수 (이동통신 기반 외지인)",</a:t>
            </a:r>
          </a:p>
          <a:p xmlns:a="http://schemas.openxmlformats.org/drawingml/2006/main">
            <a:r>
              <a:t>      "summary": "전년동월 외지인 방문자 증감률: -8.9% (관측 기준월: 2026-06)",</a:t>
            </a:r>
          </a:p>
          <a:p xmlns:a="http://schemas.openxmlformats.org/drawingml/2006/main">
            <a:r>
              <a:t>      "source_id": "dataset:50110:2",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관광소비 추이_외지인",</a:t>
            </a:r>
          </a:p>
          <a:p xmlns:a="http://schemas.openxmlformats.org/drawingml/2006/main">
            <a:r>
              <a:t>      "summary": "월간 외지인 관광소비 총액: 129,503,828,000원 (관측 기준월: 2026-06)",</a:t>
            </a:r>
          </a:p>
          <a:p xmlns:a="http://schemas.openxmlformats.org/drawingml/2006/main">
            <a:r>
              <a:t>      "source_id": "dataset:50110:3",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숙박방문자 비율 추이 (이동통신 기반 외지인)",</a:t>
            </a:r>
          </a:p>
          <a:p xmlns:a="http://schemas.openxmlformats.org/drawingml/2006/main">
            <a:r>
              <a:t>      "summary": "외지인 숙박 방문 비율: 21.0% (관측 기준월: 2026-06)",</a:t>
            </a:r>
          </a:p>
          <a:p xmlns:a="http://schemas.openxmlformats.org/drawingml/2006/main">
            <a:r>
              <a:t>      "source_id": "dataset:50110:4",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평균 숙박일 (이동통신 기반 외지인)",</a:t>
            </a:r>
          </a:p>
          <a:p xmlns:a="http://schemas.openxmlformats.org/drawingml/2006/main">
            <a:r>
              <a:t>      "summary": "외지인 평균 숙박일수: 3.13일 (관측 기준월: 2026-06)",</a:t>
            </a:r>
          </a:p>
          <a:p xmlns:a="http://schemas.openxmlformats.org/drawingml/2006/main">
            <a:r>
              <a:t>      "source_id": "dataset:50110:5",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내비게이션 목적지 유형별 검색량",</a:t>
            </a:r>
          </a:p>
          <a:p xmlns:a="http://schemas.openxmlformats.org/drawingml/2006/main">
            <a:r>
              <a:t>      "summary": "내비게이션 목적지 검색량: 580,380건 (관측 기준월: 2026-06)",</a:t>
            </a:r>
          </a:p>
          <a:p xmlns:a="http://schemas.openxmlformats.org/drawingml/2006/main">
            <a:r>
              <a:t>      "source_id": "dataset:50110:6",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제주특별자치도 제주시 SNS 언급량",</a:t>
            </a:r>
          </a:p>
          <a:p xmlns:a="http://schemas.openxmlformats.org/drawingml/2006/main">
            <a:r>
              <a:t>      "summary": "SNS 언급량: 138,652건 (관측 기준월: 2026-06)",</a:t>
            </a:r>
          </a:p>
          <a:p xmlns:a="http://schemas.openxmlformats.org/drawingml/2006/main">
            <a:r>
              <a:t>      "source_id": "dataset:50110:7",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제주특별자치도_제주시/방문자/2026_01_06.zip",</a:t>
            </a:r>
          </a:p>
          <a:p xmlns:a="http://schemas.openxmlformats.org/drawingml/2006/main">
            <a:r>
              <a:t>      "summary": "전국 비교 기준 기간: 2025-07 ~ 2026-06",</a:t>
            </a:r>
          </a:p>
          <a:p xmlns:a="http://schemas.openxmlformats.org/drawingml/2006/main">
            <a:r>
              <a:t>      "source_id": "datalab:3ec866bde028:27b141591f10",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제주특별자치도_제주시/숙박_체류시간/2026_01_06.zip",</a:t>
            </a:r>
          </a:p>
          <a:p xmlns:a="http://schemas.openxmlformats.org/drawingml/2006/main">
            <a:r>
              <a:t>      "summary": "전국 비교 기준 기간: 2025-07 ~ 2026-06",</a:t>
            </a:r>
          </a:p>
          <a:p xmlns:a="http://schemas.openxmlformats.org/drawingml/2006/main">
            <a:r>
              <a:t>      "source_id": "datalab:4833a91757b2:5c2efa032440",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제주특별자치도_제주시/숙박_체류시간/2025_01_12.zip",</a:t>
            </a:r>
          </a:p>
          <a:p xmlns:a="http://schemas.openxmlformats.org/drawingml/2006/main">
            <a:r>
              <a:t>      "summary": "전국 비교 기준 기간: 2025-07 ~ 2026-06",</a:t>
            </a:r>
          </a:p>
          <a:p xmlns:a="http://schemas.openxmlformats.org/drawingml/2006/main">
            <a:r>
              <a:t>      "source_id": "datalab:5d9f73f9fe47:2904d99e7279",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제주특별자치도_제주시/관광소비/2026_01_06.zip",</a:t>
            </a:r>
          </a:p>
          <a:p xmlns:a="http://schemas.openxmlformats.org/drawingml/2006/main">
            <a:r>
              <a:t>      "summary": "전국 비교 기준 기간: 2025-07 ~ 2026-06",</a:t>
            </a:r>
          </a:p>
          <a:p xmlns:a="http://schemas.openxmlformats.org/drawingml/2006/main">
            <a:r>
              <a:t>      "source_id": "datalab:95122c38b4fc:522e2d839300",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제주특별자치도_제주시/방문자/2025_01_12.zip",</a:t>
            </a:r>
          </a:p>
          <a:p xmlns:a="http://schemas.openxmlformats.org/drawingml/2006/main">
            <a:r>
              <a:t>      "summary": "전국 비교 기준 기간: 2025-07 ~ 2026-06",</a:t>
            </a:r>
          </a:p>
          <a:p xmlns:a="http://schemas.openxmlformats.org/drawingml/2006/main">
            <a:r>
              <a:t>      "source_id": "datalab:d73227708014:f4517115deb9",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제주특별자치도_제주시/관광소비/2025_01_12.zip",</a:t>
            </a:r>
          </a:p>
          <a:p xmlns:a="http://schemas.openxmlformats.org/drawingml/2006/main">
            <a:r>
              <a:t>      "summary": "전국 비교 기준 기간: 2025-07 ~ 2026-06",</a:t>
            </a:r>
          </a:p>
          <a:p xmlns:a="http://schemas.openxmlformats.org/drawingml/2006/main">
            <a:r>
              <a:t>      "source_id": "datalab:f07ad8a73d99:ed1b998de1b3",</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유입유출",</a:t>
            </a:r>
          </a:p>
          <a:p xmlns:a="http://schemas.openxmlformats.org/drawingml/2006/main">
            <a:r>
              <a:t>      "summary": "관측 기간: 2025-07 ~ 2026-06. 유입·유출·인기장소 또는 30일 집중 운영 신호.",</a:t>
            </a:r>
          </a:p>
          <a:p xmlns:a="http://schemas.openxmlformats.org/drawingml/2006/main">
            <a:r>
              <a:t>      "source_id": "regional-status:9ac27e83f27b:e998409010f6",</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인기관광지",</a:t>
            </a:r>
          </a:p>
          <a:p xmlns:a="http://schemas.openxmlformats.org/drawingml/2006/main">
            <a:r>
              <a:t>      "summary": "관측 기간: 2025-07 ~ 2026-06. 유입·유출·인기장소 또는 30일 집중 운영 신호.",</a:t>
            </a:r>
          </a:p>
          <a:p xmlns:a="http://schemas.openxmlformats.org/drawingml/2006/main">
            <a:r>
              <a:t>      "source_id": "regional-status:daecd5ff8069:00c8b971be40",</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제주특별자치도 제주시 · 지역집중률",</a:t>
            </a:r>
          </a:p>
          <a:p xmlns:a="http://schemas.openxmlformats.org/drawingml/2006/main">
            <a:r>
              <a:t>      "summary": "관측 기간: 2025-07 ~ 2026-06. 유입·유출·인기장소 또는 30일 집중 운영 신호.",</a:t>
            </a:r>
          </a:p>
          <a:p xmlns:a="http://schemas.openxmlformats.org/drawingml/2006/main">
            <a:r>
              <a:t>      "source_id": "regional-status:dd0eaa9c763f:3aadcdcac2c5",</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"ml:50110:regional-demand-v3.1:202606",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"title": "가는곶 세화",</a:t>
            </a:r>
          </a:p>
          <a:p xmlns:a="http://schemas.openxmlformats.org/drawingml/2006/main">
            <a:r>
              <a:t>      "address": "제주특별자치도 제주시 구좌읍 세화14길 3",</a:t>
            </a:r>
          </a:p>
          <a:p xmlns:a="http://schemas.openxmlformats.org/drawingml/2006/main">
            <a:r>
              <a:t>      "summary": "한국관광공사 국문관광정보 API가 반환한 선택 지역 관광자원",</a:t>
            </a:r>
          </a:p>
          <a:p xmlns:a="http://schemas.openxmlformats.org/drawingml/2006/main">
            <a:r>
              <a:t>      "image_url": "http://tong.visitkorea.or.kr/cms/resource/05/2850905_image2_1.jpg",</a:t>
            </a:r>
          </a:p>
          <a:p xmlns:a="http://schemas.openxmlformats.org/drawingml/2006/main">
            <a:r>
              <a:t>      "source_id": "tour-api:2850913",</a:t>
            </a:r>
          </a:p>
          <a:p xmlns:a="http://schemas.openxmlformats.org/drawingml/2006/main">
            <a:r>
              <a:t>      "content_id": "2850913",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"가마오름",</a:t>
            </a:r>
          </a:p>
          <a:p xmlns:a="http://schemas.openxmlformats.org/drawingml/2006/main">
            <a:r>
              <a:t>      "address": "제주특별자치도 제주시 한경면 청수리",</a:t>
            </a:r>
          </a:p>
          <a:p xmlns:a="http://schemas.openxmlformats.org/drawingml/2006/main">
            <a:r>
              <a:t>      "summary": "한국관광공사 국문관광정보 API가 반환한 선택 지역 관광자원",</a:t>
            </a:r>
          </a:p>
          <a:p xmlns:a="http://schemas.openxmlformats.org/drawingml/2006/main">
            <a:r>
              <a:t>      "image_url": "http://tong.visitkorea.or.kr/cms/resource/72/3477972_image2_1.jpg",</a:t>
            </a:r>
          </a:p>
          <a:p xmlns:a="http://schemas.openxmlformats.org/drawingml/2006/main">
            <a:r>
              <a:t>      "source_id": "tour-api:1884191",</a:t>
            </a:r>
          </a:p>
          <a:p xmlns:a="http://schemas.openxmlformats.org/drawingml/2006/main">
            <a:r>
              <a:t>      "content_id": "1884191",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"가새기오름",</a:t>
            </a:r>
          </a:p>
          <a:p xmlns:a="http://schemas.openxmlformats.org/drawingml/2006/main">
            <a:r>
              <a:t>      "address": "제주특별자치도 제주시 오라삼동",</a:t>
            </a:r>
          </a:p>
          <a:p xmlns:a="http://schemas.openxmlformats.org/drawingml/2006/main">
            <a:r>
              <a:t>      "summary": "한국관광공사 국문관광정보 API가 반환한 선택 지역 관광자원",</a:t>
            </a:r>
          </a:p>
          <a:p xmlns:a="http://schemas.openxmlformats.org/drawingml/2006/main">
            <a:r>
              <a:t>      "image_url": "http://tong.visitkorea.or.kr/cms/resource/82/3477882_image2_1.jpg",</a:t>
            </a:r>
          </a:p>
          <a:p xmlns:a="http://schemas.openxmlformats.org/drawingml/2006/main">
            <a:r>
              <a:t>      "source_id": "tour-api:1884521",</a:t>
            </a:r>
          </a:p>
          <a:p xmlns:a="http://schemas.openxmlformats.org/drawingml/2006/main">
            <a:r>
              <a:t>      "content_id": "1884521",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"가시어멍김밥",</a:t>
            </a:r>
          </a:p>
          <a:p xmlns:a="http://schemas.openxmlformats.org/drawingml/2006/main">
            <a:r>
              <a:t>      "address": "제주특별자치도 제주시 월랑로 36",</a:t>
            </a:r>
          </a:p>
          <a:p xmlns:a="http://schemas.openxmlformats.org/drawingml/2006/main">
            <a:r>
              <a:t>      "summary": "한국관광공사 국문관광정보 API가 반환한 선택 지역 관광자원",</a:t>
            </a:r>
          </a:p>
          <a:p xmlns:a="http://schemas.openxmlformats.org/drawingml/2006/main">
            <a:r>
              <a:t>      "image_url": "http://tong.visitkorea.or.kr/cms/resource/75/2837175_image2_1.jpg",</a:t>
            </a:r>
          </a:p>
          <a:p xmlns:a="http://schemas.openxmlformats.org/drawingml/2006/main">
            <a:r>
              <a:t>      "source_id": "tour-api:2837181",</a:t>
            </a:r>
          </a:p>
          <a:p xmlns:a="http://schemas.openxmlformats.org/drawingml/2006/main">
            <a:r>
              <a:t>      "content_id": "2837181",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"갈치공장",</a:t>
            </a:r>
          </a:p>
          <a:p xmlns:a="http://schemas.openxmlformats.org/drawingml/2006/main">
            <a:r>
              <a:t>      "address": "제주특별자치도 제주시 해맞이해안로 1296",</a:t>
            </a:r>
          </a:p>
          <a:p xmlns:a="http://schemas.openxmlformats.org/drawingml/2006/main">
            <a:r>
              <a:t>      "summary": "한국관광공사 국문관광정보 API가 반환한 선택 지역 관광자원",</a:t>
            </a:r>
          </a:p>
          <a:p xmlns:a="http://schemas.openxmlformats.org/drawingml/2006/main">
            <a:r>
              <a:t>      "image_url": "http://tong.visitkorea.or.kr/cms/resource/24/2853424_image2_1.jpg",</a:t>
            </a:r>
          </a:p>
          <a:p xmlns:a="http://schemas.openxmlformats.org/drawingml/2006/main">
            <a:r>
              <a:t>      "source_id": "tour-api:2853435",</a:t>
            </a:r>
          </a:p>
          <a:p xmlns:a="http://schemas.openxmlformats.org/drawingml/2006/main">
            <a:r>
              <a:t>      "content_id": "2853435",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"개오리오름",</a:t>
            </a:r>
          </a:p>
          <a:p xmlns:a="http://schemas.openxmlformats.org/drawingml/2006/main">
            <a:r>
              <a:t>      "address": "제주특별자치도 제주시 봉개동",</a:t>
            </a:r>
          </a:p>
          <a:p xmlns:a="http://schemas.openxmlformats.org/drawingml/2006/main">
            <a:r>
              <a:t>      "summary": "한국관광공사 국문관광정보 API가 반환한 선택 지역 관광자원",</a:t>
            </a:r>
          </a:p>
          <a:p xmlns:a="http://schemas.openxmlformats.org/drawingml/2006/main">
            <a:r>
              <a:t>      "image_url": "http://tong.visitkorea.or.kr/cms/resource/47/3478047_image2_1.jpg",</a:t>
            </a:r>
          </a:p>
          <a:p xmlns:a="http://schemas.openxmlformats.org/drawingml/2006/main">
            <a:r>
              <a:t>      "source_id": "tour-api:1889809",</a:t>
            </a:r>
          </a:p>
          <a:p xmlns:a="http://schemas.openxmlformats.org/drawingml/2006/main">
            <a:r>
              <a:t>      "content_id": "1889809",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"거슨새미오름",</a:t>
            </a:r>
          </a:p>
          <a:p xmlns:a="http://schemas.openxmlformats.org/drawingml/2006/main">
            <a:r>
              <a:t>      "address": "제주특별자치도 제주시 구좌읍 송당리",</a:t>
            </a:r>
          </a:p>
          <a:p xmlns:a="http://schemas.openxmlformats.org/drawingml/2006/main">
            <a:r>
              <a:t>      "summary": "한국관광공사 국문관광정보 API가 반환한 선택 지역 관광자원",</a:t>
            </a:r>
          </a:p>
          <a:p xmlns:a="http://schemas.openxmlformats.org/drawingml/2006/main">
            <a:r>
              <a:t>      "image_url": "http://tong.visitkorea.or.kr/cms/resource/04/3477804_image2_1.jpg",</a:t>
            </a:r>
          </a:p>
          <a:p xmlns:a="http://schemas.openxmlformats.org/drawingml/2006/main">
            <a:r>
              <a:t>      "source_id": "tour-api:1918646",</a:t>
            </a:r>
          </a:p>
          <a:p xmlns:a="http://schemas.openxmlformats.org/drawingml/2006/main">
            <a:r>
              <a:t>      "content_id": "1918646",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"경성수산",</a:t>
            </a:r>
          </a:p>
          <a:p xmlns:a="http://schemas.openxmlformats.org/drawingml/2006/main">
            <a:r>
              <a:t>      "address": "제주특별자치도 제주시 한림상로 111",</a:t>
            </a:r>
          </a:p>
          <a:p xmlns:a="http://schemas.openxmlformats.org/drawingml/2006/main">
            <a:r>
              <a:t>      "summary": "한국관광공사 국문관광정보 API가 반환한 선택 지역 관광자원",</a:t>
            </a:r>
          </a:p>
          <a:p xmlns:a="http://schemas.openxmlformats.org/drawingml/2006/main">
            <a:r>
              <a:t>      "image_url": "http://tong.visitkorea.or.kr/cms/resource/09/2870509_image2_1.jpg",</a:t>
            </a:r>
          </a:p>
          <a:p xmlns:a="http://schemas.openxmlformats.org/drawingml/2006/main">
            <a:r>
              <a:t>      "source_id": "tour-api:2870515",</a:t>
            </a:r>
          </a:p>
          <a:p xmlns:a="http://schemas.openxmlformats.org/drawingml/2006/main">
            <a:r>
              <a:t>      "content_id": "2870515",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"고내포구",</a:t>
            </a:r>
          </a:p>
          <a:p xmlns:a="http://schemas.openxmlformats.org/drawingml/2006/main">
            <a:r>
              <a:t>      "address": "제주특별자치도 제주시 애월읍 고내리 1111-4",</a:t>
            </a:r>
          </a:p>
          <a:p xmlns:a="http://schemas.openxmlformats.org/drawingml/2006/main">
            <a:r>
              <a:t>      "summary": "한국관광공사 국문관광정보 API가 반환한 선택 지역 관광자원",</a:t>
            </a:r>
          </a:p>
          <a:p xmlns:a="http://schemas.openxmlformats.org/drawingml/2006/main">
            <a:r>
              <a:t>      "image_url": "http://tong.visitkorea.or.kr/cms/resource/19/3589219_image2_1.jpg",</a:t>
            </a:r>
          </a:p>
          <a:p xmlns:a="http://schemas.openxmlformats.org/drawingml/2006/main">
            <a:r>
              <a:t>      "source_id": "tour-api:2791433",</a:t>
            </a:r>
          </a:p>
          <a:p xmlns:a="http://schemas.openxmlformats.org/drawingml/2006/main">
            <a:r>
              <a:t>      "content_id": "2791433",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"고사리커피",</a:t>
            </a:r>
          </a:p>
          <a:p xmlns:a="http://schemas.openxmlformats.org/drawingml/2006/main">
            <a:r>
              <a:t>      "address": "제주특별자치도 제주시 구좌읍 중산간동로 2064",</a:t>
            </a:r>
          </a:p>
          <a:p xmlns:a="http://schemas.openxmlformats.org/drawingml/2006/main">
            <a:r>
              <a:t>      "summary": "한국관광공사 국문관광정보 API가 반환한 선택 지역 관광자원",</a:t>
            </a:r>
          </a:p>
          <a:p xmlns:a="http://schemas.openxmlformats.org/drawingml/2006/main">
            <a:r>
              <a:t>      "image_url": "http://tong.visitkorea.or.kr/cms/resource/18/2863918_image2_1.JPG",</a:t>
            </a:r>
          </a:p>
          <a:p xmlns:a="http://schemas.openxmlformats.org/drawingml/2006/main">
            <a:r>
              <a:t>      "source_id": "tour-api:2863927",</a:t>
            </a:r>
          </a:p>
          <a:p xmlns:a="http://schemas.openxmlformats.org/drawingml/2006/main">
            <a:r>
              <a:t>      "content_id": "2863927",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"고스트타운",</a:t>
            </a:r>
          </a:p>
          <a:p xmlns:a="http://schemas.openxmlformats.org/drawingml/2006/main">
            <a:r>
              <a:t>      "address": "제주특별자치도 제주시 애월읍 부룡수길 35-14",</a:t>
            </a:r>
          </a:p>
          <a:p xmlns:a="http://schemas.openxmlformats.org/drawingml/2006/main">
            <a:r>
              <a:t>      "summary": "한국관광공사 국문관광정보 API가 반환한 선택 지역 관광자원",</a:t>
            </a:r>
          </a:p>
          <a:p xmlns:a="http://schemas.openxmlformats.org/drawingml/2006/main">
            <a:r>
              <a:t>      "image_url": "http://tong.visitkorea.or.kr/cms/resource/81/3396881_image2_1.jpg",</a:t>
            </a:r>
          </a:p>
          <a:p xmlns:a="http://schemas.openxmlformats.org/drawingml/2006/main">
            <a:r>
              <a:t>      "source_id": "tour-api:2759120",</a:t>
            </a:r>
          </a:p>
          <a:p xmlns:a="http://schemas.openxmlformats.org/drawingml/2006/main">
            <a:r>
              <a:t>      "content_id": "2759120",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"고이정",</a:t>
            </a:r>
          </a:p>
          <a:p xmlns:a="http://schemas.openxmlformats.org/drawingml/2006/main">
            <a:r>
              <a:t>      "address": "제주특별자치도 제주시 애월읍 애월로 6",</a:t>
            </a:r>
          </a:p>
          <a:p xmlns:a="http://schemas.openxmlformats.org/drawingml/2006/main">
            <a:r>
              <a:t>      "summary": "한국관광공사 국문관광정보 API가 반환한 선택 지역 관광자원",</a:t>
            </a:r>
          </a:p>
          <a:p xmlns:a="http://schemas.openxmlformats.org/drawingml/2006/main">
            <a:r>
              <a:t>      "image_url": "http://tong.visitkorea.or.kr/cms/resource/08/2759208_image2_1.jpg",</a:t>
            </a:r>
          </a:p>
          <a:p xmlns:a="http://schemas.openxmlformats.org/drawingml/2006/main">
            <a:r>
              <a:t>      "source_id": "tour-api:2759061",</a:t>
            </a:r>
          </a:p>
          <a:p xmlns:a="http://schemas.openxmlformats.org/drawingml/2006/main">
            <a:r>
              <a:t>      "content_id": "2759061",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"고토커피바",</a:t>
            </a:r>
          </a:p>
          <a:p xmlns:a="http://schemas.openxmlformats.org/drawingml/2006/main">
            <a:r>
              <a:t>      "address": "제주특별자치도 제주시 애월읍 구엄동3길 56",</a:t>
            </a:r>
          </a:p>
          <a:p xmlns:a="http://schemas.openxmlformats.org/drawingml/2006/main">
            <a:r>
              <a:t>      "summary": "한국관광공사 국문관광정보 API가 반환한 선택 지역 관광자원",</a:t>
            </a:r>
          </a:p>
          <a:p xmlns:a="http://schemas.openxmlformats.org/drawingml/2006/main">
            <a:r>
              <a:t>      "image_url": "http://tong.visitkorea.or.kr/cms/resource/07/2863907_image2_1.jpg",</a:t>
            </a:r>
          </a:p>
          <a:p xmlns:a="http://schemas.openxmlformats.org/drawingml/2006/main">
            <a:r>
              <a:t>      "source_id": "tour-api:2863913",</a:t>
            </a:r>
          </a:p>
          <a:p xmlns:a="http://schemas.openxmlformats.org/drawingml/2006/main">
            <a:r>
              <a:t>      "content_id": "2863913",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"골목식당",</a:t>
            </a:r>
          </a:p>
          <a:p xmlns:a="http://schemas.openxmlformats.org/drawingml/2006/main">
            <a:r>
              <a:t>      "address": "제주특별자치도 제주시 중앙로 63-9 (이도일동)",</a:t>
            </a:r>
          </a:p>
          <a:p xmlns:a="http://schemas.openxmlformats.org/drawingml/2006/main">
            <a:r>
              <a:t>      "summary": "한국관광공사 국문관광정보 API가 반환한 선택 지역 관광자원",</a:t>
            </a:r>
          </a:p>
          <a:p xmlns:a="http://schemas.openxmlformats.org/drawingml/2006/main">
            <a:r>
              <a:t>      "image_url": "http://tong.visitkorea.or.kr/cms/resource/79/2857279_image2_1.JPG",</a:t>
            </a:r>
          </a:p>
          <a:p xmlns:a="http://schemas.openxmlformats.org/drawingml/2006/main">
            <a:r>
              <a:t>      "source_id": "tour-api:2857289",</a:t>
            </a:r>
          </a:p>
          <a:p xmlns:a="http://schemas.openxmlformats.org/drawingml/2006/main">
            <a:r>
              <a:t>      "content_id": "2857289",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"골목카페옥수",</a:t>
            </a:r>
          </a:p>
          <a:p xmlns:a="http://schemas.openxmlformats.org/drawingml/2006/main">
            <a:r>
              <a:t>      "address": "제주특별자치도 제주시 소길1길 19",</a:t>
            </a:r>
          </a:p>
          <a:p xmlns:a="http://schemas.openxmlformats.org/drawingml/2006/main">
            <a:r>
              <a:t>      "summary": "한국관광공사 국문관광정보 API가 반환한 선택 지역 관광자원",</a:t>
            </a:r>
          </a:p>
          <a:p xmlns:a="http://schemas.openxmlformats.org/drawingml/2006/main">
            <a:r>
              <a:t>      "image_url": "http://tong.visitkorea.or.kr/cms/resource/03/2852303_image2_1.jpg",</a:t>
            </a:r>
          </a:p>
          <a:p xmlns:a="http://schemas.openxmlformats.org/drawingml/2006/main">
            <a:r>
              <a:t>      "source_id": "tour-api:2852311",</a:t>
            </a:r>
          </a:p>
          <a:p xmlns:a="http://schemas.openxmlformats.org/drawingml/2006/main">
            <a:r>
              <a:t>      "content_id": "2852311",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"골체오름캠핑",</a:t>
            </a:r>
          </a:p>
          <a:p xmlns:a="http://schemas.openxmlformats.org/drawingml/2006/main">
            <a:r>
              <a:t>      "address": "제주특별자치도 제주시 조천읍 번영로 1648-41",</a:t>
            </a:r>
          </a:p>
          <a:p xmlns:a="http://schemas.openxmlformats.org/drawingml/2006/main">
            <a:r>
              <a:t>      "summary": "한국관광공사 국문관광정보 API가 반환한 선택 지역 관광자원",</a:t>
            </a:r>
          </a:p>
          <a:p xmlns:a="http://schemas.openxmlformats.org/drawingml/2006/main">
            <a:r>
              <a:t>      "image_url": "http://tong.visitkorea.or.kr/cms/resource/74/2739574_image2_1.jpg",</a:t>
            </a:r>
          </a:p>
          <a:p xmlns:a="http://schemas.openxmlformats.org/drawingml/2006/main">
            <a:r>
              <a:t>      "source_id": "tour-api:2739395",</a:t>
            </a:r>
          </a:p>
          <a:p xmlns:a="http://schemas.openxmlformats.org/drawingml/2006/main">
            <a:r>
              <a:t>      "content_id": "2739395",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"곰막식당/곰막",</a:t>
            </a:r>
          </a:p>
          <a:p xmlns:a="http://schemas.openxmlformats.org/drawingml/2006/main">
            <a:r>
              <a:t>      "address": "제주특별자치도 제주시 구좌읍 구좌해안로 64",</a:t>
            </a:r>
          </a:p>
          <a:p xmlns:a="http://schemas.openxmlformats.org/drawingml/2006/main">
            <a:r>
              <a:t>      "summary": "한국관광공사 국문관광정보 API가 반환한 선택 지역 관광자원",</a:t>
            </a:r>
          </a:p>
          <a:p xmlns:a="http://schemas.openxmlformats.org/drawingml/2006/main">
            <a:r>
              <a:t>      "image_url": "http://tong.visitkorea.or.kr/cms/resource/21/2759221_image2_1.jpg",</a:t>
            </a:r>
          </a:p>
          <a:p xmlns:a="http://schemas.openxmlformats.org/drawingml/2006/main">
            <a:r>
              <a:t>      "source_id": "tour-api:2759096",</a:t>
            </a:r>
          </a:p>
          <a:p xmlns:a="http://schemas.openxmlformats.org/drawingml/2006/main">
            <a:r>
              <a:t>      "content_id": "2759096",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"곽지해수욕장",</a:t>
            </a:r>
          </a:p>
          <a:p xmlns:a="http://schemas.openxmlformats.org/drawingml/2006/main">
            <a:r>
              <a:t>      "address": "제주특별자치도 제주시 애월읍 곽지리 1565",</a:t>
            </a:r>
          </a:p>
          <a:p xmlns:a="http://schemas.openxmlformats.org/drawingml/2006/main">
            <a:r>
              <a:t>      "summary": "한국관광공사 국문관광정보 API가 반환한 선택 지역 관광자원",</a:t>
            </a:r>
          </a:p>
          <a:p xmlns:a="http://schemas.openxmlformats.org/drawingml/2006/main">
            <a:r>
              <a:t>      "image_url": "http://tong.visitkorea.or.kr/cms/resource/30/3053130_image2_1.jpg",</a:t>
            </a:r>
          </a:p>
          <a:p xmlns:a="http://schemas.openxmlformats.org/drawingml/2006/main">
            <a:r>
              <a:t>      "source_id": "tour-api:127870",</a:t>
            </a:r>
          </a:p>
          <a:p xmlns:a="http://schemas.openxmlformats.org/drawingml/2006/main">
            <a:r>
              <a:t>      "content_id": "127870",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"괴오름",</a:t>
            </a:r>
          </a:p>
          <a:p xmlns:a="http://schemas.openxmlformats.org/drawingml/2006/main">
            <a:r>
              <a:t>      "address": "제주특별자치도 제주시 애월읍 봉성리 산41",</a:t>
            </a:r>
          </a:p>
          <a:p xmlns:a="http://schemas.openxmlformats.org/drawingml/2006/main">
            <a:r>
              <a:t>      "summary": "한국관광공사 국문관광정보 API가 반환한 선택 지역 관광자원",</a:t>
            </a:r>
          </a:p>
          <a:p xmlns:a="http://schemas.openxmlformats.org/drawingml/2006/main">
            <a:r>
              <a:t>      "image_url": "http://tong.visitkorea.or.kr/cms/resource/40/3585540_image2_1.jpg",</a:t>
            </a:r>
          </a:p>
          <a:p xmlns:a="http://schemas.openxmlformats.org/drawingml/2006/main">
            <a:r>
              <a:t>      "source_id": "tour-api:1918950",</a:t>
            </a:r>
          </a:p>
          <a:p xmlns:a="http://schemas.openxmlformats.org/drawingml/2006/main">
            <a:r>
              <a:t>      "content_id": "1918950",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"교래 삼다수마을",</a:t>
            </a:r>
          </a:p>
          <a:p xmlns:a="http://schemas.openxmlformats.org/drawingml/2006/main">
            <a:r>
              <a:t>      "address": "제주특별자치도 제주시 조천읍 교래3길 98",</a:t>
            </a:r>
          </a:p>
          <a:p xmlns:a="http://schemas.openxmlformats.org/drawingml/2006/main">
            <a:r>
              <a:t>      "summary": "한국관광공사 국문관광정보 API가 반환한 선택 지역 관광자원",</a:t>
            </a:r>
          </a:p>
          <a:p xmlns:a="http://schemas.openxmlformats.org/drawingml/2006/main">
            <a:r>
              <a:t>      "image_url": "http://tong.visitkorea.or.kr/cms/resource/18/3586318_image2_1.jpg",</a:t>
            </a:r>
          </a:p>
          <a:p xmlns:a="http://schemas.openxmlformats.org/drawingml/2006/main">
            <a:r>
              <a:t>      "source_id": "tour-api:128443",</a:t>
            </a:r>
          </a:p>
          <a:p xmlns:a="http://schemas.openxmlformats.org/drawingml/2006/main">
            <a:r>
              <a:t>      "content_id": "128443",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36쪽, PDF 40쪽, PDF 41쪽,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9</a:t>
            </a:r>
          </a:p>
          <a:p xmlns:a="http://schemas.openxmlformats.org/drawingml/2006/main">
            <a:r>
              <a:t>    },</a:t>
            </a:r>
          </a:p>
          <a:p xmlns:a="http://schemas.openxmlformats.org/drawingml/2006/main">
            <a:r>
              <a:t>    {</a:t>
            </a:r>
          </a:p>
          <a:p xmlns:a="http://schemas.openxmlformats.org/drawingml/2006/main">
            <a:r>
              <a:t>      "title": "외국인 개별관광객 지방 방문 촉진 고토치 셔틀 운영자료",</a:t>
            </a:r>
          </a:p>
          <a:p xmlns:a="http://schemas.openxmlformats.org/drawingml/2006/main">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"source_id": "case:199f928478e634",</a:t>
            </a:r>
          </a:p>
          <a:p xmlns:a="http://schemas.openxmlformats.org/drawingml/2006/main">
            <a:r>
              <a:t>      "source_url": "https://kto.visitkorea.or.kr/upload/flexer/upload/ktobiz/20190417/ca99de85-60a6-11e9-9d6f-39c7f0d61b75.hwp.files/Sections1.html",</a:t>
            </a:r>
          </a:p>
          <a:p xmlns:a="http://schemas.openxmlformats.org/drawingml/2006/main">
            <a:r>
              <a:t>      "case_region": "서울 출발 지방 관광지 연계 노선",</a:t>
            </a:r>
          </a:p>
          <a:p xmlns:a="http://schemas.openxmlformats.org/drawingml/2006/main">
            <a:r>
              <a:t>      "source_type": "benchmark_case",</a:t>
            </a:r>
          </a:p>
          <a:p xmlns:a="http://schemas.openxmlformats.org/drawingml/2006/main">
            <a:r>
              <a:t>      "intervention": "고토치 셔틀—외국인 대상 예약·결제형 지역관광 버스",</a:t>
            </a:r>
          </a:p>
          <a:p xmlns:a="http://schemas.openxmlformats.org/drawingml/2006/main">
            <a:r>
              <a:t>      "document_type": null,</a:t>
            </a:r>
          </a:p>
          <a:p xmlns:a="http://schemas.openxmlformats.org/drawingml/2006/main">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xmlns:a="http://schemas.openxmlformats.org/drawingml/2006/main">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"2014년 사업 시작부터 2019년 공개 시점까지 누적",</a:t>
            </a:r>
          </a:p>
          <a:p xmlns:a="http://schemas.openxmlformats.org/drawingml/2006/main">
            <a:r>
              <a:t>      "transfer_conditions": [</a:t>
            </a:r>
          </a:p>
          <a:p xmlns:a="http://schemas.openxmlformats.org/drawingml/2006/main">
            <a:r>
              <a:t>        "제주시에서는 서울 출발 장거리 셔틀이 아니라 제주공항–제주시 도심–저녁 체험 또는 읍·면 거점을 연결하는 예약형 소규모 노선으로 변경",</a:t>
            </a:r>
          </a:p>
          <a:p xmlns:a="http://schemas.openxmlformats.org/drawingml/2006/main">
            <a:r>
              <a:t>        "정기 대중교통과 중복되지 않는 시간대·목적지를 선정하고 운송사업자와 적법한 운영계약 필요",</a:t>
            </a:r>
          </a:p>
          <a:p xmlns:a="http://schemas.openxmlformats.org/drawingml/2006/main">
            <a:r>
              <a:t>        "왕복 교통만 판매하지 말고 예약 가능한 체험·식음·야간 콘텐츠와 묶어 실제 이용기록을 남겨야 함",</a:t>
            </a:r>
          </a:p>
          <a:p xmlns:a="http://schemas.openxmlformats.org/drawingml/2006/main">
            <a:r>
              <a:t>        "항공편 지연을 고려한 탑승 유예·환불·대체 회차 규칙 필요",</a:t>
            </a:r>
          </a:p>
          <a:p xmlns:a="http://schemas.openxmlformats.org/drawingml/2006/main">
            <a:r>
              <a:t>        "좌석 예약률, 실제 탑승률, 체험 완료율, 권역 내 결제액을 분리 측정"</a:t>
            </a:r>
          </a:p>
          <a:p xmlns:a="http://schemas.openxmlformats.org/drawingml/2006/main">
            <a:r>
              <a:t>      ],</a:t>
            </a:r>
          </a:p>
          <a:p xmlns:a="http://schemas.openxmlformats.org/drawingml/2006/main">
            <a:r>
              <a:t>      "published_or_updated_at": "2019-04-17",</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우수 활용사례(2025)—데이터 기반 강진 반값여행으로 지역 경제를 살리다",</a:t>
            </a:r>
          </a:p>
          <a:p xmlns:a="http://schemas.openxmlformats.org/drawingml/2006/main">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"source_id": "case:761228c746fb13",</a:t>
            </a:r>
          </a:p>
          <a:p xmlns:a="http://schemas.openxmlformats.org/drawingml/2006/main">
            <a:r>
              <a:t>      "source_url": "https://datalab.visitkorea.or.kr/html/interview5/interview01.jsp",</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반값여행—지역지출 환급과 지역상품권 재소비",</a:t>
            </a:r>
          </a:p>
          <a:p xmlns:a="http://schemas.openxmlformats.org/drawingml/2006/main">
            <a:r>
              <a:t>      "document_type": null,</a:t>
            </a:r>
          </a:p>
          <a:p xmlns:a="http://schemas.openxmlformats.org/drawingml/2006/main">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xmlns:a="http://schemas.openxmlformats.org/drawingml/2006/main">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실적을 이전 연도 및 자체·통신·상품권 자료와 비교",</a:t>
            </a:r>
          </a:p>
          <a:p xmlns:a="http://schemas.openxmlformats.org/drawingml/2006/main">
            <a:r>
              <a:t>      "transfer_conditions": [</a:t>
            </a:r>
          </a:p>
          <a:p xmlns:a="http://schemas.openxmlformats.org/drawingml/2006/main">
            <a:r>
              <a:t>        "제주시에 적용하려면 대상 권역·참여자·환급 인정 업종·최대 환급액을 제한한 시범사업으로 축소해야 함",</a:t>
            </a:r>
          </a:p>
          <a:p xmlns:a="http://schemas.openxmlformats.org/drawingml/2006/main">
            <a:r>
              <a:t>        "지역화폐 또는 사용처가 제한된 디지털 바우처와 정산 시스템 확보 필요",</a:t>
            </a:r>
          </a:p>
          <a:p xmlns:a="http://schemas.openxmlformats.org/drawingml/2006/main">
            <a:r>
              <a:t>        "여행 전 신청, 현장 방문 및 결제 증빙, 중복·허위 영수증 검증 절차 필요",</a:t>
            </a:r>
          </a:p>
          <a:p xmlns:a="http://schemas.openxmlformats.org/drawingml/2006/main">
            <a:r>
              <a:t>        "제주시의 방문 규모와 상권 구조는 강진군과 크게 다르므로 강진 예산·증가율을 비례 환산하지 않음",</a:t>
            </a:r>
          </a:p>
          <a:p xmlns:a="http://schemas.openxmlformats.org/drawingml/2006/main">
            <a:r>
              <a:t>        "성과는 신청팀 수가 아니라 여행 완료율, 인정 결제액, 환급액, 환급분 재사용액, 참여업체별 순증 결제로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"서울달(SEOULDAL)—서울 정책 아카이브",</a:t>
            </a:r>
          </a:p>
          <a:p xmlns:a="http://schemas.openxmlformats.org/drawingml/2006/main">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"source_id": "case:946857867790a6",</a:t>
            </a:r>
          </a:p>
          <a:p xmlns:a="http://schemas.openxmlformats.org/drawingml/2006/main">
            <a:r>
              <a:t>      "source_url": "https://www.seoul.go.kr/policy/view.do?id=1022&amp;lan=",</a:t>
            </a:r>
          </a:p>
          <a:p xmlns:a="http://schemas.openxmlformats.org/drawingml/2006/main">
            <a:r>
              <a:t>      "case_region": "서울특별시 영등포구 여의도",</a:t>
            </a:r>
          </a:p>
          <a:p xmlns:a="http://schemas.openxmlformats.org/drawingml/2006/main">
            <a:r>
              <a:t>      "source_type": "benchmark_case",</a:t>
            </a:r>
          </a:p>
          <a:p xmlns:a="http://schemas.openxmlformats.org/drawingml/2006/main">
            <a:r>
              <a:t>      "intervention": "서울달—예약채널 확대와 야간 운영시간 연장",</a:t>
            </a:r>
          </a:p>
          <a:p xmlns:a="http://schemas.openxmlformats.org/drawingml/2006/main">
            <a:r>
              <a:t>      "document_type": null,</a:t>
            </a:r>
          </a:p>
          <a:p xmlns:a="http://schemas.openxmlformats.org/drawingml/2006/main">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xmlns:a="http://schemas.openxmlformats.org/drawingml/2006/main">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 8월 정식 운영 이후부터 2026년 6월까지 누적 실적",</a:t>
            </a:r>
          </a:p>
          <a:p xmlns:a="http://schemas.openxmlformats.org/drawingml/2006/main">
            <a:r>
              <a:t>      "transfer_conditions": [</a:t>
            </a:r>
          </a:p>
          <a:p xmlns:a="http://schemas.openxmlformats.org/drawingml/2006/main">
            <a:r>
              <a:t>        "제주시는 고비용 신규 시설을 복제하지 말고 기존 전망·문화·해양·공공시설의 미판매 시간대를 예약상품으로 전환",</a:t>
            </a:r>
          </a:p>
          <a:p xmlns:a="http://schemas.openxmlformats.org/drawingml/2006/main">
            <a:r>
              <a:t>        "10~12월 일몰시간과 항공 도착시간을 반영해 저녁 회차를 편성하고 기상 취소·환불 규칙을 사전 고지",</a:t>
            </a:r>
          </a:p>
          <a:p xmlns:a="http://schemas.openxmlformats.org/drawingml/2006/main">
            <a:r>
              <a:t>        "국내 예약 플랫폼과 외국어 판매채널에서 동일한 재고·시간표를 관리할 수 있는 운영자 필요",</a:t>
            </a:r>
          </a:p>
          <a:p xmlns:a="http://schemas.openxmlformats.org/drawingml/2006/main">
            <a:r>
              <a:t>        "예약 노출→결제→방문 완료→인근 상권 결제의 단계별 전환율을 수집",</a:t>
            </a:r>
          </a:p>
          <a:p xmlns:a="http://schemas.openxmlformats.org/drawingml/2006/main">
            <a:r>
              <a:t>        "야간 프로그램 운영일과 비운영일, 참여시설과 비참여시설을 구분해 비교"</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"야간관광 특화도시 인천, 5만원 할인 숙박상품 기획전 열어",</a:t>
            </a:r>
          </a:p>
          <a:p xmlns:a="http://schemas.openxmlformats.org/drawingml/2006/main">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xmlns:a="http://schemas.openxmlformats.org/drawingml/2006/main">
            <a:r>
              <a:t>      "source_id": "case:a40729ff2a147d",</a:t>
            </a:r>
          </a:p>
          <a:p xmlns:a="http://schemas.openxmlformats.org/drawingml/2006/main">
            <a:r>
              <a:t>      "source_url": "https://www.incheon.go.kr/IC010205/view?curPage=688&amp;repSeq=DOM_0000000007400989",</a:t>
            </a:r>
          </a:p>
          <a:p xmlns:a="http://schemas.openxmlformats.org/drawingml/2006/main">
            <a:r>
              <a:t>      "case_region": "인천광역시 송도 센트럴파크 권역",</a:t>
            </a:r>
          </a:p>
          <a:p xmlns:a="http://schemas.openxmlformats.org/drawingml/2006/main">
            <a:r>
              <a:t>      "source_type": "benchmark_case",</a:t>
            </a:r>
          </a:p>
          <a:p xmlns:a="http://schemas.openxmlformats.org/drawingml/2006/main">
            <a:r>
              <a:t>      "intervention": "올 나이츠 럭셔리 인천—숙박쿠폰·관광패스·야간행사·셔틀 결합",</a:t>
            </a:r>
          </a:p>
          <a:p xmlns:a="http://schemas.openxmlformats.org/drawingml/2006/main">
            <a:r>
              <a:t>      "document_type": null,</a:t>
            </a:r>
          </a:p>
          <a:p xmlns:a="http://schemas.openxmlformats.org/drawingml/2006/main">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xmlns:a="http://schemas.openxmlformats.org/drawingml/2006/main">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xmlns:a="http://schemas.openxmlformats.org/drawingml/2006/main">
            <a:r>
              <a:t>      "retrieval_method": "official_web_search",</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"2023년 4월 25일~6월 20일 운영계획; 사후 성과 측정기간은 공식 자료에서 확인되지 않음",</a:t>
            </a:r>
          </a:p>
          <a:p xmlns:a="http://schemas.openxmlformats.org/drawingml/2006/main">
            <a:r>
              <a:t>      "transfer_conditions": [</a:t>
            </a:r>
          </a:p>
          <a:p xmlns:a="http://schemas.openxmlformats.org/drawingml/2006/main">
            <a:r>
              <a:t>        "제주시에서는 전 지역 숙박쿠폰보다 특정 야간 프로그램·권역·평일 입실에 한정한 묶음상품이 적합",</a:t>
            </a:r>
          </a:p>
          <a:p xmlns:a="http://schemas.openxmlformats.org/drawingml/2006/main">
            <a:r>
              <a:t>        "쿠폰 발급 건수가 아니라 실제 체크인과 관광패스 사용 완료 자료를 OTA로부터 받아야 함",</a:t>
            </a:r>
          </a:p>
          <a:p xmlns:a="http://schemas.openxmlformats.org/drawingml/2006/main">
            <a:r>
              <a:t>        "야간 콘텐츠 운영일, 숙박 가능일, 공항·도심 이동수단을 하나의 판매 일정으로 맞춰야 함",</a:t>
            </a:r>
          </a:p>
          <a:p xmlns:a="http://schemas.openxmlformats.org/drawingml/2006/main">
            <a:r>
              <a:t>        "참여 숙소·체험시설·식음업체 모집과 재고연동 협약 필요",</a:t>
            </a:r>
          </a:p>
          <a:p xmlns:a="http://schemas.openxmlformats.org/drawingml/2006/main">
            <a:r>
              <a:t>        "쿠폰 이용자와 유사한 비이용 예약자의 체류·결제를 비교할 수 있도록 사전 측정 설계 필요"</a:t>
            </a:r>
          </a:p>
          <a:p xmlns:a="http://schemas.openxmlformats.org/drawingml/2006/main">
            <a:r>
              <a:t>      ],</a:t>
            </a:r>
          </a:p>
          <a:p xmlns:a="http://schemas.openxmlformats.org/drawingml/2006/main">
            <a:r>
              <a:t>      "published_or_updated_at": "2023-04-26",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"document_type": "case_study",</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"retrieval_method": "curated_registry",</a:t>
            </a:r>
          </a:p>
          <a:p xmlns:a="http://schemas.openxmlformats.org/drawingml/2006/main">
            <a:r>
              <a:t>      "evidence_strength": "low",</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"가마오름",</a:t>
            </a:r>
          </a:p>
          <a:p xmlns:a="http://schemas.openxmlformats.org/drawingml/2006/main">
            <a:r>
              <a:t>      "address": "제주특별자치도 제주시 한경면 청수리",</a:t>
            </a:r>
          </a:p>
          <a:p xmlns:a="http://schemas.openxmlformats.org/drawingml/2006/main">
            <a:r>
              <a:t>      "summary": "한국관광공사 국문관광정보 API가 반환한 선택 지역 관광자원",</a:t>
            </a:r>
          </a:p>
          <a:p xmlns:a="http://schemas.openxmlformats.org/drawingml/2006/main">
            <a:r>
              <a:t>      "image_url": "http://tong.visitkorea.or.kr/cms/resource/72/3477972_image2_1.jpg",</a:t>
            </a:r>
          </a:p>
          <a:p xmlns:a="http://schemas.openxmlformats.org/drawingml/2006/main">
            <a:r>
              <a:t>      "source_id": "tour-api:1884191",</a:t>
            </a:r>
          </a:p>
          <a:p xmlns:a="http://schemas.openxmlformats.org/drawingml/2006/main">
            <a:r>
              <a:t>      "content_id": "1884191",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"is_forecast": true,</a:t>
            </a:r>
          </a:p>
          <a:p xmlns:a="http://schemas.openxmlformats.org/drawingml/2006/main">
            <a:r>
              <a:t>        "spending_krw": 150467072839.0,</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"is_forecast": true,</a:t>
            </a:r>
          </a:p>
          <a:p xmlns:a="http://schemas.openxmlformats.org/drawingml/2006/main">
            <a:r>
              <a:t>        "spending_krw": 145085139974.0,</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"is_forecast": true,</a:t>
            </a:r>
          </a:p>
          <a:p xmlns:a="http://schemas.openxmlformats.org/drawingml/2006/main">
            <a:r>
              <a:t>        "spending_krw": 149366639508.0,</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"is_forecast": true,</a:t>
            </a:r>
          </a:p>
          <a:p xmlns:a="http://schemas.openxmlformats.org/drawingml/2006/main">
            <a:r>
              <a:t>      "spending_krw": 140803668431,</a:t>
            </a:r>
          </a:p>
          <a:p xmlns:a="http://schemas.openxmlformats.org/drawingml/2006/main">
            <a:r>
              <a:t>      "stay_minutes": 2599.0,</a:t>
            </a:r>
          </a:p>
          <a:p xmlns:a="http://schemas.openxmlformats.org/drawingml/2006/main">
            <a:r>
              <a:t>      "lodging_nights": 3.2,</a:t>
            </a:r>
          </a:p>
          <a:p xmlns:a="http://schemas.openxmlformats.org/drawingml/2006/main">
            <a:r>
              <a:t>      "lodging_rate_pct": 21.7,</a:t>
            </a:r>
          </a:p>
          <a:p xmlns:a="http://schemas.openxmlformats.org/drawingml/2006/main">
            <a:r>
              <a:t>      "lodging_searches": 99946,</a:t>
            </a:r>
          </a:p>
          <a:p xmlns:a="http://schemas.openxmlformats.org/drawingml/2006/main">
            <a:r>
              <a:t>      "navigation_searches": 710719,</a:t>
            </a:r>
          </a:p>
          <a:p xmlns:a="http://schemas.openxmlformats.org/drawingml/2006/main">
            <a:r>
              <a:t>      "visitor_yoy_percent": -3.05,</a:t>
            </a:r>
          </a:p>
          <a:p xmlns:a="http://schemas.openxmlformats.org/drawingml/2006/main">
            <a:r>
              <a:t>      "spending_yoy_percent": -4.29,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3628591,</a:t>
            </a:r>
          </a:p>
          <a:p xmlns:a="http://schemas.openxmlformats.org/drawingml/2006/main">
            <a:r>
              <a:t>      "previous_year_spending_krw": 147121716000,</a:t>
            </a:r>
          </a:p>
          <a:p xmlns:a="http://schemas.openxmlformats.org/drawingml/2006/main">
            <a:r>
              <a:t>      "previous_year_stay_minutes": 2599.0,</a:t>
            </a:r>
          </a:p>
          <a:p xmlns:a="http://schemas.openxmlformats.org/drawingml/2006/main">
            <a:r>
              <a:t>      "previous_year_lodging_nights": 3.2,</a:t>
            </a:r>
          </a:p>
          <a:p xmlns:a="http://schemas.openxmlformats.org/drawingml/2006/main">
            <a:r>
              <a:t>      "previous_year_lodging_rate_pct": 21.7,</a:t>
            </a:r>
          </a:p>
          <a:p xmlns:a="http://schemas.openxmlformats.org/drawingml/2006/main">
            <a:r>
              <a:t>      "previous_year_lodging_searches": 99946,</a:t>
            </a:r>
          </a:p>
          <a:p xmlns:a="http://schemas.openxmlformats.org/drawingml/2006/main">
            <a:r>
              <a:t>      "previous_year_navigation_searches": 710719</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"is_forecast": true,</a:t>
            </a:r>
          </a:p>
          <a:p xmlns:a="http://schemas.openxmlformats.org/drawingml/2006/main">
            <a:r>
              <a:t>      "spending_krw": 147968744557,</a:t>
            </a:r>
          </a:p>
          <a:p xmlns:a="http://schemas.openxmlformats.org/drawingml/2006/main">
            <a:r>
              <a:t>      "stay_minutes": 2361.0,</a:t>
            </a:r>
          </a:p>
          <a:p xmlns:a="http://schemas.openxmlformats.org/drawingml/2006/main">
            <a:r>
              <a:t>      "lodging_nights": 3.15,</a:t>
            </a:r>
          </a:p>
          <a:p xmlns:a="http://schemas.openxmlformats.org/drawingml/2006/main">
            <a:r>
              <a:t>      "lodging_rate_pct": 22.1,</a:t>
            </a:r>
          </a:p>
          <a:p xmlns:a="http://schemas.openxmlformats.org/drawingml/2006/main">
            <a:r>
              <a:t>      "lodging_searches": 114775,</a:t>
            </a:r>
          </a:p>
          <a:p xmlns:a="http://schemas.openxmlformats.org/drawingml/2006/main">
            <a:r>
              <a:t>      "navigation_searches": 832625,</a:t>
            </a:r>
          </a:p>
          <a:p xmlns:a="http://schemas.openxmlformats.org/drawingml/2006/main">
            <a:r>
              <a:t>      "visitor_yoy_percent": -6.31,</a:t>
            </a:r>
          </a:p>
          <a:p xmlns:a="http://schemas.openxmlformats.org/drawingml/2006/main">
            <a:r>
              <a:t>      "spending_yoy_percent": -7.29,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3874804,</a:t>
            </a:r>
          </a:p>
          <a:p xmlns:a="http://schemas.openxmlformats.org/drawingml/2006/main">
            <a:r>
              <a:t>      "previous_year_spending_krw": 159605711000,</a:t>
            </a:r>
          </a:p>
          <a:p xmlns:a="http://schemas.openxmlformats.org/drawingml/2006/main">
            <a:r>
              <a:t>      "previous_year_stay_minutes": 2361.0,</a:t>
            </a:r>
          </a:p>
          <a:p xmlns:a="http://schemas.openxmlformats.org/drawingml/2006/main">
            <a:r>
              <a:t>      "previous_year_lodging_nights": 3.15,</a:t>
            </a:r>
          </a:p>
          <a:p xmlns:a="http://schemas.openxmlformats.org/drawingml/2006/main">
            <a:r>
              <a:t>      "previous_year_lodging_rate_pct": 22.1,</a:t>
            </a:r>
          </a:p>
          <a:p xmlns:a="http://schemas.openxmlformats.org/drawingml/2006/main">
            <a:r>
              <a:t>      "previous_year_lodging_searches": 114775,</a:t>
            </a:r>
          </a:p>
          <a:p xmlns:a="http://schemas.openxmlformats.org/drawingml/2006/main">
            <a:r>
              <a:t>      "previous_year_navigation_searches": 832625</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"is_forecast": true,</a:t>
            </a:r>
          </a:p>
          <a:p xmlns:a="http://schemas.openxmlformats.org/drawingml/2006/main">
            <a:r>
              <a:t>      "spending_krw": 128844309211,</a:t>
            </a:r>
          </a:p>
          <a:p xmlns:a="http://schemas.openxmlformats.org/drawingml/2006/main">
            <a:r>
              <a:t>      "stay_minutes": 2331.0,</a:t>
            </a:r>
          </a:p>
          <a:p xmlns:a="http://schemas.openxmlformats.org/drawingml/2006/main">
            <a:r>
              <a:t>      "lodging_nights": 3.04,</a:t>
            </a:r>
          </a:p>
          <a:p xmlns:a="http://schemas.openxmlformats.org/drawingml/2006/main">
            <a:r>
              <a:t>      "lodging_rate_pct": 21.3,</a:t>
            </a:r>
          </a:p>
          <a:p xmlns:a="http://schemas.openxmlformats.org/drawingml/2006/main">
            <a:r>
              <a:t>      "lodging_searches": 83147,</a:t>
            </a:r>
          </a:p>
          <a:p xmlns:a="http://schemas.openxmlformats.org/drawingml/2006/main">
            <a:r>
              <a:t>      "navigation_searches": 625924,</a:t>
            </a:r>
          </a:p>
          <a:p xmlns:a="http://schemas.openxmlformats.org/drawingml/2006/main">
            <a:r>
              <a:t>      "visitor_yoy_percent": 0.75,</a:t>
            </a:r>
          </a:p>
          <a:p xmlns:a="http://schemas.openxmlformats.org/drawingml/2006/main">
            <a:r>
              <a:t>      "spending_yoy_percent": -3.74,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3482583,</a:t>
            </a:r>
          </a:p>
          <a:p xmlns:a="http://schemas.openxmlformats.org/drawingml/2006/main">
            <a:r>
              <a:t>      "previous_year_spending_krw": 133843940000,</a:t>
            </a:r>
          </a:p>
          <a:p xmlns:a="http://schemas.openxmlformats.org/drawingml/2006/main">
            <a:r>
              <a:t>      "previous_year_stay_minutes": 2331.0,</a:t>
            </a:r>
          </a:p>
          <a:p xmlns:a="http://schemas.openxmlformats.org/drawingml/2006/main">
            <a:r>
              <a:t>      "previous_year_lodging_nights": 3.04,</a:t>
            </a:r>
          </a:p>
          <a:p xmlns:a="http://schemas.openxmlformats.org/drawingml/2006/main">
            <a:r>
              <a:t>      "previous_year_lodging_rate_pct": 21.3,</a:t>
            </a:r>
          </a:p>
          <a:p xmlns:a="http://schemas.openxmlformats.org/drawingml/2006/main">
            <a:r>
              <a:t>      "previous_year_lodging_searches": 83147,</a:t>
            </a:r>
          </a:p>
          <a:p xmlns:a="http://schemas.openxmlformats.org/drawingml/2006/main">
            <a:r>
              <a:t>      "previous_year_navigation_searches": 625924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"is_forecast": true,</a:t>
            </a:r>
          </a:p>
          <a:p xmlns:a="http://schemas.openxmlformats.org/drawingml/2006/main">
            <a:r>
              <a:t>      "spending_krw": 150467072839,</a:t>
            </a:r>
          </a:p>
          <a:p xmlns:a="http://schemas.openxmlformats.org/drawingml/2006/main">
            <a:r>
              <a:t>      "stay_minutes": 2601.0,</a:t>
            </a:r>
          </a:p>
          <a:p xmlns:a="http://schemas.openxmlformats.org/drawingml/2006/main">
            <a:r>
              <a:t>      "lodging_nights": 3.3,</a:t>
            </a:r>
          </a:p>
          <a:p xmlns:a="http://schemas.openxmlformats.org/drawingml/2006/main">
            <a:r>
              <a:t>      "lodging_rate_pct": 22.1,</a:t>
            </a:r>
          </a:p>
          <a:p xmlns:a="http://schemas.openxmlformats.org/drawingml/2006/main">
            <a:r>
              <a:t>      "lodging_searches": 146458,</a:t>
            </a:r>
          </a:p>
          <a:p xmlns:a="http://schemas.openxmlformats.org/drawingml/2006/main">
            <a:r>
              <a:t>      "navigation_searches": 1120126,</a:t>
            </a:r>
          </a:p>
          <a:p xmlns:a="http://schemas.openxmlformats.org/drawingml/2006/main">
            <a:r>
              <a:t>      "visitor_yoy_percent": -7.42,</a:t>
            </a:r>
          </a:p>
          <a:p xmlns:a="http://schemas.openxmlformats.org/drawingml/2006/main">
            <a:r>
              <a:t>      "spending_yoy_percent": -2.51,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3904808,</a:t>
            </a:r>
          </a:p>
          <a:p xmlns:a="http://schemas.openxmlformats.org/drawingml/2006/main">
            <a:r>
              <a:t>      "previous_year_spending_krw": 154337552000,</a:t>
            </a:r>
          </a:p>
          <a:p xmlns:a="http://schemas.openxmlformats.org/drawingml/2006/main">
            <a:r>
              <a:t>      "previous_year_stay_minutes": 2601.0,</a:t>
            </a:r>
          </a:p>
          <a:p xmlns:a="http://schemas.openxmlformats.org/drawingml/2006/main">
            <a:r>
              <a:t>      "previous_year_lodging_nights": 3.3,</a:t>
            </a:r>
          </a:p>
          <a:p xmlns:a="http://schemas.openxmlformats.org/drawingml/2006/main">
            <a:r>
              <a:t>      "previous_year_lodging_rate_pct": 22.1,</a:t>
            </a:r>
          </a:p>
          <a:p xmlns:a="http://schemas.openxmlformats.org/drawingml/2006/main">
            <a:r>
              <a:t>      "previous_year_lodging_searches": 146458,</a:t>
            </a:r>
          </a:p>
          <a:p xmlns:a="http://schemas.openxmlformats.org/drawingml/2006/main">
            <a:r>
              <a:t>      "previous_year_navigation_searches": 1120126</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"is_forecast": true,</a:t>
            </a:r>
          </a:p>
          <a:p xmlns:a="http://schemas.openxmlformats.org/drawingml/2006/main">
            <a:r>
              <a:t>      "spending_krw": 145085139974,</a:t>
            </a:r>
          </a:p>
          <a:p xmlns:a="http://schemas.openxmlformats.org/drawingml/2006/main">
            <a:r>
              <a:t>      "stay_minutes": 2044.0,</a:t>
            </a:r>
          </a:p>
          <a:p xmlns:a="http://schemas.openxmlformats.org/drawingml/2006/main">
            <a:r>
              <a:t>      "lodging_nights": 3.0,</a:t>
            </a:r>
          </a:p>
          <a:p xmlns:a="http://schemas.openxmlformats.org/drawingml/2006/main">
            <a:r>
              <a:t>      "lodging_rate_pct": 22.0,</a:t>
            </a:r>
          </a:p>
          <a:p xmlns:a="http://schemas.openxmlformats.org/drawingml/2006/main">
            <a:r>
              <a:t>      "lodging_searches": 87867,</a:t>
            </a:r>
          </a:p>
          <a:p xmlns:a="http://schemas.openxmlformats.org/drawingml/2006/main">
            <a:r>
              <a:t>      "navigation_searches": 657481,</a:t>
            </a:r>
          </a:p>
          <a:p xmlns:a="http://schemas.openxmlformats.org/drawingml/2006/main">
            <a:r>
              <a:t>      "visitor_yoy_percent": 0.08,</a:t>
            </a:r>
          </a:p>
          <a:p xmlns:a="http://schemas.openxmlformats.org/drawingml/2006/main">
            <a:r>
              <a:t>      "spending_yoy_percent": 0.83,</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3591286,</a:t>
            </a:r>
          </a:p>
          <a:p xmlns:a="http://schemas.openxmlformats.org/drawingml/2006/main">
            <a:r>
              <a:t>      "previous_year_spending_krw": 143894918000,</a:t>
            </a:r>
          </a:p>
          <a:p xmlns:a="http://schemas.openxmlformats.org/drawingml/2006/main">
            <a:r>
              <a:t>      "previous_year_stay_minutes": 2044.0,</a:t>
            </a:r>
          </a:p>
          <a:p xmlns:a="http://schemas.openxmlformats.org/drawingml/2006/main">
            <a:r>
              <a:t>      "previous_year_lodging_nights": 3.0,</a:t>
            </a:r>
          </a:p>
          <a:p xmlns:a="http://schemas.openxmlformats.org/drawingml/2006/main">
            <a:r>
              <a:t>      "previous_year_lodging_rate_pct": 22.0,</a:t>
            </a:r>
          </a:p>
          <a:p xmlns:a="http://schemas.openxmlformats.org/drawingml/2006/main">
            <a:r>
              <a:t>      "previous_year_lodging_searches": 87867,</a:t>
            </a:r>
          </a:p>
          <a:p xmlns:a="http://schemas.openxmlformats.org/drawingml/2006/main">
            <a:r>
              <a:t>      "previous_year_navigation_searches": 657481</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"is_forecast": true,</a:t>
            </a:r>
          </a:p>
          <a:p xmlns:a="http://schemas.openxmlformats.org/drawingml/2006/main">
            <a:r>
              <a:t>      "spending_krw": 149366639508,</a:t>
            </a:r>
          </a:p>
          <a:p xmlns:a="http://schemas.openxmlformats.org/drawingml/2006/main">
            <a:r>
              <a:t>      "stay_minutes": 2289.0,</a:t>
            </a:r>
          </a:p>
          <a:p xmlns:a="http://schemas.openxmlformats.org/drawingml/2006/main">
            <a:r>
              <a:t>      "lodging_nights": 3.03,</a:t>
            </a:r>
          </a:p>
          <a:p xmlns:a="http://schemas.openxmlformats.org/drawingml/2006/main">
            <a:r>
              <a:t>      "lodging_rate_pct": 22.3,</a:t>
            </a:r>
          </a:p>
          <a:p xmlns:a="http://schemas.openxmlformats.org/drawingml/2006/main">
            <a:r>
              <a:t>      "lodging_searches": 75858,</a:t>
            </a:r>
          </a:p>
          <a:p xmlns:a="http://schemas.openxmlformats.org/drawingml/2006/main">
            <a:r>
              <a:t>      "navigation_searches": 556973,</a:t>
            </a:r>
          </a:p>
          <a:p xmlns:a="http://schemas.openxmlformats.org/drawingml/2006/main">
            <a:r>
              <a:t>      "visitor_yoy_percent": -1.18,</a:t>
            </a:r>
          </a:p>
          <a:p xmlns:a="http://schemas.openxmlformats.org/drawingml/2006/main">
            <a:r>
              <a:t>      "spending_yoy_percent": 0.77,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3410959,</a:t>
            </a:r>
          </a:p>
          <a:p xmlns:a="http://schemas.openxmlformats.org/drawingml/2006/main">
            <a:r>
              <a:t>      "previous_year_spending_krw": 148223154000,</a:t>
            </a:r>
          </a:p>
          <a:p xmlns:a="http://schemas.openxmlformats.org/drawingml/2006/main">
            <a:r>
              <a:t>      "previous_year_stay_minutes": 2289.0,</a:t>
            </a:r>
          </a:p>
          <a:p xmlns:a="http://schemas.openxmlformats.org/drawingml/2006/main">
            <a:r>
              <a:t>      "previous_year_lodging_nights": 3.03,</a:t>
            </a:r>
          </a:p>
          <a:p xmlns:a="http://schemas.openxmlformats.org/drawingml/2006/main">
            <a:r>
              <a:t>      "previous_year_lodging_rate_pct": 22.3,</a:t>
            </a:r>
          </a:p>
          <a:p xmlns:a="http://schemas.openxmlformats.org/drawingml/2006/main">
            <a:r>
              <a:t>      "previous_year_lodging_searches": 75858,</a:t>
            </a:r>
          </a:p>
          <a:p xmlns:a="http://schemas.openxmlformats.org/drawingml/2006/main">
            <a:r>
              <a:t>      "previous_year_navigation_searches": 556973</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183762.22,</a:t>
            </a:r>
          </a:p>
          <a:p xmlns:a="http://schemas.openxmlformats.org/drawingml/2006/main">
            <a:r>
              <a:t>        "recursive_mae": {</a:t>
            </a:r>
          </a:p>
          <a:p xmlns:a="http://schemas.openxmlformats.org/drawingml/2006/main">
            <a:r>
              <a:t>          "1": {</a:t>
            </a:r>
          </a:p>
          <a:p xmlns:a="http://schemas.openxmlformats.org/drawingml/2006/main">
            <a:r>
              <a:t>            "baseline": 141219,</a:t>
            </a:r>
          </a:p>
          <a:p xmlns:a="http://schemas.openxmlformats.org/drawingml/2006/main">
            <a:r>
              <a:t>            "selected": 265459,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144459.5,</a:t>
            </a:r>
          </a:p>
          <a:p xmlns:a="http://schemas.openxmlformats.org/drawingml/2006/main">
            <a:r>
              <a:t>            "selected": 136814,</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297499.5,</a:t>
            </a:r>
          </a:p>
          <a:p xmlns:a="http://schemas.openxmlformats.org/drawingml/2006/main">
            <a:r>
              <a:t>            "selected": 180437.5,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219359.25,</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7866027889.97,</a:t>
            </a:r>
          </a:p>
          <a:p xmlns:a="http://schemas.openxmlformats.org/drawingml/2006/main">
            <a:r>
              <a:t>        "recursive_mae": {</a:t>
            </a:r>
          </a:p>
          <a:p xmlns:a="http://schemas.openxmlformats.org/drawingml/2006/main">
            <a:r>
              <a:t>          "1": {</a:t>
            </a:r>
          </a:p>
          <a:p xmlns:a="http://schemas.openxmlformats.org/drawingml/2006/main">
            <a:r>
              <a:t>            "baseline": 11633402000,</a:t>
            </a:r>
          </a:p>
          <a:p xmlns:a="http://schemas.openxmlformats.org/drawingml/2006/main">
            <a:r>
              <a:t>            "selected": 5070058833,</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5588447000,</a:t>
            </a:r>
          </a:p>
          <a:p xmlns:a="http://schemas.openxmlformats.org/drawingml/2006/main">
            <a:r>
              <a:t>            "selected": 2754801694.5,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5647526500,</a:t>
            </a:r>
          </a:p>
          <a:p xmlns:a="http://schemas.openxmlformats.org/drawingml/2006/main">
            <a:r>
              <a:t>            "selected": 11586732430.5,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8640464250,</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138.75,</a:t>
            </a:r>
          </a:p>
          <a:p xmlns:a="http://schemas.openxmlformats.org/drawingml/2006/main">
            <a:r>
              <a:t>        "recursive_mae": {</a:t>
            </a:r>
          </a:p>
          <a:p xmlns:a="http://schemas.openxmlformats.org/drawingml/2006/main">
            <a:r>
              <a:t>          "1": {</a:t>
            </a:r>
          </a:p>
          <a:p xmlns:a="http://schemas.openxmlformats.org/drawingml/2006/main">
            <a:r>
              <a:t>            "baseline": 41,</a:t>
            </a:r>
          </a:p>
          <a:p xmlns:a="http://schemas.openxmlformats.org/drawingml/2006/main">
            <a:r>
              <a:t>            "selected": 41,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208.5,</a:t>
            </a:r>
          </a:p>
          <a:p xmlns:a="http://schemas.openxmlformats.org/drawingml/2006/main">
            <a:r>
              <a:t>            "selected":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236.5,</a:t>
            </a:r>
          </a:p>
          <a:p xmlns:a="http://schemas.openxmlformats.org/drawingml/2006/main">
            <a:r>
              <a:t>            "selected":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138.75,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0.03,</a:t>
            </a:r>
          </a:p>
          <a:p xmlns:a="http://schemas.openxmlformats.org/drawingml/2006/main">
            <a:r>
              <a:t>        "recursive_mae": {</a:t>
            </a:r>
          </a:p>
          <a:p xmlns:a="http://schemas.openxmlformats.org/drawingml/2006/main">
            <a:r>
              <a:t>          "1":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0.02,</a:t>
            </a:r>
          </a:p>
          <a:p xmlns:a="http://schemas.openxmlformats.org/drawingml/2006/main">
            <a:r>
              <a:t>            "selected":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0.04,</a:t>
            </a:r>
          </a:p>
          <a:p xmlns:a="http://schemas.openxmlformats.org/drawingml/2006/main">
            <a:r>
              <a:t>            "selected":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0.5,</a:t>
            </a:r>
          </a:p>
          <a:p xmlns:a="http://schemas.openxmlformats.org/drawingml/2006/main">
            <a:r>
              <a:t>        "recursive_mae": {</a:t>
            </a:r>
          </a:p>
          <a:p xmlns:a="http://schemas.openxmlformats.org/drawingml/2006/main">
            <a:r>
              <a:t>          "1": {</a:t>
            </a:r>
          </a:p>
          <a:p xmlns:a="http://schemas.openxmlformats.org/drawingml/2006/main">
            <a:r>
              <a:t>            "baseline": 0.7,</a:t>
            </a:r>
          </a:p>
          <a:p xmlns:a="http://schemas.openxmlformats.org/drawingml/2006/main">
            <a:r>
              <a:t>            "selected":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0.55,</a:t>
            </a:r>
          </a:p>
          <a:p xmlns:a="http://schemas.openxmlformats.org/drawingml/2006/main">
            <a:r>
              <a:t>            "selected":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5915.25,</a:t>
            </a:r>
          </a:p>
          <a:p xmlns:a="http://schemas.openxmlformats.org/drawingml/2006/main">
            <a:r>
              <a:t>        "recursive_mae": {</a:t>
            </a:r>
          </a:p>
          <a:p xmlns:a="http://schemas.openxmlformats.org/drawingml/2006/main">
            <a:r>
              <a:t>          "1": {</a:t>
            </a:r>
          </a:p>
          <a:p xmlns:a="http://schemas.openxmlformats.org/drawingml/2006/main">
            <a:r>
              <a:t>            "baseline": 2259.5,</a:t>
            </a:r>
          </a:p>
          <a:p xmlns:a="http://schemas.openxmlformats.org/drawingml/2006/main">
            <a:r>
              <a:t>            "selected":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5253.5,</a:t>
            </a:r>
          </a:p>
          <a:p xmlns:a="http://schemas.openxmlformats.org/drawingml/2006/main">
            <a:r>
              <a:t>            "selected":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9571,</a:t>
            </a:r>
          </a:p>
          <a:p xmlns:a="http://schemas.openxmlformats.org/drawingml/2006/main">
            <a:r>
              <a:t>            "selected": 9571,</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5915.25,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29189.5,</a:t>
            </a:r>
          </a:p>
          <a:p xmlns:a="http://schemas.openxmlformats.org/drawingml/2006/main">
            <a:r>
              <a:t>        "recursive_mae": {</a:t>
            </a:r>
          </a:p>
          <a:p xmlns:a="http://schemas.openxmlformats.org/drawingml/2006/main">
            <a:r>
              <a:t>          "1": {</a:t>
            </a:r>
          </a:p>
          <a:p xmlns:a="http://schemas.openxmlformats.org/drawingml/2006/main">
            <a:r>
              <a:t>            "baseline": 11165.5,</a:t>
            </a:r>
          </a:p>
          <a:p xmlns:a="http://schemas.openxmlformats.org/drawingml/2006/main">
            <a:r>
              <a:t>            "selected":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19541,</a:t>
            </a:r>
          </a:p>
          <a:p xmlns:a="http://schemas.openxmlformats.org/drawingml/2006/main">
            <a:r>
              <a:t>            "selected": 19541,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47213.5,</a:t>
            </a:r>
          </a:p>
          <a:p xmlns:a="http://schemas.openxmlformats.org/drawingml/2006/main">
            <a:r>
              <a:t>            "selected":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29189.5,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20.0,</a:t>
            </a:r>
          </a:p>
          <a:p xmlns:a="http://schemas.openxmlformats.org/drawingml/2006/main">
            <a:r>
              <a:t>    "spending_target_pct": 20.0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"환급액 총액 100,000,000원 (기획 가정: 환급률 20%, 건별 상한 50,000원, 예상 참여자 10,000명 기준)",</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"환급액 총액 100,000,000원 (기획 가정: 환급률 20%, 건별 상한 50,000원, 예상 참여자 10,000명 기준)",</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43쪽, PDF 36쪽, PDF 40쪽, PDF 41쪽, PDF 41쪽, PDF 44쪽, PDF 43쪽, PDF 43쪽 | https://datalab.visitkorea.or.kr/site/portal/ex/bbs/View.do?bcIdx=311068&amp;cbIdx=1135&amp;pageIndex=1</a:t>
            </a:r>
          </a:p>
          <a:p>
            <a:r>
              <a:t>case:199f928478e634 | 외국인 개별관광객 지방 방문 촉진 고토치 셔틀 운영자료 | https://kto.visitkorea.or.kr/upload/flexer/upload/ktobiz/20190417/ca99de85-60a6-11e9-9d6f-39c7f0d61b75.hwp.files/Sections1.html</a:t>
            </a:r>
          </a:p>
          <a:p>
            <a:r>
              <a:t>case:761228c746fb13 | 한국관광 데이터랩 우수 활용사례(2025)—데이터 기반 강진 반값여행으로 지역 경제를 살리다 | https://datalab.visitkorea.or.kr/html/interview5/interview01.jsp</a:t>
            </a:r>
          </a:p>
          <a:p>
            <a:r>
              <a:t>case:946857867790a6 | 서울달(SEOULDAL)—서울 정책 아카이브 | https://www.seoul.go.kr/policy/view.do?id=1022&amp;lan=</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case:a40729ff2a147d | 야간관광 특화도시 인천, 5만원 할인 숙박상품 기획전 열어 | https://www.incheon.go.kr/IC010205/view?curPage=688&amp;repSeq=DOM_0000000007400989</a:t>
            </a:r>
          </a:p>
          <a:p>
            <a:r>
              <a:t>case:gangjin_half_price_2024 | 강진 반값여행 지역경제 효과 소개 | https://jnfarm.jeonnam.go.kr/board/FARM_BOARD_008/boardView.do?bdId=BD_00000000000011721&amp;menuCd=farm004002</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제주특별자치도 제주시 순 방문자 수 및 숙박 비율 (이동통신 기반 외지인)",</a:t>
            </a:r>
          </a:p>
          <a:p>
            <a:r>
              <a:t>      "summary": "월간 순 방문자 수: 3,131,476명 (관측 기준월: 2026-06)",</a:t>
            </a:r>
          </a:p>
          <a:p>
            <a:r>
              <a:t>      "source_id": "dataset:50110:1",</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월간 순 방문자 수 (이동통신 기반 외지인)",</a:t>
            </a:r>
          </a:p>
          <a:p>
            <a:r>
              <a:t>      "summary": "전년동월 외지인 방문자 증감률: -8.9% (관측 기준월: 2026-06)",</a:t>
            </a:r>
          </a:p>
          <a:p>
            <a:r>
              <a:t>      "source_id": "dataset:50110:2",</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관광소비 추이_외지인",</a:t>
            </a:r>
          </a:p>
          <a:p>
            <a:r>
              <a:t>      "summary": "월간 외지인 관광소비 총액: 129,503,828,000원 (관측 기준월: 2026-06)",</a:t>
            </a:r>
          </a:p>
          <a:p>
            <a:r>
              <a:t>      "source_id": "dataset:50110:3",</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숙박방문자 비율 추이 (이동통신 기반 외지인)",</a:t>
            </a:r>
          </a:p>
          <a:p>
            <a:r>
              <a:t>      "summary": "외지인 숙박 방문 비율: 21.0% (관측 기준월: 2026-06)",</a:t>
            </a:r>
          </a:p>
          <a:p>
            <a:r>
              <a:t>      "source_id": "dataset:50110:4",</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평균 숙박일 (이동통신 기반 외지인)",</a:t>
            </a:r>
          </a:p>
          <a:p>
            <a:r>
              <a:t>      "summary": "외지인 평균 숙박일수: 3.13일 (관측 기준월: 2026-06)",</a:t>
            </a:r>
          </a:p>
          <a:p>
            <a:r>
              <a:t>      "source_id": "dataset:50110:5",</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내비게이션 목적지 유형별 검색량",</a:t>
            </a:r>
          </a:p>
          <a:p>
            <a:r>
              <a:t>      "summary": "내비게이션 목적지 검색량: 580,380건 (관측 기준월: 2026-06)",</a:t>
            </a:r>
          </a:p>
          <a:p>
            <a:r>
              <a:t>      "source_id": "dataset:50110:6",</a:t>
            </a:r>
          </a:p>
          <a:p>
            <a:r>
              <a:t>      "source_url": "https://datalab.visitkorea.or.kr/",</a:t>
            </a:r>
          </a:p>
          <a:p>
            <a:r>
              <a:t>      "source_type": "dataset",</a:t>
            </a:r>
          </a:p>
          <a:p>
            <a:r>
              <a:t>      "observation_period": "2026-06",</a:t>
            </a:r>
          </a:p>
          <a:p>
            <a:r>
              <a:t>      "published_or_updated_at": "2026-06"</a:t>
            </a:r>
          </a:p>
          <a:p>
            <a:r>
              <a:t>    },</a:t>
            </a:r>
          </a:p>
          <a:p>
            <a:r>
              <a:t>    {</a:t>
            </a:r>
          </a:p>
          <a:p>
            <a:r>
              <a:t>      "title": "한국관광 데이터랩 · 제주특별자치도 제주시 SNS 언급량",</a:t>
            </a:r>
          </a:p>
          <a:p>
            <a:r>
              <a:t>      "summary": "SNS 언급량: 138,652건 (관측 기준월: 2026-06)",</a:t>
            </a:r>
          </a:p>
          <a:p>
            <a:r>
              <a:t>      "source_id": "dataset:50110:7",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제주특별자치도_제주시/방문자/2026_01_06.zip",</a:t>
            </a:r>
          </a:p>
          <a:p>
            <a:r>
              <a:t>      "summary": "전국 비교 기준 기간: 2025-07 ~ 2026-06",</a:t>
            </a:r>
          </a:p>
          <a:p>
            <a:r>
              <a:t>      "source_id": "datalab:3ec866bde028:27b141591f10",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제주특별자치도_제주시/숙박_체류시간/2026_01_06.zip",</a:t>
            </a:r>
          </a:p>
          <a:p>
            <a:r>
              <a:t>      "summary": "전국 비교 기준 기간: 2025-07 ~ 2026-06",</a:t>
            </a:r>
          </a:p>
          <a:p>
            <a:r>
              <a:t>      "source_id": "datalab:4833a91757b2:5c2efa032440",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제주특별자치도_제주시/숙박_체류시간/2025_01_12.zip",</a:t>
            </a:r>
          </a:p>
          <a:p>
            <a:r>
              <a:t>      "summary": "전국 비교 기준 기간: 2025-07 ~ 2026-06",</a:t>
            </a:r>
          </a:p>
          <a:p>
            <a:r>
              <a:t>      "source_id": "datalab:5d9f73f9fe47:2904d99e7279",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제주특별자치도_제주시/관광소비/2026_01_06.zip",</a:t>
            </a:r>
          </a:p>
          <a:p>
            <a:r>
              <a:t>      "summary": "전국 비교 기준 기간: 2025-07 ~ 2026-06",</a:t>
            </a:r>
          </a:p>
          <a:p>
            <a:r>
              <a:t>      "source_id": "datalab:95122c38b4fc:522e2d839300",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제주특별자치도_제주시/방문자/2025_01_12.zip",</a:t>
            </a:r>
          </a:p>
          <a:p>
            <a:r>
              <a:t>      "summary": "전국 비교 기준 기간: 2025-07 ~ 2026-06",</a:t>
            </a:r>
          </a:p>
          <a:p>
            <a:r>
              <a:t>      "source_id": "datalab:d73227708014:f4517115deb9",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제주특별자치도_제주시/관광소비/2025_01_12.zip",</a:t>
            </a:r>
          </a:p>
          <a:p>
            <a:r>
              <a:t>      "summary": "전국 비교 기준 기간: 2025-07 ~ 2026-06",</a:t>
            </a:r>
          </a:p>
          <a:p>
            <a:r>
              <a:t>      "source_id": "datalab:f07ad8a73d99:ed1b998de1b3",</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제주특별자치도 제주시 · 유입유출",</a:t>
            </a:r>
          </a:p>
          <a:p>
            <a:r>
              <a:t>      "summary": "관측 기간: 2025-07 ~ 2026-06. 유입·유출·인기장소 또는 30일 집중 운영 신호.",</a:t>
            </a:r>
          </a:p>
          <a:p>
            <a:r>
              <a:t>      "source_id": "regional-status:9ac27e83f27b:e998409010f6",</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인기관광지",</a:t>
            </a:r>
          </a:p>
          <a:p>
            <a:r>
              <a:t>      "summary": "관측 기간: 2025-07 ~ 2026-06. 유입·유출·인기장소 또는 30일 집중 운영 신호.",</a:t>
            </a:r>
          </a:p>
          <a:p>
            <a:r>
              <a:t>      "source_id": "regional-status:daecd5ff8069:00c8b971be40",</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제주특별자치도 제주시 · 지역집중률",</a:t>
            </a:r>
          </a:p>
          <a:p>
            <a:r>
              <a:t>      "summary": "관측 기간: 2025-07 ~ 2026-06. 유입·유출·인기장소 또는 30일 집중 운영 신호.",</a:t>
            </a:r>
          </a:p>
          <a:p>
            <a:r>
              <a:t>      "source_id": "regional-status:dd0eaa9c763f:3aadcdcac2c5",</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"ml:50110:regional-demand-v3.1:202606",</a:t>
            </a:r>
          </a:p>
          <a:p>
            <a:r>
              <a:t>      "source_url": "",</a:t>
            </a:r>
          </a:p>
          <a:p>
            <a:r>
              <a:t>      "source_type": "model_forecast",</a:t>
            </a:r>
          </a:p>
          <a:p>
            <a:r>
              <a:t>      "model_version": "regional-demand-v3.1",</a:t>
            </a:r>
          </a:p>
          <a:p>
            <a:r>
              <a:t>      "data_fingerprint": "8dcb136b0c95a2203f9b656937018f103a98363535f21f24b40b6f2ab16842e6"</a:t>
            </a:r>
          </a:p>
          <a:p>
            <a:r>
              <a:t>    },</a:t>
            </a:r>
          </a:p>
          <a:p>
            <a:r>
              <a:t>    {</a:t>
            </a:r>
          </a:p>
          <a:p>
            <a:r>
              <a:t>      "title": "가는곶 세화",</a:t>
            </a:r>
          </a:p>
          <a:p>
            <a:r>
              <a:t>      "address": "제주특별자치도 제주시 구좌읍 세화14길 3",</a:t>
            </a:r>
          </a:p>
          <a:p>
            <a:r>
              <a:t>      "summary": "한국관광공사 국문관광정보 API가 반환한 선택 지역 관광자원",</a:t>
            </a:r>
          </a:p>
          <a:p>
            <a:r>
              <a:t>      "image_url": "http://tong.visitkorea.or.kr/cms/resource/05/2850905_image2_1.jpg",</a:t>
            </a:r>
          </a:p>
          <a:p>
            <a:r>
              <a:t>      "source_id": "tour-api:2850913",</a:t>
            </a:r>
          </a:p>
          <a:p>
            <a:r>
              <a:t>      "content_id": "2850913",</a:t>
            </a:r>
          </a:p>
          <a:p>
            <a:r>
              <a:t>      "source_url": "https://apis.data.go.kr/B551011/KorService2",</a:t>
            </a:r>
          </a:p>
          <a:p>
            <a:r>
              <a:t>      "source_type": "open_api",</a:t>
            </a:r>
          </a:p>
          <a:p>
            <a:r>
              <a:t>      "content_type_id": "39"</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"title": "가새기오름",</a:t>
            </a:r>
          </a:p>
          <a:p>
            <a:r>
              <a:t>      "address": "제주특별자치도 제주시 오라삼동",</a:t>
            </a:r>
          </a:p>
          <a:p>
            <a:r>
              <a:t>      "summary": "한국관광공사 국문관광정보 API가 반환한 선택 지역 관광자원",</a:t>
            </a:r>
          </a:p>
          <a:p>
            <a:r>
              <a:t>      "image_url": "http://tong.visitkorea.or.kr/cms/resource/82/3477882_image2_1.jpg",</a:t>
            </a:r>
          </a:p>
          <a:p>
            <a:r>
              <a:t>      "source_id": "tour-api:1884521",</a:t>
            </a:r>
          </a:p>
          <a:p>
            <a:r>
              <a:t>      "content_id": "1884521",</a:t>
            </a:r>
          </a:p>
          <a:p>
            <a:r>
              <a:t>      "source_url": "https://apis.data.go.kr/B551011/KorService2",</a:t>
            </a:r>
          </a:p>
          <a:p>
            <a:r>
              <a:t>      "source_type": "open_api",</a:t>
            </a:r>
          </a:p>
          <a:p>
            <a:r>
              <a:t>      "content_type_id": "12"</a:t>
            </a:r>
          </a:p>
          <a:p>
            <a:r>
              <a:t>    },</a:t>
            </a:r>
          </a:p>
          <a:p>
            <a:r>
              <a:t>    {</a:t>
            </a:r>
          </a:p>
          <a:p>
            <a:r>
              <a:t>      "title": "가시어멍김밥",</a:t>
            </a:r>
          </a:p>
          <a:p>
            <a:r>
              <a:t>      "address": "제주특별자치도 제주시 월랑로 36",</a:t>
            </a:r>
          </a:p>
          <a:p>
            <a:r>
              <a:t>      "summary": "한국관광공사 국문관광정보 API가 반환한 선택 지역 관광자원",</a:t>
            </a:r>
          </a:p>
          <a:p>
            <a:r>
              <a:t>      "image_url": "http://tong.visitkorea.or.kr/cms/resource/75/2837175_image2_1.jpg",</a:t>
            </a:r>
          </a:p>
          <a:p>
            <a:r>
              <a:t>      "source_id": "tour-api:2837181",</a:t>
            </a:r>
          </a:p>
          <a:p>
            <a:r>
              <a:t>      "content_id": "2837181",</a:t>
            </a:r>
          </a:p>
          <a:p>
            <a:r>
              <a:t>      "source_url": "https://apis.data.go.kr/B551011/KorService2",</a:t>
            </a:r>
          </a:p>
          <a:p>
            <a:r>
              <a:t>      "source_type": "open_api",</a:t>
            </a:r>
          </a:p>
          <a:p>
            <a:r>
              <a:t>      "content_type_id": "39"</a:t>
            </a:r>
          </a:p>
          <a:p>
            <a:r>
              <a:t>    },</a:t>
            </a:r>
          </a:p>
          <a:p>
            <a:r>
              <a:t>    {</a:t>
            </a:r>
          </a:p>
          <a:p>
            <a:r>
              <a:t>      "title": "갈치공장",</a:t>
            </a:r>
          </a:p>
          <a:p>
            <a:r>
              <a:t>      "address": "제주특별자치도 제주시 해맞이해안로 1296",</a:t>
            </a:r>
          </a:p>
          <a:p>
            <a:r>
              <a:t>      "summary": "한국관광공사 국문관광정보 API가 반환한 선택 지역 관광자원",</a:t>
            </a:r>
          </a:p>
          <a:p>
            <a:r>
              <a:t>      "image_url": "http://tong.visitkorea.or.kr/cms/resource/24/2853424_image2_1.jpg",</a:t>
            </a:r>
          </a:p>
          <a:p>
            <a:r>
              <a:t>      "source_id": "tour-api:2853435",</a:t>
            </a:r>
          </a:p>
          <a:p>
            <a:r>
              <a:t>      "content_id": "2853435",</a:t>
            </a:r>
          </a:p>
          <a:p>
            <a:r>
              <a:t>      "source_url": "https://apis.data.go.kr/B551011/KorService2",</a:t>
            </a:r>
          </a:p>
          <a:p>
            <a:r>
              <a:t>      "source_type": "open_api",</a:t>
            </a:r>
          </a:p>
          <a:p>
            <a:r>
              <a:t>      "content_type_id": "39"</a:t>
            </a:r>
          </a:p>
          <a:p>
            <a:r>
              <a:t>    },</a:t>
            </a:r>
          </a:p>
          <a:p>
            <a:r>
              <a:t>    {</a:t>
            </a:r>
          </a:p>
          <a:p>
            <a:r>
              <a:t>      "title": "개오리오름",</a:t>
            </a:r>
          </a:p>
          <a:p>
            <a:r>
              <a:t>      "address": "제주특별자치도 제주시 봉개동",</a:t>
            </a:r>
          </a:p>
          <a:p>
            <a:r>
              <a:t>      "summary": "한국관광공사 국문관광정보 API가 반환한 선택 지역 관광자원",</a:t>
            </a:r>
          </a:p>
          <a:p>
            <a:r>
              <a:t>      "image_url": "http://tong.visitkorea.or.kr/cms/resource/47/3478047_image2_1.jpg",</a:t>
            </a:r>
          </a:p>
          <a:p>
            <a:r>
              <a:t>      "source_id": "tour-api:1889809",</a:t>
            </a:r>
          </a:p>
          <a:p>
            <a:r>
              <a:t>      "content_id": "1889809",</a:t>
            </a:r>
          </a:p>
          <a:p>
            <a:r>
              <a:t>      "source_url": "https://apis.data.go.kr/B551011/KorService2",</a:t>
            </a:r>
          </a:p>
          <a:p>
            <a:r>
              <a:t>      "source_type": "open_api",</a:t>
            </a:r>
          </a:p>
          <a:p>
            <a:r>
              <a:t>      "content_type_id": "12"</a:t>
            </a:r>
          </a:p>
          <a:p>
            <a:r>
              <a:t>    },</a:t>
            </a:r>
          </a:p>
          <a:p>
            <a:r>
              <a:t>    {</a:t>
            </a:r>
          </a:p>
          <a:p>
            <a:r>
              <a:t>      "title": "거슨새미오름",</a:t>
            </a:r>
          </a:p>
          <a:p>
            <a:r>
              <a:t>      "address": "제주특별자치도 제주시 구좌읍 송당리",</a:t>
            </a:r>
          </a:p>
          <a:p>
            <a:r>
              <a:t>      "summary": "한국관광공사 국문관광정보 API가 반환한 선택 지역 관광자원",</a:t>
            </a:r>
          </a:p>
          <a:p>
            <a:r>
              <a:t>      "image_url": "http://tong.visitkorea.or.kr/cms/resource/04/3477804_image2_1.jpg",</a:t>
            </a:r>
          </a:p>
          <a:p>
            <a:r>
              <a:t>      "source_id": "tour-api:1918646",</a:t>
            </a:r>
          </a:p>
          <a:p>
            <a:r>
              <a:t>      "content_id": "1918646",</a:t>
            </a:r>
          </a:p>
          <a:p>
            <a:r>
              <a:t>      "source_url": "https://apis.data.go.kr/B551011/KorService2",</a:t>
            </a:r>
          </a:p>
          <a:p>
            <a:r>
              <a:t>      "source_type": "open_api",</a:t>
            </a:r>
          </a:p>
          <a:p>
            <a:r>
              <a:t>      "content_type_id": "12"</a:t>
            </a:r>
          </a:p>
          <a:p>
            <a:r>
              <a:t>    },</a:t>
            </a:r>
          </a:p>
          <a:p>
            <a:r>
              <a:t>    {</a:t>
            </a:r>
          </a:p>
          <a:p>
            <a:r>
              <a:t>      "title": "경성수산",</a:t>
            </a:r>
          </a:p>
          <a:p>
            <a:r>
              <a:t>      "address": "제주특별자치도 제주시 한림상로 111",</a:t>
            </a:r>
          </a:p>
          <a:p>
            <a:r>
              <a:t>      "summary": "한국관광공사 국문관광정보 API가 반환한 선택 지역 관광자원",</a:t>
            </a:r>
          </a:p>
          <a:p>
            <a:r>
              <a:t>      "image_url": "http://tong.visitkorea.or.kr/cms/resource/09/2870509_image2_1.jpg",</a:t>
            </a:r>
          </a:p>
          <a:p>
            <a:r>
              <a:t>      "source_id": "tour-api:2870515",</a:t>
            </a:r>
          </a:p>
          <a:p>
            <a:r>
              <a:t>      "content_id": "2870515",</a:t>
            </a:r>
          </a:p>
          <a:p>
            <a:r>
              <a:t>      "source_url": "https://apis.data.go.kr/B551011/KorService2",</a:t>
            </a:r>
          </a:p>
          <a:p>
            <a:r>
              <a:t>      "source_type": "open_api",</a:t>
            </a:r>
          </a:p>
          <a:p>
            <a:r>
              <a:t>      "content_type_id": "39"</a:t>
            </a:r>
          </a:p>
          <a:p>
            <a:r>
              <a:t>    },</a:t>
            </a:r>
          </a:p>
          <a:p>
            <a:r>
              <a:t>    {</a:t>
            </a:r>
          </a:p>
          <a:p>
            <a:r>
              <a:t>      "title": "고내포구",</a:t>
            </a:r>
          </a:p>
          <a:p>
            <a:r>
              <a:t>      "address": "제주특별자치도 제주시 애월읍 고내리 1111-4",</a:t>
            </a:r>
          </a:p>
          <a:p>
            <a:r>
              <a:t>      "summary": "한국관광공사 국문관광정보 API가 반환한 선택 지역 관광자원",</a:t>
            </a:r>
          </a:p>
          <a:p>
            <a:r>
              <a:t>      "image_url": "http://tong.visitkorea.or.kr/cms/resource/19/3589219_image2_1.jpg",</a:t>
            </a:r>
          </a:p>
          <a:p>
            <a:r>
              <a:t>      "source_id": "tour-api:2791433",</a:t>
            </a:r>
          </a:p>
          <a:p>
            <a:r>
              <a:t>      "content_id": "2791433",</a:t>
            </a:r>
          </a:p>
          <a:p>
            <a:r>
              <a:t>      "source_url": "https://apis.data.go.kr/B551011/KorService2",</a:t>
            </a:r>
          </a:p>
          <a:p>
            <a:r>
              <a:t>      "source_type": "open_api",</a:t>
            </a:r>
          </a:p>
          <a:p>
            <a:r>
              <a:t>      "content_type_id": "12"</a:t>
            </a:r>
          </a:p>
          <a:p>
            <a:r>
              <a:t>    },</a:t>
            </a:r>
          </a:p>
          <a:p>
            <a:r>
              <a:t>    {</a:t>
            </a:r>
          </a:p>
          <a:p>
            <a:r>
              <a:t>      "title": "고사리커피",</a:t>
            </a:r>
          </a:p>
          <a:p>
            <a:r>
              <a:t>      "address": "제주특별자치도 제주시 구좌읍 중산간동로 2064",</a:t>
            </a:r>
          </a:p>
          <a:p>
            <a:r>
              <a:t>      "summary": "한국관광공사 국문관광정보 API가 반환한 선택 지역 관광자원",</a:t>
            </a:r>
          </a:p>
          <a:p>
            <a:r>
              <a:t>      "image_url": "http://tong.visitkorea.or.kr/cms/resource/18/2863918_image2_1.JPG",</a:t>
            </a:r>
          </a:p>
          <a:p>
            <a:r>
              <a:t>      "source_id": "tour-api:2863927",</a:t>
            </a:r>
          </a:p>
          <a:p>
            <a:r>
              <a:t>      "content_id": "2863927",</a:t>
            </a:r>
          </a:p>
          <a:p>
            <a:r>
              <a:t>      "source_url": "https://apis.data.go.kr/B551011/KorService2",</a:t>
            </a:r>
          </a:p>
          <a:p>
            <a:r>
              <a:t>      "source_type": "open_api",</a:t>
            </a:r>
          </a:p>
          <a:p>
            <a:r>
              <a:t>      "content_type_id": "39"</a:t>
            </a:r>
          </a:p>
          <a:p>
            <a:r>
              <a:t>    },</a:t>
            </a:r>
          </a:p>
          <a:p>
            <a:r>
              <a:t>    {</a:t>
            </a:r>
          </a:p>
          <a:p>
            <a:r>
              <a:t>      "title": "고스트타운",</a:t>
            </a:r>
          </a:p>
          <a:p>
            <a:r>
              <a:t>      "address": "제주특별자치도 제주시 애월읍 부룡수길 35-14",</a:t>
            </a:r>
          </a:p>
          <a:p>
            <a:r>
              <a:t>      "summary": "한국관광공사 국문관광정보 API가 반환한 선택 지역 관광자원",</a:t>
            </a:r>
          </a:p>
          <a:p>
            <a:r>
              <a:t>      "image_url": "http://tong.visitkorea.or.kr/cms/resource/81/3396881_image2_1.jpg",</a:t>
            </a:r>
          </a:p>
          <a:p>
            <a:r>
              <a:t>      "source_id": "tour-api:2759120",</a:t>
            </a:r>
          </a:p>
          <a:p>
            <a:r>
              <a:t>      "content_id": "2759120",</a:t>
            </a:r>
          </a:p>
          <a:p>
            <a:r>
              <a:t>      "source_url": "https://apis.data.go.kr/B551011/KorService2",</a:t>
            </a:r>
          </a:p>
          <a:p>
            <a:r>
              <a:t>      "source_type": "open_api",</a:t>
            </a:r>
          </a:p>
          <a:p>
            <a:r>
              <a:t>      "content_type_id": "12"</a:t>
            </a:r>
          </a:p>
          <a:p>
            <a:r>
              <a:t>    },</a:t>
            </a:r>
          </a:p>
          <a:p>
            <a:r>
              <a:t>    {</a:t>
            </a:r>
          </a:p>
          <a:p>
            <a:r>
              <a:t>      "title": "고이정",</a:t>
            </a:r>
          </a:p>
          <a:p>
            <a:r>
              <a:t>      "address": "제주특별자치도 제주시 애월읍 애월로 6",</a:t>
            </a:r>
          </a:p>
          <a:p>
            <a:r>
              <a:t>      "summary": "한국관광공사 국문관광정보 API가 반환한 선택 지역 관광자원",</a:t>
            </a:r>
          </a:p>
          <a:p>
            <a:r>
              <a:t>      "image_url": "http://tong.visitkorea.or.kr/cms/resource/08/2759208_image2_1.jpg",</a:t>
            </a:r>
          </a:p>
          <a:p>
            <a:r>
              <a:t>      "source_id": "tour-api:2759061",</a:t>
            </a:r>
          </a:p>
          <a:p>
            <a:r>
              <a:t>      "content_id": "2759061",</a:t>
            </a:r>
          </a:p>
          <a:p>
            <a:r>
              <a:t>      "source_url": "https://apis.data.go.kr/B551011/KorService2",</a:t>
            </a:r>
          </a:p>
          <a:p>
            <a:r>
              <a:t>      "source_type": "open_api",</a:t>
            </a:r>
          </a:p>
          <a:p>
            <a:r>
              <a:t>      "content_type_id": "39"</a:t>
            </a:r>
          </a:p>
          <a:p>
            <a:r>
              <a:t>    },</a:t>
            </a:r>
          </a:p>
          <a:p>
            <a:r>
              <a:t>    {</a:t>
            </a:r>
          </a:p>
          <a:p>
            <a:r>
              <a:t>      "title": "고토커피바",</a:t>
            </a:r>
          </a:p>
          <a:p>
            <a:r>
              <a:t>      "address": "제주특별자치도 제주시 애월읍 구엄동3길 56",</a:t>
            </a:r>
          </a:p>
          <a:p>
            <a:r>
              <a:t>      "summary": "한국관광공사 국문관광정보 API가 반환한 선택 지역 관광자원",</a:t>
            </a:r>
          </a:p>
          <a:p>
            <a:r>
              <a:t>      "image_url": "http://tong.visitkorea.or.kr/cms/resource/07/2863907_image2_1.jpg",</a:t>
            </a:r>
          </a:p>
          <a:p>
            <a:r>
              <a:t>      "source_id": "tour-api:2863913",</a:t>
            </a:r>
          </a:p>
          <a:p>
            <a:r>
              <a:t>      "content_id": "2863913",</a:t>
            </a:r>
          </a:p>
          <a:p>
            <a:r>
              <a:t>      "source_url": "https://apis.data.go.kr/B551011/KorService2",</a:t>
            </a:r>
          </a:p>
          <a:p>
            <a:r>
              <a:t>      "source_type": "open_api",</a:t>
            </a:r>
          </a:p>
          <a:p>
            <a:r>
              <a:t>      "content_type_id": "39"</a:t>
            </a:r>
          </a:p>
          <a:p>
            <a:r>
              <a:t>    },</a:t>
            </a:r>
          </a:p>
          <a:p>
            <a:r>
              <a:t>    {</a:t>
            </a:r>
          </a:p>
          <a:p>
            <a:r>
              <a:t>      "title": "골목식당",</a:t>
            </a:r>
          </a:p>
          <a:p>
            <a:r>
              <a:t>      "address": "제주특별자치도 제주시 중앙로 63-9 (이도일동)",</a:t>
            </a:r>
          </a:p>
          <a:p>
            <a:r>
              <a:t>      "summary": "한국관광공사 국문관광정보 API가 반환한 선택 지역 관광자원",</a:t>
            </a:r>
          </a:p>
          <a:p>
            <a:r>
              <a:t>      "image_url": "http://tong.visitkorea.or.kr/cms/resource/79/2857279_image2_1.JPG",</a:t>
            </a:r>
          </a:p>
          <a:p>
            <a:r>
              <a:t>      "source_id": "tour-api:2857289",</a:t>
            </a:r>
          </a:p>
          <a:p>
            <a:r>
              <a:t>      "content_id": "2857289",</a:t>
            </a:r>
          </a:p>
          <a:p>
            <a:r>
              <a:t>      "source_url": "https://apis.data.go.kr/B551011/KorService2",</a:t>
            </a:r>
          </a:p>
          <a:p>
            <a:r>
              <a:t>      "source_type": "open_api",</a:t>
            </a:r>
          </a:p>
          <a:p>
            <a:r>
              <a:t>      "content_type_id": "39"</a:t>
            </a:r>
          </a:p>
          <a:p>
            <a:r>
              <a:t>    },</a:t>
            </a:r>
          </a:p>
          <a:p>
            <a:r>
              <a:t>    {</a:t>
            </a:r>
          </a:p>
          <a:p>
            <a:r>
              <a:t>      "title": "골목카페옥수",</a:t>
            </a:r>
          </a:p>
          <a:p>
            <a:r>
              <a:t>      "address": "제주특별자치도 제주시 소길1길 19",</a:t>
            </a:r>
          </a:p>
          <a:p>
            <a:r>
              <a:t>      "summary": "한국관광공사 국문관광정보 API가 반환한 선택 지역 관광자원",</a:t>
            </a:r>
          </a:p>
          <a:p>
            <a:r>
              <a:t>      "image_url": "http://tong.visitkorea.or.kr/cms/resource/03/2852303_image2_1.jpg",</a:t>
            </a:r>
          </a:p>
          <a:p>
            <a:r>
              <a:t>      "source_id": "tour-api:2852311",</a:t>
            </a:r>
          </a:p>
          <a:p>
            <a:r>
              <a:t>      "content_id": "2852311",</a:t>
            </a:r>
          </a:p>
          <a:p>
            <a:r>
              <a:t>      "source_url": "https://apis.data.go.kr/B551011/KorService2",</a:t>
            </a:r>
          </a:p>
          <a:p>
            <a:r>
              <a:t>      "source_type": "open_api",</a:t>
            </a:r>
          </a:p>
          <a:p>
            <a:r>
              <a:t>      "content_type_id": "39"</a:t>
            </a:r>
          </a:p>
          <a:p>
            <a:r>
              <a:t>    },</a:t>
            </a:r>
          </a:p>
          <a:p>
            <a:r>
              <a:t>    {</a:t>
            </a:r>
          </a:p>
          <a:p>
            <a:r>
              <a:t>      "title": "골체오름캠핑",</a:t>
            </a:r>
          </a:p>
          <a:p>
            <a:r>
              <a:t>      "address": "제주특별자치도 제주시 조천읍 번영로 1648-41",</a:t>
            </a:r>
          </a:p>
          <a:p>
            <a:r>
              <a:t>      "summary": "한국관광공사 국문관광정보 API가 반환한 선택 지역 관광자원",</a:t>
            </a:r>
          </a:p>
          <a:p>
            <a:r>
              <a:t>      "image_url": "http://tong.visitkorea.or.kr/cms/resource/74/2739574_image2_1.jpg",</a:t>
            </a:r>
          </a:p>
          <a:p>
            <a:r>
              <a:t>      "source_id": "tour-api:2739395",</a:t>
            </a:r>
          </a:p>
          <a:p>
            <a:r>
              <a:t>      "content_id": "2739395",</a:t>
            </a:r>
          </a:p>
          <a:p>
            <a:r>
              <a:t>      "source_url": "https://apis.data.go.kr/B551011/KorService2",</a:t>
            </a:r>
          </a:p>
          <a:p>
            <a:r>
              <a:t>      "source_type": "open_api",</a:t>
            </a:r>
          </a:p>
          <a:p>
            <a:r>
              <a:t>      "content_type_id": "28"</a:t>
            </a:r>
          </a:p>
          <a:p>
            <a:r>
              <a:t>    },</a:t>
            </a:r>
          </a:p>
          <a:p>
            <a:r>
              <a:t>    {</a:t>
            </a:r>
          </a:p>
          <a:p>
            <a:r>
              <a:t>      "title": "곰막식당/곰막",</a:t>
            </a:r>
          </a:p>
          <a:p>
            <a:r>
              <a:t>      "address": "제주특별자치도 제주시 구좌읍 구좌해안로 64",</a:t>
            </a:r>
          </a:p>
          <a:p>
            <a:r>
              <a:t>      "summary": "한국관광공사 국문관광정보 API가 반환한 선택 지역 관광자원",</a:t>
            </a:r>
          </a:p>
          <a:p>
            <a:r>
              <a:t>      "image_url": "http://tong.visitkorea.or.kr/cms/resource/21/2759221_image2_1.jpg",</a:t>
            </a:r>
          </a:p>
          <a:p>
            <a:r>
              <a:t>      "source_id": "tour-api:2759096",</a:t>
            </a:r>
          </a:p>
          <a:p>
            <a:r>
              <a:t>      "content_id": "2759096",</a:t>
            </a:r>
          </a:p>
          <a:p>
            <a:r>
              <a:t>      "source_url": "https://apis.data.go.kr/B551011/KorService2",</a:t>
            </a:r>
          </a:p>
          <a:p>
            <a:r>
              <a:t>      "source_type": "open_api",</a:t>
            </a:r>
          </a:p>
          <a:p>
            <a:r>
              <a:t>      "content_type_id": "39"</a:t>
            </a:r>
          </a:p>
          <a:p>
            <a:r>
              <a:t>    },</a:t>
            </a:r>
          </a:p>
          <a:p>
            <a:r>
              <a:t>    {</a:t>
            </a:r>
          </a:p>
          <a:p>
            <a:r>
              <a:t>      "title": "곽지해수욕장",</a:t>
            </a:r>
          </a:p>
          <a:p>
            <a:r>
              <a:t>      "address": "제주특별자치도 제주시 애월읍 곽지리 1565",</a:t>
            </a:r>
          </a:p>
          <a:p>
            <a:r>
              <a:t>      "summary": "한국관광공사 국문관광정보 API가 반환한 선택 지역 관광자원",</a:t>
            </a:r>
          </a:p>
          <a:p>
            <a:r>
              <a:t>      "image_url": "http://tong.visitkorea.or.kr/cms/resource/30/3053130_image2_1.jpg",</a:t>
            </a:r>
          </a:p>
          <a:p>
            <a:r>
              <a:t>      "source_id": "tour-api:127870",</a:t>
            </a:r>
          </a:p>
          <a:p>
            <a:r>
              <a:t>      "content_id": "127870",</a:t>
            </a:r>
          </a:p>
          <a:p>
            <a:r>
              <a:t>      "source_url": "https://apis.data.go.kr/B551011/KorService2",</a:t>
            </a:r>
          </a:p>
          <a:p>
            <a:r>
              <a:t>      "source_type": "open_api",</a:t>
            </a:r>
          </a:p>
          <a:p>
            <a:r>
              <a:t>      "content_type_id": "12"</a:t>
            </a:r>
          </a:p>
          <a:p>
            <a:r>
              <a:t>    },</a:t>
            </a:r>
          </a:p>
          <a:p>
            <a:r>
              <a:t>    {</a:t>
            </a:r>
          </a:p>
          <a:p>
            <a:r>
              <a:t>      "title": "괴오름",</a:t>
            </a:r>
          </a:p>
          <a:p>
            <a:r>
              <a:t>      "address": "제주특별자치도 제주시 애월읍 봉성리 산41",</a:t>
            </a:r>
          </a:p>
          <a:p>
            <a:r>
              <a:t>      "summary": "한국관광공사 국문관광정보 API가 반환한 선택 지역 관광자원",</a:t>
            </a:r>
          </a:p>
          <a:p>
            <a:r>
              <a:t>      "image_url": "http://tong.visitkorea.or.kr/cms/resource/40/3585540_image2_1.jpg",</a:t>
            </a:r>
          </a:p>
          <a:p>
            <a:r>
              <a:t>      "source_id": "tour-api:1918950",</a:t>
            </a:r>
          </a:p>
          <a:p>
            <a:r>
              <a:t>      "content_id": "1918950",</a:t>
            </a:r>
          </a:p>
          <a:p>
            <a:r>
              <a:t>      "source_url": "https://apis.data.go.kr/B551011/KorService2",</a:t>
            </a:r>
          </a:p>
          <a:p>
            <a:r>
              <a:t>      "source_type": "open_api",</a:t>
            </a:r>
          </a:p>
          <a:p>
            <a:r>
              <a:t>      "content_type_id": "12"</a:t>
            </a:r>
          </a:p>
          <a:p>
            <a:r>
              <a:t>    },</a:t>
            </a:r>
          </a:p>
          <a:p>
            <a:r>
              <a:t>    {</a:t>
            </a:r>
          </a:p>
          <a:p>
            <a:r>
              <a:t>      "title": "교래 삼다수마을",</a:t>
            </a:r>
          </a:p>
          <a:p>
            <a:r>
              <a:t>      "address": "제주특별자치도 제주시 조천읍 교래3길 98",</a:t>
            </a:r>
          </a:p>
          <a:p>
            <a:r>
              <a:t>      "summary": "한국관광공사 국문관광정보 API가 반환한 선택 지역 관광자원",</a:t>
            </a:r>
          </a:p>
          <a:p>
            <a:r>
              <a:t>      "image_url": "http://tong.visitkorea.or.kr/cms/resource/18/3586318_image2_1.jpg",</a:t>
            </a:r>
          </a:p>
          <a:p>
            <a:r>
              <a:t>      "source_id": "tour-api:128443",</a:t>
            </a:r>
          </a:p>
          <a:p>
            <a:r>
              <a:t>      "content_id": "128443",</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36쪽, PDF 40쪽, PDF 41쪽,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9</a:t>
            </a:r>
          </a:p>
          <a:p>
            <a:r>
              <a:t>    },</a:t>
            </a:r>
          </a:p>
          <a:p>
            <a:r>
              <a:t>    {</a:t>
            </a:r>
          </a:p>
          <a:p>
            <a:r>
              <a:t>      "title": "외국인 개별관광객 지방 방문 촉진 고토치 셔틀 운영자료",</a:t>
            </a:r>
          </a:p>
          <a:p>
            <a:r>
              <a:t>      "summary": "서울 출발 지방 관광지 연계 노선 · 고토치 셔틀—외국인 대상 예약·결제형 지역관광 버스 ·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"source_id": "case:199f928478e634",</a:t>
            </a:r>
          </a:p>
          <a:p>
            <a:r>
              <a:t>      "source_url": "https://kto.visitkorea.or.kr/upload/flexer/upload/ktobiz/20190417/ca99de85-60a6-11e9-9d6f-39c7f0d61b75.hwp.files/Sections1.html",</a:t>
            </a:r>
          </a:p>
          <a:p>
            <a:r>
              <a:t>      "case_region": "서울 출발 지방 관광지 연계 노선",</a:t>
            </a:r>
          </a:p>
          <a:p>
            <a:r>
              <a:t>      "source_type": "benchmark_case",</a:t>
            </a:r>
          </a:p>
          <a:p>
            <a:r>
              <a:t>      "intervention": "고토치 셔틀—외국인 대상 예약·결제형 지역관광 버스",</a:t>
            </a:r>
          </a:p>
          <a:p>
            <a:r>
              <a:t>      "document_type": null,</a:t>
            </a:r>
          </a:p>
          <a:p>
            <a:r>
              <a:t>      "observed_result": "공식 자료는 2014년 이후 2019년 공개 시점까지 약 6,000명이 이용했다고 밝혔다. 이용자 수는 확인되지만, 셔틀이 없었을 때와 비교한 지방 방문 순증, 숙박 전환, 지역 결제 효과는 확인되지 않는다. ([kto.visitkorea.or.kr](https://kto.visitkorea.or.kr/upload/flexer/upload/ktobiz/20190417/ca99de85-60a6-11e9-9d6f-39c7f0d61b75.hwp.files/Sections1.html?utm_source=openai))",</a:t>
            </a:r>
          </a:p>
          <a:p>
            <a:r>
              <a:t>      "operating_model": "서울과 지방 관광지를 연결하는 일일 버스여행 코스를 만들고 전용 홈페이지와 외국인 개별여행 예약 플랫폼에서 예약·결제를 받았다. 잔여 좌석은 출발지 현장에서도 판매해 정보 탐색부터 좌석 예약, 이동, 관광지 이용을 하나의 상품으로 묶었다. ([kto.visitkorea.or.kr](https://kto.visitkorea.or.kr/upload/flexer/upload/ktobiz/20190417/ca99de85-60a6-11e9-9d6f-39c7f0d61b75.hwp.files/Sections1.html?utm_source=openai))",</a:t>
            </a:r>
          </a:p>
          <a:p>
            <a:r>
              <a:t>      "retrieval_method": "official_web_search",</a:t>
            </a:r>
          </a:p>
          <a:p>
            <a:r>
              <a:t>      "evidence_strength": "medium",</a:t>
            </a:r>
          </a:p>
          <a:p>
            <a:r>
              <a:t>      "retrieval_context": {</a:t>
            </a:r>
          </a:p>
          <a:p>
            <a:r>
              <a:t>        "scope": "cross_province",</a:t>
            </a:r>
          </a:p>
          <a:p>
            <a:r>
              <a:t>        "peer_region_code": null</a:t>
            </a:r>
          </a:p>
          <a:p>
            <a:r>
              <a:t>      },</a:t>
            </a:r>
          </a:p>
          <a:p>
            <a:r>
              <a:t>      "measurement_period": "2014년 사업 시작부터 2019년 공개 시점까지 누적",</a:t>
            </a:r>
          </a:p>
          <a:p>
            <a:r>
              <a:t>      "transfer_conditions": [</a:t>
            </a:r>
          </a:p>
          <a:p>
            <a:r>
              <a:t>        "제주시에서는 서울 출발 장거리 셔틀이 아니라 제주공항–제주시 도심–저녁 체험 또는 읍·면 거점을 연결하는 예약형 소규모 노선으로 변경",</a:t>
            </a:r>
          </a:p>
          <a:p>
            <a:r>
              <a:t>        "정기 대중교통과 중복되지 않는 시간대·목적지를 선정하고 운송사업자와 적법한 운영계약 필요",</a:t>
            </a:r>
          </a:p>
          <a:p>
            <a:r>
              <a:t>        "왕복 교통만 판매하지 말고 예약 가능한 체험·식음·야간 콘텐츠와 묶어 실제 이용기록을 남겨야 함",</a:t>
            </a:r>
          </a:p>
          <a:p>
            <a:r>
              <a:t>        "항공편 지연을 고려한 탑승 유예·환불·대체 회차 규칙 필요",</a:t>
            </a:r>
          </a:p>
          <a:p>
            <a:r>
              <a:t>        "좌석 예약률, 실제 탑승률, 체험 완료율, 권역 내 결제액을 분리 측정"</a:t>
            </a:r>
          </a:p>
          <a:p>
            <a:r>
              <a:t>      ],</a:t>
            </a:r>
          </a:p>
          <a:p>
            <a:r>
              <a:t>      "published_or_updated_at": "2019-04-17",</a:t>
            </a:r>
          </a:p>
          <a:p>
            <a:r>
              <a:t>      "quantitative_result_approved": null</a:t>
            </a:r>
          </a:p>
          <a:p>
            <a:r>
              <a:t>    },</a:t>
            </a:r>
          </a:p>
          <a:p>
            <a:r>
              <a:t>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a:t>
            </a:r>
          </a:p>
          <a:p>
            <a:r>
              <a:t>      "title": "서울달(SEOULDAL)—서울 정책 아카이브",</a:t>
            </a:r>
          </a:p>
          <a:p>
            <a:r>
              <a:t>      "summary": "서울특별시 영등포구 여의도 · 서울달—예약채널 확대와 야간 운영시간 연장 ·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"source_id": "case:946857867790a6",</a:t>
            </a:r>
          </a:p>
          <a:p>
            <a:r>
              <a:t>      "source_url": "https://www.seoul.go.kr/policy/view.do?id=1022&amp;lan=",</a:t>
            </a:r>
          </a:p>
          <a:p>
            <a:r>
              <a:t>      "case_region": "서울특별시 영등포구 여의도",</a:t>
            </a:r>
          </a:p>
          <a:p>
            <a:r>
              <a:t>      "source_type": "benchmark_case",</a:t>
            </a:r>
          </a:p>
          <a:p>
            <a:r>
              <a:t>      "intervention": "서울달—예약채널 확대와 야간 운영시간 연장",</a:t>
            </a:r>
          </a:p>
          <a:p>
            <a:r>
              <a:t>      "document_type": null,</a:t>
            </a:r>
          </a:p>
          <a:p>
            <a:r>
              <a:t>      "observed_result": "정식 운영 100일 만에 누적 탑승객 2만명을 기록했고, 2026년 6월 누적 10만명을 넘어섰다. 공식 정책 페이지는 외국인 비율 45%, 11,800회 이상 무사고 비행을 제시한다. 이는 이용 실적이지 야간 연장이나 OTA 확대의 독립적인 인과효과는 아니다. ([seoul.go.kr](https://www.seoul.go.kr/policy/view.do?id=1022&amp;lan=))",</a:t>
            </a:r>
          </a:p>
          <a:p>
            <a:r>
              <a:t>      "operating_model": "기존 도심 경관을 유료 탑승 체험으로 상품화하고 시범운영 후 정식 운영했다. 이후 예약시간·정원을 확대하고 국내 예약채널을 일원화했으며 글로벌 OTA 판매처를 7개에서 10개로 늘렸다. 8~10월 금·토 운영 종료 시간을 22시에서 23시로 연장했다. ([seoul.go.kr](https://www.seoul.go.kr/policy/view.do?id=1022&amp;lan=))",</a:t>
            </a:r>
          </a:p>
          <a:p>
            <a:r>
              <a:t>      "retrieval_method": "official_web_search",</a:t>
            </a:r>
          </a:p>
          <a:p>
            <a:r>
              <a:t>      "evidence_strength": "medium",</a:t>
            </a:r>
          </a:p>
          <a:p>
            <a:r>
              <a:t>      "retrieval_context": {</a:t>
            </a:r>
          </a:p>
          <a:p>
            <a:r>
              <a:t>        "scope": "cross_province",</a:t>
            </a:r>
          </a:p>
          <a:p>
            <a:r>
              <a:t>        "peer_region_code": null</a:t>
            </a:r>
          </a:p>
          <a:p>
            <a:r>
              <a:t>      },</a:t>
            </a:r>
          </a:p>
          <a:p>
            <a:r>
              <a:t>      "measurement_period": "2024년 8월 정식 운영 이후부터 2026년 6월까지 누적 실적",</a:t>
            </a:r>
          </a:p>
          <a:p>
            <a:r>
              <a:t>      "transfer_conditions": [</a:t>
            </a:r>
          </a:p>
          <a:p>
            <a:r>
              <a:t>        "제주시는 고비용 신규 시설을 복제하지 말고 기존 전망·문화·해양·공공시설의 미판매 시간대를 예약상품으로 전환",</a:t>
            </a:r>
          </a:p>
          <a:p>
            <a:r>
              <a:t>        "10~12월 일몰시간과 항공 도착시간을 반영해 저녁 회차를 편성하고 기상 취소·환불 규칙을 사전 고지",</a:t>
            </a:r>
          </a:p>
          <a:p>
            <a:r>
              <a:t>        "국내 예약 플랫폼과 외국어 판매채널에서 동일한 재고·시간표를 관리할 수 있는 운영자 필요",</a:t>
            </a:r>
          </a:p>
          <a:p>
            <a:r>
              <a:t>        "예약 노출→결제→방문 완료→인근 상권 결제의 단계별 전환율을 수집",</a:t>
            </a:r>
          </a:p>
          <a:p>
            <a:r>
              <a:t>        "야간 프로그램 운영일과 비운영일, 참여시설과 비참여시설을 구분해 비교"</a:t>
            </a:r>
          </a:p>
          <a:p>
            <a:r>
              <a:t>      ],</a:t>
            </a:r>
          </a:p>
          <a:p>
            <a:r>
              <a:t>      "published_or_updated_at": "2026",</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"published_or_updated_at": "2022-09-28",</a:t>
            </a:r>
          </a:p>
          <a:p>
            <a:r>
              <a:t>      "quantitative_result_approved": null</a:t>
            </a:r>
          </a:p>
          <a:p>
            <a:r>
              <a:t>    },</a:t>
            </a:r>
          </a:p>
          <a:p>
            <a:r>
              <a:t>    {</a:t>
            </a:r>
          </a:p>
          <a:p>
            <a:r>
              <a:t>      "title": "야간관광 특화도시 인천, 5만원 할인 숙박상품 기획전 열어",</a:t>
            </a:r>
          </a:p>
          <a:p>
            <a:r>
              <a:t>      "summary": "인천광역시 송도 센트럴파크 권역 · 올 나이츠 럭셔리 인천—숙박쿠폰·관광패스·야간행사·셔틀 결합 ·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"source_id": "case:a40729ff2a147d",</a:t>
            </a:r>
          </a:p>
          <a:p>
            <a:r>
              <a:t>      "source_url": "https://www.incheon.go.kr/IC010205/view?curPage=688&amp;repSeq=DOM_0000000007400989",</a:t>
            </a:r>
          </a:p>
          <a:p>
            <a:r>
              <a:t>      "case_region": "인천광역시 송도 센트럴파크 권역",</a:t>
            </a:r>
          </a:p>
          <a:p>
            <a:r>
              <a:t>      "source_type": "benchmark_case",</a:t>
            </a:r>
          </a:p>
          <a:p>
            <a:r>
              <a:t>      "intervention": "올 나이츠 럭셔리 인천—숙박쿠폰·관광패스·야간행사·셔틀 결합",</a:t>
            </a:r>
          </a:p>
          <a:p>
            <a:r>
              <a:t>      "document_type": null,</a:t>
            </a:r>
          </a:p>
          <a:p>
            <a:r>
              <a:t>      "observed_result": "공식 자료에는 약 3,500명 신규 관광객 유치 ‘예상’만 제시돼 있으며 실제 숙박 완료, 패스 사용, 야간 결제 및 소비 성과는 확인되지 않는다. 따라서 성공 성과가 입증된 사례가 아니라 운영 구조 참고 사례로만 사용해야 한다. ([incheon.go.kr](https://www.incheon.go.kr/IC010205/view?curPage=688&amp;repSeq=DOM_0000000007400989))",</a:t>
            </a:r>
          </a:p>
          <a:p>
            <a:r>
              <a:t>      "operating_model": "온라인 여행 플랫폼에서 센트럴파크 인근 7개 호텔의 7만원 이상 상품 예약 시 5만원 쿠폰을 즉시 발급했다. 선착순 200명에게 주요 관광지 20여 곳을 48시간 이용할 수 있는 인천투어패스 2매를 제공하고 드론쇼, 야간마켓, 무료 나이트셔틀, 걷기 프로그램과 같은 기간에 운영했다. ([incheon.go.kr](https://www.incheon.go.kr/IC010205/view?curPage=688&amp;repSeq=DOM_0000000007400989))",</a:t>
            </a:r>
          </a:p>
          <a:p>
            <a:r>
              <a:t>      "retrieval_method": "official_web_search",</a:t>
            </a:r>
          </a:p>
          <a:p>
            <a:r>
              <a:t>      "evidence_strength": "low",</a:t>
            </a:r>
          </a:p>
          <a:p>
            <a:r>
              <a:t>      "retrieval_context": {</a:t>
            </a:r>
          </a:p>
          <a:p>
            <a:r>
              <a:t>        "scope": "cross_province",</a:t>
            </a:r>
          </a:p>
          <a:p>
            <a:r>
              <a:t>        "peer_region_code": null</a:t>
            </a:r>
          </a:p>
          <a:p>
            <a:r>
              <a:t>      },</a:t>
            </a:r>
          </a:p>
          <a:p>
            <a:r>
              <a:t>      "measurement_period": "2023년 4월 25일~6월 20일 운영계획; 사후 성과 측정기간은 공식 자료에서 확인되지 않음",</a:t>
            </a:r>
          </a:p>
          <a:p>
            <a:r>
              <a:t>      "transfer_conditions": [</a:t>
            </a:r>
          </a:p>
          <a:p>
            <a:r>
              <a:t>        "제주시에서는 전 지역 숙박쿠폰보다 특정 야간 프로그램·권역·평일 입실에 한정한 묶음상품이 적합",</a:t>
            </a:r>
          </a:p>
          <a:p>
            <a:r>
              <a:t>        "쿠폰 발급 건수가 아니라 실제 체크인과 관광패스 사용 완료 자료를 OTA로부터 받아야 함",</a:t>
            </a:r>
          </a:p>
          <a:p>
            <a:r>
              <a:t>        "야간 콘텐츠 운영일, 숙박 가능일, 공항·도심 이동수단을 하나의 판매 일정으로 맞춰야 함",</a:t>
            </a:r>
          </a:p>
          <a:p>
            <a:r>
              <a:t>        "참여 숙소·체험시설·식음업체 모집과 재고연동 협약 필요",</a:t>
            </a:r>
          </a:p>
          <a:p>
            <a:r>
              <a:t>        "쿠폰 이용자와 유사한 비이용 예약자의 체류·결제를 비교할 수 있도록 사전 측정 설계 필요"</a:t>
            </a:r>
          </a:p>
          <a:p>
            <a:r>
              <a:t>      ],</a:t>
            </a:r>
          </a:p>
          <a:p>
            <a:r>
              <a:t>      "published_or_updated_at": "2023-04-26",</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"document_type": "case_study",</a:t>
            </a:r>
          </a:p>
          <a:p>
            <a:r>
              <a:t>      "observed_result": "상품권 결제 변화에 관한 소개 자료는 있으나, 사업 참여자 범위·정확한 비교 기간·원자료를 확인하지 못해 성과 수치 인용을 보류한다.",</a:t>
            </a:r>
          </a:p>
          <a:p>
            <a:r>
              <a:t>      "operating_model": "여행자가 지역에서 지출한 비용의 일부를 지역상품권으로 돌려받게 하여 혜택이 다시 지역 상점에서 사용되도록 설계",</a:t>
            </a:r>
          </a:p>
          <a:p>
            <a:r>
              <a:t>      "retrieval_method": "curated_registry",</a:t>
            </a:r>
          </a:p>
          <a:p>
            <a:r>
              <a:t>      "evidence_strength": "low",</a:t>
            </a:r>
          </a:p>
          <a:p>
            <a:r>
              <a:t>      "retrieval_context": {</a:t>
            </a:r>
          </a:p>
          <a:p>
            <a:r>
              <a:t>        "scope": "cross_province",</a:t>
            </a:r>
          </a:p>
          <a:p>
            <a:r>
              <a:t>        "peer_region_code": null</a:t>
            </a:r>
          </a:p>
          <a:p>
            <a:r>
              <a:t>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"published_or_updated_at": "2025-01-02",</a:t>
            </a:r>
          </a:p>
          <a:p>
            <a:r>
              <a:t>      "quantitative_result_approved": false</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"published_or_updated_at": "2025",</a:t>
            </a:r>
          </a:p>
          <a:p>
            <a:r>
              <a:t>      "quantitative_result_approved": null</a:t>
            </a:r>
          </a:p>
          <a:p>
            <a:r>
              <a:t>    },</a:t>
            </a:r>
          </a:p>
          <a:p>
            <a:r>
              <a:t>    {</a:t>
            </a:r>
          </a:p>
          <a:p>
            <a:r>
              <a:t>      "title": "가마오름",</a:t>
            </a:r>
          </a:p>
          <a:p>
            <a:r>
              <a:t>      "address": "제주특별자치도 제주시 한경면 청수리",</a:t>
            </a:r>
          </a:p>
          <a:p>
            <a:r>
              <a:t>      "summary": "한국관광공사 국문관광정보 API가 반환한 선택 지역 관광자원",</a:t>
            </a:r>
          </a:p>
          <a:p>
            <a:r>
              <a:t>      "image_url": "http://tong.visitkorea.or.kr/cms/resource/72/3477972_image2_1.jpg",</a:t>
            </a:r>
          </a:p>
          <a:p>
            <a:r>
              <a:t>      "source_id": "tour-api:1884191",</a:t>
            </a:r>
          </a:p>
          <a:p>
            <a:r>
              <a:t>      "content_id": "1884191",</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3615062.0,</a:t>
            </a:r>
          </a:p>
          <a:p>
            <a:r>
              <a:t>        "is_forecast": true,</a:t>
            </a:r>
          </a:p>
          <a:p>
            <a:r>
              <a:t>        "spending_krw": 150467072839.0,</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3594310.0,</a:t>
            </a:r>
          </a:p>
          <a:p>
            <a:r>
              <a:t>        "is_forecast": true,</a:t>
            </a:r>
          </a:p>
          <a:p>
            <a:r>
              <a:t>        "spending_krw": 145085139974.0,</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3370793.0,</a:t>
            </a:r>
          </a:p>
          <a:p>
            <a:r>
              <a:t>        "is_forecast": true,</a:t>
            </a:r>
          </a:p>
          <a:p>
            <a:r>
              <a:t>        "spending_krw": 149366639508.0,</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"is_forecast": true,</a:t>
            </a:r>
          </a:p>
          <a:p>
            <a:r>
              <a:t>      "spending_krw": 140803668431,</a:t>
            </a:r>
          </a:p>
          <a:p>
            <a:r>
              <a:t>      "stay_minutes": 2599.0,</a:t>
            </a:r>
          </a:p>
          <a:p>
            <a:r>
              <a:t>      "lodging_nights": 3.2,</a:t>
            </a:r>
          </a:p>
          <a:p>
            <a:r>
              <a:t>      "lodging_rate_pct": 21.7,</a:t>
            </a:r>
          </a:p>
          <a:p>
            <a:r>
              <a:t>      "lodging_searches": 99946,</a:t>
            </a:r>
          </a:p>
          <a:p>
            <a:r>
              <a:t>      "navigation_searches": 710719,</a:t>
            </a:r>
          </a:p>
          <a:p>
            <a:r>
              <a:t>      "visitor_yoy_percent": -3.05,</a:t>
            </a:r>
          </a:p>
          <a:p>
            <a:r>
              <a:t>      "spending_yoy_percent": -4.29,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3628591,</a:t>
            </a:r>
          </a:p>
          <a:p>
            <a:r>
              <a:t>      "previous_year_spending_krw": 147121716000,</a:t>
            </a:r>
          </a:p>
          <a:p>
            <a:r>
              <a:t>      "previous_year_stay_minutes": 2599.0,</a:t>
            </a:r>
          </a:p>
          <a:p>
            <a:r>
              <a:t>      "previous_year_lodging_nights": 3.2,</a:t>
            </a:r>
          </a:p>
          <a:p>
            <a:r>
              <a:t>      "previous_year_lodging_rate_pct": 21.7,</a:t>
            </a:r>
          </a:p>
          <a:p>
            <a:r>
              <a:t>      "previous_year_lodging_searches": 99946,</a:t>
            </a:r>
          </a:p>
          <a:p>
            <a:r>
              <a:t>      "previous_year_navigation_searches": 710719</a:t>
            </a:r>
          </a:p>
          <a:p>
            <a:r>
              <a:t>    },</a:t>
            </a:r>
          </a:p>
          <a:p>
            <a:r>
              <a:t>    {</a:t>
            </a:r>
          </a:p>
          <a:p>
            <a:r>
              <a:t>      "month": "202608",</a:t>
            </a:r>
          </a:p>
          <a:p>
            <a:r>
              <a:t>      "visitors": 3630250,</a:t>
            </a:r>
          </a:p>
          <a:p>
            <a:r>
              <a:t>      "is_forecast": true,</a:t>
            </a:r>
          </a:p>
          <a:p>
            <a:r>
              <a:t>      "spending_krw": 147968744557,</a:t>
            </a:r>
          </a:p>
          <a:p>
            <a:r>
              <a:t>      "stay_minutes": 2361.0,</a:t>
            </a:r>
          </a:p>
          <a:p>
            <a:r>
              <a:t>      "lodging_nights": 3.15,</a:t>
            </a:r>
          </a:p>
          <a:p>
            <a:r>
              <a:t>      "lodging_rate_pct": 22.1,</a:t>
            </a:r>
          </a:p>
          <a:p>
            <a:r>
              <a:t>      "lodging_searches": 114775,</a:t>
            </a:r>
          </a:p>
          <a:p>
            <a:r>
              <a:t>      "navigation_searches": 832625,</a:t>
            </a:r>
          </a:p>
          <a:p>
            <a:r>
              <a:t>      "visitor_yoy_percent": -6.31,</a:t>
            </a:r>
          </a:p>
          <a:p>
            <a:r>
              <a:t>      "spending_yoy_percent": -7.29,</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3874804,</a:t>
            </a:r>
          </a:p>
          <a:p>
            <a:r>
              <a:t>      "previous_year_spending_krw": 159605711000,</a:t>
            </a:r>
          </a:p>
          <a:p>
            <a:r>
              <a:t>      "previous_year_stay_minutes": 2361.0,</a:t>
            </a:r>
          </a:p>
          <a:p>
            <a:r>
              <a:t>      "previous_year_lodging_nights": 3.15,</a:t>
            </a:r>
          </a:p>
          <a:p>
            <a:r>
              <a:t>      "previous_year_lodging_rate_pct": 22.1,</a:t>
            </a:r>
          </a:p>
          <a:p>
            <a:r>
              <a:t>      "previous_year_lodging_searches": 114775,</a:t>
            </a:r>
          </a:p>
          <a:p>
            <a:r>
              <a:t>      "previous_year_navigation_searches": 832625</a:t>
            </a:r>
          </a:p>
          <a:p>
            <a:r>
              <a:t>    },</a:t>
            </a:r>
          </a:p>
          <a:p>
            <a:r>
              <a:t>    {</a:t>
            </a:r>
          </a:p>
          <a:p>
            <a:r>
              <a:t>      "month": "202609",</a:t>
            </a:r>
          </a:p>
          <a:p>
            <a:r>
              <a:t>      "visitors": 3508574,</a:t>
            </a:r>
          </a:p>
          <a:p>
            <a:r>
              <a:t>      "is_forecast": true,</a:t>
            </a:r>
          </a:p>
          <a:p>
            <a:r>
              <a:t>      "spending_krw": 128844309211,</a:t>
            </a:r>
          </a:p>
          <a:p>
            <a:r>
              <a:t>      "stay_minutes": 2331.0,</a:t>
            </a:r>
          </a:p>
          <a:p>
            <a:r>
              <a:t>      "lodging_nights": 3.04,</a:t>
            </a:r>
          </a:p>
          <a:p>
            <a:r>
              <a:t>      "lodging_rate_pct": 21.3,</a:t>
            </a:r>
          </a:p>
          <a:p>
            <a:r>
              <a:t>      "lodging_searches": 83147,</a:t>
            </a:r>
          </a:p>
          <a:p>
            <a:r>
              <a:t>      "navigation_searches": 625924,</a:t>
            </a:r>
          </a:p>
          <a:p>
            <a:r>
              <a:t>      "visitor_yoy_percent": 0.75,</a:t>
            </a:r>
          </a:p>
          <a:p>
            <a:r>
              <a:t>      "spending_yoy_percent": -3.74,</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3482583,</a:t>
            </a:r>
          </a:p>
          <a:p>
            <a:r>
              <a:t>      "previous_year_spending_krw": 133843940000,</a:t>
            </a:r>
          </a:p>
          <a:p>
            <a:r>
              <a:t>      "previous_year_stay_minutes": 2331.0,</a:t>
            </a:r>
          </a:p>
          <a:p>
            <a:r>
              <a:t>      "previous_year_lodging_nights": 3.04,</a:t>
            </a:r>
          </a:p>
          <a:p>
            <a:r>
              <a:t>      "previous_year_lodging_rate_pct": 21.3,</a:t>
            </a:r>
          </a:p>
          <a:p>
            <a:r>
              <a:t>      "previous_year_lodging_searches": 83147,</a:t>
            </a:r>
          </a:p>
          <a:p>
            <a:r>
              <a:t>      "previous_year_navigation_searches": 625924</a:t>
            </a:r>
          </a:p>
          <a:p>
            <a:r>
              <a:t>    },</a:t>
            </a:r>
          </a:p>
          <a:p>
            <a:r>
              <a:t>    {</a:t>
            </a:r>
          </a:p>
          <a:p>
            <a:r>
              <a:t>      "month": "202610",</a:t>
            </a:r>
          </a:p>
          <a:p>
            <a:r>
              <a:t>      "visitors": 3615062,</a:t>
            </a:r>
          </a:p>
          <a:p>
            <a:r>
              <a:t>      "is_forecast": true,</a:t>
            </a:r>
          </a:p>
          <a:p>
            <a:r>
              <a:t>      "spending_krw": 150467072839,</a:t>
            </a:r>
          </a:p>
          <a:p>
            <a:r>
              <a:t>      "stay_minutes": 2601.0,</a:t>
            </a:r>
          </a:p>
          <a:p>
            <a:r>
              <a:t>      "lodging_nights": 3.3,</a:t>
            </a:r>
          </a:p>
          <a:p>
            <a:r>
              <a:t>      "lodging_rate_pct": 22.1,</a:t>
            </a:r>
          </a:p>
          <a:p>
            <a:r>
              <a:t>      "lodging_searches": 146458,</a:t>
            </a:r>
          </a:p>
          <a:p>
            <a:r>
              <a:t>      "navigation_searches": 1120126,</a:t>
            </a:r>
          </a:p>
          <a:p>
            <a:r>
              <a:t>      "visitor_yoy_percent": -7.42,</a:t>
            </a:r>
          </a:p>
          <a:p>
            <a:r>
              <a:t>      "spending_yoy_percent": -2.51,</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3904808,</a:t>
            </a:r>
          </a:p>
          <a:p>
            <a:r>
              <a:t>      "previous_year_spending_krw": 154337552000,</a:t>
            </a:r>
          </a:p>
          <a:p>
            <a:r>
              <a:t>      "previous_year_stay_minutes": 2601.0,</a:t>
            </a:r>
          </a:p>
          <a:p>
            <a:r>
              <a:t>      "previous_year_lodging_nights": 3.3,</a:t>
            </a:r>
          </a:p>
          <a:p>
            <a:r>
              <a:t>      "previous_year_lodging_rate_pct": 22.1,</a:t>
            </a:r>
          </a:p>
          <a:p>
            <a:r>
              <a:t>      "previous_year_lodging_searches": 146458,</a:t>
            </a:r>
          </a:p>
          <a:p>
            <a:r>
              <a:t>      "previous_year_navigation_searches": 1120126</a:t>
            </a:r>
          </a:p>
          <a:p>
            <a:r>
              <a:t>    },</a:t>
            </a:r>
          </a:p>
          <a:p>
            <a:r>
              <a:t>    {</a:t>
            </a:r>
          </a:p>
          <a:p>
            <a:r>
              <a:t>      "month": "202611",</a:t>
            </a:r>
          </a:p>
          <a:p>
            <a:r>
              <a:t>      "visitors": 3594310,</a:t>
            </a:r>
          </a:p>
          <a:p>
            <a:r>
              <a:t>      "is_forecast": true,</a:t>
            </a:r>
          </a:p>
          <a:p>
            <a:r>
              <a:t>      "spending_krw": 145085139974,</a:t>
            </a:r>
          </a:p>
          <a:p>
            <a:r>
              <a:t>      "stay_minutes": 2044.0,</a:t>
            </a:r>
          </a:p>
          <a:p>
            <a:r>
              <a:t>      "lodging_nights": 3.0,</a:t>
            </a:r>
          </a:p>
          <a:p>
            <a:r>
              <a:t>      "lodging_rate_pct": 22.0,</a:t>
            </a:r>
          </a:p>
          <a:p>
            <a:r>
              <a:t>      "lodging_searches": 87867,</a:t>
            </a:r>
          </a:p>
          <a:p>
            <a:r>
              <a:t>      "navigation_searches": 657481,</a:t>
            </a:r>
          </a:p>
          <a:p>
            <a:r>
              <a:t>      "visitor_yoy_percent": 0.08,</a:t>
            </a:r>
          </a:p>
          <a:p>
            <a:r>
              <a:t>      "spending_yoy_percent": 0.83,</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3591286,</a:t>
            </a:r>
          </a:p>
          <a:p>
            <a:r>
              <a:t>      "previous_year_spending_krw": 143894918000,</a:t>
            </a:r>
          </a:p>
          <a:p>
            <a:r>
              <a:t>      "previous_year_stay_minutes": 2044.0,</a:t>
            </a:r>
          </a:p>
          <a:p>
            <a:r>
              <a:t>      "previous_year_lodging_nights": 3.0,</a:t>
            </a:r>
          </a:p>
          <a:p>
            <a:r>
              <a:t>      "previous_year_lodging_rate_pct": 22.0,</a:t>
            </a:r>
          </a:p>
          <a:p>
            <a:r>
              <a:t>      "previous_year_lodging_searches": 87867,</a:t>
            </a:r>
          </a:p>
          <a:p>
            <a:r>
              <a:t>      "previous_year_navigation_searches": 657481</a:t>
            </a:r>
          </a:p>
          <a:p>
            <a:r>
              <a:t>    },</a:t>
            </a:r>
          </a:p>
          <a:p>
            <a:r>
              <a:t>    {</a:t>
            </a:r>
          </a:p>
          <a:p>
            <a:r>
              <a:t>      "month": "202612",</a:t>
            </a:r>
          </a:p>
          <a:p>
            <a:r>
              <a:t>      "visitors": 3370793,</a:t>
            </a:r>
          </a:p>
          <a:p>
            <a:r>
              <a:t>      "is_forecast": true,</a:t>
            </a:r>
          </a:p>
          <a:p>
            <a:r>
              <a:t>      "spending_krw": 149366639508,</a:t>
            </a:r>
          </a:p>
          <a:p>
            <a:r>
              <a:t>      "stay_minutes": 2289.0,</a:t>
            </a:r>
          </a:p>
          <a:p>
            <a:r>
              <a:t>      "lodging_nights": 3.03,</a:t>
            </a:r>
          </a:p>
          <a:p>
            <a:r>
              <a:t>      "lodging_rate_pct": 22.3,</a:t>
            </a:r>
          </a:p>
          <a:p>
            <a:r>
              <a:t>      "lodging_searches": 75858,</a:t>
            </a:r>
          </a:p>
          <a:p>
            <a:r>
              <a:t>      "navigation_searches": 556973,</a:t>
            </a:r>
          </a:p>
          <a:p>
            <a:r>
              <a:t>      "visitor_yoy_percent": -1.18,</a:t>
            </a:r>
          </a:p>
          <a:p>
            <a:r>
              <a:t>      "spending_yoy_percent": 0.77,</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3410959,</a:t>
            </a:r>
          </a:p>
          <a:p>
            <a:r>
              <a:t>      "previous_year_spending_krw": 148223154000,</a:t>
            </a:r>
          </a:p>
          <a:p>
            <a:r>
              <a:t>      "previous_year_stay_minutes": 2289.0,</a:t>
            </a:r>
          </a:p>
          <a:p>
            <a:r>
              <a:t>      "previous_year_lodging_nights": 3.03,</a:t>
            </a:r>
          </a:p>
          <a:p>
            <a:r>
              <a:t>      "previous_year_lodging_rate_pct": 22.3,</a:t>
            </a:r>
          </a:p>
          <a:p>
            <a:r>
              <a:t>      "previous_year_lodging_searches": 75858,</a:t>
            </a:r>
          </a:p>
          <a:p>
            <a:r>
              <a:t>      "previous_year_navigation_searches": 556973</a:t>
            </a:r>
          </a:p>
          <a:p>
            <a:r>
              <a:t>    }</a:t>
            </a:r>
          </a:p>
          <a:p>
            <a:r>
              <a:t>  ],</a:t>
            </a:r>
          </a:p>
          <a:p>
            <a:r>
              <a:t>  "evaluation": {</a:t>
            </a:r>
          </a:p>
          <a:p>
            <a:r>
              <a:t>    "metrics": {</a:t>
            </a:r>
          </a:p>
          <a:p>
            <a:r>
              <a:t>      "visitors": {</a:t>
            </a:r>
          </a:p>
          <a:p>
            <a:r>
              <a:t>        "test_mae": 183762.22,</a:t>
            </a:r>
          </a:p>
          <a:p>
            <a:r>
              <a:t>        "recursive_mae": {</a:t>
            </a:r>
          </a:p>
          <a:p>
            <a:r>
              <a:t>          "1": {</a:t>
            </a:r>
          </a:p>
          <a:p>
            <a:r>
              <a:t>            "baseline": 141219,</a:t>
            </a:r>
          </a:p>
          <a:p>
            <a:r>
              <a:t>            "selected": 265459,</a:t>
            </a:r>
          </a:p>
          <a:p>
            <a:r>
              <a:t>            "sample_count": 2</a:t>
            </a:r>
          </a:p>
          <a:p>
            <a:r>
              <a:t>          },</a:t>
            </a:r>
          </a:p>
          <a:p>
            <a:r>
              <a:t>          "2": {</a:t>
            </a:r>
          </a:p>
          <a:p>
            <a:r>
              <a:t>            "baseline": 144459.5,</a:t>
            </a:r>
          </a:p>
          <a:p>
            <a:r>
              <a:t>            "selected": 136814,</a:t>
            </a:r>
          </a:p>
          <a:p>
            <a:r>
              <a:t>            "sample_count": 2</a:t>
            </a:r>
          </a:p>
          <a:p>
            <a:r>
              <a:t>          },</a:t>
            </a:r>
          </a:p>
          <a:p>
            <a:r>
              <a:t>          "3": {</a:t>
            </a:r>
          </a:p>
          <a:p>
            <a:r>
              <a:t>            "baseline": 297499.5,</a:t>
            </a:r>
          </a:p>
          <a:p>
            <a:r>
              <a:t>            "selected": 180437.5,</a:t>
            </a:r>
          </a:p>
          <a:p>
            <a:r>
              <a:t>            "sample_count": 2</a:t>
            </a:r>
          </a:p>
          <a:p>
            <a:r>
              <a:t>          }</a:t>
            </a:r>
          </a:p>
          <a:p>
            <a:r>
              <a:t>        },</a:t>
            </a:r>
          </a:p>
          <a:p>
            <a:r>
              <a:t>        "selected_model": "RandomForestRegressor",</a:t>
            </a:r>
          </a:p>
          <a:p>
            <a:r>
              <a:t>        "baseline_test_mae": 219359.25,</a:t>
            </a:r>
          </a:p>
          <a:p>
            <a:r>
              <a:t>        "model_reliability": "mixed_recursive_performance",</a:t>
            </a:r>
          </a:p>
          <a:p>
            <a:r>
              <a:t>        "beats_baseline_on_test": true,</a:t>
            </a:r>
          </a:p>
          <a:p>
            <a:r>
              <a:t>        "recursive_horizons_worse_than_baseline": [</a:t>
            </a:r>
          </a:p>
          <a:p>
            <a:r>
              <a:t>          "1"</a:t>
            </a:r>
          </a:p>
          <a:p>
            <a:r>
              <a:t>        ]</a:t>
            </a:r>
          </a:p>
          <a:p>
            <a:r>
              <a:t>      },</a:t>
            </a:r>
          </a:p>
          <a:p>
            <a:r>
              <a:t>      "spending_krw": {</a:t>
            </a:r>
          </a:p>
          <a:p>
            <a:r>
              <a:t>        "test_mae": 7866027889.97,</a:t>
            </a:r>
          </a:p>
          <a:p>
            <a:r>
              <a:t>        "recursive_mae": {</a:t>
            </a:r>
          </a:p>
          <a:p>
            <a:r>
              <a:t>          "1": {</a:t>
            </a:r>
          </a:p>
          <a:p>
            <a:r>
              <a:t>            "baseline": 11633402000,</a:t>
            </a:r>
          </a:p>
          <a:p>
            <a:r>
              <a:t>            "selected": 5070058833,</a:t>
            </a:r>
          </a:p>
          <a:p>
            <a:r>
              <a:t>            "sample_count": 2</a:t>
            </a:r>
          </a:p>
          <a:p>
            <a:r>
              <a:t>          },</a:t>
            </a:r>
          </a:p>
          <a:p>
            <a:r>
              <a:t>          "2": {</a:t>
            </a:r>
          </a:p>
          <a:p>
            <a:r>
              <a:t>            "baseline": 5588447000,</a:t>
            </a:r>
          </a:p>
          <a:p>
            <a:r>
              <a:t>            "selected": 2754801694.5,</a:t>
            </a:r>
          </a:p>
          <a:p>
            <a:r>
              <a:t>            "sample_count": 2</a:t>
            </a:r>
          </a:p>
          <a:p>
            <a:r>
              <a:t>          },</a:t>
            </a:r>
          </a:p>
          <a:p>
            <a:r>
              <a:t>          "3": {</a:t>
            </a:r>
          </a:p>
          <a:p>
            <a:r>
              <a:t>            "baseline": 5647526500,</a:t>
            </a:r>
          </a:p>
          <a:p>
            <a:r>
              <a:t>            "selected": 11586732430.5,</a:t>
            </a:r>
          </a:p>
          <a:p>
            <a:r>
              <a:t>            "sample_count": 2</a:t>
            </a:r>
          </a:p>
          <a:p>
            <a:r>
              <a:t>          }</a:t>
            </a:r>
          </a:p>
          <a:p>
            <a:r>
              <a:t>        },</a:t>
            </a:r>
          </a:p>
          <a:p>
            <a:r>
              <a:t>        "selected_model": "LinearRegression",</a:t>
            </a:r>
          </a:p>
          <a:p>
            <a:r>
              <a:t>        "baseline_test_mae": 8640464250,</a:t>
            </a:r>
          </a:p>
          <a:p>
            <a:r>
              <a:t>        "model_reliability": "mixed_recursive_performance",</a:t>
            </a:r>
          </a:p>
          <a:p>
            <a:r>
              <a:t>        "beats_baseline_on_test": true,</a:t>
            </a:r>
          </a:p>
          <a:p>
            <a:r>
              <a:t>        "recursive_horizons_worse_than_baseline": [</a:t>
            </a:r>
          </a:p>
          <a:p>
            <a:r>
              <a:t>          "3"</a:t>
            </a:r>
          </a:p>
          <a:p>
            <a:r>
              <a:t>        ]</a:t>
            </a:r>
          </a:p>
          <a:p>
            <a:r>
              <a:t>      },</a:t>
            </a:r>
          </a:p>
          <a:p>
            <a:r>
              <a:t>      "stay_minutes": {</a:t>
            </a:r>
          </a:p>
          <a:p>
            <a:r>
              <a:t>        "test_mae": 138.75,</a:t>
            </a:r>
          </a:p>
          <a:p>
            <a:r>
              <a:t>        "recursive_mae": {</a:t>
            </a:r>
          </a:p>
          <a:p>
            <a:r>
              <a:t>          "1": {</a:t>
            </a:r>
          </a:p>
          <a:p>
            <a:r>
              <a:t>            "baseline": 41,</a:t>
            </a:r>
          </a:p>
          <a:p>
            <a:r>
              <a:t>            "selected": 41,</a:t>
            </a:r>
          </a:p>
          <a:p>
            <a:r>
              <a:t>            "sample_count": 2</a:t>
            </a:r>
          </a:p>
          <a:p>
            <a:r>
              <a:t>          },</a:t>
            </a:r>
          </a:p>
          <a:p>
            <a:r>
              <a:t>          "2": {</a:t>
            </a:r>
          </a:p>
          <a:p>
            <a:r>
              <a:t>            "baseline": 208.5,</a:t>
            </a:r>
          </a:p>
          <a:p>
            <a:r>
              <a:t>            "selected": 208.5,</a:t>
            </a:r>
          </a:p>
          <a:p>
            <a:r>
              <a:t>            "sample_count": 2</a:t>
            </a:r>
          </a:p>
          <a:p>
            <a:r>
              <a:t>          },</a:t>
            </a:r>
          </a:p>
          <a:p>
            <a:r>
              <a:t>          "3": {</a:t>
            </a:r>
          </a:p>
          <a:p>
            <a:r>
              <a:t>            "baseline": 236.5,</a:t>
            </a:r>
          </a:p>
          <a:p>
            <a:r>
              <a:t>            "selected": 236.5,</a:t>
            </a:r>
          </a:p>
          <a:p>
            <a:r>
              <a:t>            "sample_count": 2</a:t>
            </a:r>
          </a:p>
          <a:p>
            <a:r>
              <a:t>          }</a:t>
            </a:r>
          </a:p>
          <a:p>
            <a:r>
              <a:t>        },</a:t>
            </a:r>
          </a:p>
          <a:p>
            <a:r>
              <a:t>        "selected_model": "seasonal_naive_previous_year_same_month",</a:t>
            </a:r>
          </a:p>
          <a:p>
            <a:r>
              <a:t>        "baseline_test_mae": 138.75,</a:t>
            </a:r>
          </a:p>
          <a:p>
            <a:r>
              <a:t>        "model_reliability": "seasonal_baseline",</a:t>
            </a:r>
          </a:p>
          <a:p>
            <a:r>
              <a:t>        "beats_baseline_on_test": false,</a:t>
            </a:r>
          </a:p>
          <a:p>
            <a:r>
              <a:t>        "recursive_horizons_worse_than_baseline": []</a:t>
            </a:r>
          </a:p>
          <a:p>
            <a:r>
              <a:t>      },</a:t>
            </a:r>
          </a:p>
          <a:p>
            <a:r>
              <a:t>      "lodging_nights": {</a:t>
            </a:r>
          </a:p>
          <a:p>
            <a:r>
              <a:t>        "test_mae": 0.03,</a:t>
            </a:r>
          </a:p>
          <a:p>
            <a:r>
              <a:t>        "recursive_mae": {</a:t>
            </a:r>
          </a:p>
          <a:p>
            <a:r>
              <a:t>          "1": {</a:t>
            </a:r>
          </a:p>
          <a:p>
            <a:r>
              <a:t>            "baseline": 0.02,</a:t>
            </a:r>
          </a:p>
          <a:p>
            <a:r>
              <a:t>            "selected": 0.02,</a:t>
            </a:r>
          </a:p>
          <a:p>
            <a:r>
              <a:t>            "sample_count": 2</a:t>
            </a:r>
          </a:p>
          <a:p>
            <a:r>
              <a:t>          },</a:t>
            </a:r>
          </a:p>
          <a:p>
            <a:r>
              <a:t>          "2": {</a:t>
            </a:r>
          </a:p>
          <a:p>
            <a:r>
              <a:t>            "baseline": 0.02,</a:t>
            </a:r>
          </a:p>
          <a:p>
            <a:r>
              <a:t>            "selected": 0.02,</a:t>
            </a:r>
          </a:p>
          <a:p>
            <a:r>
              <a:t>            "sample_count": 2</a:t>
            </a:r>
          </a:p>
          <a:p>
            <a:r>
              <a:t>          },</a:t>
            </a:r>
          </a:p>
          <a:p>
            <a:r>
              <a:t>          "3": {</a:t>
            </a:r>
          </a:p>
          <a:p>
            <a:r>
              <a:t>            "baseline": 0.04,</a:t>
            </a:r>
          </a:p>
          <a:p>
            <a:r>
              <a:t>            "selected": 0.04,</a:t>
            </a:r>
          </a:p>
          <a:p>
            <a:r>
              <a:t>            "sample_count": 2</a:t>
            </a:r>
          </a:p>
          <a:p>
            <a:r>
              <a:t>          }</a:t>
            </a:r>
          </a:p>
          <a:p>
            <a:r>
              <a:t>        },</a:t>
            </a:r>
          </a:p>
          <a:p>
            <a:r>
              <a:t>        "selected_model": "seasonal_naive_previous_year_same_month",</a:t>
            </a:r>
          </a:p>
          <a:p>
            <a:r>
              <a:t>        "baseline_test_mae": 0.03,</a:t>
            </a:r>
          </a:p>
          <a:p>
            <a:r>
              <a:t>        "model_reliability": "seasonal_baseline",</a:t>
            </a:r>
          </a:p>
          <a:p>
            <a:r>
              <a:t>        "beats_baseline_on_test": false,</a:t>
            </a:r>
          </a:p>
          <a:p>
            <a:r>
              <a:t>        "recursive_horizons_worse_than_baseline": []</a:t>
            </a:r>
          </a:p>
          <a:p>
            <a:r>
              <a:t>      },</a:t>
            </a:r>
          </a:p>
          <a:p>
            <a:r>
              <a:t>      "lodging_rate_pct": {</a:t>
            </a:r>
          </a:p>
          <a:p>
            <a:r>
              <a:t>        "test_mae": 0.5,</a:t>
            </a:r>
          </a:p>
          <a:p>
            <a:r>
              <a:t>        "recursive_mae": {</a:t>
            </a:r>
          </a:p>
          <a:p>
            <a:r>
              <a:t>          "1": {</a:t>
            </a:r>
          </a:p>
          <a:p>
            <a:r>
              <a:t>            "baseline": 0.7,</a:t>
            </a:r>
          </a:p>
          <a:p>
            <a:r>
              <a:t>            "selected": 0.7,</a:t>
            </a:r>
          </a:p>
          <a:p>
            <a:r>
              <a:t>            "sample_count": 2</a:t>
            </a:r>
          </a:p>
          <a:p>
            <a:r>
              <a:t>          },</a:t>
            </a:r>
          </a:p>
          <a:p>
            <a:r>
              <a:t>          "2": {</a:t>
            </a:r>
          </a:p>
          <a:p>
            <a:r>
              <a:t>            "baseline": 0.55,</a:t>
            </a:r>
          </a:p>
          <a:p>
            <a:r>
              <a:t>            "selected": 0.55,</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a:t>
            </a:r>
          </a:p>
          <a:p>
            <a:r>
              <a:t>        "model_reliability": "seasonal_baseline",</a:t>
            </a:r>
          </a:p>
          <a:p>
            <a:r>
              <a:t>        "beats_baseline_on_test": false,</a:t>
            </a:r>
          </a:p>
          <a:p>
            <a:r>
              <a:t>        "recursive_horizons_worse_than_baseline": []</a:t>
            </a:r>
          </a:p>
          <a:p>
            <a:r>
              <a:t>      },</a:t>
            </a:r>
          </a:p>
          <a:p>
            <a:r>
              <a:t>      "lodging_searches": {</a:t>
            </a:r>
          </a:p>
          <a:p>
            <a:r>
              <a:t>        "test_mae": 5915.25,</a:t>
            </a:r>
          </a:p>
          <a:p>
            <a:r>
              <a:t>        "recursive_mae": {</a:t>
            </a:r>
          </a:p>
          <a:p>
            <a:r>
              <a:t>          "1": {</a:t>
            </a:r>
          </a:p>
          <a:p>
            <a:r>
              <a:t>            "baseline": 2259.5,</a:t>
            </a:r>
          </a:p>
          <a:p>
            <a:r>
              <a:t>            "selected": 2259.5,</a:t>
            </a:r>
          </a:p>
          <a:p>
            <a:r>
              <a:t>            "sample_count": 2</a:t>
            </a:r>
          </a:p>
          <a:p>
            <a:r>
              <a:t>          },</a:t>
            </a:r>
          </a:p>
          <a:p>
            <a:r>
              <a:t>          "2": {</a:t>
            </a:r>
          </a:p>
          <a:p>
            <a:r>
              <a:t>            "baseline": 5253.5,</a:t>
            </a:r>
          </a:p>
          <a:p>
            <a:r>
              <a:t>            "selected": 5253.5,</a:t>
            </a:r>
          </a:p>
          <a:p>
            <a:r>
              <a:t>            "sample_count": 2</a:t>
            </a:r>
          </a:p>
          <a:p>
            <a:r>
              <a:t>          },</a:t>
            </a:r>
          </a:p>
          <a:p>
            <a:r>
              <a:t>          "3": {</a:t>
            </a:r>
          </a:p>
          <a:p>
            <a:r>
              <a:t>            "baseline": 9571,</a:t>
            </a:r>
          </a:p>
          <a:p>
            <a:r>
              <a:t>            "selected": 9571,</a:t>
            </a:r>
          </a:p>
          <a:p>
            <a:r>
              <a:t>            "sample_count": 2</a:t>
            </a:r>
          </a:p>
          <a:p>
            <a:r>
              <a:t>          }</a:t>
            </a:r>
          </a:p>
          <a:p>
            <a:r>
              <a:t>        },</a:t>
            </a:r>
          </a:p>
          <a:p>
            <a:r>
              <a:t>        "selected_model": "seasonal_naive_previous_year_same_month",</a:t>
            </a:r>
          </a:p>
          <a:p>
            <a:r>
              <a:t>        "baseline_test_mae": 5915.25,</a:t>
            </a:r>
          </a:p>
          <a:p>
            <a:r>
              <a:t>        "model_reliability": "seasonal_baseline",</a:t>
            </a:r>
          </a:p>
          <a:p>
            <a:r>
              <a:t>        "beats_baseline_on_test": false,</a:t>
            </a:r>
          </a:p>
          <a:p>
            <a:r>
              <a:t>        "recursive_horizons_worse_than_baseline": []</a:t>
            </a:r>
          </a:p>
          <a:p>
            <a:r>
              <a:t>      },</a:t>
            </a:r>
          </a:p>
          <a:p>
            <a:r>
              <a:t>      "navigation_searches": {</a:t>
            </a:r>
          </a:p>
          <a:p>
            <a:r>
              <a:t>        "test_mae": 29189.5,</a:t>
            </a:r>
          </a:p>
          <a:p>
            <a:r>
              <a:t>        "recursive_mae": {</a:t>
            </a:r>
          </a:p>
          <a:p>
            <a:r>
              <a:t>          "1": {</a:t>
            </a:r>
          </a:p>
          <a:p>
            <a:r>
              <a:t>            "baseline": 11165.5,</a:t>
            </a:r>
          </a:p>
          <a:p>
            <a:r>
              <a:t>            "selected": 11165.5,</a:t>
            </a:r>
          </a:p>
          <a:p>
            <a:r>
              <a:t>            "sample_count": 2</a:t>
            </a:r>
          </a:p>
          <a:p>
            <a:r>
              <a:t>          },</a:t>
            </a:r>
          </a:p>
          <a:p>
            <a:r>
              <a:t>          "2": {</a:t>
            </a:r>
          </a:p>
          <a:p>
            <a:r>
              <a:t>            "baseline": 19541,</a:t>
            </a:r>
          </a:p>
          <a:p>
            <a:r>
              <a:t>            "selected": 19541,</a:t>
            </a:r>
          </a:p>
          <a:p>
            <a:r>
              <a:t>            "sample_count": 2</a:t>
            </a:r>
          </a:p>
          <a:p>
            <a:r>
              <a:t>          },</a:t>
            </a:r>
          </a:p>
          <a:p>
            <a:r>
              <a:t>          "3": {</a:t>
            </a:r>
          </a:p>
          <a:p>
            <a:r>
              <a:t>            "baseline": 47213.5,</a:t>
            </a:r>
          </a:p>
          <a:p>
            <a:r>
              <a:t>            "selected": 47213.5,</a:t>
            </a:r>
          </a:p>
          <a:p>
            <a:r>
              <a:t>            "sample_count": 2</a:t>
            </a:r>
          </a:p>
          <a:p>
            <a:r>
              <a:t>          }</a:t>
            </a:r>
          </a:p>
          <a:p>
            <a:r>
              <a:t>        },</a:t>
            </a:r>
          </a:p>
          <a:p>
            <a:r>
              <a:t>        "selected_model": "seasonal_naive_previous_year_same_month",</a:t>
            </a:r>
          </a:p>
          <a:p>
            <a:r>
              <a:t>        "baseline_test_mae": 29189.5,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20.0,</a:t>
            </a:r>
          </a:p>
          <a:p>
            <a:r>
              <a:t>    "spending_target_pct": 20.0</a:t>
            </a:r>
          </a:p>
          <a:p>
            <a:r>
              <a:t>  },</a:t>
            </a:r>
          </a:p>
          <a:p>
            <a:r>
              <a:t>  "reference_estimate": {</a:t>
            </a:r>
          </a:p>
          <a:p>
            <a:r>
              <a:t>    "status": "saved_report_budget",</a:t>
            </a:r>
          </a:p>
          <a:p>
            <a:r>
              <a:t>    "total_label": "총액 미확정",</a:t>
            </a:r>
          </a:p>
          <a:p>
            <a:r>
              <a:t>    "rows": [</a:t>
            </a:r>
          </a:p>
          <a:p>
            <a:r>
              <a:t>      [</a:t>
            </a:r>
          </a:p>
          <a:p>
            <a:r>
              <a:t>        "산정 내역 1",</a:t>
            </a:r>
          </a:p>
          <a:p>
            <a:r>
              <a:t>        "환급액 총액 100,000,000원 (기획 가정: 환급률 20%, 건별 상한 50,000원, 예상 참여자 10,000명 기준)",</a:t>
            </a:r>
          </a:p>
          <a:p>
            <a:r>
              <a:t>        "본문 기준"</a:t>
            </a:r>
          </a:p>
          <a:p>
            <a:r>
              <a:t>      ]</a:t>
            </a:r>
          </a:p>
          <a:p>
            <a:r>
              <a:t>    ],</a:t>
            </a:r>
          </a:p>
          <a:p>
            <a:r>
              <a:t>    "original_text": "환급액 총액 100,000,000원 (기획 가정: 환급률 20%, 건별 상한 50,000원, 예상 참여자 10,000명 기준)",</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"observed_findings": [</a:t>
            </a:r>
          </a:p>
          <a:p>
            <a:r>
              <a:t>    {</a:t>
            </a:r>
          </a:p>
          <a:p>
            <a:r>
              <a:t>      "value": "3,131,476명",</a:t>
            </a:r>
          </a:p>
          <a:p>
            <a:r>
              <a:t>      "metric": "월간 순 방문자 수",</a:t>
            </a:r>
          </a:p>
          <a:p>
            <a:r>
              <a:t>      "source": "dataset:50110:1",</a:t>
            </a:r>
          </a:p>
          <a:p>
            <a:r>
              <a:t>      "interpretation": "2026년 6월 기준 외지인 방문 규모는 크나, 전년 동월 대비 8.9% 감소 추세임 (dataset:50110:2)"</a:t>
            </a:r>
          </a:p>
          <a:p>
            <a:r>
              <a:t>    },</a:t>
            </a:r>
          </a:p>
          <a:p>
            <a:r>
              <a:t>    {</a:t>
            </a:r>
          </a:p>
          <a:p>
            <a:r>
              <a:t>      "value": "쇼핑업 39.0%, 식음료업 38.1%",</a:t>
            </a:r>
          </a:p>
          <a:p>
            <a:r>
              <a:t>      "metric": "관광소비 구성",</a:t>
            </a:r>
          </a:p>
          <a:p>
            <a:r>
              <a:t>      "source": "dataset:50110:3",</a:t>
            </a:r>
          </a:p>
          <a:p>
            <a:r>
              <a:t>      "interpretation": "쇼핑과 식음료가 소비의 핵심이며, 환급 사업의 주요 타겟 업종으로 적합함 (consumption_by_category)"</a:t>
            </a:r>
          </a:p>
          <a:p>
            <a:r>
              <a:t>    },</a:t>
            </a:r>
          </a:p>
          <a:p>
            <a:r>
              <a:t>    {</a:t>
            </a:r>
          </a:p>
          <a:p>
            <a:r>
              <a:t>      "value": "580,380건",</a:t>
            </a:r>
          </a:p>
          <a:p>
            <a:r>
              <a:t>      "metric": "내비게이션 목적지 검색량",</a:t>
            </a:r>
          </a:p>
          <a:p>
            <a:r>
              <a:t>      "source": "dataset:50110:6",</a:t>
            </a:r>
          </a:p>
          <a:p>
            <a:r>
              <a:t>      "interpretation": "관심도는 높으나 실제 방문 및 숙박으로의 전환을 촉진할 유인책이 필요함 (dataset:50110:6)"</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11,974,569명 (추가 1,394,404명, +13.18%)\n관광소비액: 기준 444,918,852,321원 → 목표 504,168,003,742원 (추가 59,249,151,421원, +13.32%)\n월별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7개 예측값으로 학습한 지역 추천 모델이나 주민 인구 비례 순위가 아닙니다. 표시 건수는 보고서에 남은 기록 기준입니다."</a:t>
            </a:r>
          </a:p>
          <a:p>
            <a:r>
              <a:t>    ],</a:t>
            </a:r>
          </a:p>
          <a:p>
            <a:r>
              <a:t>    [</a:t>
            </a:r>
          </a:p>
          <a:p>
            <a:r>
              <a:t>      "목표율과 운영 예산의 연결",</a:t>
            </a:r>
          </a:p>
          <a:p>
            <a:r>
              <a:t>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아니다.\n사업기간 추가 방문 목표 1,394,404명 × 시범 담당 비중 1% → 13,945건(올림).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11974569.066666666,</a:t>
            </a:r>
          </a:p>
          <a:p>
            <a:r>
              <a:t>        "additional": 1394404.0666666664,</a:t>
            </a:r>
          </a:p>
          <a:p>
            <a:r>
              <a:t>        "pct": 13.179417019173778</a:t>
            </a:r>
          </a:p>
          <a:p>
            <a:r>
              <a:t>      },</a:t>
            </a:r>
          </a:p>
          <a:p>
            <a:r>
              <a:t>      {</a:t>
            </a:r>
          </a:p>
          <a:p>
            <a:r>
              <a:t>        "key": "spending",</a:t>
            </a:r>
          </a:p>
          <a:p>
            <a:r>
              <a:t>        "label": "관광소비액",</a:t>
            </a:r>
          </a:p>
          <a:p>
            <a:r>
              <a:t>        "unit": "원",</a:t>
            </a:r>
          </a:p>
          <a:p>
            <a:r>
              <a:t>        "baseline": 444918852321.0,</a:t>
            </a:r>
          </a:p>
          <a:p>
            <a:r>
              <a:t>        "target": 504168003741.7333,</a:t>
            </a:r>
          </a:p>
          <a:p>
            <a:r>
              <a:t>        "additional": 59249151420.73328,</a:t>
            </a:r>
          </a:p>
          <a:p>
            <a:r>
              <a:t>        "pct": 13.31684443391179</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"전년 동월 기준모델"</a:t>
            </a:r>
          </a:p>
          <a:p>
            <a:r>
              <a:t>    },</a:t>
            </a:r>
          </a:p>
          <a:p>
            <a:r>
              <a:t>    "source_period": "202401~202606",</a:t>
            </a:r>
          </a:p>
          <a:p>
            <a:r>
              <a:t>    "months": [</a:t>
            </a:r>
          </a:p>
          <a:p>
            <a:r>
              <a:t>      "26.10",</a:t>
            </a:r>
          </a:p>
          <a:p>
            <a:r>
              <a:t>      "26.11",</a:t>
            </a:r>
          </a:p>
          <a:p>
            <a:r>
              <a:t>      "26.12"</a:t>
            </a:r>
          </a:p>
          <a:p>
            <a:r>
              <a:t>    ],</a:t>
            </a:r>
          </a:p>
          <a:p>
            <a:r>
              <a:t>    "case_count": 8,</a:t>
            </a:r>
          </a:p>
          <a:p>
            <a:r>
              <a:t>    "case_region_count": 7,</a:t>
            </a:r>
          </a:p>
          <a:p>
            <a:r>
              <a:t>    "candidate_count": 2,</a:t>
            </a:r>
          </a:p>
          <a:p>
            <a:r>
              <a:t>    "displayed_count": 3,</a:t>
            </a:r>
          </a:p>
          <a:p>
            <a:r>
              <a:t>    "primary": {</a:t>
            </a:r>
          </a:p>
          <a:p>
            <a:r>
              <a:t>      "title": "한국관광 데이터랩 우수 활용사례(2025)—데이터 기반 강진 반값여행으로 지역 경제를 살리다",</a:t>
            </a:r>
          </a:p>
          <a:p>
            <a:r>
              <a:t>      "summary": "전라남도 강진군 · 강진 반값여행—지역지출 환급과 지역상품권 재소비 ·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"source_id": "case:761228c746fb13",</a:t>
            </a:r>
          </a:p>
          <a:p>
            <a:r>
              <a:t>      "source_url": "https://datalab.visitkorea.or.kr/html/interview5/interview01.jsp",</a:t>
            </a:r>
          </a:p>
          <a:p>
            <a:r>
              <a:t>      "case_region": "전라남도 강진군",</a:t>
            </a:r>
          </a:p>
          <a:p>
            <a:r>
              <a:t>      "source_type": "benchmark_case",</a:t>
            </a:r>
          </a:p>
          <a:p>
            <a:r>
              <a:t>      "intervention": "강진 반값여행—지역지출 환급과 지역상품권 재소비",</a:t>
            </a:r>
          </a:p>
          <a:p>
            <a:r>
              <a:t>      "document_type": null,</a:t>
            </a:r>
          </a:p>
          <a:p>
            <a:r>
              <a:t>      "observed_result": "공식 데이터랩 활용사례는 2024년 관광객 43만명 증가, 방문인구 74만명 증가, 지역 내 소비 69억원, 강진사랑상품권 사용률 71% 상승을 제시한다. 생산유발 240억원과 부가가치유발 100억원은 산업연관 분석 추정치이며 실제 추가 매출이나 순이익으로 해석할 수 없다. 사업과 지표 변화가 함께 관측됐지만 인과효과를 분리한 비교평가는 확인되지 않았다. ([datalab.visitkorea.or.kr](https://datalab.visitkorea.or.kr/html/interview5/interview01.jsp))",</a:t>
            </a:r>
          </a:p>
          <a:p>
            <a:r>
              <a:t>      "operating_model": "지역에서 발생한 여행 지출의 일부를 모바일 지역상품권으로 환급하고, 전통시장·숙박·외식·소매 및 온라인 농특산물 판매와 연계했다. 월별 방문·소비 데이터를 이용해 3~5월과 10월에 홍보를 집중하고 영수증·상품권 정산 자료로 이용과 재소비를 추적했다. ([datalab.visitkorea.or.kr](https://datalab.visitkorea.or.kr/html/interview5/interview01.jsp))",</a:t>
            </a:r>
          </a:p>
          <a:p>
            <a:r>
              <a:t>      "retrieval_method": "official_web_search",</a:t>
            </a:r>
          </a:p>
          <a:p>
            <a:r>
              <a:t>      "evidence_strength": "medium",</a:t>
            </a:r>
          </a:p>
          <a:p>
            <a:r>
              <a:t>      "retrieval_context": {</a:t>
            </a:r>
          </a:p>
          <a:p>
            <a:r>
              <a:t>        "scope": "cross_province",</a:t>
            </a:r>
          </a:p>
          <a:p>
            <a:r>
              <a:t>        "peer_region_code": null</a:t>
            </a:r>
          </a:p>
          <a:p>
            <a:r>
              <a:t>      },</a:t>
            </a:r>
          </a:p>
          <a:p>
            <a:r>
              <a:t>      "measurement_period": "2024년 실적을 이전 연도 및 자체·통신·상품권 자료와 비교",</a:t>
            </a:r>
          </a:p>
          <a:p>
            <a:r>
              <a:t>      "transfer_conditions": [</a:t>
            </a:r>
          </a:p>
          <a:p>
            <a:r>
              <a:t>        "제주시에 적용하려면 대상 권역·참여자·환급 인정 업종·최대 환급액을 제한한 시범사업으로 축소해야 함",</a:t>
            </a:r>
          </a:p>
          <a:p>
            <a:r>
              <a:t>        "지역화폐 또는 사용처가 제한된 디지털 바우처와 정산 시스템 확보 필요",</a:t>
            </a:r>
          </a:p>
          <a:p>
            <a:r>
              <a:t>        "여행 전 신청, 현장 방문 및 결제 증빙, 중복·허위 영수증 검증 절차 필요",</a:t>
            </a:r>
          </a:p>
          <a:p>
            <a:r>
              <a:t>        "제주시의 방문 규모와 상권 구조는 강진군과 크게 다르므로 강진 예산·증가율을 비례 환산하지 않음",</a:t>
            </a:r>
          </a:p>
          <a:p>
            <a:r>
              <a:t>        "성과는 신청팀 수가 아니라 여행 완료율, 인정 결제액, 환급액, 환급분 재사용액, 참여업체별 순증 결제로 측정"</a:t>
            </a:r>
          </a:p>
          <a:p>
            <a:r>
              <a:t>      ],</a:t>
            </a:r>
          </a:p>
          <a:p>
            <a:r>
              <a:t>      "published_or_updated_at": "2025",</a:t>
            </a:r>
          </a:p>
          <a:p>
            <a:r>
              <a:t>      "quantitative_result_approved": null</a:t>
            </a:r>
          </a:p>
          <a:p>
            <a:r>
              <a:t>    },</a:t>
            </a:r>
          </a:p>
          <a:p>
            <a:r>
              <a:t>    "selection_reason": "제주시의 외지인 관광소비 총액이 높고, 내비게이션 목적지 검색량이 높은 것으로 보여, 지역 상품권 환급 프로그램이 제주시의 관광 활성화에 효과적일 것으로 예상됩니다. 또한, 강진 반값여행 사례에서 확인된 환급 방식을 참고하여 제주시에 적용할 수 있으며, 지역 상품권 환급 프로그램은 제주시의 방문자 수 증가 및 소비 유도에 기여할 수 있습니다.",</a:t>
            </a:r>
          </a:p>
          <a:p>
            <a:r>
              <a:t>    "target_explanation": "강진군의회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제주특별자치도 제주시에서는 최종월 방문 +20%를 도전 목표로 제안한다(25% × 80%). 80%는 전면 적용 대신 단계 운영을 고려한 계획 가정이며 인구 보정·통계 추정 계수가 아니다.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    "estimate": {</a:t>
            </a:r>
          </a:p>
          <a:p>
            <a:r>
              <a:t>      "items": [</a:t>
            </a:r>
          </a:p>
          <a:p>
            <a:r>
              <a:t>        {</a:t>
            </a:r>
          </a:p>
          <a:p>
            <a:r>
              <a:t>          "name": "여행비 환급 지원",</a:t>
            </a:r>
          </a:p>
          <a:p>
            <a:r>
              <a:t>          "basis": "13,945건 × 50,000원",</a:t>
            </a:r>
          </a:p>
          <a:p>
            <a:r>
              <a:t>          "amount": 697250000</a:t>
            </a:r>
          </a:p>
          <a:p>
            <a:r>
              <a:t>        },</a:t>
            </a:r>
          </a:p>
          <a:p>
            <a:r>
              <a:t>        {</a:t>
            </a:r>
          </a:p>
          <a:p>
            <a:r>
              <a:t>          "name": "현장 운영·정산",</a:t>
            </a:r>
          </a:p>
          <a:p>
            <a:r>
              <a:t>          "basis": "max(월 20인일 × 3, 13,945건 ÷ 25건/인일 올림) = 558인일 × 150,000원",</a:t>
            </a:r>
          </a:p>
          <a:p>
            <a:r>
              <a:t>          "amount": 83700000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79,695만원 × 10%",</a:t>
            </a:r>
          </a:p>
          <a:p>
            <a:r>
              <a:t>          "amount": 79695000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"reference-estimate-v2",</a:t>
            </a:r>
          </a:p>
          <a:p>
            <a:r>
              <a:t>      "quantity": 13945,</a:t>
            </a:r>
          </a:p>
          <a:p>
            <a:r>
              <a:t>      "unit_krw": 50000,</a:t>
            </a:r>
          </a:p>
          <a:p>
            <a:r>
              <a:t>      "total_krw": 876645000,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79695000,</a:t>
            </a:r>
          </a:p>
          <a:p>
            <a:r>
              <a:t>      "scale_basis": "사업기간 추가 방문 목표 1,394,404명 × 시범 담당 비중 1% → 13,945건(올림). 1%는 직접 운영할 참여량 배분 가정이며 전환율 예측이 아닙니다.",</a:t>
            </a:r>
          </a:p>
          <a:p>
            <a:r>
              <a:t>      "subtotal_krw": 796950000,</a:t>
            </a:r>
          </a:p>
          <a:p>
            <a:r>
              <a:t>      "pilot_share_pct": 1,</a:t>
            </a:r>
          </a:p>
          <a:p>
            <a:r>
              <a:t>      "redemption_count": 11156,</a:t>
            </a:r>
          </a:p>
          <a:p>
            <a:r>
              <a:t>      "within_hard_budget": true,</a:t>
            </a:r>
          </a:p>
          <a:p>
            <a:r>
              <a:t>      "qualifying_spend_krw": 1394500000,</a:t>
            </a:r>
          </a:p>
          <a:p>
            <a:r>
              <a:t>      "redemption_target_pct": 80,</a:t>
            </a:r>
          </a:p>
          <a:p>
            <a:r>
              <a:t>      "additional_visitors_target": 1394404.0666666664</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datalab.visitkorea.or.kr/html/interview5/interview01.jsp" TargetMode="External"/><Relationship Id="rId7" Type="http://schemas.openxmlformats.org/officeDocument/2006/relationships/image" Target="../media/image2.jpg"/><Relationship Id="rId8" Type="http://schemas.openxmlformats.org/officeDocument/2006/relationships/hyperlink" Target="https://www.korean-culture.org/koreanet/view.do?seq=1047457" TargetMode="External"/><Relationship Id="rId9" Type="http://schemas.openxmlformats.org/officeDocument/2006/relationships/hyperlink" Target="https://www.seoul.go.kr/policy/view.do?id=1022&amp;lan=" TargetMode="External"/><Relationship Id="rId10" Type="http://schemas.openxmlformats.org/officeDocument/2006/relationships/image" Target="../media/image3.jpg"/><Relationship Id="rId11" Type="http://schemas.openxmlformats.org/officeDocument/2006/relationships/hyperlink" Target="https://isum.incheon.go.kr/theme/themeContent.do?key=2407020018" TargetMode="External"/><Relationship Id="rId12" Type="http://schemas.openxmlformats.org/officeDocument/2006/relationships/hyperlink" Target="https://kto.visitkorea.or.kr/upload/flexer/upload/ktobiz/20190417/ca99de85-60a6-11e9-9d6f-39c7f0d61b75.hwp.files/Sections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html/interview5/interview01.jsp" TargetMode="Externa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kto.visitkorea.or.kr/upload/flexer/upload/ktobiz/20190417/ca99de85-60a6-11e9-9d6f-39c7f0d61b75.hwp.files/Sections1.html" TargetMode="External"/><Relationship Id="rId5" Type="http://schemas.openxmlformats.org/officeDocument/2006/relationships/hyperlink" Target="https://datalab.visitkorea.or.kr/html/interview5/interview01.jsp" TargetMode="External"/><Relationship Id="rId6" Type="http://schemas.openxmlformats.org/officeDocument/2006/relationships/hyperlink" Target="https://www.seoul.go.kr/policy/view.do?id=1022&amp;lan="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8"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kto.visitkorea.or.kr/upload/flexer/upload/ktobiz/20220928/b623b5f9-3ec0-11ed-9832-ddf31964842e.hwp.files/Sections1.html" TargetMode="External"/><Relationship Id="rId3" Type="http://schemas.openxmlformats.org/officeDocument/2006/relationships/hyperlink" Target="https://www.incheon.go.kr/IC010205/view?curPage=688&amp;repSeq=DOM_0000000007400989" TargetMode="External"/><Relationship Id="rId4" Type="http://schemas.openxmlformats.org/officeDocument/2006/relationships/hyperlink" Target="https://jnfarm.jeonnam.go.kr/board/FARM_BOARD_008/boardView.do?bdId=BD_00000000000011721&amp;menuCd=farm004002" TargetMode="External"/><Relationship Id="rId5" Type="http://schemas.openxmlformats.org/officeDocument/2006/relationships/hyperlink" Target="https://korean.visitkorea.or.kr/detail/rem_detail.do?cotid=f9c636b2-dd7c-4f09-af3d-6af43b33d371" TargetMode="External"/><Relationship Id="rId6" Type="http://schemas.openxmlformats.org/officeDocument/2006/relationships/hyperlink" Target="https://apis.data.go.kr/B551011/KorService2" TargetMode="External"/><Relationship Id="rId7"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16.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제주특별자치도 제주시 지역 상품권</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환급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2026-09-11</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2026. 09. 11</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산출 근거와 사례 선정 과정</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제주특별자치도 제주시 지역 상품권</a:t>
            </a:r>
          </a:p>
          <a:p>
            <a:pPr eaLnBrk="0">
              <a:lnSpc>
                <a:spcPts val="4312"/>
              </a:lnSpc>
              <a:spcBef>
                <a:spcPts val="0"/>
              </a:spcBef>
              <a:spcAft>
                <a:spcPts val="0"/>
              </a:spcAft>
            </a:pPr>
            <a:r>
              <a:rPr sz="3450" b="1">
                <a:solidFill>
                  <a:srgbClr val="004EA2"/>
                </a:solidFill>
                <a:latin typeface="Noto Sans KR"/>
              </a:rPr>
              <a:t>환급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제주시 방문 외지인이 지정된 적격 업종에서 결제 시, 지출액의</a:t>
            </a:r>
          </a:p>
          <a:p>
            <a:pPr eaLnBrk="0">
              <a:lnSpc>
                <a:spcPts val="3187"/>
              </a:lnSpc>
              <a:spcBef>
                <a:spcPts val="0"/>
              </a:spcBef>
              <a:spcAft>
                <a:spcPts val="0"/>
              </a:spcAft>
            </a:pPr>
            <a:r>
              <a:rPr sz="2550" b="1">
                <a:solidFill>
                  <a:srgbClr val="1D2227"/>
                </a:solidFill>
                <a:latin typeface="Noto Sans KR"/>
              </a:rPr>
              <a:t>일부를 제주시 지역 상품권으로 즉시 또는 사후 환급하여</a:t>
            </a:r>
          </a:p>
          <a:p>
            <a:pPr eaLnBrk="0">
              <a:lnSpc>
                <a:spcPts val="3187"/>
              </a:lnSpc>
              <a:spcBef>
                <a:spcPts val="0"/>
              </a:spcBef>
              <a:spcAft>
                <a:spcPts val="0"/>
              </a:spcAft>
            </a:pPr>
            <a:r>
              <a:rPr sz="2550" b="1">
                <a:solidFill>
                  <a:srgbClr val="1D2227"/>
                </a:solidFill>
                <a:latin typeface="Noto Sans KR"/>
              </a:rPr>
              <a:t>지역 내 재사용을 유도함.</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제주시를 방문한 외지인 여행객</a:t>
            </a:r>
          </a:p>
          <a:p>
            <a:pPr eaLnBrk="0">
              <a:lnSpc>
                <a:spcPts val="1593"/>
              </a:lnSpc>
              <a:spcBef>
                <a:spcPts val="0"/>
              </a:spcBef>
              <a:spcAft>
                <a:spcPts val="0"/>
              </a:spcAft>
            </a:pPr>
            <a:r>
              <a:rPr sz="1275" b="0">
                <a:solidFill>
                  <a:srgbClr val="59636E"/>
                </a:solidFill>
                <a:latin typeface="Noto Sans KR"/>
              </a:rPr>
              <a:t>제주시 내 특정 업종(예: 전통시장, 외식업, 소매업 등)에 집중하여 환급을 제공하고, 환급 금액 및</a:t>
            </a:r>
          </a:p>
          <a:p>
            <a:pPr eaLnBrk="0">
              <a:lnSpc>
                <a:spcPts val="1593"/>
              </a:lnSpc>
              <a:spcBef>
                <a:spcPts val="0"/>
              </a:spcBef>
              <a:spcAft>
                <a:spcPts val="0"/>
              </a:spcAft>
            </a:pPr>
            <a:r>
              <a:rPr sz="1275" b="0">
                <a:solidFill>
                  <a:srgbClr val="59636E"/>
                </a:solidFill>
                <a:latin typeface="Noto Sans KR"/>
              </a:rPr>
              <a:t>조건을 제한한 시범사업으로 축소하여 운영.</a:t>
            </a:r>
          </a:p>
          <a:p>
            <a:pPr eaLnBrk="0">
              <a:lnSpc>
                <a:spcPts val="1593"/>
              </a:lnSpc>
              <a:spcBef>
                <a:spcPts val="0"/>
              </a:spcBef>
              <a:spcAft>
                <a:spcPts val="0"/>
              </a:spcAft>
            </a:pPr>
            <a:r>
              <a:rPr sz="127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1,394,404명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+13.18%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592.49억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+13.32%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방문 외지인이 지정된 적격</a:t>
            </a:r>
          </a:p>
          <a:p>
            <a:pPr eaLnBrk="0">
              <a:lnSpc>
                <a:spcPts val="2156"/>
              </a:lnSpc>
              <a:spcBef>
                <a:spcPts val="0"/>
              </a:spcBef>
              <a:spcAft>
                <a:spcPts val="0"/>
              </a:spcAft>
            </a:pPr>
            <a:r>
              <a:rPr sz="1725" b="0">
                <a:solidFill>
                  <a:srgbClr val="59636E"/>
                </a:solidFill>
                <a:latin typeface="Noto Sans KR"/>
              </a:rPr>
              <a:t>업종에서 결제 시, 지출액의 일부를</a:t>
            </a:r>
          </a:p>
          <a:p>
            <a:pPr eaLnBrk="0">
              <a:lnSpc>
                <a:spcPts val="2156"/>
              </a:lnSpc>
              <a:spcBef>
                <a:spcPts val="0"/>
              </a:spcBef>
              <a:spcAft>
                <a:spcPts val="0"/>
              </a:spcAft>
            </a:pPr>
            <a:r>
              <a:rPr sz="1725" b="0">
                <a:solidFill>
                  <a:srgbClr val="59636E"/>
                </a:solidFill>
                <a:latin typeface="Noto Sans KR"/>
              </a:rPr>
              <a:t>제주시 지역 상품권으로 즉시 또는 사후</a:t>
            </a:r>
          </a:p>
          <a:p>
            <a:pPr eaLnBrk="0">
              <a:lnSpc>
                <a:spcPts val="2156"/>
              </a:lnSpc>
              <a:spcBef>
                <a:spcPts val="0"/>
              </a:spcBef>
              <a:spcAft>
                <a:spcPts val="0"/>
              </a:spcAft>
            </a:pPr>
            <a:r>
              <a:rPr sz="1725" b="0">
                <a:solidFill>
                  <a:srgbClr val="59636E"/>
                </a:solidFill>
                <a:latin typeface="Noto Sans KR"/>
              </a:rPr>
              <a:t>환급하여 지역 내 재사용을 유도함.</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1,197만 명</a:t>
            </a:r>
          </a:p>
          <a:p>
            <a:pPr eaLnBrk="0">
              <a:lnSpc>
                <a:spcPts val="2156"/>
              </a:lnSpc>
              <a:spcBef>
                <a:spcPts val="0"/>
              </a:spcBef>
              <a:spcAft>
                <a:spcPts val="0"/>
              </a:spcAft>
            </a:pPr>
            <a:r>
              <a:rPr sz="1725" b="0">
                <a:solidFill>
                  <a:srgbClr val="59636E"/>
                </a:solidFill>
                <a:latin typeface="Noto Sans KR"/>
              </a:rPr>
              <a:t>관광소비액 5,042억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ML 기준: 202401~202606 월별 지표의 1·3·12개월 전 값과 계절 정보를 저장 모델에 입력. 목표: 기준 전망 × (1 + 최종월 목표율 × 경과월/전체월).</a:t>
            </a:r>
          </a:p>
          <a:p>
            <a:pPr eaLnBrk="0">
              <a:lnSpc>
                <a:spcPts val="1875"/>
              </a:lnSpc>
              <a:spcBef>
                <a:spcPts val="0"/>
              </a:spcBef>
              <a:spcAft>
                <a:spcPts val="0"/>
              </a:spcAft>
            </a:pPr>
            <a:r>
              <a:rPr sz="1500" b="0">
                <a:solidFill>
                  <a:srgbClr val="59636E"/>
                </a:solidFill>
                <a:latin typeface="Noto Sans KR"/>
              </a:rPr>
              <a:t>목표율은 사례 실적을 참고한 계획 가정이며, 구체적인 채택 비율과 출처는 목표 설정 근거에 제시합니다.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전라남도 강진군 · 강진</a:t>
            </a:r>
          </a:p>
          <a:p>
            <a:pPr eaLnBrk="0">
              <a:lnSpc>
                <a:spcPts val="2250"/>
              </a:lnSpc>
              <a:spcBef>
                <a:spcPts val="0"/>
              </a:spcBef>
              <a:spcAft>
                <a:spcPts val="0"/>
              </a:spcAft>
            </a:pPr>
            <a:r>
              <a:rPr sz="1800" b="1">
                <a:solidFill>
                  <a:srgbClr val="1D2227"/>
                </a:solidFill>
                <a:latin typeface="Noto Sans KR"/>
              </a:rPr>
              <a:t>반값여행—지역지출 환급과</a:t>
            </a:r>
          </a:p>
          <a:p>
            <a:pPr eaLnBrk="0">
              <a:lnSpc>
                <a:spcPts val="2250"/>
              </a:lnSpc>
              <a:spcBef>
                <a:spcPts val="0"/>
              </a:spcBef>
              <a:spcAft>
                <a:spcPts val="0"/>
              </a:spcAft>
            </a:pPr>
            <a:r>
              <a:rPr sz="1800" b="1">
                <a:solidFill>
                  <a:srgbClr val="1D2227"/>
                </a:solidFill>
                <a:latin typeface="Noto Sans KR"/>
              </a:rPr>
              <a:t>지역상품권 재소비</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지역에서 발생한 여행 지출의 일부를 모바일</a:t>
            </a:r>
          </a:p>
          <a:p>
            <a:pPr eaLnBrk="0">
              <a:lnSpc>
                <a:spcPts val="1593"/>
              </a:lnSpc>
              <a:spcBef>
                <a:spcPts val="0"/>
              </a:spcBef>
              <a:spcAft>
                <a:spcPts val="0"/>
              </a:spcAft>
            </a:pPr>
            <a:r>
              <a:rPr sz="1275" b="0">
                <a:solidFill>
                  <a:srgbClr val="59636E"/>
                </a:solidFill>
                <a:latin typeface="Noto Sans KR"/>
              </a:rPr>
              <a:t>지역상품권으로 환급하고,</a:t>
            </a:r>
          </a:p>
          <a:p>
            <a:pPr eaLnBrk="0">
              <a:lnSpc>
                <a:spcPts val="1593"/>
              </a:lnSpc>
              <a:spcBef>
                <a:spcPts val="0"/>
              </a:spcBef>
              <a:spcAft>
                <a:spcPts val="0"/>
              </a:spcAft>
            </a:pPr>
            <a:r>
              <a:rPr sz="1275" b="0">
                <a:solidFill>
                  <a:srgbClr val="59636E"/>
                </a:solidFill>
                <a:latin typeface="Noto Sans KR"/>
              </a:rPr>
              <a:t>전통시장·숙박·외식·소매 및 온라인</a:t>
            </a:r>
          </a:p>
          <a:p>
            <a:pPr eaLnBrk="0">
              <a:lnSpc>
                <a:spcPts val="1593"/>
              </a:lnSpc>
              <a:spcBef>
                <a:spcPts val="0"/>
              </a:spcBef>
              <a:spcAft>
                <a:spcPts val="0"/>
              </a:spcAft>
            </a:pPr>
            <a:r>
              <a:rPr sz="1275" b="0">
                <a:solidFill>
                  <a:srgbClr val="59636E"/>
                </a:solidFill>
                <a:latin typeface="Noto Sans KR"/>
              </a:rPr>
              <a:t>농특산물 판매와 연계했다. 월별 방문·소비</a:t>
            </a:r>
          </a:p>
          <a:p>
            <a:pPr eaLnBrk="0">
              <a:lnSpc>
                <a:spcPts val="1593"/>
              </a:lnSpc>
              <a:spcBef>
                <a:spcPts val="0"/>
              </a:spcBef>
              <a:spcAft>
                <a:spcPts val="0"/>
              </a:spcAft>
            </a:pPr>
            <a:r>
              <a:rPr sz="1275" b="0">
                <a:solidFill>
                  <a:srgbClr val="59636E"/>
                </a:solidFill>
                <a:latin typeface="Noto Sans KR"/>
              </a:rPr>
              <a:t>데이터를 이용해 3~5월과 10월에 홍보를</a:t>
            </a:r>
          </a:p>
          <a:p>
            <a:pPr eaLnBrk="0">
              <a:lnSpc>
                <a:spcPts val="1593"/>
              </a:lnSpc>
              <a:spcBef>
                <a:spcPts val="0"/>
              </a:spcBef>
              <a:spcAft>
                <a:spcPts val="0"/>
              </a:spcAft>
            </a:pPr>
            <a:r>
              <a:rPr sz="1275" b="0">
                <a:solidFill>
                  <a:srgbClr val="59636E"/>
                </a:solidFill>
                <a:latin typeface="Noto Sans KR"/>
              </a:rPr>
              <a:t>집중하고 영수증·상품권 정산 자료로 이용과</a:t>
            </a:r>
          </a:p>
          <a:p>
            <a:pPr eaLnBrk="0">
              <a:lnSpc>
                <a:spcPts val="1593"/>
              </a:lnSpc>
              <a:spcBef>
                <a:spcPts val="0"/>
              </a:spcBef>
              <a:spcAft>
                <a:spcPts val="0"/>
              </a:spcAft>
            </a:pPr>
            <a:r>
              <a:rPr sz="1275" b="0">
                <a:solidFill>
                  <a:srgbClr val="59636E"/>
                </a:solidFill>
                <a:latin typeface="Noto Sans KR"/>
              </a:rPr>
              <a:t>재소비를 추적했다.</a:t>
            </a:r>
          </a:p>
        </p:txBody>
      </p:sp>
      <p:pic xmlns:a="http://schemas.openxmlformats.org/drawingml/2006/main" xmlns:r="http://schemas.openxmlformats.org/officeDocument/2006/relationships">
        <p:nvPicPr>
          <p:cNvPr id="10" name="case-photo-0" descr="gangjin_official.jpg"/>
          <p:cNvPicPr>
            <a:picLocks noChangeAspect="1"/>
          </p:cNvPicPr>
          <p:nvPr/>
        </p:nvPicPr>
        <p:blipFill>
          <a:blip r:embed="rId4"/>
          <a:stretch>
            <a:fillRect/>
          </a:stretch>
        </p:blipFill>
        <p:spPr>
          <a:xfrm>
            <a:off x="1518636" y="5857875"/>
            <a:ext cx="3211126"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0="http://schemas.openxmlformats.org/officeDocument/2006/relationships" ns0:id="rId5"/>
              </a:rPr>
              <a:t>유사 사업 참고 · 강진군 · 반값여행 공식 홍보물</a:t>
            </a:r>
          </a:p>
          <a:p>
            <a:pPr eaLnBrk="0">
              <a:lnSpc>
                <a:spcPts val="1500"/>
              </a:lnSpc>
              <a:spcBef>
                <a:spcPts val="0"/>
              </a:spcBef>
              <a:spcAft>
                <a:spcPts val="0"/>
              </a:spcAft>
            </a:pPr>
            <a:r>
              <a:rPr sz="1200" b="0">
                <a:solidFill>
                  <a:srgbClr val="59636E"/>
                </a:solidFill>
                <a:latin typeface="Noto Sans KR"/>
                <a:hlinkClick xmlns:ns1="http://schemas.openxmlformats.org/officeDocument/2006/relationships" ns1:id="rId5"/>
              </a:rPr>
              <a:t>출처: 강진 반값여행 공식 홈페이지</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2="http://schemas.openxmlformats.org/officeDocument/2006/relationships" ns2: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영등포구 여의도 ·</a:t>
            </a:r>
          </a:p>
          <a:p>
            <a:pPr eaLnBrk="0">
              <a:lnSpc>
                <a:spcPts val="2250"/>
              </a:lnSpc>
              <a:spcBef>
                <a:spcPts val="0"/>
              </a:spcBef>
              <a:spcAft>
                <a:spcPts val="0"/>
              </a:spcAft>
            </a:pPr>
            <a:r>
              <a:rPr sz="1800" b="1">
                <a:solidFill>
                  <a:srgbClr val="1D2227"/>
                </a:solidFill>
                <a:latin typeface="Noto Sans KR"/>
              </a:rPr>
              <a:t>서울달—예약채널 확대와 야간</a:t>
            </a:r>
          </a:p>
          <a:p>
            <a:pPr eaLnBrk="0">
              <a:lnSpc>
                <a:spcPts val="2250"/>
              </a:lnSpc>
              <a:spcBef>
                <a:spcPts val="0"/>
              </a:spcBef>
              <a:spcAft>
                <a:spcPts val="0"/>
              </a:spcAft>
            </a:pPr>
            <a:r>
              <a:rPr sz="1800" b="1">
                <a:solidFill>
                  <a:srgbClr val="1D2227"/>
                </a:solidFill>
                <a:latin typeface="Noto Sans KR"/>
              </a:rPr>
              <a:t>운영시간 연장</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기존 도심 경관을 유료 탑승 체험으로</a:t>
            </a:r>
          </a:p>
          <a:p>
            <a:pPr eaLnBrk="0">
              <a:lnSpc>
                <a:spcPts val="1593"/>
              </a:lnSpc>
              <a:spcBef>
                <a:spcPts val="0"/>
              </a:spcBef>
              <a:spcAft>
                <a:spcPts val="0"/>
              </a:spcAft>
            </a:pPr>
            <a:r>
              <a:rPr sz="1275" b="0">
                <a:solidFill>
                  <a:srgbClr val="59636E"/>
                </a:solidFill>
                <a:latin typeface="Noto Sans KR"/>
              </a:rPr>
              <a:t>상품화하고 시범운영 후 정식 운영했다. 이후</a:t>
            </a:r>
          </a:p>
          <a:p>
            <a:pPr eaLnBrk="0">
              <a:lnSpc>
                <a:spcPts val="1593"/>
              </a:lnSpc>
              <a:spcBef>
                <a:spcPts val="0"/>
              </a:spcBef>
              <a:spcAft>
                <a:spcPts val="0"/>
              </a:spcAft>
            </a:pPr>
            <a:r>
              <a:rPr sz="1275" b="0">
                <a:solidFill>
                  <a:srgbClr val="59636E"/>
                </a:solidFill>
                <a:latin typeface="Noto Sans KR"/>
              </a:rPr>
              <a:t>예약시간·정원을 확대하고 국내 예약채널을</a:t>
            </a:r>
          </a:p>
          <a:p>
            <a:pPr eaLnBrk="0">
              <a:lnSpc>
                <a:spcPts val="1593"/>
              </a:lnSpc>
              <a:spcBef>
                <a:spcPts val="0"/>
              </a:spcBef>
              <a:spcAft>
                <a:spcPts val="0"/>
              </a:spcAft>
            </a:pPr>
            <a:r>
              <a:rPr sz="1275" b="0">
                <a:solidFill>
                  <a:srgbClr val="59636E"/>
                </a:solidFill>
                <a:latin typeface="Noto Sans KR"/>
              </a:rPr>
              <a:t>일원화했으며 글로벌 OTA 판매처를 7개에서</a:t>
            </a:r>
          </a:p>
          <a:p>
            <a:pPr eaLnBrk="0">
              <a:lnSpc>
                <a:spcPts val="1593"/>
              </a:lnSpc>
              <a:spcBef>
                <a:spcPts val="0"/>
              </a:spcBef>
              <a:spcAft>
                <a:spcPts val="0"/>
              </a:spcAft>
            </a:pPr>
            <a:r>
              <a:rPr sz="1275" b="0">
                <a:solidFill>
                  <a:srgbClr val="59636E"/>
                </a:solidFill>
                <a:latin typeface="Noto Sans KR"/>
              </a:rPr>
              <a:t>10개로 늘렸다. 8~10월 금·토 운영 종료</a:t>
            </a:r>
          </a:p>
          <a:p>
            <a:pPr eaLnBrk="0">
              <a:lnSpc>
                <a:spcPts val="1593"/>
              </a:lnSpc>
              <a:spcBef>
                <a:spcPts val="0"/>
              </a:spcBef>
              <a:spcAft>
                <a:spcPts val="0"/>
              </a:spcAft>
            </a:pPr>
            <a:r>
              <a:rPr sz="1275" b="0">
                <a:solidFill>
                  <a:srgbClr val="59636E"/>
                </a:solidFill>
                <a:latin typeface="Noto Sans KR"/>
              </a:rPr>
              <a:t>시간을 22시에서 23시로 연장했다.</a:t>
            </a:r>
          </a:p>
        </p:txBody>
      </p:sp>
      <p:pic xmlns:a="http://schemas.openxmlformats.org/drawingml/2006/main" xmlns:r="http://schemas.openxmlformats.org/officeDocument/2006/relationships">
        <p:nvPicPr>
          <p:cNvPr id="18" name="case-photo-1" descr="yeosu_night.jpg"/>
          <p:cNvPicPr>
            <a:picLocks noChangeAspect="1"/>
          </p:cNvPicPr>
          <p:nvPr/>
        </p:nvPicPr>
        <p:blipFill>
          <a:blip r:embed="rId7"/>
          <a:stretch>
            <a:fillRect/>
          </a:stretch>
        </p:blipFill>
        <p:spPr>
          <a:xfrm>
            <a:off x="5975395" y="5857875"/>
            <a:ext cx="3289208"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3="http://schemas.openxmlformats.org/officeDocument/2006/relationships" ns3:id="rId8"/>
              </a:rPr>
              <a:t>유사 사업 참고 · 전남 여수시 야경</a:t>
            </a:r>
          </a:p>
          <a:p>
            <a:pPr eaLnBrk="0">
              <a:lnSpc>
                <a:spcPts val="1500"/>
              </a:lnSpc>
              <a:spcBef>
                <a:spcPts val="0"/>
              </a:spcBef>
              <a:spcAft>
                <a:spcPts val="0"/>
              </a:spcAft>
            </a:pPr>
            <a:r>
              <a:rPr sz="1200" b="0">
                <a:solidFill>
                  <a:srgbClr val="59636E"/>
                </a:solidFill>
                <a:latin typeface="Noto Sans KR"/>
                <a:hlinkClick xmlns:ns4="http://schemas.openxmlformats.org/officeDocument/2006/relationships" ns4:id="rId8"/>
              </a:rPr>
              <a:t>출처: 문화체육관광부 코리아넷 (2024)</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5="http://schemas.openxmlformats.org/officeDocument/2006/relationships" ns5: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추가 운영 참고</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 출발 지방 관광지 연계 노선</a:t>
            </a:r>
          </a:p>
          <a:p>
            <a:pPr eaLnBrk="0">
              <a:lnSpc>
                <a:spcPts val="2250"/>
              </a:lnSpc>
              <a:spcBef>
                <a:spcPts val="0"/>
              </a:spcBef>
              <a:spcAft>
                <a:spcPts val="0"/>
              </a:spcAft>
            </a:pPr>
            <a:r>
              <a:rPr sz="1800" b="1">
                <a:solidFill>
                  <a:srgbClr val="1D2227"/>
                </a:solidFill>
                <a:latin typeface="Noto Sans KR"/>
              </a:rPr>
              <a:t>· 고토치 셔틀—외국인 대상</a:t>
            </a:r>
          </a:p>
          <a:p>
            <a:pPr eaLnBrk="0">
              <a:lnSpc>
                <a:spcPts val="2250"/>
              </a:lnSpc>
              <a:spcBef>
                <a:spcPts val="0"/>
              </a:spcBef>
              <a:spcAft>
                <a:spcPts val="0"/>
              </a:spcAft>
            </a:pPr>
            <a:r>
              <a:rPr sz="1800" b="1">
                <a:solidFill>
                  <a:srgbClr val="1D2227"/>
                </a:solidFill>
                <a:latin typeface="Noto Sans KR"/>
              </a:rPr>
              <a:t>예약·결제형 지역관광 버스</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59636E"/>
                </a:solidFill>
                <a:latin typeface="Noto Sans KR"/>
              </a:rPr>
              <a:t>서울과 지방 관광지를 연결하는 일일</a:t>
            </a:r>
          </a:p>
          <a:p>
            <a:pPr eaLnBrk="0">
              <a:lnSpc>
                <a:spcPts val="1593"/>
              </a:lnSpc>
              <a:spcBef>
                <a:spcPts val="0"/>
              </a:spcBef>
              <a:spcAft>
                <a:spcPts val="0"/>
              </a:spcAft>
            </a:pPr>
            <a:r>
              <a:rPr sz="1275" b="0">
                <a:solidFill>
                  <a:srgbClr val="59636E"/>
                </a:solidFill>
                <a:latin typeface="Noto Sans KR"/>
              </a:rPr>
              <a:t>버스여행 코스를 만들고 전용 홈페이지와</a:t>
            </a:r>
          </a:p>
          <a:p>
            <a:pPr eaLnBrk="0">
              <a:lnSpc>
                <a:spcPts val="1593"/>
              </a:lnSpc>
              <a:spcBef>
                <a:spcPts val="0"/>
              </a:spcBef>
              <a:spcAft>
                <a:spcPts val="0"/>
              </a:spcAft>
            </a:pPr>
            <a:r>
              <a:rPr sz="1275" b="0">
                <a:solidFill>
                  <a:srgbClr val="59636E"/>
                </a:solidFill>
                <a:latin typeface="Noto Sans KR"/>
              </a:rPr>
              <a:t>외국인 개별여행 예약 플랫폼에서</a:t>
            </a:r>
          </a:p>
          <a:p>
            <a:pPr eaLnBrk="0">
              <a:lnSpc>
                <a:spcPts val="1593"/>
              </a:lnSpc>
              <a:spcBef>
                <a:spcPts val="0"/>
              </a:spcBef>
              <a:spcAft>
                <a:spcPts val="0"/>
              </a:spcAft>
            </a:pPr>
            <a:r>
              <a:rPr sz="1275" b="0">
                <a:solidFill>
                  <a:srgbClr val="59636E"/>
                </a:solidFill>
                <a:latin typeface="Noto Sans KR"/>
              </a:rPr>
              <a:t>예약·결제를 받았다. 잔여 좌석은 출발지</a:t>
            </a:r>
          </a:p>
          <a:p>
            <a:pPr eaLnBrk="0">
              <a:lnSpc>
                <a:spcPts val="1593"/>
              </a:lnSpc>
              <a:spcBef>
                <a:spcPts val="0"/>
              </a:spcBef>
              <a:spcAft>
                <a:spcPts val="0"/>
              </a:spcAft>
            </a:pPr>
            <a:r>
              <a:rPr sz="1275" b="0">
                <a:solidFill>
                  <a:srgbClr val="59636E"/>
                </a:solidFill>
                <a:latin typeface="Noto Sans KR"/>
              </a:rPr>
              <a:t>현장에서도 판매해 정보 탐색부터 좌석 예약,</a:t>
            </a:r>
          </a:p>
          <a:p>
            <a:pPr eaLnBrk="0">
              <a:lnSpc>
                <a:spcPts val="1593"/>
              </a:lnSpc>
              <a:spcBef>
                <a:spcPts val="0"/>
              </a:spcBef>
              <a:spcAft>
                <a:spcPts val="0"/>
              </a:spcAft>
            </a:pPr>
            <a:r>
              <a:rPr sz="1275" b="0">
                <a:solidFill>
                  <a:srgbClr val="59636E"/>
                </a:solidFill>
                <a:latin typeface="Noto Sans KR"/>
              </a:rPr>
              <a:t>이동, 관광지 이용을 하나의 상품으로 묶었다.</a:t>
            </a:r>
          </a:p>
        </p:txBody>
      </p:sp>
      <p:pic xmlns:a="http://schemas.openxmlformats.org/drawingml/2006/main" xmlns:r="http://schemas.openxmlformats.org/officeDocument/2006/relationships">
        <p:nvPicPr>
          <p:cNvPr id="26" name="case-photo-2" descr="incheon_official.jpg"/>
          <p:cNvPicPr>
            <a:picLocks noChangeAspect="1"/>
          </p:cNvPicPr>
          <p:nvPr/>
        </p:nvPicPr>
        <p:blipFill>
          <a:blip r:embed="rId10"/>
          <a:stretch>
            <a:fillRect/>
          </a:stretch>
        </p:blipFill>
        <p:spPr>
          <a:xfrm>
            <a:off x="10590240" y="5857875"/>
            <a:ext cx="3051119"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6="http://schemas.openxmlformats.org/officeDocument/2006/relationships" ns6:id="rId11"/>
              </a:rPr>
              <a:t>유사 사업 참고 · 인천 섬 · 로컬체험 여행 소개 사진</a:t>
            </a:r>
          </a:p>
          <a:p>
            <a:pPr eaLnBrk="0">
              <a:lnSpc>
                <a:spcPts val="1500"/>
              </a:lnSpc>
              <a:spcBef>
                <a:spcPts val="0"/>
              </a:spcBef>
              <a:spcAft>
                <a:spcPts val="0"/>
              </a:spcAft>
            </a:pPr>
            <a:r>
              <a:rPr sz="1200" b="0">
                <a:solidFill>
                  <a:srgbClr val="59636E"/>
                </a:solidFill>
                <a:latin typeface="Noto Sans KR"/>
                <a:hlinkClick xmlns:ns7="http://schemas.openxmlformats.org/officeDocument/2006/relationships" ns7:id="rId11"/>
              </a:rPr>
              <a:t>출처: 인천광역시 섬포털</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8="http://schemas.openxmlformats.org/officeDocument/2006/relationships" ns8: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전라남도 강진군 · 강진 반값여행—지역지출 환급과 지역상품권 재소비</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312" b="0">
                          <a:solidFill>
                            <a:srgbClr val="1D2227"/>
                          </a:solidFill>
                          <a:latin typeface="Noto Sans KR"/>
                        </a:rPr>
                        <a:t>지역에서 발생한 여행 지출의 일부를 모바일 지역상품권으로</a:t>
                      </a:r>
                    </a:p>
                    <a:p>
                      <a:pPr eaLnBrk="0">
                        <a:lnSpc>
                          <a:spcPct val="112000"/>
                        </a:lnSpc>
                        <a:spcBef>
                          <a:spcPts val="0"/>
                        </a:spcBef>
                        <a:spcAft>
                          <a:spcPts val="0"/>
                        </a:spcAft>
                      </a:pPr>
                      <a:r>
                        <a:rPr sz="1312" b="0">
                          <a:solidFill>
                            <a:srgbClr val="1D2227"/>
                          </a:solidFill>
                          <a:latin typeface="Noto Sans KR"/>
                        </a:rPr>
                        <a:t>환급하고, 전통시장·숙박·외식·소매 및 온라인 농특산물 판매와</a:t>
                      </a:r>
                    </a:p>
                    <a:p>
                      <a:pPr eaLnBrk="0">
                        <a:lnSpc>
                          <a:spcPct val="112000"/>
                        </a:lnSpc>
                        <a:spcBef>
                          <a:spcPts val="0"/>
                        </a:spcBef>
                        <a:spcAft>
                          <a:spcPts val="0"/>
                        </a:spcAft>
                      </a:pPr>
                      <a:r>
                        <a:rPr sz="1312" b="0">
                          <a:solidFill>
                            <a:srgbClr val="1D2227"/>
                          </a:solidFill>
                          <a:latin typeface="Noto Sans KR"/>
                        </a:rPr>
                        <a:t>연계했다. 월별 방문·소비 데이터를 이용해 3~5월과 10월에 홍보를</a:t>
                      </a:r>
                    </a:p>
                    <a:p>
                      <a:pPr eaLnBrk="0">
                        <a:lnSpc>
                          <a:spcPct val="112000"/>
                        </a:lnSpc>
                        <a:spcBef>
                          <a:spcPts val="0"/>
                        </a:spcBef>
                        <a:spcAft>
                          <a:spcPts val="0"/>
                        </a:spcAft>
                      </a:pPr>
                      <a:r>
                        <a:rPr sz="1312" b="0">
                          <a:solidFill>
                            <a:srgbClr val="1D2227"/>
                          </a:solidFill>
                          <a:latin typeface="Noto Sans KR"/>
                        </a:rPr>
                        <a:t>집중하고 영수증·상품권 정산 자료로 이용과 재소비를 추적했다.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관광소비 구성: 쇼핑업</a:t>
                      </a:r>
                    </a:p>
                    <a:p>
                      <a:pPr eaLnBrk="0">
                        <a:lnSpc>
                          <a:spcPct val="112000"/>
                        </a:lnSpc>
                        <a:spcBef>
                          <a:spcPts val="0"/>
                        </a:spcBef>
                        <a:spcAft>
                          <a:spcPts val="0"/>
                        </a:spcAft>
                      </a:pPr>
                      <a:r>
                        <a:rPr sz="1575" b="0">
                          <a:solidFill>
                            <a:srgbClr val="1D2227"/>
                          </a:solidFill>
                          <a:latin typeface="Noto Sans KR"/>
                        </a:rPr>
                        <a:t>39.0%, 식음료업 38.1% / 내비게이션 목적지</a:t>
                      </a:r>
                    </a:p>
                    <a:p>
                      <a:pPr eaLnBrk="0">
                        <a:lnSpc>
                          <a:spcPct val="112000"/>
                        </a:lnSpc>
                        <a:spcBef>
                          <a:spcPts val="0"/>
                        </a:spcBef>
                        <a:spcAft>
                          <a:spcPts val="0"/>
                        </a:spcAft>
                      </a:pPr>
                      <a:r>
                        <a:rPr sz="1575" b="0">
                          <a:solidFill>
                            <a:srgbClr val="1D2227"/>
                          </a:solidFill>
                          <a:latin typeface="Noto Sans KR"/>
                        </a:rPr>
                        <a:t>검색량: 580,380건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1,394,404명 × 1%</a:t>
                      </a:r>
                    </a:p>
                    <a:p>
                      <a:pPr eaLnBrk="0">
                        <a:lnSpc>
                          <a:spcPct val="112000"/>
                        </a:lnSpc>
                        <a:spcBef>
                          <a:spcPts val="0"/>
                        </a:spcBef>
                        <a:spcAft>
                          <a:spcPts val="0"/>
                        </a:spcAft>
                      </a:pPr>
                      <a:r>
                        <a:rPr sz="1575" b="0">
                          <a:solidFill>
                            <a:srgbClr val="1D2227"/>
                          </a:solidFill>
                          <a:latin typeface="Noto Sans KR"/>
                        </a:rPr>
                        <a:t>시범 참여 13,945건(올림·계획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방문 외지인이 지정된 적격 업종에서 결제 시, 지출액의 일부를 제주시 지역 상품권으로 즉시</a:t>
            </a:r>
          </a:p>
          <a:p>
            <a:pPr eaLnBrk="0">
              <a:lnSpc>
                <a:spcPts val="1968"/>
              </a:lnSpc>
              <a:spcBef>
                <a:spcPts val="0"/>
              </a:spcBef>
              <a:spcAft>
                <a:spcPts val="0"/>
              </a:spcAft>
            </a:pPr>
            <a:r>
              <a:rPr sz="1575" b="0">
                <a:solidFill>
                  <a:srgbClr val="1D2227"/>
                </a:solidFill>
                <a:latin typeface="Noto Sans KR"/>
              </a:rPr>
              <a:t>또는 사후 환급하여 지역 내 재사용을 유도함.</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한국관광 데이터랩 우수 활용사례(2025)—데이터 기반 강진 반값여행으로 지역 경제를 살리다</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59636E"/>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59636E"/>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2026-10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59636E"/>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59636E"/>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3,856,066명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241,004명 · 6.67%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4,073,551명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479,241명 · 13.33%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4,044,952명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674,159명 · 20.00%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11,974,569명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1,394,404명 · 13.18%</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1,394,404명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1,604.98억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100.31억 원 · 6.67%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1,644.30억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193.45억 원 · 13.33%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1,792.40억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298.73억 원 · 20.00%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5,041.68억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592.49억 원 · 13.32%</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592.49억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+20% · 소비 +20%</a:t>
            </a:r>
          </a:p>
        </p:txBody>
      </p:sp>
      <p:sp>
        <p:nvSpPr>
          <p:cNvPr id="7" name="basis-method"/>
          <p:cNvSpPr txBox="1"/>
          <p:nvPr/>
        </p:nvSpPr>
        <p:spPr>
          <a:xfrm>
            <a:off x="1009650" y="6067425"/>
            <a:ext cx="12839700" cy="1666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① 참고 실적: 강진 2024년 10월 누적 248만 명, 전년 대비 25% 증가. 반값여행·축제가 함께 운영된 지역 전체 실적.</a:t>
            </a:r>
          </a:p>
          <a:p>
            <a:pPr eaLnBrk="0">
              <a:lnSpc>
                <a:spcPts val="2156"/>
              </a:lnSpc>
              <a:spcBef>
                <a:spcPts val="0"/>
              </a:spcBef>
              <a:spcAft>
                <a:spcPts val="0"/>
              </a:spcAft>
            </a:pPr>
            <a:r>
              <a:rPr sz="1725" b="0">
                <a:solidFill>
                  <a:srgbClr val="59636E"/>
                </a:solidFill>
                <a:latin typeface="Noto Sans KR"/>
              </a:rPr>
              <a:t>② 목표 채택: 25% × 80% = 20%. 80%는 단계 운영을 고려한 계획 가정이며 인구·통계 보정값은 아님.</a:t>
            </a:r>
          </a:p>
          <a:p>
            <a:pPr eaLnBrk="0">
              <a:lnSpc>
                <a:spcPts val="2156"/>
              </a:lnSpc>
              <a:spcBef>
                <a:spcPts val="0"/>
              </a:spcBef>
              <a:spcAft>
                <a:spcPts val="0"/>
              </a:spcAft>
            </a:pPr>
            <a:r>
              <a:rPr sz="1725" b="0">
                <a:solidFill>
                  <a:srgbClr val="59636E"/>
                </a:solidFill>
                <a:latin typeface="Noto Sans KR"/>
              </a:rPr>
              <a:t>③ 적용 목표: 최종월 방문 +20% · 소비 +20%. 월별 기준 전망에 단계 적용.</a:t>
            </a:r>
          </a:p>
          <a:p>
            <a:pPr eaLnBrk="0">
              <a:lnSpc>
                <a:spcPts val="2156"/>
              </a:lnSpc>
              <a:spcBef>
                <a:spcPts val="0"/>
              </a:spcBef>
              <a:spcAft>
                <a:spcPts val="0"/>
              </a:spcAft>
            </a:pPr>
            <a:r>
              <a:rPr sz="1725" b="0">
                <a:solidFill>
                  <a:srgbClr val="59636E"/>
                </a:solidFill>
                <a:latin typeface="Noto Sans KR"/>
              </a:rPr>
              <a:t>소비 목표는 해당 월 ML 소비/방문 비율을 추가 방문 목표에 적용한 계획값. 사례의 소비 증가율·사업 단독 효과가 아님.</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87,664만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697,250,000원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13,945건 × 50,000원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83,700,000원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13,945건 ÷ 25건/인일 올림) = 558인일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79,695,000원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79,695만원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1,394,404명 × 시범 담당 비중 1% → 13,945건(올림).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제주특별자치도_제주시/방문자/2026_01_06.zip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제주특별자치도_제주시/숙박_체류시간/2026_01_06</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.zip 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제주특별자치도_제주시/숙박_체류시간/2025_01_12</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.zip 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제주특별자치도_제주시/관광소비/2026_01_06.zip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제주특별자치도_제주시/방문자/2025_01_12.zip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제주특별자치도_제주시/관광소비/2025_01_12.zip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랩_다운로드.zip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606_데이터랩_다운로드.zip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터랩_다운로드.zip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터랩_다운로드.zip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랩_다운로드.zip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랩_다운로드.zip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a:t>
            </a:r>
          </a:p>
          <a:p>
            <a:pPr eaLnBrk="0">
              <a:lnSpc>
                <a:spcPts val="1687"/>
              </a:lnSpc>
              <a:spcBef>
                <a:spcPts val="0"/>
              </a:spcBef>
              <a:spcAft>
                <a:spcPts val="0"/>
              </a:spcAft>
            </a:pPr>
            <a:r>
              <a:rPr sz="1350" b="0" u="none">
                <a:solidFill>
                  <a:srgbClr val="004EA2"/>
                </a:solidFill>
                <a:latin typeface="Noto Sans KR"/>
                <a:hlinkClick r:id="rId2"/>
              </a:rPr>
              <a:t>512_데이터랩_다운로드.zip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a:t>
            </a:r>
          </a:p>
          <a:p>
            <a:pPr eaLnBrk="0">
              <a:lnSpc>
                <a:spcPts val="1687"/>
              </a:lnSpc>
              <a:spcBef>
                <a:spcPts val="0"/>
              </a:spcBef>
              <a:spcAft>
                <a:spcPts val="0"/>
              </a:spcAft>
            </a:pPr>
            <a:r>
              <a:rPr sz="1350" b="0" u="none">
                <a:solidFill>
                  <a:srgbClr val="004EA2"/>
                </a:solidFill>
                <a:latin typeface="Noto Sans KR"/>
                <a:hlinkClick r:id="rId2"/>
              </a:rPr>
              <a:t>터랩_다운로드.zip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a:t>
            </a:r>
          </a:p>
          <a:p>
            <a:pPr eaLnBrk="0">
              <a:lnSpc>
                <a:spcPts val="1687"/>
              </a:lnSpc>
              <a:spcBef>
                <a:spcPts val="0"/>
              </a:spcBef>
              <a:spcAft>
                <a:spcPts val="0"/>
              </a:spcAft>
            </a:pPr>
            <a:r>
              <a:rPr sz="1350" b="0" u="none">
                <a:solidFill>
                  <a:srgbClr val="004EA2"/>
                </a:solidFill>
                <a:latin typeface="Noto Sans KR"/>
                <a:hlinkClick r:id="rId2"/>
              </a:rPr>
              <a:t>터랩_다운로드.zip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a:t>
            </a:r>
          </a:p>
          <a:p>
            <a:pPr eaLnBrk="0">
              <a:lnSpc>
                <a:spcPts val="1687"/>
              </a:lnSpc>
              <a:spcBef>
                <a:spcPts val="0"/>
              </a:spcBef>
              <a:spcAft>
                <a:spcPts val="0"/>
              </a:spcAft>
            </a:pPr>
            <a:r>
              <a:rPr sz="1350" b="0" u="none">
                <a:solidFill>
                  <a:srgbClr val="004EA2"/>
                </a:solidFill>
                <a:latin typeface="Noto Sans KR"/>
                <a:hlinkClick r:id="rId2"/>
              </a:rPr>
              <a:t>랩_다운로드.zip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a:t>
            </a:r>
          </a:p>
          <a:p>
            <a:pPr eaLnBrk="0">
              <a:lnSpc>
                <a:spcPts val="1687"/>
              </a:lnSpc>
              <a:spcBef>
                <a:spcPts val="0"/>
              </a:spcBef>
              <a:spcAft>
                <a:spcPts val="0"/>
              </a:spcAft>
            </a:pPr>
            <a:r>
              <a:rPr sz="1350" b="0" u="none">
                <a:solidFill>
                  <a:srgbClr val="004EA2"/>
                </a:solidFill>
                <a:latin typeface="Noto Sans KR"/>
                <a:hlinkClick r:id="rId2"/>
              </a:rPr>
              <a:t>랩_다운로드.zip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a:t>
            </a:r>
          </a:p>
          <a:p>
            <a:pPr eaLnBrk="0">
              <a:lnSpc>
                <a:spcPts val="1687"/>
              </a:lnSpc>
              <a:spcBef>
                <a:spcPts val="0"/>
              </a:spcBef>
              <a:spcAft>
                <a:spcPts val="0"/>
              </a:spcAft>
            </a:pPr>
            <a:r>
              <a:rPr sz="1350" b="0" u="none">
                <a:solidFill>
                  <a:srgbClr val="004EA2"/>
                </a:solidFill>
                <a:latin typeface="Noto Sans KR"/>
                <a:hlinkClick r:id="rId2"/>
              </a:rPr>
              <a:t>412_데이터랩_다운로드.zip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인기관광지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지역집중률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a:t>
            </a:r>
          </a:p>
          <a:p>
            <a:pPr eaLnBrk="0">
              <a:lnSpc>
                <a:spcPts val="1687"/>
              </a:lnSpc>
              <a:spcBef>
                <a:spcPts val="0"/>
              </a:spcBef>
              <a:spcAft>
                <a:spcPts val="0"/>
              </a:spcAft>
            </a:pPr>
            <a:r>
              <a:rPr sz="1350" b="0">
                <a:solidFill>
                  <a:srgbClr val="004EA2"/>
                </a:solidFill>
                <a:latin typeface="Noto Sans KR"/>
              </a:rPr>
              <a:t>RandomForestRegressor 최종 월 3,370,793명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1,493.67억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2,289분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전년동월 계절</a:t>
            </a:r>
          </a:p>
          <a:p>
            <a:pPr eaLnBrk="0">
              <a:lnSpc>
                <a:spcPts val="1687"/>
              </a:lnSpc>
              <a:spcBef>
                <a:spcPts val="0"/>
              </a:spcBef>
              <a:spcAft>
                <a:spcPts val="0"/>
              </a:spcAft>
            </a:pPr>
            <a:r>
              <a:rPr sz="1350" b="0">
                <a:solidFill>
                  <a:srgbClr val="004EA2"/>
                </a:solidFill>
                <a:latin typeface="Noto Sans KR"/>
              </a:rPr>
              <a:t>기준선 최종 월 3.03일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22%</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75,858건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556,973건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a:t>
            </a:r>
          </a:p>
          <a:p>
            <a:pPr eaLnBrk="0">
              <a:lnSpc>
                <a:spcPts val="1687"/>
              </a:lnSpc>
              <a:spcBef>
                <a:spcPts val="0"/>
              </a:spcBef>
              <a:spcAft>
                <a:spcPts val="0"/>
              </a:spcAft>
            </a:pPr>
            <a:r>
              <a:rPr sz="1350" b="0" u="none">
                <a:solidFill>
                  <a:srgbClr val="004EA2"/>
                </a:solidFill>
                <a:latin typeface="Noto Sans KR"/>
                <a:hlinkClick r:id="rId3"/>
              </a:rPr>
              <a:t>연계 지역관광 활성화 방안 · PDF 44쪽 외 8쪽 (9개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외국인 개별관광객 지방 방문</a:t>
            </a:r>
          </a:p>
          <a:p>
            <a:pPr eaLnBrk="0">
              <a:lnSpc>
                <a:spcPts val="1687"/>
              </a:lnSpc>
              <a:spcBef>
                <a:spcPts val="0"/>
              </a:spcBef>
              <a:spcAft>
                <a:spcPts val="0"/>
              </a:spcAft>
            </a:pPr>
            <a:r>
              <a:rPr sz="1350" b="0" u="none">
                <a:solidFill>
                  <a:srgbClr val="004EA2"/>
                </a:solidFill>
                <a:latin typeface="Noto Sans KR"/>
                <a:hlinkClick r:id="rId4"/>
              </a:rPr>
              <a:t>촉진 고토치 셔틀 운영자료 kto.visitkorea.or.kr</a:t>
            </a:r>
          </a:p>
        </p:txBody>
      </p:sp>
      <p:sp>
        <p:nvSpPr>
          <p:cNvPr id="23" name="reference-18"/>
          <p:cNvSpPr txBox="1"/>
          <p:nvPr/>
        </p:nvSpPr>
        <p:spPr>
          <a:xfrm>
            <a:off x="9963150" y="57864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한국관광 데이터랩 우수</a:t>
            </a:r>
          </a:p>
          <a:p>
            <a:pPr eaLnBrk="0">
              <a:lnSpc>
                <a:spcPts val="1687"/>
              </a:lnSpc>
              <a:spcBef>
                <a:spcPts val="0"/>
              </a:spcBef>
              <a:spcAft>
                <a:spcPts val="0"/>
              </a:spcAft>
            </a:pPr>
            <a:r>
              <a:rPr sz="1350" b="0" u="none">
                <a:solidFill>
                  <a:srgbClr val="004EA2"/>
                </a:solidFill>
                <a:latin typeface="Noto Sans KR"/>
                <a:hlinkClick r:id="rId5"/>
              </a:rPr>
              <a:t>활용사례(2025)—데이터 기반 강진 반값여행으로</a:t>
            </a:r>
          </a:p>
          <a:p>
            <a:pPr eaLnBrk="0">
              <a:lnSpc>
                <a:spcPts val="1687"/>
              </a:lnSpc>
              <a:spcBef>
                <a:spcPts val="0"/>
              </a:spcBef>
              <a:spcAft>
                <a:spcPts val="0"/>
              </a:spcAft>
            </a:pPr>
            <a:r>
              <a:rPr sz="1350" b="0" u="none">
                <a:solidFill>
                  <a:srgbClr val="004EA2"/>
                </a:solidFill>
                <a:latin typeface="Noto Sans KR"/>
                <a:hlinkClick r:id="rId5"/>
              </a:rPr>
              <a:t>지역 경제를 살리다 datalab.visitkorea.or.kr</a:t>
            </a:r>
          </a:p>
        </p:txBody>
      </p:sp>
      <p:sp>
        <p:nvSpPr>
          <p:cNvPr id="24" name="reference-19"/>
          <p:cNvSpPr txBox="1"/>
          <p:nvPr/>
        </p:nvSpPr>
        <p:spPr>
          <a:xfrm>
            <a:off x="996315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서울달(SEOULDAL)—서울 정책</a:t>
            </a:r>
          </a:p>
          <a:p>
            <a:pPr eaLnBrk="0">
              <a:lnSpc>
                <a:spcPts val="1687"/>
              </a:lnSpc>
              <a:spcBef>
                <a:spcPts val="0"/>
              </a:spcBef>
              <a:spcAft>
                <a:spcPts val="0"/>
              </a:spcAft>
            </a:pPr>
            <a:r>
              <a:rPr sz="1350" b="0" u="none">
                <a:solidFill>
                  <a:srgbClr val="004EA2"/>
                </a:solidFill>
                <a:latin typeface="Noto Sans KR"/>
                <a:hlinkClick r:id="rId6"/>
              </a:rPr>
              <a:t>아카이브 www.seoul.go.kr</a:t>
            </a:r>
          </a:p>
        </p:txBody>
      </p:sp>
      <p:sp>
        <p:nvSpPr>
          <p:cNvPr id="25" name="reference-20"/>
          <p:cNvSpPr txBox="1"/>
          <p:nvPr/>
        </p:nvSpPr>
        <p:spPr>
          <a:xfrm>
            <a:off x="996315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2024년 6월 여행가는 달 추진</a:t>
            </a:r>
          </a:p>
          <a:p>
            <a:pPr eaLnBrk="0">
              <a:lnSpc>
                <a:spcPts val="1687"/>
              </a:lnSpc>
              <a:spcBef>
                <a:spcPts val="0"/>
              </a:spcBef>
              <a:spcAft>
                <a:spcPts val="0"/>
              </a:spcAft>
            </a:pPr>
            <a:r>
              <a:rPr sz="1350" b="0" u="none">
                <a:solidFill>
                  <a:srgbClr val="004EA2"/>
                </a:solidFill>
                <a:latin typeface="Noto Sans KR"/>
                <a:hlinkClick r:id="rId7"/>
              </a:rPr>
              <a:t>보도자료 mcst.go.kr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2022 대한민국 숙박대전</a:t>
            </a:r>
          </a:p>
          <a:p>
            <a:pPr eaLnBrk="0">
              <a:lnSpc>
                <a:spcPts val="1687"/>
              </a:lnSpc>
              <a:spcBef>
                <a:spcPts val="0"/>
              </a:spcBef>
              <a:spcAft>
                <a:spcPts val="0"/>
              </a:spcAft>
            </a:pPr>
            <a:r>
              <a:rPr sz="1350" b="0" u="none">
                <a:solidFill>
                  <a:srgbClr val="004EA2"/>
                </a:solidFill>
                <a:latin typeface="Noto Sans KR"/>
                <a:hlinkClick r:id="rId2"/>
              </a:rPr>
              <a:t>경제파급효과 공개자료 kto.visitkorea.or.kr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야간관광 특화도시 인천, 5만원</a:t>
            </a:r>
          </a:p>
          <a:p>
            <a:pPr eaLnBrk="0">
              <a:lnSpc>
                <a:spcPts val="1687"/>
              </a:lnSpc>
              <a:spcBef>
                <a:spcPts val="0"/>
              </a:spcBef>
              <a:spcAft>
                <a:spcPts val="0"/>
              </a:spcAft>
            </a:pPr>
            <a:r>
              <a:rPr sz="1350" b="0" u="none">
                <a:solidFill>
                  <a:srgbClr val="004EA2"/>
                </a:solidFill>
                <a:latin typeface="Noto Sans KR"/>
                <a:hlinkClick r:id="rId3"/>
              </a:rPr>
              <a:t>할인 숙박상품 기획전 열어 www.incheon.go.kr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강진 반값여행 지역경제 효과</a:t>
            </a:r>
          </a:p>
          <a:p>
            <a:pPr eaLnBrk="0">
              <a:lnSpc>
                <a:spcPts val="1687"/>
              </a:lnSpc>
              <a:spcBef>
                <a:spcPts val="0"/>
              </a:spcBef>
              <a:spcAft>
                <a:spcPts val="0"/>
              </a:spcAft>
            </a:pPr>
            <a:r>
              <a:rPr sz="1350" b="0" u="none">
                <a:solidFill>
                  <a:srgbClr val="004EA2"/>
                </a:solidFill>
                <a:latin typeface="Noto Sans KR"/>
                <a:hlinkClick r:id="rId4"/>
              </a:rPr>
              <a:t>소개 jnfarm.jeonnam.go.kr</a:t>
            </a:r>
          </a:p>
        </p:txBody>
      </p:sp>
      <p:sp>
        <p:nvSpPr>
          <p:cNvPr id="8" name="reference-3"/>
          <p:cNvSpPr txBox="1"/>
          <p:nvPr/>
        </p:nvSpPr>
        <p:spPr>
          <a:xfrm>
            <a:off x="1009650" y="43719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D58 2025 대한민국 밤밤페스타 개최</a:t>
            </a:r>
          </a:p>
          <a:p>
            <a:pPr eaLnBrk="0">
              <a:lnSpc>
                <a:spcPts val="1687"/>
              </a:lnSpc>
              <a:spcBef>
                <a:spcPts val="0"/>
              </a:spcBef>
              <a:spcAft>
                <a:spcPts val="0"/>
              </a:spcAft>
            </a:pPr>
            <a:r>
              <a:rPr sz="1350" b="0" u="none">
                <a:solidFill>
                  <a:srgbClr val="004EA2"/>
                </a:solidFill>
                <a:latin typeface="Noto Sans KR"/>
                <a:hlinkClick r:id="rId5"/>
              </a:rPr>
              <a:t>도시 및 일정 korean.visitkorea.or.kr</a:t>
            </a:r>
          </a:p>
        </p:txBody>
      </p:sp>
      <p:sp>
        <p:nvSpPr>
          <p:cNvPr id="9" name="reference-4"/>
          <p:cNvSpPr txBox="1"/>
          <p:nvPr/>
        </p:nvSpPr>
        <p:spPr>
          <a:xfrm>
            <a:off x="1009650" y="4972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D30 가는곶 세화</a:t>
            </a:r>
          </a:p>
        </p:txBody>
      </p:sp>
      <p:sp>
        <p:nvSpPr>
          <p:cNvPr id="10" name="reference-5"/>
          <p:cNvSpPr txBox="1"/>
          <p:nvPr/>
        </p:nvSpPr>
        <p:spPr>
          <a:xfrm>
            <a:off x="1009650" y="54292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D31 가마오름</a:t>
            </a:r>
          </a:p>
        </p:txBody>
      </p:sp>
      <p:sp>
        <p:nvSpPr>
          <p:cNvPr id="11" name="reference-6"/>
          <p:cNvSpPr txBox="1"/>
          <p:nvPr/>
        </p:nvSpPr>
        <p:spPr>
          <a:xfrm>
            <a:off x="1009650" y="58864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D32 가새기오름</a:t>
            </a:r>
          </a:p>
        </p:txBody>
      </p:sp>
      <p:sp>
        <p:nvSpPr>
          <p:cNvPr id="12" name="reference-7"/>
          <p:cNvSpPr txBox="1"/>
          <p:nvPr/>
        </p:nvSpPr>
        <p:spPr>
          <a:xfrm>
            <a:off x="1009650" y="63436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D33 가시어멍김밥</a:t>
            </a:r>
          </a:p>
        </p:txBody>
      </p:sp>
      <p:sp>
        <p:nvSpPr>
          <p:cNvPr id="13" name="reference-8"/>
          <p:cNvSpPr txBox="1"/>
          <p:nvPr/>
        </p:nvSpPr>
        <p:spPr>
          <a:xfrm>
            <a:off x="1009650" y="68008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D34 갈치공장</a:t>
            </a:r>
          </a:p>
        </p:txBody>
      </p:sp>
      <p:sp>
        <p:nvSpPr>
          <p:cNvPr id="14" name="reference-9"/>
          <p:cNvSpPr txBox="1"/>
          <p:nvPr/>
        </p:nvSpPr>
        <p:spPr>
          <a:xfrm>
            <a:off x="1009650" y="72580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D35 개오리오름</a:t>
            </a:r>
          </a:p>
        </p:txBody>
      </p:sp>
      <p:sp>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D36 거슨새미오름</a:t>
            </a:r>
          </a:p>
        </p:txBody>
      </p:sp>
      <p:sp>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D37 경성수산</a:t>
            </a:r>
          </a:p>
        </p:txBody>
      </p:sp>
      <p:sp>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D38 고내포구</a:t>
            </a:r>
          </a:p>
        </p:txBody>
      </p:sp>
      <p:sp>
        <p:nvSpPr>
          <p:cNvPr id="18" name="reference-13"/>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D39 고사리커피</a:t>
            </a:r>
          </a:p>
        </p:txBody>
      </p:sp>
      <p:sp>
        <p:nvSpPr>
          <p:cNvPr id="19" name="reference-14"/>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D40 고스트타운</a:t>
            </a:r>
          </a:p>
        </p:txBody>
      </p:sp>
      <p:sp>
        <p:nvSpPr>
          <p:cNvPr id="20" name="reference-15"/>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D41 고이정</a:t>
            </a:r>
          </a:p>
        </p:txBody>
      </p:sp>
      <p:sp>
        <p:nvSpPr>
          <p:cNvPr id="21" name="reference-16"/>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D42 고토커피바</a:t>
            </a:r>
          </a:p>
        </p:txBody>
      </p:sp>
      <p:sp>
        <p:nvSpPr>
          <p:cNvPr id="22" name="reference-17"/>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D43 골목식당</a:t>
            </a:r>
          </a:p>
        </p:txBody>
      </p:sp>
      <p:sp>
        <p:nvSpPr>
          <p:cNvPr id="23" name="reference-18"/>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D44 골목카페옥수</a:t>
            </a:r>
          </a:p>
        </p:txBody>
      </p:sp>
      <p:sp>
        <p:nvSpPr>
          <p:cNvPr id="24" name="reference-19"/>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D45 골체오름캠핑</a:t>
            </a:r>
          </a:p>
        </p:txBody>
      </p:sp>
      <p:sp>
        <p:nvSpPr>
          <p:cNvPr id="25" name="reference-20"/>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D46 곰막식당/곰막</a:t>
            </a:r>
          </a:p>
        </p:txBody>
      </p:sp>
      <p:sp>
        <p:nvSpPr>
          <p:cNvPr id="26" name="reference-21"/>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D47 곽지해수욕장</a:t>
            </a:r>
          </a:p>
        </p:txBody>
      </p:sp>
      <p:sp>
        <p:nvSpPr>
          <p:cNvPr id="27" name="reference-22"/>
          <p:cNvSpPr txBox="1"/>
          <p:nvPr/>
        </p:nvSpPr>
        <p:spPr>
          <a:xfrm>
            <a:off x="99631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D48 괴오름</a:t>
            </a:r>
          </a:p>
        </p:txBody>
      </p:sp>
      <p:sp>
        <p:nvSpPr>
          <p:cNvPr id="28" name="reference-23"/>
          <p:cNvSpPr txBox="1"/>
          <p:nvPr/>
        </p:nvSpPr>
        <p:spPr>
          <a:xfrm>
            <a:off x="99631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관광자원·사진 D49 교래 삼다수마을</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제주특별자치도 제주시 지역</a:t>
            </a:r>
          </a:p>
          <a:p xmlns:a="http://schemas.openxmlformats.org/drawingml/2006/main">
            <a:pPr eaLnBrk="0">
              <a:lnSpc>
                <a:spcPts val="2625"/>
              </a:lnSpc>
              <a:spcBef>
                <a:spcPts val="0"/>
              </a:spcBef>
              <a:spcAft>
                <a:spcPts val="0"/>
              </a:spcAft>
            </a:pPr>
            <a:r>
              <a:rPr sz="2100" b="1">
                <a:solidFill>
                  <a:srgbClr val="004EA2"/>
                </a:solidFill>
                <a:latin typeface="Noto Sans KR"/>
              </a:rPr>
              <a:t>상품권 환급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① 전망에서 목표와 견적까지</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lculation-intro"/>
          <p:cNvSpPr txBox="1"/>
          <p:nvPr/>
        </p:nvSpPr>
        <p:spPr>
          <a:xfrm>
            <a:off x="1009650" y="1952625"/>
            <a:ext cx="13220700"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관측 데이터 → 저장 모델의 전망 → 계획 목표 → 직접 운영할 규모</a:t>
            </a:r>
          </a:p>
        </p:txBody>
      </p:sp>
      <p:sp>
        <p:nvSpPr>
          <p:cNvPr id="5" name="calculation-panel-0"/>
          <p:cNvSpPr/>
          <p:nvPr/>
        </p:nvSpPr>
        <p:spPr>
          <a:xfrm>
            <a:off x="1009650" y="2609850"/>
            <a:ext cx="132207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lculation-title-0"/>
          <p:cNvSpPr txBox="1"/>
          <p:nvPr/>
        </p:nvSpPr>
        <p:spPr>
          <a:xfrm>
            <a:off x="1200150" y="2752725"/>
            <a:ext cx="2724150"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월별 기준 전망</a:t>
            </a:r>
          </a:p>
        </p:txBody>
      </p:sp>
      <p:sp>
        <p:nvSpPr>
          <p:cNvPr id="7" name="calculation-body-0"/>
          <p:cNvSpPr txBox="1"/>
          <p:nvPr/>
        </p:nvSpPr>
        <p:spPr>
          <a:xfrm>
            <a:off x="4076700" y="2733675"/>
            <a:ext cx="9867900" cy="14192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202401~202606 월별 데이터에서 1·3·12개월 전 값과 계절 정보를 구성합니다. 방문은 랜덤 포레스트,</a:t>
            </a:r>
          </a:p>
          <a:p>
            <a:pPr eaLnBrk="0">
              <a:lnSpc>
                <a:spcPts val="2156"/>
              </a:lnSpc>
              <a:spcBef>
                <a:spcPts val="0"/>
              </a:spcBef>
              <a:spcAft>
                <a:spcPts val="0"/>
              </a:spcAft>
            </a:pPr>
            <a:r>
              <a:rPr sz="1725" b="0">
                <a:solidFill>
                  <a:srgbClr val="59636E"/>
                </a:solidFill>
                <a:latin typeface="Noto Sans KR"/>
              </a:rPr>
              <a:t>소비는 선형 회귀로 산출합니다. 전년 동월 기준모델이 선택된 지표는 해당 월의 전년 값을 사용합니다.</a:t>
            </a:r>
          </a:p>
          <a:p>
            <a:pPr eaLnBrk="0">
              <a:lnSpc>
                <a:spcPts val="2156"/>
              </a:lnSpc>
              <a:spcBef>
                <a:spcPts val="0"/>
              </a:spcBef>
              <a:spcAft>
                <a:spcPts val="0"/>
              </a:spcAft>
            </a:pPr>
            <a:r>
              <a:rPr sz="1725" b="0">
                <a:solidFill>
                  <a:srgbClr val="59636E"/>
                </a:solidFill>
                <a:latin typeface="Noto Sans KR"/>
              </a:rPr>
              <a:t>최신 관측월 이후를 순차 계산한 뒤 사업기간의 3개월을 표시합니다.</a:t>
            </a:r>
          </a:p>
        </p:txBody>
      </p:sp>
      <p:sp>
        <p:nvSpPr>
          <p:cNvPr id="8" name="calculation-panel-1"/>
          <p:cNvSpPr/>
          <p:nvPr/>
        </p:nvSpPr>
        <p:spPr>
          <a:xfrm>
            <a:off x="1009650" y="4457700"/>
            <a:ext cx="13220700" cy="16573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lculation-title-1"/>
          <p:cNvSpPr txBox="1"/>
          <p:nvPr/>
        </p:nvSpPr>
        <p:spPr>
          <a:xfrm>
            <a:off x="1200150" y="4600575"/>
            <a:ext cx="2724150" cy="4572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3개월 목표 계산</a:t>
            </a:r>
          </a:p>
        </p:txBody>
      </p:sp>
      <p:sp>
        <p:nvSpPr>
          <p:cNvPr id="10" name="calculation-body-1"/>
          <p:cNvSpPr txBox="1"/>
          <p:nvPr/>
        </p:nvSpPr>
        <p:spPr>
          <a:xfrm>
            <a:off x="4076700" y="4581525"/>
            <a:ext cx="9867900" cy="14192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방문자 수: 기준 10,580,165명 → 목표 11,974,569명 (추가 1,394,404명, +13.18%)</a:t>
            </a:r>
          </a:p>
          <a:p>
            <a:pPr eaLnBrk="0">
              <a:lnSpc>
                <a:spcPts val="2156"/>
              </a:lnSpc>
              <a:spcBef>
                <a:spcPts val="0"/>
              </a:spcBef>
              <a:spcAft>
                <a:spcPts val="0"/>
              </a:spcAft>
            </a:pPr>
            <a:r>
              <a:rPr sz="1725" b="0">
                <a:solidFill>
                  <a:srgbClr val="59636E"/>
                </a:solidFill>
                <a:latin typeface="Noto Sans KR"/>
              </a:rPr>
              <a:t>관광소비액: 기준 444,918,852,321원 → 목표 504,168,003,742원 (추가 59,249,151,421원, +13.32%)</a:t>
            </a:r>
          </a:p>
          <a:p>
            <a:pPr eaLnBrk="0">
              <a:lnSpc>
                <a:spcPts val="2156"/>
              </a:lnSpc>
              <a:spcBef>
                <a:spcPts val="0"/>
              </a:spcBef>
              <a:spcAft>
                <a:spcPts val="0"/>
              </a:spcAft>
            </a:pPr>
            <a:r>
              <a:rPr sz="1725" b="0">
                <a:solidFill>
                  <a:srgbClr val="59636E"/>
                </a:solidFill>
                <a:latin typeface="Noto Sans KR"/>
              </a:rPr>
              <a:t>월별 목표 = 월별 기준 전망 × (1 + 최종월 목표율 × 경과월/전체월). 합계 증가율 = (월별 목표 합계 ÷</a:t>
            </a:r>
          </a:p>
          <a:p>
            <a:pPr eaLnBrk="0">
              <a:lnSpc>
                <a:spcPts val="2156"/>
              </a:lnSpc>
              <a:spcBef>
                <a:spcPts val="0"/>
              </a:spcBef>
              <a:spcAft>
                <a:spcPts val="0"/>
              </a:spcAft>
            </a:pPr>
            <a:r>
              <a:rPr sz="1725" b="0">
                <a:solidFill>
                  <a:srgbClr val="59636E"/>
                </a:solidFill>
                <a:latin typeface="Noto Sans KR"/>
              </a:rPr>
              <a:t>월별 기준 합계 − 1) × 100. 방문 합계는 월간 순 방문 수의 합계로, 3개월 고유 인원과 다릅니다.</a:t>
            </a:r>
          </a:p>
        </p:txBody>
      </p:sp>
      <p:sp>
        <p:nvSpPr>
          <p:cNvPr id="11" name="calculation-budget-panel"/>
          <p:cNvSpPr/>
          <p:nvPr/>
        </p:nvSpPr>
        <p:spPr>
          <a:xfrm>
            <a:off x="1009650" y="6400800"/>
            <a:ext cx="13220700" cy="17049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lculation-budget-title"/>
          <p:cNvSpPr txBox="1"/>
          <p:nvPr/>
        </p:nvSpPr>
        <p:spPr>
          <a:xfrm>
            <a:off x="1200150" y="6572250"/>
            <a:ext cx="2724150" cy="4762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견적의 계산 출발점</a:t>
            </a:r>
          </a:p>
        </p:txBody>
      </p:sp>
      <p:sp>
        <p:nvSpPr>
          <p:cNvPr id="13" name="calculation-budget-body"/>
          <p:cNvSpPr txBox="1"/>
          <p:nvPr/>
        </p:nvSpPr>
        <p:spPr>
          <a:xfrm>
            <a:off x="4076700" y="6562725"/>
            <a:ext cx="9867900" cy="14192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사업기간 추가 방문 목표 1,394,404명 × 시범 담당 비중 1% → 13,945건(올림). 1%는 직접 운영할</a:t>
            </a:r>
          </a:p>
          <a:p>
            <a:pPr eaLnBrk="0">
              <a:lnSpc>
                <a:spcPts val="2156"/>
              </a:lnSpc>
              <a:spcBef>
                <a:spcPts val="0"/>
              </a:spcBef>
              <a:spcAft>
                <a:spcPts val="0"/>
              </a:spcAft>
            </a:pPr>
            <a:r>
              <a:rPr sz="1725" b="0">
                <a:solidFill>
                  <a:srgbClr val="59636E"/>
                </a:solidFill>
                <a:latin typeface="Noto Sans KR"/>
              </a:rPr>
              <a:t>참여량 배분 가정이며 전환율 예측이 아닙니다.</a:t>
            </a:r>
          </a:p>
          <a:p>
            <a:pPr eaLnBrk="0">
              <a:lnSpc>
                <a:spcPts val="2156"/>
              </a:lnSpc>
              <a:spcBef>
                <a:spcPts val="0"/>
              </a:spcBef>
              <a:spcAft>
                <a:spcPts val="0"/>
              </a:spcAft>
            </a:pPr>
            <a:r>
              <a:rPr sz="1725" b="0">
                <a:solidFill>
                  <a:srgbClr val="59636E"/>
                </a:solidFill>
                <a:latin typeface="Noto Sans KR"/>
              </a:rPr>
              <a:t>운영량 × 가정 단가 + 현장 운영 + 시스템·홍보·평가 + 예비비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② 공식 사례를 기획으로 연결한 과정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ovenance-stage-0"/>
          <p:cNvSpPr/>
          <p:nvPr/>
        </p:nvSpPr>
        <p:spPr>
          <a:xfrm>
            <a:off x="1009650" y="2143125"/>
            <a:ext cx="3219450" cy="16954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venance-title-0"/>
          <p:cNvSpPr txBox="1"/>
          <p:nvPr/>
        </p:nvSpPr>
        <p:spPr>
          <a:xfrm>
            <a:off x="1143000" y="2276475"/>
            <a:ext cx="2952750" cy="4095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01 지역 분석</a:t>
            </a:r>
          </a:p>
        </p:txBody>
      </p:sp>
      <p:sp>
        <p:nvSpPr>
          <p:cNvPr id="6" name="provenance-body-0"/>
          <p:cNvSpPr txBox="1"/>
          <p:nvPr/>
        </p:nvSpPr>
        <p:spPr>
          <a:xfrm>
            <a:off x="1143000" y="2781300"/>
            <a:ext cx="2952750" cy="9144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관측 소비·체류·검색 지표와</a:t>
            </a:r>
          </a:p>
          <a:p>
            <a:pPr eaLnBrk="0">
              <a:lnSpc>
                <a:spcPts val="2062"/>
              </a:lnSpc>
              <a:spcBef>
                <a:spcPts val="0"/>
              </a:spcBef>
              <a:spcAft>
                <a:spcPts val="0"/>
              </a:spcAft>
            </a:pPr>
            <a:r>
              <a:rPr sz="1650" b="0">
                <a:solidFill>
                  <a:srgbClr val="59636E"/>
                </a:solidFill>
                <a:latin typeface="Noto Sans KR"/>
              </a:rPr>
              <a:t>7개 전망을 요청 근거로 전달</a:t>
            </a:r>
          </a:p>
        </p:txBody>
      </p:sp>
      <p:sp>
        <p:nvSpPr>
          <p:cNvPr id="7" name="provenance-stage-1"/>
          <p:cNvSpPr/>
          <p:nvPr/>
        </p:nvSpPr>
        <p:spPr>
          <a:xfrm>
            <a:off x="4343400" y="2143125"/>
            <a:ext cx="3219450" cy="16954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venance-title-1"/>
          <p:cNvSpPr txBox="1"/>
          <p:nvPr/>
        </p:nvSpPr>
        <p:spPr>
          <a:xfrm>
            <a:off x="4476750" y="2276475"/>
            <a:ext cx="2952750" cy="4095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02 사례 확인</a:t>
            </a:r>
          </a:p>
        </p:txBody>
      </p:sp>
      <p:sp>
        <p:nvSpPr>
          <p:cNvPr id="9" name="provenance-body-1"/>
          <p:cNvSpPr txBox="1"/>
          <p:nvPr/>
        </p:nvSpPr>
        <p:spPr>
          <a:xfrm>
            <a:off x="4476750" y="2781300"/>
            <a:ext cx="2952750" cy="9144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저장된 공식 사례 8건의 운영</a:t>
            </a:r>
          </a:p>
          <a:p>
            <a:pPr eaLnBrk="0">
              <a:lnSpc>
                <a:spcPts val="2062"/>
              </a:lnSpc>
              <a:spcBef>
                <a:spcPts val="0"/>
              </a:spcBef>
              <a:spcAft>
                <a:spcPts val="0"/>
              </a:spcAft>
            </a:pPr>
            <a:r>
              <a:rPr sz="1650" b="0">
                <a:solidFill>
                  <a:srgbClr val="59636E"/>
                </a:solidFill>
                <a:latin typeface="Noto Sans KR"/>
              </a:rPr>
              <a:t>방식·출처를 확인</a:t>
            </a:r>
          </a:p>
        </p:txBody>
      </p:sp>
      <p:sp>
        <p:nvSpPr>
          <p:cNvPr id="10" name="provenance-stage-2"/>
          <p:cNvSpPr/>
          <p:nvPr/>
        </p:nvSpPr>
        <p:spPr>
          <a:xfrm>
            <a:off x="7677150" y="2143125"/>
            <a:ext cx="3219450" cy="16954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venance-title-2"/>
          <p:cNvSpPr txBox="1"/>
          <p:nvPr/>
        </p:nvSpPr>
        <p:spPr>
          <a:xfrm>
            <a:off x="7810500" y="2276475"/>
            <a:ext cx="2952750" cy="4095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03 후보 비교</a:t>
            </a:r>
          </a:p>
        </p:txBody>
      </p:sp>
      <p:sp>
        <p:nvSpPr>
          <p:cNvPr id="12" name="provenance-body-2"/>
          <p:cNvSpPr txBox="1"/>
          <p:nvPr/>
        </p:nvSpPr>
        <p:spPr>
          <a:xfrm>
            <a:off x="7810500" y="2781300"/>
            <a:ext cx="2952750" cy="9144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Qwen이 설계 후보 2개를</a:t>
            </a:r>
          </a:p>
          <a:p>
            <a:pPr eaLnBrk="0">
              <a:lnSpc>
                <a:spcPts val="2062"/>
              </a:lnSpc>
              <a:spcBef>
                <a:spcPts val="0"/>
              </a:spcBef>
              <a:spcAft>
                <a:spcPts val="0"/>
              </a:spcAft>
            </a:pPr>
            <a:r>
              <a:rPr sz="1650" b="0">
                <a:solidFill>
                  <a:srgbClr val="59636E"/>
                </a:solidFill>
                <a:latin typeface="Noto Sans KR"/>
              </a:rPr>
              <a:t>비교하고 운영 문서 연결</a:t>
            </a:r>
          </a:p>
        </p:txBody>
      </p:sp>
      <p:sp>
        <p:nvSpPr>
          <p:cNvPr id="13" name="provenance-stage-3"/>
          <p:cNvSpPr/>
          <p:nvPr/>
        </p:nvSpPr>
        <p:spPr>
          <a:xfrm>
            <a:off x="11010900" y="2143125"/>
            <a:ext cx="3219450" cy="16954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venance-title-3"/>
          <p:cNvSpPr txBox="1"/>
          <p:nvPr/>
        </p:nvSpPr>
        <p:spPr>
          <a:xfrm>
            <a:off x="11144250" y="2276475"/>
            <a:ext cx="2952750" cy="4095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04 본문 구성</a:t>
            </a:r>
          </a:p>
        </p:txBody>
      </p:sp>
      <p:sp>
        <p:nvSpPr>
          <p:cNvPr id="15" name="provenance-body-3"/>
          <p:cNvSpPr txBox="1"/>
          <p:nvPr/>
        </p:nvSpPr>
        <p:spPr>
          <a:xfrm>
            <a:off x="11144250" y="2781300"/>
            <a:ext cx="2952750" cy="9144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Gemma가 선택 후보를</a:t>
            </a:r>
          </a:p>
          <a:p>
            <a:pPr eaLnBrk="0">
              <a:lnSpc>
                <a:spcPts val="2062"/>
              </a:lnSpc>
              <a:spcBef>
                <a:spcPts val="0"/>
              </a:spcBef>
              <a:spcAft>
                <a:spcPts val="0"/>
              </a:spcAft>
            </a:pPr>
            <a:r>
              <a:rPr sz="1650" b="0">
                <a:solidFill>
                  <a:srgbClr val="59636E"/>
                </a:solidFill>
                <a:latin typeface="Noto Sans KR"/>
              </a:rPr>
              <a:t>본문으로 작성하고 코드·로컬</a:t>
            </a:r>
          </a:p>
          <a:p>
            <a:pPr eaLnBrk="0">
              <a:lnSpc>
                <a:spcPts val="2062"/>
              </a:lnSpc>
              <a:spcBef>
                <a:spcPts val="0"/>
              </a:spcBef>
              <a:spcAft>
                <a:spcPts val="0"/>
              </a:spcAft>
            </a:pPr>
            <a:r>
              <a:rPr sz="1650" b="0">
                <a:solidFill>
                  <a:srgbClr val="59636E"/>
                </a:solidFill>
                <a:latin typeface="Noto Sans KR"/>
              </a:rPr>
              <a:t>모델로 검수</a:t>
            </a:r>
          </a:p>
        </p:txBody>
      </p:sp>
      <p:sp>
        <p:nvSpPr>
          <p:cNvPr id="16" name="provenance-count-note"/>
          <p:cNvSpPr txBox="1"/>
          <p:nvPr/>
        </p:nvSpPr>
        <p:spPr>
          <a:xfrm>
            <a:off x="1009650" y="3990975"/>
            <a:ext cx="13220700" cy="4381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건수는 이 보고서에 보존된 사례·후보 기준입니다. 지역 유사도 학습모델의 순위가 아닙니다.</a:t>
            </a:r>
          </a:p>
        </p:txBody>
      </p:sp>
      <p:sp>
        <p:nvSpPr>
          <p:cNvPr id="17" name="provenance-choice-panel"/>
          <p:cNvSpPr/>
          <p:nvPr/>
        </p:nvSpPr>
        <p:spPr>
          <a:xfrm>
            <a:off x="1009650" y="4619625"/>
            <a:ext cx="13220700" cy="15811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venance-choice-label"/>
          <p:cNvSpPr txBox="1"/>
          <p:nvPr/>
        </p:nvSpPr>
        <p:spPr>
          <a:xfrm>
            <a:off x="1200150" y="4762500"/>
            <a:ext cx="2724150" cy="4762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선정 근거와 적용</a:t>
            </a:r>
          </a:p>
        </p:txBody>
      </p:sp>
      <p:sp>
        <p:nvSpPr>
          <p:cNvPr id="19" name="provenance-choice-body"/>
          <p:cNvSpPr txBox="1"/>
          <p:nvPr/>
        </p:nvSpPr>
        <p:spPr>
          <a:xfrm>
            <a:off x="4076700" y="4743450"/>
            <a:ext cx="9867900" cy="13335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전라남도 강진군 · 강진 반값여행—지역지출 환급과 지역상품권 재소비</a:t>
            </a:r>
          </a:p>
          <a:p>
            <a:pPr eaLnBrk="0">
              <a:lnSpc>
                <a:spcPts val="2062"/>
              </a:lnSpc>
              <a:spcBef>
                <a:spcPts val="0"/>
              </a:spcBef>
              <a:spcAft>
                <a:spcPts val="0"/>
              </a:spcAft>
            </a:pPr>
            <a:r>
              <a:rPr sz="1650" b="0">
                <a:solidFill>
                  <a:srgbClr val="59636E"/>
                </a:solidFill>
                <a:latin typeface="Noto Sans KR"/>
              </a:rPr>
              <a:t>적용 제안: 제주시 방문 외지인이 지정된 적격 업종에서 결제 시, 지출액의 일부를 제주시 지역 상품권으로</a:t>
            </a:r>
          </a:p>
          <a:p>
            <a:pPr eaLnBrk="0">
              <a:lnSpc>
                <a:spcPts val="2062"/>
              </a:lnSpc>
              <a:spcBef>
                <a:spcPts val="0"/>
              </a:spcBef>
              <a:spcAft>
                <a:spcPts val="0"/>
              </a:spcAft>
            </a:pPr>
            <a:r>
              <a:rPr sz="1650" b="0">
                <a:solidFill>
                  <a:srgbClr val="59636E"/>
                </a:solidFill>
                <a:latin typeface="Noto Sans KR"/>
              </a:rPr>
              <a:t>즉시 또는 사후 환급하여 지역 내 재사용을 유도함.</a:t>
            </a:r>
          </a:p>
        </p:txBody>
      </p:sp>
      <p:sp>
        <p:nvSpPr>
          <p:cNvPr id="20" name="provenance-target-panel"/>
          <p:cNvSpPr/>
          <p:nvPr/>
        </p:nvSpPr>
        <p:spPr>
          <a:xfrm>
            <a:off x="1009650" y="6410325"/>
            <a:ext cx="13220700" cy="16954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rovenance-target-label"/>
          <p:cNvSpPr txBox="1"/>
          <p:nvPr/>
        </p:nvSpPr>
        <p:spPr>
          <a:xfrm>
            <a:off x="1200150" y="6572250"/>
            <a:ext cx="2724150" cy="4762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목표율의 의미</a:t>
            </a:r>
          </a:p>
        </p:txBody>
      </p:sp>
      <p:sp>
        <p:nvSpPr>
          <p:cNvPr id="22" name="provenance-target-body"/>
          <p:cNvSpPr txBox="1"/>
          <p:nvPr/>
        </p:nvSpPr>
        <p:spPr>
          <a:xfrm>
            <a:off x="4076700" y="6543675"/>
            <a:ext cx="9867900" cy="14192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강진의 동기간 방문 증가 25% × 계획 계수 80% = 초기 제안 20%. 이 보고서 적용 목표: 최종월 방문</a:t>
            </a:r>
          </a:p>
          <a:p>
            <a:pPr eaLnBrk="0">
              <a:lnSpc>
                <a:spcPts val="2156"/>
              </a:lnSpc>
              <a:spcBef>
                <a:spcPts val="0"/>
              </a:spcBef>
              <a:spcAft>
                <a:spcPts val="0"/>
              </a:spcAft>
            </a:pPr>
            <a:r>
              <a:rPr sz="1725" b="0">
                <a:solidFill>
                  <a:srgbClr val="59636E"/>
                </a:solidFill>
                <a:latin typeface="Noto Sans KR"/>
              </a:rPr>
              <a:t>+20%, 소비 +20%. 계수는 계획 가정이며 인구 보정이나 사업 효과 추정치가 아닙니다. 월별 목표를</a:t>
            </a:r>
          </a:p>
          <a:p>
            <a:pPr eaLnBrk="0">
              <a:lnSpc>
                <a:spcPts val="2156"/>
              </a:lnSpc>
              <a:spcBef>
                <a:spcPts val="0"/>
              </a:spcBef>
              <a:spcAft>
                <a:spcPts val="0"/>
              </a:spcAft>
            </a:pPr>
            <a:r>
              <a:rPr sz="1725" b="0">
                <a:solidFill>
                  <a:srgbClr val="59636E"/>
                </a:solidFill>
                <a:latin typeface="Noto Sans KR"/>
              </a:rPr>
              <a:t>합산하며, 견적은 그중 직접 운영할 참여량을 가정한 예산입니다.</a:t>
            </a:r>
          </a:p>
        </p:txBody>
      </p:sp>
      <p:sp>
        <p:nvSpPr>
          <p:cNvPr id="23" name="provenance-target-source"/>
          <p:cNvSpPr txBox="1"/>
          <p:nvPr/>
        </p:nvSpPr>
        <p:spPr>
          <a:xfrm>
            <a:off x="1009650" y="8191500"/>
            <a:ext cx="13220700" cy="266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004EA2"/>
                </a:solidFill>
                <a:latin typeface="Noto Sans KR"/>
                <a:hlinkClick r:id="rId2"/>
              </a:rPr>
              <a:t>목표율 참고 원문 ↗</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