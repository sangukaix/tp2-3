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ns0="http://schemas.openxmlformats.org/officeDocument/2006/relationships" id="273" ns0:id="rId18"/>
    <p:sldId xmlns:ns0="http://schemas.openxmlformats.org/officeDocument/2006/relationships" id="274" ns0:id="rId22"/>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385.60661333</c:v>
                </c:pt>
                <c:pt idx="1">
                  <c:v>407.35513333</c:v>
                </c:pt>
                <c:pt idx="2">
                  <c:v>404.49516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40.0"/>
          <c:min val="3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1604.98211028</c:v>
                </c:pt>
                <c:pt idx="1">
                  <c:v>1644.29825304</c:v>
                </c:pt>
                <c:pt idx="2">
                  <c:v>1792.3996741</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900.0"/>
          <c:min val="13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선택 지역 내 적격 재결제액 / 분모: 지급한 환급액), 인정 결제액, 성공/중단 기준은 착수 전 확정 예정",</a:t>
            </a:r>
          </a:p>
          <a:p xmlns:a="http://schemas.openxmlformats.org/drawingml/2006/main">
            <a:r>
              <a:t>    "title": "제주시 외지인 관광 소비 촉진을 위한 지역 상품권 환급 프로그램",</a:t>
            </a:r>
          </a:p>
          <a:p xmlns:a="http://schemas.openxmlformats.org/drawingml/2006/main">
            <a:r>
              <a:t>    "budget": "환급액 총액 100,000,000원 (기획 가정: 환급률 20%, 건별 상한 50,000원, 예상 참여자 10,000명 기준)",</a:t>
            </a:r>
          </a:p>
          <a:p xmlns:a="http://schemas.openxmlformats.org/drawingml/2006/main">
            <a:r>
              <a:t>    "evidence": "case:761228c746fb13",</a:t>
            </a:r>
          </a:p>
          <a:p xmlns:a="http://schemas.openxmlformats.org/drawingml/2006/main">
            <a:r>
              <a:t>    "priority": 1,</a:t>
            </a:r>
          </a:p>
          <a:p xmlns:a="http://schemas.openxmlformats.org/drawingml/2006/main">
            <a:r>
              <a:t>    "solution": "제주시 방문 외지인이 지정된 적격 업종에서 결제 시, 지출액의 일부를 제주시 지역 상품권으로 즉시 또는 사후 환급하여 지역 내 재사용을 유도함.",</a:t>
            </a:r>
          </a:p>
          <a:p xmlns:a="http://schemas.openxmlformats.org/drawingml/2006/main">
            <a:r>
              <a:t>    "timeframe": "2026-10 ~ 2026-12,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"높은 관광 관심도(검색량) 대비 실제 지역 내 소비 전환 및 체류 유도 필요",</a:t>
            </a:r>
          </a:p>
          <a:p xmlns:a="http://schemas.openxmlformats.org/drawingml/2006/main">
            <a:r>
              <a:t>    "comparison_analysis": "강진 반값여행(case:761228c746fb13)은 지역 지출의 일부를 모바일 상품권으로 환급하여 재소비를 유도함. 제주시의 경우 규모가 훨씬 크므로, 전 지역이 아닌 특정 권역(전통시장, 외식업 등)과 업종에 집중한 시범 사업 형태로 운영하여 예산 효율성을 높임.",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모집 및 정산 시스템 검증",</a:t>
            </a:r>
          </a:p>
          <a:p xmlns:a="http://schemas.openxmlformats.org/drawingml/2006/main">
            <a:r>
              <a:t>        "schedule": "2026-10",</a:t>
            </a:r>
          </a:p>
          <a:p xmlns:a="http://schemas.openxmlformats.org/drawingml/2006/main">
            <a:r>
              <a:t>        "deliverable": "참여 업체 명단 및 디지털 바우처/상품권 정산 프로세스 확정안"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 규정 및 환급 가이드라인 수립",</a:t>
            </a:r>
          </a:p>
          <a:p xmlns:a="http://schemas.openxmlformats.org/drawingml/2006/main">
            <a:r>
              <a:t>        "schedule": "2026-10",</a:t>
            </a:r>
          </a:p>
          <a:p xmlns:a="http://schemas.openxmlformats.org/drawingml/2006/main">
            <a:r>
              <a:t>        "deliverable": "중복 수혜 방지 및 영수증 검증을 포함한 운영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사업 운영 및 실시간 모니터링",</a:t>
            </a:r>
          </a:p>
          <a:p xmlns:a="http://schemas.openxmlformats.org/drawingml/2006/main">
            <a:r>
              <a:t>        "schedule": "2026-10 ~ 2026-12",</a:t>
            </a:r>
          </a:p>
          <a:p xmlns:a="http://schemas.openxmlformats.org/drawingml/2006/main">
            <a:r>
              <a:t>        "deliverable": "주간 단위 신청·승인·결제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"중간 성과 점검 및 예산 소진율 확인",</a:t>
            </a:r>
          </a:p>
          <a:p xmlns:a="http://schemas.openxmlformats.org/drawingml/2006/main">
            <a:r>
              <a:t>        "schedule": "2026-11",</a:t>
            </a:r>
          </a:p>
          <a:p xmlns:a="http://schemas.openxmlformats.org/drawingml/2006/main">
            <a:r>
              <a:t>        "deliverable": "중간 분석 보고서 (예산 조기 소진 시 규모 축소 검토)"</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"최종 성과 분석 및 차기 사업 제언",</a:t>
            </a:r>
          </a:p>
          <a:p xmlns:a="http://schemas.openxmlformats.org/drawingml/2006/main">
            <a:r>
              <a:t>        "schedule": "2026-12",</a:t>
            </a:r>
          </a:p>
          <a:p xmlns:a="http://schemas.openxmlformats.org/drawingml/2006/main">
            <a:r>
              <a:t>        "deliverable": "최종 결과 보고서 (재사용률 및 순증 결제액 중심)"</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"dataset:50110:1",</a:t>
            </a:r>
          </a:p>
          <a:p xmlns:a="http://schemas.openxmlformats.org/drawingml/2006/main">
            <a:r>
              <a:t>      "dataset:50110:3"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선택 지역 내 적격 재결제액 / 분모: 지급한 환급액), 인정 결제액, 성공/중단 기준은 착수 전 확정 예정",</a:t>
            </a:r>
          </a:p>
          <a:p xmlns:a="http://schemas.openxmlformats.org/drawingml/2006/main">
            <a:r>
              <a:t>    "title": "제주시 외지인 관광 소비 촉진을 위한 지역 상품권 환급 프로그램",</a:t>
            </a:r>
          </a:p>
          <a:p xmlns:a="http://schemas.openxmlformats.org/drawingml/2006/main">
            <a:r>
              <a:t>    "budget": "환급액 총액 100,000,000원 (기획 가정: 환급률 20%, 건별 상한 50,000원, 예상 참여자 10,000명 기준)",</a:t>
            </a:r>
          </a:p>
          <a:p xmlns:a="http://schemas.openxmlformats.org/drawingml/2006/main">
            <a:r>
              <a:t>    "evidence": "case:761228c746fb13",</a:t>
            </a:r>
          </a:p>
          <a:p xmlns:a="http://schemas.openxmlformats.org/drawingml/2006/main">
            <a:r>
              <a:t>    "priority": 1,</a:t>
            </a:r>
          </a:p>
          <a:p xmlns:a="http://schemas.openxmlformats.org/drawingml/2006/main">
            <a:r>
              <a:t>    "solution": "제주시 방문 외지인이 지정된 적격 업종에서 결제 시, 지출액의 일부를 제주시 지역 상품권으로 즉시 또는 사후 환급하여 지역 내 재사용을 유도함.",</a:t>
            </a:r>
          </a:p>
          <a:p xmlns:a="http://schemas.openxmlformats.org/drawingml/2006/main">
            <a:r>
              <a:t>    "timeframe": "2026-10 ~ 2026-12,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"높은 관광 관심도(검색량) 대비 실제 지역 내 소비 전환 및 체류 유도 필요",</a:t>
            </a:r>
          </a:p>
          <a:p xmlns:a="http://schemas.openxmlformats.org/drawingml/2006/main">
            <a:r>
              <a:t>    "comparison_analysis": "강진 반값여행(case:761228c746fb13)은 지역 지출의 일부를 모바일 상품권으로 환급하여 재소비를 유도함. 제주시의 경우 규모가 훨씬 크므로, 전 지역이 아닌 특정 권역(전통시장, 외식업 등)과 업종에 집중한 시범 사업 형태로 운영하여 예산 효율성을 높임.",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모집 및 정산 시스템 검증",</a:t>
            </a:r>
          </a:p>
          <a:p xmlns:a="http://schemas.openxmlformats.org/drawingml/2006/main">
            <a:r>
              <a:t>        "schedule": "2026-10",</a:t>
            </a:r>
          </a:p>
          <a:p xmlns:a="http://schemas.openxmlformats.org/drawingml/2006/main">
            <a:r>
              <a:t>        "deliverable": "참여 업체 명단 및 디지털 바우처/상품권 정산 프로세스 확정안"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 규정 및 환급 가이드라인 수립",</a:t>
            </a:r>
          </a:p>
          <a:p xmlns:a="http://schemas.openxmlformats.org/drawingml/2006/main">
            <a:r>
              <a:t>        "schedule": "2026-10",</a:t>
            </a:r>
          </a:p>
          <a:p xmlns:a="http://schemas.openxmlformats.org/drawingml/2006/main">
            <a:r>
              <a:t>        "deliverable": "중복 수혜 방지 및 영수증 검증을 포함한 운영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사업 운영 및 실시간 모니터링",</a:t>
            </a:r>
          </a:p>
          <a:p xmlns:a="http://schemas.openxmlformats.org/drawingml/2006/main">
            <a:r>
              <a:t>        "schedule": "2026-10 ~ 2026-12",</a:t>
            </a:r>
          </a:p>
          <a:p xmlns:a="http://schemas.openxmlformats.org/drawingml/2006/main">
            <a:r>
              <a:t>        "deliverable": "주간 단위 신청·승인·결제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"중간 성과 점검 및 예산 소진율 확인",</a:t>
            </a:r>
          </a:p>
          <a:p xmlns:a="http://schemas.openxmlformats.org/drawingml/2006/main">
            <a:r>
              <a:t>        "schedule": "2026-11",</a:t>
            </a:r>
          </a:p>
          <a:p xmlns:a="http://schemas.openxmlformats.org/drawingml/2006/main">
            <a:r>
              <a:t>        "deliverable": "중간 분석 보고서 (예산 조기 소진 시 규모 축소 검토)"</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"최종 성과 분석 및 차기 사업 제언",</a:t>
            </a:r>
          </a:p>
          <a:p xmlns:a="http://schemas.openxmlformats.org/drawingml/2006/main">
            <a:r>
              <a:t>        "schedule": "2026-12",</a:t>
            </a:r>
          </a:p>
          <a:p xmlns:a="http://schemas.openxmlformats.org/drawingml/2006/main">
            <a:r>
              <a:t>        "deliverable": "최종 결과 보고서 (재사용률 및 순증 결제액 중심)"</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"dataset:50110:1",</a:t>
            </a:r>
          </a:p>
          <a:p xmlns:a="http://schemas.openxmlformats.org/drawingml/2006/main">
            <a:r>
              <a:t>      "dataset:50110:3"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"한국관광 데이터랩 우수 활용사례(2025)—데이터 기반 강진 반값여행으로 지역 경제를 살리다",</a:t>
            </a:r>
          </a:p>
          <a:p xmlns:a="http://schemas.openxmlformats.org/drawingml/2006/main">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"source_id": "case:761228c746fb13",</a:t>
            </a:r>
          </a:p>
          <a:p xmlns:a="http://schemas.openxmlformats.org/drawingml/2006/main">
            <a:r>
              <a:t>      "source_url": "https://datalab.visitkorea.or.kr/html/interview5/interview01.jsp",</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반값여행—지역지출 환급과 지역상품권 재소비",</a:t>
            </a:r>
          </a:p>
          <a:p xmlns:a="http://schemas.openxmlformats.org/drawingml/2006/main">
            <a:r>
              <a:t>      "document_type": null,</a:t>
            </a:r>
          </a:p>
          <a:p xmlns:a="http://schemas.openxmlformats.org/drawingml/2006/main">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실적을 이전 연도 및 자체·통신·상품권 자료와 비교",</a:t>
            </a:r>
          </a:p>
          <a:p xmlns:a="http://schemas.openxmlformats.org/drawingml/2006/main">
            <a:r>
              <a:t>      "transfer_conditions": [</a:t>
            </a:r>
          </a:p>
          <a:p xmlns:a="http://schemas.openxmlformats.org/drawingml/2006/main">
            <a:r>
              <a:t>        "제주시에 적용하려면 대상 권역·참여자·환급 인정 업종·최대 환급액을 제한한 시범사업으로 축소해야 함",</a:t>
            </a:r>
          </a:p>
          <a:p xmlns:a="http://schemas.openxmlformats.org/drawingml/2006/main">
            <a:r>
              <a:t>        "지역화폐 또는 사용처가 제한된 디지털 바우처와 정산 시스템 확보 필요",</a:t>
            </a:r>
          </a:p>
          <a:p xmlns:a="http://schemas.openxmlformats.org/drawingml/2006/main">
            <a:r>
              <a:t>        "여행 전 신청, 현장 방문 및 결제 증빙, 중복·허위 영수증 검증 절차 필요",</a:t>
            </a:r>
          </a:p>
          <a:p xmlns:a="http://schemas.openxmlformats.org/drawingml/2006/main">
            <a:r>
              <a:t>        "제주시의 방문 규모와 상권 구조는 강진군과 크게 다르므로 강진 예산·증가율을 비례 환산하지 않음",</a:t>
            </a:r>
          </a:p>
          <a:p xmlns:a="http://schemas.openxmlformats.org/drawingml/2006/main">
            <a:r>
              <a:t>        "성과는 신청팀 수가 아니라 여행 완료율, 인정 결제액, 환급액, 환급분 재사용액, 참여업체별 순증 결제로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"서울달(SEOULDAL)—서울 정책 아카이브",</a:t>
            </a:r>
          </a:p>
          <a:p xmlns:a="http://schemas.openxmlformats.org/drawingml/2006/main">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"source_id": "case:946857867790a6",</a:t>
            </a:r>
          </a:p>
          <a:p xmlns:a="http://schemas.openxmlformats.org/drawingml/2006/main">
            <a:r>
              <a:t>      "source_url": "https://www.seoul.go.kr/policy/view.do?id=1022&amp;lan=",</a:t>
            </a:r>
          </a:p>
          <a:p xmlns:a="http://schemas.openxmlformats.org/drawingml/2006/main">
            <a:r>
              <a:t>      "case_region": "서울특별시 영등포구 여의도",</a:t>
            </a:r>
          </a:p>
          <a:p xmlns:a="http://schemas.openxmlformats.org/drawingml/2006/main">
            <a:r>
              <a:t>      "source_type": "benchmark_case",</a:t>
            </a:r>
          </a:p>
          <a:p xmlns:a="http://schemas.openxmlformats.org/drawingml/2006/main">
            <a:r>
              <a:t>      "intervention": "서울달—예약채널 확대와 야간 운영시간 연장",</a:t>
            </a:r>
          </a:p>
          <a:p xmlns:a="http://schemas.openxmlformats.org/drawingml/2006/main">
            <a:r>
              <a:t>      "document_type": null,</a:t>
            </a:r>
          </a:p>
          <a:p xmlns:a="http://schemas.openxmlformats.org/drawingml/2006/main">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8월 정식 운영 이후부터 2026년 6월까지 누적 실적",</a:t>
            </a:r>
          </a:p>
          <a:p xmlns:a="http://schemas.openxmlformats.org/drawingml/2006/main">
            <a:r>
              <a:t>      "transfer_conditions": [</a:t>
            </a:r>
          </a:p>
          <a:p xmlns:a="http://schemas.openxmlformats.org/drawingml/2006/main">
            <a:r>
              <a:t>        "제주시는 고비용 신규 시설을 복제하지 말고 기존 전망·문화·해양·공공시설의 미판매 시간대를 예약상품으로 전환",</a:t>
            </a:r>
          </a:p>
          <a:p xmlns:a="http://schemas.openxmlformats.org/drawingml/2006/main">
            <a:r>
              <a:t>        "10~12월 일몰시간과 항공 도착시간을 반영해 저녁 회차를 편성하고 기상 취소·환불 규칙을 사전 고지",</a:t>
            </a:r>
          </a:p>
          <a:p xmlns:a="http://schemas.openxmlformats.org/drawingml/2006/main">
            <a:r>
              <a:t>        "국내 예약 플랫폼과 외국어 판매채널에서 동일한 재고·시간표를 관리할 수 있는 운영자 필요",</a:t>
            </a:r>
          </a:p>
          <a:p xmlns:a="http://schemas.openxmlformats.org/drawingml/2006/main">
            <a:r>
              <a:t>        "예약 노출→결제→방문 완료→인근 상권 결제의 단계별 전환율을 수집",</a:t>
            </a:r>
          </a:p>
          <a:p xmlns:a="http://schemas.openxmlformats.org/drawingml/2006/main">
            <a:r>
              <a:t>        "야간 프로그램 운영일과 비운영일, 참여시설과 비참여시설을 구분해 비교"</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"외국인 개별관광객 지방 방문 촉진 고토치 셔틀 운영자료",</a:t>
            </a:r>
          </a:p>
          <a:p xmlns:a="http://schemas.openxmlformats.org/drawingml/2006/main">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"source_id": "case:199f928478e634",</a:t>
            </a:r>
          </a:p>
          <a:p xmlns:a="http://schemas.openxmlformats.org/drawingml/2006/main">
            <a:r>
              <a:t>      "source_url": "https://kto.visitkorea.or.kr/upload/flexer/upload/ktobiz/20190417/ca99de85-60a6-11e9-9d6f-39c7f0d61b75.hwp.files/Sections1.html",</a:t>
            </a:r>
          </a:p>
          <a:p xmlns:a="http://schemas.openxmlformats.org/drawingml/2006/main">
            <a:r>
              <a:t>      "case_region": "서울 출발 지방 관광지 연계 노선",</a:t>
            </a:r>
          </a:p>
          <a:p xmlns:a="http://schemas.openxmlformats.org/drawingml/2006/main">
            <a:r>
              <a:t>      "source_type": "benchmark_case",</a:t>
            </a:r>
          </a:p>
          <a:p xmlns:a="http://schemas.openxmlformats.org/drawingml/2006/main">
            <a:r>
              <a:t>      "intervention": "고토치 셔틀—외국인 대상 예약·결제형 지역관광 버스",</a:t>
            </a:r>
          </a:p>
          <a:p xmlns:a="http://schemas.openxmlformats.org/drawingml/2006/main">
            <a:r>
              <a:t>      "document_type": null,</a:t>
            </a:r>
          </a:p>
          <a:p xmlns:a="http://schemas.openxmlformats.org/drawingml/2006/main">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"2014년 사업 시작부터 2019년 공개 시점까지 누적",</a:t>
            </a:r>
          </a:p>
          <a:p xmlns:a="http://schemas.openxmlformats.org/drawingml/2006/main">
            <a:r>
              <a:t>      "transfer_conditions": [</a:t>
            </a:r>
          </a:p>
          <a:p xmlns:a="http://schemas.openxmlformats.org/drawingml/2006/main">
            <a:r>
              <a:t>        "제주시에서는 서울 출발 장거리 셔틀이 아니라 제주공항–제주시 도심–저녁 체험 또는 읍·면 거점을 연결하는 예약형 소규모 노선으로 변경",</a:t>
            </a:r>
          </a:p>
          <a:p xmlns:a="http://schemas.openxmlformats.org/drawingml/2006/main">
            <a:r>
              <a:t>        "정기 대중교통과 중복되지 않는 시간대·목적지를 선정하고 운송사업자와 적법한 운영계약 필요",</a:t>
            </a:r>
          </a:p>
          <a:p xmlns:a="http://schemas.openxmlformats.org/drawingml/2006/main">
            <a:r>
              <a:t>        "왕복 교통만 판매하지 말고 예약 가능한 체험·식음·야간 콘텐츠와 묶어 실제 이용기록을 남겨야 함",</a:t>
            </a:r>
          </a:p>
          <a:p xmlns:a="http://schemas.openxmlformats.org/drawingml/2006/main">
            <a:r>
              <a:t>        "항공편 지연을 고려한 탑승 유예·환불·대체 회차 규칙 필요",</a:t>
            </a:r>
          </a:p>
          <a:p xmlns:a="http://schemas.openxmlformats.org/drawingml/2006/main">
            <a:r>
              <a:t>        "좌석 예약률, 실제 탑승률, 체험 완료율, 권역 내 결제액을 분리 측정"</a:t>
            </a:r>
          </a:p>
          <a:p xmlns:a="http://schemas.openxmlformats.org/drawingml/2006/main">
            <a:r>
              <a:t>      ],</a:t>
            </a:r>
          </a:p>
          <a:p xmlns:a="http://schemas.openxmlformats.org/drawingml/2006/main">
            <a:r>
              <a:t>      "published_or_updated_at": "2019-04-17",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"참여 업체 모집 및 정산 시스템 검증", "schedule": "2026-10", "deliverable": "참여 업체 명단 및 디지털 바우처/상품권 정산 프로세스 확정안"}, {"step": 2, "task": "운영 규정 및 환급 가이드라인 수립", "schedule": "2026-10", "deliverable": "중복 수혜 방지 및 영수증 검증을 포함한 운영 매뉴얼"}, {"step": 3, "task": "시범 사업 운영 및 실시간 모니터링", "schedule": "2026-10 ~ 2026-12", "deliverable": "주간 단위 신청·승인·결제 원장"}, {"step": 4, "task": "중간 성과 점검 및 예산 소진율 확인", "schedule": "2026-11", "deliverable": "중간 분석 보고서 (예산 조기 소진 시 규모 축소 검토)"}, {"step": 5, "task": "최종 성과 분석 및 차기 사업 제언", "schedule": "2026-12", "deliverable": "최종 결과 보고서 (재사용률 및 순증 결제액 중심)"}]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11,974,569명 (추가 1,394,404명, +13.18%)\n관광소비액: 기준 444,918,852,321원 → 목표 504,168,003,742원 (추가 59,249,151,421원, +13.32%)\n월별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아니다.\n사업기간 추가 방문 목표 1,394,404명 × 시범 담당 비중 1% → 13,945건(올림).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11974569.066666666,</a:t>
            </a:r>
          </a:p>
          <a:p>
            <a:r>
              <a:t>        "additional": 1394404.0666666664,</a:t>
            </a:r>
          </a:p>
          <a:p>
            <a:r>
              <a:t>        "pct": 13.179417019173778</a:t>
            </a:r>
          </a:p>
          <a:p>
            <a:r>
              <a:t>      },</a:t>
            </a:r>
          </a:p>
          <a:p>
            <a:r>
              <a:t>      {</a:t>
            </a:r>
          </a:p>
          <a:p>
            <a:r>
              <a:t>        "key": "spending",</a:t>
            </a:r>
          </a:p>
          <a:p>
            <a:r>
              <a:t>        "label": "관광소비액",</a:t>
            </a:r>
          </a:p>
          <a:p>
            <a:r>
              <a:t>        "unit": "원",</a:t>
            </a:r>
          </a:p>
          <a:p>
            <a:r>
              <a:t>        "baseline": 444918852321.0,</a:t>
            </a:r>
          </a:p>
          <a:p>
            <a:r>
              <a:t>        "target": 504168003741.7333,</a:t>
            </a:r>
          </a:p>
          <a:p>
            <a:r>
              <a:t>        "additional": 59249151420.73328,</a:t>
            </a:r>
          </a:p>
          <a:p>
            <a:r>
              <a:t>        "pct": 13.31684443391179</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8,</a:t>
            </a:r>
          </a:p>
          <a:p>
            <a:r>
              <a:t>    "case_region_count": 7,</a:t>
            </a:r>
          </a:p>
          <a:p>
            <a:r>
              <a:t>    "candidate_count": 2,</a:t>
            </a:r>
          </a:p>
          <a:p>
            <a:r>
              <a:t>    "displayed_count": 3,</a:t>
            </a:r>
          </a:p>
          <a:p>
            <a:r>
              <a:t>    "primary":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"selection_reason": "제주시의 외지인 관광소비 총액이 높고, 내비게이션 목적지 검색량이 높은 것으로 보여, 지역 상품권 환급 프로그램이 제주시의 관광 활성화에 효과적일 것으로 예상됩니다. 또한, 강진 반값여행 사례에서 확인된 환급 방식을 참고하여 제주시에 적용할 수 있으며, 지역 상품권 환급 프로그램은 제주시의 방문자 수 증가 및 소비 유도에 기여할 수 있습니다.",</a:t>
            </a:r>
          </a:p>
          <a:p>
            <a:r>
              <a:t>    "target_explanation":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제주특별자치도 제주시 순 방문자 수 및 숙박 비율 (이동통신 기반 외지인)",</a:t>
            </a:r>
          </a:p>
          <a:p xmlns:a="http://schemas.openxmlformats.org/drawingml/2006/main">
            <a:r>
              <a:t>      "summary": "월간 순 방문자 수: 3,131,476명 (관측 기준월: 2026-06)",</a:t>
            </a:r>
          </a:p>
          <a:p xmlns:a="http://schemas.openxmlformats.org/drawingml/2006/main">
            <a:r>
              <a:t>      "source_id": "dataset:50110:1",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월간 순 방문자 수 (이동통신 기반 외지인)",</a:t>
            </a:r>
          </a:p>
          <a:p xmlns:a="http://schemas.openxmlformats.org/drawingml/2006/main">
            <a:r>
              <a:t>      "summary": "전년동월 외지인 방문자 증감률: -8.9% (관측 기준월: 2026-06)",</a:t>
            </a:r>
          </a:p>
          <a:p xmlns:a="http://schemas.openxmlformats.org/drawingml/2006/main">
            <a:r>
              <a:t>      "source_id": "dataset:50110:2",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관광소비 추이_외지인",</a:t>
            </a:r>
          </a:p>
          <a:p xmlns:a="http://schemas.openxmlformats.org/drawingml/2006/main">
            <a:r>
              <a:t>      "summary": "월간 외지인 관광소비 총액: 129,503,828,000원 (관측 기준월: 2026-06)",</a:t>
            </a:r>
          </a:p>
          <a:p xmlns:a="http://schemas.openxmlformats.org/drawingml/2006/main">
            <a:r>
              <a:t>      "source_id": "dataset:50110:3",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숙박방문자 비율 추이 (이동통신 기반 외지인)",</a:t>
            </a:r>
          </a:p>
          <a:p xmlns:a="http://schemas.openxmlformats.org/drawingml/2006/main">
            <a:r>
              <a:t>      "summary": "외지인 숙박 방문 비율: 21.0% (관측 기준월: 2026-06)",</a:t>
            </a:r>
          </a:p>
          <a:p xmlns:a="http://schemas.openxmlformats.org/drawingml/2006/main">
            <a:r>
              <a:t>      "source_id": "dataset:50110:4",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평균 숙박일 (이동통신 기반 외지인)",</a:t>
            </a:r>
          </a:p>
          <a:p xmlns:a="http://schemas.openxmlformats.org/drawingml/2006/main">
            <a:r>
              <a:t>      "summary": "외지인 평균 숙박일수: 3.13일 (관측 기준월: 2026-06)",</a:t>
            </a:r>
          </a:p>
          <a:p xmlns:a="http://schemas.openxmlformats.org/drawingml/2006/main">
            <a:r>
              <a:t>      "source_id": "dataset:50110:5",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내비게이션 목적지 유형별 검색량",</a:t>
            </a:r>
          </a:p>
          <a:p xmlns:a="http://schemas.openxmlformats.org/drawingml/2006/main">
            <a:r>
              <a:t>      "summary": "내비게이션 목적지 검색량: 580,380건 (관측 기준월: 2026-06)",</a:t>
            </a:r>
          </a:p>
          <a:p xmlns:a="http://schemas.openxmlformats.org/drawingml/2006/main">
            <a:r>
              <a:t>      "source_id": "dataset:50110:6",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SNS 언급량",</a:t>
            </a:r>
          </a:p>
          <a:p xmlns:a="http://schemas.openxmlformats.org/drawingml/2006/main">
            <a:r>
              <a:t>      "summary": "SNS 언급량: 138,652건 (관측 기준월: 2026-06)",</a:t>
            </a:r>
          </a:p>
          <a:p xmlns:a="http://schemas.openxmlformats.org/drawingml/2006/main">
            <a:r>
              <a:t>      "source_id": "dataset:50110:7",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제주특별자치도_제주시/방문자/2026_01_06.zip",</a:t>
            </a:r>
          </a:p>
          <a:p xmlns:a="http://schemas.openxmlformats.org/drawingml/2006/main">
            <a:r>
              <a:t>      "summary": "전국 비교 기준 기간: 2025-07 ~ 2026-06",</a:t>
            </a:r>
          </a:p>
          <a:p xmlns:a="http://schemas.openxmlformats.org/drawingml/2006/main">
            <a:r>
              <a:t>      "source_id": "datalab:3ec866bde028:27b141591f10",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제주특별자치도_제주시/숙박_체류시간/2026_01_06.zip",</a:t>
            </a:r>
          </a:p>
          <a:p xmlns:a="http://schemas.openxmlformats.org/drawingml/2006/main">
            <a:r>
              <a:t>      "summary": "전국 비교 기준 기간: 2025-07 ~ 2026-06",</a:t>
            </a:r>
          </a:p>
          <a:p xmlns:a="http://schemas.openxmlformats.org/drawingml/2006/main">
            <a:r>
              <a:t>      "source_id": "datalab:4833a91757b2:5c2efa032440",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제주특별자치도_제주시/숙박_체류시간/2025_01_12.zip",</a:t>
            </a:r>
          </a:p>
          <a:p xmlns:a="http://schemas.openxmlformats.org/drawingml/2006/main">
            <a:r>
              <a:t>      "summary": "전국 비교 기준 기간: 2025-07 ~ 2026-06",</a:t>
            </a:r>
          </a:p>
          <a:p xmlns:a="http://schemas.openxmlformats.org/drawingml/2006/main">
            <a:r>
              <a:t>      "source_id": "datalab:5d9f73f9fe47:2904d99e7279",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제주특별자치도_제주시/관광소비/2026_01_06.zip",</a:t>
            </a:r>
          </a:p>
          <a:p xmlns:a="http://schemas.openxmlformats.org/drawingml/2006/main">
            <a:r>
              <a:t>      "summary": "전국 비교 기준 기간: 2025-07 ~ 2026-06",</a:t>
            </a:r>
          </a:p>
          <a:p xmlns:a="http://schemas.openxmlformats.org/drawingml/2006/main">
            <a:r>
              <a:t>      "source_id": "datalab:95122c38b4fc:522e2d839300",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제주특별자치도_제주시/방문자/2025_01_12.zip",</a:t>
            </a:r>
          </a:p>
          <a:p xmlns:a="http://schemas.openxmlformats.org/drawingml/2006/main">
            <a:r>
              <a:t>      "summary": "전국 비교 기준 기간: 2025-07 ~ 2026-06",</a:t>
            </a:r>
          </a:p>
          <a:p xmlns:a="http://schemas.openxmlformats.org/drawingml/2006/main">
            <a:r>
              <a:t>      "source_id": "datalab:d73227708014:f4517115deb9",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제주특별자치도_제주시/관광소비/2025_01_12.zip",</a:t>
            </a:r>
          </a:p>
          <a:p xmlns:a="http://schemas.openxmlformats.org/drawingml/2006/main">
            <a:r>
              <a:t>      "summary": "전국 비교 기준 기간: 2025-07 ~ 2026-06",</a:t>
            </a:r>
          </a:p>
          <a:p xmlns:a="http://schemas.openxmlformats.org/drawingml/2006/main">
            <a:r>
              <a:t>      "source_id": "datalab:f07ad8a73d99:ed1b998de1b3",</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"regional-status:9ac27e83f27b:e998409010f6",</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"regional-status:daecd5ff8069:00c8b971be40",</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"regional-status:dd0eaa9c763f:3aadcdcac2c5",</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"ml:50110:regional-demand-v3.1:202606",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"title": "가는곶 세화",</a:t>
            </a:r>
          </a:p>
          <a:p xmlns:a="http://schemas.openxmlformats.org/drawingml/2006/main">
            <a:r>
              <a:t>      "address": "제주특별자치도 제주시 구좌읍 세화14길 3",</a:t>
            </a:r>
          </a:p>
          <a:p xmlns:a="http://schemas.openxmlformats.org/drawingml/2006/main">
            <a:r>
              <a:t>      "summary": "한국관광공사 국문관광정보 API가 반환한 선택 지역 관광자원",</a:t>
            </a:r>
          </a:p>
          <a:p xmlns:a="http://schemas.openxmlformats.org/drawingml/2006/main">
            <a:r>
              <a:t>      "image_url": "http://tong.visitkorea.or.kr/cms/resource/05/2850905_image2_1.jpg",</a:t>
            </a:r>
          </a:p>
          <a:p xmlns:a="http://schemas.openxmlformats.org/drawingml/2006/main">
            <a:r>
              <a:t>      "source_id": "tour-api:2850913",</a:t>
            </a:r>
          </a:p>
          <a:p xmlns:a="http://schemas.openxmlformats.org/drawingml/2006/main">
            <a:r>
              <a:t>      "content_id": "2850913",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"가새기오름",</a:t>
            </a:r>
          </a:p>
          <a:p xmlns:a="http://schemas.openxmlformats.org/drawingml/2006/main">
            <a:r>
              <a:t>      "address": "제주특별자치도 제주시 오라삼동",</a:t>
            </a:r>
          </a:p>
          <a:p xmlns:a="http://schemas.openxmlformats.org/drawingml/2006/main">
            <a:r>
              <a:t>      "summary": "한국관광공사 국문관광정보 API가 반환한 선택 지역 관광자원",</a:t>
            </a:r>
          </a:p>
          <a:p xmlns:a="http://schemas.openxmlformats.org/drawingml/2006/main">
            <a:r>
              <a:t>      "image_url": "http://tong.visitkorea.or.kr/cms/resource/82/3477882_image2_1.jpg",</a:t>
            </a:r>
          </a:p>
          <a:p xmlns:a="http://schemas.openxmlformats.org/drawingml/2006/main">
            <a:r>
              <a:t>      "source_id": "tour-api:1884521",</a:t>
            </a:r>
          </a:p>
          <a:p xmlns:a="http://schemas.openxmlformats.org/drawingml/2006/main">
            <a:r>
              <a:t>      "content_id": "1884521",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"가시어멍김밥",</a:t>
            </a:r>
          </a:p>
          <a:p xmlns:a="http://schemas.openxmlformats.org/drawingml/2006/main">
            <a:r>
              <a:t>      "address": "제주특별자치도 제주시 월랑로 36",</a:t>
            </a:r>
          </a:p>
          <a:p xmlns:a="http://schemas.openxmlformats.org/drawingml/2006/main">
            <a:r>
              <a:t>      "summary": "한국관광공사 국문관광정보 API가 반환한 선택 지역 관광자원",</a:t>
            </a:r>
          </a:p>
          <a:p xmlns:a="http://schemas.openxmlformats.org/drawingml/2006/main">
            <a:r>
              <a:t>      "image_url": "http://tong.visitkorea.or.kr/cms/resource/75/2837175_image2_1.jpg",</a:t>
            </a:r>
          </a:p>
          <a:p xmlns:a="http://schemas.openxmlformats.org/drawingml/2006/main">
            <a:r>
              <a:t>      "source_id": "tour-api:2837181",</a:t>
            </a:r>
          </a:p>
          <a:p xmlns:a="http://schemas.openxmlformats.org/drawingml/2006/main">
            <a:r>
              <a:t>      "content_id": "2837181",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"갈치공장",</a:t>
            </a:r>
          </a:p>
          <a:p xmlns:a="http://schemas.openxmlformats.org/drawingml/2006/main">
            <a:r>
              <a:t>      "address": "제주특별자치도 제주시 해맞이해안로 1296",</a:t>
            </a:r>
          </a:p>
          <a:p xmlns:a="http://schemas.openxmlformats.org/drawingml/2006/main">
            <a:r>
              <a:t>      "summary": "한국관광공사 국문관광정보 API가 반환한 선택 지역 관광자원",</a:t>
            </a:r>
          </a:p>
          <a:p xmlns:a="http://schemas.openxmlformats.org/drawingml/2006/main">
            <a:r>
              <a:t>      "image_url": "http://tong.visitkorea.or.kr/cms/resource/24/2853424_image2_1.jpg",</a:t>
            </a:r>
          </a:p>
          <a:p xmlns:a="http://schemas.openxmlformats.org/drawingml/2006/main">
            <a:r>
              <a:t>      "source_id": "tour-api:2853435",</a:t>
            </a:r>
          </a:p>
          <a:p xmlns:a="http://schemas.openxmlformats.org/drawingml/2006/main">
            <a:r>
              <a:t>      "content_id": "2853435",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"개오리오름",</a:t>
            </a:r>
          </a:p>
          <a:p xmlns:a="http://schemas.openxmlformats.org/drawingml/2006/main">
            <a:r>
              <a:t>      "address": "제주특별자치도 제주시 봉개동",</a:t>
            </a:r>
          </a:p>
          <a:p xmlns:a="http://schemas.openxmlformats.org/drawingml/2006/main">
            <a:r>
              <a:t>      "summary": "한국관광공사 국문관광정보 API가 반환한 선택 지역 관광자원",</a:t>
            </a:r>
          </a:p>
          <a:p xmlns:a="http://schemas.openxmlformats.org/drawingml/2006/main">
            <a:r>
              <a:t>      "image_url": "http://tong.visitkorea.or.kr/cms/resource/47/3478047_image2_1.jpg",</a:t>
            </a:r>
          </a:p>
          <a:p xmlns:a="http://schemas.openxmlformats.org/drawingml/2006/main">
            <a:r>
              <a:t>      "source_id": "tour-api:1889809",</a:t>
            </a:r>
          </a:p>
          <a:p xmlns:a="http://schemas.openxmlformats.org/drawingml/2006/main">
            <a:r>
              <a:t>      "content_id": "1889809",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"거슨새미오름",</a:t>
            </a:r>
          </a:p>
          <a:p xmlns:a="http://schemas.openxmlformats.org/drawingml/2006/main">
            <a:r>
              <a:t>      "address": "제주특별자치도 제주시 구좌읍 송당리",</a:t>
            </a:r>
          </a:p>
          <a:p xmlns:a="http://schemas.openxmlformats.org/drawingml/2006/main">
            <a:r>
              <a:t>      "summary": "한국관광공사 국문관광정보 API가 반환한 선택 지역 관광자원",</a:t>
            </a:r>
          </a:p>
          <a:p xmlns:a="http://schemas.openxmlformats.org/drawingml/2006/main">
            <a:r>
              <a:t>      "image_url": "http://tong.visitkorea.or.kr/cms/resource/04/3477804_image2_1.jpg",</a:t>
            </a:r>
          </a:p>
          <a:p xmlns:a="http://schemas.openxmlformats.org/drawingml/2006/main">
            <a:r>
              <a:t>      "source_id": "tour-api:1918646",</a:t>
            </a:r>
          </a:p>
          <a:p xmlns:a="http://schemas.openxmlformats.org/drawingml/2006/main">
            <a:r>
              <a:t>      "content_id": "1918646",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"경성수산",</a:t>
            </a:r>
          </a:p>
          <a:p xmlns:a="http://schemas.openxmlformats.org/drawingml/2006/main">
            <a:r>
              <a:t>      "address": "제주특별자치도 제주시 한림상로 111",</a:t>
            </a:r>
          </a:p>
          <a:p xmlns:a="http://schemas.openxmlformats.org/drawingml/2006/main">
            <a:r>
              <a:t>      "summary": "한국관광공사 국문관광정보 API가 반환한 선택 지역 관광자원",</a:t>
            </a:r>
          </a:p>
          <a:p xmlns:a="http://schemas.openxmlformats.org/drawingml/2006/main">
            <a:r>
              <a:t>      "image_url": "http://tong.visitkorea.or.kr/cms/resource/09/2870509_image2_1.jpg",</a:t>
            </a:r>
          </a:p>
          <a:p xmlns:a="http://schemas.openxmlformats.org/drawingml/2006/main">
            <a:r>
              <a:t>      "source_id": "tour-api:2870515",</a:t>
            </a:r>
          </a:p>
          <a:p xmlns:a="http://schemas.openxmlformats.org/drawingml/2006/main">
            <a:r>
              <a:t>      "content_id": "2870515",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"고내포구",</a:t>
            </a:r>
          </a:p>
          <a:p xmlns:a="http://schemas.openxmlformats.org/drawingml/2006/main">
            <a:r>
              <a:t>      "address": "제주특별자치도 제주시 애월읍 고내리 1111-4",</a:t>
            </a:r>
          </a:p>
          <a:p xmlns:a="http://schemas.openxmlformats.org/drawingml/2006/main">
            <a:r>
              <a:t>      "summary": "한국관광공사 국문관광정보 API가 반환한 선택 지역 관광자원",</a:t>
            </a:r>
          </a:p>
          <a:p xmlns:a="http://schemas.openxmlformats.org/drawingml/2006/main">
            <a:r>
              <a:t>      "image_url": "http://tong.visitkorea.or.kr/cms/resource/19/3589219_image2_1.jpg",</a:t>
            </a:r>
          </a:p>
          <a:p xmlns:a="http://schemas.openxmlformats.org/drawingml/2006/main">
            <a:r>
              <a:t>      "source_id": "tour-api:2791433",</a:t>
            </a:r>
          </a:p>
          <a:p xmlns:a="http://schemas.openxmlformats.org/drawingml/2006/main">
            <a:r>
              <a:t>      "content_id": "2791433",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"고사리커피",</a:t>
            </a:r>
          </a:p>
          <a:p xmlns:a="http://schemas.openxmlformats.org/drawingml/2006/main">
            <a:r>
              <a:t>      "address": "제주특별자치도 제주시 구좌읍 중산간동로 2064",</a:t>
            </a:r>
          </a:p>
          <a:p xmlns:a="http://schemas.openxmlformats.org/drawingml/2006/main">
            <a:r>
              <a:t>      "summary": "한국관광공사 국문관광정보 API가 반환한 선택 지역 관광자원",</a:t>
            </a:r>
          </a:p>
          <a:p xmlns:a="http://schemas.openxmlformats.org/drawingml/2006/main">
            <a:r>
              <a:t>      "image_url": "http://tong.visitkorea.or.kr/cms/resource/18/2863918_image2_1.JPG",</a:t>
            </a:r>
          </a:p>
          <a:p xmlns:a="http://schemas.openxmlformats.org/drawingml/2006/main">
            <a:r>
              <a:t>      "source_id": "tour-api:2863927",</a:t>
            </a:r>
          </a:p>
          <a:p xmlns:a="http://schemas.openxmlformats.org/drawingml/2006/main">
            <a:r>
              <a:t>      "content_id": "2863927",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"고스트타운",</a:t>
            </a:r>
          </a:p>
          <a:p xmlns:a="http://schemas.openxmlformats.org/drawingml/2006/main">
            <a:r>
              <a:t>      "address": "제주특별자치도 제주시 애월읍 부룡수길 35-14",</a:t>
            </a:r>
          </a:p>
          <a:p xmlns:a="http://schemas.openxmlformats.org/drawingml/2006/main">
            <a:r>
              <a:t>      "summary": "한국관광공사 국문관광정보 API가 반환한 선택 지역 관광자원",</a:t>
            </a:r>
          </a:p>
          <a:p xmlns:a="http://schemas.openxmlformats.org/drawingml/2006/main">
            <a:r>
              <a:t>      "image_url": "http://tong.visitkorea.or.kr/cms/resource/81/3396881_image2_1.jpg",</a:t>
            </a:r>
          </a:p>
          <a:p xmlns:a="http://schemas.openxmlformats.org/drawingml/2006/main">
            <a:r>
              <a:t>      "source_id": "tour-api:2759120",</a:t>
            </a:r>
          </a:p>
          <a:p xmlns:a="http://schemas.openxmlformats.org/drawingml/2006/main">
            <a:r>
              <a:t>      "content_id": "2759120",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"고이정",</a:t>
            </a:r>
          </a:p>
          <a:p xmlns:a="http://schemas.openxmlformats.org/drawingml/2006/main">
            <a:r>
              <a:t>      "address": "제주특별자치도 제주시 애월읍 애월로 6",</a:t>
            </a:r>
          </a:p>
          <a:p xmlns:a="http://schemas.openxmlformats.org/drawingml/2006/main">
            <a:r>
              <a:t>      "summary": "한국관광공사 국문관광정보 API가 반환한 선택 지역 관광자원",</a:t>
            </a:r>
          </a:p>
          <a:p xmlns:a="http://schemas.openxmlformats.org/drawingml/2006/main">
            <a:r>
              <a:t>      "image_url": "http://tong.visitkorea.or.kr/cms/resource/08/2759208_image2_1.jpg",</a:t>
            </a:r>
          </a:p>
          <a:p xmlns:a="http://schemas.openxmlformats.org/drawingml/2006/main">
            <a:r>
              <a:t>      "source_id": "tour-api:2759061",</a:t>
            </a:r>
          </a:p>
          <a:p xmlns:a="http://schemas.openxmlformats.org/drawingml/2006/main">
            <a:r>
              <a:t>      "content_id": "2759061",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"고토커피바",</a:t>
            </a:r>
          </a:p>
          <a:p xmlns:a="http://schemas.openxmlformats.org/drawingml/2006/main">
            <a:r>
              <a:t>      "address": "제주특별자치도 제주시 애월읍 구엄동3길 56",</a:t>
            </a:r>
          </a:p>
          <a:p xmlns:a="http://schemas.openxmlformats.org/drawingml/2006/main">
            <a:r>
              <a:t>      "summary": "한국관광공사 국문관광정보 API가 반환한 선택 지역 관광자원",</a:t>
            </a:r>
          </a:p>
          <a:p xmlns:a="http://schemas.openxmlformats.org/drawingml/2006/main">
            <a:r>
              <a:t>      "image_url": "http://tong.visitkorea.or.kr/cms/resource/07/2863907_image2_1.jpg",</a:t>
            </a:r>
          </a:p>
          <a:p xmlns:a="http://schemas.openxmlformats.org/drawingml/2006/main">
            <a:r>
              <a:t>      "source_id": "tour-api:2863913",</a:t>
            </a:r>
          </a:p>
          <a:p xmlns:a="http://schemas.openxmlformats.org/drawingml/2006/main">
            <a:r>
              <a:t>      "content_id": "2863913",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"골목식당",</a:t>
            </a:r>
          </a:p>
          <a:p xmlns:a="http://schemas.openxmlformats.org/drawingml/2006/main">
            <a:r>
              <a:t>      "address": "제주특별자치도 제주시 중앙로 63-9 (이도일동)",</a:t>
            </a:r>
          </a:p>
          <a:p xmlns:a="http://schemas.openxmlformats.org/drawingml/2006/main">
            <a:r>
              <a:t>      "summary": "한국관광공사 국문관광정보 API가 반환한 선택 지역 관광자원",</a:t>
            </a:r>
          </a:p>
          <a:p xmlns:a="http://schemas.openxmlformats.org/drawingml/2006/main">
            <a:r>
              <a:t>      "image_url": "http://tong.visitkorea.or.kr/cms/resource/79/2857279_image2_1.JPG",</a:t>
            </a:r>
          </a:p>
          <a:p xmlns:a="http://schemas.openxmlformats.org/drawingml/2006/main">
            <a:r>
              <a:t>      "source_id": "tour-api:2857289",</a:t>
            </a:r>
          </a:p>
          <a:p xmlns:a="http://schemas.openxmlformats.org/drawingml/2006/main">
            <a:r>
              <a:t>      "content_id": "2857289",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"골목카페옥수",</a:t>
            </a:r>
          </a:p>
          <a:p xmlns:a="http://schemas.openxmlformats.org/drawingml/2006/main">
            <a:r>
              <a:t>      "address": "제주특별자치도 제주시 소길1길 19",</a:t>
            </a:r>
          </a:p>
          <a:p xmlns:a="http://schemas.openxmlformats.org/drawingml/2006/main">
            <a:r>
              <a:t>      "summary": "한국관광공사 국문관광정보 API가 반환한 선택 지역 관광자원",</a:t>
            </a:r>
          </a:p>
          <a:p xmlns:a="http://schemas.openxmlformats.org/drawingml/2006/main">
            <a:r>
              <a:t>      "image_url": "http://tong.visitkorea.or.kr/cms/resource/03/2852303_image2_1.jpg",</a:t>
            </a:r>
          </a:p>
          <a:p xmlns:a="http://schemas.openxmlformats.org/drawingml/2006/main">
            <a:r>
              <a:t>      "source_id": "tour-api:2852311",</a:t>
            </a:r>
          </a:p>
          <a:p xmlns:a="http://schemas.openxmlformats.org/drawingml/2006/main">
            <a:r>
              <a:t>      "content_id": "2852311",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"골체오름캠핑",</a:t>
            </a:r>
          </a:p>
          <a:p xmlns:a="http://schemas.openxmlformats.org/drawingml/2006/main">
            <a:r>
              <a:t>      "address": "제주특별자치도 제주시 조천읍 번영로 1648-41",</a:t>
            </a:r>
          </a:p>
          <a:p xmlns:a="http://schemas.openxmlformats.org/drawingml/2006/main">
            <a:r>
              <a:t>      "summary": "한국관광공사 국문관광정보 API가 반환한 선택 지역 관광자원",</a:t>
            </a:r>
          </a:p>
          <a:p xmlns:a="http://schemas.openxmlformats.org/drawingml/2006/main">
            <a:r>
              <a:t>      "image_url": "http://tong.visitkorea.or.kr/cms/resource/74/2739574_image2_1.jpg",</a:t>
            </a:r>
          </a:p>
          <a:p xmlns:a="http://schemas.openxmlformats.org/drawingml/2006/main">
            <a:r>
              <a:t>      "source_id": "tour-api:2739395",</a:t>
            </a:r>
          </a:p>
          <a:p xmlns:a="http://schemas.openxmlformats.org/drawingml/2006/main">
            <a:r>
              <a:t>      "content_id": "2739395",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"곰막식당/곰막",</a:t>
            </a:r>
          </a:p>
          <a:p xmlns:a="http://schemas.openxmlformats.org/drawingml/2006/main">
            <a:r>
              <a:t>      "address": "제주특별자치도 제주시 구좌읍 구좌해안로 64",</a:t>
            </a:r>
          </a:p>
          <a:p xmlns:a="http://schemas.openxmlformats.org/drawingml/2006/main">
            <a:r>
              <a:t>      "summary": "한국관광공사 국문관광정보 API가 반환한 선택 지역 관광자원",</a:t>
            </a:r>
          </a:p>
          <a:p xmlns:a="http://schemas.openxmlformats.org/drawingml/2006/main">
            <a:r>
              <a:t>      "image_url": "http://tong.visitkorea.or.kr/cms/resource/21/2759221_image2_1.jpg",</a:t>
            </a:r>
          </a:p>
          <a:p xmlns:a="http://schemas.openxmlformats.org/drawingml/2006/main">
            <a:r>
              <a:t>      "source_id": "tour-api:2759096",</a:t>
            </a:r>
          </a:p>
          <a:p xmlns:a="http://schemas.openxmlformats.org/drawingml/2006/main">
            <a:r>
              <a:t>      "content_id": "2759096",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"곽지해수욕장",</a:t>
            </a:r>
          </a:p>
          <a:p xmlns:a="http://schemas.openxmlformats.org/drawingml/2006/main">
            <a:r>
              <a:t>      "address": "제주특별자치도 제주시 애월읍 곽지리 1565",</a:t>
            </a:r>
          </a:p>
          <a:p xmlns:a="http://schemas.openxmlformats.org/drawingml/2006/main">
            <a:r>
              <a:t>      "summary": "한국관광공사 국문관광정보 API가 반환한 선택 지역 관광자원",</a:t>
            </a:r>
          </a:p>
          <a:p xmlns:a="http://schemas.openxmlformats.org/drawingml/2006/main">
            <a:r>
              <a:t>      "image_url": "http://tong.visitkorea.or.kr/cms/resource/30/3053130_image2_1.jpg",</a:t>
            </a:r>
          </a:p>
          <a:p xmlns:a="http://schemas.openxmlformats.org/drawingml/2006/main">
            <a:r>
              <a:t>      "source_id": "tour-api:127870",</a:t>
            </a:r>
          </a:p>
          <a:p xmlns:a="http://schemas.openxmlformats.org/drawingml/2006/main">
            <a:r>
              <a:t>      "content_id": "127870",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"괴오름",</a:t>
            </a:r>
          </a:p>
          <a:p xmlns:a="http://schemas.openxmlformats.org/drawingml/2006/main">
            <a:r>
              <a:t>      "address": "제주특별자치도 제주시 애월읍 봉성리 산41",</a:t>
            </a:r>
          </a:p>
          <a:p xmlns:a="http://schemas.openxmlformats.org/drawingml/2006/main">
            <a:r>
              <a:t>      "summary": "한국관광공사 국문관광정보 API가 반환한 선택 지역 관광자원",</a:t>
            </a:r>
          </a:p>
          <a:p xmlns:a="http://schemas.openxmlformats.org/drawingml/2006/main">
            <a:r>
              <a:t>      "image_url": "http://tong.visitkorea.or.kr/cms/resource/40/3585540_image2_1.jpg",</a:t>
            </a:r>
          </a:p>
          <a:p xmlns:a="http://schemas.openxmlformats.org/drawingml/2006/main">
            <a:r>
              <a:t>      "source_id": "tour-api:1918950",</a:t>
            </a:r>
          </a:p>
          <a:p xmlns:a="http://schemas.openxmlformats.org/drawingml/2006/main">
            <a:r>
              <a:t>      "content_id": "1918950",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"교래 삼다수마을",</a:t>
            </a:r>
          </a:p>
          <a:p xmlns:a="http://schemas.openxmlformats.org/drawingml/2006/main">
            <a:r>
              <a:t>      "address": "제주특별자치도 제주시 조천읍 교래3길 98",</a:t>
            </a:r>
          </a:p>
          <a:p xmlns:a="http://schemas.openxmlformats.org/drawingml/2006/main">
            <a:r>
              <a:t>      "summary": "한국관광공사 국문관광정보 API가 반환한 선택 지역 관광자원",</a:t>
            </a:r>
          </a:p>
          <a:p xmlns:a="http://schemas.openxmlformats.org/drawingml/2006/main">
            <a:r>
              <a:t>      "image_url": "http://tong.visitkorea.or.kr/cms/resource/18/3586318_image2_1.jpg",</a:t>
            </a:r>
          </a:p>
          <a:p xmlns:a="http://schemas.openxmlformats.org/drawingml/2006/main">
            <a:r>
              <a:t>      "source_id": "tour-api:128443",</a:t>
            </a:r>
          </a:p>
          <a:p xmlns:a="http://schemas.openxmlformats.org/drawingml/2006/main">
            <a:r>
              <a:t>      "content_id": "128443",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36쪽, PDF 40쪽, PDF 41쪽,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9</a:t>
            </a:r>
          </a:p>
          <a:p xmlns:a="http://schemas.openxmlformats.org/drawingml/2006/main">
            <a:r>
              <a:t>    },</a:t>
            </a:r>
          </a:p>
          <a:p xmlns:a="http://schemas.openxmlformats.org/drawingml/2006/main">
            <a:r>
              <a:t>    {</a:t>
            </a:r>
          </a:p>
          <a:p xmlns:a="http://schemas.openxmlformats.org/drawingml/2006/main">
            <a:r>
              <a:t>      "title": "외국인 개별관광객 지방 방문 촉진 고토치 셔틀 운영자료",</a:t>
            </a:r>
          </a:p>
          <a:p xmlns:a="http://schemas.openxmlformats.org/drawingml/2006/main">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"source_id": "case:199f928478e634",</a:t>
            </a:r>
          </a:p>
          <a:p xmlns:a="http://schemas.openxmlformats.org/drawingml/2006/main">
            <a:r>
              <a:t>      "source_url": "https://kto.visitkorea.or.kr/upload/flexer/upload/ktobiz/20190417/ca99de85-60a6-11e9-9d6f-39c7f0d61b75.hwp.files/Sections1.html",</a:t>
            </a:r>
          </a:p>
          <a:p xmlns:a="http://schemas.openxmlformats.org/drawingml/2006/main">
            <a:r>
              <a:t>      "case_region": "서울 출발 지방 관광지 연계 노선",</a:t>
            </a:r>
          </a:p>
          <a:p xmlns:a="http://schemas.openxmlformats.org/drawingml/2006/main">
            <a:r>
              <a:t>      "source_type": "benchmark_case",</a:t>
            </a:r>
          </a:p>
          <a:p xmlns:a="http://schemas.openxmlformats.org/drawingml/2006/main">
            <a:r>
              <a:t>      "intervention": "고토치 셔틀—외국인 대상 예약·결제형 지역관광 버스",</a:t>
            </a:r>
          </a:p>
          <a:p xmlns:a="http://schemas.openxmlformats.org/drawingml/2006/main">
            <a:r>
              <a:t>      "document_type": null,</a:t>
            </a:r>
          </a:p>
          <a:p xmlns:a="http://schemas.openxmlformats.org/drawingml/2006/main">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"2014년 사업 시작부터 2019년 공개 시점까지 누적",</a:t>
            </a:r>
          </a:p>
          <a:p xmlns:a="http://schemas.openxmlformats.org/drawingml/2006/main">
            <a:r>
              <a:t>      "transfer_conditions": [</a:t>
            </a:r>
          </a:p>
          <a:p xmlns:a="http://schemas.openxmlformats.org/drawingml/2006/main">
            <a:r>
              <a:t>        "제주시에서는 서울 출발 장거리 셔틀이 아니라 제주공항–제주시 도심–저녁 체험 또는 읍·면 거점을 연결하는 예약형 소규모 노선으로 변경",</a:t>
            </a:r>
          </a:p>
          <a:p xmlns:a="http://schemas.openxmlformats.org/drawingml/2006/main">
            <a:r>
              <a:t>        "정기 대중교통과 중복되지 않는 시간대·목적지를 선정하고 운송사업자와 적법한 운영계약 필요",</a:t>
            </a:r>
          </a:p>
          <a:p xmlns:a="http://schemas.openxmlformats.org/drawingml/2006/main">
            <a:r>
              <a:t>        "왕복 교통만 판매하지 말고 예약 가능한 체험·식음·야간 콘텐츠와 묶어 실제 이용기록을 남겨야 함",</a:t>
            </a:r>
          </a:p>
          <a:p xmlns:a="http://schemas.openxmlformats.org/drawingml/2006/main">
            <a:r>
              <a:t>        "항공편 지연을 고려한 탑승 유예·환불·대체 회차 규칙 필요",</a:t>
            </a:r>
          </a:p>
          <a:p xmlns:a="http://schemas.openxmlformats.org/drawingml/2006/main">
            <a:r>
              <a:t>        "좌석 예약률, 실제 탑승률, 체험 완료율, 권역 내 결제액을 분리 측정"</a:t>
            </a:r>
          </a:p>
          <a:p xmlns:a="http://schemas.openxmlformats.org/drawingml/2006/main">
            <a:r>
              <a:t>      ],</a:t>
            </a:r>
          </a:p>
          <a:p xmlns:a="http://schemas.openxmlformats.org/drawingml/2006/main">
            <a:r>
              <a:t>      "published_or_updated_at": "2019-04-17",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우수 활용사례(2025)—데이터 기반 강진 반값여행으로 지역 경제를 살리다",</a:t>
            </a:r>
          </a:p>
          <a:p xmlns:a="http://schemas.openxmlformats.org/drawingml/2006/main">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"source_id": "case:761228c746fb13",</a:t>
            </a:r>
          </a:p>
          <a:p xmlns:a="http://schemas.openxmlformats.org/drawingml/2006/main">
            <a:r>
              <a:t>      "source_url": "https://datalab.visitkorea.or.kr/html/interview5/interview01.jsp",</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반값여행—지역지출 환급과 지역상품권 재소비",</a:t>
            </a:r>
          </a:p>
          <a:p xmlns:a="http://schemas.openxmlformats.org/drawingml/2006/main">
            <a:r>
              <a:t>      "document_type": null,</a:t>
            </a:r>
          </a:p>
          <a:p xmlns:a="http://schemas.openxmlformats.org/drawingml/2006/main">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실적을 이전 연도 및 자체·통신·상품권 자료와 비교",</a:t>
            </a:r>
          </a:p>
          <a:p xmlns:a="http://schemas.openxmlformats.org/drawingml/2006/main">
            <a:r>
              <a:t>      "transfer_conditions": [</a:t>
            </a:r>
          </a:p>
          <a:p xmlns:a="http://schemas.openxmlformats.org/drawingml/2006/main">
            <a:r>
              <a:t>        "제주시에 적용하려면 대상 권역·참여자·환급 인정 업종·최대 환급액을 제한한 시범사업으로 축소해야 함",</a:t>
            </a:r>
          </a:p>
          <a:p xmlns:a="http://schemas.openxmlformats.org/drawingml/2006/main">
            <a:r>
              <a:t>        "지역화폐 또는 사용처가 제한된 디지털 바우처와 정산 시스템 확보 필요",</a:t>
            </a:r>
          </a:p>
          <a:p xmlns:a="http://schemas.openxmlformats.org/drawingml/2006/main">
            <a:r>
              <a:t>        "여행 전 신청, 현장 방문 및 결제 증빙, 중복·허위 영수증 검증 절차 필요",</a:t>
            </a:r>
          </a:p>
          <a:p xmlns:a="http://schemas.openxmlformats.org/drawingml/2006/main">
            <a:r>
              <a:t>        "제주시의 방문 규모와 상권 구조는 강진군과 크게 다르므로 강진 예산·증가율을 비례 환산하지 않음",</a:t>
            </a:r>
          </a:p>
          <a:p xmlns:a="http://schemas.openxmlformats.org/drawingml/2006/main">
            <a:r>
              <a:t>        "성과는 신청팀 수가 아니라 여행 완료율, 인정 결제액, 환급액, 환급분 재사용액, 참여업체별 순증 결제로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"서울달(SEOULDAL)—서울 정책 아카이브",</a:t>
            </a:r>
          </a:p>
          <a:p xmlns:a="http://schemas.openxmlformats.org/drawingml/2006/main">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"source_id": "case:946857867790a6",</a:t>
            </a:r>
          </a:p>
          <a:p xmlns:a="http://schemas.openxmlformats.org/drawingml/2006/main">
            <a:r>
              <a:t>      "source_url": "https://www.seoul.go.kr/policy/view.do?id=1022&amp;lan=",</a:t>
            </a:r>
          </a:p>
          <a:p xmlns:a="http://schemas.openxmlformats.org/drawingml/2006/main">
            <a:r>
              <a:t>      "case_region": "서울특별시 영등포구 여의도",</a:t>
            </a:r>
          </a:p>
          <a:p xmlns:a="http://schemas.openxmlformats.org/drawingml/2006/main">
            <a:r>
              <a:t>      "source_type": "benchmark_case",</a:t>
            </a:r>
          </a:p>
          <a:p xmlns:a="http://schemas.openxmlformats.org/drawingml/2006/main">
            <a:r>
              <a:t>      "intervention": "서울달—예약채널 확대와 야간 운영시간 연장",</a:t>
            </a:r>
          </a:p>
          <a:p xmlns:a="http://schemas.openxmlformats.org/drawingml/2006/main">
            <a:r>
              <a:t>      "document_type": null,</a:t>
            </a:r>
          </a:p>
          <a:p xmlns:a="http://schemas.openxmlformats.org/drawingml/2006/main">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8월 정식 운영 이후부터 2026년 6월까지 누적 실적",</a:t>
            </a:r>
          </a:p>
          <a:p xmlns:a="http://schemas.openxmlformats.org/drawingml/2006/main">
            <a:r>
              <a:t>      "transfer_conditions": [</a:t>
            </a:r>
          </a:p>
          <a:p xmlns:a="http://schemas.openxmlformats.org/drawingml/2006/main">
            <a:r>
              <a:t>        "제주시는 고비용 신규 시설을 복제하지 말고 기존 전망·문화·해양·공공시설의 미판매 시간대를 예약상품으로 전환",</a:t>
            </a:r>
          </a:p>
          <a:p xmlns:a="http://schemas.openxmlformats.org/drawingml/2006/main">
            <a:r>
              <a:t>        "10~12월 일몰시간과 항공 도착시간을 반영해 저녁 회차를 편성하고 기상 취소·환불 규칙을 사전 고지",</a:t>
            </a:r>
          </a:p>
          <a:p xmlns:a="http://schemas.openxmlformats.org/drawingml/2006/main">
            <a:r>
              <a:t>        "국내 예약 플랫폼과 외국어 판매채널에서 동일한 재고·시간표를 관리할 수 있는 운영자 필요",</a:t>
            </a:r>
          </a:p>
          <a:p xmlns:a="http://schemas.openxmlformats.org/drawingml/2006/main">
            <a:r>
              <a:t>        "예약 노출→결제→방문 완료→인근 상권 결제의 단계별 전환율을 수집",</a:t>
            </a:r>
          </a:p>
          <a:p xmlns:a="http://schemas.openxmlformats.org/drawingml/2006/main">
            <a:r>
              <a:t>        "야간 프로그램 운영일과 비운영일, 참여시설과 비참여시설을 구분해 비교"</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"야간관광 특화도시 인천, 5만원 할인 숙박상품 기획전 열어",</a:t>
            </a:r>
          </a:p>
          <a:p xmlns:a="http://schemas.openxmlformats.org/drawingml/2006/main">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xmlns:a="http://schemas.openxmlformats.org/drawingml/2006/main">
            <a:r>
              <a:t>      "source_id": "case:a40729ff2a147d",</a:t>
            </a:r>
          </a:p>
          <a:p xmlns:a="http://schemas.openxmlformats.org/drawingml/2006/main">
            <a:r>
              <a:t>      "source_url": "https://www.incheon.go.kr/IC010205/view?curPage=688&amp;repSeq=DOM_0000000007400989",</a:t>
            </a:r>
          </a:p>
          <a:p xmlns:a="http://schemas.openxmlformats.org/drawingml/2006/main">
            <a:r>
              <a:t>      "case_region": "인천광역시 송도 센트럴파크 권역",</a:t>
            </a:r>
          </a:p>
          <a:p xmlns:a="http://schemas.openxmlformats.org/drawingml/2006/main">
            <a:r>
              <a:t>      "source_type": "benchmark_case",</a:t>
            </a:r>
          </a:p>
          <a:p xmlns:a="http://schemas.openxmlformats.org/drawingml/2006/main">
            <a:r>
              <a:t>      "intervention": "올 나이츠 럭셔리 인천—숙박쿠폰·관광패스·야간행사·셔틀 결합",</a:t>
            </a:r>
          </a:p>
          <a:p xmlns:a="http://schemas.openxmlformats.org/drawingml/2006/main">
            <a:r>
              <a:t>      "document_type": null,</a:t>
            </a:r>
          </a:p>
          <a:p xmlns:a="http://schemas.openxmlformats.org/drawingml/2006/main">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xmlns:a="http://schemas.openxmlformats.org/drawingml/2006/main">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"2023년 4월 25일~6월 20일 운영계획; 사후 성과 측정기간은 공식 자료에서 확인되지 않음",</a:t>
            </a:r>
          </a:p>
          <a:p xmlns:a="http://schemas.openxmlformats.org/drawingml/2006/main">
            <a:r>
              <a:t>      "transfer_conditions": [</a:t>
            </a:r>
          </a:p>
          <a:p xmlns:a="http://schemas.openxmlformats.org/drawingml/2006/main">
            <a:r>
              <a:t>        "제주시에서는 전 지역 숙박쿠폰보다 특정 야간 프로그램·권역·평일 입실에 한정한 묶음상품이 적합",</a:t>
            </a:r>
          </a:p>
          <a:p xmlns:a="http://schemas.openxmlformats.org/drawingml/2006/main">
            <a:r>
              <a:t>        "쿠폰 발급 건수가 아니라 실제 체크인과 관광패스 사용 완료 자료를 OTA로부터 받아야 함",</a:t>
            </a:r>
          </a:p>
          <a:p xmlns:a="http://schemas.openxmlformats.org/drawingml/2006/main">
            <a:r>
              <a:t>        "야간 콘텐츠 운영일, 숙박 가능일, 공항·도심 이동수단을 하나의 판매 일정으로 맞춰야 함",</a:t>
            </a:r>
          </a:p>
          <a:p xmlns:a="http://schemas.openxmlformats.org/drawingml/2006/main">
            <a:r>
              <a:t>        "참여 숙소·체험시설·식음업체 모집과 재고연동 협약 필요",</a:t>
            </a:r>
          </a:p>
          <a:p xmlns:a="http://schemas.openxmlformats.org/drawingml/2006/main">
            <a:r>
              <a:t>        "쿠폰 이용자와 유사한 비이용 예약자의 체류·결제를 비교할 수 있도록 사전 측정 설계 필요"</a:t>
            </a:r>
          </a:p>
          <a:p xmlns:a="http://schemas.openxmlformats.org/drawingml/2006/main">
            <a:r>
              <a:t>      ],</a:t>
            </a:r>
          </a:p>
          <a:p xmlns:a="http://schemas.openxmlformats.org/drawingml/2006/main">
            <a:r>
              <a:t>      "published_or_updated_at": "2023-04-26",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"is_forecast": true,</a:t>
            </a:r>
          </a:p>
          <a:p xmlns:a="http://schemas.openxmlformats.org/drawingml/2006/main">
            <a:r>
              <a:t>        "spending_krw": 150467072839.0,</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"is_forecast": true,</a:t>
            </a:r>
          </a:p>
          <a:p xmlns:a="http://schemas.openxmlformats.org/drawingml/2006/main">
            <a:r>
              <a:t>        "spending_krw": 145085139974.0,</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"is_forecast": true,</a:t>
            </a:r>
          </a:p>
          <a:p xmlns:a="http://schemas.openxmlformats.org/drawingml/2006/main">
            <a:r>
              <a:t>        "spending_krw": 149366639508.0,</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"is_forecast": true,</a:t>
            </a:r>
          </a:p>
          <a:p xmlns:a="http://schemas.openxmlformats.org/drawingml/2006/main">
            <a:r>
              <a:t>      "spending_krw": 140803668431,</a:t>
            </a:r>
          </a:p>
          <a:p xmlns:a="http://schemas.openxmlformats.org/drawingml/2006/main">
            <a:r>
              <a:t>      "stay_minutes": 2599.0,</a:t>
            </a:r>
          </a:p>
          <a:p xmlns:a="http://schemas.openxmlformats.org/drawingml/2006/main">
            <a:r>
              <a:t>      "lodging_nights": 3.2,</a:t>
            </a:r>
          </a:p>
          <a:p xmlns:a="http://schemas.openxmlformats.org/drawingml/2006/main">
            <a:r>
              <a:t>      "lodging_rate_pct": 21.7,</a:t>
            </a:r>
          </a:p>
          <a:p xmlns:a="http://schemas.openxmlformats.org/drawingml/2006/main">
            <a:r>
              <a:t>      "lodging_searches": 99946,</a:t>
            </a:r>
          </a:p>
          <a:p xmlns:a="http://schemas.openxmlformats.org/drawingml/2006/main">
            <a:r>
              <a:t>      "navigation_searches": 710719,</a:t>
            </a:r>
          </a:p>
          <a:p xmlns:a="http://schemas.openxmlformats.org/drawingml/2006/main">
            <a:r>
              <a:t>      "visitor_yoy_percent": -3.05,</a:t>
            </a:r>
          </a:p>
          <a:p xmlns:a="http://schemas.openxmlformats.org/drawingml/2006/main">
            <a:r>
              <a:t>      "spending_yoy_percent": -4.29,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3628591,</a:t>
            </a:r>
          </a:p>
          <a:p xmlns:a="http://schemas.openxmlformats.org/drawingml/2006/main">
            <a:r>
              <a:t>      "previous_year_spending_krw": 147121716000,</a:t>
            </a:r>
          </a:p>
          <a:p xmlns:a="http://schemas.openxmlformats.org/drawingml/2006/main">
            <a:r>
              <a:t>      "previous_year_stay_minutes": 2599.0,</a:t>
            </a:r>
          </a:p>
          <a:p xmlns:a="http://schemas.openxmlformats.org/drawingml/2006/main">
            <a:r>
              <a:t>      "previous_year_lodging_nights": 3.2,</a:t>
            </a:r>
          </a:p>
          <a:p xmlns:a="http://schemas.openxmlformats.org/drawingml/2006/main">
            <a:r>
              <a:t>      "previous_year_lodging_rate_pct": 21.7,</a:t>
            </a:r>
          </a:p>
          <a:p xmlns:a="http://schemas.openxmlformats.org/drawingml/2006/main">
            <a:r>
              <a:t>      "previous_year_lodging_searches": 99946,</a:t>
            </a:r>
          </a:p>
          <a:p xmlns:a="http://schemas.openxmlformats.org/drawingml/2006/main">
            <a:r>
              <a:t>      "previous_year_navigation_searches": 710719</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"is_forecast": true,</a:t>
            </a:r>
          </a:p>
          <a:p xmlns:a="http://schemas.openxmlformats.org/drawingml/2006/main">
            <a:r>
              <a:t>      "spending_krw": 147968744557,</a:t>
            </a:r>
          </a:p>
          <a:p xmlns:a="http://schemas.openxmlformats.org/drawingml/2006/main">
            <a:r>
              <a:t>      "stay_minutes": 2361.0,</a:t>
            </a:r>
          </a:p>
          <a:p xmlns:a="http://schemas.openxmlformats.org/drawingml/2006/main">
            <a:r>
              <a:t>      "lodging_nights": 3.15,</a:t>
            </a:r>
          </a:p>
          <a:p xmlns:a="http://schemas.openxmlformats.org/drawingml/2006/main">
            <a:r>
              <a:t>      "lodging_rate_pct": 22.1,</a:t>
            </a:r>
          </a:p>
          <a:p xmlns:a="http://schemas.openxmlformats.org/drawingml/2006/main">
            <a:r>
              <a:t>      "lodging_searches": 114775,</a:t>
            </a:r>
          </a:p>
          <a:p xmlns:a="http://schemas.openxmlformats.org/drawingml/2006/main">
            <a:r>
              <a:t>      "navigation_searches": 832625,</a:t>
            </a:r>
          </a:p>
          <a:p xmlns:a="http://schemas.openxmlformats.org/drawingml/2006/main">
            <a:r>
              <a:t>      "visitor_yoy_percent": -6.31,</a:t>
            </a:r>
          </a:p>
          <a:p xmlns:a="http://schemas.openxmlformats.org/drawingml/2006/main">
            <a:r>
              <a:t>      "spending_yoy_percent": -7.29,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3874804,</a:t>
            </a:r>
          </a:p>
          <a:p xmlns:a="http://schemas.openxmlformats.org/drawingml/2006/main">
            <a:r>
              <a:t>      "previous_year_spending_krw": 159605711000,</a:t>
            </a:r>
          </a:p>
          <a:p xmlns:a="http://schemas.openxmlformats.org/drawingml/2006/main">
            <a:r>
              <a:t>      "previous_year_stay_minutes": 2361.0,</a:t>
            </a:r>
          </a:p>
          <a:p xmlns:a="http://schemas.openxmlformats.org/drawingml/2006/main">
            <a:r>
              <a:t>      "previous_year_lodging_nights": 3.15,</a:t>
            </a:r>
          </a:p>
          <a:p xmlns:a="http://schemas.openxmlformats.org/drawingml/2006/main">
            <a:r>
              <a:t>      "previous_year_lodging_rate_pct": 22.1,</a:t>
            </a:r>
          </a:p>
          <a:p xmlns:a="http://schemas.openxmlformats.org/drawingml/2006/main">
            <a:r>
              <a:t>      "previous_year_lodging_searches": 114775,</a:t>
            </a:r>
          </a:p>
          <a:p xmlns:a="http://schemas.openxmlformats.org/drawingml/2006/main">
            <a:r>
              <a:t>      "previous_year_navigation_searches": 832625</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"is_forecast": true,</a:t>
            </a:r>
          </a:p>
          <a:p xmlns:a="http://schemas.openxmlformats.org/drawingml/2006/main">
            <a:r>
              <a:t>      "spending_krw": 128844309211,</a:t>
            </a:r>
          </a:p>
          <a:p xmlns:a="http://schemas.openxmlformats.org/drawingml/2006/main">
            <a:r>
              <a:t>      "stay_minutes": 2331.0,</a:t>
            </a:r>
          </a:p>
          <a:p xmlns:a="http://schemas.openxmlformats.org/drawingml/2006/main">
            <a:r>
              <a:t>      "lodging_nights": 3.04,</a:t>
            </a:r>
          </a:p>
          <a:p xmlns:a="http://schemas.openxmlformats.org/drawingml/2006/main">
            <a:r>
              <a:t>      "lodging_rate_pct": 21.3,</a:t>
            </a:r>
          </a:p>
          <a:p xmlns:a="http://schemas.openxmlformats.org/drawingml/2006/main">
            <a:r>
              <a:t>      "lodging_searches": 83147,</a:t>
            </a:r>
          </a:p>
          <a:p xmlns:a="http://schemas.openxmlformats.org/drawingml/2006/main">
            <a:r>
              <a:t>      "navigation_searches": 625924,</a:t>
            </a:r>
          </a:p>
          <a:p xmlns:a="http://schemas.openxmlformats.org/drawingml/2006/main">
            <a:r>
              <a:t>      "visitor_yoy_percent": 0.75,</a:t>
            </a:r>
          </a:p>
          <a:p xmlns:a="http://schemas.openxmlformats.org/drawingml/2006/main">
            <a:r>
              <a:t>      "spending_yoy_percent": -3.74,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3482583,</a:t>
            </a:r>
          </a:p>
          <a:p xmlns:a="http://schemas.openxmlformats.org/drawingml/2006/main">
            <a:r>
              <a:t>      "previous_year_spending_krw": 133843940000,</a:t>
            </a:r>
          </a:p>
          <a:p xmlns:a="http://schemas.openxmlformats.org/drawingml/2006/main">
            <a:r>
              <a:t>      "previous_year_stay_minutes": 2331.0,</a:t>
            </a:r>
          </a:p>
          <a:p xmlns:a="http://schemas.openxmlformats.org/drawingml/2006/main">
            <a:r>
              <a:t>      "previous_year_lodging_nights": 3.04,</a:t>
            </a:r>
          </a:p>
          <a:p xmlns:a="http://schemas.openxmlformats.org/drawingml/2006/main">
            <a:r>
              <a:t>      "previous_year_lodging_rate_pct": 21.3,</a:t>
            </a:r>
          </a:p>
          <a:p xmlns:a="http://schemas.openxmlformats.org/drawingml/2006/main">
            <a:r>
              <a:t>      "previous_year_lodging_searches": 83147,</a:t>
            </a:r>
          </a:p>
          <a:p xmlns:a="http://schemas.openxmlformats.org/drawingml/2006/main">
            <a:r>
              <a:t>      "previous_year_navigation_searches": 625924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"is_forecast": true,</a:t>
            </a:r>
          </a:p>
          <a:p xmlns:a="http://schemas.openxmlformats.org/drawingml/2006/main">
            <a:r>
              <a:t>      "spending_krw": 150467072839,</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"is_forecast": true,</a:t>
            </a:r>
          </a:p>
          <a:p xmlns:a="http://schemas.openxmlformats.org/drawingml/2006/main">
            <a:r>
              <a:t>      "spending_krw": 145085139974,</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"is_forecast": true,</a:t>
            </a:r>
          </a:p>
          <a:p xmlns:a="http://schemas.openxmlformats.org/drawingml/2006/main">
            <a:r>
              <a:t>      "spending_krw": 149366639508,</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183762.22,</a:t>
            </a:r>
          </a:p>
          <a:p xmlns:a="http://schemas.openxmlformats.org/drawingml/2006/main">
            <a:r>
              <a:t>        "recursive_mae": {</a:t>
            </a:r>
          </a:p>
          <a:p xmlns:a="http://schemas.openxmlformats.org/drawingml/2006/main">
            <a:r>
              <a:t>          "1": {</a:t>
            </a:r>
          </a:p>
          <a:p xmlns:a="http://schemas.openxmlformats.org/drawingml/2006/main">
            <a:r>
              <a:t>            "baseline": 141219,</a:t>
            </a:r>
          </a:p>
          <a:p xmlns:a="http://schemas.openxmlformats.org/drawingml/2006/main">
            <a:r>
              <a:t>            "selected": 265459,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144459.5,</a:t>
            </a:r>
          </a:p>
          <a:p xmlns:a="http://schemas.openxmlformats.org/drawingml/2006/main">
            <a:r>
              <a:t>            "selected": 136814,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297499.5,</a:t>
            </a:r>
          </a:p>
          <a:p xmlns:a="http://schemas.openxmlformats.org/drawingml/2006/main">
            <a:r>
              <a:t>            "selected": 180437.5,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219359.25,</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7866027889.97,</a:t>
            </a:r>
          </a:p>
          <a:p xmlns:a="http://schemas.openxmlformats.org/drawingml/2006/main">
            <a:r>
              <a:t>        "recursive_mae": {</a:t>
            </a:r>
          </a:p>
          <a:p xmlns:a="http://schemas.openxmlformats.org/drawingml/2006/main">
            <a:r>
              <a:t>          "1": {</a:t>
            </a:r>
          </a:p>
          <a:p xmlns:a="http://schemas.openxmlformats.org/drawingml/2006/main">
            <a:r>
              <a:t>            "baseline": 11633402000,</a:t>
            </a:r>
          </a:p>
          <a:p xmlns:a="http://schemas.openxmlformats.org/drawingml/2006/main">
            <a:r>
              <a:t>            "selected": 5070058833,</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5588447000,</a:t>
            </a:r>
          </a:p>
          <a:p xmlns:a="http://schemas.openxmlformats.org/drawingml/2006/main">
            <a:r>
              <a:t>            "selected": 2754801694.5,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5647526500,</a:t>
            </a:r>
          </a:p>
          <a:p xmlns:a="http://schemas.openxmlformats.org/drawingml/2006/main">
            <a:r>
              <a:t>            "selected": 11586732430.5,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8640464250,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138.75,</a:t>
            </a:r>
          </a:p>
          <a:p xmlns:a="http://schemas.openxmlformats.org/drawingml/2006/main">
            <a:r>
              <a:t>        "recursive_mae": {</a:t>
            </a:r>
          </a:p>
          <a:p xmlns:a="http://schemas.openxmlformats.org/drawingml/2006/main">
            <a:r>
              <a:t>          "1": {</a:t>
            </a:r>
          </a:p>
          <a:p xmlns:a="http://schemas.openxmlformats.org/drawingml/2006/main">
            <a:r>
              <a:t>            "baseline": 41,</a:t>
            </a:r>
          </a:p>
          <a:p xmlns:a="http://schemas.openxmlformats.org/drawingml/2006/main">
            <a:r>
              <a:t>            "selected": 41,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208.5,</a:t>
            </a:r>
          </a:p>
          <a:p xmlns:a="http://schemas.openxmlformats.org/drawingml/2006/main">
            <a:r>
              <a:t>            "selected":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236.5,</a:t>
            </a:r>
          </a:p>
          <a:p xmlns:a="http://schemas.openxmlformats.org/drawingml/2006/main">
            <a:r>
              <a:t>            "selected":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138.75,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0.03,</a:t>
            </a:r>
          </a:p>
          <a:p xmlns:a="http://schemas.openxmlformats.org/drawingml/2006/main">
            <a:r>
              <a:t>        "recursive_mae": {</a:t>
            </a:r>
          </a:p>
          <a:p xmlns:a="http://schemas.openxmlformats.org/drawingml/2006/main">
            <a:r>
              <a:t>          "1":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0.04,</a:t>
            </a:r>
          </a:p>
          <a:p xmlns:a="http://schemas.openxmlformats.org/drawingml/2006/main">
            <a:r>
              <a:t>            "selected":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a:t>
            </a:r>
          </a:p>
          <a:p xmlns:a="http://schemas.openxmlformats.org/drawingml/2006/main">
            <a:r>
              <a:t>        "recursive_mae": {</a:t>
            </a:r>
          </a:p>
          <a:p xmlns:a="http://schemas.openxmlformats.org/drawingml/2006/main">
            <a:r>
              <a:t>          "1": {</a:t>
            </a:r>
          </a:p>
          <a:p xmlns:a="http://schemas.openxmlformats.org/drawingml/2006/main">
            <a:r>
              <a:t>            "baseline": 0.7,</a:t>
            </a:r>
          </a:p>
          <a:p xmlns:a="http://schemas.openxmlformats.org/drawingml/2006/main">
            <a:r>
              <a:t>            "selected":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0.55,</a:t>
            </a:r>
          </a:p>
          <a:p xmlns:a="http://schemas.openxmlformats.org/drawingml/2006/main">
            <a:r>
              <a:t>            "selected":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5915.25,</a:t>
            </a:r>
          </a:p>
          <a:p xmlns:a="http://schemas.openxmlformats.org/drawingml/2006/main">
            <a:r>
              <a:t>        "recursive_mae": {</a:t>
            </a:r>
          </a:p>
          <a:p xmlns:a="http://schemas.openxmlformats.org/drawingml/2006/main">
            <a:r>
              <a:t>          "1": {</a:t>
            </a:r>
          </a:p>
          <a:p xmlns:a="http://schemas.openxmlformats.org/drawingml/2006/main">
            <a:r>
              <a:t>            "baseline": 2259.5,</a:t>
            </a:r>
          </a:p>
          <a:p xmlns:a="http://schemas.openxmlformats.org/drawingml/2006/main">
            <a:r>
              <a:t>            "selected":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5253.5,</a:t>
            </a:r>
          </a:p>
          <a:p xmlns:a="http://schemas.openxmlformats.org/drawingml/2006/main">
            <a:r>
              <a:t>            "selected":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9571,</a:t>
            </a:r>
          </a:p>
          <a:p xmlns:a="http://schemas.openxmlformats.org/drawingml/2006/main">
            <a:r>
              <a:t>            "selected": 9571,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5915.25,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29189.5,</a:t>
            </a:r>
          </a:p>
          <a:p xmlns:a="http://schemas.openxmlformats.org/drawingml/2006/main">
            <a:r>
              <a:t>        "recursive_mae": {</a:t>
            </a:r>
          </a:p>
          <a:p xmlns:a="http://schemas.openxmlformats.org/drawingml/2006/main">
            <a:r>
              <a:t>          "1": {</a:t>
            </a:r>
          </a:p>
          <a:p xmlns:a="http://schemas.openxmlformats.org/drawingml/2006/main">
            <a:r>
              <a:t>            "baseline": 11165.5,</a:t>
            </a:r>
          </a:p>
          <a:p xmlns:a="http://schemas.openxmlformats.org/drawingml/2006/main">
            <a:r>
              <a:t>            "selected":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19541,</a:t>
            </a:r>
          </a:p>
          <a:p xmlns:a="http://schemas.openxmlformats.org/drawingml/2006/main">
            <a:r>
              <a:t>            "selected": 19541,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47213.5,</a:t>
            </a:r>
          </a:p>
          <a:p xmlns:a="http://schemas.openxmlformats.org/drawingml/2006/main">
            <a:r>
              <a:t>            "selected":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29189.5,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20.0,</a:t>
            </a:r>
          </a:p>
          <a:p xmlns:a="http://schemas.openxmlformats.org/drawingml/2006/main">
            <a:r>
              <a:t>    "spending_target_pct": 20.0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"환급액 총액 100,000,000원 (기획 가정: 환급률 20%, 건별 상한 50,000원, 예상 참여자 10,000명 기준)",</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"환급액 총액 100,000,000원 (기획 가정: 환급률 20%, 건별 상한 50,000원, 예상 참여자 10,000명 기준)",</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"observed_findings": [</a:t>
            </a:r>
          </a:p>
          <a:p>
            <a:r>
              <a:t>    {</a:t>
            </a:r>
          </a:p>
          <a:p>
            <a:r>
              <a:t>      "value": "3,131,476명",</a:t>
            </a:r>
          </a:p>
          <a:p>
            <a:r>
              <a:t>      "metric": "월간 순 방문자 수",</a:t>
            </a:r>
          </a:p>
          <a:p>
            <a:r>
              <a:t>      "source": "dataset:50110:1",</a:t>
            </a:r>
          </a:p>
          <a:p>
            <a:r>
              <a:t>      "interpretation": "2026년 6월 기준 외지인 방문 규모는 크나, 전년 동월 대비 8.9% 감소 추세임 (dataset:50110:2)"</a:t>
            </a:r>
          </a:p>
          <a:p>
            <a:r>
              <a:t>    },</a:t>
            </a:r>
          </a:p>
          <a:p>
            <a:r>
              <a:t>    {</a:t>
            </a:r>
          </a:p>
          <a:p>
            <a:r>
              <a:t>      "value": "쇼핑업 39.0%, 식음료업 38.1%",</a:t>
            </a:r>
          </a:p>
          <a:p>
            <a:r>
              <a:t>      "metric": "관광소비 구성",</a:t>
            </a:r>
          </a:p>
          <a:p>
            <a:r>
              <a:t>      "source": "dataset:50110:3",</a:t>
            </a:r>
          </a:p>
          <a:p>
            <a:r>
              <a:t>      "interpretation": "쇼핑과 식음료가 소비의 핵심이며, 환급 사업의 주요 타겟 업종으로 적합함 (consumption_by_category)"</a:t>
            </a:r>
          </a:p>
          <a:p>
            <a:r>
              <a:t>    },</a:t>
            </a:r>
          </a:p>
          <a:p>
            <a:r>
              <a:t>    {</a:t>
            </a:r>
          </a:p>
          <a:p>
            <a:r>
              <a:t>      "value": "580,380건",</a:t>
            </a:r>
          </a:p>
          <a:p>
            <a:r>
              <a:t>      "metric": "내비게이션 목적지 검색량",</a:t>
            </a:r>
          </a:p>
          <a:p>
            <a:r>
              <a:t>      "source": "dataset:50110:6",</a:t>
            </a:r>
          </a:p>
          <a:p>
            <a:r>
              <a:t>      "interpretation": "관심도는 높으나 실제 방문 및 숙박으로의 전환을 촉진할 유인책이 필요함 (dataset:50110:6)"</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11,974,569명 (추가 1,394,404명, +13.18%)\n관광소비액: 기준 444,918,852,321원 → 목표 504,168,003,742원 (추가 59,249,151,421원, +13.32%)\n월별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아니다.\n사업기간 추가 방문 목표 1,394,404명 × 시범 담당 비중 1% → 13,945건(올림).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11974569.066666666,</a:t>
            </a:r>
          </a:p>
          <a:p>
            <a:r>
              <a:t>        "additional": 1394404.0666666664,</a:t>
            </a:r>
          </a:p>
          <a:p>
            <a:r>
              <a:t>        "pct": 13.179417019173778</a:t>
            </a:r>
          </a:p>
          <a:p>
            <a:r>
              <a:t>      },</a:t>
            </a:r>
          </a:p>
          <a:p>
            <a:r>
              <a:t>      {</a:t>
            </a:r>
          </a:p>
          <a:p>
            <a:r>
              <a:t>        "key": "spending",</a:t>
            </a:r>
          </a:p>
          <a:p>
            <a:r>
              <a:t>        "label": "관광소비액",</a:t>
            </a:r>
          </a:p>
          <a:p>
            <a:r>
              <a:t>        "unit": "원",</a:t>
            </a:r>
          </a:p>
          <a:p>
            <a:r>
              <a:t>        "baseline": 444918852321.0,</a:t>
            </a:r>
          </a:p>
          <a:p>
            <a:r>
              <a:t>        "target": 504168003741.7333,</a:t>
            </a:r>
          </a:p>
          <a:p>
            <a:r>
              <a:t>        "additional": 59249151420.73328,</a:t>
            </a:r>
          </a:p>
          <a:p>
            <a:r>
              <a:t>        "pct": 13.31684443391179</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8,</a:t>
            </a:r>
          </a:p>
          <a:p>
            <a:r>
              <a:t>    "case_region_count": 7,</a:t>
            </a:r>
          </a:p>
          <a:p>
            <a:r>
              <a:t>    "candidate_count": 2,</a:t>
            </a:r>
          </a:p>
          <a:p>
            <a:r>
              <a:t>    "displayed_count": 3,</a:t>
            </a:r>
          </a:p>
          <a:p>
            <a:r>
              <a:t>    "primary":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"selection_reason": "제주시의 외지인 관광소비 총액이 높고, 내비게이션 목적지 검색량이 높은 것으로 보여, 지역 상품권 환급 프로그램이 제주시의 관광 활성화에 효과적일 것으로 예상됩니다. 또한, 강진 반값여행 사례에서 확인된 환급 방식을 참고하여 제주시에 적용할 수 있으며, 지역 상품권 환급 프로그램은 제주시의 방문자 수 증가 및 소비 유도에 기여할 수 있습니다.",</a:t>
            </a:r>
          </a:p>
          <a:p>
            <a:r>
              <a:t>    "target_explanation":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datalab.visitkorea.or.kr/html/interview5/interview01.jsp" TargetMode="External"/><Relationship Id="rId7" Type="http://schemas.openxmlformats.org/officeDocument/2006/relationships/image" Target="../media/image2.jpg"/><Relationship Id="rId8" Type="http://schemas.openxmlformats.org/officeDocument/2006/relationships/hyperlink" Target="https://www.korean-culture.org/koreanet/view.do?seq=1047457" TargetMode="External"/><Relationship Id="rId9" Type="http://schemas.openxmlformats.org/officeDocument/2006/relationships/hyperlink" Target="https://www.seoul.go.kr/policy/view.do?id=1022&amp;lan="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kto.visitkorea.or.kr/upload/flexer/upload/ktobiz/20190417/ca99de85-60a6-11e9-9d6f-39c7f0d61b75.hwp.files/Sections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html/interview5/interview01.jsp"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kto.visitkorea.or.kr/upload/flexer/upload/ktobiz/20190417/ca99de85-60a6-11e9-9d6f-39c7f0d61b75.hwp.files/Sections1.html" TargetMode="External"/><Relationship Id="rId5" Type="http://schemas.openxmlformats.org/officeDocument/2006/relationships/hyperlink" Target="https://datalab.visitkorea.or.kr/html/interview5/interview01.jsp" TargetMode="External"/><Relationship Id="rId6" Type="http://schemas.openxmlformats.org/officeDocument/2006/relationships/hyperlink" Target="https://www.seoul.go.kr/policy/view.do?id=1022&amp;lan="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to.visitkorea.or.kr/upload/flexer/upload/ktobiz/20220928/b623b5f9-3ec0-11ed-9832-ddf31964842e.hwp.files/Sections1.html" TargetMode="External"/><Relationship Id="rId3" Type="http://schemas.openxmlformats.org/officeDocument/2006/relationships/hyperlink" Target="https://www.incheon.go.kr/IC010205/view?curPage=688&amp;repSeq=DOM_0000000007400989" TargetMode="External"/><Relationship Id="rId4" Type="http://schemas.openxmlformats.org/officeDocument/2006/relationships/hyperlink" Target="https://jnfarm.jeonnam.go.kr/board/FARM_BOARD_008/boardView.do?bdId=BD_00000000000011721&amp;menuCd=farm004002"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제주특별자치도 제주시 지역 상품권</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환급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2026-09-11</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2026. 09. 11</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제주특별자치도 제주시 지역 상품권</a:t>
            </a:r>
          </a:p>
          <a:p>
            <a:pPr eaLnBrk="0">
              <a:lnSpc>
                <a:spcPts val="4312"/>
              </a:lnSpc>
              <a:spcBef>
                <a:spcPts val="0"/>
              </a:spcBef>
              <a:spcAft>
                <a:spcPts val="0"/>
              </a:spcAft>
            </a:pPr>
            <a:r>
              <a:rPr sz="3450" b="1">
                <a:solidFill>
                  <a:srgbClr val="004EA2"/>
                </a:solidFill>
                <a:latin typeface="Noto Sans KR"/>
              </a:rPr>
              <a:t>환급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방문 외지인이 지정된 적격 업종에서 결제 시, 지출액의</a:t>
            </a:r>
          </a:p>
          <a:p>
            <a:pPr eaLnBrk="0">
              <a:lnSpc>
                <a:spcPts val="3187"/>
              </a:lnSpc>
              <a:spcBef>
                <a:spcPts val="0"/>
              </a:spcBef>
              <a:spcAft>
                <a:spcPts val="0"/>
              </a:spcAft>
            </a:pPr>
            <a:r>
              <a:rPr sz="2550" b="1">
                <a:solidFill>
                  <a:srgbClr val="1D2227"/>
                </a:solidFill>
                <a:latin typeface="Noto Sans KR"/>
              </a:rPr>
              <a:t>일부를 제주시 지역 상품권으로 즉시 또는 사후 환급하여</a:t>
            </a:r>
          </a:p>
          <a:p>
            <a:pPr eaLnBrk="0">
              <a:lnSpc>
                <a:spcPts val="3187"/>
              </a:lnSpc>
              <a:spcBef>
                <a:spcPts val="0"/>
              </a:spcBef>
              <a:spcAft>
                <a:spcPts val="0"/>
              </a:spcAft>
            </a:pPr>
            <a:r>
              <a:rPr sz="2550" b="1">
                <a:solidFill>
                  <a:srgbClr val="1D2227"/>
                </a:solidFill>
                <a:latin typeface="Noto Sans KR"/>
              </a:rPr>
              <a:t>지역 내 재사용을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제주시를 방문한 외지인 여행객</a:t>
            </a:r>
          </a:p>
          <a:p>
            <a:pPr eaLnBrk="0">
              <a:lnSpc>
                <a:spcPts val="1593"/>
              </a:lnSpc>
              <a:spcBef>
                <a:spcPts val="0"/>
              </a:spcBef>
              <a:spcAft>
                <a:spcPts val="0"/>
              </a:spcAft>
            </a:pPr>
            <a:r>
              <a:rPr sz="1275" b="0">
                <a:solidFill>
                  <a:srgbClr val="59636E"/>
                </a:solidFill>
                <a:latin typeface="Noto Sans KR"/>
              </a:rPr>
              <a:t>제주시 내 특정 업종(예: 전통시장, 외식업, 소매업 등)에 집중하여 환급을 제공하고, 환급 금액 및</a:t>
            </a:r>
          </a:p>
          <a:p>
            <a:pPr eaLnBrk="0">
              <a:lnSpc>
                <a:spcPts val="1593"/>
              </a:lnSpc>
              <a:spcBef>
                <a:spcPts val="0"/>
              </a:spcBef>
              <a:spcAft>
                <a:spcPts val="0"/>
              </a:spcAft>
            </a:pPr>
            <a:r>
              <a:rPr sz="1275" b="0">
                <a:solidFill>
                  <a:srgbClr val="59636E"/>
                </a:solidFill>
                <a:latin typeface="Noto Sans KR"/>
              </a:rPr>
              <a:t>조건을 제한한 시범사업으로 축소하여 운영.</a:t>
            </a:r>
          </a:p>
          <a:p>
            <a:pPr eaLnBrk="0">
              <a:lnSpc>
                <a:spcPts val="1593"/>
              </a:lnSpc>
              <a:spcBef>
                <a:spcPts val="0"/>
              </a:spcBef>
              <a:spcAft>
                <a:spcPts val="0"/>
              </a:spcAft>
            </a:pPr>
            <a:r>
              <a:rPr sz="127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1,394,404명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+13.18%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592.49억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+13.32%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방문 외지인이 지정된 적격</a:t>
            </a:r>
          </a:p>
          <a:p>
            <a:pPr eaLnBrk="0">
              <a:lnSpc>
                <a:spcPts val="2156"/>
              </a:lnSpc>
              <a:spcBef>
                <a:spcPts val="0"/>
              </a:spcBef>
              <a:spcAft>
                <a:spcPts val="0"/>
              </a:spcAft>
            </a:pPr>
            <a:r>
              <a:rPr sz="1725" b="0">
                <a:solidFill>
                  <a:srgbClr val="59636E"/>
                </a:solidFill>
                <a:latin typeface="Noto Sans KR"/>
              </a:rPr>
              <a:t>업종에서 결제 시, 지출액의 일부를</a:t>
            </a:r>
          </a:p>
          <a:p>
            <a:pPr eaLnBrk="0">
              <a:lnSpc>
                <a:spcPts val="2156"/>
              </a:lnSpc>
              <a:spcBef>
                <a:spcPts val="0"/>
              </a:spcBef>
              <a:spcAft>
                <a:spcPts val="0"/>
              </a:spcAft>
            </a:pPr>
            <a:r>
              <a:rPr sz="1725" b="0">
                <a:solidFill>
                  <a:srgbClr val="59636E"/>
                </a:solidFill>
                <a:latin typeface="Noto Sans KR"/>
              </a:rPr>
              <a:t>제주시 지역 상품권으로 즉시 또는 사후</a:t>
            </a:r>
          </a:p>
          <a:p>
            <a:pPr eaLnBrk="0">
              <a:lnSpc>
                <a:spcPts val="2156"/>
              </a:lnSpc>
              <a:spcBef>
                <a:spcPts val="0"/>
              </a:spcBef>
              <a:spcAft>
                <a:spcPts val="0"/>
              </a:spcAft>
            </a:pPr>
            <a:r>
              <a:rPr sz="1725" b="0">
                <a:solidFill>
                  <a:srgbClr val="59636E"/>
                </a:solidFill>
                <a:latin typeface="Noto Sans KR"/>
              </a:rPr>
              <a:t>환급하여 지역 내 재사용을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1,197만 명</a:t>
            </a:r>
          </a:p>
          <a:p>
            <a:pPr eaLnBrk="0">
              <a:lnSpc>
                <a:spcPts val="2156"/>
              </a:lnSpc>
              <a:spcBef>
                <a:spcPts val="0"/>
              </a:spcBef>
              <a:spcAft>
                <a:spcPts val="0"/>
              </a:spcAft>
            </a:pPr>
            <a:r>
              <a:rPr sz="1725" b="0">
                <a:solidFill>
                  <a:srgbClr val="59636E"/>
                </a:solidFill>
                <a:latin typeface="Noto Sans KR"/>
              </a:rPr>
              <a:t>관광소비액 5,042억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사례 실적을 참고한 계획 가정이며, 구체적인 채택 비율과 출처는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전라남도 강진군 · 강진</a:t>
            </a:r>
          </a:p>
          <a:p>
            <a:pPr eaLnBrk="0">
              <a:lnSpc>
                <a:spcPts val="2250"/>
              </a:lnSpc>
              <a:spcBef>
                <a:spcPts val="0"/>
              </a:spcBef>
              <a:spcAft>
                <a:spcPts val="0"/>
              </a:spcAft>
            </a:pPr>
            <a:r>
              <a:rPr sz="1800" b="1">
                <a:solidFill>
                  <a:srgbClr val="1D2227"/>
                </a:solidFill>
                <a:latin typeface="Noto Sans KR"/>
              </a:rPr>
              <a:t>반값여행—지역지출 환급과</a:t>
            </a:r>
          </a:p>
          <a:p>
            <a:pPr eaLnBrk="0">
              <a:lnSpc>
                <a:spcPts val="2250"/>
              </a:lnSpc>
              <a:spcBef>
                <a:spcPts val="0"/>
              </a:spcBef>
              <a:spcAft>
                <a:spcPts val="0"/>
              </a:spcAft>
            </a:pPr>
            <a:r>
              <a:rPr sz="1800" b="1">
                <a:solidFill>
                  <a:srgbClr val="1D2227"/>
                </a:solidFill>
                <a:latin typeface="Noto Sans KR"/>
              </a:rPr>
              <a:t>지역상품권 재소비</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지역에서 발생한 여행 지출의 일부를 모바일</a:t>
            </a:r>
          </a:p>
          <a:p>
            <a:pPr eaLnBrk="0">
              <a:lnSpc>
                <a:spcPts val="1593"/>
              </a:lnSpc>
              <a:spcBef>
                <a:spcPts val="0"/>
              </a:spcBef>
              <a:spcAft>
                <a:spcPts val="0"/>
              </a:spcAft>
            </a:pPr>
            <a:r>
              <a:rPr sz="1275" b="0">
                <a:solidFill>
                  <a:srgbClr val="59636E"/>
                </a:solidFill>
                <a:latin typeface="Noto Sans KR"/>
              </a:rPr>
              <a:t>지역상품권으로 환급하고,</a:t>
            </a:r>
          </a:p>
          <a:p>
            <a:pPr eaLnBrk="0">
              <a:lnSpc>
                <a:spcPts val="1593"/>
              </a:lnSpc>
              <a:spcBef>
                <a:spcPts val="0"/>
              </a:spcBef>
              <a:spcAft>
                <a:spcPts val="0"/>
              </a:spcAft>
            </a:pPr>
            <a:r>
              <a:rPr sz="1275" b="0">
                <a:solidFill>
                  <a:srgbClr val="59636E"/>
                </a:solidFill>
                <a:latin typeface="Noto Sans KR"/>
              </a:rPr>
              <a:t>전통시장·숙박·외식·소매 및 온라인</a:t>
            </a:r>
          </a:p>
          <a:p>
            <a:pPr eaLnBrk="0">
              <a:lnSpc>
                <a:spcPts val="1593"/>
              </a:lnSpc>
              <a:spcBef>
                <a:spcPts val="0"/>
              </a:spcBef>
              <a:spcAft>
                <a:spcPts val="0"/>
              </a:spcAft>
            </a:pPr>
            <a:r>
              <a:rPr sz="1275" b="0">
                <a:solidFill>
                  <a:srgbClr val="59636E"/>
                </a:solidFill>
                <a:latin typeface="Noto Sans KR"/>
              </a:rPr>
              <a:t>농특산물 판매와 연계했다. 월별 방문·소비</a:t>
            </a:r>
          </a:p>
          <a:p>
            <a:pPr eaLnBrk="0">
              <a:lnSpc>
                <a:spcPts val="1593"/>
              </a:lnSpc>
              <a:spcBef>
                <a:spcPts val="0"/>
              </a:spcBef>
              <a:spcAft>
                <a:spcPts val="0"/>
              </a:spcAft>
            </a:pPr>
            <a:r>
              <a:rPr sz="1275" b="0">
                <a:solidFill>
                  <a:srgbClr val="59636E"/>
                </a:solidFill>
                <a:latin typeface="Noto Sans KR"/>
              </a:rPr>
              <a:t>데이터를 이용해 3~5월과 10월에 홍보를</a:t>
            </a:r>
          </a:p>
          <a:p>
            <a:pPr eaLnBrk="0">
              <a:lnSpc>
                <a:spcPts val="1593"/>
              </a:lnSpc>
              <a:spcBef>
                <a:spcPts val="0"/>
              </a:spcBef>
              <a:spcAft>
                <a:spcPts val="0"/>
              </a:spcAft>
            </a:pPr>
            <a:r>
              <a:rPr sz="1275" b="0">
                <a:solidFill>
                  <a:srgbClr val="59636E"/>
                </a:solidFill>
                <a:latin typeface="Noto Sans KR"/>
              </a:rPr>
              <a:t>집중하고 영수증·상품권 정산 자료로 이용과</a:t>
            </a:r>
          </a:p>
          <a:p>
            <a:pPr eaLnBrk="0">
              <a:lnSpc>
                <a:spcPts val="1593"/>
              </a:lnSpc>
              <a:spcBef>
                <a:spcPts val="0"/>
              </a:spcBef>
              <a:spcAft>
                <a:spcPts val="0"/>
              </a:spcAft>
            </a:pPr>
            <a:r>
              <a:rPr sz="1275" b="0">
                <a:solidFill>
                  <a:srgbClr val="59636E"/>
                </a:solidFill>
                <a:latin typeface="Noto Sans KR"/>
              </a:rPr>
              <a:t>재소비를 추적했다.</a:t>
            </a:r>
          </a:p>
        </p:txBody>
      </p:sp>
      <p:pic xmlns:a="http://schemas.openxmlformats.org/drawingml/2006/main" xmlns:r="http://schemas.openxmlformats.org/officeDocument/2006/relationships">
        <p:nvPicPr>
          <p:cNvPr id="10" name="case-photo-0" descr="gangjin_official.jpg"/>
          <p:cNvPicPr>
            <a:picLocks noChangeAspect="1"/>
          </p:cNvPicPr>
          <p:nvPr/>
        </p:nvPicPr>
        <p:blipFill>
          <a:blip r:embed="rId4"/>
          <a:stretch>
            <a:fillRect/>
          </a:stretch>
        </p:blipFill>
        <p:spPr>
          <a:xfrm>
            <a:off x="1518636" y="5857875"/>
            <a:ext cx="3211126"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유사 사업 참고 · 강진군 · 반값여행 공식 홍보물</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강진 반값여행 공식 홈페이지</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영등포구 여의도 ·</a:t>
            </a:r>
          </a:p>
          <a:p>
            <a:pPr eaLnBrk="0">
              <a:lnSpc>
                <a:spcPts val="2250"/>
              </a:lnSpc>
              <a:spcBef>
                <a:spcPts val="0"/>
              </a:spcBef>
              <a:spcAft>
                <a:spcPts val="0"/>
              </a:spcAft>
            </a:pPr>
            <a:r>
              <a:rPr sz="1800" b="1">
                <a:solidFill>
                  <a:srgbClr val="1D2227"/>
                </a:solidFill>
                <a:latin typeface="Noto Sans KR"/>
              </a:rPr>
              <a:t>서울달—예약채널 확대와 야간</a:t>
            </a:r>
          </a:p>
          <a:p>
            <a:pPr eaLnBrk="0">
              <a:lnSpc>
                <a:spcPts val="2250"/>
              </a:lnSpc>
              <a:spcBef>
                <a:spcPts val="0"/>
              </a:spcBef>
              <a:spcAft>
                <a:spcPts val="0"/>
              </a:spcAft>
            </a:pPr>
            <a:r>
              <a:rPr sz="1800" b="1">
                <a:solidFill>
                  <a:srgbClr val="1D2227"/>
                </a:solidFill>
                <a:latin typeface="Noto Sans KR"/>
              </a:rPr>
              <a:t>운영시간 연장</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기존 도심 경관을 유료 탑승 체험으로</a:t>
            </a:r>
          </a:p>
          <a:p>
            <a:pPr eaLnBrk="0">
              <a:lnSpc>
                <a:spcPts val="1593"/>
              </a:lnSpc>
              <a:spcBef>
                <a:spcPts val="0"/>
              </a:spcBef>
              <a:spcAft>
                <a:spcPts val="0"/>
              </a:spcAft>
            </a:pPr>
            <a:r>
              <a:rPr sz="1275" b="0">
                <a:solidFill>
                  <a:srgbClr val="59636E"/>
                </a:solidFill>
                <a:latin typeface="Noto Sans KR"/>
              </a:rPr>
              <a:t>상품화하고 시범운영 후 정식 운영했다. 이후</a:t>
            </a:r>
          </a:p>
          <a:p>
            <a:pPr eaLnBrk="0">
              <a:lnSpc>
                <a:spcPts val="1593"/>
              </a:lnSpc>
              <a:spcBef>
                <a:spcPts val="0"/>
              </a:spcBef>
              <a:spcAft>
                <a:spcPts val="0"/>
              </a:spcAft>
            </a:pPr>
            <a:r>
              <a:rPr sz="1275" b="0">
                <a:solidFill>
                  <a:srgbClr val="59636E"/>
                </a:solidFill>
                <a:latin typeface="Noto Sans KR"/>
              </a:rPr>
              <a:t>예약시간·정원을 확대하고 국내 예약채널을</a:t>
            </a:r>
          </a:p>
          <a:p>
            <a:pPr eaLnBrk="0">
              <a:lnSpc>
                <a:spcPts val="1593"/>
              </a:lnSpc>
              <a:spcBef>
                <a:spcPts val="0"/>
              </a:spcBef>
              <a:spcAft>
                <a:spcPts val="0"/>
              </a:spcAft>
            </a:pPr>
            <a:r>
              <a:rPr sz="1275" b="0">
                <a:solidFill>
                  <a:srgbClr val="59636E"/>
                </a:solidFill>
                <a:latin typeface="Noto Sans KR"/>
              </a:rPr>
              <a:t>일원화했으며 글로벌 OTA 판매처를 7개에서</a:t>
            </a:r>
          </a:p>
          <a:p>
            <a:pPr eaLnBrk="0">
              <a:lnSpc>
                <a:spcPts val="1593"/>
              </a:lnSpc>
              <a:spcBef>
                <a:spcPts val="0"/>
              </a:spcBef>
              <a:spcAft>
                <a:spcPts val="0"/>
              </a:spcAft>
            </a:pPr>
            <a:r>
              <a:rPr sz="1275" b="0">
                <a:solidFill>
                  <a:srgbClr val="59636E"/>
                </a:solidFill>
                <a:latin typeface="Noto Sans KR"/>
              </a:rPr>
              <a:t>10개로 늘렸다. 8~10월 금·토 운영 종료</a:t>
            </a:r>
          </a:p>
          <a:p>
            <a:pPr eaLnBrk="0">
              <a:lnSpc>
                <a:spcPts val="1593"/>
              </a:lnSpc>
              <a:spcBef>
                <a:spcPts val="0"/>
              </a:spcBef>
              <a:spcAft>
                <a:spcPts val="0"/>
              </a:spcAft>
            </a:pPr>
            <a:r>
              <a:rPr sz="1275" b="0">
                <a:solidFill>
                  <a:srgbClr val="59636E"/>
                </a:solidFill>
                <a:latin typeface="Noto Sans KR"/>
              </a:rPr>
              <a:t>시간을 22시에서 23시로 연장했다.</a:t>
            </a:r>
          </a:p>
        </p:txBody>
      </p:sp>
      <p:pic xmlns:a="http://schemas.openxmlformats.org/drawingml/2006/main" xmlns:r="http://schemas.openxmlformats.org/officeDocument/2006/relationships">
        <p:nvPicPr>
          <p:cNvPr id="18" name="case-photo-1" descr="yeosu_night.jpg"/>
          <p:cNvPicPr>
            <a:picLocks noChangeAspect="1"/>
          </p:cNvPicPr>
          <p:nvPr/>
        </p:nvPicPr>
        <p:blipFill>
          <a:blip r:embed="rId7"/>
          <a:stretch>
            <a:fillRect/>
          </a:stretch>
        </p:blipFill>
        <p:spPr>
          <a:xfrm>
            <a:off x="5975395" y="5857875"/>
            <a:ext cx="3289208"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유사 사업 참고 · 전남 여수시 야경</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문화체육관광부 코리아넷 (2024)</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추가 운영 참고</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 출발 지방 관광지 연계 노선</a:t>
            </a:r>
          </a:p>
          <a:p>
            <a:pPr eaLnBrk="0">
              <a:lnSpc>
                <a:spcPts val="2250"/>
              </a:lnSpc>
              <a:spcBef>
                <a:spcPts val="0"/>
              </a:spcBef>
              <a:spcAft>
                <a:spcPts val="0"/>
              </a:spcAft>
            </a:pPr>
            <a:r>
              <a:rPr sz="1800" b="1">
                <a:solidFill>
                  <a:srgbClr val="1D2227"/>
                </a:solidFill>
                <a:latin typeface="Noto Sans KR"/>
              </a:rPr>
              <a:t>· 고토치 셔틀—외국인 대상</a:t>
            </a:r>
          </a:p>
          <a:p>
            <a:pPr eaLnBrk="0">
              <a:lnSpc>
                <a:spcPts val="2250"/>
              </a:lnSpc>
              <a:spcBef>
                <a:spcPts val="0"/>
              </a:spcBef>
              <a:spcAft>
                <a:spcPts val="0"/>
              </a:spcAft>
            </a:pPr>
            <a:r>
              <a:rPr sz="1800" b="1">
                <a:solidFill>
                  <a:srgbClr val="1D2227"/>
                </a:solidFill>
                <a:latin typeface="Noto Sans KR"/>
              </a:rPr>
              <a:t>예약·결제형 지역관광 버스</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서울과 지방 관광지를 연결하는 일일</a:t>
            </a:r>
          </a:p>
          <a:p>
            <a:pPr eaLnBrk="0">
              <a:lnSpc>
                <a:spcPts val="1593"/>
              </a:lnSpc>
              <a:spcBef>
                <a:spcPts val="0"/>
              </a:spcBef>
              <a:spcAft>
                <a:spcPts val="0"/>
              </a:spcAft>
            </a:pPr>
            <a:r>
              <a:rPr sz="1275" b="0">
                <a:solidFill>
                  <a:srgbClr val="59636E"/>
                </a:solidFill>
                <a:latin typeface="Noto Sans KR"/>
              </a:rPr>
              <a:t>버스여행 코스를 만들고 전용 홈페이지와</a:t>
            </a:r>
          </a:p>
          <a:p>
            <a:pPr eaLnBrk="0">
              <a:lnSpc>
                <a:spcPts val="1593"/>
              </a:lnSpc>
              <a:spcBef>
                <a:spcPts val="0"/>
              </a:spcBef>
              <a:spcAft>
                <a:spcPts val="0"/>
              </a:spcAft>
            </a:pPr>
            <a:r>
              <a:rPr sz="1275" b="0">
                <a:solidFill>
                  <a:srgbClr val="59636E"/>
                </a:solidFill>
                <a:latin typeface="Noto Sans KR"/>
              </a:rPr>
              <a:t>외국인 개별여행 예약 플랫폼에서</a:t>
            </a:r>
          </a:p>
          <a:p>
            <a:pPr eaLnBrk="0">
              <a:lnSpc>
                <a:spcPts val="1593"/>
              </a:lnSpc>
              <a:spcBef>
                <a:spcPts val="0"/>
              </a:spcBef>
              <a:spcAft>
                <a:spcPts val="0"/>
              </a:spcAft>
            </a:pPr>
            <a:r>
              <a:rPr sz="1275" b="0">
                <a:solidFill>
                  <a:srgbClr val="59636E"/>
                </a:solidFill>
                <a:latin typeface="Noto Sans KR"/>
              </a:rPr>
              <a:t>예약·결제를 받았다. 잔여 좌석은 출발지</a:t>
            </a:r>
          </a:p>
          <a:p>
            <a:pPr eaLnBrk="0">
              <a:lnSpc>
                <a:spcPts val="1593"/>
              </a:lnSpc>
              <a:spcBef>
                <a:spcPts val="0"/>
              </a:spcBef>
              <a:spcAft>
                <a:spcPts val="0"/>
              </a:spcAft>
            </a:pPr>
            <a:r>
              <a:rPr sz="1275" b="0">
                <a:solidFill>
                  <a:srgbClr val="59636E"/>
                </a:solidFill>
                <a:latin typeface="Noto Sans KR"/>
              </a:rPr>
              <a:t>현장에서도 판매해 정보 탐색부터 좌석 예약,</a:t>
            </a:r>
          </a:p>
          <a:p>
            <a:pPr eaLnBrk="0">
              <a:lnSpc>
                <a:spcPts val="1593"/>
              </a:lnSpc>
              <a:spcBef>
                <a:spcPts val="0"/>
              </a:spcBef>
              <a:spcAft>
                <a:spcPts val="0"/>
              </a:spcAft>
            </a:pPr>
            <a:r>
              <a:rPr sz="1275" b="0">
                <a:solidFill>
                  <a:srgbClr val="59636E"/>
                </a:solidFill>
                <a:latin typeface="Noto Sans KR"/>
              </a:rPr>
              <a:t>이동, 관광지 이용을 하나의 상품으로 묶었다.</a:t>
            </a:r>
          </a:p>
        </p:txBody>
      </p:sp>
      <p:pic xmlns:a="http://schemas.openxmlformats.org/drawingml/2006/main" xmlns:r="http://schemas.openxmlformats.org/officeDocument/2006/relationships">
        <p:nvPicPr>
          <p:cNvPr id="26" name="case-photo-2" descr="incheon_official.jpg"/>
          <p:cNvPicPr>
            <a:picLocks noChangeAspect="1"/>
          </p:cNvPicPr>
          <p:nvPr/>
        </p:nvPicPr>
        <p:blipFill>
          <a:blip r:embed="rId10"/>
          <a:stretch>
            <a:fillRect/>
          </a:stretch>
        </p:blipFill>
        <p:spPr>
          <a:xfrm>
            <a:off x="10590240" y="5857875"/>
            <a:ext cx="3051119"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유사 사업 참고 · 인천 섬 · 로컬체험 여행 소개 사진</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인천광역시 섬포털</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전라남도 강진군 · 강진 반값여행—지역지출 환급과 지역상품권 재소비</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312" b="0">
                          <a:solidFill>
                            <a:srgbClr val="1D2227"/>
                          </a:solidFill>
                          <a:latin typeface="Noto Sans KR"/>
                        </a:rPr>
                        <a:t>지역에서 발생한 여행 지출의 일부를 모바일 지역상품권으로</a:t>
                      </a:r>
                    </a:p>
                    <a:p>
                      <a:pPr eaLnBrk="0">
                        <a:lnSpc>
                          <a:spcPct val="112000"/>
                        </a:lnSpc>
                        <a:spcBef>
                          <a:spcPts val="0"/>
                        </a:spcBef>
                        <a:spcAft>
                          <a:spcPts val="0"/>
                        </a:spcAft>
                      </a:pPr>
                      <a:r>
                        <a:rPr sz="1312" b="0">
                          <a:solidFill>
                            <a:srgbClr val="1D2227"/>
                          </a:solidFill>
                          <a:latin typeface="Noto Sans KR"/>
                        </a:rPr>
                        <a:t>환급하고, 전통시장·숙박·외식·소매 및 온라인 농특산물 판매와</a:t>
                      </a:r>
                    </a:p>
                    <a:p>
                      <a:pPr eaLnBrk="0">
                        <a:lnSpc>
                          <a:spcPct val="112000"/>
                        </a:lnSpc>
                        <a:spcBef>
                          <a:spcPts val="0"/>
                        </a:spcBef>
                        <a:spcAft>
                          <a:spcPts val="0"/>
                        </a:spcAft>
                      </a:pPr>
                      <a:r>
                        <a:rPr sz="1312" b="0">
                          <a:solidFill>
                            <a:srgbClr val="1D2227"/>
                          </a:solidFill>
                          <a:latin typeface="Noto Sans KR"/>
                        </a:rPr>
                        <a:t>연계했다. 월별 방문·소비 데이터를 이용해 3~5월과 10월에 홍보를</a:t>
                      </a:r>
                    </a:p>
                    <a:p>
                      <a:pPr eaLnBrk="0">
                        <a:lnSpc>
                          <a:spcPct val="112000"/>
                        </a:lnSpc>
                        <a:spcBef>
                          <a:spcPts val="0"/>
                        </a:spcBef>
                        <a:spcAft>
                          <a:spcPts val="0"/>
                        </a:spcAft>
                      </a:pPr>
                      <a:r>
                        <a:rPr sz="1312" b="0">
                          <a:solidFill>
                            <a:srgbClr val="1D2227"/>
                          </a:solidFill>
                          <a:latin typeface="Noto Sans KR"/>
                        </a:rPr>
                        <a:t>집중하고 영수증·상품권 정산 자료로 이용과 재소비를 추적했다.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관광소비 구성: 쇼핑업</a:t>
                      </a:r>
                    </a:p>
                    <a:p>
                      <a:pPr eaLnBrk="0">
                        <a:lnSpc>
                          <a:spcPct val="112000"/>
                        </a:lnSpc>
                        <a:spcBef>
                          <a:spcPts val="0"/>
                        </a:spcBef>
                        <a:spcAft>
                          <a:spcPts val="0"/>
                        </a:spcAft>
                      </a:pPr>
                      <a:r>
                        <a:rPr sz="1575" b="0">
                          <a:solidFill>
                            <a:srgbClr val="1D2227"/>
                          </a:solidFill>
                          <a:latin typeface="Noto Sans KR"/>
                        </a:rPr>
                        <a:t>39.0%, 식음료업 38.1% / 내비게이션 목적지</a:t>
                      </a:r>
                    </a:p>
                    <a:p>
                      <a:pPr eaLnBrk="0">
                        <a:lnSpc>
                          <a:spcPct val="112000"/>
                        </a:lnSpc>
                        <a:spcBef>
                          <a:spcPts val="0"/>
                        </a:spcBef>
                        <a:spcAft>
                          <a:spcPts val="0"/>
                        </a:spcAft>
                      </a:pPr>
                      <a:r>
                        <a:rPr sz="1575" b="0">
                          <a:solidFill>
                            <a:srgbClr val="1D2227"/>
                          </a:solidFill>
                          <a:latin typeface="Noto Sans KR"/>
                        </a:rPr>
                        <a:t>검색량: 580,380건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1,394,404명 × 1%</a:t>
                      </a:r>
                    </a:p>
                    <a:p>
                      <a:pPr eaLnBrk="0">
                        <a:lnSpc>
                          <a:spcPct val="112000"/>
                        </a:lnSpc>
                        <a:spcBef>
                          <a:spcPts val="0"/>
                        </a:spcBef>
                        <a:spcAft>
                          <a:spcPts val="0"/>
                        </a:spcAft>
                      </a:pPr>
                      <a:r>
                        <a:rPr sz="1575" b="0">
                          <a:solidFill>
                            <a:srgbClr val="1D2227"/>
                          </a:solidFill>
                          <a:latin typeface="Noto Sans KR"/>
                        </a:rPr>
                        <a:t>시범 참여 13,945건(올림·계획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방문 외지인이 지정된 적격 업종에서 결제 시, 지출액의 일부를 제주시 지역 상품권으로 즉시</a:t>
            </a:r>
          </a:p>
          <a:p>
            <a:pPr eaLnBrk="0">
              <a:lnSpc>
                <a:spcPts val="1968"/>
              </a:lnSpc>
              <a:spcBef>
                <a:spcPts val="0"/>
              </a:spcBef>
              <a:spcAft>
                <a:spcPts val="0"/>
              </a:spcAft>
            </a:pPr>
            <a:r>
              <a:rPr sz="1575" b="0">
                <a:solidFill>
                  <a:srgbClr val="1D2227"/>
                </a:solidFill>
                <a:latin typeface="Noto Sans KR"/>
              </a:rPr>
              <a:t>또는 사후 환급하여 지역 내 재사용을 유도함.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한국관광 데이터랩 우수 활용사례(2025)—데이터 기반 강진 반값여행으로 지역 경제를 살리다</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59636E"/>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59636E"/>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2026-10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59636E"/>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59636E"/>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3,856,066명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241,004명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4,073,551명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479,241명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4,044,952명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674,159명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11,974,569명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1,394,404명 · 13.18%</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1,394,404명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1,604.98억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100.31억 원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1,644.30억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193.45억 원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1,792.40억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298.73억 원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5,041.68억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592.49억 원 · 13.32%</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592.49억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+20% · 소비 +20%</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참고 실적: 강진 2024년 10월 누적 248만 명, 전년 대비 25% 증가. 반값여행·축제가 함께 운영된 지역 전체 실적.</a:t>
            </a:r>
          </a:p>
          <a:p>
            <a:pPr eaLnBrk="0">
              <a:lnSpc>
                <a:spcPts val="2156"/>
              </a:lnSpc>
              <a:spcBef>
                <a:spcPts val="0"/>
              </a:spcBef>
              <a:spcAft>
                <a:spcPts val="0"/>
              </a:spcAft>
            </a:pPr>
            <a:r>
              <a:rPr sz="1725" b="0">
                <a:solidFill>
                  <a:srgbClr val="59636E"/>
                </a:solidFill>
                <a:latin typeface="Noto Sans KR"/>
              </a:rPr>
              <a:t>② 목표 채택: 25% × 80% = 20%. 80%는 단계 운영을 고려한 계획 가정이며 인구·통계 보정값은 아님.</a:t>
            </a:r>
          </a:p>
          <a:p>
            <a:pPr eaLnBrk="0">
              <a:lnSpc>
                <a:spcPts val="2156"/>
              </a:lnSpc>
              <a:spcBef>
                <a:spcPts val="0"/>
              </a:spcBef>
              <a:spcAft>
                <a:spcPts val="0"/>
              </a:spcAft>
            </a:pPr>
            <a:r>
              <a:rPr sz="1725" b="0">
                <a:solidFill>
                  <a:srgbClr val="59636E"/>
                </a:solidFill>
                <a:latin typeface="Noto Sans KR"/>
              </a:rPr>
              <a:t>③ 적용 목표: 최종월 방문 +20% · 소비 +20%.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87,664만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697,250,000원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13,945건 × 50,000원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83,700,000원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13,945건 ÷ 25건/인일 올림) = 558인일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79,695,000원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79,695만원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1,394,404명 × 시범 담당 비중 1% → 13,945건(올림).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제주특별자치도_제주시/방문자/2026_01_06.zip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제주특별자치도_제주시/숙박_체류시간/2026_01_06</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.zip 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제주특별자치도_제주시/숙박_체류시간/2025_01_12</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.zip 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제주특별자치도_제주시/관광소비/2026_01_06.zip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제주특별자치도_제주시/방문자/2025_01_12.zip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제주특별자치도_제주시/관광소비/2025_01_12.zip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랩_다운로드.zip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606_데이터랩_다운로드.zip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터랩_다운로드.zip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터랩_다운로드.zip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랩_다운로드.zip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랩_다운로드.zip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r:id="rId2"/>
              </a:rPr>
              <a:t>512_데이터랩_다운로드.zip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3,370,793명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1,493.67억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2,289분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3.03일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22%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75,858건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556,973건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8쪽 (9개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외국인 개별관광객 지방 방문</a:t>
            </a:r>
          </a:p>
          <a:p>
            <a:pPr eaLnBrk="0">
              <a:lnSpc>
                <a:spcPts val="1687"/>
              </a:lnSpc>
              <a:spcBef>
                <a:spcPts val="0"/>
              </a:spcBef>
              <a:spcAft>
                <a:spcPts val="0"/>
              </a:spcAft>
            </a:pPr>
            <a:r>
              <a:rPr sz="1350" b="0" u="none">
                <a:solidFill>
                  <a:srgbClr val="004EA2"/>
                </a:solidFill>
                <a:latin typeface="Noto Sans KR"/>
                <a:hlinkClick r:id="rId4"/>
              </a:rPr>
              <a:t>촉진 고토치 셔틀 운영자료 kto.visitkorea.or.kr</a:t>
            </a:r>
          </a:p>
        </p:txBody>
      </p:sp>
      <p:sp>
        <p:nvSpPr>
          <p:cNvPr id="23" name="reference-18"/>
          <p:cNvSpPr txBox="1"/>
          <p:nvPr/>
        </p:nvSpPr>
        <p:spPr>
          <a:xfrm>
            <a:off x="9963150" y="57864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한국관광 데이터랩 우수</a:t>
            </a:r>
          </a:p>
          <a:p>
            <a:pPr eaLnBrk="0">
              <a:lnSpc>
                <a:spcPts val="1687"/>
              </a:lnSpc>
              <a:spcBef>
                <a:spcPts val="0"/>
              </a:spcBef>
              <a:spcAft>
                <a:spcPts val="0"/>
              </a:spcAft>
            </a:pPr>
            <a:r>
              <a:rPr sz="1350" b="0" u="none">
                <a:solidFill>
                  <a:srgbClr val="004EA2"/>
                </a:solidFill>
                <a:latin typeface="Noto Sans KR"/>
                <a:hlinkClick r:id="rId5"/>
              </a:rPr>
              <a:t>활용사례(2025)—데이터 기반 강진 반값여행으로</a:t>
            </a:r>
          </a:p>
          <a:p>
            <a:pPr eaLnBrk="0">
              <a:lnSpc>
                <a:spcPts val="1687"/>
              </a:lnSpc>
              <a:spcBef>
                <a:spcPts val="0"/>
              </a:spcBef>
              <a:spcAft>
                <a:spcPts val="0"/>
              </a:spcAft>
            </a:pPr>
            <a:r>
              <a:rPr sz="1350" b="0" u="none">
                <a:solidFill>
                  <a:srgbClr val="004EA2"/>
                </a:solidFill>
                <a:latin typeface="Noto Sans KR"/>
                <a:hlinkClick r:id="rId5"/>
              </a:rPr>
              <a:t>지역 경제를 살리다 datalab.visitkorea.or.kr</a:t>
            </a:r>
          </a:p>
        </p:txBody>
      </p:sp>
      <p:sp>
        <p:nvSpPr>
          <p:cNvPr id="24" name="reference-19"/>
          <p:cNvSpPr txBox="1"/>
          <p:nvPr/>
        </p:nvSpPr>
        <p:spPr>
          <a:xfrm>
            <a:off x="996315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서울달(SEOULDAL)—서울 정책</a:t>
            </a:r>
          </a:p>
          <a:p>
            <a:pPr eaLnBrk="0">
              <a:lnSpc>
                <a:spcPts val="1687"/>
              </a:lnSpc>
              <a:spcBef>
                <a:spcPts val="0"/>
              </a:spcBef>
              <a:spcAft>
                <a:spcPts val="0"/>
              </a:spcAft>
            </a:pPr>
            <a:r>
              <a:rPr sz="1350" b="0" u="none">
                <a:solidFill>
                  <a:srgbClr val="004EA2"/>
                </a:solidFill>
                <a:latin typeface="Noto Sans KR"/>
                <a:hlinkClick r:id="rId6"/>
              </a:rPr>
              <a:t>아카이브 www.seoul.go.kr</a:t>
            </a:r>
          </a:p>
        </p:txBody>
      </p:sp>
      <p:sp>
        <p:nvSpPr>
          <p:cNvPr id="25" name="reference-20"/>
          <p:cNvSpPr txBox="1"/>
          <p:nvPr/>
        </p:nvSpPr>
        <p:spPr>
          <a:xfrm>
            <a:off x="996315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2"/>
              </a:rPr>
              <a:t>경제파급효과 공개자료 kto.visitkorea.or.kr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야간관광 특화도시 인천, 5만원</a:t>
            </a:r>
          </a:p>
          <a:p>
            <a:pPr eaLnBrk="0">
              <a:lnSpc>
                <a:spcPts val="1687"/>
              </a:lnSpc>
              <a:spcBef>
                <a:spcPts val="0"/>
              </a:spcBef>
              <a:spcAft>
                <a:spcPts val="0"/>
              </a:spcAft>
            </a:pPr>
            <a:r>
              <a:rPr sz="1350" b="0" u="none">
                <a:solidFill>
                  <a:srgbClr val="004EA2"/>
                </a:solidFill>
                <a:latin typeface="Noto Sans KR"/>
                <a:hlinkClick r:id="rId3"/>
              </a:rPr>
              <a:t>할인 숙박상품 기획전 열어 www.incheon.go.kr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강진 반값여행 지역경제 효과</a:t>
            </a:r>
          </a:p>
          <a:p>
            <a:pPr eaLnBrk="0">
              <a:lnSpc>
                <a:spcPts val="1687"/>
              </a:lnSpc>
              <a:spcBef>
                <a:spcPts val="0"/>
              </a:spcBef>
              <a:spcAft>
                <a:spcPts val="0"/>
              </a:spcAft>
            </a:pPr>
            <a:r>
              <a:rPr sz="1350" b="0" u="none">
                <a:solidFill>
                  <a:srgbClr val="004EA2"/>
                </a:solidFill>
                <a:latin typeface="Noto Sans KR"/>
                <a:hlinkClick r:id="rId4"/>
              </a:rPr>
              <a:t>소개 jnfarm.jeonnam.go.kr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a:t>
            </a:r>
          </a:p>
          <a:p>
            <a:pPr eaLnBrk="0">
              <a:lnSpc>
                <a:spcPts val="1687"/>
              </a:lnSpc>
              <a:spcBef>
                <a:spcPts val="0"/>
              </a:spcBef>
              <a:spcAft>
                <a:spcPts val="0"/>
              </a:spcAft>
            </a:pPr>
            <a:r>
              <a:rPr sz="1350" b="0" u="none">
                <a:solidFill>
                  <a:srgbClr val="004EA2"/>
                </a:solidFill>
                <a:latin typeface="Noto Sans KR"/>
                <a:hlinkClick r:id="rId5"/>
              </a:rPr>
              <a:t>도시 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가는곶 세화</a:t>
            </a:r>
          </a:p>
        </p:txBody>
      </p:sp>
      <p:sp>
        <p:nvSpPr>
          <p:cNvPr id="10" name="reference-5"/>
          <p:cNvSpPr txBox="1"/>
          <p:nvPr/>
        </p:nvSpPr>
        <p:spPr>
          <a:xfrm>
            <a:off x="1009650" y="54292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 가마오름</a:t>
            </a:r>
          </a:p>
        </p:txBody>
      </p:sp>
      <p:sp>
        <p:nvSpPr>
          <p:cNvPr id="11" name="reference-6"/>
          <p:cNvSpPr txBox="1"/>
          <p:nvPr/>
        </p:nvSpPr>
        <p:spPr>
          <a:xfrm>
            <a:off x="1009650" y="58864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가새기오름</a:t>
            </a:r>
          </a:p>
        </p:txBody>
      </p:sp>
      <p:sp>
        <p:nvSpPr>
          <p:cNvPr id="12" name="reference-7"/>
          <p:cNvSpPr txBox="1"/>
          <p:nvPr/>
        </p:nvSpPr>
        <p:spPr>
          <a:xfrm>
            <a:off x="1009650" y="63436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가시어멍김밥</a:t>
            </a:r>
          </a:p>
        </p:txBody>
      </p:sp>
      <p:sp>
        <p:nvSpPr>
          <p:cNvPr id="13" name="reference-8"/>
          <p:cNvSpPr txBox="1"/>
          <p:nvPr/>
        </p:nvSpPr>
        <p:spPr>
          <a:xfrm>
            <a:off x="1009650" y="68008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갈치공장</a:t>
            </a:r>
          </a:p>
        </p:txBody>
      </p:sp>
      <p:sp>
        <p:nvSpPr>
          <p:cNvPr id="14" name="reference-9"/>
          <p:cNvSpPr txBox="1"/>
          <p:nvPr/>
        </p:nvSpPr>
        <p:spPr>
          <a:xfrm>
            <a:off x="1009650" y="7258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개오리오름</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거슨새미오름</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경성수산</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고내포구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고사리커피</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고스트타운</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고이정</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고토커피바</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골목식당</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골목카페옥수</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골체오름캠핑</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곰막식당/곰막</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곽지해수욕장</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괴오름</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교래 삼다수마을</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제주특별자치도 제주시 지역</a:t>
            </a:r>
          </a:p>
          <a:p xmlns:a="http://schemas.openxmlformats.org/drawingml/2006/main">
            <a:pPr eaLnBrk="0">
              <a:lnSpc>
                <a:spcPts val="2625"/>
              </a:lnSpc>
              <a:spcBef>
                <a:spcPts val="0"/>
              </a:spcBef>
              <a:spcAft>
                <a:spcPts val="0"/>
              </a:spcAft>
            </a:pPr>
            <a:r>
              <a:rPr sz="2100" b="1">
                <a:solidFill>
                  <a:srgbClr val="004EA2"/>
                </a:solidFill>
                <a:latin typeface="Noto Sans KR"/>
              </a:rPr>
              <a:t>상품권 환급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 × 목표율 → 운영 예산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2019300"/>
            <a:ext cx="3476625"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공식 사례의 실적</a:t>
            </a:r>
          </a:p>
        </p:txBody>
      </p:sp>
      <p:sp>
        <p:nvSpPr>
          <p:cNvPr id="5" name="basis-factor-0"/>
          <p:cNvSpPr txBox="1"/>
          <p:nvPr/>
        </p:nvSpPr>
        <p:spPr>
          <a:xfrm>
            <a:off x="1009650" y="2505075"/>
            <a:ext cx="231457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25%</a:t>
            </a:r>
          </a:p>
        </p:txBody>
      </p:sp>
      <p:sp>
        <p:nvSpPr>
          <p:cNvPr id="6" name="basis-factor-label-0"/>
          <p:cNvSpPr txBox="1"/>
          <p:nvPr/>
        </p:nvSpPr>
        <p:spPr>
          <a:xfrm>
            <a:off x="1009650" y="3257550"/>
            <a:ext cx="231457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강진 발표 증가율</a:t>
            </a:r>
          </a:p>
        </p:txBody>
      </p:sp>
      <p:sp>
        <p:nvSpPr>
          <p:cNvPr id="7" name="basis-operator-0"/>
          <p:cNvSpPr txBox="1"/>
          <p:nvPr/>
        </p:nvSpPr>
        <p:spPr>
          <a:xfrm>
            <a:off x="3248025" y="2628900"/>
            <a:ext cx="600075" cy="523875"/>
          </a:xfrm>
          <a:prstGeom prst="rect">
            <a:avLst/>
          </a:prstGeom>
          <a:noFill/>
        </p:spPr>
        <p:txBody>
          <a:bodyPr wrap="none" lIns="57150" rIns="57150" tIns="38100" bIns="38100" anchor="t">
            <a:noAutofit/>
          </a:bodyPr>
          <a:lstStyle/>
          <a:p>
            <a:pPr eaLnBrk="0">
              <a:lnSpc>
                <a:spcPts val="3515"/>
              </a:lnSpc>
              <a:spcBef>
                <a:spcPts val="0"/>
              </a:spcBef>
              <a:spcAft>
                <a:spcPts val="0"/>
              </a:spcAft>
            </a:pPr>
            <a:r>
              <a:rPr sz="2812" b="1">
                <a:solidFill>
                  <a:srgbClr val="00B7C9"/>
                </a:solidFill>
                <a:latin typeface="Noto Sans KR"/>
              </a:rPr>
              <a:t>×</a:t>
            </a:r>
          </a:p>
        </p:txBody>
      </p:sp>
      <p:sp>
        <p:nvSpPr>
          <p:cNvPr id="8" name="basis-factor-1"/>
          <p:cNvSpPr txBox="1"/>
          <p:nvPr/>
        </p:nvSpPr>
        <p:spPr>
          <a:xfrm>
            <a:off x="3924300" y="2505075"/>
            <a:ext cx="231457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80%</a:t>
            </a:r>
          </a:p>
        </p:txBody>
      </p:sp>
      <p:sp>
        <p:nvSpPr>
          <p:cNvPr id="9" name="basis-factor-label-1"/>
          <p:cNvSpPr txBox="1"/>
          <p:nvPr/>
        </p:nvSpPr>
        <p:spPr>
          <a:xfrm>
            <a:off x="3924300" y="3257550"/>
            <a:ext cx="231457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계획 계수</a:t>
            </a:r>
          </a:p>
        </p:txBody>
      </p:sp>
      <p:sp>
        <p:nvSpPr>
          <p:cNvPr id="10" name="basis-operator-1"/>
          <p:cNvSpPr txBox="1"/>
          <p:nvPr/>
        </p:nvSpPr>
        <p:spPr>
          <a:xfrm>
            <a:off x="6162675" y="2628900"/>
            <a:ext cx="600075" cy="523875"/>
          </a:xfrm>
          <a:prstGeom prst="rect">
            <a:avLst/>
          </a:prstGeom>
          <a:noFill/>
        </p:spPr>
        <p:txBody>
          <a:bodyPr wrap="none" lIns="57150" rIns="57150" tIns="38100" bIns="38100" anchor="t">
            <a:noAutofit/>
          </a:bodyPr>
          <a:lstStyle/>
          <a:p>
            <a:pPr eaLnBrk="0">
              <a:lnSpc>
                <a:spcPts val="3515"/>
              </a:lnSpc>
              <a:spcBef>
                <a:spcPts val="0"/>
              </a:spcBef>
              <a:spcAft>
                <a:spcPts val="0"/>
              </a:spcAft>
            </a:pPr>
            <a:r>
              <a:rPr sz="2812" b="1">
                <a:solidFill>
                  <a:srgbClr val="00B7C9"/>
                </a:solidFill>
                <a:latin typeface="Noto Sans KR"/>
              </a:rPr>
              <a:t>=</a:t>
            </a:r>
          </a:p>
        </p:txBody>
      </p:sp>
      <p:sp>
        <p:nvSpPr>
          <p:cNvPr id="11" name="basis-factor-2"/>
          <p:cNvSpPr txBox="1"/>
          <p:nvPr/>
        </p:nvSpPr>
        <p:spPr>
          <a:xfrm>
            <a:off x="6838950" y="2505075"/>
            <a:ext cx="231457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20%</a:t>
            </a:r>
          </a:p>
        </p:txBody>
      </p:sp>
      <p:sp>
        <p:nvSpPr>
          <p:cNvPr id="12" name="basis-factor-label-2"/>
          <p:cNvSpPr txBox="1"/>
          <p:nvPr/>
        </p:nvSpPr>
        <p:spPr>
          <a:xfrm>
            <a:off x="6838950" y="3257550"/>
            <a:ext cx="231457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초기 목표</a:t>
            </a:r>
          </a:p>
        </p:txBody>
      </p:sp>
      <p:sp>
        <p:nvSpPr>
          <p:cNvPr id="13" name="basis-divider"/>
          <p:cNvSpPr/>
          <p:nvPr/>
        </p:nvSpPr>
        <p:spPr>
          <a:xfrm>
            <a:off x="10001250" y="2133600"/>
            <a:ext cx="28575" cy="14763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is-actual"/>
          <p:cNvSpPr txBox="1"/>
          <p:nvPr/>
        </p:nvSpPr>
        <p:spPr>
          <a:xfrm>
            <a:off x="10296525" y="2124075"/>
            <a:ext cx="39338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이 기획서의 최종월 목표</a:t>
            </a:r>
          </a:p>
        </p:txBody>
      </p:sp>
      <p:sp>
        <p:nvSpPr>
          <p:cNvPr id="15" name="basis-actual-value"/>
          <p:cNvSpPr txBox="1"/>
          <p:nvPr/>
        </p:nvSpPr>
        <p:spPr>
          <a:xfrm>
            <a:off x="10296525" y="2619375"/>
            <a:ext cx="3933825" cy="895350"/>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1">
                <a:solidFill>
                  <a:srgbClr val="FF6B00"/>
                </a:solidFill>
                <a:latin typeface="Noto Sans KR"/>
              </a:rPr>
              <a:t>방문 +20%</a:t>
            </a:r>
          </a:p>
          <a:p>
            <a:pPr eaLnBrk="0">
              <a:lnSpc>
                <a:spcPts val="2906"/>
              </a:lnSpc>
              <a:spcBef>
                <a:spcPts val="0"/>
              </a:spcBef>
              <a:spcAft>
                <a:spcPts val="0"/>
              </a:spcAft>
            </a:pPr>
            <a:r>
              <a:rPr sz="2325" b="1">
                <a:solidFill>
                  <a:srgbClr val="FF6B00"/>
                </a:solidFill>
                <a:latin typeface="Noto Sans KR"/>
              </a:rPr>
              <a:t>소비 +20%</a:t>
            </a:r>
          </a:p>
        </p:txBody>
      </p:sp>
      <p:sp>
        <p:nvSpPr>
          <p:cNvPr id="16" name="basis-meaning"/>
          <p:cNvSpPr txBox="1"/>
          <p:nvPr/>
        </p:nvSpPr>
        <p:spPr>
          <a:xfrm>
            <a:off x="1009650" y="3800475"/>
            <a:ext cx="13220700" cy="400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20%는 ML이 찾아낸 사업 효과가 아닙니다. 80%는 계획 가정이며 인구 보정값도 아닙니다.</a:t>
            </a:r>
          </a:p>
        </p:txBody>
      </p:sp>
      <p:sp>
        <p:nvSpPr>
          <p:cNvPr id="17" name="basis-mid-rule"/>
          <p:cNvSpPr/>
          <p:nvPr/>
        </p:nvSpPr>
        <p:spPr>
          <a:xfrm>
            <a:off x="1009650" y="4371975"/>
            <a:ext cx="13220700" cy="19050"/>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line-label"/>
          <p:cNvSpPr txBox="1"/>
          <p:nvPr/>
        </p:nvSpPr>
        <p:spPr>
          <a:xfrm>
            <a:off x="1009650" y="4610100"/>
            <a:ext cx="37242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ML 기준 전망</a:t>
            </a:r>
          </a:p>
        </p:txBody>
      </p:sp>
      <p:sp>
        <p:nvSpPr>
          <p:cNvPr id="19" name="baseline-value"/>
          <p:cNvSpPr txBox="1"/>
          <p:nvPr/>
        </p:nvSpPr>
        <p:spPr>
          <a:xfrm>
            <a:off x="1009650" y="5067300"/>
            <a:ext cx="37242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1,058.02만 명</a:t>
            </a:r>
          </a:p>
        </p:txBody>
      </p:sp>
      <p:sp>
        <p:nvSpPr>
          <p:cNvPr id="20" name="baseline-sub"/>
          <p:cNvSpPr txBox="1"/>
          <p:nvPr/>
        </p:nvSpPr>
        <p:spPr>
          <a:xfrm>
            <a:off x="1009650" y="5724525"/>
            <a:ext cx="37242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관광소비 4,449.19억 원</a:t>
            </a:r>
          </a:p>
          <a:p>
            <a:pPr eaLnBrk="0">
              <a:lnSpc>
                <a:spcPts val="1968"/>
              </a:lnSpc>
              <a:spcBef>
                <a:spcPts val="0"/>
              </a:spcBef>
              <a:spcAft>
                <a:spcPts val="0"/>
              </a:spcAft>
            </a:pPr>
            <a:r>
              <a:rPr sz="1575" b="0">
                <a:solidFill>
                  <a:srgbClr val="59636E"/>
                </a:solidFill>
                <a:latin typeface="Noto Sans KR"/>
              </a:rPr>
              <a:t>사업기간 3개월 월별 합계</a:t>
            </a:r>
          </a:p>
        </p:txBody>
      </p:sp>
      <p:sp>
        <p:nvSpPr>
          <p:cNvPr id="21" name="to-target"/>
          <p:cNvSpPr txBox="1"/>
          <p:nvPr/>
        </p:nvSpPr>
        <p:spPr>
          <a:xfrm>
            <a:off x="4752975"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uplift-label"/>
          <p:cNvSpPr txBox="1"/>
          <p:nvPr/>
        </p:nvSpPr>
        <p:spPr>
          <a:xfrm>
            <a:off x="5591175" y="4610100"/>
            <a:ext cx="3981450"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단계 목표를 합산</a:t>
            </a:r>
          </a:p>
        </p:txBody>
      </p:sp>
      <p:sp>
        <p:nvSpPr>
          <p:cNvPr id="23" name="uplift-value"/>
          <p:cNvSpPr txBox="1"/>
          <p:nvPr/>
        </p:nvSpPr>
        <p:spPr>
          <a:xfrm>
            <a:off x="5591175" y="5067300"/>
            <a:ext cx="3981450"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+139.44만 명</a:t>
            </a:r>
          </a:p>
        </p:txBody>
      </p:sp>
      <p:sp>
        <p:nvSpPr>
          <p:cNvPr id="24" name="uplift-sub"/>
          <p:cNvSpPr txBox="1"/>
          <p:nvPr/>
        </p:nvSpPr>
        <p:spPr>
          <a:xfrm>
            <a:off x="5591175" y="5724525"/>
            <a:ext cx="3981450"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소비 +592.49억 원</a:t>
            </a:r>
          </a:p>
          <a:p>
            <a:pPr eaLnBrk="0">
              <a:lnSpc>
                <a:spcPts val="1968"/>
              </a:lnSpc>
              <a:spcBef>
                <a:spcPts val="0"/>
              </a:spcBef>
              <a:spcAft>
                <a:spcPts val="0"/>
              </a:spcAft>
            </a:pPr>
            <a:r>
              <a:rPr sz="1575" b="0">
                <a:solidFill>
                  <a:srgbClr val="59636E"/>
                </a:solidFill>
                <a:latin typeface="Noto Sans KR"/>
              </a:rPr>
              <a:t>최종월까지 ⅓ → ⅔ → 전체 목표율</a:t>
            </a:r>
          </a:p>
        </p:txBody>
      </p:sp>
      <p:sp>
        <p:nvSpPr>
          <p:cNvPr id="25" name="to-volume"/>
          <p:cNvSpPr txBox="1"/>
          <p:nvPr/>
        </p:nvSpPr>
        <p:spPr>
          <a:xfrm>
            <a:off x="9525000"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6" name="quantity-label"/>
          <p:cNvSpPr txBox="1"/>
          <p:nvPr/>
        </p:nvSpPr>
        <p:spPr>
          <a:xfrm>
            <a:off x="10391775" y="4610100"/>
            <a:ext cx="38385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직접 운영할 규모</a:t>
            </a:r>
          </a:p>
        </p:txBody>
      </p:sp>
      <p:sp>
        <p:nvSpPr>
          <p:cNvPr id="27" name="quantity-value"/>
          <p:cNvSpPr txBox="1"/>
          <p:nvPr/>
        </p:nvSpPr>
        <p:spPr>
          <a:xfrm>
            <a:off x="10391775" y="5067300"/>
            <a:ext cx="38385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13,945건</a:t>
            </a:r>
          </a:p>
        </p:txBody>
      </p:sp>
      <p:sp>
        <p:nvSpPr>
          <p:cNvPr id="28" name="quantity-sub"/>
          <p:cNvSpPr txBox="1"/>
          <p:nvPr/>
        </p:nvSpPr>
        <p:spPr>
          <a:xfrm>
            <a:off x="10391775" y="5724525"/>
            <a:ext cx="38385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방문 목표 × 1% 올림</a:t>
            </a:r>
          </a:p>
          <a:p>
            <a:pPr eaLnBrk="0">
              <a:lnSpc>
                <a:spcPts val="1968"/>
              </a:lnSpc>
              <a:spcBef>
                <a:spcPts val="0"/>
              </a:spcBef>
              <a:spcAft>
                <a:spcPts val="0"/>
              </a:spcAft>
            </a:pPr>
            <a:r>
              <a:rPr sz="1575" b="0">
                <a:solidFill>
                  <a:srgbClr val="59636E"/>
                </a:solidFill>
                <a:latin typeface="Noto Sans KR"/>
              </a:rPr>
              <a:t>참여량 배분 가정 · 전환율 아님</a:t>
            </a:r>
          </a:p>
        </p:txBody>
      </p:sp>
      <p:sp>
        <p:nvSpPr>
          <p:cNvPr id="29" name="monthly-formula"/>
          <p:cNvSpPr txBox="1"/>
          <p:nvPr/>
        </p:nvSpPr>
        <p:spPr>
          <a:xfrm>
            <a:off x="1009650" y="6619875"/>
            <a:ext cx="13220700" cy="361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월 목표 = 월 기준 전망 × (1 + 최종월 목표율 × 경과월/전체월). 방문 합계는 3개월 고유 인원과 다릅니다.</a:t>
            </a:r>
          </a:p>
        </p:txBody>
      </p:sp>
      <p:sp>
        <p:nvSpPr>
          <p:cNvPr id="30" name="budget-band"/>
          <p:cNvSpPr/>
          <p:nvPr/>
        </p:nvSpPr>
        <p:spPr>
          <a:xfrm>
            <a:off x="1009650" y="7162800"/>
            <a:ext cx="13220700" cy="9620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dget-label-0"/>
          <p:cNvSpPr txBox="1"/>
          <p:nvPr/>
        </p:nvSpPr>
        <p:spPr>
          <a:xfrm>
            <a:off x="11906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직접 혜택</a:t>
            </a:r>
          </a:p>
        </p:txBody>
      </p:sp>
      <p:sp>
        <p:nvSpPr>
          <p:cNvPr id="32" name="budget-value-0"/>
          <p:cNvSpPr txBox="1"/>
          <p:nvPr/>
        </p:nvSpPr>
        <p:spPr>
          <a:xfrm>
            <a:off x="11906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69,725.0만 원</a:t>
            </a:r>
          </a:p>
        </p:txBody>
      </p:sp>
      <p:sp>
        <p:nvSpPr>
          <p:cNvPr id="33" name="budget-sign-0"/>
          <p:cNvSpPr txBox="1"/>
          <p:nvPr/>
        </p:nvSpPr>
        <p:spPr>
          <a:xfrm>
            <a:off x="41052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4" name="budget-label-1"/>
          <p:cNvSpPr txBox="1"/>
          <p:nvPr/>
        </p:nvSpPr>
        <p:spPr>
          <a:xfrm>
            <a:off x="45434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운영·시스템·홍보·평가</a:t>
            </a:r>
          </a:p>
        </p:txBody>
      </p:sp>
      <p:sp>
        <p:nvSpPr>
          <p:cNvPr id="35" name="budget-value-1"/>
          <p:cNvSpPr txBox="1"/>
          <p:nvPr/>
        </p:nvSpPr>
        <p:spPr>
          <a:xfrm>
            <a:off x="45434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9,970.0만 원</a:t>
            </a:r>
          </a:p>
        </p:txBody>
      </p:sp>
      <p:sp>
        <p:nvSpPr>
          <p:cNvPr id="36" name="budget-sign-1"/>
          <p:cNvSpPr txBox="1"/>
          <p:nvPr/>
        </p:nvSpPr>
        <p:spPr>
          <a:xfrm>
            <a:off x="74580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7" name="budget-label-2"/>
          <p:cNvSpPr txBox="1"/>
          <p:nvPr/>
        </p:nvSpPr>
        <p:spPr>
          <a:xfrm>
            <a:off x="78962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예비비 10%</a:t>
            </a:r>
          </a:p>
        </p:txBody>
      </p:sp>
      <p:sp>
        <p:nvSpPr>
          <p:cNvPr id="38" name="budget-value-2"/>
          <p:cNvSpPr txBox="1"/>
          <p:nvPr/>
        </p:nvSpPr>
        <p:spPr>
          <a:xfrm>
            <a:off x="78962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7,969.5만 원</a:t>
            </a:r>
          </a:p>
        </p:txBody>
      </p:sp>
      <p:sp>
        <p:nvSpPr>
          <p:cNvPr id="39" name="budget-sign-2"/>
          <p:cNvSpPr txBox="1"/>
          <p:nvPr/>
        </p:nvSpPr>
        <p:spPr>
          <a:xfrm>
            <a:off x="108108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40" name="budget-label-3"/>
          <p:cNvSpPr txBox="1"/>
          <p:nvPr/>
        </p:nvSpPr>
        <p:spPr>
          <a:xfrm>
            <a:off x="112490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견적 총액</a:t>
            </a:r>
          </a:p>
        </p:txBody>
      </p:sp>
      <p:sp>
        <p:nvSpPr>
          <p:cNvPr id="41" name="budget-value-3"/>
          <p:cNvSpPr txBox="1"/>
          <p:nvPr/>
        </p:nvSpPr>
        <p:spPr>
          <a:xfrm>
            <a:off x="112490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87,664.5만 원</a:t>
            </a:r>
          </a:p>
        </p:txBody>
      </p:sp>
      <p:sp>
        <p:nvSpPr>
          <p:cNvPr id="42" name="budget-assumption"/>
          <p:cNvSpPr txBox="1"/>
          <p:nvPr/>
        </p:nvSpPr>
        <p:spPr>
          <a:xfrm>
            <a:off x="1009650" y="8191500"/>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단가·인력 처리량은 기획 가정입니다. 항목별 곱셈 산식은 바로 앞 견적표에 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7개 전망은 어떻게 기획에 쓰이나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200977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공식 월별 데이터 202401~202606 → 지표별 저장 모델 → 사업기간의 전망</a:t>
            </a:r>
          </a:p>
        </p:txBody>
      </p:sp>
      <p:sp>
        <p:nvSpPr>
          <p:cNvPr id="5" name="ml-two"/>
          <p:cNvSpPr/>
          <p:nvPr/>
        </p:nvSpPr>
        <p:spPr>
          <a:xfrm>
            <a:off x="1009650" y="2695575"/>
            <a:ext cx="5981700" cy="2085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five"/>
          <p:cNvSpPr/>
          <p:nvPr/>
        </p:nvSpPr>
        <p:spPr>
          <a:xfrm>
            <a:off x="7543800" y="2695575"/>
            <a:ext cx="6686550" cy="2085975"/>
          </a:xfrm>
          <a:prstGeom prst="rect">
            <a:avLst/>
          </a:prstGeom>
          <a:solidFill>
            <a:srgbClr val="ED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wo-heading"/>
          <p:cNvSpPr txBox="1"/>
          <p:nvPr/>
        </p:nvSpPr>
        <p:spPr>
          <a:xfrm>
            <a:off x="1200150" y="2867025"/>
            <a:ext cx="55245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2개 · 수치 기준선</a:t>
            </a:r>
          </a:p>
        </p:txBody>
      </p:sp>
      <p:sp>
        <p:nvSpPr>
          <p:cNvPr id="8" name="two-metrics"/>
          <p:cNvSpPr txBox="1"/>
          <p:nvPr/>
        </p:nvSpPr>
        <p:spPr>
          <a:xfrm>
            <a:off x="1200150" y="3400425"/>
            <a:ext cx="55245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방문자 수 / 관광소비액</a:t>
            </a:r>
          </a:p>
        </p:txBody>
      </p:sp>
      <p:sp>
        <p:nvSpPr>
          <p:cNvPr id="9" name="two-use"/>
          <p:cNvSpPr txBox="1"/>
          <p:nvPr/>
        </p:nvSpPr>
        <p:spPr>
          <a:xfrm>
            <a:off x="1200150" y="3971925"/>
            <a:ext cx="5524500" cy="6762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전망 그래프 → 추가 목표 인원·소비액 계산</a:t>
            </a:r>
          </a:p>
          <a:p>
            <a:pPr eaLnBrk="0">
              <a:lnSpc>
                <a:spcPts val="2156"/>
              </a:lnSpc>
              <a:spcBef>
                <a:spcPts val="0"/>
              </a:spcBef>
              <a:spcAft>
                <a:spcPts val="0"/>
              </a:spcAft>
            </a:pPr>
            <a:r>
              <a:rPr sz="1725" b="0">
                <a:solidFill>
                  <a:srgbClr val="59636E"/>
                </a:solidFill>
                <a:latin typeface="Noto Sans KR"/>
              </a:rPr>
              <a:t>방문·소비 전망은 후보 비교에도 함께 전달</a:t>
            </a:r>
          </a:p>
        </p:txBody>
      </p:sp>
      <p:sp>
        <p:nvSpPr>
          <p:cNvPr id="10" name="five-heading"/>
          <p:cNvSpPr txBox="1"/>
          <p:nvPr/>
        </p:nvSpPr>
        <p:spPr>
          <a:xfrm>
            <a:off x="7734300" y="2867025"/>
            <a:ext cx="630555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5개 · 관광 흐름 진단</a:t>
            </a:r>
          </a:p>
        </p:txBody>
      </p:sp>
      <p:sp>
        <p:nvSpPr>
          <p:cNvPr id="11" name="five-metrics"/>
          <p:cNvSpPr txBox="1"/>
          <p:nvPr/>
        </p:nvSpPr>
        <p:spPr>
          <a:xfrm>
            <a:off x="7734300" y="3400425"/>
            <a:ext cx="6305550" cy="7239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체류시간 · 숙박일수 · 숙박방문 비율</a:t>
            </a:r>
          </a:p>
          <a:p>
            <a:pPr eaLnBrk="0">
              <a:lnSpc>
                <a:spcPts val="2531"/>
              </a:lnSpc>
              <a:spcBef>
                <a:spcPts val="0"/>
              </a:spcBef>
              <a:spcAft>
                <a:spcPts val="0"/>
              </a:spcAft>
            </a:pPr>
            <a:r>
              <a:rPr sz="2025" b="1">
                <a:solidFill>
                  <a:srgbClr val="004EA2"/>
                </a:solidFill>
                <a:latin typeface="Noto Sans KR"/>
              </a:rPr>
              <a:t>내비게이션 검색 · 숙박 목적지 검색</a:t>
            </a:r>
          </a:p>
        </p:txBody>
      </p:sp>
      <p:sp>
        <p:nvSpPr>
          <p:cNvPr id="12" name="five-use"/>
          <p:cNvSpPr txBox="1"/>
          <p:nvPr/>
        </p:nvSpPr>
        <p:spPr>
          <a:xfrm>
            <a:off x="7734300" y="4324350"/>
            <a:ext cx="6305550" cy="361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관심 → 방문 → 체류·숙박의 흐름을 살필 참고 입력</a:t>
            </a:r>
          </a:p>
        </p:txBody>
      </p:sp>
      <p:sp>
        <p:nvSpPr>
          <p:cNvPr id="13" name="ml-arrow-left"/>
          <p:cNvSpPr txBox="1"/>
          <p:nvPr/>
        </p:nvSpPr>
        <p:spPr>
          <a:xfrm>
            <a:off x="363855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4" name="ml-arrow-right"/>
          <p:cNvSpPr txBox="1"/>
          <p:nvPr/>
        </p:nvSpPr>
        <p:spPr>
          <a:xfrm>
            <a:off x="1028700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5" name="handoff"/>
          <p:cNvSpPr txBox="1"/>
          <p:nvPr/>
        </p:nvSpPr>
        <p:spPr>
          <a:xfrm>
            <a:off x="1009650" y="5410200"/>
            <a:ext cx="132207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서버가 7개 전망·전년 대비 변화·모델 평가를 근거 묶음으로 전달</a:t>
            </a:r>
          </a:p>
        </p:txBody>
      </p:sp>
      <p:sp>
        <p:nvSpPr>
          <p:cNvPr id="16" name="flow-title-0"/>
          <p:cNvSpPr txBox="1"/>
          <p:nvPr/>
        </p:nvSpPr>
        <p:spPr>
          <a:xfrm>
            <a:off x="100965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사례</a:t>
            </a:r>
          </a:p>
        </p:txBody>
      </p:sp>
      <p:sp>
        <p:nvSpPr>
          <p:cNvPr id="17" name="flow-body-0"/>
          <p:cNvSpPr txBox="1"/>
          <p:nvPr/>
        </p:nvSpPr>
        <p:spPr>
          <a:xfrm>
            <a:off x="100965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저장 8건</a:t>
            </a:r>
          </a:p>
          <a:p>
            <a:pPr eaLnBrk="0">
              <a:lnSpc>
                <a:spcPts val="2343"/>
              </a:lnSpc>
              <a:spcBef>
                <a:spcPts val="0"/>
              </a:spcBef>
              <a:spcAft>
                <a:spcPts val="0"/>
              </a:spcAft>
            </a:pPr>
            <a:r>
              <a:rPr sz="1875" b="0">
                <a:solidFill>
                  <a:srgbClr val="59636E"/>
                </a:solidFill>
                <a:latin typeface="Noto Sans KR"/>
              </a:rPr>
              <a:t>운영 방식·출처 확인</a:t>
            </a:r>
          </a:p>
        </p:txBody>
      </p:sp>
      <p:sp>
        <p:nvSpPr>
          <p:cNvPr id="18" name="flow-arrow-0"/>
          <p:cNvSpPr txBox="1"/>
          <p:nvPr/>
        </p:nvSpPr>
        <p:spPr>
          <a:xfrm>
            <a:off x="387667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9" name="flow-title-1"/>
          <p:cNvSpPr txBox="1"/>
          <p:nvPr/>
        </p:nvSpPr>
        <p:spPr>
          <a:xfrm>
            <a:off x="442912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Qwen 후보 비교</a:t>
            </a:r>
          </a:p>
        </p:txBody>
      </p:sp>
      <p:sp>
        <p:nvSpPr>
          <p:cNvPr id="20" name="flow-body-1"/>
          <p:cNvSpPr txBox="1"/>
          <p:nvPr/>
        </p:nvSpPr>
        <p:spPr>
          <a:xfrm>
            <a:off x="442912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설계 후보 2개</a:t>
            </a:r>
          </a:p>
          <a:p>
            <a:pPr eaLnBrk="0">
              <a:lnSpc>
                <a:spcPts val="2343"/>
              </a:lnSpc>
              <a:spcBef>
                <a:spcPts val="0"/>
              </a:spcBef>
              <a:spcAft>
                <a:spcPts val="0"/>
              </a:spcAft>
            </a:pPr>
            <a:r>
              <a:rPr sz="1875" b="0">
                <a:solidFill>
                  <a:srgbClr val="59636E"/>
                </a:solidFill>
                <a:latin typeface="Noto Sans KR"/>
              </a:rPr>
              <a:t>지역 조건 + 사례 판단</a:t>
            </a:r>
          </a:p>
        </p:txBody>
      </p:sp>
      <p:sp>
        <p:nvSpPr>
          <p:cNvPr id="21" name="flow-arrow-1"/>
          <p:cNvSpPr txBox="1"/>
          <p:nvPr/>
        </p:nvSpPr>
        <p:spPr>
          <a:xfrm>
            <a:off x="7296150"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flow-title-2"/>
          <p:cNvSpPr txBox="1"/>
          <p:nvPr/>
        </p:nvSpPr>
        <p:spPr>
          <a:xfrm>
            <a:off x="784860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Gemma 본문</a:t>
            </a:r>
          </a:p>
        </p:txBody>
      </p:sp>
      <p:sp>
        <p:nvSpPr>
          <p:cNvPr id="23" name="flow-body-2"/>
          <p:cNvSpPr txBox="1"/>
          <p:nvPr/>
        </p:nvSpPr>
        <p:spPr>
          <a:xfrm>
            <a:off x="784860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선정 사업·근거를</a:t>
            </a:r>
          </a:p>
          <a:p>
            <a:pPr eaLnBrk="0">
              <a:lnSpc>
                <a:spcPts val="2343"/>
              </a:lnSpc>
              <a:spcBef>
                <a:spcPts val="0"/>
              </a:spcBef>
              <a:spcAft>
                <a:spcPts val="0"/>
              </a:spcAft>
            </a:pPr>
            <a:r>
              <a:rPr sz="1875" b="0">
                <a:solidFill>
                  <a:srgbClr val="59636E"/>
                </a:solidFill>
                <a:latin typeface="Noto Sans KR"/>
              </a:rPr>
              <a:t>실행 계획으로 작성</a:t>
            </a:r>
          </a:p>
        </p:txBody>
      </p:sp>
      <p:sp>
        <p:nvSpPr>
          <p:cNvPr id="24" name="flow-arrow-2"/>
          <p:cNvSpPr txBox="1"/>
          <p:nvPr/>
        </p:nvSpPr>
        <p:spPr>
          <a:xfrm>
            <a:off x="1071562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title-3"/>
          <p:cNvSpPr txBox="1"/>
          <p:nvPr/>
        </p:nvSpPr>
        <p:spPr>
          <a:xfrm>
            <a:off x="1126807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검수·출력</a:t>
            </a:r>
          </a:p>
        </p:txBody>
      </p:sp>
      <p:sp>
        <p:nvSpPr>
          <p:cNvPr id="26" name="flow-body-3"/>
          <p:cNvSpPr txBox="1"/>
          <p:nvPr/>
        </p:nvSpPr>
        <p:spPr>
          <a:xfrm>
            <a:off x="1126807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코드·로컬 검수</a:t>
            </a:r>
          </a:p>
          <a:p>
            <a:pPr eaLnBrk="0">
              <a:lnSpc>
                <a:spcPts val="2343"/>
              </a:lnSpc>
              <a:spcBef>
                <a:spcPts val="0"/>
              </a:spcBef>
              <a:spcAft>
                <a:spcPts val="0"/>
              </a:spcAft>
            </a:pPr>
            <a:r>
              <a:rPr sz="1875" b="0">
                <a:solidFill>
                  <a:srgbClr val="59636E"/>
                </a:solidFill>
                <a:latin typeface="Noto Sans KR"/>
              </a:rPr>
              <a:t>웹 · Word · PPT</a:t>
            </a:r>
          </a:p>
        </p:txBody>
      </p:sp>
      <p:sp>
        <p:nvSpPr>
          <p:cNvPr id="27" name="ml-boundary-rule"/>
          <p:cNvSpPr/>
          <p:nvPr/>
        </p:nvSpPr>
        <p:spPr>
          <a:xfrm>
            <a:off x="1009650" y="76200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l-boundary"/>
          <p:cNvSpPr txBox="1"/>
          <p:nvPr/>
        </p:nvSpPr>
        <p:spPr>
          <a:xfrm>
            <a:off x="1009650" y="7839075"/>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이 보고서: 5개 지표는 전년 동월 기준모델을 사용. ML은 관광지표를 예측하고, 사례·사업의 최종 선택은 문서와 LLM 판단으로 수행합니다.</a:t>
            </a:r>
          </a:p>
          <a:p>
            <a:pPr eaLnBrk="0">
              <a:lnSpc>
                <a:spcPts val="1968"/>
              </a:lnSpc>
              <a:spcBef>
                <a:spcPts val="0"/>
              </a:spcBef>
              <a:spcAft>
                <a:spcPts val="0"/>
              </a:spcAft>
            </a:pPr>
            <a:r>
              <a:rPr sz="1575" b="0">
                <a:solidFill>
                  <a:srgbClr val="59636E"/>
                </a:solidFill>
                <a:latin typeface="Noto Sans KR"/>
              </a:rPr>
              <a:t>7개 값으로 학습한 별도 사업 추천 모델은 아닙니다. 입력을 읽었다는 사실과 판단의 타당성은 구분합니다.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