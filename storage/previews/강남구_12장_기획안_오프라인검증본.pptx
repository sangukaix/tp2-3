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5240000" cy="85725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515" autoAdjust="0"/>
  </p:normalViewPr>
  <p:slideViewPr>
    <p:cSldViewPr snapToGrid="0">
      <p:cViewPr varScale="1">
        <p:scale>
          <a:sx n="74" d="100"/>
          <a:sy n="74" d="100"/>
        </p:scale>
        <p:origin x="12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ML 자연추세</c:v>
                </c:pt>
              </c:strCache>
            </c:strRef>
          </c:tx>
          <c:spPr>
            <a:ln w="19050">
              <a:solidFill>
                <a:srgbClr val="004EA2"/>
              </a:solidFill>
              <a:prstDash val="solid"/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26.08</c:v>
                </c:pt>
                <c:pt idx="1">
                  <c:v>26.09</c:v>
                </c:pt>
                <c:pt idx="2">
                  <c:v>26.10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18.027844000000002</c:v>
                </c:pt>
                <c:pt idx="1">
                  <c:v>18.237832999999998</c:v>
                </c:pt>
                <c:pt idx="2">
                  <c:v>17.767384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A3A-43D2-8659-A048F6F840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DE5EC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4F555B"/>
                </a:solidFill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DE5EC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4F555B"/>
                </a:solidFill>
              </a:defRPr>
            </a:pPr>
            <a:endParaRPr lang="ko-KR"/>
          </a:p>
        </c:txPr>
        <c:crossAx val="48650112"/>
        <c:crosses val="autoZero"/>
        <c:crossBetween val="between"/>
      </c:valAx>
      <c:spPr>
        <a:solidFill>
          <a:srgbClr val="F4F7FA"/>
        </a:solidFill>
        <a:ln w="0">
          <a:noFill/>
          <a:prstDash val="solid"/>
        </a:ln>
      </c:spPr>
    </c:plotArea>
    <c:legend>
      <c:legendPos val="b"/>
      <c:overlay val="0"/>
    </c:legend>
    <c:plotVisOnly val="1"/>
    <c:dispBlanksAs val="zero"/>
    <c:showDLblsOverMax val="1"/>
  </c:chart>
  <c:spPr>
    <a:solidFill>
      <a:srgbClr val="F4F7FA"/>
    </a:solidFill>
    <a:ln w="0">
      <a:noFill/>
      <a:prstDash val="solid"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한국관광 데이터랩 · 서울특별시 강남구 순 방문자 수 및 숙박 비율 (이동통신 기반 외지인): https://datalab.visitkorea.or.kr/</a:t>
            </a:r>
          </a:p>
          <a:p>
            <a:r>
              <a:t>- 한국관광 데이터랩 · 서울특별시 강남구 월간 순 방문자 수 (이동통신 기반 외지인): https://datalab.visitkorea.or.kr/</a:t>
            </a:r>
          </a:p>
          <a:p>
            <a:r>
              <a:t>- 한국관광 데이터랩 · 서울특별시 강남구 관광소비 추이_외지인: https://datalab.visitkorea.or.kr/</a:t>
            </a:r>
          </a:p>
          <a:p>
            <a:r>
              <a:t>- 한국관광 데이터랩 · 서울특별시 강남구 숙박방문자 비율 추이 (이동통신 기반 외지인): https://datalab.visitkorea.or.kr/</a:t>
            </a:r>
          </a:p>
          <a:p>
            <a:r>
              <a:t>- 한국관광 데이터랩 · 서울특별시 강남구 평균 숙박일 (이동통신 기반 외지인): https://datalab.visitkorea.or.kr/</a:t>
            </a:r>
          </a:p>
          <a:p>
            <a:r>
              <a:t>- 한국관광 데이터랩 · 서울특별시 강남구 내비게이션 목적지 유형별 검색량: https://datalab.visitkorea.or.kr/</a:t>
            </a:r>
          </a:p>
          <a:p>
            <a:r>
              <a:t>- 한국관광 데이터랩 · 서울특별시 강남구 SNS 언급량: https://datalab.visitkorea.or.kr/</a:t>
            </a:r>
          </a:p>
          <a:p>
            <a:endParaRPr/>
          </a:p>
          <a:p>
            <a:r>
              <a:t>[Method]</a:t>
            </a:r>
          </a:p>
          <a:p>
            <a:r>
              <a:t>표지의 지역·전략명·기간은 저장된 ReportResponse에서 읽음.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한국관광 데이터랩 · 서울특별시 강남구 순 방문자 수 및 숙박 비율 (이동통신 기반 외지인): https://datalab.visitkorea.or.kr/</a:t>
            </a:r>
          </a:p>
          <a:p>
            <a:r>
              <a:t>- 한국관광 데이터랩 · 서울특별시 강남구 월간 순 방문자 수 (이동통신 기반 외지인): https://datalab.visitkorea.or.kr/</a:t>
            </a:r>
          </a:p>
          <a:p>
            <a:r>
              <a:t>- 한국관광 데이터랩 · 서울특별시 강남구 관광소비 추이_외지인: https://datalab.visitkorea.or.kr/</a:t>
            </a:r>
          </a:p>
          <a:p>
            <a:r>
              <a:t>- 한국관광 데이터랩 · 서울특별시 강남구 숙박방문자 비율 추이 (이동통신 기반 외지인): https://datalab.visitkorea.or.kr/</a:t>
            </a:r>
          </a:p>
          <a:p>
            <a:r>
              <a:t>- 한국관광 데이터랩 · 서울특별시 강남구 평균 숙박일 (이동통신 기반 외지인): https://datalab.visitkorea.or.kr/</a:t>
            </a:r>
          </a:p>
          <a:p>
            <a:r>
              <a:t>- 한국관광 데이터랩 · 서울특별시 강남구 내비게이션 목적지 유형별 검색량: https://datalab.visitkorea.or.kr/</a:t>
            </a:r>
          </a:p>
          <a:p>
            <a:r>
              <a:t>- 한국관광 데이터랩 · 서울특별시 강남구 SNS 언급량: https://datalab.visitkorea.or.kr/</a:t>
            </a:r>
          </a:p>
          <a:p>
            <a:endParaRPr/>
          </a:p>
          <a:p>
            <a:r>
              <a:t>[Method]</a:t>
            </a:r>
          </a:p>
          <a:p>
            <a:r>
              <a:t>목차는 승인된 12장 템플릿 구조를 고정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한국관광</a:t>
            </a:r>
            <a:r>
              <a:rPr dirty="0"/>
              <a:t> </a:t>
            </a:r>
            <a:r>
              <a:rPr dirty="0" err="1"/>
              <a:t>데이터랩</a:t>
            </a:r>
            <a:r>
              <a:rPr dirty="0"/>
              <a:t> · </a:t>
            </a:r>
            <a:r>
              <a:rPr dirty="0" err="1"/>
              <a:t>서울특별시</a:t>
            </a:r>
            <a:r>
              <a:rPr dirty="0"/>
              <a:t> </a:t>
            </a:r>
            <a:r>
              <a:rPr dirty="0" err="1"/>
              <a:t>강남구</a:t>
            </a:r>
            <a:r>
              <a:rPr dirty="0"/>
              <a:t> 순 </a:t>
            </a:r>
            <a:r>
              <a:rPr dirty="0" err="1"/>
              <a:t>방문자</a:t>
            </a:r>
            <a:r>
              <a:rPr dirty="0"/>
              <a:t> 수 및 </a:t>
            </a:r>
            <a:r>
              <a:rPr dirty="0" err="1"/>
              <a:t>숙박</a:t>
            </a:r>
            <a:r>
              <a:rPr dirty="0"/>
              <a:t> </a:t>
            </a:r>
            <a:r>
              <a:rPr dirty="0" err="1"/>
              <a:t>비율</a:t>
            </a:r>
            <a:r>
              <a:rPr dirty="0"/>
              <a:t> (</a:t>
            </a:r>
            <a:r>
              <a:rPr dirty="0" err="1"/>
              <a:t>이동통신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외지인</a:t>
            </a:r>
            <a:r>
              <a:rPr dirty="0"/>
              <a:t>): https://datalab.visitkorea.or.kr/</a:t>
            </a:r>
          </a:p>
          <a:p>
            <a:r>
              <a:rPr dirty="0"/>
              <a:t>- </a:t>
            </a:r>
            <a:r>
              <a:rPr dirty="0" err="1"/>
              <a:t>한국관광</a:t>
            </a:r>
            <a:r>
              <a:rPr dirty="0"/>
              <a:t> </a:t>
            </a:r>
            <a:r>
              <a:rPr dirty="0" err="1"/>
              <a:t>데이터랩</a:t>
            </a:r>
            <a:r>
              <a:rPr dirty="0"/>
              <a:t> · </a:t>
            </a:r>
            <a:r>
              <a:rPr dirty="0" err="1"/>
              <a:t>서울특별시</a:t>
            </a:r>
            <a:r>
              <a:rPr dirty="0"/>
              <a:t> </a:t>
            </a:r>
            <a:r>
              <a:rPr dirty="0" err="1"/>
              <a:t>강남구</a:t>
            </a:r>
            <a:r>
              <a:rPr dirty="0"/>
              <a:t> </a:t>
            </a:r>
            <a:r>
              <a:rPr dirty="0" err="1"/>
              <a:t>월간</a:t>
            </a:r>
            <a:r>
              <a:rPr dirty="0"/>
              <a:t> 순 </a:t>
            </a:r>
            <a:r>
              <a:rPr dirty="0" err="1"/>
              <a:t>방문자</a:t>
            </a:r>
            <a:r>
              <a:rPr dirty="0"/>
              <a:t> 수 (</a:t>
            </a:r>
            <a:r>
              <a:rPr dirty="0" err="1"/>
              <a:t>이동통신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외지인</a:t>
            </a:r>
            <a:r>
              <a:rPr dirty="0"/>
              <a:t>): https://datalab.visitkorea.or.kr/</a:t>
            </a:r>
          </a:p>
          <a:p>
            <a:r>
              <a:rPr dirty="0"/>
              <a:t>- </a:t>
            </a:r>
            <a:r>
              <a:rPr dirty="0" err="1"/>
              <a:t>한국관광</a:t>
            </a:r>
            <a:r>
              <a:rPr dirty="0"/>
              <a:t> </a:t>
            </a:r>
            <a:r>
              <a:rPr dirty="0" err="1"/>
              <a:t>데이터랩</a:t>
            </a:r>
            <a:r>
              <a:rPr dirty="0"/>
              <a:t> · </a:t>
            </a:r>
            <a:r>
              <a:rPr dirty="0" err="1"/>
              <a:t>서울특별시</a:t>
            </a:r>
            <a:r>
              <a:rPr dirty="0"/>
              <a:t> </a:t>
            </a:r>
            <a:r>
              <a:rPr dirty="0" err="1"/>
              <a:t>강남구</a:t>
            </a:r>
            <a:r>
              <a:rPr dirty="0"/>
              <a:t> </a:t>
            </a:r>
            <a:r>
              <a:rPr dirty="0" err="1"/>
              <a:t>관광소비</a:t>
            </a:r>
            <a:r>
              <a:rPr dirty="0"/>
              <a:t> </a:t>
            </a:r>
            <a:r>
              <a:rPr dirty="0" err="1"/>
              <a:t>추이_외지인</a:t>
            </a:r>
            <a:r>
              <a:rPr dirty="0"/>
              <a:t>: https://datalab.visitkorea.or.kr/</a:t>
            </a:r>
          </a:p>
          <a:p>
            <a:r>
              <a:rPr dirty="0"/>
              <a:t>- </a:t>
            </a:r>
            <a:r>
              <a:rPr dirty="0" err="1"/>
              <a:t>한국관광</a:t>
            </a:r>
            <a:r>
              <a:rPr dirty="0"/>
              <a:t> </a:t>
            </a:r>
            <a:r>
              <a:rPr dirty="0" err="1"/>
              <a:t>데이터랩</a:t>
            </a:r>
            <a:r>
              <a:rPr dirty="0"/>
              <a:t> · </a:t>
            </a:r>
            <a:r>
              <a:rPr dirty="0" err="1"/>
              <a:t>서울특별시</a:t>
            </a:r>
            <a:r>
              <a:rPr dirty="0"/>
              <a:t> </a:t>
            </a:r>
            <a:r>
              <a:rPr dirty="0" err="1"/>
              <a:t>강남구</a:t>
            </a:r>
            <a:r>
              <a:rPr dirty="0"/>
              <a:t> </a:t>
            </a:r>
            <a:r>
              <a:rPr dirty="0" err="1"/>
              <a:t>숙박방문자</a:t>
            </a:r>
            <a:r>
              <a:rPr dirty="0"/>
              <a:t> </a:t>
            </a:r>
            <a:r>
              <a:rPr dirty="0" err="1"/>
              <a:t>비율</a:t>
            </a:r>
            <a:r>
              <a:rPr dirty="0"/>
              <a:t> </a:t>
            </a:r>
            <a:r>
              <a:rPr dirty="0" err="1"/>
              <a:t>추이</a:t>
            </a:r>
            <a:r>
              <a:rPr dirty="0"/>
              <a:t> (</a:t>
            </a:r>
            <a:r>
              <a:rPr dirty="0" err="1"/>
              <a:t>이동통신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외지인</a:t>
            </a:r>
            <a:r>
              <a:rPr dirty="0"/>
              <a:t>): https://datalab.visitkorea.or.kr/</a:t>
            </a:r>
          </a:p>
          <a:p>
            <a:r>
              <a:rPr dirty="0"/>
              <a:t>- </a:t>
            </a:r>
            <a:r>
              <a:rPr dirty="0" err="1"/>
              <a:t>한국관광</a:t>
            </a:r>
            <a:r>
              <a:rPr dirty="0"/>
              <a:t> </a:t>
            </a:r>
            <a:r>
              <a:rPr dirty="0" err="1"/>
              <a:t>데이터랩</a:t>
            </a:r>
            <a:r>
              <a:rPr dirty="0"/>
              <a:t> · </a:t>
            </a:r>
            <a:r>
              <a:rPr dirty="0" err="1"/>
              <a:t>서울특별시</a:t>
            </a:r>
            <a:r>
              <a:rPr dirty="0"/>
              <a:t> </a:t>
            </a:r>
            <a:r>
              <a:rPr dirty="0" err="1"/>
              <a:t>강남구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숙박일</a:t>
            </a:r>
            <a:r>
              <a:rPr dirty="0"/>
              <a:t> (</a:t>
            </a:r>
            <a:r>
              <a:rPr dirty="0" err="1"/>
              <a:t>이동통신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외지인</a:t>
            </a:r>
            <a:r>
              <a:rPr dirty="0"/>
              <a:t>): https://datalab.visitkorea.or.kr/</a:t>
            </a:r>
          </a:p>
          <a:p>
            <a:r>
              <a:rPr dirty="0"/>
              <a:t>- </a:t>
            </a:r>
            <a:r>
              <a:rPr dirty="0" err="1"/>
              <a:t>한국관광</a:t>
            </a:r>
            <a:r>
              <a:rPr dirty="0"/>
              <a:t> </a:t>
            </a:r>
            <a:r>
              <a:rPr dirty="0" err="1"/>
              <a:t>데이터랩</a:t>
            </a:r>
            <a:r>
              <a:rPr dirty="0"/>
              <a:t> · </a:t>
            </a:r>
            <a:r>
              <a:rPr dirty="0" err="1"/>
              <a:t>서울특별시</a:t>
            </a:r>
            <a:r>
              <a:rPr dirty="0"/>
              <a:t> </a:t>
            </a:r>
            <a:r>
              <a:rPr dirty="0" err="1"/>
              <a:t>강남구</a:t>
            </a:r>
            <a:r>
              <a:rPr dirty="0"/>
              <a:t> </a:t>
            </a:r>
            <a:r>
              <a:rPr dirty="0" err="1"/>
              <a:t>내비게이션</a:t>
            </a:r>
            <a:r>
              <a:rPr dirty="0"/>
              <a:t> </a:t>
            </a:r>
            <a:r>
              <a:rPr dirty="0" err="1"/>
              <a:t>목적지</a:t>
            </a:r>
            <a:r>
              <a:rPr dirty="0"/>
              <a:t> </a:t>
            </a:r>
            <a:r>
              <a:rPr dirty="0" err="1"/>
              <a:t>유형별</a:t>
            </a:r>
            <a:r>
              <a:rPr dirty="0"/>
              <a:t> </a:t>
            </a:r>
            <a:r>
              <a:rPr dirty="0" err="1"/>
              <a:t>검색량</a:t>
            </a:r>
            <a:r>
              <a:rPr dirty="0"/>
              <a:t>: https://datalab.visitkorea.or.kr/</a:t>
            </a:r>
          </a:p>
          <a:p>
            <a:r>
              <a:rPr dirty="0"/>
              <a:t>- </a:t>
            </a:r>
            <a:r>
              <a:rPr dirty="0" err="1"/>
              <a:t>한국관광</a:t>
            </a:r>
            <a:r>
              <a:rPr dirty="0"/>
              <a:t> </a:t>
            </a:r>
            <a:r>
              <a:rPr dirty="0" err="1"/>
              <a:t>데이터랩</a:t>
            </a:r>
            <a:r>
              <a:rPr dirty="0"/>
              <a:t> · </a:t>
            </a:r>
            <a:r>
              <a:rPr dirty="0" err="1"/>
              <a:t>서울특별시</a:t>
            </a:r>
            <a:r>
              <a:rPr dirty="0"/>
              <a:t> </a:t>
            </a:r>
            <a:r>
              <a:rPr dirty="0" err="1"/>
              <a:t>강남구</a:t>
            </a:r>
            <a:r>
              <a:rPr dirty="0"/>
              <a:t> SNS </a:t>
            </a:r>
            <a:r>
              <a:rPr dirty="0" err="1"/>
              <a:t>언급량</a:t>
            </a:r>
            <a:r>
              <a:rPr dirty="0"/>
              <a:t>: https://datalab.visitkorea.or.kr/</a:t>
            </a:r>
          </a:p>
          <a:p>
            <a:r>
              <a:rPr dirty="0"/>
              <a:t>- </a:t>
            </a:r>
            <a:r>
              <a:rPr dirty="0" err="1"/>
              <a:t>가나돈까스의집</a:t>
            </a:r>
            <a:r>
              <a:rPr dirty="0"/>
              <a:t>: https://apis.data.go.kr/B551011/KorService2</a:t>
            </a:r>
          </a:p>
          <a:p>
            <a:endParaRPr dirty="0"/>
          </a:p>
          <a:p>
            <a:r>
              <a:rPr dirty="0"/>
              <a:t>[Method]</a:t>
            </a:r>
          </a:p>
          <a:p>
            <a:r>
              <a:rPr dirty="0" err="1"/>
              <a:t>관측값과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 </a:t>
            </a:r>
            <a:r>
              <a:rPr dirty="0" err="1"/>
              <a:t>문장은</a:t>
            </a:r>
            <a:r>
              <a:rPr dirty="0"/>
              <a:t> </a:t>
            </a:r>
            <a:r>
              <a:rPr dirty="0" err="1"/>
              <a:t>보고서의</a:t>
            </a:r>
            <a:r>
              <a:rPr dirty="0"/>
              <a:t> </a:t>
            </a:r>
            <a:r>
              <a:rPr dirty="0" err="1"/>
              <a:t>observed_findings·comparison_analysis를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한국관광 데이터랩 · 서울특별시 강남구 순 방문자 수 및 숙박 비율 (이동통신 기반 외지인): https://datalab.visitkorea.or.kr/</a:t>
            </a:r>
          </a:p>
          <a:p>
            <a:r>
              <a:t>- 한국관광 데이터랩 · 서울특별시 강남구 월간 순 방문자 수 (이동통신 기반 외지인): https://datalab.visitkorea.or.kr/</a:t>
            </a:r>
          </a:p>
          <a:p>
            <a:r>
              <a:t>- 한국관광 데이터랩 · 서울특별시 강남구 관광소비 추이_외지인: https://datalab.visitkorea.or.kr/</a:t>
            </a:r>
          </a:p>
          <a:p>
            <a:r>
              <a:t>- 한국관광 데이터랩 · 서울특별시 강남구 숙박방문자 비율 추이 (이동통신 기반 외지인): https://datalab.visitkorea.or.kr/</a:t>
            </a:r>
          </a:p>
          <a:p>
            <a:r>
              <a:t>- 한국관광 데이터랩 · 서울특별시 강남구 평균 숙박일 (이동통신 기반 외지인): https://datalab.visitkorea.or.kr/</a:t>
            </a:r>
          </a:p>
          <a:p>
            <a:r>
              <a:t>- 한국관광 데이터랩 · 서울특별시 강남구 내비게이션 목적지 유형별 검색량: https://datalab.visitkorea.or.kr/</a:t>
            </a:r>
          </a:p>
          <a:p>
            <a:r>
              <a:t>- 한국관광 데이터랩 · 서울특별시 강남구 SNS 언급량: https://datalab.visitkorea.or.kr/</a:t>
            </a:r>
          </a:p>
          <a:p>
            <a:r>
              <a:t>- 가담: https://apis.data.go.kr/B551011/KorService2</a:t>
            </a:r>
          </a:p>
          <a:p>
            <a:endParaRPr/>
          </a:p>
          <a:p>
            <a:r>
              <a:t>[Method]</a:t>
            </a:r>
          </a:p>
          <a:p>
            <a:r>
              <a:t>문제·솔루션·기대 변화는 단일 검증 기획안을 요약.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한국관광 데이터랩 · 서울특별시 강남구 순 방문자 수 및 숙박 비율 (이동통신 기반 외지인): https://datalab.visitkorea.or.kr/</a:t>
            </a:r>
          </a:p>
          <a:p>
            <a:r>
              <a:t>- 한국관광 데이터랩 · 서울특별시 강남구 월간 순 방문자 수 (이동통신 기반 외지인): https://datalab.visitkorea.or.kr/</a:t>
            </a:r>
          </a:p>
          <a:p>
            <a:r>
              <a:t>- 한국관광 데이터랩 · 서울특별시 강남구 관광소비 추이_외지인: https://datalab.visitkorea.or.kr/</a:t>
            </a:r>
          </a:p>
          <a:p>
            <a:r>
              <a:t>- 한국관광 데이터랩 · 서울특별시 강남구 숙박방문자 비율 추이 (이동통신 기반 외지인): https://datalab.visitkorea.or.kr/</a:t>
            </a:r>
          </a:p>
          <a:p>
            <a:r>
              <a:t>- 한국관광 데이터랩 · 서울특별시 강남구 평균 숙박일 (이동통신 기반 외지인): https://datalab.visitkorea.or.kr/</a:t>
            </a:r>
          </a:p>
          <a:p>
            <a:r>
              <a:t>- 한국관광 데이터랩 · 서울특별시 강남구 내비게이션 목적지 유형별 검색량: https://datalab.visitkorea.or.kr/</a:t>
            </a:r>
          </a:p>
          <a:p>
            <a:r>
              <a:t>- 한국관광 데이터랩 · 서울특별시 강남구 SNS 언급량: https://datalab.visitkorea.or.kr/</a:t>
            </a:r>
          </a:p>
          <a:p>
            <a:endParaRPr/>
          </a:p>
          <a:p>
            <a:r>
              <a:t>[Method]</a:t>
            </a:r>
          </a:p>
          <a:p>
            <a:r>
              <a:t>참여자 역할은 기획안 실행 주체와 측정 역할을 구분해 정리.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한국관광 데이터랩 · 서울특별시 강남구 순 방문자 수 및 숙박 비율 (이동통신 기반 외지인): https://datalab.visitkorea.or.kr/</a:t>
            </a:r>
          </a:p>
          <a:p>
            <a:r>
              <a:t>- 한국관광 데이터랩 · 서울특별시 강남구 월간 순 방문자 수 (이동통신 기반 외지인): https://datalab.visitkorea.or.kr/</a:t>
            </a:r>
          </a:p>
          <a:p>
            <a:r>
              <a:t>- 한국관광 데이터랩 · 서울특별시 강남구 관광소비 추이_외지인: https://datalab.visitkorea.or.kr/</a:t>
            </a:r>
          </a:p>
          <a:p>
            <a:r>
              <a:t>- 한국관광 데이터랩 · 서울특별시 강남구 숙박방문자 비율 추이 (이동통신 기반 외지인): https://datalab.visitkorea.or.kr/</a:t>
            </a:r>
          </a:p>
          <a:p>
            <a:r>
              <a:t>- 한국관광 데이터랩 · 서울특별시 강남구 평균 숙박일 (이동통신 기반 외지인): https://datalab.visitkorea.or.kr/</a:t>
            </a:r>
          </a:p>
          <a:p>
            <a:r>
              <a:t>- 한국관광 데이터랩 · 서울특별시 강남구 내비게이션 목적지 유형별 검색량: https://datalab.visitkorea.or.kr/</a:t>
            </a:r>
          </a:p>
          <a:p>
            <a:r>
              <a:t>- 한국관광 데이터랩 · 서울특별시 강남구 SNS 언급량: https://datalab.visitkorea.or.kr/</a:t>
            </a:r>
          </a:p>
          <a:p>
            <a:r>
              <a:t>- 갓포아키 도산공원점: https://apis.data.go.kr/B551011/KorService2</a:t>
            </a:r>
          </a:p>
          <a:p>
            <a:endParaRPr/>
          </a:p>
          <a:p>
            <a:r>
              <a:t>[Method]</a:t>
            </a:r>
          </a:p>
          <a:p>
            <a:r>
              <a:t>5단계 실행안과 예산·KPI를 7개 사업 구성으로 재배열.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한국관광 데이터랩 · 서울특별시 강남구 순 방문자 수 및 숙박 비율 (이동통신 기반 외지인): https://datalab.visitkorea.or.kr/</a:t>
            </a:r>
          </a:p>
          <a:p>
            <a:r>
              <a:t>- 한국관광 데이터랩 · 서울특별시 강남구 월간 순 방문자 수 (이동통신 기반 외지인): https://datalab.visitkorea.or.kr/</a:t>
            </a:r>
          </a:p>
          <a:p>
            <a:r>
              <a:t>- 한국관광 데이터랩 · 서울특별시 강남구 관광소비 추이_외지인: https://datalab.visitkorea.or.kr/</a:t>
            </a:r>
          </a:p>
          <a:p>
            <a:r>
              <a:t>- 한국관광 데이터랩 · 서울특별시 강남구 숙박방문자 비율 추이 (이동통신 기반 외지인): https://datalab.visitkorea.or.kr/</a:t>
            </a:r>
          </a:p>
          <a:p>
            <a:r>
              <a:t>- 한국관광 데이터랩 · 서울특별시 강남구 평균 숙박일 (이동통신 기반 외지인): https://datalab.visitkorea.or.kr/</a:t>
            </a:r>
          </a:p>
          <a:p>
            <a:r>
              <a:t>- 한국관광 데이터랩 · 서울특별시 강남구 내비게이션 목적지 유형별 검색량: https://datalab.visitkorea.or.kr/</a:t>
            </a:r>
          </a:p>
          <a:p>
            <a:r>
              <a:t>- 한국관광 데이터랩 · 서울특별시 강남구 SNS 언급량: https://datalab.visitkorea.or.kr/</a:t>
            </a:r>
          </a:p>
          <a:p>
            <a:endParaRPr/>
          </a:p>
          <a:p>
            <a:r>
              <a:t>[Method]</a:t>
            </a:r>
          </a:p>
          <a:p>
            <a:r>
              <a:t>implementation_steps의 일정·행동·산출물을 그대로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한국관광 데이터랩 · 서울특별시 강남구 순 방문자 수 및 숙박 비율 (이동통신 기반 외지인): https://datalab.visitkorea.or.kr/</a:t>
            </a:r>
          </a:p>
          <a:p>
            <a:r>
              <a:t>- 한국관광 데이터랩 · 서울특별시 강남구 월간 순 방문자 수 (이동통신 기반 외지인): https://datalab.visitkorea.or.kr/</a:t>
            </a:r>
          </a:p>
          <a:p>
            <a:r>
              <a:t>- 한국관광 데이터랩 · 서울특별시 강남구 관광소비 추이_외지인: https://datalab.visitkorea.or.kr/</a:t>
            </a:r>
          </a:p>
          <a:p>
            <a:r>
              <a:t>- 한국관광 데이터랩 · 서울특별시 강남구 숙박방문자 비율 추이 (이동통신 기반 외지인): https://datalab.visitkorea.or.kr/</a:t>
            </a:r>
          </a:p>
          <a:p>
            <a:r>
              <a:t>- 한국관광 데이터랩 · 서울특별시 강남구 평균 숙박일 (이동통신 기반 외지인): https://datalab.visitkorea.or.kr/</a:t>
            </a:r>
          </a:p>
          <a:p>
            <a:r>
              <a:t>- 한국관광 데이터랩 · 서울특별시 강남구 내비게이션 목적지 유형별 검색량: https://datalab.visitkorea.or.kr/</a:t>
            </a:r>
          </a:p>
          <a:p>
            <a:r>
              <a:t>- 한국관광 데이터랩 · 서울특별시 강남구 SNS 언급량: https://datalab.visitkorea.or.kr/</a:t>
            </a:r>
          </a:p>
          <a:p>
            <a:endParaRPr/>
          </a:p>
          <a:p>
            <a:r>
              <a:t>[Method]</a:t>
            </a:r>
          </a:p>
          <a:p>
            <a:r>
              <a:t>지역 비교는 인과효과가 아닌 우선순위 판단 신호로만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한국관광 데이터랩 · 서울특별시 강남구 순 방문자 수 및 숙박 비율 (이동통신 기반 외지인): https://datalab.visitkorea.or.kr/</a:t>
            </a:r>
          </a:p>
          <a:p>
            <a:r>
              <a:t>- 한국관광 데이터랩 · 서울특별시 강남구 월간 순 방문자 수 (이동통신 기반 외지인): https://datalab.visitkorea.or.kr/</a:t>
            </a:r>
          </a:p>
          <a:p>
            <a:r>
              <a:t>- 한국관광 데이터랩 · 서울특별시 강남구 관광소비 추이_외지인: https://datalab.visitkorea.or.kr/</a:t>
            </a:r>
          </a:p>
          <a:p>
            <a:r>
              <a:t>- 한국관광 데이터랩 · 서울특별시 강남구 숙박방문자 비율 추이 (이동통신 기반 외지인): https://datalab.visitkorea.or.kr/</a:t>
            </a:r>
          </a:p>
          <a:p>
            <a:r>
              <a:t>- 한국관광 데이터랩 · 서울특별시 강남구 평균 숙박일 (이동통신 기반 외지인): https://datalab.visitkorea.or.kr/</a:t>
            </a:r>
          </a:p>
          <a:p>
            <a:r>
              <a:t>- 한국관광 데이터랩 · 서울특별시 강남구 내비게이션 목적지 유형별 검색량: https://datalab.visitkorea.or.kr/</a:t>
            </a:r>
          </a:p>
          <a:p>
            <a:r>
              <a:t>- 한국관광 데이터랩 · 서울특별시 강남구 SNS 언급량: https://datalab.visitkorea.or.kr/</a:t>
            </a:r>
          </a:p>
          <a:p>
            <a:r>
              <a:t>- 갓포준 x 에스테반: https://apis.data.go.kr/B551011/KorService2</a:t>
            </a:r>
          </a:p>
          <a:p>
            <a:endParaRPr/>
          </a:p>
          <a:p>
            <a:r>
              <a:t>[Method]</a:t>
            </a:r>
          </a:p>
          <a:p>
            <a:r>
              <a:t>저장 ML 자연추세와 사용자 입력 목표율을 분리. 목표 차이는 산술 차이이며 정책효과 예측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한국관광 데이터랩 · 서울특별시 강남구 순 방문자 수 및 숙박 비율 (이동통신 기반 외지인): https://datalab.visitkorea.or.kr/</a:t>
            </a:r>
          </a:p>
          <a:p>
            <a:r>
              <a:t>- 한국관광 데이터랩 · 서울특별시 강남구 월간 순 방문자 수 (이동통신 기반 외지인): https://datalab.visitkorea.or.kr/</a:t>
            </a:r>
          </a:p>
          <a:p>
            <a:r>
              <a:t>- 한국관광 데이터랩 · 서울특별시 강남구 관광소비 추이_외지인: https://datalab.visitkorea.or.kr/</a:t>
            </a:r>
          </a:p>
          <a:p>
            <a:r>
              <a:t>- 한국관광 데이터랩 · 서울특별시 강남구 숙박방문자 비율 추이 (이동통신 기반 외지인): https://datalab.visitkorea.or.kr/</a:t>
            </a:r>
          </a:p>
          <a:p>
            <a:r>
              <a:t>- 한국관광 데이터랩 · 서울특별시 강남구 평균 숙박일 (이동통신 기반 외지인): https://datalab.visitkorea.or.kr/</a:t>
            </a:r>
          </a:p>
          <a:p>
            <a:r>
              <a:t>- 한국관광 데이터랩 · 서울특별시 강남구 내비게이션 목적지 유형별 검색량: https://datalab.visitkorea.or.kr/</a:t>
            </a:r>
          </a:p>
          <a:p>
            <a:r>
              <a:t>- 한국관광 데이터랩 · 서울특별시 강남구 SNS 언급량: https://datalab.visitkorea.or.kr/</a:t>
            </a:r>
          </a:p>
          <a:p>
            <a:r>
              <a:t>- 강남: https://apis.data.go.kr/B551011/KorService2</a:t>
            </a:r>
          </a:p>
          <a:p>
            <a:endParaRPr/>
          </a:p>
          <a:p>
            <a:r>
              <a:t>[Method]</a:t>
            </a:r>
          </a:p>
          <a:p>
            <a:r>
              <a:t>예산은 총액을 임의 생성하지 않고 수량×단가 또는 비교견적 산식으로 제시.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한국관광 데이터랩 · 서울특별시 강남구 순 방문자 수 및 숙박 비율 (이동통신 기반 외지인): https://datalab.visitkorea.or.kr/</a:t>
            </a:r>
          </a:p>
          <a:p>
            <a:r>
              <a:t>- 한국관광 데이터랩 · 서울특별시 강남구 월간 순 방문자 수 (이동통신 기반 외지인): https://datalab.visitkorea.or.kr/</a:t>
            </a:r>
          </a:p>
          <a:p>
            <a:r>
              <a:t>- 한국관광 데이터랩 · 서울특별시 강남구 관광소비 추이_외지인: https://datalab.visitkorea.or.kr/</a:t>
            </a:r>
          </a:p>
          <a:p>
            <a:r>
              <a:t>- 한국관광 데이터랩 · 서울특별시 강남구 숙박방문자 비율 추이 (이동통신 기반 외지인): https://datalab.visitkorea.or.kr/</a:t>
            </a:r>
          </a:p>
          <a:p>
            <a:r>
              <a:t>- 한국관광 데이터랩 · 서울특별시 강남구 평균 숙박일 (이동통신 기반 외지인): https://datalab.visitkorea.or.kr/</a:t>
            </a:r>
          </a:p>
          <a:p>
            <a:r>
              <a:t>- 한국관광 데이터랩 · 서울특별시 강남구 내비게이션 목적지 유형별 검색량: https://datalab.visitkorea.or.kr/</a:t>
            </a:r>
          </a:p>
          <a:p>
            <a:r>
              <a:t>- 한국관광 데이터랩 · 서울특별시 강남구 SNS 언급량: https://datalab.visitkorea.or.kr/</a:t>
            </a:r>
          </a:p>
          <a:p>
            <a:endParaRPr/>
          </a:p>
          <a:p>
            <a:r>
              <a:t>[Method]</a:t>
            </a:r>
          </a:p>
          <a:p>
            <a:r>
              <a:t>기대효과는 제안이며 실제 운영 후 같은 기준의 관측값으로 검증.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nter-top-vertical">
            <a:extLst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noGrp="1"/>
          </p:cNvSpPr>
          <p:nvPr/>
        </p:nvSpPr>
        <p:spPr>
          <a:xfrm>
            <a:off x="7620000" y="895350"/>
            <a:ext cx="0" cy="1257300"/>
          </a:xfrm>
          <a:prstGeom prst="line">
            <a:avLst/>
          </a:prstGeom>
          <a:noFill/>
          <a:ln w="28575">
            <a:solidFill>
              <a:srgbClr val="00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center-bottom-vertical">
            <a:extLst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noGrp="1"/>
          </p:cNvSpPr>
          <p:nvPr/>
        </p:nvSpPr>
        <p:spPr>
          <a:xfrm>
            <a:off x="7620000" y="6410325"/>
            <a:ext cx="0" cy="1247775"/>
          </a:xfrm>
          <a:prstGeom prst="line">
            <a:avLst/>
          </a:prstGeom>
          <a:noFill/>
          <a:ln w="28575">
            <a:solidFill>
              <a:srgbClr val="00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itle-panel">
            <a:extLst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noGrp="1"/>
          </p:cNvSpPr>
          <p:nvPr/>
        </p:nvSpPr>
        <p:spPr>
          <a:xfrm>
            <a:off x="3495675" y="2114550"/>
            <a:ext cx="8267700" cy="42957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le-panel-top">
            <a:extLst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noGrp="1"/>
          </p:cNvSpPr>
          <p:nvPr/>
        </p:nvSpPr>
        <p:spPr>
          <a:xfrm>
            <a:off x="3495675" y="2114550"/>
            <a:ext cx="8267700" cy="0"/>
          </a:xfrm>
          <a:prstGeom prst="line">
            <a:avLst/>
          </a:prstGeom>
          <a:noFill/>
          <a:ln w="38100">
            <a:solidFill>
              <a:srgbClr val="00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ecurity-label">
            <a:extLst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noGrp="1"/>
          </p:cNvSpPr>
          <p:nvPr/>
        </p:nvSpPr>
        <p:spPr>
          <a:xfrm>
            <a:off x="6210299" y="308610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오 프 라 인 샘 플</a:t>
            </a:r>
          </a:p>
        </p:txBody>
      </p:sp>
      <p:sp>
        <p:nvSpPr>
          <p:cNvPr id="7" name="cover-title-line1">
            <a:extLst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noGrp="1"/>
          </p:cNvSpPr>
          <p:nvPr/>
        </p:nvSpPr>
        <p:spPr>
          <a:xfrm>
            <a:off x="4252911" y="3857625"/>
            <a:ext cx="67341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43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4350" b="1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지역 </a:t>
            </a:r>
            <a:r>
              <a:rPr lang="ko-KR" altLang="en-US" sz="4350" b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관광 </a:t>
            </a:r>
            <a:r>
              <a:rPr lang="ko-KR" altLang="en-US" sz="4350" b="1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활성안</a:t>
            </a:r>
            <a:endParaRPr sz="4350" b="1" i="0" dirty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cover-title-line2">
            <a:extLst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noGrp="1"/>
          </p:cNvSpPr>
          <p:nvPr/>
        </p:nvSpPr>
        <p:spPr>
          <a:xfrm>
            <a:off x="4181475" y="4410075"/>
            <a:ext cx="69246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4125">
                <a:latin typeface="Noto Sans KR"/>
                <a:ea typeface="Noto Sans KR"/>
                <a:cs typeface="Noto Sans KR"/>
              </a:defRPr>
            </a:pPr>
            <a:endParaRPr sz="4125" b="1" dirty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date-rule-left">
            <a:extLst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noGrp="1"/>
          </p:cNvSpPr>
          <p:nvPr/>
        </p:nvSpPr>
        <p:spPr>
          <a:xfrm>
            <a:off x="5681662" y="5505450"/>
            <a:ext cx="466725" cy="0"/>
          </a:xfrm>
          <a:prstGeom prst="line">
            <a:avLst/>
          </a:prstGeom>
          <a:noFill/>
          <a:ln w="19050">
            <a:solidFill>
              <a:srgbClr val="00C1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cover-date">
            <a:extLst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noGrp="1"/>
          </p:cNvSpPr>
          <p:nvPr/>
        </p:nvSpPr>
        <p:spPr>
          <a:xfrm>
            <a:off x="6310312" y="5334000"/>
            <a:ext cx="2619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2026년 09월 02일</a:t>
            </a:r>
          </a:p>
        </p:txBody>
      </p:sp>
      <p:sp>
        <p:nvSpPr>
          <p:cNvPr id="11" name="date-rule-right">
            <a:extLst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noGrp="1"/>
          </p:cNvSpPr>
          <p:nvPr/>
        </p:nvSpPr>
        <p:spPr>
          <a:xfrm>
            <a:off x="9101137" y="5505450"/>
            <a:ext cx="466725" cy="0"/>
          </a:xfrm>
          <a:prstGeom prst="line">
            <a:avLst/>
          </a:prstGeom>
          <a:noFill/>
          <a:ln w="19050">
            <a:solidFill>
              <a:srgbClr val="00C1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org-title">
            <a:extLst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noGrp="1"/>
          </p:cNvSpPr>
          <p:nvPr/>
        </p:nvSpPr>
        <p:spPr>
          <a:xfrm>
            <a:off x="12620625" y="10382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</a:t>
            </a:r>
            <a:r>
              <a:rPr sz="1500" b="1" i="0" dirty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i="0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강남구</a:t>
            </a:r>
            <a:endParaRPr sz="1500" b="1" i="0" dirty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org-orange-rule">
            <a:extLst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noGrp="1"/>
          </p:cNvSpPr>
          <p:nvPr/>
        </p:nvSpPr>
        <p:spPr>
          <a:xfrm>
            <a:off x="13592175" y="1390650"/>
            <a:ext cx="647700" cy="0"/>
          </a:xfrm>
          <a:prstGeom prst="line">
            <a:avLst/>
          </a:prstGeom>
          <a:noFill/>
          <a:ln w="19050">
            <a:solidFill>
              <a:srgbClr val="FF6B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org-owner">
            <a:extLst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noGrp="1"/>
          </p:cNvSpPr>
          <p:nvPr/>
        </p:nvSpPr>
        <p:spPr>
          <a:xfrm>
            <a:off x="13049250" y="1590675"/>
            <a:ext cx="119062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화면·출력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검토용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/ Agent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미실행</a:t>
            </a:r>
            <a:endParaRPr sz="1200" b="0" i="0" dirty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  <a:p>
            <a:pPr algn="r"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endParaRPr sz="1200" b="0" i="0" dirty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corner-tl-h">
            <a:extLst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noGrp="1"/>
          </p:cNvSpPr>
          <p:nvPr/>
        </p:nvSpPr>
        <p:spPr>
          <a:xfrm>
            <a:off x="647700" y="619125"/>
            <a:ext cx="295275" cy="0"/>
          </a:xfrm>
          <a:prstGeom prst="line">
            <a:avLst/>
          </a:prstGeom>
          <a:noFill/>
          <a:ln w="19050">
            <a:solidFill>
              <a:srgbClr val="00C1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corner-tl-v">
            <a:extLst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noGrp="1"/>
          </p:cNvSpPr>
          <p:nvPr/>
        </p:nvSpPr>
        <p:spPr>
          <a:xfrm>
            <a:off x="647700" y="619125"/>
            <a:ext cx="0" cy="295275"/>
          </a:xfrm>
          <a:prstGeom prst="line">
            <a:avLst/>
          </a:prstGeom>
          <a:noFill/>
          <a:ln w="19050">
            <a:solidFill>
              <a:srgbClr val="00C1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corner-br-h">
            <a:extLst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noGrp="1"/>
          </p:cNvSpPr>
          <p:nvPr/>
        </p:nvSpPr>
        <p:spPr>
          <a:xfrm>
            <a:off x="14582775" y="7943850"/>
            <a:ext cx="295275" cy="0"/>
          </a:xfrm>
          <a:prstGeom prst="line">
            <a:avLst/>
          </a:prstGeom>
          <a:noFill/>
          <a:ln w="19050">
            <a:solidFill>
              <a:srgbClr val="00C1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corner-br-v">
            <a:extLst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noGrp="1"/>
          </p:cNvSpPr>
          <p:nvPr/>
        </p:nvSpPr>
        <p:spPr>
          <a:xfrm>
            <a:off x="14878050" y="7648575"/>
            <a:ext cx="0" cy="295275"/>
          </a:xfrm>
          <a:prstGeom prst="line">
            <a:avLst/>
          </a:prstGeom>
          <a:noFill/>
          <a:ln w="19050">
            <a:solidFill>
              <a:srgbClr val="00C1D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op-brand">
            <a:extLst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noGrp="1"/>
          </p:cNvSpPr>
          <p:nvPr/>
        </p:nvSpPr>
        <p:spPr>
          <a:xfrm>
            <a:off x="857250" y="371475"/>
            <a:ext cx="394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 관광 전략기획 데이터 시스템</a:t>
            </a:r>
          </a:p>
        </p:txBody>
      </p:sp>
      <p:sp>
        <p:nvSpPr>
          <p:cNvPr id="2" name="top-date">
            <a:extLst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noGrp="1"/>
          </p:cNvSpPr>
          <p:nvPr/>
        </p:nvSpPr>
        <p:spPr>
          <a:xfrm>
            <a:off x="13049250" y="3238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2026. 09. 02</a:t>
            </a:r>
          </a:p>
        </p:txBody>
      </p:sp>
      <p:sp>
        <p:nvSpPr>
          <p:cNvPr id="3" name="top-rule">
            <a:extLst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noGrp="1"/>
          </p:cNvSpPr>
          <p:nvPr/>
        </p:nvSpPr>
        <p:spPr>
          <a:xfrm>
            <a:off x="28575" y="981075"/>
            <a:ext cx="15182850" cy="0"/>
          </a:xfrm>
          <a:prstGeom prst="line">
            <a:avLst/>
          </a:prstGeom>
          <a:noFill/>
          <a:ln w="9525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contents-rail">
            <a:extLst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noGrp="1"/>
          </p:cNvSpPr>
          <p:nvPr/>
        </p:nvSpPr>
        <p:spPr>
          <a:xfrm>
            <a:off x="28575" y="981075"/>
            <a:ext cx="4810125" cy="7591425"/>
          </a:xfrm>
          <a:prstGeom prst="rect">
            <a:avLst/>
          </a:prstGeom>
          <a:solidFill>
            <a:srgbClr val="004EA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contents-vertical">
            <a:extLst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noGrp="1"/>
          </p:cNvSpPr>
          <p:nvPr/>
        </p:nvSpPr>
        <p:spPr>
          <a:xfrm rot="-5400000">
            <a:off x="-866775" y="4162425"/>
            <a:ext cx="6762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1667" lnSpcReduction="10000"/>
          </a:bodyPr>
          <a:lstStyle/>
          <a:p>
            <a:pPr algn="ctr">
              <a:buNone/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noGrp="1"/>
          </p:cNvSpPr>
          <p:nvPr/>
        </p:nvSpPr>
        <p:spPr>
          <a:xfrm>
            <a:off x="428625" y="4029075"/>
            <a:ext cx="39814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T A B L E   O F   C O N T E N T S</a:t>
            </a:r>
          </a:p>
        </p:txBody>
      </p:sp>
      <p:sp>
        <p:nvSpPr>
          <p:cNvPr id="7" name="contents-ko">
            <a:extLst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noGrp="1"/>
          </p:cNvSpPr>
          <p:nvPr/>
        </p:nvSpPr>
        <p:spPr>
          <a:xfrm>
            <a:off x="1257300" y="4600575"/>
            <a:ext cx="2381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35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noGrp="1"/>
          </p:cNvSpPr>
          <p:nvPr/>
        </p:nvSpPr>
        <p:spPr>
          <a:xfrm>
            <a:off x="2057400" y="5381625"/>
            <a:ext cx="704850" cy="0"/>
          </a:xfrm>
          <a:prstGeom prst="line">
            <a:avLst/>
          </a:prstGeom>
          <a:noFill/>
          <a:ln w="38100">
            <a:solidFill>
              <a:srgbClr val="FF6B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oc-0-0-num">
            <a:extLst>
              <a:ext uri="{FF2B5EF4-FFF2-40B4-BE49-F238E27FC236}">
                <a16:creationId xmlns:a16="http://schemas.microsoft.com/office/drawing/2014/main" id="{9A4D7DD5-B7C1-4FE0-B663-1C335B732171}"/>
              </a:ext>
            </a:extLst>
          </p:cNvPr>
          <p:cNvSpPr>
            <a:spLocks noGrp="1"/>
          </p:cNvSpPr>
          <p:nvPr/>
        </p:nvSpPr>
        <p:spPr>
          <a:xfrm>
            <a:off x="5429250" y="318135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oc-0-0-label">
            <a:extLst>
              <a:ext uri="{FF2B5EF4-FFF2-40B4-BE49-F238E27FC236}">
                <a16:creationId xmlns:a16="http://schemas.microsoft.com/office/drawing/2014/main" id="{F2F2D109-397D-42C2-AF7E-720371CCBB94}"/>
              </a:ext>
            </a:extLst>
          </p:cNvPr>
          <p:cNvSpPr>
            <a:spLocks noGrp="1"/>
          </p:cNvSpPr>
          <p:nvPr/>
        </p:nvSpPr>
        <p:spPr>
          <a:xfrm>
            <a:off x="5953125" y="3171825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데이터</a:t>
            </a:r>
            <a:r>
              <a:rPr sz="1500" b="1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근거와</a:t>
            </a:r>
            <a:r>
              <a:rPr sz="1500" b="1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기획</a:t>
            </a:r>
            <a:r>
              <a:rPr sz="1500" b="1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배경</a:t>
            </a:r>
            <a:endParaRPr sz="1500" b="1" i="0" dirty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oc-0-0-rule">
            <a:extLst>
              <a:ext uri="{FF2B5EF4-FFF2-40B4-BE49-F238E27FC236}">
                <a16:creationId xmlns:a16="http://schemas.microsoft.com/office/drawing/2014/main" id="{7A9B4322-D952-4704-8A34-AFE4DB848FB5}"/>
              </a:ext>
            </a:extLst>
          </p:cNvPr>
          <p:cNvSpPr>
            <a:spLocks noGrp="1"/>
          </p:cNvSpPr>
          <p:nvPr/>
        </p:nvSpPr>
        <p:spPr>
          <a:xfrm>
            <a:off x="5429250" y="3581400"/>
            <a:ext cx="4572000" cy="0"/>
          </a:xfrm>
          <a:prstGeom prst="line">
            <a:avLst/>
          </a:prstGeom>
          <a:noFill/>
          <a:ln w="9525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oc-0-1-num">
            <a:extLst>
              <a:ext uri="{FF2B5EF4-FFF2-40B4-BE49-F238E27FC236}">
                <a16:creationId xmlns:a16="http://schemas.microsoft.com/office/drawing/2014/main" id="{BB7EB441-7049-4AEE-B4A6-EB8A89073972}"/>
              </a:ext>
            </a:extLst>
          </p:cNvPr>
          <p:cNvSpPr>
            <a:spLocks noGrp="1"/>
          </p:cNvSpPr>
          <p:nvPr/>
        </p:nvSpPr>
        <p:spPr>
          <a:xfrm>
            <a:off x="5429250" y="388620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toc-0-1-label">
            <a:extLst>
              <a:ext uri="{FF2B5EF4-FFF2-40B4-BE49-F238E27FC236}">
                <a16:creationId xmlns:a16="http://schemas.microsoft.com/office/drawing/2014/main" id="{A858F0DB-1B50-472E-BCED-A95D8FDFE8A9}"/>
              </a:ext>
            </a:extLst>
          </p:cNvPr>
          <p:cNvSpPr>
            <a:spLocks noGrp="1"/>
          </p:cNvSpPr>
          <p:nvPr/>
        </p:nvSpPr>
        <p:spPr>
          <a:xfrm>
            <a:off x="5953125" y="3876675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문제 정의 및 시범사업 목표</a:t>
            </a:r>
          </a:p>
        </p:txBody>
      </p:sp>
      <p:sp>
        <p:nvSpPr>
          <p:cNvPr id="14" name="toc-0-1-rule">
            <a:extLst>
              <a:ext uri="{FF2B5EF4-FFF2-40B4-BE49-F238E27FC236}">
                <a16:creationId xmlns:a16="http://schemas.microsoft.com/office/drawing/2014/main" id="{8BB674AB-E001-4E54-9B2D-138021E3FC34}"/>
              </a:ext>
            </a:extLst>
          </p:cNvPr>
          <p:cNvSpPr>
            <a:spLocks noGrp="1"/>
          </p:cNvSpPr>
          <p:nvPr/>
        </p:nvSpPr>
        <p:spPr>
          <a:xfrm>
            <a:off x="5429250" y="4286250"/>
            <a:ext cx="4572000" cy="0"/>
          </a:xfrm>
          <a:prstGeom prst="line">
            <a:avLst/>
          </a:prstGeom>
          <a:noFill/>
          <a:ln w="9525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oc-0-2-num">
            <a:extLst>
              <a:ext uri="{FF2B5EF4-FFF2-40B4-BE49-F238E27FC236}">
                <a16:creationId xmlns:a16="http://schemas.microsoft.com/office/drawing/2014/main" id="{2A73ED54-5EB7-481A-AA22-31B5FA783A09}"/>
              </a:ext>
            </a:extLst>
          </p:cNvPr>
          <p:cNvSpPr>
            <a:spLocks noGrp="1"/>
          </p:cNvSpPr>
          <p:nvPr/>
        </p:nvSpPr>
        <p:spPr>
          <a:xfrm>
            <a:off x="5429250" y="459105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oc-0-2-label">
            <a:extLst>
              <a:ext uri="{FF2B5EF4-FFF2-40B4-BE49-F238E27FC236}">
                <a16:creationId xmlns:a16="http://schemas.microsoft.com/office/drawing/2014/main" id="{49778DA9-2C34-4F19-86EC-61157A1DC0CF}"/>
              </a:ext>
            </a:extLst>
          </p:cNvPr>
          <p:cNvSpPr>
            <a:spLocks noGrp="1"/>
          </p:cNvSpPr>
          <p:nvPr/>
        </p:nvSpPr>
        <p:spPr>
          <a:xfrm>
            <a:off x="5953125" y="4581525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참여자와 이용 시나리오</a:t>
            </a:r>
          </a:p>
        </p:txBody>
      </p:sp>
      <p:sp>
        <p:nvSpPr>
          <p:cNvPr id="17" name="toc-0-2-rule">
            <a:extLst>
              <a:ext uri="{FF2B5EF4-FFF2-40B4-BE49-F238E27FC236}">
                <a16:creationId xmlns:a16="http://schemas.microsoft.com/office/drawing/2014/main" id="{1EE5059E-9C45-4D3E-B828-82D1F0982677}"/>
              </a:ext>
            </a:extLst>
          </p:cNvPr>
          <p:cNvSpPr>
            <a:spLocks noGrp="1"/>
          </p:cNvSpPr>
          <p:nvPr/>
        </p:nvSpPr>
        <p:spPr>
          <a:xfrm>
            <a:off x="5429250" y="4991100"/>
            <a:ext cx="4572000" cy="0"/>
          </a:xfrm>
          <a:prstGeom prst="line">
            <a:avLst/>
          </a:prstGeom>
          <a:noFill/>
          <a:ln w="9525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oc-0-3-num">
            <a:extLst>
              <a:ext uri="{FF2B5EF4-FFF2-40B4-BE49-F238E27FC236}">
                <a16:creationId xmlns:a16="http://schemas.microsoft.com/office/drawing/2014/main" id="{09D69393-9477-46BB-9754-B38343883A41}"/>
              </a:ext>
            </a:extLst>
          </p:cNvPr>
          <p:cNvSpPr>
            <a:spLocks noGrp="1"/>
          </p:cNvSpPr>
          <p:nvPr/>
        </p:nvSpPr>
        <p:spPr>
          <a:xfrm>
            <a:off x="5429250" y="529590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toc-0-3-label">
            <a:extLst>
              <a:ext uri="{FF2B5EF4-FFF2-40B4-BE49-F238E27FC236}">
                <a16:creationId xmlns:a16="http://schemas.microsoft.com/office/drawing/2014/main" id="{E1D92E25-FA72-4D2D-83BA-E4E956D73EB3}"/>
              </a:ext>
            </a:extLst>
          </p:cNvPr>
          <p:cNvSpPr>
            <a:spLocks noGrp="1"/>
          </p:cNvSpPr>
          <p:nvPr/>
        </p:nvSpPr>
        <p:spPr>
          <a:xfrm>
            <a:off x="5953125" y="5286375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핵심 사업 구성 7가지</a:t>
            </a:r>
          </a:p>
        </p:txBody>
      </p:sp>
      <p:sp>
        <p:nvSpPr>
          <p:cNvPr id="20" name="toc-0-3-rule">
            <a:extLst>
              <a:ext uri="{FF2B5EF4-FFF2-40B4-BE49-F238E27FC236}">
                <a16:creationId xmlns:a16="http://schemas.microsoft.com/office/drawing/2014/main" id="{978F3F46-82E5-4C13-B76B-BB791D14379F}"/>
              </a:ext>
            </a:extLst>
          </p:cNvPr>
          <p:cNvSpPr>
            <a:spLocks noGrp="1"/>
          </p:cNvSpPr>
          <p:nvPr/>
        </p:nvSpPr>
        <p:spPr>
          <a:xfrm>
            <a:off x="5429250" y="5695950"/>
            <a:ext cx="4572000" cy="0"/>
          </a:xfrm>
          <a:prstGeom prst="line">
            <a:avLst/>
          </a:prstGeom>
          <a:noFill/>
          <a:ln w="9525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oc-0-4-num">
            <a:extLst>
              <a:ext uri="{FF2B5EF4-FFF2-40B4-BE49-F238E27FC236}">
                <a16:creationId xmlns:a16="http://schemas.microsoft.com/office/drawing/2014/main" id="{3181EE82-187E-4CD5-A105-BFB3A37E492C}"/>
              </a:ext>
            </a:extLst>
          </p:cNvPr>
          <p:cNvSpPr>
            <a:spLocks noGrp="1"/>
          </p:cNvSpPr>
          <p:nvPr/>
        </p:nvSpPr>
        <p:spPr>
          <a:xfrm>
            <a:off x="5429250" y="600075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2" name="toc-0-4-label">
            <a:extLst>
              <a:ext uri="{FF2B5EF4-FFF2-40B4-BE49-F238E27FC236}">
                <a16:creationId xmlns:a16="http://schemas.microsoft.com/office/drawing/2014/main" id="{D95BDF3D-1B1E-499C-9F49-A67D6392862E}"/>
              </a:ext>
            </a:extLst>
          </p:cNvPr>
          <p:cNvSpPr>
            <a:spLocks noGrp="1"/>
          </p:cNvSpPr>
          <p:nvPr/>
        </p:nvSpPr>
        <p:spPr>
          <a:xfrm>
            <a:off x="5953125" y="5991225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실행 Flow·산출물</a:t>
            </a:r>
          </a:p>
        </p:txBody>
      </p:sp>
      <p:sp>
        <p:nvSpPr>
          <p:cNvPr id="23" name="toc-0-4-rule">
            <a:extLst>
              <a:ext uri="{FF2B5EF4-FFF2-40B4-BE49-F238E27FC236}">
                <a16:creationId xmlns:a16="http://schemas.microsoft.com/office/drawing/2014/main" id="{10A2117D-21A6-48D9-AFA6-0B6BE52B1D41}"/>
              </a:ext>
            </a:extLst>
          </p:cNvPr>
          <p:cNvSpPr>
            <a:spLocks noGrp="1"/>
          </p:cNvSpPr>
          <p:nvPr/>
        </p:nvSpPr>
        <p:spPr>
          <a:xfrm>
            <a:off x="5429250" y="6400800"/>
            <a:ext cx="4572000" cy="0"/>
          </a:xfrm>
          <a:prstGeom prst="line">
            <a:avLst/>
          </a:prstGeom>
          <a:noFill/>
          <a:ln w="9525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oc-1-0-num">
            <a:extLst>
              <a:ext uri="{FF2B5EF4-FFF2-40B4-BE49-F238E27FC236}">
                <a16:creationId xmlns:a16="http://schemas.microsoft.com/office/drawing/2014/main" id="{CF8AF870-2DD7-4DF0-935E-A7B18F51B811}"/>
              </a:ext>
            </a:extLst>
          </p:cNvPr>
          <p:cNvSpPr>
            <a:spLocks noGrp="1"/>
          </p:cNvSpPr>
          <p:nvPr/>
        </p:nvSpPr>
        <p:spPr>
          <a:xfrm>
            <a:off x="10687050" y="318135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5" name="toc-1-0-label">
            <a:extLst>
              <a:ext uri="{FF2B5EF4-FFF2-40B4-BE49-F238E27FC236}">
                <a16:creationId xmlns:a16="http://schemas.microsoft.com/office/drawing/2014/main" id="{BD4D99A2-3331-4C55-B657-C250B68169A8}"/>
              </a:ext>
            </a:extLst>
          </p:cNvPr>
          <p:cNvSpPr>
            <a:spLocks noGrp="1"/>
          </p:cNvSpPr>
          <p:nvPr/>
        </p:nvSpPr>
        <p:spPr>
          <a:xfrm>
            <a:off x="11210925" y="317182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유사</a:t>
            </a:r>
            <a:r>
              <a:rPr sz="1500" b="1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지역</a:t>
            </a:r>
            <a:r>
              <a:rPr sz="1500" b="1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비교와</a:t>
            </a:r>
            <a:r>
              <a:rPr sz="1500" b="1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차별점</a:t>
            </a:r>
            <a:endParaRPr sz="1500" b="1" i="0" dirty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toc-1-0-rule">
            <a:extLst>
              <a:ext uri="{FF2B5EF4-FFF2-40B4-BE49-F238E27FC236}">
                <a16:creationId xmlns:a16="http://schemas.microsoft.com/office/drawing/2014/main" id="{F1965004-3508-48E4-8EAB-5E1F64F0184E}"/>
              </a:ext>
            </a:extLst>
          </p:cNvPr>
          <p:cNvSpPr>
            <a:spLocks noGrp="1"/>
          </p:cNvSpPr>
          <p:nvPr/>
        </p:nvSpPr>
        <p:spPr>
          <a:xfrm>
            <a:off x="10687050" y="3581400"/>
            <a:ext cx="4333875" cy="0"/>
          </a:xfrm>
          <a:prstGeom prst="line">
            <a:avLst/>
          </a:prstGeom>
          <a:noFill/>
          <a:ln w="9525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oc-1-1-num">
            <a:extLst>
              <a:ext uri="{FF2B5EF4-FFF2-40B4-BE49-F238E27FC236}">
                <a16:creationId xmlns:a16="http://schemas.microsoft.com/office/drawing/2014/main" id="{F550A570-A5C8-441C-B223-B8C26880297F}"/>
              </a:ext>
            </a:extLst>
          </p:cNvPr>
          <p:cNvSpPr>
            <a:spLocks noGrp="1"/>
          </p:cNvSpPr>
          <p:nvPr/>
        </p:nvSpPr>
        <p:spPr>
          <a:xfrm>
            <a:off x="10687050" y="388620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8" name="toc-1-1-label">
            <a:extLst>
              <a:ext uri="{FF2B5EF4-FFF2-40B4-BE49-F238E27FC236}">
                <a16:creationId xmlns:a16="http://schemas.microsoft.com/office/drawing/2014/main" id="{FF9F868A-CDE5-4A20-B0C5-802AA73C5E63}"/>
              </a:ext>
            </a:extLst>
          </p:cNvPr>
          <p:cNvSpPr>
            <a:spLocks noGrp="1"/>
          </p:cNvSpPr>
          <p:nvPr/>
        </p:nvSpPr>
        <p:spPr>
          <a:xfrm>
            <a:off x="11210925" y="387667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ML 자연추세·목표 시나리오</a:t>
            </a:r>
          </a:p>
        </p:txBody>
      </p:sp>
      <p:sp>
        <p:nvSpPr>
          <p:cNvPr id="29" name="toc-1-1-rule">
            <a:extLst>
              <a:ext uri="{FF2B5EF4-FFF2-40B4-BE49-F238E27FC236}">
                <a16:creationId xmlns:a16="http://schemas.microsoft.com/office/drawing/2014/main" id="{3DE11471-853F-4C00-8EAD-1C16A596D1FC}"/>
              </a:ext>
            </a:extLst>
          </p:cNvPr>
          <p:cNvSpPr>
            <a:spLocks noGrp="1"/>
          </p:cNvSpPr>
          <p:nvPr/>
        </p:nvSpPr>
        <p:spPr>
          <a:xfrm>
            <a:off x="10687050" y="4286250"/>
            <a:ext cx="4333875" cy="0"/>
          </a:xfrm>
          <a:prstGeom prst="line">
            <a:avLst/>
          </a:prstGeom>
          <a:noFill/>
          <a:ln w="9525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oc-1-2-num">
            <a:extLst>
              <a:ext uri="{FF2B5EF4-FFF2-40B4-BE49-F238E27FC236}">
                <a16:creationId xmlns:a16="http://schemas.microsoft.com/office/drawing/2014/main" id="{30C761BB-7DA1-4AF8-AFF7-38427A28D3F2}"/>
              </a:ext>
            </a:extLst>
          </p:cNvPr>
          <p:cNvSpPr>
            <a:spLocks noGrp="1"/>
          </p:cNvSpPr>
          <p:nvPr/>
        </p:nvSpPr>
        <p:spPr>
          <a:xfrm>
            <a:off x="10687050" y="459105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1" name="toc-1-2-label">
            <a:extLst>
              <a:ext uri="{FF2B5EF4-FFF2-40B4-BE49-F238E27FC236}">
                <a16:creationId xmlns:a16="http://schemas.microsoft.com/office/drawing/2014/main" id="{9767F6A9-0960-4EE5-8571-54C6805AC923}"/>
              </a:ext>
            </a:extLst>
          </p:cNvPr>
          <p:cNvSpPr>
            <a:spLocks noGrp="1"/>
          </p:cNvSpPr>
          <p:nvPr/>
        </p:nvSpPr>
        <p:spPr>
          <a:xfrm>
            <a:off x="11210925" y="458152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예산 산식·성과 측정</a:t>
            </a:r>
          </a:p>
        </p:txBody>
      </p:sp>
      <p:sp>
        <p:nvSpPr>
          <p:cNvPr id="32" name="toc-1-2-rule">
            <a:extLst>
              <a:ext uri="{FF2B5EF4-FFF2-40B4-BE49-F238E27FC236}">
                <a16:creationId xmlns:a16="http://schemas.microsoft.com/office/drawing/2014/main" id="{E0A4D40C-2FAB-4908-8300-E58CB3ACF459}"/>
              </a:ext>
            </a:extLst>
          </p:cNvPr>
          <p:cNvSpPr>
            <a:spLocks noGrp="1"/>
          </p:cNvSpPr>
          <p:nvPr/>
        </p:nvSpPr>
        <p:spPr>
          <a:xfrm>
            <a:off x="10687050" y="4991100"/>
            <a:ext cx="4333875" cy="0"/>
          </a:xfrm>
          <a:prstGeom prst="line">
            <a:avLst/>
          </a:prstGeom>
          <a:noFill/>
          <a:ln w="9525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oc-1-3-num">
            <a:extLst>
              <a:ext uri="{FF2B5EF4-FFF2-40B4-BE49-F238E27FC236}">
                <a16:creationId xmlns:a16="http://schemas.microsoft.com/office/drawing/2014/main" id="{6863E528-57CD-4AC7-B739-638B9D1A6748}"/>
              </a:ext>
            </a:extLst>
          </p:cNvPr>
          <p:cNvSpPr>
            <a:spLocks noGrp="1"/>
          </p:cNvSpPr>
          <p:nvPr/>
        </p:nvSpPr>
        <p:spPr>
          <a:xfrm>
            <a:off x="10687050" y="529590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4" name="toc-1-3-label">
            <a:extLst>
              <a:ext uri="{FF2B5EF4-FFF2-40B4-BE49-F238E27FC236}">
                <a16:creationId xmlns:a16="http://schemas.microsoft.com/office/drawing/2014/main" id="{7973D5FF-EC69-4502-BD57-1363CA77B36A}"/>
              </a:ext>
            </a:extLst>
          </p:cNvPr>
          <p:cNvSpPr>
            <a:spLocks noGrp="1"/>
          </p:cNvSpPr>
          <p:nvPr/>
        </p:nvSpPr>
        <p:spPr>
          <a:xfrm>
            <a:off x="11210925" y="528637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5-Agent·공식 근거 파이프라인</a:t>
            </a:r>
          </a:p>
        </p:txBody>
      </p:sp>
      <p:sp>
        <p:nvSpPr>
          <p:cNvPr id="35" name="toc-1-3-rule">
            <a:extLst>
              <a:ext uri="{FF2B5EF4-FFF2-40B4-BE49-F238E27FC236}">
                <a16:creationId xmlns:a16="http://schemas.microsoft.com/office/drawing/2014/main" id="{9E02F587-CF56-4FC9-9416-D770E870A9F5}"/>
              </a:ext>
            </a:extLst>
          </p:cNvPr>
          <p:cNvSpPr>
            <a:spLocks noGrp="1"/>
          </p:cNvSpPr>
          <p:nvPr/>
        </p:nvSpPr>
        <p:spPr>
          <a:xfrm>
            <a:off x="10687050" y="5695950"/>
            <a:ext cx="4333875" cy="0"/>
          </a:xfrm>
          <a:prstGeom prst="line">
            <a:avLst/>
          </a:prstGeom>
          <a:noFill/>
          <a:ln w="9525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oc-1-4-num">
            <a:extLst>
              <a:ext uri="{FF2B5EF4-FFF2-40B4-BE49-F238E27FC236}">
                <a16:creationId xmlns:a16="http://schemas.microsoft.com/office/drawing/2014/main" id="{7CA95524-8009-4175-8193-2BCBEFD71014}"/>
              </a:ext>
            </a:extLst>
          </p:cNvPr>
          <p:cNvSpPr>
            <a:spLocks noGrp="1"/>
          </p:cNvSpPr>
          <p:nvPr/>
        </p:nvSpPr>
        <p:spPr>
          <a:xfrm>
            <a:off x="10687050" y="600075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37" name="toc-1-4-label">
            <a:extLst>
              <a:ext uri="{FF2B5EF4-FFF2-40B4-BE49-F238E27FC236}">
                <a16:creationId xmlns:a16="http://schemas.microsoft.com/office/drawing/2014/main" id="{8D04CA32-3D2D-4B71-A0D1-78C6E7C365B0}"/>
              </a:ext>
            </a:extLst>
          </p:cNvPr>
          <p:cNvSpPr>
            <a:spLocks noGrp="1"/>
          </p:cNvSpPr>
          <p:nvPr/>
        </p:nvSpPr>
        <p:spPr>
          <a:xfrm>
            <a:off x="11210925" y="599122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기대효과·확대 판단</a:t>
            </a:r>
          </a:p>
        </p:txBody>
      </p:sp>
      <p:sp>
        <p:nvSpPr>
          <p:cNvPr id="38" name="toc-1-4-rule">
            <a:extLst>
              <a:ext uri="{FF2B5EF4-FFF2-40B4-BE49-F238E27FC236}">
                <a16:creationId xmlns:a16="http://schemas.microsoft.com/office/drawing/2014/main" id="{AD8C59D1-0A8D-4B5A-97F3-64A3B7C72904}"/>
              </a:ext>
            </a:extLst>
          </p:cNvPr>
          <p:cNvSpPr>
            <a:spLocks noGrp="1"/>
          </p:cNvSpPr>
          <p:nvPr/>
        </p:nvSpPr>
        <p:spPr>
          <a:xfrm>
            <a:off x="10687050" y="6400800"/>
            <a:ext cx="4333875" cy="0"/>
          </a:xfrm>
          <a:prstGeom prst="line">
            <a:avLst/>
          </a:prstGeom>
          <a:noFill/>
          <a:ln w="9525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192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tourism-photo"/>
          <p:cNvPicPr>
            <a:picLocks noChangeAspect="1"/>
          </p:cNvPicPr>
          <p:nvPr/>
        </p:nvPicPr>
        <p:blipFill>
          <a:blip r:embed="rId3"/>
          <a:srcRect l="26468" r="26468"/>
          <a:stretch>
            <a:fillRect/>
          </a:stretch>
        </p:blipFill>
        <p:spPr>
          <a:xfrm>
            <a:off x="9867900" y="28575"/>
            <a:ext cx="5343525" cy="8515350"/>
          </a:xfrm>
          <a:prstGeom prst="rect">
            <a:avLst/>
          </a:prstGeom>
        </p:spPr>
      </p:pic>
      <p:sp>
        <p:nvSpPr>
          <p:cNvPr id="2" name="section">
            <a:extLst>
              <a:ext uri="{FF2B5EF4-FFF2-40B4-BE49-F238E27FC236}">
                <a16:creationId xmlns:a16="http://schemas.microsoft.com/office/drawing/2014/main" id="{E904CB0C-79AE-4B27-9BB7-C6B424D34F71}"/>
              </a:ext>
            </a:extLst>
          </p:cNvPr>
          <p:cNvSpPr>
            <a:spLocks noGrp="1"/>
          </p:cNvSpPr>
          <p:nvPr/>
        </p:nvSpPr>
        <p:spPr>
          <a:xfrm>
            <a:off x="1000125" y="1019175"/>
            <a:ext cx="24669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4F555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S E C T I O N   0 1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55D9419-1199-4437-8A57-502147C2CB01}"/>
              </a:ext>
            </a:extLst>
          </p:cNvPr>
          <p:cNvSpPr>
            <a:spLocks noGrp="1"/>
          </p:cNvSpPr>
          <p:nvPr/>
        </p:nvSpPr>
        <p:spPr>
          <a:xfrm>
            <a:off x="990600" y="1409700"/>
            <a:ext cx="857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900">
                <a:latin typeface="Noto Sans KR"/>
                <a:ea typeface="Noto Sans KR"/>
                <a:cs typeface="Noto Sans KR"/>
              </a:defRPr>
            </a:pPr>
            <a:r>
              <a:rPr sz="3900" b="1" dirty="0" err="1">
                <a:solidFill>
                  <a:srgbClr val="004EA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강남구</a:t>
            </a:r>
            <a:r>
              <a:rPr sz="3900" b="1" dirty="0">
                <a:solidFill>
                  <a:srgbClr val="004EA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 </a:t>
            </a:r>
            <a:r>
              <a:rPr sz="3900" b="1" dirty="0" err="1">
                <a:solidFill>
                  <a:srgbClr val="004EA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관측</a:t>
            </a:r>
            <a:endParaRPr sz="3900" b="1" dirty="0">
              <a:solidFill>
                <a:srgbClr val="00C1D4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Noto Sans KR"/>
            </a:endParaRP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3FA9B5AE-9628-496B-8801-82689AA2D3DD}"/>
              </a:ext>
            </a:extLst>
          </p:cNvPr>
          <p:cNvSpPr>
            <a:spLocks noGrp="1"/>
          </p:cNvSpPr>
          <p:nvPr/>
        </p:nvSpPr>
        <p:spPr>
          <a:xfrm>
            <a:off x="990600" y="2247900"/>
            <a:ext cx="7953375" cy="0"/>
          </a:xfrm>
          <a:prstGeom prst="line">
            <a:avLst/>
          </a:prstGeom>
          <a:noFill/>
          <a:ln w="19050">
            <a:solidFill>
              <a:srgbClr val="004EA2"/>
            </a:solidFill>
            <a:prstDash val="solid"/>
          </a:ln>
        </p:spPr>
        <p:txBody>
          <a:bodyPr/>
          <a:lstStyle/>
          <a:p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decision-rail">
            <a:extLst>
              <a:ext uri="{FF2B5EF4-FFF2-40B4-BE49-F238E27FC236}">
                <a16:creationId xmlns:a16="http://schemas.microsoft.com/office/drawing/2014/main" id="{ADBF1FF9-7C9A-40EE-87A5-965DFB850FA3}"/>
              </a:ext>
            </a:extLst>
          </p:cNvPr>
          <p:cNvSpPr>
            <a:spLocks noGrp="1"/>
          </p:cNvSpPr>
          <p:nvPr/>
        </p:nvSpPr>
        <p:spPr>
          <a:xfrm>
            <a:off x="1000125" y="3895725"/>
            <a:ext cx="0" cy="1000125"/>
          </a:xfrm>
          <a:prstGeom prst="line">
            <a:avLst/>
          </a:prstGeom>
          <a:noFill/>
          <a:ln w="28575">
            <a:solidFill>
              <a:srgbClr val="00C1D4"/>
            </a:solidFill>
            <a:prstDash val="solid"/>
          </a:ln>
        </p:spPr>
        <p:txBody>
          <a:bodyPr/>
          <a:lstStyle/>
          <a:p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decision-title">
            <a:extLst>
              <a:ext uri="{FF2B5EF4-FFF2-40B4-BE49-F238E27FC236}">
                <a16:creationId xmlns:a16="http://schemas.microsoft.com/office/drawing/2014/main" id="{97D3E6FC-FC58-409A-ACD6-FD20707D866C}"/>
              </a:ext>
            </a:extLst>
          </p:cNvPr>
          <p:cNvSpPr>
            <a:spLocks noGrp="1"/>
          </p:cNvSpPr>
          <p:nvPr/>
        </p:nvSpPr>
        <p:spPr>
          <a:xfrm>
            <a:off x="1247775" y="3962400"/>
            <a:ext cx="32194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650" b="1" i="0" dirty="0">
                <a:solidFill>
                  <a:srgbClr val="004EA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10</a:t>
            </a:r>
            <a:r>
              <a:rPr lang="ko-KR" altLang="en-US" sz="1650" b="1" i="0" dirty="0">
                <a:solidFill>
                  <a:srgbClr val="004EA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월 예상 방문자 수 </a:t>
            </a:r>
          </a:p>
        </p:txBody>
      </p:sp>
      <p:sp>
        <p:nvSpPr>
          <p:cNvPr id="8" name="decision-body">
            <a:extLst>
              <a:ext uri="{FF2B5EF4-FFF2-40B4-BE49-F238E27FC236}">
                <a16:creationId xmlns:a16="http://schemas.microsoft.com/office/drawing/2014/main" id="{CD7CA3DD-3A68-4760-9228-22F4745DB89E}"/>
              </a:ext>
            </a:extLst>
          </p:cNvPr>
          <p:cNvSpPr>
            <a:spLocks noGrp="1"/>
          </p:cNvSpPr>
          <p:nvPr/>
        </p:nvSpPr>
        <p:spPr>
          <a:xfrm>
            <a:off x="1257300" y="4391025"/>
            <a:ext cx="36480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 dirty="0">
                <a:solidFill>
                  <a:srgbClr val="6E747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17,963,441명 ·</a:t>
            </a:r>
            <a:r>
              <a:rPr lang="en-US" sz="1350" b="0" i="0" dirty="0">
                <a:solidFill>
                  <a:srgbClr val="6E747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 </a:t>
            </a:r>
            <a:r>
              <a:rPr lang="ko-KR" altLang="en-US" sz="1350" b="0" i="0" dirty="0">
                <a:solidFill>
                  <a:srgbClr val="6E747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전월 대비 </a:t>
            </a:r>
            <a:r>
              <a:rPr sz="1350" b="0" i="0" dirty="0">
                <a:solidFill>
                  <a:srgbClr val="6E747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-8.3%</a:t>
            </a:r>
          </a:p>
        </p:txBody>
      </p:sp>
      <p:sp>
        <p:nvSpPr>
          <p:cNvPr id="9" name="activation-rail">
            <a:extLst>
              <a:ext uri="{FF2B5EF4-FFF2-40B4-BE49-F238E27FC236}">
                <a16:creationId xmlns:a16="http://schemas.microsoft.com/office/drawing/2014/main" id="{4E330694-7E74-4BF4-B47C-AB193BD9D552}"/>
              </a:ext>
            </a:extLst>
          </p:cNvPr>
          <p:cNvSpPr>
            <a:spLocks noGrp="1"/>
          </p:cNvSpPr>
          <p:nvPr/>
        </p:nvSpPr>
        <p:spPr>
          <a:xfrm>
            <a:off x="5210175" y="3895725"/>
            <a:ext cx="0" cy="1000125"/>
          </a:xfrm>
          <a:prstGeom prst="line">
            <a:avLst/>
          </a:prstGeom>
          <a:noFill/>
          <a:ln w="28575">
            <a:solidFill>
              <a:srgbClr val="00C1D4"/>
            </a:solidFill>
            <a:prstDash val="solid"/>
          </a:ln>
        </p:spPr>
        <p:txBody>
          <a:bodyPr/>
          <a:lstStyle/>
          <a:p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activation-title">
            <a:extLst>
              <a:ext uri="{FF2B5EF4-FFF2-40B4-BE49-F238E27FC236}">
                <a16:creationId xmlns:a16="http://schemas.microsoft.com/office/drawing/2014/main" id="{0F08C0B3-DF25-47C0-865B-03D3C61E1BED}"/>
              </a:ext>
            </a:extLst>
          </p:cNvPr>
          <p:cNvSpPr>
            <a:spLocks noGrp="1"/>
          </p:cNvSpPr>
          <p:nvPr/>
        </p:nvSpPr>
        <p:spPr>
          <a:xfrm>
            <a:off x="5514975" y="3933825"/>
            <a:ext cx="3428999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sz="1650" b="1" i="0" dirty="0">
                <a:solidFill>
                  <a:srgbClr val="004EA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10</a:t>
            </a:r>
            <a:r>
              <a:rPr lang="ko-KR" altLang="en-US" sz="1650" b="1" i="0" dirty="0">
                <a:solidFill>
                  <a:srgbClr val="004EA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월 예상 관광소비액</a:t>
            </a:r>
            <a:endParaRPr sz="1650" b="1" i="0" dirty="0">
              <a:solidFill>
                <a:srgbClr val="004EA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Noto Sans KR"/>
            </a:endParaRPr>
          </a:p>
        </p:txBody>
      </p:sp>
      <p:sp>
        <p:nvSpPr>
          <p:cNvPr id="12" name="release-card">
            <a:extLst>
              <a:ext uri="{FF2B5EF4-FFF2-40B4-BE49-F238E27FC236}">
                <a16:creationId xmlns:a16="http://schemas.microsoft.com/office/drawing/2014/main" id="{D0C3157D-1CB0-44E7-8820-308158D2B0A0}"/>
              </a:ext>
            </a:extLst>
          </p:cNvPr>
          <p:cNvSpPr>
            <a:spLocks noGrp="1"/>
          </p:cNvSpPr>
          <p:nvPr/>
        </p:nvSpPr>
        <p:spPr>
          <a:xfrm>
            <a:off x="1000125" y="5438775"/>
            <a:ext cx="3857625" cy="12858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release-card-rail">
            <a:extLst>
              <a:ext uri="{FF2B5EF4-FFF2-40B4-BE49-F238E27FC236}">
                <a16:creationId xmlns:a16="http://schemas.microsoft.com/office/drawing/2014/main" id="{7FFCCF85-ABBF-4ECB-AFEA-A8B4DA10B3E3}"/>
              </a:ext>
            </a:extLst>
          </p:cNvPr>
          <p:cNvSpPr>
            <a:spLocks noGrp="1"/>
          </p:cNvSpPr>
          <p:nvPr/>
        </p:nvSpPr>
        <p:spPr>
          <a:xfrm>
            <a:off x="1000125" y="5438775"/>
            <a:ext cx="0" cy="1285875"/>
          </a:xfrm>
          <a:prstGeom prst="line">
            <a:avLst/>
          </a:prstGeom>
          <a:noFill/>
          <a:ln w="47625">
            <a:solidFill>
              <a:srgbClr val="00C1D4"/>
            </a:solidFill>
            <a:prstDash val="solid"/>
          </a:ln>
        </p:spPr>
        <p:txBody>
          <a:bodyPr/>
          <a:lstStyle/>
          <a:p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release-label">
            <a:extLst>
              <a:ext uri="{FF2B5EF4-FFF2-40B4-BE49-F238E27FC236}">
                <a16:creationId xmlns:a16="http://schemas.microsoft.com/office/drawing/2014/main" id="{C08F2C4A-858E-436B-9257-34DDC353B087}"/>
              </a:ext>
            </a:extLst>
          </p:cNvPr>
          <p:cNvSpPr>
            <a:spLocks noGrp="1"/>
          </p:cNvSpPr>
          <p:nvPr/>
        </p:nvSpPr>
        <p:spPr>
          <a:xfrm>
            <a:off x="1266825" y="5695950"/>
            <a:ext cx="21431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200" b="1" dirty="0">
                <a:solidFill>
                  <a:srgbClr val="4F555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년 평균 월간 방문자 수</a:t>
            </a:r>
            <a:endParaRPr sz="1200" b="1" i="0" dirty="0">
              <a:solidFill>
                <a:srgbClr val="4F555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Noto Sans KR"/>
            </a:endParaRPr>
          </a:p>
        </p:txBody>
      </p:sp>
      <p:sp>
        <p:nvSpPr>
          <p:cNvPr id="15" name="release-value">
            <a:extLst>
              <a:ext uri="{FF2B5EF4-FFF2-40B4-BE49-F238E27FC236}">
                <a16:creationId xmlns:a16="http://schemas.microsoft.com/office/drawing/2014/main" id="{F59B9312-1FAD-461A-B97A-3B6B13BC82B7}"/>
              </a:ext>
            </a:extLst>
          </p:cNvPr>
          <p:cNvSpPr>
            <a:spLocks noGrp="1"/>
          </p:cNvSpPr>
          <p:nvPr/>
        </p:nvSpPr>
        <p:spPr>
          <a:xfrm>
            <a:off x="1266825" y="6067425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 i="0" dirty="0">
                <a:solidFill>
                  <a:srgbClr val="004EA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1,796만 명</a:t>
            </a:r>
          </a:p>
        </p:txBody>
      </p:sp>
      <p:sp>
        <p:nvSpPr>
          <p:cNvPr id="17" name="strategy-card">
            <a:extLst>
              <a:ext uri="{FF2B5EF4-FFF2-40B4-BE49-F238E27FC236}">
                <a16:creationId xmlns:a16="http://schemas.microsoft.com/office/drawing/2014/main" id="{894D211D-54DB-4650-886B-59BDE3CFD638}"/>
              </a:ext>
            </a:extLst>
          </p:cNvPr>
          <p:cNvSpPr>
            <a:spLocks noGrp="1"/>
          </p:cNvSpPr>
          <p:nvPr/>
        </p:nvSpPr>
        <p:spPr>
          <a:xfrm>
            <a:off x="5095875" y="5438775"/>
            <a:ext cx="3857625" cy="12858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strategy-card-rail">
            <a:extLst>
              <a:ext uri="{FF2B5EF4-FFF2-40B4-BE49-F238E27FC236}">
                <a16:creationId xmlns:a16="http://schemas.microsoft.com/office/drawing/2014/main" id="{4BD40E72-A0A4-4F59-BF64-47A1F54E0861}"/>
              </a:ext>
            </a:extLst>
          </p:cNvPr>
          <p:cNvSpPr>
            <a:spLocks noGrp="1"/>
          </p:cNvSpPr>
          <p:nvPr/>
        </p:nvSpPr>
        <p:spPr>
          <a:xfrm>
            <a:off x="5095875" y="5438775"/>
            <a:ext cx="0" cy="1285875"/>
          </a:xfrm>
          <a:prstGeom prst="line">
            <a:avLst/>
          </a:prstGeom>
          <a:noFill/>
          <a:ln w="47625">
            <a:solidFill>
              <a:srgbClr val="00C1D4"/>
            </a:solidFill>
            <a:prstDash val="solid"/>
          </a:ln>
        </p:spPr>
        <p:txBody>
          <a:bodyPr/>
          <a:lstStyle/>
          <a:p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strategy-label">
            <a:extLst>
              <a:ext uri="{FF2B5EF4-FFF2-40B4-BE49-F238E27FC236}">
                <a16:creationId xmlns:a16="http://schemas.microsoft.com/office/drawing/2014/main" id="{EA6B80AF-F1D9-4537-B201-BF0C188C8429}"/>
              </a:ext>
            </a:extLst>
          </p:cNvPr>
          <p:cNvSpPr>
            <a:spLocks noGrp="1"/>
          </p:cNvSpPr>
          <p:nvPr/>
        </p:nvSpPr>
        <p:spPr>
          <a:xfrm>
            <a:off x="5372100" y="5695950"/>
            <a:ext cx="2695574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200" b="1" i="0" dirty="0">
                <a:solidFill>
                  <a:srgbClr val="4F555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년 평균 월간 </a:t>
            </a:r>
            <a:r>
              <a:rPr sz="1200" b="1" i="0" dirty="0" err="1">
                <a:solidFill>
                  <a:srgbClr val="4F555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외지인</a:t>
            </a:r>
            <a:r>
              <a:rPr sz="1200" b="1" i="0" dirty="0">
                <a:solidFill>
                  <a:srgbClr val="4F555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 </a:t>
            </a:r>
            <a:r>
              <a:rPr sz="1200" b="1" i="0" dirty="0" err="1">
                <a:solidFill>
                  <a:srgbClr val="4F555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관광소비</a:t>
            </a:r>
            <a:r>
              <a:rPr sz="1200" b="1" i="0" dirty="0">
                <a:solidFill>
                  <a:srgbClr val="4F555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 </a:t>
            </a:r>
            <a:r>
              <a:rPr sz="1200" b="1" i="0" dirty="0" err="1">
                <a:solidFill>
                  <a:srgbClr val="4F555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총액</a:t>
            </a:r>
            <a:endParaRPr sz="1200" b="1" i="0" dirty="0">
              <a:solidFill>
                <a:srgbClr val="4F555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Noto Sans KR"/>
            </a:endParaRPr>
          </a:p>
        </p:txBody>
      </p:sp>
      <p:sp>
        <p:nvSpPr>
          <p:cNvPr id="20" name="strategy-value">
            <a:extLst>
              <a:ext uri="{FF2B5EF4-FFF2-40B4-BE49-F238E27FC236}">
                <a16:creationId xmlns:a16="http://schemas.microsoft.com/office/drawing/2014/main" id="{2065A6CF-D0E9-4B91-B0B1-ACBAD47338A1}"/>
              </a:ext>
            </a:extLst>
          </p:cNvPr>
          <p:cNvSpPr>
            <a:spLocks noGrp="1"/>
          </p:cNvSpPr>
          <p:nvPr/>
        </p:nvSpPr>
        <p:spPr>
          <a:xfrm>
            <a:off x="5372100" y="6067425"/>
            <a:ext cx="1666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 i="0" dirty="0">
                <a:solidFill>
                  <a:srgbClr val="004EA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4,820억 원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615579A-A323-4EC9-7A79-80C3D242DBD8}"/>
              </a:ext>
            </a:extLst>
          </p:cNvPr>
          <p:cNvSpPr/>
          <p:nvPr/>
        </p:nvSpPr>
        <p:spPr>
          <a:xfrm>
            <a:off x="10113627" y="7582445"/>
            <a:ext cx="3508273" cy="7113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 강남구</a:t>
            </a:r>
            <a:endParaRPr lang="en-US" altLang="ko-KR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업체명 가나 </a:t>
            </a:r>
            <a:r>
              <a:rPr lang="ko-KR" altLang="en-US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돈까스의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집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decision-body">
            <a:extLst>
              <a:ext uri="{FF2B5EF4-FFF2-40B4-BE49-F238E27FC236}">
                <a16:creationId xmlns:a16="http://schemas.microsoft.com/office/drawing/2014/main" id="{13D94F27-14D7-1225-78BB-CCFC8A4A19F1}"/>
              </a:ext>
            </a:extLst>
          </p:cNvPr>
          <p:cNvSpPr>
            <a:spLocks noGrp="1"/>
          </p:cNvSpPr>
          <p:nvPr/>
        </p:nvSpPr>
        <p:spPr>
          <a:xfrm>
            <a:off x="5538788" y="4333875"/>
            <a:ext cx="36480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 dirty="0">
                <a:solidFill>
                  <a:srgbClr val="6E747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17,963,441명 ·</a:t>
            </a:r>
            <a:r>
              <a:rPr lang="en-US" sz="1350" b="0" i="0" dirty="0">
                <a:solidFill>
                  <a:srgbClr val="6E747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 </a:t>
            </a:r>
            <a:r>
              <a:rPr lang="ko-KR" altLang="en-US" sz="1350" b="0" i="0" dirty="0">
                <a:solidFill>
                  <a:srgbClr val="6E747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전월 대비 </a:t>
            </a:r>
            <a:r>
              <a:rPr lang="en-US" altLang="ko-KR" sz="1350" dirty="0">
                <a:solidFill>
                  <a:srgbClr val="6E747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+0</a:t>
            </a:r>
            <a:r>
              <a:rPr sz="1350" b="0" i="0" dirty="0">
                <a:solidFill>
                  <a:srgbClr val="6E747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.</a:t>
            </a:r>
            <a:r>
              <a:rPr lang="en-US" sz="1350" b="0" i="0" dirty="0">
                <a:solidFill>
                  <a:srgbClr val="6E747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2</a:t>
            </a:r>
            <a:r>
              <a:rPr sz="1350" b="0" i="0" dirty="0">
                <a:solidFill>
                  <a:srgbClr val="6E747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284137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ity-photo"/>
          <p:cNvPicPr>
            <a:picLocks noChangeAspect="1"/>
          </p:cNvPicPr>
          <p:nvPr/>
        </p:nvPicPr>
        <p:blipFill>
          <a:blip r:embed="rId3"/>
          <a:srcRect l="28083" r="28083"/>
          <a:stretch>
            <a:fillRect/>
          </a:stretch>
        </p:blipFill>
        <p:spPr>
          <a:xfrm>
            <a:off x="10229850" y="0"/>
            <a:ext cx="5010150" cy="8572500"/>
          </a:xfrm>
          <a:prstGeom prst="rect">
            <a:avLst/>
          </a:prstGeom>
        </p:spPr>
      </p:pic>
      <p:sp>
        <p:nvSpPr>
          <p:cNvPr id="2" name="eyebrow">
            <a:extLst>
              <a:ext uri="{FF2B5EF4-FFF2-40B4-BE49-F238E27FC236}">
                <a16:creationId xmlns:a16="http://schemas.microsoft.com/office/drawing/2014/main" id="{DC140F1E-536A-4372-831D-1A30AB36B8FF}"/>
              </a:ext>
            </a:extLst>
          </p:cNvPr>
          <p:cNvSpPr>
            <a:spLocks noGrp="1"/>
          </p:cNvSpPr>
          <p:nvPr/>
        </p:nvSpPr>
        <p:spPr>
          <a:xfrm>
            <a:off x="990600" y="828675"/>
            <a:ext cx="36480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 dirty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P R O B L E M   &amp;   P I L O T   O B J E C T I V 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FFF0F8E-C488-4FAD-A415-F42CFBAD9E8C}"/>
              </a:ext>
            </a:extLst>
          </p:cNvPr>
          <p:cNvSpPr>
            <a:spLocks noGrp="1"/>
          </p:cNvSpPr>
          <p:nvPr/>
        </p:nvSpPr>
        <p:spPr>
          <a:xfrm>
            <a:off x="971550" y="1333500"/>
            <a:ext cx="8477250" cy="1914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58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5850" b="1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문제</a:t>
            </a:r>
            <a:r>
              <a:rPr sz="5850" b="1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5850" b="1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정의</a:t>
            </a:r>
            <a:r>
              <a:rPr sz="5850" b="1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및</a:t>
            </a:r>
          </a:p>
          <a:p>
            <a:pPr algn="l">
              <a:lnSpc>
                <a:spcPct val="98000"/>
              </a:lnSpc>
              <a:buNone/>
              <a:defRPr sz="58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5850" b="1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시범사업</a:t>
            </a:r>
            <a:r>
              <a:rPr sz="5850" b="1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5850" b="1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목표</a:t>
            </a:r>
            <a:endParaRPr sz="5850" b="1" i="0" dirty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orange-rule">
            <a:extLst>
              <a:ext uri="{FF2B5EF4-FFF2-40B4-BE49-F238E27FC236}">
                <a16:creationId xmlns:a16="http://schemas.microsoft.com/office/drawing/2014/main" id="{2D060FE0-5960-484C-BB83-BF0F1BA253FC}"/>
              </a:ext>
            </a:extLst>
          </p:cNvPr>
          <p:cNvSpPr>
            <a:spLocks noGrp="1"/>
          </p:cNvSpPr>
          <p:nvPr/>
        </p:nvSpPr>
        <p:spPr>
          <a:xfrm>
            <a:off x="971550" y="3362325"/>
            <a:ext cx="962025" cy="0"/>
          </a:xfrm>
          <a:prstGeom prst="line">
            <a:avLst/>
          </a:prstGeom>
          <a:noFill/>
          <a:ln w="85725">
            <a:solidFill>
              <a:srgbClr val="FF6B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feature-0">
            <a:extLst>
              <a:ext uri="{FF2B5EF4-FFF2-40B4-BE49-F238E27FC236}">
                <a16:creationId xmlns:a16="http://schemas.microsoft.com/office/drawing/2014/main" id="{8E464197-E4E1-4C93-AF19-23A4A080CC65}"/>
              </a:ext>
            </a:extLst>
          </p:cNvPr>
          <p:cNvSpPr>
            <a:spLocks noGrp="1"/>
          </p:cNvSpPr>
          <p:nvPr/>
        </p:nvSpPr>
        <p:spPr>
          <a:xfrm>
            <a:off x="971550" y="3914775"/>
            <a:ext cx="1943100" cy="485775"/>
          </a:xfrm>
          <a:prstGeom prst="rect">
            <a:avLst/>
          </a:prstGeom>
          <a:solidFill>
            <a:srgbClr val="F3F6F9"/>
          </a:solidFill>
          <a:ln w="9525">
            <a:solidFill>
              <a:srgbClr val="D7DEE5"/>
            </a:solidFill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월간</a:t>
            </a:r>
            <a:r>
              <a:rPr sz="1200" b="1" dirty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 순 </a:t>
            </a:r>
            <a:r>
              <a:rPr sz="1200" b="1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방문자</a:t>
            </a:r>
            <a:r>
              <a:rPr sz="1200" b="1" dirty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 수</a:t>
            </a:r>
          </a:p>
        </p:txBody>
      </p:sp>
      <p:sp>
        <p:nvSpPr>
          <p:cNvPr id="6" name="feature-1">
            <a:extLst>
              <a:ext uri="{FF2B5EF4-FFF2-40B4-BE49-F238E27FC236}">
                <a16:creationId xmlns:a16="http://schemas.microsoft.com/office/drawing/2014/main" id="{AF717375-2E32-4358-99A8-17418DB680F2}"/>
              </a:ext>
            </a:extLst>
          </p:cNvPr>
          <p:cNvSpPr>
            <a:spLocks noGrp="1"/>
          </p:cNvSpPr>
          <p:nvPr/>
        </p:nvSpPr>
        <p:spPr>
          <a:xfrm>
            <a:off x="3095625" y="3914775"/>
            <a:ext cx="1943100" cy="485775"/>
          </a:xfrm>
          <a:prstGeom prst="rect">
            <a:avLst/>
          </a:prstGeom>
          <a:solidFill>
            <a:srgbClr val="F3F6F9"/>
          </a:solidFill>
          <a:ln w="9525">
            <a:solidFill>
              <a:srgbClr val="D7DEE5"/>
            </a:solidFill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전년동월</a:t>
            </a:r>
            <a:r>
              <a:rPr sz="1200" b="1" dirty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외지인</a:t>
            </a:r>
            <a:r>
              <a:rPr sz="1200" b="1" dirty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방문자</a:t>
            </a:r>
            <a:r>
              <a:rPr sz="1200" b="1" dirty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증감률</a:t>
            </a:r>
            <a:endParaRPr sz="1200" b="1" dirty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" name="feature-2">
            <a:extLst>
              <a:ext uri="{FF2B5EF4-FFF2-40B4-BE49-F238E27FC236}">
                <a16:creationId xmlns:a16="http://schemas.microsoft.com/office/drawing/2014/main" id="{52D960B5-2517-4C9F-8BE6-D01A8961924A}"/>
              </a:ext>
            </a:extLst>
          </p:cNvPr>
          <p:cNvSpPr>
            <a:spLocks noGrp="1"/>
          </p:cNvSpPr>
          <p:nvPr/>
        </p:nvSpPr>
        <p:spPr>
          <a:xfrm>
            <a:off x="5219700" y="3914775"/>
            <a:ext cx="1943100" cy="485775"/>
          </a:xfrm>
          <a:prstGeom prst="rect">
            <a:avLst/>
          </a:prstGeom>
          <a:solidFill>
            <a:srgbClr val="F3F6F9"/>
          </a:solidFill>
          <a:ln w="9525">
            <a:solidFill>
              <a:srgbClr val="D7DEE5"/>
            </a:solidFill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월간</a:t>
            </a:r>
            <a:r>
              <a:rPr sz="1200" b="1" dirty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외지인</a:t>
            </a:r>
            <a:r>
              <a:rPr sz="1200" b="1" dirty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관광소비</a:t>
            </a:r>
            <a:r>
              <a:rPr sz="1200" b="1" dirty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총액</a:t>
            </a:r>
            <a:endParaRPr sz="1200" b="1" dirty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feature-3">
            <a:extLst>
              <a:ext uri="{FF2B5EF4-FFF2-40B4-BE49-F238E27FC236}">
                <a16:creationId xmlns:a16="http://schemas.microsoft.com/office/drawing/2014/main" id="{ADE849E5-4159-49A8-99EB-553C231E8ADE}"/>
              </a:ext>
            </a:extLst>
          </p:cNvPr>
          <p:cNvSpPr>
            <a:spLocks noGrp="1"/>
          </p:cNvSpPr>
          <p:nvPr/>
        </p:nvSpPr>
        <p:spPr>
          <a:xfrm>
            <a:off x="7343775" y="3914775"/>
            <a:ext cx="1943100" cy="485775"/>
          </a:xfrm>
          <a:prstGeom prst="rect">
            <a:avLst/>
          </a:prstGeom>
          <a:solidFill>
            <a:srgbClr val="F3F6F9"/>
          </a:solidFill>
          <a:ln w="9525">
            <a:solidFill>
              <a:srgbClr val="D7DEE5"/>
            </a:solidFill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3~6개월 </a:t>
            </a:r>
            <a:r>
              <a:rPr sz="1200" b="1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</a:t>
            </a:r>
            <a:r>
              <a:rPr sz="1200" b="1" dirty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</a:t>
            </a:r>
            <a:endParaRPr sz="1200" b="1" dirty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feature-4">
            <a:extLst>
              <a:ext uri="{FF2B5EF4-FFF2-40B4-BE49-F238E27FC236}">
                <a16:creationId xmlns:a16="http://schemas.microsoft.com/office/drawing/2014/main" id="{265D631B-2771-41A2-B29B-BFE3E98049BA}"/>
              </a:ext>
            </a:extLst>
          </p:cNvPr>
          <p:cNvSpPr>
            <a:spLocks noGrp="1"/>
          </p:cNvSpPr>
          <p:nvPr/>
        </p:nvSpPr>
        <p:spPr>
          <a:xfrm>
            <a:off x="971550" y="4600575"/>
            <a:ext cx="1943100" cy="485775"/>
          </a:xfrm>
          <a:prstGeom prst="rect">
            <a:avLst/>
          </a:prstGeom>
          <a:solidFill>
            <a:srgbClr val="F3F6F9"/>
          </a:solidFill>
          <a:ln w="9525">
            <a:solidFill>
              <a:srgbClr val="D7DEE5"/>
            </a:solidFill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대상 설정</a:t>
            </a:r>
          </a:p>
        </p:txBody>
      </p:sp>
      <p:sp>
        <p:nvSpPr>
          <p:cNvPr id="10" name="feature-5">
            <a:extLst>
              <a:ext uri="{FF2B5EF4-FFF2-40B4-BE49-F238E27FC236}">
                <a16:creationId xmlns:a16="http://schemas.microsoft.com/office/drawing/2014/main" id="{526D0119-66A7-4A39-B401-C753A4BF22FB}"/>
              </a:ext>
            </a:extLst>
          </p:cNvPr>
          <p:cNvSpPr>
            <a:spLocks noGrp="1"/>
          </p:cNvSpPr>
          <p:nvPr/>
        </p:nvSpPr>
        <p:spPr>
          <a:xfrm>
            <a:off x="3095625" y="4600575"/>
            <a:ext cx="1943100" cy="485775"/>
          </a:xfrm>
          <a:prstGeom prst="rect">
            <a:avLst/>
          </a:prstGeom>
          <a:solidFill>
            <a:srgbClr val="F3F6F9"/>
          </a:solidFill>
          <a:ln w="9525">
            <a:solidFill>
              <a:srgbClr val="D7DEE5"/>
            </a:solidFill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현장 운영</a:t>
            </a:r>
          </a:p>
        </p:txBody>
      </p:sp>
      <p:sp>
        <p:nvSpPr>
          <p:cNvPr id="11" name="feature-6">
            <a:extLst>
              <a:ext uri="{FF2B5EF4-FFF2-40B4-BE49-F238E27FC236}">
                <a16:creationId xmlns:a16="http://schemas.microsoft.com/office/drawing/2014/main" id="{48F47610-5D77-492F-9124-962720A2B9F9}"/>
              </a:ext>
            </a:extLst>
          </p:cNvPr>
          <p:cNvSpPr>
            <a:spLocks noGrp="1"/>
          </p:cNvSpPr>
          <p:nvPr/>
        </p:nvSpPr>
        <p:spPr>
          <a:xfrm>
            <a:off x="5219700" y="4600575"/>
            <a:ext cx="1943100" cy="485775"/>
          </a:xfrm>
          <a:prstGeom prst="rect">
            <a:avLst/>
          </a:prstGeom>
          <a:solidFill>
            <a:srgbClr val="F3F6F9"/>
          </a:solidFill>
          <a:ln w="9525">
            <a:solidFill>
              <a:srgbClr val="D7DEE5"/>
            </a:solidFill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성과</a:t>
            </a:r>
            <a:r>
              <a:rPr sz="1200" b="1" dirty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측정</a:t>
            </a:r>
            <a:endParaRPr sz="1200" b="1" dirty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feature-7">
            <a:extLst>
              <a:ext uri="{FF2B5EF4-FFF2-40B4-BE49-F238E27FC236}">
                <a16:creationId xmlns:a16="http://schemas.microsoft.com/office/drawing/2014/main" id="{225046E9-ABBE-4315-B859-A46FB1610807}"/>
              </a:ext>
            </a:extLst>
          </p:cNvPr>
          <p:cNvSpPr>
            <a:spLocks noGrp="1"/>
          </p:cNvSpPr>
          <p:nvPr/>
        </p:nvSpPr>
        <p:spPr>
          <a:xfrm>
            <a:off x="7343775" y="4600575"/>
            <a:ext cx="1943100" cy="485775"/>
          </a:xfrm>
          <a:prstGeom prst="rect">
            <a:avLst/>
          </a:prstGeom>
          <a:solidFill>
            <a:srgbClr val="F3F6F9"/>
          </a:solidFill>
          <a:ln w="9525">
            <a:solidFill>
              <a:srgbClr val="D7DEE5"/>
            </a:solidFill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확대</a:t>
            </a:r>
            <a:r>
              <a:rPr sz="1200" b="1" dirty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판단</a:t>
            </a:r>
            <a:endParaRPr sz="1200" b="1" dirty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body-rail">
            <a:extLst>
              <a:ext uri="{FF2B5EF4-FFF2-40B4-BE49-F238E27FC236}">
                <a16:creationId xmlns:a16="http://schemas.microsoft.com/office/drawing/2014/main" id="{9838C652-F895-4995-B29D-141835A101FB}"/>
              </a:ext>
            </a:extLst>
          </p:cNvPr>
          <p:cNvSpPr>
            <a:spLocks noGrp="1"/>
          </p:cNvSpPr>
          <p:nvPr/>
        </p:nvSpPr>
        <p:spPr>
          <a:xfrm>
            <a:off x="990600" y="5743575"/>
            <a:ext cx="0" cy="2057400"/>
          </a:xfrm>
          <a:prstGeom prst="line">
            <a:avLst/>
          </a:prstGeom>
          <a:noFill/>
          <a:ln w="38100">
            <a:solidFill>
              <a:srgbClr val="00C1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body">
            <a:extLst>
              <a:ext uri="{FF2B5EF4-FFF2-40B4-BE49-F238E27FC236}">
                <a16:creationId xmlns:a16="http://schemas.microsoft.com/office/drawing/2014/main" id="{83E3A806-592E-467F-92DD-8536E848ACE5}"/>
              </a:ext>
            </a:extLst>
          </p:cNvPr>
          <p:cNvSpPr>
            <a:spLocks noGrp="1"/>
          </p:cNvSpPr>
          <p:nvPr/>
        </p:nvSpPr>
        <p:spPr>
          <a:xfrm>
            <a:off x="1276350" y="5838825"/>
            <a:ext cx="8362950" cy="2019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35000"/>
              </a:lnSpc>
              <a:buNone/>
              <a:def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최근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규모만으로는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지역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안에서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충분한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소비와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체류가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이어졌다고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보기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어렵습니다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.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숙박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비율은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3.1%,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평균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숙박일수는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2.91일입니다.</a:t>
            </a:r>
          </a:p>
          <a:p>
            <a:pPr algn="l">
              <a:lnSpc>
                <a:spcPct val="135000"/>
              </a:lnSpc>
              <a:buNone/>
              <a:def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endParaRPr sz="1425" b="0" i="0" dirty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5000"/>
              </a:lnSpc>
              <a:buNone/>
              <a:def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내비게이션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검색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773,380건을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출발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수요로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보고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검색이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많은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지점과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식음료업·쇼핑업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참여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업소를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3~4시간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동선으로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연결합니다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.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처음에는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한 개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코스만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운영하고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이용률과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결제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변화를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확인해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확대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여부를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결정합니다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.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방문자가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지역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안에서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이동하고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소비할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이유를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명확히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만들며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실제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운영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결과를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바탕으로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확대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여부를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판단할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142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있습니다</a:t>
            </a:r>
            <a:r>
              <a:rPr sz="142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0722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">
            <a:extLst>
              <a:ext uri="{FF2B5EF4-FFF2-40B4-BE49-F238E27FC236}">
                <a16:creationId xmlns:a16="http://schemas.microsoft.com/office/drawing/2014/main" id="{89566C74-171B-4CC1-A081-68E147C86C5B}"/>
              </a:ext>
            </a:extLst>
          </p:cNvPr>
          <p:cNvSpPr>
            <a:spLocks noGrp="1"/>
          </p:cNvSpPr>
          <p:nvPr/>
        </p:nvSpPr>
        <p:spPr>
          <a:xfrm>
            <a:off x="3829050" y="952500"/>
            <a:ext cx="7581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3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 i="0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참여자별</a:t>
            </a:r>
            <a:r>
              <a:rPr sz="3900" b="1" i="0" dirty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900" b="1" i="0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역할과</a:t>
            </a:r>
            <a:r>
              <a:rPr sz="3900" b="1" i="0" dirty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900" b="1" i="0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</a:t>
            </a:r>
            <a:r>
              <a:rPr sz="3900" b="1" i="0" dirty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900" b="1" i="0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시나리오</a:t>
            </a:r>
            <a:endParaRPr sz="3900" b="1" i="0" dirty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5806725C-B232-4DB7-96F0-03854DF860F7}"/>
              </a:ext>
            </a:extLst>
          </p:cNvPr>
          <p:cNvSpPr>
            <a:spLocks noGrp="1"/>
          </p:cNvSpPr>
          <p:nvPr/>
        </p:nvSpPr>
        <p:spPr>
          <a:xfrm>
            <a:off x="6496050" y="1638300"/>
            <a:ext cx="647700" cy="0"/>
          </a:xfrm>
          <a:prstGeom prst="line">
            <a:avLst/>
          </a:prstGeom>
          <a:noFill/>
          <a:ln w="38100">
            <a:solidFill>
              <a:srgbClr val="00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51BFB9C-216A-4C33-A839-B04730D36B7F}"/>
              </a:ext>
            </a:extLst>
          </p:cNvPr>
          <p:cNvSpPr>
            <a:spLocks noGrp="1"/>
          </p:cNvSpPr>
          <p:nvPr/>
        </p:nvSpPr>
        <p:spPr>
          <a:xfrm>
            <a:off x="4095750" y="1952625"/>
            <a:ext cx="704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10000"/>
          </a:bodyPr>
          <a:lstStyle/>
          <a:p>
            <a:pPr algn="ctr">
              <a:buNone/>
              <a:def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내비게이션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검색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773,380건을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출발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수요로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보고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검색이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많은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지점과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식음료업·쇼핑업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참여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업소를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3~4시간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동선으로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연결합니다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.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처음에는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한 개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코스만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운영하고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이용률과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결제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변화를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확인해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…</a:t>
            </a:r>
          </a:p>
        </p:txBody>
      </p:sp>
      <p:sp>
        <p:nvSpPr>
          <p:cNvPr id="4" name="audience-card-0">
            <a:extLst>
              <a:ext uri="{FF2B5EF4-FFF2-40B4-BE49-F238E27FC236}">
                <a16:creationId xmlns:a16="http://schemas.microsoft.com/office/drawing/2014/main" id="{4C5D9B42-9585-431B-9F85-6047030BE587}"/>
              </a:ext>
            </a:extLst>
          </p:cNvPr>
          <p:cNvSpPr>
            <a:spLocks noGrp="1"/>
          </p:cNvSpPr>
          <p:nvPr/>
        </p:nvSpPr>
        <p:spPr>
          <a:xfrm>
            <a:off x="828675" y="3009900"/>
            <a:ext cx="4267200" cy="4543425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audience-pill-0">
            <a:extLst>
              <a:ext uri="{FF2B5EF4-FFF2-40B4-BE49-F238E27FC236}">
                <a16:creationId xmlns:a16="http://schemas.microsoft.com/office/drawing/2014/main" id="{78EAE8B0-7A2C-4232-829C-9DE3D07F8042}"/>
              </a:ext>
            </a:extLst>
          </p:cNvPr>
          <p:cNvSpPr>
            <a:spLocks noGrp="1"/>
          </p:cNvSpPr>
          <p:nvPr/>
        </p:nvSpPr>
        <p:spPr>
          <a:xfrm>
            <a:off x="1114425" y="3400425"/>
            <a:ext cx="36957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4EA2"/>
            </a:solidFill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buNone/>
              <a:def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목표 방문자</a:t>
            </a:r>
          </a:p>
        </p:txBody>
      </p:sp>
      <p:sp>
        <p:nvSpPr>
          <p:cNvPr id="6" name="bank-roof">
            <a:extLst>
              <a:ext uri="{FF2B5EF4-FFF2-40B4-BE49-F238E27FC236}">
                <a16:creationId xmlns:a16="http://schemas.microsoft.com/office/drawing/2014/main" id="{6C8830F6-3845-41BD-ACE7-C4EE16F9526E}"/>
              </a:ext>
            </a:extLst>
          </p:cNvPr>
          <p:cNvSpPr>
            <a:spLocks noGrp="1"/>
          </p:cNvSpPr>
          <p:nvPr/>
        </p:nvSpPr>
        <p:spPr>
          <a:xfrm>
            <a:off x="2638425" y="4305300"/>
            <a:ext cx="685800" cy="266700"/>
          </a:xfrm>
          <a:prstGeom prst="triangle">
            <a:avLst/>
          </a:prstGeom>
          <a:solidFill>
            <a:srgbClr val="004EA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ank-entablature">
            <a:extLst>
              <a:ext uri="{FF2B5EF4-FFF2-40B4-BE49-F238E27FC236}">
                <a16:creationId xmlns:a16="http://schemas.microsoft.com/office/drawing/2014/main" id="{22361731-9751-4C79-BE2B-76D27E71A7A6}"/>
              </a:ext>
            </a:extLst>
          </p:cNvPr>
          <p:cNvSpPr>
            <a:spLocks noGrp="1"/>
          </p:cNvSpPr>
          <p:nvPr/>
        </p:nvSpPr>
        <p:spPr>
          <a:xfrm>
            <a:off x="2657475" y="4552950"/>
            <a:ext cx="647700" cy="85725"/>
          </a:xfrm>
          <a:prstGeom prst="rect">
            <a:avLst/>
          </a:prstGeom>
          <a:solidFill>
            <a:srgbClr val="004EA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ank-column-0">
            <a:extLst>
              <a:ext uri="{FF2B5EF4-FFF2-40B4-BE49-F238E27FC236}">
                <a16:creationId xmlns:a16="http://schemas.microsoft.com/office/drawing/2014/main" id="{868A702C-5CDA-4CF8-9FB7-18787E779016}"/>
              </a:ext>
            </a:extLst>
          </p:cNvPr>
          <p:cNvSpPr>
            <a:spLocks noGrp="1"/>
          </p:cNvSpPr>
          <p:nvPr/>
        </p:nvSpPr>
        <p:spPr>
          <a:xfrm>
            <a:off x="2724150" y="4629150"/>
            <a:ext cx="95250" cy="400050"/>
          </a:xfrm>
          <a:prstGeom prst="rect">
            <a:avLst/>
          </a:prstGeom>
          <a:solidFill>
            <a:srgbClr val="004EA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bank-column-1">
            <a:extLst>
              <a:ext uri="{FF2B5EF4-FFF2-40B4-BE49-F238E27FC236}">
                <a16:creationId xmlns:a16="http://schemas.microsoft.com/office/drawing/2014/main" id="{50E07DF9-1F3F-4342-BC3E-FCEA01A901B8}"/>
              </a:ext>
            </a:extLst>
          </p:cNvPr>
          <p:cNvSpPr>
            <a:spLocks noGrp="1"/>
          </p:cNvSpPr>
          <p:nvPr/>
        </p:nvSpPr>
        <p:spPr>
          <a:xfrm>
            <a:off x="2914650" y="4629150"/>
            <a:ext cx="95250" cy="400050"/>
          </a:xfrm>
          <a:prstGeom prst="rect">
            <a:avLst/>
          </a:prstGeom>
          <a:solidFill>
            <a:srgbClr val="004EA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ank-column-2">
            <a:extLst>
              <a:ext uri="{FF2B5EF4-FFF2-40B4-BE49-F238E27FC236}">
                <a16:creationId xmlns:a16="http://schemas.microsoft.com/office/drawing/2014/main" id="{5FF68BE2-FCB4-4D05-BC1B-61264E6CE652}"/>
              </a:ext>
            </a:extLst>
          </p:cNvPr>
          <p:cNvSpPr>
            <a:spLocks noGrp="1"/>
          </p:cNvSpPr>
          <p:nvPr/>
        </p:nvSpPr>
        <p:spPr>
          <a:xfrm>
            <a:off x="3105150" y="4629150"/>
            <a:ext cx="95250" cy="400050"/>
          </a:xfrm>
          <a:prstGeom prst="rect">
            <a:avLst/>
          </a:prstGeom>
          <a:solidFill>
            <a:srgbClr val="004EA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bank-base">
            <a:extLst>
              <a:ext uri="{FF2B5EF4-FFF2-40B4-BE49-F238E27FC236}">
                <a16:creationId xmlns:a16="http://schemas.microsoft.com/office/drawing/2014/main" id="{AFA7BF87-4EBA-4A3B-85F2-A0BF7B345A8E}"/>
              </a:ext>
            </a:extLst>
          </p:cNvPr>
          <p:cNvSpPr>
            <a:spLocks noGrp="1"/>
          </p:cNvSpPr>
          <p:nvPr/>
        </p:nvSpPr>
        <p:spPr>
          <a:xfrm>
            <a:off x="2628900" y="5010150"/>
            <a:ext cx="704850" cy="85725"/>
          </a:xfrm>
          <a:prstGeom prst="rect">
            <a:avLst/>
          </a:prstGeom>
          <a:solidFill>
            <a:srgbClr val="004EA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person-head-0">
            <a:extLst>
              <a:ext uri="{FF2B5EF4-FFF2-40B4-BE49-F238E27FC236}">
                <a16:creationId xmlns:a16="http://schemas.microsoft.com/office/drawing/2014/main" id="{C4D1E5F7-41A5-450D-8C04-DE851BB1A61E}"/>
              </a:ext>
            </a:extLst>
          </p:cNvPr>
          <p:cNvSpPr>
            <a:spLocks noGrp="1"/>
          </p:cNvSpPr>
          <p:nvPr/>
        </p:nvSpPr>
        <p:spPr>
          <a:xfrm>
            <a:off x="2352675" y="5143500"/>
            <a:ext cx="161925" cy="161925"/>
          </a:xfrm>
          <a:prstGeom prst="roundRect">
            <a:avLst>
              <a:gd name="adj" fmla="val 50000"/>
            </a:avLst>
          </a:prstGeom>
          <a:solidFill>
            <a:srgbClr val="00C1D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person-body-0">
            <a:extLst>
              <a:ext uri="{FF2B5EF4-FFF2-40B4-BE49-F238E27FC236}">
                <a16:creationId xmlns:a16="http://schemas.microsoft.com/office/drawing/2014/main" id="{45565331-1EEF-44C8-8693-303D68C18FA3}"/>
              </a:ext>
            </a:extLst>
          </p:cNvPr>
          <p:cNvSpPr>
            <a:spLocks noGrp="1"/>
          </p:cNvSpPr>
          <p:nvPr/>
        </p:nvSpPr>
        <p:spPr>
          <a:xfrm>
            <a:off x="2295525" y="5314950"/>
            <a:ext cx="276225" cy="171450"/>
          </a:xfrm>
          <a:prstGeom prst="roundRect">
            <a:avLst>
              <a:gd name="adj" fmla="val 44444"/>
            </a:avLst>
          </a:prstGeom>
          <a:solidFill>
            <a:srgbClr val="00C1D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person-head-1">
            <a:extLst>
              <a:ext uri="{FF2B5EF4-FFF2-40B4-BE49-F238E27FC236}">
                <a16:creationId xmlns:a16="http://schemas.microsoft.com/office/drawing/2014/main" id="{A250625F-90E3-4075-8371-3188CE547994}"/>
              </a:ext>
            </a:extLst>
          </p:cNvPr>
          <p:cNvSpPr>
            <a:spLocks noGrp="1"/>
          </p:cNvSpPr>
          <p:nvPr/>
        </p:nvSpPr>
        <p:spPr>
          <a:xfrm>
            <a:off x="2724150" y="5143500"/>
            <a:ext cx="161925" cy="161925"/>
          </a:xfrm>
          <a:prstGeom prst="roundRect">
            <a:avLst>
              <a:gd name="adj" fmla="val 50000"/>
            </a:avLst>
          </a:prstGeom>
          <a:solidFill>
            <a:srgbClr val="00C1D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person-body-1">
            <a:extLst>
              <a:ext uri="{FF2B5EF4-FFF2-40B4-BE49-F238E27FC236}">
                <a16:creationId xmlns:a16="http://schemas.microsoft.com/office/drawing/2014/main" id="{4397DBDC-F8B2-4022-B35A-686B15BC415C}"/>
              </a:ext>
            </a:extLst>
          </p:cNvPr>
          <p:cNvSpPr>
            <a:spLocks noGrp="1"/>
          </p:cNvSpPr>
          <p:nvPr/>
        </p:nvSpPr>
        <p:spPr>
          <a:xfrm>
            <a:off x="2667000" y="5314950"/>
            <a:ext cx="276225" cy="171450"/>
          </a:xfrm>
          <a:prstGeom prst="roundRect">
            <a:avLst>
              <a:gd name="adj" fmla="val 44444"/>
            </a:avLst>
          </a:prstGeom>
          <a:solidFill>
            <a:srgbClr val="00C1D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person-head-2">
            <a:extLst>
              <a:ext uri="{FF2B5EF4-FFF2-40B4-BE49-F238E27FC236}">
                <a16:creationId xmlns:a16="http://schemas.microsoft.com/office/drawing/2014/main" id="{8025074B-DFF1-4C48-893F-D68A516DC5E8}"/>
              </a:ext>
            </a:extLst>
          </p:cNvPr>
          <p:cNvSpPr>
            <a:spLocks noGrp="1"/>
          </p:cNvSpPr>
          <p:nvPr/>
        </p:nvSpPr>
        <p:spPr>
          <a:xfrm>
            <a:off x="3095625" y="5143500"/>
            <a:ext cx="161925" cy="161925"/>
          </a:xfrm>
          <a:prstGeom prst="roundRect">
            <a:avLst>
              <a:gd name="adj" fmla="val 50000"/>
            </a:avLst>
          </a:prstGeom>
          <a:solidFill>
            <a:srgbClr val="00C1D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person-body-2">
            <a:extLst>
              <a:ext uri="{FF2B5EF4-FFF2-40B4-BE49-F238E27FC236}">
                <a16:creationId xmlns:a16="http://schemas.microsoft.com/office/drawing/2014/main" id="{A9EC7A93-21AC-4A94-A037-BE6FC2A09A5B}"/>
              </a:ext>
            </a:extLst>
          </p:cNvPr>
          <p:cNvSpPr>
            <a:spLocks noGrp="1"/>
          </p:cNvSpPr>
          <p:nvPr/>
        </p:nvSpPr>
        <p:spPr>
          <a:xfrm>
            <a:off x="3038475" y="5314950"/>
            <a:ext cx="276225" cy="171450"/>
          </a:xfrm>
          <a:prstGeom prst="roundRect">
            <a:avLst>
              <a:gd name="adj" fmla="val 44444"/>
            </a:avLst>
          </a:prstGeom>
          <a:solidFill>
            <a:srgbClr val="00C1D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audience-body-0">
            <a:extLst>
              <a:ext uri="{FF2B5EF4-FFF2-40B4-BE49-F238E27FC236}">
                <a16:creationId xmlns:a16="http://schemas.microsoft.com/office/drawing/2014/main" id="{18036271-88F0-4820-8017-27AD9D820183}"/>
              </a:ext>
            </a:extLst>
          </p:cNvPr>
          <p:cNvSpPr>
            <a:spLocks noGrp="1"/>
          </p:cNvSpPr>
          <p:nvPr/>
        </p:nvSpPr>
        <p:spPr>
          <a:xfrm>
            <a:off x="1114425" y="5924550"/>
            <a:ext cx="3695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기획안이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정한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동선·혜택을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이용하고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이용·결제·체류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반응을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남깁니다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endParaRPr sz="1125" b="0" i="0" dirty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audience-divider-0">
            <a:extLst>
              <a:ext uri="{FF2B5EF4-FFF2-40B4-BE49-F238E27FC236}">
                <a16:creationId xmlns:a16="http://schemas.microsoft.com/office/drawing/2014/main" id="{D37CFD94-BBEC-4549-A877-861B6AF8A694}"/>
              </a:ext>
            </a:extLst>
          </p:cNvPr>
          <p:cNvSpPr>
            <a:spLocks noGrp="1"/>
          </p:cNvSpPr>
          <p:nvPr/>
        </p:nvSpPr>
        <p:spPr>
          <a:xfrm>
            <a:off x="1114425" y="6486525"/>
            <a:ext cx="3695700" cy="0"/>
          </a:xfrm>
          <a:prstGeom prst="line">
            <a:avLst/>
          </a:prstGeom>
          <a:noFill/>
          <a:ln w="19050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audience-role-0">
            <a:extLst>
              <a:ext uri="{FF2B5EF4-FFF2-40B4-BE49-F238E27FC236}">
                <a16:creationId xmlns:a16="http://schemas.microsoft.com/office/drawing/2014/main" id="{431424E7-8452-4D5A-BFBC-7C483C02347C}"/>
              </a:ext>
            </a:extLst>
          </p:cNvPr>
          <p:cNvSpPr>
            <a:spLocks noGrp="1"/>
          </p:cNvSpPr>
          <p:nvPr/>
        </p:nvSpPr>
        <p:spPr>
          <a:xfrm>
            <a:off x="1162050" y="6896100"/>
            <a:ext cx="3600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행동</a:t>
            </a:r>
            <a:r>
              <a:rPr sz="1050" b="1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sz="1050" b="1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1050" b="1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050" b="1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이용</a:t>
            </a:r>
            <a:r>
              <a:rPr sz="1050" b="1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050" b="1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선택</a:t>
            </a:r>
            <a:r>
              <a:rPr sz="1050" b="1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결과</a:t>
            </a:r>
            <a:r>
              <a:rPr sz="1050" b="1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확인</a:t>
            </a:r>
            <a:endParaRPr sz="1050" b="1" i="0" dirty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audience-card-1">
            <a:extLst>
              <a:ext uri="{FF2B5EF4-FFF2-40B4-BE49-F238E27FC236}">
                <a16:creationId xmlns:a16="http://schemas.microsoft.com/office/drawing/2014/main" id="{E4BF1616-4E6A-46E9-A604-B8790B8D5E69}"/>
              </a:ext>
            </a:extLst>
          </p:cNvPr>
          <p:cNvSpPr>
            <a:spLocks noGrp="1"/>
          </p:cNvSpPr>
          <p:nvPr/>
        </p:nvSpPr>
        <p:spPr>
          <a:xfrm>
            <a:off x="5486400" y="3009900"/>
            <a:ext cx="4267200" cy="4543425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audience-pill-1">
            <a:extLst>
              <a:ext uri="{FF2B5EF4-FFF2-40B4-BE49-F238E27FC236}">
                <a16:creationId xmlns:a16="http://schemas.microsoft.com/office/drawing/2014/main" id="{DC565623-691C-46E9-9B1E-CA335ADDE577}"/>
              </a:ext>
            </a:extLst>
          </p:cNvPr>
          <p:cNvSpPr>
            <a:spLocks noGrp="1"/>
          </p:cNvSpPr>
          <p:nvPr/>
        </p:nvSpPr>
        <p:spPr>
          <a:xfrm>
            <a:off x="5772150" y="3400425"/>
            <a:ext cx="36957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4EA2"/>
            </a:solidFill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buNone/>
              <a:def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지자체·운영기관</a:t>
            </a:r>
          </a:p>
        </p:txBody>
      </p:sp>
      <p:sp>
        <p:nvSpPr>
          <p:cNvPr id="23" name="chart-axis-y">
            <a:extLst>
              <a:ext uri="{FF2B5EF4-FFF2-40B4-BE49-F238E27FC236}">
                <a16:creationId xmlns:a16="http://schemas.microsoft.com/office/drawing/2014/main" id="{7BC05C05-C81F-412E-89E1-CED100991696}"/>
              </a:ext>
            </a:extLst>
          </p:cNvPr>
          <p:cNvSpPr>
            <a:spLocks noGrp="1"/>
          </p:cNvSpPr>
          <p:nvPr/>
        </p:nvSpPr>
        <p:spPr>
          <a:xfrm>
            <a:off x="7296150" y="4324350"/>
            <a:ext cx="0" cy="619125"/>
          </a:xfrm>
          <a:prstGeom prst="line">
            <a:avLst/>
          </a:prstGeom>
          <a:noFill/>
          <a:ln w="66675">
            <a:solidFill>
              <a:srgbClr val="00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chart-axis-x">
            <a:extLst>
              <a:ext uri="{FF2B5EF4-FFF2-40B4-BE49-F238E27FC236}">
                <a16:creationId xmlns:a16="http://schemas.microsoft.com/office/drawing/2014/main" id="{61020F3C-97B9-4268-B7BF-7AD67A2ED5AC}"/>
              </a:ext>
            </a:extLst>
          </p:cNvPr>
          <p:cNvSpPr>
            <a:spLocks noGrp="1"/>
          </p:cNvSpPr>
          <p:nvPr/>
        </p:nvSpPr>
        <p:spPr>
          <a:xfrm>
            <a:off x="7296150" y="4943475"/>
            <a:ext cx="619125" cy="0"/>
          </a:xfrm>
          <a:prstGeom prst="line">
            <a:avLst/>
          </a:prstGeom>
          <a:noFill/>
          <a:ln w="66675">
            <a:solidFill>
              <a:srgbClr val="00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chart-line-1">
            <a:extLst>
              <a:ext uri="{FF2B5EF4-FFF2-40B4-BE49-F238E27FC236}">
                <a16:creationId xmlns:a16="http://schemas.microsoft.com/office/drawing/2014/main" id="{08723FD7-E3D1-4282-9852-0985A2AB8D6D}"/>
              </a:ext>
            </a:extLst>
          </p:cNvPr>
          <p:cNvSpPr>
            <a:spLocks noGrp="1"/>
          </p:cNvSpPr>
          <p:nvPr/>
        </p:nvSpPr>
        <p:spPr>
          <a:xfrm>
            <a:off x="7410450" y="4581525"/>
            <a:ext cx="171450" cy="171450"/>
          </a:xfrm>
          <a:prstGeom prst="line">
            <a:avLst/>
          </a:prstGeom>
          <a:noFill/>
          <a:ln w="66675">
            <a:solidFill>
              <a:srgbClr val="00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chart-line-2">
            <a:extLst>
              <a:ext uri="{FF2B5EF4-FFF2-40B4-BE49-F238E27FC236}">
                <a16:creationId xmlns:a16="http://schemas.microsoft.com/office/drawing/2014/main" id="{230CBE43-A271-4E16-B3C4-DD8E5F64F313}"/>
              </a:ext>
            </a:extLst>
          </p:cNvPr>
          <p:cNvSpPr>
            <a:spLocks noGrp="1"/>
          </p:cNvSpPr>
          <p:nvPr/>
        </p:nvSpPr>
        <p:spPr>
          <a:xfrm>
            <a:off x="7581900" y="4581525"/>
            <a:ext cx="133350" cy="95250"/>
          </a:xfrm>
          <a:prstGeom prst="line">
            <a:avLst/>
          </a:prstGeom>
          <a:noFill/>
          <a:ln w="66675">
            <a:solidFill>
              <a:srgbClr val="00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chart-line-3">
            <a:extLst>
              <a:ext uri="{FF2B5EF4-FFF2-40B4-BE49-F238E27FC236}">
                <a16:creationId xmlns:a16="http://schemas.microsoft.com/office/drawing/2014/main" id="{EF6F49E2-474C-4546-81F0-7C2F57CCEFA7}"/>
              </a:ext>
            </a:extLst>
          </p:cNvPr>
          <p:cNvSpPr>
            <a:spLocks noGrp="1"/>
          </p:cNvSpPr>
          <p:nvPr/>
        </p:nvSpPr>
        <p:spPr>
          <a:xfrm>
            <a:off x="7715250" y="4448175"/>
            <a:ext cx="209550" cy="228600"/>
          </a:xfrm>
          <a:prstGeom prst="line">
            <a:avLst/>
          </a:prstGeom>
          <a:noFill/>
          <a:ln w="66675">
            <a:solidFill>
              <a:srgbClr val="00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analytics-glyph">
            <a:extLst>
              <a:ext uri="{FF2B5EF4-FFF2-40B4-BE49-F238E27FC236}">
                <a16:creationId xmlns:a16="http://schemas.microsoft.com/office/drawing/2014/main" id="{92D04C87-C25B-424C-86A1-D812A6924988}"/>
              </a:ext>
            </a:extLst>
          </p:cNvPr>
          <p:cNvSpPr>
            <a:spLocks noGrp="1"/>
          </p:cNvSpPr>
          <p:nvPr/>
        </p:nvSpPr>
        <p:spPr>
          <a:xfrm>
            <a:off x="6991350" y="5143500"/>
            <a:ext cx="1285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891" lnSpcReduction="20000"/>
          </a:bodyPr>
          <a:lstStyle/>
          <a:p>
            <a:pPr algn="ctr">
              <a:buNone/>
              <a:defRPr sz="2100" b="1" i="0">
                <a:solidFill>
                  <a:srgbClr val="00C1D4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100" b="1" i="0">
                <a:solidFill>
                  <a:srgbClr val="00C1D4"/>
                </a:solidFill>
                <a:latin typeface="Segoe UI Symbol"/>
                <a:ea typeface="Segoe UI Symbol"/>
                <a:cs typeface="Segoe UI Symbol"/>
              </a:rPr>
              <a:t>◔  ▮▮▮  ◉</a:t>
            </a:r>
          </a:p>
        </p:txBody>
      </p:sp>
      <p:sp>
        <p:nvSpPr>
          <p:cNvPr id="29" name="audience-body-1">
            <a:extLst>
              <a:ext uri="{FF2B5EF4-FFF2-40B4-BE49-F238E27FC236}">
                <a16:creationId xmlns:a16="http://schemas.microsoft.com/office/drawing/2014/main" id="{06949467-623E-4320-80B3-3600A7113895}"/>
              </a:ext>
            </a:extLst>
          </p:cNvPr>
          <p:cNvSpPr>
            <a:spLocks noGrp="1"/>
          </p:cNvSpPr>
          <p:nvPr/>
        </p:nvSpPr>
        <p:spPr>
          <a:xfrm>
            <a:off x="5772150" y="5924550"/>
            <a:ext cx="3695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참여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기준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운영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품질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예산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집행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월별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KPI와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중단·보완·확대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판단을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관리합니다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endParaRPr sz="1125" b="0" i="0" dirty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0" name="audience-divider-1">
            <a:extLst>
              <a:ext uri="{FF2B5EF4-FFF2-40B4-BE49-F238E27FC236}">
                <a16:creationId xmlns:a16="http://schemas.microsoft.com/office/drawing/2014/main" id="{70E4CE22-3136-4945-B6F8-3CBFD1AC55A2}"/>
              </a:ext>
            </a:extLst>
          </p:cNvPr>
          <p:cNvSpPr>
            <a:spLocks noGrp="1"/>
          </p:cNvSpPr>
          <p:nvPr/>
        </p:nvSpPr>
        <p:spPr>
          <a:xfrm>
            <a:off x="5772150" y="6486525"/>
            <a:ext cx="3695700" cy="0"/>
          </a:xfrm>
          <a:prstGeom prst="line">
            <a:avLst/>
          </a:prstGeom>
          <a:noFill/>
          <a:ln w="19050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audience-role-1">
            <a:extLst>
              <a:ext uri="{FF2B5EF4-FFF2-40B4-BE49-F238E27FC236}">
                <a16:creationId xmlns:a16="http://schemas.microsoft.com/office/drawing/2014/main" id="{91A14E64-F9D6-4991-AF2A-62B1E5720F1D}"/>
              </a:ext>
            </a:extLst>
          </p:cNvPr>
          <p:cNvSpPr>
            <a:spLocks noGrp="1"/>
          </p:cNvSpPr>
          <p:nvPr/>
        </p:nvSpPr>
        <p:spPr>
          <a:xfrm>
            <a:off x="5819775" y="6896100"/>
            <a:ext cx="3600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역할</a:t>
            </a:r>
            <a:r>
              <a:rPr sz="1050" b="1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sz="1050" b="1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기준</a:t>
            </a:r>
            <a:r>
              <a:rPr sz="1050" b="1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관리·성과</a:t>
            </a:r>
            <a:r>
              <a:rPr sz="1050" b="1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측정·의사결정</a:t>
            </a:r>
            <a:endParaRPr sz="1050" b="1" i="0" dirty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audience-card-2">
            <a:extLst>
              <a:ext uri="{FF2B5EF4-FFF2-40B4-BE49-F238E27FC236}">
                <a16:creationId xmlns:a16="http://schemas.microsoft.com/office/drawing/2014/main" id="{29361FBB-3A70-4672-AA0E-E8B8C32A80EE}"/>
              </a:ext>
            </a:extLst>
          </p:cNvPr>
          <p:cNvSpPr>
            <a:spLocks noGrp="1"/>
          </p:cNvSpPr>
          <p:nvPr/>
        </p:nvSpPr>
        <p:spPr>
          <a:xfrm>
            <a:off x="10153650" y="3009900"/>
            <a:ext cx="4267200" cy="4543425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audience-pill-2">
            <a:extLst>
              <a:ext uri="{FF2B5EF4-FFF2-40B4-BE49-F238E27FC236}">
                <a16:creationId xmlns:a16="http://schemas.microsoft.com/office/drawing/2014/main" id="{46094810-6C0A-47A8-AF7A-34677C9105B3}"/>
              </a:ext>
            </a:extLst>
          </p:cNvPr>
          <p:cNvSpPr>
            <a:spLocks noGrp="1"/>
          </p:cNvSpPr>
          <p:nvPr/>
        </p:nvSpPr>
        <p:spPr>
          <a:xfrm>
            <a:off x="10439400" y="3400425"/>
            <a:ext cx="36957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4EA2"/>
            </a:solidFill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buNone/>
              <a:def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관광·상권 사업자</a:t>
            </a:r>
          </a:p>
        </p:txBody>
      </p:sp>
      <p:sp>
        <p:nvSpPr>
          <p:cNvPr id="34" name="shop-awning">
            <a:extLst>
              <a:ext uri="{FF2B5EF4-FFF2-40B4-BE49-F238E27FC236}">
                <a16:creationId xmlns:a16="http://schemas.microsoft.com/office/drawing/2014/main" id="{1A230C18-23F0-44B6-BF58-277EF5E6D57D}"/>
              </a:ext>
            </a:extLst>
          </p:cNvPr>
          <p:cNvSpPr>
            <a:spLocks noGrp="1"/>
          </p:cNvSpPr>
          <p:nvPr/>
        </p:nvSpPr>
        <p:spPr>
          <a:xfrm>
            <a:off x="11915775" y="4305300"/>
            <a:ext cx="723900" cy="257175"/>
          </a:xfrm>
          <a:prstGeom prst="trapezoid">
            <a:avLst/>
          </a:prstGeom>
          <a:solidFill>
            <a:srgbClr val="004EA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op-body">
            <a:extLst>
              <a:ext uri="{FF2B5EF4-FFF2-40B4-BE49-F238E27FC236}">
                <a16:creationId xmlns:a16="http://schemas.microsoft.com/office/drawing/2014/main" id="{EC9954BC-2837-4E2B-97E1-965BE00B53CF}"/>
              </a:ext>
            </a:extLst>
          </p:cNvPr>
          <p:cNvSpPr>
            <a:spLocks noGrp="1"/>
          </p:cNvSpPr>
          <p:nvPr/>
        </p:nvSpPr>
        <p:spPr>
          <a:xfrm>
            <a:off x="12001500" y="4543425"/>
            <a:ext cx="552450" cy="457200"/>
          </a:xfrm>
          <a:prstGeom prst="rect">
            <a:avLst/>
          </a:prstGeom>
          <a:solidFill>
            <a:srgbClr val="004EA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op-window">
            <a:extLst>
              <a:ext uri="{FF2B5EF4-FFF2-40B4-BE49-F238E27FC236}">
                <a16:creationId xmlns:a16="http://schemas.microsoft.com/office/drawing/2014/main" id="{C901F025-7A82-452B-BD47-220A1A9E509C}"/>
              </a:ext>
            </a:extLst>
          </p:cNvPr>
          <p:cNvSpPr>
            <a:spLocks noGrp="1"/>
          </p:cNvSpPr>
          <p:nvPr/>
        </p:nvSpPr>
        <p:spPr>
          <a:xfrm>
            <a:off x="12096750" y="4667250"/>
            <a:ext cx="190500" cy="209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op-door">
            <a:extLst>
              <a:ext uri="{FF2B5EF4-FFF2-40B4-BE49-F238E27FC236}">
                <a16:creationId xmlns:a16="http://schemas.microsoft.com/office/drawing/2014/main" id="{A3738C6F-C4B4-4BE7-A59B-02A6837FEDB6}"/>
              </a:ext>
            </a:extLst>
          </p:cNvPr>
          <p:cNvSpPr>
            <a:spLocks noGrp="1"/>
          </p:cNvSpPr>
          <p:nvPr/>
        </p:nvSpPr>
        <p:spPr>
          <a:xfrm>
            <a:off x="12363450" y="4667250"/>
            <a:ext cx="1143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ops-glyph">
            <a:extLst>
              <a:ext uri="{FF2B5EF4-FFF2-40B4-BE49-F238E27FC236}">
                <a16:creationId xmlns:a16="http://schemas.microsoft.com/office/drawing/2014/main" id="{014F5A1E-6941-41E9-8FA6-F76272021789}"/>
              </a:ext>
            </a:extLst>
          </p:cNvPr>
          <p:cNvSpPr>
            <a:spLocks noGrp="1"/>
          </p:cNvSpPr>
          <p:nvPr/>
        </p:nvSpPr>
        <p:spPr>
          <a:xfrm>
            <a:off x="11649075" y="5143500"/>
            <a:ext cx="1285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 i="0">
                <a:solidFill>
                  <a:srgbClr val="00C1D4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025" b="1" i="0">
                <a:solidFill>
                  <a:srgbClr val="00C1D4"/>
                </a:solidFill>
                <a:latin typeface="Segoe UI Symbol"/>
                <a:ea typeface="Segoe UI Symbol"/>
                <a:cs typeface="Segoe UI Symbol"/>
              </a:rPr>
              <a:t>▰  ▦  ♜</a:t>
            </a:r>
          </a:p>
        </p:txBody>
      </p:sp>
      <p:sp>
        <p:nvSpPr>
          <p:cNvPr id="39" name="audience-body-2">
            <a:extLst>
              <a:ext uri="{FF2B5EF4-FFF2-40B4-BE49-F238E27FC236}">
                <a16:creationId xmlns:a16="http://schemas.microsoft.com/office/drawing/2014/main" id="{D9085674-740D-4428-BE90-51011B86DC1E}"/>
              </a:ext>
            </a:extLst>
          </p:cNvPr>
          <p:cNvSpPr>
            <a:spLocks noGrp="1"/>
          </p:cNvSpPr>
          <p:nvPr/>
        </p:nvSpPr>
        <p:spPr>
          <a:xfrm>
            <a:off x="10439400" y="5924550"/>
            <a:ext cx="3695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현장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상품과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혜택을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운영하고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정해진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항목으로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이용·결제·민원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데이터를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협력합니다</a:t>
            </a:r>
            <a:r>
              <a:rPr sz="1125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endParaRPr sz="1125" b="0" i="0" dirty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0" name="audience-divider-2">
            <a:extLst>
              <a:ext uri="{FF2B5EF4-FFF2-40B4-BE49-F238E27FC236}">
                <a16:creationId xmlns:a16="http://schemas.microsoft.com/office/drawing/2014/main" id="{5F839689-58C2-4B5A-B556-CA2230F29001}"/>
              </a:ext>
            </a:extLst>
          </p:cNvPr>
          <p:cNvSpPr>
            <a:spLocks noGrp="1"/>
          </p:cNvSpPr>
          <p:nvPr/>
        </p:nvSpPr>
        <p:spPr>
          <a:xfrm>
            <a:off x="10439400" y="6486525"/>
            <a:ext cx="3695700" cy="0"/>
          </a:xfrm>
          <a:prstGeom prst="line">
            <a:avLst/>
          </a:prstGeom>
          <a:noFill/>
          <a:ln w="19050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audience-role-2">
            <a:extLst>
              <a:ext uri="{FF2B5EF4-FFF2-40B4-BE49-F238E27FC236}">
                <a16:creationId xmlns:a16="http://schemas.microsoft.com/office/drawing/2014/main" id="{8FBFEBB1-BE5F-4E74-B007-0FC209D09D91}"/>
              </a:ext>
            </a:extLst>
          </p:cNvPr>
          <p:cNvSpPr>
            <a:spLocks noGrp="1"/>
          </p:cNvSpPr>
          <p:nvPr/>
        </p:nvSpPr>
        <p:spPr>
          <a:xfrm>
            <a:off x="10487025" y="6896100"/>
            <a:ext cx="3600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역할</a:t>
            </a:r>
            <a:r>
              <a:rPr sz="1050" b="1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sz="1050" b="1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현장</a:t>
            </a:r>
            <a:r>
              <a:rPr sz="1050" b="1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운영·데이터</a:t>
            </a:r>
            <a:r>
              <a:rPr sz="1050" b="1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협력</a:t>
            </a:r>
            <a:endParaRPr sz="1050" b="1" i="0" dirty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2" name="footer-left">
            <a:extLst>
              <a:ext uri="{FF2B5EF4-FFF2-40B4-BE49-F238E27FC236}">
                <a16:creationId xmlns:a16="http://schemas.microsoft.com/office/drawing/2014/main" id="{B6B55F73-A4FC-4C6B-A6F7-CB473AD9ACBE}"/>
              </a:ext>
            </a:extLst>
          </p:cNvPr>
          <p:cNvSpPr>
            <a:spLocks noGrp="1"/>
          </p:cNvSpPr>
          <p:nvPr/>
        </p:nvSpPr>
        <p:spPr>
          <a:xfrm>
            <a:off x="828675" y="79057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 algn="l">
              <a:buNone/>
              <a:defRPr sz="9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방문을 지역 소비로 연결하는 반나절 관광코스 시범사업 | 3~6개월 시범 운영</a:t>
            </a:r>
          </a:p>
        </p:txBody>
      </p:sp>
      <p:sp>
        <p:nvSpPr>
          <p:cNvPr id="43" name="footer-dot">
            <a:extLst>
              <a:ext uri="{FF2B5EF4-FFF2-40B4-BE49-F238E27FC236}">
                <a16:creationId xmlns:a16="http://schemas.microsoft.com/office/drawing/2014/main" id="{2E0AD546-7358-4632-9388-540C799CEBC7}"/>
              </a:ext>
            </a:extLst>
          </p:cNvPr>
          <p:cNvSpPr>
            <a:spLocks noGrp="1"/>
          </p:cNvSpPr>
          <p:nvPr/>
        </p:nvSpPr>
        <p:spPr>
          <a:xfrm>
            <a:off x="12172950" y="79343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6B0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footer-right">
            <a:extLst>
              <a:ext uri="{FF2B5EF4-FFF2-40B4-BE49-F238E27FC236}">
                <a16:creationId xmlns:a16="http://schemas.microsoft.com/office/drawing/2014/main" id="{BDCC740E-CF60-41B1-8EC6-8777B7B9A678}"/>
              </a:ext>
            </a:extLst>
          </p:cNvPr>
          <p:cNvSpPr>
            <a:spLocks noGrp="1"/>
          </p:cNvSpPr>
          <p:nvPr/>
        </p:nvSpPr>
        <p:spPr>
          <a:xfrm>
            <a:off x="12382500" y="7839075"/>
            <a:ext cx="2333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Evidence-Driven Tourism Plan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visitor-photo"/>
          <p:cNvPicPr>
            <a:picLocks noChangeAspect="1"/>
          </p:cNvPicPr>
          <p:nvPr/>
        </p:nvPicPr>
        <p:blipFill>
          <a:blip r:embed="rId3"/>
          <a:srcRect l="31390" r="31390"/>
          <a:stretch>
            <a:fillRect/>
          </a:stretch>
        </p:blipFill>
        <p:spPr>
          <a:xfrm>
            <a:off x="0" y="0"/>
            <a:ext cx="4791075" cy="85725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043173D-B090-48BB-AB55-94D36611B7FE}"/>
              </a:ext>
            </a:extLst>
          </p:cNvPr>
          <p:cNvSpPr>
            <a:spLocks noGrp="1"/>
          </p:cNvSpPr>
          <p:nvPr/>
        </p:nvSpPr>
        <p:spPr>
          <a:xfrm>
            <a:off x="5343525" y="876300"/>
            <a:ext cx="80962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4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4425" b="1" i="0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핵심</a:t>
            </a:r>
            <a:r>
              <a:rPr sz="4425" b="1" i="0" dirty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4425" b="1" i="0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사업</a:t>
            </a:r>
            <a:r>
              <a:rPr sz="4425" b="1" i="0" dirty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4425" b="1" i="0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구성</a:t>
            </a:r>
            <a:r>
              <a:rPr sz="4425" b="1" i="0" dirty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 7가지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noGrp="1"/>
          </p:cNvSpPr>
          <p:nvPr/>
        </p:nvSpPr>
        <p:spPr>
          <a:xfrm>
            <a:off x="4772025" y="2152650"/>
            <a:ext cx="10439400" cy="0"/>
          </a:xfrm>
          <a:prstGeom prst="line">
            <a:avLst/>
          </a:prstGeom>
          <a:noFill/>
          <a:ln w="38100">
            <a:solidFill>
              <a:srgbClr val="00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function-row-0">
            <a:extLst>
              <a:ext uri="{FF2B5EF4-FFF2-40B4-BE49-F238E27FC236}">
                <a16:creationId xmlns:a16="http://schemas.microsoft.com/office/drawing/2014/main" id="{7B6C9409-216D-4533-A16A-BD14C38229A1}"/>
              </a:ext>
            </a:extLst>
          </p:cNvPr>
          <p:cNvSpPr>
            <a:spLocks noGrp="1"/>
          </p:cNvSpPr>
          <p:nvPr/>
        </p:nvSpPr>
        <p:spPr>
          <a:xfrm>
            <a:off x="5353050" y="2952750"/>
            <a:ext cx="9286875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5" name="function-num-0">
            <a:extLst>
              <a:ext uri="{FF2B5EF4-FFF2-40B4-BE49-F238E27FC236}">
                <a16:creationId xmlns:a16="http://schemas.microsoft.com/office/drawing/2014/main" id="{59F90C01-6EE1-4308-9E69-1C14CF793D36}"/>
              </a:ext>
            </a:extLst>
          </p:cNvPr>
          <p:cNvSpPr>
            <a:spLocks noGrp="1"/>
          </p:cNvSpPr>
          <p:nvPr/>
        </p:nvSpPr>
        <p:spPr>
          <a:xfrm>
            <a:off x="5657850" y="3133725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function-label-0">
            <a:extLst>
              <a:ext uri="{FF2B5EF4-FFF2-40B4-BE49-F238E27FC236}">
                <a16:creationId xmlns:a16="http://schemas.microsoft.com/office/drawing/2014/main" id="{59B04FF2-686E-4CDB-97B4-68362BD49A83}"/>
              </a:ext>
            </a:extLst>
          </p:cNvPr>
          <p:cNvSpPr>
            <a:spLocks noGrp="1"/>
          </p:cNvSpPr>
          <p:nvPr/>
        </p:nvSpPr>
        <p:spPr>
          <a:xfrm>
            <a:off x="6153150" y="3114675"/>
            <a:ext cx="809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최근</a:t>
            </a:r>
            <a:r>
              <a:rPr sz="15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12개월 </a:t>
            </a:r>
            <a:r>
              <a:rPr sz="15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방문·소비·검색</a:t>
            </a:r>
            <a:r>
              <a:rPr sz="15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자료에서</a:t>
            </a:r>
            <a:r>
              <a:rPr sz="15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후보</a:t>
            </a:r>
            <a:r>
              <a:rPr sz="15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권역</a:t>
            </a:r>
            <a:r>
              <a:rPr sz="15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1곳 </a:t>
            </a:r>
            <a:r>
              <a:rPr sz="15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선정</a:t>
            </a:r>
            <a:r>
              <a:rPr sz="15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sz="15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후보</a:t>
            </a:r>
            <a:r>
              <a:rPr sz="15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권역</a:t>
            </a:r>
            <a:r>
              <a:rPr sz="15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선정표</a:t>
            </a:r>
            <a:endParaRPr sz="1500" b="0" i="0" dirty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" name="function-row-1">
            <a:extLst>
              <a:ext uri="{FF2B5EF4-FFF2-40B4-BE49-F238E27FC236}">
                <a16:creationId xmlns:a16="http://schemas.microsoft.com/office/drawing/2014/main" id="{87DC414D-ECE6-4C3C-AC98-7CBE645D91E7}"/>
              </a:ext>
            </a:extLst>
          </p:cNvPr>
          <p:cNvSpPr>
            <a:spLocks noGrp="1"/>
          </p:cNvSpPr>
          <p:nvPr/>
        </p:nvSpPr>
        <p:spPr>
          <a:xfrm>
            <a:off x="5353050" y="3781425"/>
            <a:ext cx="9286875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8" name="function-num-1">
            <a:extLst>
              <a:ext uri="{FF2B5EF4-FFF2-40B4-BE49-F238E27FC236}">
                <a16:creationId xmlns:a16="http://schemas.microsoft.com/office/drawing/2014/main" id="{B950D475-93ED-4E09-BAAB-70D31FB00E36}"/>
              </a:ext>
            </a:extLst>
          </p:cNvPr>
          <p:cNvSpPr>
            <a:spLocks noGrp="1"/>
          </p:cNvSpPr>
          <p:nvPr/>
        </p:nvSpPr>
        <p:spPr>
          <a:xfrm>
            <a:off x="5657850" y="3962400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9" name="function-label-1">
            <a:extLst>
              <a:ext uri="{FF2B5EF4-FFF2-40B4-BE49-F238E27FC236}">
                <a16:creationId xmlns:a16="http://schemas.microsoft.com/office/drawing/2014/main" id="{1CF2D37F-5A3B-472D-9F2D-B4B9DE57376C}"/>
              </a:ext>
            </a:extLst>
          </p:cNvPr>
          <p:cNvSpPr>
            <a:spLocks noGrp="1"/>
          </p:cNvSpPr>
          <p:nvPr/>
        </p:nvSpPr>
        <p:spPr>
          <a:xfrm>
            <a:off x="6153150" y="3943350"/>
            <a:ext cx="809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식음료업·쇼핑업 참여 업소와 관광 지점을 연결한 도보·대중교통 동선 설계: 시범코스 지도와 참여 기준</a:t>
            </a:r>
          </a:p>
        </p:txBody>
      </p:sp>
      <p:sp>
        <p:nvSpPr>
          <p:cNvPr id="10" name="function-row-2">
            <a:extLst>
              <a:ext uri="{FF2B5EF4-FFF2-40B4-BE49-F238E27FC236}">
                <a16:creationId xmlns:a16="http://schemas.microsoft.com/office/drawing/2014/main" id="{7807D172-B241-44ED-A7C7-009E8E146892}"/>
              </a:ext>
            </a:extLst>
          </p:cNvPr>
          <p:cNvSpPr>
            <a:spLocks noGrp="1"/>
          </p:cNvSpPr>
          <p:nvPr/>
        </p:nvSpPr>
        <p:spPr>
          <a:xfrm>
            <a:off x="5353050" y="4610100"/>
            <a:ext cx="9286875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1" name="function-num-2">
            <a:extLst>
              <a:ext uri="{FF2B5EF4-FFF2-40B4-BE49-F238E27FC236}">
                <a16:creationId xmlns:a16="http://schemas.microsoft.com/office/drawing/2014/main" id="{95CDBEC0-0A20-42D7-9C62-60278FBD945E}"/>
              </a:ext>
            </a:extLst>
          </p:cNvPr>
          <p:cNvSpPr>
            <a:spLocks noGrp="1"/>
          </p:cNvSpPr>
          <p:nvPr/>
        </p:nvSpPr>
        <p:spPr>
          <a:xfrm>
            <a:off x="5657850" y="4791075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2" name="function-label-2">
            <a:extLst>
              <a:ext uri="{FF2B5EF4-FFF2-40B4-BE49-F238E27FC236}">
                <a16:creationId xmlns:a16="http://schemas.microsoft.com/office/drawing/2014/main" id="{213C0466-2B03-4917-A50A-089BF27EB9FE}"/>
              </a:ext>
            </a:extLst>
          </p:cNvPr>
          <p:cNvSpPr>
            <a:spLocks noGrp="1"/>
          </p:cNvSpPr>
          <p:nvPr/>
        </p:nvSpPr>
        <p:spPr>
          <a:xfrm>
            <a:off x="6153150" y="4772025"/>
            <a:ext cx="809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모바일</a:t>
            </a:r>
            <a:r>
              <a:rPr sz="15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안내</a:t>
            </a:r>
            <a:r>
              <a:rPr sz="15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페이지와</a:t>
            </a:r>
            <a:r>
              <a:rPr sz="15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공통</a:t>
            </a:r>
            <a:r>
              <a:rPr sz="15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혜택을</a:t>
            </a:r>
            <a:r>
              <a:rPr sz="15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준비하고</a:t>
            </a:r>
            <a:r>
              <a:rPr sz="15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참여</a:t>
            </a:r>
            <a:r>
              <a:rPr sz="15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업소</a:t>
            </a:r>
            <a:r>
              <a:rPr sz="15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운영</a:t>
            </a:r>
            <a:r>
              <a:rPr sz="15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교육</a:t>
            </a:r>
            <a:r>
              <a:rPr sz="15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sz="15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안내</a:t>
            </a:r>
            <a:r>
              <a:rPr sz="15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페이지와</a:t>
            </a:r>
            <a:r>
              <a:rPr sz="15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운영</a:t>
            </a:r>
            <a:r>
              <a:rPr sz="15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매뉴얼</a:t>
            </a:r>
            <a:endParaRPr sz="1500" b="0" i="0" dirty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bottom-band">
            <a:extLst>
              <a:ext uri="{FF2B5EF4-FFF2-40B4-BE49-F238E27FC236}">
                <a16:creationId xmlns:a16="http://schemas.microsoft.com/office/drawing/2014/main" id="{E6A48815-B570-4052-BC4D-DFB3B9328DEF}"/>
              </a:ext>
            </a:extLst>
          </p:cNvPr>
          <p:cNvSpPr>
            <a:spLocks noGrp="1"/>
          </p:cNvSpPr>
          <p:nvPr/>
        </p:nvSpPr>
        <p:spPr>
          <a:xfrm>
            <a:off x="4772025" y="5981700"/>
            <a:ext cx="10439400" cy="2590800"/>
          </a:xfrm>
          <a:prstGeom prst="rect">
            <a:avLst/>
          </a:prstGeom>
          <a:solidFill>
            <a:srgbClr val="F6F8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nalysis-tag">
            <a:extLst>
              <a:ext uri="{FF2B5EF4-FFF2-40B4-BE49-F238E27FC236}">
                <a16:creationId xmlns:a16="http://schemas.microsoft.com/office/drawing/2014/main" id="{3C07D6D4-F760-4934-9476-D249F16D0E00}"/>
              </a:ext>
            </a:extLst>
          </p:cNvPr>
          <p:cNvSpPr>
            <a:spLocks noGrp="1"/>
          </p:cNvSpPr>
          <p:nvPr/>
        </p:nvSpPr>
        <p:spPr>
          <a:xfrm>
            <a:off x="5353050" y="6562725"/>
            <a:ext cx="2514600" cy="3619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C1D4"/>
            </a:solidFill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buNone/>
              <a:defRPr sz="1125" b="1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P I L O T   &amp;   M E A S U R E</a:t>
            </a:r>
          </a:p>
        </p:txBody>
      </p:sp>
      <p:sp>
        <p:nvSpPr>
          <p:cNvPr id="15" name="function-more-left">
            <a:extLst>
              <a:ext uri="{FF2B5EF4-FFF2-40B4-BE49-F238E27FC236}">
                <a16:creationId xmlns:a16="http://schemas.microsoft.com/office/drawing/2014/main" id="{DD434EF7-4F27-45E8-9F47-203D79366D53}"/>
              </a:ext>
            </a:extLst>
          </p:cNvPr>
          <p:cNvSpPr>
            <a:spLocks noGrp="1"/>
          </p:cNvSpPr>
          <p:nvPr/>
        </p:nvSpPr>
        <p:spPr>
          <a:xfrm>
            <a:off x="5353050" y="7200900"/>
            <a:ext cx="469582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④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주말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중심으로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시범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운영하고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이용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건수·업종별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소비·체류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반응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기록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: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월간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운영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결과표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⑤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운영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전후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달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지표를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비교해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유지·수정·확대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결정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: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성과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비교표와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다음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운영안</a:t>
            </a:r>
            <a:endParaRPr sz="1275" b="0" i="0" dirty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endParaRPr sz="1275" b="0" i="0" dirty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endParaRPr sz="1275" b="0" i="0" dirty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function-more-right">
            <a:extLst>
              <a:ext uri="{FF2B5EF4-FFF2-40B4-BE49-F238E27FC236}">
                <a16:creationId xmlns:a16="http://schemas.microsoft.com/office/drawing/2014/main" id="{530C62B0-A84F-4A05-AE1D-6E4EA9320AFF}"/>
              </a:ext>
            </a:extLst>
          </p:cNvPr>
          <p:cNvSpPr>
            <a:spLocks noGrp="1"/>
          </p:cNvSpPr>
          <p:nvPr/>
        </p:nvSpPr>
        <p:spPr>
          <a:xfrm>
            <a:off x="10182225" y="7200900"/>
            <a:ext cx="485775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⑥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성과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측정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: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코스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이용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건수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,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참여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업소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결제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건수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,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외지인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관광소비액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,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숙박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비율을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운영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전후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기준으로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확인합니다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.  ⑦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예산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확정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: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안내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페이지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,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홍보물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,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참여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업소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운영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지원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,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성과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측정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항목별로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수량을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정한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뒤  2개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이상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비교견적으로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산정합니다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endParaRPr sz="1275" b="0" i="0" dirty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endParaRPr sz="1275" b="0" i="0" dirty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yebrow">
            <a:extLst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noGrp="1"/>
          </p:cNvSpPr>
          <p:nvPr/>
        </p:nvSpPr>
        <p:spPr>
          <a:xfrm>
            <a:off x="914400" y="742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T H R E E - M O N T H   P I L O T   P L A 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noGrp="1"/>
          </p:cNvSpPr>
          <p:nvPr/>
        </p:nvSpPr>
        <p:spPr>
          <a:xfrm>
            <a:off x="914400" y="1019175"/>
            <a:ext cx="8096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675">
                <a:latin typeface="Noto Sans KR"/>
                <a:ea typeface="Noto Sans KR"/>
                <a:cs typeface="Noto Sans KR"/>
              </a:defRPr>
            </a:pPr>
            <a:r>
              <a:rPr sz="3675" b="1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3~6개월 </a:t>
            </a:r>
            <a:r>
              <a:rPr sz="3675" b="1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시범</a:t>
            </a:r>
            <a:r>
              <a:rPr sz="3675" b="1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675" b="1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운영</a:t>
            </a:r>
            <a:r>
              <a:rPr sz="3675" b="1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675" b="1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실행</a:t>
            </a:r>
            <a:r>
              <a:rPr sz="3675" b="1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675" b="1" dirty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Flow 및 </a:t>
            </a:r>
            <a:r>
              <a:rPr sz="3675" b="1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산출물</a:t>
            </a:r>
            <a:endParaRPr sz="3675" b="1" dirty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noGrp="1"/>
          </p:cNvSpPr>
          <p:nvPr/>
        </p:nvSpPr>
        <p:spPr>
          <a:xfrm>
            <a:off x="914400" y="1724025"/>
            <a:ext cx="13335000" cy="0"/>
          </a:xfrm>
          <a:prstGeom prst="line">
            <a:avLst/>
          </a:prstGeom>
          <a:noFill/>
          <a:ln w="19050">
            <a:solidFill>
              <a:srgbClr val="6E74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tep-0-rule">
            <a:extLst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noGrp="1"/>
          </p:cNvSpPr>
          <p:nvPr/>
        </p:nvSpPr>
        <p:spPr>
          <a:xfrm>
            <a:off x="1038225" y="2486025"/>
            <a:ext cx="3038475" cy="0"/>
          </a:xfrm>
          <a:prstGeom prst="line">
            <a:avLst/>
          </a:prstGeom>
          <a:noFill/>
          <a:ln w="19050">
            <a:solidFill>
              <a:srgbClr val="00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tep-0-label">
            <a:extLst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noGrp="1"/>
          </p:cNvSpPr>
          <p:nvPr/>
        </p:nvSpPr>
        <p:spPr>
          <a:xfrm>
            <a:off x="1038225" y="28479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01 · 1~2주</a:t>
            </a:r>
          </a:p>
        </p:txBody>
      </p:sp>
      <p:sp>
        <p:nvSpPr>
          <p:cNvPr id="6" name="step-0-title">
            <a:extLst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noGrp="1"/>
          </p:cNvSpPr>
          <p:nvPr/>
        </p:nvSpPr>
        <p:spPr>
          <a:xfrm>
            <a:off x="1038225" y="3248025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500" lnSpcReduction="20000"/>
          </a:bodyPr>
          <a:lstStyle/>
          <a:p>
            <a:pPr algn="l">
              <a:buNone/>
              <a:def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최근 12개월 방문·소비·검색 자료에서 후보 권역 1곳…</a:t>
            </a:r>
          </a:p>
        </p:txBody>
      </p:sp>
      <p:sp>
        <p:nvSpPr>
          <p:cNvPr id="7" name="step-0-body">
            <a:extLst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noGrp="1"/>
          </p:cNvSpPr>
          <p:nvPr/>
        </p:nvSpPr>
        <p:spPr>
          <a:xfrm>
            <a:off x="1038225" y="3705225"/>
            <a:ext cx="3048000" cy="1114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최근 12개월 방문·소비·검색 자료에서 후보 권역 1곳 선정</a:t>
            </a:r>
          </a:p>
          <a:p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산출물: 후보 권역 선정표</a:t>
            </a:r>
          </a:p>
        </p:txBody>
      </p:sp>
      <p:sp>
        <p:nvSpPr>
          <p:cNvPr id="8" name="step-1-rule">
            <a:extLst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noGrp="1"/>
          </p:cNvSpPr>
          <p:nvPr/>
        </p:nvSpPr>
        <p:spPr>
          <a:xfrm>
            <a:off x="4429125" y="2486025"/>
            <a:ext cx="3038475" cy="0"/>
          </a:xfrm>
          <a:prstGeom prst="line">
            <a:avLst/>
          </a:prstGeom>
          <a:noFill/>
          <a:ln w="19050">
            <a:solidFill>
              <a:srgbClr val="00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tep-1-label">
            <a:extLst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noGrp="1"/>
          </p:cNvSpPr>
          <p:nvPr/>
        </p:nvSpPr>
        <p:spPr>
          <a:xfrm>
            <a:off x="4429125" y="28479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02 · 3~4주</a:t>
            </a:r>
          </a:p>
        </p:txBody>
      </p:sp>
      <p:sp>
        <p:nvSpPr>
          <p:cNvPr id="10" name="step-1-title">
            <a:extLst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noGrp="1"/>
          </p:cNvSpPr>
          <p:nvPr/>
        </p:nvSpPr>
        <p:spPr>
          <a:xfrm>
            <a:off x="4429125" y="3248025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500" lnSpcReduction="20000"/>
          </a:bodyPr>
          <a:lstStyle/>
          <a:p>
            <a:pPr algn="l">
              <a:buNone/>
              <a:def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식음료업·쇼핑업 참여 업소와 관광 지점을 연결한…</a:t>
            </a:r>
          </a:p>
        </p:txBody>
      </p:sp>
      <p:sp>
        <p:nvSpPr>
          <p:cNvPr id="11" name="step-1-body">
            <a:extLst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noGrp="1"/>
          </p:cNvSpPr>
          <p:nvPr/>
        </p:nvSpPr>
        <p:spPr>
          <a:xfrm>
            <a:off x="4429125" y="3705225"/>
            <a:ext cx="3048000" cy="1114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식음료업·쇼핑업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참여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업소와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관광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연결한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도보·대중교통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동선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설계</a:t>
            </a:r>
            <a:endParaRPr sz="1200" b="0" i="0" dirty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산출물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시범코스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지도와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참여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기준</a:t>
            </a:r>
            <a:endParaRPr sz="1200" b="0" i="0" dirty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step-2-rule">
            <a:extLst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noGrp="1"/>
          </p:cNvSpPr>
          <p:nvPr/>
        </p:nvSpPr>
        <p:spPr>
          <a:xfrm>
            <a:off x="7820025" y="2486025"/>
            <a:ext cx="3038475" cy="0"/>
          </a:xfrm>
          <a:prstGeom prst="line">
            <a:avLst/>
          </a:prstGeom>
          <a:noFill/>
          <a:ln w="19050">
            <a:solidFill>
              <a:srgbClr val="00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tep-2-label">
            <a:extLst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noGrp="1"/>
          </p:cNvSpPr>
          <p:nvPr/>
        </p:nvSpPr>
        <p:spPr>
          <a:xfrm>
            <a:off x="7820025" y="28479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03 · 2개월차</a:t>
            </a:r>
          </a:p>
        </p:txBody>
      </p:sp>
      <p:sp>
        <p:nvSpPr>
          <p:cNvPr id="14" name="step-2-title">
            <a:extLst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noGrp="1"/>
          </p:cNvSpPr>
          <p:nvPr/>
        </p:nvSpPr>
        <p:spPr>
          <a:xfrm>
            <a:off x="7820025" y="3248025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500" lnSpcReduction="20000"/>
          </a:bodyPr>
          <a:lstStyle/>
          <a:p>
            <a:pPr algn="l">
              <a:buNone/>
              <a:def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모바일 안내 페이지와 공통 혜택을 준비하고 참여 업소…</a:t>
            </a:r>
          </a:p>
        </p:txBody>
      </p:sp>
      <p:sp>
        <p:nvSpPr>
          <p:cNvPr id="15" name="step-2-body">
            <a:extLst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noGrp="1"/>
          </p:cNvSpPr>
          <p:nvPr/>
        </p:nvSpPr>
        <p:spPr>
          <a:xfrm>
            <a:off x="7820025" y="3705225"/>
            <a:ext cx="3048000" cy="1114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모바일 안내 페이지와 공통 혜택을 준비하고 참여 업소 운영 교육</a:t>
            </a:r>
          </a:p>
          <a:p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산출물: 안내 페이지와 운영 매뉴얼</a:t>
            </a:r>
          </a:p>
        </p:txBody>
      </p:sp>
      <p:sp>
        <p:nvSpPr>
          <p:cNvPr id="16" name="step-3-rule">
            <a:extLst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noGrp="1"/>
          </p:cNvSpPr>
          <p:nvPr/>
        </p:nvSpPr>
        <p:spPr>
          <a:xfrm>
            <a:off x="11210925" y="2486025"/>
            <a:ext cx="3038475" cy="0"/>
          </a:xfrm>
          <a:prstGeom prst="line">
            <a:avLst/>
          </a:prstGeom>
          <a:noFill/>
          <a:ln w="19050">
            <a:solidFill>
              <a:srgbClr val="00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tep-3-label">
            <a:extLst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noGrp="1"/>
          </p:cNvSpPr>
          <p:nvPr/>
        </p:nvSpPr>
        <p:spPr>
          <a:xfrm>
            <a:off x="11210925" y="28479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04 · 3~4개월차</a:t>
            </a:r>
          </a:p>
        </p:txBody>
      </p:sp>
      <p:sp>
        <p:nvSpPr>
          <p:cNvPr id="18" name="step-3-title">
            <a:extLst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noGrp="1"/>
          </p:cNvSpPr>
          <p:nvPr/>
        </p:nvSpPr>
        <p:spPr>
          <a:xfrm>
            <a:off x="11210925" y="3248025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500" lnSpcReduction="20000"/>
          </a:bodyPr>
          <a:lstStyle/>
          <a:p>
            <a:pPr algn="l">
              <a:buNone/>
              <a:def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주말 중심으로 시범 운영하고 이용 건수·업종별 소비·체류…</a:t>
            </a:r>
          </a:p>
        </p:txBody>
      </p:sp>
      <p:sp>
        <p:nvSpPr>
          <p:cNvPr id="19" name="step-3-body">
            <a:extLst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noGrp="1"/>
          </p:cNvSpPr>
          <p:nvPr/>
        </p:nvSpPr>
        <p:spPr>
          <a:xfrm>
            <a:off x="11210925" y="3705225"/>
            <a:ext cx="3048000" cy="1114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주말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중심으로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시범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운영하고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이용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건수·업종별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소비·체류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반응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기록</a:t>
            </a:r>
            <a:endParaRPr sz="1200" b="0" i="0" dirty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산출물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월간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운영</a:t>
            </a:r>
            <a:r>
              <a:rPr sz="120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결과표</a:t>
            </a:r>
            <a:endParaRPr sz="1200" b="0" i="0" dirty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value-panel">
            <a:extLst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noGrp="1"/>
          </p:cNvSpPr>
          <p:nvPr/>
        </p:nvSpPr>
        <p:spPr>
          <a:xfrm>
            <a:off x="1019175" y="5476875"/>
            <a:ext cx="13201650" cy="23526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value-panel-rail">
            <a:extLst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noGrp="1"/>
          </p:cNvSpPr>
          <p:nvPr/>
        </p:nvSpPr>
        <p:spPr>
          <a:xfrm>
            <a:off x="1019175" y="5476875"/>
            <a:ext cx="0" cy="2352675"/>
          </a:xfrm>
          <a:prstGeom prst="line">
            <a:avLst/>
          </a:prstGeom>
          <a:noFill/>
          <a:ln w="47625">
            <a:solidFill>
              <a:srgbClr val="00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value-title">
            <a:extLst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noGrp="1"/>
          </p:cNvSpPr>
          <p:nvPr/>
        </p:nvSpPr>
        <p:spPr>
          <a:xfrm>
            <a:off x="1543050" y="6000750"/>
            <a:ext cx="4819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05 · 5~6개월차</a:t>
            </a:r>
          </a:p>
        </p:txBody>
      </p:sp>
      <p:sp>
        <p:nvSpPr>
          <p:cNvPr id="23" name="value-body">
            <a:extLst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noGrp="1"/>
          </p:cNvSpPr>
          <p:nvPr/>
        </p:nvSpPr>
        <p:spPr>
          <a:xfrm>
            <a:off x="1543050" y="6457950"/>
            <a:ext cx="122015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운영 전후 같은 달 지표를 비교해 유지·수정·확대 결정</a:t>
            </a:r>
          </a:p>
          <a:p>
            <a:pPr algn="l">
              <a:lnSpc>
                <a:spcPct val="13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산출물: 성과 비교표와 다음 운영안. 목표 달성 여부뿐 아니라 비용·이탈·현장 운영 가능성을 함께 보고 중단·보완·확대를 결정합니다.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yebrow">
            <a:extLst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noGrp="1"/>
          </p:cNvSpPr>
          <p:nvPr/>
        </p:nvSpPr>
        <p:spPr>
          <a:xfrm>
            <a:off x="1028700" y="676275"/>
            <a:ext cx="4486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P E E R   C O M P A R I S O N   &amp;   D E C I S I O 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noGrp="1"/>
          </p:cNvSpPr>
          <p:nvPr/>
        </p:nvSpPr>
        <p:spPr>
          <a:xfrm>
            <a:off x="1028700" y="1114425"/>
            <a:ext cx="78771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600">
                <a:latin typeface="Noto Sans KR"/>
                <a:ea typeface="Noto Sans KR"/>
                <a:cs typeface="Noto Sans KR"/>
              </a:defRPr>
            </a:pPr>
            <a:r>
              <a:rPr sz="3600" b="1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유사</a:t>
            </a:r>
            <a:r>
              <a:rPr sz="3600" b="1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600" b="1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지역</a:t>
            </a:r>
            <a:r>
              <a:rPr sz="3600" b="1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600" b="1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비교가</a:t>
            </a:r>
            <a:r>
              <a:rPr sz="3600" b="1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600" b="1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가리키는</a:t>
            </a:r>
            <a:r>
              <a:rPr sz="3600" b="1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600" b="1" dirty="0" err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전략</a:t>
            </a:r>
            <a:endParaRPr sz="3600" b="1" dirty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1E468CD8-9AB7-4607-A79D-2796B31DAEC3}"/>
              </a:ext>
            </a:extLst>
          </p:cNvPr>
          <p:cNvSpPr>
            <a:spLocks noGrp="1"/>
          </p:cNvSpPr>
          <p:nvPr/>
        </p:nvSpPr>
        <p:spPr>
          <a:xfrm>
            <a:off x="1028700" y="2085975"/>
            <a:ext cx="13068300" cy="0"/>
          </a:xfrm>
          <a:prstGeom prst="line">
            <a:avLst/>
          </a:prstGeom>
          <a:noFill/>
          <a:ln w="19050">
            <a:solidFill>
              <a:srgbClr val="00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grid">
            <a:extLst>
              <a:ext uri="{FF2B5EF4-FFF2-40B4-BE49-F238E27FC236}">
                <a16:creationId xmlns:a16="http://schemas.microsoft.com/office/drawing/2014/main" id="{82EDB80F-7AEA-4B4C-9FC2-33090AC4387F}"/>
              </a:ext>
            </a:extLst>
          </p:cNvPr>
          <p:cNvSpPr>
            <a:spLocks noGrp="1"/>
          </p:cNvSpPr>
          <p:nvPr/>
        </p:nvSpPr>
        <p:spPr>
          <a:xfrm>
            <a:off x="1028700" y="2781300"/>
            <a:ext cx="13058775" cy="5257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grid-v">
            <a:extLst>
              <a:ext uri="{FF2B5EF4-FFF2-40B4-BE49-F238E27FC236}">
                <a16:creationId xmlns:a16="http://schemas.microsoft.com/office/drawing/2014/main" id="{8111BC7A-2C75-4CBD-AB98-B0DC44AC9012}"/>
              </a:ext>
            </a:extLst>
          </p:cNvPr>
          <p:cNvSpPr>
            <a:spLocks noGrp="1"/>
          </p:cNvSpPr>
          <p:nvPr/>
        </p:nvSpPr>
        <p:spPr>
          <a:xfrm>
            <a:off x="7553325" y="2781300"/>
            <a:ext cx="0" cy="5257800"/>
          </a:xfrm>
          <a:prstGeom prst="line">
            <a:avLst/>
          </a:prstGeom>
          <a:noFill/>
          <a:ln w="19050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grid-h">
            <a:extLst>
              <a:ext uri="{FF2B5EF4-FFF2-40B4-BE49-F238E27FC236}">
                <a16:creationId xmlns:a16="http://schemas.microsoft.com/office/drawing/2014/main" id="{28241900-71DE-48EC-A279-4E2A6684FA1F}"/>
              </a:ext>
            </a:extLst>
          </p:cNvPr>
          <p:cNvSpPr>
            <a:spLocks noGrp="1"/>
          </p:cNvSpPr>
          <p:nvPr/>
        </p:nvSpPr>
        <p:spPr>
          <a:xfrm>
            <a:off x="1028700" y="5400675"/>
            <a:ext cx="13058775" cy="0"/>
          </a:xfrm>
          <a:prstGeom prst="line">
            <a:avLst/>
          </a:prstGeom>
          <a:noFill/>
          <a:ln w="19050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ff-num-0">
            <a:extLst>
              <a:ext uri="{FF2B5EF4-FFF2-40B4-BE49-F238E27FC236}">
                <a16:creationId xmlns:a16="http://schemas.microsoft.com/office/drawing/2014/main" id="{5B179CE8-6329-4234-8846-DA66D254F96C}"/>
              </a:ext>
            </a:extLst>
          </p:cNvPr>
          <p:cNvSpPr>
            <a:spLocks noGrp="1"/>
          </p:cNvSpPr>
          <p:nvPr/>
        </p:nvSpPr>
        <p:spPr>
          <a:xfrm>
            <a:off x="1028700" y="2867025"/>
            <a:ext cx="5429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diff-title-0">
            <a:extLst>
              <a:ext uri="{FF2B5EF4-FFF2-40B4-BE49-F238E27FC236}">
                <a16:creationId xmlns:a16="http://schemas.microsoft.com/office/drawing/2014/main" id="{3FC5221D-E74B-4DAB-9F37-4393399BA81A}"/>
              </a:ext>
            </a:extLst>
          </p:cNvPr>
          <p:cNvSpPr>
            <a:spLocks noGrp="1"/>
          </p:cNvSpPr>
          <p:nvPr/>
        </p:nvSpPr>
        <p:spPr>
          <a:xfrm>
            <a:off x="1647825" y="2886075"/>
            <a:ext cx="53625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월간 순 방문자 수</a:t>
            </a:r>
          </a:p>
        </p:txBody>
      </p:sp>
      <p:sp>
        <p:nvSpPr>
          <p:cNvPr id="9" name="diff-body-0">
            <a:extLst>
              <a:ext uri="{FF2B5EF4-FFF2-40B4-BE49-F238E27FC236}">
                <a16:creationId xmlns:a16="http://schemas.microsoft.com/office/drawing/2014/main" id="{397EA389-F953-4FF3-BE82-156ECEFA56F3}"/>
              </a:ext>
            </a:extLst>
          </p:cNvPr>
          <p:cNvSpPr>
            <a:spLocks noGrp="1"/>
          </p:cNvSpPr>
          <p:nvPr/>
        </p:nvSpPr>
        <p:spPr>
          <a:xfrm>
            <a:off x="1028700" y="3552825"/>
            <a:ext cx="5905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17,963,441명.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선택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지역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공식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원자료의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최신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월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관측값입니다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0" name="diff-plus-0">
            <a:extLst>
              <a:ext uri="{FF2B5EF4-FFF2-40B4-BE49-F238E27FC236}">
                <a16:creationId xmlns:a16="http://schemas.microsoft.com/office/drawing/2014/main" id="{FA8127FD-DDBD-4B6D-8DD4-2CDCD1825D7A}"/>
              </a:ext>
            </a:extLst>
          </p:cNvPr>
          <p:cNvSpPr>
            <a:spLocks noGrp="1"/>
          </p:cNvSpPr>
          <p:nvPr/>
        </p:nvSpPr>
        <p:spPr>
          <a:xfrm>
            <a:off x="1028700" y="4314825"/>
            <a:ext cx="36099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+ 관측 사실에서 출발</a:t>
            </a:r>
          </a:p>
        </p:txBody>
      </p:sp>
      <p:sp>
        <p:nvSpPr>
          <p:cNvPr id="11" name="diff-plus-orange-0">
            <a:extLst>
              <a:ext uri="{FF2B5EF4-FFF2-40B4-BE49-F238E27FC236}">
                <a16:creationId xmlns:a16="http://schemas.microsoft.com/office/drawing/2014/main" id="{A57412D2-7DF5-4C59-A785-8AEB4428999A}"/>
              </a:ext>
            </a:extLst>
          </p:cNvPr>
          <p:cNvSpPr>
            <a:spLocks noGrp="1"/>
          </p:cNvSpPr>
          <p:nvPr/>
        </p:nvSpPr>
        <p:spPr>
          <a:xfrm>
            <a:off x="1028700" y="4314825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12" name="diff-num-1">
            <a:extLst>
              <a:ext uri="{FF2B5EF4-FFF2-40B4-BE49-F238E27FC236}">
                <a16:creationId xmlns:a16="http://schemas.microsoft.com/office/drawing/2014/main" id="{042D6BFD-8C70-44F2-A6AF-68361E6F02C0}"/>
              </a:ext>
            </a:extLst>
          </p:cNvPr>
          <p:cNvSpPr>
            <a:spLocks noGrp="1"/>
          </p:cNvSpPr>
          <p:nvPr/>
        </p:nvSpPr>
        <p:spPr>
          <a:xfrm>
            <a:off x="8134350" y="2867025"/>
            <a:ext cx="5429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diff-title-1">
            <a:extLst>
              <a:ext uri="{FF2B5EF4-FFF2-40B4-BE49-F238E27FC236}">
                <a16:creationId xmlns:a16="http://schemas.microsoft.com/office/drawing/2014/main" id="{39052A63-7565-4AFB-A81A-781058D9DF8C}"/>
              </a:ext>
            </a:extLst>
          </p:cNvPr>
          <p:cNvSpPr>
            <a:spLocks noGrp="1"/>
          </p:cNvSpPr>
          <p:nvPr/>
        </p:nvSpPr>
        <p:spPr>
          <a:xfrm>
            <a:off x="8753475" y="2886075"/>
            <a:ext cx="53625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전년동월</a:t>
            </a:r>
            <a:r>
              <a:rPr sz="24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외지인</a:t>
            </a:r>
            <a:r>
              <a:rPr sz="24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방문자</a:t>
            </a:r>
            <a:r>
              <a:rPr sz="2400" b="0" i="0" dirty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dirty="0" err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증감률</a:t>
            </a:r>
            <a:endParaRPr sz="2400" b="0" i="0" dirty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diff-body-1">
            <a:extLst>
              <a:ext uri="{FF2B5EF4-FFF2-40B4-BE49-F238E27FC236}">
                <a16:creationId xmlns:a16="http://schemas.microsoft.com/office/drawing/2014/main" id="{749EFAD3-629C-4E57-9A57-2F5E39609A6E}"/>
              </a:ext>
            </a:extLst>
          </p:cNvPr>
          <p:cNvSpPr>
            <a:spLocks noGrp="1"/>
          </p:cNvSpPr>
          <p:nvPr/>
        </p:nvSpPr>
        <p:spPr>
          <a:xfrm>
            <a:off x="8134350" y="3552825"/>
            <a:ext cx="5905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-8.3%.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선택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지역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공식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원자료의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최신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월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관측값입니다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5" name="diff-plus-1">
            <a:extLst>
              <a:ext uri="{FF2B5EF4-FFF2-40B4-BE49-F238E27FC236}">
                <a16:creationId xmlns:a16="http://schemas.microsoft.com/office/drawing/2014/main" id="{BEE72E06-DEDE-432B-B6B9-6F96F1CF6017}"/>
              </a:ext>
            </a:extLst>
          </p:cNvPr>
          <p:cNvSpPr>
            <a:spLocks noGrp="1"/>
          </p:cNvSpPr>
          <p:nvPr/>
        </p:nvSpPr>
        <p:spPr>
          <a:xfrm>
            <a:off x="8134350" y="4314825"/>
            <a:ext cx="36099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+ 같은 기준으로 확인</a:t>
            </a:r>
          </a:p>
        </p:txBody>
      </p:sp>
      <p:sp>
        <p:nvSpPr>
          <p:cNvPr id="16" name="diff-plus-orange-1">
            <a:extLst>
              <a:ext uri="{FF2B5EF4-FFF2-40B4-BE49-F238E27FC236}">
                <a16:creationId xmlns:a16="http://schemas.microsoft.com/office/drawing/2014/main" id="{9BFE81BE-C35B-4BD3-9F38-0E41CB9FA20D}"/>
              </a:ext>
            </a:extLst>
          </p:cNvPr>
          <p:cNvSpPr>
            <a:spLocks noGrp="1"/>
          </p:cNvSpPr>
          <p:nvPr/>
        </p:nvSpPr>
        <p:spPr>
          <a:xfrm>
            <a:off x="8134350" y="4314825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17" name="diff-num-2">
            <a:extLst>
              <a:ext uri="{FF2B5EF4-FFF2-40B4-BE49-F238E27FC236}">
                <a16:creationId xmlns:a16="http://schemas.microsoft.com/office/drawing/2014/main" id="{4D448592-403C-4EF4-8007-F16B4D59CFD4}"/>
              </a:ext>
            </a:extLst>
          </p:cNvPr>
          <p:cNvSpPr>
            <a:spLocks noGrp="1"/>
          </p:cNvSpPr>
          <p:nvPr/>
        </p:nvSpPr>
        <p:spPr>
          <a:xfrm>
            <a:off x="1028700" y="6105525"/>
            <a:ext cx="5429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diff-title-2">
            <a:extLst>
              <a:ext uri="{FF2B5EF4-FFF2-40B4-BE49-F238E27FC236}">
                <a16:creationId xmlns:a16="http://schemas.microsoft.com/office/drawing/2014/main" id="{5D9F67B1-93E0-43C5-91C6-C0426605BD01}"/>
              </a:ext>
            </a:extLst>
          </p:cNvPr>
          <p:cNvSpPr>
            <a:spLocks noGrp="1"/>
          </p:cNvSpPr>
          <p:nvPr/>
        </p:nvSpPr>
        <p:spPr>
          <a:xfrm>
            <a:off x="1647825" y="6124575"/>
            <a:ext cx="53625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비교 지역 신호</a:t>
            </a:r>
          </a:p>
        </p:txBody>
      </p:sp>
      <p:sp>
        <p:nvSpPr>
          <p:cNvPr id="19" name="diff-body-2">
            <a:extLst>
              <a:ext uri="{FF2B5EF4-FFF2-40B4-BE49-F238E27FC236}">
                <a16:creationId xmlns:a16="http://schemas.microsoft.com/office/drawing/2014/main" id="{EB459863-C1CA-487A-9CB6-3FB96BA588F0}"/>
              </a:ext>
            </a:extLst>
          </p:cNvPr>
          <p:cNvSpPr>
            <a:spLocks noGrp="1"/>
          </p:cNvSpPr>
          <p:nvPr/>
        </p:nvSpPr>
        <p:spPr>
          <a:xfrm>
            <a:off x="1028700" y="6791325"/>
            <a:ext cx="5905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같은 기간·같은 기준으로 비교할 지역 원본이 충분하지 않아 선택 지역의 월별 변화만 사용했습니다.</a:t>
            </a:r>
          </a:p>
        </p:txBody>
      </p:sp>
      <p:sp>
        <p:nvSpPr>
          <p:cNvPr id="20" name="diff-plus-2">
            <a:extLst>
              <a:ext uri="{FF2B5EF4-FFF2-40B4-BE49-F238E27FC236}">
                <a16:creationId xmlns:a16="http://schemas.microsoft.com/office/drawing/2014/main" id="{7303984B-C6EE-4C86-9BC4-B30BBF18EF1B}"/>
              </a:ext>
            </a:extLst>
          </p:cNvPr>
          <p:cNvSpPr>
            <a:spLocks noGrp="1"/>
          </p:cNvSpPr>
          <p:nvPr/>
        </p:nvSpPr>
        <p:spPr>
          <a:xfrm>
            <a:off x="1028700" y="7553325"/>
            <a:ext cx="36099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+ 비교는 인과효과가 아님</a:t>
            </a:r>
          </a:p>
        </p:txBody>
      </p:sp>
      <p:sp>
        <p:nvSpPr>
          <p:cNvPr id="21" name="diff-plus-orange-2">
            <a:extLst>
              <a:ext uri="{FF2B5EF4-FFF2-40B4-BE49-F238E27FC236}">
                <a16:creationId xmlns:a16="http://schemas.microsoft.com/office/drawing/2014/main" id="{0B6717C1-A26D-4507-A5EF-57A37FEF7154}"/>
              </a:ext>
            </a:extLst>
          </p:cNvPr>
          <p:cNvSpPr>
            <a:spLocks noGrp="1"/>
          </p:cNvSpPr>
          <p:nvPr/>
        </p:nvSpPr>
        <p:spPr>
          <a:xfrm>
            <a:off x="1028700" y="7553325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22" name="diff-num-3">
            <a:extLst>
              <a:ext uri="{FF2B5EF4-FFF2-40B4-BE49-F238E27FC236}">
                <a16:creationId xmlns:a16="http://schemas.microsoft.com/office/drawing/2014/main" id="{557E9041-6D43-44D5-AC83-F2F91E6F5F8B}"/>
              </a:ext>
            </a:extLst>
          </p:cNvPr>
          <p:cNvSpPr>
            <a:spLocks noGrp="1"/>
          </p:cNvSpPr>
          <p:nvPr/>
        </p:nvSpPr>
        <p:spPr>
          <a:xfrm>
            <a:off x="8134350" y="6105525"/>
            <a:ext cx="5429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diff-title-3">
            <a:extLst>
              <a:ext uri="{FF2B5EF4-FFF2-40B4-BE49-F238E27FC236}">
                <a16:creationId xmlns:a16="http://schemas.microsoft.com/office/drawing/2014/main" id="{87DB96F2-E1FB-4ACE-9435-CA8265449F5C}"/>
              </a:ext>
            </a:extLst>
          </p:cNvPr>
          <p:cNvSpPr>
            <a:spLocks noGrp="1"/>
          </p:cNvSpPr>
          <p:nvPr/>
        </p:nvSpPr>
        <p:spPr>
          <a:xfrm>
            <a:off x="8753475" y="6124575"/>
            <a:ext cx="53625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실행 판단</a:t>
            </a:r>
          </a:p>
        </p:txBody>
      </p:sp>
      <p:sp>
        <p:nvSpPr>
          <p:cNvPr id="24" name="diff-body-3">
            <a:extLst>
              <a:ext uri="{FF2B5EF4-FFF2-40B4-BE49-F238E27FC236}">
                <a16:creationId xmlns:a16="http://schemas.microsoft.com/office/drawing/2014/main" id="{7D299F22-9EC3-4717-985C-5C94FACD888B}"/>
              </a:ext>
            </a:extLst>
          </p:cNvPr>
          <p:cNvSpPr>
            <a:spLocks noGrp="1"/>
          </p:cNvSpPr>
          <p:nvPr/>
        </p:nvSpPr>
        <p:spPr>
          <a:xfrm>
            <a:off x="8134350" y="6791325"/>
            <a:ext cx="5905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최근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규모만으로는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지역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안에서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충분한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소비와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체류가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이어졌다고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보기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어렵습니다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.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숙박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비율은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3.1%,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평균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숙박일수는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2.91일입니다.</a:t>
            </a:r>
          </a:p>
        </p:txBody>
      </p:sp>
      <p:sp>
        <p:nvSpPr>
          <p:cNvPr id="25" name="diff-plus-3">
            <a:extLst>
              <a:ext uri="{FF2B5EF4-FFF2-40B4-BE49-F238E27FC236}">
                <a16:creationId xmlns:a16="http://schemas.microsoft.com/office/drawing/2014/main" id="{13001AD4-1711-4DB5-801D-66759E0AD34B}"/>
              </a:ext>
            </a:extLst>
          </p:cNvPr>
          <p:cNvSpPr>
            <a:spLocks noGrp="1"/>
          </p:cNvSpPr>
          <p:nvPr/>
        </p:nvSpPr>
        <p:spPr>
          <a:xfrm>
            <a:off x="8134350" y="7553325"/>
            <a:ext cx="36099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+ 3~6개월 시범 운영</a:t>
            </a:r>
          </a:p>
        </p:txBody>
      </p:sp>
      <p:sp>
        <p:nvSpPr>
          <p:cNvPr id="26" name="diff-plus-orange-3">
            <a:extLst>
              <a:ext uri="{FF2B5EF4-FFF2-40B4-BE49-F238E27FC236}">
                <a16:creationId xmlns:a16="http://schemas.microsoft.com/office/drawing/2014/main" id="{2AA2B92A-6911-4A37-BBF4-70B85C3E0B8A}"/>
              </a:ext>
            </a:extLst>
          </p:cNvPr>
          <p:cNvSpPr>
            <a:spLocks noGrp="1"/>
          </p:cNvSpPr>
          <p:nvPr/>
        </p:nvSpPr>
        <p:spPr>
          <a:xfrm>
            <a:off x="8134350" y="7553325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alace-photo"/>
          <p:cNvPicPr>
            <a:picLocks noChangeAspect="1"/>
          </p:cNvPicPr>
          <p:nvPr/>
        </p:nvPicPr>
        <p:blipFill>
          <a:blip r:embed="rId3"/>
          <a:srcRect l="26876" r="26876"/>
          <a:stretch>
            <a:fillRect/>
          </a:stretch>
        </p:blipFill>
        <p:spPr>
          <a:xfrm>
            <a:off x="9286875" y="0"/>
            <a:ext cx="5953125" cy="8572500"/>
          </a:xfrm>
          <a:prstGeom prst="rect">
            <a:avLst/>
          </a:prstGeom>
        </p:spPr>
      </p:pic>
      <p:sp>
        <p:nvSpPr>
          <p:cNvPr id="2" name="eyebrow">
            <a:extLst>
              <a:ext uri="{FF2B5EF4-FFF2-40B4-BE49-F238E27FC236}">
                <a16:creationId xmlns:a16="http://schemas.microsoft.com/office/drawing/2014/main" id="{79965D2B-742B-49AB-AFFC-0141FF2006B2}"/>
              </a:ext>
            </a:extLst>
          </p:cNvPr>
          <p:cNvSpPr>
            <a:spLocks noGrp="1"/>
          </p:cNvSpPr>
          <p:nvPr/>
        </p:nvSpPr>
        <p:spPr>
          <a:xfrm>
            <a:off x="1009650" y="1057275"/>
            <a:ext cx="35337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M L   N A T U R A L   T R E N D   &amp;   T A R G E T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ABDAA44-8EBB-4981-B6CE-1EDFB0FD2D98}"/>
              </a:ext>
            </a:extLst>
          </p:cNvPr>
          <p:cNvSpPr>
            <a:spLocks noGrp="1"/>
          </p:cNvSpPr>
          <p:nvPr/>
        </p:nvSpPr>
        <p:spPr>
          <a:xfrm>
            <a:off x="1009650" y="1447800"/>
            <a:ext cx="81248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525"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3개월 자연추세와 </a:t>
            </a:r>
            <a:r>
              <a:rPr sz="35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검토 목표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09610720-202B-4F09-8037-567ABC57A317}"/>
              </a:ext>
            </a:extLst>
          </p:cNvPr>
          <p:cNvSpPr>
            <a:spLocks noGrp="1"/>
          </p:cNvSpPr>
          <p:nvPr/>
        </p:nvSpPr>
        <p:spPr>
          <a:xfrm>
            <a:off x="1009650" y="2266950"/>
            <a:ext cx="7334250" cy="0"/>
          </a:xfrm>
          <a:prstGeom prst="line">
            <a:avLst/>
          </a:prstGeom>
          <a:noFill/>
          <a:ln w="19050">
            <a:solidFill>
              <a:srgbClr val="00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intro">
            <a:extLst>
              <a:ext uri="{FF2B5EF4-FFF2-40B4-BE49-F238E27FC236}">
                <a16:creationId xmlns:a16="http://schemas.microsoft.com/office/drawing/2014/main" id="{F4CE408F-7D39-483A-AE7E-5DDC832E732F}"/>
              </a:ext>
            </a:extLst>
          </p:cNvPr>
          <p:cNvSpPr>
            <a:spLocks noGrp="1"/>
          </p:cNvSpPr>
          <p:nvPr/>
        </p:nvSpPr>
        <p:spPr>
          <a:xfrm>
            <a:off x="1009650" y="2867025"/>
            <a:ext cx="75438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647"/>
          </a:bodyPr>
          <a:lstStyle/>
          <a:p>
            <a:pPr algn="l">
              <a:lnSpc>
                <a:spcPct val="130000"/>
              </a:lnSpc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ML은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이력으로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자연추세를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계산합니다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.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정책을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하지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않았을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때의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인과적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반사실이나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사업효과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예측이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아닙니다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algn="l">
              <a:lnSpc>
                <a:spcPct val="130000"/>
              </a:lnSpc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사용자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목표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미입력은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담당자가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검토를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위해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입력한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목표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수준이며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자연추세와의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차이를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성과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보장으로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해석하지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않습니다</a:t>
            </a:r>
            <a:r>
              <a:rPr sz="1350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6" name="prediction-rail">
            <a:extLst>
              <a:ext uri="{FF2B5EF4-FFF2-40B4-BE49-F238E27FC236}">
                <a16:creationId xmlns:a16="http://schemas.microsoft.com/office/drawing/2014/main" id="{3CC9773F-81A2-46D4-897F-04FD394170C0}"/>
              </a:ext>
            </a:extLst>
          </p:cNvPr>
          <p:cNvSpPr>
            <a:spLocks noGrp="1"/>
          </p:cNvSpPr>
          <p:nvPr/>
        </p:nvSpPr>
        <p:spPr>
          <a:xfrm>
            <a:off x="1009650" y="3981450"/>
            <a:ext cx="0" cy="895350"/>
          </a:xfrm>
          <a:prstGeom prst="line">
            <a:avLst/>
          </a:prstGeom>
          <a:noFill/>
          <a:ln w="38100">
            <a:solidFill>
              <a:srgbClr val="00C1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prediction-title">
            <a:extLst>
              <a:ext uri="{FF2B5EF4-FFF2-40B4-BE49-F238E27FC236}">
                <a16:creationId xmlns:a16="http://schemas.microsoft.com/office/drawing/2014/main" id="{9D7B9C8E-7531-4597-8395-092405B07EDB}"/>
              </a:ext>
            </a:extLst>
          </p:cNvPr>
          <p:cNvSpPr>
            <a:spLocks noGrp="1"/>
          </p:cNvSpPr>
          <p:nvPr/>
        </p:nvSpPr>
        <p:spPr>
          <a:xfrm>
            <a:off x="1333500" y="4010025"/>
            <a:ext cx="556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3개월 ML 자연추세</a:t>
            </a:r>
          </a:p>
        </p:txBody>
      </p:sp>
      <p:sp>
        <p:nvSpPr>
          <p:cNvPr id="8" name="prediction-body">
            <a:extLst>
              <a:ext uri="{FF2B5EF4-FFF2-40B4-BE49-F238E27FC236}">
                <a16:creationId xmlns:a16="http://schemas.microsoft.com/office/drawing/2014/main" id="{CD0582B5-403A-4E15-B748-8572E4003FF5}"/>
              </a:ext>
            </a:extLst>
          </p:cNvPr>
          <p:cNvSpPr>
            <a:spLocks noGrp="1"/>
          </p:cNvSpPr>
          <p:nvPr/>
        </p:nvSpPr>
        <p:spPr>
          <a:xfrm>
            <a:off x="1333500" y="4400550"/>
            <a:ext cx="73247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방문자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합계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5,403만 명 ·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관광소비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1.393조 원.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원자료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이후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3개월의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저장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모델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전망입니다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algn="l"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endParaRPr sz="1275" b="0" i="0" dirty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rag-rail">
            <a:extLst>
              <a:ext uri="{FF2B5EF4-FFF2-40B4-BE49-F238E27FC236}">
                <a16:creationId xmlns:a16="http://schemas.microsoft.com/office/drawing/2014/main" id="{59B93260-E909-441F-A152-9596530CEEFF}"/>
              </a:ext>
            </a:extLst>
          </p:cNvPr>
          <p:cNvSpPr>
            <a:spLocks noGrp="1"/>
          </p:cNvSpPr>
          <p:nvPr/>
        </p:nvSpPr>
        <p:spPr>
          <a:xfrm>
            <a:off x="1009650" y="5267325"/>
            <a:ext cx="0" cy="895350"/>
          </a:xfrm>
          <a:prstGeom prst="line">
            <a:avLst/>
          </a:prstGeom>
          <a:noFill/>
          <a:ln w="38100">
            <a:solidFill>
              <a:srgbClr val="00C1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ag-title">
            <a:extLst>
              <a:ext uri="{FF2B5EF4-FFF2-40B4-BE49-F238E27FC236}">
                <a16:creationId xmlns:a16="http://schemas.microsoft.com/office/drawing/2014/main" id="{DA73CCEB-7FB8-4355-B780-B827A43C4939}"/>
              </a:ext>
            </a:extLst>
          </p:cNvPr>
          <p:cNvSpPr>
            <a:spLocks noGrp="1"/>
          </p:cNvSpPr>
          <p:nvPr/>
        </p:nvSpPr>
        <p:spPr>
          <a:xfrm>
            <a:off x="1333500" y="5295900"/>
            <a:ext cx="556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자연추세와 목표 수준의 산술 차이</a:t>
            </a:r>
          </a:p>
        </p:txBody>
      </p:sp>
      <p:sp>
        <p:nvSpPr>
          <p:cNvPr id="11" name="rag-body">
            <a:extLst>
              <a:ext uri="{FF2B5EF4-FFF2-40B4-BE49-F238E27FC236}">
                <a16:creationId xmlns:a16="http://schemas.microsoft.com/office/drawing/2014/main" id="{6711E847-5DFC-4F6B-A7AC-E06CC4C32C7F}"/>
              </a:ext>
            </a:extLst>
          </p:cNvPr>
          <p:cNvSpPr>
            <a:spLocks noGrp="1"/>
          </p:cNvSpPr>
          <p:nvPr/>
        </p:nvSpPr>
        <p:spPr>
          <a:xfrm>
            <a:off x="1333500" y="5686425"/>
            <a:ext cx="73247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담당자 목표율을 입력하면 필요한 월별 수준을 함께 계산합니다.. 이 차이는 정책 인과효과나 보장 성과가 아닙니다.</a:t>
            </a:r>
          </a:p>
        </p:txBody>
      </p:sp>
      <p:sp>
        <p:nvSpPr>
          <p:cNvPr id="12" name="tech-tag-0">
            <a:extLst>
              <a:ext uri="{FF2B5EF4-FFF2-40B4-BE49-F238E27FC236}">
                <a16:creationId xmlns:a16="http://schemas.microsoft.com/office/drawing/2014/main" id="{0EA517D9-D4C9-4514-A591-17F066405F81}"/>
              </a:ext>
            </a:extLst>
          </p:cNvPr>
          <p:cNvSpPr>
            <a:spLocks noGrp="1"/>
          </p:cNvSpPr>
          <p:nvPr/>
        </p:nvSpPr>
        <p:spPr>
          <a:xfrm>
            <a:off x="1009650" y="6696075"/>
            <a:ext cx="981075" cy="304800"/>
          </a:xfrm>
          <a:prstGeom prst="rect">
            <a:avLst/>
          </a:prstGeom>
          <a:noFill/>
          <a:ln w="9525">
            <a:solidFill>
              <a:srgbClr val="004EA2"/>
            </a:solidFill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buNone/>
              <a:def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시간순 검증</a:t>
            </a:r>
          </a:p>
        </p:txBody>
      </p:sp>
      <p:sp>
        <p:nvSpPr>
          <p:cNvPr id="13" name="tech-tag-1">
            <a:extLst>
              <a:ext uri="{FF2B5EF4-FFF2-40B4-BE49-F238E27FC236}">
                <a16:creationId xmlns:a16="http://schemas.microsoft.com/office/drawing/2014/main" id="{F77688F9-DE30-46D6-A085-D71CB77526FC}"/>
              </a:ext>
            </a:extLst>
          </p:cNvPr>
          <p:cNvSpPr>
            <a:spLocks noGrp="1"/>
          </p:cNvSpPr>
          <p:nvPr/>
        </p:nvSpPr>
        <p:spPr>
          <a:xfrm>
            <a:off x="2181225" y="6696075"/>
            <a:ext cx="895350" cy="304800"/>
          </a:xfrm>
          <a:prstGeom prst="rect">
            <a:avLst/>
          </a:prstGeom>
          <a:noFill/>
          <a:ln w="9525">
            <a:solidFill>
              <a:srgbClr val="004EA2"/>
            </a:solidFill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buNone/>
              <a:def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저장 모델</a:t>
            </a:r>
          </a:p>
        </p:txBody>
      </p:sp>
      <p:sp>
        <p:nvSpPr>
          <p:cNvPr id="14" name="tech-tag-2">
            <a:extLst>
              <a:ext uri="{FF2B5EF4-FFF2-40B4-BE49-F238E27FC236}">
                <a16:creationId xmlns:a16="http://schemas.microsoft.com/office/drawing/2014/main" id="{C3AD8E2A-DDA1-4806-A5B4-1793CD7B58E8}"/>
              </a:ext>
            </a:extLst>
          </p:cNvPr>
          <p:cNvSpPr>
            <a:spLocks noGrp="1"/>
          </p:cNvSpPr>
          <p:nvPr/>
        </p:nvSpPr>
        <p:spPr>
          <a:xfrm>
            <a:off x="3257550" y="6696075"/>
            <a:ext cx="1314450" cy="304800"/>
          </a:xfrm>
          <a:prstGeom prst="rect">
            <a:avLst/>
          </a:prstGeom>
          <a:noFill/>
          <a:ln w="9525">
            <a:solidFill>
              <a:srgbClr val="004EA2"/>
            </a:solidFill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buNone/>
              <a:def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3개월 전망</a:t>
            </a:r>
          </a:p>
        </p:txBody>
      </p:sp>
      <p:graphicFrame>
        <p:nvGraphicFramePr>
          <p:cNvPr id="32" name="visitor-natural-target-chart"/>
          <p:cNvGraphicFramePr/>
          <p:nvPr/>
        </p:nvGraphicFramePr>
        <p:xfrm>
          <a:off x="1009650" y="5191125"/>
          <a:ext cx="7524750" cy="233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forecast-chart-note">
            <a:extLst>
              <a:ext uri="{FF2B5EF4-FFF2-40B4-BE49-F238E27FC236}">
                <a16:creationId xmlns:a16="http://schemas.microsoft.com/office/drawing/2014/main" id="{9EC9EF53-B27B-48CD-AA6D-1B07121CEEFA}"/>
              </a:ext>
            </a:extLst>
          </p:cNvPr>
          <p:cNvSpPr>
            <a:spLocks noGrp="1"/>
          </p:cNvSpPr>
          <p:nvPr/>
        </p:nvSpPr>
        <p:spPr>
          <a:xfrm>
            <a:off x="6505575" y="51244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1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단위: 백만 명 · 사용자 목표 미입력</a:t>
            </a:r>
          </a:p>
        </p:txBody>
      </p:sp>
    </p:spTree>
    <p:extLst>
      <p:ext uri="{BB962C8B-B14F-4D97-AF65-F5344CB8AC3E}">
        <p14:creationId xmlns:p14="http://schemas.microsoft.com/office/powerpoint/2010/main" val="176745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sland-photo"/>
          <p:cNvPicPr>
            <a:picLocks noChangeAspect="1"/>
          </p:cNvPicPr>
          <p:nvPr/>
        </p:nvPicPr>
        <p:blipFill>
          <a:blip r:embed="rId3"/>
          <a:srcRect l="29097" r="29097"/>
          <a:stretch>
            <a:fillRect/>
          </a:stretch>
        </p:blipFill>
        <p:spPr>
          <a:xfrm>
            <a:off x="9877425" y="38100"/>
            <a:ext cx="5334000" cy="8505825"/>
          </a:xfrm>
          <a:prstGeom prst="rect">
            <a:avLst/>
          </a:prstGeom>
        </p:spPr>
      </p:pic>
      <p:sp>
        <p:nvSpPr>
          <p:cNvPr id="2" name="eyebrow">
            <a:extLst>
              <a:ext uri="{FF2B5EF4-FFF2-40B4-BE49-F238E27FC236}">
                <a16:creationId xmlns:a16="http://schemas.microsoft.com/office/drawing/2014/main" id="{E7D48FBA-7209-4694-8898-345F9345A3FE}"/>
              </a:ext>
            </a:extLst>
          </p:cNvPr>
          <p:cNvSpPr>
            <a:spLocks noGrp="1"/>
          </p:cNvSpPr>
          <p:nvPr/>
        </p:nvSpPr>
        <p:spPr>
          <a:xfrm>
            <a:off x="1019175" y="1076325"/>
            <a:ext cx="35337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B U D G E T   F O R M U L A   &amp;   K P I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2B47A03-506E-4149-B937-667653240EC2}"/>
              </a:ext>
            </a:extLst>
          </p:cNvPr>
          <p:cNvSpPr>
            <a:spLocks noGrp="1"/>
          </p:cNvSpPr>
          <p:nvPr/>
        </p:nvSpPr>
        <p:spPr>
          <a:xfrm>
            <a:off x="1019175" y="1457325"/>
            <a:ext cx="81248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600"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예산 산식 및 </a:t>
            </a:r>
            <a:r>
              <a:rPr sz="3600" b="1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성과 측정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6D17D69D-823C-4D07-A9EB-0AC744C1DEEA}"/>
              </a:ext>
            </a:extLst>
          </p:cNvPr>
          <p:cNvSpPr>
            <a:spLocks noGrp="1"/>
          </p:cNvSpPr>
          <p:nvPr/>
        </p:nvSpPr>
        <p:spPr>
          <a:xfrm>
            <a:off x="1019175" y="2266950"/>
            <a:ext cx="7915275" cy="0"/>
          </a:xfrm>
          <a:prstGeom prst="line">
            <a:avLst/>
          </a:prstGeom>
          <a:noFill/>
          <a:ln w="19050">
            <a:solidFill>
              <a:srgbClr val="00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intro">
            <a:extLst>
              <a:ext uri="{FF2B5EF4-FFF2-40B4-BE49-F238E27FC236}">
                <a16:creationId xmlns:a16="http://schemas.microsoft.com/office/drawing/2014/main" id="{6329FC8E-195C-45D9-8123-1B9D84291150}"/>
              </a:ext>
            </a:extLst>
          </p:cNvPr>
          <p:cNvSpPr>
            <a:spLocks noGrp="1"/>
          </p:cNvSpPr>
          <p:nvPr/>
        </p:nvSpPr>
        <p:spPr>
          <a:xfrm>
            <a:off x="1019175" y="2847975"/>
            <a:ext cx="76009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안내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페이지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홍보물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참여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업소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운영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지원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성과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측정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항목별로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수량을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정한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뒤 2개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이상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비교견적으로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산정합니다</a:t>
            </a:r>
            <a:r>
              <a:rPr sz="1350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algn="l">
              <a:lnSpc>
                <a:spcPct val="135000"/>
              </a:lnSpc>
              <a:buNone/>
              <a:def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endParaRPr sz="1350" b="0" i="0" dirty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dashboard-rail">
            <a:extLst>
              <a:ext uri="{FF2B5EF4-FFF2-40B4-BE49-F238E27FC236}">
                <a16:creationId xmlns:a16="http://schemas.microsoft.com/office/drawing/2014/main" id="{9BE94A36-2943-4E88-B24E-66109F702650}"/>
              </a:ext>
            </a:extLst>
          </p:cNvPr>
          <p:cNvSpPr>
            <a:spLocks noGrp="1"/>
          </p:cNvSpPr>
          <p:nvPr/>
        </p:nvSpPr>
        <p:spPr>
          <a:xfrm>
            <a:off x="1019175" y="4238625"/>
            <a:ext cx="0" cy="1190625"/>
          </a:xfrm>
          <a:prstGeom prst="line">
            <a:avLst/>
          </a:prstGeom>
          <a:noFill/>
          <a:ln w="38100">
            <a:solidFill>
              <a:srgbClr val="00C1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ashboard-title">
            <a:extLst>
              <a:ext uri="{FF2B5EF4-FFF2-40B4-BE49-F238E27FC236}">
                <a16:creationId xmlns:a16="http://schemas.microsoft.com/office/drawing/2014/main" id="{5A8CD150-B4FE-4BF8-B6C6-DE88B588AE1F}"/>
              </a:ext>
            </a:extLst>
          </p:cNvPr>
          <p:cNvSpPr>
            <a:spLocks noGrp="1"/>
          </p:cNvSpPr>
          <p:nvPr/>
        </p:nvSpPr>
        <p:spPr>
          <a:xfrm>
            <a:off x="1333500" y="4286250"/>
            <a:ext cx="35337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예산 조건 · 희망 예산 미정</a:t>
            </a:r>
          </a:p>
        </p:txBody>
      </p:sp>
      <p:sp>
        <p:nvSpPr>
          <p:cNvPr id="8" name="dashboard-body">
            <a:extLst>
              <a:ext uri="{FF2B5EF4-FFF2-40B4-BE49-F238E27FC236}">
                <a16:creationId xmlns:a16="http://schemas.microsoft.com/office/drawing/2014/main" id="{C4465979-A2B2-432C-8E9B-859897CE2299}"/>
              </a:ext>
            </a:extLst>
          </p:cNvPr>
          <p:cNvSpPr>
            <a:spLocks noGrp="1"/>
          </p:cNvSpPr>
          <p:nvPr/>
        </p:nvSpPr>
        <p:spPr>
          <a:xfrm>
            <a:off x="1333500" y="4724400"/>
            <a:ext cx="3476625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안내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페이지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홍보물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참여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업소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운영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지원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성과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측정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항목별로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수량을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정한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뒤 2개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이상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비교견적으로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산정합니다</a:t>
            </a:r>
            <a:r>
              <a:rPr sz="1275" b="0" i="0" dirty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endParaRPr sz="1275" b="0" i="0" dirty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analysis-rail">
            <a:extLst>
              <a:ext uri="{FF2B5EF4-FFF2-40B4-BE49-F238E27FC236}">
                <a16:creationId xmlns:a16="http://schemas.microsoft.com/office/drawing/2014/main" id="{1572652E-8668-4368-ACB8-903355EF540A}"/>
              </a:ext>
            </a:extLst>
          </p:cNvPr>
          <p:cNvSpPr>
            <a:spLocks noGrp="1"/>
          </p:cNvSpPr>
          <p:nvPr/>
        </p:nvSpPr>
        <p:spPr>
          <a:xfrm>
            <a:off x="5219700" y="4238625"/>
            <a:ext cx="0" cy="1190625"/>
          </a:xfrm>
          <a:prstGeom prst="line">
            <a:avLst/>
          </a:prstGeom>
          <a:noFill/>
          <a:ln w="38100">
            <a:solidFill>
              <a:srgbClr val="00C1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analysis-title">
            <a:extLst>
              <a:ext uri="{FF2B5EF4-FFF2-40B4-BE49-F238E27FC236}">
                <a16:creationId xmlns:a16="http://schemas.microsoft.com/office/drawing/2014/main" id="{0C654D2C-AC31-4495-9545-0DAE5ED646B9}"/>
              </a:ext>
            </a:extLst>
          </p:cNvPr>
          <p:cNvSpPr>
            <a:spLocks noGrp="1"/>
          </p:cNvSpPr>
          <p:nvPr/>
        </p:nvSpPr>
        <p:spPr>
          <a:xfrm>
            <a:off x="5543550" y="4286250"/>
            <a:ext cx="35337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성과 판단 KPI</a:t>
            </a:r>
          </a:p>
        </p:txBody>
      </p:sp>
      <p:sp>
        <p:nvSpPr>
          <p:cNvPr id="11" name="analysis-body">
            <a:extLst>
              <a:ext uri="{FF2B5EF4-FFF2-40B4-BE49-F238E27FC236}">
                <a16:creationId xmlns:a16="http://schemas.microsoft.com/office/drawing/2014/main" id="{DB2F5A81-D4FD-489F-82C8-C6166E89C051}"/>
              </a:ext>
            </a:extLst>
          </p:cNvPr>
          <p:cNvSpPr>
            <a:spLocks noGrp="1"/>
          </p:cNvSpPr>
          <p:nvPr/>
        </p:nvSpPr>
        <p:spPr>
          <a:xfrm>
            <a:off x="5543550" y="4724400"/>
            <a:ext cx="3476625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코스 이용 건수, 참여 업소 결제 건수, 외지인 관광소비액, 숙박 방문 비율을 운영 전후 같은 기준으로 확인합니다.</a:t>
            </a:r>
          </a:p>
          <a:p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report-card">
            <a:extLst>
              <a:ext uri="{FF2B5EF4-FFF2-40B4-BE49-F238E27FC236}">
                <a16:creationId xmlns:a16="http://schemas.microsoft.com/office/drawing/2014/main" id="{01ECDF9F-37D9-484C-997E-3809C46794EA}"/>
              </a:ext>
            </a:extLst>
          </p:cNvPr>
          <p:cNvSpPr>
            <a:spLocks noGrp="1"/>
          </p:cNvSpPr>
          <p:nvPr/>
        </p:nvSpPr>
        <p:spPr>
          <a:xfrm>
            <a:off x="1019175" y="6000750"/>
            <a:ext cx="38100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port-card-title">
            <a:extLst>
              <a:ext uri="{FF2B5EF4-FFF2-40B4-BE49-F238E27FC236}">
                <a16:creationId xmlns:a16="http://schemas.microsoft.com/office/drawing/2014/main" id="{1353BCF8-2C10-48C9-B173-6A79000EEF14}"/>
              </a:ext>
            </a:extLst>
          </p:cNvPr>
          <p:cNvSpPr>
            <a:spLocks noGrp="1"/>
          </p:cNvSpPr>
          <p:nvPr/>
        </p:nvSpPr>
        <p:spPr>
          <a:xfrm>
            <a:off x="1238250" y="6257925"/>
            <a:ext cx="2457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예산 확정 원칙</a:t>
            </a:r>
          </a:p>
        </p:txBody>
      </p:sp>
      <p:sp>
        <p:nvSpPr>
          <p:cNvPr id="14" name="report-card-body">
            <a:extLst>
              <a:ext uri="{FF2B5EF4-FFF2-40B4-BE49-F238E27FC236}">
                <a16:creationId xmlns:a16="http://schemas.microsoft.com/office/drawing/2014/main" id="{796461ED-E207-428E-ADB1-53B8A04FC913}"/>
              </a:ext>
            </a:extLst>
          </p:cNvPr>
          <p:cNvSpPr>
            <a:spLocks noGrp="1"/>
          </p:cNvSpPr>
          <p:nvPr/>
        </p:nvSpPr>
        <p:spPr>
          <a:xfrm>
            <a:off x="1238250" y="6629400"/>
            <a:ext cx="3105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수량·단가·운영범위 검증 후</a:t>
            </a:r>
          </a:p>
        </p:txBody>
      </p:sp>
      <p:sp>
        <p:nvSpPr>
          <p:cNvPr id="15" name="report-card-orange">
            <a:extLst>
              <a:ext uri="{FF2B5EF4-FFF2-40B4-BE49-F238E27FC236}">
                <a16:creationId xmlns:a16="http://schemas.microsoft.com/office/drawing/2014/main" id="{9F582882-6E9C-4D93-8DCC-9FDEE65D7AC8}"/>
              </a:ext>
            </a:extLst>
          </p:cNvPr>
          <p:cNvSpPr>
            <a:spLocks noGrp="1"/>
          </p:cNvSpPr>
          <p:nvPr/>
        </p:nvSpPr>
        <p:spPr>
          <a:xfrm>
            <a:off x="1238250" y="6905625"/>
            <a:ext cx="2781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공식 단가·비교견적으로 확정</a:t>
            </a:r>
          </a:p>
        </p:txBody>
      </p:sp>
      <p:sp>
        <p:nvSpPr>
          <p:cNvPr id="16" name="map-card">
            <a:extLst>
              <a:ext uri="{FF2B5EF4-FFF2-40B4-BE49-F238E27FC236}">
                <a16:creationId xmlns:a16="http://schemas.microsoft.com/office/drawing/2014/main" id="{60160296-0010-438C-8C26-7EBA5D46F343}"/>
              </a:ext>
            </a:extLst>
          </p:cNvPr>
          <p:cNvSpPr>
            <a:spLocks noGrp="1"/>
          </p:cNvSpPr>
          <p:nvPr/>
        </p:nvSpPr>
        <p:spPr>
          <a:xfrm>
            <a:off x="5114925" y="6000750"/>
            <a:ext cx="3819525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map-card-title">
            <a:extLst>
              <a:ext uri="{FF2B5EF4-FFF2-40B4-BE49-F238E27FC236}">
                <a16:creationId xmlns:a16="http://schemas.microsoft.com/office/drawing/2014/main" id="{BE455A73-544C-45BA-A88B-6981407DECE7}"/>
              </a:ext>
            </a:extLst>
          </p:cNvPr>
          <p:cNvSpPr>
            <a:spLocks noGrp="1"/>
          </p:cNvSpPr>
          <p:nvPr/>
        </p:nvSpPr>
        <p:spPr>
          <a:xfrm>
            <a:off x="5353050" y="6257925"/>
            <a:ext cx="2457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측정 설계 원칙</a:t>
            </a:r>
          </a:p>
        </p:txBody>
      </p:sp>
      <p:sp>
        <p:nvSpPr>
          <p:cNvPr id="18" name="map-card-body">
            <a:extLst>
              <a:ext uri="{FF2B5EF4-FFF2-40B4-BE49-F238E27FC236}">
                <a16:creationId xmlns:a16="http://schemas.microsoft.com/office/drawing/2014/main" id="{0E481C2C-4BC3-4728-82FE-9D729B7788C0}"/>
              </a:ext>
            </a:extLst>
          </p:cNvPr>
          <p:cNvSpPr>
            <a:spLocks noGrp="1"/>
          </p:cNvSpPr>
          <p:nvPr/>
        </p:nvSpPr>
        <p:spPr>
          <a:xfrm>
            <a:off x="5353050" y="6629400"/>
            <a:ext cx="3105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운영 전·후 같은 기준과</a:t>
            </a:r>
          </a:p>
        </p:txBody>
      </p:sp>
      <p:sp>
        <p:nvSpPr>
          <p:cNvPr id="19" name="map-card-orange">
            <a:extLst>
              <a:ext uri="{FF2B5EF4-FFF2-40B4-BE49-F238E27FC236}">
                <a16:creationId xmlns:a16="http://schemas.microsoft.com/office/drawing/2014/main" id="{40E98527-DF47-4B36-8CA4-81AD0B8A3DB6}"/>
              </a:ext>
            </a:extLst>
          </p:cNvPr>
          <p:cNvSpPr>
            <a:spLocks noGrp="1"/>
          </p:cNvSpPr>
          <p:nvPr/>
        </p:nvSpPr>
        <p:spPr>
          <a:xfrm>
            <a:off x="5353050" y="6905625"/>
            <a:ext cx="2781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참여·비참여 집단을 구분</a:t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">
            <a:extLst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noGrp="1"/>
          </p:cNvSpPr>
          <p:nvPr/>
        </p:nvSpPr>
        <p:spPr>
          <a:xfrm>
            <a:off x="4486275" y="2266950"/>
            <a:ext cx="635317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4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4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기대 효과 및 확대 판단</a:t>
            </a:r>
          </a:p>
        </p:txBody>
      </p:sp>
      <p:sp>
        <p:nvSpPr>
          <p:cNvPr id="2" name="column-line-1">
            <a:extLst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noGrp="1"/>
          </p:cNvSpPr>
          <p:nvPr/>
        </p:nvSpPr>
        <p:spPr>
          <a:xfrm>
            <a:off x="5524500" y="3371850"/>
            <a:ext cx="0" cy="3638550"/>
          </a:xfrm>
          <a:prstGeom prst="line">
            <a:avLst/>
          </a:prstGeom>
          <a:noFill/>
          <a:ln w="19050">
            <a:solidFill>
              <a:srgbClr val="D7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column-line-2">
            <a:extLst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noGrp="1"/>
          </p:cNvSpPr>
          <p:nvPr/>
        </p:nvSpPr>
        <p:spPr>
          <a:xfrm>
            <a:off x="9772650" y="3371850"/>
            <a:ext cx="0" cy="3638550"/>
          </a:xfrm>
          <a:prstGeom prst="line">
            <a:avLst/>
          </a:prstGeom>
          <a:noFill/>
          <a:ln w="19050">
            <a:solidFill>
              <a:srgbClr val="D7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expected-pill">
            <a:extLst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noGrp="1"/>
          </p:cNvSpPr>
          <p:nvPr/>
        </p:nvSpPr>
        <p:spPr>
          <a:xfrm>
            <a:off x="819150" y="3371850"/>
            <a:ext cx="4048125" cy="466725"/>
          </a:xfrm>
          <a:prstGeom prst="roundRect">
            <a:avLst>
              <a:gd name="adj" fmla="val 50000"/>
            </a:avLst>
          </a:prstGeom>
          <a:solidFill>
            <a:srgbClr val="004EA2"/>
          </a:solidFill>
          <a:ln w="9525">
            <a:solidFill>
              <a:srgbClr val="004EA2"/>
            </a:solidFill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측정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가능한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전환</a:t>
            </a:r>
            <a:endParaRPr sz="1425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expected-card">
            <a:extLst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noGrp="1"/>
          </p:cNvSpPr>
          <p:nvPr/>
        </p:nvSpPr>
        <p:spPr>
          <a:xfrm>
            <a:off x="819150" y="4133850"/>
            <a:ext cx="4048125" cy="12763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expected-body">
            <a:extLst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noGrp="1"/>
          </p:cNvSpPr>
          <p:nvPr/>
        </p:nvSpPr>
        <p:spPr>
          <a:xfrm>
            <a:off x="1095375" y="4533900"/>
            <a:ext cx="34861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10000"/>
          </a:bodyPr>
          <a:lstStyle/>
          <a:p>
            <a:pPr algn="l">
              <a:lnSpc>
                <a:spcPct val="13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방문자가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지역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안에서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이동하고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소비할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이유를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명확히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만들며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실제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운영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결과를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바탕으로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확대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여부를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판단할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있습니다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algn="l">
              <a:lnSpc>
                <a:spcPct val="13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endParaRPr sz="1275" b="0" i="0" dirty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" name="indicator-pill">
            <a:extLst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noGrp="1"/>
          </p:cNvSpPr>
          <p:nvPr/>
        </p:nvSpPr>
        <p:spPr>
          <a:xfrm>
            <a:off x="819150" y="5791200"/>
            <a:ext cx="4048125" cy="4667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7DEE5"/>
            </a:solidFill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buNone/>
              <a:defRPr sz="1275" b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월별 KPI 추적</a:t>
            </a:r>
          </a:p>
        </p:txBody>
      </p:sp>
      <p:sp>
        <p:nvSpPr>
          <p:cNvPr id="8" name="indicator-circle-0">
            <a:extLst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noGrp="1"/>
          </p:cNvSpPr>
          <p:nvPr/>
        </p:nvSpPr>
        <p:spPr>
          <a:xfrm>
            <a:off x="904875" y="65246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04EA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indicator-glyph-0">
            <a:extLst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noGrp="1"/>
          </p:cNvSpPr>
          <p:nvPr/>
        </p:nvSpPr>
        <p:spPr>
          <a:xfrm>
            <a:off x="990600" y="6591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⌁</a:t>
            </a:r>
          </a:p>
        </p:txBody>
      </p:sp>
      <p:sp>
        <p:nvSpPr>
          <p:cNvPr id="10" name="indicator-circle-1">
            <a:extLst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noGrp="1"/>
          </p:cNvSpPr>
          <p:nvPr/>
        </p:nvSpPr>
        <p:spPr>
          <a:xfrm>
            <a:off x="1581150" y="65246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04EA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indicator-glyph-1">
            <a:extLst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noGrp="1"/>
          </p:cNvSpPr>
          <p:nvPr/>
        </p:nvSpPr>
        <p:spPr>
          <a:xfrm>
            <a:off x="1666875" y="6591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◔</a:t>
            </a:r>
          </a:p>
        </p:txBody>
      </p:sp>
      <p:sp>
        <p:nvSpPr>
          <p:cNvPr id="12" name="indicator-circle-2">
            <a:extLst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noGrp="1"/>
          </p:cNvSpPr>
          <p:nvPr/>
        </p:nvSpPr>
        <p:spPr>
          <a:xfrm>
            <a:off x="2257425" y="65246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04EA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indicator-glyph-2">
            <a:extLst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noGrp="1"/>
          </p:cNvSpPr>
          <p:nvPr/>
        </p:nvSpPr>
        <p:spPr>
          <a:xfrm>
            <a:off x="2343150" y="6591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▦</a:t>
            </a:r>
          </a:p>
        </p:txBody>
      </p:sp>
      <p:sp>
        <p:nvSpPr>
          <p:cNvPr id="14" name="indicator-circle-3">
            <a:extLst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noGrp="1"/>
          </p:cNvSpPr>
          <p:nvPr/>
        </p:nvSpPr>
        <p:spPr>
          <a:xfrm>
            <a:off x="2933700" y="65246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04EA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indicator-glyph-3">
            <a:extLst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noGrp="1"/>
          </p:cNvSpPr>
          <p:nvPr/>
        </p:nvSpPr>
        <p:spPr>
          <a:xfrm>
            <a:off x="3019425" y="6591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▤</a:t>
            </a:r>
          </a:p>
        </p:txBody>
      </p:sp>
      <p:sp>
        <p:nvSpPr>
          <p:cNvPr id="16" name="indicator-circle-4">
            <a:extLst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noGrp="1"/>
          </p:cNvSpPr>
          <p:nvPr/>
        </p:nvSpPr>
        <p:spPr>
          <a:xfrm>
            <a:off x="3609975" y="65246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0C1D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indicator-glyph-4">
            <a:extLst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noGrp="1"/>
          </p:cNvSpPr>
          <p:nvPr/>
        </p:nvSpPr>
        <p:spPr>
          <a:xfrm>
            <a:off x="3695700" y="6591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⚡</a:t>
            </a:r>
          </a:p>
        </p:txBody>
      </p:sp>
      <p:sp>
        <p:nvSpPr>
          <p:cNvPr id="18" name="indicator-circle-5">
            <a:extLst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noGrp="1"/>
          </p:cNvSpPr>
          <p:nvPr/>
        </p:nvSpPr>
        <p:spPr>
          <a:xfrm>
            <a:off x="4286250" y="65246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70D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indicator-glyph-5">
            <a:extLst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noGrp="1"/>
          </p:cNvSpPr>
          <p:nvPr/>
        </p:nvSpPr>
        <p:spPr>
          <a:xfrm>
            <a:off x="4371975" y="6591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◎</a:t>
            </a:r>
          </a:p>
        </p:txBody>
      </p:sp>
      <p:sp>
        <p:nvSpPr>
          <p:cNvPr id="20" name="service-pill">
            <a:extLst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noGrp="1"/>
          </p:cNvSpPr>
          <p:nvPr/>
        </p:nvSpPr>
        <p:spPr>
          <a:xfrm>
            <a:off x="5819775" y="3371850"/>
            <a:ext cx="3648075" cy="4667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7DEE5"/>
            </a:solidFill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buNone/>
              <a:defRPr sz="1350" b="1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3~6개월 </a:t>
            </a:r>
            <a:r>
              <a:rPr sz="1350" b="1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시범</a:t>
            </a:r>
            <a:r>
              <a:rPr sz="1350" b="1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운영</a:t>
            </a:r>
            <a:r>
              <a:rPr sz="1350" b="1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판단</a:t>
            </a:r>
            <a:r>
              <a:rPr sz="1350" b="1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게이트</a:t>
            </a:r>
            <a:endParaRPr sz="1350" b="1" dirty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service-body">
            <a:extLst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noGrp="1"/>
          </p:cNvSpPr>
          <p:nvPr/>
        </p:nvSpPr>
        <p:spPr>
          <a:xfrm>
            <a:off x="5819775" y="4295775"/>
            <a:ext cx="3648075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목표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달성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여부뿐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비용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이탈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구간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민원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사업자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운영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가능성을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보고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중단·보완·확대를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결정합니다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22" name="service-note">
            <a:extLst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noGrp="1"/>
          </p:cNvSpPr>
          <p:nvPr/>
        </p:nvSpPr>
        <p:spPr>
          <a:xfrm>
            <a:off x="5819775" y="5553075"/>
            <a:ext cx="364807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125" b="0" i="1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* 자연추세와 실제 운영 결과를 비교하되 관측 설계가 약하면 인과효과로 표현하지 않습니다.</a:t>
            </a:r>
          </a:p>
        </p:txBody>
      </p:sp>
      <p:sp>
        <p:nvSpPr>
          <p:cNvPr id="23" name="service-scope">
            <a:extLst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noGrp="1"/>
          </p:cNvSpPr>
          <p:nvPr/>
        </p:nvSpPr>
        <p:spPr>
          <a:xfrm>
            <a:off x="5819775" y="6553200"/>
            <a:ext cx="3648075" cy="4667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C1D4"/>
            </a:solidFill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buNone/>
              <a:defRPr sz="13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의사결정: 증거 우선</a:t>
            </a:r>
          </a:p>
        </p:txBody>
      </p:sp>
      <p:sp>
        <p:nvSpPr>
          <p:cNvPr id="24" name="private-pill">
            <a:extLst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noGrp="1"/>
          </p:cNvSpPr>
          <p:nvPr/>
        </p:nvSpPr>
        <p:spPr>
          <a:xfrm>
            <a:off x="10439400" y="3371850"/>
            <a:ext cx="4048125" cy="4667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7DEE5"/>
            </a:solidFill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buNone/>
              <a:defRPr sz="1350" b="1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근거 확보 후 확장</a:t>
            </a:r>
          </a:p>
        </p:txBody>
      </p:sp>
      <p:sp>
        <p:nvSpPr>
          <p:cNvPr id="25" name="private-body">
            <a:extLst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noGrp="1"/>
          </p:cNvSpPr>
          <p:nvPr/>
        </p:nvSpPr>
        <p:spPr>
          <a:xfrm>
            <a:off x="10439400" y="4295775"/>
            <a:ext cx="4048125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검증된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동선·업종·계절부터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확대하고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이후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외국인·MICE·민간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결제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등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필요한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데이터를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단계적으로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연계합니다</a:t>
            </a:r>
            <a:r>
              <a:rPr sz="1275" b="0" i="0" dirty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26" name="private-info">
            <a:extLst>
              <a:ext uri="{FF2B5EF4-FFF2-40B4-BE49-F238E27FC236}">
                <a16:creationId xmlns:a16="http://schemas.microsoft.com/office/drawing/2014/main" id="{D48F3C63-9D79-481C-991B-B8716C1F1ECD}"/>
              </a:ext>
            </a:extLst>
          </p:cNvPr>
          <p:cNvSpPr>
            <a:spLocks noGrp="1"/>
          </p:cNvSpPr>
          <p:nvPr/>
        </p:nvSpPr>
        <p:spPr>
          <a:xfrm>
            <a:off x="12039600" y="49720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04EA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private-info-label">
            <a:extLst>
              <a:ext uri="{FF2B5EF4-FFF2-40B4-BE49-F238E27FC236}">
                <a16:creationId xmlns:a16="http://schemas.microsoft.com/office/drawing/2014/main" id="{A5D8162B-C8F7-4F75-8A4B-B9894BFF7E7E}"/>
              </a:ext>
            </a:extLst>
          </p:cNvPr>
          <p:cNvSpPr>
            <a:spLocks noGrp="1"/>
          </p:cNvSpPr>
          <p:nvPr/>
        </p:nvSpPr>
        <p:spPr>
          <a:xfrm>
            <a:off x="12077700" y="4972050"/>
            <a:ext cx="95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</a:t>
            </a:r>
          </a:p>
        </p:txBody>
      </p:sp>
      <p:sp>
        <p:nvSpPr>
          <p:cNvPr id="28" name="private-goal">
            <a:extLst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noGrp="1"/>
          </p:cNvSpPr>
          <p:nvPr/>
        </p:nvSpPr>
        <p:spPr>
          <a:xfrm>
            <a:off x="10439400" y="5743575"/>
            <a:ext cx="34385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핵심: 성과 검증 후 예산 확대</a:t>
            </a:r>
          </a:p>
        </p:txBody>
      </p:sp>
      <p:sp>
        <p:nvSpPr>
          <p:cNvPr id="29" name="private-scope">
            <a:extLst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noGrp="1"/>
          </p:cNvSpPr>
          <p:nvPr/>
        </p:nvSpPr>
        <p:spPr>
          <a:xfrm>
            <a:off x="10439400" y="6553200"/>
            <a:ext cx="4048125" cy="4667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6B00"/>
            </a:solidFill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원칙: 효과 보장 표현 금지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3330</Words>
  <Application>Microsoft Office PowerPoint</Application>
  <DocSecurity>0</DocSecurity>
  <PresentationFormat>사용자 지정</PresentationFormat>
  <Paragraphs>294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Noto Sans KR</vt:lpstr>
      <vt:lpstr>맑은 고딕</vt:lpstr>
      <vt:lpstr>Calibri</vt:lpstr>
      <vt:lpstr>Segoe UI Symbol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</cp:lastModifiedBy>
  <cp:revision>1</cp:revision>
  <dcterms:created xsi:type="dcterms:W3CDTF">2026-09-02T01:20:33Z</dcterms:created>
  <dcterms:modified xsi:type="dcterms:W3CDTF">2026-09-02T07:38:10Z</dcterms:modified>
</cp:coreProperties>
</file>