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3.xml" ContentType="application/vnd.openxmlformats-officedocument.drawingml.chart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c9acad3462d47f4" Type="http://schemas.openxmlformats.org/package/2006/relationships/metadata/core-properties" Target="docProps/core.xml"/><Relationship Id="R45c0ced956484f6e" Type="http://schemas.openxmlformats.org/officeDocument/2006/relationships/officeDocument" Target="ppt/presentation.xml"/><Relationship Id="Ra16f1779ee94466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75127518841e9"/>
  </p:sldMasterIdLst>
  <p:notesMasterIdLst>
    <p:notesMasterId xmlns:r="http://schemas.openxmlformats.org/officeDocument/2006/relationships" r:id="R39a2950bce3543d9"/>
  </p:notesMasterIdLst>
  <p:sldIdLst>
    <p:sldId xmlns:r="http://schemas.openxmlformats.org/officeDocument/2006/relationships" id="256" r:id="R886a7c7854c24ea4"/>
    <p:sldId xmlns:r="http://schemas.openxmlformats.org/officeDocument/2006/relationships" id="257" r:id="Rf0fd60d93fe24e2b"/>
    <p:sldId xmlns:r="http://schemas.openxmlformats.org/officeDocument/2006/relationships" id="258" r:id="Rb96b5134fc1b4629"/>
    <p:sldId xmlns:r="http://schemas.openxmlformats.org/officeDocument/2006/relationships" id="259" r:id="R5b6702ccd7664af1"/>
    <p:sldId xmlns:r="http://schemas.openxmlformats.org/officeDocument/2006/relationships" id="261" r:id="Rbf371966fa964fc8"/>
    <p:sldId xmlns:r="http://schemas.openxmlformats.org/officeDocument/2006/relationships" id="262" r:id="R4c9d0e3030fa4c5f"/>
    <p:sldId xmlns:r="http://schemas.openxmlformats.org/officeDocument/2006/relationships" id="263" r:id="Rbbe47957bc6641c0"/>
    <p:sldId xmlns:r="http://schemas.openxmlformats.org/officeDocument/2006/relationships" id="264" r:id="R72f63d3229d64861"/>
    <p:sldId xmlns:r="http://schemas.openxmlformats.org/officeDocument/2006/relationships" id="266" r:id="R029df0519ade4c8b"/>
    <p:sldId xmlns:ns0="http://schemas.openxmlformats.org/officeDocument/2006/relationships" id="268" ns0:id="rId19"/>
    <p:sldId xmlns:r="http://schemas.openxmlformats.org/officeDocument/2006/relationships" id="267" r:id="R3ccf286ad037494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29df0519ade4c8b" Type="http://schemas.openxmlformats.org/officeDocument/2006/relationships/slide" Target="slides/slide11.xml"/><Relationship Id="R08a84642cb64493b" Type="http://schemas.openxmlformats.org/officeDocument/2006/relationships/tableStyles" Target="tableStyles.xml"/><Relationship Id="R0fdc956208c94083" Type="http://schemas.openxmlformats.org/officeDocument/2006/relationships/viewProps" Target="viewProps.xml"/><Relationship Id="R39a2950bce3543d9" Type="http://schemas.openxmlformats.org/officeDocument/2006/relationships/notesMaster" Target="notesMasters/notesMaster1.xml"/><Relationship Id="R3ccf286ad0374944" Type="http://schemas.openxmlformats.org/officeDocument/2006/relationships/slide" Target="slides/slide12.xml"/><Relationship Id="R4c9d0e3030fa4c5f" Type="http://schemas.openxmlformats.org/officeDocument/2006/relationships/slide" Target="slides/slide7.xml"/><Relationship Id="R5b6702ccd7664af1" Type="http://schemas.openxmlformats.org/officeDocument/2006/relationships/slide" Target="slides/slide4.xml"/><Relationship Id="R618d7671ebe14b00" Type="http://schemas.openxmlformats.org/officeDocument/2006/relationships/theme" Target="theme/theme1.xml"/><Relationship Id="R667c03bfc37b4314" Type="http://schemas.openxmlformats.org/officeDocument/2006/relationships/presProps" Target="presProps.xml"/><Relationship Id="R72f63d3229d64861" Type="http://schemas.openxmlformats.org/officeDocument/2006/relationships/slide" Target="slides/slide9.xml"/><Relationship Id="R886a7c7854c24ea4" Type="http://schemas.openxmlformats.org/officeDocument/2006/relationships/slide" Target="slides/slide1.xml"/><Relationship Id="Rb96b5134fc1b4629" Type="http://schemas.openxmlformats.org/officeDocument/2006/relationships/slide" Target="slides/slide3.xml"/><Relationship Id="Rbbe47957bc6641c0" Type="http://schemas.openxmlformats.org/officeDocument/2006/relationships/slide" Target="slides/slide8.xml"/><Relationship Id="Rbf371966fa964fc8" Type="http://schemas.openxmlformats.org/officeDocument/2006/relationships/slide" Target="slides/slide6.xml"/><Relationship Id="Rdef75127518841e9" Type="http://schemas.openxmlformats.org/officeDocument/2006/relationships/slideMaster" Target="slideMasters/slideMaster1.xml"/><Relationship Id="Rf0fd60d93fe24e2b" Type="http://schemas.openxmlformats.org/officeDocument/2006/relationships/slide" Target="slides/slide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factor"/>
          <c:yMode val="factor"/>
          <c:wMode val="factor"/>
          <c:hMode val="factor"/>
          <c:x val=".10"/>
          <c:y val=".04"/>
          <c:w val=".88"/>
          <c:h val=".70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사업 미진행시 예측값</c:v>
                </c:pt>
              </c:strCache>
            </c:strRef>
          </c:tx>
          <c:spPr>
            <a:ln w="38100">
              <a:solidFill>
                <a:srgbClr val="004EA2"/>
              </a:solidFill>
            </a:ln>
          </c:spPr>
          <c:marker>
            <c:symbol val="circle"/>
            <c:size val="7"/>
            <c:spPr>
              <a:solidFill>
                <a:srgbClr val="004EA2"/>
              </a:solidFill>
            </c:spPr>
          </c:marke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236.3056</c:v>
                </c:pt>
                <c:pt idx="1">
                  <c:v>263.327</c:v>
                </c:pt>
                <c:pt idx="2">
                  <c:v>263.2315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 KPI</c:v>
                </c:pt>
              </c:strCache>
            </c:strRef>
          </c:tx>
          <c:spPr>
            <a:ln w="38100">
              <a:solidFill>
                <a:srgbClr val="FF6B00"/>
              </a:solidFill>
            </a:ln>
          </c:spPr>
          <c:marker>
            <c:symbol val="circle"/>
            <c:size val="7"/>
            <c:spPr>
              <a:solidFill>
                <a:srgbClr val="FF6B00"/>
              </a:solidFill>
            </c:spPr>
          </c:marke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237.88097067</c:v>
                </c:pt>
                <c:pt idx="1">
                  <c:v>266.83802667</c:v>
                </c:pt>
                <c:pt idx="2">
                  <c:v>268.49613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80.0"/>
          <c:min val="220.0"/>
        </c:scaling>
        <c:delete val="0"/>
        <c:axPos val="l"/>
        <c:majorGridlines>
          <c:spPr>
            <a:ln>
              <a:solidFill>
                <a:srgbClr val="DCE5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factor"/>
          <c:yMode val="factor"/>
          <c:wMode val="factor"/>
          <c:hMode val="factor"/>
          <c:x val=".10"/>
          <c:y val=".04"/>
          <c:w val=".88"/>
          <c:h val=".70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사업 미진행시 예측값</c:v>
                </c:pt>
              </c:strCache>
            </c:strRef>
          </c:tx>
          <c:spPr>
            <a:ln w="38100">
              <a:solidFill>
                <a:srgbClr val="004EA2"/>
              </a:solidFill>
            </a:ln>
          </c:spPr>
          <c:marker>
            <c:symbol val="circle"/>
            <c:size val="7"/>
            <c:spPr>
              <a:solidFill>
                <a:srgbClr val="004EA2"/>
              </a:solidFill>
            </c:spPr>
          </c:marke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670.47345591</c:v>
                </c:pt>
                <c:pt idx="1">
                  <c:v>839.29975649</c:v>
                </c:pt>
                <c:pt idx="2">
                  <c:v>899.47681558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 KPI</c:v>
                </c:pt>
              </c:strCache>
            </c:strRef>
          </c:tx>
          <c:spPr>
            <a:ln w="38100">
              <a:solidFill>
                <a:srgbClr val="FF6B00"/>
              </a:solidFill>
            </a:ln>
          </c:spPr>
          <c:marker>
            <c:symbol val="circle"/>
            <c:size val="7"/>
            <c:spPr>
              <a:solidFill>
                <a:srgbClr val="FF6B00"/>
              </a:solidFill>
            </c:spPr>
          </c:marke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677.17819047</c:v>
                </c:pt>
                <c:pt idx="1">
                  <c:v>856.08575162</c:v>
                </c:pt>
                <c:pt idx="2">
                  <c:v>926.46112005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100.0"/>
          <c:min val="600.0"/>
        </c:scaling>
        <c:delete val="0"/>
        <c:axPos val="l"/>
        <c:majorGridlines>
          <c:spPr>
            <a:ln>
              <a:solidFill>
                <a:srgbClr val="DCE5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18791784"/>
        <c:crosses val="autoZero"/>
        <c:majorUnit val="100.0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c221e18921444c3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4ae6f84cfdd4244" Type="http://schemas.openxmlformats.org/officeDocument/2006/relationships/notesMaster" Target="../notesMasters/notesMaster1.xml"/><Relationship Id="R88f0191c0919446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41d388ffb344ce3" Type="http://schemas.openxmlformats.org/officeDocument/2006/relationships/slide" Target="../slides/slide2.xml"/><Relationship Id="Ra78cbacf853a4d2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ac37f364ddb4b5a" Type="http://schemas.openxmlformats.org/officeDocument/2006/relationships/notesMaster" Target="../notesMasters/notesMaster1.xml"/><Relationship Id="R533025fa502d4be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df52324b55d4359" Type="http://schemas.openxmlformats.org/officeDocument/2006/relationships/slide" Target="../slides/slide4.xml"/><Relationship Id="Rc24a4727af3340d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0f673709257246ec" Type="http://schemas.openxmlformats.org/officeDocument/2006/relationships/slide" Target="../slides/slide6.xml"/><Relationship Id="R8a8db54fee03481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4a20545e0fc4e86" Type="http://schemas.openxmlformats.org/officeDocument/2006/relationships/slide" Target="../slides/slide7.xml"/><Relationship Id="Rfa2c23df5fe342e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990bca06bbea4ea5" Type="http://schemas.openxmlformats.org/officeDocument/2006/relationships/slide" Target="../slides/slide12.xml"/><Relationship Id="Rd1e7cf7dd1634167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{</a:t>
            </a:r>
          </a:p>
          <a:p>
            <a:r>
              <a:t>    "visitor_target_pct": 2,</a:t>
            </a:r>
          </a:p>
          <a:p>
            <a:r>
              <a:t>    "spending_target_pct": 3</a:t>
            </a:r>
          </a:p>
          <a:p>
            <a:r>
              <a:t>  },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 목표율 입력 시 최종 월의 자연추세와 목표를 비교합니다. 미입력 시 견적에 기반한 별도 참여 목표만 제안합니다.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{</a:t>
            </a:r>
          </a:p>
          <a:p>
            <a:r>
              <a:t>    "visitor_target_pct": 2,</a:t>
            </a:r>
          </a:p>
          <a:p>
            <a:r>
              <a:t>    "spending_target_pct": 3</a:t>
            </a:r>
          </a:p>
          <a:p>
            <a:r>
              <a:t>  },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{</a:t>
            </a:r>
          </a:p>
          <a:p>
            <a:r>
              <a:t>    "visitor_target_pct": 2,</a:t>
            </a:r>
          </a:p>
          <a:p>
            <a:r>
              <a:t>    "spending_target_pct": 3</a:t>
            </a:r>
          </a:p>
          <a:p>
            <a:r>
              <a:t>  },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[Calculation audit]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"source_inventory":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순 방문자 수 및 숙박 비율 (이동통신 기반 외지인)",</a:t>
            </a:r>
          </a:p>
          <a:p xmlns:a="http://schemas.openxmlformats.org/drawingml/2006/main">
            <a:r>
              <a:t>      "summary": "월간 순 방문자 수: 2,285,734명 (관측 기준월: 2026-06)",</a:t>
            </a:r>
          </a:p>
          <a:p xmlns:a="http://schemas.openxmlformats.org/drawingml/2006/main">
            <a:r>
              <a:t>      "source_id": "dataset:51130:1",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월간 순 방문자 수 (이동통신 기반 외지인)",</a:t>
            </a:r>
          </a:p>
          <a:p xmlns:a="http://schemas.openxmlformats.org/drawingml/2006/main">
            <a:r>
              <a:t>      "summary": "전년동월 외지인 방문자 증감률: -2.7% (관측 기준월: 2026-06)",</a:t>
            </a:r>
          </a:p>
          <a:p xmlns:a="http://schemas.openxmlformats.org/drawingml/2006/main">
            <a:r>
              <a:t>      "source_id": "dataset:51130:2",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관광소비 추이_외지인",</a:t>
            </a:r>
          </a:p>
          <a:p xmlns:a="http://schemas.openxmlformats.org/drawingml/2006/main">
            <a:r>
              <a:t>      "summary": "월간 외지인 관광소비 총액: 60,562,672,000원 (관측 기준월: 2026-06)",</a:t>
            </a:r>
          </a:p>
          <a:p xmlns:a="http://schemas.openxmlformats.org/drawingml/2006/main">
            <a:r>
              <a:t>      "source_id": "dataset:51130:3",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숙박방문자 비율 추이 (이동통신 기반 외지인)",</a:t>
            </a:r>
          </a:p>
          <a:p xmlns:a="http://schemas.openxmlformats.org/drawingml/2006/main">
            <a:r>
              <a:t>      "summary": "외지인 숙박 방문 비율: 12.5% (관측 기준월: 2026-06)",</a:t>
            </a:r>
          </a:p>
          <a:p xmlns:a="http://schemas.openxmlformats.org/drawingml/2006/main">
            <a:r>
              <a:t>      "source_id": "dataset:51130:4",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평균 숙박일 (이동통신 기반 외지인)",</a:t>
            </a:r>
          </a:p>
          <a:p xmlns:a="http://schemas.openxmlformats.org/drawingml/2006/main">
            <a:r>
              <a:t>      "summary": "외지인 평균 숙박일수: 2.76일 (관측 기준월: 2026-06)",</a:t>
            </a:r>
          </a:p>
          <a:p xmlns:a="http://schemas.openxmlformats.org/drawingml/2006/main">
            <a:r>
              <a:t>      "source_id": "dataset:51130:5",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내비게이션 목적지 유형별 검색량",</a:t>
            </a:r>
          </a:p>
          <a:p xmlns:a="http://schemas.openxmlformats.org/drawingml/2006/main">
            <a:r>
              <a:t>      "summary": "내비게이션 목적지 검색량: 303,921건 (관측 기준월: 2026-06)",</a:t>
            </a:r>
          </a:p>
          <a:p xmlns:a="http://schemas.openxmlformats.org/drawingml/2006/main">
            <a:r>
              <a:t>      "source_id": "dataset:51130:6",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SNS 언급량",</a:t>
            </a:r>
          </a:p>
          <a:p xmlns:a="http://schemas.openxmlformats.org/drawingml/2006/main">
            <a:r>
              <a:t>      "summary": "SNS 언급량: 41,121건 (관측 기준월: 2026-06)",</a:t>
            </a:r>
          </a:p>
          <a:p xmlns:a="http://schemas.openxmlformats.org/drawingml/2006/main">
            <a:r>
              <a:t>      "source_id": "dataset:51130:7",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"datalab:16d84bd9b1d0:620b2639a268",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"강원특별자치도_원주시/숙박_체류시간/2025_01_12.zip"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"datalab:242a2c1249d4:f84e1a5f3914",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"강원특별자치도_원주시/숙박_체류시간/2026_01_06.zip"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"datalab:a050e5a84ef4:3906c6ac70a7",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"강원특별자치도_원주시/방문자/2025_01_12.zip"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"datalab:bd9d3d26da19:991f2264ad4a",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"강원특별자치도_원주시/방문자/2026_01_06.zip"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"datalab:d54a3fb44037:ee4640b6178b",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"강원특별자치도_원주시/관광소비/2026_01_06.zip"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"datalab:ebce91b8bf02:1770c2d94cc6",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"강원특별자치도_원주시/관광소비/2025_01_12.zip"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"team-bigdata:23ea68053684:6bfbcf8aabf6",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방문자수/20260820140607__202601-202606_데이터랩_다운로드.zip"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"team-bigdata:98d4ae590d9a:3be52dd54323",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"이동통신/외국인/20260820141710_전국_202601-202606_데이터랩_다운로드.zip"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"team-bigdata:367cd0294ec4:873930d645e5",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"신용카드/내국인/지역별 관광지출액/20260820140046__202601-202606_데이터랩_다운로드.zip"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"team-bigdata:553a0dad4bb4:5a31355dffe8",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"신용카드/외국인/지역별 관광지출액/20260820140355__202601-202606_데이터랩_다운로드.zip"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"team-bigdata:a53dbe1c21df:77a052de41d5",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"네비게이션/지역별 검색건수/20260820195507__202601-202606_데이터랩_다운로드.zip"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"team-bigdata:823a38d1d61c:5385261d02e5",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방문자수/20260820140614__202501-202512_데이터랩_다운로드.zip"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"team-bigdata:2723bdb0d589:1666a34058ed",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"이동통신/외국인/20260820141649_전국_202501-202512_데이터랩_다운로드.zip"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"team-bigdata:83177a234971:c02cb7972e0f",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"신용카드/내국인/지역별 관광지출액/20260820135957__202501-202512_데이터랩_다운로드.zip"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"team-bigdata:58ded7732251:589c76395cbc",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"신용카드/외국인/지역별 관광지출액/20260820140409__202501-202512_데이터랩_다운로드.zip"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"team-bigdata:e28c947cb52f:bb4cb344a6ba",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"네비게이션/지역별 검색건수/20260820132007__202501-202512_데이터랩_다운로드.zip"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"team-bigdata:8815bbb11a39:1a5988f5f8ec",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방문자수/20260820140624__202401-202412_데이터랩_다운로드.zip"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"team-bigdata:19fd67fbb73d:afa4f0f54a2f",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"이동통신/외국인/20260820141639_전국_202401-202412_데이터랩_다운로드.zip"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유입유출",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"regional-status:90f2be7a0f7d:b989a6c2e7bf",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지역집중률",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"regional-status:c39767bd23e8:e3b081f6e6aa",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인기관광지",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"regional-status:edaf76986d99:c00fa7ffc0a7",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"지역 관광수요 ML 전망 · 공식 관측값 아님",</a:t>
            </a:r>
          </a:p>
          <a:p xmlns:a="http://schemas.openxmlformats.org/drawingml/2006/main">
            <a:r>
              <a:t>      "summary": "학습 202401~202606 · 모델 regional-demand-v3.1 · 자연 추세 예측",</a:t>
            </a:r>
          </a:p>
          <a:p xmlns:a="http://schemas.openxmlformats.org/drawingml/2006/main">
            <a:r>
              <a:t>      "source_id": "ml:51130:regional-demand-v3.1:202606",</a:t>
            </a:r>
          </a:p>
          <a:p xmlns:a="http://schemas.openxmlformats.org/drawingml/2006/main">
            <a:r>
              <a:t>      "source_url": "",</a:t>
            </a:r>
          </a:p>
          <a:p xmlns:a="http://schemas.openxmlformats.org/drawingml/2006/main">
            <a:r>
              <a:t>      "source_type": "model_forecast",</a:t>
            </a:r>
          </a:p>
          <a:p xmlns:a="http://schemas.openxmlformats.org/drawingml/2006/main">
            <a:r>
              <a:t>      "model_version": "regional-demand-v3.1",</a:t>
            </a:r>
          </a:p>
          <a:p xmlns:a="http://schemas.openxmlformats.org/drawingml/2006/main">
            <a:r>
              <a:t>      "data_fingerprint": "1f7caf31818b53f22347c7318503ea14cbef8a3765f5b75b8191fe8ca2193349"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"감악산캠핑숲",</a:t>
            </a:r>
          </a:p>
          <a:p xmlns:a="http://schemas.openxmlformats.org/drawingml/2006/main">
            <a:r>
              <a:t>      "address": "강원특별자치도 원주시 신림면 신림황둔로 714",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"http://tong.visitkorea.or.kr/cms/resource/64/2732964_image2_1.JPG",</a:t>
            </a:r>
          </a:p>
          <a:p xmlns:a="http://schemas.openxmlformats.org/drawingml/2006/main">
            <a:r>
              <a:t>      "source_id": "tour-api:2732999",</a:t>
            </a:r>
          </a:p>
          <a:p xmlns:a="http://schemas.openxmlformats.org/drawingml/2006/main">
            <a:r>
              <a:t>      "content_id": "2732999",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"강원감영관찰사·무릉고서화미술박물관",</a:t>
            </a:r>
          </a:p>
          <a:p xmlns:a="http://schemas.openxmlformats.org/drawingml/2006/main">
            <a:r>
              <a:t>      "address": "강원특별자치도 원주시 흥업면 사제로 399-10",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"http://tong.visitkorea.or.kr/cms/resource/64/3437164_image2_1.jpg",</a:t>
            </a:r>
          </a:p>
          <a:p xmlns:a="http://schemas.openxmlformats.org/drawingml/2006/main">
            <a:r>
              <a:t>      "source_id": "tour-api:2555010",</a:t>
            </a:r>
          </a:p>
          <a:p xmlns:a="http://schemas.openxmlformats.org/drawingml/2006/main">
            <a:r>
              <a:t>      "content_id": "2555010",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"강원도힐링캠핑장",</a:t>
            </a:r>
          </a:p>
          <a:p xmlns:a="http://schemas.openxmlformats.org/drawingml/2006/main">
            <a:r>
              <a:t>      "address": "강원특별자치도 원주시 신림면 재사동길 10-38",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"http://tong.visitkorea.or.kr/cms/resource/98/2733998_image2_1.JPG",</a:t>
            </a:r>
          </a:p>
          <a:p xmlns:a="http://schemas.openxmlformats.org/drawingml/2006/main">
            <a:r>
              <a:t>      "source_id": "tour-api:2734136",</a:t>
            </a:r>
          </a:p>
          <a:p xmlns:a="http://schemas.openxmlformats.org/drawingml/2006/main">
            <a:r>
              <a:t>      "content_id": "2734136",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"경천묘",</a:t>
            </a:r>
          </a:p>
          <a:p xmlns:a="http://schemas.openxmlformats.org/drawingml/2006/main">
            <a:r>
              <a:t>      "address": "강원특별자치도 원주시 귀래면 미륵산길 200",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"http://tong.visitkorea.or.kr/cms/resource/56/3379256_image2_1.JPG",</a:t>
            </a:r>
          </a:p>
          <a:p xmlns:a="http://schemas.openxmlformats.org/drawingml/2006/main">
            <a:r>
              <a:t>      "source_id": "tour-api:2702477",</a:t>
            </a:r>
          </a:p>
          <a:p xmlns:a="http://schemas.openxmlformats.org/drawingml/2006/main">
            <a:r>
              <a:t>      "content_id": "2702477",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"고판화박물관",</a:t>
            </a:r>
          </a:p>
          <a:p xmlns:a="http://schemas.openxmlformats.org/drawingml/2006/main">
            <a:r>
              <a:t>      "address": "강원특별자치도 원주시 신림면 물안길 62",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"http://tong.visitkorea.or.kr/cms/resource/36/3375236_image2_1.JPG",</a:t>
            </a:r>
          </a:p>
          <a:p xmlns:a="http://schemas.openxmlformats.org/drawingml/2006/main">
            <a:r>
              <a:t>      "source_id": "tour-api:130539",</a:t>
            </a:r>
          </a:p>
          <a:p xmlns:a="http://schemas.openxmlformats.org/drawingml/2006/main">
            <a:r>
              <a:t>      "content_id": "130539",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"관음사·국형사계곡",</a:t>
            </a:r>
          </a:p>
          <a:p xmlns:a="http://schemas.openxmlformats.org/drawingml/2006/main">
            <a:r>
              <a:t>      "address": "강원특별자치도 원주시 고문골길 169 (행구동)",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"http://tong.visitkorea.or.kr/cms/resource/29/3045629_image2_1.jpg",</a:t>
            </a:r>
          </a:p>
          <a:p xmlns:a="http://schemas.openxmlformats.org/drawingml/2006/main">
            <a:r>
              <a:t>      "source_id": "tour-api:125645",</a:t>
            </a:r>
          </a:p>
          <a:p xmlns:a="http://schemas.openxmlformats.org/drawingml/2006/main">
            <a:r>
              <a:t>      "content_id": "125645",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"광화문갈비 원주점",</a:t>
            </a:r>
          </a:p>
          <a:p xmlns:a="http://schemas.openxmlformats.org/drawingml/2006/main">
            <a:r>
              <a:t>      "address": "강원특별자치도 원주시 능라동길 48 (무실동)",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"http://tong.visitkorea.or.kr/cms/resource/86/3421686_image2_1.jpg",</a:t>
            </a:r>
          </a:p>
          <a:p xmlns:a="http://schemas.openxmlformats.org/drawingml/2006/main">
            <a:r>
              <a:t>      "source_id": "tour-api:3356037",</a:t>
            </a:r>
          </a:p>
          <a:p xmlns:a="http://schemas.openxmlformats.org/drawingml/2006/main">
            <a:r>
              <a:t>      "content_id": "3356037",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"구 조선식산은행 원주지점",</a:t>
            </a:r>
          </a:p>
          <a:p xmlns:a="http://schemas.openxmlformats.org/drawingml/2006/main">
            <a:r>
              <a:t>      "address": "강원특별자치도 원주시 중앙로 88 (중앙동)",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"http://tong.visitkorea.or.kr/cms/resource/78/3379278_image2_1.JPG",</a:t>
            </a:r>
          </a:p>
          <a:p xmlns:a="http://schemas.openxmlformats.org/drawingml/2006/main">
            <a:r>
              <a:t>      "source_id": "tour-api:2762710",</a:t>
            </a:r>
          </a:p>
          <a:p xmlns:a="http://schemas.openxmlformats.org/drawingml/2006/main">
            <a:r>
              <a:t>      "content_id": "2762710",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"국형사",</a:t>
            </a:r>
          </a:p>
          <a:p xmlns:a="http://schemas.openxmlformats.org/drawingml/2006/main">
            <a:r>
              <a:t>      "address": "강원특별자치도 원주시 고문골길 155 (행구동)",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"http://tong.visitkorea.or.kr/cms/resource/87/3559187_image2_1.jpeg",</a:t>
            </a:r>
          </a:p>
          <a:p xmlns:a="http://schemas.openxmlformats.org/drawingml/2006/main">
            <a:r>
              <a:t>      "source_id": "tour-api:125757",</a:t>
            </a:r>
          </a:p>
          <a:p xmlns:a="http://schemas.openxmlformats.org/drawingml/2006/main">
            <a:r>
              <a:t>      "content_id": "125757",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 에코힐링 캠핑장",</a:t>
            </a:r>
          </a:p>
          <a:p xmlns:a="http://schemas.openxmlformats.org/drawingml/2006/main">
            <a:r>
              <a:t>      "address": "강원특별자치도 원주시 판부면 영원산성길 372",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"http://tong.visitkorea.or.kr/cms/resource/95/2011295_image2_1.jpg",</a:t>
            </a:r>
          </a:p>
          <a:p xmlns:a="http://schemas.openxmlformats.org/drawingml/2006/main">
            <a:r>
              <a:t>      "source_id": "tour-api:2033279",</a:t>
            </a:r>
          </a:p>
          <a:p xmlns:a="http://schemas.openxmlformats.org/drawingml/2006/main">
            <a:r>
              <a:t>      "content_id": "2033279",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"금대계곡",</a:t>
            </a:r>
          </a:p>
          <a:p xmlns:a="http://schemas.openxmlformats.org/drawingml/2006/main">
            <a:r>
              <a:t>      "address": "강원특별자치도 원주시 판부면 치악로 546-22",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"http://tong.visitkorea.or.kr/cms/resource/85/3045285_image2_1.jpg",</a:t>
            </a:r>
          </a:p>
          <a:p xmlns:a="http://schemas.openxmlformats.org/drawingml/2006/main">
            <a:r>
              <a:t>      "source_id": "tour-api:129676",</a:t>
            </a:r>
          </a:p>
          <a:p xmlns:a="http://schemas.openxmlformats.org/drawingml/2006/main">
            <a:r>
              <a:t>      "content_id": "129676",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"금대자동차야영장",</a:t>
            </a:r>
          </a:p>
          <a:p xmlns:a="http://schemas.openxmlformats.org/drawingml/2006/main">
            <a:r>
              <a:t>      "address": "강원특별자치도 원주시 판부면 영원산성길 372",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"http://tong.visitkorea.or.kr/cms/resource/97/2734897_image2_1.JPG",</a:t>
            </a:r>
          </a:p>
          <a:p xmlns:a="http://schemas.openxmlformats.org/drawingml/2006/main">
            <a:r>
              <a:t>      "source_id": "tour-api:2734906",</a:t>
            </a:r>
          </a:p>
          <a:p xmlns:a="http://schemas.openxmlformats.org/drawingml/2006/main">
            <a:r>
              <a:t>      "content_id": "2734906",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"기후변화홍보관",</a:t>
            </a:r>
          </a:p>
          <a:p xmlns:a="http://schemas.openxmlformats.org/drawingml/2006/main">
            <a:r>
              <a:t>      "address": "강원특별자치도 원주시 행구로 362",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"http://tong.visitkorea.or.kr/cms/resource/40/3533840_image2_1.JPG",</a:t>
            </a:r>
          </a:p>
          <a:p xmlns:a="http://schemas.openxmlformats.org/drawingml/2006/main">
            <a:r>
              <a:t>      "source_id": "tour-api:2714800",</a:t>
            </a:r>
          </a:p>
          <a:p xmlns:a="http://schemas.openxmlformats.org/drawingml/2006/main">
            <a:r>
              <a:t>      "content_id": "2714800",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"김가네원주추어탕",</a:t>
            </a:r>
          </a:p>
          <a:p xmlns:a="http://schemas.openxmlformats.org/drawingml/2006/main">
            <a:r>
              <a:t>      "address": "강원특별자치도 원주시 단관공원길 90-3",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"http://tong.visitkorea.or.kr/cms/resource/25/2892325_image2_1.jpg",</a:t>
            </a:r>
          </a:p>
          <a:p xmlns:a="http://schemas.openxmlformats.org/drawingml/2006/main">
            <a:r>
              <a:t>      "source_id": "tour-api:2892327",</a:t>
            </a:r>
          </a:p>
          <a:p xmlns:a="http://schemas.openxmlformats.org/drawingml/2006/main">
            <a:r>
              <a:t>      "content_id": "2892327",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"김제남 신도비",</a:t>
            </a:r>
          </a:p>
          <a:p xmlns:a="http://schemas.openxmlformats.org/drawingml/2006/main">
            <a:r>
              <a:t>      "address": "강원특별자치도 원주시 지정면 흥법사지길 18",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"http://tong.visitkorea.or.kr/cms/resource/28/3376528_image2_1.JPG",</a:t>
            </a:r>
          </a:p>
          <a:p xmlns:a="http://schemas.openxmlformats.org/drawingml/2006/main">
            <a:r>
              <a:t>      "source_id": "tour-api:129284",</a:t>
            </a:r>
          </a:p>
          <a:p xmlns:a="http://schemas.openxmlformats.org/drawingml/2006/main">
            <a:r>
              <a:t>      "content_id": "129284",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"넌스키 난보드",</a:t>
            </a:r>
          </a:p>
          <a:p xmlns:a="http://schemas.openxmlformats.org/drawingml/2006/main">
            <a:r>
              <a:t>      "address": "강원특별자치도 원주시 지정면 구재로 132",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"http://tong.visitkorea.or.kr/cms/resource/73/3562173_image2_1.jpg",</a:t>
            </a:r>
          </a:p>
          <a:p xmlns:a="http://schemas.openxmlformats.org/drawingml/2006/main">
            <a:r>
              <a:t>      "source_id": "tour-api:512084",</a:t>
            </a:r>
          </a:p>
          <a:p xmlns:a="http://schemas.openxmlformats.org/drawingml/2006/main">
            <a:r>
              <a:t>      "content_id": "512084",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"농가",</a:t>
            </a:r>
          </a:p>
          <a:p xmlns:a="http://schemas.openxmlformats.org/drawingml/2006/main">
            <a:r>
              <a:t>      "address": "강원특별자치도 원주시 양지뜰3길 11 (반곡동)",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"http://tong.visitkorea.or.kr/cms/resource/42/3566442_image2_1.jpg",</a:t>
            </a:r>
          </a:p>
          <a:p xmlns:a="http://schemas.openxmlformats.org/drawingml/2006/main">
            <a:r>
              <a:t>      "source_id": "tour-api:1822667",</a:t>
            </a:r>
          </a:p>
          <a:p xmlns:a="http://schemas.openxmlformats.org/drawingml/2006/main">
            <a:r>
              <a:t>      "content_id": "1822667",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"단관공원",</a:t>
            </a:r>
          </a:p>
          <a:p xmlns:a="http://schemas.openxmlformats.org/drawingml/2006/main">
            <a:r>
              <a:t>      "address": "강원특별자치도 원주시 단관공원길 63",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"http://tong.visitkorea.or.kr/cms/resource/43/3334543_image2_1.jpg",</a:t>
            </a:r>
          </a:p>
          <a:p xmlns:a="http://schemas.openxmlformats.org/drawingml/2006/main">
            <a:r>
              <a:t>      "source_id": "tour-api:2778036",</a:t>
            </a:r>
          </a:p>
          <a:p xmlns:a="http://schemas.openxmlformats.org/drawingml/2006/main">
            <a:r>
              <a:t>      "content_id": "2778036",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"동승루",</a:t>
            </a:r>
          </a:p>
          <a:p xmlns:a="http://schemas.openxmlformats.org/drawingml/2006/main">
            <a:r>
              <a:t>      "address": "강원특별자치도 원주시 이화4길 30",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"http://tong.visitkorea.or.kr/cms/resource/15/2892315_image2_1.jpg",</a:t>
            </a:r>
          </a:p>
          <a:p xmlns:a="http://schemas.openxmlformats.org/drawingml/2006/main">
            <a:r>
              <a:t>      "source_id": "tour-api:2892320",</a:t>
            </a:r>
          </a:p>
          <a:p xmlns:a="http://schemas.openxmlformats.org/drawingml/2006/main">
            <a:r>
              <a:t>      "content_id": "2892320",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"들꽃가든",</a:t>
            </a:r>
          </a:p>
          <a:p xmlns:a="http://schemas.openxmlformats.org/drawingml/2006/main">
            <a:r>
              <a:t>      "address": "강원특별자치도 원주시 월송석화로 488",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"http://tong.visitkorea.or.kr/cms/resource/04/2892304_image2_1.jpg",</a:t>
            </a:r>
          </a:p>
          <a:p xmlns:a="http://schemas.openxmlformats.org/drawingml/2006/main">
            <a:r>
              <a:t>      "source_id": "tour-api:2892312",</a:t>
            </a:r>
          </a:p>
          <a:p xmlns:a="http://schemas.openxmlformats.org/drawingml/2006/main">
            <a:r>
              <a:t>      "content_id": "2892312",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"요즘, 한국관광 2호 - 지방공항 연계 지역관광 활성화 방안",</a:t>
            </a:r>
          </a:p>
          <a:p xmlns:a="http://schemas.openxmlformats.org/drawingml/2006/main"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 xmlns:a="http://schemas.openxmlformats.org/drawingml/2006/main">
            <a:r>
              <a:t>      "chunk_id": "reference:kto:2026:local-airport:page:041:chunk:01",</a:t>
            </a:r>
          </a:p>
          <a:p xmlns:a="http://schemas.openxmlformats.org/drawingml/2006/main">
            <a:r>
              <a:t>      "source_id": "reference:kto:2026:local-airport",</a:t>
            </a:r>
          </a:p>
          <a:p xmlns:a="http://schemas.openxmlformats.org/drawingml/2006/main">
            <a:r>
              <a:t>      "source_url": "https://datalab.visitkorea.or.kr/site/portal/ex/bbs/View.do?bcIdx=311068&amp;cbIdx=1135&amp;pageIndex=1",</a:t>
            </a:r>
          </a:p>
          <a:p xmlns:a="http://schemas.openxmlformats.org/drawingml/2006/main">
            <a:r>
              <a:t>      "case_region": "",</a:t>
            </a:r>
          </a:p>
          <a:p xmlns:a="http://schemas.openxmlformats.org/drawingml/2006/main">
            <a:r>
              <a:t>      "source_note": "지방공항·연계 지역에 관한 자료입니다. 다른 시군구의 사업 효과·예산을 보장하는 근거로 사용하지 않습니다.",</a:t>
            </a:r>
          </a:p>
          <a:p xmlns:a="http://schemas.openxmlformats.org/drawingml/2006/main">
            <a:r>
              <a:t>      "source_type": "rag",</a:t>
            </a:r>
          </a:p>
          <a:p xmlns:a="http://schemas.openxmlformats.org/drawingml/2006/main">
            <a:r>
              <a:t>      "intervention": "",</a:t>
            </a:r>
          </a:p>
          <a:p xmlns:a="http://schemas.openxmlformats.org/drawingml/2006/main">
            <a:r>
              <a:t>      "document_type": "policy",</a:t>
            </a:r>
          </a:p>
          <a:p xmlns:a="http://schemas.openxmlformats.org/drawingml/2006/main">
            <a:r>
              <a:t>      "matched_terms": [</a:t>
            </a:r>
          </a:p>
          <a:p xmlns:a="http://schemas.openxmlformats.org/drawingml/2006/main">
            <a:r>
              <a:t>        "관광",</a:t>
            </a:r>
          </a:p>
          <a:p xmlns:a="http://schemas.openxmlformats.org/drawingml/2006/main">
            <a:r>
              <a:t>        "방문으로",</a:t>
            </a:r>
          </a:p>
          <a:p xmlns:a="http://schemas.openxmlformats.org/drawingml/2006/main">
            <a:r>
              <a:t>        "사업을",</a:t>
            </a:r>
          </a:p>
          <a:p xmlns:a="http://schemas.openxmlformats.org/drawingml/2006/main">
            <a:r>
              <a:t>        "성과",</a:t>
            </a:r>
          </a:p>
          <a:p xmlns:a="http://schemas.openxmlformats.org/drawingml/2006/main">
            <a:r>
              <a:t>        "소비",</a:t>
            </a:r>
          </a:p>
          <a:p xmlns:a="http://schemas.openxmlformats.org/drawingml/2006/main">
            <a:r>
              <a:t>        "실제",</a:t>
            </a:r>
          </a:p>
          <a:p xmlns:a="http://schemas.openxmlformats.org/drawingml/2006/main">
            <a:r>
              <a:t>        "연계",</a:t>
            </a:r>
          </a:p>
          <a:p xmlns:a="http://schemas.openxmlformats.org/drawingml/2006/main">
            <a:r>
              <a:t>        "체류",</a:t>
            </a:r>
          </a:p>
          <a:p xmlns:a="http://schemas.openxmlformats.org/drawingml/2006/main">
            <a:r>
              <a:t>        "함께"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"page_references": "PDF 41쪽",</a:t>
            </a:r>
          </a:p>
          <a:p xmlns:a="http://schemas.openxmlformats.org/drawingml/2006/main">
            <a:r>
              <a:t>      "parent_source_id": "reference:kto:2026:local-airport",</a:t>
            </a:r>
          </a:p>
          <a:p xmlns:a="http://schemas.openxmlformats.org/drawingml/2006/main">
            <a:r>
              <a:t>      "retrieval_method": "local_curated_chunk",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"2026-08"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"강진 반값여행 지역경제 효과 소개",</a:t>
            </a:r>
          </a:p>
          <a:p xmlns:a="http://schemas.openxmlformats.org/drawingml/2006/main"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 xmlns:a="http://schemas.openxmlformats.org/drawingml/2006/main">
            <a:r>
              <a:t>      "source_id": "case:gangjin_half_price_2024",</a:t>
            </a:r>
          </a:p>
          <a:p xmlns:a="http://schemas.openxmlformats.org/drawingml/2006/main">
            <a:r>
              <a:t>      "source_url": "https://jnfarm.jeonnam.go.kr/board/FARM_BOARD_008/boardView.do?bdId=BD_00000000000011721&amp;menuCd=farm004002",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"2024년 6월 여행가는 달 추진 보도자료",</a:t>
            </a:r>
          </a:p>
          <a:p xmlns:a="http://schemas.openxmlformats.org/drawingml/2006/main"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 xmlns:a="http://schemas.openxmlformats.org/drawingml/2006/main">
            <a:r>
              <a:t>      "source_id": "case:digital_tourism_resident_2024",</a:t>
            </a:r>
          </a:p>
          <a:p xmlns:a="http://schemas.openxmlformats.org/drawingml/2006/main"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"2024-05-14"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"2024년도 정부업무평가 관광분야 성과자료",</a:t>
            </a:r>
          </a:p>
          <a:p xmlns:a="http://schemas.openxmlformats.org/drawingml/2006/main"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 xmlns:a="http://schemas.openxmlformats.org/drawingml/2006/main">
            <a:r>
              <a:t>      "source_id": "case:night_tourism_cities_2024",</a:t>
            </a:r>
          </a:p>
          <a:p xmlns:a="http://schemas.openxmlformats.org/drawingml/2006/main">
            <a:r>
              <a:t>      "source_url": "https://www.evaluation.go.kr/upload2/atch/eval/20250429095846463.pdf",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"2025-04-29"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"전주시 2026년도 관광산업과 세출예산 사업명세서",</a:t>
            </a:r>
          </a:p>
          <a:p xmlns:a="http://schemas.openxmlformats.org/drawingml/2006/main">
            <a:r>
              <a:t>      "summary": "전북특별자치도 전주시 · 야간관광 특화도시 예산 편성 · 예산서이므로 방문·소비 성과는 확인되지 않음",</a:t>
            </a:r>
          </a:p>
          <a:p xmlns:a="http://schemas.openxmlformats.org/drawingml/2006/main">
            <a:r>
              <a:t>      "source_id": "case:jeonju_night_budget_2026",</a:t>
            </a:r>
          </a:p>
          <a:p xmlns:a="http://schemas.openxmlformats.org/drawingml/2006/main">
            <a:r>
              <a:t>      "source_url": "https://jeonju.go.kr/resource/www/images/download/budget/2026/2026_31_2.pdf",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"high",</a:t>
            </a:r>
          </a:p>
          <a:p xmlns:a="http://schemas.openxmlformats.org/drawingml/2006/main">
            <a:r>
              <a:t>      "published_or_updated_at": "2026"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"2022 대한민국 숙박대전 경제파급효과 공개자료",</a:t>
            </a:r>
          </a:p>
          <a:p xmlns:a="http://schemas.openxmlformats.org/drawingml/2006/main"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 xmlns:a="http://schemas.openxmlformats.org/drawingml/2006/main">
            <a:r>
              <a:t>      "source_id": "case:kto_stay_discount_2022",</a:t>
            </a:r>
          </a:p>
          <a:p xmlns:a="http://schemas.openxmlformats.org/drawingml/2006/main">
            <a:r>
              <a:t>      "source_url": "https://kto.visitkorea.or.kr/upload/flexer/upload/ktobiz/20220928/b623b5f9-3ec0-11ed-9832-ddf31964842e.hwp.files/Sections1.html",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"2022-09-28"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"2025 대한민국 밤밤페스타 개최 도시 및 일정",</a:t>
            </a:r>
          </a:p>
          <a:p xmlns:a="http://schemas.openxmlformats.org/drawingml/2006/main"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 xmlns:a="http://schemas.openxmlformats.org/drawingml/2006/main">
            <a:r>
              <a:t>      "source_id": "case:night_festival_2025",</a:t>
            </a:r>
          </a:p>
          <a:p xmlns:a="http://schemas.openxmlformats.org/drawingml/2006/main">
            <a:r>
              <a:t>      "source_url": "https://korean.visitkorea.or.kr/detail/rem_detail.do?cotid=f9c636b2-dd7c-4f09-af3d-6af43b33d371",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"2025"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"경천묘",</a:t>
            </a:r>
          </a:p>
          <a:p xmlns:a="http://schemas.openxmlformats.org/drawingml/2006/main">
            <a:r>
              <a:t>      "address": "강원특별자치도 원주시 귀래면 미륵산길 200",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"http://tong.visitkorea.or.kr/cms/resource/56/3379256_image2_1.JPG",</a:t>
            </a:r>
          </a:p>
          <a:p xmlns:a="http://schemas.openxmlformats.org/drawingml/2006/main">
            <a:r>
              <a:t>      "source_id": "tour-api:2702477",</a:t>
            </a:r>
          </a:p>
          <a:p xmlns:a="http://schemas.openxmlformats.org/drawingml/2006/main">
            <a:r>
              <a:t>      "content_id": "2702477",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"source_id": "estimate:gangjin-refund-rules:20260905",</a:t>
            </a:r>
          </a:p>
          <a:p xmlns:a="http://schemas.openxmlformats.org/drawingml/2006/main">
            <a:r>
              <a:t>      "source_type": "budget_reference",</a:t>
            </a:r>
          </a:p>
          <a:p xmlns:a="http://schemas.openxmlformats.org/drawingml/2006/main">
            <a:r>
              <a:t>      "title": "강진군 반값여행 공식 신청·정산 조건",</a:t>
            </a:r>
          </a:p>
          <a:p xmlns:a="http://schemas.openxmlformats.org/drawingml/2006/main">
            <a:r>
              <a:t>      "source_url": "https://www.gangjintour.com/advance/advance_req.html",</a:t>
            </a:r>
          </a:p>
          <a:p xmlns:a="http://schemas.openxmlformats.org/drawingml/2006/main">
            <a:r>
              <a:t>      "summary": "일반 관광객 여행비 50% 상품권 환급. 개인 최대 10만원·팀 최대 20만원. 원주 효과나 공급업체 단가의 근거는 아님.",</a:t>
            </a:r>
          </a:p>
          <a:p xmlns:a="http://schemas.openxmlformats.org/drawingml/2006/main">
            <a:r>
              <a:t>      "accessed_at": "2026-09-05"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"selected_forecast": {</a:t>
            </a:r>
          </a:p>
          <a:p xmlns:a="http://schemas.openxmlformats.org/drawingml/2006/main">
            <a:r>
              <a:t>    "rows":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"202609",</a:t>
            </a:r>
          </a:p>
          <a:p xmlns:a="http://schemas.openxmlformats.org/drawingml/2006/main">
            <a:r>
              <a:t>        "visitors": 2363056.0,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67047345591.0,</a:t>
            </a:r>
          </a:p>
          <a:p xmlns:a="http://schemas.openxmlformats.org/drawingml/2006/main">
            <a:r>
              <a:t>        "stay_minutes": 2518.0,</a:t>
            </a:r>
          </a:p>
          <a:p xmlns:a="http://schemas.openxmlformats.org/drawingml/2006/main">
            <a:r>
              <a:t>        "lodging_nights": 2.98,</a:t>
            </a:r>
          </a:p>
          <a:p xmlns:a="http://schemas.openxmlformats.org/drawingml/2006/main">
            <a:r>
              <a:t>        "lodging_rate_pct": 13.1,</a:t>
            </a:r>
          </a:p>
          <a:p xmlns:a="http://schemas.openxmlformats.org/drawingml/2006/main">
            <a:r>
              <a:t>        "lodging_searches": 34529,</a:t>
            </a:r>
          </a:p>
          <a:p xmlns:a="http://schemas.openxmlformats.org/drawingml/2006/main">
            <a:r>
              <a:t>        "navigation_searches": 259153,</a:t>
            </a:r>
          </a:p>
          <a:p xmlns:a="http://schemas.openxmlformats.org/drawingml/2006/main">
            <a:r>
              <a:t>        "visitor_yoy_percent": 3.0,</a:t>
            </a:r>
          </a:p>
          <a:p xmlns:a="http://schemas.openxmlformats.org/drawingml/2006/main">
            <a:r>
              <a:t>        "spending_yoy_percent": 22.29,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1.02,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8.97,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2294130,</a:t>
            </a:r>
          </a:p>
          <a:p xmlns:a="http://schemas.openxmlformats.org/drawingml/2006/main">
            <a:r>
              <a:t>        "previous_year_spending_krw": 54826341000,</a:t>
            </a:r>
          </a:p>
          <a:p xmlns:a="http://schemas.openxmlformats.org/drawingml/2006/main">
            <a:r>
              <a:t>        "previous_year_stay_minutes": 2518.0,</a:t>
            </a:r>
          </a:p>
          <a:p xmlns:a="http://schemas.openxmlformats.org/drawingml/2006/main">
            <a:r>
              <a:t>        "previous_year_lodging_nights": 2.95,</a:t>
            </a:r>
          </a:p>
          <a:p xmlns:a="http://schemas.openxmlformats.org/drawingml/2006/main">
            <a:r>
              <a:t>        "previous_year_lodging_rate_pct": 13.1,</a:t>
            </a:r>
          </a:p>
          <a:p xmlns:a="http://schemas.openxmlformats.org/drawingml/2006/main">
            <a:r>
              <a:t>        "previous_year_lodging_searches": 31686,</a:t>
            </a:r>
          </a:p>
          <a:p xmlns:a="http://schemas.openxmlformats.org/drawingml/2006/main">
            <a:r>
              <a:t>        "previous_year_navigation_searches": 259153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"202610",</a:t>
            </a:r>
          </a:p>
          <a:p xmlns:a="http://schemas.openxmlformats.org/drawingml/2006/main">
            <a:r>
              <a:t>        "visitors": 2633270.0,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83929975649.0,</a:t>
            </a:r>
          </a:p>
          <a:p xmlns:a="http://schemas.openxmlformats.org/drawingml/2006/main">
            <a:r>
              <a:t>        "stay_minutes": 1683.0,</a:t>
            </a:r>
          </a:p>
          <a:p xmlns:a="http://schemas.openxmlformats.org/drawingml/2006/main">
            <a:r>
              <a:t>        "lodging_nights": 2.87,</a:t>
            </a:r>
          </a:p>
          <a:p xmlns:a="http://schemas.openxmlformats.org/drawingml/2006/main">
            <a:r>
              <a:t>        "lodging_rate_pct": 15.5,</a:t>
            </a:r>
          </a:p>
          <a:p xmlns:a="http://schemas.openxmlformats.org/drawingml/2006/main">
            <a:r>
              <a:t>        "lodging_searches": 50011,</a:t>
            </a:r>
          </a:p>
          <a:p xmlns:a="http://schemas.openxmlformats.org/drawingml/2006/main">
            <a:r>
              <a:t>        "navigation_searches": 519488,</a:t>
            </a:r>
          </a:p>
          <a:p xmlns:a="http://schemas.openxmlformats.org/drawingml/2006/main">
            <a:r>
              <a:t>        "visitor_yoy_percent": -5.94,</a:t>
            </a:r>
          </a:p>
          <a:p xmlns:a="http://schemas.openxmlformats.org/drawingml/2006/main">
            <a:r>
              <a:t>        "spending_yoy_percent": 21.43,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1.77,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-21.42,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2799509,</a:t>
            </a:r>
          </a:p>
          <a:p xmlns:a="http://schemas.openxmlformats.org/drawingml/2006/main">
            <a:r>
              <a:t>        "previous_year_spending_krw": 69118387000,</a:t>
            </a:r>
          </a:p>
          <a:p xmlns:a="http://schemas.openxmlformats.org/drawingml/2006/main">
            <a:r>
              <a:t>        "previous_year_stay_minutes": 1683.0,</a:t>
            </a:r>
          </a:p>
          <a:p xmlns:a="http://schemas.openxmlformats.org/drawingml/2006/main">
            <a:r>
              <a:t>        "previous_year_lodging_nights": 2.82,</a:t>
            </a:r>
          </a:p>
          <a:p xmlns:a="http://schemas.openxmlformats.org/drawingml/2006/main">
            <a:r>
              <a:t>        "previous_year_lodging_rate_pct": 15.5,</a:t>
            </a:r>
          </a:p>
          <a:p xmlns:a="http://schemas.openxmlformats.org/drawingml/2006/main">
            <a:r>
              <a:t>        "previous_year_lodging_searches": 63645,</a:t>
            </a:r>
          </a:p>
          <a:p xmlns:a="http://schemas.openxmlformats.org/drawingml/2006/main">
            <a:r>
              <a:t>        "previous_year_navigation_searches": 519488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"202611",</a:t>
            </a:r>
          </a:p>
          <a:p xmlns:a="http://schemas.openxmlformats.org/drawingml/2006/main">
            <a:r>
              <a:t>        "visitors": 2632315.0,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89947681558.0,</a:t>
            </a:r>
          </a:p>
          <a:p xmlns:a="http://schemas.openxmlformats.org/drawingml/2006/main">
            <a:r>
              <a:t>        "stay_minutes": 1488.0,</a:t>
            </a:r>
          </a:p>
          <a:p xmlns:a="http://schemas.openxmlformats.org/drawingml/2006/main">
            <a:r>
              <a:t>        "lodging_nights": 2.76,</a:t>
            </a:r>
          </a:p>
          <a:p xmlns:a="http://schemas.openxmlformats.org/drawingml/2006/main">
            <a:r>
              <a:t>        "lodging_rate_pct": 12.4,</a:t>
            </a:r>
          </a:p>
          <a:p xmlns:a="http://schemas.openxmlformats.org/drawingml/2006/main">
            <a:r>
              <a:t>        "lodging_searches": 48286,</a:t>
            </a:r>
          </a:p>
          <a:p xmlns:a="http://schemas.openxmlformats.org/drawingml/2006/main">
            <a:r>
              <a:t>        "navigation_searches": 352852,</a:t>
            </a:r>
          </a:p>
          <a:p xmlns:a="http://schemas.openxmlformats.org/drawingml/2006/main">
            <a:r>
              <a:t>        "visitor_yoy_percent": 4.18,</a:t>
            </a:r>
          </a:p>
          <a:p xmlns:a="http://schemas.openxmlformats.org/drawingml/2006/main">
            <a:r>
              <a:t>        "spending_yoy_percent": 41.26,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2.22,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21.22,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2526699,</a:t>
            </a:r>
          </a:p>
          <a:p xmlns:a="http://schemas.openxmlformats.org/drawingml/2006/main">
            <a:r>
              <a:t>        "previous_year_spending_krw": 63675989000,</a:t>
            </a:r>
          </a:p>
          <a:p xmlns:a="http://schemas.openxmlformats.org/drawingml/2006/main">
            <a:r>
              <a:t>        "previous_year_stay_minutes": 1488.0,</a:t>
            </a:r>
          </a:p>
          <a:p xmlns:a="http://schemas.openxmlformats.org/drawingml/2006/main">
            <a:r>
              <a:t>        "previous_year_lodging_nights": 2.7,</a:t>
            </a:r>
          </a:p>
          <a:p xmlns:a="http://schemas.openxmlformats.org/drawingml/2006/main">
            <a:r>
              <a:t>        "previous_year_lodging_rate_pct": 12.4,</a:t>
            </a:r>
          </a:p>
          <a:p xmlns:a="http://schemas.openxmlformats.org/drawingml/2006/main">
            <a:r>
              <a:t>        "previous_year_lodging_searches": 39833,</a:t>
            </a:r>
          </a:p>
          <a:p xmlns:a="http://schemas.openxmlformats.org/drawingml/2006/main">
            <a:r>
              <a:t>        "previous_year_navigation_searches": 352852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"period": "202609~202611",</a:t>
            </a:r>
          </a:p>
          <a:p xmlns:a="http://schemas.openxmlformats.org/drawingml/2006/main">
            <a:r>
              <a:t>    "complete": true,</a:t>
            </a:r>
          </a:p>
          <a:p xmlns:a="http://schemas.openxmlformats.org/drawingml/2006/main">
            <a:r>
              <a:t>    "notes": [</a:t>
            </a:r>
          </a:p>
          <a:p xmlns:a="http://schemas.openxmlformats.org/drawingml/2006/main">
            <a:r>
              <a:t>      "3개월 초과 예측 거리는 재귀 검증 범위 밖의 탐색 전망입니다."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"selection_basis": "strategy_timeframe",</a:t>
            </a:r>
          </a:p>
          <a:p xmlns:a="http://schemas.openxmlformats.org/drawingml/2006/main">
            <a:r>
              <a:t>    "requested_period": "202609~202611"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"all_ml_forecasts":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"202607",</a:t>
            </a:r>
          </a:p>
          <a:p xmlns:a="http://schemas.openxmlformats.org/drawingml/2006/main">
            <a:r>
              <a:t>      "visitors": 2366862,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67735223997,</a:t>
            </a:r>
          </a:p>
          <a:p xmlns:a="http://schemas.openxmlformats.org/drawingml/2006/main">
            <a:r>
              <a:t>      "stay_minutes": 1944.0,</a:t>
            </a:r>
          </a:p>
          <a:p xmlns:a="http://schemas.openxmlformats.org/drawingml/2006/main">
            <a:r>
              <a:t>      "lodging_nights": 2.83,</a:t>
            </a:r>
          </a:p>
          <a:p xmlns:a="http://schemas.openxmlformats.org/drawingml/2006/main">
            <a:r>
              <a:t>      "lodging_rate_pct": 13.8,</a:t>
            </a:r>
          </a:p>
          <a:p xmlns:a="http://schemas.openxmlformats.org/drawingml/2006/main">
            <a:r>
              <a:t>      "lodging_searches": 46511,</a:t>
            </a:r>
          </a:p>
          <a:p xmlns:a="http://schemas.openxmlformats.org/drawingml/2006/main">
            <a:r>
              <a:t>      "navigation_searches": 297924,</a:t>
            </a:r>
          </a:p>
          <a:p xmlns:a="http://schemas.openxmlformats.org/drawingml/2006/main">
            <a:r>
              <a:t>      "visitor_yoy_percent": -1.04,</a:t>
            </a:r>
          </a:p>
          <a:p xmlns:a="http://schemas.openxmlformats.org/drawingml/2006/main">
            <a:r>
              <a:t>      "spending_yoy_percent": 14.97,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0.35,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17.21,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2391642,</a:t>
            </a:r>
          </a:p>
          <a:p xmlns:a="http://schemas.openxmlformats.org/drawingml/2006/main">
            <a:r>
              <a:t>      "previous_year_spending_krw": 58914875000,</a:t>
            </a:r>
          </a:p>
          <a:p xmlns:a="http://schemas.openxmlformats.org/drawingml/2006/main">
            <a:r>
              <a:t>      "previous_year_stay_minutes": 1944.0,</a:t>
            </a:r>
          </a:p>
          <a:p xmlns:a="http://schemas.openxmlformats.org/drawingml/2006/main">
            <a:r>
              <a:t>      "previous_year_lodging_nights": 2.82,</a:t>
            </a:r>
          </a:p>
          <a:p xmlns:a="http://schemas.openxmlformats.org/drawingml/2006/main">
            <a:r>
              <a:t>      "previous_year_lodging_rate_pct": 13.8,</a:t>
            </a:r>
          </a:p>
          <a:p xmlns:a="http://schemas.openxmlformats.org/drawingml/2006/main">
            <a:r>
              <a:t>      "previous_year_lodging_searches": 39682,</a:t>
            </a:r>
          </a:p>
          <a:p xmlns:a="http://schemas.openxmlformats.org/drawingml/2006/main">
            <a:r>
              <a:t>      "previous_year_navigation_searches": 297924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"202608",</a:t>
            </a:r>
          </a:p>
          <a:p xmlns:a="http://schemas.openxmlformats.org/drawingml/2006/main">
            <a:r>
              <a:t>      "visitors": 2642874,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76161639833,</a:t>
            </a:r>
          </a:p>
          <a:p xmlns:a="http://schemas.openxmlformats.org/drawingml/2006/main">
            <a:r>
              <a:t>      "stay_minutes": 1672.0,</a:t>
            </a:r>
          </a:p>
          <a:p xmlns:a="http://schemas.openxmlformats.org/drawingml/2006/main">
            <a:r>
              <a:t>      "lodging_nights": 2.76,</a:t>
            </a:r>
          </a:p>
          <a:p xmlns:a="http://schemas.openxmlformats.org/drawingml/2006/main">
            <a:r>
              <a:t>      "lodging_rate_pct": 14.7,</a:t>
            </a:r>
          </a:p>
          <a:p xmlns:a="http://schemas.openxmlformats.org/drawingml/2006/main">
            <a:r>
              <a:t>      "lodging_searches": 49759,</a:t>
            </a:r>
          </a:p>
          <a:p xmlns:a="http://schemas.openxmlformats.org/drawingml/2006/main">
            <a:r>
              <a:t>      "navigation_searches": 346177,</a:t>
            </a:r>
          </a:p>
          <a:p xmlns:a="http://schemas.openxmlformats.org/drawingml/2006/main">
            <a:r>
              <a:t>      "visitor_yoy_percent": 0.13,</a:t>
            </a:r>
          </a:p>
          <a:p xmlns:a="http://schemas.openxmlformats.org/drawingml/2006/main">
            <a:r>
              <a:t>      "spending_yoy_percent": 18.85,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1.1,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-0.93,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2639487,</a:t>
            </a:r>
          </a:p>
          <a:p xmlns:a="http://schemas.openxmlformats.org/drawingml/2006/main">
            <a:r>
              <a:t>      "previous_year_spending_krw": 64083943000,</a:t>
            </a:r>
          </a:p>
          <a:p xmlns:a="http://schemas.openxmlformats.org/drawingml/2006/main">
            <a:r>
              <a:t>      "previous_year_stay_minutes": 1672.0,</a:t>
            </a:r>
          </a:p>
          <a:p xmlns:a="http://schemas.openxmlformats.org/drawingml/2006/main">
            <a:r>
              <a:t>      "previous_year_lodging_nights": 2.73,</a:t>
            </a:r>
          </a:p>
          <a:p xmlns:a="http://schemas.openxmlformats.org/drawingml/2006/main">
            <a:r>
              <a:t>      "previous_year_lodging_rate_pct": 14.7,</a:t>
            </a:r>
          </a:p>
          <a:p xmlns:a="http://schemas.openxmlformats.org/drawingml/2006/main">
            <a:r>
              <a:t>      "previous_year_lodging_searches": 50224,</a:t>
            </a:r>
          </a:p>
          <a:p xmlns:a="http://schemas.openxmlformats.org/drawingml/2006/main">
            <a:r>
              <a:t>      "previous_year_navigation_searches": 346177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"202609",</a:t>
            </a:r>
          </a:p>
          <a:p xmlns:a="http://schemas.openxmlformats.org/drawingml/2006/main">
            <a:r>
              <a:t>      "visitors": 2363056,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67047345591,</a:t>
            </a:r>
          </a:p>
          <a:p xmlns:a="http://schemas.openxmlformats.org/drawingml/2006/main">
            <a:r>
              <a:t>      "stay_minutes": 2518.0,</a:t>
            </a:r>
          </a:p>
          <a:p xmlns:a="http://schemas.openxmlformats.org/drawingml/2006/main">
            <a:r>
              <a:t>      "lodging_nights": 2.98,</a:t>
            </a:r>
          </a:p>
          <a:p xmlns:a="http://schemas.openxmlformats.org/drawingml/2006/main">
            <a:r>
              <a:t>      "lodging_rate_pct": 13.1,</a:t>
            </a:r>
          </a:p>
          <a:p xmlns:a="http://schemas.openxmlformats.org/drawingml/2006/main">
            <a:r>
              <a:t>      "lodging_searches": 34529,</a:t>
            </a:r>
          </a:p>
          <a:p xmlns:a="http://schemas.openxmlformats.org/drawingml/2006/main">
            <a:r>
              <a:t>      "navigation_searches": 259153,</a:t>
            </a:r>
          </a:p>
          <a:p xmlns:a="http://schemas.openxmlformats.org/drawingml/2006/main">
            <a:r>
              <a:t>      "visitor_yoy_percent": 3.0,</a:t>
            </a:r>
          </a:p>
          <a:p xmlns:a="http://schemas.openxmlformats.org/drawingml/2006/main">
            <a:r>
              <a:t>      "spending_yoy_percent": 22.29,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1.02,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8.97,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2294130,</a:t>
            </a:r>
          </a:p>
          <a:p xmlns:a="http://schemas.openxmlformats.org/drawingml/2006/main">
            <a:r>
              <a:t>      "previous_year_spending_krw": 54826341000,</a:t>
            </a:r>
          </a:p>
          <a:p xmlns:a="http://schemas.openxmlformats.org/drawingml/2006/main">
            <a:r>
              <a:t>      "previous_year_stay_minutes": 2518.0,</a:t>
            </a:r>
          </a:p>
          <a:p xmlns:a="http://schemas.openxmlformats.org/drawingml/2006/main">
            <a:r>
              <a:t>      "previous_year_lodging_nights": 2.95,</a:t>
            </a:r>
          </a:p>
          <a:p xmlns:a="http://schemas.openxmlformats.org/drawingml/2006/main">
            <a:r>
              <a:t>      "previous_year_lodging_rate_pct": 13.1,</a:t>
            </a:r>
          </a:p>
          <a:p xmlns:a="http://schemas.openxmlformats.org/drawingml/2006/main">
            <a:r>
              <a:t>      "previous_year_lodging_searches": 31686,</a:t>
            </a:r>
          </a:p>
          <a:p xmlns:a="http://schemas.openxmlformats.org/drawingml/2006/main">
            <a:r>
              <a:t>      "previous_year_navigation_searches": 259153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"202610",</a:t>
            </a:r>
          </a:p>
          <a:p xmlns:a="http://schemas.openxmlformats.org/drawingml/2006/main">
            <a:r>
              <a:t>      "visitors": 2633270,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83929975649,</a:t>
            </a:r>
          </a:p>
          <a:p xmlns:a="http://schemas.openxmlformats.org/drawingml/2006/main">
            <a:r>
              <a:t>      "stay_minutes": 1683.0,</a:t>
            </a:r>
          </a:p>
          <a:p xmlns:a="http://schemas.openxmlformats.org/drawingml/2006/main">
            <a:r>
              <a:t>      "lodging_nights": 2.87,</a:t>
            </a:r>
          </a:p>
          <a:p xmlns:a="http://schemas.openxmlformats.org/drawingml/2006/main">
            <a:r>
              <a:t>      "lodging_rate_pct": 15.5,</a:t>
            </a:r>
          </a:p>
          <a:p xmlns:a="http://schemas.openxmlformats.org/drawingml/2006/main">
            <a:r>
              <a:t>      "lodging_searches": 50011,</a:t>
            </a:r>
          </a:p>
          <a:p xmlns:a="http://schemas.openxmlformats.org/drawingml/2006/main">
            <a:r>
              <a:t>      "navigation_searches": 519488,</a:t>
            </a:r>
          </a:p>
          <a:p xmlns:a="http://schemas.openxmlformats.org/drawingml/2006/main">
            <a:r>
              <a:t>      "visitor_yoy_percent": -5.94,</a:t>
            </a:r>
          </a:p>
          <a:p xmlns:a="http://schemas.openxmlformats.org/drawingml/2006/main">
            <a:r>
              <a:t>      "spending_yoy_percent": 21.43,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1.77,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-21.42,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2799509,</a:t>
            </a:r>
          </a:p>
          <a:p xmlns:a="http://schemas.openxmlformats.org/drawingml/2006/main">
            <a:r>
              <a:t>      "previous_year_spending_krw": 69118387000,</a:t>
            </a:r>
          </a:p>
          <a:p xmlns:a="http://schemas.openxmlformats.org/drawingml/2006/main">
            <a:r>
              <a:t>      "previous_year_stay_minutes": 1683.0,</a:t>
            </a:r>
          </a:p>
          <a:p xmlns:a="http://schemas.openxmlformats.org/drawingml/2006/main">
            <a:r>
              <a:t>      "previous_year_lodging_nights": 2.82,</a:t>
            </a:r>
          </a:p>
          <a:p xmlns:a="http://schemas.openxmlformats.org/drawingml/2006/main">
            <a:r>
              <a:t>      "previous_year_lodging_rate_pct": 15.5,</a:t>
            </a:r>
          </a:p>
          <a:p xmlns:a="http://schemas.openxmlformats.org/drawingml/2006/main">
            <a:r>
              <a:t>      "previous_year_lodging_searches": 63645,</a:t>
            </a:r>
          </a:p>
          <a:p xmlns:a="http://schemas.openxmlformats.org/drawingml/2006/main">
            <a:r>
              <a:t>      "previous_year_navigation_searches": 519488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"202611",</a:t>
            </a:r>
          </a:p>
          <a:p xmlns:a="http://schemas.openxmlformats.org/drawingml/2006/main">
            <a:r>
              <a:t>      "visitors": 2632315,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89947681558,</a:t>
            </a:r>
          </a:p>
          <a:p xmlns:a="http://schemas.openxmlformats.org/drawingml/2006/main">
            <a:r>
              <a:t>      "stay_minutes": 1488.0,</a:t>
            </a:r>
          </a:p>
          <a:p xmlns:a="http://schemas.openxmlformats.org/drawingml/2006/main">
            <a:r>
              <a:t>      "lodging_nights": 2.76,</a:t>
            </a:r>
          </a:p>
          <a:p xmlns:a="http://schemas.openxmlformats.org/drawingml/2006/main">
            <a:r>
              <a:t>      "lodging_rate_pct": 12.4,</a:t>
            </a:r>
          </a:p>
          <a:p xmlns:a="http://schemas.openxmlformats.org/drawingml/2006/main">
            <a:r>
              <a:t>      "lodging_searches": 48286,</a:t>
            </a:r>
          </a:p>
          <a:p xmlns:a="http://schemas.openxmlformats.org/drawingml/2006/main">
            <a:r>
              <a:t>      "navigation_searches": 352852,</a:t>
            </a:r>
          </a:p>
          <a:p xmlns:a="http://schemas.openxmlformats.org/drawingml/2006/main">
            <a:r>
              <a:t>      "visitor_yoy_percent": 4.18,</a:t>
            </a:r>
          </a:p>
          <a:p xmlns:a="http://schemas.openxmlformats.org/drawingml/2006/main">
            <a:r>
              <a:t>      "spending_yoy_percent": 41.26,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2.22,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21.22,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2526699,</a:t>
            </a:r>
          </a:p>
          <a:p xmlns:a="http://schemas.openxmlformats.org/drawingml/2006/main">
            <a:r>
              <a:t>      "previous_year_spending_krw": 63675989000,</a:t>
            </a:r>
          </a:p>
          <a:p xmlns:a="http://schemas.openxmlformats.org/drawingml/2006/main">
            <a:r>
              <a:t>      "previous_year_stay_minutes": 1488.0,</a:t>
            </a:r>
          </a:p>
          <a:p xmlns:a="http://schemas.openxmlformats.org/drawingml/2006/main">
            <a:r>
              <a:t>      "previous_year_lodging_nights": 2.7,</a:t>
            </a:r>
          </a:p>
          <a:p xmlns:a="http://schemas.openxmlformats.org/drawingml/2006/main">
            <a:r>
              <a:t>      "previous_year_lodging_rate_pct": 12.4,</a:t>
            </a:r>
          </a:p>
          <a:p xmlns:a="http://schemas.openxmlformats.org/drawingml/2006/main">
            <a:r>
              <a:t>      "previous_year_lodging_searches": 39833,</a:t>
            </a:r>
          </a:p>
          <a:p xmlns:a="http://schemas.openxmlformats.org/drawingml/2006/main">
            <a:r>
              <a:t>      "previous_year_navigation_searches": 352852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"202612",</a:t>
            </a:r>
          </a:p>
          <a:p xmlns:a="http://schemas.openxmlformats.org/drawingml/2006/main">
            <a:r>
              <a:t>      "visitors": 2098615,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82896802464,</a:t>
            </a:r>
          </a:p>
          <a:p xmlns:a="http://schemas.openxmlformats.org/drawingml/2006/main">
            <a:r>
              <a:t>      "stay_minutes": 1866.0,</a:t>
            </a:r>
          </a:p>
          <a:p xmlns:a="http://schemas.openxmlformats.org/drawingml/2006/main">
            <a:r>
              <a:t>      "lodging_nights": 2.85,</a:t>
            </a:r>
          </a:p>
          <a:p xmlns:a="http://schemas.openxmlformats.org/drawingml/2006/main">
            <a:r>
              <a:t>      "lodging_rate_pct": 14.1,</a:t>
            </a:r>
          </a:p>
          <a:p xmlns:a="http://schemas.openxmlformats.org/drawingml/2006/main">
            <a:r>
              <a:t>      "lodging_searches": 28484,</a:t>
            </a:r>
          </a:p>
          <a:p xmlns:a="http://schemas.openxmlformats.org/drawingml/2006/main">
            <a:r>
              <a:t>      "navigation_searches": 221560,</a:t>
            </a:r>
          </a:p>
          <a:p xmlns:a="http://schemas.openxmlformats.org/drawingml/2006/main">
            <a:r>
              <a:t>      "visitor_yoy_percent": -0.06,</a:t>
            </a:r>
          </a:p>
          <a:p xmlns:a="http://schemas.openxmlformats.org/drawingml/2006/main">
            <a:r>
              <a:t>      "spending_yoy_percent": 54.2,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2.15,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-1.09,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2099852,</a:t>
            </a:r>
          </a:p>
          <a:p xmlns:a="http://schemas.openxmlformats.org/drawingml/2006/main">
            <a:r>
              <a:t>      "previous_year_spending_krw": 53760591000,</a:t>
            </a:r>
          </a:p>
          <a:p xmlns:a="http://schemas.openxmlformats.org/drawingml/2006/main">
            <a:r>
              <a:t>      "previous_year_stay_minutes": 1866.0,</a:t>
            </a:r>
          </a:p>
          <a:p xmlns:a="http://schemas.openxmlformats.org/drawingml/2006/main">
            <a:r>
              <a:t>      "previous_year_lodging_nights": 2.79,</a:t>
            </a:r>
          </a:p>
          <a:p xmlns:a="http://schemas.openxmlformats.org/drawingml/2006/main">
            <a:r>
              <a:t>      "previous_year_lodging_rate_pct": 14.1,</a:t>
            </a:r>
          </a:p>
          <a:p xmlns:a="http://schemas.openxmlformats.org/drawingml/2006/main">
            <a:r>
              <a:t>      "previous_year_lodging_searches": 28798,</a:t>
            </a:r>
          </a:p>
          <a:p xmlns:a="http://schemas.openxmlformats.org/drawingml/2006/main">
            <a:r>
              <a:t>      "previous_year_navigation_searches": 221560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"202701",</a:t>
            </a:r>
          </a:p>
          <a:p xmlns:a="http://schemas.openxmlformats.org/drawingml/2006/main">
            <a:r>
              <a:t>      "visitors": 2042060,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92579612143,</a:t>
            </a:r>
          </a:p>
          <a:p xmlns:a="http://schemas.openxmlformats.org/drawingml/2006/main">
            <a:r>
              <a:t>      "stay_minutes": 1936.0,</a:t>
            </a:r>
          </a:p>
          <a:p xmlns:a="http://schemas.openxmlformats.org/drawingml/2006/main">
            <a:r>
              <a:t>      "lodging_nights": 2.87,</a:t>
            </a:r>
          </a:p>
          <a:p xmlns:a="http://schemas.openxmlformats.org/drawingml/2006/main">
            <a:r>
              <a:t>      "lodging_rate_pct": 13.7,</a:t>
            </a:r>
          </a:p>
          <a:p xmlns:a="http://schemas.openxmlformats.org/drawingml/2006/main">
            <a:r>
              <a:t>      "lodging_searches": 26563,</a:t>
            </a:r>
          </a:p>
          <a:p xmlns:a="http://schemas.openxmlformats.org/drawingml/2006/main">
            <a:r>
              <a:t>      "navigation_searches": 205632,</a:t>
            </a:r>
          </a:p>
          <a:p xmlns:a="http://schemas.openxmlformats.org/drawingml/2006/main">
            <a:r>
              <a:t>      "visitor_yoy_percent": -2.23,</a:t>
            </a:r>
          </a:p>
          <a:p xmlns:a="http://schemas.openxmlformats.org/drawingml/2006/main">
            <a:r>
              <a:t>      "spending_yoy_percent": 80.91,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1.06,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-0.09,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2088569,</a:t>
            </a:r>
          </a:p>
          <a:p xmlns:a="http://schemas.openxmlformats.org/drawingml/2006/main">
            <a:r>
              <a:t>      "previous_year_spending_krw": 51173582000,</a:t>
            </a:r>
          </a:p>
          <a:p xmlns:a="http://schemas.openxmlformats.org/drawingml/2006/main">
            <a:r>
              <a:t>      "previous_year_stay_minutes": 1936.0,</a:t>
            </a:r>
          </a:p>
          <a:p xmlns:a="http://schemas.openxmlformats.org/drawingml/2006/main">
            <a:r>
              <a:t>      "previous_year_lodging_nights": 2.84,</a:t>
            </a:r>
          </a:p>
          <a:p xmlns:a="http://schemas.openxmlformats.org/drawingml/2006/main">
            <a:r>
              <a:t>      "previous_year_lodging_rate_pct": 13.7,</a:t>
            </a:r>
          </a:p>
          <a:p xmlns:a="http://schemas.openxmlformats.org/drawingml/2006/main">
            <a:r>
              <a:t>      "previous_year_lodging_searches": 26588,</a:t>
            </a:r>
          </a:p>
          <a:p xmlns:a="http://schemas.openxmlformats.org/drawingml/2006/main">
            <a:r>
              <a:t>      "previous_year_navigation_searches": 205632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"202702",</a:t>
            </a:r>
          </a:p>
          <a:p xmlns:a="http://schemas.openxmlformats.org/drawingml/2006/main">
            <a:r>
              <a:t>      "visitors": 2227050,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103534829257,</a:t>
            </a:r>
          </a:p>
          <a:p xmlns:a="http://schemas.openxmlformats.org/drawingml/2006/main">
            <a:r>
              <a:t>      "stay_minutes": 1714.0,</a:t>
            </a:r>
          </a:p>
          <a:p xmlns:a="http://schemas.openxmlformats.org/drawingml/2006/main">
            <a:r>
              <a:t>      "lodging_nights": 2.82,</a:t>
            </a:r>
          </a:p>
          <a:p xmlns:a="http://schemas.openxmlformats.org/drawingml/2006/main">
            <a:r>
              <a:t>      "lodging_rate_pct": 15.7,</a:t>
            </a:r>
          </a:p>
          <a:p xmlns:a="http://schemas.openxmlformats.org/drawingml/2006/main">
            <a:r>
              <a:t>      "lodging_searches": 25082,</a:t>
            </a:r>
          </a:p>
          <a:p xmlns:a="http://schemas.openxmlformats.org/drawingml/2006/main">
            <a:r>
              <a:t>      "navigation_searches": 210385,</a:t>
            </a:r>
          </a:p>
          <a:p xmlns:a="http://schemas.openxmlformats.org/drawingml/2006/main">
            <a:r>
              <a:t>      "visitor_yoy_percent": 3.2,</a:t>
            </a:r>
          </a:p>
          <a:p xmlns:a="http://schemas.openxmlformats.org/drawingml/2006/main">
            <a:r>
              <a:t>      "spending_yoy_percent": 104.79,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0.36,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2.79,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2157943,</a:t>
            </a:r>
          </a:p>
          <a:p xmlns:a="http://schemas.openxmlformats.org/drawingml/2006/main">
            <a:r>
              <a:t>      "previous_year_spending_krw": 50557418000,</a:t>
            </a:r>
          </a:p>
          <a:p xmlns:a="http://schemas.openxmlformats.org/drawingml/2006/main">
            <a:r>
              <a:t>      "previous_year_stay_minutes": 1714.0,</a:t>
            </a:r>
          </a:p>
          <a:p xmlns:a="http://schemas.openxmlformats.org/drawingml/2006/main">
            <a:r>
              <a:t>      "previous_year_lodging_nights": 2.81,</a:t>
            </a:r>
          </a:p>
          <a:p xmlns:a="http://schemas.openxmlformats.org/drawingml/2006/main">
            <a:r>
              <a:t>      "previous_year_lodging_rate_pct": 15.7,</a:t>
            </a:r>
          </a:p>
          <a:p xmlns:a="http://schemas.openxmlformats.org/drawingml/2006/main">
            <a:r>
              <a:t>      "previous_year_lodging_searches": 24402,</a:t>
            </a:r>
          </a:p>
          <a:p xmlns:a="http://schemas.openxmlformats.org/drawingml/2006/main">
            <a:r>
              <a:t>      "previous_year_navigation_searches": 210385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"evaluation": {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"visitors": {</a:t>
            </a:r>
          </a:p>
          <a:p xmlns:a="http://schemas.openxmlformats.org/drawingml/2006/main">
            <a:r>
              <a:t>        "test_mae": 103646.64,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123311.5,</a:t>
            </a:r>
          </a:p>
          <a:p xmlns:a="http://schemas.openxmlformats.org/drawingml/2006/main">
            <a:r>
              <a:t>            "selected": 95222,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90511,</a:t>
            </a:r>
          </a:p>
          <a:p xmlns:a="http://schemas.openxmlformats.org/drawingml/2006/main">
            <a:r>
              <a:t>            "selected": 105947.5,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61165,</a:t>
            </a:r>
          </a:p>
          <a:p xmlns:a="http://schemas.openxmlformats.org/drawingml/2006/main">
            <a:r>
              <a:t>            "selected": 93227,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"RandomForestRegressor",</a:t>
            </a:r>
          </a:p>
          <a:p xmlns:a="http://schemas.openxmlformats.org/drawingml/2006/main">
            <a:r>
              <a:t>        "baseline_test_mae": 92238.25,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"spending_krw": {</a:t>
            </a:r>
          </a:p>
          <a:p xmlns:a="http://schemas.openxmlformats.org/drawingml/2006/main">
            <a:r>
              <a:t>        "test_mae": 8003403761.33,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5076101500,</a:t>
            </a:r>
          </a:p>
          <a:p xmlns:a="http://schemas.openxmlformats.org/drawingml/2006/main">
            <a:r>
              <a:t>            "selected": 7122970056,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6206652500,</a:t>
            </a:r>
          </a:p>
          <a:p xmlns:a="http://schemas.openxmlformats.org/drawingml/2006/main">
            <a:r>
              <a:t>            "selected": 11322988654,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4379312000,</a:t>
            </a:r>
          </a:p>
          <a:p xmlns:a="http://schemas.openxmlformats.org/drawingml/2006/main">
            <a:r>
              <a:t>            "selected": 12415950624,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"LinearRegression",</a:t>
            </a:r>
          </a:p>
          <a:p xmlns:a="http://schemas.openxmlformats.org/drawingml/2006/main">
            <a:r>
              <a:t>        "baseline_test_mae": 4727706750,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"stay_minutes": {</a:t>
            </a:r>
          </a:p>
          <a:p xmlns:a="http://schemas.openxmlformats.org/drawingml/2006/main">
            <a:r>
              <a:t>        "test_mae": 208.5,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107.5,</a:t>
            </a:r>
          </a:p>
          <a:p xmlns:a="http://schemas.openxmlformats.org/drawingml/2006/main">
            <a:r>
              <a:t>            "selected": 107.5,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360,</a:t>
            </a:r>
          </a:p>
          <a:p xmlns:a="http://schemas.openxmlformats.org/drawingml/2006/main">
            <a:r>
              <a:t>            "selected": 360,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309.5,</a:t>
            </a:r>
          </a:p>
          <a:p xmlns:a="http://schemas.openxmlformats.org/drawingml/2006/main">
            <a:r>
              <a:t>            "selected": 309.5,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208.5,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"lodging_nights": {</a:t>
            </a:r>
          </a:p>
          <a:p xmlns:a="http://schemas.openxmlformats.org/drawingml/2006/main">
            <a:r>
              <a:t>        "test_mae": 0.1,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0.06,</a:t>
            </a:r>
          </a:p>
          <a:p xmlns:a="http://schemas.openxmlformats.org/drawingml/2006/main">
            <a:r>
              <a:t>            "selected": 0.09,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0.08,</a:t>
            </a:r>
          </a:p>
          <a:p xmlns:a="http://schemas.openxmlformats.org/drawingml/2006/main">
            <a:r>
              <a:t>            "selected": 0.11,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0.07,</a:t>
            </a:r>
          </a:p>
          <a:p xmlns:a="http://schemas.openxmlformats.org/drawingml/2006/main">
            <a:r>
              <a:t>            "selected": 0.11,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"LinearRegression",</a:t>
            </a:r>
          </a:p>
          <a:p xmlns:a="http://schemas.openxmlformats.org/drawingml/2006/main">
            <a:r>
              <a:t>        "baseline_test_mae": 0.07,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"lodging_rate_pct": {</a:t>
            </a:r>
          </a:p>
          <a:p xmlns:a="http://schemas.openxmlformats.org/drawingml/2006/main">
            <a:r>
              <a:t>        "test_mae": 0.57,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0.8,</a:t>
            </a:r>
          </a:p>
          <a:p xmlns:a="http://schemas.openxmlformats.org/drawingml/2006/main">
            <a:r>
              <a:t>            "selected": 0.8,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0.3,</a:t>
            </a:r>
          </a:p>
          <a:p xmlns:a="http://schemas.openxmlformats.org/drawingml/2006/main">
            <a:r>
              <a:t>            "selected": 0.3,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0.35,</a:t>
            </a:r>
          </a:p>
          <a:p xmlns:a="http://schemas.openxmlformats.org/drawingml/2006/main">
            <a:r>
              <a:t>            "selected": 0.35,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0.57,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"lodging_searches": {</a:t>
            </a:r>
          </a:p>
          <a:p xmlns:a="http://schemas.openxmlformats.org/drawingml/2006/main">
            <a:r>
              <a:t>        "test_mae": 3695.69,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2404,</a:t>
            </a:r>
          </a:p>
          <a:p xmlns:a="http://schemas.openxmlformats.org/drawingml/2006/main">
            <a:r>
              <a:t>            "selected": 3550,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2584.5,</a:t>
            </a:r>
          </a:p>
          <a:p xmlns:a="http://schemas.openxmlformats.org/drawingml/2006/main">
            <a:r>
              <a:t>            "selected": 3318,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2765.5,</a:t>
            </a:r>
          </a:p>
          <a:p xmlns:a="http://schemas.openxmlformats.org/drawingml/2006/main">
            <a:r>
              <a:t>            "selected": 3897.5,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"RandomForestRegressor",</a:t>
            </a:r>
          </a:p>
          <a:p xmlns:a="http://schemas.openxmlformats.org/drawingml/2006/main">
            <a:r>
              <a:t>        "baseline_test_mae": 2584.75,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"navigation_searches": {</a:t>
            </a:r>
          </a:p>
          <a:p xmlns:a="http://schemas.openxmlformats.org/drawingml/2006/main">
            <a:r>
              <a:t>        "test_mae": 26562,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30053.5,</a:t>
            </a:r>
          </a:p>
          <a:p xmlns:a="http://schemas.openxmlformats.org/drawingml/2006/main">
            <a:r>
              <a:t>            "selected": 30053.5,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40942.5,</a:t>
            </a:r>
          </a:p>
          <a:p xmlns:a="http://schemas.openxmlformats.org/drawingml/2006/main">
            <a:r>
              <a:t>            "selected": 40942.5,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23070.5,</a:t>
            </a:r>
          </a:p>
          <a:p xmlns:a="http://schemas.openxmlformats.org/drawingml/2006/main">
            <a:r>
              <a:t>            "selected": 23070.5,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26562,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"test_period": "202603~202606",</a:t>
            </a:r>
          </a:p>
          <a:p xmlns:a="http://schemas.openxmlformats.org/drawingml/2006/main">
            <a:r>
              <a:t>    "selection_basis": "validation_mae_only",</a:t>
            </a:r>
          </a:p>
          <a:p xmlns:a="http://schemas.openxmlformats.org/drawingml/2006/main">
            <a:r>
              <a:t>    "validation_period": "202512~202602",</a:t>
            </a:r>
          </a:p>
          <a:p xmlns:a="http://schemas.openxmlformats.org/drawingml/2006/main">
            <a:r>
              <a:t>    "longer_horizon_status": "exploratory_not_recursively_backtested",</a:t>
            </a:r>
          </a:p>
          <a:p xmlns:a="http://schemas.openxmlformats.org/drawingml/2006/main">
            <a:r>
              <a:t>    "forecast_horizon_months": 8,</a:t>
            </a:r>
          </a:p>
          <a:p xmlns:a="http://schemas.openxmlformats.org/drawingml/2006/main">
            <a:r>
              <a:t>    "recursive_backtest_horizon_months": [</a:t>
            </a:r>
          </a:p>
          <a:p xmlns:a="http://schemas.openxmlformats.org/drawingml/2006/main">
            <a:r>
              <a:t>      1,</a:t>
            </a:r>
          </a:p>
          <a:p xmlns:a="http://schemas.openxmlformats.org/drawingml/2006/main">
            <a:r>
              <a:t>      2,</a:t>
            </a:r>
          </a:p>
          <a:p xmlns:a="http://schemas.openxmlformats.org/drawingml/2006/main">
            <a:r>
              <a:t>      3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"execution_scenario": {</a:t>
            </a:r>
          </a:p>
          <a:p xmlns:a="http://schemas.openxmlformats.org/drawingml/2006/main">
            <a:r>
              <a:t>    "visitor_target_pct": 2,</a:t>
            </a:r>
          </a:p>
          <a:p xmlns:a="http://schemas.openxmlformats.org/drawingml/2006/main">
            <a:r>
              <a:t>    "spending_target_pct": 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"reference_estimate": {</a:t>
            </a:r>
          </a:p>
          <a:p xmlns:a="http://schemas.openxmlformats.org/drawingml/2006/main">
            <a:r>
              <a:t>    "version": "reference-estimate-v1",</a:t>
            </a:r>
          </a:p>
          <a:p xmlns:a="http://schemas.openxmlformats.org/drawingml/2006/main">
            <a:r>
              <a:t>    "status": "planning_assumption_not_quote",</a:t>
            </a:r>
          </a:p>
          <a:p xmlns:a="http://schemas.openxmlformats.org/drawingml/2006/main">
            <a:r>
              <a:t>    "months": 3,</a:t>
            </a:r>
          </a:p>
          <a:p xmlns:a="http://schemas.openxmlformats.org/drawingml/2006/main">
            <a:r>
              <a:t>    "refund": true,</a:t>
            </a:r>
          </a:p>
          <a:p xmlns:a="http://schemas.openxmlformats.org/drawingml/2006/main">
            <a:r>
              <a:t>    "quantity": 1000,</a:t>
            </a:r>
          </a:p>
          <a:p xmlns:a="http://schemas.openxmlformats.org/drawingml/2006/main">
            <a:r>
              <a:t>    "unit_krw": 50000,</a:t>
            </a:r>
          </a:p>
          <a:p xmlns:a="http://schemas.openxmlformats.org/drawingml/2006/main">
            <a:r>
              <a:t>    "redemption_target_pct": 80,</a:t>
            </a:r>
          </a:p>
          <a:p xmlns:a="http://schemas.openxmlformats.org/drawingml/2006/main">
            <a:r>
              <a:t>    "redemption_count": 800,</a:t>
            </a:r>
          </a:p>
          <a:p xmlns:a="http://schemas.openxmlformats.org/drawingml/2006/main">
            <a:r>
              <a:t>    "qualifying_spend_krw": 100000000,</a:t>
            </a:r>
          </a:p>
          <a:p xmlns:a="http://schemas.openxmlformats.org/drawingml/2006/main">
            <a:r>
              <a:t>    "subtotal_krw": 75000000,</a:t>
            </a:r>
          </a:p>
          <a:p xmlns:a="http://schemas.openxmlformats.org/drawingml/2006/main">
            <a:r>
              <a:t>    "reserve_krw": 7500000,</a:t>
            </a:r>
          </a:p>
          <a:p xmlns:a="http://schemas.openxmlformats.org/drawingml/2006/main">
            <a:r>
              <a:t>    "total_krw": 82500000,</a:t>
            </a:r>
          </a:p>
          <a:p xmlns:a="http://schemas.openxmlformats.org/drawingml/2006/main">
            <a:r>
              <a:t>    "within_hard_budget": true,</a:t>
            </a:r>
          </a:p>
          <a:p xmlns:a="http://schemas.openxmlformats.org/drawingml/2006/main">
            <a:r>
              <a:t>    "items":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"여행비 환급 지원",</a:t>
            </a:r>
          </a:p>
          <a:p xmlns:a="http://schemas.openxmlformats.org/drawingml/2006/main">
            <a:r>
              <a:t>        "basis": "1,000건 × 50,000원",</a:t>
            </a:r>
          </a:p>
          <a:p xmlns:a="http://schemas.openxmlformats.org/drawingml/2006/main">
            <a:r>
              <a:t>        "amount": 50000000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"현장 운영·정산",</a:t>
            </a:r>
          </a:p>
          <a:p xmlns:a="http://schemas.openxmlformats.org/drawingml/2006/main">
            <a:r>
              <a:t>        "basis": "60인일 × 150,000원",</a:t>
            </a:r>
          </a:p>
          <a:p xmlns:a="http://schemas.openxmlformats.org/drawingml/2006/main">
            <a:r>
              <a:t>        "amount": 9000000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"신청·증빙 시스템",</a:t>
            </a:r>
          </a:p>
          <a:p xmlns:a="http://schemas.openxmlformats.org/drawingml/2006/main">
            <a:r>
              <a:t>        "basis": "기존 시스템 설정 1식 × 800만원",</a:t>
            </a:r>
          </a:p>
          <a:p xmlns:a="http://schemas.openxmlformats.org/drawingml/2006/main">
            <a:r>
              <a:t>        "amount": 8000000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"홍보·참여처 안내",</a:t>
            </a:r>
          </a:p>
          <a:p xmlns:a="http://schemas.openxmlformats.org/drawingml/2006/main">
            <a:r>
              <a:t>        "basis": "콘텐츠·안내물 1식 × 500만원",</a:t>
            </a:r>
          </a:p>
          <a:p xmlns:a="http://schemas.openxmlformats.org/drawingml/2006/main">
            <a:r>
              <a:t>        "amount": 5000000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"성과 집계·검토",</a:t>
            </a:r>
          </a:p>
          <a:p xmlns:a="http://schemas.openxmlformats.org/drawingml/2006/main">
            <a:r>
              <a:t>        "basis": "자료 정리·평가 1식 × 300만원",</a:t>
            </a:r>
          </a:p>
          <a:p xmlns:a="http://schemas.openxmlformats.org/drawingml/2006/main">
            <a:r>
              <a:t>        "amount": 3000000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"예비비",</a:t>
            </a:r>
          </a:p>
          <a:p xmlns:a="http://schemas.openxmlformats.org/drawingml/2006/main">
            <a:r>
              <a:t>        "basis": "직접비 7,500만원 × 10%",</a:t>
            </a:r>
          </a:p>
          <a:p xmlns:a="http://schemas.openxmlformats.org/drawingml/2006/main">
            <a:r>
              <a:t>        "amount": 7500000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"source_id": "estimate:gangjin-refund-rules:20260905",</a:t>
            </a:r>
          </a:p>
          <a:p xmlns:a="http://schemas.openxmlformats.org/drawingml/2006/main">
            <a:r>
              <a:t>        "source_type": "budget_reference",</a:t>
            </a:r>
          </a:p>
          <a:p xmlns:a="http://schemas.openxmlformats.org/drawingml/2006/main">
            <a:r>
              <a:t>        "title": "강진군 반값여행 공식 신청·정산 조건",</a:t>
            </a:r>
          </a:p>
          <a:p xmlns:a="http://schemas.openxmlformats.org/drawingml/2006/main">
            <a:r>
              <a:t>        "source_url": "https://www.gangjintour.com/advance/advance_req.html",</a:t>
            </a:r>
          </a:p>
          <a:p xmlns:a="http://schemas.openxmlformats.org/drawingml/2006/main">
            <a:r>
              <a:t>        "summary": "일반 관광객 여행비 50% 상품권 환급. 개인 최대 10만원·팀 최대 20만원. 원주 효과나 공급업체 단가의 근거는 아님.",</a:t>
            </a:r>
          </a:p>
          <a:p xmlns:a="http://schemas.openxmlformats.org/drawingml/2006/main">
            <a:r>
              <a:t>        "accessed_at": "2026-09-05"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"assumptions": [</a:t>
            </a:r>
          </a:p>
          <a:p xmlns:a="http://schemas.openxmlformats.org/drawingml/2006/main">
            <a:r>
              <a:t>      "전 항목은 기획용 가정 단가이며 확정 견적·공식 표준단가가 아닙니다.",</a:t>
            </a:r>
          </a:p>
          <a:p xmlns:a="http://schemas.openxmlformats.org/drawingml/2006/main">
            <a:r>
              <a:t>      "인력 15만원/인일은 현장 용역 예산 가정입니다. 근로계약 임금 산정값이 아닙니다.",</a:t>
            </a:r>
          </a:p>
          <a:p xmlns:a="http://schemas.openxmlformats.org/drawingml/2006/main">
            <a:r>
              <a:t>      "시스템은 기존 신청·정산 수단의 설정·운영 범위입니다. 신규 앱·키오스크 구축비는 제외합니다.",</a:t>
            </a:r>
          </a:p>
          <a:p xmlns:a="http://schemas.openxmlformats.org/drawingml/2006/main">
            <a:r>
              <a:t>      "용역비는 세금 포함 예산 한도로 가정합니다. 환급금 과세·수수료·계약조건은 착수 전 확인합니다.",</a:t>
            </a:r>
          </a:p>
          <a:p xmlns:a="http://schemas.openxmlformats.org/drawingml/2006/main">
            <a:r>
              <a:t>      "지원 건수·평균 지원액·80% 후속 사용 목표는 운영 제안이며 관측값 또는 ML 산출값이 아닙니다."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{</a:t>
            </a:r>
          </a:p>
          <a:p>
            <a:r>
              <a:t>    "visitor_target_pct": 2,</a:t>
            </a:r>
          </a:p>
          <a:p>
            <a:r>
              <a:t>    "spending_target_pct": 3</a:t>
            </a:r>
          </a:p>
          <a:p>
            <a:r>
              <a:t>  },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c3a5f6510e4e49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32212eb627044e2" Type="http://schemas.openxmlformats.org/officeDocument/2006/relationships/slideLayout" Target="../slideLayouts/slideLayout1.xml"/><Relationship Id="Rc23d06999bd7418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212eb6270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3aa0b3f3fe84ab1" Type="http://schemas.openxmlformats.org/officeDocument/2006/relationships/notesSlide" Target="../notesSlides/notesSlide1.xml"/><Relationship Id="Rfe2d442cc9394c75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a91e1cfda5554f8e" Type="http://schemas.openxmlformats.org/officeDocument/2006/relationships/notesSlide" Target="../notesSlides/notesSlide2.xml"/><Relationship Id="Rcfdb7c120e7d479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0bfe741e78644e3" Type="http://schemas.openxmlformats.org/officeDocument/2006/relationships/slideLayout" Target="../slideLayouts/slideLayout1.xml"/><Relationship Id="R9925e0cf7f4b4a11" Type="http://schemas.openxmlformats.org/officeDocument/2006/relationships/notesSlide" Target="../notesSlides/notesSlide3.xml"/><Relationship Id="Re0802ea4bb724ca1" Type="http://schemas.openxmlformats.org/officeDocument/2006/relationships/image" Target="../media/image.png"/></Relationships>
</file>

<file path=ppt/slides/_rels/slide4.xml.rels><?xml version='1.0' encoding='UTF-8' standalone='yes'?>
<Relationships xmlns="http://schemas.openxmlformats.org/package/2006/relationships"><Relationship Id="R4f2ce5977e6c41d3" Type="http://schemas.openxmlformats.org/officeDocument/2006/relationships/slideLayout" Target="../slideLayouts/slideLayout1.xml"/><Relationship Id="Reab760d5cc7545a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08a1a66771e34c37" Type="http://schemas.openxmlformats.org/officeDocument/2006/relationships/chart" Target="charts/chart3.xml"/><Relationship Id="R92c25c991d43491c" Type="http://schemas.openxmlformats.org/officeDocument/2006/relationships/slideLayout" Target="../slideLayouts/slideLayout1.xml"/><Relationship Id="Rf95ef34647d642a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1faa7af3ee946e3" Type="http://schemas.openxmlformats.org/officeDocument/2006/relationships/notesSlide" Target="../notesSlides/notesSlide7.xml"/><Relationship Id="Rdd777a48420b4e2a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be757d81be54559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a927cda51254bd6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304ac80f13724322" Type="http://schemas.openxmlformats.org/officeDocument/2006/relationships/slideLayout" Target="../slideLayouts/slideLayout1.xml"/><Relationship Id="rId2" Type="http://schemas.openxmlformats.org/officeDocument/2006/relationships/hyperlink" Target="https://datalab.visitkorea.or.kr/" TargetMode="External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3ae7c5de0f064511" Type="http://schemas.openxmlformats.org/officeDocument/2006/relationships/slideLayout" Target="../slideLayouts/slideLayout1.xml"/><Relationship Id="R9f79db7a81fa4a2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atalab.visitkorea.or.kr/site/portal/ex/bbs/View.do?bcIdx=311068&amp;cbIdx=1135&amp;pageIndex=1" TargetMode="External"/><Relationship Id="rId3" Type="http://schemas.openxmlformats.org/officeDocument/2006/relationships/hyperlink" Target="https://jnfarm.jeonnam.go.kr/board/FARM_BOARD_008/boardView.do?bdId=BD_00000000000011721&amp;menuCd=farm004002" TargetMode="External"/><Relationship Id="rId4" Type="http://schemas.openxmlformats.org/officeDocument/2006/relationships/hyperlink" Target=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 TargetMode="External"/><Relationship Id="rId5" Type="http://schemas.openxmlformats.org/officeDocument/2006/relationships/hyperlink" Target="https://www.evaluation.go.kr/upload2/atch/eval/20250429095846463.pdf" TargetMode="External"/><Relationship Id="rId6" Type="http://schemas.openxmlformats.org/officeDocument/2006/relationships/hyperlink" Target="https://jeonju.go.kr/resource/www/images/download/budget/2026/2026_31_2.pdf" TargetMode="External"/><Relationship Id="rId7" Type="http://schemas.openxmlformats.org/officeDocument/2006/relationships/hyperlink" Target="https://kto.visitkorea.or.kr/upload/flexer/upload/ktobiz/20220928/b623b5f9-3ec0-11ed-9832-ddf31964842e.hwp.files/Sections1.html" TargetMode="External"/><Relationship Id="rId8" Type="http://schemas.openxmlformats.org/officeDocument/2006/relationships/hyperlink" Target="https://korean.visitkorea.or.kr/detail/rem_detail.do?cotid=f9c636b2-dd7c-4f09-af3d-6af43b33d371" TargetMode="External"/><Relationship Id="rId9" Type="http://schemas.openxmlformats.org/officeDocument/2006/relationships/hyperlink" Target="https://www.gangjintour.com/advance/advance_req.html" TargetMode="External"/><Relationship Id="rId10" Type="http://schemas.openxmlformats.org/officeDocument/2006/relationships/hyperlink" Target="https://apis.data.go.kr/B551011/KorService2" TargetMode="External"/><Relationship Id="rId11" Type="http://schemas.openxmlformats.org/officeDocument/2006/relationships/notesSlide" Target="../notesSlides/notesSlide13.xml"/></Relationships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방문 지수</c:v>
          </c:tx>
          <c:spPr>
            <a:solidFill xmlns:a="http://schemas.openxmlformats.org/drawingml/2006/main">
              <a:srgbClr val="004EA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FD0E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4EA2"/>
              </a:solidFill>
            </c:spPr>
          </c:dPt>
          <c:cat>
            <c:strLit>
              <c:ptCount val="2"/>
              <c:pt idx="0">
                <c:v>전년</c:v>
              </c:pt>
              <c:pt idx="1">
                <c:v>현재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91.7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432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검토용 초안 · 보완 필요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원주 반값 여행 지역환급 사업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340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사업기간 2026.09 ~ 2026.11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9636E"/>
                </a:solidFill>
                <a:latin typeface="Noto Sans KR"/>
              </a:rPr>
              <a:t>관광 전략 검토용</a:t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2026-09-07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04EA2"/>
                </a:solidFill>
                <a:latin typeface="Noto Sans KR"/>
              </a:rPr>
              <a:t>원주시 관광 활성화 실행안</a:t>
            </a: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2026. 09. 07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TABLE OF CONTENTS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프로젝트 개요</a:t>
            </a:r>
            <a:endParaRPr sz="1500" b="1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사업 설계와 3개월 목표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유사지역사례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4단계 실행 가이드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0960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견적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근거·데이터·출처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맺음말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oc-0-4-num">
            <a:extLst xmlns:a="http://schemas.openxmlformats.org/drawingml/2006/main">
              <a:ext uri="{FF2B5EF4-FFF2-40B4-BE49-F238E27FC236}">
                <a16:creationId xmlns:a16="http://schemas.microsoft.com/office/drawing/2014/main" id="{02F91E1B-599D-4553-9D03-1D8C841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324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41" name="toc-0-4-label">
            <a:extLst xmlns:a="http://schemas.openxmlformats.org/drawingml/2006/main">
              <a:ext uri="{FF2B5EF4-FFF2-40B4-BE49-F238E27FC236}">
                <a16:creationId xmlns:a16="http://schemas.microsoft.com/office/drawing/2014/main" id="{590B7DEF-49B2-4D23-8A8B-1D6A3CF4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wrap="none" lIns="57150" rIns="57150" tIns="38100" bIns="38100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머신러닝 예측값과 목표 KPI</a:t>
            </a:r>
          </a:p>
        </p:txBody>
      </p:sp>
      <p:sp>
        <p:nvSpPr>
          <p:cNvPr id="42" name="toc-0-4-rule">
            <a:extLst xmlns:a="http://schemas.openxmlformats.org/drawingml/2006/main">
              <a:ext uri="{FF2B5EF4-FFF2-40B4-BE49-F238E27FC236}">
                <a16:creationId xmlns:a16="http://schemas.microsoft.com/office/drawing/2014/main" id="{D7C43C6B-AF9A-4000-B6C1-13664E41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1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02ea4bb724ca1"/>
          <a:srcRect xmlns:a="http://schemas.openxmlformats.org/drawingml/2006/main" l="31390" r="31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01000"/>
            <a:ext cx="414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wrap="none" lIns="57150" rIns="57150" tIns="38100" bIns="38100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FFF"/>
                </a:solidFill>
                <a:latin typeface="Noto Sans KR"/>
              </a:rPr>
              <a:t>강원특별자치도 원주시 귀래면 미륵산길 200 · 경천묘</a:t>
            </a:r>
          </a:p>
        </p:txBody>
      </p:sp>
      <p:sp xmlns:a="http://schemas.openxmlformats.org/drawingml/2006/main">
        <p:nvSpPr>
          <p:cNvPr id="34" name="title"/>
          <p:cNvSpPr txBox="1"/>
          <p:nvPr/>
        </p:nvSpPr>
        <p:spPr>
          <a:xfrm>
            <a:off x="5343525" y="762000"/>
            <a:ext cx="9048750" cy="1285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312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004EA2"/>
                </a:solidFill>
                <a:latin typeface="Noto Sans KR"/>
              </a:rPr>
              <a:t>원주 반값 여행 지역환급 사업</a:t>
            </a:r>
          </a:p>
        </p:txBody>
      </p:sp>
      <p:sp xmlns:a="http://schemas.openxmlformats.org/drawingml/2006/main">
        <p:nvSpPr>
          <p:cNvPr id="35" name="s3-thesis"/>
          <p:cNvSpPr txBox="1"/>
          <p:nvPr/>
        </p:nvSpPr>
        <p:spPr>
          <a:xfrm>
            <a:off x="5343525" y="2619375"/>
            <a:ext cx="8524875" cy="18097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D2227"/>
                </a:solidFill>
                <a:latin typeface="Noto Sans KR"/>
              </a:rPr>
              <a:t>방문객이 지역 내에서 지출한 금액의 일부를 지역상품권으로</a:t>
            </a:r>
          </a:p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D2227"/>
                </a:solidFill>
                <a:latin typeface="Noto Sans KR"/>
              </a:rPr>
              <a:t>돌려받는 방식으로, 혜택이 다시 지역 내 상점에서</a:t>
            </a:r>
          </a:p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D2227"/>
                </a:solidFill>
                <a:latin typeface="Noto Sans KR"/>
              </a:rPr>
              <a:t>사용되도록 설계</a:t>
            </a:r>
          </a:p>
        </p:txBody>
      </p:sp>
      <p:sp xmlns:a="http://schemas.openxmlformats.org/drawingml/2006/main">
        <p:nvSpPr>
          <p:cNvPr id="36" name="s3-detail-label"/>
          <p:cNvSpPr txBox="1"/>
          <p:nvPr/>
        </p:nvSpPr>
        <p:spPr>
          <a:xfrm>
            <a:off x="5343525" y="4762500"/>
            <a:ext cx="8524875" cy="428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4EA2"/>
                </a:solidFill>
                <a:latin typeface="Noto Sans KR"/>
              </a:rPr>
              <a:t>사업 대상과 운영 범위</a:t>
            </a:r>
          </a:p>
        </p:txBody>
      </p:sp>
      <p:sp xmlns:a="http://schemas.openxmlformats.org/drawingml/2006/main">
        <p:nvSpPr>
          <p:cNvPr id="37" name="s3-detail"/>
          <p:cNvSpPr txBox="1"/>
          <p:nvPr/>
        </p:nvSpPr>
        <p:spPr>
          <a:xfrm>
            <a:off x="5343525" y="5276850"/>
            <a:ext cx="8524875" cy="904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59636E"/>
                </a:solidFill>
                <a:latin typeface="Noto Sans KR"/>
              </a:rPr>
              <a:t>2026-09 ~ 2026-11, 3개월</a:t>
            </a:r>
          </a:p>
        </p:txBody>
      </p:sp>
      <p:sp xmlns:a="http://schemas.openxmlformats.org/drawingml/2006/main">
        <p:nvSpPr>
          <p:cNvPr id="38" name="s3-operation-rule"/>
          <p:cNvSpPr/>
          <p:nvPr/>
        </p:nvSpPr>
        <p:spPr>
          <a:xfrm>
            <a:off x="5400675" y="6457950"/>
            <a:ext cx="57150" cy="120967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s3-operation"/>
          <p:cNvSpPr txBox="1"/>
          <p:nvPr/>
        </p:nvSpPr>
        <p:spPr>
          <a:xfrm>
            <a:off x="5610225" y="6505575"/>
            <a:ext cx="8096250" cy="1285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9636E"/>
                </a:solidFill>
                <a:latin typeface="Noto Sans KR"/>
              </a:rPr>
              <a:t>지역 내 상품권 사용처 확보, 방문객의 지출 증빙 절차 마련,</a:t>
            </a:r>
          </a:p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9636E"/>
                </a:solidFill>
                <a:latin typeface="Noto Sans KR"/>
              </a:rPr>
              <a:t>중복 수혜 방지 방안 수립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사업 설계와 3개월 목표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block-0"/>
          <p:cNvSpPr/>
          <p:nvPr/>
        </p:nvSpPr>
        <p:spPr>
          <a:xfrm>
            <a:off x="1009650" y="2057400"/>
            <a:ext cx="4267200" cy="1971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block-rail-0"/>
          <p:cNvSpPr/>
          <p:nvPr/>
        </p:nvSpPr>
        <p:spPr>
          <a:xfrm>
            <a:off x="1009650" y="2057400"/>
            <a:ext cx="57150" cy="19716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block-title-0"/>
          <p:cNvSpPr txBox="1"/>
          <p:nvPr/>
        </p:nvSpPr>
        <p:spPr>
          <a:xfrm>
            <a:off x="1181100" y="2200275"/>
            <a:ext cx="3943350" cy="381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사업내용</a:t>
            </a:r>
          </a:p>
        </p:txBody>
      </p:sp>
      <p:sp xmlns:a="http://schemas.openxmlformats.org/drawingml/2006/main">
        <p:nvSpPr>
          <p:cNvPr id="7" name="block-body-0"/>
          <p:cNvSpPr txBox="1"/>
          <p:nvPr/>
        </p:nvSpPr>
        <p:spPr>
          <a:xfrm>
            <a:off x="1181100" y="2676525"/>
            <a:ext cx="3943350" cy="1257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방문객이 지역 내에서 지출한 금액의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일부를 지역상품권으로 돌려받는 방식으로,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혜택이 다시 지역 내 상점에서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사용되도록 설계</a:t>
            </a:r>
          </a:p>
        </p:txBody>
      </p:sp>
      <p:sp xmlns:a="http://schemas.openxmlformats.org/drawingml/2006/main">
        <p:nvSpPr>
          <p:cNvPr id="8" name="block-1"/>
          <p:cNvSpPr/>
          <p:nvPr/>
        </p:nvSpPr>
        <p:spPr>
          <a:xfrm>
            <a:off x="5486400" y="2057400"/>
            <a:ext cx="4267200" cy="1971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block-rail-1"/>
          <p:cNvSpPr/>
          <p:nvPr/>
        </p:nvSpPr>
        <p:spPr>
          <a:xfrm>
            <a:off x="5486400" y="2057400"/>
            <a:ext cx="57150" cy="197167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block-title-1"/>
          <p:cNvSpPr txBox="1"/>
          <p:nvPr/>
        </p:nvSpPr>
        <p:spPr>
          <a:xfrm>
            <a:off x="5657850" y="2200275"/>
            <a:ext cx="3943350" cy="381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사업기간</a:t>
            </a:r>
          </a:p>
        </p:txBody>
      </p:sp>
      <p:sp xmlns:a="http://schemas.openxmlformats.org/drawingml/2006/main">
        <p:nvSpPr>
          <p:cNvPr id="11" name="block-body-1"/>
          <p:cNvSpPr txBox="1"/>
          <p:nvPr/>
        </p:nvSpPr>
        <p:spPr>
          <a:xfrm>
            <a:off x="5657850" y="2676525"/>
            <a:ext cx="3943350" cy="1257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2026-09 ~ 2026-11, 3개월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준비·협의 → 시범 운영 → 성과 확인</a:t>
            </a:r>
          </a:p>
        </p:txBody>
      </p:sp>
      <p:sp xmlns:a="http://schemas.openxmlformats.org/drawingml/2006/main">
        <p:nvSpPr>
          <p:cNvPr id="12" name="block-2"/>
          <p:cNvSpPr/>
          <p:nvPr/>
        </p:nvSpPr>
        <p:spPr>
          <a:xfrm>
            <a:off x="9963150" y="2057400"/>
            <a:ext cx="4267200" cy="1971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block-rail-2"/>
          <p:cNvSpPr/>
          <p:nvPr/>
        </p:nvSpPr>
        <p:spPr>
          <a:xfrm>
            <a:off x="9963150" y="2057400"/>
            <a:ext cx="57150" cy="19716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block-title-2"/>
          <p:cNvSpPr txBox="1"/>
          <p:nvPr/>
        </p:nvSpPr>
        <p:spPr>
          <a:xfrm>
            <a:off x="10134600" y="2200275"/>
            <a:ext cx="3943350" cy="381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목표 KPI</a:t>
            </a:r>
          </a:p>
        </p:txBody>
      </p:sp>
      <p:sp xmlns:a="http://schemas.openxmlformats.org/drawingml/2006/main">
        <p:nvSpPr>
          <p:cNvPr id="15" name="block-body-2"/>
          <p:cNvSpPr txBox="1"/>
          <p:nvPr/>
        </p:nvSpPr>
        <p:spPr>
          <a:xfrm>
            <a:off x="10134600" y="2676525"/>
            <a:ext cx="3943350" cy="1257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3개월 월별 합계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방문자 773만 명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관광소비액 2,460억 원</a:t>
            </a:r>
          </a:p>
        </p:txBody>
      </p:sp>
      <p:sp xmlns:a="http://schemas.openxmlformats.org/drawingml/2006/main">
        <p:nvSpPr>
          <p:cNvPr id="16" name="chart-panel-0"/>
          <p:cNvSpPr/>
          <p:nvPr/>
        </p:nvSpPr>
        <p:spPr>
          <a:xfrm>
            <a:off x="1009650" y="4248150"/>
            <a:ext cx="6419850" cy="3333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chart-title-0"/>
          <p:cNvSpPr txBox="1"/>
          <p:nvPr/>
        </p:nvSpPr>
        <p:spPr>
          <a:xfrm>
            <a:off x="1200150" y="4343400"/>
            <a:ext cx="603885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4EA2"/>
                </a:solidFill>
                <a:latin typeface="Noto Sans KR"/>
              </a:rPr>
              <a:t>관광객 방문자 수</a:t>
            </a:r>
          </a:p>
        </p:txBody>
      </p:sp>
      <p:graphicFrame xmlns:a="http://schemas.openxmlformats.org/drawingml/2006/main">
        <p:nvGraphicFramePr>
          <p:cNvPr id="18" name="comparison-chart-0"/>
          <p:cNvGraphicFramePr>
            <a:graphicFrameLocks noGrp="1"/>
          </p:cNvGraphicFramePr>
          <p:nvPr/>
        </p:nvGraphicFramePr>
        <p:xfrm>
          <a:off x="1123950" y="4857750"/>
          <a:ext cx="6191250" cy="2638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 xmlns:a="http://schemas.openxmlformats.org/drawingml/2006/main">
        <p:nvSpPr>
          <p:cNvPr id="19" name="comparison-chart-0-value-0-0"/>
          <p:cNvSpPr txBox="1"/>
          <p:nvPr/>
        </p:nvSpPr>
        <p:spPr>
          <a:xfrm>
            <a:off x="2222500" y="6393997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236만</a:t>
            </a:r>
          </a:p>
        </p:txBody>
      </p:sp>
      <p:sp xmlns:a="http://schemas.openxmlformats.org/drawingml/2006/main">
        <p:nvSpPr>
          <p:cNvPr id="20" name="comparison-chart-0-value-0-1"/>
          <p:cNvSpPr txBox="1"/>
          <p:nvPr/>
        </p:nvSpPr>
        <p:spPr>
          <a:xfrm>
            <a:off x="4038600" y="5562234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263만</a:t>
            </a:r>
          </a:p>
        </p:txBody>
      </p:sp>
      <p:sp xmlns:a="http://schemas.openxmlformats.org/drawingml/2006/main">
        <p:nvSpPr>
          <p:cNvPr id="21" name="comparison-chart-0-value-0-2"/>
          <p:cNvSpPr txBox="1"/>
          <p:nvPr/>
        </p:nvSpPr>
        <p:spPr>
          <a:xfrm>
            <a:off x="5854700" y="5565174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263만</a:t>
            </a:r>
          </a:p>
        </p:txBody>
      </p:sp>
      <p:sp xmlns:a="http://schemas.openxmlformats.org/drawingml/2006/main">
        <p:nvSpPr>
          <p:cNvPr id="22" name="comparison-chart-0-value-1-0"/>
          <p:cNvSpPr txBox="1"/>
          <p:nvPr/>
        </p:nvSpPr>
        <p:spPr>
          <a:xfrm>
            <a:off x="2222500" y="5954979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FF6B00"/>
                </a:solidFill>
                <a:latin typeface="Noto Sans KR"/>
              </a:rPr>
              <a:t>238만</a:t>
            </a:r>
          </a:p>
        </p:txBody>
      </p:sp>
      <p:sp xmlns:a="http://schemas.openxmlformats.org/drawingml/2006/main">
        <p:nvSpPr>
          <p:cNvPr id="23" name="comparison-chart-0-value-1-1"/>
          <p:cNvSpPr txBox="1"/>
          <p:nvPr/>
        </p:nvSpPr>
        <p:spPr>
          <a:xfrm>
            <a:off x="4038600" y="5063634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FF6B00"/>
                </a:solidFill>
                <a:latin typeface="Noto Sans KR"/>
              </a:rPr>
              <a:t>267만</a:t>
            </a:r>
          </a:p>
        </p:txBody>
      </p:sp>
      <p:sp xmlns:a="http://schemas.openxmlformats.org/drawingml/2006/main">
        <p:nvSpPr>
          <p:cNvPr id="24" name="comparison-chart-0-value-1-2"/>
          <p:cNvSpPr txBox="1"/>
          <p:nvPr/>
        </p:nvSpPr>
        <p:spPr>
          <a:xfrm>
            <a:off x="5854700" y="5012595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FF6B00"/>
                </a:solidFill>
                <a:latin typeface="Noto Sans KR"/>
              </a:rPr>
              <a:t>268만</a:t>
            </a:r>
          </a:p>
        </p:txBody>
      </p:sp>
      <p:sp xmlns:a="http://schemas.openxmlformats.org/drawingml/2006/main">
        <p:nvSpPr>
          <p:cNvPr id="25" name="chart-panel-1"/>
          <p:cNvSpPr/>
          <p:nvPr/>
        </p:nvSpPr>
        <p:spPr>
          <a:xfrm>
            <a:off x="7810500" y="4248150"/>
            <a:ext cx="6419850" cy="3333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chart-title-1"/>
          <p:cNvSpPr txBox="1"/>
          <p:nvPr/>
        </p:nvSpPr>
        <p:spPr>
          <a:xfrm>
            <a:off x="8001000" y="4343400"/>
            <a:ext cx="603885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4EA2"/>
                </a:solidFill>
                <a:latin typeface="Noto Sans KR"/>
              </a:rPr>
              <a:t>관광소비액</a:t>
            </a:r>
          </a:p>
        </p:txBody>
      </p:sp>
      <p:graphicFrame xmlns:a="http://schemas.openxmlformats.org/drawingml/2006/main">
        <p:nvGraphicFramePr>
          <p:cNvPr id="27" name="comparison-chart-1"/>
          <p:cNvGraphicFramePr>
            <a:graphicFrameLocks noGrp="1"/>
          </p:cNvGraphicFramePr>
          <p:nvPr/>
        </p:nvGraphicFramePr>
        <p:xfrm>
          <a:off x="7924800" y="4857750"/>
          <a:ext cx="6191250" cy="2638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 xmlns:a="http://schemas.openxmlformats.org/drawingml/2006/main">
        <p:nvSpPr>
          <p:cNvPr id="28" name="comparison-chart-1-value-0-0"/>
          <p:cNvSpPr txBox="1"/>
          <p:nvPr/>
        </p:nvSpPr>
        <p:spPr>
          <a:xfrm>
            <a:off x="9023350" y="6635595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670억</a:t>
            </a:r>
          </a:p>
        </p:txBody>
      </p:sp>
      <p:sp xmlns:a="http://schemas.openxmlformats.org/drawingml/2006/main">
        <p:nvSpPr>
          <p:cNvPr id="29" name="comparison-chart-1-value-0-1"/>
          <p:cNvSpPr txBox="1"/>
          <p:nvPr/>
        </p:nvSpPr>
        <p:spPr>
          <a:xfrm>
            <a:off x="10839450" y="6011985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839억</a:t>
            </a:r>
          </a:p>
        </p:txBody>
      </p:sp>
      <p:sp xmlns:a="http://schemas.openxmlformats.org/drawingml/2006/main">
        <p:nvSpPr>
          <p:cNvPr id="30" name="comparison-chart-1-value-0-2"/>
          <p:cNvSpPr txBox="1"/>
          <p:nvPr/>
        </p:nvSpPr>
        <p:spPr>
          <a:xfrm>
            <a:off x="12655550" y="5789704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899억</a:t>
            </a:r>
          </a:p>
        </p:txBody>
      </p:sp>
      <p:sp xmlns:a="http://schemas.openxmlformats.org/drawingml/2006/main">
        <p:nvSpPr>
          <p:cNvPr id="31" name="comparison-chart-1-value-1-0"/>
          <p:cNvSpPr txBox="1"/>
          <p:nvPr/>
        </p:nvSpPr>
        <p:spPr>
          <a:xfrm>
            <a:off x="9023350" y="6220304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FF6B00"/>
                </a:solidFill>
                <a:latin typeface="Noto Sans KR"/>
              </a:rPr>
              <a:t>677억</a:t>
            </a:r>
          </a:p>
        </p:txBody>
      </p:sp>
      <p:sp xmlns:a="http://schemas.openxmlformats.org/drawingml/2006/main">
        <p:nvSpPr>
          <p:cNvPr id="32" name="comparison-chart-1-value-1-1"/>
          <p:cNvSpPr txBox="1"/>
          <p:nvPr/>
        </p:nvSpPr>
        <p:spPr>
          <a:xfrm>
            <a:off x="10839450" y="5559456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FF6B00"/>
                </a:solidFill>
                <a:latin typeface="Noto Sans KR"/>
              </a:rPr>
              <a:t>856억</a:t>
            </a:r>
          </a:p>
        </p:txBody>
      </p:sp>
      <p:sp xmlns:a="http://schemas.openxmlformats.org/drawingml/2006/main">
        <p:nvSpPr>
          <p:cNvPr id="33" name="comparison-chart-1-value-1-2"/>
          <p:cNvSpPr txBox="1"/>
          <p:nvPr/>
        </p:nvSpPr>
        <p:spPr>
          <a:xfrm>
            <a:off x="12655550" y="5299504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FF6B00"/>
                </a:solidFill>
                <a:latin typeface="Noto Sans KR"/>
              </a:rPr>
              <a:t>926억</a:t>
            </a:r>
          </a:p>
        </p:txBody>
      </p:sp>
      <p:sp xmlns:a="http://schemas.openxmlformats.org/drawingml/2006/main">
        <p:nvSpPr>
          <p:cNvPr id="34" name="comparison-note"/>
          <p:cNvSpPr txBox="1"/>
          <p:nvPr/>
        </p:nvSpPr>
        <p:spPr>
          <a:xfrm>
            <a:off x="1009650" y="7724775"/>
            <a:ext cx="13220700" cy="6000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202401~202606 월별 방문·소비의 1·3·12개월 전 값과 계절 정보로 산출한 저장 전망입니다. 사업 미진행시 예측값은 참고값이며, 신규 사업 효과를 학습한 예측치가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유사지역사례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case-panel-0"/>
          <p:cNvSpPr/>
          <p:nvPr/>
        </p:nvSpPr>
        <p:spPr>
          <a:xfrm>
            <a:off x="1009650" y="2124075"/>
            <a:ext cx="6419850" cy="2762250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case-number-0"/>
          <p:cNvSpPr txBox="1"/>
          <p:nvPr/>
        </p:nvSpPr>
        <p:spPr>
          <a:xfrm>
            <a:off x="1200150" y="2276475"/>
            <a:ext cx="619125" cy="4762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>
                <a:solidFill>
                  <a:srgbClr val="00B7C9"/>
                </a:solidFill>
                <a:latin typeface="Noto Sans KR"/>
              </a:rPr>
              <a:t>01</a:t>
            </a:r>
          </a:p>
        </p:txBody>
      </p:sp>
      <p:sp xmlns:a="http://schemas.openxmlformats.org/drawingml/2006/main">
        <p:nvSpPr>
          <p:cNvPr id="6" name="case-badge-0"/>
          <p:cNvSpPr txBox="1"/>
          <p:nvPr/>
        </p:nvSpPr>
        <p:spPr>
          <a:xfrm>
            <a:off x="1943100" y="2314575"/>
            <a:ext cx="5191125" cy="3429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선정 사례</a:t>
            </a:r>
          </a:p>
        </p:txBody>
      </p:sp>
      <p:sp xmlns:a="http://schemas.openxmlformats.org/drawingml/2006/main">
        <p:nvSpPr>
          <p:cNvPr id="7" name="case-title-0"/>
          <p:cNvSpPr txBox="1"/>
          <p:nvPr/>
        </p:nvSpPr>
        <p:spPr>
          <a:xfrm>
            <a:off x="1200150" y="2819400"/>
            <a:ext cx="6038850" cy="733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전라남도 강진군 · 반값여행 지역환급</a:t>
            </a:r>
          </a:p>
        </p:txBody>
      </p:sp>
      <p:sp xmlns:a="http://schemas.openxmlformats.org/drawingml/2006/main">
        <p:nvSpPr>
          <p:cNvPr id="8" name="case-body-0"/>
          <p:cNvSpPr txBox="1"/>
          <p:nvPr/>
        </p:nvSpPr>
        <p:spPr>
          <a:xfrm>
            <a:off x="1200150" y="3638550"/>
            <a:ext cx="6038850" cy="1076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적용 조건: 지역 내 상품권 사용처 확보, 방문객의 지출 증빙 절차 마련,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중복 수혜 방지 방안 수립이 필요하다.</a:t>
            </a:r>
          </a:p>
        </p:txBody>
      </p:sp>
      <p:sp xmlns:a="http://schemas.openxmlformats.org/drawingml/2006/main">
        <p:nvSpPr>
          <p:cNvPr id="9" name="case-panel-1"/>
          <p:cNvSpPr/>
          <p:nvPr/>
        </p:nvSpPr>
        <p:spPr>
          <a:xfrm>
            <a:off x="7810500" y="2124075"/>
            <a:ext cx="6419850" cy="2762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case-number-1"/>
          <p:cNvSpPr txBox="1"/>
          <p:nvPr/>
        </p:nvSpPr>
        <p:spPr>
          <a:xfrm>
            <a:off x="8001000" y="2276475"/>
            <a:ext cx="619125" cy="4762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>
                <a:solidFill>
                  <a:srgbClr val="00B7C9"/>
                </a:solidFill>
                <a:latin typeface="Noto Sans KR"/>
              </a:rPr>
              <a:t>02</a:t>
            </a:r>
          </a:p>
        </p:txBody>
      </p:sp>
      <p:sp xmlns:a="http://schemas.openxmlformats.org/drawingml/2006/main">
        <p:nvSpPr>
          <p:cNvPr id="11" name="case-badge-1"/>
          <p:cNvSpPr txBox="1"/>
          <p:nvPr/>
        </p:nvSpPr>
        <p:spPr>
          <a:xfrm>
            <a:off x="8743950" y="2314575"/>
            <a:ext cx="5191125" cy="3429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기타 유사 사례</a:t>
            </a:r>
          </a:p>
        </p:txBody>
      </p:sp>
      <p:sp xmlns:a="http://schemas.openxmlformats.org/drawingml/2006/main">
        <p:nvSpPr>
          <p:cNvPr id="12" name="case-title-1"/>
          <p:cNvSpPr txBox="1"/>
          <p:nvPr/>
        </p:nvSpPr>
        <p:spPr>
          <a:xfrm>
            <a:off x="8001000" y="2819400"/>
            <a:ext cx="6038850" cy="733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전국 인구감소지역 34곳 · 디지털 관광주민증과</a:t>
            </a:r>
          </a:p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교통·숙박·상점 할인 결합</a:t>
            </a:r>
          </a:p>
        </p:txBody>
      </p:sp>
      <p:sp xmlns:a="http://schemas.openxmlformats.org/drawingml/2006/main">
        <p:nvSpPr>
          <p:cNvPr id="13" name="case-body-1"/>
          <p:cNvSpPr txBox="1"/>
          <p:nvPr/>
        </p:nvSpPr>
        <p:spPr>
          <a:xfrm>
            <a:off x="8001000" y="3638550"/>
            <a:ext cx="6038850" cy="1076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전국 인구감소지역 34곳 · 디지털 관광주민증과 교통·숙박·상점 할인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결합 · 2024년 34개 지역 약 800개 관광업체에 혜택 구조를 적용</a:t>
            </a:r>
          </a:p>
        </p:txBody>
      </p:sp>
      <p:sp xmlns:a="http://schemas.openxmlformats.org/drawingml/2006/main">
        <p:nvSpPr>
          <p:cNvPr id="14" name="case-panel-2"/>
          <p:cNvSpPr/>
          <p:nvPr/>
        </p:nvSpPr>
        <p:spPr>
          <a:xfrm>
            <a:off x="1009650" y="5105400"/>
            <a:ext cx="6419850" cy="2762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case-number-2"/>
          <p:cNvSpPr txBox="1"/>
          <p:nvPr/>
        </p:nvSpPr>
        <p:spPr>
          <a:xfrm>
            <a:off x="1200150" y="5257800"/>
            <a:ext cx="619125" cy="4762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>
                <a:solidFill>
                  <a:srgbClr val="00B7C9"/>
                </a:solidFill>
                <a:latin typeface="Noto Sans KR"/>
              </a:rPr>
              <a:t>03</a:t>
            </a:r>
          </a:p>
        </p:txBody>
      </p:sp>
      <p:sp xmlns:a="http://schemas.openxmlformats.org/drawingml/2006/main">
        <p:nvSpPr>
          <p:cNvPr id="16" name="case-badge-2"/>
          <p:cNvSpPr txBox="1"/>
          <p:nvPr/>
        </p:nvSpPr>
        <p:spPr>
          <a:xfrm>
            <a:off x="1943100" y="5295900"/>
            <a:ext cx="5191125" cy="3429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기타 유사 사례</a:t>
            </a:r>
          </a:p>
        </p:txBody>
      </p:sp>
      <p:sp xmlns:a="http://schemas.openxmlformats.org/drawingml/2006/main">
        <p:nvSpPr>
          <p:cNvPr id="17" name="case-title-2"/>
          <p:cNvSpPr txBox="1"/>
          <p:nvPr/>
        </p:nvSpPr>
        <p:spPr>
          <a:xfrm>
            <a:off x="1200150" y="5800725"/>
            <a:ext cx="6038850" cy="733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야간관광 특화도시 10곳 · 상설 야간 콘텐츠와</a:t>
            </a:r>
          </a:p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경관·교통·안전 운영</a:t>
            </a:r>
          </a:p>
        </p:txBody>
      </p:sp>
      <p:sp xmlns:a="http://schemas.openxmlformats.org/drawingml/2006/main">
        <p:nvSpPr>
          <p:cNvPr id="18" name="case-body-2"/>
          <p:cNvSpPr txBox="1"/>
          <p:nvPr/>
        </p:nvSpPr>
        <p:spPr>
          <a:xfrm>
            <a:off x="1200150" y="6619875"/>
            <a:ext cx="6038850" cy="1076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야간관광 특화도시 10곳 · 상설 야간 콘텐츠와 경관·교통·안전 운영 ·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정부업무평가 자료는 특화도시 10곳 방문객이 2023년 같은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기간보다 3% 증가했다고 기록</a:t>
            </a:r>
          </a:p>
        </p:txBody>
      </p:sp>
      <p:sp xmlns:a="http://schemas.openxmlformats.org/drawingml/2006/main">
        <p:nvSpPr>
          <p:cNvPr id="19" name="case-panel-3"/>
          <p:cNvSpPr/>
          <p:nvPr/>
        </p:nvSpPr>
        <p:spPr>
          <a:xfrm>
            <a:off x="7810500" y="5105400"/>
            <a:ext cx="6419850" cy="2762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case-number-3"/>
          <p:cNvSpPr txBox="1"/>
          <p:nvPr/>
        </p:nvSpPr>
        <p:spPr>
          <a:xfrm>
            <a:off x="8001000" y="5257800"/>
            <a:ext cx="619125" cy="4762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>
                <a:solidFill>
                  <a:srgbClr val="00B7C9"/>
                </a:solidFill>
                <a:latin typeface="Noto Sans KR"/>
              </a:rPr>
              <a:t>04</a:t>
            </a:r>
          </a:p>
        </p:txBody>
      </p:sp>
      <p:sp xmlns:a="http://schemas.openxmlformats.org/drawingml/2006/main">
        <p:nvSpPr>
          <p:cNvPr id="21" name="case-badge-3"/>
          <p:cNvSpPr txBox="1"/>
          <p:nvPr/>
        </p:nvSpPr>
        <p:spPr>
          <a:xfrm>
            <a:off x="8743950" y="5295900"/>
            <a:ext cx="5191125" cy="3429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기타 유사 사례</a:t>
            </a:r>
          </a:p>
        </p:txBody>
      </p:sp>
      <p:sp xmlns:a="http://schemas.openxmlformats.org/drawingml/2006/main">
        <p:nvSpPr>
          <p:cNvPr id="22" name="case-title-3"/>
          <p:cNvSpPr txBox="1"/>
          <p:nvPr/>
        </p:nvSpPr>
        <p:spPr>
          <a:xfrm>
            <a:off x="8001000" y="5800725"/>
            <a:ext cx="6038850" cy="733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전국 숙박할인쿠폰 지원사업 · 온라인 예약</a:t>
            </a:r>
          </a:p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채널 숙박할인쿠폰</a:t>
            </a:r>
          </a:p>
        </p:txBody>
      </p:sp>
      <p:sp xmlns:a="http://schemas.openxmlformats.org/drawingml/2006/main">
        <p:nvSpPr>
          <p:cNvPr id="23" name="case-body-3"/>
          <p:cNvSpPr txBox="1"/>
          <p:nvPr/>
        </p:nvSpPr>
        <p:spPr>
          <a:xfrm>
            <a:off x="8001000" y="6619875"/>
            <a:ext cx="6038850" cy="1076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전국 숙박할인쿠폰 지원사업 · 온라인 예약 채널 숙박할인쿠폰 ·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한국관광공사 자료는 약 104만 명이 할인혜택을 이용했고 서울·제주를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제외한 지역 사용 비율이 76%였다고 소개함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4단계 실행 가이드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pipeline-0"/>
          <p:cNvSpPr/>
          <p:nvPr/>
        </p:nvSpPr>
        <p:spPr>
          <a:xfrm>
            <a:off x="1009650" y="2228850"/>
            <a:ext cx="3009900" cy="69532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step-0-label"/>
          <p:cNvSpPr txBox="1"/>
          <p:nvPr/>
        </p:nvSpPr>
        <p:spPr>
          <a:xfrm>
            <a:off x="1047750" y="2381250"/>
            <a:ext cx="2933700" cy="4381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01 준비와 협의</a:t>
            </a:r>
          </a:p>
        </p:txBody>
      </p:sp>
      <p:sp xmlns:a="http://schemas.openxmlformats.org/drawingml/2006/main">
        <p:nvSpPr>
          <p:cNvPr id="6" name="arrow-0"/>
          <p:cNvSpPr txBox="1"/>
          <p:nvPr/>
        </p:nvSpPr>
        <p:spPr>
          <a:xfrm>
            <a:off x="4057650" y="2390775"/>
            <a:ext cx="352425" cy="4000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→</a:t>
            </a:r>
          </a:p>
        </p:txBody>
      </p:sp>
      <p:sp xmlns:a="http://schemas.openxmlformats.org/drawingml/2006/main">
        <p:nvSpPr>
          <p:cNvPr id="7" name="step-0-period"/>
          <p:cNvSpPr txBox="1"/>
          <p:nvPr/>
        </p:nvSpPr>
        <p:spPr>
          <a:xfrm>
            <a:off x="1009650" y="3028950"/>
            <a:ext cx="3009900" cy="5810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2026-09</a:t>
            </a:r>
          </a:p>
        </p:txBody>
      </p:sp>
      <p:sp xmlns:a="http://schemas.openxmlformats.org/drawingml/2006/main">
        <p:nvSpPr>
          <p:cNvPr id="8" name="pipeline-1"/>
          <p:cNvSpPr/>
          <p:nvPr/>
        </p:nvSpPr>
        <p:spPr>
          <a:xfrm>
            <a:off x="4391025" y="2228850"/>
            <a:ext cx="3009900" cy="69532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step-1-label"/>
          <p:cNvSpPr txBox="1"/>
          <p:nvPr/>
        </p:nvSpPr>
        <p:spPr>
          <a:xfrm>
            <a:off x="4429125" y="2381250"/>
            <a:ext cx="2933700" cy="4381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02 운영 절차 점검</a:t>
            </a:r>
          </a:p>
        </p:txBody>
      </p:sp>
      <p:sp xmlns:a="http://schemas.openxmlformats.org/drawingml/2006/main">
        <p:nvSpPr>
          <p:cNvPr id="10" name="arrow-1"/>
          <p:cNvSpPr txBox="1"/>
          <p:nvPr/>
        </p:nvSpPr>
        <p:spPr>
          <a:xfrm>
            <a:off x="7439025" y="2390775"/>
            <a:ext cx="352425" cy="4000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→</a:t>
            </a:r>
          </a:p>
        </p:txBody>
      </p:sp>
      <p:sp xmlns:a="http://schemas.openxmlformats.org/drawingml/2006/main">
        <p:nvSpPr>
          <p:cNvPr id="11" name="step-1-period"/>
          <p:cNvSpPr txBox="1"/>
          <p:nvPr/>
        </p:nvSpPr>
        <p:spPr>
          <a:xfrm>
            <a:off x="4391025" y="3028950"/>
            <a:ext cx="3009900" cy="5810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2026-09</a:t>
            </a:r>
          </a:p>
        </p:txBody>
      </p:sp>
      <p:sp xmlns:a="http://schemas.openxmlformats.org/drawingml/2006/main">
        <p:nvSpPr>
          <p:cNvPr id="12" name="pipeline-2"/>
          <p:cNvSpPr/>
          <p:nvPr/>
        </p:nvSpPr>
        <p:spPr>
          <a:xfrm>
            <a:off x="7772400" y="2228850"/>
            <a:ext cx="3009900" cy="69532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step-2-label"/>
          <p:cNvSpPr txBox="1"/>
          <p:nvPr/>
        </p:nvSpPr>
        <p:spPr>
          <a:xfrm>
            <a:off x="7810500" y="2381250"/>
            <a:ext cx="2933700" cy="4381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03 시범 운영</a:t>
            </a:r>
          </a:p>
        </p:txBody>
      </p:sp>
      <p:sp xmlns:a="http://schemas.openxmlformats.org/drawingml/2006/main">
        <p:nvSpPr>
          <p:cNvPr id="14" name="arrow-2"/>
          <p:cNvSpPr txBox="1"/>
          <p:nvPr/>
        </p:nvSpPr>
        <p:spPr>
          <a:xfrm>
            <a:off x="10820400" y="2390775"/>
            <a:ext cx="352425" cy="4000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→</a:t>
            </a:r>
          </a:p>
        </p:txBody>
      </p:sp>
      <p:sp xmlns:a="http://schemas.openxmlformats.org/drawingml/2006/main">
        <p:nvSpPr>
          <p:cNvPr id="15" name="step-2-period"/>
          <p:cNvSpPr txBox="1"/>
          <p:nvPr/>
        </p:nvSpPr>
        <p:spPr>
          <a:xfrm>
            <a:off x="7772400" y="3028950"/>
            <a:ext cx="3009900" cy="5810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2026-10</a:t>
            </a:r>
          </a:p>
        </p:txBody>
      </p:sp>
      <p:sp xmlns:a="http://schemas.openxmlformats.org/drawingml/2006/main">
        <p:nvSpPr>
          <p:cNvPr id="16" name="pipeline-3"/>
          <p:cNvSpPr/>
          <p:nvPr/>
        </p:nvSpPr>
        <p:spPr>
          <a:xfrm>
            <a:off x="11153775" y="2228850"/>
            <a:ext cx="3009900" cy="69532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step-3-label"/>
          <p:cNvSpPr txBox="1"/>
          <p:nvPr/>
        </p:nvSpPr>
        <p:spPr>
          <a:xfrm>
            <a:off x="11191875" y="2381250"/>
            <a:ext cx="2933700" cy="4381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04 실적 확인과 평가</a:t>
            </a:r>
          </a:p>
        </p:txBody>
      </p:sp>
      <p:sp xmlns:a="http://schemas.openxmlformats.org/drawingml/2006/main">
        <p:nvSpPr>
          <p:cNvPr id="18" name="step-3-period"/>
          <p:cNvSpPr txBox="1"/>
          <p:nvPr/>
        </p:nvSpPr>
        <p:spPr>
          <a:xfrm>
            <a:off x="11153775" y="3028950"/>
            <a:ext cx="3009900" cy="5810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2026-11</a:t>
            </a:r>
          </a:p>
        </p:txBody>
      </p:sp>
      <p:graphicFrame xmlns:a="http://schemas.openxmlformats.org/drawingml/2006/main">
        <p:nvGraphicFramePr>
          <p:cNvPr id="19" name="execution-table"/>
          <p:cNvGraphicFramePr>
            <a:graphicFrameLocks noGrp="1"/>
          </p:cNvGraphicFramePr>
          <p:nvPr/>
        </p:nvGraphicFramePr>
        <p:xfrm>
          <a:off x="1009650" y="3819525"/>
          <a:ext cx="13220700" cy="3943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125"/>
                <a:gridCol w="2190750"/>
                <a:gridCol w="8886825"/>
              </a:tblGrid>
              <a:tr h="4953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단계·기간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담당 역할(제안)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세부 실행 업무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</a:tr>
              <a:tr h="862012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01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2026-09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사업 총괄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참여 업체 모집 및 상품권 운영 체계 구축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참여 업체를 모집하고 지원 대상·신청 방법·지원 한도를 정합니다.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862012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02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2026-09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운영·정산 담당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지출 증빙 및 환급 시스템(모바일/키오스크) 준비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신청부터 증빙 확인·지급까지 시험합니다. 취소·중복 신청 처리 방법도 정합니다.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862012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03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2026-10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현장 운영 담당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시범 운영 및 홍보 캠페인 실시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작은 범위에서 먼저 운영합니다. 이용 안내와 안전을 점검하고 일별 신청·이용 기록을 남깁니다.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862012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04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2026-11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사업·평가 담당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집중 운영 및 실시간 모니터링 / 성과 분석 및 차기 사업 검토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운영 실적과 비용·민원을 매주 확인합니다. 종료 후 기준기간과 비교해 결과를 정리합니다.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20" name="roadmap-note"/>
          <p:cNvSpPr txBox="1"/>
          <p:nvPr/>
        </p:nvSpPr>
        <p:spPr>
          <a:xfrm>
            <a:off x="1009650" y="7981950"/>
            <a:ext cx="13220700" cy="4000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담당 역할과 업무는 실행 제안입니다. 착수 전에 담당자·협력처와 적용 조건을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머신러닝 예측값과 목표 KPI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kpi-title-0"/>
          <p:cNvSpPr txBox="1"/>
          <p:nvPr/>
        </p:nvSpPr>
        <p:spPr>
          <a:xfrm>
            <a:off x="1009650" y="2047875"/>
            <a:ext cx="8096250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837" b="1">
                <a:solidFill>
                  <a:srgbClr val="004EA2"/>
                </a:solidFill>
                <a:latin typeface="Noto Sans KR"/>
              </a:rPr>
              <a:t>관광객 방문자 수</a:t>
            </a:r>
          </a:p>
        </p:txBody>
      </p:sp>
      <p:graphicFrame xmlns:a="http://schemas.openxmlformats.org/drawingml/2006/main">
        <p:nvGraphicFramePr>
          <p:cNvPr id="5" name="kpi-visitors-table"/>
          <p:cNvGraphicFramePr>
            <a:graphicFrameLocks noGrp="1"/>
          </p:cNvGraphicFramePr>
          <p:nvPr/>
        </p:nvGraphicFramePr>
        <p:xfrm>
          <a:off x="1009650" y="2514600"/>
          <a:ext cx="13220700" cy="201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3667125"/>
                <a:gridCol w="3667125"/>
                <a:gridCol w="3333750"/>
              </a:tblGrid>
              <a:tr h="4953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기준월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머신러닝 예측값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목표 KPI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목표 증가율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26.09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2,363,056명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2,378,810명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↑ 0.67%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26.10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2,633,270명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2,668,380명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↑ 1.33%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26.11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2,632,315명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2,684,961명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↑ 2.00%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3개월 월별 합계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7,628,641명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7,732,151명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↑ 1.36%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6" name="kpi-total-0"/>
          <p:cNvSpPr txBox="1"/>
          <p:nvPr/>
        </p:nvSpPr>
        <p:spPr>
          <a:xfrm>
            <a:off x="8743950" y="2047875"/>
            <a:ext cx="548640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6B00"/>
                </a:solidFill>
                <a:latin typeface="Noto Sans KR"/>
              </a:rPr>
              <a:t>3개월 목표 추가 규모 ↑ 103,510명</a:t>
            </a:r>
          </a:p>
        </p:txBody>
      </p:sp>
      <p:sp xmlns:a="http://schemas.openxmlformats.org/drawingml/2006/main">
        <p:nvSpPr>
          <p:cNvPr id="7" name="kpi-title-1"/>
          <p:cNvSpPr txBox="1"/>
          <p:nvPr/>
        </p:nvSpPr>
        <p:spPr>
          <a:xfrm>
            <a:off x="1009650" y="4714875"/>
            <a:ext cx="8096250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837" b="1">
                <a:solidFill>
                  <a:srgbClr val="004EA2"/>
                </a:solidFill>
                <a:latin typeface="Noto Sans KR"/>
              </a:rPr>
              <a:t>관광소비액</a:t>
            </a:r>
          </a:p>
        </p:txBody>
      </p:sp>
      <p:graphicFrame xmlns:a="http://schemas.openxmlformats.org/drawingml/2006/main">
        <p:nvGraphicFramePr>
          <p:cNvPr id="8" name="kpi-spending-table"/>
          <p:cNvGraphicFramePr>
            <a:graphicFrameLocks noGrp="1"/>
          </p:cNvGraphicFramePr>
          <p:nvPr/>
        </p:nvGraphicFramePr>
        <p:xfrm>
          <a:off x="1009650" y="5181600"/>
          <a:ext cx="13220700" cy="201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3667125"/>
                <a:gridCol w="3667125"/>
                <a:gridCol w="3333750"/>
              </a:tblGrid>
              <a:tr h="4953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기준월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머신러닝 예측값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목표 KPI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목표 증가율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26.09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670.47억 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677.18억 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↑ 1.00%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26.10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839.30억 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856.09억 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↑ 2.00%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26.11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899.48억 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926.46억 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↑ 3.00%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3개월 월별 합계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2,409.25억 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2,459.73억 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↑ 2.10%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9" name="kpi-total-1"/>
          <p:cNvSpPr txBox="1"/>
          <p:nvPr/>
        </p:nvSpPr>
        <p:spPr>
          <a:xfrm>
            <a:off x="8743950" y="4714875"/>
            <a:ext cx="548640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6B00"/>
                </a:solidFill>
                <a:latin typeface="Noto Sans KR"/>
              </a:rPr>
              <a:t>3개월 목표 추가 규모 ↑ 50.48억 원</a:t>
            </a:r>
          </a:p>
        </p:txBody>
      </p:sp>
      <p:sp xmlns:a="http://schemas.openxmlformats.org/drawingml/2006/main">
        <p:nvSpPr>
          <p:cNvPr id="10" name="kpi-calculation"/>
          <p:cNvSpPr txBox="1"/>
          <p:nvPr/>
        </p:nvSpPr>
        <p:spPr>
          <a:xfrm>
            <a:off x="1009650" y="7677150"/>
            <a:ext cx="13220700" cy="657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방문자 합계는 월별 합계로 월 간 중복을 포함합니다. 목표 KPI는 예측값에 입력 목표율을 단계 적용한 계획값이며, 보장된 사업 효과가</a:t>
            </a:r>
          </a:p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아닙니다. 이번 파일의 목표율은 디자인 확인용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견적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estimate-label"/>
          <p:cNvSpPr txBox="1"/>
          <p:nvPr/>
        </p:nvSpPr>
        <p:spPr>
          <a:xfrm>
            <a:off x="1009650" y="2171700"/>
            <a:ext cx="7524750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9636E"/>
                </a:solidFill>
                <a:latin typeface="Noto Sans KR"/>
              </a:rPr>
              <a:t>시범 운영 참고 금액</a:t>
            </a:r>
          </a:p>
        </p:txBody>
      </p:sp>
      <p:sp xmlns:a="http://schemas.openxmlformats.org/drawingml/2006/main">
        <p:nvSpPr>
          <p:cNvPr id="5" name="estimate-total"/>
          <p:cNvSpPr txBox="1"/>
          <p:nvPr/>
        </p:nvSpPr>
        <p:spPr>
          <a:xfrm>
            <a:off x="9048750" y="2076450"/>
            <a:ext cx="51816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04EA2"/>
                </a:solidFill>
                <a:latin typeface="Noto Sans KR"/>
              </a:rPr>
              <a:t>총 8,250만 원</a:t>
            </a:r>
          </a:p>
        </p:txBody>
      </p:sp>
      <p:graphicFrame xmlns:a="http://schemas.openxmlformats.org/drawingml/2006/main">
        <p:nvGraphicFramePr>
          <p:cNvPr id="6" name="estimate-table"/>
          <p:cNvGraphicFramePr>
            <a:graphicFrameLocks noGrp="1"/>
          </p:cNvGraphicFramePr>
          <p:nvPr/>
        </p:nvGraphicFramePr>
        <p:xfrm>
          <a:off x="1238250" y="3143250"/>
          <a:ext cx="127635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125"/>
                <a:gridCol w="6381750"/>
                <a:gridCol w="3095625"/>
              </a:tblGrid>
              <a:tr h="4953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항목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산출 기준(가정)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금액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여행비 환급 지원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1,000건 × 50,000원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5,000만원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현장 운영·정산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60인일 × 150,000원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900만원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신청·증빙 시스템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기존 시스템 설정 1식 × 800만원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800만원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홍보·참여처 안내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콘텐츠·안내물 1식 × 500만원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500만원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성과 집계·검토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자료 정리·평가 1식 × 300만원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300만원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예비비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직접비 7,500만원 × 10%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750만원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7" name="estimate-total-rule"/>
          <p:cNvSpPr/>
          <p:nvPr/>
        </p:nvSpPr>
        <p:spPr>
          <a:xfrm>
            <a:off x="1238250" y="6858000"/>
            <a:ext cx="12763500" cy="2857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estimate-note"/>
          <p:cNvSpPr txBox="1"/>
          <p:nvPr/>
        </p:nvSpPr>
        <p:spPr>
          <a:xfrm>
            <a:off x="1238250" y="7248525"/>
            <a:ext cx="12763500" cy="7048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수량과 단가를 가정한 임시 참고 견적이며 확정 견적이 아닙니다. 실제 계약 범위·세금·단가 확인 후 조정합니다.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근거·데이터·출처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subtitle"/>
          <p:cNvSpPr txBox="1"/>
          <p:nvPr/>
        </p:nvSpPr>
        <p:spPr>
          <a:xfrm>
            <a:off x="1009650" y="1885950"/>
            <a:ext cx="132207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전체 자료명과 머신러닝 모델 1/2 · 파란 자료명을 누르면 원문으로 이동합니다.</a:t>
            </a:r>
          </a:p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참고 전망: 방문자·소비액 모델의 검증 오차가 전년동월 기준선보다 큽니다. 예측거리·누락 범위의 해석 주의가 필요합니다.</a:t>
            </a:r>
          </a:p>
        </p:txBody>
      </p:sp>
      <p:sp xmlns:a="http://schemas.openxmlformats.org/drawingml/2006/main">
        <p:nvSpPr>
          <p:cNvPr id="5" name="reference-0"/>
          <p:cNvSpPr txBox="1"/>
          <p:nvPr/>
        </p:nvSpPr>
        <p:spPr>
          <a:xfrm>
            <a:off x="10096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0="http://schemas.openxmlformats.org/officeDocument/2006/relationships" ns0:id="rId2"/>
              </a:rPr>
              <a:t>관측 데이터 D01 순 방문자 수 및 숙박 비율 (이동통신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1="http://schemas.openxmlformats.org/officeDocument/2006/relationships" ns1:id="rId2"/>
              </a:rPr>
              <a:t>기반 외지인) 2026-06</a:t>
            </a:r>
          </a:p>
        </p:txBody>
      </p:sp>
      <p:sp xmlns:a="http://schemas.openxmlformats.org/drawingml/2006/main">
        <p:nvSpPr>
          <p:cNvPr id="6" name="reference-1"/>
          <p:cNvSpPr txBox="1"/>
          <p:nvPr/>
        </p:nvSpPr>
        <p:spPr>
          <a:xfrm>
            <a:off x="10096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2="http://schemas.openxmlformats.org/officeDocument/2006/relationships" ns2:id="rId2"/>
              </a:rPr>
              <a:t>관측 데이터 D02 월간 순 방문자 수 (이동통신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3="http://schemas.openxmlformats.org/officeDocument/2006/relationships" ns3:id="rId2"/>
              </a:rPr>
              <a:t>기반 외지인) 2026-06</a:t>
            </a:r>
          </a:p>
        </p:txBody>
      </p:sp>
      <p:sp xmlns:a="http://schemas.openxmlformats.org/drawingml/2006/main">
        <p:nvSpPr>
          <p:cNvPr id="7" name="reference-2"/>
          <p:cNvSpPr txBox="1"/>
          <p:nvPr/>
        </p:nvSpPr>
        <p:spPr>
          <a:xfrm>
            <a:off x="10096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4="http://schemas.openxmlformats.org/officeDocument/2006/relationships" ns4:id="rId2"/>
              </a:rPr>
              <a:t>관측 데이터 D03 관광소비 추이_외지인 2026-06</a:t>
            </a:r>
          </a:p>
        </p:txBody>
      </p:sp>
      <p:sp xmlns:a="http://schemas.openxmlformats.org/drawingml/2006/main">
        <p:nvSpPr>
          <p:cNvPr id="8" name="reference-3"/>
          <p:cNvSpPr txBox="1"/>
          <p:nvPr/>
        </p:nvSpPr>
        <p:spPr>
          <a:xfrm>
            <a:off x="10096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5="http://schemas.openxmlformats.org/officeDocument/2006/relationships" ns5:id="rId2"/>
              </a:rPr>
              <a:t>관측 데이터 D04 숙박방문자 비율 추이 (이동통신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6="http://schemas.openxmlformats.org/officeDocument/2006/relationships" ns6:id="rId2"/>
              </a:rPr>
              <a:t>기반 외지인) 2026-06</a:t>
            </a:r>
          </a:p>
        </p:txBody>
      </p:sp>
      <p:sp xmlns:a="http://schemas.openxmlformats.org/drawingml/2006/main">
        <p:nvSpPr>
          <p:cNvPr id="9" name="reference-4"/>
          <p:cNvSpPr txBox="1"/>
          <p:nvPr/>
        </p:nvSpPr>
        <p:spPr>
          <a:xfrm>
            <a:off x="10096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7="http://schemas.openxmlformats.org/officeDocument/2006/relationships" ns7:id="rId2"/>
              </a:rPr>
              <a:t>관측 데이터 D05 평균 숙박일 (이동통신 기반 외지인) 2026-06</a:t>
            </a:r>
          </a:p>
        </p:txBody>
      </p:sp>
      <p:sp xmlns:a="http://schemas.openxmlformats.org/drawingml/2006/main">
        <p:nvSpPr>
          <p:cNvPr id="10" name="reference-5"/>
          <p:cNvSpPr txBox="1"/>
          <p:nvPr/>
        </p:nvSpPr>
        <p:spPr>
          <a:xfrm>
            <a:off x="10096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 u="none">
                <a:solidFill>
                  <a:srgbClr val="004EA2"/>
                </a:solidFill>
                <a:latin typeface="Noto Sans KR"/>
                <a:hlinkClick xmlns:ns8="http://schemas.openxmlformats.org/officeDocument/2006/relationships" ns8:id="rId2"/>
              </a:rPr>
              <a:t>관측 데이터 D06 내비게이션 목적지 유형별 검색량 2026-06</a:t>
            </a:r>
          </a:p>
        </p:txBody>
      </p:sp>
      <p:sp xmlns:a="http://schemas.openxmlformats.org/drawingml/2006/main">
        <p:nvSpPr>
          <p:cNvPr id="11" name="reference-6"/>
          <p:cNvSpPr txBox="1"/>
          <p:nvPr/>
        </p:nvSpPr>
        <p:spPr>
          <a:xfrm>
            <a:off x="10096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9="http://schemas.openxmlformats.org/officeDocument/2006/relationships" ns9:id="rId2"/>
              </a:rPr>
              <a:t>관측 데이터 D07 SNS 언급량 2026-06</a:t>
            </a:r>
          </a:p>
        </p:txBody>
      </p:sp>
      <p:sp xmlns:a="http://schemas.openxmlformats.org/drawingml/2006/main">
        <p:nvSpPr>
          <p:cNvPr id="12" name="reference-7"/>
          <p:cNvSpPr txBox="1"/>
          <p:nvPr/>
        </p:nvSpPr>
        <p:spPr>
          <a:xfrm>
            <a:off x="10096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0="http://schemas.openxmlformats.org/officeDocument/2006/relationships" ns10:id="rId2"/>
              </a:rPr>
              <a:t>관측 데이터 D08 숙박_체류시간/2025_01_12.zip</a:t>
            </a:r>
          </a:p>
        </p:txBody>
      </p:sp>
      <p:sp xmlns:a="http://schemas.openxmlformats.org/drawingml/2006/main">
        <p:nvSpPr>
          <p:cNvPr id="13" name="reference-8"/>
          <p:cNvSpPr txBox="1"/>
          <p:nvPr/>
        </p:nvSpPr>
        <p:spPr>
          <a:xfrm>
            <a:off x="10096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1="http://schemas.openxmlformats.org/officeDocument/2006/relationships" ns11:id="rId2"/>
              </a:rPr>
              <a:t>관측 데이터 D09 숙박_체류시간/2026_01_06.zip</a:t>
            </a:r>
          </a:p>
        </p:txBody>
      </p:sp>
      <p:sp xmlns:a="http://schemas.openxmlformats.org/drawingml/2006/main">
        <p:nvSpPr>
          <p:cNvPr id="14" name="reference-9"/>
          <p:cNvSpPr txBox="1"/>
          <p:nvPr/>
        </p:nvSpPr>
        <p:spPr>
          <a:xfrm>
            <a:off x="100965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2="http://schemas.openxmlformats.org/officeDocument/2006/relationships" ns12:id="rId2"/>
              </a:rPr>
              <a:t>관측 데이터 D10 방문자/2025_01_12.zip</a:t>
            </a:r>
          </a:p>
        </p:txBody>
      </p:sp>
      <p:sp xmlns:a="http://schemas.openxmlformats.org/drawingml/2006/main">
        <p:nvSpPr>
          <p:cNvPr id="15" name="reference-10"/>
          <p:cNvSpPr txBox="1"/>
          <p:nvPr/>
        </p:nvSpPr>
        <p:spPr>
          <a:xfrm>
            <a:off x="100965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3="http://schemas.openxmlformats.org/officeDocument/2006/relationships" ns13:id="rId2"/>
              </a:rPr>
              <a:t>관측 데이터 D11 방문자/2026_01_06.zip</a:t>
            </a:r>
          </a:p>
        </p:txBody>
      </p:sp>
      <p:sp xmlns:a="http://schemas.openxmlformats.org/drawingml/2006/main">
        <p:nvSpPr>
          <p:cNvPr id="16" name="reference-11"/>
          <p:cNvSpPr txBox="1"/>
          <p:nvPr/>
        </p:nvSpPr>
        <p:spPr>
          <a:xfrm>
            <a:off x="548640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4="http://schemas.openxmlformats.org/officeDocument/2006/relationships" ns14:id="rId2"/>
              </a:rPr>
              <a:t>관측 데이터 D12 관광소비/2026_01_06.zip</a:t>
            </a:r>
          </a:p>
        </p:txBody>
      </p:sp>
      <p:sp xmlns:a="http://schemas.openxmlformats.org/drawingml/2006/main">
        <p:nvSpPr>
          <p:cNvPr id="17" name="reference-12"/>
          <p:cNvSpPr txBox="1"/>
          <p:nvPr/>
        </p:nvSpPr>
        <p:spPr>
          <a:xfrm>
            <a:off x="548640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5="http://schemas.openxmlformats.org/officeDocument/2006/relationships" ns15:id="rId2"/>
              </a:rPr>
              <a:t>관측 데이터 D13 관광소비/2025_01_12.zip</a:t>
            </a:r>
          </a:p>
        </p:txBody>
      </p:sp>
      <p:sp xmlns:a="http://schemas.openxmlformats.org/drawingml/2006/main">
        <p:nvSpPr>
          <p:cNvPr id="18" name="reference-13"/>
          <p:cNvSpPr txBox="1"/>
          <p:nvPr/>
        </p:nvSpPr>
        <p:spPr>
          <a:xfrm>
            <a:off x="548640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16="http://schemas.openxmlformats.org/officeDocument/2006/relationships" ns16:id="rId2"/>
              </a:rPr>
              <a:t>관측 데이터 D14 이동통신/내국인/지역별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17="http://schemas.openxmlformats.org/officeDocument/2006/relationships" ns17:id="rId2"/>
              </a:rPr>
              <a:t>방문자수/20260820140607__202601-202606_데이터랩_다운로드.zip</a:t>
            </a:r>
          </a:p>
        </p:txBody>
      </p:sp>
      <p:sp xmlns:a="http://schemas.openxmlformats.org/drawingml/2006/main">
        <p:nvSpPr>
          <p:cNvPr id="19" name="reference-14"/>
          <p:cNvSpPr txBox="1"/>
          <p:nvPr/>
        </p:nvSpPr>
        <p:spPr>
          <a:xfrm>
            <a:off x="548640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18="http://schemas.openxmlformats.org/officeDocument/2006/relationships" ns18:id="rId2"/>
              </a:rPr>
              <a:t>관측 데이터</a:t>
            </a:r>
          </a:p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19="http://schemas.openxmlformats.org/officeDocument/2006/relationships" ns19:id="rId2"/>
              </a:rPr>
              <a:t>D15 이동통신/외국인/20260820141710_전국_202601-202606_데이터랩_다운로드.zip</a:t>
            </a:r>
          </a:p>
        </p:txBody>
      </p:sp>
      <p:sp xmlns:a="http://schemas.openxmlformats.org/drawingml/2006/main">
        <p:nvSpPr>
          <p:cNvPr id="20" name="reference-15"/>
          <p:cNvSpPr txBox="1"/>
          <p:nvPr/>
        </p:nvSpPr>
        <p:spPr>
          <a:xfrm>
            <a:off x="548640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0="http://schemas.openxmlformats.org/officeDocument/2006/relationships" ns20:id="rId2"/>
              </a:rPr>
              <a:t>관측 데이터 D16 신용카드/내국인/지역별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1="http://schemas.openxmlformats.org/officeDocument/2006/relationships" ns21:id="rId2"/>
              </a:rPr>
              <a:t>관광지출액/20260820140046__202601-202606_데이터랩_다운로드.zip</a:t>
            </a:r>
          </a:p>
        </p:txBody>
      </p:sp>
      <p:sp xmlns:a="http://schemas.openxmlformats.org/drawingml/2006/main">
        <p:nvSpPr>
          <p:cNvPr id="21" name="reference-16"/>
          <p:cNvSpPr txBox="1"/>
          <p:nvPr/>
        </p:nvSpPr>
        <p:spPr>
          <a:xfrm>
            <a:off x="548640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2="http://schemas.openxmlformats.org/officeDocument/2006/relationships" ns22:id="rId2"/>
              </a:rPr>
              <a:t>관측 데이터 D17 신용카드/외국인/지역별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3="http://schemas.openxmlformats.org/officeDocument/2006/relationships" ns23:id="rId2"/>
              </a:rPr>
              <a:t>관광지출액/20260820140355__202601-202606_데이터랩_다운로드.zip</a:t>
            </a:r>
          </a:p>
        </p:txBody>
      </p:sp>
      <p:sp xmlns:a="http://schemas.openxmlformats.org/drawingml/2006/main">
        <p:nvSpPr>
          <p:cNvPr id="22" name="reference-17"/>
          <p:cNvSpPr txBox="1"/>
          <p:nvPr/>
        </p:nvSpPr>
        <p:spPr>
          <a:xfrm>
            <a:off x="548640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4="http://schemas.openxmlformats.org/officeDocument/2006/relationships" ns24:id="rId2"/>
              </a:rPr>
              <a:t>관측 데이터 D18 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5="http://schemas.openxmlformats.org/officeDocument/2006/relationships" ns25:id="rId2"/>
              </a:rPr>
              <a:t>검색건수/20260820195507__202601-202606_데이터랩_다운로드.zip</a:t>
            </a:r>
          </a:p>
        </p:txBody>
      </p:sp>
      <p:sp xmlns:a="http://schemas.openxmlformats.org/drawingml/2006/main">
        <p:nvSpPr>
          <p:cNvPr id="23" name="reference-18"/>
          <p:cNvSpPr txBox="1"/>
          <p:nvPr/>
        </p:nvSpPr>
        <p:spPr>
          <a:xfrm>
            <a:off x="548640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6="http://schemas.openxmlformats.org/officeDocument/2006/relationships" ns26:id="rId2"/>
              </a:rPr>
              <a:t>관측 데이터 D19 이동통신/내국인/지역별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7="http://schemas.openxmlformats.org/officeDocument/2006/relationships" ns27:id="rId2"/>
              </a:rPr>
              <a:t>방문자수/20260820140614__202501-202512_데이터랩_다운로드.zip</a:t>
            </a:r>
          </a:p>
        </p:txBody>
      </p:sp>
      <p:sp xmlns:a="http://schemas.openxmlformats.org/drawingml/2006/main">
        <p:nvSpPr>
          <p:cNvPr id="24" name="reference-19"/>
          <p:cNvSpPr txBox="1"/>
          <p:nvPr/>
        </p:nvSpPr>
        <p:spPr>
          <a:xfrm>
            <a:off x="548640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28="http://schemas.openxmlformats.org/officeDocument/2006/relationships" ns28:id="rId2"/>
              </a:rPr>
              <a:t>관측 데이터</a:t>
            </a:r>
          </a:p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29="http://schemas.openxmlformats.org/officeDocument/2006/relationships" ns29:id="rId2"/>
              </a:rPr>
              <a:t>D20 이동통신/외국인/20260820141649_전국_202501-202512_데이터랩_다운로드.zip</a:t>
            </a:r>
          </a:p>
        </p:txBody>
      </p:sp>
      <p:sp xmlns:a="http://schemas.openxmlformats.org/drawingml/2006/main">
        <p:nvSpPr>
          <p:cNvPr id="25" name="reference-20"/>
          <p:cNvSpPr txBox="1"/>
          <p:nvPr/>
        </p:nvSpPr>
        <p:spPr>
          <a:xfrm>
            <a:off x="548640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0="http://schemas.openxmlformats.org/officeDocument/2006/relationships" ns30:id="rId2"/>
              </a:rPr>
              <a:t>관측 데이터 D21 신용카드/내국인/지역별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1="http://schemas.openxmlformats.org/officeDocument/2006/relationships" ns31:id="rId2"/>
              </a:rPr>
              <a:t>관광지출액/20260820135957__202501-202512_데이터랩_다운로드.zip</a:t>
            </a:r>
          </a:p>
        </p:txBody>
      </p:sp>
      <p:sp xmlns:a="http://schemas.openxmlformats.org/drawingml/2006/main">
        <p:nvSpPr>
          <p:cNvPr id="26" name="reference-21"/>
          <p:cNvSpPr txBox="1"/>
          <p:nvPr/>
        </p:nvSpPr>
        <p:spPr>
          <a:xfrm>
            <a:off x="548640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2="http://schemas.openxmlformats.org/officeDocument/2006/relationships" ns32:id="rId2"/>
              </a:rPr>
              <a:t>관측 데이터 D22 신용카드/외국인/지역별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3="http://schemas.openxmlformats.org/officeDocument/2006/relationships" ns33:id="rId2"/>
              </a:rPr>
              <a:t>관광지출액/20260820140409__202501-202512_데이터랩_다운로드.zip</a:t>
            </a:r>
          </a:p>
        </p:txBody>
      </p:sp>
      <p:sp xmlns:a="http://schemas.openxmlformats.org/drawingml/2006/main">
        <p:nvSpPr>
          <p:cNvPr id="27" name="reference-22"/>
          <p:cNvSpPr txBox="1"/>
          <p:nvPr/>
        </p:nvSpPr>
        <p:spPr>
          <a:xfrm>
            <a:off x="99631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4="http://schemas.openxmlformats.org/officeDocument/2006/relationships" ns34:id="rId2"/>
              </a:rPr>
              <a:t>관측 데이터 D23 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5="http://schemas.openxmlformats.org/officeDocument/2006/relationships" ns35:id="rId2"/>
              </a:rPr>
              <a:t>검색건수/20260820132007__202501-202512_데이터랩_다운로드.zip</a:t>
            </a:r>
          </a:p>
        </p:txBody>
      </p:sp>
      <p:sp xmlns:a="http://schemas.openxmlformats.org/drawingml/2006/main">
        <p:nvSpPr>
          <p:cNvPr id="28" name="reference-23"/>
          <p:cNvSpPr txBox="1"/>
          <p:nvPr/>
        </p:nvSpPr>
        <p:spPr>
          <a:xfrm>
            <a:off x="99631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6="http://schemas.openxmlformats.org/officeDocument/2006/relationships" ns36:id="rId2"/>
              </a:rPr>
              <a:t>관측 데이터 D24 이동통신/내국인/지역별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7="http://schemas.openxmlformats.org/officeDocument/2006/relationships" ns37:id="rId2"/>
              </a:rPr>
              <a:t>방문자수/20260820140624__202401-202412_데이터랩_다운로드.zip</a:t>
            </a:r>
          </a:p>
        </p:txBody>
      </p:sp>
      <p:sp xmlns:a="http://schemas.openxmlformats.org/drawingml/2006/main">
        <p:nvSpPr>
          <p:cNvPr id="29" name="reference-24"/>
          <p:cNvSpPr txBox="1"/>
          <p:nvPr/>
        </p:nvSpPr>
        <p:spPr>
          <a:xfrm>
            <a:off x="99631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38="http://schemas.openxmlformats.org/officeDocument/2006/relationships" ns38:id="rId2"/>
              </a:rPr>
              <a:t>관측 데이터</a:t>
            </a:r>
          </a:p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39="http://schemas.openxmlformats.org/officeDocument/2006/relationships" ns39:id="rId2"/>
              </a:rPr>
              <a:t>D25 이동통신/외국인/20260820141639_전국_202401-202412_데이터랩_다운로드.zip</a:t>
            </a:r>
          </a:p>
        </p:txBody>
      </p:sp>
      <p:sp xmlns:a="http://schemas.openxmlformats.org/drawingml/2006/main">
        <p:nvSpPr>
          <p:cNvPr id="30" name="reference-25"/>
          <p:cNvSpPr txBox="1"/>
          <p:nvPr/>
        </p:nvSpPr>
        <p:spPr>
          <a:xfrm>
            <a:off x="99631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0="http://schemas.openxmlformats.org/officeDocument/2006/relationships" ns40:id="rId2"/>
              </a:rPr>
              <a:t>관측 데이터 D26 한국관광 데이터랩 지역별 관광 현황 · ·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1="http://schemas.openxmlformats.org/officeDocument/2006/relationships" ns41:id="rId2"/>
              </a:rPr>
              <a:t>유입유출 2025-07 ~ 2026-06</a:t>
            </a:r>
          </a:p>
        </p:txBody>
      </p:sp>
      <p:sp xmlns:a="http://schemas.openxmlformats.org/drawingml/2006/main">
        <p:nvSpPr>
          <p:cNvPr id="31" name="reference-26"/>
          <p:cNvSpPr txBox="1"/>
          <p:nvPr/>
        </p:nvSpPr>
        <p:spPr>
          <a:xfrm>
            <a:off x="99631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2="http://schemas.openxmlformats.org/officeDocument/2006/relationships" ns42:id="rId2"/>
              </a:rPr>
              <a:t>관측 데이터 D27 한국관광 데이터랩 지역별 관광 현황 · ·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3="http://schemas.openxmlformats.org/officeDocument/2006/relationships" ns43:id="rId2"/>
              </a:rPr>
              <a:t>지역집중률 2025-07 ~ 2026-06</a:t>
            </a:r>
          </a:p>
        </p:txBody>
      </p:sp>
      <p:sp xmlns:a="http://schemas.openxmlformats.org/drawingml/2006/main">
        <p:nvSpPr>
          <p:cNvPr id="32" name="reference-27"/>
          <p:cNvSpPr txBox="1"/>
          <p:nvPr/>
        </p:nvSpPr>
        <p:spPr>
          <a:xfrm>
            <a:off x="99631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4="http://schemas.openxmlformats.org/officeDocument/2006/relationships" ns44:id="rId2"/>
              </a:rPr>
              <a:t>관측 데이터 D28 한국관광 데이터랩 지역별 관광 현황 · ·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5="http://schemas.openxmlformats.org/officeDocument/2006/relationships" ns45:id="rId2"/>
              </a:rPr>
              <a:t>인기관광지 2025-07 ~ 2026-06</a:t>
            </a:r>
          </a:p>
        </p:txBody>
      </p:sp>
      <p:sp xmlns:a="http://schemas.openxmlformats.org/drawingml/2006/main">
        <p:nvSpPr>
          <p:cNvPr id="33" name="reference-28"/>
          <p:cNvSpPr txBox="1"/>
          <p:nvPr/>
        </p:nvSpPr>
        <p:spPr>
          <a:xfrm>
            <a:off x="99631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방문자 수 RandomForestRegressor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최종 월 2,632,315명</a:t>
            </a:r>
          </a:p>
        </p:txBody>
      </p:sp>
      <p:sp xmlns:a="http://schemas.openxmlformats.org/drawingml/2006/main">
        <p:nvSpPr>
          <p:cNvPr id="34" name="reference-29"/>
          <p:cNvSpPr txBox="1"/>
          <p:nvPr/>
        </p:nvSpPr>
        <p:spPr>
          <a:xfrm>
            <a:off x="99631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관광소비액 LinearRegression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최종 월 899.48억 원</a:t>
            </a:r>
          </a:p>
        </p:txBody>
      </p:sp>
      <p:sp xmlns:a="http://schemas.openxmlformats.org/drawingml/2006/main">
        <p:nvSpPr>
          <p:cNvPr id="35" name="reference-30"/>
          <p:cNvSpPr txBox="1"/>
          <p:nvPr/>
        </p:nvSpPr>
        <p:spPr>
          <a:xfrm>
            <a:off x="99631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평균 체류시간 전년동월 계절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기준선 최종 월 1,488분</a:t>
            </a:r>
          </a:p>
        </p:txBody>
      </p:sp>
      <p:sp xmlns:a="http://schemas.openxmlformats.org/drawingml/2006/main">
        <p:nvSpPr>
          <p:cNvPr id="36" name="reference-31"/>
          <p:cNvSpPr txBox="1"/>
          <p:nvPr/>
        </p:nvSpPr>
        <p:spPr>
          <a:xfrm>
            <a:off x="996315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평균 숙박일수 LinearRegression 최종 월 2.76일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38650"/>
            <a:ext cx="7381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데이터로 확인하고, 현장에서 완성합니다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34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지역 관광 전략기획안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04EA2"/>
                </a:solidFill>
                <a:latin typeface="Noto Sans KR"/>
              </a:rPr>
              <a:t>원주 반값 여행 지역환급 사업</a:t>
            </a: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근거·데이터·출처</a:t>
            </a:r>
          </a:p>
        </p:txBody>
      </p:sp>
      <p:sp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btitle"/>
          <p:cNvSpPr txBox="1"/>
          <p:nvPr/>
        </p:nvSpPr>
        <p:spPr>
          <a:xfrm>
            <a:off x="1009650" y="1885950"/>
            <a:ext cx="132207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전체 자료명과 머신러닝 모델 2/2 · 파란 자료명을 누르면 원문으로 이동합니다.</a:t>
            </a:r>
          </a:p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참고 전망: 방문자·소비액 모델의 검증 오차가 전년동월 기준선보다 큽니다. 예측거리·누락 범위의 해석 주의가 필요합니다.</a:t>
            </a:r>
          </a:p>
        </p:txBody>
      </p:sp>
      <p:sp>
        <p:nvSpPr>
          <p:cNvPr id="5" name="reference-0"/>
          <p:cNvSpPr txBox="1"/>
          <p:nvPr/>
        </p:nvSpPr>
        <p:spPr>
          <a:xfrm>
            <a:off x="10096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숙박방문자 비율 전년동월 계절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기준선 최종 월 12%</a:t>
            </a:r>
          </a:p>
        </p:txBody>
      </p:sp>
      <p:sp>
        <p:nvSpPr>
          <p:cNvPr id="6" name="reference-1"/>
          <p:cNvSpPr txBox="1"/>
          <p:nvPr/>
        </p:nvSpPr>
        <p:spPr>
          <a:xfrm>
            <a:off x="10096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숙박 목적지 검색량 RandomForestRegressor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최종 월 48,286건</a:t>
            </a:r>
          </a:p>
        </p:txBody>
      </p:sp>
      <p:sp>
        <p:nvSpPr>
          <p:cNvPr id="7" name="reference-2"/>
          <p:cNvSpPr txBox="1"/>
          <p:nvPr/>
        </p:nvSpPr>
        <p:spPr>
          <a:xfrm>
            <a:off x="10096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내비게이션 검색량 전년동월 계절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기준선 최종 월 352,852건</a:t>
            </a:r>
          </a:p>
        </p:txBody>
      </p:sp>
      <p:sp>
        <p:nvSpPr>
          <p:cNvPr id="8" name="reference-3"/>
          <p:cNvSpPr txBox="1"/>
          <p:nvPr/>
        </p:nvSpPr>
        <p:spPr>
          <a:xfrm>
            <a:off x="10096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2"/>
              </a:rPr>
              <a:t>공식 사례·문서 D50 요즘, 한국관광 2호 - 지방공항 연계 지역관광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2"/>
              </a:rPr>
              <a:t>활성화 방안 · PDF 41쪽 datalab.visitkorea.or.kr</a:t>
            </a:r>
          </a:p>
        </p:txBody>
      </p:sp>
      <p:sp>
        <p:nvSpPr>
          <p:cNvPr id="9" name="reference-4"/>
          <p:cNvSpPr txBox="1"/>
          <p:nvPr/>
        </p:nvSpPr>
        <p:spPr>
          <a:xfrm>
            <a:off x="10096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3"/>
              </a:rPr>
              <a:t>공식 사례·문서 D51 강진 반값여행 지역경제 효과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3"/>
              </a:rPr>
              <a:t>소개 jnfarm.jeonnam.go.kr</a:t>
            </a:r>
          </a:p>
        </p:txBody>
      </p:sp>
      <p:sp>
        <p:nvSpPr>
          <p:cNvPr id="10" name="reference-5"/>
          <p:cNvSpPr txBox="1"/>
          <p:nvPr/>
        </p:nvSpPr>
        <p:spPr>
          <a:xfrm>
            <a:off x="10096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4"/>
              </a:rPr>
              <a:t>공식 사례·문서 D52 2024년 6월 여행가는 달 추진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4"/>
              </a:rPr>
              <a:t>보도자료 mcst.go.kr</a:t>
            </a:r>
          </a:p>
        </p:txBody>
      </p:sp>
      <p:sp>
        <p:nvSpPr>
          <p:cNvPr id="11" name="reference-6"/>
          <p:cNvSpPr txBox="1"/>
          <p:nvPr/>
        </p:nvSpPr>
        <p:spPr>
          <a:xfrm>
            <a:off x="10096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5"/>
              </a:rPr>
              <a:t>공식 사례·문서 D53 2024년도 정부업무평가 관광분야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5"/>
              </a:rPr>
              <a:t>성과자료 www.evaluation.go.kr</a:t>
            </a:r>
          </a:p>
        </p:txBody>
      </p:sp>
      <p:sp>
        <p:nvSpPr>
          <p:cNvPr id="12" name="reference-7"/>
          <p:cNvSpPr txBox="1"/>
          <p:nvPr/>
        </p:nvSpPr>
        <p:spPr>
          <a:xfrm>
            <a:off x="10096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6"/>
              </a:rPr>
              <a:t>공식 사례·문서 D54 전주시 2026년도 관광산업과 세출예산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6"/>
              </a:rPr>
              <a:t>사업명세서 jeonju.go.kr</a:t>
            </a:r>
          </a:p>
        </p:txBody>
      </p:sp>
      <p:sp>
        <p:nvSpPr>
          <p:cNvPr id="13" name="reference-8"/>
          <p:cNvSpPr txBox="1"/>
          <p:nvPr/>
        </p:nvSpPr>
        <p:spPr>
          <a:xfrm>
            <a:off x="10096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7"/>
              </a:rPr>
              <a:t>공식 사례·문서 D55 2022 대한민국 숙박대전 경제파급효과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7"/>
              </a:rPr>
              <a:t>공개자료 kto.visitkorea.or.kr</a:t>
            </a:r>
          </a:p>
        </p:txBody>
      </p:sp>
      <p:sp>
        <p:nvSpPr>
          <p:cNvPr id="14" name="reference-9"/>
          <p:cNvSpPr txBox="1"/>
          <p:nvPr/>
        </p:nvSpPr>
        <p:spPr>
          <a:xfrm>
            <a:off x="100965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8"/>
              </a:rPr>
              <a:t>공식 사례·문서 D56 2025 대한민국 밤밤페스타 개최 도시 및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8"/>
              </a:rPr>
              <a:t>일정 korean.visitkorea.or.kr</a:t>
            </a:r>
          </a:p>
        </p:txBody>
      </p:sp>
      <p:sp>
        <p:nvSpPr>
          <p:cNvPr id="15" name="reference-10"/>
          <p:cNvSpPr txBox="1"/>
          <p:nvPr/>
        </p:nvSpPr>
        <p:spPr>
          <a:xfrm>
            <a:off x="100965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9"/>
              </a:rPr>
              <a:t>공식 사례·문서 참고 견적 추가 조사 강진군 반값여행 공식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9"/>
              </a:rPr>
              <a:t>신청·정산 조건 www.gangjintour.com · 2026-09-05</a:t>
            </a:r>
          </a:p>
        </p:txBody>
      </p:sp>
      <p:sp>
        <p:nvSpPr>
          <p:cNvPr id="16" name="reference-11"/>
          <p:cNvSpPr txBox="1"/>
          <p:nvPr/>
        </p:nvSpPr>
        <p:spPr>
          <a:xfrm>
            <a:off x="548640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D30 감악산캠핑숲</a:t>
            </a:r>
          </a:p>
        </p:txBody>
      </p:sp>
      <p:sp>
        <p:nvSpPr>
          <p:cNvPr id="17" name="reference-12"/>
          <p:cNvSpPr txBox="1"/>
          <p:nvPr/>
        </p:nvSpPr>
        <p:spPr>
          <a:xfrm>
            <a:off x="548640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D31 강원감영관찰사·무릉고서화미술박물관</a:t>
            </a:r>
          </a:p>
        </p:txBody>
      </p:sp>
      <p:sp>
        <p:nvSpPr>
          <p:cNvPr id="18" name="reference-13"/>
          <p:cNvSpPr txBox="1"/>
          <p:nvPr/>
        </p:nvSpPr>
        <p:spPr>
          <a:xfrm>
            <a:off x="548640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D32 강원도힐링캠핑장</a:t>
            </a:r>
          </a:p>
        </p:txBody>
      </p:sp>
      <p:sp>
        <p:nvSpPr>
          <p:cNvPr id="19" name="reference-14"/>
          <p:cNvSpPr txBox="1"/>
          <p:nvPr/>
        </p:nvSpPr>
        <p:spPr>
          <a:xfrm>
            <a:off x="548640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D33 경천묘</a:t>
            </a:r>
          </a:p>
        </p:txBody>
      </p:sp>
      <p:sp>
        <p:nvSpPr>
          <p:cNvPr id="20" name="reference-15"/>
          <p:cNvSpPr txBox="1"/>
          <p:nvPr/>
        </p:nvSpPr>
        <p:spPr>
          <a:xfrm>
            <a:off x="548640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D34 고판화박물관</a:t>
            </a:r>
          </a:p>
        </p:txBody>
      </p:sp>
      <p:sp>
        <p:nvSpPr>
          <p:cNvPr id="21" name="reference-16"/>
          <p:cNvSpPr txBox="1"/>
          <p:nvPr/>
        </p:nvSpPr>
        <p:spPr>
          <a:xfrm>
            <a:off x="548640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D35 관음사·국형사계곡</a:t>
            </a:r>
          </a:p>
        </p:txBody>
      </p:sp>
      <p:sp>
        <p:nvSpPr>
          <p:cNvPr id="22" name="reference-17"/>
          <p:cNvSpPr txBox="1"/>
          <p:nvPr/>
        </p:nvSpPr>
        <p:spPr>
          <a:xfrm>
            <a:off x="548640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D36 광화문갈비 원주점</a:t>
            </a:r>
          </a:p>
        </p:txBody>
      </p:sp>
      <p:sp>
        <p:nvSpPr>
          <p:cNvPr id="23" name="reference-18"/>
          <p:cNvSpPr txBox="1"/>
          <p:nvPr/>
        </p:nvSpPr>
        <p:spPr>
          <a:xfrm>
            <a:off x="548640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D37 구 조선식산은행 원주지점</a:t>
            </a:r>
          </a:p>
        </p:txBody>
      </p:sp>
      <p:sp>
        <p:nvSpPr>
          <p:cNvPr id="24" name="reference-19"/>
          <p:cNvSpPr txBox="1"/>
          <p:nvPr/>
        </p:nvSpPr>
        <p:spPr>
          <a:xfrm>
            <a:off x="548640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D38 국형사</a:t>
            </a:r>
          </a:p>
        </p:txBody>
      </p:sp>
      <p:sp>
        <p:nvSpPr>
          <p:cNvPr id="25" name="reference-20"/>
          <p:cNvSpPr txBox="1"/>
          <p:nvPr/>
        </p:nvSpPr>
        <p:spPr>
          <a:xfrm>
            <a:off x="548640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D39 금대 에코힐링 캠핑장</a:t>
            </a:r>
          </a:p>
        </p:txBody>
      </p:sp>
      <p:sp>
        <p:nvSpPr>
          <p:cNvPr id="26" name="reference-21"/>
          <p:cNvSpPr txBox="1"/>
          <p:nvPr/>
        </p:nvSpPr>
        <p:spPr>
          <a:xfrm>
            <a:off x="548640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D40 금대계곡</a:t>
            </a:r>
          </a:p>
        </p:txBody>
      </p:sp>
      <p:sp>
        <p:nvSpPr>
          <p:cNvPr id="27" name="reference-22"/>
          <p:cNvSpPr txBox="1"/>
          <p:nvPr/>
        </p:nvSpPr>
        <p:spPr>
          <a:xfrm>
            <a:off x="99631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D41 금대자동차야영장</a:t>
            </a:r>
          </a:p>
        </p:txBody>
      </p:sp>
      <p:sp>
        <p:nvSpPr>
          <p:cNvPr id="28" name="reference-23"/>
          <p:cNvSpPr txBox="1"/>
          <p:nvPr/>
        </p:nvSpPr>
        <p:spPr>
          <a:xfrm>
            <a:off x="99631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D42 기후변화홍보관</a:t>
            </a:r>
          </a:p>
        </p:txBody>
      </p:sp>
      <p:sp>
        <p:nvSpPr>
          <p:cNvPr id="29" name="reference-24"/>
          <p:cNvSpPr txBox="1"/>
          <p:nvPr/>
        </p:nvSpPr>
        <p:spPr>
          <a:xfrm>
            <a:off x="99631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D43 김가네원주추어탕</a:t>
            </a:r>
          </a:p>
        </p:txBody>
      </p:sp>
      <p:sp>
        <p:nvSpPr>
          <p:cNvPr id="30" name="reference-25"/>
          <p:cNvSpPr txBox="1"/>
          <p:nvPr/>
        </p:nvSpPr>
        <p:spPr>
          <a:xfrm>
            <a:off x="99631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D44 김제남 신도비</a:t>
            </a:r>
          </a:p>
        </p:txBody>
      </p:sp>
      <p:sp>
        <p:nvSpPr>
          <p:cNvPr id="31" name="reference-26"/>
          <p:cNvSpPr txBox="1"/>
          <p:nvPr/>
        </p:nvSpPr>
        <p:spPr>
          <a:xfrm>
            <a:off x="99631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D45 넌스키 난보드</a:t>
            </a:r>
          </a:p>
        </p:txBody>
      </p:sp>
      <p:sp>
        <p:nvSpPr>
          <p:cNvPr id="32" name="reference-27"/>
          <p:cNvSpPr txBox="1"/>
          <p:nvPr/>
        </p:nvSpPr>
        <p:spPr>
          <a:xfrm>
            <a:off x="99631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D46 농가</a:t>
            </a:r>
          </a:p>
        </p:txBody>
      </p:sp>
      <p:sp>
        <p:nvSpPr>
          <p:cNvPr id="33" name="reference-28"/>
          <p:cNvSpPr txBox="1"/>
          <p:nvPr/>
        </p:nvSpPr>
        <p:spPr>
          <a:xfrm>
            <a:off x="99631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D47 단관공원</a:t>
            </a:r>
          </a:p>
        </p:txBody>
      </p:sp>
      <p:sp>
        <p:nvSpPr>
          <p:cNvPr id="34" name="reference-29"/>
          <p:cNvSpPr txBox="1"/>
          <p:nvPr/>
        </p:nvSpPr>
        <p:spPr>
          <a:xfrm>
            <a:off x="99631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D48 동승루</a:t>
            </a:r>
          </a:p>
        </p:txBody>
      </p:sp>
      <p:sp>
        <p:nvSpPr>
          <p:cNvPr id="35" name="reference-30"/>
          <p:cNvSpPr txBox="1"/>
          <p:nvPr/>
        </p:nvSpPr>
        <p:spPr>
          <a:xfrm>
            <a:off x="99631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D49 들꽃가든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2026-09-04T04:44:41.2670000Z</dcterms:created>
  <dcterms:modified xsi:type="dcterms:W3CDTF">2026-09-04T04:44:41.2670000Z</dcterms:modified>
</coreProperties>
</file>