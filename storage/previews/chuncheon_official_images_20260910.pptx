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2" ns0:id="rId21"/>
    <p:sldId xmlns:r="http://schemas.openxmlformats.org/officeDocument/2006/relationships" id="262" r:id="R4c9d0e3030fa4c5f"/>
    <p:sldId xmlns:r="http://schemas.openxmlformats.org/officeDocument/2006/relationships" id="263" r:id="Rbbe47957bc6641c0"/>
    <p:sldId xmlns:ns0="http://schemas.openxmlformats.org/officeDocument/2006/relationships" id="271" ns0:id="rId17"/>
    <p:sldId xmlns:r="http://schemas.openxmlformats.org/officeDocument/2006/relationships" id="264" r:id="R72f63d3229d64861"/>
    <p:sldId xmlns:r="http://schemas.openxmlformats.org/officeDocument/2006/relationships" id="266" r:id="R029df0519ade4c8b"/>
    <p:sldId xmlns:ns0="http://schemas.openxmlformats.org/officeDocument/2006/relationships" id="268" ns0:id="rId19"/>
    <p:sldId xmlns:ns0="http://schemas.openxmlformats.org/officeDocument/2006/relationships" id="269" ns0:id="rId20"/>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2.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9.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6.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10.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194.8014</c:v>
                </c:pt>
                <c:pt idx="1">
                  <c:v>227.828</c:v>
                </c:pt>
                <c:pt idx="2">
                  <c:v>201.8187</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198.04809</c:v>
                </c:pt>
                <c:pt idx="1">
                  <c:v>235.42226667</c:v>
                </c:pt>
                <c:pt idx="2">
                  <c:v>211.909635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260.0"/>
          <c:min val="18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Sheet1!$B$2:$B$4</c:f>
              <c:numCache>
                <c:formatCode>General</c:formatCode>
                <c:ptCount val="3"/>
                <c:pt idx="0">
                  <c:v>448.54616</c:v>
                </c:pt>
                <c:pt idx="1">
                  <c:v>595.049</c:v>
                </c:pt>
                <c:pt idx="2">
                  <c:v>503.30837</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26.09</c:v>
                </c:pt>
                <c:pt idx="1">
                  <c:v>26.10</c:v>
                </c:pt>
                <c:pt idx="2">
                  <c:v>26.11</c:v>
                </c:pt>
              </c:strCache>
            </c:strRef>
          </c:cat>
          <c:val>
            <c:numRef>
              <c:f>Sheet1!$C$2:$C$4</c:f>
              <c:numCache>
                <c:formatCode>General</c:formatCode>
                <c:ptCount val="3"/>
                <c:pt idx="0">
                  <c:v>456.02192933</c:v>
                </c:pt>
                <c:pt idx="1">
                  <c:v>614.88396667</c:v>
                </c:pt>
                <c:pt idx="2">
                  <c:v>528.4737885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700.0"/>
          <c:min val="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6.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2.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상품권 사용률(분자: 환급 후 춘천 내 적격 재결제액 합계 / 분모: 지급한 환급액 합계), 기준기간: 운영 기간, 측정 주기: 매주, 수집 방법: 신청·승인·결제 원장 집계, 비교 집단: 동일 기간 내 미참여 업종/지역, 성공 기준: 환급 상품권 사용률 30% 이상 및 재방문율 10% 이상 증가(착수 전 확정 필요)",</a:t>
            </a:r>
          </a:p>
          <a:p xmlns:a="http://schemas.openxmlformats.org/drawingml/2006/main">
            <a:r>
              <a:t>    "title": "춘천시 지역상품권 환급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"dataset:51110:1, dataset:51110:3, case:jeonju_night_budget_2026, case:291a33370ec9b1",</a:t>
            </a:r>
          </a:p>
          <a:p xmlns:a="http://schemas.openxmlformats.org/drawingml/2006/main">
            <a:r>
              <a:t>    "priority": 1,</a:t>
            </a:r>
          </a:p>
          <a:p xmlns:a="http://schemas.openxmlformats.org/drawingml/2006/main">
            <a:r>
              <a:t>    "solution": "춘천시 내 지정된 식음료, 쇼핑, 여가서비스 참여 업종에서 일정 금액 이상 결제한 외지인 관광객에게 결제액의 일부를 춘천시 지역상품권으로 환급해 주는 메커니즘",</a:t>
            </a:r>
          </a:p>
          <a:p xmlns:a="http://schemas.openxmlformats.org/drawingml/2006/main">
            <a:r>
              <a:t>    "timeframe": "2026-09 ~ 2026-11, 3개월",</a:t>
            </a:r>
          </a:p>
          <a:p xmlns:a="http://schemas.openxmlformats.org/drawingml/2006/main">
            <a:r>
              <a:t>    "expected_effect": "ML 자연추세(전년 동월 대비 방문자 감소세)를 고려할 때, 환급을 통한 1인당 소비액 증대 및 지역 내 재결제 유도를 통해 관광소비 총액의 하락 방어 및 지역 내 경제 선순환 효과를 기대함(단, 순증 효과는 사후 검증 필요)",</a:t>
            </a:r>
          </a:p>
          <a:p xmlns:a="http://schemas.openxmlformats.org/drawingml/2006/main">
            <a:r>
              <a:t>    "problem_to_solve": "외지인 관광객의 소비가 지역 내에서 재순환되지 않고 단발성 지출로 종료되는 문제를 해결하여, 식음료·쇼핑 등 주요 업종의 매출 증대와 지역 경제 활성화를 도모함",</a:t>
            </a:r>
          </a:p>
          <a:p xmlns:a="http://schemas.openxmlformats.org/drawingml/2006/main">
            <a:r>
              <a:t>    "comparison_analysis": "인천 섬 사례가 예약형 체류 상품을 통해 '숙박' 자체를 유도하는 방식이라면, 본 안은 도심형 소비 구조에 맞춰 '지출액 환급'을 통해 지역 내 재결제를 유도함. 전주시 사례가 야간관광을 위한 예산 구조 마련에 집중한다면, 본 안은 실제 소비 발생 시점에 즉각적인 인센티브를 제공하는 실행 중심 모델임",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참여 희망 업체를 대상으로 모집 공고를 시행하고, 업체별 참여 협약서 및 환급 조건 명세서를 작성하여 협약을 체결함",</a:t>
            </a:r>
          </a:p>
          <a:p xmlns:a="http://schemas.openxmlformats.org/drawingml/2006/main">
            <a:r>
              <a:t>        "schedule": "2026-09",</a:t>
            </a:r>
          </a:p>
          <a:p xmlns:a="http://schemas.openxmlformats.org/drawingml/2006/main">
            <a:r>
              <a:t>        "deliverable": "업체별 참여 협약서 및 환급 조건 명세서"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"시스템 운영 담당자가 환급 신청, 승인, 결제 데이터를 통합 관리할 수 있는 신청·승인·결제 원장 관리 시스템을 구축함",</a:t>
            </a:r>
          </a:p>
          <a:p xmlns:a="http://schemas.openxmlformats.org/drawingml/2006/main">
            <a:r>
              <a:t>        "schedule": "2026-09",</a:t>
            </a:r>
          </a:p>
          <a:p xmlns:a="http://schemas.openxmlformats.org/drawingml/2006/main">
            <a:r>
              <a:t>        "deliverable": "신청·승인·결제 원장 관리 시스템"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 담당자가 주간 단위로 환급 신청 건을 검토·승인하고, 실제 환급 집행 현황 및 이용 현황 보고서를 작성함",</a:t>
            </a:r>
          </a:p>
          <a:p xmlns:a="http://schemas.openxmlformats.org/drawingml/2006/main">
            <a:r>
              <a:t>        "schedule": "2026-10",</a:t>
            </a:r>
          </a:p>
          <a:p xmlns:a="http://schemas.openxmlformats.org/drawingml/2006/main">
            <a:r>
              <a:t>        "deliverable": "주간 단위 환급 집행 및 이용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"데이터 분석 담당자가 수집된 원장을 바탕으로 환급 상품권의 재사용률 및 지역 내 소비 증감 효과를 분석한 최종 성과 보고서를 작성함",</a:t>
            </a:r>
          </a:p>
          <a:p xmlns:a="http://schemas.openxmlformats.org/drawingml/2006/main">
            <a:r>
              <a:t>        "schedule": "2026-11",</a:t>
            </a:r>
          </a:p>
          <a:p xmlns:a="http://schemas.openxmlformats.org/drawingml/2006/main">
            <a:r>
              <a:t>        "deliverable": "최종 성과 분석 보고서(재사용률 및 소비 증감)"</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"사업 총괄 담당자가 분석 결과를 검토하여 차기 운영 규모 확대 또는 사업 중단 여부를 결정하는 보고서를 작성함",</a:t>
            </a:r>
          </a:p>
          <a:p xmlns:a="http://schemas.openxmlformats.org/drawingml/2006/main">
            <a:r>
              <a:t>        "schedule": "2026-11",</a:t>
            </a:r>
          </a:p>
          <a:p xmlns:a="http://schemas.openxmlformats.org/drawingml/2006/main">
            <a:r>
              <a:t>        "deliverable": "확대 운영 또는 중단 결정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"case:jeonju_night_budget_2026",</a:t>
            </a:r>
          </a:p>
          <a:p xmlns:a="http://schemas.openxmlformats.org/drawingml/2006/main">
            <a:r>
              <a:t>      "case:291a33370ec9b1"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"환급 상품권 사용률(분자: 환급 후 춘천 내 적격 재결제액 합계 / 분모: 지급한 환급액 합계), 기준기간: 운영 기간, 측정 주기: 매주, 수집 방법: 신청·승인·결제 원장 집계, 비교 집단: 동일 기간 내 미참여 업종/지역, 성공 기준: 환급 상품권 사용률 30% 이상 및 재방문율 10% 이상 증가(착수 전 확정 필요)",</a:t>
            </a:r>
          </a:p>
          <a:p xmlns:a="http://schemas.openxmlformats.org/drawingml/2006/main">
            <a:r>
              <a:t>    "title": "춘천시 지역상품권 환급 프로그램",</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"evidence": "dataset:51110:1, dataset:51110:3, case:jeonju_night_budget_2026, case:291a33370ec9b1",</a:t>
            </a:r>
          </a:p>
          <a:p xmlns:a="http://schemas.openxmlformats.org/drawingml/2006/main">
            <a:r>
              <a:t>    "priority": 1,</a:t>
            </a:r>
          </a:p>
          <a:p xmlns:a="http://schemas.openxmlformats.org/drawingml/2006/main">
            <a:r>
              <a:t>    "solution": "춘천시 내 지정된 식음료, 쇼핑, 여가서비스 참여 업종에서 일정 금액 이상 결제한 외지인 관광객에게 결제액의 일부를 춘천시 지역상품권으로 환급해 주는 메커니즘",</a:t>
            </a:r>
          </a:p>
          <a:p xmlns:a="http://schemas.openxmlformats.org/drawingml/2006/main">
            <a:r>
              <a:t>    "timeframe": "2026-09 ~ 2026-11, 3개월",</a:t>
            </a:r>
          </a:p>
          <a:p xmlns:a="http://schemas.openxmlformats.org/drawingml/2006/main">
            <a:r>
              <a:t>    "expected_effect": "ML 자연추세(전년 동월 대비 방문자 감소세)를 고려할 때, 환급을 통한 1인당 소비액 증대 및 지역 내 재결제 유도를 통해 관광소비 총액의 하락 방어 및 지역 내 경제 선순환 효과를 기대함(단, 순증 효과는 사후 검증 필요)",</a:t>
            </a:r>
          </a:p>
          <a:p xmlns:a="http://schemas.openxmlformats.org/drawingml/2006/main">
            <a:r>
              <a:t>    "problem_to_solve": "외지인 관광객의 소비가 지역 내에서 재순환되지 않고 단발성 지출로 종료되는 문제를 해결하여, 식음료·쇼핑 등 주요 업종의 매출 증대와 지역 경제 활성화를 도모함",</a:t>
            </a:r>
          </a:p>
          <a:p xmlns:a="http://schemas.openxmlformats.org/drawingml/2006/main">
            <a:r>
              <a:t>    "comparison_analysis": "인천 섬 사례가 예약형 체류 상품을 통해 '숙박' 자체를 유도하는 방식이라면, 본 안은 도심형 소비 구조에 맞춰 '지출액 환급'을 통해 지역 내 재결제를 유도함. 전주시 사례가 야간관광을 위한 예산 구조 마련에 집중한다면, 본 안은 실제 소비 발생 시점에 즉각적인 인센티브를 제공하는 실행 중심 모델임",</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"사업 담당자가 참여 희망 업체를 대상으로 모집 공고를 시행하고, 업체별 참여 협약서 및 환급 조건 명세서를 작성하여 협약을 체결함",</a:t>
            </a:r>
          </a:p>
          <a:p xmlns:a="http://schemas.openxmlformats.org/drawingml/2006/main">
            <a:r>
              <a:t>        "schedule": "2026-09",</a:t>
            </a:r>
          </a:p>
          <a:p xmlns:a="http://schemas.openxmlformats.org/drawingml/2006/main">
            <a:r>
              <a:t>        "deliverable": "업체별 참여 협약서 및 환급 조건 명세서"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"시스템 운영 담당자가 환급 신청, 승인, 결제 데이터를 통합 관리할 수 있는 신청·승인·결제 원장 관리 시스템을 구축함",</a:t>
            </a:r>
          </a:p>
          <a:p xmlns:a="http://schemas.openxmlformats.org/drawingml/2006/main">
            <a:r>
              <a:t>        "schedule": "2026-09",</a:t>
            </a:r>
          </a:p>
          <a:p xmlns:a="http://schemas.openxmlformats.org/drawingml/2006/main">
            <a:r>
              <a:t>        "deliverable": "신청·승인·결제 원장 관리 시스템"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 담당자가 주간 단위로 환급 신청 건을 검토·승인하고, 실제 환급 집행 현황 및 이용 현황 보고서를 작성함",</a:t>
            </a:r>
          </a:p>
          <a:p xmlns:a="http://schemas.openxmlformats.org/drawingml/2006/main">
            <a:r>
              <a:t>        "schedule": "2026-10",</a:t>
            </a:r>
          </a:p>
          <a:p xmlns:a="http://schemas.openxmlformats.org/drawingml/2006/main">
            <a:r>
              <a:t>        "deliverable": "주간 단위 환급 집행 및 이용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"데이터 분석 담당자가 수집된 원장을 바탕으로 환급 상품권의 재사용률 및 지역 내 소비 증감 효과를 분석한 최종 성과 보고서를 작성함",</a:t>
            </a:r>
          </a:p>
          <a:p xmlns:a="http://schemas.openxmlformats.org/drawingml/2006/main">
            <a:r>
              <a:t>        "schedule": "2026-11",</a:t>
            </a:r>
          </a:p>
          <a:p xmlns:a="http://schemas.openxmlformats.org/drawingml/2006/main">
            <a:r>
              <a:t>        "deliverable": "최종 성과 분석 보고서(재사용률 및 소비 증감)"</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"사업 총괄 담당자가 분석 결과를 검토하여 차기 운영 규모 확대 또는 사업 중단 여부를 결정하는 보고서를 작성함",</a:t>
            </a:r>
          </a:p>
          <a:p xmlns:a="http://schemas.openxmlformats.org/drawingml/2006/main">
            <a:r>
              <a:t>        "schedule": "2026-11",</a:t>
            </a:r>
          </a:p>
          <a:p xmlns:a="http://schemas.openxmlformats.org/drawingml/2006/main">
            <a:r>
              <a:t>        "deliverable": "확대 운영 또는 중단 결정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"case:jeonju_night_budget_2026",</a:t>
            </a:r>
          </a:p>
          <a:p xmlns:a="http://schemas.openxmlformats.org/drawingml/2006/main">
            <a:r>
              <a:t>      "case:291a33370ec9b1"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"operation-document-v1",</a:t>
            </a:r>
          </a:p>
          <a:p xmlns:a="http://schemas.openxmlformats.org/drawingml/2006/main">
            <a:r>
              <a:t>  "sources":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"섬에서의 특별한 경험, ‘인천 섬 도도하게 살아보기’로 누린다",</a:t>
            </a:r>
          </a:p>
          <a:p xmlns:a="http://schemas.openxmlformats.org/drawingml/2006/main">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xmlns:a="http://schemas.openxmlformats.org/drawingml/2006/main">
            <a:r>
              <a:t>      "source_id": "case:291a33370ec9b1",</a:t>
            </a:r>
          </a:p>
          <a:p xmlns:a="http://schemas.openxmlformats.org/drawingml/2006/main">
            <a:r>
              <a:t>      "source_url": "https://www.incheon.go.kr/mayor_8/MA040101/view?curPage=236&amp;repSeq=DOM_0000000010488055",</a:t>
            </a:r>
          </a:p>
          <a:p xmlns:a="http://schemas.openxmlformats.org/drawingml/2006/main">
            <a:r>
              <a:t>      "case_region": "인천광역시 강화군·옹진군 소재 섬",</a:t>
            </a:r>
          </a:p>
          <a:p xmlns:a="http://schemas.openxmlformats.org/drawingml/2006/main">
            <a:r>
              <a:t>      "source_type": "benchmark_case",</a:t>
            </a:r>
          </a:p>
          <a:p xmlns:a="http://schemas.openxmlformats.org/drawingml/2006/main">
            <a:r>
              <a:t>      "intervention": "인천 섬 도도하게 살아보기—주민 숙박·식사·체험을 묶은 예약형 체류상품",</a:t>
            </a:r>
          </a:p>
          <a:p xmlns:a="http://schemas.openxmlformats.org/drawingml/2006/main">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xmlns:a="http://schemas.openxmlformats.org/drawingml/2006/main">
            <a:r>
              <a:t>      "evidence_strength": "medium",</a:t>
            </a:r>
          </a:p>
          <a:p xmlns:a="http://schemas.openxmlformats.org/drawingml/2006/main">
            <a:r>
              <a:t>      "published_or_updated_at": "2024-08-12",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"incheon_official.jpg",</a:t>
            </a:r>
          </a:p>
          <a:p xmlns:a="http://schemas.openxmlformats.org/drawingml/2006/main">
            <a:r>
              <a:t>      "caption":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only; preserve full image and credit;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"사업 담당자가 참여 희망 업체를 대상으로 모집 공고를 시행하고, 업체별 참여 협약서 및 환급 조건 명세서를 작성하여 협약을 체결함", "schedule": "2026-09", "deliverable": "업체별 참여 협약서 및 환급 조건 명세서"}, {"step": 2, "task": "시스템 운영 담당자가 환급 신청, 승인, 결제 데이터를 통합 관리할 수 있는 신청·승인·결제 원장 관리 시스템을 구축함", "schedule": "2026-09", "deliverable": "신청·승인·결제 원장 관리 시스템"}, {"step": 3, "task": "운영 담당자가 주간 단위로 환급 신청 건을 검토·승인하고, 실제 환급 집행 현황 및 이용 현황 보고서를 작성함", "schedule": "2026-10", "deliverable": "주간 단위 환급 집행 및 이용 현황 보고서"}, {"step": 4, "task": "데이터 분석 담당자가 수집된 원장을 바탕으로 환급 상품권의 재사용률 및 지역 내 소비 증감 효과를 분석한 최종 성과 보고서를 작성함", "schedule": "2026-11", "deliverable": "최종 성과 분석 보고서(재사용률 및 소비 증감)"}, {"step": 5, "task": "사업 총괄 담당자가 분석 결과를 검토하여 차기 운영 규모 확대 또는 사업 중단 여부를 결정하는 보고서를 작성함", "schedule": "2026-11", "deliverable": "확대 운영 또는 중단 결정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강진군의회 2024-11-20 시정연설: 10월 말 관광객 약 248만 명, 전년 대비 25% 증가. 전년 규모 역산: 248만÷1.25≈198.4만 명, 차이≈49.6만 명. 역산값은 별도 관측 원자료가 아니다. 반값여행과 축제의 동시기 실적이며 사업 단독 효과·ML 대비 증가율은 아니다. 강원특별자치도 춘천시은 초기 시범으로 최종월 방문 +5%를 제안한다(발표 증가율의 1/5를 선택한 기획 판단). 기본 소비 목표는 월별 소비/방문 비율을 추가 방문 수에 적용한 계획 가정이며 강진 소비 실적으로 계산한 값이 아니다. 방문 수가 0보다 큰 월은 ML 소비액÷ML 방문 수를 추가 방문 수에 곱한다. 같은 월의 두 증가율은 같으며, 이 비율은 실제 1인당 소비액이 아니다.</a:t>
            </a:r>
          </a:p>
          <a:p>
            <a:r>
              <a:t>https://clik.nanet.go.kr/minutes/viewer.do?DOCID=CLIKC3524169218564260&amp;collection=minutes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"items": [</a:t>
            </a:r>
          </a:p>
          <a:p>
            <a:r>
              <a:t>    {</a:t>
            </a:r>
          </a:p>
          <a:p>
            <a:r>
              <a:t>      "name": "여행비 환급 지원",</a:t>
            </a:r>
          </a:p>
          <a:p>
            <a:r>
              <a:t>      "basis": "1,000건 × 50,000원",</a:t>
            </a:r>
          </a:p>
          <a:p>
            <a:r>
              <a:t>      "amount": 50000000</a:t>
            </a:r>
          </a:p>
          <a:p>
            <a:r>
              <a:t>    },</a:t>
            </a:r>
          </a:p>
          <a:p>
            <a:r>
              <a:t>    {</a:t>
            </a:r>
          </a:p>
          <a:p>
            <a:r>
              <a:t>      "name": "현장 운영·정산",</a:t>
            </a:r>
          </a:p>
          <a:p>
            <a:r>
              <a:t>      "basis": "60인일 × 150,000원",</a:t>
            </a:r>
          </a:p>
          <a:p>
            <a:r>
              <a:t>      "amount": 9000000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7,500만원 × 10%",</a:t>
            </a:r>
          </a:p>
          <a:p>
            <a:r>
              <a:t>      "amount": 7500000</a:t>
            </a:r>
          </a:p>
          <a:p>
            <a:r>
              <a:t>    }</a:t>
            </a:r>
          </a:p>
          <a:p>
            <a:r>
              <a:t>  ],</a:t>
            </a:r>
          </a:p>
          <a:p>
            <a:r>
              <a:t>  "months": 3,</a:t>
            </a:r>
          </a:p>
          <a:p>
            <a:r>
              <a:t>  "refund": true,</a:t>
            </a:r>
          </a:p>
          <a:p>
            <a:r>
              <a:t>  "status": "planning_assumption_not_quote",</a:t>
            </a:r>
          </a:p>
          <a:p>
            <a:r>
              <a:t>  "sources": [</a:t>
            </a:r>
          </a:p>
          <a:p>
            <a:r>
              <a:t>    {</a:t>
            </a:r>
          </a:p>
          <a:p>
            <a:r>
              <a:t>      "title": "강진군 반값여행 공식 신청·정산 조건",</a:t>
            </a:r>
          </a:p>
          <a:p>
            <a:r>
              <a:t>      "summary": "일반 관광객 여행비 50% 상품권 환급. 개인 최대 10만원·팀 최대 20만원. 원주 효과나 공급업체 단가의 근거는 아님.",</a:t>
            </a:r>
          </a:p>
          <a:p>
            <a:r>
              <a:t>      "source_id": "estimate:gangjin-refund-rules:20260905",</a:t>
            </a:r>
          </a:p>
          <a:p>
            <a:r>
              <a:t>      "source_url": "https://www.gangjintour.com/advance/advance_req.html",</a:t>
            </a:r>
          </a:p>
          <a:p>
            <a:r>
              <a:t>      "accessed_at": "2026-09-05",</a:t>
            </a:r>
          </a:p>
          <a:p>
            <a:r>
              <a:t>      "source_type": "budget_reference"</a:t>
            </a:r>
          </a:p>
          <a:p>
            <a:r>
              <a:t>    }</a:t>
            </a:r>
          </a:p>
          <a:p>
            <a:r>
              <a:t>  ],</a:t>
            </a:r>
          </a:p>
          <a:p>
            <a:r>
              <a:t>  "version": "reference-estimate-v1",</a:t>
            </a:r>
          </a:p>
          <a:p>
            <a:r>
              <a:t>  "quantity": 1000,</a:t>
            </a:r>
          </a:p>
          <a:p>
            <a:r>
              <a:t>  "unit_krw": 50000,</a:t>
            </a:r>
          </a:p>
          <a:p>
            <a:r>
              <a:t>  "total_krw": 82500000,</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"reserve_krw": 7500000,</a:t>
            </a:r>
          </a:p>
          <a:p>
            <a:r>
              <a:t>  "subtotal_krw": 75000000,</a:t>
            </a:r>
          </a:p>
          <a:p>
            <a:r>
              <a:t>  "redemption_count": 800,</a:t>
            </a:r>
          </a:p>
          <a:p>
            <a:r>
              <a:t>  "within_hard_budget": true,</a:t>
            </a:r>
          </a:p>
          <a:p>
            <a:r>
              <a:t>  "qualifying_spend_krw": 100000000,</a:t>
            </a:r>
          </a:p>
          <a:p>
            <a:r>
              <a:t>  "redemption_target_pct": 80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dataset:51110:1 | 한국관광 데이터랩 · 강원특별자치도 춘천시 순 방문자 수 및 숙박 비율 (이동통신 기반 외지인) | https://datalab.visitkorea.or.kr/</a:t>
            </a:r>
          </a:p>
          <a:p xmlns:a="http://schemas.openxmlformats.org/drawingml/2006/main">
            <a:r>
              <a:t>dataset:51110:2 | 한국관광 데이터랩 · 강원특별자치도 춘천시 월간 순 방문자 수 (이동통신 기반 외지인) | https://datalab.visitkorea.or.kr/</a:t>
            </a:r>
          </a:p>
          <a:p xmlns:a="http://schemas.openxmlformats.org/drawingml/2006/main">
            <a:r>
              <a:t>dataset:51110:3 | 한국관광 데이터랩 · 강원특별자치도 춘천시 관광소비 추이_외지인 | https://datalab.visitkorea.or.kr/</a:t>
            </a:r>
          </a:p>
          <a:p xmlns:a="http://schemas.openxmlformats.org/drawingml/2006/main">
            <a:r>
              <a:t>dataset:51110:4 | 한국관광 데이터랩 · 강원특별자치도 춘천시 숙박방문자 비율 추이 (이동통신 기반 외지인) | https://datalab.visitkorea.or.kr/</a:t>
            </a:r>
          </a:p>
          <a:p xmlns:a="http://schemas.openxmlformats.org/drawingml/2006/main">
            <a:r>
              <a:t>dataset:51110:5 | 한국관광 데이터랩 · 강원특별자치도 춘천시 평균 숙박일 (이동통신 기반 외지인) | https://datalab.visitkorea.or.kr/</a:t>
            </a:r>
          </a:p>
          <a:p xmlns:a="http://schemas.openxmlformats.org/drawingml/2006/main">
            <a:r>
              <a:t>dataset:51110:6 | 한국관광 데이터랩 · 강원특별자치도 춘천시 내비게이션 목적지 유형별 검색량 | https://datalab.visitkorea.or.kr/</a:t>
            </a:r>
          </a:p>
          <a:p xmlns:a="http://schemas.openxmlformats.org/drawingml/2006/main">
            <a:r>
              <a:t>dataset:51110:7 | 한국관광 데이터랩 · 강원특별자치도 춘천시 SNS 언급량 | https://datalab.visitkorea.or.kr/</a:t>
            </a:r>
          </a:p>
          <a:p xmlns:a="http://schemas.openxmlformats.org/drawingml/2006/main">
            <a:r>
              <a:t>datalab:2343c3bc93bf:81205be51a1a | 한국관광 데이터랩 공식 다운로드 · 강원특별자치도_춘천시/숙박_체류시간/2026_01_06.zip | https://datalab.visitkorea.or.kr/</a:t>
            </a:r>
          </a:p>
          <a:p xmlns:a="http://schemas.openxmlformats.org/drawingml/2006/main">
            <a:r>
              <a:t>datalab:73a88f6fd74b:dc735676b7f4 | 한국관광 데이터랩 공식 다운로드 · 강원특별자치도_춘천시/숙박_체류시간/2025_01_12.zip | https://datalab.visitkorea.or.kr/</a:t>
            </a:r>
          </a:p>
          <a:p xmlns:a="http://schemas.openxmlformats.org/drawingml/2006/main">
            <a:r>
              <a:t>datalab:77438b77a948:7f25647aea7e | 한국관광 데이터랩 공식 다운로드 · 강원특별자치도_춘천시/관광소비/2026_01_06.zip | https://datalab.visitkorea.or.kr/</a:t>
            </a:r>
          </a:p>
          <a:p xmlns:a="http://schemas.openxmlformats.org/drawingml/2006/main">
            <a:r>
              <a:t>datalab:9642314b6e5e:34e60387985e | 한국관광 데이터랩 공식 다운로드 · 강원특별자치도_춘천시/관광소비/2025_01_12.zip | https://datalab.visitkorea.or.kr/</a:t>
            </a:r>
          </a:p>
          <a:p xmlns:a="http://schemas.openxmlformats.org/drawingml/2006/main">
            <a:r>
              <a:t>datalab:ae4e45e46741:2689769fc6ce | 한국관광 데이터랩 공식 다운로드 · 강원특별자치도_춘천시/방문자/2026_01_06.zip | https://datalab.visitkorea.or.kr/</a:t>
            </a:r>
          </a:p>
          <a:p xmlns:a="http://schemas.openxmlformats.org/drawingml/2006/main">
            <a:r>
              <a:t>datalab:e1ae014de0aa:877807c4ab51 | 한국관광 데이터랩 공식 다운로드 · 강원특별자치도_춘천시/방문자/2025_01_12.zip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regional-status:4a7789e925d5:55e3be9aa0cd | 한국관광 데이터랩 지역별 관광 현황 · 강원특별자치도 춘천시 · 유입유출 | https://datalab.visitkorea.or.kr/</a:t>
            </a:r>
          </a:p>
          <a:p xmlns:a="http://schemas.openxmlformats.org/drawingml/2006/main">
            <a:r>
              <a:t>regional-status:61a9d2d6b099:8676c55ce1a7 | 한국관광 데이터랩 지역별 관광 현황 · 강원특별자치도 춘천시 · 인기관광지 | https://datalab.visitkorea.or.kr/</a:t>
            </a:r>
          </a:p>
          <a:p xmlns:a="http://schemas.openxmlformats.org/drawingml/2006/main">
            <a:r>
              <a:t>regional-status:b3fe66c3af97:a10ce860bf9f | 한국관광 데이터랩 지역별 관광 현황 · 강원특별자치도 춘천시 · 지역집중률 | https://datalab.visitkorea.or.kr/</a:t>
            </a:r>
          </a:p>
          <a:p xmlns:a="http://schemas.openxmlformats.org/drawingml/2006/main">
            <a:r>
              <a:t>ml:51110:regional-demand-v3.1:202606 | 지역 관광수요 ML 전망 · 공식 관측값 아님 | URL 미기록</a:t>
            </a:r>
          </a:p>
          <a:p xmlns:a="http://schemas.openxmlformats.org/drawingml/2006/main">
            <a:r>
              <a:t>tour-api:2891703 | 가보자순대국 | https://apis.data.go.kr/B551011/KorService2</a:t>
            </a:r>
          </a:p>
          <a:p xmlns:a="http://schemas.openxmlformats.org/drawingml/2006/main">
            <a:r>
              <a:t>tour-api:3083085 | 가평1등수상레저 | https://apis.data.go.kr/B551011/KorService2</a:t>
            </a:r>
          </a:p>
          <a:p xmlns:a="http://schemas.openxmlformats.org/drawingml/2006/main">
            <a:r>
              <a:t>tour-api:128778 | 강원 경찰충혼탑 | https://apis.data.go.kr/B551011/KorService2</a:t>
            </a:r>
          </a:p>
          <a:p xmlns:a="http://schemas.openxmlformats.org/drawingml/2006/main">
            <a:r>
              <a:t>tour-api:129840 | 강원대학교중앙박물관 | https://apis.data.go.kr/B551011/KorService2</a:t>
            </a:r>
          </a:p>
          <a:p xmlns:a="http://schemas.openxmlformats.org/drawingml/2006/main">
            <a:r>
              <a:t>tour-api:2610850 | 강원숲체험장 | https://apis.data.go.kr/B551011/KorService2</a:t>
            </a:r>
          </a:p>
          <a:p xmlns:a="http://schemas.openxmlformats.org/drawingml/2006/main">
            <a:r>
              <a:t>tour-api:131456 | 강원특별자치도청소년수련원 | https://apis.data.go.kr/B551011/KorService2</a:t>
            </a:r>
          </a:p>
          <a:p xmlns:a="http://schemas.openxmlformats.org/drawingml/2006/main">
            <a:r>
              <a:t>tour-api:2706334 | 강촌 출렁다리공원 | https://apis.data.go.kr/B551011/KorService2</a:t>
            </a:r>
          </a:p>
          <a:p xmlns:a="http://schemas.openxmlformats.org/drawingml/2006/main">
            <a:r>
              <a:t>tour-api:1947118 | 강촌레일파크(김유정레일바이크) | https://apis.data.go.kr/B551011/KorService2</a:t>
            </a:r>
          </a:p>
          <a:p xmlns:a="http://schemas.openxmlformats.org/drawingml/2006/main">
            <a:r>
              <a:t>tour-api:2759582 | 강촌버즈글램핑 | https://apis.data.go.kr/B551011/KorService2</a:t>
            </a:r>
          </a:p>
          <a:p xmlns:a="http://schemas.openxmlformats.org/drawingml/2006/main">
            <a:r>
              <a:t>tour-api:125605 | 강촌유원지 | https://apis.data.go.kr/B551011/KorService2</a:t>
            </a:r>
          </a:p>
          <a:p xmlns:a="http://schemas.openxmlformats.org/drawingml/2006/main">
            <a:r>
              <a:t>tour-api:2741528 | 강촌하늘아래글램핑 | https://apis.data.go.kr/B551011/KorService2</a:t>
            </a:r>
          </a:p>
          <a:p xmlns:a="http://schemas.openxmlformats.org/drawingml/2006/main">
            <a:r>
              <a:t>tour-api:391742 | 경강막국수 | https://apis.data.go.kr/B551011/KorService2</a:t>
            </a:r>
          </a:p>
          <a:p xmlns:a="http://schemas.openxmlformats.org/drawingml/2006/main">
            <a:r>
              <a:t>tour-api:2558052 | 고목 | https://apis.data.go.kr/B551011/KorService2</a:t>
            </a:r>
          </a:p>
          <a:p xmlns:a="http://schemas.openxmlformats.org/drawingml/2006/main">
            <a:r>
              <a:t>tour-api:129004 | 공지천 조각공원 | https://apis.data.go.kr/B551011/KorService2</a:t>
            </a:r>
          </a:p>
          <a:p xmlns:a="http://schemas.openxmlformats.org/drawingml/2006/main">
            <a:r>
              <a:t>tour-api:2792017 | 구곡폭포 국민여가 캠핑장 | https://apis.data.go.kr/B551011/KorService2</a:t>
            </a:r>
          </a:p>
          <a:p xmlns:a="http://schemas.openxmlformats.org/drawingml/2006/main">
            <a:r>
              <a:t>tour-api:2714558 | 구봉산 | https://apis.data.go.kr/B551011/KorService2</a:t>
            </a:r>
          </a:p>
          <a:p xmlns:a="http://schemas.openxmlformats.org/drawingml/2006/main">
            <a:r>
              <a:t>tour-api:407225 | 국립 용화산자연휴양림 | https://apis.data.go.kr/B551011/KorService2</a:t>
            </a:r>
          </a:p>
          <a:p xmlns:a="http://schemas.openxmlformats.org/drawingml/2006/main">
            <a:r>
              <a:t>tour-api:2710587 | 국립춘천숲체원 | https://apis.data.go.kr/B551011/KorService2</a:t>
            </a:r>
          </a:p>
          <a:p xmlns:a="http://schemas.openxmlformats.org/drawingml/2006/main">
            <a:r>
              <a:t>tour-api:2774528 | 군자숯불닭갈비 | https://apis.data.go.kr/B551011/KorService2</a:t>
            </a:r>
          </a:p>
          <a:p xmlns:a="http://schemas.openxmlformats.org/drawingml/2006/main">
            <a:r>
              <a:t>tour-api:2710596 | 근화동396청년창업공간 | https://apis.data.go.kr/B551011/KorService2</a:t>
            </a:r>
          </a:p>
          <a:p xmlns:a="http://schemas.openxmlformats.org/drawingml/2006/main">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xmlns:a="http://schemas.openxmlformats.org/drawingml/2006/main">
            <a:r>
              <a:t>case:jeonju_night_budget_2026 | 전주시 2026년도 관광산업과 세출예산 사업명세서 | https://jeonju.go.kr/resource/www/images/download/budget/2026/2026_31_2.pdf</a:t>
            </a:r>
          </a:p>
          <a:p xmlns:a="http://schemas.openxmlformats.org/drawingml/2006/main">
            <a:r>
              <a:t>case:291a33370ec9b1 | 섬에서의 특별한 경험, ‘인천 섬 도도하게 살아보기’로 누린다 | https://www.incheon.go.kr/mayor_8/MA040101/view?curPage=236&amp;repSeq=DOM_0000000010488055</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강원특별자치도 춘천시 순 방문자 수 및 숙박 비율 (이동통신 기반 외지인)",</a:t>
            </a:r>
          </a:p>
          <a:p xmlns:a="http://schemas.openxmlformats.org/drawingml/2006/main">
            <a:r>
              <a:t>      "summary": "월간 순 방문자 수: 1,873,282명 (관측 기준월: 2026-06)",</a:t>
            </a:r>
          </a:p>
          <a:p xmlns:a="http://schemas.openxmlformats.org/drawingml/2006/main">
            <a:r>
              <a:t>      "source_id": "dataset:51110:1",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월간 순 방문자 수 (이동통신 기반 외지인)",</a:t>
            </a:r>
          </a:p>
          <a:p xmlns:a="http://schemas.openxmlformats.org/drawingml/2006/main">
            <a:r>
              <a:t>      "summary": "전년동월 외지인 방문자 증감률: -8.1% (관측 기준월: 2026-06)",</a:t>
            </a:r>
          </a:p>
          <a:p xmlns:a="http://schemas.openxmlformats.org/drawingml/2006/main">
            <a:r>
              <a:t>      "source_id": "dataset:51110:2",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관광소비 추이_외지인",</a:t>
            </a:r>
          </a:p>
          <a:p xmlns:a="http://schemas.openxmlformats.org/drawingml/2006/main">
            <a:r>
              <a:t>      "summary": "월간 외지인 관광소비 총액: 51,352,814,000원 (관측 기준월: 2026-06)",</a:t>
            </a:r>
          </a:p>
          <a:p xmlns:a="http://schemas.openxmlformats.org/drawingml/2006/main">
            <a:r>
              <a:t>      "source_id": "dataset:51110:3",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숙박방문자 비율 추이 (이동통신 기반 외지인)",</a:t>
            </a:r>
          </a:p>
          <a:p xmlns:a="http://schemas.openxmlformats.org/drawingml/2006/main">
            <a:r>
              <a:t>      "summary": "외지인 숙박 방문 비율: 14.1% (관측 기준월: 2026-06)",</a:t>
            </a:r>
          </a:p>
          <a:p xmlns:a="http://schemas.openxmlformats.org/drawingml/2006/main">
            <a:r>
              <a:t>      "source_id": "dataset:51110:4",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평균 숙박일 (이동통신 기반 외지인)",</a:t>
            </a:r>
          </a:p>
          <a:p xmlns:a="http://schemas.openxmlformats.org/drawingml/2006/main">
            <a:r>
              <a:t>      "summary": "외지인 평균 숙박일수: 2.61일 (관측 기준월: 2026-06)",</a:t>
            </a:r>
          </a:p>
          <a:p xmlns:a="http://schemas.openxmlformats.org/drawingml/2006/main">
            <a:r>
              <a:t>      "source_id": "dataset:51110:5",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내비게이션 목적지 유형별 검색량",</a:t>
            </a:r>
          </a:p>
          <a:p xmlns:a="http://schemas.openxmlformats.org/drawingml/2006/main">
            <a:r>
              <a:t>      "summary": "내비게이션 목적지 검색량: 322,791건 (관측 기준월: 2026-06)",</a:t>
            </a:r>
          </a:p>
          <a:p xmlns:a="http://schemas.openxmlformats.org/drawingml/2006/main">
            <a:r>
              <a:t>      "source_id": "dataset:51110:6",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강원특별자치도 춘천시 SNS 언급량",</a:t>
            </a:r>
          </a:p>
          <a:p xmlns:a="http://schemas.openxmlformats.org/drawingml/2006/main">
            <a:r>
              <a:t>      "summary": "SNS 언급량: 46,739건 (관측 기준월: 2026-06)",</a:t>
            </a:r>
          </a:p>
          <a:p xmlns:a="http://schemas.openxmlformats.org/drawingml/2006/main">
            <a:r>
              <a:t>      "source_id": "dataset:51110:7",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강원특별자치도_춘천시/숙박_체류시간/2026_01_06.zip",</a:t>
            </a:r>
          </a:p>
          <a:p xmlns:a="http://schemas.openxmlformats.org/drawingml/2006/main">
            <a:r>
              <a:t>      "summary": "전국 비교 기준 기간: 2025-07 ~ 2026-06",</a:t>
            </a:r>
          </a:p>
          <a:p xmlns:a="http://schemas.openxmlformats.org/drawingml/2006/main">
            <a:r>
              <a:t>      "source_id": "datalab:2343c3bc93bf:81205be51a1a",</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강원특별자치도_춘천시/숙박_체류시간/2025_01_12.zip",</a:t>
            </a:r>
          </a:p>
          <a:p xmlns:a="http://schemas.openxmlformats.org/drawingml/2006/main">
            <a:r>
              <a:t>      "summary": "전국 비교 기준 기간: 2025-07 ~ 2026-06",</a:t>
            </a:r>
          </a:p>
          <a:p xmlns:a="http://schemas.openxmlformats.org/drawingml/2006/main">
            <a:r>
              <a:t>      "source_id": "datalab:73a88f6fd74b:dc735676b7f4",</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강원특별자치도_춘천시/관광소비/2026_01_06.zip",</a:t>
            </a:r>
          </a:p>
          <a:p xmlns:a="http://schemas.openxmlformats.org/drawingml/2006/main">
            <a:r>
              <a:t>      "summary": "전국 비교 기준 기간: 2025-07 ~ 2026-06",</a:t>
            </a:r>
          </a:p>
          <a:p xmlns:a="http://schemas.openxmlformats.org/drawingml/2006/main">
            <a:r>
              <a:t>      "source_id": "datalab:77438b77a948:7f25647aea7e",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강원특별자치도_춘천시/관광소비/2025_01_12.zip",</a:t>
            </a:r>
          </a:p>
          <a:p xmlns:a="http://schemas.openxmlformats.org/drawingml/2006/main">
            <a:r>
              <a:t>      "summary": "전국 비교 기준 기간: 2025-07 ~ 2026-06",</a:t>
            </a:r>
          </a:p>
          <a:p xmlns:a="http://schemas.openxmlformats.org/drawingml/2006/main">
            <a:r>
              <a:t>      "source_id": "datalab:9642314b6e5e:34e60387985e",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강원특별자치도_춘천시/방문자/2026_01_06.zip",</a:t>
            </a:r>
          </a:p>
          <a:p xmlns:a="http://schemas.openxmlformats.org/drawingml/2006/main">
            <a:r>
              <a:t>      "summary": "전국 비교 기준 기간: 2025-07 ~ 2026-06",</a:t>
            </a:r>
          </a:p>
          <a:p xmlns:a="http://schemas.openxmlformats.org/drawingml/2006/main">
            <a:r>
              <a:t>      "source_id": "datalab:ae4e45e46741:2689769fc6ce",</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강원특별자치도_춘천시/방문자/2025_01_12.zip",</a:t>
            </a:r>
          </a:p>
          <a:p xmlns:a="http://schemas.openxmlformats.org/drawingml/2006/main">
            <a:r>
              <a:t>      "summary": "전국 비교 기준 기간: 2025-07 ~ 2026-06",</a:t>
            </a:r>
          </a:p>
          <a:p xmlns:a="http://schemas.openxmlformats.org/drawingml/2006/main">
            <a:r>
              <a:t>      "source_id": "datalab:e1ae014de0aa:877807c4ab51",</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춘천시 · 유입유출",</a:t>
            </a:r>
          </a:p>
          <a:p xmlns:a="http://schemas.openxmlformats.org/drawingml/2006/main">
            <a:r>
              <a:t>      "summary": "관측 기간: 2025-07 ~ 2026-06. 유입·유출·인기장소 또는 30일 집중 운영 신호.",</a:t>
            </a:r>
          </a:p>
          <a:p xmlns:a="http://schemas.openxmlformats.org/drawingml/2006/main">
            <a:r>
              <a:t>      "source_id": "regional-status:4a7789e925d5:55e3be9aa0cd",</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춘천시 · 인기관광지",</a:t>
            </a:r>
          </a:p>
          <a:p xmlns:a="http://schemas.openxmlformats.org/drawingml/2006/main">
            <a:r>
              <a:t>      "summary": "관측 기간: 2025-07 ~ 2026-06. 유입·유출·인기장소 또는 30일 집중 운영 신호.",</a:t>
            </a:r>
          </a:p>
          <a:p xmlns:a="http://schemas.openxmlformats.org/drawingml/2006/main">
            <a:r>
              <a:t>      "source_id": "regional-status:61a9d2d6b099:8676c55ce1a7",</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강원특별자치도 춘천시 · 지역집중률",</a:t>
            </a:r>
          </a:p>
          <a:p xmlns:a="http://schemas.openxmlformats.org/drawingml/2006/main">
            <a:r>
              <a:t>      "summary": "관측 기간: 2025-07 ~ 2026-06. 유입·유출·인기장소 또는 30일 집중 운영 신호.",</a:t>
            </a:r>
          </a:p>
          <a:p xmlns:a="http://schemas.openxmlformats.org/drawingml/2006/main">
            <a:r>
              <a:t>      "source_id": "regional-status:b3fe66c3af97:a10ce860bf9f",</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"ml:51110:regional-demand-v3.1:202606",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"b54445dc6e4c68c2130c72df908d376d3e7b474c59a1e83c7607f206257cf12c"</a:t>
            </a:r>
          </a:p>
          <a:p xmlns:a="http://schemas.openxmlformats.org/drawingml/2006/main">
            <a:r>
              <a:t>    },</a:t>
            </a:r>
          </a:p>
          <a:p xmlns:a="http://schemas.openxmlformats.org/drawingml/2006/main">
            <a:r>
              <a:t>    {</a:t>
            </a:r>
          </a:p>
          <a:p xmlns:a="http://schemas.openxmlformats.org/drawingml/2006/main">
            <a:r>
              <a:t>      "title": "가보자순대국",</a:t>
            </a:r>
          </a:p>
          <a:p xmlns:a="http://schemas.openxmlformats.org/drawingml/2006/main">
            <a:r>
              <a:t>      "address": "강원특별자치도 춘천시 율문2길 11",</a:t>
            </a:r>
          </a:p>
          <a:p xmlns:a="http://schemas.openxmlformats.org/drawingml/2006/main">
            <a:r>
              <a:t>      "summary": "한국관광공사 국문관광정보 API가 반환한 선택 지역 관광자원",</a:t>
            </a:r>
          </a:p>
          <a:p xmlns:a="http://schemas.openxmlformats.org/drawingml/2006/main">
            <a:r>
              <a:t>      "image_url": "http://tong.visitkorea.or.kr/cms/resource/95/2891695_image2_1.jpg",</a:t>
            </a:r>
          </a:p>
          <a:p xmlns:a="http://schemas.openxmlformats.org/drawingml/2006/main">
            <a:r>
              <a:t>      "source_id": "tour-api:2891703",</a:t>
            </a:r>
          </a:p>
          <a:p xmlns:a="http://schemas.openxmlformats.org/drawingml/2006/main">
            <a:r>
              <a:t>      "content_id": "2891703",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"가평1등수상레저",</a:t>
            </a:r>
          </a:p>
          <a:p xmlns:a="http://schemas.openxmlformats.org/drawingml/2006/main">
            <a:r>
              <a:t>      "address": "강원특별자치도 춘천시 남면 박암관천길 511-55",</a:t>
            </a:r>
          </a:p>
          <a:p xmlns:a="http://schemas.openxmlformats.org/drawingml/2006/main">
            <a:r>
              <a:t>      "summary": "한국관광공사 국문관광정보 API가 반환한 선택 지역 관광자원",</a:t>
            </a:r>
          </a:p>
          <a:p xmlns:a="http://schemas.openxmlformats.org/drawingml/2006/main">
            <a:r>
              <a:t>      "image_url": "http://tong.visitkorea.or.kr/cms/resource/64/3083064_image2_1.jpg",</a:t>
            </a:r>
          </a:p>
          <a:p xmlns:a="http://schemas.openxmlformats.org/drawingml/2006/main">
            <a:r>
              <a:t>      "source_id": "tour-api:3083085",</a:t>
            </a:r>
          </a:p>
          <a:p xmlns:a="http://schemas.openxmlformats.org/drawingml/2006/main">
            <a:r>
              <a:t>      "content_id": "3083085",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"강원 경찰충혼탑",</a:t>
            </a:r>
          </a:p>
          <a:p xmlns:a="http://schemas.openxmlformats.org/drawingml/2006/main">
            <a:r>
              <a:t>      "address": "강원특별자치도 춘천시 서면 신매리",</a:t>
            </a:r>
          </a:p>
          <a:p xmlns:a="http://schemas.openxmlformats.org/drawingml/2006/main">
            <a:r>
              <a:t>      "summary": "한국관광공사 국문관광정보 API가 반환한 선택 지역 관광자원",</a:t>
            </a:r>
          </a:p>
          <a:p xmlns:a="http://schemas.openxmlformats.org/drawingml/2006/main">
            <a:r>
              <a:t>      "image_url": "http://tong.visitkorea.or.kr/cms/resource/36/3381636_image2_1.JPG",</a:t>
            </a:r>
          </a:p>
          <a:p xmlns:a="http://schemas.openxmlformats.org/drawingml/2006/main">
            <a:r>
              <a:t>      "source_id": "tour-api:128778",</a:t>
            </a:r>
          </a:p>
          <a:p xmlns:a="http://schemas.openxmlformats.org/drawingml/2006/main">
            <a:r>
              <a:t>      "content_id": "128778",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"강원대학교중앙박물관",</a:t>
            </a:r>
          </a:p>
          <a:p xmlns:a="http://schemas.openxmlformats.org/drawingml/2006/main">
            <a:r>
              <a:t>      "address": "강원특별자치도 춘천시 공지로 188-77 (효자동)",</a:t>
            </a:r>
          </a:p>
          <a:p xmlns:a="http://schemas.openxmlformats.org/drawingml/2006/main">
            <a:r>
              <a:t>      "summary": "한국관광공사 국문관광정보 API가 반환한 선택 지역 관광자원",</a:t>
            </a:r>
          </a:p>
          <a:p xmlns:a="http://schemas.openxmlformats.org/drawingml/2006/main">
            <a:r>
              <a:t>      "image_url": "http://tong.visitkorea.or.kr/cms/resource/58/3475458_image2_1.jpg",</a:t>
            </a:r>
          </a:p>
          <a:p xmlns:a="http://schemas.openxmlformats.org/drawingml/2006/main">
            <a:r>
              <a:t>      "source_id": "tour-api:129840",</a:t>
            </a:r>
          </a:p>
          <a:p xmlns:a="http://schemas.openxmlformats.org/drawingml/2006/main">
            <a:r>
              <a:t>      "content_id": "129840",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"강원숲체험장",</a:t>
            </a:r>
          </a:p>
          <a:p xmlns:a="http://schemas.openxmlformats.org/drawingml/2006/main">
            <a:r>
              <a:t>      "address": "강원특별자치도 춘천시 서면 납실길 107-64",</a:t>
            </a:r>
          </a:p>
          <a:p xmlns:a="http://schemas.openxmlformats.org/drawingml/2006/main">
            <a:r>
              <a:t>      "summary": "한국관광공사 국문관광정보 API가 반환한 선택 지역 관광자원",</a:t>
            </a:r>
          </a:p>
          <a:p xmlns:a="http://schemas.openxmlformats.org/drawingml/2006/main">
            <a:r>
              <a:t>      "image_url": "http://tong.visitkorea.or.kr/cms/resource/11/2739711_image2_1.jpg",</a:t>
            </a:r>
          </a:p>
          <a:p xmlns:a="http://schemas.openxmlformats.org/drawingml/2006/main">
            <a:r>
              <a:t>      "source_id": "tour-api:2610850",</a:t>
            </a:r>
          </a:p>
          <a:p xmlns:a="http://schemas.openxmlformats.org/drawingml/2006/main">
            <a:r>
              <a:t>      "content_id": "2610850",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"강원특별자치도청소년수련원",</a:t>
            </a:r>
          </a:p>
          <a:p xmlns:a="http://schemas.openxmlformats.org/drawingml/2006/main">
            <a:r>
              <a:t>      "address": "강원특별자치도 춘천시 신샘밭로 89",</a:t>
            </a:r>
          </a:p>
          <a:p xmlns:a="http://schemas.openxmlformats.org/drawingml/2006/main">
            <a:r>
              <a:t>      "summary": "한국관광공사 국문관광정보 API가 반환한 선택 지역 관광자원",</a:t>
            </a:r>
          </a:p>
          <a:p xmlns:a="http://schemas.openxmlformats.org/drawingml/2006/main">
            <a:r>
              <a:t>      "image_url": "http://tong.visitkorea.or.kr/cms/resource/05/3382505_image2_1.JPG",</a:t>
            </a:r>
          </a:p>
          <a:p xmlns:a="http://schemas.openxmlformats.org/drawingml/2006/main">
            <a:r>
              <a:t>      "source_id": "tour-api:131456",</a:t>
            </a:r>
          </a:p>
          <a:p xmlns:a="http://schemas.openxmlformats.org/drawingml/2006/main">
            <a:r>
              <a:t>      "content_id": "131456",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"강촌 출렁다리공원",</a:t>
            </a:r>
          </a:p>
          <a:p xmlns:a="http://schemas.openxmlformats.org/drawingml/2006/main">
            <a:r>
              <a:t>      "address": "강원특별자치도 춘천시 남산면 강촌리",</a:t>
            </a:r>
          </a:p>
          <a:p xmlns:a="http://schemas.openxmlformats.org/drawingml/2006/main">
            <a:r>
              <a:t>      "summary": "한국관광공사 국문관광정보 API가 반환한 선택 지역 관광자원",</a:t>
            </a:r>
          </a:p>
          <a:p xmlns:a="http://schemas.openxmlformats.org/drawingml/2006/main">
            <a:r>
              <a:t>      "image_url": "http://tong.visitkorea.or.kr/cms/resource/96/3382296_image2_1.JPG",</a:t>
            </a:r>
          </a:p>
          <a:p xmlns:a="http://schemas.openxmlformats.org/drawingml/2006/main">
            <a:r>
              <a:t>      "source_id": "tour-api:2706334",</a:t>
            </a:r>
          </a:p>
          <a:p xmlns:a="http://schemas.openxmlformats.org/drawingml/2006/main">
            <a:r>
              <a:t>      "content_id": "2706334",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"강촌레일파크(김유정레일바이크)",</a:t>
            </a:r>
          </a:p>
          <a:p xmlns:a="http://schemas.openxmlformats.org/drawingml/2006/main">
            <a:r>
              <a:t>      "address": "강원특별자치도 춘천시 신동면 김유정로 1383",</a:t>
            </a:r>
          </a:p>
          <a:p xmlns:a="http://schemas.openxmlformats.org/drawingml/2006/main">
            <a:r>
              <a:t>      "summary": "한국관광공사 국문관광정보 API가 반환한 선택 지역 관광자원",</a:t>
            </a:r>
          </a:p>
          <a:p xmlns:a="http://schemas.openxmlformats.org/drawingml/2006/main">
            <a:r>
              <a:t>      "image_url": "http://tong.visitkorea.or.kr/cms/resource/48/2739748_image2_1.jpeg",</a:t>
            </a:r>
          </a:p>
          <a:p xmlns:a="http://schemas.openxmlformats.org/drawingml/2006/main">
            <a:r>
              <a:t>      "source_id": "tour-api:1947118",</a:t>
            </a:r>
          </a:p>
          <a:p xmlns:a="http://schemas.openxmlformats.org/drawingml/2006/main">
            <a:r>
              <a:t>      "content_id": "1947118",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"강촌버즈글램핑",</a:t>
            </a:r>
          </a:p>
          <a:p xmlns:a="http://schemas.openxmlformats.org/drawingml/2006/main">
            <a:r>
              <a:t>      "address": "강원특별자치도 춘천시 서면 율장길 122-28",</a:t>
            </a:r>
          </a:p>
          <a:p xmlns:a="http://schemas.openxmlformats.org/drawingml/2006/main">
            <a:r>
              <a:t>      "summary": "한국관광공사 국문관광정보 API가 반환한 선택 지역 관광자원",</a:t>
            </a:r>
          </a:p>
          <a:p xmlns:a="http://schemas.openxmlformats.org/drawingml/2006/main">
            <a:r>
              <a:t>      "image_url": "http://tong.visitkorea.or.kr/cms/resource/44/2760044_image2_1.JPG",</a:t>
            </a:r>
          </a:p>
          <a:p xmlns:a="http://schemas.openxmlformats.org/drawingml/2006/main">
            <a:r>
              <a:t>      "source_id": "tour-api:2759582",</a:t>
            </a:r>
          </a:p>
          <a:p xmlns:a="http://schemas.openxmlformats.org/drawingml/2006/main">
            <a:r>
              <a:t>      "content_id": "2759582",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"강촌유원지",</a:t>
            </a:r>
          </a:p>
          <a:p xmlns:a="http://schemas.openxmlformats.org/drawingml/2006/main">
            <a:r>
              <a:t>      "address": "강원특별자치도 춘천시 남산면 일원",</a:t>
            </a:r>
          </a:p>
          <a:p xmlns:a="http://schemas.openxmlformats.org/drawingml/2006/main">
            <a:r>
              <a:t>      "summary": "한국관광공사 국문관광정보 API가 반환한 선택 지역 관광자원",</a:t>
            </a:r>
          </a:p>
          <a:p xmlns:a="http://schemas.openxmlformats.org/drawingml/2006/main">
            <a:r>
              <a:t>      "image_url": "http://tong.visitkorea.or.kr/cms/resource/64/3533864_image2_1.jpg",</a:t>
            </a:r>
          </a:p>
          <a:p xmlns:a="http://schemas.openxmlformats.org/drawingml/2006/main">
            <a:r>
              <a:t>      "source_id": "tour-api:125605",</a:t>
            </a:r>
          </a:p>
          <a:p xmlns:a="http://schemas.openxmlformats.org/drawingml/2006/main">
            <a:r>
              <a:t>      "content_id": "125605",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"강촌하늘아래글램핑",</a:t>
            </a:r>
          </a:p>
          <a:p xmlns:a="http://schemas.openxmlformats.org/drawingml/2006/main">
            <a:r>
              <a:t>      "address": "강원특별자치도 춘천시 남산면 풀무골1길 71",</a:t>
            </a:r>
          </a:p>
          <a:p xmlns:a="http://schemas.openxmlformats.org/drawingml/2006/main">
            <a:r>
              <a:t>      "summary": "한국관광공사 국문관광정보 API가 반환한 선택 지역 관광자원",</a:t>
            </a:r>
          </a:p>
          <a:p xmlns:a="http://schemas.openxmlformats.org/drawingml/2006/main">
            <a:r>
              <a:t>      "image_url": "http://tong.visitkorea.or.kr/cms/resource/45/2741645_image2_1.JPG",</a:t>
            </a:r>
          </a:p>
          <a:p xmlns:a="http://schemas.openxmlformats.org/drawingml/2006/main">
            <a:r>
              <a:t>      "source_id": "tour-api:2741528",</a:t>
            </a:r>
          </a:p>
          <a:p xmlns:a="http://schemas.openxmlformats.org/drawingml/2006/main">
            <a:r>
              <a:t>      "content_id": "2741528",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"경강막국수",</a:t>
            </a:r>
          </a:p>
          <a:p xmlns:a="http://schemas.openxmlformats.org/drawingml/2006/main">
            <a:r>
              <a:t>      "address": "강원특별자치도 춘천시 남산면 서백길 62-4",</a:t>
            </a:r>
          </a:p>
          <a:p xmlns:a="http://schemas.openxmlformats.org/drawingml/2006/main">
            <a:r>
              <a:t>      "summary": "한국관광공사 국문관광정보 API가 반환한 선택 지역 관광자원",</a:t>
            </a:r>
          </a:p>
          <a:p xmlns:a="http://schemas.openxmlformats.org/drawingml/2006/main">
            <a:r>
              <a:t>      "image_url": "http://tong.visitkorea.or.kr/cms/resource/39/3046639_image2_1.jpg",</a:t>
            </a:r>
          </a:p>
          <a:p xmlns:a="http://schemas.openxmlformats.org/drawingml/2006/main">
            <a:r>
              <a:t>      "source_id": "tour-api:391742",</a:t>
            </a:r>
          </a:p>
          <a:p xmlns:a="http://schemas.openxmlformats.org/drawingml/2006/main">
            <a:r>
              <a:t>      "content_id": "391742",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"고목",</a:t>
            </a:r>
          </a:p>
          <a:p xmlns:a="http://schemas.openxmlformats.org/drawingml/2006/main">
            <a:r>
              <a:t>      "address": "강원특별자치도 춘천시 남산면 남이섬길 1",</a:t>
            </a:r>
          </a:p>
          <a:p xmlns:a="http://schemas.openxmlformats.org/drawingml/2006/main">
            <a:r>
              <a:t>      "summary": "한국관광공사 국문관광정보 API가 반환한 선택 지역 관광자원",</a:t>
            </a:r>
          </a:p>
          <a:p xmlns:a="http://schemas.openxmlformats.org/drawingml/2006/main">
            <a:r>
              <a:t>      "image_url": "http://tong.visitkorea.or.kr/cms/resource/92/2919892_image2_1.jpg",</a:t>
            </a:r>
          </a:p>
          <a:p xmlns:a="http://schemas.openxmlformats.org/drawingml/2006/main">
            <a:r>
              <a:t>      "source_id": "tour-api:2558052",</a:t>
            </a:r>
          </a:p>
          <a:p xmlns:a="http://schemas.openxmlformats.org/drawingml/2006/main">
            <a:r>
              <a:t>      "content_id": "2558052",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"공지천 조각공원",</a:t>
            </a:r>
          </a:p>
          <a:p xmlns:a="http://schemas.openxmlformats.org/drawingml/2006/main">
            <a:r>
              <a:t>      "address": "강원특별자치도 춘천시 옛경춘로 880 (근화동)",</a:t>
            </a:r>
          </a:p>
          <a:p xmlns:a="http://schemas.openxmlformats.org/drawingml/2006/main">
            <a:r>
              <a:t>      "summary": "한국관광공사 국문관광정보 API가 반환한 선택 지역 관광자원",</a:t>
            </a:r>
          </a:p>
          <a:p xmlns:a="http://schemas.openxmlformats.org/drawingml/2006/main">
            <a:r>
              <a:t>      "image_url": "http://tong.visitkorea.or.kr/cms/resource/31/3072531_image2_1.jpg",</a:t>
            </a:r>
          </a:p>
          <a:p xmlns:a="http://schemas.openxmlformats.org/drawingml/2006/main">
            <a:r>
              <a:t>      "source_id": "tour-api:129004",</a:t>
            </a:r>
          </a:p>
          <a:p xmlns:a="http://schemas.openxmlformats.org/drawingml/2006/main">
            <a:r>
              <a:t>      "content_id": "129004",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"구곡폭포 국민여가 캠핑장",</a:t>
            </a:r>
          </a:p>
          <a:p xmlns:a="http://schemas.openxmlformats.org/drawingml/2006/main">
            <a:r>
              <a:t>      "address": "강원특별자치도 춘천시 남산면 강촌구곡길 324",</a:t>
            </a:r>
          </a:p>
          <a:p xmlns:a="http://schemas.openxmlformats.org/drawingml/2006/main">
            <a:r>
              <a:t>      "summary": "한국관광공사 국문관광정보 API가 반환한 선택 지역 관광자원",</a:t>
            </a:r>
          </a:p>
          <a:p xmlns:a="http://schemas.openxmlformats.org/drawingml/2006/main">
            <a:r>
              <a:t>      "image_url": "http://tong.visitkorea.or.kr/cms/resource/70/2793870_image2_1.jpg",</a:t>
            </a:r>
          </a:p>
          <a:p xmlns:a="http://schemas.openxmlformats.org/drawingml/2006/main">
            <a:r>
              <a:t>      "source_id": "tour-api:2792017",</a:t>
            </a:r>
          </a:p>
          <a:p xmlns:a="http://schemas.openxmlformats.org/drawingml/2006/main">
            <a:r>
              <a:t>      "content_id": "2792017",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"28"</a:t>
            </a:r>
          </a:p>
          <a:p xmlns:a="http://schemas.openxmlformats.org/drawingml/2006/main">
            <a:r>
              <a:t>    },</a:t>
            </a:r>
          </a:p>
          <a:p xmlns:a="http://schemas.openxmlformats.org/drawingml/2006/main">
            <a:r>
              <a:t>    {</a:t>
            </a:r>
          </a:p>
          <a:p xmlns:a="http://schemas.openxmlformats.org/drawingml/2006/main">
            <a:r>
              <a:t>      "title": "구봉산",</a:t>
            </a:r>
          </a:p>
          <a:p xmlns:a="http://schemas.openxmlformats.org/drawingml/2006/main">
            <a:r>
              <a:t>      "address": "강원특별자치도 춘천시 동면 순환대로 1154-115",</a:t>
            </a:r>
          </a:p>
          <a:p xmlns:a="http://schemas.openxmlformats.org/drawingml/2006/main">
            <a:r>
              <a:t>      "summary": "한국관광공사 국문관광정보 API가 반환한 선택 지역 관광자원",</a:t>
            </a:r>
          </a:p>
          <a:p xmlns:a="http://schemas.openxmlformats.org/drawingml/2006/main">
            <a:r>
              <a:t>      "image_url": "http://tong.visitkorea.or.kr/cms/resource/54/529954_image2_1.jpg",</a:t>
            </a:r>
          </a:p>
          <a:p xmlns:a="http://schemas.openxmlformats.org/drawingml/2006/main">
            <a:r>
              <a:t>      "source_id": "tour-api:2714558",</a:t>
            </a:r>
          </a:p>
          <a:p xmlns:a="http://schemas.openxmlformats.org/drawingml/2006/main">
            <a:r>
              <a:t>      "content_id": "2714558",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"국립 용화산자연휴양림",</a:t>
            </a:r>
          </a:p>
          <a:p xmlns:a="http://schemas.openxmlformats.org/drawingml/2006/main">
            <a:r>
              <a:t>      "address": "강원특별자치도 춘천시 사북면 사여골길 294",</a:t>
            </a:r>
          </a:p>
          <a:p xmlns:a="http://schemas.openxmlformats.org/drawingml/2006/main">
            <a:r>
              <a:t>      "summary": "한국관광공사 국문관광정보 API가 반환한 선택 지역 관광자원",</a:t>
            </a:r>
          </a:p>
          <a:p xmlns:a="http://schemas.openxmlformats.org/drawingml/2006/main">
            <a:r>
              <a:t>      "image_url": "http://tong.visitkorea.or.kr/cms/resource/90/3351390_image2_1.jpg",</a:t>
            </a:r>
          </a:p>
          <a:p xmlns:a="http://schemas.openxmlformats.org/drawingml/2006/main">
            <a:r>
              <a:t>      "source_id": "tour-api:407225",</a:t>
            </a:r>
          </a:p>
          <a:p xmlns:a="http://schemas.openxmlformats.org/drawingml/2006/main">
            <a:r>
              <a:t>      "content_id": "407225",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"국립춘천숲체원",</a:t>
            </a:r>
          </a:p>
          <a:p xmlns:a="http://schemas.openxmlformats.org/drawingml/2006/main">
            <a:r>
              <a:t>      "address": "강원특별자치도 춘천시 신북읍 장본2길 331",</a:t>
            </a:r>
          </a:p>
          <a:p xmlns:a="http://schemas.openxmlformats.org/drawingml/2006/main">
            <a:r>
              <a:t>      "summary": "한국관광공사 국문관광정보 API가 반환한 선택 지역 관광자원",</a:t>
            </a:r>
          </a:p>
          <a:p xmlns:a="http://schemas.openxmlformats.org/drawingml/2006/main">
            <a:r>
              <a:t>      "image_url": "http://tong.visitkorea.or.kr/cms/resource/86/3439986_image2_1.jpg",</a:t>
            </a:r>
          </a:p>
          <a:p xmlns:a="http://schemas.openxmlformats.org/drawingml/2006/main">
            <a:r>
              <a:t>      "source_id": "tour-api:2710587",</a:t>
            </a:r>
          </a:p>
          <a:p xmlns:a="http://schemas.openxmlformats.org/drawingml/2006/main">
            <a:r>
              <a:t>      "content_id": "2710587",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"군자숯불닭갈비",</a:t>
            </a:r>
          </a:p>
          <a:p xmlns:a="http://schemas.openxmlformats.org/drawingml/2006/main">
            <a:r>
              <a:t>      "address": "강원특별자치도 춘천시 동산면 종자리로 148-8",</a:t>
            </a:r>
          </a:p>
          <a:p xmlns:a="http://schemas.openxmlformats.org/drawingml/2006/main">
            <a:r>
              <a:t>      "summary": "한국관광공사 국문관광정보 API가 반환한 선택 지역 관광자원",</a:t>
            </a:r>
          </a:p>
          <a:p xmlns:a="http://schemas.openxmlformats.org/drawingml/2006/main">
            <a:r>
              <a:t>      "image_url": "http://tong.visitkorea.or.kr/cms/resource/65/2776965_image2_1.JPG",</a:t>
            </a:r>
          </a:p>
          <a:p xmlns:a="http://schemas.openxmlformats.org/drawingml/2006/main">
            <a:r>
              <a:t>      "source_id": "tour-api:2774528",</a:t>
            </a:r>
          </a:p>
          <a:p xmlns:a="http://schemas.openxmlformats.org/drawingml/2006/main">
            <a:r>
              <a:t>      "content_id": "2774528",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"근화동396청년창업공간",</a:t>
            </a:r>
          </a:p>
          <a:p xmlns:a="http://schemas.openxmlformats.org/drawingml/2006/main">
            <a:r>
              <a:t>      "address": "강원특별자치도 춘천시 중앙로 186",</a:t>
            </a:r>
          </a:p>
          <a:p xmlns:a="http://schemas.openxmlformats.org/drawingml/2006/main">
            <a:r>
              <a:t>      "summary": "한국관광공사 국문관광정보 API가 반환한 선택 지역 관광자원",</a:t>
            </a:r>
          </a:p>
          <a:p xmlns:a="http://schemas.openxmlformats.org/drawingml/2006/main">
            <a:r>
              <a:t>      "image_url": "http://tong.visitkorea.or.kr/cms/resource/18/3351718_image2_1.jpg",</a:t>
            </a:r>
          </a:p>
          <a:p xmlns:a="http://schemas.openxmlformats.org/drawingml/2006/main">
            <a:r>
              <a:t>      "source_id": "tour-api:2710596",</a:t>
            </a:r>
          </a:p>
          <a:p xmlns:a="http://schemas.openxmlformats.org/drawingml/2006/main">
            <a:r>
              <a:t>      "content_id": "2710596",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"실행",</a:t>
            </a:r>
          </a:p>
          <a:p xmlns:a="http://schemas.openxmlformats.org/drawingml/2006/main">
            <a:r>
              <a:t>        "연결한",</a:t>
            </a:r>
          </a:p>
          <a:p xmlns:a="http://schemas.openxmlformats.org/drawingml/2006/main">
            <a:r>
              <a:t>        "연계",</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43쪽, PDF 38쪽, PDF 40쪽, PDF 41쪽, PDF 36쪽, PDF 41쪽, PDF 44쪽, PDF 43쪽,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"reference:kto:2026:local-airport:page:038:chunk:01",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"reference:kto:2026:local-airport:page:044:chunk:02"</a:t>
            </a:r>
          </a:p>
          <a:p xmlns:a="http://schemas.openxmlformats.org/drawingml/2006/main">
            <a:r>
              <a:t>      ],</a:t>
            </a:r>
          </a:p>
          <a:p xmlns:a="http://schemas.openxmlformats.org/drawingml/2006/main">
            <a:r>
              <a:t>      "source_chunk_count": 10</a:t>
            </a:r>
          </a:p>
          <a:p xmlns:a="http://schemas.openxmlformats.org/drawingml/2006/main">
            <a:r>
              <a:t>    },</a:t>
            </a:r>
          </a:p>
          <a:p xmlns:a="http://schemas.openxmlformats.org/drawingml/2006/main">
            <a:r>
              <a:t>    {</a:t>
            </a:r>
          </a:p>
          <a:p xmlns:a="http://schemas.openxmlformats.org/drawingml/2006/main">
            <a:r>
              <a:t>      "title": "전주시 2026년도 관광산업과 세출예산 사업명세서",</a:t>
            </a:r>
          </a:p>
          <a:p xmlns:a="http://schemas.openxmlformats.org/drawingml/2006/main">
            <a:r>
              <a:t>      "summary": "전북특별자치도 전주시 · 야간관광 특화도시 예산 편성 · 예산서이므로 방문·소비 성과는 확인되지 않음",</a:t>
            </a:r>
          </a:p>
          <a:p xmlns:a="http://schemas.openxmlformats.org/drawingml/2006/main">
            <a:r>
              <a:t>      "source_id": "case:jeonju_night_budget_2026",</a:t>
            </a:r>
          </a:p>
          <a:p xmlns:a="http://schemas.openxmlformats.org/drawingml/2006/main">
            <a:r>
              <a:t>      "source_url": "https://jeonju.go.kr/resource/www/images/download/budget/2026/2026_31_2.pdf",</a:t>
            </a:r>
          </a:p>
          <a:p xmlns:a="http://schemas.openxmlformats.org/drawingml/2006/main">
            <a:r>
              <a:t>      "case_region": "전북특별자치도 전주시",</a:t>
            </a:r>
          </a:p>
          <a:p xmlns:a="http://schemas.openxmlformats.org/drawingml/2006/main">
            <a:r>
              <a:t>      "source_type": "benchmark_case",</a:t>
            </a:r>
          </a:p>
          <a:p xmlns:a="http://schemas.openxmlformats.org/drawingml/2006/main">
            <a:r>
              <a:t>      "intervention": "야간관광 특화도시 예산 편성",</a:t>
            </a:r>
          </a:p>
          <a:p xmlns:a="http://schemas.openxmlformats.org/drawingml/2006/main">
            <a:r>
              <a:t>      "operating_model": "사무관리, 행사운영, 연구용역, 민간경상보조 등으로 사업비를 항목별 편성",</a:t>
            </a:r>
          </a:p>
          <a:p xmlns:a="http://schemas.openxmlformats.org/drawingml/2006/main">
            <a:r>
              <a:t>      "evidence_strength": "high",</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"섬에서의 특별한 경험, ‘인천 섬 도도하게 살아보기’로 누린다",</a:t>
            </a:r>
          </a:p>
          <a:p xmlns:a="http://schemas.openxmlformats.org/drawingml/2006/main">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xmlns:a="http://schemas.openxmlformats.org/drawingml/2006/main">
            <a:r>
              <a:t>      "source_id": "case:291a33370ec9b1",</a:t>
            </a:r>
          </a:p>
          <a:p xmlns:a="http://schemas.openxmlformats.org/drawingml/2006/main">
            <a:r>
              <a:t>      "source_url": "https://www.incheon.go.kr/mayor_8/MA040101/view?curPage=236&amp;repSeq=DOM_0000000010488055",</a:t>
            </a:r>
          </a:p>
          <a:p xmlns:a="http://schemas.openxmlformats.org/drawingml/2006/main">
            <a:r>
              <a:t>      "case_region": "인천광역시 강화군·옹진군 소재 섬",</a:t>
            </a:r>
          </a:p>
          <a:p xmlns:a="http://schemas.openxmlformats.org/drawingml/2006/main">
            <a:r>
              <a:t>      "source_type": "benchmark_case",</a:t>
            </a:r>
          </a:p>
          <a:p xmlns:a="http://schemas.openxmlformats.org/drawingml/2006/main">
            <a:r>
              <a:t>      "intervention": "인천 섬 도도하게 살아보기—주민 숙박·식사·체험을 묶은 예약형 체류상품",</a:t>
            </a:r>
          </a:p>
          <a:p xmlns:a="http://schemas.openxmlformats.org/drawingml/2006/main">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xmlns:a="http://schemas.openxmlformats.org/drawingml/2006/main">
            <a:r>
              <a:t>      "evidence_strength": "medium",</a:t>
            </a:r>
          </a:p>
          <a:p xmlns:a="http://schemas.openxmlformats.org/drawingml/2006/main">
            <a:r>
              <a:t>      "published_or_updated_at": "2024-08-12",</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"강진 반값여행 지역경제 효과 소개",</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"source_id": "case:gangjin_half_price_2024",</a:t>
            </a:r>
          </a:p>
          <a:p xmlns:a="http://schemas.openxmlformats.org/drawingml/2006/main">
            <a:r>
              <a:t>      "source_url": "https://jnfarm.jeonnam.go.kr/board/FARM_BOARD_008/boardView.do?bdId=BD_00000000000011721&amp;menuCd=farm004002",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"published_or_updated_at": "2025-01-02",</a:t>
            </a:r>
          </a:p>
          <a:p xmlns:a="http://schemas.openxmlformats.org/drawingml/2006/main">
            <a:r>
              <a:t>      "quantitative_result_approved": false</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"2024년도 정부업무평가 관광분야 성과자료",</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"source_id": "case:night_tourism_cities_2024",</a:t>
            </a:r>
          </a:p>
          <a:p xmlns:a="http://schemas.openxmlformats.org/drawingml/2006/main">
            <a:r>
              <a:t>      "source_url": "https://www.evaluation.go.kr/upload2/atch/eval/20250429095846463.pdf",</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"published_or_updated_at": "2025-04-29",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"202609",</a:t>
            </a:r>
          </a:p>
          <a:p xmlns:a="http://schemas.openxmlformats.org/drawingml/2006/main">
            <a:r>
              <a:t>        "visitors": 1948014.0,</a:t>
            </a:r>
          </a:p>
          <a:p xmlns:a="http://schemas.openxmlformats.org/drawingml/2006/main">
            <a:r>
              <a:t>        "is_forecast": true,</a:t>
            </a:r>
          </a:p>
          <a:p xmlns:a="http://schemas.openxmlformats.org/drawingml/2006/main">
            <a:r>
              <a:t>        "spending_krw": 44854616000.0,</a:t>
            </a:r>
          </a:p>
          <a:p xmlns:a="http://schemas.openxmlformats.org/drawingml/2006/main">
            <a:r>
              <a:t>        "stay_minutes": 2803.0,</a:t>
            </a:r>
          </a:p>
          <a:p xmlns:a="http://schemas.openxmlformats.org/drawingml/2006/main">
            <a:r>
              <a:t>        "lodging_nights": 2.89,</a:t>
            </a:r>
          </a:p>
          <a:p xmlns:a="http://schemas.openxmlformats.org/drawingml/2006/main">
            <a:r>
              <a:t>        "lodging_rate_pct": 14.2,</a:t>
            </a:r>
          </a:p>
          <a:p xmlns:a="http://schemas.openxmlformats.org/drawingml/2006/main">
            <a:r>
              <a:t>        "lodging_searches": 26980,</a:t>
            </a:r>
          </a:p>
          <a:p xmlns:a="http://schemas.openxmlformats.org/drawingml/2006/main">
            <a:r>
              <a:t>        "navigation_searches": 279694,</a:t>
            </a:r>
          </a:p>
          <a:p xmlns:a="http://schemas.openxmlformats.org/drawingml/2006/main">
            <a:r>
              <a:t>        "visitor_yoy_percent": -3.61,</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2021001,</a:t>
            </a:r>
          </a:p>
          <a:p xmlns:a="http://schemas.openxmlformats.org/drawingml/2006/main">
            <a:r>
              <a:t>        "previous_year_spending_krw": 44854616000,</a:t>
            </a:r>
          </a:p>
          <a:p xmlns:a="http://schemas.openxmlformats.org/drawingml/2006/main">
            <a:r>
              <a:t>        "previous_year_stay_minutes": 2803.0,</a:t>
            </a:r>
          </a:p>
          <a:p xmlns:a="http://schemas.openxmlformats.org/drawingml/2006/main">
            <a:r>
              <a:t>        "previous_year_lodging_nights": 2.89,</a:t>
            </a:r>
          </a:p>
          <a:p xmlns:a="http://schemas.openxmlformats.org/drawingml/2006/main">
            <a:r>
              <a:t>        "previous_year_lodging_rate_pct": 14.2,</a:t>
            </a:r>
          </a:p>
          <a:p xmlns:a="http://schemas.openxmlformats.org/drawingml/2006/main">
            <a:r>
              <a:t>        "previous_year_lodging_searches": 26980,</a:t>
            </a:r>
          </a:p>
          <a:p xmlns:a="http://schemas.openxmlformats.org/drawingml/2006/main">
            <a:r>
              <a:t>        "previous_year_navigation_searches": 279694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2278280.0,</a:t>
            </a:r>
          </a:p>
          <a:p xmlns:a="http://schemas.openxmlformats.org/drawingml/2006/main">
            <a:r>
              <a:t>        "is_forecast": true,</a:t>
            </a:r>
          </a:p>
          <a:p xmlns:a="http://schemas.openxmlformats.org/drawingml/2006/main">
            <a:r>
              <a:t>        "spending_krw": 59504900000.0,</a:t>
            </a:r>
          </a:p>
          <a:p xmlns:a="http://schemas.openxmlformats.org/drawingml/2006/main">
            <a:r>
              <a:t>        "stay_minutes": 1597.0,</a:t>
            </a:r>
          </a:p>
          <a:p xmlns:a="http://schemas.openxmlformats.org/drawingml/2006/main">
            <a:r>
              <a:t>        "lodging_nights": 2.69,</a:t>
            </a:r>
          </a:p>
          <a:p xmlns:a="http://schemas.openxmlformats.org/drawingml/2006/main">
            <a:r>
              <a:t>        "lodging_rate_pct": 16.8,</a:t>
            </a:r>
          </a:p>
          <a:p xmlns:a="http://schemas.openxmlformats.org/drawingml/2006/main">
            <a:r>
              <a:t>        "lodging_searches": 58111,</a:t>
            </a:r>
          </a:p>
          <a:p xmlns:a="http://schemas.openxmlformats.org/drawingml/2006/main">
            <a:r>
              <a:t>        "navigation_searches": 584663,</a:t>
            </a:r>
          </a:p>
          <a:p xmlns:a="http://schemas.openxmlformats.org/drawingml/2006/main">
            <a:r>
              <a:t>        "visitor_yoy_percent": -5.58,</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2412798,</a:t>
            </a:r>
          </a:p>
          <a:p xmlns:a="http://schemas.openxmlformats.org/drawingml/2006/main">
            <a:r>
              <a:t>        "previous_year_spending_krw": 59504900000,</a:t>
            </a:r>
          </a:p>
          <a:p xmlns:a="http://schemas.openxmlformats.org/drawingml/2006/main">
            <a:r>
              <a:t>        "previous_year_stay_minutes": 1597.0,</a:t>
            </a:r>
          </a:p>
          <a:p xmlns:a="http://schemas.openxmlformats.org/drawingml/2006/main">
            <a:r>
              <a:t>        "previous_year_lodging_nights": 2.69,</a:t>
            </a:r>
          </a:p>
          <a:p xmlns:a="http://schemas.openxmlformats.org/drawingml/2006/main">
            <a:r>
              <a:t>        "previous_year_lodging_rate_pct": 16.8,</a:t>
            </a:r>
          </a:p>
          <a:p xmlns:a="http://schemas.openxmlformats.org/drawingml/2006/main">
            <a:r>
              <a:t>        "previous_year_lodging_searches": 58111,</a:t>
            </a:r>
          </a:p>
          <a:p xmlns:a="http://schemas.openxmlformats.org/drawingml/2006/main">
            <a:r>
              <a:t>        "previous_year_navigation_searches": 584663</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2018187.0,</a:t>
            </a:r>
          </a:p>
          <a:p xmlns:a="http://schemas.openxmlformats.org/drawingml/2006/main">
            <a:r>
              <a:t>        "is_forecast": true,</a:t>
            </a:r>
          </a:p>
          <a:p xmlns:a="http://schemas.openxmlformats.org/drawingml/2006/main">
            <a:r>
              <a:t>        "spending_krw": 50330837000.0,</a:t>
            </a:r>
          </a:p>
          <a:p xmlns:a="http://schemas.openxmlformats.org/drawingml/2006/main">
            <a:r>
              <a:t>        "stay_minutes": 1501.0,</a:t>
            </a:r>
          </a:p>
          <a:p xmlns:a="http://schemas.openxmlformats.org/drawingml/2006/main">
            <a:r>
              <a:t>        "lodging_nights": 2.62,</a:t>
            </a:r>
          </a:p>
          <a:p xmlns:a="http://schemas.openxmlformats.org/drawingml/2006/main">
            <a:r>
              <a:t>        "lodging_rate_pct": 13.4,</a:t>
            </a:r>
          </a:p>
          <a:p xmlns:a="http://schemas.openxmlformats.org/drawingml/2006/main">
            <a:r>
              <a:t>        "lodging_searches": 30423,</a:t>
            </a:r>
          </a:p>
          <a:p xmlns:a="http://schemas.openxmlformats.org/drawingml/2006/main">
            <a:r>
              <a:t>        "navigation_searches": 322218,</a:t>
            </a:r>
          </a:p>
          <a:p xmlns:a="http://schemas.openxmlformats.org/drawingml/2006/main">
            <a:r>
              <a:t>        "visitor_yoy_percent": -1.67,</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2052480,</a:t>
            </a:r>
          </a:p>
          <a:p xmlns:a="http://schemas.openxmlformats.org/drawingml/2006/main">
            <a:r>
              <a:t>        "previous_year_spending_krw": 50330837000,</a:t>
            </a:r>
          </a:p>
          <a:p xmlns:a="http://schemas.openxmlformats.org/drawingml/2006/main">
            <a:r>
              <a:t>        "previous_year_stay_minutes": 1501.0,</a:t>
            </a:r>
          </a:p>
          <a:p xmlns:a="http://schemas.openxmlformats.org/drawingml/2006/main">
            <a:r>
              <a:t>        "previous_year_lodging_nights": 2.62,</a:t>
            </a:r>
          </a:p>
          <a:p xmlns:a="http://schemas.openxmlformats.org/drawingml/2006/main">
            <a:r>
              <a:t>        "previous_year_lodging_rate_pct": 13.4,</a:t>
            </a:r>
          </a:p>
          <a:p xmlns:a="http://schemas.openxmlformats.org/drawingml/2006/main">
            <a:r>
              <a:t>        "previous_year_lodging_searches": 30423,</a:t>
            </a:r>
          </a:p>
          <a:p xmlns:a="http://schemas.openxmlformats.org/drawingml/2006/main">
            <a:r>
              <a:t>        "previous_year_navigation_searches": 322218</a:t>
            </a:r>
          </a:p>
          <a:p xmlns:a="http://schemas.openxmlformats.org/drawingml/2006/main">
            <a:r>
              <a:t>      }</a:t>
            </a:r>
          </a:p>
          <a:p xmlns:a="http://schemas.openxmlformats.org/drawingml/2006/main">
            <a:r>
              <a:t>    ],</a:t>
            </a:r>
          </a:p>
          <a:p xmlns:a="http://schemas.openxmlformats.org/drawingml/2006/main">
            <a:r>
              <a:t>    "period": "202609~202611",</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"strategy_timeframe",</a:t>
            </a:r>
          </a:p>
          <a:p xmlns:a="http://schemas.openxmlformats.org/drawingml/2006/main">
            <a:r>
              <a:t>    "requested_period": "202609~202611"</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1935310,</a:t>
            </a:r>
          </a:p>
          <a:p xmlns:a="http://schemas.openxmlformats.org/drawingml/2006/main">
            <a:r>
              <a:t>      "is_forecast": true,</a:t>
            </a:r>
          </a:p>
          <a:p xmlns:a="http://schemas.openxmlformats.org/drawingml/2006/main">
            <a:r>
              <a:t>      "spending_krw": 46823670000,</a:t>
            </a:r>
          </a:p>
          <a:p xmlns:a="http://schemas.openxmlformats.org/drawingml/2006/main">
            <a:r>
              <a:t>      "stay_minutes": 1818.0,</a:t>
            </a:r>
          </a:p>
          <a:p xmlns:a="http://schemas.openxmlformats.org/drawingml/2006/main">
            <a:r>
              <a:t>      "lodging_nights": 2.62,</a:t>
            </a:r>
          </a:p>
          <a:p xmlns:a="http://schemas.openxmlformats.org/drawingml/2006/main">
            <a:r>
              <a:t>      "lodging_rate_pct": 16.7,</a:t>
            </a:r>
          </a:p>
          <a:p xmlns:a="http://schemas.openxmlformats.org/drawingml/2006/main">
            <a:r>
              <a:t>      "lodging_searches": 35770,</a:t>
            </a:r>
          </a:p>
          <a:p xmlns:a="http://schemas.openxmlformats.org/drawingml/2006/main">
            <a:r>
              <a:t>      "navigation_searches": 320422,</a:t>
            </a:r>
          </a:p>
          <a:p xmlns:a="http://schemas.openxmlformats.org/drawingml/2006/main">
            <a:r>
              <a:t>      "visitor_yoy_percent": -2.93,</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1993752,</a:t>
            </a:r>
          </a:p>
          <a:p xmlns:a="http://schemas.openxmlformats.org/drawingml/2006/main">
            <a:r>
              <a:t>      "previous_year_spending_krw": 46823670000,</a:t>
            </a:r>
          </a:p>
          <a:p xmlns:a="http://schemas.openxmlformats.org/drawingml/2006/main">
            <a:r>
              <a:t>      "previous_year_stay_minutes": 1818.0,</a:t>
            </a:r>
          </a:p>
          <a:p xmlns:a="http://schemas.openxmlformats.org/drawingml/2006/main">
            <a:r>
              <a:t>      "previous_year_lodging_nights": 2.62,</a:t>
            </a:r>
          </a:p>
          <a:p xmlns:a="http://schemas.openxmlformats.org/drawingml/2006/main">
            <a:r>
              <a:t>      "previous_year_lodging_rate_pct": 16.7,</a:t>
            </a:r>
          </a:p>
          <a:p xmlns:a="http://schemas.openxmlformats.org/drawingml/2006/main">
            <a:r>
              <a:t>      "previous_year_lodging_searches": 35770,</a:t>
            </a:r>
          </a:p>
          <a:p xmlns:a="http://schemas.openxmlformats.org/drawingml/2006/main">
            <a:r>
              <a:t>      "previous_year_navigation_searches": 320422</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2139254,</a:t>
            </a:r>
          </a:p>
          <a:p xmlns:a="http://schemas.openxmlformats.org/drawingml/2006/main">
            <a:r>
              <a:t>      "is_forecast": true,</a:t>
            </a:r>
          </a:p>
          <a:p xmlns:a="http://schemas.openxmlformats.org/drawingml/2006/main">
            <a:r>
              <a:t>      "spending_krw": 51770552000,</a:t>
            </a:r>
          </a:p>
          <a:p xmlns:a="http://schemas.openxmlformats.org/drawingml/2006/main">
            <a:r>
              <a:t>      "stay_minutes": 1673.0,</a:t>
            </a:r>
          </a:p>
          <a:p xmlns:a="http://schemas.openxmlformats.org/drawingml/2006/main">
            <a:r>
              <a:t>      "lodging_nights": 2.58,</a:t>
            </a:r>
          </a:p>
          <a:p xmlns:a="http://schemas.openxmlformats.org/drawingml/2006/main">
            <a:r>
              <a:t>      "lodging_rate_pct": 17.5,</a:t>
            </a:r>
          </a:p>
          <a:p xmlns:a="http://schemas.openxmlformats.org/drawingml/2006/main">
            <a:r>
              <a:t>      "lodging_searches": 42261,</a:t>
            </a:r>
          </a:p>
          <a:p xmlns:a="http://schemas.openxmlformats.org/drawingml/2006/main">
            <a:r>
              <a:t>      "navigation_searches": 378299,</a:t>
            </a:r>
          </a:p>
          <a:p xmlns:a="http://schemas.openxmlformats.org/drawingml/2006/main">
            <a:r>
              <a:t>      "visitor_yoy_percent": -5.08,</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2253751,</a:t>
            </a:r>
          </a:p>
          <a:p xmlns:a="http://schemas.openxmlformats.org/drawingml/2006/main">
            <a:r>
              <a:t>      "previous_year_spending_krw": 51770552000,</a:t>
            </a:r>
          </a:p>
          <a:p xmlns:a="http://schemas.openxmlformats.org/drawingml/2006/main">
            <a:r>
              <a:t>      "previous_year_stay_minutes": 1673.0,</a:t>
            </a:r>
          </a:p>
          <a:p xmlns:a="http://schemas.openxmlformats.org/drawingml/2006/main">
            <a:r>
              <a:t>      "previous_year_lodging_nights": 2.58,</a:t>
            </a:r>
          </a:p>
          <a:p xmlns:a="http://schemas.openxmlformats.org/drawingml/2006/main">
            <a:r>
              <a:t>      "previous_year_lodging_rate_pct": 17.5,</a:t>
            </a:r>
          </a:p>
          <a:p xmlns:a="http://schemas.openxmlformats.org/drawingml/2006/main">
            <a:r>
              <a:t>      "previous_year_lodging_searches": 42261,</a:t>
            </a:r>
          </a:p>
          <a:p xmlns:a="http://schemas.openxmlformats.org/drawingml/2006/main">
            <a:r>
              <a:t>      "previous_year_navigation_searches": 378299</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1948014,</a:t>
            </a:r>
          </a:p>
          <a:p xmlns:a="http://schemas.openxmlformats.org/drawingml/2006/main">
            <a:r>
              <a:t>      "is_forecast": true,</a:t>
            </a:r>
          </a:p>
          <a:p xmlns:a="http://schemas.openxmlformats.org/drawingml/2006/main">
            <a:r>
              <a:t>      "spending_krw": 44854616000,</a:t>
            </a:r>
          </a:p>
          <a:p xmlns:a="http://schemas.openxmlformats.org/drawingml/2006/main">
            <a:r>
              <a:t>      "stay_minutes": 2803.0,</a:t>
            </a:r>
          </a:p>
          <a:p xmlns:a="http://schemas.openxmlformats.org/drawingml/2006/main">
            <a:r>
              <a:t>      "lodging_nights": 2.89,</a:t>
            </a:r>
          </a:p>
          <a:p xmlns:a="http://schemas.openxmlformats.org/drawingml/2006/main">
            <a:r>
              <a:t>      "lodging_rate_pct": 14.2,</a:t>
            </a:r>
          </a:p>
          <a:p xmlns:a="http://schemas.openxmlformats.org/drawingml/2006/main">
            <a:r>
              <a:t>      "lodging_searches": 26980,</a:t>
            </a:r>
          </a:p>
          <a:p xmlns:a="http://schemas.openxmlformats.org/drawingml/2006/main">
            <a:r>
              <a:t>      "navigation_searches": 279694,</a:t>
            </a:r>
          </a:p>
          <a:p xmlns:a="http://schemas.openxmlformats.org/drawingml/2006/main">
            <a:r>
              <a:t>      "visitor_yoy_percent": -3.61,</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2021001,</a:t>
            </a:r>
          </a:p>
          <a:p xmlns:a="http://schemas.openxmlformats.org/drawingml/2006/main">
            <a:r>
              <a:t>      "previous_year_spending_krw": 44854616000,</a:t>
            </a:r>
          </a:p>
          <a:p xmlns:a="http://schemas.openxmlformats.org/drawingml/2006/main">
            <a:r>
              <a:t>      "previous_year_stay_minutes": 2803.0,</a:t>
            </a:r>
          </a:p>
          <a:p xmlns:a="http://schemas.openxmlformats.org/drawingml/2006/main">
            <a:r>
              <a:t>      "previous_year_lodging_nights": 2.89,</a:t>
            </a:r>
          </a:p>
          <a:p xmlns:a="http://schemas.openxmlformats.org/drawingml/2006/main">
            <a:r>
              <a:t>      "previous_year_lodging_rate_pct": 14.2,</a:t>
            </a:r>
          </a:p>
          <a:p xmlns:a="http://schemas.openxmlformats.org/drawingml/2006/main">
            <a:r>
              <a:t>      "previous_year_lodging_searches": 26980,</a:t>
            </a:r>
          </a:p>
          <a:p xmlns:a="http://schemas.openxmlformats.org/drawingml/2006/main">
            <a:r>
              <a:t>      "previous_year_navigation_searches": 279694</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2278280,</a:t>
            </a:r>
          </a:p>
          <a:p xmlns:a="http://schemas.openxmlformats.org/drawingml/2006/main">
            <a:r>
              <a:t>      "is_forecast": true,</a:t>
            </a:r>
          </a:p>
          <a:p xmlns:a="http://schemas.openxmlformats.org/drawingml/2006/main">
            <a:r>
              <a:t>      "spending_krw": 59504900000,</a:t>
            </a:r>
          </a:p>
          <a:p xmlns:a="http://schemas.openxmlformats.org/drawingml/2006/main">
            <a:r>
              <a:t>      "stay_minutes": 1597.0,</a:t>
            </a:r>
          </a:p>
          <a:p xmlns:a="http://schemas.openxmlformats.org/drawingml/2006/main">
            <a:r>
              <a:t>      "lodging_nights": 2.69,</a:t>
            </a:r>
          </a:p>
          <a:p xmlns:a="http://schemas.openxmlformats.org/drawingml/2006/main">
            <a:r>
              <a:t>      "lodging_rate_pct": 16.8,</a:t>
            </a:r>
          </a:p>
          <a:p xmlns:a="http://schemas.openxmlformats.org/drawingml/2006/main">
            <a:r>
              <a:t>      "lodging_searches": 58111,</a:t>
            </a:r>
          </a:p>
          <a:p xmlns:a="http://schemas.openxmlformats.org/drawingml/2006/main">
            <a:r>
              <a:t>      "navigation_searches": 584663,</a:t>
            </a:r>
          </a:p>
          <a:p xmlns:a="http://schemas.openxmlformats.org/drawingml/2006/main">
            <a:r>
              <a:t>      "visitor_yoy_percent": -5.58,</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2412798,</a:t>
            </a:r>
          </a:p>
          <a:p xmlns:a="http://schemas.openxmlformats.org/drawingml/2006/main">
            <a:r>
              <a:t>      "previous_year_spending_krw": 59504900000,</a:t>
            </a:r>
          </a:p>
          <a:p xmlns:a="http://schemas.openxmlformats.org/drawingml/2006/main">
            <a:r>
              <a:t>      "previous_year_stay_minutes": 1597.0,</a:t>
            </a:r>
          </a:p>
          <a:p xmlns:a="http://schemas.openxmlformats.org/drawingml/2006/main">
            <a:r>
              <a:t>      "previous_year_lodging_nights": 2.69,</a:t>
            </a:r>
          </a:p>
          <a:p xmlns:a="http://schemas.openxmlformats.org/drawingml/2006/main">
            <a:r>
              <a:t>      "previous_year_lodging_rate_pct": 16.8,</a:t>
            </a:r>
          </a:p>
          <a:p xmlns:a="http://schemas.openxmlformats.org/drawingml/2006/main">
            <a:r>
              <a:t>      "previous_year_lodging_searches": 58111,</a:t>
            </a:r>
          </a:p>
          <a:p xmlns:a="http://schemas.openxmlformats.org/drawingml/2006/main">
            <a:r>
              <a:t>      "previous_year_navigation_searches": 584663</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2018187,</a:t>
            </a:r>
          </a:p>
          <a:p xmlns:a="http://schemas.openxmlformats.org/drawingml/2006/main">
            <a:r>
              <a:t>      "is_forecast": true,</a:t>
            </a:r>
          </a:p>
          <a:p xmlns:a="http://schemas.openxmlformats.org/drawingml/2006/main">
            <a:r>
              <a:t>      "spending_krw": 50330837000,</a:t>
            </a:r>
          </a:p>
          <a:p xmlns:a="http://schemas.openxmlformats.org/drawingml/2006/main">
            <a:r>
              <a:t>      "stay_minutes": 1501.0,</a:t>
            </a:r>
          </a:p>
          <a:p xmlns:a="http://schemas.openxmlformats.org/drawingml/2006/main">
            <a:r>
              <a:t>      "lodging_nights": 2.62,</a:t>
            </a:r>
          </a:p>
          <a:p xmlns:a="http://schemas.openxmlformats.org/drawingml/2006/main">
            <a:r>
              <a:t>      "lodging_rate_pct": 13.4,</a:t>
            </a:r>
          </a:p>
          <a:p xmlns:a="http://schemas.openxmlformats.org/drawingml/2006/main">
            <a:r>
              <a:t>      "lodging_searches": 30423,</a:t>
            </a:r>
          </a:p>
          <a:p xmlns:a="http://schemas.openxmlformats.org/drawingml/2006/main">
            <a:r>
              <a:t>      "navigation_searches": 322218,</a:t>
            </a:r>
          </a:p>
          <a:p xmlns:a="http://schemas.openxmlformats.org/drawingml/2006/main">
            <a:r>
              <a:t>      "visitor_yoy_percent": -1.67,</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2052480,</a:t>
            </a:r>
          </a:p>
          <a:p xmlns:a="http://schemas.openxmlformats.org/drawingml/2006/main">
            <a:r>
              <a:t>      "previous_year_spending_krw": 50330837000,</a:t>
            </a:r>
          </a:p>
          <a:p xmlns:a="http://schemas.openxmlformats.org/drawingml/2006/main">
            <a:r>
              <a:t>      "previous_year_stay_minutes": 1501.0,</a:t>
            </a:r>
          </a:p>
          <a:p xmlns:a="http://schemas.openxmlformats.org/drawingml/2006/main">
            <a:r>
              <a:t>      "previous_year_lodging_nights": 2.62,</a:t>
            </a:r>
          </a:p>
          <a:p xmlns:a="http://schemas.openxmlformats.org/drawingml/2006/main">
            <a:r>
              <a:t>      "previous_year_lodging_rate_pct": 13.4,</a:t>
            </a:r>
          </a:p>
          <a:p xmlns:a="http://schemas.openxmlformats.org/drawingml/2006/main">
            <a:r>
              <a:t>      "previous_year_lodging_searches": 30423,</a:t>
            </a:r>
          </a:p>
          <a:p xmlns:a="http://schemas.openxmlformats.org/drawingml/2006/main">
            <a:r>
              <a:t>      "previous_year_navigation_searches": 322218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1733965,</a:t>
            </a:r>
          </a:p>
          <a:p xmlns:a="http://schemas.openxmlformats.org/drawingml/2006/main">
            <a:r>
              <a:t>      "is_forecast": true,</a:t>
            </a:r>
          </a:p>
          <a:p xmlns:a="http://schemas.openxmlformats.org/drawingml/2006/main">
            <a:r>
              <a:t>      "spending_krw": 39693334000,</a:t>
            </a:r>
          </a:p>
          <a:p xmlns:a="http://schemas.openxmlformats.org/drawingml/2006/main">
            <a:r>
              <a:t>      "stay_minutes": 1807.0,</a:t>
            </a:r>
          </a:p>
          <a:p xmlns:a="http://schemas.openxmlformats.org/drawingml/2006/main">
            <a:r>
              <a:t>      "lodging_nights": 2.67,</a:t>
            </a:r>
          </a:p>
          <a:p xmlns:a="http://schemas.openxmlformats.org/drawingml/2006/main">
            <a:r>
              <a:t>      "lodging_rate_pct": 15.5,</a:t>
            </a:r>
          </a:p>
          <a:p xmlns:a="http://schemas.openxmlformats.org/drawingml/2006/main">
            <a:r>
              <a:t>      "lodging_searches": 24221,</a:t>
            </a:r>
          </a:p>
          <a:p xmlns:a="http://schemas.openxmlformats.org/drawingml/2006/main">
            <a:r>
              <a:t>      "navigation_searches": 217678,</a:t>
            </a:r>
          </a:p>
          <a:p xmlns:a="http://schemas.openxmlformats.org/drawingml/2006/main">
            <a:r>
              <a:t>      "visitor_yoy_percent": 2.84,</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1686121,</a:t>
            </a:r>
          </a:p>
          <a:p xmlns:a="http://schemas.openxmlformats.org/drawingml/2006/main">
            <a:r>
              <a:t>      "previous_year_spending_krw": 39693334000,</a:t>
            </a:r>
          </a:p>
          <a:p xmlns:a="http://schemas.openxmlformats.org/drawingml/2006/main">
            <a:r>
              <a:t>      "previous_year_stay_minutes": 1807.0,</a:t>
            </a:r>
          </a:p>
          <a:p xmlns:a="http://schemas.openxmlformats.org/drawingml/2006/main">
            <a:r>
              <a:t>      "previous_year_lodging_nights": 2.67,</a:t>
            </a:r>
          </a:p>
          <a:p xmlns:a="http://schemas.openxmlformats.org/drawingml/2006/main">
            <a:r>
              <a:t>      "previous_year_lodging_rate_pct": 15.5,</a:t>
            </a:r>
          </a:p>
          <a:p xmlns:a="http://schemas.openxmlformats.org/drawingml/2006/main">
            <a:r>
              <a:t>      "previous_year_lodging_searches": 24221,</a:t>
            </a:r>
          </a:p>
          <a:p xmlns:a="http://schemas.openxmlformats.org/drawingml/2006/main">
            <a:r>
              <a:t>      "previous_year_navigation_searches": 217678</a:t>
            </a:r>
          </a:p>
          <a:p xmlns:a="http://schemas.openxmlformats.org/drawingml/2006/main">
            <a:r>
              <a:t>    },</a:t>
            </a:r>
          </a:p>
          <a:p xmlns:a="http://schemas.openxmlformats.org/drawingml/2006/main">
            <a:r>
              <a:t>    {</a:t>
            </a:r>
          </a:p>
          <a:p xmlns:a="http://schemas.openxmlformats.org/drawingml/2006/main">
            <a:r>
              <a:t>      "month": "202701",</a:t>
            </a:r>
          </a:p>
          <a:p xmlns:a="http://schemas.openxmlformats.org/drawingml/2006/main">
            <a:r>
              <a:t>      "visitors": 1735449,</a:t>
            </a:r>
          </a:p>
          <a:p xmlns:a="http://schemas.openxmlformats.org/drawingml/2006/main">
            <a:r>
              <a:t>      "is_forecast": true,</a:t>
            </a:r>
          </a:p>
          <a:p xmlns:a="http://schemas.openxmlformats.org/drawingml/2006/main">
            <a:r>
              <a:t>      "spending_krw": 39173323000,</a:t>
            </a:r>
          </a:p>
          <a:p xmlns:a="http://schemas.openxmlformats.org/drawingml/2006/main">
            <a:r>
              <a:t>      "stay_minutes": 1900.0,</a:t>
            </a:r>
          </a:p>
          <a:p xmlns:a="http://schemas.openxmlformats.org/drawingml/2006/main">
            <a:r>
              <a:t>      "lodging_nights": 2.68,</a:t>
            </a:r>
          </a:p>
          <a:p xmlns:a="http://schemas.openxmlformats.org/drawingml/2006/main">
            <a:r>
              <a:t>      "lodging_rate_pct": 16.0,</a:t>
            </a:r>
          </a:p>
          <a:p xmlns:a="http://schemas.openxmlformats.org/drawingml/2006/main">
            <a:r>
              <a:t>      "lodging_searches": 27644,</a:t>
            </a:r>
          </a:p>
          <a:p xmlns:a="http://schemas.openxmlformats.org/drawingml/2006/main">
            <a:r>
              <a:t>      "navigation_searches": 223981,</a:t>
            </a:r>
          </a:p>
          <a:p xmlns:a="http://schemas.openxmlformats.org/drawingml/2006/main">
            <a:r>
              <a:t>      "visitor_yoy_percent": 1.42,</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1711231,</a:t>
            </a:r>
          </a:p>
          <a:p xmlns:a="http://schemas.openxmlformats.org/drawingml/2006/main">
            <a:r>
              <a:t>      "previous_year_spending_krw": 39173323000,</a:t>
            </a:r>
          </a:p>
          <a:p xmlns:a="http://schemas.openxmlformats.org/drawingml/2006/main">
            <a:r>
              <a:t>      "previous_year_stay_minutes": 1900.0,</a:t>
            </a:r>
          </a:p>
          <a:p xmlns:a="http://schemas.openxmlformats.org/drawingml/2006/main">
            <a:r>
              <a:t>      "previous_year_lodging_nights": 2.68,</a:t>
            </a:r>
          </a:p>
          <a:p xmlns:a="http://schemas.openxmlformats.org/drawingml/2006/main">
            <a:r>
              <a:t>      "previous_year_lodging_rate_pct": 16.0,</a:t>
            </a:r>
          </a:p>
          <a:p xmlns:a="http://schemas.openxmlformats.org/drawingml/2006/main">
            <a:r>
              <a:t>      "previous_year_lodging_searches": 27644,</a:t>
            </a:r>
          </a:p>
          <a:p xmlns:a="http://schemas.openxmlformats.org/drawingml/2006/main">
            <a:r>
              <a:t>      "previous_year_navigation_searches": 223981</a:t>
            </a:r>
          </a:p>
          <a:p xmlns:a="http://schemas.openxmlformats.org/drawingml/2006/main">
            <a:r>
              <a:t>    },</a:t>
            </a:r>
          </a:p>
          <a:p xmlns:a="http://schemas.openxmlformats.org/drawingml/2006/main">
            <a:r>
              <a:t>    {</a:t>
            </a:r>
          </a:p>
          <a:p xmlns:a="http://schemas.openxmlformats.org/drawingml/2006/main">
            <a:r>
              <a:t>      "month": "202702",</a:t>
            </a:r>
          </a:p>
          <a:p xmlns:a="http://schemas.openxmlformats.org/drawingml/2006/main">
            <a:r>
              <a:t>      "visitors": 1722995,</a:t>
            </a:r>
          </a:p>
          <a:p xmlns:a="http://schemas.openxmlformats.org/drawingml/2006/main">
            <a:r>
              <a:t>      "is_forecast": true,</a:t>
            </a:r>
          </a:p>
          <a:p xmlns:a="http://schemas.openxmlformats.org/drawingml/2006/main">
            <a:r>
              <a:t>      "spending_krw": 40605893000,</a:t>
            </a:r>
          </a:p>
          <a:p xmlns:a="http://schemas.openxmlformats.org/drawingml/2006/main">
            <a:r>
              <a:t>      "stay_minutes": 1818.0,</a:t>
            </a:r>
          </a:p>
          <a:p xmlns:a="http://schemas.openxmlformats.org/drawingml/2006/main">
            <a:r>
              <a:t>      "lodging_nights": 2.71,</a:t>
            </a:r>
          </a:p>
          <a:p xmlns:a="http://schemas.openxmlformats.org/drawingml/2006/main">
            <a:r>
              <a:t>      "lodging_rate_pct": 17.7,</a:t>
            </a:r>
          </a:p>
          <a:p xmlns:a="http://schemas.openxmlformats.org/drawingml/2006/main">
            <a:r>
              <a:t>      "lodging_searches": 24571,</a:t>
            </a:r>
          </a:p>
          <a:p xmlns:a="http://schemas.openxmlformats.org/drawingml/2006/main">
            <a:r>
              <a:t>      "navigation_searches": 238194,</a:t>
            </a:r>
          </a:p>
          <a:p xmlns:a="http://schemas.openxmlformats.org/drawingml/2006/main">
            <a:r>
              <a:t>      "visitor_yoy_percent": -1.96,</a:t>
            </a:r>
          </a:p>
          <a:p xmlns:a="http://schemas.openxmlformats.org/drawingml/2006/main">
            <a:r>
              <a:t>      "spending_yoy_percent": 0.0,</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0.0</a:t>
            </a:r>
          </a:p>
          <a:p xmlns:a="http://schemas.openxmlformats.org/drawingml/2006/main">
            <a:r>
              <a:t>      },</a:t>
            </a:r>
          </a:p>
          <a:p xmlns:a="http://schemas.openxmlformats.org/drawingml/2006/main">
            <a:r>
              <a:t>      "previous_year_visitors": 1757460,</a:t>
            </a:r>
          </a:p>
          <a:p xmlns:a="http://schemas.openxmlformats.org/drawingml/2006/main">
            <a:r>
              <a:t>      "previous_year_spending_krw": 40605893000,</a:t>
            </a:r>
          </a:p>
          <a:p xmlns:a="http://schemas.openxmlformats.org/drawingml/2006/main">
            <a:r>
              <a:t>      "previous_year_stay_minutes": 1818.0,</a:t>
            </a:r>
          </a:p>
          <a:p xmlns:a="http://schemas.openxmlformats.org/drawingml/2006/main">
            <a:r>
              <a:t>      "previous_year_lodging_nights": 2.71,</a:t>
            </a:r>
          </a:p>
          <a:p xmlns:a="http://schemas.openxmlformats.org/drawingml/2006/main">
            <a:r>
              <a:t>      "previous_year_lodging_rate_pct": 17.7,</a:t>
            </a:r>
          </a:p>
          <a:p xmlns:a="http://schemas.openxmlformats.org/drawingml/2006/main">
            <a:r>
              <a:t>      "previous_year_lodging_searches": 24571,</a:t>
            </a:r>
          </a:p>
          <a:p xmlns:a="http://schemas.openxmlformats.org/drawingml/2006/main">
            <a:r>
              <a:t>      "previous_year_navigation_searches": 238194</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70528.31,</a:t>
            </a:r>
          </a:p>
          <a:p xmlns:a="http://schemas.openxmlformats.org/drawingml/2006/main">
            <a:r>
              <a:t>        "recursive_mae": {</a:t>
            </a:r>
          </a:p>
          <a:p xmlns:a="http://schemas.openxmlformats.org/drawingml/2006/main">
            <a:r>
              <a:t>          "1": {</a:t>
            </a:r>
          </a:p>
          <a:p xmlns:a="http://schemas.openxmlformats.org/drawingml/2006/main">
            <a:r>
              <a:t>            "baseline": 41681.0,</a:t>
            </a:r>
          </a:p>
          <a:p xmlns:a="http://schemas.openxmlformats.org/drawingml/2006/main">
            <a:r>
              <a:t>            "selected": 49874.0,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60055.5,</a:t>
            </a:r>
          </a:p>
          <a:p xmlns:a="http://schemas.openxmlformats.org/drawingml/2006/main">
            <a:r>
              <a:t>            "selected": 37301.5,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106265.0,</a:t>
            </a:r>
          </a:p>
          <a:p xmlns:a="http://schemas.openxmlformats.org/drawingml/2006/main">
            <a:r>
              <a:t>            "selected": 97340.5,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73973.0,</a:t>
            </a:r>
          </a:p>
          <a:p xmlns:a="http://schemas.openxmlformats.org/drawingml/2006/main">
            <a:r>
              <a:t>        "model_reliability": "mixed_recursive_performance",</a:t>
            </a:r>
          </a:p>
          <a:p xmlns:a="http://schemas.openxmlformats.org/drawingml/2006/main">
            <a:r>
              <a:t>        "beats_baseline_on_test": true,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4095129500.0,</a:t>
            </a:r>
          </a:p>
          <a:p xmlns:a="http://schemas.openxmlformats.org/drawingml/2006/main">
            <a:r>
              <a:t>        "recursive_mae": {</a:t>
            </a:r>
          </a:p>
          <a:p xmlns:a="http://schemas.openxmlformats.org/drawingml/2006/main">
            <a:r>
              <a:t>          "1": {</a:t>
            </a:r>
          </a:p>
          <a:p xmlns:a="http://schemas.openxmlformats.org/drawingml/2006/main">
            <a:r>
              <a:t>            "baseline": 4131609500.0,</a:t>
            </a:r>
          </a:p>
          <a:p xmlns:a="http://schemas.openxmlformats.org/drawingml/2006/main">
            <a:r>
              <a:t>            "selected": 4131609500.0,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6603691500.0,</a:t>
            </a:r>
          </a:p>
          <a:p xmlns:a="http://schemas.openxmlformats.org/drawingml/2006/main">
            <a:r>
              <a:t>            "selected": 6603691500.0,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4058649500.0,</a:t>
            </a:r>
          </a:p>
          <a:p xmlns:a="http://schemas.openxmlformats.org/drawingml/2006/main">
            <a:r>
              <a:t>            "selected": 4058649500.0,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4095129500.0,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"stay_minutes": {</a:t>
            </a:r>
          </a:p>
          <a:p xmlns:a="http://schemas.openxmlformats.org/drawingml/2006/main">
            <a:r>
              <a:t>        "test_mae": 131.0,</a:t>
            </a:r>
          </a:p>
          <a:p xmlns:a="http://schemas.openxmlformats.org/drawingml/2006/main">
            <a:r>
              <a:t>        "recursive_mae": {</a:t>
            </a:r>
          </a:p>
          <a:p xmlns:a="http://schemas.openxmlformats.org/drawingml/2006/main">
            <a:r>
              <a:t>          "1": {</a:t>
            </a:r>
          </a:p>
          <a:p xmlns:a="http://schemas.openxmlformats.org/drawingml/2006/main">
            <a:r>
              <a:t>            "baseline": 3.5,</a:t>
            </a:r>
          </a:p>
          <a:p xmlns:a="http://schemas.openxmlformats.org/drawingml/2006/main">
            <a:r>
              <a:t>            "selected": 3.5,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252.0,</a:t>
            </a:r>
          </a:p>
          <a:p xmlns:a="http://schemas.openxmlformats.org/drawingml/2006/main">
            <a:r>
              <a:t>            "selected": 252.0,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258.5,</a:t>
            </a:r>
          </a:p>
          <a:p xmlns:a="http://schemas.openxmlformats.org/drawingml/2006/main">
            <a:r>
              <a:t>            "selected": 258.5,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131.0,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0.06,</a:t>
            </a:r>
          </a:p>
          <a:p xmlns:a="http://schemas.openxmlformats.org/drawingml/2006/main">
            <a:r>
              <a:t>        "recursive_mae": {</a:t>
            </a:r>
          </a:p>
          <a:p xmlns:a="http://schemas.openxmlformats.org/drawingml/2006/main">
            <a:r>
              <a:t>          "1": {</a:t>
            </a:r>
          </a:p>
          <a:p xmlns:a="http://schemas.openxmlformats.org/drawingml/2006/main">
            <a:r>
              <a:t>            "baseline": 0.05,</a:t>
            </a:r>
          </a:p>
          <a:p xmlns:a="http://schemas.openxmlformats.org/drawingml/2006/main">
            <a:r>
              <a:t>            "selected": 0.05,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0.05,</a:t>
            </a:r>
          </a:p>
          <a:p xmlns:a="http://schemas.openxmlformats.org/drawingml/2006/main">
            <a:r>
              <a:t>            "selected": 0.05,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0.06,</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0.55,</a:t>
            </a:r>
          </a:p>
          <a:p xmlns:a="http://schemas.openxmlformats.org/drawingml/2006/main">
            <a:r>
              <a:t>        "recursive_mae": {</a:t>
            </a:r>
          </a:p>
          <a:p xmlns:a="http://schemas.openxmlformats.org/drawingml/2006/main">
            <a:r>
              <a:t>          "1": {</a:t>
            </a:r>
          </a:p>
          <a:p xmlns:a="http://schemas.openxmlformats.org/drawingml/2006/main">
            <a:r>
              <a:t>            "baseline": 0.8,</a:t>
            </a:r>
          </a:p>
          <a:p xmlns:a="http://schemas.openxmlformats.org/drawingml/2006/main">
            <a:r>
              <a:t>            "selected": 0.8,</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0.3,</a:t>
            </a:r>
          </a:p>
          <a:p xmlns:a="http://schemas.openxmlformats.org/drawingml/2006/main">
            <a:r>
              <a:t>            "selected":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0.55,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2351.0,</a:t>
            </a:r>
          </a:p>
          <a:p xmlns:a="http://schemas.openxmlformats.org/drawingml/2006/main">
            <a:r>
              <a:t>        "recursive_mae": {</a:t>
            </a:r>
          </a:p>
          <a:p xmlns:a="http://schemas.openxmlformats.org/drawingml/2006/main">
            <a:r>
              <a:t>          "1": {</a:t>
            </a:r>
          </a:p>
          <a:p xmlns:a="http://schemas.openxmlformats.org/drawingml/2006/main">
            <a:r>
              <a:t>            "baseline": 3418.5,</a:t>
            </a:r>
          </a:p>
          <a:p xmlns:a="http://schemas.openxmlformats.org/drawingml/2006/main">
            <a:r>
              <a:t>            "selected": 3418.5,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1505.0,</a:t>
            </a:r>
          </a:p>
          <a:p xmlns:a="http://schemas.openxmlformats.org/drawingml/2006/main">
            <a:r>
              <a:t>            "selected": 1505.0,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1283.5,</a:t>
            </a:r>
          </a:p>
          <a:p xmlns:a="http://schemas.openxmlformats.org/drawingml/2006/main">
            <a:r>
              <a:t>            "selected": 1283.5,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2351.0,</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32030.5,</a:t>
            </a:r>
          </a:p>
          <a:p xmlns:a="http://schemas.openxmlformats.org/drawingml/2006/main">
            <a:r>
              <a:t>        "recursive_mae": {</a:t>
            </a:r>
          </a:p>
          <a:p xmlns:a="http://schemas.openxmlformats.org/drawingml/2006/main">
            <a:r>
              <a:t>          "1": {</a:t>
            </a:r>
          </a:p>
          <a:p xmlns:a="http://schemas.openxmlformats.org/drawingml/2006/main">
            <a:r>
              <a:t>            "baseline": 36449.0,</a:t>
            </a:r>
          </a:p>
          <a:p xmlns:a="http://schemas.openxmlformats.org/drawingml/2006/main">
            <a:r>
              <a:t>            "selected": 36449.0,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36445.5,</a:t>
            </a:r>
          </a:p>
          <a:p xmlns:a="http://schemas.openxmlformats.org/drawingml/2006/main">
            <a:r>
              <a:t>            "selected": 36445.5,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27612.0,</a:t>
            </a:r>
          </a:p>
          <a:p xmlns:a="http://schemas.openxmlformats.org/drawingml/2006/main">
            <a:r>
              <a:t>            "selected": 27612.0,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32030.5,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8,</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dataset:51110:1 | 한국관광 데이터랩 · 강원특별자치도 춘천시 순 방문자 수 및 숙박 비율 (이동통신 기반 외지인) | https://datalab.visitkorea.or.kr/</a:t>
            </a:r>
          </a:p>
          <a:p>
            <a:r>
              <a:t>dataset:51110:2 | 한국관광 데이터랩 · 강원특별자치도 춘천시 월간 순 방문자 수 (이동통신 기반 외지인) | https://datalab.visitkorea.or.kr/</a:t>
            </a:r>
          </a:p>
          <a:p>
            <a:r>
              <a:t>dataset:51110:3 | 한국관광 데이터랩 · 강원특별자치도 춘천시 관광소비 추이_외지인 | https://datalab.visitkorea.or.kr/</a:t>
            </a:r>
          </a:p>
          <a:p>
            <a:r>
              <a:t>dataset:51110:4 | 한국관광 데이터랩 · 강원특별자치도 춘천시 숙박방문자 비율 추이 (이동통신 기반 외지인) | https://datalab.visitkorea.or.kr/</a:t>
            </a:r>
          </a:p>
          <a:p>
            <a:r>
              <a:t>dataset:51110:5 | 한국관광 데이터랩 · 강원특별자치도 춘천시 평균 숙박일 (이동통신 기반 외지인) | https://datalab.visitkorea.or.kr/</a:t>
            </a:r>
          </a:p>
          <a:p>
            <a:r>
              <a:t>dataset:51110:6 | 한국관광 데이터랩 · 강원특별자치도 춘천시 내비게이션 목적지 유형별 검색량 | https://datalab.visitkorea.or.kr/</a:t>
            </a:r>
          </a:p>
          <a:p>
            <a:r>
              <a:t>dataset:51110:7 | 한국관광 데이터랩 · 강원특별자치도 춘천시 SNS 언급량 | https://datalab.visitkorea.or.kr/</a:t>
            </a:r>
          </a:p>
          <a:p>
            <a:r>
              <a:t>datalab:2343c3bc93bf:81205be51a1a | 한국관광 데이터랩 공식 다운로드 · 강원특별자치도_춘천시/숙박_체류시간/2026_01_06.zip | https://datalab.visitkorea.or.kr/</a:t>
            </a:r>
          </a:p>
          <a:p>
            <a:r>
              <a:t>datalab:73a88f6fd74b:dc735676b7f4 | 한국관광 데이터랩 공식 다운로드 · 강원특별자치도_춘천시/숙박_체류시간/2025_01_12.zip | https://datalab.visitkorea.or.kr/</a:t>
            </a:r>
          </a:p>
          <a:p>
            <a:r>
              <a:t>datalab:77438b77a948:7f25647aea7e | 한국관광 데이터랩 공식 다운로드 · 강원특별자치도_춘천시/관광소비/2026_01_06.zip | https://datalab.visitkorea.or.kr/</a:t>
            </a:r>
          </a:p>
          <a:p>
            <a:r>
              <a:t>datalab:9642314b6e5e:34e60387985e | 한국관광 데이터랩 공식 다운로드 · 강원특별자치도_춘천시/관광소비/2025_01_12.zip | https://datalab.visitkorea.or.kr/</a:t>
            </a:r>
          </a:p>
          <a:p>
            <a:r>
              <a:t>datalab:ae4e45e46741:2689769fc6ce | 한국관광 데이터랩 공식 다운로드 · 강원특별자치도_춘천시/방문자/2026_01_06.zip | https://datalab.visitkorea.or.kr/</a:t>
            </a:r>
          </a:p>
          <a:p>
            <a:r>
              <a:t>datalab:e1ae014de0aa:877807c4ab51 | 한국관광 데이터랩 공식 다운로드 · 강원특별자치도_춘천시/방문자/2025_01_12.zip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regional-status:4a7789e925d5:55e3be9aa0cd | 한국관광 데이터랩 지역별 관광 현황 · 강원특별자치도 춘천시 · 유입유출 | https://datalab.visitkorea.or.kr/</a:t>
            </a:r>
          </a:p>
          <a:p>
            <a:r>
              <a:t>regional-status:61a9d2d6b099:8676c55ce1a7 | 한국관광 데이터랩 지역별 관광 현황 · 강원특별자치도 춘천시 · 인기관광지 | https://datalab.visitkorea.or.kr/</a:t>
            </a:r>
          </a:p>
          <a:p>
            <a:r>
              <a:t>regional-status:b3fe66c3af97:a10ce860bf9f | 한국관광 데이터랩 지역별 관광 현황 · 강원특별자치도 춘천시 · 지역집중률 | https://datalab.visitkorea.or.kr/</a:t>
            </a:r>
          </a:p>
          <a:p>
            <a:r>
              <a:t>ml:51110:regional-demand-v3.1:202606 | 지역 관광수요 ML 전망 · 공식 관측값 아님 | URL 미기록</a:t>
            </a:r>
          </a:p>
          <a:p>
            <a:r>
              <a:t>tour-api:2891703 | 가보자순대국 | https://apis.data.go.kr/B551011/KorService2</a:t>
            </a:r>
          </a:p>
          <a:p>
            <a:r>
              <a:t>tour-api:3083085 | 가평1등수상레저 | https://apis.data.go.kr/B551011/KorService2</a:t>
            </a:r>
          </a:p>
          <a:p>
            <a:r>
              <a:t>tour-api:128778 | 강원 경찰충혼탑 | https://apis.data.go.kr/B551011/KorService2</a:t>
            </a:r>
          </a:p>
          <a:p>
            <a:r>
              <a:t>tour-api:129840 | 강원대학교중앙박물관 | https://apis.data.go.kr/B551011/KorService2</a:t>
            </a:r>
          </a:p>
          <a:p>
            <a:r>
              <a:t>tour-api:2610850 | 강원숲체험장 | https://apis.data.go.kr/B551011/KorService2</a:t>
            </a:r>
          </a:p>
          <a:p>
            <a:r>
              <a:t>tour-api:131456 | 강원특별자치도청소년수련원 | https://apis.data.go.kr/B551011/KorService2</a:t>
            </a:r>
          </a:p>
          <a:p>
            <a:r>
              <a:t>tour-api:2706334 | 강촌 출렁다리공원 | https://apis.data.go.kr/B551011/KorService2</a:t>
            </a:r>
          </a:p>
          <a:p>
            <a:r>
              <a:t>tour-api:1947118 | 강촌레일파크(김유정레일바이크) | https://apis.data.go.kr/B551011/KorService2</a:t>
            </a:r>
          </a:p>
          <a:p>
            <a:r>
              <a:t>tour-api:2759582 | 강촌버즈글램핑 | https://apis.data.go.kr/B551011/KorService2</a:t>
            </a:r>
          </a:p>
          <a:p>
            <a:r>
              <a:t>tour-api:125605 | 강촌유원지 | https://apis.data.go.kr/B551011/KorService2</a:t>
            </a:r>
          </a:p>
          <a:p>
            <a:r>
              <a:t>tour-api:2741528 | 강촌하늘아래글램핑 | https://apis.data.go.kr/B551011/KorService2</a:t>
            </a:r>
          </a:p>
          <a:p>
            <a:r>
              <a:t>tour-api:391742 | 경강막국수 | https://apis.data.go.kr/B551011/KorService2</a:t>
            </a:r>
          </a:p>
          <a:p>
            <a:r>
              <a:t>tour-api:2558052 | 고목 | https://apis.data.go.kr/B551011/KorService2</a:t>
            </a:r>
          </a:p>
          <a:p>
            <a:r>
              <a:t>tour-api:129004 | 공지천 조각공원 | https://apis.data.go.kr/B551011/KorService2</a:t>
            </a:r>
          </a:p>
          <a:p>
            <a:r>
              <a:t>tour-api:2792017 | 구곡폭포 국민여가 캠핑장 | https://apis.data.go.kr/B551011/KorService2</a:t>
            </a:r>
          </a:p>
          <a:p>
            <a:r>
              <a:t>tour-api:2714558 | 구봉산 | https://apis.data.go.kr/B551011/KorService2</a:t>
            </a:r>
          </a:p>
          <a:p>
            <a:r>
              <a:t>tour-api:407225 | 국립 용화산자연휴양림 | https://apis.data.go.kr/B551011/KorService2</a:t>
            </a:r>
          </a:p>
          <a:p>
            <a:r>
              <a:t>tour-api:2710587 | 국립춘천숲체원 | https://apis.data.go.kr/B551011/KorService2</a:t>
            </a:r>
          </a:p>
          <a:p>
            <a:r>
              <a:t>tour-api:2774528 | 군자숯불닭갈비 | https://apis.data.go.kr/B551011/KorService2</a:t>
            </a:r>
          </a:p>
          <a:p>
            <a:r>
              <a:t>tour-api:2710596 | 근화동396청년창업공간 | https://apis.data.go.kr/B551011/KorService2</a:t>
            </a:r>
          </a:p>
          <a:p>
            <a:r>
              <a:t>reference:kto:2026:local-airport | 요즘, 한국관광 2호 - 지방공항 연계 지역관광 활성화 방안 | PDF 44쪽, PDF 43쪽, PDF 38쪽, PDF 40쪽, PDF 41쪽, PDF 36쪽, PDF 41쪽, PDF 44쪽, PDF 43쪽, PDF 43쪽 | https://datalab.visitkorea.or.kr/site/portal/ex/bbs/View.do?bcIdx=311068&amp;cbIdx=1135&amp;pageIndex=1</a:t>
            </a:r>
          </a:p>
          <a:p>
            <a:r>
              <a:t>case:jeonju_night_budget_2026 | 전주시 2026년도 관광산업과 세출예산 사업명세서 | https://jeonju.go.kr/resource/www/images/download/budget/2026/2026_31_2.pdf</a:t>
            </a:r>
          </a:p>
          <a:p>
            <a:r>
              <a:t>case:291a33370ec9b1 | 섬에서의 특별한 경험, ‘인천 섬 도도하게 살아보기’로 누린다 | https://www.incheon.go.kr/mayor_8/MA040101/view?curPage=236&amp;repSeq=DOM_0000000010488055</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"title": "한국관광 데이터랩 · 강원특별자치도 춘천시 순 방문자 수 및 숙박 비율 (이동통신 기반 외지인)",</a:t>
            </a:r>
          </a:p>
          <a:p>
            <a:r>
              <a:t>      "summary": "월간 순 방문자 수: 1,873,282명 (관측 기준월: 2026-06)",</a:t>
            </a:r>
          </a:p>
          <a:p>
            <a:r>
              <a:t>      "source_id": "dataset:51110:1",</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월간 순 방문자 수 (이동통신 기반 외지인)",</a:t>
            </a:r>
          </a:p>
          <a:p>
            <a:r>
              <a:t>      "summary": "전년동월 외지인 방문자 증감률: -8.1% (관측 기준월: 2026-06)",</a:t>
            </a:r>
          </a:p>
          <a:p>
            <a:r>
              <a:t>      "source_id": "dataset:51110:2",</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관광소비 추이_외지인",</a:t>
            </a:r>
          </a:p>
          <a:p>
            <a:r>
              <a:t>      "summary": "월간 외지인 관광소비 총액: 51,352,814,000원 (관측 기준월: 2026-06)",</a:t>
            </a:r>
          </a:p>
          <a:p>
            <a:r>
              <a:t>      "source_id": "dataset:51110:3",</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숙박방문자 비율 추이 (이동통신 기반 외지인)",</a:t>
            </a:r>
          </a:p>
          <a:p>
            <a:r>
              <a:t>      "summary": "외지인 숙박 방문 비율: 14.1% (관측 기준월: 2026-06)",</a:t>
            </a:r>
          </a:p>
          <a:p>
            <a:r>
              <a:t>      "source_id": "dataset:51110:4",</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평균 숙박일 (이동통신 기반 외지인)",</a:t>
            </a:r>
          </a:p>
          <a:p>
            <a:r>
              <a:t>      "summary": "외지인 평균 숙박일수: 2.61일 (관측 기준월: 2026-06)",</a:t>
            </a:r>
          </a:p>
          <a:p>
            <a:r>
              <a:t>      "source_id": "dataset:51110:5",</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내비게이션 목적지 유형별 검색량",</a:t>
            </a:r>
          </a:p>
          <a:p>
            <a:r>
              <a:t>      "summary": "내비게이션 목적지 검색량: 322,791건 (관측 기준월: 2026-06)",</a:t>
            </a:r>
          </a:p>
          <a:p>
            <a:r>
              <a:t>      "source_id": "dataset:51110:6",</a:t>
            </a:r>
          </a:p>
          <a:p>
            <a:r>
              <a:t>      "source_url": "https://datalab.visitkorea.or.kr/",</a:t>
            </a:r>
          </a:p>
          <a:p>
            <a:r>
              <a:t>      "source_type": "dataset",</a:t>
            </a:r>
          </a:p>
          <a:p>
            <a:r>
              <a:t>      "observation_period": "2026-06",</a:t>
            </a:r>
          </a:p>
          <a:p>
            <a:r>
              <a:t>      "published_or_updated_at": "2026-06"</a:t>
            </a:r>
          </a:p>
          <a:p>
            <a:r>
              <a:t>    },</a:t>
            </a:r>
          </a:p>
          <a:p>
            <a:r>
              <a:t>    {</a:t>
            </a:r>
          </a:p>
          <a:p>
            <a:r>
              <a:t>      "title": "한국관광 데이터랩 · 강원특별자치도 춘천시 SNS 언급량",</a:t>
            </a:r>
          </a:p>
          <a:p>
            <a:r>
              <a:t>      "summary": "SNS 언급량: 46,739건 (관측 기준월: 2026-06)",</a:t>
            </a:r>
          </a:p>
          <a:p>
            <a:r>
              <a:t>      "source_id": "dataset:51110:7",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강원특별자치도_춘천시/숙박_체류시간/2026_01_06.zip",</a:t>
            </a:r>
          </a:p>
          <a:p>
            <a:r>
              <a:t>      "summary": "전국 비교 기준 기간: 2025-07 ~ 2026-06",</a:t>
            </a:r>
          </a:p>
          <a:p>
            <a:r>
              <a:t>      "source_id": "datalab:2343c3bc93bf:81205be51a1a",</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강원특별자치도_춘천시/숙박_체류시간/2025_01_12.zip",</a:t>
            </a:r>
          </a:p>
          <a:p>
            <a:r>
              <a:t>      "summary": "전국 비교 기준 기간: 2025-07 ~ 2026-06",</a:t>
            </a:r>
          </a:p>
          <a:p>
            <a:r>
              <a:t>      "source_id": "datalab:73a88f6fd74b:dc735676b7f4",</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강원특별자치도_춘천시/관광소비/2026_01_06.zip",</a:t>
            </a:r>
          </a:p>
          <a:p>
            <a:r>
              <a:t>      "summary": "전국 비교 기준 기간: 2025-07 ~ 2026-06",</a:t>
            </a:r>
          </a:p>
          <a:p>
            <a:r>
              <a:t>      "source_id": "datalab:77438b77a948:7f25647aea7e",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강원특별자치도_춘천시/관광소비/2025_01_12.zip",</a:t>
            </a:r>
          </a:p>
          <a:p>
            <a:r>
              <a:t>      "summary": "전국 비교 기준 기간: 2025-07 ~ 2026-06",</a:t>
            </a:r>
          </a:p>
          <a:p>
            <a:r>
              <a:t>      "source_id": "datalab:9642314b6e5e:34e60387985e",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강원특별자치도_춘천시/방문자/2026_01_06.zip",</a:t>
            </a:r>
          </a:p>
          <a:p>
            <a:r>
              <a:t>      "summary": "전국 비교 기준 기간: 2025-07 ~ 2026-06",</a:t>
            </a:r>
          </a:p>
          <a:p>
            <a:r>
              <a:t>      "source_id": "datalab:ae4e45e46741:2689769fc6ce",</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강원특별자치도_춘천시/방문자/2025_01_12.zip",</a:t>
            </a:r>
          </a:p>
          <a:p>
            <a:r>
              <a:t>      "summary": "전국 비교 기준 기간: 2025-07 ~ 2026-06",</a:t>
            </a:r>
          </a:p>
          <a:p>
            <a:r>
              <a:t>      "source_id": "datalab:e1ae014de0aa:877807c4ab51",</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강원특별자치도 춘천시 · 유입유출",</a:t>
            </a:r>
          </a:p>
          <a:p>
            <a:r>
              <a:t>      "summary": "관측 기간: 2025-07 ~ 2026-06. 유입·유출·인기장소 또는 30일 집중 운영 신호.",</a:t>
            </a:r>
          </a:p>
          <a:p>
            <a:r>
              <a:t>      "source_id": "regional-status:4a7789e925d5:55e3be9aa0cd",</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인기관광지",</a:t>
            </a:r>
          </a:p>
          <a:p>
            <a:r>
              <a:t>      "summary": "관측 기간: 2025-07 ~ 2026-06. 유입·유출·인기장소 또는 30일 집중 운영 신호.",</a:t>
            </a:r>
          </a:p>
          <a:p>
            <a:r>
              <a:t>      "source_id": "regional-status:61a9d2d6b099:8676c55ce1a7",</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강원특별자치도 춘천시 · 지역집중률",</a:t>
            </a:r>
          </a:p>
          <a:p>
            <a:r>
              <a:t>      "summary": "관측 기간: 2025-07 ~ 2026-06. 유입·유출·인기장소 또는 30일 집중 운영 신호.",</a:t>
            </a:r>
          </a:p>
          <a:p>
            <a:r>
              <a:t>      "source_id": "regional-status:b3fe66c3af97:a10ce860bf9f",</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"ml:51110:regional-demand-v3.1:202606",</a:t>
            </a:r>
          </a:p>
          <a:p>
            <a:r>
              <a:t>      "source_url": "",</a:t>
            </a:r>
          </a:p>
          <a:p>
            <a:r>
              <a:t>      "source_type": "model_forecast",</a:t>
            </a:r>
          </a:p>
          <a:p>
            <a:r>
              <a:t>      "model_version": "regional-demand-v3.1",</a:t>
            </a:r>
          </a:p>
          <a:p>
            <a:r>
              <a:t>      "data_fingerprint": "b54445dc6e4c68c2130c72df908d376d3e7b474c59a1e83c7607f206257cf12c"</a:t>
            </a:r>
          </a:p>
          <a:p>
            <a:r>
              <a:t>    },</a:t>
            </a:r>
          </a:p>
          <a:p>
            <a:r>
              <a:t>    {</a:t>
            </a:r>
          </a:p>
          <a:p>
            <a:r>
              <a:t>      "title": "가보자순대국",</a:t>
            </a:r>
          </a:p>
          <a:p>
            <a:r>
              <a:t>      "address": "강원특별자치도 춘천시 율문2길 11",</a:t>
            </a:r>
          </a:p>
          <a:p>
            <a:r>
              <a:t>      "summary": "한국관광공사 국문관광정보 API가 반환한 선택 지역 관광자원",</a:t>
            </a:r>
          </a:p>
          <a:p>
            <a:r>
              <a:t>      "image_url": "http://tong.visitkorea.or.kr/cms/resource/95/2891695_image2_1.jpg",</a:t>
            </a:r>
          </a:p>
          <a:p>
            <a:r>
              <a:t>      "source_id": "tour-api:2891703",</a:t>
            </a:r>
          </a:p>
          <a:p>
            <a:r>
              <a:t>      "content_id": "2891703",</a:t>
            </a:r>
          </a:p>
          <a:p>
            <a:r>
              <a:t>      "source_url": "https://apis.data.go.kr/B551011/KorService2",</a:t>
            </a:r>
          </a:p>
          <a:p>
            <a:r>
              <a:t>      "source_type": "open_api",</a:t>
            </a:r>
          </a:p>
          <a:p>
            <a:r>
              <a:t>      "content_type_id": "39"</a:t>
            </a:r>
          </a:p>
          <a:p>
            <a:r>
              <a:t>    },</a:t>
            </a:r>
          </a:p>
          <a:p>
            <a:r>
              <a:t>    {</a:t>
            </a:r>
          </a:p>
          <a:p>
            <a:r>
              <a:t>      "title": "가평1등수상레저",</a:t>
            </a:r>
          </a:p>
          <a:p>
            <a:r>
              <a:t>      "address": "강원특별자치도 춘천시 남면 박암관천길 511-55",</a:t>
            </a:r>
          </a:p>
          <a:p>
            <a:r>
              <a:t>      "summary": "한국관광공사 국문관광정보 API가 반환한 선택 지역 관광자원",</a:t>
            </a:r>
          </a:p>
          <a:p>
            <a:r>
              <a:t>      "image_url": "http://tong.visitkorea.or.kr/cms/resource/64/3083064_image2_1.jpg",</a:t>
            </a:r>
          </a:p>
          <a:p>
            <a:r>
              <a:t>      "source_id": "tour-api:3083085",</a:t>
            </a:r>
          </a:p>
          <a:p>
            <a:r>
              <a:t>      "content_id": "3083085",</a:t>
            </a:r>
          </a:p>
          <a:p>
            <a:r>
              <a:t>      "source_url": "https://apis.data.go.kr/B551011/KorService2",</a:t>
            </a:r>
          </a:p>
          <a:p>
            <a:r>
              <a:t>      "source_type": "open_api",</a:t>
            </a:r>
          </a:p>
          <a:p>
            <a:r>
              <a:t>      "content_type_id": "28"</a:t>
            </a:r>
          </a:p>
          <a:p>
            <a:r>
              <a:t>    },</a:t>
            </a:r>
          </a:p>
          <a:p>
            <a:r>
              <a:t>    {</a:t>
            </a:r>
          </a:p>
          <a:p>
            <a:r>
              <a:t>      "title": "강원 경찰충혼탑",</a:t>
            </a:r>
          </a:p>
          <a:p>
            <a:r>
              <a:t>      "address": "강원특별자치도 춘천시 서면 신매리",</a:t>
            </a:r>
          </a:p>
          <a:p>
            <a:r>
              <a:t>      "summary": "한국관광공사 국문관광정보 API가 반환한 선택 지역 관광자원",</a:t>
            </a:r>
          </a:p>
          <a:p>
            <a:r>
              <a:t>      "image_url": "http://tong.visitkorea.or.kr/cms/resource/36/3381636_image2_1.JPG",</a:t>
            </a:r>
          </a:p>
          <a:p>
            <a:r>
              <a:t>      "source_id": "tour-api:128778",</a:t>
            </a:r>
          </a:p>
          <a:p>
            <a:r>
              <a:t>      "content_id": "128778",</a:t>
            </a:r>
          </a:p>
          <a:p>
            <a:r>
              <a:t>      "source_url": "https://apis.data.go.kr/B551011/KorService2",</a:t>
            </a:r>
          </a:p>
          <a:p>
            <a:r>
              <a:t>      "source_type": "open_api",</a:t>
            </a:r>
          </a:p>
          <a:p>
            <a:r>
              <a:t>      "content_type_id": "12"</a:t>
            </a:r>
          </a:p>
          <a:p>
            <a:r>
              <a:t>    },</a:t>
            </a:r>
          </a:p>
          <a:p>
            <a:r>
              <a:t>    {</a:t>
            </a:r>
          </a:p>
          <a:p>
            <a:r>
              <a:t>      "title": "강원대학교중앙박물관",</a:t>
            </a:r>
          </a:p>
          <a:p>
            <a:r>
              <a:t>      "address": "강원특별자치도 춘천시 공지로 188-77 (효자동)",</a:t>
            </a:r>
          </a:p>
          <a:p>
            <a:r>
              <a:t>      "summary": "한국관광공사 국문관광정보 API가 반환한 선택 지역 관광자원",</a:t>
            </a:r>
          </a:p>
          <a:p>
            <a:r>
              <a:t>      "image_url": "http://tong.visitkorea.or.kr/cms/resource/58/3475458_image2_1.jpg",</a:t>
            </a:r>
          </a:p>
          <a:p>
            <a:r>
              <a:t>      "source_id": "tour-api:129840",</a:t>
            </a:r>
          </a:p>
          <a:p>
            <a:r>
              <a:t>      "content_id": "129840",</a:t>
            </a:r>
          </a:p>
          <a:p>
            <a:r>
              <a:t>      "source_url": "https://apis.data.go.kr/B551011/KorService2",</a:t>
            </a:r>
          </a:p>
          <a:p>
            <a:r>
              <a:t>      "source_type": "open_api",</a:t>
            </a:r>
          </a:p>
          <a:p>
            <a:r>
              <a:t>      "content_type_id": "14"</a:t>
            </a:r>
          </a:p>
          <a:p>
            <a:r>
              <a:t>    },</a:t>
            </a:r>
          </a:p>
          <a:p>
            <a:r>
              <a:t>    {</a:t>
            </a:r>
          </a:p>
          <a:p>
            <a:r>
              <a:t>      "title": "강원숲체험장",</a:t>
            </a:r>
          </a:p>
          <a:p>
            <a:r>
              <a:t>      "address": "강원특별자치도 춘천시 서면 납실길 107-64",</a:t>
            </a:r>
          </a:p>
          <a:p>
            <a:r>
              <a:t>      "summary": "한국관광공사 국문관광정보 API가 반환한 선택 지역 관광자원",</a:t>
            </a:r>
          </a:p>
          <a:p>
            <a:r>
              <a:t>      "image_url": "http://tong.visitkorea.or.kr/cms/resource/11/2739711_image2_1.jpg",</a:t>
            </a:r>
          </a:p>
          <a:p>
            <a:r>
              <a:t>      "source_id": "tour-api:2610850",</a:t>
            </a:r>
          </a:p>
          <a:p>
            <a:r>
              <a:t>      "content_id": "2610850",</a:t>
            </a:r>
          </a:p>
          <a:p>
            <a:r>
              <a:t>      "source_url": "https://apis.data.go.kr/B551011/KorService2",</a:t>
            </a:r>
          </a:p>
          <a:p>
            <a:r>
              <a:t>      "source_type": "open_api",</a:t>
            </a:r>
          </a:p>
          <a:p>
            <a:r>
              <a:t>      "content_type_id": "12"</a:t>
            </a:r>
          </a:p>
          <a:p>
            <a:r>
              <a:t>    },</a:t>
            </a:r>
          </a:p>
          <a:p>
            <a:r>
              <a:t>    {</a:t>
            </a:r>
          </a:p>
          <a:p>
            <a:r>
              <a:t>      "title": "강원특별자치도청소년수련원",</a:t>
            </a:r>
          </a:p>
          <a:p>
            <a:r>
              <a:t>      "address": "강원특별자치도 춘천시 신샘밭로 89",</a:t>
            </a:r>
          </a:p>
          <a:p>
            <a:r>
              <a:t>      "summary": "한국관광공사 국문관광정보 API가 반환한 선택 지역 관광자원",</a:t>
            </a:r>
          </a:p>
          <a:p>
            <a:r>
              <a:t>      "image_url": "http://tong.visitkorea.or.kr/cms/resource/05/3382505_image2_1.JPG",</a:t>
            </a:r>
          </a:p>
          <a:p>
            <a:r>
              <a:t>      "source_id": "tour-api:131456",</a:t>
            </a:r>
          </a:p>
          <a:p>
            <a:r>
              <a:t>      "content_id": "131456",</a:t>
            </a:r>
          </a:p>
          <a:p>
            <a:r>
              <a:t>      "source_url": "https://apis.data.go.kr/B551011/KorService2",</a:t>
            </a:r>
          </a:p>
          <a:p>
            <a:r>
              <a:t>      "source_type": "open_api",</a:t>
            </a:r>
          </a:p>
          <a:p>
            <a:r>
              <a:t>      "content_type_id": "28"</a:t>
            </a:r>
          </a:p>
          <a:p>
            <a:r>
              <a:t>    },</a:t>
            </a:r>
          </a:p>
          <a:p>
            <a:r>
              <a:t>    {</a:t>
            </a:r>
          </a:p>
          <a:p>
            <a:r>
              <a:t>      "title": "강촌 출렁다리공원",</a:t>
            </a:r>
          </a:p>
          <a:p>
            <a:r>
              <a:t>      "address": "강원특별자치도 춘천시 남산면 강촌리",</a:t>
            </a:r>
          </a:p>
          <a:p>
            <a:r>
              <a:t>      "summary": "한국관광공사 국문관광정보 API가 반환한 선택 지역 관광자원",</a:t>
            </a:r>
          </a:p>
          <a:p>
            <a:r>
              <a:t>      "image_url": "http://tong.visitkorea.or.kr/cms/resource/96/3382296_image2_1.JPG",</a:t>
            </a:r>
          </a:p>
          <a:p>
            <a:r>
              <a:t>      "source_id": "tour-api:2706334",</a:t>
            </a:r>
          </a:p>
          <a:p>
            <a:r>
              <a:t>      "content_id": "2706334",</a:t>
            </a:r>
          </a:p>
          <a:p>
            <a:r>
              <a:t>      "source_url": "https://apis.data.go.kr/B551011/KorService2",</a:t>
            </a:r>
          </a:p>
          <a:p>
            <a:r>
              <a:t>      "source_type": "open_api",</a:t>
            </a:r>
          </a:p>
          <a:p>
            <a:r>
              <a:t>      "content_type_id": "12"</a:t>
            </a:r>
          </a:p>
          <a:p>
            <a:r>
              <a:t>    },</a:t>
            </a:r>
          </a:p>
          <a:p>
            <a:r>
              <a:t>    {</a:t>
            </a:r>
          </a:p>
          <a:p>
            <a:r>
              <a:t>      "title": "강촌레일파크(김유정레일바이크)",</a:t>
            </a:r>
          </a:p>
          <a:p>
            <a:r>
              <a:t>      "address": "강원특별자치도 춘천시 신동면 김유정로 1383",</a:t>
            </a:r>
          </a:p>
          <a:p>
            <a:r>
              <a:t>      "summary": "한국관광공사 국문관광정보 API가 반환한 선택 지역 관광자원",</a:t>
            </a:r>
          </a:p>
          <a:p>
            <a:r>
              <a:t>      "image_url": "http://tong.visitkorea.or.kr/cms/resource/48/2739748_image2_1.jpeg",</a:t>
            </a:r>
          </a:p>
          <a:p>
            <a:r>
              <a:t>      "source_id": "tour-api:1947118",</a:t>
            </a:r>
          </a:p>
          <a:p>
            <a:r>
              <a:t>      "content_id": "1947118",</a:t>
            </a:r>
          </a:p>
          <a:p>
            <a:r>
              <a:t>      "source_url": "https://apis.data.go.kr/B551011/KorService2",</a:t>
            </a:r>
          </a:p>
          <a:p>
            <a:r>
              <a:t>      "source_type": "open_api",</a:t>
            </a:r>
          </a:p>
          <a:p>
            <a:r>
              <a:t>      "content_type_id": "28"</a:t>
            </a:r>
          </a:p>
          <a:p>
            <a:r>
              <a:t>    },</a:t>
            </a:r>
          </a:p>
          <a:p>
            <a:r>
              <a:t>    {</a:t>
            </a:r>
          </a:p>
          <a:p>
            <a:r>
              <a:t>      "title": "강촌버즈글램핑",</a:t>
            </a:r>
          </a:p>
          <a:p>
            <a:r>
              <a:t>      "address": "강원특별자치도 춘천시 서면 율장길 122-28",</a:t>
            </a:r>
          </a:p>
          <a:p>
            <a:r>
              <a:t>      "summary": "한국관광공사 국문관광정보 API가 반환한 선택 지역 관광자원",</a:t>
            </a:r>
          </a:p>
          <a:p>
            <a:r>
              <a:t>      "image_url": "http://tong.visitkorea.or.kr/cms/resource/44/2760044_image2_1.JPG",</a:t>
            </a:r>
          </a:p>
          <a:p>
            <a:r>
              <a:t>      "source_id": "tour-api:2759582",</a:t>
            </a:r>
          </a:p>
          <a:p>
            <a:r>
              <a:t>      "content_id": "2759582",</a:t>
            </a:r>
          </a:p>
          <a:p>
            <a:r>
              <a:t>      "source_url": "https://apis.data.go.kr/B551011/KorService2",</a:t>
            </a:r>
          </a:p>
          <a:p>
            <a:r>
              <a:t>      "source_type": "open_api",</a:t>
            </a:r>
          </a:p>
          <a:p>
            <a:r>
              <a:t>      "content_type_id": "28"</a:t>
            </a:r>
          </a:p>
          <a:p>
            <a:r>
              <a:t>    },</a:t>
            </a:r>
          </a:p>
          <a:p>
            <a:r>
              <a:t>    {</a:t>
            </a:r>
          </a:p>
          <a:p>
            <a:r>
              <a:t>      "title": "강촌유원지",</a:t>
            </a:r>
          </a:p>
          <a:p>
            <a:r>
              <a:t>      "address": "강원특별자치도 춘천시 남산면 일원",</a:t>
            </a:r>
          </a:p>
          <a:p>
            <a:r>
              <a:t>      "summary": "한국관광공사 국문관광정보 API가 반환한 선택 지역 관광자원",</a:t>
            </a:r>
          </a:p>
          <a:p>
            <a:r>
              <a:t>      "image_url": "http://tong.visitkorea.or.kr/cms/resource/64/3533864_image2_1.jpg",</a:t>
            </a:r>
          </a:p>
          <a:p>
            <a:r>
              <a:t>      "source_id": "tour-api:125605",</a:t>
            </a:r>
          </a:p>
          <a:p>
            <a:r>
              <a:t>      "content_id": "125605",</a:t>
            </a:r>
          </a:p>
          <a:p>
            <a:r>
              <a:t>      "source_url": "https://apis.data.go.kr/B551011/KorService2",</a:t>
            </a:r>
          </a:p>
          <a:p>
            <a:r>
              <a:t>      "source_type": "open_api",</a:t>
            </a:r>
          </a:p>
          <a:p>
            <a:r>
              <a:t>      "content_type_id": "12"</a:t>
            </a:r>
          </a:p>
          <a:p>
            <a:r>
              <a:t>    },</a:t>
            </a:r>
          </a:p>
          <a:p>
            <a:r>
              <a:t>    {</a:t>
            </a:r>
          </a:p>
          <a:p>
            <a:r>
              <a:t>      "title": "강촌하늘아래글램핑",</a:t>
            </a:r>
          </a:p>
          <a:p>
            <a:r>
              <a:t>      "address": "강원특별자치도 춘천시 남산면 풀무골1길 71",</a:t>
            </a:r>
          </a:p>
          <a:p>
            <a:r>
              <a:t>      "summary": "한국관광공사 국문관광정보 API가 반환한 선택 지역 관광자원",</a:t>
            </a:r>
          </a:p>
          <a:p>
            <a:r>
              <a:t>      "image_url": "http://tong.visitkorea.or.kr/cms/resource/45/2741645_image2_1.JPG",</a:t>
            </a:r>
          </a:p>
          <a:p>
            <a:r>
              <a:t>      "source_id": "tour-api:2741528",</a:t>
            </a:r>
          </a:p>
          <a:p>
            <a:r>
              <a:t>      "content_id": "2741528",</a:t>
            </a:r>
          </a:p>
          <a:p>
            <a:r>
              <a:t>      "source_url": "https://apis.data.go.kr/B551011/KorService2",</a:t>
            </a:r>
          </a:p>
          <a:p>
            <a:r>
              <a:t>      "source_type": "open_api",</a:t>
            </a:r>
          </a:p>
          <a:p>
            <a:r>
              <a:t>      "content_type_id": "28"</a:t>
            </a:r>
          </a:p>
          <a:p>
            <a:r>
              <a:t>    },</a:t>
            </a:r>
          </a:p>
          <a:p>
            <a:r>
              <a:t>    {</a:t>
            </a:r>
          </a:p>
          <a:p>
            <a:r>
              <a:t>      "title": "경강막국수",</a:t>
            </a:r>
          </a:p>
          <a:p>
            <a:r>
              <a:t>      "address": "강원특별자치도 춘천시 남산면 서백길 62-4",</a:t>
            </a:r>
          </a:p>
          <a:p>
            <a:r>
              <a:t>      "summary": "한국관광공사 국문관광정보 API가 반환한 선택 지역 관광자원",</a:t>
            </a:r>
          </a:p>
          <a:p>
            <a:r>
              <a:t>      "image_url": "http://tong.visitkorea.or.kr/cms/resource/39/3046639_image2_1.jpg",</a:t>
            </a:r>
          </a:p>
          <a:p>
            <a:r>
              <a:t>      "source_id": "tour-api:391742",</a:t>
            </a:r>
          </a:p>
          <a:p>
            <a:r>
              <a:t>      "content_id": "391742",</a:t>
            </a:r>
          </a:p>
          <a:p>
            <a:r>
              <a:t>      "source_url": "https://apis.data.go.kr/B551011/KorService2",</a:t>
            </a:r>
          </a:p>
          <a:p>
            <a:r>
              <a:t>      "source_type": "open_api",</a:t>
            </a:r>
          </a:p>
          <a:p>
            <a:r>
              <a:t>      "content_type_id": "39"</a:t>
            </a:r>
          </a:p>
          <a:p>
            <a:r>
              <a:t>    },</a:t>
            </a:r>
          </a:p>
          <a:p>
            <a:r>
              <a:t>    {</a:t>
            </a:r>
          </a:p>
          <a:p>
            <a:r>
              <a:t>      "title": "고목",</a:t>
            </a:r>
          </a:p>
          <a:p>
            <a:r>
              <a:t>      "address": "강원특별자치도 춘천시 남산면 남이섬길 1",</a:t>
            </a:r>
          </a:p>
          <a:p>
            <a:r>
              <a:t>      "summary": "한국관광공사 국문관광정보 API가 반환한 선택 지역 관광자원",</a:t>
            </a:r>
          </a:p>
          <a:p>
            <a:r>
              <a:t>      "image_url": "http://tong.visitkorea.or.kr/cms/resource/92/2919892_image2_1.jpg",</a:t>
            </a:r>
          </a:p>
          <a:p>
            <a:r>
              <a:t>      "source_id": "tour-api:2558052",</a:t>
            </a:r>
          </a:p>
          <a:p>
            <a:r>
              <a:t>      "content_id": "2558052",</a:t>
            </a:r>
          </a:p>
          <a:p>
            <a:r>
              <a:t>      "source_url": "https://apis.data.go.kr/B551011/KorService2",</a:t>
            </a:r>
          </a:p>
          <a:p>
            <a:r>
              <a:t>      "source_type": "open_api",</a:t>
            </a:r>
          </a:p>
          <a:p>
            <a:r>
              <a:t>      "content_type_id": "39"</a:t>
            </a:r>
          </a:p>
          <a:p>
            <a:r>
              <a:t>    },</a:t>
            </a:r>
          </a:p>
          <a:p>
            <a:r>
              <a:t>    {</a:t>
            </a:r>
          </a:p>
          <a:p>
            <a:r>
              <a:t>      "title": "공지천 조각공원",</a:t>
            </a:r>
          </a:p>
          <a:p>
            <a:r>
              <a:t>      "address": "강원특별자치도 춘천시 옛경춘로 880 (근화동)",</a:t>
            </a:r>
          </a:p>
          <a:p>
            <a:r>
              <a:t>      "summary": "한국관광공사 국문관광정보 API가 반환한 선택 지역 관광자원",</a:t>
            </a:r>
          </a:p>
          <a:p>
            <a:r>
              <a:t>      "image_url": "http://tong.visitkorea.or.kr/cms/resource/31/3072531_image2_1.jpg",</a:t>
            </a:r>
          </a:p>
          <a:p>
            <a:r>
              <a:t>      "source_id": "tour-api:129004",</a:t>
            </a:r>
          </a:p>
          <a:p>
            <a:r>
              <a:t>      "content_id": "129004",</a:t>
            </a:r>
          </a:p>
          <a:p>
            <a:r>
              <a:t>      "source_url": "https://apis.data.go.kr/B551011/KorService2",</a:t>
            </a:r>
          </a:p>
          <a:p>
            <a:r>
              <a:t>      "source_type": "open_api",</a:t>
            </a:r>
          </a:p>
          <a:p>
            <a:r>
              <a:t>      "content_type_id": "14"</a:t>
            </a:r>
          </a:p>
          <a:p>
            <a:r>
              <a:t>    },</a:t>
            </a:r>
          </a:p>
          <a:p>
            <a:r>
              <a:t>    {</a:t>
            </a:r>
          </a:p>
          <a:p>
            <a:r>
              <a:t>      "title": "구곡폭포 국민여가 캠핑장",</a:t>
            </a:r>
          </a:p>
          <a:p>
            <a:r>
              <a:t>      "address": "강원특별자치도 춘천시 남산면 강촌구곡길 324",</a:t>
            </a:r>
          </a:p>
          <a:p>
            <a:r>
              <a:t>      "summary": "한국관광공사 국문관광정보 API가 반환한 선택 지역 관광자원",</a:t>
            </a:r>
          </a:p>
          <a:p>
            <a:r>
              <a:t>      "image_url": "http://tong.visitkorea.or.kr/cms/resource/70/2793870_image2_1.jpg",</a:t>
            </a:r>
          </a:p>
          <a:p>
            <a:r>
              <a:t>      "source_id": "tour-api:2792017",</a:t>
            </a:r>
          </a:p>
          <a:p>
            <a:r>
              <a:t>      "content_id": "2792017",</a:t>
            </a:r>
          </a:p>
          <a:p>
            <a:r>
              <a:t>      "source_url": "https://apis.data.go.kr/B551011/KorService2",</a:t>
            </a:r>
          </a:p>
          <a:p>
            <a:r>
              <a:t>      "source_type": "open_api",</a:t>
            </a:r>
          </a:p>
          <a:p>
            <a:r>
              <a:t>      "content_type_id": "28"</a:t>
            </a:r>
          </a:p>
          <a:p>
            <a:r>
              <a:t>    },</a:t>
            </a:r>
          </a:p>
          <a:p>
            <a:r>
              <a:t>    {</a:t>
            </a:r>
          </a:p>
          <a:p>
            <a:r>
              <a:t>      "title": "구봉산",</a:t>
            </a:r>
          </a:p>
          <a:p>
            <a:r>
              <a:t>      "address": "강원특별자치도 춘천시 동면 순환대로 1154-115",</a:t>
            </a:r>
          </a:p>
          <a:p>
            <a:r>
              <a:t>      "summary": "한국관광공사 국문관광정보 API가 반환한 선택 지역 관광자원",</a:t>
            </a:r>
          </a:p>
          <a:p>
            <a:r>
              <a:t>      "image_url": "http://tong.visitkorea.or.kr/cms/resource/54/529954_image2_1.jpg",</a:t>
            </a:r>
          </a:p>
          <a:p>
            <a:r>
              <a:t>      "source_id": "tour-api:2714558",</a:t>
            </a:r>
          </a:p>
          <a:p>
            <a:r>
              <a:t>      "content_id": "2714558",</a:t>
            </a:r>
          </a:p>
          <a:p>
            <a:r>
              <a:t>      "source_url": "https://apis.data.go.kr/B551011/KorService2",</a:t>
            </a:r>
          </a:p>
          <a:p>
            <a:r>
              <a:t>      "source_type": "open_api",</a:t>
            </a:r>
          </a:p>
          <a:p>
            <a:r>
              <a:t>      "content_type_id": "12"</a:t>
            </a:r>
          </a:p>
          <a:p>
            <a:r>
              <a:t>    },</a:t>
            </a:r>
          </a:p>
          <a:p>
            <a:r>
              <a:t>    {</a:t>
            </a:r>
          </a:p>
          <a:p>
            <a:r>
              <a:t>      "title": "국립 용화산자연휴양림",</a:t>
            </a:r>
          </a:p>
          <a:p>
            <a:r>
              <a:t>      "address": "강원특별자치도 춘천시 사북면 사여골길 294",</a:t>
            </a:r>
          </a:p>
          <a:p>
            <a:r>
              <a:t>      "summary": "한국관광공사 국문관광정보 API가 반환한 선택 지역 관광자원",</a:t>
            </a:r>
          </a:p>
          <a:p>
            <a:r>
              <a:t>      "image_url": "http://tong.visitkorea.or.kr/cms/resource/90/3351390_image2_1.jpg",</a:t>
            </a:r>
          </a:p>
          <a:p>
            <a:r>
              <a:t>      "source_id": "tour-api:407225",</a:t>
            </a:r>
          </a:p>
          <a:p>
            <a:r>
              <a:t>      "content_id": "407225",</a:t>
            </a:r>
          </a:p>
          <a:p>
            <a:r>
              <a:t>      "source_url": "https://apis.data.go.kr/B551011/KorService2",</a:t>
            </a:r>
          </a:p>
          <a:p>
            <a:r>
              <a:t>      "source_type": "open_api",</a:t>
            </a:r>
          </a:p>
          <a:p>
            <a:r>
              <a:t>      "content_type_id": "12"</a:t>
            </a:r>
          </a:p>
          <a:p>
            <a:r>
              <a:t>    },</a:t>
            </a:r>
          </a:p>
          <a:p>
            <a:r>
              <a:t>    {</a:t>
            </a:r>
          </a:p>
          <a:p>
            <a:r>
              <a:t>      "title": "국립춘천숲체원",</a:t>
            </a:r>
          </a:p>
          <a:p>
            <a:r>
              <a:t>      "address": "강원특별자치도 춘천시 신북읍 장본2길 331",</a:t>
            </a:r>
          </a:p>
          <a:p>
            <a:r>
              <a:t>      "summary": "한국관광공사 국문관광정보 API가 반환한 선택 지역 관광자원",</a:t>
            </a:r>
          </a:p>
          <a:p>
            <a:r>
              <a:t>      "image_url": "http://tong.visitkorea.or.kr/cms/resource/86/3439986_image2_1.jpg",</a:t>
            </a:r>
          </a:p>
          <a:p>
            <a:r>
              <a:t>      "source_id": "tour-api:2710587",</a:t>
            </a:r>
          </a:p>
          <a:p>
            <a:r>
              <a:t>      "content_id": "2710587",</a:t>
            </a:r>
          </a:p>
          <a:p>
            <a:r>
              <a:t>      "source_url": "https://apis.data.go.kr/B551011/KorService2",</a:t>
            </a:r>
          </a:p>
          <a:p>
            <a:r>
              <a:t>      "source_type": "open_api",</a:t>
            </a:r>
          </a:p>
          <a:p>
            <a:r>
              <a:t>      "content_type_id": "12"</a:t>
            </a:r>
          </a:p>
          <a:p>
            <a:r>
              <a:t>    },</a:t>
            </a:r>
          </a:p>
          <a:p>
            <a:r>
              <a:t>    {</a:t>
            </a:r>
          </a:p>
          <a:p>
            <a:r>
              <a:t>      "title": "군자숯불닭갈비",</a:t>
            </a:r>
          </a:p>
          <a:p>
            <a:r>
              <a:t>      "address": "강원특별자치도 춘천시 동산면 종자리로 148-8",</a:t>
            </a:r>
          </a:p>
          <a:p>
            <a:r>
              <a:t>      "summary": "한국관광공사 국문관광정보 API가 반환한 선택 지역 관광자원",</a:t>
            </a:r>
          </a:p>
          <a:p>
            <a:r>
              <a:t>      "image_url": "http://tong.visitkorea.or.kr/cms/resource/65/2776965_image2_1.JPG",</a:t>
            </a:r>
          </a:p>
          <a:p>
            <a:r>
              <a:t>      "source_id": "tour-api:2774528",</a:t>
            </a:r>
          </a:p>
          <a:p>
            <a:r>
              <a:t>      "content_id": "2774528",</a:t>
            </a:r>
          </a:p>
          <a:p>
            <a:r>
              <a:t>      "source_url": "https://apis.data.go.kr/B551011/KorService2",</a:t>
            </a:r>
          </a:p>
          <a:p>
            <a:r>
              <a:t>      "source_type": "open_api",</a:t>
            </a:r>
          </a:p>
          <a:p>
            <a:r>
              <a:t>      "content_type_id": "39"</a:t>
            </a:r>
          </a:p>
          <a:p>
            <a:r>
              <a:t>    },</a:t>
            </a:r>
          </a:p>
          <a:p>
            <a:r>
              <a:t>    {</a:t>
            </a:r>
          </a:p>
          <a:p>
            <a:r>
              <a:t>      "title": "근화동396청년창업공간",</a:t>
            </a:r>
          </a:p>
          <a:p>
            <a:r>
              <a:t>      "address": "강원특별자치도 춘천시 중앙로 186",</a:t>
            </a:r>
          </a:p>
          <a:p>
            <a:r>
              <a:t>      "summary": "한국관광공사 국문관광정보 API가 반환한 선택 지역 관광자원",</a:t>
            </a:r>
          </a:p>
          <a:p>
            <a:r>
              <a:t>      "image_url": "http://tong.visitkorea.or.kr/cms/resource/18/3351718_image2_1.jpg",</a:t>
            </a:r>
          </a:p>
          <a:p>
            <a:r>
              <a:t>      "source_id": "tour-api:2710596",</a:t>
            </a:r>
          </a:p>
          <a:p>
            <a:r>
              <a:t>      "content_id": "2710596",</a:t>
            </a:r>
          </a:p>
          <a:p>
            <a:r>
              <a:t>      "source_url": "https://apis.data.go.kr/B551011/KorService2",</a:t>
            </a:r>
          </a:p>
          <a:p>
            <a:r>
              <a:t>      "source_type": "open_api",</a:t>
            </a:r>
          </a:p>
          <a:p>
            <a:r>
              <a:t>      "content_type_id": "12"</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"결제",</a:t>
            </a:r>
          </a:p>
          <a:p>
            <a:r>
              <a:t>        "관광사업",</a:t>
            </a:r>
          </a:p>
          <a:p>
            <a:r>
              <a:t>        "상권",</a:t>
            </a:r>
          </a:p>
          <a:p>
            <a:r>
              <a:t>        "성과",</a:t>
            </a:r>
          </a:p>
          <a:p>
            <a:r>
              <a:t>        "소비",</a:t>
            </a:r>
          </a:p>
          <a:p>
            <a:r>
              <a:t>        "수와",</a:t>
            </a:r>
          </a:p>
          <a:p>
            <a:r>
              <a:t>        "숙박",</a:t>
            </a:r>
          </a:p>
          <a:p>
            <a:r>
              <a:t>        "실제",</a:t>
            </a:r>
          </a:p>
          <a:p>
            <a:r>
              <a:t>        "실행",</a:t>
            </a:r>
          </a:p>
          <a:p>
            <a:r>
              <a:t>        "연결한",</a:t>
            </a:r>
          </a:p>
          <a:p>
            <a:r>
              <a:t>        "연계",</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43쪽, PDF 38쪽, PDF 40쪽, PDF 41쪽, PDF 36쪽, PDF 41쪽, PDF 44쪽, PDF 43쪽,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"reference:kto:2026:local-airport:page:036:chunk:01",</a:t>
            </a:r>
          </a:p>
          <a:p>
            <a:r>
              <a:t>        "reference:kto:2026:local-airport:page:038:chunk:01",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"reference:kto:2026:local-airport:page:044:chunk:02"</a:t>
            </a:r>
          </a:p>
          <a:p>
            <a:r>
              <a:t>      ],</a:t>
            </a:r>
          </a:p>
          <a:p>
            <a:r>
              <a:t>      "source_chunk_count": 10</a:t>
            </a:r>
          </a:p>
          <a:p>
            <a:r>
              <a:t>    },</a:t>
            </a:r>
          </a:p>
          <a:p>
            <a:r>
              <a:t>    {</a:t>
            </a:r>
          </a:p>
          <a:p>
            <a:r>
              <a:t>      "title": "전주시 2026년도 관광산업과 세출예산 사업명세서",</a:t>
            </a:r>
          </a:p>
          <a:p>
            <a:r>
              <a:t>      "summary": "전북특별자치도 전주시 · 야간관광 특화도시 예산 편성 · 예산서이므로 방문·소비 성과는 확인되지 않음",</a:t>
            </a:r>
          </a:p>
          <a:p>
            <a:r>
              <a:t>      "source_id": "case:jeonju_night_budget_2026",</a:t>
            </a:r>
          </a:p>
          <a:p>
            <a:r>
              <a:t>      "source_url": "https://jeonju.go.kr/resource/www/images/download/budget/2026/2026_31_2.pdf",</a:t>
            </a:r>
          </a:p>
          <a:p>
            <a:r>
              <a:t>      "case_region": "전북특별자치도 전주시",</a:t>
            </a:r>
          </a:p>
          <a:p>
            <a:r>
              <a:t>      "source_type": "benchmark_case",</a:t>
            </a:r>
          </a:p>
          <a:p>
            <a:r>
              <a:t>      "intervention": "야간관광 특화도시 예산 편성",</a:t>
            </a:r>
          </a:p>
          <a:p>
            <a:r>
              <a:t>      "operating_model": "사무관리, 행사운영, 연구용역, 민간경상보조 등으로 사업비를 항목별 편성",</a:t>
            </a:r>
          </a:p>
          <a:p>
            <a:r>
              <a:t>      "evidence_strength": "high",</a:t>
            </a:r>
          </a:p>
          <a:p>
            <a:r>
              <a:t>      "published_or_updated_at": "2026",</a:t>
            </a:r>
          </a:p>
          <a:p>
            <a:r>
              <a:t>      "quantitative_result_approved": null</a:t>
            </a:r>
          </a:p>
          <a:p>
            <a:r>
              <a:t>    },</a:t>
            </a:r>
          </a:p>
          <a:p>
            <a:r>
              <a:t>    {</a:t>
            </a:r>
          </a:p>
          <a:p>
            <a:r>
              <a:t>      "title": "섬에서의 특별한 경험, ‘인천 섬 도도하게 살아보기’로 누린다",</a:t>
            </a:r>
          </a:p>
          <a:p>
            <a:r>
              <a:t>      "summary": "인천광역시 강화군·옹진군 소재 섬 · 인천 섬 도도하게 살아보기—주민 숙박·식사·체험을 묶은 예약형 체류상품 · 2022년 7월 31일 기준 목표 700명 중 228명이 예약해 모객률 33%를 기록했다. 2023년에는 약 1,600명이 15개 섬을 방문한 것으로 인천시가 공개했다. 주민 소득 증가액과 비교집단 기반 체류 순증효과는 공식 자료에서 확인되지 않음.",</a:t>
            </a:r>
          </a:p>
          <a:p>
            <a:r>
              <a:t>      "source_id": "case:291a33370ec9b1",</a:t>
            </a:r>
          </a:p>
          <a:p>
            <a:r>
              <a:t>      "source_url": "https://www.incheon.go.kr/mayor_8/MA040101/view?curPage=236&amp;repSeq=DOM_0000000010488055",</a:t>
            </a:r>
          </a:p>
          <a:p>
            <a:r>
              <a:t>      "case_region": "인천광역시 강화군·옹진군 소재 섬",</a:t>
            </a:r>
          </a:p>
          <a:p>
            <a:r>
              <a:t>      "source_type": "benchmark_case",</a:t>
            </a:r>
          </a:p>
          <a:p>
            <a:r>
              <a:t>      "intervention": "인천 섬 도도하게 살아보기—주민 숙박·식사·체험을 묶은 예약형 체류상품",</a:t>
            </a:r>
          </a:p>
          <a:p>
            <a:r>
              <a:t>      "operating_model": "섬별로 2박 3일 또는 3박 4일 상품을 정해진 회차로 판매했다. 주민 운영 숙소·음식점과 낚시, 트레킹, 해양레저, 로컬체험을 하나의 예약상품으로 묶고 상품가격의 일부를 공공이 지원했다. 2024년 자료에는 섬별 최대 50% 지원 구조가 제시됐다.",</a:t>
            </a:r>
          </a:p>
          <a:p>
            <a:r>
              <a:t>      "evidence_strength": "medium",</a:t>
            </a:r>
          </a:p>
          <a:p>
            <a:r>
              <a:t>      "published_or_updated_at": "2024-08-12",</a:t>
            </a:r>
          </a:p>
          <a:p>
            <a:r>
              <a:t>      "quantitative_result_approved": null</a:t>
            </a:r>
          </a:p>
          <a:p>
            <a:r>
              <a:t>    },</a:t>
            </a:r>
          </a:p>
          <a:p>
            <a:r>
              <a:t>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"published_or_updated_at": "2025",</a:t>
            </a:r>
          </a:p>
          <a:p>
            <a:r>
              <a:t>      "quantitative_result_approved": null</a:t>
            </a:r>
          </a:p>
          <a:p>
            <a:r>
              <a:t>    },</a:t>
            </a:r>
          </a:p>
          <a:p>
            <a:r>
              <a:t>    {</a:t>
            </a:r>
          </a:p>
          <a:p>
            <a:r>
              <a:t>      "title": "2024년도 정부업무평가 관광분야 성과자료",</a:t>
            </a:r>
          </a:p>
          <a:p>
            <a:r>
              <a:t>      "summary": "야간관광 특화도시 10곳 · 상설 야간 콘텐츠와 경관·교통·안전 운영 · 정부업무평가 자료는 특화도시 10곳 방문객이 2023년 같은 기간보다 3% 증가했다고 기록",</a:t>
            </a:r>
          </a:p>
          <a:p>
            <a:r>
              <a:t>      "source_id": "case:night_tourism_cities_2024",</a:t>
            </a:r>
          </a:p>
          <a:p>
            <a:r>
              <a:t>      "source_url": "https://www.evaluation.go.kr/upload2/atch/eval/20250429095846463.pdf",</a:t>
            </a:r>
          </a:p>
          <a:p>
            <a:r>
              <a:t>      "case_region": "야간관광 특화도시 10곳",</a:t>
            </a:r>
          </a:p>
          <a:p>
            <a:r>
              <a:t>      "source_type": "benchmark_case",</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"published_or_updated_at": "2025-04-29",</a:t>
            </a:r>
          </a:p>
          <a:p>
            <a:r>
              <a:t>      "quantitative_result_approved": null</a:t>
            </a:r>
          </a:p>
          <a:p>
            <a:r>
              <a:t>    }</a:t>
            </a:r>
          </a:p>
          <a:p>
            <a:r>
              <a:t>  ],</a:t>
            </a:r>
          </a:p>
          <a:p>
            <a:r>
              <a:t>  "selected_forecast": {</a:t>
            </a:r>
          </a:p>
          <a:p>
            <a:r>
              <a:t>    "rows": [</a:t>
            </a:r>
          </a:p>
          <a:p>
            <a:r>
              <a:t>      {</a:t>
            </a:r>
          </a:p>
          <a:p>
            <a:r>
              <a:t>        "month": "202609",</a:t>
            </a:r>
          </a:p>
          <a:p>
            <a:r>
              <a:t>        "visitors": 1948014.0,</a:t>
            </a:r>
          </a:p>
          <a:p>
            <a:r>
              <a:t>        "is_forecast": true,</a:t>
            </a:r>
          </a:p>
          <a:p>
            <a:r>
              <a:t>        "spending_krw": 44854616000.0,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2278280.0,</a:t>
            </a:r>
          </a:p>
          <a:p>
            <a:r>
              <a:t>        "is_forecast": true,</a:t>
            </a:r>
          </a:p>
          <a:p>
            <a:r>
              <a:t>        "spending_krw": 59504900000.0,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2018187.0,</a:t>
            </a:r>
          </a:p>
          <a:p>
            <a:r>
              <a:t>        "is_forecast": true,</a:t>
            </a:r>
          </a:p>
          <a:p>
            <a:r>
              <a:t>        "spending_krw": 50330837000.0,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"period": "202609~202611",</a:t>
            </a:r>
          </a:p>
          <a:p>
            <a:r>
              <a:t>    "complete": true,</a:t>
            </a:r>
          </a:p>
          <a:p>
            <a:r>
              <a:t>    "notes": [</a:t>
            </a:r>
          </a:p>
          <a:p>
            <a:r>
              <a:t>      "3개월 초과 예측 거리는 재귀 검증 범위 밖의 탐색 전망입니다."</a:t>
            </a:r>
          </a:p>
          <a:p>
            <a:r>
              <a:t>    ],</a:t>
            </a:r>
          </a:p>
          <a:p>
            <a:r>
              <a:t>    "selection_basis": "strategy_timeframe",</a:t>
            </a:r>
          </a:p>
          <a:p>
            <a:r>
              <a:t>    "requested_period": "202609~202611"</a:t>
            </a:r>
          </a:p>
          <a:p>
            <a:r>
              <a:t>  },</a:t>
            </a:r>
          </a:p>
          <a:p>
            <a:r>
              <a:t>  "all_ml_forecasts": [</a:t>
            </a:r>
          </a:p>
          <a:p>
            <a:r>
              <a:t>    {</a:t>
            </a:r>
          </a:p>
          <a:p>
            <a:r>
              <a:t>      "month": "202607",</a:t>
            </a:r>
          </a:p>
          <a:p>
            <a:r>
              <a:t>      "visitors": 1935310,</a:t>
            </a:r>
          </a:p>
          <a:p>
            <a:r>
              <a:t>      "is_forecast": true,</a:t>
            </a:r>
          </a:p>
          <a:p>
            <a:r>
              <a:t>      "spending_krw": 46823670000,</a:t>
            </a:r>
          </a:p>
          <a:p>
            <a:r>
              <a:t>      "stay_minutes": 1818.0,</a:t>
            </a:r>
          </a:p>
          <a:p>
            <a:r>
              <a:t>      "lodging_nights": 2.62,</a:t>
            </a:r>
          </a:p>
          <a:p>
            <a:r>
              <a:t>      "lodging_rate_pct": 16.7,</a:t>
            </a:r>
          </a:p>
          <a:p>
            <a:r>
              <a:t>      "lodging_searches": 35770,</a:t>
            </a:r>
          </a:p>
          <a:p>
            <a:r>
              <a:t>      "navigation_searches": 320422,</a:t>
            </a:r>
          </a:p>
          <a:p>
            <a:r>
              <a:t>      "visitor_yoy_percent": -2.93,</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1993752,</a:t>
            </a:r>
          </a:p>
          <a:p>
            <a:r>
              <a:t>      "previous_year_spending_krw": 46823670000,</a:t>
            </a:r>
          </a:p>
          <a:p>
            <a:r>
              <a:t>      "previous_year_stay_minutes": 1818.0,</a:t>
            </a:r>
          </a:p>
          <a:p>
            <a:r>
              <a:t>      "previous_year_lodging_nights": 2.62,</a:t>
            </a:r>
          </a:p>
          <a:p>
            <a:r>
              <a:t>      "previous_year_lodging_rate_pct": 16.7,</a:t>
            </a:r>
          </a:p>
          <a:p>
            <a:r>
              <a:t>      "previous_year_lodging_searches": 35770,</a:t>
            </a:r>
          </a:p>
          <a:p>
            <a:r>
              <a:t>      "previous_year_navigation_searches": 320422</a:t>
            </a:r>
          </a:p>
          <a:p>
            <a:r>
              <a:t>    },</a:t>
            </a:r>
          </a:p>
          <a:p>
            <a:r>
              <a:t>    {</a:t>
            </a:r>
          </a:p>
          <a:p>
            <a:r>
              <a:t>      "month": "202608",</a:t>
            </a:r>
          </a:p>
          <a:p>
            <a:r>
              <a:t>      "visitors": 2139254,</a:t>
            </a:r>
          </a:p>
          <a:p>
            <a:r>
              <a:t>      "is_forecast": true,</a:t>
            </a:r>
          </a:p>
          <a:p>
            <a:r>
              <a:t>      "spending_krw": 51770552000,</a:t>
            </a:r>
          </a:p>
          <a:p>
            <a:r>
              <a:t>      "stay_minutes": 1673.0,</a:t>
            </a:r>
          </a:p>
          <a:p>
            <a:r>
              <a:t>      "lodging_nights": 2.58,</a:t>
            </a:r>
          </a:p>
          <a:p>
            <a:r>
              <a:t>      "lodging_rate_pct": 17.5,</a:t>
            </a:r>
          </a:p>
          <a:p>
            <a:r>
              <a:t>      "lodging_searches": 42261,</a:t>
            </a:r>
          </a:p>
          <a:p>
            <a:r>
              <a:t>      "navigation_searches": 378299,</a:t>
            </a:r>
          </a:p>
          <a:p>
            <a:r>
              <a:t>      "visitor_yoy_percent": -5.08,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2253751,</a:t>
            </a:r>
          </a:p>
          <a:p>
            <a:r>
              <a:t>      "previous_year_spending_krw": 51770552000,</a:t>
            </a:r>
          </a:p>
          <a:p>
            <a:r>
              <a:t>      "previous_year_stay_minutes": 1673.0,</a:t>
            </a:r>
          </a:p>
          <a:p>
            <a:r>
              <a:t>      "previous_year_lodging_nights": 2.58,</a:t>
            </a:r>
          </a:p>
          <a:p>
            <a:r>
              <a:t>      "previous_year_lodging_rate_pct": 17.5,</a:t>
            </a:r>
          </a:p>
          <a:p>
            <a:r>
              <a:t>      "previous_year_lodging_searches": 42261,</a:t>
            </a:r>
          </a:p>
          <a:p>
            <a:r>
              <a:t>      "previous_year_navigation_searches": 378299</a:t>
            </a:r>
          </a:p>
          <a:p>
            <a:r>
              <a:t>    },</a:t>
            </a:r>
          </a:p>
          <a:p>
            <a:r>
              <a:t>    {</a:t>
            </a:r>
          </a:p>
          <a:p>
            <a:r>
              <a:t>      "month": "202609",</a:t>
            </a:r>
          </a:p>
          <a:p>
            <a:r>
              <a:t>      "visitors": 1948014,</a:t>
            </a:r>
          </a:p>
          <a:p>
            <a:r>
              <a:t>      "is_forecast": true,</a:t>
            </a:r>
          </a:p>
          <a:p>
            <a:r>
              <a:t>      "spending_krw": 44854616000,</a:t>
            </a:r>
          </a:p>
          <a:p>
            <a:r>
              <a:t>      "stay_minutes": 2803.0,</a:t>
            </a:r>
          </a:p>
          <a:p>
            <a:r>
              <a:t>      "lodging_nights": 2.89,</a:t>
            </a:r>
          </a:p>
          <a:p>
            <a:r>
              <a:t>      "lodging_rate_pct": 14.2,</a:t>
            </a:r>
          </a:p>
          <a:p>
            <a:r>
              <a:t>      "lodging_searches": 26980,</a:t>
            </a:r>
          </a:p>
          <a:p>
            <a:r>
              <a:t>      "navigation_searches": 279694,</a:t>
            </a:r>
          </a:p>
          <a:p>
            <a:r>
              <a:t>      "visitor_yoy_percent": -3.61,</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2021001,</a:t>
            </a:r>
          </a:p>
          <a:p>
            <a:r>
              <a:t>      "previous_year_spending_krw": 44854616000,</a:t>
            </a:r>
          </a:p>
          <a:p>
            <a:r>
              <a:t>      "previous_year_stay_minutes": 2803.0,</a:t>
            </a:r>
          </a:p>
          <a:p>
            <a:r>
              <a:t>      "previous_year_lodging_nights": 2.89,</a:t>
            </a:r>
          </a:p>
          <a:p>
            <a:r>
              <a:t>      "previous_year_lodging_rate_pct": 14.2,</a:t>
            </a:r>
          </a:p>
          <a:p>
            <a:r>
              <a:t>      "previous_year_lodging_searches": 26980,</a:t>
            </a:r>
          </a:p>
          <a:p>
            <a:r>
              <a:t>      "previous_year_navigation_searches": 279694</a:t>
            </a:r>
          </a:p>
          <a:p>
            <a:r>
              <a:t>    },</a:t>
            </a:r>
          </a:p>
          <a:p>
            <a:r>
              <a:t>    {</a:t>
            </a:r>
          </a:p>
          <a:p>
            <a:r>
              <a:t>      "month": "202610",</a:t>
            </a:r>
          </a:p>
          <a:p>
            <a:r>
              <a:t>      "visitors": 2278280,</a:t>
            </a:r>
          </a:p>
          <a:p>
            <a:r>
              <a:t>      "is_forecast": true,</a:t>
            </a:r>
          </a:p>
          <a:p>
            <a:r>
              <a:t>      "spending_krw": 59504900000,</a:t>
            </a:r>
          </a:p>
          <a:p>
            <a:r>
              <a:t>      "stay_minutes": 1597.0,</a:t>
            </a:r>
          </a:p>
          <a:p>
            <a:r>
              <a:t>      "lodging_nights": 2.69,</a:t>
            </a:r>
          </a:p>
          <a:p>
            <a:r>
              <a:t>      "lodging_rate_pct": 16.8,</a:t>
            </a:r>
          </a:p>
          <a:p>
            <a:r>
              <a:t>      "lodging_searches": 58111,</a:t>
            </a:r>
          </a:p>
          <a:p>
            <a:r>
              <a:t>      "navigation_searches": 584663,</a:t>
            </a:r>
          </a:p>
          <a:p>
            <a:r>
              <a:t>      "visitor_yoy_percent": -5.58,</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2412798,</a:t>
            </a:r>
          </a:p>
          <a:p>
            <a:r>
              <a:t>      "previous_year_spending_krw": 59504900000,</a:t>
            </a:r>
          </a:p>
          <a:p>
            <a:r>
              <a:t>      "previous_year_stay_minutes": 1597.0,</a:t>
            </a:r>
          </a:p>
          <a:p>
            <a:r>
              <a:t>      "previous_year_lodging_nights": 2.69,</a:t>
            </a:r>
          </a:p>
          <a:p>
            <a:r>
              <a:t>      "previous_year_lodging_rate_pct": 16.8,</a:t>
            </a:r>
          </a:p>
          <a:p>
            <a:r>
              <a:t>      "previous_year_lodging_searches": 58111,</a:t>
            </a:r>
          </a:p>
          <a:p>
            <a:r>
              <a:t>      "previous_year_navigation_searches": 584663</a:t>
            </a:r>
          </a:p>
          <a:p>
            <a:r>
              <a:t>    },</a:t>
            </a:r>
          </a:p>
          <a:p>
            <a:r>
              <a:t>    {</a:t>
            </a:r>
          </a:p>
          <a:p>
            <a:r>
              <a:t>      "month": "202611",</a:t>
            </a:r>
          </a:p>
          <a:p>
            <a:r>
              <a:t>      "visitors": 2018187,</a:t>
            </a:r>
          </a:p>
          <a:p>
            <a:r>
              <a:t>      "is_forecast": true,</a:t>
            </a:r>
          </a:p>
          <a:p>
            <a:r>
              <a:t>      "spending_krw": 50330837000,</a:t>
            </a:r>
          </a:p>
          <a:p>
            <a:r>
              <a:t>      "stay_minutes": 1501.0,</a:t>
            </a:r>
          </a:p>
          <a:p>
            <a:r>
              <a:t>      "lodging_nights": 2.62,</a:t>
            </a:r>
          </a:p>
          <a:p>
            <a:r>
              <a:t>      "lodging_rate_pct": 13.4,</a:t>
            </a:r>
          </a:p>
          <a:p>
            <a:r>
              <a:t>      "lodging_searches": 30423,</a:t>
            </a:r>
          </a:p>
          <a:p>
            <a:r>
              <a:t>      "navigation_searches": 322218,</a:t>
            </a:r>
          </a:p>
          <a:p>
            <a:r>
              <a:t>      "visitor_yoy_percent": -1.67,</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2052480,</a:t>
            </a:r>
          </a:p>
          <a:p>
            <a:r>
              <a:t>      "previous_year_spending_krw": 50330837000,</a:t>
            </a:r>
          </a:p>
          <a:p>
            <a:r>
              <a:t>      "previous_year_stay_minutes": 1501.0,</a:t>
            </a:r>
          </a:p>
          <a:p>
            <a:r>
              <a:t>      "previous_year_lodging_nights": 2.62,</a:t>
            </a:r>
          </a:p>
          <a:p>
            <a:r>
              <a:t>      "previous_year_lodging_rate_pct": 13.4,</a:t>
            </a:r>
          </a:p>
          <a:p>
            <a:r>
              <a:t>      "previous_year_lodging_searches": 30423,</a:t>
            </a:r>
          </a:p>
          <a:p>
            <a:r>
              <a:t>      "previous_year_navigation_searches": 322218</a:t>
            </a:r>
          </a:p>
          <a:p>
            <a:r>
              <a:t>    },</a:t>
            </a:r>
          </a:p>
          <a:p>
            <a:r>
              <a:t>    {</a:t>
            </a:r>
          </a:p>
          <a:p>
            <a:r>
              <a:t>      "month": "202612",</a:t>
            </a:r>
          </a:p>
          <a:p>
            <a:r>
              <a:t>      "visitors": 1733965,</a:t>
            </a:r>
          </a:p>
          <a:p>
            <a:r>
              <a:t>      "is_forecast": true,</a:t>
            </a:r>
          </a:p>
          <a:p>
            <a:r>
              <a:t>      "spending_krw": 39693334000,</a:t>
            </a:r>
          </a:p>
          <a:p>
            <a:r>
              <a:t>      "stay_minutes": 1807.0,</a:t>
            </a:r>
          </a:p>
          <a:p>
            <a:r>
              <a:t>      "lodging_nights": 2.67,</a:t>
            </a:r>
          </a:p>
          <a:p>
            <a:r>
              <a:t>      "lodging_rate_pct": 15.5,</a:t>
            </a:r>
          </a:p>
          <a:p>
            <a:r>
              <a:t>      "lodging_searches": 24221,</a:t>
            </a:r>
          </a:p>
          <a:p>
            <a:r>
              <a:t>      "navigation_searches": 217678,</a:t>
            </a:r>
          </a:p>
          <a:p>
            <a:r>
              <a:t>      "visitor_yoy_percent": 2.84,</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1686121,</a:t>
            </a:r>
          </a:p>
          <a:p>
            <a:r>
              <a:t>      "previous_year_spending_krw": 39693334000,</a:t>
            </a:r>
          </a:p>
          <a:p>
            <a:r>
              <a:t>      "previous_year_stay_minutes": 1807.0,</a:t>
            </a:r>
          </a:p>
          <a:p>
            <a:r>
              <a:t>      "previous_year_lodging_nights": 2.67,</a:t>
            </a:r>
          </a:p>
          <a:p>
            <a:r>
              <a:t>      "previous_year_lodging_rate_pct": 15.5,</a:t>
            </a:r>
          </a:p>
          <a:p>
            <a:r>
              <a:t>      "previous_year_lodging_searches": 24221,</a:t>
            </a:r>
          </a:p>
          <a:p>
            <a:r>
              <a:t>      "previous_year_navigation_searches": 217678</a:t>
            </a:r>
          </a:p>
          <a:p>
            <a:r>
              <a:t>    },</a:t>
            </a:r>
          </a:p>
          <a:p>
            <a:r>
              <a:t>    {</a:t>
            </a:r>
          </a:p>
          <a:p>
            <a:r>
              <a:t>      "month": "202701",</a:t>
            </a:r>
          </a:p>
          <a:p>
            <a:r>
              <a:t>      "visitors": 1735449,</a:t>
            </a:r>
          </a:p>
          <a:p>
            <a:r>
              <a:t>      "is_forecast": true,</a:t>
            </a:r>
          </a:p>
          <a:p>
            <a:r>
              <a:t>      "spending_krw": 39173323000,</a:t>
            </a:r>
          </a:p>
          <a:p>
            <a:r>
              <a:t>      "stay_minutes": 1900.0,</a:t>
            </a:r>
          </a:p>
          <a:p>
            <a:r>
              <a:t>      "lodging_nights": 2.68,</a:t>
            </a:r>
          </a:p>
          <a:p>
            <a:r>
              <a:t>      "lodging_rate_pct": 16.0,</a:t>
            </a:r>
          </a:p>
          <a:p>
            <a:r>
              <a:t>      "lodging_searches": 27644,</a:t>
            </a:r>
          </a:p>
          <a:p>
            <a:r>
              <a:t>      "navigation_searches": 223981,</a:t>
            </a:r>
          </a:p>
          <a:p>
            <a:r>
              <a:t>      "visitor_yoy_percent": 1.42,</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1711231,</a:t>
            </a:r>
          </a:p>
          <a:p>
            <a:r>
              <a:t>      "previous_year_spending_krw": 39173323000,</a:t>
            </a:r>
          </a:p>
          <a:p>
            <a:r>
              <a:t>      "previous_year_stay_minutes": 1900.0,</a:t>
            </a:r>
          </a:p>
          <a:p>
            <a:r>
              <a:t>      "previous_year_lodging_nights": 2.68,</a:t>
            </a:r>
          </a:p>
          <a:p>
            <a:r>
              <a:t>      "previous_year_lodging_rate_pct": 16.0,</a:t>
            </a:r>
          </a:p>
          <a:p>
            <a:r>
              <a:t>      "previous_year_lodging_searches": 27644,</a:t>
            </a:r>
          </a:p>
          <a:p>
            <a:r>
              <a:t>      "previous_year_navigation_searches": 223981</a:t>
            </a:r>
          </a:p>
          <a:p>
            <a:r>
              <a:t>    },</a:t>
            </a:r>
          </a:p>
          <a:p>
            <a:r>
              <a:t>    {</a:t>
            </a:r>
          </a:p>
          <a:p>
            <a:r>
              <a:t>      "month": "202702",</a:t>
            </a:r>
          </a:p>
          <a:p>
            <a:r>
              <a:t>      "visitors": 1722995,</a:t>
            </a:r>
          </a:p>
          <a:p>
            <a:r>
              <a:t>      "is_forecast": true,</a:t>
            </a:r>
          </a:p>
          <a:p>
            <a:r>
              <a:t>      "spending_krw": 40605893000,</a:t>
            </a:r>
          </a:p>
          <a:p>
            <a:r>
              <a:t>      "stay_minutes": 1818.0,</a:t>
            </a:r>
          </a:p>
          <a:p>
            <a:r>
              <a:t>      "lodging_nights": 2.71,</a:t>
            </a:r>
          </a:p>
          <a:p>
            <a:r>
              <a:t>      "lodging_rate_pct": 17.7,</a:t>
            </a:r>
          </a:p>
          <a:p>
            <a:r>
              <a:t>      "lodging_searches": 24571,</a:t>
            </a:r>
          </a:p>
          <a:p>
            <a:r>
              <a:t>      "navigation_searches": 238194,</a:t>
            </a:r>
          </a:p>
          <a:p>
            <a:r>
              <a:t>      "visitor_yoy_percent": -1.96,</a:t>
            </a:r>
          </a:p>
          <a:p>
            <a:r>
              <a:t>      "spending_yoy_percent": 0.0,</a:t>
            </a:r>
          </a:p>
          <a:p>
            <a:r>
              <a:t>      "metric_changes_percent": {</a:t>
            </a:r>
          </a:p>
          <a:p>
            <a:r>
              <a:t>        "stay_minutes": 0.0,</a:t>
            </a:r>
          </a:p>
          <a:p>
            <a:r>
              <a:t>        "lodging_nights": 0.0,</a:t>
            </a:r>
          </a:p>
          <a:p>
            <a:r>
              <a:t>        "lodging_rate_pct": 0.0,</a:t>
            </a:r>
          </a:p>
          <a:p>
            <a:r>
              <a:t>        "lodging_searches": 0.0,</a:t>
            </a:r>
          </a:p>
          <a:p>
            <a:r>
              <a:t>        "navigation_searches": 0.0</a:t>
            </a:r>
          </a:p>
          <a:p>
            <a:r>
              <a:t>      },</a:t>
            </a:r>
          </a:p>
          <a:p>
            <a:r>
              <a:t>      "previous_year_visitors": 1757460,</a:t>
            </a:r>
          </a:p>
          <a:p>
            <a:r>
              <a:t>      "previous_year_spending_krw": 40605893000,</a:t>
            </a:r>
          </a:p>
          <a:p>
            <a:r>
              <a:t>      "previous_year_stay_minutes": 1818.0,</a:t>
            </a:r>
          </a:p>
          <a:p>
            <a:r>
              <a:t>      "previous_year_lodging_nights": 2.71,</a:t>
            </a:r>
          </a:p>
          <a:p>
            <a:r>
              <a:t>      "previous_year_lodging_rate_pct": 17.7,</a:t>
            </a:r>
          </a:p>
          <a:p>
            <a:r>
              <a:t>      "previous_year_lodging_searches": 24571,</a:t>
            </a:r>
          </a:p>
          <a:p>
            <a:r>
              <a:t>      "previous_year_navigation_searches": 238194</a:t>
            </a:r>
          </a:p>
          <a:p>
            <a:r>
              <a:t>    }</a:t>
            </a:r>
          </a:p>
          <a:p>
            <a:r>
              <a:t>  ],</a:t>
            </a:r>
          </a:p>
          <a:p>
            <a:r>
              <a:t>  "evaluation": {</a:t>
            </a:r>
          </a:p>
          <a:p>
            <a:r>
              <a:t>    "metrics": {</a:t>
            </a:r>
          </a:p>
          <a:p>
            <a:r>
              <a:t>      "visitors": {</a:t>
            </a:r>
          </a:p>
          <a:p>
            <a:r>
              <a:t>        "test_mae": 70528.31,</a:t>
            </a:r>
          </a:p>
          <a:p>
            <a:r>
              <a:t>        "recursive_mae": {</a:t>
            </a:r>
          </a:p>
          <a:p>
            <a:r>
              <a:t>          "1": {</a:t>
            </a:r>
          </a:p>
          <a:p>
            <a:r>
              <a:t>            "baseline": 41681.0,</a:t>
            </a:r>
          </a:p>
          <a:p>
            <a:r>
              <a:t>            "selected": 49874.0,</a:t>
            </a:r>
          </a:p>
          <a:p>
            <a:r>
              <a:t>            "sample_count": 2</a:t>
            </a:r>
          </a:p>
          <a:p>
            <a:r>
              <a:t>          },</a:t>
            </a:r>
          </a:p>
          <a:p>
            <a:r>
              <a:t>          "2": {</a:t>
            </a:r>
          </a:p>
          <a:p>
            <a:r>
              <a:t>            "baseline": 60055.5,</a:t>
            </a:r>
          </a:p>
          <a:p>
            <a:r>
              <a:t>            "selected": 37301.5,</a:t>
            </a:r>
          </a:p>
          <a:p>
            <a:r>
              <a:t>            "sample_count": 2</a:t>
            </a:r>
          </a:p>
          <a:p>
            <a:r>
              <a:t>          },</a:t>
            </a:r>
          </a:p>
          <a:p>
            <a:r>
              <a:t>          "3": {</a:t>
            </a:r>
          </a:p>
          <a:p>
            <a:r>
              <a:t>            "baseline": 106265.0,</a:t>
            </a:r>
          </a:p>
          <a:p>
            <a:r>
              <a:t>            "selected": 97340.5,</a:t>
            </a:r>
          </a:p>
          <a:p>
            <a:r>
              <a:t>            "sample_count": 2</a:t>
            </a:r>
          </a:p>
          <a:p>
            <a:r>
              <a:t>          }</a:t>
            </a:r>
          </a:p>
          <a:p>
            <a:r>
              <a:t>        },</a:t>
            </a:r>
          </a:p>
          <a:p>
            <a:r>
              <a:t>        "selected_model": "RandomForestRegressor",</a:t>
            </a:r>
          </a:p>
          <a:p>
            <a:r>
              <a:t>        "baseline_test_mae": 73973.0,</a:t>
            </a:r>
          </a:p>
          <a:p>
            <a:r>
              <a:t>        "model_reliability": "mixed_recursive_performance",</a:t>
            </a:r>
          </a:p>
          <a:p>
            <a:r>
              <a:t>        "beats_baseline_on_test": true,</a:t>
            </a:r>
          </a:p>
          <a:p>
            <a:r>
              <a:t>        "recursive_horizons_worse_than_baseline": [</a:t>
            </a:r>
          </a:p>
          <a:p>
            <a:r>
              <a:t>          "1"</a:t>
            </a:r>
          </a:p>
          <a:p>
            <a:r>
              <a:t>        ]</a:t>
            </a:r>
          </a:p>
          <a:p>
            <a:r>
              <a:t>      },</a:t>
            </a:r>
          </a:p>
          <a:p>
            <a:r>
              <a:t>      "spending_krw": {</a:t>
            </a:r>
          </a:p>
          <a:p>
            <a:r>
              <a:t>        "test_mae": 4095129500.0,</a:t>
            </a:r>
          </a:p>
          <a:p>
            <a:r>
              <a:t>        "recursive_mae": {</a:t>
            </a:r>
          </a:p>
          <a:p>
            <a:r>
              <a:t>          "1": {</a:t>
            </a:r>
          </a:p>
          <a:p>
            <a:r>
              <a:t>            "baseline": 4131609500.0,</a:t>
            </a:r>
          </a:p>
          <a:p>
            <a:r>
              <a:t>            "selected": 4131609500.0,</a:t>
            </a:r>
          </a:p>
          <a:p>
            <a:r>
              <a:t>            "sample_count": 2</a:t>
            </a:r>
          </a:p>
          <a:p>
            <a:r>
              <a:t>          },</a:t>
            </a:r>
          </a:p>
          <a:p>
            <a:r>
              <a:t>          "2": {</a:t>
            </a:r>
          </a:p>
          <a:p>
            <a:r>
              <a:t>            "baseline": 6603691500.0,</a:t>
            </a:r>
          </a:p>
          <a:p>
            <a:r>
              <a:t>            "selected": 6603691500.0,</a:t>
            </a:r>
          </a:p>
          <a:p>
            <a:r>
              <a:t>            "sample_count": 2</a:t>
            </a:r>
          </a:p>
          <a:p>
            <a:r>
              <a:t>          },</a:t>
            </a:r>
          </a:p>
          <a:p>
            <a:r>
              <a:t>          "3": {</a:t>
            </a:r>
          </a:p>
          <a:p>
            <a:r>
              <a:t>            "baseline": 4058649500.0,</a:t>
            </a:r>
          </a:p>
          <a:p>
            <a:r>
              <a:t>            "selected": 4058649500.0,</a:t>
            </a:r>
          </a:p>
          <a:p>
            <a:r>
              <a:t>            "sample_count": 2</a:t>
            </a:r>
          </a:p>
          <a:p>
            <a:r>
              <a:t>          }</a:t>
            </a:r>
          </a:p>
          <a:p>
            <a:r>
              <a:t>        },</a:t>
            </a:r>
          </a:p>
          <a:p>
            <a:r>
              <a:t>        "selected_model": "seasonal_naive_previous_year_same_month",</a:t>
            </a:r>
          </a:p>
          <a:p>
            <a:r>
              <a:t>        "baseline_test_mae": 4095129500.0,</a:t>
            </a:r>
          </a:p>
          <a:p>
            <a:r>
              <a:t>        "model_reliability": "seasonal_baseline",</a:t>
            </a:r>
          </a:p>
          <a:p>
            <a:r>
              <a:t>        "beats_baseline_on_test": false,</a:t>
            </a:r>
          </a:p>
          <a:p>
            <a:r>
              <a:t>        "recursive_horizons_worse_than_baseline": []</a:t>
            </a:r>
          </a:p>
          <a:p>
            <a:r>
              <a:t>      },</a:t>
            </a:r>
          </a:p>
          <a:p>
            <a:r>
              <a:t>      "stay_minutes": {</a:t>
            </a:r>
          </a:p>
          <a:p>
            <a:r>
              <a:t>        "test_mae": 131.0,</a:t>
            </a:r>
          </a:p>
          <a:p>
            <a:r>
              <a:t>        "recursive_mae": {</a:t>
            </a:r>
          </a:p>
          <a:p>
            <a:r>
              <a:t>          "1": {</a:t>
            </a:r>
          </a:p>
          <a:p>
            <a:r>
              <a:t>            "baseline": 3.5,</a:t>
            </a:r>
          </a:p>
          <a:p>
            <a:r>
              <a:t>            "selected": 3.5,</a:t>
            </a:r>
          </a:p>
          <a:p>
            <a:r>
              <a:t>            "sample_count": 2</a:t>
            </a:r>
          </a:p>
          <a:p>
            <a:r>
              <a:t>          },</a:t>
            </a:r>
          </a:p>
          <a:p>
            <a:r>
              <a:t>          "2": {</a:t>
            </a:r>
          </a:p>
          <a:p>
            <a:r>
              <a:t>            "baseline": 252.0,</a:t>
            </a:r>
          </a:p>
          <a:p>
            <a:r>
              <a:t>            "selected": 252.0,</a:t>
            </a:r>
          </a:p>
          <a:p>
            <a:r>
              <a:t>            "sample_count": 2</a:t>
            </a:r>
          </a:p>
          <a:p>
            <a:r>
              <a:t>          },</a:t>
            </a:r>
          </a:p>
          <a:p>
            <a:r>
              <a:t>          "3": {</a:t>
            </a:r>
          </a:p>
          <a:p>
            <a:r>
              <a:t>            "baseline": 258.5,</a:t>
            </a:r>
          </a:p>
          <a:p>
            <a:r>
              <a:t>            "selected": 258.5,</a:t>
            </a:r>
          </a:p>
          <a:p>
            <a:r>
              <a:t>            "sample_count": 2</a:t>
            </a:r>
          </a:p>
          <a:p>
            <a:r>
              <a:t>          }</a:t>
            </a:r>
          </a:p>
          <a:p>
            <a:r>
              <a:t>        },</a:t>
            </a:r>
          </a:p>
          <a:p>
            <a:r>
              <a:t>        "selected_model": "seasonal_naive_previous_year_same_month",</a:t>
            </a:r>
          </a:p>
          <a:p>
            <a:r>
              <a:t>        "baseline_test_mae": 131.0,</a:t>
            </a:r>
          </a:p>
          <a:p>
            <a:r>
              <a:t>        "model_reliability": "seasonal_baseline",</a:t>
            </a:r>
          </a:p>
          <a:p>
            <a:r>
              <a:t>        "beats_baseline_on_test": false,</a:t>
            </a:r>
          </a:p>
          <a:p>
            <a:r>
              <a:t>        "recursive_horizons_worse_than_baseline": []</a:t>
            </a:r>
          </a:p>
          <a:p>
            <a:r>
              <a:t>      },</a:t>
            </a:r>
          </a:p>
          <a:p>
            <a:r>
              <a:t>      "lodging_nights": {</a:t>
            </a:r>
          </a:p>
          <a:p>
            <a:r>
              <a:t>        "test_mae": 0.06,</a:t>
            </a:r>
          </a:p>
          <a:p>
            <a:r>
              <a:t>        "recursive_mae": {</a:t>
            </a:r>
          </a:p>
          <a:p>
            <a:r>
              <a:t>          "1": {</a:t>
            </a:r>
          </a:p>
          <a:p>
            <a:r>
              <a:t>            "baseline": 0.05,</a:t>
            </a:r>
          </a:p>
          <a:p>
            <a:r>
              <a:t>            "selected": 0.05,</a:t>
            </a:r>
          </a:p>
          <a:p>
            <a:r>
              <a:t>            "sample_count": 2</a:t>
            </a:r>
          </a:p>
          <a:p>
            <a:r>
              <a:t>          },</a:t>
            </a:r>
          </a:p>
          <a:p>
            <a:r>
              <a:t>          "2": {</a:t>
            </a:r>
          </a:p>
          <a:p>
            <a:r>
              <a:t>            "baseline": 0.05,</a:t>
            </a:r>
          </a:p>
          <a:p>
            <a:r>
              <a:t>            "selected": 0.05,</a:t>
            </a:r>
          </a:p>
          <a:p>
            <a:r>
              <a:t>            "sample_count": 2</a:t>
            </a:r>
          </a:p>
          <a:p>
            <a:r>
              <a:t>          },</a:t>
            </a:r>
          </a:p>
          <a:p>
            <a:r>
              <a:t>          "3": {</a:t>
            </a:r>
          </a:p>
          <a:p>
            <a:r>
              <a:t>            "baseline": 0.06,</a:t>
            </a:r>
          </a:p>
          <a:p>
            <a:r>
              <a:t>            "selected": 0.06,</a:t>
            </a:r>
          </a:p>
          <a:p>
            <a:r>
              <a:t>            "sample_count": 2</a:t>
            </a:r>
          </a:p>
          <a:p>
            <a:r>
              <a:t>          }</a:t>
            </a:r>
          </a:p>
          <a:p>
            <a:r>
              <a:t>        },</a:t>
            </a:r>
          </a:p>
          <a:p>
            <a:r>
              <a:t>        "selected_model": "seasonal_naive_previous_year_same_month",</a:t>
            </a:r>
          </a:p>
          <a:p>
            <a:r>
              <a:t>        "baseline_test_mae": 0.06,</a:t>
            </a:r>
          </a:p>
          <a:p>
            <a:r>
              <a:t>        "model_reliability": "seasonal_baseline",</a:t>
            </a:r>
          </a:p>
          <a:p>
            <a:r>
              <a:t>        "beats_baseline_on_test": false,</a:t>
            </a:r>
          </a:p>
          <a:p>
            <a:r>
              <a:t>        "recursive_horizons_worse_than_baseline": []</a:t>
            </a:r>
          </a:p>
          <a:p>
            <a:r>
              <a:t>      },</a:t>
            </a:r>
          </a:p>
          <a:p>
            <a:r>
              <a:t>      "lodging_rate_pct": {</a:t>
            </a:r>
          </a:p>
          <a:p>
            <a:r>
              <a:t>        "test_mae": 0.55,</a:t>
            </a:r>
          </a:p>
          <a:p>
            <a:r>
              <a:t>        "recursive_mae": {</a:t>
            </a:r>
          </a:p>
          <a:p>
            <a:r>
              <a:t>          "1": {</a:t>
            </a:r>
          </a:p>
          <a:p>
            <a:r>
              <a:t>            "baseline": 0.8,</a:t>
            </a:r>
          </a:p>
          <a:p>
            <a:r>
              <a:t>            "selected": 0.8,</a:t>
            </a:r>
          </a:p>
          <a:p>
            <a:r>
              <a:t>            "sample_count": 2</a:t>
            </a:r>
          </a:p>
          <a:p>
            <a:r>
              <a:t>          },</a:t>
            </a:r>
          </a:p>
          <a:p>
            <a:r>
              <a:t>          "2": {</a:t>
            </a:r>
          </a:p>
          <a:p>
            <a:r>
              <a:t>            "baseline": 0.4,</a:t>
            </a:r>
          </a:p>
          <a:p>
            <a:r>
              <a:t>            "selected": 0.4,</a:t>
            </a:r>
          </a:p>
          <a:p>
            <a:r>
              <a:t>            "sample_count": 2</a:t>
            </a:r>
          </a:p>
          <a:p>
            <a:r>
              <a:t>          },</a:t>
            </a:r>
          </a:p>
          <a:p>
            <a:r>
              <a:t>          "3": {</a:t>
            </a:r>
          </a:p>
          <a:p>
            <a:r>
              <a:t>            "baseline": 0.3,</a:t>
            </a:r>
          </a:p>
          <a:p>
            <a:r>
              <a:t>            "selected": 0.3,</a:t>
            </a:r>
          </a:p>
          <a:p>
            <a:r>
              <a:t>            "sample_count": 2</a:t>
            </a:r>
          </a:p>
          <a:p>
            <a:r>
              <a:t>          }</a:t>
            </a:r>
          </a:p>
          <a:p>
            <a:r>
              <a:t>        },</a:t>
            </a:r>
          </a:p>
          <a:p>
            <a:r>
              <a:t>        "selected_model": "seasonal_naive_previous_year_same_month",</a:t>
            </a:r>
          </a:p>
          <a:p>
            <a:r>
              <a:t>        "baseline_test_mae": 0.55,</a:t>
            </a:r>
          </a:p>
          <a:p>
            <a:r>
              <a:t>        "model_reliability": "seasonal_baseline",</a:t>
            </a:r>
          </a:p>
          <a:p>
            <a:r>
              <a:t>        "beats_baseline_on_test": false,</a:t>
            </a:r>
          </a:p>
          <a:p>
            <a:r>
              <a:t>        "recursive_horizons_worse_than_baseline": []</a:t>
            </a:r>
          </a:p>
          <a:p>
            <a:r>
              <a:t>      },</a:t>
            </a:r>
          </a:p>
          <a:p>
            <a:r>
              <a:t>      "lodging_searches": {</a:t>
            </a:r>
          </a:p>
          <a:p>
            <a:r>
              <a:t>        "test_mae": 2351.0,</a:t>
            </a:r>
          </a:p>
          <a:p>
            <a:r>
              <a:t>        "recursive_mae": {</a:t>
            </a:r>
          </a:p>
          <a:p>
            <a:r>
              <a:t>          "1": {</a:t>
            </a:r>
          </a:p>
          <a:p>
            <a:r>
              <a:t>            "baseline": 3418.5,</a:t>
            </a:r>
          </a:p>
          <a:p>
            <a:r>
              <a:t>            "selected": 3418.5,</a:t>
            </a:r>
          </a:p>
          <a:p>
            <a:r>
              <a:t>            "sample_count": 2</a:t>
            </a:r>
          </a:p>
          <a:p>
            <a:r>
              <a:t>          },</a:t>
            </a:r>
          </a:p>
          <a:p>
            <a:r>
              <a:t>          "2": {</a:t>
            </a:r>
          </a:p>
          <a:p>
            <a:r>
              <a:t>            "baseline": 1505.0,</a:t>
            </a:r>
          </a:p>
          <a:p>
            <a:r>
              <a:t>            "selected": 1505.0,</a:t>
            </a:r>
          </a:p>
          <a:p>
            <a:r>
              <a:t>            "sample_count": 2</a:t>
            </a:r>
          </a:p>
          <a:p>
            <a:r>
              <a:t>          },</a:t>
            </a:r>
          </a:p>
          <a:p>
            <a:r>
              <a:t>          "3": {</a:t>
            </a:r>
          </a:p>
          <a:p>
            <a:r>
              <a:t>            "baseline": 1283.5,</a:t>
            </a:r>
          </a:p>
          <a:p>
            <a:r>
              <a:t>            "selected": 1283.5,</a:t>
            </a:r>
          </a:p>
          <a:p>
            <a:r>
              <a:t>            "sample_count": 2</a:t>
            </a:r>
          </a:p>
          <a:p>
            <a:r>
              <a:t>          }</a:t>
            </a:r>
          </a:p>
          <a:p>
            <a:r>
              <a:t>        },</a:t>
            </a:r>
          </a:p>
          <a:p>
            <a:r>
              <a:t>        "selected_model": "seasonal_naive_previous_year_same_month",</a:t>
            </a:r>
          </a:p>
          <a:p>
            <a:r>
              <a:t>        "baseline_test_mae": 2351.0,</a:t>
            </a:r>
          </a:p>
          <a:p>
            <a:r>
              <a:t>        "model_reliability": "seasonal_baseline",</a:t>
            </a:r>
          </a:p>
          <a:p>
            <a:r>
              <a:t>        "beats_baseline_on_test": false,</a:t>
            </a:r>
          </a:p>
          <a:p>
            <a:r>
              <a:t>        "recursive_horizons_worse_than_baseline": []</a:t>
            </a:r>
          </a:p>
          <a:p>
            <a:r>
              <a:t>      },</a:t>
            </a:r>
          </a:p>
          <a:p>
            <a:r>
              <a:t>      "navigation_searches": {</a:t>
            </a:r>
          </a:p>
          <a:p>
            <a:r>
              <a:t>        "test_mae": 32030.5,</a:t>
            </a:r>
          </a:p>
          <a:p>
            <a:r>
              <a:t>        "recursive_mae": {</a:t>
            </a:r>
          </a:p>
          <a:p>
            <a:r>
              <a:t>          "1": {</a:t>
            </a:r>
          </a:p>
          <a:p>
            <a:r>
              <a:t>            "baseline": 36449.0,</a:t>
            </a:r>
          </a:p>
          <a:p>
            <a:r>
              <a:t>            "selected": 36449.0,</a:t>
            </a:r>
          </a:p>
          <a:p>
            <a:r>
              <a:t>            "sample_count": 2</a:t>
            </a:r>
          </a:p>
          <a:p>
            <a:r>
              <a:t>          },</a:t>
            </a:r>
          </a:p>
          <a:p>
            <a:r>
              <a:t>          "2": {</a:t>
            </a:r>
          </a:p>
          <a:p>
            <a:r>
              <a:t>            "baseline": 36445.5,</a:t>
            </a:r>
          </a:p>
          <a:p>
            <a:r>
              <a:t>            "selected": 36445.5,</a:t>
            </a:r>
          </a:p>
          <a:p>
            <a:r>
              <a:t>            "sample_count": 2</a:t>
            </a:r>
          </a:p>
          <a:p>
            <a:r>
              <a:t>          },</a:t>
            </a:r>
          </a:p>
          <a:p>
            <a:r>
              <a:t>          "3": {</a:t>
            </a:r>
          </a:p>
          <a:p>
            <a:r>
              <a:t>            "baseline": 27612.0,</a:t>
            </a:r>
          </a:p>
          <a:p>
            <a:r>
              <a:t>            "selected": 27612.0,</a:t>
            </a:r>
          </a:p>
          <a:p>
            <a:r>
              <a:t>            "sample_count": 2</a:t>
            </a:r>
          </a:p>
          <a:p>
            <a:r>
              <a:t>          }</a:t>
            </a:r>
          </a:p>
          <a:p>
            <a:r>
              <a:t>        },</a:t>
            </a:r>
          </a:p>
          <a:p>
            <a:r>
              <a:t>        "selected_model": "seasonal_naive_previous_year_same_month",</a:t>
            </a:r>
          </a:p>
          <a:p>
            <a:r>
              <a:t>        "baseline_test_mae": 32030.5,</a:t>
            </a:r>
          </a:p>
          <a:p>
            <a:r>
              <a:t>        "model_reliability": "seasonal_baseline",</a:t>
            </a:r>
          </a:p>
          <a:p>
            <a:r>
              <a:t>        "beats_baseline_on_test": false,</a:t>
            </a:r>
          </a:p>
          <a:p>
            <a:r>
              <a:t>        "recursive_horizons_worse_than_baseline":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8,</a:t>
            </a:r>
          </a:p>
          <a:p>
            <a:r>
              <a:t>    "recursive_backtest_horizon_months": [</a:t>
            </a:r>
          </a:p>
          <a:p>
            <a:r>
              <a:t>      1,</a:t>
            </a:r>
          </a:p>
          <a:p>
            <a:r>
              <a:t>      2,</a:t>
            </a:r>
          </a:p>
          <a:p>
            <a:r>
              <a:t>      3</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"operation-document-v1",</a:t>
            </a:r>
          </a:p>
          <a:p>
            <a:r>
              <a:t>  "selected_source": {</a:t>
            </a:r>
          </a:p>
          <a:p>
            <a:r>
              <a:t>    "title": "강진 반값여행 지역경제 효과 소개",</a:t>
            </a:r>
          </a:p>
          <a:p>
            <a:r>
              <a:t>    "summary": "전라남도 강진군 · 반값여행 지역환급 · 상품권 결제 변화에 관한 소개 자료는 있으나, 사업 참여자 범위·정확한 비교 기간·원자료를 확인하지 못해 성과 수치 인용을 보류한다.",</a:t>
            </a:r>
          </a:p>
          <a:p>
            <a:r>
              <a:t>    "source_id": "case:gangjin_half_price_2024",</a:t>
            </a:r>
          </a:p>
          <a:p>
            <a:r>
              <a:t>    "source_url": "https://jnfarm.jeonnam.go.kr/board/FARM_BOARD_008/boardView.do?bdId=BD_00000000000011721&amp;menuCd=farm004002",</a:t>
            </a:r>
          </a:p>
          <a:p>
            <a:r>
              <a:t>    "case_region": "전라남도 강진군",</a:t>
            </a:r>
          </a:p>
          <a:p>
            <a:r>
              <a:t>    "source_type": "benchmark_case",</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"published_or_updated_at": "2025-01-02",</a:t>
            </a:r>
          </a:p>
          <a:p>
            <a:r>
              <a:t>    "quantitative_result_approved": false</a:t>
            </a:r>
          </a:p>
          <a:p>
            <a:r>
              <a:t>  },</a:t>
            </a:r>
          </a:p>
          <a:p>
            <a:r>
              <a:t>  "observed_findings": [</a:t>
            </a:r>
          </a:p>
          <a:p>
            <a:r>
              <a:t>    {</a:t>
            </a:r>
          </a:p>
          <a:p>
            <a:r>
              <a:t>      "value": "51,352,814,000원",</a:t>
            </a:r>
          </a:p>
          <a:p>
            <a:r>
              <a:t>      "metric": "월간 외지인 관광소비 총액",</a:t>
            </a:r>
          </a:p>
          <a:p>
            <a:r>
              <a:t>      "source": "dataset:51110:3",</a:t>
            </a:r>
          </a:p>
          <a:p>
            <a:r>
              <a:t>      "interpretation": "춘천시 외지인 소비의 규모를 나타내며, 환급 사업의 잠재적 대상 범위로 활용 가능함"</a:t>
            </a:r>
          </a:p>
          <a:p>
            <a:r>
              <a:t>    },</a:t>
            </a:r>
          </a:p>
          <a:p>
            <a:r>
              <a:t>    {</a:t>
            </a:r>
          </a:p>
          <a:p>
            <a:r>
              <a:t>      "value": "식음료업(36.4%), 쇼핑업(24.2%), 여가서비스업(21.8%)",</a:t>
            </a:r>
          </a:p>
          <a:p>
            <a:r>
              <a:t>      "metric": "업종별 소비 비중",</a:t>
            </a:r>
          </a:p>
          <a:p>
            <a:r>
              <a:t>      "source": "get_region_metrics",</a:t>
            </a:r>
          </a:p>
          <a:p>
            <a:r>
              <a:t>      "interpretation": "환급 프로그램의 주요 참여 업종 및 타겟 소비 분야를 식별함"</a:t>
            </a:r>
          </a:p>
          <a:p>
            <a:r>
              <a:t>    },</a:t>
            </a:r>
          </a:p>
          <a:p>
            <a:r>
              <a:t>    {</a:t>
            </a:r>
          </a:p>
          <a:p>
            <a:r>
              <a:t>      "value": "14.1%",</a:t>
            </a:r>
          </a:p>
          <a:p>
            <a:r>
              <a:t>      "metric": "외지인 숙박 방문 비율",</a:t>
            </a:r>
          </a:p>
          <a:p>
            <a:r>
              <a:t>      "source": "dataset:51110:4",</a:t>
            </a:r>
          </a:p>
          <a:p>
            <a:r>
              <a:t>      "interpretation": "당일 방문객 비중이 높으므로, 환급을 통한 체류 연장 및 추가 소비 유도 여력이 존재함"</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image" Target="../media/image2.jpg"/><Relationship Id="rId8" Type="http://schemas.openxmlformats.org/officeDocument/2006/relationships/hyperlink" Target="https://isum.incheon.go.kr/theme/themeContent.do?key=2407020018" TargetMode="External"/><Relationship Id="rId9" Type="http://schemas.openxmlformats.org/officeDocument/2006/relationships/hyperlink" Target="https://www.incheon.go.kr/mayor_8/MA040101/view?curPage=236&amp;repSeq=DOM_0000000010488055"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lik.nanet.go.kr/minutes/viewer.do?DOCID=CLIKC3524169218564260&amp;collection=minutes" TargetMode="Externa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jeonju.go.kr/resource/www/images/download/budget/2026/2026_31_2.pdf" TargetMode="External"/><Relationship Id="rId5" Type="http://schemas.openxmlformats.org/officeDocument/2006/relationships/hyperlink" Target="https://www.incheon.go.kr/mayor_8/MA040101/view?curPage=236&amp;repSeq=DOM_0000000010488055" TargetMode="External"/><Relationship Id="rId6" Type="http://schemas.openxmlformats.org/officeDocument/2006/relationships/hyperlink" Target="https://jnfarm.jeonnam.go.kr/board/FARM_BOARD_008/boardView.do?bdId=BD_00000000000011721&amp;menuCd=farm004002" TargetMode="External"/><Relationship Id="rId7"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kto.visitkorea.or.kr/upload/flexer/upload/ktobiz/20220928/b623b5f9-3ec0-11ed-9832-ddf31964842e.hwp.files/Sections1.html" TargetMode="External"/><Relationship Id="rId3" Type="http://schemas.openxmlformats.org/officeDocument/2006/relationships/hyperlink" Target="https://korean.visitkorea.or.kr/detail/rem_detail.do?cotid=f9c636b2-dd7c-4f09-af3d-6af43b33d371" TargetMode="External"/><Relationship Id="rId4" Type="http://schemas.openxmlformats.org/officeDocument/2006/relationships/hyperlink" Target="https://www.evaluation.go.kr/upload2/atch/eval/20250429095846463.pdf" TargetMode="External"/><Relationship Id="rId5" Type="http://schemas.openxmlformats.org/officeDocument/2006/relationships/hyperlink" Target="https://apis.data.go.kr/B551011/KorService2" TargetMode="Externa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jnfarm.jeonnam.go.kr/board/FARM_BOARD_008/boardView.do?bdId=BD_00000000000011721&amp;menuCd=farm004002" TargetMode="External"/><Relationship Id="rId3"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춘천시 지역상품권 환급 프로그램</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2026.09 ~ 2026.11</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춘천시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2026-09-10</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춘천시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강원특별자치도 춘천시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2026. 09. 10</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설계와 3개월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실적과 목표 설정</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228600" y="8020050"/>
            <a:ext cx="4333875" cy="342900"/>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001000"/>
            <a:ext cx="4143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wrap="none" lIns="57150" rIns="57150" tIns="38100" bIns="38100">
            <a:noAutofit/>
          </a:bodyPr>
          <a:lstStyle xmlns:a="http://schemas.openxmlformats.org/drawingml/2006/main"/>
          <a:p xmlns:a="http://schemas.openxmlformats.org/drawingml/2006/main">
            <a:pPr algn="l" eaLnBrk="0">
              <a:lnSpc>
                <a:spcPts val="1593"/>
              </a:lnSpc>
              <a:spcBef>
                <a:spcPts val="0"/>
              </a:spcBef>
              <a:spcAft>
                <a:spcPts val="0"/>
              </a:spcAft>
              <a:buNone/>
              <a:defRPr sz="825" b="0" i="0">
                <a:solidFill>
                  <a:srgbClr val="FFFFFF"/>
                </a:solidFill>
                <a:latin typeface="Noto Sans KR"/>
                <a:ea typeface="Noto Sans KR"/>
                <a:cs typeface="Noto Sans KR"/>
              </a:defRPr>
            </a:pPr>
            <a:r>
              <a:rPr sz="1275"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춘천시 지역상품권 환급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춘천시 내 지정된 식음료, 쇼핑, 여가서비스 참여 업종에서 일정</a:t>
            </a:r>
          </a:p>
          <a:p>
            <a:pPr eaLnBrk="0">
              <a:lnSpc>
                <a:spcPts val="3187"/>
              </a:lnSpc>
              <a:spcBef>
                <a:spcPts val="0"/>
              </a:spcBef>
              <a:spcAft>
                <a:spcPts val="0"/>
              </a:spcAft>
            </a:pPr>
            <a:r>
              <a:rPr sz="2550" b="1">
                <a:solidFill>
                  <a:srgbClr val="1D2227"/>
                </a:solidFill>
                <a:latin typeface="Noto Sans KR"/>
              </a:rPr>
              <a:t>금액 이상 결제한 외지인 관광객에게 결제액의 일부를 춘천시</a:t>
            </a:r>
          </a:p>
          <a:p>
            <a:pPr eaLnBrk="0">
              <a:lnSpc>
                <a:spcPts val="3187"/>
              </a:lnSpc>
              <a:spcBef>
                <a:spcPts val="0"/>
              </a:spcBef>
              <a:spcAft>
                <a:spcPts val="0"/>
              </a:spcAft>
            </a:pPr>
            <a:r>
              <a:rPr sz="2550" b="1">
                <a:solidFill>
                  <a:srgbClr val="1D2227"/>
                </a:solidFill>
                <a:latin typeface="Noto Sans KR"/>
              </a:rPr>
              <a:t>지역상품권으로 환급해 주는 메커니즘</a:t>
            </a:r>
          </a:p>
        </p:txBody>
      </p:sp>
      <p:sp xmlns:a="http://schemas.openxmlformats.org/drawingml/2006/main">
        <p:nvSpPr>
          <p:cNvPr id="36" name="s3-detail-label"/>
          <p:cNvSpPr txBox="1"/>
          <p:nvPr/>
        </p:nvSpPr>
        <p:spPr>
          <a:xfrm>
            <a:off x="5343525" y="476250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5276850"/>
            <a:ext cx="8524875" cy="9048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59636E"/>
                </a:solidFill>
                <a:latin typeface="Noto Sans KR"/>
              </a:rPr>
              <a:t>2026-09 ~ 2026-11, 3개월</a:t>
            </a:r>
          </a:p>
        </p:txBody>
      </p:sp>
      <p:sp xmlns:a="http://schemas.openxmlformats.org/drawingml/2006/main">
        <p:nvSpPr>
          <p:cNvPr id="38" name="s3-operation-rule"/>
          <p:cNvSpPr/>
          <p:nvPr/>
        </p:nvSpPr>
        <p:spPr>
          <a:xfrm>
            <a:off x="5400675" y="6457950"/>
            <a:ext cx="57150" cy="1209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9" name="s3-operation"/>
          <p:cNvSpPr txBox="1"/>
          <p:nvPr/>
        </p:nvSpPr>
        <p:spPr>
          <a:xfrm>
            <a:off x="5610225" y="6505575"/>
            <a:ext cx="8096250" cy="128587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춘천시 내 식음료업, 쇼핑업, 여가서비스업 등 참여 업체의 협약, 환급 상품권의</a:t>
            </a:r>
          </a:p>
          <a:p>
            <a:pPr eaLnBrk="0">
              <a:lnSpc>
                <a:spcPts val="2343"/>
              </a:lnSpc>
              <a:spcBef>
                <a:spcPts val="0"/>
              </a:spcBef>
              <a:spcAft>
                <a:spcPts val="0"/>
              </a:spcAft>
            </a:pPr>
            <a:r>
              <a:rPr sz="1875" b="0">
                <a:solidFill>
                  <a:srgbClr val="59636E"/>
                </a:solidFill>
                <a:latin typeface="Noto Sans KR"/>
              </a:rPr>
              <a:t>발행 및 유통 시스템 구축, 환급 비율 및 조건 설정, 환급 효과 측정을 위한</a:t>
            </a:r>
          </a:p>
          <a:p>
            <a:pPr eaLnBrk="0">
              <a:lnSpc>
                <a:spcPts val="2343"/>
              </a:lnSpc>
              <a:spcBef>
                <a:spcPts val="0"/>
              </a:spcBef>
              <a:spcAft>
                <a:spcPts val="0"/>
              </a:spcAft>
            </a:pPr>
            <a:r>
              <a:rPr sz="1875" b="0">
                <a:solidFill>
                  <a:srgbClr val="59636E"/>
                </a:solidFill>
                <a:latin typeface="Noto Sans KR"/>
              </a:rPr>
              <a:t>데이터 수집 및 분석 시스템 구축</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설계와 3개월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춘천시 내 지정된 식음료, 쇼핑, 여가서비스</a:t>
            </a:r>
          </a:p>
          <a:p>
            <a:pPr eaLnBrk="0">
              <a:lnSpc>
                <a:spcPts val="2156"/>
              </a:lnSpc>
              <a:spcBef>
                <a:spcPts val="0"/>
              </a:spcBef>
              <a:spcAft>
                <a:spcPts val="0"/>
              </a:spcAft>
            </a:pPr>
            <a:r>
              <a:rPr sz="1725" b="0">
                <a:solidFill>
                  <a:srgbClr val="59636E"/>
                </a:solidFill>
                <a:latin typeface="Noto Sans KR"/>
              </a:rPr>
              <a:t>참여 업종에서 일정 금액 이상 결제한</a:t>
            </a:r>
          </a:p>
          <a:p>
            <a:pPr eaLnBrk="0">
              <a:lnSpc>
                <a:spcPts val="2156"/>
              </a:lnSpc>
              <a:spcBef>
                <a:spcPts val="0"/>
              </a:spcBef>
              <a:spcAft>
                <a:spcPts val="0"/>
              </a:spcAft>
            </a:pPr>
            <a:r>
              <a:rPr sz="1725" b="0">
                <a:solidFill>
                  <a:srgbClr val="59636E"/>
                </a:solidFill>
                <a:latin typeface="Noto Sans KR"/>
              </a:rPr>
              <a:t>외지인 관광객에게 결제액의 일부를 춘천시</a:t>
            </a:r>
          </a:p>
          <a:p>
            <a:pPr eaLnBrk="0">
              <a:lnSpc>
                <a:spcPts val="2156"/>
              </a:lnSpc>
              <a:spcBef>
                <a:spcPts val="0"/>
              </a:spcBef>
              <a:spcAft>
                <a:spcPts val="0"/>
              </a:spcAft>
            </a:pPr>
            <a:r>
              <a:rPr sz="1725" b="0">
                <a:solidFill>
                  <a:srgbClr val="59636E"/>
                </a:solidFill>
                <a:latin typeface="Noto Sans KR"/>
              </a:rPr>
              <a:t>지역상품권으로 환급해 주는 메커니즘</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2026-09 ~ 2026-11,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645만 명</a:t>
            </a:r>
          </a:p>
          <a:p>
            <a:pPr eaLnBrk="0">
              <a:lnSpc>
                <a:spcPts val="2156"/>
              </a:lnSpc>
              <a:spcBef>
                <a:spcPts val="0"/>
              </a:spcBef>
              <a:spcAft>
                <a:spcPts val="0"/>
              </a:spcAft>
            </a:pPr>
            <a:r>
              <a:rPr sz="1725" b="0">
                <a:solidFill>
                  <a:srgbClr val="59636E"/>
                </a:solidFill>
                <a:latin typeface="Noto Sans KR"/>
              </a:rPr>
              <a:t>관광소비액 1,599억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00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202401~202606 월별 방문·소비의 1·3·12개월 전 값과 계절 정보로 산출한 저장 전망입니다. ML 기준 전망은 참고값이며, 신규 사업 효과를 학습한 예측치가 아닙니다.</a:t>
            </a:r>
          </a:p>
        </p:txBody>
      </p:sp>
    </p:spTree>
    <p:extLst>
      <p:ext uri="{BB962C8B-B14F-4D97-AF65-F5344CB8AC3E}">
        <p14:creationId xmlns:p14="http://schemas.microsoft.com/office/powerpoint/2010/main" val="380383987"/>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핵심 운영 참고</a:t>
            </a:r>
          </a:p>
        </p:txBody>
      </p:sp>
      <p:sp xmlns:a="http://schemas.openxmlformats.org/drawingml/2006/main">
        <p:nvSpPr>
          <p:cNvPr id="8"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9"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 일부를</a:t>
            </a:r>
          </a:p>
          <a:p>
            <a:pPr eaLnBrk="0">
              <a:lnSpc>
                <a:spcPts val="1968"/>
              </a:lnSpc>
              <a:spcBef>
                <a:spcPts val="0"/>
              </a:spcBef>
              <a:spcAft>
                <a:spcPts val="0"/>
              </a:spcAft>
            </a:pPr>
            <a:r>
              <a:rPr sz="1575" b="0">
                <a:solidFill>
                  <a:srgbClr val="59636E"/>
                </a:solidFill>
                <a:latin typeface="Noto Sans KR"/>
              </a:rPr>
              <a:t>지역상품권으로 돌려받게 하여 혜택이</a:t>
            </a:r>
          </a:p>
          <a:p>
            <a:pPr eaLnBrk="0">
              <a:lnSpc>
                <a:spcPts val="1968"/>
              </a:lnSpc>
              <a:spcBef>
                <a:spcPts val="0"/>
              </a:spcBef>
              <a:spcAft>
                <a:spcPts val="0"/>
              </a:spcAft>
            </a:pPr>
            <a:r>
              <a:rPr sz="1575" b="0">
                <a:solidFill>
                  <a:srgbClr val="59636E"/>
                </a:solidFill>
                <a:latin typeface="Noto Sans KR"/>
              </a:rPr>
              <a:t>다시 지역 상점에서 사용되도록 설계</a:t>
            </a:r>
          </a:p>
        </p:txBody>
      </p:sp>
      <p:pic xmlns:a="http://schemas.openxmlformats.org/drawingml/2006/main" xmlns:r="http://schemas.openxmlformats.org/officeDocument/2006/relationships">
        <p:nvPicPr>
          <p:cNvPr id="10" name="case-photo-0" descr="gangjin_official.jpg"/>
          <p:cNvPicPr>
            <a:picLocks noChangeAspect="1"/>
          </p:cNvPicPr>
          <p:nvPr/>
        </p:nvPicPr>
        <p:blipFill>
          <a:blip r:embed="rId4"/>
          <a:stretch>
            <a:fillRect/>
          </a:stretch>
        </p:blipFill>
        <p:spPr>
          <a:xfrm>
            <a:off x="1518636" y="5857875"/>
            <a:ext cx="3211126" cy="1714500"/>
          </a:xfrm>
          <a:prstGeom prst="rect">
            <a:avLst/>
          </a:prstGeom>
        </p:spPr>
      </p:pic>
      <p:sp xmlns:a="http://schemas.openxmlformats.org/drawingml/2006/main">
        <p:nvSpPr>
          <p:cNvPr id="11"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0="http://schemas.openxmlformats.org/officeDocument/2006/relationships" ns0:id="rId5"/>
              </a:rPr>
              <a:t>강진군 · 반값여행 공식 홍보물</a:t>
            </a:r>
          </a:p>
          <a:p>
            <a:pPr eaLnBrk="0">
              <a:lnSpc>
                <a:spcPts val="1500"/>
              </a:lnSpc>
              <a:spcBef>
                <a:spcPts val="0"/>
              </a:spcBef>
              <a:spcAft>
                <a:spcPts val="0"/>
              </a:spcAft>
            </a:pPr>
            <a:r>
              <a:rPr sz="1200" b="0">
                <a:solidFill>
                  <a:srgbClr val="59636E"/>
                </a:solidFill>
                <a:latin typeface="Noto Sans KR"/>
                <a:hlinkClick xmlns:ns1="http://schemas.openxmlformats.org/officeDocument/2006/relationships" ns1:id="rId5"/>
              </a:rPr>
              <a:t>출처: 강진 반값여행 공식 홈페이지</a:t>
            </a:r>
          </a:p>
        </p:txBody>
      </p:sp>
      <p:sp xmlns:a="http://schemas.openxmlformats.org/drawingml/2006/main">
        <p:nvSpPr>
          <p:cNvPr id="12"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2="http://schemas.openxmlformats.org/officeDocument/2006/relationships" ns2:id="rId6"/>
              </a:rPr>
              <a:t>사업 원문 보기 ↗</a:t>
            </a:r>
          </a:p>
        </p:txBody>
      </p:sp>
      <p:sp xmlns:a="http://schemas.openxmlformats.org/drawingml/2006/main">
        <p:nvSpPr>
          <p:cNvPr id="13"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5" name="case-badge-1"/>
          <p:cNvSpPr txBox="1"/>
          <p:nvPr/>
        </p:nvSpPr>
        <p:spPr>
          <a:xfrm>
            <a:off x="64484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비교할 다른 운영 방식</a:t>
            </a:r>
          </a:p>
        </p:txBody>
      </p:sp>
      <p:sp xmlns:a="http://schemas.openxmlformats.org/drawingml/2006/main">
        <p:nvSpPr>
          <p:cNvPr id="16"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1">
                <a:solidFill>
                  <a:srgbClr val="1D2227"/>
                </a:solidFill>
                <a:latin typeface="Noto Sans KR"/>
              </a:rPr>
              <a:t>인천광역시 강화군·옹진군 소재 섬 ·</a:t>
            </a:r>
          </a:p>
          <a:p>
            <a:pPr eaLnBrk="0">
              <a:lnSpc>
                <a:spcPts val="1968"/>
              </a:lnSpc>
              <a:spcBef>
                <a:spcPts val="0"/>
              </a:spcBef>
              <a:spcAft>
                <a:spcPts val="0"/>
              </a:spcAft>
            </a:pPr>
            <a:r>
              <a:rPr sz="1575" b="1">
                <a:solidFill>
                  <a:srgbClr val="1D2227"/>
                </a:solidFill>
                <a:latin typeface="Noto Sans KR"/>
              </a:rPr>
              <a:t>인천 섬 도도하게 살아보기—주민</a:t>
            </a:r>
          </a:p>
          <a:p>
            <a:pPr eaLnBrk="0">
              <a:lnSpc>
                <a:spcPts val="1968"/>
              </a:lnSpc>
              <a:spcBef>
                <a:spcPts val="0"/>
              </a:spcBef>
              <a:spcAft>
                <a:spcPts val="0"/>
              </a:spcAft>
            </a:pPr>
            <a:r>
              <a:rPr sz="1575" b="1">
                <a:solidFill>
                  <a:srgbClr val="1D2227"/>
                </a:solidFill>
                <a:latin typeface="Noto Sans KR"/>
              </a:rPr>
              <a:t>숙박·식사·체험을 묶은 예약형 체류상품</a:t>
            </a:r>
          </a:p>
        </p:txBody>
      </p:sp>
      <p:sp xmlns:a="http://schemas.openxmlformats.org/drawingml/2006/main">
        <p:nvSpPr>
          <p:cNvPr id="17"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섬별로 2박 3일 또는 3박 4일 상품을 정해진</a:t>
            </a:r>
          </a:p>
          <a:p>
            <a:pPr eaLnBrk="0">
              <a:lnSpc>
                <a:spcPts val="1875"/>
              </a:lnSpc>
              <a:spcBef>
                <a:spcPts val="0"/>
              </a:spcBef>
              <a:spcAft>
                <a:spcPts val="0"/>
              </a:spcAft>
            </a:pPr>
            <a:r>
              <a:rPr sz="1500" b="0">
                <a:solidFill>
                  <a:srgbClr val="59636E"/>
                </a:solidFill>
                <a:latin typeface="Noto Sans KR"/>
              </a:rPr>
              <a:t>회차로 판매했다. 주민 운영 숙소·음식점과</a:t>
            </a:r>
          </a:p>
          <a:p>
            <a:pPr eaLnBrk="0">
              <a:lnSpc>
                <a:spcPts val="1875"/>
              </a:lnSpc>
              <a:spcBef>
                <a:spcPts val="0"/>
              </a:spcBef>
              <a:spcAft>
                <a:spcPts val="0"/>
              </a:spcAft>
            </a:pPr>
            <a:r>
              <a:rPr sz="1500" b="0">
                <a:solidFill>
                  <a:srgbClr val="59636E"/>
                </a:solidFill>
                <a:latin typeface="Noto Sans KR"/>
              </a:rPr>
              <a:t>낚시, 트레킹, 해양레저, 로컬체험을 하나의</a:t>
            </a:r>
          </a:p>
          <a:p>
            <a:pPr eaLnBrk="0">
              <a:lnSpc>
                <a:spcPts val="1875"/>
              </a:lnSpc>
              <a:spcBef>
                <a:spcPts val="0"/>
              </a:spcBef>
              <a:spcAft>
                <a:spcPts val="0"/>
              </a:spcAft>
            </a:pPr>
            <a:r>
              <a:rPr sz="1500" b="0">
                <a:solidFill>
                  <a:srgbClr val="59636E"/>
                </a:solidFill>
                <a:latin typeface="Noto Sans KR"/>
              </a:rPr>
              <a:t>예약상품으로 묶고 상품가격의 일부를</a:t>
            </a:r>
          </a:p>
          <a:p>
            <a:pPr eaLnBrk="0">
              <a:lnSpc>
                <a:spcPts val="1875"/>
              </a:lnSpc>
              <a:spcBef>
                <a:spcPts val="0"/>
              </a:spcBef>
              <a:spcAft>
                <a:spcPts val="0"/>
              </a:spcAft>
            </a:pPr>
            <a:r>
              <a:rPr sz="1500" b="0">
                <a:solidFill>
                  <a:srgbClr val="59636E"/>
                </a:solidFill>
                <a:latin typeface="Noto Sans KR"/>
              </a:rPr>
              <a:t>공공이 지원했다. 2024년 자료에는 섬별</a:t>
            </a:r>
          </a:p>
          <a:p>
            <a:pPr eaLnBrk="0">
              <a:lnSpc>
                <a:spcPts val="1875"/>
              </a:lnSpc>
              <a:spcBef>
                <a:spcPts val="0"/>
              </a:spcBef>
              <a:spcAft>
                <a:spcPts val="0"/>
              </a:spcAft>
            </a:pPr>
            <a:r>
              <a:rPr sz="1500" b="0">
                <a:solidFill>
                  <a:srgbClr val="59636E"/>
                </a:solidFill>
                <a:latin typeface="Noto Sans KR"/>
              </a:rPr>
              <a:t>최대 50% 지원 구조가 제시됐다.</a:t>
            </a:r>
          </a:p>
        </p:txBody>
      </p:sp>
      <p:pic xmlns:a="http://schemas.openxmlformats.org/drawingml/2006/main" xmlns:r="http://schemas.openxmlformats.org/officeDocument/2006/relationships">
        <p:nvPicPr>
          <p:cNvPr id="18" name="case-photo-1" descr="incheon_official.jpg"/>
          <p:cNvPicPr>
            <a:picLocks noChangeAspect="1"/>
          </p:cNvPicPr>
          <p:nvPr/>
        </p:nvPicPr>
        <p:blipFill>
          <a:blip r:embed="rId7"/>
          <a:stretch>
            <a:fillRect/>
          </a:stretch>
        </p:blipFill>
        <p:spPr>
          <a:xfrm>
            <a:off x="6094440" y="5857875"/>
            <a:ext cx="3051119" cy="1714500"/>
          </a:xfrm>
          <a:prstGeom prst="rect">
            <a:avLst/>
          </a:prstGeom>
        </p:spPr>
      </p:pic>
      <p:sp xmlns:a="http://schemas.openxmlformats.org/drawingml/2006/main">
        <p:nvSpPr>
          <p:cNvPr id="19"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3="http://schemas.openxmlformats.org/officeDocument/2006/relationships" ns3:id="rId8"/>
              </a:rPr>
              <a:t>인천 섬 · 로컬체험 여행 소개 사진</a:t>
            </a:r>
          </a:p>
          <a:p>
            <a:pPr eaLnBrk="0">
              <a:lnSpc>
                <a:spcPts val="1500"/>
              </a:lnSpc>
              <a:spcBef>
                <a:spcPts val="0"/>
              </a:spcBef>
              <a:spcAft>
                <a:spcPts val="0"/>
              </a:spcAft>
            </a:pPr>
            <a:r>
              <a:rPr sz="1200" b="0">
                <a:solidFill>
                  <a:srgbClr val="59636E"/>
                </a:solidFill>
                <a:latin typeface="Noto Sans KR"/>
                <a:hlinkClick xmlns:ns4="http://schemas.openxmlformats.org/officeDocument/2006/relationships" ns4:id="rId8"/>
              </a:rPr>
              <a:t>출처: 인천광역시 섬포털</a:t>
            </a:r>
          </a:p>
        </p:txBody>
      </p:sp>
      <p:sp xmlns:a="http://schemas.openxmlformats.org/drawingml/2006/main">
        <p:nvSpPr>
          <p:cNvPr id="20"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5="http://schemas.openxmlformats.org/officeDocument/2006/relationships" ns5:id="rId9"/>
              </a:rPr>
              <a:t>사업 원문 보기 ↗</a:t>
            </a:r>
          </a:p>
        </p:txBody>
      </p:sp>
      <p:sp xmlns:a="http://schemas.openxmlformats.org/drawingml/2006/main">
        <p:nvSpPr>
          <p:cNvPr id="21"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3" name="case-badge-2"/>
          <p:cNvSpPr txBox="1"/>
          <p:nvPr/>
        </p:nvSpPr>
        <p:spPr>
          <a:xfrm>
            <a:off x="10944225" y="2714625"/>
            <a:ext cx="3048000" cy="3143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1">
                <a:solidFill>
                  <a:srgbClr val="004EA2"/>
                </a:solidFill>
                <a:latin typeface="Noto Sans KR"/>
              </a:rPr>
              <a:t>비교할 다른 운영 방식</a:t>
            </a:r>
          </a:p>
        </p:txBody>
      </p:sp>
      <p:sp xmlns:a="http://schemas.openxmlformats.org/drawingml/2006/main">
        <p:nvSpPr>
          <p:cNvPr id="24"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 디지털</a:t>
            </a:r>
          </a:p>
          <a:p>
            <a:pPr eaLnBrk="0">
              <a:lnSpc>
                <a:spcPts val="2250"/>
              </a:lnSpc>
              <a:spcBef>
                <a:spcPts val="0"/>
              </a:spcBef>
              <a:spcAft>
                <a:spcPts val="0"/>
              </a:spcAft>
            </a:pPr>
            <a:r>
              <a:rPr sz="1800" b="1">
                <a:solidFill>
                  <a:srgbClr val="1D2227"/>
                </a:solidFill>
                <a:latin typeface="Noto Sans KR"/>
              </a:rPr>
              <a:t>관광주민증과 교통·숙박·상점</a:t>
            </a:r>
          </a:p>
          <a:p>
            <a:pPr eaLnBrk="0">
              <a:lnSpc>
                <a:spcPts val="2250"/>
              </a:lnSpc>
              <a:spcBef>
                <a:spcPts val="0"/>
              </a:spcBef>
              <a:spcAft>
                <a:spcPts val="0"/>
              </a:spcAft>
            </a:pPr>
            <a:r>
              <a:rPr sz="1800" b="1">
                <a:solidFill>
                  <a:srgbClr val="1D2227"/>
                </a:solidFill>
                <a:latin typeface="Noto Sans KR"/>
              </a:rPr>
              <a:t>할인 결합</a:t>
            </a:r>
          </a:p>
        </p:txBody>
      </p:sp>
      <p:sp xmlns:a="http://schemas.openxmlformats.org/drawingml/2006/main">
        <p:nvSpPr>
          <p:cNvPr id="25"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 인증과</a:t>
            </a:r>
          </a:p>
          <a:p>
            <a:pPr eaLnBrk="0">
              <a:lnSpc>
                <a:spcPts val="1968"/>
              </a:lnSpc>
              <a:spcBef>
                <a:spcPts val="0"/>
              </a:spcBef>
              <a:spcAft>
                <a:spcPts val="0"/>
              </a:spcAft>
            </a:pPr>
            <a:r>
              <a:rPr sz="1575" b="0">
                <a:solidFill>
                  <a:srgbClr val="59636E"/>
                </a:solidFill>
                <a:latin typeface="Noto Sans KR"/>
              </a:rPr>
              <a:t>숙박·식음·관람·체험 할인, 특정 시간대</a:t>
            </a:r>
          </a:p>
          <a:p>
            <a:pPr eaLnBrk="0">
              <a:lnSpc>
                <a:spcPts val="1968"/>
              </a:lnSpc>
              <a:spcBef>
                <a:spcPts val="0"/>
              </a:spcBef>
              <a:spcAft>
                <a:spcPts val="0"/>
              </a:spcAft>
            </a:pPr>
            <a:r>
              <a:rPr sz="1575" b="0">
                <a:solidFill>
                  <a:srgbClr val="59636E"/>
                </a:solidFill>
                <a:latin typeface="Noto Sans KR"/>
              </a:rPr>
              <a:t>KTX 할인과 방문 후 교통 할인권을 결합</a:t>
            </a:r>
          </a:p>
        </p:txBody>
      </p:sp>
      <p:pic xmlns:a="http://schemas.openxmlformats.org/drawingml/2006/main" xmlns:r="http://schemas.openxmlformats.org/officeDocument/2006/relationships">
        <p:nvPicPr>
          <p:cNvPr id="26"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7"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a:solidFill>
                  <a:srgbClr val="59636E"/>
                </a:solidFill>
                <a:latin typeface="Noto Sans KR"/>
                <a:hlinkClick xmlns:ns7="http://schemas.openxmlformats.org/officeDocument/2006/relationships" ns7:id="rId11"/>
              </a:rPr>
              <a:t>출처: 대한민국 정책브리핑 (2025)</a:t>
            </a:r>
          </a:p>
        </p:txBody>
      </p:sp>
      <p:sp xmlns:a="http://schemas.openxmlformats.org/drawingml/2006/main">
        <p:nvSpPr>
          <p:cNvPr id="28"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8="http://schemas.openxmlformats.org/officeDocument/2006/relationships" ns8:id="rId12"/>
              </a:rPr>
              <a:t>사업 원문 보기 ↗</a:t>
            </a:r>
          </a:p>
        </p:txBody>
      </p:sp>
    </p:spTree>
    <p:extLst>
      <p:ext uri="{BB962C8B-B14F-4D97-AF65-F5344CB8AC3E}">
        <p14:creationId xmlns:p14="http://schemas.microsoft.com/office/powerpoint/2010/main" val="930694367"/>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2026-09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참여를 희망하는 가게에 사용 가능한 상품권과 정산 방법을 확인합니다. 지원 대상, 인정할 지출, 신청 마감일과</a:t>
            </a:r>
          </a:p>
          <a:p>
            <a:pPr eaLnBrk="0">
              <a:lnSpc>
                <a:spcPts val="1875"/>
              </a:lnSpc>
              <a:spcBef>
                <a:spcPts val="0"/>
              </a:spcBef>
              <a:spcAft>
                <a:spcPts val="0"/>
              </a:spcAft>
            </a:pPr>
            <a:r>
              <a:rPr sz="1500" b="0">
                <a:solidFill>
                  <a:srgbClr val="59636E"/>
                </a:solidFill>
                <a:latin typeface="Noto Sans KR"/>
              </a:rPr>
              <a:t>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2026-09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59636E"/>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참여 가게를 한정해 먼저 운영합니다. 담당자가 지출 증빙을 확인한 뒤 정해진 기준에 따라 환급하고, 신청자에게</a:t>
            </a:r>
          </a:p>
          <a:p>
            <a:pPr eaLnBrk="0">
              <a:lnSpc>
                <a:spcPts val="1875"/>
              </a:lnSpc>
              <a:spcBef>
                <a:spcPts val="0"/>
              </a:spcBef>
              <a:spcAft>
                <a:spcPts val="0"/>
              </a:spcAft>
            </a:pPr>
            <a:r>
              <a:rPr sz="1500" b="0">
                <a:solidFill>
                  <a:srgbClr val="59636E"/>
                </a:solidFill>
                <a:latin typeface="Noto Sans KR"/>
              </a:rPr>
              <a:t>지급일과 상품권 사용 방법을 알려줍니다.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2026-11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59636E"/>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1,948,014명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1,980,481명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2,278,280명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2,354,223명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2,018,187명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2,119,096명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6,244,481명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6,453,800명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3.35%</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209,319명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552700"/>
                <a:gridCol w="3667125"/>
                <a:gridCol w="3667125"/>
                <a:gridCol w="3333750"/>
              </a:tblGrid>
              <a:tr h="495300">
                <a:tc>
                  <a:txBody>
                    <a:bodyPr wrap="none"/>
                    <a:lstStyle/>
                    <a:p>
                      <a:pPr eaLnBrk="0">
                        <a:lnSpc>
                          <a:spcPct val="112000"/>
                        </a:lnSpc>
                        <a:spcBef>
                          <a:spcPts val="0"/>
                        </a:spcBef>
                        <a:spcAft>
                          <a:spcPts val="0"/>
                        </a:spcAft>
                      </a:pPr>
                      <a:r>
                        <a:rPr sz="1650"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650" b="1">
                          <a:solidFill>
                            <a:srgbClr val="FFFFFF"/>
                          </a:solidFill>
                          <a:latin typeface="Noto Sans KR"/>
                        </a:rPr>
                        <a:t>목표 증가율</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26.09</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448.55억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456.02억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595.05억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614.88억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503.31억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528.47억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1,546.90억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1,599.38억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 3.39%</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52.48억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26.09 23,026원 · 26.10 26,118원 · 26.11 24,939원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8,250만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4591050"/>
                <a:gridCol w="5905500"/>
                <a:gridCol w="2724150"/>
              </a:tblGrid>
              <a:tr h="495300">
                <a:tc>
                  <a:txBody>
                    <a:bodyPr wrap="none"/>
                    <a:lstStyle/>
                    <a:p>
                      <a:pPr eaLnBrk="0">
                        <a:lnSpc>
                          <a:spcPct val="112000"/>
                        </a:lnSpc>
                        <a:spcBef>
                          <a:spcPts val="0"/>
                        </a:spcBef>
                        <a:spcAft>
                          <a:spcPts val="0"/>
                        </a:spcAft>
                      </a:pPr>
                      <a:r>
                        <a:rPr sz="1575" b="1">
                          <a:solidFill>
                            <a:srgbClr val="FFFFFF"/>
                          </a:solidFill>
                          <a:latin typeface="Noto Sans KR"/>
                        </a:rPr>
                        <a:t>항목 / 편성 이유</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수량 × 가정 단가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여행비 환급 지원</a:t>
                      </a:r>
                    </a:p>
                    <a:p>
                      <a:pPr eaLnBrk="0">
                        <a:lnSpc>
                          <a:spcPct val="112000"/>
                        </a:lnSpc>
                        <a:spcBef>
                          <a:spcPts val="0"/>
                        </a:spcBef>
                        <a:spcAft>
                          <a:spcPts val="0"/>
                        </a:spcAft>
                      </a:pPr>
                      <a:r>
                        <a:rPr sz="1312" b="1">
                          <a:solidFill>
                            <a:srgbClr val="1D2227"/>
                          </a:solidFill>
                          <a:latin typeface="Noto Sans KR"/>
                        </a:rPr>
                        <a:t>참여자에게 지급할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1,000건 × 50,000원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5,000만 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현장 운영·정산</a:t>
                      </a:r>
                    </a:p>
                    <a:p>
                      <a:pPr eaLnBrk="0">
                        <a:lnSpc>
                          <a:spcPct val="112000"/>
                        </a:lnSpc>
                        <a:spcBef>
                          <a:spcPts val="0"/>
                        </a:spcBef>
                        <a:spcAft>
                          <a:spcPts val="0"/>
                        </a:spcAft>
                      </a:pPr>
                      <a:r>
                        <a:rPr sz="1312" b="1">
                          <a:solidFill>
                            <a:srgbClr val="1D2227"/>
                          </a:solidFill>
                          <a:latin typeface="Noto Sans KR"/>
                        </a:rPr>
                        <a:t>신청 확인·현장 안내·정산 인력</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60인일 × 150,000원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900만 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신청·증빙 시스템</a:t>
                      </a:r>
                    </a:p>
                    <a:p>
                      <a:pPr eaLnBrk="0">
                        <a:lnSpc>
                          <a:spcPct val="112000"/>
                        </a:lnSpc>
                        <a:spcBef>
                          <a:spcPts val="0"/>
                        </a:spcBef>
                        <a:spcAft>
                          <a:spcPts val="0"/>
                        </a:spcAft>
                      </a:pPr>
                      <a:r>
                        <a:rPr sz="1312" b="1">
                          <a:solidFill>
                            <a:srgbClr val="1D2227"/>
                          </a:solidFill>
                          <a:latin typeface="Noto Sans KR"/>
                        </a:rPr>
                        <a:t>신청서·증빙 접수 및 관리</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800만 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홍보·참여처 안내</a:t>
                      </a:r>
                    </a:p>
                    <a:p>
                      <a:pPr eaLnBrk="0">
                        <a:lnSpc>
                          <a:spcPct val="112000"/>
                        </a:lnSpc>
                        <a:spcBef>
                          <a:spcPts val="0"/>
                        </a:spcBef>
                        <a:spcAft>
                          <a:spcPts val="0"/>
                        </a:spcAft>
                      </a:pPr>
                      <a:r>
                        <a:rPr sz="1312" b="1">
                          <a:solidFill>
                            <a:srgbClr val="1D2227"/>
                          </a:solidFill>
                          <a:latin typeface="Noto Sans KR"/>
                        </a:rPr>
                        <a:t>참여처 모집·이용 방법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500만 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성과 집계·검토</a:t>
                      </a:r>
                    </a:p>
                    <a:p>
                      <a:pPr eaLnBrk="0">
                        <a:lnSpc>
                          <a:spcPct val="112000"/>
                        </a:lnSpc>
                        <a:spcBef>
                          <a:spcPts val="0"/>
                        </a:spcBef>
                        <a:spcAft>
                          <a:spcPts val="0"/>
                        </a:spcAft>
                      </a:pPr>
                      <a:r>
                        <a:rPr sz="1312" b="1">
                          <a:solidFill>
                            <a:srgbClr val="1D2227"/>
                          </a:solidFill>
                          <a:latin typeface="Noto Sans KR"/>
                        </a:rPr>
                        <a:t>실적 취합과 전후 비교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300만 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312" b="1">
                          <a:solidFill>
                            <a:srgbClr val="1D2227"/>
                          </a:solidFill>
                          <a:latin typeface="Noto Sans KR"/>
                        </a:rPr>
                        <a:t>예비비</a:t>
                      </a:r>
                    </a:p>
                    <a:p>
                      <a:pPr eaLnBrk="0">
                        <a:lnSpc>
                          <a:spcPct val="112000"/>
                        </a:lnSpc>
                        <a:spcBef>
                          <a:spcPts val="0"/>
                        </a:spcBef>
                        <a:spcAft>
                          <a:spcPts val="0"/>
                        </a:spcAft>
                      </a:pPr>
                      <a:r>
                        <a:rPr sz="1312" b="1">
                          <a:solidFill>
                            <a:srgbClr val="1D2227"/>
                          </a:solidFill>
                          <a:latin typeface="Noto Sans KR"/>
                        </a:rPr>
                        <a:t>변경·추가 소요에 대비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7,500만원 × 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750만 원</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산식: 지원 건수 = 1,000 × 운영 개월/3; 운영 인일 = 20 × 운영 개월. 혜택액 + 인건비 + 시스템 + 홍보 + 평가 = 직접비, 예비비 = 직접비 × 10%.</a:t>
            </a:r>
          </a:p>
          <a:p>
            <a:pPr eaLnBrk="0">
              <a:lnSpc>
                <a:spcPts val="1781"/>
              </a:lnSpc>
              <a:spcBef>
                <a:spcPts val="0"/>
              </a:spcBef>
              <a:spcAft>
                <a:spcPts val="0"/>
              </a:spcAft>
            </a:pPr>
            <a:r>
              <a:rPr sz="1425" b="0">
                <a:solidFill>
                  <a:srgbClr val="59636E"/>
                </a:solidFill>
                <a:latin typeface="Noto Sans KR"/>
              </a:rPr>
              <a:t>단가 근거: 모두 코드에 명시한 기획 가정입니다. ML·시장 견적·공식 표준단가에서 추정한 값이 아닙니다. 시스템 800만·홍보 500만·평가 300만 원은 예산 배분 예시입니다.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실적과 목표 KPI 설정 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sis-case-title"/>
          <p:cNvSpPr txBox="1"/>
          <p:nvPr/>
        </p:nvSpPr>
        <p:spPr>
          <a:xfrm>
            <a:off x="1009650" y="1952625"/>
            <a:ext cx="13220700" cy="49530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강진 반값여행과 지역축제 운영 실적</a:t>
            </a:r>
          </a:p>
        </p:txBody>
      </p:sp>
      <p:graphicFrame>
        <p:nvGraphicFramePr>
          <p:cNvPr id="5" name="case-result-table"/>
          <p:cNvGraphicFramePr>
            <a:graphicFrameLocks noGrp="1"/>
          </p:cNvGraphicFramePr>
          <p:nvPr/>
        </p:nvGraphicFramePr>
        <p:xfrm>
          <a:off x="1009650" y="2657475"/>
          <a:ext cx="13220700" cy="2343150"/>
        </p:xfrm>
        <a:graphic>
          <a:graphicData uri="http://schemas.openxmlformats.org/drawingml/2006/table">
            <a:tbl>
              <a:tblPr firstRow="1" bandRow="1">
                <a:tableStyleId>{5C22544A-7EE6-4342-B048-85BDC9FD1C3A}</a:tableStyleId>
              </a:tblPr>
              <a:tblGrid>
                <a:gridCol w="4333875"/>
                <a:gridCol w="3714750"/>
                <a:gridCol w="5172075"/>
              </a:tblGrid>
              <a:tr h="495300">
                <a:tc>
                  <a:txBody>
                    <a:bodyPr wrap="none"/>
                    <a:lstStyle/>
                    <a:p>
                      <a:pPr eaLnBrk="0">
                        <a:lnSpc>
                          <a:spcPct val="112000"/>
                        </a:lnSpc>
                        <a:spcBef>
                          <a:spcPts val="0"/>
                        </a:spcBef>
                        <a:spcAft>
                          <a:spcPts val="0"/>
                        </a:spcAft>
                      </a:pPr>
                      <a:r>
                        <a:rPr sz="1800" b="1">
                          <a:solidFill>
                            <a:srgbClr val="FFFFFF"/>
                          </a:solidFill>
                          <a:latin typeface="Noto Sans KR"/>
                        </a:rPr>
                        <a:t>비교 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관광객 수</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800" b="1">
                          <a:solidFill>
                            <a:srgbClr val="FFFFFF"/>
                          </a:solidFill>
                          <a:latin typeface="Noto Sans KR"/>
                        </a:rPr>
                        <a:t>값의 성격</a:t>
                      </a:r>
                    </a:p>
                  </a:txBody>
                  <a:tcPr marL="95250" marR="95250" marT="66675" marB="66675" anchor="ctr">
                    <a:solidFill>
                      <a:srgbClr val="004EA2"/>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2023년 비교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198.4만 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248만 ÷ 1.25 역산</a:t>
                      </a:r>
                    </a:p>
                  </a:txBody>
                  <a:tcPr marL="95250" marR="95250" marT="66675" marB="66675" anchor="ctr">
                    <a:solidFill>
                      <a:srgbClr val="FFFFFF"/>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2024년 10월 말 누적</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약 248만 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800" b="0">
                          <a:solidFill>
                            <a:srgbClr val="1D2227"/>
                          </a:solidFill>
                          <a:latin typeface="Noto Sans KR"/>
                        </a:rPr>
                        <a:t>강진군의회 발표</a:t>
                      </a:r>
                    </a:p>
                  </a:txBody>
                  <a:tcPr marL="95250" marR="95250" marT="66675" marB="66675" anchor="ctr">
                    <a:solidFill>
                      <a:srgbClr val="EAF1F6"/>
                    </a:solidFill>
                  </a:tcPr>
                </a:tc>
              </a:tr>
              <a:tr h="615950">
                <a:tc>
                  <a:txBody>
                    <a:bodyPr wrap="none"/>
                    <a:lstStyle/>
                    <a:p>
                      <a:pPr eaLnBrk="0">
                        <a:lnSpc>
                          <a:spcPct val="112000"/>
                        </a:lnSpc>
                        <a:spcBef>
                          <a:spcPts val="0"/>
                        </a:spcBef>
                        <a:spcAft>
                          <a:spcPts val="0"/>
                        </a:spcAft>
                      </a:pPr>
                      <a:r>
                        <a:rPr sz="1800" b="1">
                          <a:solidFill>
                            <a:srgbClr val="1D2227"/>
                          </a:solidFill>
                          <a:latin typeface="Noto Sans KR"/>
                        </a:rPr>
                        <a:t>전년 대비 증가</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약 49.6만 명 / 25%</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800" b="0">
                          <a:solidFill>
                            <a:srgbClr val="1D2227"/>
                          </a:solidFill>
                          <a:latin typeface="Noto Sans KR"/>
                        </a:rPr>
                        <a:t>발표 증가율 · 차이는 역산</a:t>
                      </a:r>
                    </a:p>
                  </a:txBody>
                  <a:tcPr marL="95250" marR="95250" marT="66675" marB="66675" anchor="ctr">
                    <a:solidFill>
                      <a:srgbClr val="FFFFFF"/>
                    </a:solidFill>
                  </a:tcPr>
                </a:tc>
              </a:tr>
            </a:tbl>
          </a:graphicData>
        </a:graphic>
      </p:graphicFrame>
      <p:sp>
        <p:nvSpPr>
          <p:cNvPr id="6" name="proposed-target"/>
          <p:cNvSpPr txBox="1"/>
          <p:nvPr/>
        </p:nvSpPr>
        <p:spPr>
          <a:xfrm>
            <a:off x="1009650" y="5305425"/>
            <a:ext cx="13220700" cy="600075"/>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F6B00"/>
                </a:solidFill>
                <a:latin typeface="Noto Sans KR"/>
              </a:rPr>
              <a:t>최종월 계획 목표 방문 +5% · 소비 +5%</a:t>
            </a:r>
          </a:p>
        </p:txBody>
      </p:sp>
      <p:sp>
        <p:nvSpPr>
          <p:cNvPr id="7" name="basis-method"/>
          <p:cNvSpPr txBox="1"/>
          <p:nvPr/>
        </p:nvSpPr>
        <p:spPr>
          <a:xfrm>
            <a:off x="1009650" y="6067425"/>
            <a:ext cx="13220700" cy="126682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① 발표 실적: 강진의 관광객 증가 25%는 반값여행·축제가 함께 운영된 기간의 지역 전체 변화입니다.</a:t>
            </a:r>
          </a:p>
          <a:p>
            <a:pPr eaLnBrk="0">
              <a:lnSpc>
                <a:spcPts val="2062"/>
              </a:lnSpc>
              <a:spcBef>
                <a:spcPts val="0"/>
              </a:spcBef>
              <a:spcAft>
                <a:spcPts val="0"/>
              </a:spcAft>
            </a:pPr>
            <a:r>
              <a:rPr sz="1650" b="0">
                <a:solidFill>
                  <a:srgbClr val="59636E"/>
                </a:solidFill>
                <a:latin typeface="Noto Sans KR"/>
              </a:rPr>
              <a:t>② 목표 판단: 25% × 0.2 = 5%. 0.2는 작은 시범사업을 위한 기획 가정이며 학습·통계 추정 계수가 아닙니다.</a:t>
            </a:r>
          </a:p>
          <a:p>
            <a:pPr eaLnBrk="0">
              <a:lnSpc>
                <a:spcPts val="2062"/>
              </a:lnSpc>
              <a:spcBef>
                <a:spcPts val="0"/>
              </a:spcBef>
              <a:spcAft>
                <a:spcPts val="0"/>
              </a:spcAft>
            </a:pPr>
            <a:r>
              <a:rPr sz="1650" b="0">
                <a:solidFill>
                  <a:srgbClr val="59636E"/>
                </a:solidFill>
                <a:latin typeface="Noto Sans KR"/>
              </a:rPr>
              <a:t>③ 적용: 현재 최종월 방문 +5% / 소비 +5%. 월별 적용식은 앞 장에 공개했습니다.</a:t>
            </a:r>
          </a:p>
        </p:txBody>
      </p:sp>
      <p:sp>
        <p:nvSpPr>
          <p:cNvPr id="8" name="basis-source"/>
          <p:cNvSpPr txBox="1"/>
          <p:nvPr/>
        </p:nvSpPr>
        <p:spPr>
          <a:xfrm>
            <a:off x="1009650" y="7858125"/>
            <a:ext cx="13220700" cy="4000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2"/>
              </a:rPr>
              <a:t>출처: 강진군의회 제307회 본회의 시정연설, 2024.11.20</a:t>
            </a:r>
          </a:p>
        </p:txBody>
      </p:sp>
      <p:sp>
        <p:nvSpPr>
          <p:cNvPr id="9" name="target-population-note"/>
          <p:cNvSpPr txBox="1"/>
          <p:nvPr/>
        </p:nvSpPr>
        <p:spPr>
          <a:xfrm>
            <a:off x="1009650" y="7343775"/>
            <a:ext cx="13220700" cy="5048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인구 보정은 적용하지 않았습니다. 이 도시 전체 목표는 다음 장의 시범 지원 건수로 보장되는 효과가 아닙니다.</a:t>
            </a:r>
          </a:p>
          <a:p>
            <a:pPr eaLnBrk="0">
              <a:lnSpc>
                <a:spcPts val="1687"/>
              </a:lnSpc>
              <a:spcBef>
                <a:spcPts val="0"/>
              </a:spcBef>
              <a:spcAft>
                <a:spcPts val="0"/>
              </a:spcAft>
            </a:pPr>
            <a:r>
              <a:rPr sz="1350" b="0">
                <a:solidFill>
                  <a:srgbClr val="59636E"/>
                </a:solidFill>
                <a:latin typeface="Noto Sans KR"/>
              </a:rPr>
              <a:t>동일 기준의 전후 소비액과 사업 단독 효과는 확인되지 않았습니다.</a:t>
            </a:r>
          </a:p>
        </p:txBody>
      </p:sp>
    </p:spTree>
  </p:cSld>
  <p:clrMapOvr>
    <a:masterClrMapping/>
  </p:clrMapOvr>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687"/>
              </a:lnSpc>
              <a:spcBef>
                <a:spcPts val="0"/>
              </a:spcBef>
              <a:spcAft>
                <a:spcPts val="0"/>
              </a:spcAft>
            </a:pPr>
            <a:r>
              <a:rPr sz="1350"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http://schemas.openxmlformats.org/officeDocument/2006/relationships" ns2:id="rId2"/>
              </a:rPr>
              <a:t>관측 데이터 D02 월간 순 방문자 수 (이동통신</a:t>
            </a:r>
          </a:p>
          <a:p>
            <a:pPr eaLnBrk="0">
              <a:lnSpc>
                <a:spcPts val="1687"/>
              </a:lnSpc>
              <a:spcBef>
                <a:spcPts val="0"/>
              </a:spcBef>
              <a:spcAft>
                <a:spcPts val="0"/>
              </a:spcAft>
            </a:pPr>
            <a:r>
              <a:rPr sz="1350" b="0" u="none">
                <a:solidFill>
                  <a:srgbClr val="004EA2"/>
                </a:solidFill>
                <a:latin typeface="Noto Sans KR"/>
                <a:hlinkClick xmlns:ns3="http://schemas.openxmlformats.org/officeDocument/2006/relationships" ns3:id="rId2"/>
              </a:rPr>
              <a:t>기반 외지인) 2026-06</a:t>
            </a:r>
          </a:p>
        </p:txBody>
      </p:sp>
      <p:sp xmlns:a="http://schemas.openxmlformats.org/drawingml/2006/main">
        <p:nvSpPr>
          <p:cNvPr id="7" name="reference-2"/>
          <p:cNvSpPr txBox="1"/>
          <p:nvPr/>
        </p:nvSpPr>
        <p:spPr>
          <a:xfrm>
            <a:off x="1009650" y="377190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http://schemas.openxmlformats.org/officeDocument/2006/relationships" ns4:id="rId2"/>
              </a:rPr>
              <a:t>관측 데이터 D03 관광소비 추이_외지인 2026-06</a:t>
            </a:r>
          </a:p>
        </p:txBody>
      </p:sp>
      <p:sp xmlns:a="http://schemas.openxmlformats.org/drawingml/2006/main">
        <p:nvSpPr>
          <p:cNvPr id="8" name="reference-3"/>
          <p:cNvSpPr txBox="1"/>
          <p:nvPr/>
        </p:nvSpPr>
        <p:spPr>
          <a:xfrm>
            <a:off x="1009650" y="42291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http://schemas.openxmlformats.org/officeDocument/2006/relationships" ns5:id="rId2"/>
              </a:rPr>
              <a:t>관측 데이터 D04 숙박방문자 비율 추이 (이동통신</a:t>
            </a:r>
          </a:p>
          <a:p>
            <a:pPr eaLnBrk="0">
              <a:lnSpc>
                <a:spcPts val="1687"/>
              </a:lnSpc>
              <a:spcBef>
                <a:spcPts val="0"/>
              </a:spcBef>
              <a:spcAft>
                <a:spcPts val="0"/>
              </a:spcAft>
            </a:pPr>
            <a:r>
              <a:rPr sz="1350" b="0" u="none">
                <a:solidFill>
                  <a:srgbClr val="004EA2"/>
                </a:solidFill>
                <a:latin typeface="Noto Sans KR"/>
                <a:hlinkClick xmlns:ns6="http://schemas.openxmlformats.org/officeDocument/2006/relationships" ns6:id="rId2"/>
              </a:rPr>
              <a:t>기반 외지인) 2026-06</a:t>
            </a:r>
          </a:p>
        </p:txBody>
      </p:sp>
      <p:sp xmlns:a="http://schemas.openxmlformats.org/drawingml/2006/main">
        <p:nvSpPr>
          <p:cNvPr id="9" name="reference-4"/>
          <p:cNvSpPr txBox="1"/>
          <p:nvPr/>
        </p:nvSpPr>
        <p:spPr>
          <a:xfrm>
            <a:off x="1009650" y="48291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7="http://schemas.openxmlformats.org/officeDocument/2006/relationships" ns7:id="rId2"/>
              </a:rPr>
              <a:t>관측 데이터 D05 평균 숙박일 (이동통신 기반</a:t>
            </a:r>
          </a:p>
          <a:p>
            <a:pPr eaLnBrk="0">
              <a:lnSpc>
                <a:spcPts val="1687"/>
              </a:lnSpc>
              <a:spcBef>
                <a:spcPts val="0"/>
              </a:spcBef>
              <a:spcAft>
                <a:spcPts val="0"/>
              </a:spcAft>
            </a:pPr>
            <a:r>
              <a:rPr sz="1350" b="0" u="none">
                <a:solidFill>
                  <a:srgbClr val="004EA2"/>
                </a:solidFill>
                <a:latin typeface="Noto Sans KR"/>
                <a:hlinkClick xmlns:ns8="http://schemas.openxmlformats.org/officeDocument/2006/relationships" ns8:id="rId2"/>
              </a:rPr>
              <a:t>외지인) 2026-06</a:t>
            </a:r>
          </a:p>
        </p:txBody>
      </p:sp>
      <p:sp xmlns:a="http://schemas.openxmlformats.org/drawingml/2006/main">
        <p:nvSpPr>
          <p:cNvPr id="10" name="reference-5"/>
          <p:cNvSpPr txBox="1"/>
          <p:nvPr/>
        </p:nvSpPr>
        <p:spPr>
          <a:xfrm>
            <a:off x="1009650" y="54292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9="http://schemas.openxmlformats.org/officeDocument/2006/relationships" ns9:id="rId2"/>
              </a:rPr>
              <a:t>관측 데이터 D06 내비게이션 목적지 유형별</a:t>
            </a:r>
          </a:p>
          <a:p>
            <a:pPr eaLnBrk="0">
              <a:lnSpc>
                <a:spcPts val="1687"/>
              </a:lnSpc>
              <a:spcBef>
                <a:spcPts val="0"/>
              </a:spcBef>
              <a:spcAft>
                <a:spcPts val="0"/>
              </a:spcAft>
            </a:pPr>
            <a:r>
              <a:rPr sz="1350" b="0" u="none">
                <a:solidFill>
                  <a:srgbClr val="004EA2"/>
                </a:solidFill>
                <a:latin typeface="Noto Sans KR"/>
                <a:hlinkClick xmlns:ns10="http://schemas.openxmlformats.org/officeDocument/2006/relationships" ns10:id="rId2"/>
              </a:rPr>
              <a:t>검색량 2026-06</a:t>
            </a:r>
          </a:p>
        </p:txBody>
      </p:sp>
      <p:sp xmlns:a="http://schemas.openxmlformats.org/drawingml/2006/main">
        <p:nvSpPr>
          <p:cNvPr id="11" name="reference-6"/>
          <p:cNvSpPr txBox="1"/>
          <p:nvPr/>
        </p:nvSpPr>
        <p:spPr>
          <a:xfrm>
            <a:off x="1009650" y="602932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1="http://schemas.openxmlformats.org/officeDocument/2006/relationships" ns11:id="rId2"/>
              </a:rPr>
              <a:t>관측 데이터 D07 SNS 언급량 2026-06</a:t>
            </a:r>
          </a:p>
        </p:txBody>
      </p:sp>
      <p:sp xmlns:a="http://schemas.openxmlformats.org/drawingml/2006/main">
        <p:nvSpPr>
          <p:cNvPr id="12" name="reference-7"/>
          <p:cNvSpPr txBox="1"/>
          <p:nvPr/>
        </p:nvSpPr>
        <p:spPr>
          <a:xfrm>
            <a:off x="1009650" y="6486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2="http://schemas.openxmlformats.org/officeDocument/2006/relationships" ns12:id="rId2"/>
              </a:rPr>
              <a:t>관측 데이터 D08 한국관광 데이터랩 공식 다운로드 ·</a:t>
            </a:r>
          </a:p>
          <a:p>
            <a:pPr eaLnBrk="0">
              <a:lnSpc>
                <a:spcPts val="1687"/>
              </a:lnSpc>
              <a:spcBef>
                <a:spcPts val="0"/>
              </a:spcBef>
              <a:spcAft>
                <a:spcPts val="0"/>
              </a:spcAft>
            </a:pPr>
            <a:r>
              <a:rPr sz="1350" b="0" u="none">
                <a:solidFill>
                  <a:srgbClr val="004EA2"/>
                </a:solidFill>
                <a:latin typeface="Noto Sans KR"/>
                <a:hlinkClick xmlns:ns13="http://schemas.openxmlformats.org/officeDocument/2006/relationships" ns13:id="rId2"/>
              </a:rPr>
              <a:t>강원특별자치도_춘천시/숙박_체류시간/2026_01_06.zip</a:t>
            </a:r>
          </a:p>
          <a:p>
            <a:pPr eaLnBrk="0">
              <a:lnSpc>
                <a:spcPts val="1687"/>
              </a:lnSpc>
              <a:spcBef>
                <a:spcPts val="0"/>
              </a:spcBef>
              <a:spcAft>
                <a:spcPts val="0"/>
              </a:spcAft>
            </a:pPr>
            <a:r>
              <a:rPr sz="1350" b="0" u="none">
                <a:solidFill>
                  <a:srgbClr val="004EA2"/>
                </a:solidFill>
                <a:latin typeface="Noto Sans KR"/>
                <a:hlinkClick xmlns:ns14="http://schemas.openxmlformats.org/officeDocument/2006/relationships" ns14:id="rId2"/>
              </a:rPr>
              <a:t>2025-07 ~ 2026-06</a:t>
            </a:r>
          </a:p>
        </p:txBody>
      </p:sp>
      <p:sp xmlns:a="http://schemas.openxmlformats.org/drawingml/2006/main">
        <p:nvSpPr>
          <p:cNvPr id="13" name="reference-8"/>
          <p:cNvSpPr txBox="1"/>
          <p:nvPr/>
        </p:nvSpPr>
        <p:spPr>
          <a:xfrm>
            <a:off x="5486400" y="257175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5="http://schemas.openxmlformats.org/officeDocument/2006/relationships" ns15:id="rId2"/>
              </a:rPr>
              <a:t>관측 데이터 D09 한국관광 데이터랩 공식 다운로드 ·</a:t>
            </a:r>
          </a:p>
          <a:p>
            <a:pPr eaLnBrk="0">
              <a:lnSpc>
                <a:spcPts val="1687"/>
              </a:lnSpc>
              <a:spcBef>
                <a:spcPts val="0"/>
              </a:spcBef>
              <a:spcAft>
                <a:spcPts val="0"/>
              </a:spcAft>
            </a:pPr>
            <a:r>
              <a:rPr sz="1350" b="0" u="none">
                <a:solidFill>
                  <a:srgbClr val="004EA2"/>
                </a:solidFill>
                <a:latin typeface="Noto Sans KR"/>
                <a:hlinkClick xmlns:ns16="http://schemas.openxmlformats.org/officeDocument/2006/relationships" ns16:id="rId2"/>
              </a:rPr>
              <a:t>강원특별자치도_춘천시/숙박_체류시간/2025_01_12.zip</a:t>
            </a:r>
          </a:p>
          <a:p>
            <a:pPr eaLnBrk="0">
              <a:lnSpc>
                <a:spcPts val="1687"/>
              </a:lnSpc>
              <a:spcBef>
                <a:spcPts val="0"/>
              </a:spcBef>
              <a:spcAft>
                <a:spcPts val="0"/>
              </a:spcAft>
            </a:pPr>
            <a:r>
              <a:rPr sz="1350" b="0" u="none">
                <a:solidFill>
                  <a:srgbClr val="004EA2"/>
                </a:solidFill>
                <a:latin typeface="Noto Sans KR"/>
                <a:hlinkClick xmlns:ns17="http://schemas.openxmlformats.org/officeDocument/2006/relationships" ns17:id="rId2"/>
              </a:rPr>
              <a:t>2025-07 ~ 2026-06</a:t>
            </a:r>
          </a:p>
        </p:txBody>
      </p:sp>
      <p:sp xmlns:a="http://schemas.openxmlformats.org/drawingml/2006/main">
        <p:nvSpPr>
          <p:cNvPr id="14" name="reference-9"/>
          <p:cNvSpPr txBox="1"/>
          <p:nvPr/>
        </p:nvSpPr>
        <p:spPr>
          <a:xfrm>
            <a:off x="5486400" y="3386138"/>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18="http://schemas.openxmlformats.org/officeDocument/2006/relationships" ns18:id="rId2"/>
              </a:rPr>
              <a:t>관측 데이터 D10 한국관광 데이터랩 공식 다운로드 ·</a:t>
            </a:r>
          </a:p>
          <a:p>
            <a:pPr eaLnBrk="0">
              <a:lnSpc>
                <a:spcPts val="1687"/>
              </a:lnSpc>
              <a:spcBef>
                <a:spcPts val="0"/>
              </a:spcBef>
              <a:spcAft>
                <a:spcPts val="0"/>
              </a:spcAft>
            </a:pPr>
            <a:r>
              <a:rPr sz="1350" b="0" u="none">
                <a:solidFill>
                  <a:srgbClr val="004EA2"/>
                </a:solidFill>
                <a:latin typeface="Noto Sans KR"/>
                <a:hlinkClick xmlns:ns19="http://schemas.openxmlformats.org/officeDocument/2006/relationships" ns19:id="rId2"/>
              </a:rPr>
              <a:t>강원특별자치도_춘천시/관광소비/2026_01_06.zip</a:t>
            </a:r>
          </a:p>
          <a:p>
            <a:pPr eaLnBrk="0">
              <a:lnSpc>
                <a:spcPts val="1687"/>
              </a:lnSpc>
              <a:spcBef>
                <a:spcPts val="0"/>
              </a:spcBef>
              <a:spcAft>
                <a:spcPts val="0"/>
              </a:spcAft>
            </a:pPr>
            <a:r>
              <a:rPr sz="1350" b="0" u="none">
                <a:solidFill>
                  <a:srgbClr val="004EA2"/>
                </a:solidFill>
                <a:latin typeface="Noto Sans KR"/>
                <a:hlinkClick xmlns:ns20="http://schemas.openxmlformats.org/officeDocument/2006/relationships" ns20:id="rId2"/>
              </a:rPr>
              <a:t>2025-07 ~ 2026-06</a:t>
            </a:r>
          </a:p>
        </p:txBody>
      </p:sp>
      <p:sp xmlns:a="http://schemas.openxmlformats.org/drawingml/2006/main">
        <p:nvSpPr>
          <p:cNvPr id="15" name="reference-10"/>
          <p:cNvSpPr txBox="1"/>
          <p:nvPr/>
        </p:nvSpPr>
        <p:spPr>
          <a:xfrm>
            <a:off x="5486400" y="420052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1="http://schemas.openxmlformats.org/officeDocument/2006/relationships" ns21:id="rId2"/>
              </a:rPr>
              <a:t>관측 데이터 D11 한국관광 데이터랩 공식 다운로드 ·</a:t>
            </a:r>
          </a:p>
          <a:p>
            <a:pPr eaLnBrk="0">
              <a:lnSpc>
                <a:spcPts val="1687"/>
              </a:lnSpc>
              <a:spcBef>
                <a:spcPts val="0"/>
              </a:spcBef>
              <a:spcAft>
                <a:spcPts val="0"/>
              </a:spcAft>
            </a:pPr>
            <a:r>
              <a:rPr sz="1350" b="0" u="none">
                <a:solidFill>
                  <a:srgbClr val="004EA2"/>
                </a:solidFill>
                <a:latin typeface="Noto Sans KR"/>
                <a:hlinkClick xmlns:ns22="http://schemas.openxmlformats.org/officeDocument/2006/relationships" ns22:id="rId2"/>
              </a:rPr>
              <a:t>강원특별자치도_춘천시/관광소비/2025_01_12.zip</a:t>
            </a:r>
          </a:p>
          <a:p>
            <a:pPr eaLnBrk="0">
              <a:lnSpc>
                <a:spcPts val="1687"/>
              </a:lnSpc>
              <a:spcBef>
                <a:spcPts val="0"/>
              </a:spcBef>
              <a:spcAft>
                <a:spcPts val="0"/>
              </a:spcAft>
            </a:pPr>
            <a:r>
              <a:rPr sz="1350" b="0" u="none">
                <a:solidFill>
                  <a:srgbClr val="004EA2"/>
                </a:solidFill>
                <a:latin typeface="Noto Sans KR"/>
                <a:hlinkClick xmlns:ns23="http://schemas.openxmlformats.org/officeDocument/2006/relationships" ns23:id="rId2"/>
              </a:rPr>
              <a:t>2025-07 ~ 2026-06</a:t>
            </a:r>
          </a:p>
        </p:txBody>
      </p:sp>
      <p:sp xmlns:a="http://schemas.openxmlformats.org/drawingml/2006/main">
        <p:nvSpPr>
          <p:cNvPr id="16" name="reference-11"/>
          <p:cNvSpPr txBox="1"/>
          <p:nvPr/>
        </p:nvSpPr>
        <p:spPr>
          <a:xfrm>
            <a:off x="5486400" y="5014912"/>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4="http://schemas.openxmlformats.org/officeDocument/2006/relationships" ns24:id="rId2"/>
              </a:rPr>
              <a:t>관측 데이터 D12 한국관광 데이터랩 공식 다운로드 ·</a:t>
            </a:r>
          </a:p>
          <a:p>
            <a:pPr eaLnBrk="0">
              <a:lnSpc>
                <a:spcPts val="1687"/>
              </a:lnSpc>
              <a:spcBef>
                <a:spcPts val="0"/>
              </a:spcBef>
              <a:spcAft>
                <a:spcPts val="0"/>
              </a:spcAft>
            </a:pPr>
            <a:r>
              <a:rPr sz="1350" b="0" u="none">
                <a:solidFill>
                  <a:srgbClr val="004EA2"/>
                </a:solidFill>
                <a:latin typeface="Noto Sans KR"/>
                <a:hlinkClick xmlns:ns25="http://schemas.openxmlformats.org/officeDocument/2006/relationships" ns25:id="rId2"/>
              </a:rPr>
              <a:t>강원특별자치도_춘천시/방문자/2026_01_06.zip</a:t>
            </a:r>
          </a:p>
          <a:p>
            <a:pPr eaLnBrk="0">
              <a:lnSpc>
                <a:spcPts val="1687"/>
              </a:lnSpc>
              <a:spcBef>
                <a:spcPts val="0"/>
              </a:spcBef>
              <a:spcAft>
                <a:spcPts val="0"/>
              </a:spcAft>
            </a:pPr>
            <a:r>
              <a:rPr sz="1350" b="0" u="none">
                <a:solidFill>
                  <a:srgbClr val="004EA2"/>
                </a:solidFill>
                <a:latin typeface="Noto Sans KR"/>
                <a:hlinkClick xmlns:ns26="http://schemas.openxmlformats.org/officeDocument/2006/relationships" ns26:id="rId2"/>
              </a:rPr>
              <a:t>2025-07 ~ 2026-06</a:t>
            </a:r>
          </a:p>
        </p:txBody>
      </p:sp>
      <p:sp xmlns:a="http://schemas.openxmlformats.org/drawingml/2006/main">
        <p:nvSpPr>
          <p:cNvPr id="17" name="reference-12"/>
          <p:cNvSpPr txBox="1"/>
          <p:nvPr/>
        </p:nvSpPr>
        <p:spPr>
          <a:xfrm>
            <a:off x="5486400" y="5829300"/>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27="http://schemas.openxmlformats.org/officeDocument/2006/relationships" ns27:id="rId2"/>
              </a:rPr>
              <a:t>관측 데이터 D13 한국관광 데이터랩 공식 다운로드 ·</a:t>
            </a:r>
          </a:p>
          <a:p>
            <a:pPr eaLnBrk="0">
              <a:lnSpc>
                <a:spcPts val="1687"/>
              </a:lnSpc>
              <a:spcBef>
                <a:spcPts val="0"/>
              </a:spcBef>
              <a:spcAft>
                <a:spcPts val="0"/>
              </a:spcAft>
            </a:pPr>
            <a:r>
              <a:rPr sz="1350" b="0" u="none">
                <a:solidFill>
                  <a:srgbClr val="004EA2"/>
                </a:solidFill>
                <a:latin typeface="Noto Sans KR"/>
                <a:hlinkClick xmlns:ns28="http://schemas.openxmlformats.org/officeDocument/2006/relationships" ns28:id="rId2"/>
              </a:rPr>
              <a:t>강원특별자치도_춘천시/방문자/2025_01_12.zip</a:t>
            </a:r>
          </a:p>
          <a:p>
            <a:pPr eaLnBrk="0">
              <a:lnSpc>
                <a:spcPts val="1687"/>
              </a:lnSpc>
              <a:spcBef>
                <a:spcPts val="0"/>
              </a:spcBef>
              <a:spcAft>
                <a:spcPts val="0"/>
              </a:spcAft>
            </a:pPr>
            <a:r>
              <a:rPr sz="1350" b="0" u="none">
                <a:solidFill>
                  <a:srgbClr val="004EA2"/>
                </a:solidFill>
                <a:latin typeface="Noto Sans KR"/>
                <a:hlinkClick xmlns:ns29="http://schemas.openxmlformats.org/officeDocument/2006/relationships" ns29:id="rId2"/>
              </a:rPr>
              <a:t>2025-07 ~ 2026-06</a:t>
            </a:r>
          </a:p>
        </p:txBody>
      </p:sp>
      <p:sp xmlns:a="http://schemas.openxmlformats.org/drawingml/2006/main">
        <p:nvSpPr>
          <p:cNvPr id="18" name="reference-13"/>
          <p:cNvSpPr txBox="1"/>
          <p:nvPr/>
        </p:nvSpPr>
        <p:spPr>
          <a:xfrm>
            <a:off x="5486400" y="6643688"/>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0="http://schemas.openxmlformats.org/officeDocument/2006/relationships" ns30:id="rId2"/>
              </a:rPr>
              <a:t>관측 데이터 D14 한국관광 데이터랩 전국 빅데이터</a:t>
            </a:r>
          </a:p>
          <a:p>
            <a:pPr eaLnBrk="0">
              <a:lnSpc>
                <a:spcPts val="1687"/>
              </a:lnSpc>
              <a:spcBef>
                <a:spcPts val="0"/>
              </a:spcBef>
              <a:spcAft>
                <a:spcPts val="0"/>
              </a:spcAft>
            </a:pPr>
            <a:r>
              <a:rPr sz="1350" b="0" u="none">
                <a:solidFill>
                  <a:srgbClr val="004EA2"/>
                </a:solidFill>
                <a:latin typeface="Noto Sans KR"/>
                <a:hlinkClick xmlns:ns31="http://schemas.openxmlformats.org/officeDocument/2006/relationships" ns3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32="http://schemas.openxmlformats.org/officeDocument/2006/relationships" ns32:id="rId2"/>
              </a:rPr>
              <a:t>방문자수/20260820140607__202601-202606_데이터랩_</a:t>
            </a:r>
          </a:p>
          <a:p>
            <a:pPr eaLnBrk="0">
              <a:lnSpc>
                <a:spcPts val="1687"/>
              </a:lnSpc>
              <a:spcBef>
                <a:spcPts val="0"/>
              </a:spcBef>
              <a:spcAft>
                <a:spcPts val="0"/>
              </a:spcAft>
            </a:pPr>
            <a:r>
              <a:rPr sz="1350" b="0" u="none">
                <a:solidFill>
                  <a:srgbClr val="004EA2"/>
                </a:solidFill>
                <a:latin typeface="Noto Sans KR"/>
                <a:hlinkClick xmlns:ns33="http://schemas.openxmlformats.org/officeDocument/2006/relationships" ns33:id="rId2"/>
              </a:rPr>
              <a:t>다운로드.zip 2026-01 ~ 2026-06</a:t>
            </a:r>
          </a:p>
        </p:txBody>
      </p:sp>
      <p:sp xmlns:a="http://schemas.openxmlformats.org/drawingml/2006/main">
        <p:nvSpPr>
          <p:cNvPr id="19" name="reference-14"/>
          <p:cNvSpPr txBox="1"/>
          <p:nvPr/>
        </p:nvSpPr>
        <p:spPr>
          <a:xfrm>
            <a:off x="99631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4="http://schemas.openxmlformats.org/officeDocument/2006/relationships" ns34:id="rId2"/>
              </a:rPr>
              <a:t>관측 데이터 D15 한국관광 데이터랩 전국 빅데이터</a:t>
            </a:r>
          </a:p>
          <a:p>
            <a:pPr eaLnBrk="0">
              <a:lnSpc>
                <a:spcPts val="1687"/>
              </a:lnSpc>
              <a:spcBef>
                <a:spcPts val="0"/>
              </a:spcBef>
              <a:spcAft>
                <a:spcPts val="0"/>
              </a:spcAft>
            </a:pPr>
            <a:r>
              <a:rPr sz="1350" b="0" u="none">
                <a:solidFill>
                  <a:srgbClr val="004EA2"/>
                </a:solidFill>
                <a:latin typeface="Noto Sans KR"/>
                <a:hlinkClick xmlns:ns35="http://schemas.openxmlformats.org/officeDocument/2006/relationships" ns35:id="rId2"/>
              </a:rPr>
              <a:t>다운로드 ·</a:t>
            </a:r>
          </a:p>
          <a:p>
            <a:pPr eaLnBrk="0">
              <a:lnSpc>
                <a:spcPts val="1687"/>
              </a:lnSpc>
              <a:spcBef>
                <a:spcPts val="0"/>
              </a:spcBef>
              <a:spcAft>
                <a:spcPts val="0"/>
              </a:spcAft>
            </a:pPr>
            <a:r>
              <a:rPr sz="1350" b="0" u="none">
                <a:solidFill>
                  <a:srgbClr val="004EA2"/>
                </a:solidFill>
                <a:latin typeface="Noto Sans KR"/>
                <a:hlinkClick xmlns:ns36="http://schemas.openxmlformats.org/officeDocument/2006/relationships" ns36:id="rId2"/>
              </a:rPr>
              <a:t>이동통신/외국인/20260820141710_전국_202601-202606</a:t>
            </a:r>
          </a:p>
          <a:p>
            <a:pPr eaLnBrk="0">
              <a:lnSpc>
                <a:spcPts val="1687"/>
              </a:lnSpc>
              <a:spcBef>
                <a:spcPts val="0"/>
              </a:spcBef>
              <a:spcAft>
                <a:spcPts val="0"/>
              </a:spcAft>
            </a:pPr>
            <a:r>
              <a:rPr sz="1350" b="0" u="none">
                <a:solidFill>
                  <a:srgbClr val="004EA2"/>
                </a:solidFill>
                <a:latin typeface="Noto Sans KR"/>
                <a:hlinkClick xmlns:ns37="http://schemas.openxmlformats.org/officeDocument/2006/relationships" ns37:id="rId2"/>
              </a:rPr>
              <a:t>_데이터랩_다운로드.zip 2026-01 ~ 2026-06</a:t>
            </a:r>
          </a:p>
        </p:txBody>
      </p:sp>
      <p:sp xmlns:a="http://schemas.openxmlformats.org/drawingml/2006/main">
        <p:nvSpPr>
          <p:cNvPr id="20" name="reference-15"/>
          <p:cNvSpPr txBox="1"/>
          <p:nvPr/>
        </p:nvSpPr>
        <p:spPr>
          <a:xfrm>
            <a:off x="99631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38="http://schemas.openxmlformats.org/officeDocument/2006/relationships" ns38:id="rId2"/>
              </a:rPr>
              <a:t>관측 데이터 D16 한국관광 데이터랩 전국 빅데이터</a:t>
            </a:r>
          </a:p>
          <a:p>
            <a:pPr eaLnBrk="0">
              <a:lnSpc>
                <a:spcPts val="1687"/>
              </a:lnSpc>
              <a:spcBef>
                <a:spcPts val="0"/>
              </a:spcBef>
              <a:spcAft>
                <a:spcPts val="0"/>
              </a:spcAft>
            </a:pPr>
            <a:r>
              <a:rPr sz="1350" b="0" u="none">
                <a:solidFill>
                  <a:srgbClr val="004EA2"/>
                </a:solidFill>
                <a:latin typeface="Noto Sans KR"/>
                <a:hlinkClick xmlns:ns39="http://schemas.openxmlformats.org/officeDocument/2006/relationships" ns39: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xmlns:ns40="http://schemas.openxmlformats.org/officeDocument/2006/relationships" ns40:id="rId2"/>
              </a:rPr>
              <a:t>관광지출액/20260820140046__202601-202606_데이터랩</a:t>
            </a:r>
          </a:p>
          <a:p>
            <a:pPr eaLnBrk="0">
              <a:lnSpc>
                <a:spcPts val="1687"/>
              </a:lnSpc>
              <a:spcBef>
                <a:spcPts val="0"/>
              </a:spcBef>
              <a:spcAft>
                <a:spcPts val="0"/>
              </a:spcAft>
            </a:pPr>
            <a:r>
              <a:rPr sz="1350" b="0" u="none">
                <a:solidFill>
                  <a:srgbClr val="004EA2"/>
                </a:solidFill>
                <a:latin typeface="Noto Sans KR"/>
                <a:hlinkClick xmlns:ns41="http://schemas.openxmlformats.org/officeDocument/2006/relationships" ns41:id="rId2"/>
              </a:rPr>
              <a:t>_다운로드.zip 2026-01 ~ 2026-06</a:t>
            </a:r>
          </a:p>
        </p:txBody>
      </p:sp>
      <p:sp xmlns:a="http://schemas.openxmlformats.org/drawingml/2006/main">
        <p:nvSpPr>
          <p:cNvPr id="21" name="reference-16"/>
          <p:cNvSpPr txBox="1"/>
          <p:nvPr/>
        </p:nvSpPr>
        <p:spPr>
          <a:xfrm>
            <a:off x="99631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2="http://schemas.openxmlformats.org/officeDocument/2006/relationships" ns42:id="rId2"/>
              </a:rPr>
              <a:t>관측 데이터 D17 한국관광 데이터랩 전국 빅데이터</a:t>
            </a:r>
          </a:p>
          <a:p>
            <a:pPr eaLnBrk="0">
              <a:lnSpc>
                <a:spcPts val="1687"/>
              </a:lnSpc>
              <a:spcBef>
                <a:spcPts val="0"/>
              </a:spcBef>
              <a:spcAft>
                <a:spcPts val="0"/>
              </a:spcAft>
            </a:pPr>
            <a:r>
              <a:rPr sz="1350" b="0" u="none">
                <a:solidFill>
                  <a:srgbClr val="004EA2"/>
                </a:solidFill>
                <a:latin typeface="Noto Sans KR"/>
                <a:hlinkClick xmlns:ns43="http://schemas.openxmlformats.org/officeDocument/2006/relationships" ns43: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xmlns:ns44="http://schemas.openxmlformats.org/officeDocument/2006/relationships" ns44:id="rId2"/>
              </a:rPr>
              <a:t>관광지출액/20260820140355__202601-202606_데이터랩</a:t>
            </a:r>
          </a:p>
          <a:p>
            <a:pPr eaLnBrk="0">
              <a:lnSpc>
                <a:spcPts val="1687"/>
              </a:lnSpc>
              <a:spcBef>
                <a:spcPts val="0"/>
              </a:spcBef>
              <a:spcAft>
                <a:spcPts val="0"/>
              </a:spcAft>
            </a:pPr>
            <a:r>
              <a:rPr sz="1350" b="0" u="none">
                <a:solidFill>
                  <a:srgbClr val="004EA2"/>
                </a:solidFill>
                <a:latin typeface="Noto Sans KR"/>
                <a:hlinkClick xmlns:ns45="http://schemas.openxmlformats.org/officeDocument/2006/relationships" ns45:id="rId2"/>
              </a:rPr>
              <a:t>_다운로드.zip 2026-01 ~ 2026-06</a:t>
            </a:r>
          </a:p>
        </p:txBody>
      </p:sp>
      <p:sp xmlns:a="http://schemas.openxmlformats.org/drawingml/2006/main">
        <p:nvSpPr>
          <p:cNvPr id="22" name="reference-17"/>
          <p:cNvSpPr txBox="1"/>
          <p:nvPr/>
        </p:nvSpPr>
        <p:spPr>
          <a:xfrm>
            <a:off x="99631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46="http://schemas.openxmlformats.org/officeDocument/2006/relationships" ns46:id="rId2"/>
              </a:rPr>
              <a:t>관측 데이터 D18 한국관광 데이터랩 전국 빅데이터</a:t>
            </a:r>
          </a:p>
          <a:p>
            <a:pPr eaLnBrk="0">
              <a:lnSpc>
                <a:spcPts val="1687"/>
              </a:lnSpc>
              <a:spcBef>
                <a:spcPts val="0"/>
              </a:spcBef>
              <a:spcAft>
                <a:spcPts val="0"/>
              </a:spcAft>
            </a:pPr>
            <a:r>
              <a:rPr sz="1350" b="0" u="none">
                <a:solidFill>
                  <a:srgbClr val="004EA2"/>
                </a:solidFill>
                <a:latin typeface="Noto Sans KR"/>
                <a:hlinkClick xmlns:ns47="http://schemas.openxmlformats.org/officeDocument/2006/relationships" ns47:id="rId2"/>
              </a:rPr>
              <a:t>다운로드 · 네비게이션/지역별</a:t>
            </a:r>
          </a:p>
          <a:p>
            <a:pPr eaLnBrk="0">
              <a:lnSpc>
                <a:spcPts val="1687"/>
              </a:lnSpc>
              <a:spcBef>
                <a:spcPts val="0"/>
              </a:spcBef>
              <a:spcAft>
                <a:spcPts val="0"/>
              </a:spcAft>
            </a:pPr>
            <a:r>
              <a:rPr sz="1350" b="0" u="none">
                <a:solidFill>
                  <a:srgbClr val="004EA2"/>
                </a:solidFill>
                <a:latin typeface="Noto Sans KR"/>
                <a:hlinkClick xmlns:ns48="http://schemas.openxmlformats.org/officeDocument/2006/relationships" ns48:id="rId2"/>
              </a:rPr>
              <a:t>검색건수/20260820195507__202601-202606_데이터랩_</a:t>
            </a:r>
          </a:p>
          <a:p>
            <a:pPr eaLnBrk="0">
              <a:lnSpc>
                <a:spcPts val="1687"/>
              </a:lnSpc>
              <a:spcBef>
                <a:spcPts val="0"/>
              </a:spcBef>
              <a:spcAft>
                <a:spcPts val="0"/>
              </a:spcAft>
            </a:pPr>
            <a:r>
              <a:rPr sz="1350" b="0" u="none">
                <a:solidFill>
                  <a:srgbClr val="004EA2"/>
                </a:solidFill>
                <a:latin typeface="Noto Sans KR"/>
                <a:hlinkClick xmlns:ns49="http://schemas.openxmlformats.org/officeDocument/2006/relationships" ns49:id="rId2"/>
              </a:rPr>
              <a:t>다운로드.zip 2026-01 ~ 2026-06</a:t>
            </a:r>
          </a:p>
        </p:txBody>
      </p:sp>
      <p:sp xmlns:a="http://schemas.openxmlformats.org/drawingml/2006/main">
        <p:nvSpPr>
          <p:cNvPr id="23" name="reference-18"/>
          <p:cNvSpPr txBox="1"/>
          <p:nvPr/>
        </p:nvSpPr>
        <p:spPr>
          <a:xfrm>
            <a:off x="99631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xmlns:ns50="http://schemas.openxmlformats.org/officeDocument/2006/relationships" ns50:id="rId2"/>
              </a:rPr>
              <a:t>관측 데이터 D19 한국관광 데이터랩 전국 빅데이터</a:t>
            </a:r>
          </a:p>
          <a:p>
            <a:pPr eaLnBrk="0">
              <a:lnSpc>
                <a:spcPts val="1687"/>
              </a:lnSpc>
              <a:spcBef>
                <a:spcPts val="0"/>
              </a:spcBef>
              <a:spcAft>
                <a:spcPts val="0"/>
              </a:spcAft>
            </a:pPr>
            <a:r>
              <a:rPr sz="1350" b="0" u="none">
                <a:solidFill>
                  <a:srgbClr val="004EA2"/>
                </a:solidFill>
                <a:latin typeface="Noto Sans KR"/>
                <a:hlinkClick xmlns:ns51="http://schemas.openxmlformats.org/officeDocument/2006/relationships" ns51: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xmlns:ns52="http://schemas.openxmlformats.org/officeDocument/2006/relationships" ns52:id="rId2"/>
              </a:rPr>
              <a:t>방문자수/20260820140614__202501-202512_데이터랩_</a:t>
            </a:r>
          </a:p>
          <a:p>
            <a:pPr eaLnBrk="0">
              <a:lnSpc>
                <a:spcPts val="1687"/>
              </a:lnSpc>
              <a:spcBef>
                <a:spcPts val="0"/>
              </a:spcBef>
              <a:spcAft>
                <a:spcPts val="0"/>
              </a:spcAft>
            </a:pPr>
            <a:r>
              <a:rPr sz="1350" b="0" u="none">
                <a:solidFill>
                  <a:srgbClr val="004EA2"/>
                </a:solidFill>
                <a:latin typeface="Noto Sans KR"/>
                <a:hlinkClick xmlns:ns53="http://schemas.openxmlformats.org/officeDocument/2006/relationships" ns53:id="rId2"/>
              </a:rPr>
              <a:t>다운로드.zip 2026-01 ~ 2026-06</a:t>
            </a:r>
          </a:p>
        </p:txBody>
      </p:sp>
    </p:spTree>
    <p:extLst>
      <p:ext uri="{BB962C8B-B14F-4D97-AF65-F5344CB8AC3E}">
        <p14:creationId xmlns:p14="http://schemas.microsoft.com/office/powerpoint/2010/main" val="930694367"/>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강원특별자치도 춘천시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춘천시 지역상품권</a:t>
            </a:r>
          </a:p>
          <a:p xmlns:a="http://schemas.openxmlformats.org/drawingml/2006/main">
            <a:pPr eaLnBrk="0">
              <a:lnSpc>
                <a:spcPts val="2625"/>
              </a:lnSpc>
              <a:spcBef>
                <a:spcPts val="0"/>
              </a:spcBef>
              <a:spcAft>
                <a:spcPts val="0"/>
              </a:spcAft>
            </a:pPr>
            <a:r>
              <a:rPr sz="2100" b="1">
                <a:solidFill>
                  <a:srgbClr val="004EA2"/>
                </a:solidFill>
                <a:latin typeface="Noto Sans KR"/>
              </a:rPr>
              <a:t>환급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D20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이동통신/외국인/20260820141649_전국_202501-202512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6" name="reference-1"/>
          <p:cNvSpPr txBox="1"/>
          <p:nvPr/>
        </p:nvSpPr>
        <p:spPr>
          <a:xfrm>
            <a:off x="1009650" y="36004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D21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신용카드/내국인/지역별</a:t>
            </a:r>
          </a:p>
          <a:p>
            <a:pPr eaLnBrk="0">
              <a:lnSpc>
                <a:spcPts val="1687"/>
              </a:lnSpc>
              <a:spcBef>
                <a:spcPts val="0"/>
              </a:spcBef>
              <a:spcAft>
                <a:spcPts val="0"/>
              </a:spcAft>
            </a:pPr>
            <a:r>
              <a:rPr sz="1350" b="0" u="none">
                <a:solidFill>
                  <a:srgbClr val="004EA2"/>
                </a:solidFill>
                <a:latin typeface="Noto Sans KR"/>
                <a:hlinkClick r:id="rId2"/>
              </a:rPr>
              <a:t>관광지출액/20260820135957__202501-202512_데이터랩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7" name="reference-2"/>
          <p:cNvSpPr txBox="1"/>
          <p:nvPr/>
        </p:nvSpPr>
        <p:spPr>
          <a:xfrm>
            <a:off x="1009650" y="46291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D22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신용카드/외국인/지역별</a:t>
            </a:r>
          </a:p>
          <a:p>
            <a:pPr eaLnBrk="0">
              <a:lnSpc>
                <a:spcPts val="1687"/>
              </a:lnSpc>
              <a:spcBef>
                <a:spcPts val="0"/>
              </a:spcBef>
              <a:spcAft>
                <a:spcPts val="0"/>
              </a:spcAft>
            </a:pPr>
            <a:r>
              <a:rPr sz="1350" b="0" u="none">
                <a:solidFill>
                  <a:srgbClr val="004EA2"/>
                </a:solidFill>
                <a:latin typeface="Noto Sans KR"/>
                <a:hlinkClick r:id="rId2"/>
              </a:rPr>
              <a:t>관광지출액/20260820140409__202501-202512_데이터랩</a:t>
            </a:r>
          </a:p>
          <a:p>
            <a:pPr eaLnBrk="0">
              <a:lnSpc>
                <a:spcPts val="1687"/>
              </a:lnSpc>
              <a:spcBef>
                <a:spcPts val="0"/>
              </a:spcBef>
              <a:spcAft>
                <a:spcPts val="0"/>
              </a:spcAft>
            </a:pPr>
            <a:r>
              <a:rPr sz="1350" b="0" u="none">
                <a:solidFill>
                  <a:srgbClr val="004EA2"/>
                </a:solidFill>
                <a:latin typeface="Noto Sans KR"/>
                <a:hlinkClick r:id="rId2"/>
              </a:rPr>
              <a:t>_다운로드.zip 2026-01 ~ 2026-06</a:t>
            </a:r>
          </a:p>
        </p:txBody>
      </p:sp>
      <p:sp>
        <p:nvSpPr>
          <p:cNvPr id="8" name="reference-3"/>
          <p:cNvSpPr txBox="1"/>
          <p:nvPr/>
        </p:nvSpPr>
        <p:spPr>
          <a:xfrm>
            <a:off x="1009650" y="56578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D23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네비게이션/지역별</a:t>
            </a:r>
          </a:p>
          <a:p>
            <a:pPr eaLnBrk="0">
              <a:lnSpc>
                <a:spcPts val="1687"/>
              </a:lnSpc>
              <a:spcBef>
                <a:spcPts val="0"/>
              </a:spcBef>
              <a:spcAft>
                <a:spcPts val="0"/>
              </a:spcAft>
            </a:pPr>
            <a:r>
              <a:rPr sz="1350" b="0" u="none">
                <a:solidFill>
                  <a:srgbClr val="004EA2"/>
                </a:solidFill>
                <a:latin typeface="Noto Sans KR"/>
                <a:hlinkClick r:id="rId2"/>
              </a:rPr>
              <a:t>검색건수/20260820132007__202501-202512_데이터랩_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9" name="reference-4"/>
          <p:cNvSpPr txBox="1"/>
          <p:nvPr/>
        </p:nvSpPr>
        <p:spPr>
          <a:xfrm>
            <a:off x="1009650" y="66865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D24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 이동통신/내국인/지역별</a:t>
            </a:r>
          </a:p>
          <a:p>
            <a:pPr eaLnBrk="0">
              <a:lnSpc>
                <a:spcPts val="1687"/>
              </a:lnSpc>
              <a:spcBef>
                <a:spcPts val="0"/>
              </a:spcBef>
              <a:spcAft>
                <a:spcPts val="0"/>
              </a:spcAft>
            </a:pPr>
            <a:r>
              <a:rPr sz="1350" b="0" u="none">
                <a:solidFill>
                  <a:srgbClr val="004EA2"/>
                </a:solidFill>
                <a:latin typeface="Noto Sans KR"/>
                <a:hlinkClick r:id="rId2"/>
              </a:rPr>
              <a:t>방문자수/20260820140624__202401-202412_데이터랩_</a:t>
            </a:r>
          </a:p>
          <a:p>
            <a:pPr eaLnBrk="0">
              <a:lnSpc>
                <a:spcPts val="1687"/>
              </a:lnSpc>
              <a:spcBef>
                <a:spcPts val="0"/>
              </a:spcBef>
              <a:spcAft>
                <a:spcPts val="0"/>
              </a:spcAft>
            </a:pPr>
            <a:r>
              <a:rPr sz="1350" b="0" u="none">
                <a:solidFill>
                  <a:srgbClr val="004EA2"/>
                </a:solidFill>
                <a:latin typeface="Noto Sans KR"/>
                <a:hlinkClick r:id="rId2"/>
              </a:rPr>
              <a:t>다운로드.zip 2026-01 ~ 2026-06</a:t>
            </a:r>
          </a:p>
        </p:txBody>
      </p:sp>
      <p:sp>
        <p:nvSpPr>
          <p:cNvPr id="10" name="reference-5"/>
          <p:cNvSpPr txBox="1"/>
          <p:nvPr/>
        </p:nvSpPr>
        <p:spPr>
          <a:xfrm>
            <a:off x="5486400" y="2571750"/>
            <a:ext cx="4248150" cy="10001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D25 한국관광 데이터랩 전국 빅데이터</a:t>
            </a:r>
          </a:p>
          <a:p>
            <a:pPr eaLnBrk="0">
              <a:lnSpc>
                <a:spcPts val="1687"/>
              </a:lnSpc>
              <a:spcBef>
                <a:spcPts val="0"/>
              </a:spcBef>
              <a:spcAft>
                <a:spcPts val="0"/>
              </a:spcAft>
            </a:pPr>
            <a:r>
              <a:rPr sz="1350" b="0" u="none">
                <a:solidFill>
                  <a:srgbClr val="004EA2"/>
                </a:solidFill>
                <a:latin typeface="Noto Sans KR"/>
                <a:hlinkClick r:id="rId2"/>
              </a:rPr>
              <a:t>다운로드 ·</a:t>
            </a:r>
          </a:p>
          <a:p>
            <a:pPr eaLnBrk="0">
              <a:lnSpc>
                <a:spcPts val="1687"/>
              </a:lnSpc>
              <a:spcBef>
                <a:spcPts val="0"/>
              </a:spcBef>
              <a:spcAft>
                <a:spcPts val="0"/>
              </a:spcAft>
            </a:pPr>
            <a:r>
              <a:rPr sz="1350" b="0" u="none">
                <a:solidFill>
                  <a:srgbClr val="004EA2"/>
                </a:solidFill>
                <a:latin typeface="Noto Sans KR"/>
                <a:hlinkClick r:id="rId2"/>
              </a:rPr>
              <a:t>이동통신/외국인/20260820141639_전국_202401-202412</a:t>
            </a:r>
          </a:p>
          <a:p>
            <a:pPr eaLnBrk="0">
              <a:lnSpc>
                <a:spcPts val="1687"/>
              </a:lnSpc>
              <a:spcBef>
                <a:spcPts val="0"/>
              </a:spcBef>
              <a:spcAft>
                <a:spcPts val="0"/>
              </a:spcAft>
            </a:pPr>
            <a:r>
              <a:rPr sz="1350" b="0" u="none">
                <a:solidFill>
                  <a:srgbClr val="004EA2"/>
                </a:solidFill>
                <a:latin typeface="Noto Sans KR"/>
                <a:hlinkClick r:id="rId2"/>
              </a:rPr>
              <a:t>_데이터랩_다운로드.zip 2026-01 ~ 2026-06</a:t>
            </a:r>
          </a:p>
        </p:txBody>
      </p:sp>
      <p:sp>
        <p:nvSpPr>
          <p:cNvPr id="11" name="reference-6"/>
          <p:cNvSpPr txBox="1"/>
          <p:nvPr/>
        </p:nvSpPr>
        <p:spPr>
          <a:xfrm>
            <a:off x="5486400" y="36004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D26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유입유출 2025-07 ~ 2026-06</a:t>
            </a:r>
          </a:p>
        </p:txBody>
      </p:sp>
      <p:sp>
        <p:nvSpPr>
          <p:cNvPr id="12" name="reference-7"/>
          <p:cNvSpPr txBox="1"/>
          <p:nvPr/>
        </p:nvSpPr>
        <p:spPr>
          <a:xfrm>
            <a:off x="5486400" y="42005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D27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인기관광지 2025-07 ~ 2026-06</a:t>
            </a:r>
          </a:p>
        </p:txBody>
      </p:sp>
      <p:sp>
        <p:nvSpPr>
          <p:cNvPr id="13" name="reference-8"/>
          <p:cNvSpPr txBox="1"/>
          <p:nvPr/>
        </p:nvSpPr>
        <p:spPr>
          <a:xfrm>
            <a:off x="5486400" y="48006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관측 데이터 D28 한국관광 데이터랩 지역별 관광 현황 · ·</a:t>
            </a:r>
          </a:p>
          <a:p>
            <a:pPr eaLnBrk="0">
              <a:lnSpc>
                <a:spcPts val="1687"/>
              </a:lnSpc>
              <a:spcBef>
                <a:spcPts val="0"/>
              </a:spcBef>
              <a:spcAft>
                <a:spcPts val="0"/>
              </a:spcAft>
            </a:pPr>
            <a:r>
              <a:rPr sz="1350" b="0" u="none">
                <a:solidFill>
                  <a:srgbClr val="004EA2"/>
                </a:solidFill>
                <a:latin typeface="Noto Sans KR"/>
                <a:hlinkClick r:id="rId2"/>
              </a:rPr>
              <a:t>지역집중률 2025-07 ~ 2026-06</a:t>
            </a:r>
          </a:p>
        </p:txBody>
      </p:sp>
      <p:sp>
        <p:nvSpPr>
          <p:cNvPr id="14" name="reference-9"/>
          <p:cNvSpPr txBox="1"/>
          <p:nvPr/>
        </p:nvSpPr>
        <p:spPr>
          <a:xfrm>
            <a:off x="5486400" y="540067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방문자 수 RandomForestRegressor</a:t>
            </a:r>
          </a:p>
          <a:p>
            <a:pPr eaLnBrk="0">
              <a:lnSpc>
                <a:spcPts val="1687"/>
              </a:lnSpc>
              <a:spcBef>
                <a:spcPts val="0"/>
              </a:spcBef>
              <a:spcAft>
                <a:spcPts val="0"/>
              </a:spcAft>
            </a:pPr>
            <a:r>
              <a:rPr sz="1350" b="0">
                <a:solidFill>
                  <a:srgbClr val="004EA2"/>
                </a:solidFill>
                <a:latin typeface="Noto Sans KR"/>
              </a:rPr>
              <a:t>최종 월 2,018,187명</a:t>
            </a:r>
          </a:p>
        </p:txBody>
      </p:sp>
      <p:sp>
        <p:nvSpPr>
          <p:cNvPr id="15" name="reference-10"/>
          <p:cNvSpPr txBox="1"/>
          <p:nvPr/>
        </p:nvSpPr>
        <p:spPr>
          <a:xfrm>
            <a:off x="5486400" y="6000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관광소비액 전년동월 계절 기준선</a:t>
            </a:r>
          </a:p>
          <a:p>
            <a:pPr eaLnBrk="0">
              <a:lnSpc>
                <a:spcPts val="1687"/>
              </a:lnSpc>
              <a:spcBef>
                <a:spcPts val="0"/>
              </a:spcBef>
              <a:spcAft>
                <a:spcPts val="0"/>
              </a:spcAft>
            </a:pPr>
            <a:r>
              <a:rPr sz="1350" b="0">
                <a:solidFill>
                  <a:srgbClr val="004EA2"/>
                </a:solidFill>
                <a:latin typeface="Noto Sans KR"/>
              </a:rPr>
              <a:t>최종 월 503.31억 원</a:t>
            </a:r>
          </a:p>
        </p:txBody>
      </p:sp>
      <p:sp>
        <p:nvSpPr>
          <p:cNvPr id="16" name="reference-11"/>
          <p:cNvSpPr txBox="1"/>
          <p:nvPr/>
        </p:nvSpPr>
        <p:spPr>
          <a:xfrm>
            <a:off x="5486400" y="6600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체류시간 전년동월 계절</a:t>
            </a:r>
          </a:p>
          <a:p>
            <a:pPr eaLnBrk="0">
              <a:lnSpc>
                <a:spcPts val="1687"/>
              </a:lnSpc>
              <a:spcBef>
                <a:spcPts val="0"/>
              </a:spcBef>
              <a:spcAft>
                <a:spcPts val="0"/>
              </a:spcAft>
            </a:pPr>
            <a:r>
              <a:rPr sz="1350" b="0">
                <a:solidFill>
                  <a:srgbClr val="004EA2"/>
                </a:solidFill>
                <a:latin typeface="Noto Sans KR"/>
              </a:rPr>
              <a:t>기준선 최종 월 1,501분</a:t>
            </a:r>
          </a:p>
        </p:txBody>
      </p:sp>
      <p:sp>
        <p:nvSpPr>
          <p:cNvPr id="17" name="reference-12"/>
          <p:cNvSpPr txBox="1"/>
          <p:nvPr/>
        </p:nvSpPr>
        <p:spPr>
          <a:xfrm>
            <a:off x="5486400" y="7200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평균 숙박일수 전년동월 계절</a:t>
            </a:r>
          </a:p>
          <a:p>
            <a:pPr eaLnBrk="0">
              <a:lnSpc>
                <a:spcPts val="1687"/>
              </a:lnSpc>
              <a:spcBef>
                <a:spcPts val="0"/>
              </a:spcBef>
              <a:spcAft>
                <a:spcPts val="0"/>
              </a:spcAft>
            </a:pPr>
            <a:r>
              <a:rPr sz="1350" b="0">
                <a:solidFill>
                  <a:srgbClr val="004EA2"/>
                </a:solidFill>
                <a:latin typeface="Noto Sans KR"/>
              </a:rPr>
              <a:t>기준선 최종 월 2.62일</a:t>
            </a:r>
          </a:p>
        </p:txBody>
      </p:sp>
      <p:sp>
        <p:nvSpPr>
          <p:cNvPr id="18" name="reference-13"/>
          <p:cNvSpPr txBox="1"/>
          <p:nvPr/>
        </p:nvSpPr>
        <p:spPr>
          <a:xfrm>
            <a:off x="99631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숙박방문자 비율 전년동월 계절</a:t>
            </a:r>
          </a:p>
          <a:p>
            <a:pPr eaLnBrk="0">
              <a:lnSpc>
                <a:spcPts val="1687"/>
              </a:lnSpc>
              <a:spcBef>
                <a:spcPts val="0"/>
              </a:spcBef>
              <a:spcAft>
                <a:spcPts val="0"/>
              </a:spcAft>
            </a:pPr>
            <a:r>
              <a:rPr sz="1350" b="0">
                <a:solidFill>
                  <a:srgbClr val="004EA2"/>
                </a:solidFill>
                <a:latin typeface="Noto Sans KR"/>
              </a:rPr>
              <a:t>기준선 최종 월 13%</a:t>
            </a:r>
          </a:p>
        </p:txBody>
      </p:sp>
      <p:sp>
        <p:nvSpPr>
          <p:cNvPr id="19" name="reference-14"/>
          <p:cNvSpPr txBox="1"/>
          <p:nvPr/>
        </p:nvSpPr>
        <p:spPr>
          <a:xfrm>
            <a:off x="99631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숙박 목적지 검색량 전년동월 계절</a:t>
            </a:r>
          </a:p>
          <a:p>
            <a:pPr eaLnBrk="0">
              <a:lnSpc>
                <a:spcPts val="1687"/>
              </a:lnSpc>
              <a:spcBef>
                <a:spcPts val="0"/>
              </a:spcBef>
              <a:spcAft>
                <a:spcPts val="0"/>
              </a:spcAft>
            </a:pPr>
            <a:r>
              <a:rPr sz="1350" b="0">
                <a:solidFill>
                  <a:srgbClr val="004EA2"/>
                </a:solidFill>
                <a:latin typeface="Noto Sans KR"/>
              </a:rPr>
              <a:t>기준선 최종 월 30,423건</a:t>
            </a:r>
          </a:p>
        </p:txBody>
      </p:sp>
      <p:sp>
        <p:nvSpPr>
          <p:cNvPr id="20" name="reference-15"/>
          <p:cNvSpPr txBox="1"/>
          <p:nvPr/>
        </p:nvSpPr>
        <p:spPr>
          <a:xfrm>
            <a:off x="99631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머신러닝 예측치 내비게이션 검색량 전년동월 계절</a:t>
            </a:r>
          </a:p>
          <a:p>
            <a:pPr eaLnBrk="0">
              <a:lnSpc>
                <a:spcPts val="1687"/>
              </a:lnSpc>
              <a:spcBef>
                <a:spcPts val="0"/>
              </a:spcBef>
              <a:spcAft>
                <a:spcPts val="0"/>
              </a:spcAft>
            </a:pPr>
            <a:r>
              <a:rPr sz="1350" b="0">
                <a:solidFill>
                  <a:srgbClr val="004EA2"/>
                </a:solidFill>
                <a:latin typeface="Noto Sans KR"/>
              </a:rPr>
              <a:t>기준선 최종 월 322,218건</a:t>
            </a:r>
          </a:p>
        </p:txBody>
      </p:sp>
      <p:sp>
        <p:nvSpPr>
          <p:cNvPr id="21" name="reference-16"/>
          <p:cNvSpPr txBox="1"/>
          <p:nvPr/>
        </p:nvSpPr>
        <p:spPr>
          <a:xfrm>
            <a:off x="9963150" y="4371975"/>
            <a:ext cx="4248150" cy="785812"/>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D50 요즘, 한국관광 2호 - 지방공항 연계</a:t>
            </a:r>
          </a:p>
          <a:p>
            <a:pPr eaLnBrk="0">
              <a:lnSpc>
                <a:spcPts val="1687"/>
              </a:lnSpc>
              <a:spcBef>
                <a:spcPts val="0"/>
              </a:spcBef>
              <a:spcAft>
                <a:spcPts val="0"/>
              </a:spcAft>
            </a:pPr>
            <a:r>
              <a:rPr sz="1350" b="0" u="none">
                <a:solidFill>
                  <a:srgbClr val="004EA2"/>
                </a:solidFill>
                <a:latin typeface="Noto Sans KR"/>
                <a:hlinkClick r:id="rId3"/>
              </a:rPr>
              <a:t>지역관광 활성화 방안 · PDF 44쪽 외 9쪽 (10개</a:t>
            </a:r>
          </a:p>
          <a:p>
            <a:pPr eaLnBrk="0">
              <a:lnSpc>
                <a:spcPts val="1687"/>
              </a:lnSpc>
              <a:spcBef>
                <a:spcPts val="0"/>
              </a:spcBef>
              <a:spcAft>
                <a:spcPts val="0"/>
              </a:spcAft>
            </a:pPr>
            <a:r>
              <a:rPr sz="1350" b="0" u="none">
                <a:solidFill>
                  <a:srgbClr val="004EA2"/>
                </a:solidFill>
                <a:latin typeface="Noto Sans KR"/>
                <a:hlinkClick r:id="rId3"/>
              </a:rPr>
              <a:t>청크) datalab.visitkorea.or.kr</a:t>
            </a:r>
          </a:p>
        </p:txBody>
      </p:sp>
      <p:sp>
        <p:nvSpPr>
          <p:cNvPr id="22" name="reference-17"/>
          <p:cNvSpPr txBox="1"/>
          <p:nvPr/>
        </p:nvSpPr>
        <p:spPr>
          <a:xfrm>
            <a:off x="9963150" y="518636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D51 전주시 2026년도 관광산업과</a:t>
            </a:r>
          </a:p>
          <a:p>
            <a:pPr eaLnBrk="0">
              <a:lnSpc>
                <a:spcPts val="1687"/>
              </a:lnSpc>
              <a:spcBef>
                <a:spcPts val="0"/>
              </a:spcBef>
              <a:spcAft>
                <a:spcPts val="0"/>
              </a:spcAft>
            </a:pPr>
            <a:r>
              <a:rPr sz="1350" b="0" u="none">
                <a:solidFill>
                  <a:srgbClr val="004EA2"/>
                </a:solidFill>
                <a:latin typeface="Noto Sans KR"/>
                <a:hlinkClick r:id="rId4"/>
              </a:rPr>
              <a:t>세출예산 사업명세서 jeonju.go.kr</a:t>
            </a:r>
          </a:p>
        </p:txBody>
      </p:sp>
      <p:sp>
        <p:nvSpPr>
          <p:cNvPr id="23" name="reference-18"/>
          <p:cNvSpPr txBox="1"/>
          <p:nvPr/>
        </p:nvSpPr>
        <p:spPr>
          <a:xfrm>
            <a:off x="9963150" y="578643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공식 사례·문서 D52 섬에서의 특별한 경험, ‘인천 섬</a:t>
            </a:r>
          </a:p>
          <a:p>
            <a:pPr eaLnBrk="0">
              <a:lnSpc>
                <a:spcPts val="1687"/>
              </a:lnSpc>
              <a:spcBef>
                <a:spcPts val="0"/>
              </a:spcBef>
              <a:spcAft>
                <a:spcPts val="0"/>
              </a:spcAft>
            </a:pPr>
            <a:r>
              <a:rPr sz="1350" b="0" u="none">
                <a:solidFill>
                  <a:srgbClr val="004EA2"/>
                </a:solidFill>
                <a:latin typeface="Noto Sans KR"/>
                <a:hlinkClick r:id="rId5"/>
              </a:rPr>
              <a:t>도도하게 살아보기’로 누린다 www.incheon.go.kr</a:t>
            </a:r>
          </a:p>
        </p:txBody>
      </p:sp>
      <p:sp>
        <p:nvSpPr>
          <p:cNvPr id="24" name="reference-19"/>
          <p:cNvSpPr txBox="1"/>
          <p:nvPr/>
        </p:nvSpPr>
        <p:spPr>
          <a:xfrm>
            <a:off x="9963150" y="6386512"/>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6"/>
              </a:rPr>
              <a:t>공식 사례·문서 D53 강진 반값여행 지역경제 효과</a:t>
            </a:r>
          </a:p>
          <a:p>
            <a:pPr eaLnBrk="0">
              <a:lnSpc>
                <a:spcPts val="1687"/>
              </a:lnSpc>
              <a:spcBef>
                <a:spcPts val="0"/>
              </a:spcBef>
              <a:spcAft>
                <a:spcPts val="0"/>
              </a:spcAft>
            </a:pPr>
            <a:r>
              <a:rPr sz="1350" b="0" u="none">
                <a:solidFill>
                  <a:srgbClr val="004EA2"/>
                </a:solidFill>
                <a:latin typeface="Noto Sans KR"/>
                <a:hlinkClick r:id="rId6"/>
              </a:rPr>
              <a:t>소개 jnfarm.jeonnam.go.kr</a:t>
            </a:r>
          </a:p>
        </p:txBody>
      </p:sp>
      <p:sp>
        <p:nvSpPr>
          <p:cNvPr id="25" name="reference-20"/>
          <p:cNvSpPr txBox="1"/>
          <p:nvPr/>
        </p:nvSpPr>
        <p:spPr>
          <a:xfrm>
            <a:off x="9963150" y="6986588"/>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7"/>
              </a:rPr>
              <a:t>공식 사례·문서 D54 2024년 6월 여행가는 달 추진</a:t>
            </a:r>
          </a:p>
          <a:p>
            <a:pPr eaLnBrk="0">
              <a:lnSpc>
                <a:spcPts val="1687"/>
              </a:lnSpc>
              <a:spcBef>
                <a:spcPts val="0"/>
              </a:spcBef>
              <a:spcAft>
                <a:spcPts val="0"/>
              </a:spcAft>
            </a:pPr>
            <a:r>
              <a:rPr sz="1350" b="0" u="none">
                <a:solidFill>
                  <a:srgbClr val="004EA2"/>
                </a:solidFill>
                <a:latin typeface="Noto Sans KR"/>
                <a:hlinkClick r:id="rId7"/>
              </a:rPr>
              <a:t>보도자료 mcst.go.kr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3/3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57175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2"/>
              </a:rPr>
              <a:t>공식 사례·문서 D55 2022 대한민국 숙박대전</a:t>
            </a:r>
          </a:p>
          <a:p>
            <a:pPr eaLnBrk="0">
              <a:lnSpc>
                <a:spcPts val="1687"/>
              </a:lnSpc>
              <a:spcBef>
                <a:spcPts val="0"/>
              </a:spcBef>
              <a:spcAft>
                <a:spcPts val="0"/>
              </a:spcAft>
            </a:pPr>
            <a:r>
              <a:rPr sz="1350" b="0" u="none">
                <a:solidFill>
                  <a:srgbClr val="004EA2"/>
                </a:solidFill>
                <a:latin typeface="Noto Sans KR"/>
                <a:hlinkClick r:id="rId2"/>
              </a:rPr>
              <a:t>경제파급효과 공개자료 kto.visitkorea.or.kr</a:t>
            </a:r>
          </a:p>
        </p:txBody>
      </p:sp>
      <p:sp>
        <p:nvSpPr>
          <p:cNvPr id="6" name="reference-1"/>
          <p:cNvSpPr txBox="1"/>
          <p:nvPr/>
        </p:nvSpPr>
        <p:spPr>
          <a:xfrm>
            <a:off x="1009650" y="3171825"/>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3"/>
              </a:rPr>
              <a:t>공식 사례·문서 D56 2025 대한민국 밤밤페스타 개최 도시</a:t>
            </a:r>
          </a:p>
          <a:p>
            <a:pPr eaLnBrk="0">
              <a:lnSpc>
                <a:spcPts val="1687"/>
              </a:lnSpc>
              <a:spcBef>
                <a:spcPts val="0"/>
              </a:spcBef>
              <a:spcAft>
                <a:spcPts val="0"/>
              </a:spcAft>
            </a:pPr>
            <a:r>
              <a:rPr sz="1350" b="0" u="none">
                <a:solidFill>
                  <a:srgbClr val="004EA2"/>
                </a:solidFill>
                <a:latin typeface="Noto Sans KR"/>
                <a:hlinkClick r:id="rId3"/>
              </a:rPr>
              <a:t>및 일정 korean.visitkorea.or.kr</a:t>
            </a:r>
          </a:p>
        </p:txBody>
      </p:sp>
      <p:sp>
        <p:nvSpPr>
          <p:cNvPr id="7" name="reference-2"/>
          <p:cNvSpPr txBox="1"/>
          <p:nvPr/>
        </p:nvSpPr>
        <p:spPr>
          <a:xfrm>
            <a:off x="1009650" y="3771900"/>
            <a:ext cx="4248150" cy="5715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4"/>
              </a:rPr>
              <a:t>공식 사례·문서 D57 2024년도 정부업무평가 관광분야</a:t>
            </a:r>
          </a:p>
          <a:p>
            <a:pPr eaLnBrk="0">
              <a:lnSpc>
                <a:spcPts val="1687"/>
              </a:lnSpc>
              <a:spcBef>
                <a:spcPts val="0"/>
              </a:spcBef>
              <a:spcAft>
                <a:spcPts val="0"/>
              </a:spcAft>
            </a:pPr>
            <a:r>
              <a:rPr sz="1350" b="0" u="none">
                <a:solidFill>
                  <a:srgbClr val="004EA2"/>
                </a:solidFill>
                <a:latin typeface="Noto Sans KR"/>
                <a:hlinkClick r:id="rId4"/>
              </a:rPr>
              <a:t>성과자료 www.evaluation.go.kr</a:t>
            </a:r>
          </a:p>
        </p:txBody>
      </p:sp>
      <p:sp>
        <p:nvSpPr>
          <p:cNvPr id="8" name="reference-3"/>
          <p:cNvSpPr txBox="1"/>
          <p:nvPr/>
        </p:nvSpPr>
        <p:spPr>
          <a:xfrm>
            <a:off x="1009650" y="4371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D30 가보자순대국</a:t>
            </a:r>
          </a:p>
        </p:txBody>
      </p:sp>
      <p:sp>
        <p:nvSpPr>
          <p:cNvPr id="9" name="reference-4"/>
          <p:cNvSpPr txBox="1"/>
          <p:nvPr/>
        </p:nvSpPr>
        <p:spPr>
          <a:xfrm>
            <a:off x="1009650" y="4829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D31 가평1등수상레저</a:t>
            </a:r>
          </a:p>
        </p:txBody>
      </p:sp>
      <p:sp>
        <p:nvSpPr>
          <p:cNvPr id="10" name="reference-5"/>
          <p:cNvSpPr txBox="1"/>
          <p:nvPr/>
        </p:nvSpPr>
        <p:spPr>
          <a:xfrm>
            <a:off x="1009650" y="5286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D32 강원 경찰충혼탑</a:t>
            </a:r>
          </a:p>
        </p:txBody>
      </p:sp>
      <p:sp>
        <p:nvSpPr>
          <p:cNvPr id="11" name="reference-6"/>
          <p:cNvSpPr txBox="1"/>
          <p:nvPr/>
        </p:nvSpPr>
        <p:spPr>
          <a:xfrm>
            <a:off x="1009650" y="57435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D33 강원대학교중앙박물관</a:t>
            </a:r>
          </a:p>
        </p:txBody>
      </p:sp>
      <p:sp>
        <p:nvSpPr>
          <p:cNvPr id="12" name="reference-7"/>
          <p:cNvSpPr txBox="1"/>
          <p:nvPr/>
        </p:nvSpPr>
        <p:spPr>
          <a:xfrm>
            <a:off x="1009650" y="62007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D34 강원숲체험장</a:t>
            </a:r>
          </a:p>
        </p:txBody>
      </p:sp>
      <p:sp>
        <p:nvSpPr>
          <p:cNvPr id="13" name="reference-8"/>
          <p:cNvSpPr txBox="1"/>
          <p:nvPr/>
        </p:nvSpPr>
        <p:spPr>
          <a:xfrm>
            <a:off x="1009650" y="66579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D35 강원특별자치도청소년수련원</a:t>
            </a:r>
          </a:p>
        </p:txBody>
      </p:sp>
      <p:sp>
        <p:nvSpPr>
          <p:cNvPr id="14" name="reference-9"/>
          <p:cNvSpPr txBox="1"/>
          <p:nvPr/>
        </p:nvSpPr>
        <p:spPr>
          <a:xfrm>
            <a:off x="1009650" y="71151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D36 강촌 출렁다리공원</a:t>
            </a:r>
          </a:p>
        </p:txBody>
      </p:sp>
      <p:sp>
        <p:nvSpPr>
          <p:cNvPr id="15" name="reference-10"/>
          <p:cNvSpPr txBox="1"/>
          <p:nvPr/>
        </p:nvSpPr>
        <p:spPr>
          <a:xfrm>
            <a:off x="1009650" y="7572375"/>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D37 강촌레일파크(김유정레일바이크)</a:t>
            </a:r>
          </a:p>
        </p:txBody>
      </p:sp>
      <p:sp>
        <p:nvSpPr>
          <p:cNvPr id="16" name="reference-11"/>
          <p:cNvSpPr txBox="1"/>
          <p:nvPr/>
        </p:nvSpPr>
        <p:spPr>
          <a:xfrm>
            <a:off x="5486400" y="2571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D38 강촌버즈글램핑</a:t>
            </a:r>
          </a:p>
        </p:txBody>
      </p:sp>
      <p:sp>
        <p:nvSpPr>
          <p:cNvPr id="17" name="reference-12"/>
          <p:cNvSpPr txBox="1"/>
          <p:nvPr/>
        </p:nvSpPr>
        <p:spPr>
          <a:xfrm>
            <a:off x="5486400" y="3028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D39 강촌유원지</a:t>
            </a:r>
          </a:p>
        </p:txBody>
      </p:sp>
      <p:sp>
        <p:nvSpPr>
          <p:cNvPr id="18" name="reference-13"/>
          <p:cNvSpPr txBox="1"/>
          <p:nvPr/>
        </p:nvSpPr>
        <p:spPr>
          <a:xfrm>
            <a:off x="5486400" y="3486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D40 강촌하늘아래글램핑</a:t>
            </a:r>
          </a:p>
        </p:txBody>
      </p:sp>
      <p:sp>
        <p:nvSpPr>
          <p:cNvPr id="19" name="reference-14"/>
          <p:cNvSpPr txBox="1"/>
          <p:nvPr/>
        </p:nvSpPr>
        <p:spPr>
          <a:xfrm>
            <a:off x="5486400" y="3943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D41 경강막국수</a:t>
            </a:r>
          </a:p>
        </p:txBody>
      </p:sp>
      <p:sp>
        <p:nvSpPr>
          <p:cNvPr id="20" name="reference-15"/>
          <p:cNvSpPr txBox="1"/>
          <p:nvPr/>
        </p:nvSpPr>
        <p:spPr>
          <a:xfrm>
            <a:off x="5486400" y="4400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D42 고목</a:t>
            </a:r>
          </a:p>
        </p:txBody>
      </p:sp>
      <p:sp>
        <p:nvSpPr>
          <p:cNvPr id="21" name="reference-16"/>
          <p:cNvSpPr txBox="1"/>
          <p:nvPr/>
        </p:nvSpPr>
        <p:spPr>
          <a:xfrm>
            <a:off x="5486400" y="4857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D43 공지천 조각공원</a:t>
            </a:r>
          </a:p>
        </p:txBody>
      </p:sp>
      <p:sp>
        <p:nvSpPr>
          <p:cNvPr id="22" name="reference-17"/>
          <p:cNvSpPr txBox="1"/>
          <p:nvPr/>
        </p:nvSpPr>
        <p:spPr>
          <a:xfrm>
            <a:off x="5486400" y="5314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D44 구곡폭포 국민여가 캠핑장</a:t>
            </a:r>
          </a:p>
        </p:txBody>
      </p:sp>
      <p:sp>
        <p:nvSpPr>
          <p:cNvPr id="23" name="reference-18"/>
          <p:cNvSpPr txBox="1"/>
          <p:nvPr/>
        </p:nvSpPr>
        <p:spPr>
          <a:xfrm>
            <a:off x="5486400" y="57721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D45 구봉산</a:t>
            </a:r>
          </a:p>
        </p:txBody>
      </p:sp>
      <p:sp>
        <p:nvSpPr>
          <p:cNvPr id="24" name="reference-19"/>
          <p:cNvSpPr txBox="1"/>
          <p:nvPr/>
        </p:nvSpPr>
        <p:spPr>
          <a:xfrm>
            <a:off x="5486400" y="62293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D46 국립 용화산자연휴양림</a:t>
            </a:r>
          </a:p>
        </p:txBody>
      </p:sp>
      <p:sp>
        <p:nvSpPr>
          <p:cNvPr id="25" name="reference-20"/>
          <p:cNvSpPr txBox="1"/>
          <p:nvPr/>
        </p:nvSpPr>
        <p:spPr>
          <a:xfrm>
            <a:off x="5486400" y="66865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D47 국립춘천숲체원</a:t>
            </a:r>
          </a:p>
        </p:txBody>
      </p:sp>
      <p:sp>
        <p:nvSpPr>
          <p:cNvPr id="26" name="reference-21"/>
          <p:cNvSpPr txBox="1"/>
          <p:nvPr/>
        </p:nvSpPr>
        <p:spPr>
          <a:xfrm>
            <a:off x="5486400" y="71437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D48 군자숯불닭갈비</a:t>
            </a:r>
          </a:p>
        </p:txBody>
      </p:sp>
      <p:sp>
        <p:nvSpPr>
          <p:cNvPr id="27" name="reference-22"/>
          <p:cNvSpPr txBox="1"/>
          <p:nvPr/>
        </p:nvSpPr>
        <p:spPr>
          <a:xfrm>
            <a:off x="5486400" y="7600950"/>
            <a:ext cx="4248150" cy="42862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004EA2"/>
                </a:solidFill>
                <a:latin typeface="Noto Sans KR"/>
                <a:hlinkClick r:id="rId5"/>
              </a:rPr>
              <a:t>관광자원·사진 D49 근화동396청년창업공간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전라남도 강진군 · 반값여행 지역환급</a:t>
            </a:r>
          </a:p>
        </p:txBody>
      </p:sp>
      <p:graphicFrame>
        <p:nvGraphicFramePr>
          <p:cNvPr id="5" name="selection-matrix"/>
          <p:cNvGraphicFramePr>
            <a:graphicFrameLocks noGrp="1"/>
          </p:cNvGraphicFramePr>
          <p:nvPr/>
        </p:nvGraphicFramePr>
        <p:xfrm>
          <a:off x="1009650" y="2809875"/>
          <a:ext cx="13220700" cy="3505200"/>
        </p:xfrm>
        <a:graphic>
          <a:graphicData uri="http://schemas.openxmlformats.org/drawingml/2006/table">
            <a:tbl>
              <a:tblPr firstRow="1" bandRow="1">
                <a:tableStyleId>{5C22544A-7EE6-4342-B048-85BDC9FD1C3A}</a:tableStyleId>
              </a:tblPr>
              <a:tblGrid>
                <a:gridCol w="2209800"/>
                <a:gridCol w="5762625"/>
                <a:gridCol w="5248275"/>
              </a:tblGrid>
              <a:tr h="495300">
                <a:tc>
                  <a:txBody>
                    <a:bodyPr wrap="none"/>
                    <a:lstStyle/>
                    <a:p>
                      <a:pPr eaLnBrk="0">
                        <a:lnSpc>
                          <a:spcPct val="112000"/>
                        </a:lnSpc>
                        <a:spcBef>
                          <a:spcPts val="0"/>
                        </a:spcBef>
                        <a:spcAft>
                          <a:spcPts val="0"/>
                        </a:spcAft>
                      </a:pPr>
                      <a:r>
                        <a:rPr sz="1500"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00"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00" b="1">
                          <a:solidFill>
                            <a:srgbClr val="FFFFFF"/>
                          </a:solidFill>
                          <a:latin typeface="Noto Sans KR"/>
                        </a:rPr>
                        <a:t>이번 기획에 연결한 판단</a:t>
                      </a:r>
                    </a:p>
                  </a:txBody>
                  <a:tcPr marL="95250" marR="95250" marT="66675" marB="66675" anchor="ctr">
                    <a:solidFill>
                      <a:srgbClr val="004EA2"/>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여행자가 지역에서 지출한 비용의 일부를 지역상품권으로 돌려받게 하여</a:t>
                      </a:r>
                    </a:p>
                    <a:p>
                      <a:pPr eaLnBrk="0">
                        <a:lnSpc>
                          <a:spcPct val="112000"/>
                        </a:lnSpc>
                        <a:spcBef>
                          <a:spcPts val="0"/>
                        </a:spcBef>
                        <a:spcAft>
                          <a:spcPts val="0"/>
                        </a:spcAft>
                      </a:pPr>
                      <a:r>
                        <a:rPr sz="1500" b="0">
                          <a:solidFill>
                            <a:srgbClr val="1D2227"/>
                          </a:solidFill>
                          <a:latin typeface="Noto Sans KR"/>
                        </a:rPr>
                        <a:t>혜택이 다시 지역 상점에서 사용되도록 설계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결제·혜택·재이용 또는 예약·체류 등 실제 이용</a:t>
                      </a:r>
                    </a:p>
                    <a:p>
                      <a:pPr eaLnBrk="0">
                        <a:lnSpc>
                          <a:spcPct val="112000"/>
                        </a:lnSpc>
                        <a:spcBef>
                          <a:spcPts val="0"/>
                        </a:spcBef>
                        <a:spcAft>
                          <a:spcPts val="0"/>
                        </a:spcAft>
                      </a:pPr>
                      <a:r>
                        <a:rPr sz="1500" b="0">
                          <a:solidFill>
                            <a:srgbClr val="1D2227"/>
                          </a:solidFill>
                          <a:latin typeface="Noto Sans KR"/>
                        </a:rPr>
                        <a:t>흐름이 같은 사례만 연결</a:t>
                      </a:r>
                    </a:p>
                  </a:txBody>
                  <a:tcPr marL="95250" marR="95250" marT="66675" marB="66675" anchor="ctr">
                    <a:solidFill>
                      <a:srgbClr val="FFFFFF"/>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선택 지역의 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275" b="0">
                          <a:solidFill>
                            <a:srgbClr val="1D2227"/>
                          </a:solidFill>
                          <a:latin typeface="Noto Sans KR"/>
                        </a:rPr>
                        <a:t>월간 외지인 관광소비 총액: 51,352,814,000원 / 업종별 소비 비중:</a:t>
                      </a:r>
                    </a:p>
                    <a:p>
                      <a:pPr eaLnBrk="0">
                        <a:lnSpc>
                          <a:spcPct val="112000"/>
                        </a:lnSpc>
                        <a:spcBef>
                          <a:spcPts val="0"/>
                        </a:spcBef>
                        <a:spcAft>
                          <a:spcPts val="0"/>
                        </a:spcAft>
                      </a:pPr>
                      <a:r>
                        <a:rPr sz="1275" b="0">
                          <a:solidFill>
                            <a:srgbClr val="1D2227"/>
                          </a:solidFill>
                          <a:latin typeface="Noto Sans KR"/>
                        </a:rPr>
                        <a:t>식음료업(36.4%), 쇼핑업(24.2%), 여가서비스업(21.8%) /</a:t>
                      </a:r>
                    </a:p>
                    <a:p>
                      <a:pPr eaLnBrk="0">
                        <a:lnSpc>
                          <a:spcPct val="112000"/>
                        </a:lnSpc>
                        <a:spcBef>
                          <a:spcPts val="0"/>
                        </a:spcBef>
                        <a:spcAft>
                          <a:spcPts val="0"/>
                        </a:spcAft>
                      </a:pPr>
                      <a:r>
                        <a:rPr sz="1275" b="0">
                          <a:solidFill>
                            <a:srgbClr val="1D2227"/>
                          </a:solidFill>
                          <a:latin typeface="Noto Sans KR"/>
                        </a:rPr>
                        <a:t>외지인 숙박 방문 비율: 14.1%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00" b="0">
                          <a:solidFill>
                            <a:srgbClr val="1D2227"/>
                          </a:solidFill>
                          <a:latin typeface="Noto Sans KR"/>
                        </a:rPr>
                        <a:t>지역 자료는 참여 업종·대상 범위를 정하는 입력. 다른 지역과</a:t>
                      </a:r>
                    </a:p>
                    <a:p>
                      <a:pPr eaLnBrk="0">
                        <a:lnSpc>
                          <a:spcPct val="112000"/>
                        </a:lnSpc>
                        <a:spcBef>
                          <a:spcPts val="0"/>
                        </a:spcBef>
                        <a:spcAft>
                          <a:spcPts val="0"/>
                        </a:spcAft>
                      </a:pPr>
                      <a:r>
                        <a:rPr sz="1500" b="0">
                          <a:solidFill>
                            <a:srgbClr val="1D2227"/>
                          </a:solidFill>
                          <a:latin typeface="Noto Sans KR"/>
                        </a:rPr>
                        <a:t>수치가 같다는 증거로 사용하지 않음</a:t>
                      </a:r>
                    </a:p>
                  </a:txBody>
                  <a:tcPr marL="95250" marR="95250" marT="66675" marB="66675" anchor="ctr">
                    <a:solidFill>
                      <a:srgbClr val="EAF1F6"/>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지리·교통·관광자원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양 지역을 같은 기준으로 비교한 환경 지표는 현재 저장 보고서에 없음</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00" b="0">
                          <a:solidFill>
                            <a:srgbClr val="1D2227"/>
                          </a:solidFill>
                          <a:latin typeface="Noto Sans KR"/>
                        </a:rPr>
                        <a:t>섬 체류상품은 섬 환경을 복제하지 않고 숙박·식사·체험의</a:t>
                      </a:r>
                    </a:p>
                    <a:p>
                      <a:pPr eaLnBrk="0">
                        <a:lnSpc>
                          <a:spcPct val="112000"/>
                        </a:lnSpc>
                        <a:spcBef>
                          <a:spcPts val="0"/>
                        </a:spcBef>
                        <a:spcAft>
                          <a:spcPts val="0"/>
                        </a:spcAft>
                      </a:pPr>
                      <a:r>
                        <a:rPr sz="1500" b="0">
                          <a:solidFill>
                            <a:srgbClr val="1D2227"/>
                          </a:solidFill>
                          <a:latin typeface="Noto Sans KR"/>
                        </a:rPr>
                        <a:t>묶음 운영만 비교</a:t>
                      </a:r>
                    </a:p>
                  </a:txBody>
                  <a:tcPr marL="95250" marR="95250" marT="66675" marB="66675" anchor="ctr">
                    <a:solidFill>
                      <a:srgbClr val="FFFFFF"/>
                    </a:solidFill>
                  </a:tcPr>
                </a:tc>
              </a:tr>
              <a:tr h="752475">
                <a:tc>
                  <a:txBody>
                    <a:bodyPr wrap="none"/>
                    <a:lstStyle/>
                    <a:p>
                      <a:pPr eaLnBrk="0">
                        <a:lnSpc>
                          <a:spcPct val="112000"/>
                        </a:lnSpc>
                        <a:spcBef>
                          <a:spcPts val="0"/>
                        </a:spcBef>
                        <a:spcAft>
                          <a:spcPts val="0"/>
                        </a:spcAft>
                      </a:pPr>
                      <a:r>
                        <a:rPr sz="1500" b="1">
                          <a:solidFill>
                            <a:srgbClr val="1D2227"/>
                          </a:solidFill>
                          <a:latin typeface="Noto Sans KR"/>
                        </a:rPr>
                        <a:t>인구와 사업 규모</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00" b="0">
                          <a:solidFill>
                            <a:srgbClr val="1D2227"/>
                          </a:solidFill>
                          <a:latin typeface="Noto Sans KR"/>
                        </a:rPr>
                        <a:t>인구 차이에 따른 보정 계수는 현재 적용하지 않음</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00" b="0">
                          <a:solidFill>
                            <a:srgbClr val="1D2227"/>
                          </a:solidFill>
                          <a:latin typeface="Noto Sans KR"/>
                        </a:rPr>
                        <a:t>참여 건수·운영 인일로 시범 규모를 정함. 도시 전체</a:t>
                      </a:r>
                    </a:p>
                    <a:p>
                      <a:pPr eaLnBrk="0">
                        <a:lnSpc>
                          <a:spcPct val="112000"/>
                        </a:lnSpc>
                        <a:spcBef>
                          <a:spcPts val="0"/>
                        </a:spcBef>
                        <a:spcAft>
                          <a:spcPts val="0"/>
                        </a:spcAft>
                      </a:pPr>
                      <a:r>
                        <a:rPr sz="1500" b="0">
                          <a:solidFill>
                            <a:srgbClr val="1D2227"/>
                          </a:solidFill>
                          <a:latin typeface="Noto Sans KR"/>
                        </a:rPr>
                        <a:t>효과로 확대 해석하지 않음</a:t>
                      </a:r>
                    </a:p>
                  </a:txBody>
                  <a:tcPr marL="95250" marR="95250" marT="66675" marB="66675" anchor="ctr">
                    <a:solidFill>
                      <a:srgbClr val="EAF1F6"/>
                    </a:solidFill>
                  </a:tcPr>
                </a:tc>
              </a:tr>
            </a:tbl>
          </a:graphicData>
        </a:graphic>
      </p:graphicFrame>
      <p:sp>
        <p:nvSpPr>
          <p:cNvPr id="6" name="adaptation-panel"/>
          <p:cNvSpPr/>
          <p:nvPr/>
        </p:nvSpPr>
        <p:spPr>
          <a:xfrm>
            <a:off x="1009650" y="6534150"/>
            <a:ext cx="13220700" cy="10572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96075"/>
            <a:ext cx="9372600" cy="7429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1D2227"/>
                </a:solidFill>
                <a:latin typeface="Noto Sans KR"/>
              </a:rPr>
              <a:t>춘천시 내 지정된 식음료, 쇼핑, 여가서비스 참여 업종에서 일정 금액 이상 결제한 외지인 관광객에게 결제액의</a:t>
            </a:r>
          </a:p>
          <a:p>
            <a:pPr eaLnBrk="0">
              <a:lnSpc>
                <a:spcPts val="2062"/>
              </a:lnSpc>
              <a:spcBef>
                <a:spcPts val="0"/>
              </a:spcBef>
              <a:spcAft>
                <a:spcPts val="0"/>
              </a:spcAft>
            </a:pPr>
            <a:r>
              <a:rPr sz="1650" b="0">
                <a:solidFill>
                  <a:srgbClr val="1D2227"/>
                </a:solidFill>
                <a:latin typeface="Noto Sans KR"/>
              </a:rPr>
              <a:t>일부를 춘천시 지역상품권으로 환급해 주는 메커니즘</a:t>
            </a:r>
          </a:p>
        </p:txBody>
      </p:sp>
      <p:sp>
        <p:nvSpPr>
          <p:cNvPr id="9" name="selection-source"/>
          <p:cNvSpPr txBox="1"/>
          <p:nvPr/>
        </p:nvSpPr>
        <p:spPr>
          <a:xfrm>
            <a:off x="1009650" y="7781925"/>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강진 반값여행 지역경제 효과 소개</a:t>
            </a:r>
          </a:p>
        </p:txBody>
      </p:sp>
      <p:sp>
        <p:nvSpPr>
          <p:cNvPr id="10" name="selection-limit"/>
          <p:cNvSpPr txBox="1"/>
          <p:nvPr/>
        </p:nvSpPr>
        <p:spPr>
          <a:xfrm>
            <a:off x="1009650" y="8210550"/>
            <a:ext cx="13220700" cy="2857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rPr>
              <a:t>선정 근거: 운영 방식 일치. 인구·자연환경·교통이 같은 지역이라는 뜻이 아니며, 환경 유사성을 입증한 비교는 아닙니다.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