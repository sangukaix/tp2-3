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004aa6a727d4998" Type="http://schemas.openxmlformats.org/officeDocument/2006/relationships/officeDocument" Target="ppt/presentation.xml"/><Relationship Id="R3f3039f35737454d" Type="http://schemas.openxmlformats.org/officeDocument/2006/relationships/extended-properties" Target="docProps/app.xml"/><Relationship Id="Rd6e1feb4b53c464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8c8b44d8f4003"/>
  </p:sldMasterIdLst>
  <p:notesMasterIdLst>
    <p:notesMasterId xmlns:r="http://schemas.openxmlformats.org/officeDocument/2006/relationships" r:id="R04d194b486cb403b"/>
  </p:notesMasterIdLst>
  <p:sldIdLst>
    <p:sldId xmlns:r="http://schemas.openxmlformats.org/officeDocument/2006/relationships" id="256" r:id="R3a8ca79064e444de"/>
    <p:sldId xmlns:r="http://schemas.openxmlformats.org/officeDocument/2006/relationships" id="257" r:id="Ra07f23a927fb46cc"/>
    <p:sldId xmlns:r="http://schemas.openxmlformats.org/officeDocument/2006/relationships" id="258" r:id="Rfa41db66c4514433"/>
    <p:sldId xmlns:r="http://schemas.openxmlformats.org/officeDocument/2006/relationships" id="259" r:id="R38df24f9f2394956"/>
    <p:sldId xmlns:r="http://schemas.openxmlformats.org/officeDocument/2006/relationships" id="260" r:id="R7908058dec544efa"/>
    <p:sldId xmlns:r="http://schemas.openxmlformats.org/officeDocument/2006/relationships" id="261" r:id="R16cdad1d534044e0"/>
    <p:sldId xmlns:r="http://schemas.openxmlformats.org/officeDocument/2006/relationships" id="262" r:id="R615c6d31217f4a40"/>
    <p:sldId xmlns:r="http://schemas.openxmlformats.org/officeDocument/2006/relationships" id="263" r:id="Ra7576c7f5afc4442"/>
    <p:sldId xmlns:r="http://schemas.openxmlformats.org/officeDocument/2006/relationships" id="264" r:id="Rcbf3699b2e8c41be"/>
    <p:sldId xmlns:r="http://schemas.openxmlformats.org/officeDocument/2006/relationships" id="265" r:id="Rca7fb8b63bcb47ce"/>
    <p:sldId xmlns:r="http://schemas.openxmlformats.org/officeDocument/2006/relationships" id="266" r:id="R900e18ed28ae467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d194b486cb403b" Type="http://schemas.openxmlformats.org/officeDocument/2006/relationships/notesMaster" Target="notesMasters/notesMaster1.xml"/><Relationship Id="R16cdad1d534044e0" Type="http://schemas.openxmlformats.org/officeDocument/2006/relationships/slide" Target="slides/slide6.xml"/><Relationship Id="R38df24f9f2394956" Type="http://schemas.openxmlformats.org/officeDocument/2006/relationships/slide" Target="slides/slide4.xml"/><Relationship Id="R3a8ca79064e444de" Type="http://schemas.openxmlformats.org/officeDocument/2006/relationships/slide" Target="slides/slide1.xml"/><Relationship Id="R475d048bbb2f469e" Type="http://schemas.openxmlformats.org/officeDocument/2006/relationships/presProps" Target="presProps.xml"/><Relationship Id="R52b1c250b63842ed" Type="http://schemas.openxmlformats.org/officeDocument/2006/relationships/tableStyles" Target="tableStyles.xml"/><Relationship Id="R5d5b6131bde549cd" Type="http://schemas.openxmlformats.org/officeDocument/2006/relationships/viewProps" Target="viewProps.xml"/><Relationship Id="R615c6d31217f4a40" Type="http://schemas.openxmlformats.org/officeDocument/2006/relationships/slide" Target="slides/slide7.xml"/><Relationship Id="R7908058dec544efa" Type="http://schemas.openxmlformats.org/officeDocument/2006/relationships/slide" Target="slides/slide5.xml"/><Relationship Id="R900e18ed28ae4679" Type="http://schemas.openxmlformats.org/officeDocument/2006/relationships/slide" Target="slides/slide11.xml"/><Relationship Id="Ra07f23a927fb46cc" Type="http://schemas.openxmlformats.org/officeDocument/2006/relationships/slide" Target="slides/slide2.xml"/><Relationship Id="Ra7576c7f5afc4442" Type="http://schemas.openxmlformats.org/officeDocument/2006/relationships/slide" Target="slides/slide8.xml"/><Relationship Id="Rca7fb8b63bcb47ce" Type="http://schemas.openxmlformats.org/officeDocument/2006/relationships/slide" Target="slides/slide10.xml"/><Relationship Id="Rcbf3699b2e8c41be" Type="http://schemas.openxmlformats.org/officeDocument/2006/relationships/slide" Target="slides/slide9.xml"/><Relationship Id="Rd5b8c8b44d8f4003" Type="http://schemas.openxmlformats.org/officeDocument/2006/relationships/slideMaster" Target="slideMasters/slideMaster1.xml"/><Relationship Id="Reebebe7861a04164" Type="http://schemas.openxmlformats.org/officeDocument/2006/relationships/theme" Target="theme/theme1.xml"/><Relationship Id="Rfa41db66c451443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2dbc4db5a8a444a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ae258c4954e4419" Type="http://schemas.openxmlformats.org/officeDocument/2006/relationships/notesMaster" Target="../notesMasters/notesMaster1.xml"/><Relationship Id="Rd4b02427a8614bb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5a4e7197d954242" Type="http://schemas.openxmlformats.org/officeDocument/2006/relationships/slide" Target="../slides/slide2.xml"/><Relationship Id="Rfb08e03487e94c9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97d360eab5646d6" Type="http://schemas.openxmlformats.org/officeDocument/2006/relationships/slide" Target="../slides/slide3.xml"/><Relationship Id="Re50d75d952f345b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2be61918dd445b5" Type="http://schemas.openxmlformats.org/officeDocument/2006/relationships/slide" Target="../slides/slide4.xml"/><Relationship Id="R51f479d8defe49f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215967327e94542" Type="http://schemas.openxmlformats.org/officeDocument/2006/relationships/slide" Target="../slides/slide5.xml"/><Relationship Id="Rfbe801d3eb01495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d237a227c04c4447" Type="http://schemas.openxmlformats.org/officeDocument/2006/relationships/notesMaster" Target="../notesMasters/notesMaster1.xml"/><Relationship Id="Rfe3944cbf337406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4391fcc118f49db" Type="http://schemas.openxmlformats.org/officeDocument/2006/relationships/notesMaster" Target="../notesMasters/notesMaster1.xml"/><Relationship Id="R4a867bf92d52479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28a1eaa285c4e6c" Type="http://schemas.openxmlformats.org/officeDocument/2006/relationships/slide" Target="../slides/slide8.xml"/><Relationship Id="Rb3b6b1a7923f480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658599973a0448a" Type="http://schemas.openxmlformats.org/officeDocument/2006/relationships/slide" Target="../slides/slide9.xml"/><Relationship Id="R83bb8e11b6c149f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7cb5c1e258e4e0a" Type="http://schemas.openxmlformats.org/officeDocument/2006/relationships/notesMaster" Target="../notesMasters/notesMaster1.xml"/><Relationship Id="R777b472ed6cc40f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74f16d6ada7495f" Type="http://schemas.openxmlformats.org/officeDocument/2006/relationships/slide" Target="../slides/slide11.xml"/><Relationship Id="R79520d872acb49d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표지의 지역·전략·기간은 검증된 보고서 JSON에서 읽음.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목차는 승인된 11장 기획서 구조를 고정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관측값은 보고서 observed_findings, 전략 문장은 승인된 전략 JSON을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저장 ML의 자연추세만 사용하며 정책효과를 예측하지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지역 비교·공식 사례는 인과효과가 아닌 적용성 판단 근거로만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implementation_steps의 일정·행동·산출물을 4단계와 최종 산출물로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수치 목표는 사용자 검토값이며 실제 운영 결과로 별도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예산은 수량×단가 또는 비교견적으로 확정하며 근거 없는 총액을 만들지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기대효과는 시범 운영 후 기록으로 확대·보완·중단을 판단하는 제안임.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MySQL 관측값·저장 ML 자연추세·운영 결과의 역할을 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월별 운영기록을 기준으로 다음 예산과 범위를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ef161b2cff4dc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e1677387c9144c6" Type="http://schemas.openxmlformats.org/officeDocument/2006/relationships/theme" Target="theme/theme2.xml"/><Relationship Id="Ra0ab52a433a94f8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b52a433a9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1b7e33425c44543" Type="http://schemas.openxmlformats.org/officeDocument/2006/relationships/slideLayout" Target="../slideLayouts/slideLayout1.xml"/><Relationship Id="Raacbc0a4d4834fc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af609f97aa440ae" Type="http://schemas.openxmlformats.org/officeDocument/2006/relationships/notesSlide" Target="../notesSlides/notesSlide2.xml"/><Relationship Id="Rbda1fa9e933f4c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f55a14ed6b34f17" Type="http://schemas.openxmlformats.org/officeDocument/2006/relationships/image" Target="../media/image.png"/><Relationship Id="R4aa11fcc90dc4276" Type="http://schemas.openxmlformats.org/officeDocument/2006/relationships/slideLayout" Target="../slideLayouts/slideLayout1.xml"/><Relationship Id="R615f4d9d8cf74e4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2099782a1074eb3" Type="http://schemas.openxmlformats.org/officeDocument/2006/relationships/chart" Target="charts/chart2.xml"/><Relationship Id="R1c845476be854d29" Type="http://schemas.openxmlformats.org/officeDocument/2006/relationships/chart" Target="charts/chart1.xml"/><Relationship Id="R781f9058dfe94d6b" Type="http://schemas.openxmlformats.org/officeDocument/2006/relationships/slideLayout" Target="../slideLayouts/slideLayout1.xml"/><Relationship Id="Raf9e40f9a445408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5743d6538cd4a5e" Type="http://schemas.openxmlformats.org/officeDocument/2006/relationships/slideLayout" Target="../slideLayouts/slideLayout1.xml"/><Relationship Id="Rc3f1d825c9c44a4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169dae2cd604053" Type="http://schemas.openxmlformats.org/officeDocument/2006/relationships/notesSlide" Target="../notesSlides/notesSlide6.xml"/><Relationship Id="Rd6533d1d1e1c489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a756219bf14416b" Type="http://schemas.openxmlformats.org/officeDocument/2006/relationships/notesSlide" Target="../notesSlides/notesSlide7.xml"/><Relationship Id="R790dad5a4a2b4ca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a694ace5abbf47df" Type="http://schemas.openxmlformats.org/officeDocument/2006/relationships/slideLayout" Target="../slideLayouts/slideLayout1.xml"/><Relationship Id="Rbc2248e8cf514eb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12ff6d214c4488b" Type="http://schemas.openxmlformats.org/officeDocument/2006/relationships/slideLayout" Target="../slideLayouts/slideLayout1.xml"/><Relationship Id="R30f83c3b8873452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c6aa578900546b5" Type="http://schemas.openxmlformats.org/officeDocument/2006/relationships/notesSlide" Target="../notesSlides/notesSlide10.xml"/><Relationship Id="R8eee3b00b9cc49a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ba01bff79044ef5" Type="http://schemas.openxmlformats.org/officeDocument/2006/relationships/slideLayout" Target="../slideLayouts/slideLayout1.xml"/><Relationship Id="R46e3f559de9148de" Type="http://schemas.openxmlformats.org/officeDocument/2006/relationships/notesSlide" Target="../notesSlides/notesSlide11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solidFill xmlns:a="http://schemas.openxmlformats.org/drawingml/2006/main">
              <a:srgbClr val="004EA2"/>
            </a:solidFill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</c:v>
                </c:pt>
                <c:pt idx="1">
                  <c:v>1815.0</c:v>
                </c:pt>
                <c:pt idx="2">
                  <c:v>1848.0</c:v>
                </c:pt>
                <c:pt idx="3">
                  <c:v>1873.0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4760.0</c:v>
                </c:pt>
                <c:pt idx="1">
                  <c:v>4910.0</c:v>
                </c:pt>
                <c:pt idx="2">
                  <c:v>5060.0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1F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 / API 미호출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개요·기획 배경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예산·성과 측정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기대 효과·확대 판단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 해석 기준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월별 성과관리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a14ed6b34f17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전환 프로젝트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962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템플릿 시각화 · 지역별 공식 사진 미연결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432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 지역 맞춤형 관광코스를 시범 운영합니다.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955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전년동월 외지인 방문자 증감률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-8.3%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외지인 관광소비 총액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24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방문 규모만으로는 지역 안에서 충분한 소비와 체류가 이어졌다고 보기 어렵습니다. 숙박 방문 비율은 3.1%, 평균 숙박일수는 2.91일입니다. 같은 기간·같은 기준으로 비교할 지역 원본이 충분하지 않아 선택 지역의 월별 변화만 사용했습니다. 관측값은 원자료, 향후 수치는…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DEMO VALUES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보고서는 과거 월별 원자료를 시간순으로 학습한 저장 ML 자연추세만 표시하며, 정책 효과나 성과를 보장하지 않습니다.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1,815만 명 →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 시나리오입니다.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단위: 만 명 · 더미 예시 · 실제 ML 아님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샘플 해석 · 더미 시나리오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레이아웃 검토용 예시값이며 실제 생성 때 저장 ML로 대체됩니다.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590550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845476be854d29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 관광소비액: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99782a1074eb3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4674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더미 예시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생성 시 저장 ML 전망으로 대체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성과는 별도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지역·사례로 검토한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현재 신호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17,963,441명 규모의 월 순방문자를 관측합니다.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공식 원자료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비교 지역이 주는 힌트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 지역 원자료를 등록한 뒤 같은 기준으로 변화와 실행 여건을 검토합니다.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동일 기준 비교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사례의 운영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사례의 운영 요소를 확인하고 지역 여건에 맞는 범위만 시범 적용합니다.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실제 운영 방식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실행 원칙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시범에서 이용·결제·민원을 기록한 뒤 확대 여부를 판단합니다.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3~6개월 시범 운영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29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순방문자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관측값</a:t>
            </a:r>
          </a:p>
        </p:txBody>
      </p:sp>
      <p:sp>
        <p:nvSpPr>
          <p:cNvPr id="31" name="peer-visit-base">
            <a:extLst xmlns:a="http://schemas.openxmlformats.org/drawingml/2006/main">
              <a:ext uri="{FF2B5EF4-FFF2-40B4-BE49-F238E27FC236}">
                <a16:creationId xmlns:a16="http://schemas.microsoft.com/office/drawing/2014/main" id="{95A55094-375F-4CBC-87E9-0162345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peer-visit-current">
            <a:extLst xmlns:a="http://schemas.openxmlformats.org/drawingml/2006/main">
              <a:ext uri="{FF2B5EF4-FFF2-40B4-BE49-F238E27FC236}">
                <a16:creationId xmlns:a16="http://schemas.microsoft.com/office/drawing/2014/main" id="{B1E1B29C-26C7-4182-98DE-E40E688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6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peer-visit-base-label">
            <a:extLst xmlns:a="http://schemas.openxmlformats.org/drawingml/2006/main">
              <a:ext uri="{FF2B5EF4-FFF2-40B4-BE49-F238E27FC236}">
                <a16:creationId xmlns:a16="http://schemas.microsoft.com/office/drawing/2014/main" id="{F98C0165-64EF-4D59-86EA-2F46D36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4" name="peer-visit-current-label">
            <a:extLst xmlns:a="http://schemas.openxmlformats.org/drawingml/2006/main">
              <a:ext uri="{FF2B5EF4-FFF2-40B4-BE49-F238E27FC236}">
                <a16:creationId xmlns:a16="http://schemas.microsoft.com/office/drawing/2014/main" id="{6FC1FAF2-A607-4351-A428-125F0A3C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같은 기준으로 확인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4290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관광소비</a:t>
            </a:r>
          </a:p>
        </p:txBody>
      </p:sp>
      <p:sp>
        <p:nvSpPr>
          <p:cNvPr id="37" name="peer-stay-gangnam">
            <a:extLst xmlns:a="http://schemas.openxmlformats.org/drawingml/2006/main">
              <a:ext uri="{FF2B5EF4-FFF2-40B4-BE49-F238E27FC236}">
                <a16:creationId xmlns:a16="http://schemas.microsoft.com/office/drawing/2014/main" id="{EA35701A-E4F5-45D3-894C-C781DED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147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peer-stay-seocho">
            <a:extLst xmlns:a="http://schemas.openxmlformats.org/drawingml/2006/main">
              <a:ext uri="{FF2B5EF4-FFF2-40B4-BE49-F238E27FC236}">
                <a16:creationId xmlns:a16="http://schemas.microsoft.com/office/drawing/2014/main" id="{0263F32C-C4C3-4679-A155-D99009F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800475"/>
            <a:ext cx="342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00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40" name="peer-stay-seocho-value">
            <a:extLst xmlns:a="http://schemas.openxmlformats.org/drawingml/2006/main">
              <a:ext uri="{FF2B5EF4-FFF2-40B4-BE49-F238E27FC236}">
                <a16:creationId xmlns:a16="http://schemas.microsoft.com/office/drawing/2014/main" id="{8BD2FFD0-A90A-4EEC-B06C-7457FB3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86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—</a:t>
            </a:r>
          </a:p>
        </p:txBody>
      </p:sp>
      <p:sp>
        <p:nvSpPr>
          <p:cNvPr id="41" name="peer-stay-gangnam-label">
            <a:extLst xmlns:a="http://schemas.openxmlformats.org/drawingml/2006/main">
              <a:ext uri="{FF2B5EF4-FFF2-40B4-BE49-F238E27FC236}">
                <a16:creationId xmlns:a16="http://schemas.microsoft.com/office/drawing/2014/main" id="{7D481E49-FABE-41D3-B648-514B594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선택 지역</a:t>
            </a:r>
          </a:p>
        </p:txBody>
      </p:sp>
      <p:sp>
        <p:nvSpPr>
          <p:cNvPr id="42" name="peer-stay-seocho-label">
            <a:extLst xmlns:a="http://schemas.openxmlformats.org/drawingml/2006/main">
              <a:ext uri="{FF2B5EF4-FFF2-40B4-BE49-F238E27FC236}">
                <a16:creationId xmlns:a16="http://schemas.microsoft.com/office/drawing/2014/main" id="{1B6892B0-EDD1-4295-BFF7-DA5A61C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자료 적재 후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52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기간·정의 일치 후 해석</a:t>
            </a:r>
          </a:p>
        </p:txBody>
      </p:sp>
      <p:sp>
        <p:nvSpPr>
          <p:cNvPr id="44" name="peer-case-label">
            <a:extLst xmlns:a="http://schemas.openxmlformats.org/drawingml/2006/main">
              <a:ext uri="{FF2B5EF4-FFF2-40B4-BE49-F238E27FC236}">
                <a16:creationId xmlns:a16="http://schemas.microsoft.com/office/drawing/2014/main" id="{E6B215A7-B775-4FBD-9EA3-8ED9D91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686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사례에서 확인할 운영 구조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문화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프로그램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도보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3" name="peer-pilot-label">
            <a:extLst xmlns:a="http://schemas.openxmlformats.org/drawingml/2006/main">
              <a:ext uri="{FF2B5EF4-FFF2-40B4-BE49-F238E27FC236}">
                <a16:creationId xmlns:a16="http://schemas.microsoft.com/office/drawing/2014/main" id="{2AB5BD55-C55F-458A-BD66-0C3F8D61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6865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운영에서 확인할 전환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예약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가이드: 4단계 운영·평가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참여 업소·동선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 반응 기록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</a:rPr>
              <a:t>산출물: 성과 비교표와 다음 운영안. 비용·이탈·민원·현장 운영 가능성을 함께 확인해 확대·보완·중단을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샘플 KPI: 더미 ML 예시와 운영 목표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더미값이며, 실제 보고서는 저장 ML과 운영 기록으로 대체합니다.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예시 목표 +2.00%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자연추세와 운영 목표의 배치 예시입니다.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예시 목표 +2.50%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관광소비 추세와 운영 목표의 배치 예시입니다.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4,879억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&amp; KPI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예산과 성과 측정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산정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성과·집행 동시 관리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이용 건수, 참여 업소 결제 건수, 외지인 관광소비액, 숙박 방문 비율을 운영 전후 같은 기준으로 확인합니다.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전 원칙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3개 이상 비교견적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재확인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계약 전 단가 검증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운영 중 원칙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집행·KPI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비교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성과에 따라 조정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견적 · 총 2.40억 원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763125" y="1695450"/>
          <a:ext xmlns:a="http://schemas.openxmlformats.org/drawingml/2006/main" cx="4810125" cy="4905375"/>
        </p:xfrm>
        <a:graphic xmlns:a="http://schemas.openxmlformats.org/drawingml/2006/main">
          <a:graphicData uri="http://schemas.openxmlformats.org/drawingml/2006/table">
            <a:tbl>
              <a:tblPr firstRow="1" firstCol="1" lastRow="1" bandRow="1"/>
              <a:tblGrid>
                <a:gridCol w="2257425"/>
                <a:gridCol w="1143000"/>
                <a:gridCol w="14097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예산 비중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프로그램 운영·안전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45.00%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1.08억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참여 혜택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25.00%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0.60억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예약·결제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11.67%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홍보·다국어 콘텐츠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9.17%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0.22억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성과 측정·검토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5.83%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0.14억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3.33%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0.08억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2.40억 원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58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실제 집행 전 비교견적·부가세·계약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근거가 쌓이면 확대합니다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시범에서 확인할 변화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기록할 핵심 항목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월별 확대 판단 게이트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기록을 기준선·운영일·비운영일로 나눠 보고, 사전 상한을 충족하는지 판단합니다.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72150"/>
            <a:ext cx="364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목표치와 자연추세를 구분하고, 비교 설계가 약하면 효과를 단정하지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월별 근거 공개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데이터 협약 후 단계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숙박·외국인·민간결제 데이터는 제휴 범위와 개인정보 검토가 끝난 항목부터 연결합니다.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확인된 근거에서만 예산 확대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원칙: 효과를 단정하지 않음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 · 결제 · 원가 · 민원 · 비교 · 협약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14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동일 기준 · 다음 달 운영 범위 조정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1150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협약  →  소규모 확대  →  월별 재판단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사실·전망·검증을 구분합니다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공식 관측값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수·전년동월 외지인 방문자 증감률·월간 외지인 관광소비 총액은 원자료에서 확인한 관측값입니다.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표기: 관측 사실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숙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처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ML 자연추세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202401~202607를 시간순으로 검증해 향후 자연추세를 제시합니다.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81675"/>
            <a:ext cx="3648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자연추세는 시범사업 효과가 아니라 운영 시기 참고를 위한 모델 전망입니다.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해석: 성과 보장 아님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시범 운영 결과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운영일·비운영일의 실제 기록이 쌓인 뒤에만 확대·보완·중단을 판단합니다.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기록된 효과만 다음 판단에 사용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판정: 확대 · 보완 · 중단</a:t>
            </a:r>
          </a:p>
        </p:txBody>
      </p:sp>
      <p:sp>
        <p:nvSpPr>
          <p:cNvPr id="31" name="evidence-legend">
            <a:extLst xmlns:a="http://schemas.openxmlformats.org/drawingml/2006/main">
              <a:ext uri="{FF2B5EF4-FFF2-40B4-BE49-F238E27FC236}">
                <a16:creationId xmlns:a16="http://schemas.microsoft.com/office/drawing/2014/main" id="{12639D96-A67A-4BFA-8CFA-2D4B033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· 소비 · 숙박 · 기준월 · 출처 · 확인</a:t>
            </a:r>
          </a:p>
        </p:txBody>
      </p:sp>
      <p:sp>
        <p:nvSpPr>
          <p:cNvPr id="32" name="evidence-input-box">
            <a:extLst xmlns:a="http://schemas.openxmlformats.org/drawingml/2006/main">
              <a:ext uri="{FF2B5EF4-FFF2-40B4-BE49-F238E27FC236}">
                <a16:creationId xmlns:a16="http://schemas.microsoft.com/office/drawing/2014/main" id="{B2CFD366-26B8-4D6D-BB6D-D38E595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evidence-input-label">
            <a:extLst xmlns:a="http://schemas.openxmlformats.org/drawingml/2006/main">
              <a:ext uri="{FF2B5EF4-FFF2-40B4-BE49-F238E27FC236}">
                <a16:creationId xmlns:a16="http://schemas.microsoft.com/office/drawing/2014/main" id="{FDB304C7-734E-475C-B21A-042B8AF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원자료</a:t>
            </a:r>
          </a:p>
        </p:txBody>
      </p:sp>
      <p:sp>
        <p:nvSpPr>
          <p:cNvPr id="34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58F1A183-EB63-4513-88B5-3496303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evidence-validate-box">
            <a:extLst xmlns:a="http://schemas.openxmlformats.org/drawingml/2006/main">
              <a:ext uri="{FF2B5EF4-FFF2-40B4-BE49-F238E27FC236}">
                <a16:creationId xmlns:a16="http://schemas.microsoft.com/office/drawing/2014/main" id="{8D95D6B2-E6E4-44C3-A674-3B88F34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evidence-validate-label">
            <a:extLst xmlns:a="http://schemas.openxmlformats.org/drawingml/2006/main">
              <a:ext uri="{FF2B5EF4-FFF2-40B4-BE49-F238E27FC236}">
                <a16:creationId xmlns:a16="http://schemas.microsoft.com/office/drawing/2014/main" id="{E3C30E98-238B-431D-9EC8-1FD6B8EE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시간순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37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582F6E78-63A4-4120-B60D-E86E2D4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evidence-forecast-box">
            <a:extLst xmlns:a="http://schemas.openxmlformats.org/drawingml/2006/main">
              <a:ext uri="{FF2B5EF4-FFF2-40B4-BE49-F238E27FC236}">
                <a16:creationId xmlns:a16="http://schemas.microsoft.com/office/drawing/2014/main" id="{7B9C5A78-D9EA-43D6-A6A3-0524FC1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evidence-forecast-label">
            <a:extLst xmlns:a="http://schemas.openxmlformats.org/drawingml/2006/main">
              <a:ext uri="{FF2B5EF4-FFF2-40B4-BE49-F238E27FC236}">
                <a16:creationId xmlns:a16="http://schemas.microsoft.com/office/drawing/2014/main" id="{B1B9F64A-36B5-4EA5-AC4F-26008C6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추세</a:t>
            </a:r>
          </a:p>
        </p:txBody>
      </p:sp>
      <p:sp>
        <p:nvSpPr>
          <p:cNvPr id="40" name="evidence-flow-caption">
            <a:extLst xmlns:a="http://schemas.openxmlformats.org/drawingml/2006/main">
              <a:ext uri="{FF2B5EF4-FFF2-40B4-BE49-F238E27FC236}">
                <a16:creationId xmlns:a16="http://schemas.microsoft.com/office/drawing/2014/main" id="{22CAF890-50C2-47C5-B0EF-48B568B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학습값과 운영성과를 같은 뜻으로 해석하지 않습니다</a:t>
            </a:r>
          </a:p>
        </p:txBody>
      </p:sp>
      <p:sp>
        <p:nvSpPr>
          <p:cNvPr id="41" name="evidence-result-flow">
            <a:extLst xmlns:a="http://schemas.openxmlformats.org/drawingml/2006/main">
              <a:ext uri="{FF2B5EF4-FFF2-40B4-BE49-F238E27FC236}">
                <a16:creationId xmlns:a16="http://schemas.microsoft.com/office/drawing/2014/main" id="{62F47E62-73AB-4A0E-B70F-1EF10C2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115050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운영기록  →  비교분석  →  다음 달 조정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 성과관리: 기록이 다음 예산을 결정합니다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기간에는 예측값보다 운영일·비운영일의 실제 기록을 먼저 확인합니다.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1~2주 · 기준선·협약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3~4주 · 주간 기록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5~6개월차 · 확대·보완·중단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성과 비교표와 다음 운영안</a:t>
            </a:r>
          </a:p>
        </p:txBody>
      </p:sp>
      <p:sp>
        <p:nvSpPr>
          <p:cNvPr id="46" name="score-base-visit-box">
            <a:extLst xmlns:a="http://schemas.openxmlformats.org/drawingml/2006/main">
              <a:ext uri="{FF2B5EF4-FFF2-40B4-BE49-F238E27FC236}">
                <a16:creationId xmlns:a16="http://schemas.microsoft.com/office/drawing/2014/main" id="{DB3BE161-CC53-4F73-9010-521C47D0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score-base-visit-label">
            <a:extLst xmlns:a="http://schemas.openxmlformats.org/drawingml/2006/main">
              <a:ext uri="{FF2B5EF4-FFF2-40B4-BE49-F238E27FC236}">
                <a16:creationId xmlns:a16="http://schemas.microsoft.com/office/drawing/2014/main" id="{2318F0C2-E8A7-4D91-BA2C-0700C1A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</p:txBody>
      </p:sp>
      <p:sp>
        <p:nvSpPr>
          <p:cNvPr id="48" name="score-base-arrow-1">
            <a:extLst xmlns:a="http://schemas.openxmlformats.org/drawingml/2006/main">
              <a:ext uri="{FF2B5EF4-FFF2-40B4-BE49-F238E27FC236}">
                <a16:creationId xmlns:a16="http://schemas.microsoft.com/office/drawing/2014/main" id="{78DCD6EA-AEF7-412F-9DFB-0959E7A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9" name="score-base-spend-box">
            <a:extLst xmlns:a="http://schemas.openxmlformats.org/drawingml/2006/main">
              <a:ext uri="{FF2B5EF4-FFF2-40B4-BE49-F238E27FC236}">
                <a16:creationId xmlns:a16="http://schemas.microsoft.com/office/drawing/2014/main" id="{0D090E8D-52FF-4AE0-B555-67F73BF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score-base-spend-label">
            <a:extLst xmlns:a="http://schemas.openxmlformats.org/drawingml/2006/main">
              <a:ext uri="{FF2B5EF4-FFF2-40B4-BE49-F238E27FC236}">
                <a16:creationId xmlns:a16="http://schemas.microsoft.com/office/drawing/2014/main" id="{0107FBB0-B18E-4E62-8147-11E9B63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소비</a:t>
            </a:r>
          </a:p>
        </p:txBody>
      </p:sp>
      <p:sp>
        <p:nvSpPr>
          <p:cNvPr id="51" name="score-base-arrow-2">
            <a:extLst xmlns:a="http://schemas.openxmlformats.org/drawingml/2006/main">
              <a:ext uri="{FF2B5EF4-FFF2-40B4-BE49-F238E27FC236}">
                <a16:creationId xmlns:a16="http://schemas.microsoft.com/office/drawing/2014/main" id="{74E8EDCA-8B96-459E-BC70-77CDD221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2" name="score-base-rule-box">
            <a:extLst xmlns:a="http://schemas.openxmlformats.org/drawingml/2006/main">
              <a:ext uri="{FF2B5EF4-FFF2-40B4-BE49-F238E27FC236}">
                <a16:creationId xmlns:a16="http://schemas.microsoft.com/office/drawing/2014/main" id="{2000A70A-16D1-4528-8E0B-D111FFF7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score-base-rule-label">
            <a:extLst xmlns:a="http://schemas.openxmlformats.org/drawingml/2006/main">
              <a:ext uri="{FF2B5EF4-FFF2-40B4-BE49-F238E27FC236}">
                <a16:creationId xmlns:a16="http://schemas.microsoft.com/office/drawing/2014/main" id="{4B0832CC-4ED6-4839-AC50-EA77A1DB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54" name="score-base-caption">
            <a:extLst xmlns:a="http://schemas.openxmlformats.org/drawingml/2006/main">
              <a:ext uri="{FF2B5EF4-FFF2-40B4-BE49-F238E27FC236}">
                <a16:creationId xmlns:a16="http://schemas.microsoft.com/office/drawing/2014/main" id="{3D9D445A-6130-40ED-AC32-3F85557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530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 기준을 먼저 합의</a:t>
            </a:r>
          </a:p>
        </p:txBody>
      </p:sp>
      <p:sp>
        <p:nvSpPr>
          <p:cNvPr id="55" name="score-week-완료">
            <a:extLst xmlns:a="http://schemas.openxmlformats.org/drawingml/2006/main">
              <a:ext uri="{FF2B5EF4-FFF2-40B4-BE49-F238E27FC236}">
                <a16:creationId xmlns:a16="http://schemas.microsoft.com/office/drawing/2014/main" id="{F295D678-A1F4-482E-A251-F1278A8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score-week-완료-label">
            <a:extLst xmlns:a="http://schemas.openxmlformats.org/drawingml/2006/main">
              <a:ext uri="{FF2B5EF4-FFF2-40B4-BE49-F238E27FC236}">
                <a16:creationId xmlns:a16="http://schemas.microsoft.com/office/drawing/2014/main" id="{361F169E-6A98-4A25-BD32-F844ED1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57" name="score-week-결제">
            <a:extLst xmlns:a="http://schemas.openxmlformats.org/drawingml/2006/main">
              <a:ext uri="{FF2B5EF4-FFF2-40B4-BE49-F238E27FC236}">
                <a16:creationId xmlns:a16="http://schemas.microsoft.com/office/drawing/2014/main" id="{FA8DCA8C-5BE9-4DAC-8441-80BE159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score-week-결제-label">
            <a:extLst xmlns:a="http://schemas.openxmlformats.org/drawingml/2006/main">
              <a:ext uri="{FF2B5EF4-FFF2-40B4-BE49-F238E27FC236}">
                <a16:creationId xmlns:a16="http://schemas.microsoft.com/office/drawing/2014/main" id="{BCD123C9-E871-4489-9BB2-1F06EB0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59" name="score-week-원가">
            <a:extLst xmlns:a="http://schemas.openxmlformats.org/drawingml/2006/main">
              <a:ext uri="{FF2B5EF4-FFF2-40B4-BE49-F238E27FC236}">
                <a16:creationId xmlns:a16="http://schemas.microsoft.com/office/drawing/2014/main" id="{51620C7F-5EEB-4E9D-AFA5-3BC64CF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score-week-원가-label">
            <a:extLst xmlns:a="http://schemas.openxmlformats.org/drawingml/2006/main">
              <a:ext uri="{FF2B5EF4-FFF2-40B4-BE49-F238E27FC236}">
                <a16:creationId xmlns:a16="http://schemas.microsoft.com/office/drawing/2014/main" id="{9F1FDC0D-AAD3-4195-A648-6D7E062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원가</a:t>
            </a:r>
          </a:p>
        </p:txBody>
      </p:sp>
      <p:sp>
        <p:nvSpPr>
          <p:cNvPr id="61" name="score-week-민원">
            <a:extLst xmlns:a="http://schemas.openxmlformats.org/drawingml/2006/main">
              <a:ext uri="{FF2B5EF4-FFF2-40B4-BE49-F238E27FC236}">
                <a16:creationId xmlns:a16="http://schemas.microsoft.com/office/drawing/2014/main" id="{77088DF9-880D-4E95-82CE-72E0D14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score-week-민원-label">
            <a:extLst xmlns:a="http://schemas.openxmlformats.org/drawingml/2006/main">
              <a:ext uri="{FF2B5EF4-FFF2-40B4-BE49-F238E27FC236}">
                <a16:creationId xmlns:a16="http://schemas.microsoft.com/office/drawing/2014/main" id="{EF057D3D-ED56-4BCD-8C0C-2F04DE42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63" name="score-week-rule">
            <a:extLst xmlns:a="http://schemas.openxmlformats.org/drawingml/2006/main">
              <a:ext uri="{FF2B5EF4-FFF2-40B4-BE49-F238E27FC236}">
                <a16:creationId xmlns:a16="http://schemas.microsoft.com/office/drawing/2014/main" id="{9FA1E043-77F8-4F0B-AB2B-773AA275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00625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score-week-caption">
            <a:extLst xmlns:a="http://schemas.openxmlformats.org/drawingml/2006/main">
              <a:ext uri="{FF2B5EF4-FFF2-40B4-BE49-F238E27FC236}">
                <a16:creationId xmlns:a16="http://schemas.microsoft.com/office/drawing/2014/main" id="{BA14F833-D28C-4B87-B970-7771BA0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매주 동일 기준으로 업데이트</a:t>
            </a:r>
          </a:p>
        </p:txBody>
      </p:sp>
      <p:sp>
        <p:nvSpPr>
          <p:cNvPr id="65" name="score-decision-expand-box">
            <a:extLst xmlns:a="http://schemas.openxmlformats.org/drawingml/2006/main">
              <a:ext uri="{FF2B5EF4-FFF2-40B4-BE49-F238E27FC236}">
                <a16:creationId xmlns:a16="http://schemas.microsoft.com/office/drawing/2014/main" id="{7068FD8F-B4F8-4794-AEB9-C8AB72F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score-decision-expand-label">
            <a:extLst xmlns:a="http://schemas.openxmlformats.org/drawingml/2006/main">
              <a:ext uri="{FF2B5EF4-FFF2-40B4-BE49-F238E27FC236}">
                <a16:creationId xmlns:a16="http://schemas.microsoft.com/office/drawing/2014/main" id="{8A09EC0C-CBF7-4036-9224-4DFCA83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확대</a:t>
            </a:r>
          </a:p>
        </p:txBody>
      </p:sp>
      <p:sp>
        <p:nvSpPr>
          <p:cNvPr id="67" name="score-decision-adjust-box">
            <a:extLst xmlns:a="http://schemas.openxmlformats.org/drawingml/2006/main">
              <a:ext uri="{FF2B5EF4-FFF2-40B4-BE49-F238E27FC236}">
                <a16:creationId xmlns:a16="http://schemas.microsoft.com/office/drawing/2014/main" id="{DF2304B2-36B1-4F10-92A7-D1EAF40B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score-decision-adjust-label">
            <a:extLst xmlns:a="http://schemas.openxmlformats.org/drawingml/2006/main">
              <a:ext uri="{FF2B5EF4-FFF2-40B4-BE49-F238E27FC236}">
                <a16:creationId xmlns:a16="http://schemas.microsoft.com/office/drawing/2014/main" id="{A7065591-8370-4FD3-9CF3-3E9E544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보완</a:t>
            </a:r>
          </a:p>
        </p:txBody>
      </p:sp>
      <p:sp>
        <p:nvSpPr>
          <p:cNvPr id="69" name="score-decision-stop-box">
            <a:extLst xmlns:a="http://schemas.openxmlformats.org/drawingml/2006/main">
              <a:ext uri="{FF2B5EF4-FFF2-40B4-BE49-F238E27FC236}">
                <a16:creationId xmlns:a16="http://schemas.microsoft.com/office/drawing/2014/main" id="{7493B4F4-6828-4166-8C6C-2829BB6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0" name="score-decision-stop-label">
            <a:extLst xmlns:a="http://schemas.openxmlformats.org/drawingml/2006/main">
              <a:ext uri="{FF2B5EF4-FFF2-40B4-BE49-F238E27FC236}">
                <a16:creationId xmlns:a16="http://schemas.microsoft.com/office/drawing/2014/main" id="{0EC6DB21-4D0F-4F6F-84CD-2D0888E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축소</a:t>
            </a:r>
          </a:p>
        </p:txBody>
      </p:sp>
      <p:sp>
        <p:nvSpPr>
          <p:cNvPr id="71" name="score-decision-caption">
            <a:extLst xmlns:a="http://schemas.openxmlformats.org/drawingml/2006/main">
              <a:ext uri="{FF2B5EF4-FFF2-40B4-BE49-F238E27FC236}">
                <a16:creationId xmlns:a16="http://schemas.microsoft.com/office/drawing/2014/main" id="{EE3C14EC-34EB-4E35-8FF5-B0E819F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00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다음 예산은 확인된 근거에서만 조정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2026-09-03T11:43:35.4550000Z</dcterms:created>
  <dcterms:modified xsi:type="dcterms:W3CDTF">2026-09-03T11:43:35.4550000Z</dcterms:modified>
</coreProperties>
</file>