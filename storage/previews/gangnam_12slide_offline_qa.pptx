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b3cf418108c4895" Type="http://schemas.openxmlformats.org/officeDocument/2006/relationships/extended-properties" Target="docProps/app.xml"/><Relationship Id="R6fbb8c8e1c6a4484" Type="http://schemas.openxmlformats.org/package/2006/relationships/metadata/core-properties" Target="docProps/core.xml"/><Relationship Id="Rea70f7e559e5450e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6a40df9e064ae8"/>
  </p:sldMasterIdLst>
  <p:notesMasterIdLst>
    <p:notesMasterId xmlns:r="http://schemas.openxmlformats.org/officeDocument/2006/relationships" r:id="Rf535503e70614e2f"/>
  </p:notesMasterIdLst>
  <p:sldIdLst>
    <p:sldId xmlns:r="http://schemas.openxmlformats.org/officeDocument/2006/relationships" id="256" r:id="Rb13760c0aa09440c"/>
    <p:sldId xmlns:r="http://schemas.openxmlformats.org/officeDocument/2006/relationships" id="257" r:id="Rd6092277fac942d0"/>
    <p:sldId xmlns:r="http://schemas.openxmlformats.org/officeDocument/2006/relationships" id="258" r:id="R9e1309a6e2694e97"/>
    <p:sldId xmlns:r="http://schemas.openxmlformats.org/officeDocument/2006/relationships" id="259" r:id="R40079ce2024747b9"/>
    <p:sldId xmlns:r="http://schemas.openxmlformats.org/officeDocument/2006/relationships" id="260" r:id="R1a8023f3d1604080"/>
    <p:sldId xmlns:r="http://schemas.openxmlformats.org/officeDocument/2006/relationships" id="261" r:id="R9bee775cc3cb46f1"/>
    <p:sldId xmlns:r="http://schemas.openxmlformats.org/officeDocument/2006/relationships" id="262" r:id="Rf6b6d725657e44b7"/>
    <p:sldId xmlns:r="http://schemas.openxmlformats.org/officeDocument/2006/relationships" id="263" r:id="R99304049dac44c51"/>
    <p:sldId xmlns:r="http://schemas.openxmlformats.org/officeDocument/2006/relationships" id="264" r:id="Re16cbc622c7b44c4"/>
    <p:sldId xmlns:r="http://schemas.openxmlformats.org/officeDocument/2006/relationships" id="265" r:id="Rc6516174f98344a0"/>
    <p:sldId xmlns:r="http://schemas.openxmlformats.org/officeDocument/2006/relationships" id="266" r:id="R9511375b38674318"/>
    <p:sldId xmlns:r="http://schemas.openxmlformats.org/officeDocument/2006/relationships" id="267" r:id="Rabfc9307ccce4716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a8023f3d1604080" Type="http://schemas.openxmlformats.org/officeDocument/2006/relationships/slide" Target="slides/slide5.xml"/><Relationship Id="R2f49f2ebebfe4ca0" Type="http://schemas.openxmlformats.org/officeDocument/2006/relationships/theme" Target="theme/theme1.xml"/><Relationship Id="R40079ce2024747b9" Type="http://schemas.openxmlformats.org/officeDocument/2006/relationships/slide" Target="slides/slide4.xml"/><Relationship Id="R580552f7e2444114" Type="http://schemas.openxmlformats.org/officeDocument/2006/relationships/presProps" Target="presProps.xml"/><Relationship Id="R9511375b38674318" Type="http://schemas.openxmlformats.org/officeDocument/2006/relationships/slide" Target="slides/slide11.xml"/><Relationship Id="R99304049dac44c51" Type="http://schemas.openxmlformats.org/officeDocument/2006/relationships/slide" Target="slides/slide8.xml"/><Relationship Id="R9bee775cc3cb46f1" Type="http://schemas.openxmlformats.org/officeDocument/2006/relationships/slide" Target="slides/slide6.xml"/><Relationship Id="R9e1309a6e2694e97" Type="http://schemas.openxmlformats.org/officeDocument/2006/relationships/slide" Target="slides/slide3.xml"/><Relationship Id="Rabfc9307ccce4716" Type="http://schemas.openxmlformats.org/officeDocument/2006/relationships/slide" Target="slides/slide12.xml"/><Relationship Id="Rb13760c0aa09440c" Type="http://schemas.openxmlformats.org/officeDocument/2006/relationships/slide" Target="slides/slide1.xml"/><Relationship Id="Rb46a40df9e064ae8" Type="http://schemas.openxmlformats.org/officeDocument/2006/relationships/slideMaster" Target="slideMasters/slideMaster1.xml"/><Relationship Id="Rc6516174f98344a0" Type="http://schemas.openxmlformats.org/officeDocument/2006/relationships/slide" Target="slides/slide10.xml"/><Relationship Id="Rd6092277fac942d0" Type="http://schemas.openxmlformats.org/officeDocument/2006/relationships/slide" Target="slides/slide2.xml"/><Relationship Id="Re074dad397334992" Type="http://schemas.openxmlformats.org/officeDocument/2006/relationships/tableStyles" Target="tableStyles.xml"/><Relationship Id="Re16cbc622c7b44c4" Type="http://schemas.openxmlformats.org/officeDocument/2006/relationships/slide" Target="slides/slide9.xml"/><Relationship Id="Rf535503e70614e2f" Type="http://schemas.openxmlformats.org/officeDocument/2006/relationships/notesMaster" Target="notesMasters/notesMaster1.xml"/><Relationship Id="Rf6b6d725657e44b7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cc380414af77431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a8ea355d2e2c4f71" Type="http://schemas.openxmlformats.org/officeDocument/2006/relationships/slide" Target="../slides/slide1.xml"/><Relationship Id="Rc253ecd6f3f64658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2189f183aa65415f" Type="http://schemas.openxmlformats.org/officeDocument/2006/relationships/slide" Target="../slides/slide2.xml"/><Relationship Id="R592a6070eae3451e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807484ca443f44b2" Type="http://schemas.openxmlformats.org/officeDocument/2006/relationships/slide" Target="../slides/slide3.xml"/><Relationship Id="Red5d0e469c1c443a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a1caf2c660d943a2" Type="http://schemas.openxmlformats.org/officeDocument/2006/relationships/slide" Target="../slides/slide4.xml"/><Relationship Id="Ra87aecf190ff49de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9dd77cddf2ba4ea9" Type="http://schemas.openxmlformats.org/officeDocument/2006/relationships/notesMaster" Target="../notesMasters/notesMaster1.xml"/><Relationship Id="Reb07d278c3de4ee4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b1dc8b7bded846a5" Type="http://schemas.openxmlformats.org/officeDocument/2006/relationships/notesMaster" Target="../notesMasters/notesMaster1.xml"/><Relationship Id="Ref4b6cf4daa64507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b5b7c6540a5044c2" Type="http://schemas.openxmlformats.org/officeDocument/2006/relationships/notesMaster" Target="../notesMasters/notesMaster1.xml"/><Relationship Id="Rf60b8c329b9b4ed7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29fa1dcee1cf4570" Type="http://schemas.openxmlformats.org/officeDocument/2006/relationships/notesMaster" Target="../notesMasters/notesMaster1.xml"/><Relationship Id="R4d2135ff5a7c46f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7479a30eb36644c3" Type="http://schemas.openxmlformats.org/officeDocument/2006/relationships/slide" Target="../slides/slide9.xml"/><Relationship Id="Ra6d0995627794667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041fb433f1444a91" Type="http://schemas.openxmlformats.org/officeDocument/2006/relationships/notesMaster" Target="../notesMasters/notesMaster1.xml"/><Relationship Id="R850fe41b44604faa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a053c88dad394487" Type="http://schemas.openxmlformats.org/officeDocument/2006/relationships/notesMaster" Target="../notesMasters/notesMaster1.xml"/><Relationship Id="Rda3fb3d8f8744c95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32a234c2b7244b63" Type="http://schemas.openxmlformats.org/officeDocument/2006/relationships/slide" Target="../slides/slide12.xml"/><Relationship Id="Rca19122078324358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>
            <a:r>
              <a:t>- 한국관광 데이터랩 · 서울특별시 강남구 SNS 언급량: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표지의 지역·전략명·기간은 저장된 ReportResponse에서 읽음.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>
            <a:r>
              <a:t>- 한국관광 데이터랩 · 서울특별시 강남구 SNS 언급량: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목차는 승인된 12장 템플릿 구조를 고정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>
            <a:r>
              <a:t>- 한국관광 데이터랩 · 서울특별시 강남구 SNS 언급량: https://datalab.visitkorea.or.kr/</a:t>
            </a:r>
          </a:p>
          <a:p xmlns:a="http://schemas.openxmlformats.org/drawingml/2006/main">
            <a:r>
              <a:t>- 가나돈까스의집: https://apis.data.go.kr/B551011/KorService2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관측값과 비교 문장은 보고서의 observed_findings·comparison_analysis를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>
            <a:r>
              <a:t>- 한국관광 데이터랩 · 서울특별시 강남구 SNS 언급량: https://datalab.visitkorea.or.kr/</a:t>
            </a:r>
          </a:p>
          <a:p xmlns:a="http://schemas.openxmlformats.org/drawingml/2006/main">
            <a:r>
              <a:t>- 가담: https://apis.data.go.kr/B551011/KorService2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문제·솔루션·기대 변화는 단일 검증 기획안을 요약.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>
            <a:r>
              <a:t>- 한국관광 데이터랩 · 서울특별시 강남구 SNS 언급량: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참여자 역할은 기획안 실행 주체와 측정 역할을 구분해 정리.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>
            <a:r>
              <a:t>- 한국관광 데이터랩 · 서울특별시 강남구 SNS 언급량: https://datalab.visitkorea.or.kr/</a:t>
            </a:r>
          </a:p>
          <a:p xmlns:a="http://schemas.openxmlformats.org/drawingml/2006/main">
            <a:r>
              <a:t>- 갓포아키 도산공원점: https://apis.data.go.kr/B551011/KorService2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5단계 실행안과 예산·KPI를 7개 사업 구성으로 재배열.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>
            <a:r>
              <a:t>- 한국관광 데이터랩 · 서울특별시 강남구 SNS 언급량: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implementation_steps의 일정·행동·산출물을 그대로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>
            <a:r>
              <a:t>- 한국관광 데이터랩 · 서울특별시 강남구 SNS 언급량: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지역 비교는 인과효과가 아닌 우선순위 판단 신호로만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>
            <a:r>
              <a:t>- 한국관광 데이터랩 · 서울특별시 강남구 SNS 언급량: https://datalab.visitkorea.or.kr/</a:t>
            </a:r>
          </a:p>
          <a:p xmlns:a="http://schemas.openxmlformats.org/drawingml/2006/main">
            <a:r>
              <a:t>- 갓포준 x 에스테반: https://apis.data.go.kr/B551011/KorService2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저장 ML 자연추세와 사용자 입력 목표율을 분리. 목표 차이는 산술 차이이며 정책효과 예측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>
            <a:r>
              <a:t>- 한국관광 데이터랩 · 서울특별시 강남구 SNS 언급량: https://datalab.visitkorea.or.kr/</a:t>
            </a:r>
          </a:p>
          <a:p xmlns:a="http://schemas.openxmlformats.org/drawingml/2006/main">
            <a:r>
              <a:t>- 강남: https://apis.data.go.kr/B551011/KorService2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예산은 총액을 임의 생성하지 않고 수량×단가 또는 비교견적 산식으로 제시.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>
            <a:r>
              <a:t>- 한국관광 데이터랩 · 서울특별시 강남구 SNS 언급량: https://datalab.visitkorea.or.kr/</a:t>
            </a:r>
          </a:p>
          <a:p xmlns:a="http://schemas.openxmlformats.org/drawingml/2006/main">
            <a:r>
              <a:t>- 강남 마이스 관광특구: https://apis.data.go.kr/B551011/KorService2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Evidence + Case Scout 병렬 → Transferability → Planner → Reviewer 고정 흐름.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>
            <a:r>
              <a:t>- 한국관광 데이터랩 · 서울특별시 강남구 SNS 언급량: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기대효과는 제안이며 실제 운영 후 같은 기준의 관측값으로 검증.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00f9b7921e304bc7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a6dd649eaa204325" Type="http://schemas.openxmlformats.org/officeDocument/2006/relationships/slideLayout" Target="../slideLayouts/slideLayout1.xml"/><Relationship Id="Rb37d454b23224aec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dd649eaa2043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a7f819945204535" Type="http://schemas.openxmlformats.org/officeDocument/2006/relationships/slideLayout" Target="../slideLayouts/slideLayout1.xml"/><Relationship Id="Rbc4508c969ea471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0f0d214951914aaf" Type="http://schemas.openxmlformats.org/officeDocument/2006/relationships/notesSlide" Target="../notesSlides/notesSlide2.xml"/><Relationship Id="R92c2c36fe3d64214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90225c7631fc4c71" Type="http://schemas.openxmlformats.org/officeDocument/2006/relationships/slideLayout" Target="../slideLayouts/slideLayout1.xml"/><Relationship Id="Racf45e7cb3064886" Type="http://schemas.openxmlformats.org/officeDocument/2006/relationships/notesSlide" Target="../notesSlides/notesSlide3.xml"/><Relationship Id="Rb5a49479260e4bda" Type="http://schemas.openxmlformats.org/officeDocument/2006/relationships/image" Target="../media/image.jpeg"/></Relationships>
</file>

<file path=ppt/slides/_rels/slide4.xml.rels><?xml version='1.0' encoding='UTF-8' standalone='yes'?>
<Relationships xmlns="http://schemas.openxmlformats.org/package/2006/relationships"><Relationship Id="R3bd393a84aac4c26" Type="http://schemas.openxmlformats.org/officeDocument/2006/relationships/notesSlide" Target="../notesSlides/notesSlide4.xml"/><Relationship Id="R42919c91ab494002" Type="http://schemas.openxmlformats.org/officeDocument/2006/relationships/slideLayout" Target="../slideLayouts/slideLayout1.xml"/><Relationship Id="Re2ed10992aa642ad" Type="http://schemas.openxmlformats.org/officeDocument/2006/relationships/image" Target="../media/image2.jpeg"/></Relationships>
</file>

<file path=ppt/slides/_rels/slide5.xml.rels><?xml version='1.0' encoding='UTF-8' standalone='yes'?>
<Relationships xmlns="http://schemas.openxmlformats.org/package/2006/relationships"><Relationship Id="R57d5558eacc24ff4" Type="http://schemas.openxmlformats.org/officeDocument/2006/relationships/slideLayout" Target="../slideLayouts/slideLayout1.xml"/><Relationship Id="Red811ec4de554c1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42bb24254b974dce" Type="http://schemas.openxmlformats.org/officeDocument/2006/relationships/slideLayout" Target="../slideLayouts/slideLayout1.xml"/><Relationship Id="Rd6004880b04a4ffb" Type="http://schemas.openxmlformats.org/officeDocument/2006/relationships/image" Target="../media/image3.jpeg"/><Relationship Id="Ref7485649cc946c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2a4cc8fb080f4667" Type="http://schemas.openxmlformats.org/officeDocument/2006/relationships/slideLayout" Target="../slideLayouts/slideLayout1.xml"/><Relationship Id="Rc702e0b0f0f64b0e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ec3c501b17024449" Type="http://schemas.openxmlformats.org/officeDocument/2006/relationships/notesSlide" Target="../notesSlides/notesSlide8.xml"/><Relationship Id="Rf9a261e6d85e4ee3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18e1c63e261148a0" Type="http://schemas.openxmlformats.org/officeDocument/2006/relationships/image" Target="../media/image4.jpeg"/><Relationship Id="R32955cf718df48bd" Type="http://schemas.openxmlformats.org/officeDocument/2006/relationships/chart" Target="charts/chart1.xml"/><Relationship Id="R8be137f9f45444e6" Type="http://schemas.openxmlformats.org/officeDocument/2006/relationships/notesSlide" Target="../notesSlides/notesSlide9.xml"/><Relationship Id="Rb43f649ba3254507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98c2c5b325c149c8" Type="http://schemas.openxmlformats.org/officeDocument/2006/relationships/notesSlide" Target="../notesSlides/notesSlide10.xml"/><Relationship Id="Rb639a03102414e57" Type="http://schemas.openxmlformats.org/officeDocument/2006/relationships/image" Target="../media/image5.jpeg"/><Relationship Id="Rc9181ff969044f69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40e111bffae14b36" Type="http://schemas.openxmlformats.org/officeDocument/2006/relationships/image" Target="../media/image6.jpeg"/><Relationship Id="Raf993c43cc384ab7" Type="http://schemas.openxmlformats.org/officeDocument/2006/relationships/slideLayout" Target="../slideLayouts/slideLayout1.xml"/><Relationship Id="Rea2c949627b0421a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3751e01dde1a479b" Type="http://schemas.openxmlformats.org/officeDocument/2006/relationships/notesSlide" Target="../notesSlides/notesSlide12.xml"/><Relationship Id="R3d24a609afbd40fa" Type="http://schemas.openxmlformats.org/officeDocument/2006/relationships/slideLayout" Target="../slideLayouts/slideLayout1.xml"/></Relationships>
</file>

<file path=ppt/slides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Microsoft_Excel_Sheet1.xlsx"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ML 자연추세</c:v>
                </c:pt>
              </c:strCache>
            </c:strRef>
          </c:tx>
          <c:spPr>
            <a:noFill xmlns:a="http://schemas.openxmlformats.org/drawingml/2006/main"/>
            <a:ln xmlns:a="http://schemas.openxmlformats.org/drawingml/2006/main" w="19050">
              <a:solidFill>
                <a:srgbClr val="004EA2"/>
              </a:solidFill>
              <a:prstDash val="solid"/>
            </a:ln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26.08</c:v>
                </c:pt>
                <c:pt idx="1">
                  <c:v>26.09</c:v>
                </c:pt>
                <c:pt idx="2">
                  <c:v>26.10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18.027844</c:v>
                </c:pt>
                <c:pt idx="1">
                  <c:v>18.237833</c:v>
                </c:pt>
                <c:pt idx="2">
                  <c:v>17.767384</c:v>
                </c:pt>
              </c:numCache>
            </c:numRef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E5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F555B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EC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F555B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4F7FA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4F7FA"/>
    </a:solidFill>
    <a:ln xmlns:a="http://schemas.openxmlformats.org/drawingml/2006/main" w="0">
      <a:noFill/>
      <a:prstDash val="solid"/>
    </a:ln>
  </c:spPr>
  <c:externalData xmlns:r="http://schemas.openxmlformats.org/officeDocument/2006/relationships" r:id="rId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-wordmark">
            <a:extLst xmlns:a="http://schemas.openxmlformats.org/drawingml/2006/main">
              <a:ext uri="{FF2B5EF4-FFF2-40B4-BE49-F238E27FC236}">
                <a16:creationId xmlns:a16="http://schemas.microsoft.com/office/drawing/2014/main" id="{77FB509F-5920-492C-9117-3338D34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52450" y="2857500"/>
            <a:ext cx="1638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defRPr>
            </a:pPr>
            <a:r>
              <a: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rPr>
              <a:t>TOURISM AI</a:t>
            </a:r>
          </a:p>
        </p:txBody>
      </p:sp>
      <p:sp>
        <p:nvSpPr>
          <p:cNvPr id="2" name="center-top-vertical">
            <a:extLst xmlns:a="http://schemas.openxmlformats.org/drawingml/2006/main">
              <a:ext uri="{FF2B5EF4-FFF2-40B4-BE49-F238E27FC236}">
                <a16:creationId xmlns:a16="http://schemas.microsoft.com/office/drawing/2014/main" id="{B1DEDF35-13EE-406A-AC8E-214EDD2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center-bottom-vertical">
            <a:extLst xmlns:a="http://schemas.openxmlformats.org/drawingml/2006/main">
              <a:ext uri="{FF2B5EF4-FFF2-40B4-BE49-F238E27FC236}">
                <a16:creationId xmlns:a16="http://schemas.microsoft.com/office/drawing/2014/main" id="{D3C6583A-243C-4B40-B28E-68DDCD8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10325"/>
            <a:ext cx="0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title-panel">
            <a:extLst xmlns:a="http://schemas.openxmlformats.org/drawingml/2006/main">
              <a:ext uri="{FF2B5EF4-FFF2-40B4-BE49-F238E27FC236}">
                <a16:creationId xmlns:a16="http://schemas.microsoft.com/office/drawing/2014/main" id="{EE1DECE5-AA5E-4E34-834B-AD62B1C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title-panel-top">
            <a:extLst xmlns:a="http://schemas.openxmlformats.org/drawingml/2006/main">
              <a:ext uri="{FF2B5EF4-FFF2-40B4-BE49-F238E27FC236}">
                <a16:creationId xmlns:a16="http://schemas.microsoft.com/office/drawing/2014/main" id="{6C123102-52FB-43EB-A3A5-744861F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security-label">
            <a:extLst xmlns:a="http://schemas.openxmlformats.org/drawingml/2006/main">
              <a:ext uri="{FF2B5EF4-FFF2-40B4-BE49-F238E27FC236}">
                <a16:creationId xmlns:a16="http://schemas.microsoft.com/office/drawing/2014/main" id="{EA7BB441-19DF-412D-93DE-6B5F825D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527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오 프 라 인 샘 플</a:t>
            </a:r>
          </a:p>
        </p:txBody>
      </p:sp>
      <p:sp>
        <p:nvSpPr>
          <p:cNvPr id="7" name="cover-title-line1">
            <a:extLst xmlns:a="http://schemas.openxmlformats.org/drawingml/2006/main">
              <a:ext uri="{FF2B5EF4-FFF2-40B4-BE49-F238E27FC236}">
                <a16:creationId xmlns:a16="http://schemas.microsoft.com/office/drawing/2014/main" id="{4D06E463-555F-4ED7-A555-6F2BBA2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6734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방문을 지역 소비로 연결하는 반나절 관광코스…</a:t>
            </a:r>
          </a:p>
        </p:txBody>
      </p:sp>
      <p:sp>
        <p:nvSpPr>
          <p:cNvPr id="8" name="cover-title-line2">
            <a:extLst xmlns:a="http://schemas.openxmlformats.org/drawingml/2006/main">
              <a:ext uri="{FF2B5EF4-FFF2-40B4-BE49-F238E27FC236}">
                <a16:creationId xmlns:a16="http://schemas.microsoft.com/office/drawing/2014/main" id="{055E2330-B51B-4A73-961A-2CE79A6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410075"/>
            <a:ext cx="6924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125">
                <a:latin typeface="Noto Sans KR"/>
                <a:ea typeface="Noto Sans KR"/>
                <a:cs typeface="Noto Sans KR"/>
              </a:defRPr>
            </a:pPr>
            <a:r>
              <a:rPr sz="41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3~6개월 시범 운영</a:t>
            </a:r>
            <a:r>
              <a:rPr sz="4125" b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실행 기획안</a:t>
            </a:r>
          </a:p>
        </p:txBody>
      </p:sp>
      <p:sp>
        <p:nvSpPr>
          <p:cNvPr id="9" name="date-rule-left">
            <a:extLst xmlns:a="http://schemas.openxmlformats.org/drawingml/2006/main">
              <a:ext uri="{FF2B5EF4-FFF2-40B4-BE49-F238E27FC236}">
                <a16:creationId xmlns:a16="http://schemas.microsoft.com/office/drawing/2014/main" id="{ADF95A54-AD3A-46B3-8204-A4A4C178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D9CF49F9-166E-4877-8903-09E88A5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4352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2026년 09월 02일</a:t>
            </a:r>
          </a:p>
        </p:txBody>
      </p:sp>
      <p:sp>
        <p:nvSpPr>
          <p:cNvPr id="11" name="date-rule-right">
            <a:extLst xmlns:a="http://schemas.openxmlformats.org/drawingml/2006/main">
              <a:ext uri="{FF2B5EF4-FFF2-40B4-BE49-F238E27FC236}">
                <a16:creationId xmlns:a16="http://schemas.microsoft.com/office/drawing/2014/main" id="{D63894DC-8857-4AFB-9D30-D40A61F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org-title">
            <a:extLst xmlns:a="http://schemas.openxmlformats.org/drawingml/2006/main">
              <a:ext uri="{FF2B5EF4-FFF2-40B4-BE49-F238E27FC236}">
                <a16:creationId xmlns:a16="http://schemas.microsoft.com/office/drawing/2014/main" id="{BFAE34B7-AC7B-4526-88A3-D8CECFF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10382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서울특별시 강남구</a:t>
            </a:r>
          </a:p>
        </p:txBody>
      </p:sp>
      <p:sp>
        <p:nvSpPr>
          <p:cNvPr id="13" name="org-orange-rule">
            <a:extLst xmlns:a="http://schemas.openxmlformats.org/drawingml/2006/main">
              <a:ext uri="{FF2B5EF4-FFF2-40B4-BE49-F238E27FC236}">
                <a16:creationId xmlns:a16="http://schemas.microsoft.com/office/drawing/2014/main" id="{284EC6E3-1D8E-4934-8C5E-B43BDD6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3906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0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org-owner">
            <a:extLst xmlns:a="http://schemas.openxmlformats.org/drawingml/2006/main">
              <a:ext uri="{FF2B5EF4-FFF2-40B4-BE49-F238E27FC236}">
                <a16:creationId xmlns:a16="http://schemas.microsoft.com/office/drawing/2014/main" id="{2CD7CFDD-25BB-432C-BC3B-756F92EB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590675"/>
            <a:ext cx="1190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화면·출력 검토용 / Agent 미실행</a:t>
            </a:r>
          </a:p>
          <a:p xmlns:a="http://schemas.openxmlformats.org/drawingml/2006/main">
            <a:pPr algn="r"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5" name="report-number">
            <a:extLst xmlns:a="http://schemas.openxmlformats.org/drawingml/2006/main">
              <a:ext uri="{FF2B5EF4-FFF2-40B4-BE49-F238E27FC236}">
                <a16:creationId xmlns:a16="http://schemas.microsoft.com/office/drawing/2014/main" id="{91C450AB-B31C-4B87-BDB0-6281DFDB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15075"/>
            <a:ext cx="3514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보 고 서 출 력 일  2026-09-02</a:t>
            </a:r>
          </a:p>
        </p:txBody>
      </p:sp>
      <p:sp>
        <p:nvSpPr>
          <p:cNvPr id="16" name="report-topic">
            <a:extLst xmlns:a="http://schemas.openxmlformats.org/drawingml/2006/main">
              <a:ext uri="{FF2B5EF4-FFF2-40B4-BE49-F238E27FC236}">
                <a16:creationId xmlns:a16="http://schemas.microsoft.com/office/drawing/2014/main" id="{79974288-A39D-407D-8F48-874FFA40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35147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서울특별시 강남구는 2026-07 순 방문자 17,963,441명…</a:t>
            </a:r>
          </a:p>
          <a:p xmlns:a="http://schemas.openxmlformats.org/drawingml/2006/main">
            <a:pPr algn="l">
              <a:buNone/>
              <a:defRPr sz="31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7" name="corner-tl-h">
            <a:extLst xmlns:a="http://schemas.openxmlformats.org/drawingml/2006/main">
              <a:ext uri="{FF2B5EF4-FFF2-40B4-BE49-F238E27FC236}">
                <a16:creationId xmlns:a16="http://schemas.microsoft.com/office/drawing/2014/main" id="{85098CA2-D674-4C13-AAED-97DC2B1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corner-tl-v">
            <a:extLst xmlns:a="http://schemas.openxmlformats.org/drawingml/2006/main">
              <a:ext uri="{FF2B5EF4-FFF2-40B4-BE49-F238E27FC236}">
                <a16:creationId xmlns:a16="http://schemas.microsoft.com/office/drawing/2014/main" id="{30186634-254F-4224-B08F-40BB6E5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corner-br-h">
            <a:extLst xmlns:a="http://schemas.openxmlformats.org/drawingml/2006/main">
              <a:ext uri="{FF2B5EF4-FFF2-40B4-BE49-F238E27FC236}">
                <a16:creationId xmlns:a16="http://schemas.microsoft.com/office/drawing/2014/main" id="{95077333-21E3-42BF-9CBB-698C3BE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9438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corner-br-v">
            <a:extLst xmlns:a="http://schemas.openxmlformats.org/drawingml/2006/main">
              <a:ext uri="{FF2B5EF4-FFF2-40B4-BE49-F238E27FC236}">
                <a16:creationId xmlns:a16="http://schemas.microsoft.com/office/drawing/2014/main" id="{81015BD6-64EA-4BC0-A2BD-BDDA9641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76485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 xmlns:a="http://schemas.openxmlformats.org/drawingml/2006/main">
          <a:bodyPr/>
          <a:p/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brand">
            <a:extLst xmlns:a="http://schemas.openxmlformats.org/drawingml/2006/main">
              <a:ext uri="{FF2B5EF4-FFF2-40B4-BE49-F238E27FC236}">
                <a16:creationId xmlns:a16="http://schemas.microsoft.com/office/drawing/2014/main" id="{BC511F59-C000-4ABE-8C07-97806516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서울특별시 강남구 관광 전략기획 데이터 시스템</a:t>
            </a:r>
          </a:p>
        </p:txBody>
      </p:sp>
      <p:sp>
        <p:nvSpPr>
          <p:cNvPr id="2" name="top-date">
            <a:extLst xmlns:a="http://schemas.openxmlformats.org/drawingml/2006/main">
              <a:ext uri="{FF2B5EF4-FFF2-40B4-BE49-F238E27FC236}">
                <a16:creationId xmlns:a16="http://schemas.microsoft.com/office/drawing/2014/main" id="{B2EA0AA8-9451-4577-B2DB-64FEA4AE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23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2026. 09. 02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578AD546-B3C6-4345-964E-CA38D80C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1518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contents-rail">
            <a:extLst xmlns:a="http://schemas.openxmlformats.org/drawingml/2006/main">
              <a:ext uri="{FF2B5EF4-FFF2-40B4-BE49-F238E27FC236}">
                <a16:creationId xmlns:a16="http://schemas.microsoft.com/office/drawing/2014/main" id="{7FA9108D-F5FC-4EF8-882D-8BF062FD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4810125" cy="759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contents-vertical">
            <a:extLst xmlns:a="http://schemas.openxmlformats.org/drawingml/2006/main">
              <a:ext uri="{FF2B5EF4-FFF2-40B4-BE49-F238E27FC236}">
                <a16:creationId xmlns:a16="http://schemas.microsoft.com/office/drawing/2014/main" id="{8A649E8C-B469-49E6-9B71-2587FA31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866775" y="4162425"/>
            <a:ext cx="676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defRPr>
            </a:pPr>
            <a:r>
              <a: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rPr>
              <a:t>CONTENTS</a:t>
            </a:r>
          </a:p>
        </p:txBody>
      </p:sp>
      <p:sp>
        <p:nvSpPr>
          <p:cNvPr id="6" name="contents-en">
            <a:extLst xmlns:a="http://schemas.openxmlformats.org/drawingml/2006/main">
              <a:ext uri="{FF2B5EF4-FFF2-40B4-BE49-F238E27FC236}">
                <a16:creationId xmlns:a16="http://schemas.microsoft.com/office/drawing/2014/main" id="{A4545508-3408-4837-8886-DBD8CE26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029075"/>
            <a:ext cx="3981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T A B L E   O F   C O N T E N T S</a:t>
            </a:r>
          </a:p>
        </p:txBody>
      </p:sp>
      <p:sp>
        <p:nvSpPr>
          <p:cNvPr id="7" name="contents-ko">
            <a:extLst xmlns:a="http://schemas.openxmlformats.org/drawingml/2006/main">
              <a:ext uri="{FF2B5EF4-FFF2-40B4-BE49-F238E27FC236}">
                <a16:creationId xmlns:a16="http://schemas.microsoft.com/office/drawing/2014/main" id="{99A460E5-8765-444E-944E-1A8069AB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0057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5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목차 안내</a:t>
            </a:r>
          </a:p>
        </p:txBody>
      </p:sp>
      <p:sp>
        <p:nvSpPr>
          <p:cNvPr id="8" name="contents-orange">
            <a:extLst xmlns:a="http://schemas.openxmlformats.org/drawingml/2006/main">
              <a:ext uri="{FF2B5EF4-FFF2-40B4-BE49-F238E27FC236}">
                <a16:creationId xmlns:a16="http://schemas.microsoft.com/office/drawing/2014/main" id="{D5323B82-A54D-47BA-8350-BCD7E58D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3816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0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toc-0-0-num">
            <a:extLst xmlns:a="http://schemas.openxmlformats.org/drawingml/2006/main">
              <a:ext uri="{FF2B5EF4-FFF2-40B4-BE49-F238E27FC236}">
                <a16:creationId xmlns:a16="http://schemas.microsoft.com/office/drawing/2014/main" id="{9A4D7DD5-B7C1-4FE0-B663-1C335B73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813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toc-0-0-label">
            <a:extLst xmlns:a="http://schemas.openxmlformats.org/drawingml/2006/main">
              <a:ext uri="{FF2B5EF4-FFF2-40B4-BE49-F238E27FC236}">
                <a16:creationId xmlns:a16="http://schemas.microsoft.com/office/drawing/2014/main" id="{F2F2D109-397D-42C2-AF7E-720371CC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718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데이터 근거와 기획 배경</a:t>
            </a:r>
          </a:p>
        </p:txBody>
      </p:sp>
      <p:sp>
        <p:nvSpPr>
          <p:cNvPr id="11" name="toc-0-0-rule">
            <a:extLst xmlns:a="http://schemas.openxmlformats.org/drawingml/2006/main">
              <a:ext uri="{FF2B5EF4-FFF2-40B4-BE49-F238E27FC236}">
                <a16:creationId xmlns:a16="http://schemas.microsoft.com/office/drawing/2014/main" id="{7A9B4322-D952-4704-8A34-AFE4DB84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8140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toc-0-1-num">
            <a:extLst xmlns:a="http://schemas.openxmlformats.org/drawingml/2006/main">
              <a:ext uri="{FF2B5EF4-FFF2-40B4-BE49-F238E27FC236}">
                <a16:creationId xmlns:a16="http://schemas.microsoft.com/office/drawing/2014/main" id="{BB7EB441-7049-4AEE-B4A6-EB8A8907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862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toc-0-1-label">
            <a:extLst xmlns:a="http://schemas.openxmlformats.org/drawingml/2006/main">
              <a:ext uri="{FF2B5EF4-FFF2-40B4-BE49-F238E27FC236}">
                <a16:creationId xmlns:a16="http://schemas.microsoft.com/office/drawing/2014/main" id="{A858F0DB-1B50-472E-BCED-A95D8FDF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766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문제 정의 및 시범사업 목표</a:t>
            </a:r>
          </a:p>
        </p:txBody>
      </p:sp>
      <p:sp>
        <p:nvSpPr>
          <p:cNvPr id="14" name="toc-0-1-rule">
            <a:extLst xmlns:a="http://schemas.openxmlformats.org/drawingml/2006/main">
              <a:ext uri="{FF2B5EF4-FFF2-40B4-BE49-F238E27FC236}">
                <a16:creationId xmlns:a16="http://schemas.microsoft.com/office/drawing/2014/main" id="{8BB674AB-E001-4E54-9B2D-138021E3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862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toc-0-2-num">
            <a:extLst xmlns:a="http://schemas.openxmlformats.org/drawingml/2006/main">
              <a:ext uri="{FF2B5EF4-FFF2-40B4-BE49-F238E27FC236}">
                <a16:creationId xmlns:a16="http://schemas.microsoft.com/office/drawing/2014/main" id="{2A73ED54-5EB7-481A-AA22-31B5FA78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910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toc-0-2-label">
            <a:extLst xmlns:a="http://schemas.openxmlformats.org/drawingml/2006/main">
              <a:ext uri="{FF2B5EF4-FFF2-40B4-BE49-F238E27FC236}">
                <a16:creationId xmlns:a16="http://schemas.microsoft.com/office/drawing/2014/main" id="{49778DA9-2C34-4F19-86EC-61157A1D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815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참여자와 이용 시나리오</a:t>
            </a:r>
          </a:p>
        </p:txBody>
      </p:sp>
      <p:sp>
        <p:nvSpPr>
          <p:cNvPr id="17" name="toc-0-2-rule">
            <a:extLst xmlns:a="http://schemas.openxmlformats.org/drawingml/2006/main">
              <a:ext uri="{FF2B5EF4-FFF2-40B4-BE49-F238E27FC236}">
                <a16:creationId xmlns:a16="http://schemas.microsoft.com/office/drawing/2014/main" id="{1EE5059E-9C45-4D3E-B828-82D1F098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99110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toc-0-3-num">
            <a:extLst xmlns:a="http://schemas.openxmlformats.org/drawingml/2006/main">
              <a:ext uri="{FF2B5EF4-FFF2-40B4-BE49-F238E27FC236}">
                <a16:creationId xmlns:a16="http://schemas.microsoft.com/office/drawing/2014/main" id="{09D69393-9477-46BB-9754-B3834388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95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9" name="toc-0-3-label">
            <a:extLst xmlns:a="http://schemas.openxmlformats.org/drawingml/2006/main">
              <a:ext uri="{FF2B5EF4-FFF2-40B4-BE49-F238E27FC236}">
                <a16:creationId xmlns:a16="http://schemas.microsoft.com/office/drawing/2014/main" id="{E1D92E25-FA72-4D2D-83BA-E4E956D7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2863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핵심 사업 구성 7가지</a:t>
            </a:r>
          </a:p>
        </p:txBody>
      </p:sp>
      <p:sp>
        <p:nvSpPr>
          <p:cNvPr id="20" name="toc-0-3-rule">
            <a:extLst xmlns:a="http://schemas.openxmlformats.org/drawingml/2006/main">
              <a:ext uri="{FF2B5EF4-FFF2-40B4-BE49-F238E27FC236}">
                <a16:creationId xmlns:a16="http://schemas.microsoft.com/office/drawing/2014/main" id="{978F3F46-82E5-4C13-B76B-BB791D14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6959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toc-0-4-num">
            <a:extLst xmlns:a="http://schemas.openxmlformats.org/drawingml/2006/main">
              <a:ext uri="{FF2B5EF4-FFF2-40B4-BE49-F238E27FC236}">
                <a16:creationId xmlns:a16="http://schemas.microsoft.com/office/drawing/2014/main" id="{3181EE82-187E-4CD5-A105-BFB3A37E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0007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2" name="toc-0-4-label">
            <a:extLst xmlns:a="http://schemas.openxmlformats.org/drawingml/2006/main">
              <a:ext uri="{FF2B5EF4-FFF2-40B4-BE49-F238E27FC236}">
                <a16:creationId xmlns:a16="http://schemas.microsoft.com/office/drawing/2014/main" id="{D95BDF3D-1B1E-499C-9F49-A67D6392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9912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실행 Flow·산출물</a:t>
            </a:r>
          </a:p>
        </p:txBody>
      </p:sp>
      <p:sp>
        <p:nvSpPr>
          <p:cNvPr id="23" name="toc-0-4-rule">
            <a:extLst xmlns:a="http://schemas.openxmlformats.org/drawingml/2006/main">
              <a:ext uri="{FF2B5EF4-FFF2-40B4-BE49-F238E27FC236}">
                <a16:creationId xmlns:a16="http://schemas.microsoft.com/office/drawing/2014/main" id="{10A2117D-21A6-48D9-AFA6-0B6BE52B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40080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toc-1-0-num">
            <a:extLst xmlns:a="http://schemas.openxmlformats.org/drawingml/2006/main">
              <a:ext uri="{FF2B5EF4-FFF2-40B4-BE49-F238E27FC236}">
                <a16:creationId xmlns:a16="http://schemas.microsoft.com/office/drawing/2014/main" id="{CF8AF870-2DD7-4DF0-935E-A7B18F51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1813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25" name="toc-1-0-label">
            <a:extLst xmlns:a="http://schemas.openxmlformats.org/drawingml/2006/main">
              <a:ext uri="{FF2B5EF4-FFF2-40B4-BE49-F238E27FC236}">
                <a16:creationId xmlns:a16="http://schemas.microsoft.com/office/drawing/2014/main" id="{BD4D99A2-3331-4C55-B657-C250B681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1718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유사 지역 비교와 차별점</a:t>
            </a:r>
          </a:p>
        </p:txBody>
      </p:sp>
      <p:sp>
        <p:nvSpPr>
          <p:cNvPr id="26" name="toc-1-0-rule">
            <a:extLst xmlns:a="http://schemas.openxmlformats.org/drawingml/2006/main">
              <a:ext uri="{FF2B5EF4-FFF2-40B4-BE49-F238E27FC236}">
                <a16:creationId xmlns:a16="http://schemas.microsoft.com/office/drawing/2014/main" id="{F1965004-3508-48E4-8EAB-5E1F64F0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58140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toc-1-1-num">
            <a:extLst xmlns:a="http://schemas.openxmlformats.org/drawingml/2006/main">
              <a:ext uri="{FF2B5EF4-FFF2-40B4-BE49-F238E27FC236}">
                <a16:creationId xmlns:a16="http://schemas.microsoft.com/office/drawing/2014/main" id="{F550A570-A5C8-441C-B223-B8C2688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8862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28" name="toc-1-1-label">
            <a:extLst xmlns:a="http://schemas.openxmlformats.org/drawingml/2006/main">
              <a:ext uri="{FF2B5EF4-FFF2-40B4-BE49-F238E27FC236}">
                <a16:creationId xmlns:a16="http://schemas.microsoft.com/office/drawing/2014/main" id="{FF9F868A-CDE5-4A20-B0C5-802AA73C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766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ML 자연추세·목표 시나리오</a:t>
            </a:r>
          </a:p>
        </p:txBody>
      </p:sp>
      <p:sp>
        <p:nvSpPr>
          <p:cNvPr id="29" name="toc-1-1-rule">
            <a:extLst xmlns:a="http://schemas.openxmlformats.org/drawingml/2006/main">
              <a:ext uri="{FF2B5EF4-FFF2-40B4-BE49-F238E27FC236}">
                <a16:creationId xmlns:a16="http://schemas.microsoft.com/office/drawing/2014/main" id="{3DE11471-853F-4C00-8EAD-1C16A596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28625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toc-1-2-num">
            <a:extLst xmlns:a="http://schemas.openxmlformats.org/drawingml/2006/main">
              <a:ext uri="{FF2B5EF4-FFF2-40B4-BE49-F238E27FC236}">
                <a16:creationId xmlns:a16="http://schemas.microsoft.com/office/drawing/2014/main" id="{30C761BB-7DA1-4AF8-AFF7-38427A28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5910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31" name="toc-1-2-label">
            <a:extLst xmlns:a="http://schemas.openxmlformats.org/drawingml/2006/main">
              <a:ext uri="{FF2B5EF4-FFF2-40B4-BE49-F238E27FC236}">
                <a16:creationId xmlns:a16="http://schemas.microsoft.com/office/drawing/2014/main" id="{9767F6A9-0960-4EE5-8571-54C6805A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45815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예산 산식·성과 측정</a:t>
            </a:r>
          </a:p>
        </p:txBody>
      </p:sp>
      <p:sp>
        <p:nvSpPr>
          <p:cNvPr id="32" name="toc-1-2-rule">
            <a:extLst xmlns:a="http://schemas.openxmlformats.org/drawingml/2006/main">
              <a:ext uri="{FF2B5EF4-FFF2-40B4-BE49-F238E27FC236}">
                <a16:creationId xmlns:a16="http://schemas.microsoft.com/office/drawing/2014/main" id="{E0A4D40C-2FAB-4908-8300-E58CB3AC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99110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toc-1-3-num">
            <a:extLst xmlns:a="http://schemas.openxmlformats.org/drawingml/2006/main">
              <a:ext uri="{FF2B5EF4-FFF2-40B4-BE49-F238E27FC236}">
                <a16:creationId xmlns:a16="http://schemas.microsoft.com/office/drawing/2014/main" id="{6863E528-57CD-4AC7-B739-638B9D1A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295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34" name="toc-1-3-label">
            <a:extLst xmlns:a="http://schemas.openxmlformats.org/drawingml/2006/main">
              <a:ext uri="{FF2B5EF4-FFF2-40B4-BE49-F238E27FC236}">
                <a16:creationId xmlns:a16="http://schemas.microsoft.com/office/drawing/2014/main" id="{7973D5FF-EC69-4502-BD57-1363CA77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52863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5-Agent·공식 근거 파이프라인</a:t>
            </a:r>
          </a:p>
        </p:txBody>
      </p:sp>
      <p:sp>
        <p:nvSpPr>
          <p:cNvPr id="35" name="toc-1-3-rule">
            <a:extLst xmlns:a="http://schemas.openxmlformats.org/drawingml/2006/main">
              <a:ext uri="{FF2B5EF4-FFF2-40B4-BE49-F238E27FC236}">
                <a16:creationId xmlns:a16="http://schemas.microsoft.com/office/drawing/2014/main" id="{9E02F587-CF56-4FC9-9416-D770E870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69595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6" name="toc-1-4-num">
            <a:extLst xmlns:a="http://schemas.openxmlformats.org/drawingml/2006/main">
              <a:ext uri="{FF2B5EF4-FFF2-40B4-BE49-F238E27FC236}">
                <a16:creationId xmlns:a16="http://schemas.microsoft.com/office/drawing/2014/main" id="{7CA95524-8009-4175-8193-2BCBEFD7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0007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37" name="toc-1-4-label">
            <a:extLst xmlns:a="http://schemas.openxmlformats.org/drawingml/2006/main">
              <a:ext uri="{FF2B5EF4-FFF2-40B4-BE49-F238E27FC236}">
                <a16:creationId xmlns:a16="http://schemas.microsoft.com/office/drawing/2014/main" id="{8D04CA32-3D2D-4B71-A0D1-78C6E7C3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59912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기대효과·확대 판단</a:t>
            </a:r>
          </a:p>
        </p:txBody>
      </p:sp>
      <p:sp>
        <p:nvSpPr>
          <p:cNvPr id="38" name="toc-1-4-rule">
            <a:extLst xmlns:a="http://schemas.openxmlformats.org/drawingml/2006/main">
              <a:ext uri="{FF2B5EF4-FFF2-40B4-BE49-F238E27FC236}">
                <a16:creationId xmlns:a16="http://schemas.microsoft.com/office/drawing/2014/main" id="{AD8C59D1-0A8D-4B5A-97F3-64A3B7C7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0080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 xmlns:a="http://schemas.openxmlformats.org/drawingml/2006/main">
          <a:bodyPr/>
          <a:p/>
        </p:txBody>
      </p:sp>
    </p:spTree>
    <p:extLst>
      <p:ext uri="{BB962C8B-B14F-4D97-AF65-F5344CB8AC3E}">
        <p14:creationId xmlns:p14="http://schemas.microsoft.com/office/powerpoint/2010/main" val="70192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tourism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a49479260e4bda"/>
          <a:srcRect xmlns:a="http://schemas.openxmlformats.org/drawingml/2006/main" l="26468" r="264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9867900" y="28575"/>
            <a:ext cx="5343525" cy="8515350"/>
          </a:xfrm>
          <a:prstGeom xmlns:a="http://schemas.openxmlformats.org/drawingml/2006/main" prst="rect">
            <a:avLst/>
          </a:prstGeom>
        </p:spPr>
      </p:pic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904CB0C-79AE-4B27-9BB7-C6B424D3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019175"/>
            <a:ext cx="2466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S E C T I O N   0 1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5D9419-1199-4437-8A57-502147C2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0970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서울특별시 강남구 관측 근거, </a:t>
            </a:r>
            <a:r>
              <a:rPr sz="3900" b="1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전환 과제를 가리키다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3FA9B5AE-9628-496B-8801-82689AA2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795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72320DF2-2546-43D9-ABF2-F709FF83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28925"/>
            <a:ext cx="80391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같은 기간·같은 기준으로 비교할 지역 원본이 충분하지 않아 선택 지역의 월별 변화만 사용했습니다.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2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6" name="decision-rail">
            <a:extLst xmlns:a="http://schemas.openxmlformats.org/drawingml/2006/main">
              <a:ext uri="{FF2B5EF4-FFF2-40B4-BE49-F238E27FC236}">
                <a16:creationId xmlns:a16="http://schemas.microsoft.com/office/drawing/2014/main" id="{ADBF1FF9-7C9A-40EE-87A5-965DFB85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95725"/>
            <a:ext cx="0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C1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decision-title">
            <a:extLst xmlns:a="http://schemas.openxmlformats.org/drawingml/2006/main">
              <a:ext uri="{FF2B5EF4-FFF2-40B4-BE49-F238E27FC236}">
                <a16:creationId xmlns:a16="http://schemas.microsoft.com/office/drawing/2014/main" id="{97D3E6FC-FC58-409A-ACD6-FD20707D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338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월간 순 방문자 수 · 전년동월 외지인 방문자 증감률</a:t>
            </a:r>
          </a:p>
        </p:txBody>
      </p:sp>
      <p:sp>
        <p:nvSpPr>
          <p:cNvPr id="8" name="decision-body">
            <a:extLst xmlns:a="http://schemas.openxmlformats.org/drawingml/2006/main">
              <a:ext uri="{FF2B5EF4-FFF2-40B4-BE49-F238E27FC236}">
                <a16:creationId xmlns:a16="http://schemas.microsoft.com/office/drawing/2014/main" id="{CD7CA3DD-3A68-4760-9228-22F4745D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91025"/>
            <a:ext cx="36480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17,963,441명 · -8.3%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선택 지역 공식 원자료의 최신 월 관측값입니다.</a:t>
            </a:r>
          </a:p>
        </p:txBody>
      </p:sp>
      <p:sp>
        <p:nvSpPr>
          <p:cNvPr id="9" name="activation-rail">
            <a:extLst xmlns:a="http://schemas.openxmlformats.org/drawingml/2006/main">
              <a:ext uri="{FF2B5EF4-FFF2-40B4-BE49-F238E27FC236}">
                <a16:creationId xmlns:a16="http://schemas.microsoft.com/office/drawing/2014/main" id="{4E330694-7E74-4BF4-B47C-AB193BD9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895725"/>
            <a:ext cx="0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C1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activation-title">
            <a:extLst xmlns:a="http://schemas.openxmlformats.org/drawingml/2006/main">
              <a:ext uri="{FF2B5EF4-FFF2-40B4-BE49-F238E27FC236}">
                <a16:creationId xmlns:a16="http://schemas.microsoft.com/office/drawing/2014/main" id="{0F08C0B3-DF25-47C0-865B-03D3C61E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9338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전환 점검: 월간 외지인 관광소비 총액</a:t>
            </a:r>
          </a:p>
        </p:txBody>
      </p:sp>
      <p:sp>
        <p:nvSpPr>
          <p:cNvPr id="11" name="activation-body">
            <a:extLst xmlns:a="http://schemas.openxmlformats.org/drawingml/2006/main">
              <a:ext uri="{FF2B5EF4-FFF2-40B4-BE49-F238E27FC236}">
                <a16:creationId xmlns:a16="http://schemas.microsoft.com/office/drawing/2014/main" id="{DAC8F0FE-7C6E-4D83-8B8A-0152AC74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391025"/>
            <a:ext cx="36957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481,986,415,000원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최근 방문 규모만으로는 지역 안에서 충분한 소비와 체류가 이어졌다고 보기 어렵습니다. 숙박 방문 비율은 3.1%, 평균 숙박일수는 2.91일입니다.</a:t>
            </a:r>
          </a:p>
        </p:txBody>
      </p:sp>
      <p:sp>
        <p:nvSpPr>
          <p:cNvPr id="12" name="release-card">
            <a:extLst xmlns:a="http://schemas.openxmlformats.org/drawingml/2006/main">
              <a:ext uri="{FF2B5EF4-FFF2-40B4-BE49-F238E27FC236}">
                <a16:creationId xmlns:a16="http://schemas.microsoft.com/office/drawing/2014/main" id="{D0C3157D-1CB0-44E7-8820-308158D2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38775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release-card-rail">
            <a:extLst xmlns:a="http://schemas.openxmlformats.org/drawingml/2006/main">
              <a:ext uri="{FF2B5EF4-FFF2-40B4-BE49-F238E27FC236}">
                <a16:creationId xmlns:a16="http://schemas.microsoft.com/office/drawing/2014/main" id="{7FFCCF85-ABBF-4ECB-AFEA-A8B4DA10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38775"/>
            <a:ext cx="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C1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release-label">
            <a:extLst xmlns:a="http://schemas.openxmlformats.org/drawingml/2006/main">
              <a:ext uri="{FF2B5EF4-FFF2-40B4-BE49-F238E27FC236}">
                <a16:creationId xmlns:a16="http://schemas.microsoft.com/office/drawing/2014/main" id="{C08F2C4A-858E-436B-9257-34DDC353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695950"/>
            <a:ext cx="2143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월간 순 방문자 수</a:t>
            </a:r>
          </a:p>
        </p:txBody>
      </p:sp>
      <p:sp>
        <p:nvSpPr>
          <p:cNvPr id="15" name="release-value">
            <a:extLst xmlns:a="http://schemas.openxmlformats.org/drawingml/2006/main">
              <a:ext uri="{FF2B5EF4-FFF2-40B4-BE49-F238E27FC236}">
                <a16:creationId xmlns:a16="http://schemas.microsoft.com/office/drawing/2014/main" id="{F59B9312-1FAD-461A-B97A-3B6B13BC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6067425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17,963,441명</a:t>
            </a:r>
          </a:p>
        </p:txBody>
      </p:sp>
      <p:sp>
        <p:nvSpPr>
          <p:cNvPr id="16" name="release-suffix">
            <a:extLst xmlns:a="http://schemas.openxmlformats.org/drawingml/2006/main">
              <a:ext uri="{FF2B5EF4-FFF2-40B4-BE49-F238E27FC236}">
                <a16:creationId xmlns:a16="http://schemas.microsoft.com/office/drawing/2014/main" id="{D5E69186-DF38-4A66-91A3-04952F44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210300"/>
            <a:ext cx="1476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LATEST</a:t>
            </a:r>
          </a:p>
        </p:txBody>
      </p:sp>
      <p:sp>
        <p:nvSpPr>
          <p:cNvPr id="17" name="strategy-card">
            <a:extLst xmlns:a="http://schemas.openxmlformats.org/drawingml/2006/main">
              <a:ext uri="{FF2B5EF4-FFF2-40B4-BE49-F238E27FC236}">
                <a16:creationId xmlns:a16="http://schemas.microsoft.com/office/drawing/2014/main" id="{894D211D-54DB-4650-886B-59BDE3CF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438775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strategy-card-rail">
            <a:extLst xmlns:a="http://schemas.openxmlformats.org/drawingml/2006/main">
              <a:ext uri="{FF2B5EF4-FFF2-40B4-BE49-F238E27FC236}">
                <a16:creationId xmlns:a16="http://schemas.microsoft.com/office/drawing/2014/main" id="{4BD40E72-A0A4-4F59-BF64-47A1F54E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438775"/>
            <a:ext cx="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C1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strategy-label">
            <a:extLst xmlns:a="http://schemas.openxmlformats.org/drawingml/2006/main">
              <a:ext uri="{FF2B5EF4-FFF2-40B4-BE49-F238E27FC236}">
                <a16:creationId xmlns:a16="http://schemas.microsoft.com/office/drawing/2014/main" id="{EA6B80AF-F1D9-4537-B201-BF0C188C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695950"/>
            <a:ext cx="2143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월간 외지인 관광소비 총액</a:t>
            </a:r>
          </a:p>
        </p:txBody>
      </p:sp>
      <p:sp>
        <p:nvSpPr>
          <p:cNvPr id="20" name="strategy-value">
            <a:extLst xmlns:a="http://schemas.openxmlformats.org/drawingml/2006/main">
              <a:ext uri="{FF2B5EF4-FFF2-40B4-BE49-F238E27FC236}">
                <a16:creationId xmlns:a16="http://schemas.microsoft.com/office/drawing/2014/main" id="{2065A6CF-D0E9-4B91-B0B1-ACBAD473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067425"/>
            <a:ext cx="1666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481,986,415,000원</a:t>
            </a:r>
          </a:p>
        </p:txBody>
      </p:sp>
      <p:sp>
        <p:nvSpPr>
          <p:cNvPr id="21" name="strategy-suffix">
            <a:extLst xmlns:a="http://schemas.openxmlformats.org/drawingml/2006/main">
              <a:ext uri="{FF2B5EF4-FFF2-40B4-BE49-F238E27FC236}">
                <a16:creationId xmlns:a16="http://schemas.microsoft.com/office/drawing/2014/main" id="{AB8DACC9-57A5-41E3-8464-66C5FAF5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6210300"/>
            <a:ext cx="166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CHECK</a:t>
            </a:r>
          </a:p>
        </p:txBody>
      </p:sp>
    </p:spTree>
    <p:extLst>
      <p:ext uri="{BB962C8B-B14F-4D97-AF65-F5344CB8AC3E}">
        <p14:creationId xmlns:p14="http://schemas.microsoft.com/office/powerpoint/2010/main" val="2841378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city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ed10992aa642ad"/>
          <a:srcRect xmlns:a="http://schemas.openxmlformats.org/drawingml/2006/main" l="28083" r="280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0229850" y="0"/>
            <a:ext cx="501015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DC140F1E-536A-4372-831D-1A30AB36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28675"/>
            <a:ext cx="3648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P R O B L E M   &amp;   P I L O T   O B J E C T I V 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FF0F8E-C488-4FAD-A415-F42CFBAD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33500"/>
            <a:ext cx="847725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585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585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문제 정의 및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585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585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시범사업 목표</a:t>
            </a:r>
          </a:p>
        </p:txBody>
      </p:sp>
      <p:sp>
        <p:nvSpPr>
          <p:cNvPr id="4" name="orange-rule">
            <a:extLst xmlns:a="http://schemas.openxmlformats.org/drawingml/2006/main">
              <a:ext uri="{FF2B5EF4-FFF2-40B4-BE49-F238E27FC236}">
                <a16:creationId xmlns:a16="http://schemas.microsoft.com/office/drawing/2014/main" id="{2D060FE0-5960-484C-BB83-BF0F1BA2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62325"/>
            <a:ext cx="962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F6B0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feature-0">
            <a:extLst xmlns:a="http://schemas.openxmlformats.org/drawingml/2006/main">
              <a:ext uri="{FF2B5EF4-FFF2-40B4-BE49-F238E27FC236}">
                <a16:creationId xmlns:a16="http://schemas.microsoft.com/office/drawing/2014/main" id="{8E464197-E4E1-4C93-AF19-23A4A080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14775"/>
            <a:ext cx="19431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월간 순 방문자 수</a:t>
            </a:r>
          </a:p>
        </p:txBody>
      </p:sp>
      <p:sp>
        <p:nvSpPr>
          <p:cNvPr id="6" name="feature-1">
            <a:extLst xmlns:a="http://schemas.openxmlformats.org/drawingml/2006/main">
              <a:ext uri="{FF2B5EF4-FFF2-40B4-BE49-F238E27FC236}">
                <a16:creationId xmlns:a16="http://schemas.microsoft.com/office/drawing/2014/main" id="{AF717375-2E32-4358-99A8-17418DB6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14775"/>
            <a:ext cx="19431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전년동월 외지인 방문자 증감률</a:t>
            </a:r>
          </a:p>
        </p:txBody>
      </p:sp>
      <p:sp>
        <p:nvSpPr>
          <p:cNvPr id="7" name="feature-2">
            <a:extLst xmlns:a="http://schemas.openxmlformats.org/drawingml/2006/main">
              <a:ext uri="{FF2B5EF4-FFF2-40B4-BE49-F238E27FC236}">
                <a16:creationId xmlns:a16="http://schemas.microsoft.com/office/drawing/2014/main" id="{52D960B5-2517-4C9F-8BE6-D01A8961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14775"/>
            <a:ext cx="19431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월간 외지인 관광소비 총액</a:t>
            </a:r>
          </a:p>
        </p:txBody>
      </p:sp>
      <p:sp>
        <p:nvSpPr>
          <p:cNvPr id="8" name="feature-3">
            <a:extLst xmlns:a="http://schemas.openxmlformats.org/drawingml/2006/main">
              <a:ext uri="{FF2B5EF4-FFF2-40B4-BE49-F238E27FC236}">
                <a16:creationId xmlns:a16="http://schemas.microsoft.com/office/drawing/2014/main" id="{ADE849E5-4159-49A8-99EB-553C231E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914775"/>
            <a:ext cx="19431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3~6개월 시범 운영</a:t>
            </a:r>
          </a:p>
        </p:txBody>
      </p:sp>
      <p:sp>
        <p:nvSpPr>
          <p:cNvPr id="9" name="feature-4">
            <a:extLst xmlns:a="http://schemas.openxmlformats.org/drawingml/2006/main">
              <a:ext uri="{FF2B5EF4-FFF2-40B4-BE49-F238E27FC236}">
                <a16:creationId xmlns:a16="http://schemas.microsoft.com/office/drawing/2014/main" id="{265D631B-2771-41A2-B29B-BFE3E980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00575"/>
            <a:ext cx="19431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대상 설정</a:t>
            </a:r>
          </a:p>
        </p:txBody>
      </p:sp>
      <p:sp>
        <p:nvSpPr>
          <p:cNvPr id="10" name="feature-5">
            <a:extLst xmlns:a="http://schemas.openxmlformats.org/drawingml/2006/main">
              <a:ext uri="{FF2B5EF4-FFF2-40B4-BE49-F238E27FC236}">
                <a16:creationId xmlns:a16="http://schemas.microsoft.com/office/drawing/2014/main" id="{526D0119-66A7-4A39-B401-C753A4BF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600575"/>
            <a:ext cx="19431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현장 운영</a:t>
            </a:r>
          </a:p>
        </p:txBody>
      </p:sp>
      <p:sp>
        <p:nvSpPr>
          <p:cNvPr id="11" name="feature-6">
            <a:extLst xmlns:a="http://schemas.openxmlformats.org/drawingml/2006/main">
              <a:ext uri="{FF2B5EF4-FFF2-40B4-BE49-F238E27FC236}">
                <a16:creationId xmlns:a16="http://schemas.microsoft.com/office/drawing/2014/main" id="{48F47610-5D77-492F-9124-962720A2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00575"/>
            <a:ext cx="19431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성과 측정</a:t>
            </a:r>
          </a:p>
        </p:txBody>
      </p:sp>
      <p:sp>
        <p:nvSpPr>
          <p:cNvPr id="12" name="feature-7">
            <a:extLst xmlns:a="http://schemas.openxmlformats.org/drawingml/2006/main">
              <a:ext uri="{FF2B5EF4-FFF2-40B4-BE49-F238E27FC236}">
                <a16:creationId xmlns:a16="http://schemas.microsoft.com/office/drawing/2014/main" id="{225046E9-ABBE-4315-B859-A46FB161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600575"/>
            <a:ext cx="19431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확대 판단</a:t>
            </a:r>
          </a:p>
        </p:txBody>
      </p:sp>
      <p:sp>
        <p:nvSpPr>
          <p:cNvPr id="13" name="body-rail">
            <a:extLst xmlns:a="http://schemas.openxmlformats.org/drawingml/2006/main">
              <a:ext uri="{FF2B5EF4-FFF2-40B4-BE49-F238E27FC236}">
                <a16:creationId xmlns:a16="http://schemas.microsoft.com/office/drawing/2014/main" id="{9838C652-F895-4995-B29D-141835A1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43575"/>
            <a:ext cx="0" cy="2057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83E3A806-592E-467F-92DD-8536E848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838825"/>
            <a:ext cx="83629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최근 방문 규모만으로는 지역 안에서 충분한 소비와 체류가 이어졌다고 보기 어렵습니다. 숙박 방문 비율은 3.1%, 평균 숙박일수는 2.91일입니다.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/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내비게이션 검색 773,380건을 출발 수요로 보고, 검색이 많은 지점과 식음료업·쇼핑업 참여 업소를 3~4시간 동선으로 연결합니다. 처음에는 한 개 코스만 운영하고 이용률과 결제 변화를 확인해 확대 여부를 결정합니다. 방문자가 지역 안에서 이동하고 소비할 이유를 명확히 만들며, 실제 운영 결과를 바탕으로 확대 여부를 판단할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3207223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89566C74-171B-4CC1-A081-68E147C8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952500"/>
            <a:ext cx="758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참여자별 역할과 이용 시나리오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06725C-B232-4DB7-96F0-03854DF8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3830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51BFB9C-216A-4C33-A839-B04730D3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내비게이션 검색 773,380건을 출발 수요로 보고, 검색이 많은 지점과 식음료업·쇼핑업 참여 업소를 3~4시간 동선으로 연결합니다. 처음에는 한 개 코스만 운영하고 이용률과 결제 변화를 확인해…</a:t>
            </a:r>
          </a:p>
        </p:txBody>
      </p:sp>
      <p:sp>
        <p:nvSpPr>
          <p:cNvPr id="4" name="audience-card-0">
            <a:extLst xmlns:a="http://schemas.openxmlformats.org/drawingml/2006/main">
              <a:ext uri="{FF2B5EF4-FFF2-40B4-BE49-F238E27FC236}">
                <a16:creationId xmlns:a16="http://schemas.microsoft.com/office/drawing/2014/main" id="{4C5D9B42-9585-431B-9F85-6047030B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audience-pill-0">
            <a:extLst xmlns:a="http://schemas.openxmlformats.org/drawingml/2006/main">
              <a:ext uri="{FF2B5EF4-FFF2-40B4-BE49-F238E27FC236}">
                <a16:creationId xmlns:a16="http://schemas.microsoft.com/office/drawing/2014/main" id="{78EAE8B0-7A2C-4232-829C-9DE3D07F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목표 방문자</a:t>
            </a:r>
          </a:p>
        </p:txBody>
      </p:sp>
      <p:sp>
        <p:nvSpPr>
          <p:cNvPr id="6" name="bank-roof">
            <a:extLst xmlns:a="http://schemas.openxmlformats.org/drawingml/2006/main">
              <a:ext uri="{FF2B5EF4-FFF2-40B4-BE49-F238E27FC236}">
                <a16:creationId xmlns:a16="http://schemas.microsoft.com/office/drawing/2014/main" id="{6C8830F6-3845-41BD-ACE7-C4EE16F9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305300"/>
            <a:ext cx="685800" cy="2667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bank-entablature">
            <a:extLst xmlns:a="http://schemas.openxmlformats.org/drawingml/2006/main">
              <a:ext uri="{FF2B5EF4-FFF2-40B4-BE49-F238E27FC236}">
                <a16:creationId xmlns:a16="http://schemas.microsoft.com/office/drawing/2014/main" id="{22361731-9751-4C79-BE2B-76D27E71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552950"/>
            <a:ext cx="647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bank-column-0">
            <a:extLst xmlns:a="http://schemas.openxmlformats.org/drawingml/2006/main">
              <a:ext uri="{FF2B5EF4-FFF2-40B4-BE49-F238E27FC236}">
                <a16:creationId xmlns:a16="http://schemas.microsoft.com/office/drawing/2014/main" id="{868A702C-5CDA-4CF8-9FB7-18787E77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29150"/>
            <a:ext cx="9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bank-column-1">
            <a:extLst xmlns:a="http://schemas.openxmlformats.org/drawingml/2006/main">
              <a:ext uri="{FF2B5EF4-FFF2-40B4-BE49-F238E27FC236}">
                <a16:creationId xmlns:a16="http://schemas.microsoft.com/office/drawing/2014/main" id="{50E07DF9-1F3F-4342-BC3E-FCEA01A9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629150"/>
            <a:ext cx="9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bank-column-2">
            <a:extLst xmlns:a="http://schemas.openxmlformats.org/drawingml/2006/main">
              <a:ext uri="{FF2B5EF4-FFF2-40B4-BE49-F238E27FC236}">
                <a16:creationId xmlns:a16="http://schemas.microsoft.com/office/drawing/2014/main" id="{5FF68BE2-FCB4-4D05-BC1B-61264E6C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629150"/>
            <a:ext cx="9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bank-base">
            <a:extLst xmlns:a="http://schemas.openxmlformats.org/drawingml/2006/main">
              <a:ext uri="{FF2B5EF4-FFF2-40B4-BE49-F238E27FC236}">
                <a16:creationId xmlns:a16="http://schemas.microsoft.com/office/drawing/2014/main" id="{AFA7BF87-4EBA-4A3B-85F2-A0BF7B34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7048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person-head-0">
            <a:extLst xmlns:a="http://schemas.openxmlformats.org/drawingml/2006/main">
              <a:ext uri="{FF2B5EF4-FFF2-40B4-BE49-F238E27FC236}">
                <a16:creationId xmlns:a16="http://schemas.microsoft.com/office/drawing/2014/main" id="{C4D1E5F7-41A5-450D-8C04-DE851BB1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143500"/>
            <a:ext cx="16192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person-body-0">
            <a:extLst xmlns:a="http://schemas.openxmlformats.org/drawingml/2006/main">
              <a:ext uri="{FF2B5EF4-FFF2-40B4-BE49-F238E27FC236}">
                <a16:creationId xmlns:a16="http://schemas.microsoft.com/office/drawing/2014/main" id="{45565331-1EEF-44C8-8693-303D68C1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5314950"/>
            <a:ext cx="27622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person-head-1">
            <a:extLst xmlns:a="http://schemas.openxmlformats.org/drawingml/2006/main">
              <a:ext uri="{FF2B5EF4-FFF2-40B4-BE49-F238E27FC236}">
                <a16:creationId xmlns:a16="http://schemas.microsoft.com/office/drawing/2014/main" id="{A250625F-90E3-4075-8371-3188CE54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43500"/>
            <a:ext cx="16192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person-body-1">
            <a:extLst xmlns:a="http://schemas.openxmlformats.org/drawingml/2006/main">
              <a:ext uri="{FF2B5EF4-FFF2-40B4-BE49-F238E27FC236}">
                <a16:creationId xmlns:a16="http://schemas.microsoft.com/office/drawing/2014/main" id="{4397DBDC-F8B2-4022-B35A-686B15BC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14950"/>
            <a:ext cx="27622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person-head-2">
            <a:extLst xmlns:a="http://schemas.openxmlformats.org/drawingml/2006/main">
              <a:ext uri="{FF2B5EF4-FFF2-40B4-BE49-F238E27FC236}">
                <a16:creationId xmlns:a16="http://schemas.microsoft.com/office/drawing/2014/main" id="{8025074B-DFF1-4C48-893F-D68A516D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143500"/>
            <a:ext cx="16192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person-body-2">
            <a:extLst xmlns:a="http://schemas.openxmlformats.org/drawingml/2006/main">
              <a:ext uri="{FF2B5EF4-FFF2-40B4-BE49-F238E27FC236}">
                <a16:creationId xmlns:a16="http://schemas.microsoft.com/office/drawing/2014/main" id="{A9EC7A93-21AC-4A94-A037-BE6FC2A0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5314950"/>
            <a:ext cx="27622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audience-body-0">
            <a:extLst xmlns:a="http://schemas.openxmlformats.org/drawingml/2006/main">
              <a:ext uri="{FF2B5EF4-FFF2-40B4-BE49-F238E27FC236}">
                <a16:creationId xmlns:a16="http://schemas.microsoft.com/office/drawing/2014/main" id="{18036271-88F0-4820-8017-27AD9D82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기획안이 정한 동선·혜택을 이용하고 이용·결제·체류 반응을 남깁니다.</a:t>
            </a:r>
          </a:p>
          <a:p xmlns:a="http://schemas.openxmlformats.org/drawingml/2006/main">
            <a:pPr algn="ctr">
              <a:buNone/>
              <a:def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9" name="audience-divider-0">
            <a:extLst xmlns:a="http://schemas.openxmlformats.org/drawingml/2006/main">
              <a:ext uri="{FF2B5EF4-FFF2-40B4-BE49-F238E27FC236}">
                <a16:creationId xmlns:a16="http://schemas.microsoft.com/office/drawing/2014/main" id="{D37CFD94-BBEC-4549-A877-861B6AF8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audience-role-0">
            <a:extLst xmlns:a="http://schemas.openxmlformats.org/drawingml/2006/main">
              <a:ext uri="{FF2B5EF4-FFF2-40B4-BE49-F238E27FC236}">
                <a16:creationId xmlns:a16="http://schemas.microsoft.com/office/drawing/2014/main" id="{431424E7-8452-4D5A-BFBC-7C483C02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행동: 방문 → 이용 → 선택 결과 확인</a:t>
            </a:r>
          </a:p>
        </p:txBody>
      </p:sp>
      <p:sp>
        <p:nvSpPr>
          <p:cNvPr id="21" name="audience-card-1">
            <a:extLst xmlns:a="http://schemas.openxmlformats.org/drawingml/2006/main">
              <a:ext uri="{FF2B5EF4-FFF2-40B4-BE49-F238E27FC236}">
                <a16:creationId xmlns:a16="http://schemas.microsoft.com/office/drawing/2014/main" id="{E4BF1616-4E6A-46E9-A604-B8790B8D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audience-pill-1">
            <a:extLst xmlns:a="http://schemas.openxmlformats.org/drawingml/2006/main">
              <a:ext uri="{FF2B5EF4-FFF2-40B4-BE49-F238E27FC236}">
                <a16:creationId xmlns:a16="http://schemas.microsoft.com/office/drawing/2014/main" id="{DC565623-691C-46E9-9B1E-CA335ADD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지자체·운영기관</a:t>
            </a:r>
          </a:p>
        </p:txBody>
      </p:sp>
      <p:sp>
        <p:nvSpPr>
          <p:cNvPr id="23" name="chart-axis-y">
            <a:extLst xmlns:a="http://schemas.openxmlformats.org/drawingml/2006/main">
              <a:ext uri="{FF2B5EF4-FFF2-40B4-BE49-F238E27FC236}">
                <a16:creationId xmlns:a16="http://schemas.microsoft.com/office/drawing/2014/main" id="{7BC05C05-C81F-412E-89E1-CED10099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324350"/>
            <a:ext cx="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chart-axis-x">
            <a:extLst xmlns:a="http://schemas.openxmlformats.org/drawingml/2006/main">
              <a:ext uri="{FF2B5EF4-FFF2-40B4-BE49-F238E27FC236}">
                <a16:creationId xmlns:a16="http://schemas.microsoft.com/office/drawing/2014/main" id="{61020F3C-97B9-4268-B7BF-7AD67A2E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94347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chart-line-1">
            <a:extLst xmlns:a="http://schemas.openxmlformats.org/drawingml/2006/main">
              <a:ext uri="{FF2B5EF4-FFF2-40B4-BE49-F238E27FC236}">
                <a16:creationId xmlns:a16="http://schemas.microsoft.com/office/drawing/2014/main" id="{08723FD7-E3D1-4282-9852-0985A2AB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581525"/>
            <a:ext cx="17145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chart-line-2">
            <a:extLst xmlns:a="http://schemas.openxmlformats.org/drawingml/2006/main">
              <a:ext uri="{FF2B5EF4-FFF2-40B4-BE49-F238E27FC236}">
                <a16:creationId xmlns:a16="http://schemas.microsoft.com/office/drawing/2014/main" id="{230CBE43-A271-4E16-B3C4-DD8E5F64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581525"/>
            <a:ext cx="1333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chart-line-3">
            <a:extLst xmlns:a="http://schemas.openxmlformats.org/drawingml/2006/main">
              <a:ext uri="{FF2B5EF4-FFF2-40B4-BE49-F238E27FC236}">
                <a16:creationId xmlns:a16="http://schemas.microsoft.com/office/drawing/2014/main" id="{EF6F49E2-474C-4546-81F0-7C2F57CC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48175"/>
            <a:ext cx="20955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analytics-glyph">
            <a:extLst xmlns:a="http://schemas.openxmlformats.org/drawingml/2006/main">
              <a:ext uri="{FF2B5EF4-FFF2-40B4-BE49-F238E27FC236}">
                <a16:creationId xmlns:a16="http://schemas.microsoft.com/office/drawing/2014/main" id="{92D04C87-C25B-424C-86A1-D812A692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143500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39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00C1D4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100" b="1" i="0">
                <a:solidFill>
                  <a:srgbClr val="00C1D4"/>
                </a:solidFill>
                <a:latin typeface="Segoe UI Symbol"/>
                <a:ea typeface="Segoe UI Symbol"/>
                <a:cs typeface="Segoe UI Symbol"/>
              </a:rPr>
              <a:t>◔  ▮▮▮  ◉</a:t>
            </a:r>
          </a:p>
        </p:txBody>
      </p:sp>
      <p:sp>
        <p:nvSpPr>
          <p:cNvPr id="29" name="audience-body-1">
            <a:extLst xmlns:a="http://schemas.openxmlformats.org/drawingml/2006/main">
              <a:ext uri="{FF2B5EF4-FFF2-40B4-BE49-F238E27FC236}">
                <a16:creationId xmlns:a16="http://schemas.microsoft.com/office/drawing/2014/main" id="{06949467-623E-4320-80B3-3600A711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참여 기준, 운영 품질, 예산 집행, 월별 KPI와 중단·보완·확대 판단을 관리합니다.</a:t>
            </a:r>
          </a:p>
          <a:p xmlns:a="http://schemas.openxmlformats.org/drawingml/2006/main">
            <a:pPr algn="ctr">
              <a:buNone/>
              <a:def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30" name="audience-divider-1">
            <a:extLst xmlns:a="http://schemas.openxmlformats.org/drawingml/2006/main">
              <a:ext uri="{FF2B5EF4-FFF2-40B4-BE49-F238E27FC236}">
                <a16:creationId xmlns:a16="http://schemas.microsoft.com/office/drawing/2014/main" id="{70E4CE22-3136-4945-B6F8-3CBFD1AC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audience-role-1">
            <a:extLst xmlns:a="http://schemas.openxmlformats.org/drawingml/2006/main">
              <a:ext uri="{FF2B5EF4-FFF2-40B4-BE49-F238E27FC236}">
                <a16:creationId xmlns:a16="http://schemas.microsoft.com/office/drawing/2014/main" id="{91A14E64-F9D6-4991-AF2A-62B1E572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역할: 기준 관리·성과 측정·의사결정</a:t>
            </a:r>
          </a:p>
        </p:txBody>
      </p:sp>
      <p:sp>
        <p:nvSpPr>
          <p:cNvPr id="32" name="audience-card-2">
            <a:extLst xmlns:a="http://schemas.openxmlformats.org/drawingml/2006/main">
              <a:ext uri="{FF2B5EF4-FFF2-40B4-BE49-F238E27FC236}">
                <a16:creationId xmlns:a16="http://schemas.microsoft.com/office/drawing/2014/main" id="{29361FBB-3A70-4672-AA0E-E8B8C32A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audience-pill-2">
            <a:extLst xmlns:a="http://schemas.openxmlformats.org/drawingml/2006/main">
              <a:ext uri="{FF2B5EF4-FFF2-40B4-BE49-F238E27FC236}">
                <a16:creationId xmlns:a16="http://schemas.microsoft.com/office/drawing/2014/main" id="{46094810-6C0A-47A8-AF7A-34677C91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관광·상권 사업자</a:t>
            </a:r>
          </a:p>
        </p:txBody>
      </p:sp>
      <p:sp>
        <p:nvSpPr>
          <p:cNvPr id="34" name="shop-awning">
            <a:extLst xmlns:a="http://schemas.openxmlformats.org/drawingml/2006/main">
              <a:ext uri="{FF2B5EF4-FFF2-40B4-BE49-F238E27FC236}">
                <a16:creationId xmlns:a16="http://schemas.microsoft.com/office/drawing/2014/main" id="{1A230C18-23F0-44B6-BF58-277EF5E6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4305300"/>
            <a:ext cx="723900" cy="257175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shop-body">
            <a:extLst xmlns:a="http://schemas.openxmlformats.org/drawingml/2006/main">
              <a:ext uri="{FF2B5EF4-FFF2-40B4-BE49-F238E27FC236}">
                <a16:creationId xmlns:a16="http://schemas.microsoft.com/office/drawing/2014/main" id="{EC9954BC-2837-4E2B-97E1-965BE00B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543425"/>
            <a:ext cx="552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6" name="shop-window">
            <a:extLst xmlns:a="http://schemas.openxmlformats.org/drawingml/2006/main">
              <a:ext uri="{FF2B5EF4-FFF2-40B4-BE49-F238E27FC236}">
                <a16:creationId xmlns:a16="http://schemas.microsoft.com/office/drawing/2014/main" id="{C901F025-7A82-452B-BD47-220A1A9E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6672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shop-door">
            <a:extLst xmlns:a="http://schemas.openxmlformats.org/drawingml/2006/main">
              <a:ext uri="{FF2B5EF4-FFF2-40B4-BE49-F238E27FC236}">
                <a16:creationId xmlns:a16="http://schemas.microsoft.com/office/drawing/2014/main" id="{A3738C6F-C4B4-4BE7-A59B-02A6837F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667250"/>
            <a:ext cx="1143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shops-glyph">
            <a:extLst xmlns:a="http://schemas.openxmlformats.org/drawingml/2006/main">
              <a:ext uri="{FF2B5EF4-FFF2-40B4-BE49-F238E27FC236}">
                <a16:creationId xmlns:a16="http://schemas.microsoft.com/office/drawing/2014/main" id="{014F5A1E-6941-41E9-8FA6-F7627202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5143500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0C1D4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025" b="1" i="0">
                <a:solidFill>
                  <a:srgbClr val="00C1D4"/>
                </a:solidFill>
                <a:latin typeface="Segoe UI Symbol"/>
                <a:ea typeface="Segoe UI Symbol"/>
                <a:cs typeface="Segoe UI Symbol"/>
              </a:rPr>
              <a:t>▰  ▦  ♜</a:t>
            </a:r>
          </a:p>
        </p:txBody>
      </p:sp>
      <p:sp>
        <p:nvSpPr>
          <p:cNvPr id="39" name="audience-body-2">
            <a:extLst xmlns:a="http://schemas.openxmlformats.org/drawingml/2006/main">
              <a:ext uri="{FF2B5EF4-FFF2-40B4-BE49-F238E27FC236}">
                <a16:creationId xmlns:a16="http://schemas.microsoft.com/office/drawing/2014/main" id="{D9085674-740D-4428-BE90-51011B86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현장 상품과 혜택을 운영하고 정해진 항목으로 이용·결제·민원 데이터를 협력합니다.</a:t>
            </a:r>
          </a:p>
          <a:p xmlns:a="http://schemas.openxmlformats.org/drawingml/2006/main">
            <a:pPr algn="ctr">
              <a:buNone/>
              <a:def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40" name="audience-divider-2">
            <a:extLst xmlns:a="http://schemas.openxmlformats.org/drawingml/2006/main">
              <a:ext uri="{FF2B5EF4-FFF2-40B4-BE49-F238E27FC236}">
                <a16:creationId xmlns:a16="http://schemas.microsoft.com/office/drawing/2014/main" id="{5F839689-58C2-4B5A-B556-CA2230F2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audience-role-2">
            <a:extLst xmlns:a="http://schemas.openxmlformats.org/drawingml/2006/main">
              <a:ext uri="{FF2B5EF4-FFF2-40B4-BE49-F238E27FC236}">
                <a16:creationId xmlns:a16="http://schemas.microsoft.com/office/drawing/2014/main" id="{8FBFEBB1-BE5F-4E74-B007-0FC209D0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역할: 현장 운영·데이터 협력</a:t>
            </a:r>
          </a:p>
        </p:txBody>
      </p:sp>
      <p:sp>
        <p:nvSpPr>
          <p:cNvPr id="4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6B55F73-A4FC-4C6B-A6F7-CB473AD9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790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방문을 지역 소비로 연결하는 반나절 관광코스 시범사업 | 3~6개월 시범 운영</a:t>
            </a:r>
          </a:p>
        </p:txBody>
      </p:sp>
      <p:sp>
        <p:nvSpPr>
          <p:cNvPr id="43" name="footer-dot">
            <a:extLst xmlns:a="http://schemas.openxmlformats.org/drawingml/2006/main">
              <a:ext uri="{FF2B5EF4-FFF2-40B4-BE49-F238E27FC236}">
                <a16:creationId xmlns:a16="http://schemas.microsoft.com/office/drawing/2014/main" id="{2E0AD546-7358-4632-9388-540C799C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7934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00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DCC740E-CF60-41B1-8EC6-8777B7B9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839075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Evidence-Driven Tourism Plan</a:t>
            </a:r>
          </a:p>
        </p:txBody>
      </p:sp>
    </p:spTree>
    <p:extLst>
      <p:ext uri="{BB962C8B-B14F-4D97-AF65-F5344CB8AC3E}">
        <p14:creationId xmlns:p14="http://schemas.microsoft.com/office/powerpoint/2010/main" val="5537420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visitor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004880b04a4ffb"/>
          <a:srcRect xmlns:a="http://schemas.openxmlformats.org/drawingml/2006/main" l="31390" r="313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4791075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43173D-B090-48BB-AB55-94D36611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876300"/>
            <a:ext cx="8096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4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핵심 사업 구성 7가지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BB0242C-FDEC-4963-ABFB-596DC97C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526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function-row-0">
            <a:extLst xmlns:a="http://schemas.openxmlformats.org/drawingml/2006/main">
              <a:ext uri="{FF2B5EF4-FFF2-40B4-BE49-F238E27FC236}">
                <a16:creationId xmlns:a16="http://schemas.microsoft.com/office/drawing/2014/main" id="{7B6C9409-216D-4533-A16A-BD14C382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52750"/>
            <a:ext cx="92868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5" name="function-num-0">
            <a:extLst xmlns:a="http://schemas.openxmlformats.org/drawingml/2006/main">
              <a:ext uri="{FF2B5EF4-FFF2-40B4-BE49-F238E27FC236}">
                <a16:creationId xmlns:a16="http://schemas.microsoft.com/office/drawing/2014/main" id="{59F90C01-6EE1-4308-9E69-1C14CF79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337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function-label-0">
            <a:extLst xmlns:a="http://schemas.openxmlformats.org/drawingml/2006/main">
              <a:ext uri="{FF2B5EF4-FFF2-40B4-BE49-F238E27FC236}">
                <a16:creationId xmlns:a16="http://schemas.microsoft.com/office/drawing/2014/main" id="{59B04FF2-686E-4CDB-97B4-68362BD4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1467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최근 12개월 방문·소비·검색 자료에서 후보 권역 1곳 선정: 후보 권역 선정표</a:t>
            </a:r>
          </a:p>
        </p:txBody>
      </p:sp>
      <p:sp>
        <p:nvSpPr>
          <p:cNvPr id="7" name="function-row-1">
            <a:extLst xmlns:a="http://schemas.openxmlformats.org/drawingml/2006/main">
              <a:ext uri="{FF2B5EF4-FFF2-40B4-BE49-F238E27FC236}">
                <a16:creationId xmlns:a16="http://schemas.microsoft.com/office/drawing/2014/main" id="{87DC414D-ECE6-4C3C-AC98-7CBE645D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81425"/>
            <a:ext cx="92868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8" name="function-num-1">
            <a:extLst xmlns:a="http://schemas.openxmlformats.org/drawingml/2006/main">
              <a:ext uri="{FF2B5EF4-FFF2-40B4-BE49-F238E27FC236}">
                <a16:creationId xmlns:a16="http://schemas.microsoft.com/office/drawing/2014/main" id="{B950D475-93ED-4E09-BAAB-70D31FB0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624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9" name="function-label-1">
            <a:extLst xmlns:a="http://schemas.openxmlformats.org/drawingml/2006/main">
              <a:ext uri="{FF2B5EF4-FFF2-40B4-BE49-F238E27FC236}">
                <a16:creationId xmlns:a16="http://schemas.microsoft.com/office/drawing/2014/main" id="{1CF2D37F-5A3B-472D-9F2D-B4B9DE57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433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식음료업·쇼핑업 참여 업소와 관광 지점을 연결한 도보·대중교통 동선 설계: 시범코스 지도와 참여 기준</a:t>
            </a:r>
          </a:p>
        </p:txBody>
      </p:sp>
      <p:sp>
        <p:nvSpPr>
          <p:cNvPr id="10" name="function-row-2">
            <a:extLst xmlns:a="http://schemas.openxmlformats.org/drawingml/2006/main">
              <a:ext uri="{FF2B5EF4-FFF2-40B4-BE49-F238E27FC236}">
                <a16:creationId xmlns:a16="http://schemas.microsoft.com/office/drawing/2014/main" id="{7807D172-B241-44ED-A7C7-009E8E14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610100"/>
            <a:ext cx="92868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11" name="function-num-2">
            <a:extLst xmlns:a="http://schemas.openxmlformats.org/drawingml/2006/main">
              <a:ext uri="{FF2B5EF4-FFF2-40B4-BE49-F238E27FC236}">
                <a16:creationId xmlns:a16="http://schemas.microsoft.com/office/drawing/2014/main" id="{95CDBEC0-0A20-42D7-9C62-60278FBD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79107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2" name="function-label-2">
            <a:extLst xmlns:a="http://schemas.openxmlformats.org/drawingml/2006/main">
              <a:ext uri="{FF2B5EF4-FFF2-40B4-BE49-F238E27FC236}">
                <a16:creationId xmlns:a16="http://schemas.microsoft.com/office/drawing/2014/main" id="{213C0466-2B03-4917-A50A-089BF27E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7202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모바일 안내 페이지와 공통 혜택을 준비하고 참여 업소 운영 교육: 안내 페이지와 운영 매뉴얼</a:t>
            </a:r>
          </a:p>
        </p:txBody>
      </p:sp>
      <p:sp>
        <p:nvSpPr>
          <p:cNvPr id="13" name="bottom-band">
            <a:extLst xmlns:a="http://schemas.openxmlformats.org/drawingml/2006/main">
              <a:ext uri="{FF2B5EF4-FFF2-40B4-BE49-F238E27FC236}">
                <a16:creationId xmlns:a16="http://schemas.microsoft.com/office/drawing/2014/main" id="{E6A48815-B570-4052-BC4D-DFB3B932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981700"/>
            <a:ext cx="104394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analysis-tag">
            <a:extLst xmlns:a="http://schemas.openxmlformats.org/drawingml/2006/main">
              <a:ext uri="{FF2B5EF4-FFF2-40B4-BE49-F238E27FC236}">
                <a16:creationId xmlns:a16="http://schemas.microsoft.com/office/drawing/2014/main" id="{3C07D6D4-F760-4934-9476-D249F16D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562725"/>
            <a:ext cx="2514600" cy="3619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0C1D4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P I L O T   &amp;   M E A S U R E</a:t>
            </a:r>
          </a:p>
        </p:txBody>
      </p:sp>
      <p:sp>
        <p:nvSpPr>
          <p:cNvPr id="15" name="function-more-left">
            <a:extLst xmlns:a="http://schemas.openxmlformats.org/drawingml/2006/main">
              <a:ext uri="{FF2B5EF4-FFF2-40B4-BE49-F238E27FC236}">
                <a16:creationId xmlns:a16="http://schemas.microsoft.com/office/drawing/2014/main" id="{DD434EF7-4F27-45E8-9F47-203D7936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7200900"/>
            <a:ext cx="46958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④  주말  중심으로  시범  운영하고  이용  건수·업종별  소비·체류  반응  기록:  월간  운영  결과표  ⑤  운영  전후  같은  달  지표를  비교해  유지·수정·확대  결정:  성과  비교표와  다음  운영안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6" name="function-more-right">
            <a:extLst xmlns:a="http://schemas.openxmlformats.org/drawingml/2006/main">
              <a:ext uri="{FF2B5EF4-FFF2-40B4-BE49-F238E27FC236}">
                <a16:creationId xmlns:a16="http://schemas.microsoft.com/office/drawing/2014/main" id="{530C62B0-A84F-4A05-AE1D-6E4EA932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7200900"/>
            <a:ext cx="4857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⑥  성과  측정:  코스  이용  건수,  참여  업소  결제  건수,  외지인  관광소비액,  숙박  방문  비율을  운영  전후  같은  기준으로  확인합니다.  ⑦  예산  확정:  안내  페이지,  홍보물,  참여  업소  운영  지원,  성과  측정  항목별로  수량을  정한  뒤  2개  이상  비교견적으로  산정합니다.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088873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56D2C68C-9804-4F78-AFF6-72BE73CF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T H R E E - M O N T H   P I L O T   P L A 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6C8465E-D0F9-4EEF-AA67-014E6735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19175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>
                <a:latin typeface="Noto Sans KR"/>
                <a:ea typeface="Noto Sans KR"/>
                <a:cs typeface="Noto Sans KR"/>
              </a:defRPr>
            </a:pPr>
            <a:r>
              <a:rPr sz="3675" b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3~6개월 시범 운영 실행 </a:t>
            </a:r>
            <a:r>
              <a:rPr sz="36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Flow 및 산출물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746C03D-7627-4B08-A838-FDEDDCBA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24025"/>
            <a:ext cx="1333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47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step-0-rule">
            <a:extLst xmlns:a="http://schemas.openxmlformats.org/drawingml/2006/main">
              <a:ext uri="{FF2B5EF4-FFF2-40B4-BE49-F238E27FC236}">
                <a16:creationId xmlns:a16="http://schemas.microsoft.com/office/drawing/2014/main" id="{6FD80474-E3B5-4508-9AC4-E8AD6531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step-0-label">
            <a:extLst xmlns:a="http://schemas.openxmlformats.org/drawingml/2006/main">
              <a:ext uri="{FF2B5EF4-FFF2-40B4-BE49-F238E27FC236}">
                <a16:creationId xmlns:a16="http://schemas.microsoft.com/office/drawing/2014/main" id="{E97A8DBE-CE91-46C0-9CCD-63E1F1CA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847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01 · 1~2주</a:t>
            </a:r>
          </a:p>
        </p:txBody>
      </p:sp>
      <p:sp>
        <p:nvSpPr>
          <p:cNvPr id="6" name="step-0-title">
            <a:extLst xmlns:a="http://schemas.openxmlformats.org/drawingml/2006/main">
              <a:ext uri="{FF2B5EF4-FFF2-40B4-BE49-F238E27FC236}">
                <a16:creationId xmlns:a16="http://schemas.microsoft.com/office/drawing/2014/main" id="{59B9BEF0-4231-459C-9517-C04054BE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48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최근 12개월 방문·소비·검색 자료에서 후보 권역 1곳…</a:t>
            </a:r>
          </a:p>
        </p:txBody>
      </p:sp>
      <p:sp>
        <p:nvSpPr>
          <p:cNvPr id="7" name="step-0-body">
            <a:extLst xmlns:a="http://schemas.openxmlformats.org/drawingml/2006/main">
              <a:ext uri="{FF2B5EF4-FFF2-40B4-BE49-F238E27FC236}">
                <a16:creationId xmlns:a16="http://schemas.microsoft.com/office/drawing/2014/main" id="{07941CCA-2692-4F3B-B5FF-8DEBA22D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705225"/>
            <a:ext cx="3048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최근 12개월 방문·소비·검색 자료에서 후보 권역 1곳 선정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산출물: 후보 권역 선정표</a:t>
            </a:r>
          </a:p>
        </p:txBody>
      </p:sp>
      <p:sp>
        <p:nvSpPr>
          <p:cNvPr id="8" name="step-1-rule">
            <a:extLst xmlns:a="http://schemas.openxmlformats.org/drawingml/2006/main">
              <a:ext uri="{FF2B5EF4-FFF2-40B4-BE49-F238E27FC236}">
                <a16:creationId xmlns:a16="http://schemas.microsoft.com/office/drawing/2014/main" id="{271037CD-3D94-4954-A9B7-62A07A13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step-1-label">
            <a:extLst xmlns:a="http://schemas.openxmlformats.org/drawingml/2006/main">
              <a:ext uri="{FF2B5EF4-FFF2-40B4-BE49-F238E27FC236}">
                <a16:creationId xmlns:a16="http://schemas.microsoft.com/office/drawing/2014/main" id="{5310D594-B49B-4A22-8DE6-7E9C62CC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47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02 · 3~4주</a:t>
            </a:r>
          </a:p>
        </p:txBody>
      </p:sp>
      <p:sp>
        <p:nvSpPr>
          <p:cNvPr id="10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BF52D1D6-661A-435F-8541-DBE90D7A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48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식음료업·쇼핑업 참여 업소와 관광 지점을 연결한…</a:t>
            </a:r>
          </a:p>
        </p:txBody>
      </p:sp>
      <p:sp>
        <p:nvSpPr>
          <p:cNvPr id="11" name="step-1-body">
            <a:extLst xmlns:a="http://schemas.openxmlformats.org/drawingml/2006/main">
              <a:ext uri="{FF2B5EF4-FFF2-40B4-BE49-F238E27FC236}">
                <a16:creationId xmlns:a16="http://schemas.microsoft.com/office/drawing/2014/main" id="{B1CA67F2-083B-484D-B979-9EA70E2B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05225"/>
            <a:ext cx="3048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식음료업·쇼핑업 참여 업소와 관광 지점을 연결한 도보·대중교통 동선 설계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산출물: 시범코스 지도와 참여 기준</a:t>
            </a:r>
          </a:p>
        </p:txBody>
      </p:sp>
      <p:sp>
        <p:nvSpPr>
          <p:cNvPr id="12" name="step-2-rule">
            <a:extLst xmlns:a="http://schemas.openxmlformats.org/drawingml/2006/main">
              <a:ext uri="{FF2B5EF4-FFF2-40B4-BE49-F238E27FC236}">
                <a16:creationId xmlns:a16="http://schemas.microsoft.com/office/drawing/2014/main" id="{9818F010-1CC6-465C-A6DB-482EF862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step-2-label">
            <a:extLst xmlns:a="http://schemas.openxmlformats.org/drawingml/2006/main">
              <a:ext uri="{FF2B5EF4-FFF2-40B4-BE49-F238E27FC236}">
                <a16:creationId xmlns:a16="http://schemas.microsoft.com/office/drawing/2014/main" id="{ACA8C8F1-D10F-43C1-A65D-52FACF40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47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03 · 2개월차</a:t>
            </a:r>
          </a:p>
        </p:txBody>
      </p:sp>
      <p:sp>
        <p:nvSpPr>
          <p:cNvPr id="14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08134B86-8D30-402C-9CEF-074FEC17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248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모바일 안내 페이지와 공통 혜택을 준비하고 참여 업소…</a:t>
            </a:r>
          </a:p>
        </p:txBody>
      </p:sp>
      <p:sp>
        <p:nvSpPr>
          <p:cNvPr id="15" name="step-2-body">
            <a:extLst xmlns:a="http://schemas.openxmlformats.org/drawingml/2006/main">
              <a:ext uri="{FF2B5EF4-FFF2-40B4-BE49-F238E27FC236}">
                <a16:creationId xmlns:a16="http://schemas.microsoft.com/office/drawing/2014/main" id="{A3D6FB23-F5E8-415A-9C62-CDDD2FCA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705225"/>
            <a:ext cx="3048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모바일 안내 페이지와 공통 혜택을 준비하고 참여 업소 운영 교육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산출물: 안내 페이지와 운영 매뉴얼</a:t>
            </a:r>
          </a:p>
        </p:txBody>
      </p:sp>
      <p:sp>
        <p:nvSpPr>
          <p:cNvPr id="16" name="step-3-rule">
            <a:extLst xmlns:a="http://schemas.openxmlformats.org/drawingml/2006/main">
              <a:ext uri="{FF2B5EF4-FFF2-40B4-BE49-F238E27FC236}">
                <a16:creationId xmlns:a16="http://schemas.microsoft.com/office/drawing/2014/main" id="{D0CBC112-A98C-4EA5-BA4F-54DB9D57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step-3-label">
            <a:extLst xmlns:a="http://schemas.openxmlformats.org/drawingml/2006/main">
              <a:ext uri="{FF2B5EF4-FFF2-40B4-BE49-F238E27FC236}">
                <a16:creationId xmlns:a16="http://schemas.microsoft.com/office/drawing/2014/main" id="{F0662ED8-32C0-41E6-86B5-4085829F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847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04 · 3~4개월차</a:t>
            </a:r>
          </a:p>
        </p:txBody>
      </p:sp>
      <p:sp>
        <p:nvSpPr>
          <p:cNvPr id="18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F4EEECAE-8F09-478C-9B9E-19776C11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48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주말 중심으로 시범 운영하고 이용 건수·업종별 소비·체류…</a:t>
            </a:r>
          </a:p>
        </p:txBody>
      </p:sp>
      <p:sp>
        <p:nvSpPr>
          <p:cNvPr id="19" name="step-3-body">
            <a:extLst xmlns:a="http://schemas.openxmlformats.org/drawingml/2006/main">
              <a:ext uri="{FF2B5EF4-FFF2-40B4-BE49-F238E27FC236}">
                <a16:creationId xmlns:a16="http://schemas.microsoft.com/office/drawing/2014/main" id="{C705A7EA-982B-4870-B075-B69149AF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705225"/>
            <a:ext cx="3048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주말 중심으로 시범 운영하고 이용 건수·업종별 소비·체류 반응 기록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산출물: 월간 운영 결과표</a:t>
            </a:r>
          </a:p>
        </p:txBody>
      </p:sp>
      <p:sp>
        <p:nvSpPr>
          <p:cNvPr id="20" name="value-panel">
            <a:extLst xmlns:a="http://schemas.openxmlformats.org/drawingml/2006/main">
              <a:ext uri="{FF2B5EF4-FFF2-40B4-BE49-F238E27FC236}">
                <a16:creationId xmlns:a16="http://schemas.microsoft.com/office/drawing/2014/main" id="{0A5928CC-5352-494A-82B9-C6E3C567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476875"/>
            <a:ext cx="13201650" cy="235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value-panel-rail">
            <a:extLst xmlns:a="http://schemas.openxmlformats.org/drawingml/2006/main">
              <a:ext uri="{FF2B5EF4-FFF2-40B4-BE49-F238E27FC236}">
                <a16:creationId xmlns:a16="http://schemas.microsoft.com/office/drawing/2014/main" id="{FF527866-641E-44D2-8381-B96977EA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476875"/>
            <a:ext cx="0" cy="2352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value-title">
            <a:extLst xmlns:a="http://schemas.openxmlformats.org/drawingml/2006/main">
              <a:ext uri="{FF2B5EF4-FFF2-40B4-BE49-F238E27FC236}">
                <a16:creationId xmlns:a16="http://schemas.microsoft.com/office/drawing/2014/main" id="{3506D103-ACC9-4612-8F44-8648D013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000750"/>
            <a:ext cx="481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05 · 5~6개월차</a:t>
            </a:r>
          </a:p>
        </p:txBody>
      </p:sp>
      <p:sp>
        <p:nvSpPr>
          <p:cNvPr id="23" name="value-body">
            <a:extLst xmlns:a="http://schemas.openxmlformats.org/drawingml/2006/main">
              <a:ext uri="{FF2B5EF4-FFF2-40B4-BE49-F238E27FC236}">
                <a16:creationId xmlns:a16="http://schemas.microsoft.com/office/drawing/2014/main" id="{E6BA8404-9624-4B90-BC5C-9706A7B2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457950"/>
            <a:ext cx="122015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운영 전후 같은 달 지표를 비교해 유지·수정·확대 결정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산출물: 성과 비교표와 다음 운영안. 목표 달성 여부뿐 아니라 비용·이탈·현장 운영 가능성을 함께 보고 중단·보완·확대를 결정합니다.</a:t>
            </a:r>
          </a:p>
        </p:txBody>
      </p:sp>
    </p:spTree>
    <p:extLst>
      <p:ext uri="{BB962C8B-B14F-4D97-AF65-F5344CB8AC3E}">
        <p14:creationId xmlns:p14="http://schemas.microsoft.com/office/powerpoint/2010/main" val="3803839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30D6B92A-E8CC-48F5-9680-60F39CE8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6275"/>
            <a:ext cx="448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P E E R   C O M P A R I S O N   &amp;   D E C I S I O 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1DBCD6-2592-41E7-A3B6-2AEB4418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14425"/>
            <a:ext cx="78771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유사 지역 비교가 가리키는 </a:t>
            </a:r>
            <a:r>
              <a:rPr sz="36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전략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E468CD8-9AB7-4607-A79D-2796B31D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85975"/>
            <a:ext cx="1306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grid">
            <a:extLst xmlns:a="http://schemas.openxmlformats.org/drawingml/2006/main">
              <a:ext uri="{FF2B5EF4-FFF2-40B4-BE49-F238E27FC236}">
                <a16:creationId xmlns:a16="http://schemas.microsoft.com/office/drawing/2014/main" id="{82EDB80F-7AEA-4B4C-9FC2-33090AC4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13058775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8111BC7A-2C75-4CBD-AB98-B0DC44AC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781300"/>
            <a:ext cx="0" cy="5257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grid-h">
            <a:extLst xmlns:a="http://schemas.openxmlformats.org/drawingml/2006/main">
              <a:ext uri="{FF2B5EF4-FFF2-40B4-BE49-F238E27FC236}">
                <a16:creationId xmlns:a16="http://schemas.microsoft.com/office/drawing/2014/main" id="{28241900-71DE-48EC-A279-4E2A6684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00675"/>
            <a:ext cx="13058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diff-num-0">
            <a:extLst xmlns:a="http://schemas.openxmlformats.org/drawingml/2006/main">
              <a:ext uri="{FF2B5EF4-FFF2-40B4-BE49-F238E27FC236}">
                <a16:creationId xmlns:a16="http://schemas.microsoft.com/office/drawing/2014/main" id="{5B179CE8-6329-4234-8846-DA66D254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67025"/>
            <a:ext cx="542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diff-title-0">
            <a:extLst xmlns:a="http://schemas.openxmlformats.org/drawingml/2006/main">
              <a:ext uri="{FF2B5EF4-FFF2-40B4-BE49-F238E27FC236}">
                <a16:creationId xmlns:a16="http://schemas.microsoft.com/office/drawing/2014/main" id="{3FC5221D-E74B-4DAB-9F37-4393399B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886075"/>
            <a:ext cx="5362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월간 순 방문자 수</a:t>
            </a:r>
          </a:p>
        </p:txBody>
      </p:sp>
      <p:sp>
        <p:nvSpPr>
          <p:cNvPr id="9" name="diff-body-0">
            <a:extLst xmlns:a="http://schemas.openxmlformats.org/drawingml/2006/main">
              <a:ext uri="{FF2B5EF4-FFF2-40B4-BE49-F238E27FC236}">
                <a16:creationId xmlns:a16="http://schemas.microsoft.com/office/drawing/2014/main" id="{397EA389-F953-4FF3-BE82-156ECEFA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52825"/>
            <a:ext cx="590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17,963,441명. 선택 지역 공식 원자료의 최신 월 관측값입니다.</a:t>
            </a:r>
          </a:p>
        </p:txBody>
      </p:sp>
      <p:sp>
        <p:nvSpPr>
          <p:cNvPr id="10" name="diff-plus-0">
            <a:extLst xmlns:a="http://schemas.openxmlformats.org/drawingml/2006/main">
              <a:ext uri="{FF2B5EF4-FFF2-40B4-BE49-F238E27FC236}">
                <a16:creationId xmlns:a16="http://schemas.microsoft.com/office/drawing/2014/main" id="{FA8127FD-DDBD-4B6D-8DD4-2CDCD182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14825"/>
            <a:ext cx="3609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+ 관측 사실에서 출발</a:t>
            </a:r>
          </a:p>
        </p:txBody>
      </p:sp>
      <p:sp>
        <p:nvSpPr>
          <p:cNvPr id="11" name="diff-plus-orange-0">
            <a:extLst xmlns:a="http://schemas.openxmlformats.org/drawingml/2006/main">
              <a:ext uri="{FF2B5EF4-FFF2-40B4-BE49-F238E27FC236}">
                <a16:creationId xmlns:a16="http://schemas.microsoft.com/office/drawing/2014/main" id="{A57412D2-7DF5-4C59-A785-8AEB4428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14825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12" name="diff-num-1">
            <a:extLst xmlns:a="http://schemas.openxmlformats.org/drawingml/2006/main">
              <a:ext uri="{FF2B5EF4-FFF2-40B4-BE49-F238E27FC236}">
                <a16:creationId xmlns:a16="http://schemas.microsoft.com/office/drawing/2014/main" id="{042D6BFD-8C70-44F2-A6AF-68361E6F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67025"/>
            <a:ext cx="542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diff-title-1">
            <a:extLst xmlns:a="http://schemas.openxmlformats.org/drawingml/2006/main">
              <a:ext uri="{FF2B5EF4-FFF2-40B4-BE49-F238E27FC236}">
                <a16:creationId xmlns:a16="http://schemas.microsoft.com/office/drawing/2014/main" id="{39052A63-7565-4AFB-A81A-781058D9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886075"/>
            <a:ext cx="5362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전년동월 외지인 방문자 증감률</a:t>
            </a:r>
          </a:p>
        </p:txBody>
      </p:sp>
      <p:sp>
        <p:nvSpPr>
          <p:cNvPr id="14" name="diff-body-1">
            <a:extLst xmlns:a="http://schemas.openxmlformats.org/drawingml/2006/main">
              <a:ext uri="{FF2B5EF4-FFF2-40B4-BE49-F238E27FC236}">
                <a16:creationId xmlns:a16="http://schemas.microsoft.com/office/drawing/2014/main" id="{749EFAD3-629C-4E57-9A57-2F5E3960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52825"/>
            <a:ext cx="590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-8.3%. 선택 지역 공식 원자료의 최신 월 관측값입니다.</a:t>
            </a:r>
          </a:p>
        </p:txBody>
      </p:sp>
      <p:sp>
        <p:nvSpPr>
          <p:cNvPr id="15" name="diff-plus-1">
            <a:extLst xmlns:a="http://schemas.openxmlformats.org/drawingml/2006/main">
              <a:ext uri="{FF2B5EF4-FFF2-40B4-BE49-F238E27FC236}">
                <a16:creationId xmlns:a16="http://schemas.microsoft.com/office/drawing/2014/main" id="{BEE72E06-DEDE-432B-B6B9-6F96F1CF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14825"/>
            <a:ext cx="3609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+ 같은 기준으로 확인</a:t>
            </a:r>
          </a:p>
        </p:txBody>
      </p:sp>
      <p:sp>
        <p:nvSpPr>
          <p:cNvPr id="16" name="diff-plus-orange-1">
            <a:extLst xmlns:a="http://schemas.openxmlformats.org/drawingml/2006/main">
              <a:ext uri="{FF2B5EF4-FFF2-40B4-BE49-F238E27FC236}">
                <a16:creationId xmlns:a16="http://schemas.microsoft.com/office/drawing/2014/main" id="{9BFE81BE-C35B-4BD3-9F38-0E41CB9F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14825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17" name="diff-num-2">
            <a:extLst xmlns:a="http://schemas.openxmlformats.org/drawingml/2006/main">
              <a:ext uri="{FF2B5EF4-FFF2-40B4-BE49-F238E27FC236}">
                <a16:creationId xmlns:a16="http://schemas.microsoft.com/office/drawing/2014/main" id="{4D448592-403C-4EF4-8007-F16B4D59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05525"/>
            <a:ext cx="542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diff-title-2">
            <a:extLst xmlns:a="http://schemas.openxmlformats.org/drawingml/2006/main">
              <a:ext uri="{FF2B5EF4-FFF2-40B4-BE49-F238E27FC236}">
                <a16:creationId xmlns:a16="http://schemas.microsoft.com/office/drawing/2014/main" id="{5D9F67B1-93E0-43C5-91C6-C0426605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6124575"/>
            <a:ext cx="5362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비교 지역 신호</a:t>
            </a:r>
          </a:p>
        </p:txBody>
      </p:sp>
      <p:sp>
        <p:nvSpPr>
          <p:cNvPr id="19" name="diff-body-2">
            <a:extLst xmlns:a="http://schemas.openxmlformats.org/drawingml/2006/main">
              <a:ext uri="{FF2B5EF4-FFF2-40B4-BE49-F238E27FC236}">
                <a16:creationId xmlns:a16="http://schemas.microsoft.com/office/drawing/2014/main" id="{EB459863-C1CA-487A-9CB6-3FB96BA5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91325"/>
            <a:ext cx="590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같은 기간·같은 기준으로 비교할 지역 원본이 충분하지 않아 선택 지역의 월별 변화만 사용했습니다.</a:t>
            </a:r>
          </a:p>
        </p:txBody>
      </p:sp>
      <p:sp>
        <p:nvSpPr>
          <p:cNvPr id="20" name="diff-plus-2">
            <a:extLst xmlns:a="http://schemas.openxmlformats.org/drawingml/2006/main">
              <a:ext uri="{FF2B5EF4-FFF2-40B4-BE49-F238E27FC236}">
                <a16:creationId xmlns:a16="http://schemas.microsoft.com/office/drawing/2014/main" id="{7303984B-C6EE-4C86-9BC4-B30BBF18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553325"/>
            <a:ext cx="3609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+ 비교는 인과효과가 아님</a:t>
            </a:r>
          </a:p>
        </p:txBody>
      </p:sp>
      <p:sp>
        <p:nvSpPr>
          <p:cNvPr id="21" name="diff-plus-orange-2">
            <a:extLst xmlns:a="http://schemas.openxmlformats.org/drawingml/2006/main">
              <a:ext uri="{FF2B5EF4-FFF2-40B4-BE49-F238E27FC236}">
                <a16:creationId xmlns:a16="http://schemas.microsoft.com/office/drawing/2014/main" id="{0B6717C1-A26D-4507-A5EF-57A37FEF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553325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22" name="diff-num-3">
            <a:extLst xmlns:a="http://schemas.openxmlformats.org/drawingml/2006/main">
              <a:ext uri="{FF2B5EF4-FFF2-40B4-BE49-F238E27FC236}">
                <a16:creationId xmlns:a16="http://schemas.microsoft.com/office/drawing/2014/main" id="{557E9041-6D43-44D5-AC83-F2F91E6F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6105525"/>
            <a:ext cx="542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3" name="diff-title-3">
            <a:extLst xmlns:a="http://schemas.openxmlformats.org/drawingml/2006/main">
              <a:ext uri="{FF2B5EF4-FFF2-40B4-BE49-F238E27FC236}">
                <a16:creationId xmlns:a16="http://schemas.microsoft.com/office/drawing/2014/main" id="{87DB96F2-E1FB-4ACE-9435-CA826544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124575"/>
            <a:ext cx="5362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실행 판단</a:t>
            </a:r>
          </a:p>
        </p:txBody>
      </p:sp>
      <p:sp>
        <p:nvSpPr>
          <p:cNvPr id="24" name="diff-body-3">
            <a:extLst xmlns:a="http://schemas.openxmlformats.org/drawingml/2006/main">
              <a:ext uri="{FF2B5EF4-FFF2-40B4-BE49-F238E27FC236}">
                <a16:creationId xmlns:a16="http://schemas.microsoft.com/office/drawing/2014/main" id="{7D299F22-9EC3-4717-985C-5C94FACD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6791325"/>
            <a:ext cx="590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최근 방문 규모만으로는 지역 안에서 충분한 소비와 체류가 이어졌다고 보기 어렵습니다. 숙박 방문 비율은 3.1%, 평균 숙박일수는 2.91일입니다.</a:t>
            </a:r>
          </a:p>
        </p:txBody>
      </p:sp>
      <p:sp>
        <p:nvSpPr>
          <p:cNvPr id="25" name="diff-plus-3">
            <a:extLst xmlns:a="http://schemas.openxmlformats.org/drawingml/2006/main">
              <a:ext uri="{FF2B5EF4-FFF2-40B4-BE49-F238E27FC236}">
                <a16:creationId xmlns:a16="http://schemas.microsoft.com/office/drawing/2014/main" id="{13001AD4-1711-4DB5-801D-66759E0A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7553325"/>
            <a:ext cx="3609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+ 3~6개월 시범 운영</a:t>
            </a:r>
          </a:p>
        </p:txBody>
      </p:sp>
      <p:sp>
        <p:nvSpPr>
          <p:cNvPr id="26" name="diff-plus-orange-3">
            <a:extLst xmlns:a="http://schemas.openxmlformats.org/drawingml/2006/main">
              <a:ext uri="{FF2B5EF4-FFF2-40B4-BE49-F238E27FC236}">
                <a16:creationId xmlns:a16="http://schemas.microsoft.com/office/drawing/2014/main" id="{2AA2B92A-6911-4A37-BBF4-70B85C3E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7553325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9306943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alace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e1c63e261148a0"/>
          <a:srcRect xmlns:a="http://schemas.openxmlformats.org/drawingml/2006/main" l="26876" r="268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9286875" y="0"/>
            <a:ext cx="5953125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9965D2B-742B-49AB-AFFC-0141FF20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057275"/>
            <a:ext cx="3533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M L   N A T U R A L   T R E N D   &amp;   T A R G E 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BDAA44-8EBB-4981-B6CE-1EDFB0FD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47800"/>
            <a:ext cx="81248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>
                <a:latin typeface="Noto Sans KR"/>
                <a:ea typeface="Noto Sans KR"/>
                <a:cs typeface="Noto Sans KR"/>
              </a:defRPr>
            </a:pPr>
            <a:r>
              <a:rPr sz="3525" b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3개월 자연추세와 </a:t>
            </a:r>
            <a:r>
              <a:rPr sz="35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검토 목표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09610720-202B-4F09-8037-567ABC57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733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F4CE408F-7D39-483A-AE7E-5DDC832E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67025"/>
            <a:ext cx="7543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ML은 기존 이력으로 자연추세를 계산합니다. 정책을 하지 않았을 때의 인과적 반사실이나 사업효과 예측이 아닙니다.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사용자 목표 미입력은 담당자가 검토를 위해 입력한 목표 수준이며 자연추세와의 차이를 성과 보장으로 해석하지 않습니다.</a:t>
            </a:r>
          </a:p>
        </p:txBody>
      </p:sp>
      <p:sp>
        <p:nvSpPr>
          <p:cNvPr id="6" name="prediction-rail">
            <a:extLst xmlns:a="http://schemas.openxmlformats.org/drawingml/2006/main">
              <a:ext uri="{FF2B5EF4-FFF2-40B4-BE49-F238E27FC236}">
                <a16:creationId xmlns:a16="http://schemas.microsoft.com/office/drawing/2014/main" id="{3CC9773F-81A2-46D4-897F-04FD3941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prediction-title">
            <a:extLst xmlns:a="http://schemas.openxmlformats.org/drawingml/2006/main">
              <a:ext uri="{FF2B5EF4-FFF2-40B4-BE49-F238E27FC236}">
                <a16:creationId xmlns:a16="http://schemas.microsoft.com/office/drawing/2014/main" id="{9D7B9C8E-7531-4597-8395-092405B0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3개월 ML 자연추세</a:t>
            </a:r>
          </a:p>
        </p:txBody>
      </p:sp>
      <p:sp>
        <p:nvSpPr>
          <p:cNvPr id="8" name="prediction-body">
            <a:extLst xmlns:a="http://schemas.openxmlformats.org/drawingml/2006/main">
              <a:ext uri="{FF2B5EF4-FFF2-40B4-BE49-F238E27FC236}">
                <a16:creationId xmlns:a16="http://schemas.microsoft.com/office/drawing/2014/main" id="{CD0582B5-403A-4E15-B748-8572E400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00550"/>
            <a:ext cx="7324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방문자 합계 5,403만 명 · 관광소비 1.393조 원. 원자료 이후 3개월의 저장 모델 전망입니다.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9" name="rag-rail">
            <a:extLst xmlns:a="http://schemas.openxmlformats.org/drawingml/2006/main">
              <a:ext uri="{FF2B5EF4-FFF2-40B4-BE49-F238E27FC236}">
                <a16:creationId xmlns:a16="http://schemas.microsoft.com/office/drawing/2014/main" id="{59B93260-E909-441F-A152-9596530C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67325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rag-title">
            <a:extLst xmlns:a="http://schemas.openxmlformats.org/drawingml/2006/main">
              <a:ext uri="{FF2B5EF4-FFF2-40B4-BE49-F238E27FC236}">
                <a16:creationId xmlns:a16="http://schemas.microsoft.com/office/drawing/2014/main" id="{DA73CCEB-7FB8-4355-B780-B827A43C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95900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자연추세와 목표 수준의 산술 차이</a:t>
            </a:r>
          </a:p>
        </p:txBody>
      </p:sp>
      <p:sp>
        <p:nvSpPr>
          <p:cNvPr id="11" name="rag-body">
            <a:extLst xmlns:a="http://schemas.openxmlformats.org/drawingml/2006/main">
              <a:ext uri="{FF2B5EF4-FFF2-40B4-BE49-F238E27FC236}">
                <a16:creationId xmlns:a16="http://schemas.microsoft.com/office/drawing/2014/main" id="{6711E847-5DFC-4F6B-A7AC-E06CC4C3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86425"/>
            <a:ext cx="7324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담당자 목표율을 입력하면 필요한 월별 수준을 함께 계산합니다.. 이 차이는 정책 인과효과나 보장 성과가 아닙니다.</a:t>
            </a:r>
          </a:p>
        </p:txBody>
      </p:sp>
      <p:sp>
        <p:nvSpPr>
          <p:cNvPr id="12" name="tech-tag-0">
            <a:extLst xmlns:a="http://schemas.openxmlformats.org/drawingml/2006/main">
              <a:ext uri="{FF2B5EF4-FFF2-40B4-BE49-F238E27FC236}">
                <a16:creationId xmlns:a16="http://schemas.microsoft.com/office/drawing/2014/main" id="{0EA517D9-D4C9-4514-A591-17F06640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696075"/>
            <a:ext cx="981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시간순 검증</a:t>
            </a:r>
          </a:p>
        </p:txBody>
      </p:sp>
      <p:sp>
        <p:nvSpPr>
          <p:cNvPr id="13" name="tech-tag-1">
            <a:extLst xmlns:a="http://schemas.openxmlformats.org/drawingml/2006/main">
              <a:ext uri="{FF2B5EF4-FFF2-40B4-BE49-F238E27FC236}">
                <a16:creationId xmlns:a16="http://schemas.microsoft.com/office/drawing/2014/main" id="{F77688F9-DE30-46D6-A085-D71CB775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6696075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저장 모델</a:t>
            </a:r>
          </a:p>
        </p:txBody>
      </p:sp>
      <p:sp>
        <p:nvSpPr>
          <p:cNvPr id="14" name="tech-tag-2">
            <a:extLst xmlns:a="http://schemas.openxmlformats.org/drawingml/2006/main">
              <a:ext uri="{FF2B5EF4-FFF2-40B4-BE49-F238E27FC236}">
                <a16:creationId xmlns:a16="http://schemas.microsoft.com/office/drawing/2014/main" id="{C3AD8E2A-DDA1-4806-A5B4-1793CD7B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696075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3개월 전망</a:t>
            </a:r>
          </a:p>
        </p:txBody>
      </p:sp>
      <p:graphicFrame>
        <p:nvGraphicFramePr>
          <p:cNvPr id="32" name="visitor-natural-target-chart"/>
          <p:cNvGraphicFramePr/>
          <p:nvPr/>
        </p:nvGraphicFramePr>
        <p:xfrm>
          <a:off xmlns:a="http://schemas.openxmlformats.org/drawingml/2006/main" x="1009650" y="5191125"/>
          <a:ext xmlns:a="http://schemas.openxmlformats.org/drawingml/2006/main" cx="752475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955cf718df48bd"/>
          </a:graphicData>
        </a:graphic>
      </p:graphicFrame>
      <p:sp>
        <p:nvSpPr>
          <p:cNvPr id="17" name="forecast-chart-note">
            <a:extLst xmlns:a="http://schemas.openxmlformats.org/drawingml/2006/main">
              <a:ext uri="{FF2B5EF4-FFF2-40B4-BE49-F238E27FC236}">
                <a16:creationId xmlns:a16="http://schemas.microsoft.com/office/drawing/2014/main" id="{9EC9EF53-B27B-48CD-AA6D-1B07121C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124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단위: 백만 명 · 자연추세와 사용자 검토 목표</a:t>
            </a:r>
          </a:p>
        </p:txBody>
      </p:sp>
    </p:spTree>
    <p:extLst>
      <p:ext uri="{BB962C8B-B14F-4D97-AF65-F5344CB8AC3E}">
        <p14:creationId xmlns:p14="http://schemas.microsoft.com/office/powerpoint/2010/main" val="1767458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island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39a03102414e57"/>
          <a:srcRect xmlns:a="http://schemas.openxmlformats.org/drawingml/2006/main" l="29097" r="290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9877425" y="38100"/>
            <a:ext cx="5334000" cy="8505825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E7D48FBA-7209-4694-8898-345F9345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076325"/>
            <a:ext cx="3533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B U D G E T   F O R M U L A   &amp;   K P I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B47A03-506E-4149-B937-66765324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457325"/>
            <a:ext cx="81248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예산 산식 및 </a:t>
            </a:r>
            <a:r>
              <a:rPr sz="3600" b="1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성과 측정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17D69D-823C-4D07-A9EB-0AC744C1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66950"/>
            <a:ext cx="791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6329FC8E-195C-45D9-8123-1B9D8429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847975"/>
            <a:ext cx="7600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안내 페이지, 홍보물, 참여 업소 운영 지원, 성과 측정 항목별로 수량을 정한 뒤 2개 이상 비교견적으로 산정합니다.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6" name="dashboard-rail">
            <a:extLst xmlns:a="http://schemas.openxmlformats.org/drawingml/2006/main">
              <a:ext uri="{FF2B5EF4-FFF2-40B4-BE49-F238E27FC236}">
                <a16:creationId xmlns:a16="http://schemas.microsoft.com/office/drawing/2014/main" id="{9BE94A36-2943-4E88-B24E-66109F70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238625"/>
            <a:ext cx="0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dashboard-title">
            <a:extLst xmlns:a="http://schemas.openxmlformats.org/drawingml/2006/main">
              <a:ext uri="{FF2B5EF4-FFF2-40B4-BE49-F238E27FC236}">
                <a16:creationId xmlns:a16="http://schemas.microsoft.com/office/drawing/2014/main" id="{5A8CD150-B4FE-4BF8-B6C6-DE88B588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86250"/>
            <a:ext cx="3533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예산 조건 · 희망 예산 미정</a:t>
            </a:r>
          </a:p>
        </p:txBody>
      </p:sp>
      <p:sp>
        <p:nvSpPr>
          <p:cNvPr id="8" name="dashboard-body">
            <a:extLst xmlns:a="http://schemas.openxmlformats.org/drawingml/2006/main">
              <a:ext uri="{FF2B5EF4-FFF2-40B4-BE49-F238E27FC236}">
                <a16:creationId xmlns:a16="http://schemas.microsoft.com/office/drawing/2014/main" id="{C4465979-A2B2-432C-8E9B-859897CE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24400"/>
            <a:ext cx="3476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안내 페이지, 홍보물, 참여 업소 운영 지원, 성과 측정 항목별로 수량을 정한 뒤 2개 이상 비교견적으로 산정합니다.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9" name="analysis-rail">
            <a:extLst xmlns:a="http://schemas.openxmlformats.org/drawingml/2006/main">
              <a:ext uri="{FF2B5EF4-FFF2-40B4-BE49-F238E27FC236}">
                <a16:creationId xmlns:a16="http://schemas.microsoft.com/office/drawing/2014/main" id="{1572652E-8668-4368-ACB8-903355EF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38625"/>
            <a:ext cx="0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analysis-title">
            <a:extLst xmlns:a="http://schemas.openxmlformats.org/drawingml/2006/main">
              <a:ext uri="{FF2B5EF4-FFF2-40B4-BE49-F238E27FC236}">
                <a16:creationId xmlns:a16="http://schemas.microsoft.com/office/drawing/2014/main" id="{0C654D2C-AC31-4495-9545-0DAE5ED6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286250"/>
            <a:ext cx="3533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성과 판단 KPI</a:t>
            </a:r>
          </a:p>
        </p:txBody>
      </p:sp>
      <p:sp>
        <p:nvSpPr>
          <p:cNvPr id="11" name="analysis-body">
            <a:extLst xmlns:a="http://schemas.openxmlformats.org/drawingml/2006/main">
              <a:ext uri="{FF2B5EF4-FFF2-40B4-BE49-F238E27FC236}">
                <a16:creationId xmlns:a16="http://schemas.microsoft.com/office/drawing/2014/main" id="{DB2F5A81-D4FD-489F-82C8-C6166E89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724400"/>
            <a:ext cx="3476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코스 이용 건수, 참여 업소 결제 건수, 외지인 관광소비액, 숙박 방문 비율을 운영 전후 같은 기준으로 확인합니다.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2" name="report-card">
            <a:extLst xmlns:a="http://schemas.openxmlformats.org/drawingml/2006/main">
              <a:ext uri="{FF2B5EF4-FFF2-40B4-BE49-F238E27FC236}">
                <a16:creationId xmlns:a16="http://schemas.microsoft.com/office/drawing/2014/main" id="{01ECDF9F-37D9-484C-997E-3809C467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000750"/>
            <a:ext cx="3810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report-card-title">
            <a:extLst xmlns:a="http://schemas.openxmlformats.org/drawingml/2006/main">
              <a:ext uri="{FF2B5EF4-FFF2-40B4-BE49-F238E27FC236}">
                <a16:creationId xmlns:a16="http://schemas.microsoft.com/office/drawing/2014/main" id="{1353BCF8-2C10-48C9-B173-6A79000E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25792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예산 확정 원칙</a:t>
            </a:r>
          </a:p>
        </p:txBody>
      </p:sp>
      <p:sp>
        <p:nvSpPr>
          <p:cNvPr id="14" name="report-card-body">
            <a:extLst xmlns:a="http://schemas.openxmlformats.org/drawingml/2006/main">
              <a:ext uri="{FF2B5EF4-FFF2-40B4-BE49-F238E27FC236}">
                <a16:creationId xmlns:a16="http://schemas.microsoft.com/office/drawing/2014/main" id="{796461ED-E207-428E-ADB1-53B8A04F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629400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수량·단가·운영범위 검증 후</a:t>
            </a:r>
          </a:p>
        </p:txBody>
      </p:sp>
      <p:sp>
        <p:nvSpPr>
          <p:cNvPr id="15" name="report-card-orange">
            <a:extLst xmlns:a="http://schemas.openxmlformats.org/drawingml/2006/main">
              <a:ext uri="{FF2B5EF4-FFF2-40B4-BE49-F238E27FC236}">
                <a16:creationId xmlns:a16="http://schemas.microsoft.com/office/drawing/2014/main" id="{9F582882-6E9C-4D93-8DCC-9FDEE65D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05625"/>
            <a:ext cx="2781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공식 단가·비교견적으로 확정</a:t>
            </a:r>
          </a:p>
        </p:txBody>
      </p:sp>
      <p:sp>
        <p:nvSpPr>
          <p:cNvPr id="16" name="map-card">
            <a:extLst xmlns:a="http://schemas.openxmlformats.org/drawingml/2006/main">
              <a:ext uri="{FF2B5EF4-FFF2-40B4-BE49-F238E27FC236}">
                <a16:creationId xmlns:a16="http://schemas.microsoft.com/office/drawing/2014/main" id="{60160296-0010-438C-8C26-7EBA5D46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000750"/>
            <a:ext cx="38195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map-card-title">
            <a:extLst xmlns:a="http://schemas.openxmlformats.org/drawingml/2006/main">
              <a:ext uri="{FF2B5EF4-FFF2-40B4-BE49-F238E27FC236}">
                <a16:creationId xmlns:a16="http://schemas.microsoft.com/office/drawing/2014/main" id="{BE455A73-544C-45BA-A88B-6981407D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25792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측정 설계 원칙</a:t>
            </a:r>
          </a:p>
        </p:txBody>
      </p:sp>
      <p:sp>
        <p:nvSpPr>
          <p:cNvPr id="18" name="map-card-body">
            <a:extLst xmlns:a="http://schemas.openxmlformats.org/drawingml/2006/main">
              <a:ext uri="{FF2B5EF4-FFF2-40B4-BE49-F238E27FC236}">
                <a16:creationId xmlns:a16="http://schemas.microsoft.com/office/drawing/2014/main" id="{0E481C2C-4BC3-4728-82FE-9D729B77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629400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운영 전·후 같은 기준과</a:t>
            </a:r>
          </a:p>
        </p:txBody>
      </p:sp>
      <p:sp>
        <p:nvSpPr>
          <p:cNvPr id="19" name="map-card-orange">
            <a:extLst xmlns:a="http://schemas.openxmlformats.org/drawingml/2006/main">
              <a:ext uri="{FF2B5EF4-FFF2-40B4-BE49-F238E27FC236}">
                <a16:creationId xmlns:a16="http://schemas.microsoft.com/office/drawing/2014/main" id="{40E98527-DF47-4B36-8CA4-81AD0B8A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905625"/>
            <a:ext cx="2781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참여·비참여 집단을 구분</a:t>
            </a:r>
          </a:p>
        </p:txBody>
      </p:sp>
    </p:spTree>
    <p:extLst>
      <p:ext uri="{BB962C8B-B14F-4D97-AF65-F5344CB8AC3E}">
        <p14:creationId xmlns:p14="http://schemas.microsoft.com/office/powerpoint/2010/main" val="18231333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workspace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e111bffae14b36"/>
          <a:srcRect xmlns:a="http://schemas.openxmlformats.org/drawingml/2006/main" l="30582" r="305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0248900" y="0"/>
            <a:ext cx="49911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4FF5B46D-ACEF-49E8-88C7-77915515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5775"/>
            <a:ext cx="5086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E V I D E N C E   T O   P L A N   P I P E L I N 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B07090-CAEC-44A9-A7D5-A693A75B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42975"/>
            <a:ext cx="78200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8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48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근거가 기획안이 되는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8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48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5-Agent 구조</a:t>
            </a:r>
          </a:p>
        </p:txBody>
      </p:sp>
      <p:sp>
        <p:nvSpPr>
          <p:cNvPr id="4" name="short-rule">
            <a:extLst xmlns:a="http://schemas.openxmlformats.org/drawingml/2006/main">
              <a:ext uri="{FF2B5EF4-FFF2-40B4-BE49-F238E27FC236}">
                <a16:creationId xmlns:a16="http://schemas.microsoft.com/office/drawing/2014/main" id="{12D0EFAC-7234-430A-BD04-4FDB295C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771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stack-card-0">
            <a:extLst xmlns:a="http://schemas.openxmlformats.org/drawingml/2006/main">
              <a:ext uri="{FF2B5EF4-FFF2-40B4-BE49-F238E27FC236}">
                <a16:creationId xmlns:a16="http://schemas.microsoft.com/office/drawing/2014/main" id="{2102C729-BE5F-47E3-8365-EF21CDFA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40576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stack-card-0-rail">
            <a:extLst xmlns:a="http://schemas.openxmlformats.org/drawingml/2006/main">
              <a:ext uri="{FF2B5EF4-FFF2-40B4-BE49-F238E27FC236}">
                <a16:creationId xmlns:a16="http://schemas.microsoft.com/office/drawing/2014/main" id="{8EE01844-55D3-44CB-B365-3AEEEEE5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0" cy="847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stack-card-0-title">
            <a:extLst xmlns:a="http://schemas.openxmlformats.org/drawingml/2006/main">
              <a:ext uri="{FF2B5EF4-FFF2-40B4-BE49-F238E27FC236}">
                <a16:creationId xmlns:a16="http://schemas.microsoft.com/office/drawing/2014/main" id="{7808BF96-70AB-49FA-926C-173A63D3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905250"/>
            <a:ext cx="26765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Evidence Agent</a:t>
            </a:r>
          </a:p>
        </p:txBody>
      </p:sp>
      <p:sp>
        <p:nvSpPr>
          <p:cNvPr id="8" name="stack-card-0-body">
            <a:extLst xmlns:a="http://schemas.openxmlformats.org/drawingml/2006/main">
              <a:ext uri="{FF2B5EF4-FFF2-40B4-BE49-F238E27FC236}">
                <a16:creationId xmlns:a16="http://schemas.microsoft.com/office/drawing/2014/main" id="{A4AAFC6D-0D25-4652-8333-440E7BB1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291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MySQL 실제값·ML 자연추세·지역 근거 정리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6E747B"/>
                </a:solidFill>
                <a:latin typeface="Noto Sans KR"/>
              </a:rPr>
              <a:t>상태: 이번 샘플 미실행</a:t>
            </a:r>
          </a:p>
        </p:txBody>
      </p:sp>
      <p:sp>
        <p:nvSpPr>
          <p:cNvPr id="9" name="stack-card-1">
            <a:extLst xmlns:a="http://schemas.openxmlformats.org/drawingml/2006/main">
              <a:ext uri="{FF2B5EF4-FFF2-40B4-BE49-F238E27FC236}">
                <a16:creationId xmlns:a16="http://schemas.microsoft.com/office/drawing/2014/main" id="{410AC1C8-3BB0-4A8C-BCB4-A06F0623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695700"/>
            <a:ext cx="40576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stack-card-1-rail">
            <a:extLst xmlns:a="http://schemas.openxmlformats.org/drawingml/2006/main">
              <a:ext uri="{FF2B5EF4-FFF2-40B4-BE49-F238E27FC236}">
                <a16:creationId xmlns:a16="http://schemas.microsoft.com/office/drawing/2014/main" id="{014B4858-5A6D-4478-9F82-811B7ED9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695700"/>
            <a:ext cx="0" cy="847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stack-card-1-title">
            <a:extLst xmlns:a="http://schemas.openxmlformats.org/drawingml/2006/main">
              <a:ext uri="{FF2B5EF4-FFF2-40B4-BE49-F238E27FC236}">
                <a16:creationId xmlns:a16="http://schemas.microsoft.com/office/drawing/2014/main" id="{178665D7-2663-4824-B5DE-25268DE2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905250"/>
            <a:ext cx="26765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Case Scout</a:t>
            </a:r>
          </a:p>
        </p:txBody>
      </p:sp>
      <p:sp>
        <p:nvSpPr>
          <p:cNvPr id="12" name="stack-card-1-body">
            <a:extLst xmlns:a="http://schemas.openxmlformats.org/drawingml/2006/main">
              <a:ext uri="{FF2B5EF4-FFF2-40B4-BE49-F238E27FC236}">
                <a16:creationId xmlns:a16="http://schemas.microsoft.com/office/drawing/2014/main" id="{0497E4CD-F2B5-4577-9ABF-8E704CED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2291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RAG와 공식 웹에서 유사 사례·예산·성과 검색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6E747B"/>
                </a:solidFill>
                <a:latin typeface="Noto Sans KR"/>
              </a:rPr>
              <a:t>상태: 이번 샘플 미실행</a:t>
            </a:r>
          </a:p>
        </p:txBody>
      </p:sp>
      <p:sp>
        <p:nvSpPr>
          <p:cNvPr id="13" name="stack-card-2">
            <a:extLst xmlns:a="http://schemas.openxmlformats.org/drawingml/2006/main">
              <a:ext uri="{FF2B5EF4-FFF2-40B4-BE49-F238E27FC236}">
                <a16:creationId xmlns:a16="http://schemas.microsoft.com/office/drawing/2014/main" id="{CE3ACFDB-E2D2-459A-9122-5176EBF5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33925"/>
            <a:ext cx="40576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stack-card-2-rail">
            <a:extLst xmlns:a="http://schemas.openxmlformats.org/drawingml/2006/main">
              <a:ext uri="{FF2B5EF4-FFF2-40B4-BE49-F238E27FC236}">
                <a16:creationId xmlns:a16="http://schemas.microsoft.com/office/drawing/2014/main" id="{3FDAD850-2DC1-4B93-A285-E8CE7CF5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33925"/>
            <a:ext cx="0" cy="847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stack-card-2-title">
            <a:extLst xmlns:a="http://schemas.openxmlformats.org/drawingml/2006/main">
              <a:ext uri="{FF2B5EF4-FFF2-40B4-BE49-F238E27FC236}">
                <a16:creationId xmlns:a16="http://schemas.microsoft.com/office/drawing/2014/main" id="{38972BC2-F123-442A-9015-C3E92D97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943475"/>
            <a:ext cx="26765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Transferability</a:t>
            </a:r>
          </a:p>
        </p:txBody>
      </p:sp>
      <p:sp>
        <p:nvSpPr>
          <p:cNvPr id="16" name="stack-card-2-body">
            <a:extLst xmlns:a="http://schemas.openxmlformats.org/drawingml/2006/main">
              <a:ext uri="{FF2B5EF4-FFF2-40B4-BE49-F238E27FC236}">
                <a16:creationId xmlns:a16="http://schemas.microsoft.com/office/drawing/2014/main" id="{F99C6C36-12F8-452E-B873-3B444CF1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267325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지역 차이와 적용·제외 조건, 시범 범위 검토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6E747B"/>
                </a:solidFill>
                <a:latin typeface="Noto Sans KR"/>
              </a:rPr>
              <a:t>상태: 이번 샘플 미실행</a:t>
            </a:r>
          </a:p>
        </p:txBody>
      </p:sp>
      <p:sp>
        <p:nvSpPr>
          <p:cNvPr id="17" name="stack-card-3">
            <a:extLst xmlns:a="http://schemas.openxmlformats.org/drawingml/2006/main">
              <a:ext uri="{FF2B5EF4-FFF2-40B4-BE49-F238E27FC236}">
                <a16:creationId xmlns:a16="http://schemas.microsoft.com/office/drawing/2014/main" id="{95DB6C61-F240-48D8-AB16-32420821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733925"/>
            <a:ext cx="40576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stack-card-3-rail">
            <a:extLst xmlns:a="http://schemas.openxmlformats.org/drawingml/2006/main">
              <a:ext uri="{FF2B5EF4-FFF2-40B4-BE49-F238E27FC236}">
                <a16:creationId xmlns:a16="http://schemas.microsoft.com/office/drawing/2014/main" id="{D05A99EE-50C0-40DD-AC95-77415EBC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733925"/>
            <a:ext cx="0" cy="847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stack-card-3-title">
            <a:extLst xmlns:a="http://schemas.openxmlformats.org/drawingml/2006/main">
              <a:ext uri="{FF2B5EF4-FFF2-40B4-BE49-F238E27FC236}">
                <a16:creationId xmlns:a16="http://schemas.microsoft.com/office/drawing/2014/main" id="{29DB9699-F5CC-443D-A33F-05801FAC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943475"/>
            <a:ext cx="26765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Planner Agent</a:t>
            </a:r>
          </a:p>
        </p:txBody>
      </p:sp>
      <p:sp>
        <p:nvSpPr>
          <p:cNvPr id="20" name="stack-card-3-body">
            <a:extLst xmlns:a="http://schemas.openxmlformats.org/drawingml/2006/main">
              <a:ext uri="{FF2B5EF4-FFF2-40B4-BE49-F238E27FC236}">
                <a16:creationId xmlns:a16="http://schemas.microsoft.com/office/drawing/2014/main" id="{29FAB007-E190-445C-9A17-0D8DD888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267325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문제·솔루션·5단계·예산 산식·KPI 설계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6E747B"/>
                </a:solidFill>
                <a:latin typeface="Noto Sans KR"/>
              </a:rPr>
              <a:t>상태: 이번 샘플 미실행</a:t>
            </a:r>
          </a:p>
        </p:txBody>
      </p:sp>
      <p:sp>
        <p:nvSpPr>
          <p:cNvPr id="21" name="body">
            <a:extLst xmlns:a="http://schemas.openxmlformats.org/drawingml/2006/main">
              <a:ext uri="{FF2B5EF4-FFF2-40B4-BE49-F238E27FC236}">
                <a16:creationId xmlns:a16="http://schemas.microsoft.com/office/drawing/2014/main" id="{F18701B2-D261-4FBF-8CF4-9E7DB501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57925"/>
            <a:ext cx="813435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⑤ Reviewer Agent는 실제 생성 시 관측 사실·ML 전망·사용자 목표·추천을 다시 분리하고 근거 없는 수치와 관광지를 차단합니다.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/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이번 파일은 API 비용 없이 레이아웃과 데이터 배치를 검토하는 오프라인 샘플입니다. OpenAI와 5-Agent는 실행하지 않았습니다.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/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실제 생성에서는 MySQL 사실, ML 자연추세, RAG 공식 사례를 검증한 뒤 JSON 품질 게이트를 통과한 결과만 출력합니다. 연결 자료: datalab.visitkorea.or.kr</a:t>
            </a:r>
          </a:p>
        </p:txBody>
      </p:sp>
    </p:spTree>
    <p:extLst>
      <p:ext uri="{BB962C8B-B14F-4D97-AF65-F5344CB8AC3E}">
        <p14:creationId xmlns:p14="http://schemas.microsoft.com/office/powerpoint/2010/main" val="2770628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">
            <a:extLst xmlns:a="http://schemas.openxmlformats.org/drawingml/2006/main">
              <a:ext uri="{FF2B5EF4-FFF2-40B4-BE49-F238E27FC236}">
                <a16:creationId xmlns:a16="http://schemas.microsoft.com/office/drawing/2014/main" id="{7809EB03-E1D8-4B3D-96C4-AA327A20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66950"/>
            <a:ext cx="63531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2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42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기대 효과 및 확대 판단</a:t>
            </a:r>
          </a:p>
        </p:txBody>
      </p:sp>
      <p:sp>
        <p:nvSpPr>
          <p:cNvPr id="2" name="column-line-1">
            <a:extLst xmlns:a="http://schemas.openxmlformats.org/drawingml/2006/main">
              <a:ext uri="{FF2B5EF4-FFF2-40B4-BE49-F238E27FC236}">
                <a16:creationId xmlns:a16="http://schemas.microsoft.com/office/drawing/2014/main" id="{7AF7F9BF-3A99-474E-A050-C5588CC7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718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column-line-2">
            <a:extLst xmlns:a="http://schemas.openxmlformats.org/drawingml/2006/main">
              <a:ext uri="{FF2B5EF4-FFF2-40B4-BE49-F238E27FC236}">
                <a16:creationId xmlns:a16="http://schemas.microsoft.com/office/drawing/2014/main" id="{66D57082-5011-45CA-9E18-88DF7DD7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718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expected-pill">
            <a:extLst xmlns:a="http://schemas.openxmlformats.org/drawingml/2006/main">
              <a:ext uri="{FF2B5EF4-FFF2-40B4-BE49-F238E27FC236}">
                <a16:creationId xmlns:a16="http://schemas.microsoft.com/office/drawing/2014/main" id="{07AC9F43-995E-47B2-B264-6586997C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측정 가능한 전환</a:t>
            </a:r>
          </a:p>
        </p:txBody>
      </p:sp>
      <p:sp>
        <p:nvSpPr>
          <p:cNvPr id="5" name="expected-card">
            <a:extLst xmlns:a="http://schemas.openxmlformats.org/drawingml/2006/main">
              <a:ext uri="{FF2B5EF4-FFF2-40B4-BE49-F238E27FC236}">
                <a16:creationId xmlns:a16="http://schemas.microsoft.com/office/drawing/2014/main" id="{D2C6D383-FF5C-4128-AE40-7ECFDDEF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4048125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expected-body">
            <a:extLst xmlns:a="http://schemas.openxmlformats.org/drawingml/2006/main">
              <a:ext uri="{FF2B5EF4-FFF2-40B4-BE49-F238E27FC236}">
                <a16:creationId xmlns:a16="http://schemas.microsoft.com/office/drawing/2014/main" id="{36A6D734-2976-4831-B0D4-1AE2CBC1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33900"/>
            <a:ext cx="3486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방문자가 지역 안에서 이동하고 소비할 이유를 명확히 만들며, 실제 운영 결과를 바탕으로 확대 여부를 판단할 수 있습니다.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7" name="indicator-pill">
            <a:extLst xmlns:a="http://schemas.openxmlformats.org/drawingml/2006/main">
              <a:ext uri="{FF2B5EF4-FFF2-40B4-BE49-F238E27FC236}">
                <a16:creationId xmlns:a16="http://schemas.microsoft.com/office/drawing/2014/main" id="{2AA1FD02-C801-4C5E-96B8-C2B7A85F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9120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월별 KPI 추적</a:t>
            </a:r>
          </a:p>
        </p:txBody>
      </p:sp>
      <p:sp>
        <p:nvSpPr>
          <p:cNvPr id="8" name="indicator-circle-0">
            <a:extLst xmlns:a="http://schemas.openxmlformats.org/drawingml/2006/main">
              <a:ext uri="{FF2B5EF4-FFF2-40B4-BE49-F238E27FC236}">
                <a16:creationId xmlns:a16="http://schemas.microsoft.com/office/drawing/2014/main" id="{B5AA79C5-B445-4282-8187-486E81F2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indicator-glyph-0">
            <a:extLst xmlns:a="http://schemas.openxmlformats.org/drawingml/2006/main">
              <a:ext uri="{FF2B5EF4-FFF2-40B4-BE49-F238E27FC236}">
                <a16:creationId xmlns:a16="http://schemas.microsoft.com/office/drawing/2014/main" id="{9B4A4D83-3DB0-474E-9D3C-195E6DC3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⌁</a:t>
            </a:r>
          </a:p>
        </p:txBody>
      </p:sp>
      <p:sp>
        <p:nvSpPr>
          <p:cNvPr id="10" name="indicator-circle-1">
            <a:extLst xmlns:a="http://schemas.openxmlformats.org/drawingml/2006/main">
              <a:ext uri="{FF2B5EF4-FFF2-40B4-BE49-F238E27FC236}">
                <a16:creationId xmlns:a16="http://schemas.microsoft.com/office/drawing/2014/main" id="{B719D672-73A0-4417-8018-07989F70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indicator-glyph-1">
            <a:extLst xmlns:a="http://schemas.openxmlformats.org/drawingml/2006/main">
              <a:ext uri="{FF2B5EF4-FFF2-40B4-BE49-F238E27FC236}">
                <a16:creationId xmlns:a16="http://schemas.microsoft.com/office/drawing/2014/main" id="{596F5692-71BF-434F-958A-89B6868A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◔</a:t>
            </a:r>
          </a:p>
        </p:txBody>
      </p:sp>
      <p:sp>
        <p:nvSpPr>
          <p:cNvPr id="12" name="indicator-circle-2">
            <a:extLst xmlns:a="http://schemas.openxmlformats.org/drawingml/2006/main">
              <a:ext uri="{FF2B5EF4-FFF2-40B4-BE49-F238E27FC236}">
                <a16:creationId xmlns:a16="http://schemas.microsoft.com/office/drawing/2014/main" id="{2AC0D30B-DDD4-4E74-A314-636D7CF5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indicator-glyph-2">
            <a:extLst xmlns:a="http://schemas.openxmlformats.org/drawingml/2006/main">
              <a:ext uri="{FF2B5EF4-FFF2-40B4-BE49-F238E27FC236}">
                <a16:creationId xmlns:a16="http://schemas.microsoft.com/office/drawing/2014/main" id="{93B5A93F-29C9-4AE1-AA73-2BE737B4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▦</a:t>
            </a:r>
          </a:p>
        </p:txBody>
      </p:sp>
      <p:sp>
        <p:nvSpPr>
          <p:cNvPr id="14" name="indicator-circle-3">
            <a:extLst xmlns:a="http://schemas.openxmlformats.org/drawingml/2006/main">
              <a:ext uri="{FF2B5EF4-FFF2-40B4-BE49-F238E27FC236}">
                <a16:creationId xmlns:a16="http://schemas.microsoft.com/office/drawing/2014/main" id="{E235D51A-DF5E-4DB8-810A-B9FE1052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indicator-glyph-3">
            <a:extLst xmlns:a="http://schemas.openxmlformats.org/drawingml/2006/main">
              <a:ext uri="{FF2B5EF4-FFF2-40B4-BE49-F238E27FC236}">
                <a16:creationId xmlns:a16="http://schemas.microsoft.com/office/drawing/2014/main" id="{1CA00698-1BA7-4C47-B7D1-49D23AAA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▤</a:t>
            </a:r>
          </a:p>
        </p:txBody>
      </p:sp>
      <p:sp>
        <p:nvSpPr>
          <p:cNvPr id="16" name="indicator-circle-4">
            <a:extLst xmlns:a="http://schemas.openxmlformats.org/drawingml/2006/main">
              <a:ext uri="{FF2B5EF4-FFF2-40B4-BE49-F238E27FC236}">
                <a16:creationId xmlns:a16="http://schemas.microsoft.com/office/drawing/2014/main" id="{223D3B08-E01D-4662-8D68-EC230DF9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indicator-glyph-4">
            <a:extLst xmlns:a="http://schemas.openxmlformats.org/drawingml/2006/main">
              <a:ext uri="{FF2B5EF4-FFF2-40B4-BE49-F238E27FC236}">
                <a16:creationId xmlns:a16="http://schemas.microsoft.com/office/drawing/2014/main" id="{AC65B1CB-640D-4DE4-93B2-1B5C183D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⚡</a:t>
            </a:r>
          </a:p>
        </p:txBody>
      </p:sp>
      <p:sp>
        <p:nvSpPr>
          <p:cNvPr id="18" name="indicator-circle-5">
            <a:extLst xmlns:a="http://schemas.openxmlformats.org/drawingml/2006/main">
              <a:ext uri="{FF2B5EF4-FFF2-40B4-BE49-F238E27FC236}">
                <a16:creationId xmlns:a16="http://schemas.microsoft.com/office/drawing/2014/main" id="{6019C75D-1FC2-4667-B692-DDD073C8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D4D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indicator-glyph-5">
            <a:extLst xmlns:a="http://schemas.openxmlformats.org/drawingml/2006/main">
              <a:ext uri="{FF2B5EF4-FFF2-40B4-BE49-F238E27FC236}">
                <a16:creationId xmlns:a16="http://schemas.microsoft.com/office/drawing/2014/main" id="{C7AF409C-91A3-4936-BB4D-7B252755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◎</a:t>
            </a:r>
          </a:p>
        </p:txBody>
      </p:sp>
      <p:sp>
        <p:nvSpPr>
          <p:cNvPr id="20" name="service-pill">
            <a:extLst xmlns:a="http://schemas.openxmlformats.org/drawingml/2006/main">
              <a:ext uri="{FF2B5EF4-FFF2-40B4-BE49-F238E27FC236}">
                <a16:creationId xmlns:a16="http://schemas.microsoft.com/office/drawing/2014/main" id="{FBBEFB7E-A7FD-4723-AE5B-8D907756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37185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3~6개월 시범 운영 판단 게이트</a:t>
            </a:r>
          </a:p>
        </p:txBody>
      </p:sp>
      <p:sp>
        <p:nvSpPr>
          <p:cNvPr id="21" name="service-body">
            <a:extLst xmlns:a="http://schemas.openxmlformats.org/drawingml/2006/main">
              <a:ext uri="{FF2B5EF4-FFF2-40B4-BE49-F238E27FC236}">
                <a16:creationId xmlns:a16="http://schemas.microsoft.com/office/drawing/2014/main" id="{0599DDA5-9C77-4328-A928-CB50C56F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295775"/>
            <a:ext cx="36480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목표 달성 여부뿐 아니라 비용, 이탈 구간, 민원, 사업자 운영 가능성을 함께 보고 중단·보완·확대를 결정합니다.</a:t>
            </a:r>
          </a:p>
        </p:txBody>
      </p:sp>
      <p:sp>
        <p:nvSpPr>
          <p:cNvPr id="22" name="service-note">
            <a:extLst xmlns:a="http://schemas.openxmlformats.org/drawingml/2006/main">
              <a:ext uri="{FF2B5EF4-FFF2-40B4-BE49-F238E27FC236}">
                <a16:creationId xmlns:a16="http://schemas.microsoft.com/office/drawing/2014/main" id="{880D0D04-81DF-42E1-BC18-56D5BF8F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5553075"/>
            <a:ext cx="36480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 i="1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* 자연추세와 실제 운영 결과를 비교하되 관측 설계가 약하면 인과효과로 표현하지 않습니다.</a:t>
            </a:r>
          </a:p>
        </p:txBody>
      </p:sp>
      <p:sp>
        <p:nvSpPr>
          <p:cNvPr id="23" name="service-scope">
            <a:extLst xmlns:a="http://schemas.openxmlformats.org/drawingml/2006/main">
              <a:ext uri="{FF2B5EF4-FFF2-40B4-BE49-F238E27FC236}">
                <a16:creationId xmlns:a16="http://schemas.microsoft.com/office/drawing/2014/main" id="{3F7087DF-6EBD-4030-AAA5-C6BF09BE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55320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0C1D4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의사결정: 증거 우선</a:t>
            </a:r>
          </a:p>
        </p:txBody>
      </p:sp>
      <p:sp>
        <p:nvSpPr>
          <p:cNvPr id="24" name="private-pill">
            <a:extLst xmlns:a="http://schemas.openxmlformats.org/drawingml/2006/main">
              <a:ext uri="{FF2B5EF4-FFF2-40B4-BE49-F238E27FC236}">
                <a16:creationId xmlns:a16="http://schemas.microsoft.com/office/drawing/2014/main" id="{ECE9BD08-611B-4247-AFD8-D71CC91E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3718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근거 확보 후 확장</a:t>
            </a:r>
          </a:p>
        </p:txBody>
      </p:sp>
      <p:sp>
        <p:nvSpPr>
          <p:cNvPr id="25" name="private-body">
            <a:extLst xmlns:a="http://schemas.openxmlformats.org/drawingml/2006/main">
              <a:ext uri="{FF2B5EF4-FFF2-40B4-BE49-F238E27FC236}">
                <a16:creationId xmlns:a16="http://schemas.microsoft.com/office/drawing/2014/main" id="{FC8E1C19-1A9B-4031-B62F-74F7EE45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295775"/>
            <a:ext cx="4048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검증된 동선·업종·계절부터 확대하고, 이후 외국인·MICE·민간 결제 등 필요한 데이터를 단계적으로 연계합니다.</a:t>
            </a:r>
          </a:p>
        </p:txBody>
      </p:sp>
      <p:sp>
        <p:nvSpPr>
          <p:cNvPr id="26" name="private-info">
            <a:extLst xmlns:a="http://schemas.openxmlformats.org/drawingml/2006/main">
              <a:ext uri="{FF2B5EF4-FFF2-40B4-BE49-F238E27FC236}">
                <a16:creationId xmlns:a16="http://schemas.microsoft.com/office/drawing/2014/main" id="{D48F3C63-9D79-481C-991B-B8716C1F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49720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private-info-label">
            <a:extLst xmlns:a="http://schemas.openxmlformats.org/drawingml/2006/main">
              <a:ext uri="{FF2B5EF4-FFF2-40B4-BE49-F238E27FC236}">
                <a16:creationId xmlns:a16="http://schemas.microsoft.com/office/drawing/2014/main" id="{A5D8162B-C8F7-4F75-8A4B-B9894BFF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4972050"/>
            <a:ext cx="95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i</a:t>
            </a:r>
          </a:p>
        </p:txBody>
      </p:sp>
      <p:sp>
        <p:nvSpPr>
          <p:cNvPr id="28" name="private-goal">
            <a:extLst xmlns:a="http://schemas.openxmlformats.org/drawingml/2006/main">
              <a:ext uri="{FF2B5EF4-FFF2-40B4-BE49-F238E27FC236}">
                <a16:creationId xmlns:a16="http://schemas.microsoft.com/office/drawing/2014/main" id="{3909FDE3-5FF2-4500-AD50-B44FF021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743575"/>
            <a:ext cx="3438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핵심: 성과 검증 후 예산 확대</a:t>
            </a:r>
          </a:p>
        </p:txBody>
      </p:sp>
      <p:sp>
        <p:nvSpPr>
          <p:cNvPr id="29" name="private-scope">
            <a:extLst xmlns:a="http://schemas.openxmlformats.org/drawingml/2006/main">
              <a:ext uri="{FF2B5EF4-FFF2-40B4-BE49-F238E27FC236}">
                <a16:creationId xmlns:a16="http://schemas.microsoft.com/office/drawing/2014/main" id="{F2BCDD9E-4568-4754-A8AC-9B695D88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5320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F6B0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원칙: 효과 보장 표현 금지</a:t>
            </a:r>
          </a:p>
        </p:txBody>
      </p:sp>
    </p:spTree>
    <p:extLst>
      <p:ext uri="{BB962C8B-B14F-4D97-AF65-F5344CB8AC3E}">
        <p14:creationId xmlns:p14="http://schemas.microsoft.com/office/powerpoint/2010/main" val="3347729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2026-09-02T01:20:33.1690000Z</dcterms:created>
  <dcterms:modified xsi:type="dcterms:W3CDTF">2026-09-02T01:20:33.1690000Z</dcterms:modified>
</coreProperties>
</file>