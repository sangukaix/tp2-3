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dit_v6/slides/charts/chart1.xml" ContentType="application/vnd.openxmlformats-officedocument.drawingml.chart+xml"/>
  <Override PartName="/ppt/audit_v6/slides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0" r:id="R7a735fe575034424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5" r:id="R270f215da2344ea4"/>
    <p:sldId xmlns:r="http://schemas.openxmlformats.org/officeDocument/2006/relationships" id="266" r:id="R029df0519ade4c8b"/>
    <p:sldId xmlns:ns0="http://schemas.openxmlformats.org/officeDocument/2006/relationships" id="268" ns0:id="rId19"/>
    <p:sldId xmlns:ns0="http://schemas.openxmlformats.org/officeDocument/2006/relationships" id="269" ns0:id="rId20"/>
    <p:sldId xmlns:ns0="http://schemas.openxmlformats.org/officeDocument/2006/relationships" id="270" ns0:id="rId21"/>
    <p:sldId xmlns:ns0="http://schemas.openxmlformats.org/officeDocument/2006/relationships" id="271" ns0:id="rId22"/>
    <p:sldId xmlns:ns0="http://schemas.openxmlformats.org/officeDocument/2006/relationships" id="272" ns0:id="rId23"/>
    <p:sldId xmlns:ns0="http://schemas.openxmlformats.org/officeDocument/2006/relationships" id="273" ns0:id="rId24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270f215da2344ea4" Type="http://schemas.openxmlformats.org/officeDocument/2006/relationships/slide" Target="slides/slide10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7a735fe575034424" Type="http://schemas.openxmlformats.org/officeDocument/2006/relationships/slide" Target="slides/slide5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audit_v6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../embeddings/Microsoft_Excel_Sheet1.xlsx"/></Relationships>
</file>

<file path=ppt/audit_v6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../embeddings/Microsoft_Excel_Sheet2.xlsx"/></Relationships>
</file>

<file path=ppt/audit_v6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solidFill xmlns:a="http://schemas.openxmlformats.org/drawingml/2006/main">
              <a:srgbClr val="004EA2"/>
            </a:solidFill>
            <a:ln xmlns:a="http://schemas.openxmlformats.org/drawingml/2006/main" w="19050">
              <a:solidFill>
                <a:srgbClr val="004EA2"/>
              </a:solidFill>
            </a:ln>
          </c:spP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236.3056</c:v>
                </c:pt>
                <c:pt idx="1">
                  <c:v>263.327</c:v>
                </c:pt>
                <c:pt idx="2">
                  <c:v>263.2315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xmlns:ns0="http://schemas.openxmlformats.org/officeDocument/2006/relationships" ns0:id="rId1">
    <c:autoUpdate val="0"/>
  </c:externalData>
</c:chartSpace>
</file>

<file path=ppt/audit_v6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B7C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xmlns:ns0="http://schemas.openxmlformats.org/officeDocument/2006/relationships" ns0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23e850e0ab3a4c91" Type="http://schemas.openxmlformats.org/officeDocument/2006/relationships/slide" Target="../slides/slide10.xml"/><Relationship Id="Re53ce02560ec4f9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 목표율 입력 시 최종 월의 자연추세와 목표를 비교합니다. 미입력 시 견적에 기반한 별도 참여 목표만 제안합니다.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[Calculation audit]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"source_inventory":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순 방문자 수 및 숙박 비율 (이동통신 기반 외지인)",</a:t>
            </a:r>
          </a:p>
          <a:p xmlns:a="http://schemas.openxmlformats.org/drawingml/2006/main">
            <a:r>
              <a:t>      "summary": "월간 순 방문자 수: 2,285,734명 (관측 기준월: 2026-06)",</a:t>
            </a:r>
          </a:p>
          <a:p xmlns:a="http://schemas.openxmlformats.org/drawingml/2006/main">
            <a:r>
              <a:t>      "source_id": "dataset:51130:1",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월간 순 방문자 수 (이동통신 기반 외지인)",</a:t>
            </a:r>
          </a:p>
          <a:p xmlns:a="http://schemas.openxmlformats.org/drawingml/2006/main">
            <a:r>
              <a:t>      "summary": "전년동월 외지인 방문자 증감률: -2.7% (관측 기준월: 2026-06)",</a:t>
            </a:r>
          </a:p>
          <a:p xmlns:a="http://schemas.openxmlformats.org/drawingml/2006/main">
            <a:r>
              <a:t>      "source_id": "dataset:51130:2",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관광소비 추이_외지인",</a:t>
            </a:r>
          </a:p>
          <a:p xmlns:a="http://schemas.openxmlformats.org/drawingml/2006/main">
            <a:r>
              <a:t>      "summary": "월간 외지인 관광소비 총액: 60,562,672,000원 (관측 기준월: 2026-06)",</a:t>
            </a:r>
          </a:p>
          <a:p xmlns:a="http://schemas.openxmlformats.org/drawingml/2006/main">
            <a:r>
              <a:t>      "source_id": "dataset:51130:3",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숙박방문자 비율 추이 (이동통신 기반 외지인)",</a:t>
            </a:r>
          </a:p>
          <a:p xmlns:a="http://schemas.openxmlformats.org/drawingml/2006/main">
            <a:r>
              <a:t>      "summary": "외지인 숙박 방문 비율: 12.5% (관측 기준월: 2026-06)",</a:t>
            </a:r>
          </a:p>
          <a:p xmlns:a="http://schemas.openxmlformats.org/drawingml/2006/main">
            <a:r>
              <a:t>      "source_id": "dataset:51130:4",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평균 숙박일 (이동통신 기반 외지인)",</a:t>
            </a:r>
          </a:p>
          <a:p xmlns:a="http://schemas.openxmlformats.org/drawingml/2006/main">
            <a:r>
              <a:t>      "summary": "외지인 평균 숙박일수: 2.76일 (관측 기준월: 2026-06)",</a:t>
            </a:r>
          </a:p>
          <a:p xmlns:a="http://schemas.openxmlformats.org/drawingml/2006/main">
            <a:r>
              <a:t>      "source_id": "dataset:51130:5",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내비게이션 목적지 유형별 검색량",</a:t>
            </a:r>
          </a:p>
          <a:p xmlns:a="http://schemas.openxmlformats.org/drawingml/2006/main">
            <a:r>
              <a:t>      "summary": "내비게이션 목적지 검색량: 303,921건 (관측 기준월: 2026-06)",</a:t>
            </a:r>
          </a:p>
          <a:p xmlns:a="http://schemas.openxmlformats.org/drawingml/2006/main">
            <a:r>
              <a:t>      "source_id": "dataset:51130:6",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SNS 언급량",</a:t>
            </a:r>
          </a:p>
          <a:p xmlns:a="http://schemas.openxmlformats.org/drawingml/2006/main">
            <a:r>
              <a:t>      "summary": "SNS 언급량: 41,121건 (관측 기준월: 2026-06)",</a:t>
            </a:r>
          </a:p>
          <a:p xmlns:a="http://schemas.openxmlformats.org/drawingml/2006/main">
            <a:r>
              <a:t>      "source_id": "dataset:51130:7",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"datalab:16d84bd9b1d0:620b2639a268",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"datalab:242a2c1249d4:f84e1a5f3914",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"datalab:a050e5a84ef4:3906c6ac70a7",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"datalab:bd9d3d26da19:991f2264ad4a",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"datalab:d54a3fb44037:ee4640b6178b",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"datalab:ebce91b8bf02:1770c2d94cc6",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"team-bigdata:23ea68053684:6bfbcf8aabf6",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"team-bigdata:98d4ae590d9a:3be52dd54323",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"이동통신/외국인/20260820141710_전국_202601-202606_데이터랩_다운로드.zip"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"team-bigdata:367cd0294ec4:873930d645e5",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관광지출액/20260820140046__202601-202606_데이터랩_다운로드.zip"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"team-bigdata:553a0dad4bb4:5a31355dffe8",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관광지출액/20260820140355__202601-202606_데이터랩_다운로드.zip"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"team-bigdata:a53dbe1c21df:77a052de41d5",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검색건수/20260820195507__202601-202606_데이터랩_다운로드.zip"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"team-bigdata:823a38d1d61c:5385261d02e5",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방문자수/20260820140614__202501-202512_데이터랩_다운로드.zip"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"team-bigdata:2723bdb0d589:1666a34058ed",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"이동통신/외국인/20260820141649_전국_202501-202512_데이터랩_다운로드.zip"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"team-bigdata:83177a234971:c02cb7972e0f",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관광지출액/20260820135957__202501-202512_데이터랩_다운로드.zip"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"team-bigdata:58ded7732251:589c76395cbc",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관광지출액/20260820140409__202501-202512_데이터랩_다운로드.zip"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"team-bigdata:e28c947cb52f:bb4cb344a6ba",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검색건수/20260820132007__202501-202512_데이터랩_다운로드.zip"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"team-bigdata:8815bbb11a39:1a5988f5f8ec",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방문자수/20260820140624__202401-202412_데이터랩_다운로드.zip"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"team-bigdata:19fd67fbb73d:afa4f0f54a2f",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"이동통신/외국인/20260820141639_전국_202401-202412_데이터랩_다운로드.zip"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유입유출",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"regional-status:90f2be7a0f7d:b989a6c2e7bf",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지역집중률",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"regional-status:c39767bd23e8:e3b081f6e6aa",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인기관광지",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"regional-status:edaf76986d99:c00fa7ffc0a7",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"지역 관광수요 ML 전망 · 공식 관측값 아님",</a:t>
            </a:r>
          </a:p>
          <a:p xmlns:a="http://schemas.openxmlformats.org/drawingml/2006/main">
            <a:r>
              <a:t>      "summary": "학습 202401~202606 · 모델 regional-demand-v3.1 · 자연 추세 예측",</a:t>
            </a:r>
          </a:p>
          <a:p xmlns:a="http://schemas.openxmlformats.org/drawingml/2006/main">
            <a:r>
              <a:t>      "source_id": "ml:51130:regional-demand-v3.1:202606",</a:t>
            </a:r>
          </a:p>
          <a:p xmlns:a="http://schemas.openxmlformats.org/drawingml/2006/main">
            <a:r>
              <a:t>      "source_url": "",</a:t>
            </a:r>
          </a:p>
          <a:p xmlns:a="http://schemas.openxmlformats.org/drawingml/2006/main">
            <a:r>
              <a:t>      "source_type": "model_forecast",</a:t>
            </a:r>
          </a:p>
          <a:p xmlns:a="http://schemas.openxmlformats.org/drawingml/2006/main">
            <a:r>
              <a:t>      "model_version": "regional-demand-v3.1",</a:t>
            </a:r>
          </a:p>
          <a:p xmlns:a="http://schemas.openxmlformats.org/drawingml/2006/main">
            <a:r>
              <a:t>      "data_fingerprint": "1f7caf31818b53f22347c7318503ea14cbef8a3765f5b75b8191fe8ca2193349"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"감악산캠핑숲",</a:t>
            </a:r>
          </a:p>
          <a:p xmlns:a="http://schemas.openxmlformats.org/drawingml/2006/main">
            <a:r>
              <a:t>      "address": "강원특별자치도 원주시 신림면 신림황둔로 714",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"http://tong.visitkorea.or.kr/cms/resource/64/2732964_image2_1.JPG",</a:t>
            </a:r>
          </a:p>
          <a:p xmlns:a="http://schemas.openxmlformats.org/drawingml/2006/main">
            <a:r>
              <a:t>      "source_id": "tour-api:2732999",</a:t>
            </a:r>
          </a:p>
          <a:p xmlns:a="http://schemas.openxmlformats.org/drawingml/2006/main">
            <a:r>
              <a:t>      "content_id": "2732999",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"강원감영관찰사·무릉고서화미술박물관",</a:t>
            </a:r>
          </a:p>
          <a:p xmlns:a="http://schemas.openxmlformats.org/drawingml/2006/main">
            <a:r>
              <a:t>      "address": "강원특별자치도 원주시 흥업면 사제로 399-10",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"http://tong.visitkorea.or.kr/cms/resource/64/3437164_image2_1.jpg",</a:t>
            </a:r>
          </a:p>
          <a:p xmlns:a="http://schemas.openxmlformats.org/drawingml/2006/main">
            <a:r>
              <a:t>      "source_id": "tour-api:2555010",</a:t>
            </a:r>
          </a:p>
          <a:p xmlns:a="http://schemas.openxmlformats.org/drawingml/2006/main">
            <a:r>
              <a:t>      "content_id": "2555010",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"강원도힐링캠핑장",</a:t>
            </a:r>
          </a:p>
          <a:p xmlns:a="http://schemas.openxmlformats.org/drawingml/2006/main">
            <a:r>
              <a:t>      "address": "강원특별자치도 원주시 신림면 재사동길 10-38",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"http://tong.visitkorea.or.kr/cms/resource/98/2733998_image2_1.JPG",</a:t>
            </a:r>
          </a:p>
          <a:p xmlns:a="http://schemas.openxmlformats.org/drawingml/2006/main">
            <a:r>
              <a:t>      "source_id": "tour-api:2734136",</a:t>
            </a:r>
          </a:p>
          <a:p xmlns:a="http://schemas.openxmlformats.org/drawingml/2006/main">
            <a:r>
              <a:t>      "content_id": "2734136",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"고판화박물관",</a:t>
            </a:r>
          </a:p>
          <a:p xmlns:a="http://schemas.openxmlformats.org/drawingml/2006/main">
            <a:r>
              <a:t>      "address": "강원특별자치도 원주시 신림면 물안길 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"http://tong.visitkorea.or.kr/cms/resource/36/3375236_image2_1.JPG",</a:t>
            </a:r>
          </a:p>
          <a:p xmlns:a="http://schemas.openxmlformats.org/drawingml/2006/main">
            <a:r>
              <a:t>      "source_id": "tour-api:130539",</a:t>
            </a:r>
          </a:p>
          <a:p xmlns:a="http://schemas.openxmlformats.org/drawingml/2006/main">
            <a:r>
              <a:t>      "content_id": "130539",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"관음사·국형사계곡",</a:t>
            </a:r>
          </a:p>
          <a:p xmlns:a="http://schemas.openxmlformats.org/drawingml/2006/main">
            <a:r>
              <a:t>      "address": "강원특별자치도 원주시 고문골길 169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"http://tong.visitkorea.or.kr/cms/resource/29/3045629_image2_1.jpg",</a:t>
            </a:r>
          </a:p>
          <a:p xmlns:a="http://schemas.openxmlformats.org/drawingml/2006/main">
            <a:r>
              <a:t>      "source_id": "tour-api:125645",</a:t>
            </a:r>
          </a:p>
          <a:p xmlns:a="http://schemas.openxmlformats.org/drawingml/2006/main">
            <a:r>
              <a:t>      "content_id": "125645",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"광화문갈비 원주점",</a:t>
            </a:r>
          </a:p>
          <a:p xmlns:a="http://schemas.openxmlformats.org/drawingml/2006/main">
            <a:r>
              <a:t>      "address": "강원특별자치도 원주시 능라동길 48 (무실동)",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"http://tong.visitkorea.or.kr/cms/resource/86/3421686_image2_1.jpg",</a:t>
            </a:r>
          </a:p>
          <a:p xmlns:a="http://schemas.openxmlformats.org/drawingml/2006/main">
            <a:r>
              <a:t>      "source_id": "tour-api:3356037",</a:t>
            </a:r>
          </a:p>
          <a:p xmlns:a="http://schemas.openxmlformats.org/drawingml/2006/main">
            <a:r>
              <a:t>      "content_id": "3356037",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"구 조선식산은행 원주지점",</a:t>
            </a:r>
          </a:p>
          <a:p xmlns:a="http://schemas.openxmlformats.org/drawingml/2006/main">
            <a:r>
              <a:t>      "address": "강원특별자치도 원주시 중앙로 88 (중앙동)",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"http://tong.visitkorea.or.kr/cms/resource/78/3379278_image2_1.JPG",</a:t>
            </a:r>
          </a:p>
          <a:p xmlns:a="http://schemas.openxmlformats.org/drawingml/2006/main">
            <a:r>
              <a:t>      "source_id": "tour-api:2762710",</a:t>
            </a:r>
          </a:p>
          <a:p xmlns:a="http://schemas.openxmlformats.org/drawingml/2006/main">
            <a:r>
              <a:t>      "content_id": "2762710",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"국형사",</a:t>
            </a:r>
          </a:p>
          <a:p xmlns:a="http://schemas.openxmlformats.org/drawingml/2006/main">
            <a:r>
              <a:t>      "address": "강원특별자치도 원주시 고문골길 155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"http://tong.visitkorea.or.kr/cms/resource/87/3559187_image2_1.jpeg",</a:t>
            </a:r>
          </a:p>
          <a:p xmlns:a="http://schemas.openxmlformats.org/drawingml/2006/main">
            <a:r>
              <a:t>      "source_id": "tour-api:125757",</a:t>
            </a:r>
          </a:p>
          <a:p xmlns:a="http://schemas.openxmlformats.org/drawingml/2006/main">
            <a:r>
              <a:t>      "content_id": "125757",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 에코힐링 캠핑장",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"http://tong.visitkorea.or.kr/cms/resource/95/2011295_image2_1.jpg",</a:t>
            </a:r>
          </a:p>
          <a:p xmlns:a="http://schemas.openxmlformats.org/drawingml/2006/main">
            <a:r>
              <a:t>      "source_id": "tour-api:2033279",</a:t>
            </a:r>
          </a:p>
          <a:p xmlns:a="http://schemas.openxmlformats.org/drawingml/2006/main">
            <a:r>
              <a:t>      "content_id": "2033279",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"금대계곡",</a:t>
            </a:r>
          </a:p>
          <a:p xmlns:a="http://schemas.openxmlformats.org/drawingml/2006/main">
            <a:r>
              <a:t>      "address": "강원특별자치도 원주시 판부면 치악로 546-22",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"http://tong.visitkorea.or.kr/cms/resource/85/3045285_image2_1.jpg",</a:t>
            </a:r>
          </a:p>
          <a:p xmlns:a="http://schemas.openxmlformats.org/drawingml/2006/main">
            <a:r>
              <a:t>      "source_id": "tour-api:129676",</a:t>
            </a:r>
          </a:p>
          <a:p xmlns:a="http://schemas.openxmlformats.org/drawingml/2006/main">
            <a:r>
              <a:t>      "content_id": "129676",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"금대자동차야영장",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"http://tong.visitkorea.or.kr/cms/resource/97/2734897_image2_1.JPG",</a:t>
            </a:r>
          </a:p>
          <a:p xmlns:a="http://schemas.openxmlformats.org/drawingml/2006/main">
            <a:r>
              <a:t>      "source_id": "tour-api:2734906",</a:t>
            </a:r>
          </a:p>
          <a:p xmlns:a="http://schemas.openxmlformats.org/drawingml/2006/main">
            <a:r>
              <a:t>      "content_id": "2734906",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"기후변화홍보관",</a:t>
            </a:r>
          </a:p>
          <a:p xmlns:a="http://schemas.openxmlformats.org/drawingml/2006/main">
            <a:r>
              <a:t>      "address": "강원특별자치도 원주시 행구로 362",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"http://tong.visitkorea.or.kr/cms/resource/40/3533840_image2_1.JPG",</a:t>
            </a:r>
          </a:p>
          <a:p xmlns:a="http://schemas.openxmlformats.org/drawingml/2006/main">
            <a:r>
              <a:t>      "source_id": "tour-api:2714800",</a:t>
            </a:r>
          </a:p>
          <a:p xmlns:a="http://schemas.openxmlformats.org/drawingml/2006/main">
            <a:r>
              <a:t>      "content_id": "2714800",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"김가네원주추어탕",</a:t>
            </a:r>
          </a:p>
          <a:p xmlns:a="http://schemas.openxmlformats.org/drawingml/2006/main">
            <a:r>
              <a:t>      "address": "강원특별자치도 원주시 단관공원길 90-3",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"http://tong.visitkorea.or.kr/cms/resource/25/2892325_image2_1.jpg",</a:t>
            </a:r>
          </a:p>
          <a:p xmlns:a="http://schemas.openxmlformats.org/drawingml/2006/main">
            <a:r>
              <a:t>      "source_id": "tour-api:2892327",</a:t>
            </a:r>
          </a:p>
          <a:p xmlns:a="http://schemas.openxmlformats.org/drawingml/2006/main">
            <a:r>
              <a:t>      "content_id": "2892327",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"김제남 신도비",</a:t>
            </a:r>
          </a:p>
          <a:p xmlns:a="http://schemas.openxmlformats.org/drawingml/2006/main">
            <a:r>
              <a:t>      "address": "강원특별자치도 원주시 지정면 흥법사지길 18",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"http://tong.visitkorea.or.kr/cms/resource/28/3376528_image2_1.JPG",</a:t>
            </a:r>
          </a:p>
          <a:p xmlns:a="http://schemas.openxmlformats.org/drawingml/2006/main">
            <a:r>
              <a:t>      "source_id": "tour-api:129284",</a:t>
            </a:r>
          </a:p>
          <a:p xmlns:a="http://schemas.openxmlformats.org/drawingml/2006/main">
            <a:r>
              <a:t>      "content_id": "129284",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"넌스키 난보드",</a:t>
            </a:r>
          </a:p>
          <a:p xmlns:a="http://schemas.openxmlformats.org/drawingml/2006/main">
            <a:r>
              <a:t>      "address": "강원특별자치도 원주시 지정면 구재로 132",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"http://tong.visitkorea.or.kr/cms/resource/73/3562173_image2_1.jpg",</a:t>
            </a:r>
          </a:p>
          <a:p xmlns:a="http://schemas.openxmlformats.org/drawingml/2006/main">
            <a:r>
              <a:t>      "source_id": "tour-api:512084",</a:t>
            </a:r>
          </a:p>
          <a:p xmlns:a="http://schemas.openxmlformats.org/drawingml/2006/main">
            <a:r>
              <a:t>      "content_id": "512084",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"농가",</a:t>
            </a:r>
          </a:p>
          <a:p xmlns:a="http://schemas.openxmlformats.org/drawingml/2006/main">
            <a:r>
              <a:t>      "address": "강원특별자치도 원주시 양지뜰3길 11 (반곡동)",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"http://tong.visitkorea.or.kr/cms/resource/42/3566442_image2_1.jpg",</a:t>
            </a:r>
          </a:p>
          <a:p xmlns:a="http://schemas.openxmlformats.org/drawingml/2006/main">
            <a:r>
              <a:t>      "source_id": "tour-api:1822667",</a:t>
            </a:r>
          </a:p>
          <a:p xmlns:a="http://schemas.openxmlformats.org/drawingml/2006/main">
            <a:r>
              <a:t>      "content_id": "1822667",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"단관공원",</a:t>
            </a:r>
          </a:p>
          <a:p xmlns:a="http://schemas.openxmlformats.org/drawingml/2006/main">
            <a:r>
              <a:t>      "address": "강원특별자치도 원주시 단관공원길 63",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"http://tong.visitkorea.or.kr/cms/resource/43/3334543_image2_1.jpg",</a:t>
            </a:r>
          </a:p>
          <a:p xmlns:a="http://schemas.openxmlformats.org/drawingml/2006/main">
            <a:r>
              <a:t>      "source_id": "tour-api:2778036",</a:t>
            </a:r>
          </a:p>
          <a:p xmlns:a="http://schemas.openxmlformats.org/drawingml/2006/main">
            <a:r>
              <a:t>      "content_id": "2778036",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"동승루",</a:t>
            </a:r>
          </a:p>
          <a:p xmlns:a="http://schemas.openxmlformats.org/drawingml/2006/main">
            <a:r>
              <a:t>      "address": "강원특별자치도 원주시 이화4길 30",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"http://tong.visitkorea.or.kr/cms/resource/15/2892315_image2_1.jpg",</a:t>
            </a:r>
          </a:p>
          <a:p xmlns:a="http://schemas.openxmlformats.org/drawingml/2006/main">
            <a:r>
              <a:t>      "source_id": "tour-api:2892320",</a:t>
            </a:r>
          </a:p>
          <a:p xmlns:a="http://schemas.openxmlformats.org/drawingml/2006/main">
            <a:r>
              <a:t>      "content_id": "2892320",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"들꽃가든",</a:t>
            </a:r>
          </a:p>
          <a:p xmlns:a="http://schemas.openxmlformats.org/drawingml/2006/main">
            <a:r>
              <a:t>      "address": "강원특별자치도 원주시 월송석화로 488",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"http://tong.visitkorea.or.kr/cms/resource/04/2892304_image2_1.jpg",</a:t>
            </a:r>
          </a:p>
          <a:p xmlns:a="http://schemas.openxmlformats.org/drawingml/2006/main">
            <a:r>
              <a:t>      "source_id": "tour-api:2892312",</a:t>
            </a:r>
          </a:p>
          <a:p xmlns:a="http://schemas.openxmlformats.org/drawingml/2006/main">
            <a:r>
              <a:t>      "content_id": "2892312",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"요즘, 한국관광 2호 - 지방공항 연계 지역관광 활성화 방안",</a:t>
            </a:r>
          </a:p>
          <a:p xmlns:a="http://schemas.openxmlformats.org/drawingml/2006/main"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 xmlns:a="http://schemas.openxmlformats.org/drawingml/2006/main">
            <a:r>
              <a:t>      "chunk_id": "reference:kto:2026:local-airport:page:041:chunk:01",</a:t>
            </a:r>
          </a:p>
          <a:p xmlns:a="http://schemas.openxmlformats.org/drawingml/2006/main">
            <a:r>
              <a:t>      "source_id": "reference:kto:2026:local-airport",</a:t>
            </a:r>
          </a:p>
          <a:p xmlns:a="http://schemas.openxmlformats.org/drawingml/2006/main">
            <a:r>
              <a:t>      "source_url": "https://datalab.visitkorea.or.kr/site/portal/ex/bbs/View.do?bcIdx=311068&amp;cbIdx=1135&amp;pageIndex=1",</a:t>
            </a:r>
          </a:p>
          <a:p xmlns:a="http://schemas.openxmlformats.org/drawingml/2006/main">
            <a:r>
              <a:t>      "case_region": "",</a:t>
            </a:r>
          </a:p>
          <a:p xmlns:a="http://schemas.openxmlformats.org/drawingml/2006/main">
            <a:r>
              <a:t>      "source_note": "지방공항·연계 지역에 관한 자료입니다. 다른 시군구의 사업 효과·예산을 보장하는 근거로 사용하지 않습니다.",</a:t>
            </a:r>
          </a:p>
          <a:p xmlns:a="http://schemas.openxmlformats.org/drawingml/2006/main">
            <a:r>
              <a:t>      "source_type": "rag",</a:t>
            </a:r>
          </a:p>
          <a:p xmlns:a="http://schemas.openxmlformats.org/drawingml/2006/main">
            <a:r>
              <a:t>      "intervention": "",</a:t>
            </a:r>
          </a:p>
          <a:p xmlns:a="http://schemas.openxmlformats.org/drawingml/2006/main">
            <a:r>
              <a:t>      "document_type": "policy",</a:t>
            </a:r>
          </a:p>
          <a:p xmlns:a="http://schemas.openxmlformats.org/drawingml/2006/main">
            <a:r>
              <a:t>      "matched_terms": [</a:t>
            </a:r>
          </a:p>
          <a:p xmlns:a="http://schemas.openxmlformats.org/drawingml/2006/main">
            <a:r>
              <a:t>        "관광",</a:t>
            </a:r>
          </a:p>
          <a:p xmlns:a="http://schemas.openxmlformats.org/drawingml/2006/main">
            <a:r>
              <a:t>        "방문으로",</a:t>
            </a:r>
          </a:p>
          <a:p xmlns:a="http://schemas.openxmlformats.org/drawingml/2006/main">
            <a:r>
              <a:t>        "사업을",</a:t>
            </a:r>
          </a:p>
          <a:p xmlns:a="http://schemas.openxmlformats.org/drawingml/2006/main">
            <a:r>
              <a:t>        "성과",</a:t>
            </a:r>
          </a:p>
          <a:p xmlns:a="http://schemas.openxmlformats.org/drawingml/2006/main">
            <a:r>
              <a:t>        "소비",</a:t>
            </a:r>
          </a:p>
          <a:p xmlns:a="http://schemas.openxmlformats.org/drawingml/2006/main">
            <a:r>
              <a:t>        "실제",</a:t>
            </a:r>
          </a:p>
          <a:p xmlns:a="http://schemas.openxmlformats.org/drawingml/2006/main">
            <a:r>
              <a:t>        "연계",</a:t>
            </a:r>
          </a:p>
          <a:p xmlns:a="http://schemas.openxmlformats.org/drawingml/2006/main">
            <a:r>
              <a:t>        "체류",</a:t>
            </a:r>
          </a:p>
          <a:p xmlns:a="http://schemas.openxmlformats.org/drawingml/2006/main">
            <a:r>
              <a:t>        "함께"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"page_references": "PDF 41쪽",</a:t>
            </a:r>
          </a:p>
          <a:p xmlns:a="http://schemas.openxmlformats.org/drawingml/2006/main">
            <a:r>
              <a:t>      "parent_source_id": "reference:kto:2026:local-airport",</a:t>
            </a:r>
          </a:p>
          <a:p xmlns:a="http://schemas.openxmlformats.org/drawingml/2006/main">
            <a:r>
              <a:t>      "retrieval_method": "local_curated_chunk",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"2026-08"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"강진 반값여행 지역경제 효과 소개",</a:t>
            </a:r>
          </a:p>
          <a:p xmlns:a="http://schemas.openxmlformats.org/drawingml/2006/main"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 xmlns:a="http://schemas.openxmlformats.org/drawingml/2006/main">
            <a:r>
              <a:t>      "source_id": "case:gangjin_half_price_2024",</a:t>
            </a:r>
          </a:p>
          <a:p xmlns:a="http://schemas.openxmlformats.org/drawingml/2006/main">
            <a:r>
              <a:t>      "source_url": "https://jnfarm.jeonnam.go.kr/board/FARM_BOARD_008/boardView.do?bdId=BD_00000000000011721&amp;menuCd=farm004002",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 6월 여행가는 달 추진 보도자료",</a:t>
            </a:r>
          </a:p>
          <a:p xmlns:a="http://schemas.openxmlformats.org/drawingml/2006/main"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 xmlns:a="http://schemas.openxmlformats.org/drawingml/2006/main">
            <a:r>
              <a:t>      "source_id": "case:digital_tourism_resident_2024",</a:t>
            </a:r>
          </a:p>
          <a:p xmlns:a="http://schemas.openxmlformats.org/drawingml/2006/main"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"2024-05-14"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"2024년도 정부업무평가 관광분야 성과자료",</a:t>
            </a:r>
          </a:p>
          <a:p xmlns:a="http://schemas.openxmlformats.org/drawingml/2006/main"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 xmlns:a="http://schemas.openxmlformats.org/drawingml/2006/main">
            <a:r>
              <a:t>      "source_id": "case:night_tourism_cities_2024",</a:t>
            </a:r>
          </a:p>
          <a:p xmlns:a="http://schemas.openxmlformats.org/drawingml/2006/main">
            <a:r>
              <a:t>      "source_url": "https://www.evaluation.go.kr/upload2/atch/eval/20250429095846463.pdf",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"2025-04-29"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"전주시 2026년도 관광산업과 세출예산 사업명세서",</a:t>
            </a:r>
          </a:p>
          <a:p xmlns:a="http://schemas.openxmlformats.org/drawingml/2006/main">
            <a:r>
              <a:t>      "summary": "전북특별자치도 전주시 · 야간관광 특화도시 예산 편성 · 예산서이므로 방문·소비 성과는 확인되지 않음",</a:t>
            </a:r>
          </a:p>
          <a:p xmlns:a="http://schemas.openxmlformats.org/drawingml/2006/main">
            <a:r>
              <a:t>      "source_id": "case:jeonju_night_budget_2026",</a:t>
            </a:r>
          </a:p>
          <a:p xmlns:a="http://schemas.openxmlformats.org/drawingml/2006/main">
            <a:r>
              <a:t>      "source_url": "https://jeonju.go.kr/resource/www/images/download/budget/2026/2026_31_2.pdf",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"high",</a:t>
            </a:r>
          </a:p>
          <a:p xmlns:a="http://schemas.openxmlformats.org/drawingml/2006/main">
            <a:r>
              <a:t>      "published_or_updated_at": "2026"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"2022 대한민국 숙박대전 경제파급효과 공개자료",</a:t>
            </a:r>
          </a:p>
          <a:p xmlns:a="http://schemas.openxmlformats.org/drawingml/2006/main"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 xmlns:a="http://schemas.openxmlformats.org/drawingml/2006/main">
            <a:r>
              <a:t>      "source_id": "case:kto_stay_discount_2022",</a:t>
            </a:r>
          </a:p>
          <a:p xmlns:a="http://schemas.openxmlformats.org/drawingml/2006/main">
            <a:r>
              <a:t>      "source_url": "https://kto.visitkorea.or.kr/upload/flexer/upload/ktobiz/20220928/b623b5f9-3ec0-11ed-9832-ddf31964842e.hwp.files/Sections1.html",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"2022-09-28"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"2025 대한민국 밤밤페스타 개최 도시 및 일정",</a:t>
            </a:r>
          </a:p>
          <a:p xmlns:a="http://schemas.openxmlformats.org/drawingml/2006/main"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 xmlns:a="http://schemas.openxmlformats.org/drawingml/2006/main">
            <a:r>
              <a:t>      "source_id": "case:night_festival_2025",</a:t>
            </a:r>
          </a:p>
          <a:p xmlns:a="http://schemas.openxmlformats.org/drawingml/2006/main">
            <a:r>
              <a:t>      "source_url": "https://korean.visitkorea.or.kr/detail/rem_detail.do?cotid=f9c636b2-dd7c-4f09-af3d-6af43b33d371",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"source_id": "estimate:gangjin-refund-rules:20260905",</a:t>
            </a:r>
          </a:p>
          <a:p xmlns:a="http://schemas.openxmlformats.org/drawingml/2006/main">
            <a:r>
              <a:t>      "source_type": "budget_reference",</a:t>
            </a:r>
          </a:p>
          <a:p xmlns:a="http://schemas.openxmlformats.org/drawingml/2006/main">
            <a:r>
              <a:t>      "title": "강진군 반값여행 공식 신청·정산 조건",</a:t>
            </a:r>
          </a:p>
          <a:p xmlns:a="http://schemas.openxmlformats.org/drawingml/2006/main">
            <a:r>
              <a:t>      "source_url": "https://www.gangjintour.com/advance/advance_req.html",</a:t>
            </a:r>
          </a:p>
          <a:p xmlns:a="http://schemas.openxmlformats.org/drawingml/2006/main">
            <a:r>
              <a:t>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"accessed_at": "2026-09-05"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"selected_forecast": {</a:t>
            </a:r>
          </a:p>
          <a:p xmlns:a="http://schemas.openxmlformats.org/drawingml/2006/main">
            <a:r>
              <a:t>    "rows":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"202609",</a:t>
            </a:r>
          </a:p>
          <a:p xmlns:a="http://schemas.openxmlformats.org/drawingml/2006/main">
            <a:r>
              <a:t>        "visitors": 2363056.0,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67047345591.0,</a:t>
            </a:r>
          </a:p>
          <a:p xmlns:a="http://schemas.openxmlformats.org/drawingml/2006/main">
            <a:r>
              <a:t>        "stay_minutes": 2518.0,</a:t>
            </a:r>
          </a:p>
          <a:p xmlns:a="http://schemas.openxmlformats.org/drawingml/2006/main">
            <a:r>
              <a:t>        "lodging_nights": 2.98,</a:t>
            </a:r>
          </a:p>
          <a:p xmlns:a="http://schemas.openxmlformats.org/drawingml/2006/main">
            <a:r>
              <a:t>        "lodging_rate_pct": 13.1,</a:t>
            </a:r>
          </a:p>
          <a:p xmlns:a="http://schemas.openxmlformats.org/drawingml/2006/main">
            <a:r>
              <a:t>        "lodging_searches": 34529,</a:t>
            </a:r>
          </a:p>
          <a:p xmlns:a="http://schemas.openxmlformats.org/drawingml/2006/main">
            <a:r>
              <a:t>        "navigation_searches": 259153,</a:t>
            </a:r>
          </a:p>
          <a:p xmlns:a="http://schemas.openxmlformats.org/drawingml/2006/main">
            <a:r>
              <a:t>        "visitor_yoy_percent": 3.0,</a:t>
            </a:r>
          </a:p>
          <a:p xmlns:a="http://schemas.openxmlformats.org/drawingml/2006/main">
            <a:r>
              <a:t>        "spending_yoy_percent": 22.29,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1.02,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8.97,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2294130,</a:t>
            </a:r>
          </a:p>
          <a:p xmlns:a="http://schemas.openxmlformats.org/drawingml/2006/main">
            <a:r>
              <a:t>        "previous_year_spending_krw": 54826341000,</a:t>
            </a:r>
          </a:p>
          <a:p xmlns:a="http://schemas.openxmlformats.org/drawingml/2006/main">
            <a:r>
              <a:t>        "previous_year_stay_minutes": 2518.0,</a:t>
            </a:r>
          </a:p>
          <a:p xmlns:a="http://schemas.openxmlformats.org/drawingml/2006/main">
            <a:r>
              <a:t>        "previous_year_lodging_nights": 2.95,</a:t>
            </a:r>
          </a:p>
          <a:p xmlns:a="http://schemas.openxmlformats.org/drawingml/2006/main">
            <a:r>
              <a:t>        "previous_year_lodging_rate_pct": 13.1,</a:t>
            </a:r>
          </a:p>
          <a:p xmlns:a="http://schemas.openxmlformats.org/drawingml/2006/main">
            <a:r>
              <a:t>        "previous_year_lodging_searches": 31686,</a:t>
            </a:r>
          </a:p>
          <a:p xmlns:a="http://schemas.openxmlformats.org/drawingml/2006/main">
            <a:r>
              <a:t>        "previous_year_navigation_searches": 259153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"202610",</a:t>
            </a:r>
          </a:p>
          <a:p xmlns:a="http://schemas.openxmlformats.org/drawingml/2006/main">
            <a:r>
              <a:t>        "visitors": 2633270.0,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83929975649.0,</a:t>
            </a:r>
          </a:p>
          <a:p xmlns:a="http://schemas.openxmlformats.org/drawingml/2006/main">
            <a:r>
              <a:t>        "stay_minutes": 1683.0,</a:t>
            </a:r>
          </a:p>
          <a:p xmlns:a="http://schemas.openxmlformats.org/drawingml/2006/main">
            <a:r>
              <a:t>        "lodging_nights": 2.87,</a:t>
            </a:r>
          </a:p>
          <a:p xmlns:a="http://schemas.openxmlformats.org/drawingml/2006/main">
            <a:r>
              <a:t>        "lodging_rate_pct": 15.5,</a:t>
            </a:r>
          </a:p>
          <a:p xmlns:a="http://schemas.openxmlformats.org/drawingml/2006/main">
            <a:r>
              <a:t>        "lodging_searches": 50011,</a:t>
            </a:r>
          </a:p>
          <a:p xmlns:a="http://schemas.openxmlformats.org/drawingml/2006/main">
            <a:r>
              <a:t>        "navigation_searches": 519488,</a:t>
            </a:r>
          </a:p>
          <a:p xmlns:a="http://schemas.openxmlformats.org/drawingml/2006/main">
            <a:r>
              <a:t>        "visitor_yoy_percent": -5.94,</a:t>
            </a:r>
          </a:p>
          <a:p xmlns:a="http://schemas.openxmlformats.org/drawingml/2006/main">
            <a:r>
              <a:t>        "spending_yoy_percent": 21.43,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1.77,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-21.42,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2799509,</a:t>
            </a:r>
          </a:p>
          <a:p xmlns:a="http://schemas.openxmlformats.org/drawingml/2006/main">
            <a:r>
              <a:t>        "previous_year_spending_krw": 69118387000,</a:t>
            </a:r>
          </a:p>
          <a:p xmlns:a="http://schemas.openxmlformats.org/drawingml/2006/main">
            <a:r>
              <a:t>        "previous_year_stay_minutes": 1683.0,</a:t>
            </a:r>
          </a:p>
          <a:p xmlns:a="http://schemas.openxmlformats.org/drawingml/2006/main">
            <a:r>
              <a:t>        "previous_year_lodging_nights": 2.82,</a:t>
            </a:r>
          </a:p>
          <a:p xmlns:a="http://schemas.openxmlformats.org/drawingml/2006/main">
            <a:r>
              <a:t>        "previous_year_lodging_rate_pct": 15.5,</a:t>
            </a:r>
          </a:p>
          <a:p xmlns:a="http://schemas.openxmlformats.org/drawingml/2006/main">
            <a:r>
              <a:t>        "previous_year_lodging_searches": 63645,</a:t>
            </a:r>
          </a:p>
          <a:p xmlns:a="http://schemas.openxmlformats.org/drawingml/2006/main">
            <a:r>
              <a:t>        "previous_year_navigation_searches": 519488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"202611",</a:t>
            </a:r>
          </a:p>
          <a:p xmlns:a="http://schemas.openxmlformats.org/drawingml/2006/main">
            <a:r>
              <a:t>        "visitors": 2632315.0,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89947681558.0,</a:t>
            </a:r>
          </a:p>
          <a:p xmlns:a="http://schemas.openxmlformats.org/drawingml/2006/main">
            <a:r>
              <a:t>        "stay_minutes": 1488.0,</a:t>
            </a:r>
          </a:p>
          <a:p xmlns:a="http://schemas.openxmlformats.org/drawingml/2006/main">
            <a:r>
              <a:t>        "lodging_nights": 2.76,</a:t>
            </a:r>
          </a:p>
          <a:p xmlns:a="http://schemas.openxmlformats.org/drawingml/2006/main">
            <a:r>
              <a:t>        "lodging_rate_pct": 12.4,</a:t>
            </a:r>
          </a:p>
          <a:p xmlns:a="http://schemas.openxmlformats.org/drawingml/2006/main">
            <a:r>
              <a:t>        "lodging_searches": 48286,</a:t>
            </a:r>
          </a:p>
          <a:p xmlns:a="http://schemas.openxmlformats.org/drawingml/2006/main">
            <a:r>
              <a:t>        "navigation_searches": 352852,</a:t>
            </a:r>
          </a:p>
          <a:p xmlns:a="http://schemas.openxmlformats.org/drawingml/2006/main">
            <a:r>
              <a:t>        "visitor_yoy_percent": 4.18,</a:t>
            </a:r>
          </a:p>
          <a:p xmlns:a="http://schemas.openxmlformats.org/drawingml/2006/main">
            <a:r>
              <a:t>        "spending_yoy_percent": 41.26,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2.22,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21.22,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2526699,</a:t>
            </a:r>
          </a:p>
          <a:p xmlns:a="http://schemas.openxmlformats.org/drawingml/2006/main">
            <a:r>
              <a:t>        "previous_year_spending_krw": 63675989000,</a:t>
            </a:r>
          </a:p>
          <a:p xmlns:a="http://schemas.openxmlformats.org/drawingml/2006/main">
            <a:r>
              <a:t>        "previous_year_stay_minutes": 1488.0,</a:t>
            </a:r>
          </a:p>
          <a:p xmlns:a="http://schemas.openxmlformats.org/drawingml/2006/main">
            <a:r>
              <a:t>        "previous_year_lodging_nights": 2.7,</a:t>
            </a:r>
          </a:p>
          <a:p xmlns:a="http://schemas.openxmlformats.org/drawingml/2006/main">
            <a:r>
              <a:t>        "previous_year_lodging_rate_pct": 12.4,</a:t>
            </a:r>
          </a:p>
          <a:p xmlns:a="http://schemas.openxmlformats.org/drawingml/2006/main">
            <a:r>
              <a:t>        "previous_year_lodging_searches": 39833,</a:t>
            </a:r>
          </a:p>
          <a:p xmlns:a="http://schemas.openxmlformats.org/drawingml/2006/main">
            <a:r>
              <a:t>        "previous_year_navigation_searches": 352852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"period": "202609~202611",</a:t>
            </a:r>
          </a:p>
          <a:p xmlns:a="http://schemas.openxmlformats.org/drawingml/2006/main">
            <a:r>
              <a:t>    "complete": true,</a:t>
            </a:r>
          </a:p>
          <a:p xmlns:a="http://schemas.openxmlformats.org/drawingml/2006/main">
            <a:r>
              <a:t>    "notes": [</a:t>
            </a:r>
          </a:p>
          <a:p xmlns:a="http://schemas.openxmlformats.org/drawingml/2006/main">
            <a:r>
              <a:t>      "3개월 초과 예측 거리는 재귀 검증 범위 밖의 탐색 전망입니다."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"selection_basis": "strategy_timeframe",</a:t>
            </a:r>
          </a:p>
          <a:p xmlns:a="http://schemas.openxmlformats.org/drawingml/2006/main">
            <a:r>
              <a:t>    "requested_period": "202609~202611"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"all_ml_forecasts":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"202607",</a:t>
            </a:r>
          </a:p>
          <a:p xmlns:a="http://schemas.openxmlformats.org/drawingml/2006/main">
            <a:r>
              <a:t>      "visitors": 2366862,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67735223997,</a:t>
            </a:r>
          </a:p>
          <a:p xmlns:a="http://schemas.openxmlformats.org/drawingml/2006/main">
            <a:r>
              <a:t>      "stay_minutes": 1944.0,</a:t>
            </a:r>
          </a:p>
          <a:p xmlns:a="http://schemas.openxmlformats.org/drawingml/2006/main">
            <a:r>
              <a:t>      "lodging_nights": 2.83,</a:t>
            </a:r>
          </a:p>
          <a:p xmlns:a="http://schemas.openxmlformats.org/drawingml/2006/main">
            <a:r>
              <a:t>      "lodging_rate_pct": 13.8,</a:t>
            </a:r>
          </a:p>
          <a:p xmlns:a="http://schemas.openxmlformats.org/drawingml/2006/main">
            <a:r>
              <a:t>      "lodging_searches": 46511,</a:t>
            </a:r>
          </a:p>
          <a:p xmlns:a="http://schemas.openxmlformats.org/drawingml/2006/main">
            <a:r>
              <a:t>      "navigation_searches": 297924,</a:t>
            </a:r>
          </a:p>
          <a:p xmlns:a="http://schemas.openxmlformats.org/drawingml/2006/main">
            <a:r>
              <a:t>      "visitor_yoy_percent": -1.04,</a:t>
            </a:r>
          </a:p>
          <a:p xmlns:a="http://schemas.openxmlformats.org/drawingml/2006/main">
            <a:r>
              <a:t>      "spending_yoy_percent": 14.97,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17.21,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2391642,</a:t>
            </a:r>
          </a:p>
          <a:p xmlns:a="http://schemas.openxmlformats.org/drawingml/2006/main">
            <a:r>
              <a:t>      "previous_year_spending_krw": 58914875000,</a:t>
            </a:r>
          </a:p>
          <a:p xmlns:a="http://schemas.openxmlformats.org/drawingml/2006/main">
            <a:r>
              <a:t>      "previous_year_stay_minutes": 1944.0,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13.8,</a:t>
            </a:r>
          </a:p>
          <a:p xmlns:a="http://schemas.openxmlformats.org/drawingml/2006/main">
            <a:r>
              <a:t>      "previous_year_lodging_searches": 39682,</a:t>
            </a:r>
          </a:p>
          <a:p xmlns:a="http://schemas.openxmlformats.org/drawingml/2006/main">
            <a:r>
              <a:t>      "previous_year_navigation_searches": 297924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"202608",</a:t>
            </a:r>
          </a:p>
          <a:p xmlns:a="http://schemas.openxmlformats.org/drawingml/2006/main">
            <a:r>
              <a:t>      "visitors": 2642874,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76161639833,</a:t>
            </a:r>
          </a:p>
          <a:p xmlns:a="http://schemas.openxmlformats.org/drawingml/2006/main">
            <a:r>
              <a:t>      "stay_minutes": 1672.0,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14.7,</a:t>
            </a:r>
          </a:p>
          <a:p xmlns:a="http://schemas.openxmlformats.org/drawingml/2006/main">
            <a:r>
              <a:t>      "lodging_searches": 49759,</a:t>
            </a:r>
          </a:p>
          <a:p xmlns:a="http://schemas.openxmlformats.org/drawingml/2006/main">
            <a:r>
              <a:t>      "navigation_searches": 346177,</a:t>
            </a:r>
          </a:p>
          <a:p xmlns:a="http://schemas.openxmlformats.org/drawingml/2006/main">
            <a:r>
              <a:t>      "visitor_yoy_percent": 0.13,</a:t>
            </a:r>
          </a:p>
          <a:p xmlns:a="http://schemas.openxmlformats.org/drawingml/2006/main">
            <a:r>
              <a:t>      "spending_yoy_percent": 18.85,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1.1,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-0.93,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2639487,</a:t>
            </a:r>
          </a:p>
          <a:p xmlns:a="http://schemas.openxmlformats.org/drawingml/2006/main">
            <a:r>
              <a:t>      "previous_year_spending_krw": 64083943000,</a:t>
            </a:r>
          </a:p>
          <a:p xmlns:a="http://schemas.openxmlformats.org/drawingml/2006/main">
            <a:r>
              <a:t>      "previous_year_stay_minutes": 1672.0,</a:t>
            </a:r>
          </a:p>
          <a:p xmlns:a="http://schemas.openxmlformats.org/drawingml/2006/main">
            <a:r>
              <a:t>      "previous_year_lodging_nights": 2.73,</a:t>
            </a:r>
          </a:p>
          <a:p xmlns:a="http://schemas.openxmlformats.org/drawingml/2006/main">
            <a:r>
              <a:t>      "previous_year_lodging_rate_pct": 14.7,</a:t>
            </a:r>
          </a:p>
          <a:p xmlns:a="http://schemas.openxmlformats.org/drawingml/2006/main">
            <a:r>
              <a:t>      "previous_year_lodging_searches": 50224,</a:t>
            </a:r>
          </a:p>
          <a:p xmlns:a="http://schemas.openxmlformats.org/drawingml/2006/main">
            <a:r>
              <a:t>      "previous_year_navigation_searches": 346177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"202609",</a:t>
            </a:r>
          </a:p>
          <a:p xmlns:a="http://schemas.openxmlformats.org/drawingml/2006/main">
            <a:r>
              <a:t>      "visitors": 2363056,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67047345591,</a:t>
            </a:r>
          </a:p>
          <a:p xmlns:a="http://schemas.openxmlformats.org/drawingml/2006/main">
            <a:r>
              <a:t>      "stay_minutes": 2518.0,</a:t>
            </a:r>
          </a:p>
          <a:p xmlns:a="http://schemas.openxmlformats.org/drawingml/2006/main">
            <a:r>
              <a:t>      "lodging_nights": 2.98,</a:t>
            </a:r>
          </a:p>
          <a:p xmlns:a="http://schemas.openxmlformats.org/drawingml/2006/main">
            <a:r>
              <a:t>      "lodging_rate_pct": 13.1,</a:t>
            </a:r>
          </a:p>
          <a:p xmlns:a="http://schemas.openxmlformats.org/drawingml/2006/main">
            <a:r>
              <a:t>      "lodging_searches": 34529,</a:t>
            </a:r>
          </a:p>
          <a:p xmlns:a="http://schemas.openxmlformats.org/drawingml/2006/main">
            <a:r>
              <a:t>      "navigation_searches": 259153,</a:t>
            </a:r>
          </a:p>
          <a:p xmlns:a="http://schemas.openxmlformats.org/drawingml/2006/main">
            <a:r>
              <a:t>      "visitor_yoy_percent": 3.0,</a:t>
            </a:r>
          </a:p>
          <a:p xmlns:a="http://schemas.openxmlformats.org/drawingml/2006/main">
            <a:r>
              <a:t>      "spending_yoy_percent": 22.29,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8.97,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2294130,</a:t>
            </a:r>
          </a:p>
          <a:p xmlns:a="http://schemas.openxmlformats.org/drawingml/2006/main">
            <a:r>
              <a:t>      "previous_year_spending_krw": 54826341000,</a:t>
            </a:r>
          </a:p>
          <a:p xmlns:a="http://schemas.openxmlformats.org/drawingml/2006/main">
            <a:r>
              <a:t>      "previous_year_stay_minutes": 2518.0,</a:t>
            </a:r>
          </a:p>
          <a:p xmlns:a="http://schemas.openxmlformats.org/drawingml/2006/main">
            <a:r>
              <a:t>      "previous_year_lodging_nights": 2.95,</a:t>
            </a:r>
          </a:p>
          <a:p xmlns:a="http://schemas.openxmlformats.org/drawingml/2006/main">
            <a:r>
              <a:t>      "previous_year_lodging_rate_pct": 13.1,</a:t>
            </a:r>
          </a:p>
          <a:p xmlns:a="http://schemas.openxmlformats.org/drawingml/2006/main">
            <a:r>
              <a:t>      "previous_year_lodging_searches": 31686,</a:t>
            </a:r>
          </a:p>
          <a:p xmlns:a="http://schemas.openxmlformats.org/drawingml/2006/main">
            <a:r>
              <a:t>      "previous_year_navigation_searches": 259153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"202610",</a:t>
            </a:r>
          </a:p>
          <a:p xmlns:a="http://schemas.openxmlformats.org/drawingml/2006/main">
            <a:r>
              <a:t>      "visitors": 2633270,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83929975649,</a:t>
            </a:r>
          </a:p>
          <a:p xmlns:a="http://schemas.openxmlformats.org/drawingml/2006/main">
            <a:r>
              <a:t>      "stay_minutes": 1683.0,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15.5,</a:t>
            </a:r>
          </a:p>
          <a:p xmlns:a="http://schemas.openxmlformats.org/drawingml/2006/main">
            <a:r>
              <a:t>      "lodging_searches": 50011,</a:t>
            </a:r>
          </a:p>
          <a:p xmlns:a="http://schemas.openxmlformats.org/drawingml/2006/main">
            <a:r>
              <a:t>      "navigation_searches": 519488,</a:t>
            </a:r>
          </a:p>
          <a:p xmlns:a="http://schemas.openxmlformats.org/drawingml/2006/main">
            <a:r>
              <a:t>      "visitor_yoy_percent": -5.94,</a:t>
            </a:r>
          </a:p>
          <a:p xmlns:a="http://schemas.openxmlformats.org/drawingml/2006/main">
            <a:r>
              <a:t>      "spending_yoy_percent": 21.43,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1.77,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-21.42,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2799509,</a:t>
            </a:r>
          </a:p>
          <a:p xmlns:a="http://schemas.openxmlformats.org/drawingml/2006/main">
            <a:r>
              <a:t>      "previous_year_spending_krw": 69118387000,</a:t>
            </a:r>
          </a:p>
          <a:p xmlns:a="http://schemas.openxmlformats.org/drawingml/2006/main">
            <a:r>
              <a:t>      "previous_year_stay_minutes": 1683.0,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15.5,</a:t>
            </a:r>
          </a:p>
          <a:p xmlns:a="http://schemas.openxmlformats.org/drawingml/2006/main">
            <a:r>
              <a:t>      "previous_year_lodging_searches": 63645,</a:t>
            </a:r>
          </a:p>
          <a:p xmlns:a="http://schemas.openxmlformats.org/drawingml/2006/main">
            <a:r>
              <a:t>      "previous_year_navigation_searches": 519488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"202611",</a:t>
            </a:r>
          </a:p>
          <a:p xmlns:a="http://schemas.openxmlformats.org/drawingml/2006/main">
            <a:r>
              <a:t>      "visitors": 2632315,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89947681558,</a:t>
            </a:r>
          </a:p>
          <a:p xmlns:a="http://schemas.openxmlformats.org/drawingml/2006/main">
            <a:r>
              <a:t>      "stay_minutes": 1488.0,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12.4,</a:t>
            </a:r>
          </a:p>
          <a:p xmlns:a="http://schemas.openxmlformats.org/drawingml/2006/main">
            <a:r>
              <a:t>      "lodging_searches": 48286,</a:t>
            </a:r>
          </a:p>
          <a:p xmlns:a="http://schemas.openxmlformats.org/drawingml/2006/main">
            <a:r>
              <a:t>      "navigation_searches": 352852,</a:t>
            </a:r>
          </a:p>
          <a:p xmlns:a="http://schemas.openxmlformats.org/drawingml/2006/main">
            <a:r>
              <a:t>      "visitor_yoy_percent": 4.18,</a:t>
            </a:r>
          </a:p>
          <a:p xmlns:a="http://schemas.openxmlformats.org/drawingml/2006/main">
            <a:r>
              <a:t>      "spending_yoy_percent": 41.26,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2.22,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21.22,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2526699,</a:t>
            </a:r>
          </a:p>
          <a:p xmlns:a="http://schemas.openxmlformats.org/drawingml/2006/main">
            <a:r>
              <a:t>      "previous_year_spending_krw": 63675989000,</a:t>
            </a:r>
          </a:p>
          <a:p xmlns:a="http://schemas.openxmlformats.org/drawingml/2006/main">
            <a:r>
              <a:t>      "previous_year_stay_minutes": 1488.0,</a:t>
            </a:r>
          </a:p>
          <a:p xmlns:a="http://schemas.openxmlformats.org/drawingml/2006/main">
            <a:r>
              <a:t>      "previous_year_lodging_nights": 2.7,</a:t>
            </a:r>
          </a:p>
          <a:p xmlns:a="http://schemas.openxmlformats.org/drawingml/2006/main">
            <a:r>
              <a:t>      "previous_year_lodging_rate_pct": 12.4,</a:t>
            </a:r>
          </a:p>
          <a:p xmlns:a="http://schemas.openxmlformats.org/drawingml/2006/main">
            <a:r>
              <a:t>      "previous_year_lodging_searches": 39833,</a:t>
            </a:r>
          </a:p>
          <a:p xmlns:a="http://schemas.openxmlformats.org/drawingml/2006/main">
            <a:r>
              <a:t>      "previous_year_navigation_searches": 352852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"202612",</a:t>
            </a:r>
          </a:p>
          <a:p xmlns:a="http://schemas.openxmlformats.org/drawingml/2006/main">
            <a:r>
              <a:t>      "visitors": 2098615,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82896802464,</a:t>
            </a:r>
          </a:p>
          <a:p xmlns:a="http://schemas.openxmlformats.org/drawingml/2006/main">
            <a:r>
              <a:t>      "stay_minutes": 1866.0,</a:t>
            </a:r>
          </a:p>
          <a:p xmlns:a="http://schemas.openxmlformats.org/drawingml/2006/main">
            <a:r>
              <a:t>      "lodging_nights": 2.85,</a:t>
            </a:r>
          </a:p>
          <a:p xmlns:a="http://schemas.openxmlformats.org/drawingml/2006/main">
            <a:r>
              <a:t>      "lodging_rate_pct": 14.1,</a:t>
            </a:r>
          </a:p>
          <a:p xmlns:a="http://schemas.openxmlformats.org/drawingml/2006/main">
            <a:r>
              <a:t>      "lodging_searches": 28484,</a:t>
            </a:r>
          </a:p>
          <a:p xmlns:a="http://schemas.openxmlformats.org/drawingml/2006/main">
            <a:r>
              <a:t>      "navigation_searches": 221560,</a:t>
            </a:r>
          </a:p>
          <a:p xmlns:a="http://schemas.openxmlformats.org/drawingml/2006/main">
            <a:r>
              <a:t>      "visitor_yoy_percent": -0.06,</a:t>
            </a:r>
          </a:p>
          <a:p xmlns:a="http://schemas.openxmlformats.org/drawingml/2006/main">
            <a:r>
              <a:t>      "spending_yoy_percent": 54.2,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2.15,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-1.09,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2099852,</a:t>
            </a:r>
          </a:p>
          <a:p xmlns:a="http://schemas.openxmlformats.org/drawingml/2006/main">
            <a:r>
              <a:t>      "previous_year_spending_krw": 53760591000,</a:t>
            </a:r>
          </a:p>
          <a:p xmlns:a="http://schemas.openxmlformats.org/drawingml/2006/main">
            <a:r>
              <a:t>      "previous_year_stay_minutes": 1866.0,</a:t>
            </a:r>
          </a:p>
          <a:p xmlns:a="http://schemas.openxmlformats.org/drawingml/2006/main">
            <a:r>
              <a:t>      "previous_year_lodging_nights": 2.79,</a:t>
            </a:r>
          </a:p>
          <a:p xmlns:a="http://schemas.openxmlformats.org/drawingml/2006/main">
            <a:r>
              <a:t>      "previous_year_lodging_rate_pct": 14.1,</a:t>
            </a:r>
          </a:p>
          <a:p xmlns:a="http://schemas.openxmlformats.org/drawingml/2006/main">
            <a:r>
              <a:t>      "previous_year_lodging_searches": 28798,</a:t>
            </a:r>
          </a:p>
          <a:p xmlns:a="http://schemas.openxmlformats.org/drawingml/2006/main">
            <a:r>
              <a:t>      "previous_year_navigation_searches": 221560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"202701",</a:t>
            </a:r>
          </a:p>
          <a:p xmlns:a="http://schemas.openxmlformats.org/drawingml/2006/main">
            <a:r>
              <a:t>      "visitors": 2042060,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92579612143,</a:t>
            </a:r>
          </a:p>
          <a:p xmlns:a="http://schemas.openxmlformats.org/drawingml/2006/main">
            <a:r>
              <a:t>      "stay_minutes": 1936.0,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13.7,</a:t>
            </a:r>
          </a:p>
          <a:p xmlns:a="http://schemas.openxmlformats.org/drawingml/2006/main">
            <a:r>
              <a:t>      "lodging_searches": 26563,</a:t>
            </a:r>
          </a:p>
          <a:p xmlns:a="http://schemas.openxmlformats.org/drawingml/2006/main">
            <a:r>
              <a:t>      "navigation_searches": 205632,</a:t>
            </a:r>
          </a:p>
          <a:p xmlns:a="http://schemas.openxmlformats.org/drawingml/2006/main">
            <a:r>
              <a:t>      "visitor_yoy_percent": -2.23,</a:t>
            </a:r>
          </a:p>
          <a:p xmlns:a="http://schemas.openxmlformats.org/drawingml/2006/main">
            <a:r>
              <a:t>      "spending_yoy_percent": 80.91,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2088569,</a:t>
            </a:r>
          </a:p>
          <a:p xmlns:a="http://schemas.openxmlformats.org/drawingml/2006/main">
            <a:r>
              <a:t>      "previous_year_spending_krw": 51173582000,</a:t>
            </a:r>
          </a:p>
          <a:p xmlns:a="http://schemas.openxmlformats.org/drawingml/2006/main">
            <a:r>
              <a:t>      "previous_year_stay_minutes": 1936.0,</a:t>
            </a:r>
          </a:p>
          <a:p xmlns:a="http://schemas.openxmlformats.org/drawingml/2006/main">
            <a:r>
              <a:t>      "previous_year_lodging_nights": 2.84,</a:t>
            </a:r>
          </a:p>
          <a:p xmlns:a="http://schemas.openxmlformats.org/drawingml/2006/main">
            <a:r>
              <a:t>      "previous_year_lodging_rate_pct": 13.7,</a:t>
            </a:r>
          </a:p>
          <a:p xmlns:a="http://schemas.openxmlformats.org/drawingml/2006/main">
            <a:r>
              <a:t>      "previous_year_lodging_searches": 26588,</a:t>
            </a:r>
          </a:p>
          <a:p xmlns:a="http://schemas.openxmlformats.org/drawingml/2006/main">
            <a:r>
              <a:t>      "previous_year_navigation_searches": 205632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"202702",</a:t>
            </a:r>
          </a:p>
          <a:p xmlns:a="http://schemas.openxmlformats.org/drawingml/2006/main">
            <a:r>
              <a:t>      "visitors": 2227050,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103534829257,</a:t>
            </a:r>
          </a:p>
          <a:p xmlns:a="http://schemas.openxmlformats.org/drawingml/2006/main">
            <a:r>
              <a:t>      "stay_minutes": 1714.0,</a:t>
            </a:r>
          </a:p>
          <a:p xmlns:a="http://schemas.openxmlformats.org/drawingml/2006/main">
            <a:r>
              <a:t>      "lodging_nights": 2.82,</a:t>
            </a:r>
          </a:p>
          <a:p xmlns:a="http://schemas.openxmlformats.org/drawingml/2006/main">
            <a:r>
              <a:t>      "lodging_rate_pct": 15.7,</a:t>
            </a:r>
          </a:p>
          <a:p xmlns:a="http://schemas.openxmlformats.org/drawingml/2006/main">
            <a:r>
              <a:t>      "lodging_searches": 25082,</a:t>
            </a:r>
          </a:p>
          <a:p xmlns:a="http://schemas.openxmlformats.org/drawingml/2006/main">
            <a:r>
              <a:t>      "navigation_searches": 210385,</a:t>
            </a:r>
          </a:p>
          <a:p xmlns:a="http://schemas.openxmlformats.org/drawingml/2006/main">
            <a:r>
              <a:t>      "visitor_yoy_percent": 3.2,</a:t>
            </a:r>
          </a:p>
          <a:p xmlns:a="http://schemas.openxmlformats.org/drawingml/2006/main">
            <a:r>
              <a:t>      "spending_yoy_percent": 104.79,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2.79,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2157943,</a:t>
            </a:r>
          </a:p>
          <a:p xmlns:a="http://schemas.openxmlformats.org/drawingml/2006/main">
            <a:r>
              <a:t>      "previous_year_spending_krw": 50557418000,</a:t>
            </a:r>
          </a:p>
          <a:p xmlns:a="http://schemas.openxmlformats.org/drawingml/2006/main">
            <a:r>
              <a:t>      "previous_year_stay_minutes": 1714.0,</a:t>
            </a:r>
          </a:p>
          <a:p xmlns:a="http://schemas.openxmlformats.org/drawingml/2006/main">
            <a:r>
              <a:t>      "previous_year_lodging_nights": 2.81,</a:t>
            </a:r>
          </a:p>
          <a:p xmlns:a="http://schemas.openxmlformats.org/drawingml/2006/main">
            <a:r>
              <a:t>      "previous_year_lodging_rate_pct": 15.7,</a:t>
            </a:r>
          </a:p>
          <a:p xmlns:a="http://schemas.openxmlformats.org/drawingml/2006/main">
            <a:r>
              <a:t>      "previous_year_lodging_searches": 24402,</a:t>
            </a:r>
          </a:p>
          <a:p xmlns:a="http://schemas.openxmlformats.org/drawingml/2006/main">
            <a:r>
              <a:t>      "previous_year_navigation_searches": 210385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"evaluation": {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"test_mae": 103646.64,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123311.5,</a:t>
            </a:r>
          </a:p>
          <a:p xmlns:a="http://schemas.openxmlformats.org/drawingml/2006/main">
            <a:r>
              <a:t>            "selected": 95222,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90511,</a:t>
            </a:r>
          </a:p>
          <a:p xmlns:a="http://schemas.openxmlformats.org/drawingml/2006/main">
            <a:r>
              <a:t>            "selected": 105947.5,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61165,</a:t>
            </a:r>
          </a:p>
          <a:p xmlns:a="http://schemas.openxmlformats.org/drawingml/2006/main">
            <a:r>
              <a:t>            "selected": 93227,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92238.25,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"spending_krw": {</a:t>
            </a:r>
          </a:p>
          <a:p xmlns:a="http://schemas.openxmlformats.org/drawingml/2006/main">
            <a:r>
              <a:t>        "test_mae": 8003403761.33,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5076101500,</a:t>
            </a:r>
          </a:p>
          <a:p xmlns:a="http://schemas.openxmlformats.org/drawingml/2006/main">
            <a:r>
              <a:t>            "selected": 7122970056,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6206652500,</a:t>
            </a:r>
          </a:p>
          <a:p xmlns:a="http://schemas.openxmlformats.org/drawingml/2006/main">
            <a:r>
              <a:t>            "selected": 11322988654,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4379312000,</a:t>
            </a:r>
          </a:p>
          <a:p xmlns:a="http://schemas.openxmlformats.org/drawingml/2006/main">
            <a:r>
              <a:t>            "selected": 12415950624,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4727706750,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"stay_minutes": {</a:t>
            </a:r>
          </a:p>
          <a:p xmlns:a="http://schemas.openxmlformats.org/drawingml/2006/main">
            <a:r>
              <a:t>        "test_mae": 208.5,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107.5,</a:t>
            </a:r>
          </a:p>
          <a:p xmlns:a="http://schemas.openxmlformats.org/drawingml/2006/main">
            <a:r>
              <a:t>            "selected": 107.5,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360,</a:t>
            </a:r>
          </a:p>
          <a:p xmlns:a="http://schemas.openxmlformats.org/drawingml/2006/main">
            <a:r>
              <a:t>            "selected": 360,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309.5,</a:t>
            </a:r>
          </a:p>
          <a:p xmlns:a="http://schemas.openxmlformats.org/drawingml/2006/main">
            <a:r>
              <a:t>            "selected": 309.5,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208.5,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"lodging_nights": {</a:t>
            </a:r>
          </a:p>
          <a:p xmlns:a="http://schemas.openxmlformats.org/drawingml/2006/main">
            <a:r>
              <a:t>        "test_mae": 0.1,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0.06,</a:t>
            </a:r>
          </a:p>
          <a:p xmlns:a="http://schemas.openxmlformats.org/drawingml/2006/main">
            <a:r>
              <a:t>            "selected": 0.09,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0.08,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0.07,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0.07,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"lodging_rate_pct": {</a:t>
            </a:r>
          </a:p>
          <a:p xmlns:a="http://schemas.openxmlformats.org/drawingml/2006/main">
            <a:r>
              <a:t>        "test_mae": 0.57,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0.8,</a:t>
            </a:r>
          </a:p>
          <a:p xmlns:a="http://schemas.openxmlformats.org/drawingml/2006/main">
            <a:r>
              <a:t>            "selected": 0.8,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0.3,</a:t>
            </a:r>
          </a:p>
          <a:p xmlns:a="http://schemas.openxmlformats.org/drawingml/2006/main">
            <a:r>
              <a:t>            "selected": 0.3,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0.35,</a:t>
            </a:r>
          </a:p>
          <a:p xmlns:a="http://schemas.openxmlformats.org/drawingml/2006/main">
            <a:r>
              <a:t>            "selected": 0.35,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0.57,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"lodging_searches": {</a:t>
            </a:r>
          </a:p>
          <a:p xmlns:a="http://schemas.openxmlformats.org/drawingml/2006/main">
            <a:r>
              <a:t>        "test_mae": 3695.69,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2404,</a:t>
            </a:r>
          </a:p>
          <a:p xmlns:a="http://schemas.openxmlformats.org/drawingml/2006/main">
            <a:r>
              <a:t>            "selected": 3550,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2584.5,</a:t>
            </a:r>
          </a:p>
          <a:p xmlns:a="http://schemas.openxmlformats.org/drawingml/2006/main">
            <a:r>
              <a:t>            "selected": 3318,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2765.5,</a:t>
            </a:r>
          </a:p>
          <a:p xmlns:a="http://schemas.openxmlformats.org/drawingml/2006/main">
            <a:r>
              <a:t>            "selected": 3897.5,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2584.75,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"navigation_searches": {</a:t>
            </a:r>
          </a:p>
          <a:p xmlns:a="http://schemas.openxmlformats.org/drawingml/2006/main">
            <a:r>
              <a:t>        "test_mae": 26562,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30053.5,</a:t>
            </a:r>
          </a:p>
          <a:p xmlns:a="http://schemas.openxmlformats.org/drawingml/2006/main">
            <a:r>
              <a:t>            "selected": 30053.5,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40942.5,</a:t>
            </a:r>
          </a:p>
          <a:p xmlns:a="http://schemas.openxmlformats.org/drawingml/2006/main">
            <a:r>
              <a:t>            "selected": 40942.5,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23070.5,</a:t>
            </a:r>
          </a:p>
          <a:p xmlns:a="http://schemas.openxmlformats.org/drawingml/2006/main">
            <a:r>
              <a:t>            "selected": 23070.5,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26562,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"test_period": "202603~202606",</a:t>
            </a:r>
          </a:p>
          <a:p xmlns:a="http://schemas.openxmlformats.org/drawingml/2006/main">
            <a:r>
              <a:t>    "selection_basis": "validation_mae_only",</a:t>
            </a:r>
          </a:p>
          <a:p xmlns:a="http://schemas.openxmlformats.org/drawingml/2006/main">
            <a:r>
              <a:t>    "validation_period": "202512~202602",</a:t>
            </a:r>
          </a:p>
          <a:p xmlns:a="http://schemas.openxmlformats.org/drawingml/2006/main">
            <a:r>
              <a:t>    "longer_horizon_status": "exploratory_not_recursively_backtested",</a:t>
            </a:r>
          </a:p>
          <a:p xmlns:a="http://schemas.openxmlformats.org/drawingml/2006/main">
            <a:r>
              <a:t>    "forecast_horizon_months": 8,</a:t>
            </a:r>
          </a:p>
          <a:p xmlns:a="http://schemas.openxmlformats.org/drawingml/2006/main">
            <a:r>
              <a:t>    "recursive_backtest_horizon_months":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3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"execution_scenario": null,</a:t>
            </a:r>
          </a:p>
          <a:p xmlns:a="http://schemas.openxmlformats.org/drawingml/2006/main">
            <a:r>
              <a:t>  "reference_estimate": {</a:t>
            </a:r>
          </a:p>
          <a:p xmlns:a="http://schemas.openxmlformats.org/drawingml/2006/main">
            <a:r>
              <a:t>    "version": "reference-estimate-v1",</a:t>
            </a:r>
          </a:p>
          <a:p xmlns:a="http://schemas.openxmlformats.org/drawingml/2006/main">
            <a:r>
              <a:t>    "status": "planning_assumption_not_quote",</a:t>
            </a:r>
          </a:p>
          <a:p xmlns:a="http://schemas.openxmlformats.org/drawingml/2006/main">
            <a:r>
              <a:t>    "months": 3,</a:t>
            </a:r>
          </a:p>
          <a:p xmlns:a="http://schemas.openxmlformats.org/drawingml/2006/main">
            <a:r>
              <a:t>    "refund": true,</a:t>
            </a:r>
          </a:p>
          <a:p xmlns:a="http://schemas.openxmlformats.org/drawingml/2006/main">
            <a:r>
              <a:t>    "quantity": 1000,</a:t>
            </a:r>
          </a:p>
          <a:p xmlns:a="http://schemas.openxmlformats.org/drawingml/2006/main">
            <a:r>
              <a:t>    "unit_krw": 50000,</a:t>
            </a:r>
          </a:p>
          <a:p xmlns:a="http://schemas.openxmlformats.org/drawingml/2006/main">
            <a:r>
              <a:t>    "redemption_target_pct": 80,</a:t>
            </a:r>
          </a:p>
          <a:p xmlns:a="http://schemas.openxmlformats.org/drawingml/2006/main">
            <a:r>
              <a:t>    "redemption_count": 800,</a:t>
            </a:r>
          </a:p>
          <a:p xmlns:a="http://schemas.openxmlformats.org/drawingml/2006/main">
            <a:r>
              <a:t>    "qualifying_spend_krw": 100000000,</a:t>
            </a:r>
          </a:p>
          <a:p xmlns:a="http://schemas.openxmlformats.org/drawingml/2006/main">
            <a:r>
              <a:t>    "subtotal_krw": 75000000,</a:t>
            </a:r>
          </a:p>
          <a:p xmlns:a="http://schemas.openxmlformats.org/drawingml/2006/main">
            <a:r>
              <a:t>    "reserve_krw": 7500000,</a:t>
            </a:r>
          </a:p>
          <a:p xmlns:a="http://schemas.openxmlformats.org/drawingml/2006/main">
            <a:r>
              <a:t>    "total_krw": 82500000,</a:t>
            </a:r>
          </a:p>
          <a:p xmlns:a="http://schemas.openxmlformats.org/drawingml/2006/main">
            <a:r>
              <a:t>    "within_hard_budget": true,</a:t>
            </a:r>
          </a:p>
          <a:p xmlns:a="http://schemas.openxmlformats.org/drawingml/2006/main">
            <a:r>
              <a:t>    "items":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"여행비 환급 지원",</a:t>
            </a:r>
          </a:p>
          <a:p xmlns:a="http://schemas.openxmlformats.org/drawingml/2006/main">
            <a:r>
              <a:t>        "basis": "1,000건 × 50,000원",</a:t>
            </a:r>
          </a:p>
          <a:p xmlns:a="http://schemas.openxmlformats.org/drawingml/2006/main">
            <a:r>
              <a:t>        "amount": 50000000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"현장 운영·정산",</a:t>
            </a:r>
          </a:p>
          <a:p xmlns:a="http://schemas.openxmlformats.org/drawingml/2006/main">
            <a:r>
              <a:t>        "basis": "60인일 × 150,000원",</a:t>
            </a:r>
          </a:p>
          <a:p xmlns:a="http://schemas.openxmlformats.org/drawingml/2006/main">
            <a:r>
              <a:t>        "amount": 9000000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"신청·증빙 시스템",</a:t>
            </a:r>
          </a:p>
          <a:p xmlns:a="http://schemas.openxmlformats.org/drawingml/2006/main">
            <a:r>
              <a:t>        "basis": "기존 시스템 설정 1식 × 800만원",</a:t>
            </a:r>
          </a:p>
          <a:p xmlns:a="http://schemas.openxmlformats.org/drawingml/2006/main">
            <a:r>
              <a:t>        "amount": 8000000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"홍보·참여처 안내",</a:t>
            </a:r>
          </a:p>
          <a:p xmlns:a="http://schemas.openxmlformats.org/drawingml/2006/main">
            <a:r>
              <a:t>        "basis": "콘텐츠·안내물 1식 × 500만원",</a:t>
            </a:r>
          </a:p>
          <a:p xmlns:a="http://schemas.openxmlformats.org/drawingml/2006/main">
            <a:r>
              <a:t>        "amount": 5000000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"성과 집계·검토",</a:t>
            </a:r>
          </a:p>
          <a:p xmlns:a="http://schemas.openxmlformats.org/drawingml/2006/main">
            <a:r>
              <a:t>        "basis": "자료 정리·평가 1식 × 300만원",</a:t>
            </a:r>
          </a:p>
          <a:p xmlns:a="http://schemas.openxmlformats.org/drawingml/2006/main">
            <a:r>
              <a:t>        "amount": 3000000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"예비비",</a:t>
            </a:r>
          </a:p>
          <a:p xmlns:a="http://schemas.openxmlformats.org/drawingml/2006/main">
            <a:r>
              <a:t>        "basis": "직접비 7,500만원 × 10%",</a:t>
            </a:r>
          </a:p>
          <a:p xmlns:a="http://schemas.openxmlformats.org/drawingml/2006/main">
            <a:r>
              <a:t>        "amount": 7500000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"source_id": "estimate:gangjin-refund-rules:20260905",</a:t>
            </a:r>
          </a:p>
          <a:p xmlns:a="http://schemas.openxmlformats.org/drawingml/2006/main">
            <a:r>
              <a:t>        "source_type": "budget_reference",</a:t>
            </a:r>
          </a:p>
          <a:p xmlns:a="http://schemas.openxmlformats.org/drawingml/2006/main">
            <a:r>
              <a:t>        "title": "강진군 반값여행 공식 신청·정산 조건",</a:t>
            </a:r>
          </a:p>
          <a:p xmlns:a="http://schemas.openxmlformats.org/drawingml/2006/main">
            <a:r>
              <a:t>        "source_url": "https://www.gangjintour.com/advance/advance_req.html",</a:t>
            </a:r>
          </a:p>
          <a:p xmlns:a="http://schemas.openxmlformats.org/drawingml/2006/main">
            <a:r>
              <a:t>  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  "accessed_at": "2026-09-05"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"assumptions": [</a:t>
            </a:r>
          </a:p>
          <a:p xmlns:a="http://schemas.openxmlformats.org/drawingml/2006/main">
            <a:r>
              <a:t>      "전 항목은 기획용 가정 단가이며 확정 견적·공식 표준단가가 아닙니다.",</a:t>
            </a:r>
          </a:p>
          <a:p xmlns:a="http://schemas.openxmlformats.org/drawingml/2006/main">
            <a:r>
              <a:t>      "인력 15만원/인일은 현장 용역 예산 가정입니다. 근로계약 임금 산정값이 아닙니다.",</a:t>
            </a:r>
          </a:p>
          <a:p xmlns:a="http://schemas.openxmlformats.org/drawingml/2006/main">
            <a:r>
              <a:t>      "시스템은 기존 신청·정산 수단의 설정·운영 범위입니다. 신규 앱·키오스크 구축비는 제외합니다.",</a:t>
            </a:r>
          </a:p>
          <a:p xmlns:a="http://schemas.openxmlformats.org/drawingml/2006/main">
            <a:r>
              <a:t>      "용역비는 세금 포함 예산 한도로 가정합니다. 환급금 과세·수수료·계약조건은 착수 전 확인합니다.",</a:t>
            </a:r>
          </a:p>
          <a:p xmlns:a="http://schemas.openxmlformats.org/drawingml/2006/main">
            <a:r>
              <a:t>      "지원 건수·평균 지원액·80% 후속 사용 목표는 운영 제안이며 관측값 또는 ML 산출값이 아닙니다."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ad71c755b91429b" Type="http://schemas.openxmlformats.org/officeDocument/2006/relationships/chart" Target="../audit_v6/slides/charts/chart1.xml"/><Relationship Id="Rccff279e762547ca" Type="http://schemas.openxmlformats.org/officeDocument/2006/relationships/slideLayout" Target="../slideLayouts/slideLayout1.xml"/><Relationship Id="Rcd0d7e1db2514411" Type="http://schemas.openxmlformats.org/officeDocument/2006/relationships/chart" Target="../audit_v6/slides/charts/chart2.xml"/><Relationship Id="rId4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e757d81be54559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a927cda51254bd6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4e1d0071495e48e4" Type="http://schemas.openxmlformats.org/officeDocument/2006/relationships/slideLayout" Target="../slideLayouts/slideLayout1.xml"/><Relationship Id="Rc6898d145a42408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04ac80f13724322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site/portal/ex/bbs/View.do?bcIdx=311068&amp;cbIdx=1135&amp;pageIndex=1" TargetMode="External"/><Relationship Id="rId3" Type="http://schemas.openxmlformats.org/officeDocument/2006/relationships/hyperlink" Target="https://jnfarm.jeonnam.go.kr/board/FARM_BOARD_008/boardView.do?bdId=BD_00000000000011721&amp;menuCd=farm004002" TargetMode="External"/><Relationship Id="rId4" Type="http://schemas.openxmlformats.org/officeDocument/2006/relationships/hyperlink" Target=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 TargetMode="External"/><Relationship Id="rId5" Type="http://schemas.openxmlformats.org/officeDocument/2006/relationships/hyperlink" Target="https://www.evaluation.go.kr/upload2/atch/eval/20250429095846463.pdf" TargetMode="External"/><Relationship Id="rId6" Type="http://schemas.openxmlformats.org/officeDocument/2006/relationships/hyperlink" Target="https://jeonju.go.kr/resource/www/images/download/budget/2026/2026_31_2.pdf" TargetMode="External"/><Relationship Id="rId7" Type="http://schemas.openxmlformats.org/officeDocument/2006/relationships/hyperlink" Target="https://kto.visitkorea.or.kr/upload/flexer/upload/ktobiz/20220928/b623b5f9-3ec0-11ed-9832-ddf31964842e.hwp.files/Sections1.html" TargetMode="External"/><Relationship Id="rId8" Type="http://schemas.openxmlformats.org/officeDocument/2006/relationships/hyperlink" Target="https://korean.visitkorea.or.kr/detail/rem_detail.do?cotid=f9c636b2-dd7c-4f09-af3d-6af43b33d371" TargetMode="External"/><Relationship Id="rId9" Type="http://schemas.openxmlformats.org/officeDocument/2006/relationships/hyperlink" Target="https://www.gangjintour.com/advance/advance_req.html" TargetMode="External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pis.data.go.kr/B551011/KorService2" TargetMode="Externa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pis.data.go.kr/B551011/KorService2" TargetMode="External"/><Relationship Id="rId3" Type="http://schemas.openxmlformats.org/officeDocument/2006/relationships/notesSlide" Target="../notesSlides/notesSlide18.xml"/></Relationships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모델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도입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사업기간 2026.09 ~ 2026.11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전략 검토용 / 데이터·AI 기반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2026-09-05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원주시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2026. 09. 05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예측치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자연추세·목표 KPI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견적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지속 운영 방안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전체 데이터·출처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A5EB5BCF-344D-4D69-9CC1-EBFB267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맺음말</a:t>
            </a:r>
          </a:p>
        </p:txBody>
      </p:sp>
      <p:sp>
        <p:nvSpPr>
          <p:cNvPr id="4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CBA3A83D-9A31-40EB-8EE3-21FC839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 반값 여행 지역환급 모델 도입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사진: 경천묘 · 한국관광공사 관광 Open API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 · 관측 기준 2026.06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원주시 방문객의 지역 내 지출 일부를 상품권으로 환급하고, 다시 지역에서 사용하도록 유도합니다.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/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정량적 효과는 확정할 수 없으나, [참여 외지인 수 × 환급 참여율 × 추가 지역 소비액] 산식을 통해 지역 내 순증 소비액을 검증할 예정임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229만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606억 원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방문자 증감률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-3%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강진군 사례에서 지역상품권 결제액이 전년 대비 46% 증가한 성과를 참고함. 원주시의 높은 내비게이션 검색량을 실제 지역 내 결제로 연결하는 전략을 채택함.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CORE OPERATING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WHAT · 무엇을 만드나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 반값 여행 지역환급 모델 도입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방문객이 지역 내에서 지출한 금액의 일부를 지역상품권으로 돌려받는 방식으로, 혜택이 다시 지역 내…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WHO &amp; WHERE · 누구에게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선택 지역 방문객과 참여 사업자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강원특별자치도 원주시 · 2026-09 ~ 2026-11, 3개월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HOW · 어떻게 작동하나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행동을 실제 기록으로 연결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참여 업체 모집 및 상품권 운영 체계 구축 → 지출 증빙 및 환급… → 시범 운영 및 홍보 캠페인 실시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OPERATE · 무엇이 필요한가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주체·참여처·측정 기준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지역 내 상품권 사용처 확보, 방문객의 지출 증빙 절차 마련, 중복 수혜 방지 방안 수립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최종적으로 만들어 내는 것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참여 업체 명단 및 환급 프로세스 매뉴얼 · 환급 시스템 테스트 결과 보고서 · 홍보물 및 시범 운영 데이터 · 주간 결제 데이터 요약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관측값·ML 자연추세와 실제 운영 기록을 구분해, 다음 운영 기간에 유지·개선할 항목을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MACHINE LEARNING FORECAST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사업 기간 3개월 · 방문자·관광소비액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CE144BA-33C5-4E86-8E06-A1AA11E5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CFC19E4B-6A6F-404D-AA8A-2BA231E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1322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2026.09~2026.11 | 지역 전체의 월별 자연추세이며 사업 효과를 학습한 예측은 아닙니다.</a:t>
            </a:r>
          </a:p>
        </p:txBody>
      </p:sp>
      <p:sp>
        <p:nvSpPr>
          <p:cNvPr id="6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A80239FE-9B6F-4C31-8112-88C268B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EA2"/>
                </a:solidFill>
              </a:defRPr>
            </a:pPr>
            <a:r>
              <a:rPr sz="2325" b="1">
                <a:solidFill>
                  <a:srgbClr val="004EA2"/>
                </a:solidFill>
              </a:rPr>
              <a:t>방문자 수  |  단위: 만 명</a:t>
            </a:r>
          </a:p>
        </p:txBody>
      </p:sp>
      <p:graphicFrame>
        <p:nvGraphicFramePr>
          <p:cNvPr id="19" name="visitors-chart"/>
          <p:cNvGraphicFramePr/>
          <p:nvPr/>
        </p:nvGraphicFramePr>
        <p:xfrm>
          <a:off xmlns:a="http://schemas.openxmlformats.org/drawingml/2006/main" x="1009650" y="36004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d71c755b91429b"/>
          </a:graphicData>
        </a:graphic>
      </p:graphicFrame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3BE309C8-D625-4D50-B9A3-74F51F4E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79132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26.09 2,363,056명  ·  26.10 2,633,270명  ·  26.11 2,632,315명</a:t>
            </a:r>
          </a:p>
        </p:txBody>
      </p:sp>
      <p:sp>
        <p:nvSpPr>
          <p:cNvPr id="9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C97DEF89-B9FF-46DE-BEAE-C5467155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B7C9"/>
                </a:solidFill>
              </a:defRPr>
            </a:pPr>
            <a:r>
              <a:rPr sz="2325" b="1">
                <a:solidFill>
                  <a:srgbClr val="00B7C9"/>
                </a:solidFill>
              </a:rPr>
              <a:t>관광소비액  |  단위: 억 원</a:t>
            </a:r>
          </a:p>
        </p:txBody>
      </p:sp>
      <p:graphicFrame>
        <p:nvGraphicFramePr>
          <p:cNvPr id="22" name="spending-chart"/>
          <p:cNvGraphicFramePr/>
          <p:nvPr/>
        </p:nvGraphicFramePr>
        <p:xfrm>
          <a:off xmlns:a="http://schemas.openxmlformats.org/drawingml/2006/main" x="7943850" y="36004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0d7e1db2514411"/>
          </a:graphicData>
        </a:graphic>
      </p:graphicFrame>
      <p:sp>
        <p:nvSpPr>
          <p:cNvPr id="11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87222C69-E156-4414-BCC8-39F0BED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79132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26.09 670.47억 원  ·  26.10 839.30억 원  ·  26.11 899.48억 원</a:t>
            </a:r>
          </a:p>
        </p:txBody>
      </p:sp>
      <p:sp>
        <p:nvSpPr>
          <p:cNvPr id="12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6FC136A7-CE12-4A3B-8A2D-651054F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743825"/>
            <a:ext cx="1322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36E"/>
                </a:solidFill>
              </a:defRPr>
            </a:pPr>
            <a:r>
              <a:rPr sz="1425" b="0">
                <a:solidFill>
                  <a:srgbClr val="59636E"/>
                </a:solidFill>
              </a:rPr>
              <a:t>학습 원자료 2024.01~2026.06 | 방문·소비 모델: RandomForestRegressor / LinearRegression</a:t>
            </a:r>
          </a:p>
        </p:txBody>
      </p:sp>
      <p:sp>
        <p:nvSpPr>
          <p:cNvPr id="13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803AD22-38F2-4656-BA35-9383AA4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96250"/>
            <a:ext cx="1322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시험구간에서 전년동월 단순예측보다 오차가 큽니다. 탐색적 참고값이며 성과 약속에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검토한 원주시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683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현재 신호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2026년 06월 관측값 · 예측과 구분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한국관광 데이터랩 관측값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동일 기준의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강진군 사례에서 지역상품권 결제액이 전년 대비 46% 증가한 성과를 참고함. 원주시의 높은 내비게이션 검색량을 실제 지역 내 결제로…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지표 정의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사례의 지역 적용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지역 내 상품권 사용처 확보, 방문객의 지출 증빙 절차 마련, 중복 수혜 방지 방안 수립이 필요하다.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 반값여행 지역경제 효과 소개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실행 조건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지역 내 상품권 사용처 확보, 방문객의 지출 증빙 절차 마련, 중복 수혜 방지 방안 수립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 반값여행 지역환급 모델 도입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229만 명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사례 원리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여건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적용 검증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작게 시작해, 기록으로 다음 운영을 결정합니다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5943600" y="50482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01 · 2026-09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참여 업체 모집 및 상품권 운영 체계 구축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참여 업체 명단 및 환급 프로세스 매뉴얼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8401050" y="419100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76DB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A"/>
          </a:solidFill>
          <a:ln xmlns:a="http://schemas.openxmlformats.org/drawingml/2006/main" w="0">
            <a:solidFill>
              <a:srgbClr val="176DB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02 · 2026-09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 업소·동선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57825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지출 증빙 및 환급 시스템(모바일/키오스크) 준비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환급 시스템 테스트 결과 보고서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10858500" y="33337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03 · 2026-10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운영 및 홍보 캠페인 실시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홍보물 및 시범 운영 데이터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724150"/>
            <a:ext cx="5715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04 · 2026-11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57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052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집중 운영 및 실시간 모니터링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주간 결제 데이터 요약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7ADBE4"/>
                </a:solidFill>
                <a:latin typeface="Noto Sans KR"/>
                <a:ea typeface="Noto Sans KR"/>
                <a:cs typeface="Noto Sans KR"/>
              </a:rPr>
              <a:t>FINAL OUTPUT</a:t>
            </a:r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산출물 · 2026-11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2479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성과 분석 및 차기 사업 검토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산출물: 최종 성과 분석 보고서. 비용·이탈·민원·현장 운영 가능성을 함께 확인해 확대·보완·중단을 판단합니다.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 → 목표 KPI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2973F422-EC21-4CBF-9FC3-6D002A8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7C9"/>
                </a:solidFill>
              </a:defRPr>
            </a:pPr>
            <a:r>
              <a:t>BASELINE &amp; MEASURABLE TARGETS</a:t>
            </a:r>
          </a:p>
        </p:txBody>
      </p:sp>
      <p:sp>
        <p:nvSpPr>
          <p:cNvPr id="47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EA318C-C0F6-4325-9FFB-E5988F3F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8" name="subtitle">
            <a:extLst xmlns:a="http://schemas.openxmlformats.org/drawingml/2006/main">
              <a:ext uri="{FF2B5EF4-FFF2-40B4-BE49-F238E27FC236}">
                <a16:creationId xmlns:a16="http://schemas.microsoft.com/office/drawing/2014/main" id="{DC65064C-CE2C-4EAF-8175-78A88F11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1322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지역 전체 예측과 사업 참여 목표를 구분하고, 목표 수치는 운영 기록으로 검증합니다.</a:t>
            </a:r>
          </a:p>
        </p:txBody>
      </p:sp>
      <p:sp>
        <p:nvSpPr>
          <p:cNvPr id="49" name="baseline-panel">
            <a:extLst xmlns:a="http://schemas.openxmlformats.org/drawingml/2006/main">
              <a:ext uri="{FF2B5EF4-FFF2-40B4-BE49-F238E27FC236}">
                <a16:creationId xmlns:a16="http://schemas.microsoft.com/office/drawing/2014/main" id="{329678E2-7E78-422C-ABAF-5153332F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39624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BF3295DE-8F94-4708-AB48-E86CBBE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670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지역 전체 자연추세</a:t>
            </a:r>
          </a:p>
        </p:txBody>
      </p:sp>
      <p:sp>
        <p:nvSpPr>
          <p:cNvPr id="51" name="baseline-period">
            <a:extLst xmlns:a="http://schemas.openxmlformats.org/drawingml/2006/main">
              <a:ext uri="{FF2B5EF4-FFF2-40B4-BE49-F238E27FC236}">
                <a16:creationId xmlns:a16="http://schemas.microsoft.com/office/drawing/2014/main" id="{0F96E2A6-AD4B-4F5A-B570-0388258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62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BD5EE"/>
                </a:solidFill>
              </a:defRPr>
            </a:pPr>
            <a:r>
              <a:rPr sz="1575" b="0">
                <a:solidFill>
                  <a:srgbClr val="BBD5EE"/>
                </a:solidFill>
              </a:rPr>
              <a:t>26.11 · 최종 월</a:t>
            </a:r>
          </a:p>
        </p:txBody>
      </p:sp>
      <p:sp>
        <p:nvSpPr>
          <p:cNvPr id="52" name="visit-label">
            <a:extLst xmlns:a="http://schemas.openxmlformats.org/drawingml/2006/main">
              <a:ext uri="{FF2B5EF4-FFF2-40B4-BE49-F238E27FC236}">
                <a16:creationId xmlns:a16="http://schemas.microsoft.com/office/drawing/2014/main" id="{EE673A59-7138-4306-96A1-F410B38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월 방문자 수</a:t>
            </a:r>
          </a:p>
        </p:txBody>
      </p:sp>
      <p:sp>
        <p:nvSpPr>
          <p:cNvPr id="53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2EA967DD-871F-4769-BC54-9B153377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42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2,632,315명</a:t>
            </a:r>
          </a:p>
        </p:txBody>
      </p:sp>
      <p:sp>
        <p:nvSpPr>
          <p:cNvPr id="54" name="spend-label">
            <a:extLst xmlns:a="http://schemas.openxmlformats.org/drawingml/2006/main">
              <a:ext uri="{FF2B5EF4-FFF2-40B4-BE49-F238E27FC236}">
                <a16:creationId xmlns:a16="http://schemas.microsoft.com/office/drawing/2014/main" id="{31D2A3E2-2AE3-42C2-9B28-3C6C97BC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월 관광소비액</a:t>
            </a:r>
          </a:p>
        </p:txBody>
      </p:sp>
      <p:sp>
        <p:nvSpPr>
          <p:cNvPr id="55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232A21CE-1D77-4FE7-AEB4-EDBE9A0D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769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899.48억 원</a:t>
            </a:r>
          </a:p>
        </p:txBody>
      </p:sp>
      <p:sp>
        <p:nvSpPr>
          <p:cNvPr id="56" name="kpi-heading">
            <a:extLst xmlns:a="http://schemas.openxmlformats.org/drawingml/2006/main">
              <a:ext uri="{FF2B5EF4-FFF2-40B4-BE49-F238E27FC236}">
                <a16:creationId xmlns:a16="http://schemas.microsoft.com/office/drawing/2014/main" id="{70B2B11A-CC4A-47EB-80A0-E4B0531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38475"/>
            <a:ext cx="8753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4EA2"/>
                </a:solidFill>
              </a:defRPr>
            </a:pPr>
            <a:r>
              <a:rPr sz="2250" b="1">
                <a:solidFill>
                  <a:srgbClr val="004EA2"/>
                </a:solidFill>
              </a:rPr>
              <a:t>목표 KPI · 참고 견적과 연결한 운영 제안</a:t>
            </a:r>
          </a:p>
        </p:txBody>
      </p:sp>
      <p:graphicFrame>
        <p:nvGraphicFramePr>
          <p:cNvPr id="72" name="kpi-table"/>
          <p:cNvGraphicFramePr/>
          <p:nvPr/>
        </p:nvGraphicFramePr>
        <p:xfrm>
          <a:off xmlns:a="http://schemas.openxmlformats.org/drawingml/2006/main" x="5429250" y="3638550"/>
          <a:ext xmlns:a="http://schemas.openxmlformats.org/drawingml/2006/main" cx="87630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3714750"/>
              </a:tblGrid>
              <a:tr h="657225"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측정 지표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목표 KPI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가정·산출기준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환급 완료 신청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1,000건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지원금 ÷ 평균 50,000원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참여자 증빙 소비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1.00억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1,000건 × 평균 10만원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후속 상품권 사용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800건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1,000건 × 사용 목표 80%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58" name="kpi-derivation">
            <a:extLst xmlns:a="http://schemas.openxmlformats.org/drawingml/2006/main">
              <a:ext uri="{FF2B5EF4-FFF2-40B4-BE49-F238E27FC236}">
                <a16:creationId xmlns:a16="http://schemas.microsoft.com/office/drawing/2014/main" id="{D1F62887-4274-4F78-8C41-B141A954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05575"/>
            <a:ext cx="876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3개월 소규모 운영을 가정한 제안 목표입니다. 지원량·평균 소비·80% 사용률은 관측 결과가 아닌 조정 가능한 가정입니다.</a:t>
            </a:r>
          </a:p>
        </p:txBody>
      </p:sp>
      <p:sp>
        <p:nvSpPr>
          <p:cNvPr id="59" name="kpi-footnote">
            <a:extLst xmlns:a="http://schemas.openxmlformats.org/drawingml/2006/main">
              <a:ext uri="{FF2B5EF4-FFF2-40B4-BE49-F238E27FC236}">
                <a16:creationId xmlns:a16="http://schemas.microsoft.com/office/drawing/2014/main" id="{4BA34B10-F867-4EDE-A7E5-80DA74B2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734300"/>
            <a:ext cx="1322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지역 전체 목표율은 미입력입니다. 참여 건수≠추가 관광객, 증빙 소비≠증분 매출이며 지역 ML에 더하지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REFERENCE ESTIMATE · NOT A FINAL QUOTE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A4373A4-DCBB-41C7-BC6A-32C6551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C6431179-2FA3-47FE-9D1D-C88FFF8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322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EA2"/>
                </a:solidFill>
              </a:defRPr>
            </a:pPr>
            <a:r>
              <a:rPr sz="2400" b="1">
                <a:solidFill>
                  <a:srgbClr val="004EA2"/>
                </a:solidFill>
              </a:rPr>
              <a:t>3개월 참고 견적  |  총 8,250만 원</a:t>
            </a:r>
          </a:p>
        </p:txBody>
      </p:sp>
      <p:graphicFrame>
        <p:nvGraphicFramePr>
          <p:cNvPr id="13" name="budget-table"/>
          <p:cNvGraphicFramePr/>
          <p:nvPr/>
        </p:nvGraphicFramePr>
        <p:xfrm>
          <a:off xmlns:a="http://schemas.openxmlformats.org/drawingml/2006/main" x="1009650" y="3086100"/>
          <a:ext xmlns:a="http://schemas.openxmlformats.org/drawingml/2006/main" cx="132207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6572250"/>
                <a:gridCol w="3295650"/>
              </a:tblGrid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수량 × 가정 단가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참고 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여행비 환급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1,000건 × 50,000원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5,000만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현장 운영·정산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60인일 × 150,000원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900만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신청·증빙 시스템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기존 시스템 설정 1식 × 800만원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800만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홍보·참여처 안내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콘텐츠·안내물 1식 × 500만원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500만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성과 집계·검토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자료 정리·평가 1식 × 300만원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300만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직접비 7,500만원 × 10%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750만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직접비 + 예비비 10%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8,250만 원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7" name="intro">
            <a:extLst xmlns:a="http://schemas.openxmlformats.org/drawingml/2006/main">
              <a:ext uri="{FF2B5EF4-FFF2-40B4-BE49-F238E27FC236}">
                <a16:creationId xmlns:a16="http://schemas.microsoft.com/office/drawing/2014/main" id="{879840DE-9927-4CBC-86F8-F1383F1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81850"/>
            <a:ext cx="1322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4EA2"/>
                </a:solidFill>
              </a:defRPr>
            </a:pPr>
            <a:r>
              <a:rPr sz="1725" b="1">
                <a:solidFill>
                  <a:srgbClr val="004EA2"/>
                </a:solidFill>
              </a:rPr>
              <a:t>임시 참고 견적이며 확정 견적이 아닙니다. 계약 전 수량·세금·수수료와 비교견적을 확인합니다.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8906A3DE-0E85-444D-8F67-DBBBA8B2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20000"/>
            <a:ext cx="1322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강진군 공식 환급방식(50%) 참고; 평균 10만원 소비·5만원 지원은 이번 기획의 가정. 인력·시스템·홍보·평가 금액은 가정 한도입니다. 신규 앱·키오스크 구축은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시범사업 이후에도 이렇게 운영합니다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· 검증된 코스 정례 운영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시범에서 현장 운영 가능성과 실제 이용이 확인된 코스·참여처만 월간 일정으로 정례화합니다.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 · 월별 데이터 개선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매월 같은 기준으로 이용·결제·비용·민원을 확인하고, 성과가 약한 구간의 동선·시간·혜택을 조정합니다.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효과가 약한 구성은 중단하지 않고 원인을 먼저 확인한 뒤 한 요소씩 바꿔 재검증합니다.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주기: 월별 점검 · 분기별 참여처 회의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 · 성과 확인 후 단계적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한 권역의 운영 기록이 기준을 충족한 뒤 인접 권역·계절 상품·외국인 안내를 순서대로 연결합니다.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조건: 운영 가능성·비용 상한·실제 이용 변화 확인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범위: 검증된 요소만 복제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한 권역 → 인접 권역 → 계절·대상별 상품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관측 데이터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source-subtitle">
            <a:extLst xmlns:a="http://schemas.openxmlformats.org/drawingml/2006/main"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322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관측 데이터 · 전체 원자료 목록  |  1/7</a:t>
            </a:r>
          </a:p>
        </p:txBody>
      </p:sp>
      <p:sp>
        <p:nvSpPr>
          <p:cNvPr id="30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source-0-0">
            <a:extLst xmlns:a="http://schemas.openxmlformats.org/drawingml/2006/main"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4114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0="http://schemas.openxmlformats.org/officeDocument/2006/relationships" ns0:id="rId2"/>
              </a:rPr>
              <a:t>D01  순 방문자 수 및 숙박 비율 (이동통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="http://schemas.openxmlformats.org/officeDocument/2006/relationships" ns1:id="rId2"/>
              </a:rPr>
              <a:t>신 기반 외지인)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="http://schemas.openxmlformats.org/officeDocument/2006/relationships" ns2:id="rId2"/>
              </a:rPr>
              <a:t>2026-06</a:t>
            </a:r>
          </a:p>
        </p:txBody>
      </p:sp>
      <p:sp>
        <p:nvSpPr>
          <p:cNvPr id="32" name="source-0-1">
            <a:extLst xmlns:a="http://schemas.openxmlformats.org/drawingml/2006/main"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14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3="http://schemas.openxmlformats.org/officeDocument/2006/relationships" ns3:id="rId2"/>
              </a:rPr>
              <a:t>D02  월간 순 방문자 수 (이동통신 기반 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4="http://schemas.openxmlformats.org/officeDocument/2006/relationships" ns4:id="rId2"/>
              </a:rPr>
              <a:t>외지인)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5="http://schemas.openxmlformats.org/officeDocument/2006/relationships" ns5:id="rId2"/>
              </a:rPr>
              <a:t>2026-06</a:t>
            </a:r>
          </a:p>
        </p:txBody>
      </p:sp>
      <p:sp>
        <p:nvSpPr>
          <p:cNvPr id="33" name="source-0-2">
            <a:extLst xmlns:a="http://schemas.openxmlformats.org/drawingml/2006/main"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6="http://schemas.openxmlformats.org/officeDocument/2006/relationships" ns6:id="rId2"/>
              </a:rPr>
              <a:t>D03  관광소비 추이_외지인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7="http://schemas.openxmlformats.org/officeDocument/2006/relationships" ns7:id="rId2"/>
              </a:rPr>
              <a:t>2026-06</a:t>
            </a:r>
          </a:p>
        </p:txBody>
      </p:sp>
      <p:sp>
        <p:nvSpPr>
          <p:cNvPr id="34" name="source-0-3">
            <a:extLst xmlns:a="http://schemas.openxmlformats.org/drawingml/2006/main"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00775"/>
            <a:ext cx="4114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8="http://schemas.openxmlformats.org/officeDocument/2006/relationships" ns8:id="rId2"/>
              </a:rPr>
              <a:t>D04  숙박방문자 비율 추이 (이동통신 기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9="http://schemas.openxmlformats.org/officeDocument/2006/relationships" ns9:id="rId2"/>
              </a:rPr>
              <a:t>반 외지인)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0="http://schemas.openxmlformats.org/officeDocument/2006/relationships" ns10:id="rId2"/>
              </a:rPr>
              <a:t>2026-06</a:t>
            </a:r>
          </a:p>
        </p:txBody>
      </p:sp>
      <p:sp>
        <p:nvSpPr>
          <p:cNvPr id="35" name="source-0-4">
            <a:extLst xmlns:a="http://schemas.openxmlformats.org/drawingml/2006/main"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6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7" name="source-1-0">
            <a:extLst xmlns:a="http://schemas.openxmlformats.org/drawingml/2006/main"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4114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1="http://schemas.openxmlformats.org/officeDocument/2006/relationships" ns11:id="rId2"/>
              </a:rPr>
              <a:t>D05  평균 숙박일 (이동통신 기반 외지인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2="http://schemas.openxmlformats.org/officeDocument/2006/relationships" ns12:id="rId2"/>
              </a:rPr>
              <a:t>)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3="http://schemas.openxmlformats.org/officeDocument/2006/relationships" ns13:id="rId2"/>
              </a:rPr>
              <a:t>2026-06</a:t>
            </a:r>
          </a:p>
        </p:txBody>
      </p:sp>
      <p:sp>
        <p:nvSpPr>
          <p:cNvPr id="38" name="source-1-1">
            <a:extLst xmlns:a="http://schemas.openxmlformats.org/drawingml/2006/main"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4="http://schemas.openxmlformats.org/officeDocument/2006/relationships" ns14:id="rId2"/>
              </a:rPr>
              <a:t>D06  내비게이션 목적지 유형별 검색량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5="http://schemas.openxmlformats.org/officeDocument/2006/relationships" ns15:id="rId2"/>
              </a:rPr>
              <a:t>2026-06</a:t>
            </a:r>
          </a:p>
        </p:txBody>
      </p:sp>
      <p:sp>
        <p:nvSpPr>
          <p:cNvPr id="39" name="source-1-2">
            <a:extLst xmlns:a="http://schemas.openxmlformats.org/drawingml/2006/main"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14925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6="http://schemas.openxmlformats.org/officeDocument/2006/relationships" ns16:id="rId2"/>
              </a:rPr>
              <a:t>D07  SNS 언급량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7="http://schemas.openxmlformats.org/officeDocument/2006/relationships" ns17:id="rId2"/>
              </a:rPr>
              <a:t>2026-06</a:t>
            </a:r>
          </a:p>
        </p:txBody>
      </p:sp>
      <p:sp>
        <p:nvSpPr>
          <p:cNvPr id="40" name="source-1-3">
            <a:extLst xmlns:a="http://schemas.openxmlformats.org/drawingml/2006/main"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00750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8="http://schemas.openxmlformats.org/officeDocument/2006/relationships" ns18:id="rId2"/>
              </a:rPr>
              <a:t>D08  숙박_체류시간/2025_01_12.zip</a:t>
            </a:r>
          </a:p>
        </p:txBody>
      </p:sp>
      <p:sp>
        <p:nvSpPr>
          <p:cNvPr id="41" name="source-1-4">
            <a:extLst xmlns:a="http://schemas.openxmlformats.org/drawingml/2006/main"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86575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19="http://schemas.openxmlformats.org/officeDocument/2006/relationships" ns19:id="rId2"/>
              </a:rPr>
              <a:t>D09  숙박_체류시간/2026_01_06.zip</a:t>
            </a:r>
          </a:p>
        </p:txBody>
      </p:sp>
      <p:sp>
        <p:nvSpPr>
          <p:cNvPr id="4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3" name="source-2-0">
            <a:extLst xmlns:a="http://schemas.openxmlformats.org/drawingml/2006/main"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43250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0="http://schemas.openxmlformats.org/officeDocument/2006/relationships" ns20:id="rId2"/>
              </a:rPr>
              <a:t>D10  방문자/2025_01_12.zip</a:t>
            </a:r>
          </a:p>
        </p:txBody>
      </p:sp>
      <p:sp>
        <p:nvSpPr>
          <p:cNvPr id="44" name="source-2-1">
            <a:extLst xmlns:a="http://schemas.openxmlformats.org/drawingml/2006/main"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29075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1="http://schemas.openxmlformats.org/officeDocument/2006/relationships" ns21:id="rId2"/>
              </a:rPr>
              <a:t>D11  방문자/2026_01_06.zip</a:t>
            </a:r>
          </a:p>
        </p:txBody>
      </p:sp>
      <p:sp>
        <p:nvSpPr>
          <p:cNvPr id="45" name="source-2-2">
            <a:extLst xmlns:a="http://schemas.openxmlformats.org/drawingml/2006/main"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14900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2="http://schemas.openxmlformats.org/officeDocument/2006/relationships" ns22:id="rId2"/>
              </a:rPr>
              <a:t>D12  관광소비/2026_01_06.zip</a:t>
            </a:r>
          </a:p>
        </p:txBody>
      </p:sp>
      <p:sp>
        <p:nvSpPr>
          <p:cNvPr id="46" name="source-2-3">
            <a:extLst xmlns:a="http://schemas.openxmlformats.org/drawingml/2006/main"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00725"/>
            <a:ext cx="4114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3="http://schemas.openxmlformats.org/officeDocument/2006/relationships" ns23:id="rId2"/>
              </a:rPr>
              <a:t>D13  관광소비/2025_01_12.zip</a:t>
            </a:r>
          </a:p>
        </p:txBody>
      </p:sp>
      <p:sp>
        <p:nvSpPr>
          <p:cNvPr id="47" name="source-2-4">
            <a:extLst xmlns:a="http://schemas.openxmlformats.org/drawingml/2006/main"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686550"/>
            <a:ext cx="4114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none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4="http://schemas.openxmlformats.org/officeDocument/2006/relationships" ns24:id="rId2"/>
              </a:rPr>
              <a:t>D14  이동통신/내국인/지역별 방문자수/2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5="http://schemas.openxmlformats.org/officeDocument/2006/relationships" ns25:id="rId2"/>
              </a:rPr>
              <a:t>0260820140607__202601-202606_데이터랩_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xmlns:ns26="http://schemas.openxmlformats.org/officeDocument/2006/relationships" ns26:id="rId2"/>
              </a:rPr>
              <a:t>다운로드.zip</a:t>
            </a:r>
          </a:p>
        </p:txBody>
      </p:sp>
      <p:sp>
        <p:nvSpPr>
          <p:cNvPr id="4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96250"/>
            <a:ext cx="1322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후보·보조 조회를 포함한 저장 근거 목록입니다. 파란 이름을 누르면 원문으로 이동합니다. 전체 URL·출처 ID는 노트에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FINAL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검토·협업용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 INSIGHT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 반값 여행 지역환급 모델 도입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/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eyebrow">
            <a:extLst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noGrp="1"/>
          </p:cNvSpPr>
          <p:nvPr/>
        </p:nvSpPr>
        <p:spPr>
          <a:xfrm>
            <a:off x="1009650" y="714375"/>
            <a:ext cx="1323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noGrp="1"/>
          </p:cNvSpPr>
          <p:nvPr/>
        </p:nvSpPr>
        <p:spPr>
          <a:xfrm>
            <a:off x="1009650" y="1219200"/>
            <a:ext cx="13239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관측 데이터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13220700" cy="19050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29" name="source-subtitle">
            <a:extLst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132207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관측 데이터 · 전체 원자료 목록  |  2/7</a:t>
            </a:r>
          </a:p>
        </p:txBody>
      </p:sp>
      <p:sp>
        <p:nvSpPr>
          <p:cNvPr id="30" name="source-rule-0">
            <a:extLst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31" name="source-0-0">
            <a:extLst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D15  이동통신/외국인/20260820141710_전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국_202601-202606_데이터랩_다운로드.zip</a:t>
            </a:r>
          </a:p>
        </p:txBody>
      </p:sp>
      <p:sp>
        <p:nvSpPr>
          <p:cNvPr id="32" name="source-0-1">
            <a:extLst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noGrp="1"/>
          </p:cNvSpPr>
          <p:nvPr/>
        </p:nvSpPr>
        <p:spPr>
          <a:xfrm>
            <a:off x="1009650" y="402907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D16  신용카드/내국인/지역별 관광지출액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/20260820140046__202601-202606_데이터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랩_다운로드.zip</a:t>
            </a:r>
          </a:p>
        </p:txBody>
      </p:sp>
      <p:sp>
        <p:nvSpPr>
          <p:cNvPr id="33" name="source-0-2">
            <a:extLst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noGrp="1"/>
          </p:cNvSpPr>
          <p:nvPr/>
        </p:nvSpPr>
        <p:spPr>
          <a:xfrm>
            <a:off x="1009650" y="511492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D17  신용카드/외국인/지역별 관광지출액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/20260820140355__202601-202606_데이터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랩_다운로드.zip</a:t>
            </a:r>
          </a:p>
        </p:txBody>
      </p:sp>
      <p:sp>
        <p:nvSpPr>
          <p:cNvPr id="34" name="source-0-3">
            <a:extLst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noGrp="1"/>
          </p:cNvSpPr>
          <p:nvPr/>
        </p:nvSpPr>
        <p:spPr>
          <a:xfrm>
            <a:off x="1009650" y="620077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D18  지역별 검색건수/20260820195507__2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02601-202606_데이터랩_다운로드.zip</a:t>
            </a:r>
          </a:p>
        </p:txBody>
      </p:sp>
      <p:sp>
        <p:nvSpPr>
          <p:cNvPr id="35" name="source-0-4">
            <a:extLst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6" name="source-rule-1">
            <a:extLst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noGrp="1"/>
          </p:cNvSpPr>
          <p:nvPr/>
        </p:nvSpPr>
        <p:spPr>
          <a:xfrm>
            <a:off x="5524500" y="2943225"/>
            <a:ext cx="4114800" cy="28575"/>
          </a:xfrm>
          <a:prstGeom prst="rect">
            <a:avLst/>
          </a:prstGeom>
          <a:solidFill>
            <a:srgbClr val="00B7C9"/>
          </a:solidFill>
          <a:ln w="0">
            <a:noFill/>
          </a:ln>
        </p:spPr>
        <p:txBody>
          <a:bodyPr/>
          <a:p/>
        </p:txBody>
      </p:sp>
      <p:sp>
        <p:nvSpPr>
          <p:cNvPr id="37" name="source-1-0">
            <a:extLst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D19  이동통신/내국인/지역별 방문자수/2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0260820140614__202501-202512_데이터랩_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다운로드.zip</a:t>
            </a:r>
          </a:p>
        </p:txBody>
      </p:sp>
      <p:sp>
        <p:nvSpPr>
          <p:cNvPr id="38" name="source-1-1">
            <a:extLst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noGrp="1"/>
          </p:cNvSpPr>
          <p:nvPr/>
        </p:nvSpPr>
        <p:spPr>
          <a:xfrm>
            <a:off x="5524500" y="422910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D20  이동통신/외국인/20260820141649_전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국_202501-202512_데이터랩_다운로드.zip</a:t>
            </a:r>
          </a:p>
        </p:txBody>
      </p:sp>
      <p:sp>
        <p:nvSpPr>
          <p:cNvPr id="39" name="source-1-2">
            <a:extLst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noGrp="1"/>
          </p:cNvSpPr>
          <p:nvPr/>
        </p:nvSpPr>
        <p:spPr>
          <a:xfrm>
            <a:off x="5524500" y="511492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D21  신용카드/내국인/지역별 관광지출액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/20260820135957__202501-202512_데이터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랩_다운로드.zip</a:t>
            </a:r>
          </a:p>
        </p:txBody>
      </p:sp>
      <p:sp>
        <p:nvSpPr>
          <p:cNvPr id="40" name="source-1-3">
            <a:extLst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noGrp="1"/>
          </p:cNvSpPr>
          <p:nvPr/>
        </p:nvSpPr>
        <p:spPr>
          <a:xfrm>
            <a:off x="5524500" y="620077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D22  신용카드/외국인/지역별 관광지출액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/20260820140409__202501-202512_데이터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랩_다운로드.zip</a:t>
            </a:r>
          </a:p>
        </p:txBody>
      </p:sp>
      <p:sp>
        <p:nvSpPr>
          <p:cNvPr id="41" name="source-1-4">
            <a:extLst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2" name="source-rule-2">
            <a:extLst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noGrp="1"/>
          </p:cNvSpPr>
          <p:nvPr/>
        </p:nvSpPr>
        <p:spPr>
          <a:xfrm>
            <a:off x="100393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43" name="source-2-0">
            <a:extLst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D23  지역별 검색건수/20260820132007__2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02501-202512_데이터랩_다운로드.zip</a:t>
            </a:r>
          </a:p>
        </p:txBody>
      </p:sp>
      <p:sp>
        <p:nvSpPr>
          <p:cNvPr id="44" name="source-2-1">
            <a:extLst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noGrp="1"/>
          </p:cNvSpPr>
          <p:nvPr/>
        </p:nvSpPr>
        <p:spPr>
          <a:xfrm>
            <a:off x="10039350" y="402907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D24  이동통신/내국인/지역별 방문자수/2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0260820140624__202401-202412_데이터랩_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다운로드.zip</a:t>
            </a:r>
          </a:p>
        </p:txBody>
      </p:sp>
      <p:sp>
        <p:nvSpPr>
          <p:cNvPr id="45" name="source-2-2">
            <a:extLst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noGrp="1"/>
          </p:cNvSpPr>
          <p:nvPr/>
        </p:nvSpPr>
        <p:spPr>
          <a:xfrm>
            <a:off x="10039350" y="511492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D25  이동통신/외국인/20260820141639_전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국_202401-202412_데이터랩_다운로드.zip</a:t>
            </a:r>
          </a:p>
        </p:txBody>
      </p:sp>
      <p:sp>
        <p:nvSpPr>
          <p:cNvPr id="46" name="source-2-3">
            <a:extLst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noGrp="1"/>
          </p:cNvSpPr>
          <p:nvPr/>
        </p:nvSpPr>
        <p:spPr>
          <a:xfrm>
            <a:off x="10039350" y="60007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D26  한국관광 데이터랩 지역별 관광 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황 · · 유입유출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2025-07 ~ 2026-06</a:t>
            </a:r>
          </a:p>
        </p:txBody>
      </p:sp>
      <p:sp>
        <p:nvSpPr>
          <p:cNvPr id="47" name="source-2-4">
            <a:extLst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8" name="source-footer">
            <a:extLst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noGrp="1"/>
          </p:cNvSpPr>
          <p:nvPr/>
        </p:nvSpPr>
        <p:spPr>
          <a:xfrm>
            <a:off x="1009650" y="8096250"/>
            <a:ext cx="13220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후보·보조 조회를 포함한 저장 근거 목록입니다. 파란 이름을 누르면 원문으로 이동합니다. 전체 URL·출처 ID는 노트에 보존합니다.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eyebrow">
            <a:extLst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noGrp="1"/>
          </p:cNvSpPr>
          <p:nvPr/>
        </p:nvSpPr>
        <p:spPr>
          <a:xfrm>
            <a:off x="1009650" y="714375"/>
            <a:ext cx="1323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noGrp="1"/>
          </p:cNvSpPr>
          <p:nvPr/>
        </p:nvSpPr>
        <p:spPr>
          <a:xfrm>
            <a:off x="1009650" y="1219200"/>
            <a:ext cx="13239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관측 데이터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13220700" cy="19050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29" name="source-subtitle">
            <a:extLst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132207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관측 데이터 · 전체 원자료 목록  |  3/7</a:t>
            </a:r>
          </a:p>
        </p:txBody>
      </p:sp>
      <p:sp>
        <p:nvSpPr>
          <p:cNvPr id="30" name="source-rule-0">
            <a:extLst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31" name="source-0-0">
            <a:extLst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D27  한국관광 데이터랩 지역별 관광 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황 · · 지역집중률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2025-07 ~ 2026-06</a:t>
            </a:r>
          </a:p>
        </p:txBody>
      </p:sp>
      <p:sp>
        <p:nvSpPr>
          <p:cNvPr id="32" name="source-0-1">
            <a:extLst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D28  한국관광 데이터랩 지역별 관광 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황 · · 인기관광지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2025-07 ~ 2026-06</a:t>
            </a:r>
          </a:p>
        </p:txBody>
      </p:sp>
      <p:sp>
        <p:nvSpPr>
          <p:cNvPr id="33" name="source-0-2">
            <a:extLst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4" name="source-0-3">
            <a:extLst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5" name="source-0-4">
            <a:extLst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6" name="source-rule-1">
            <a:extLst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noGrp="1"/>
          </p:cNvSpPr>
          <p:nvPr/>
        </p:nvSpPr>
        <p:spPr>
          <a:xfrm>
            <a:off x="5524500" y="2943225"/>
            <a:ext cx="4114800" cy="28575"/>
          </a:xfrm>
          <a:prstGeom prst="rect">
            <a:avLst/>
          </a:prstGeom>
          <a:solidFill>
            <a:srgbClr val="00B7C9"/>
          </a:solidFill>
          <a:ln w="0">
            <a:noFill/>
          </a:ln>
        </p:spPr>
        <p:txBody>
          <a:bodyPr/>
          <a:p/>
        </p:txBody>
      </p:sp>
      <p:sp>
        <p:nvSpPr>
          <p:cNvPr id="37" name="source-1-0">
            <a:extLst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8" name="source-1-1">
            <a:extLst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9" name="source-1-2">
            <a:extLst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0" name="source-1-3">
            <a:extLst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1" name="source-1-4">
            <a:extLst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2" name="source-rule-2">
            <a:extLst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noGrp="1"/>
          </p:cNvSpPr>
          <p:nvPr/>
        </p:nvSpPr>
        <p:spPr>
          <a:xfrm>
            <a:off x="100393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43" name="source-2-0">
            <a:extLst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4" name="source-2-1">
            <a:extLst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5" name="source-2-2">
            <a:extLst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6" name="source-2-3">
            <a:extLst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7" name="source-2-4">
            <a:extLst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8" name="source-footer">
            <a:extLst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noGrp="1"/>
          </p:cNvSpPr>
          <p:nvPr/>
        </p:nvSpPr>
        <p:spPr>
          <a:xfrm>
            <a:off x="1009650" y="8096250"/>
            <a:ext cx="13220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후보·보조 조회를 포함한 저장 근거 목록입니다. 파란 이름을 누르면 원문으로 이동합니다. 전체 URL·출처 ID는 노트에 보존합니다.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eyebrow">
            <a:extLst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noGrp="1"/>
          </p:cNvSpPr>
          <p:nvPr/>
        </p:nvSpPr>
        <p:spPr>
          <a:xfrm>
            <a:off x="1009650" y="714375"/>
            <a:ext cx="1323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noGrp="1"/>
          </p:cNvSpPr>
          <p:nvPr/>
        </p:nvSpPr>
        <p:spPr>
          <a:xfrm>
            <a:off x="1009650" y="1219200"/>
            <a:ext cx="13239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머신러닝 예측치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13220700" cy="19050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29" name="source-subtitle">
            <a:extLst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132207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머신러닝 예측치 · 모든 모델  |  4/7</a:t>
            </a:r>
          </a:p>
        </p:txBody>
      </p:sp>
      <p:sp>
        <p:nvSpPr>
          <p:cNvPr id="30" name="source-rule-0">
            <a:extLst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31" name="source-0-0">
            <a:extLst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/>
              </a:rPr>
              <a:t>방문자 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RandomForestRegressor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최종 월 2,632,315명</a:t>
            </a:r>
          </a:p>
        </p:txBody>
      </p:sp>
      <p:sp>
        <p:nvSpPr>
          <p:cNvPr id="32" name="source-0-1">
            <a:extLst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/>
              </a:rPr>
              <a:t>관광소비액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LinearRegression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최종 월 899.48억 원</a:t>
            </a:r>
          </a:p>
        </p:txBody>
      </p:sp>
      <p:sp>
        <p:nvSpPr>
          <p:cNvPr id="33" name="source-0-2">
            <a:extLst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noGrp="1"/>
          </p:cNvSpPr>
          <p:nvPr/>
        </p:nvSpPr>
        <p:spPr>
          <a:xfrm>
            <a:off x="1009650" y="53149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/>
              </a:rPr>
              <a:t>평균 체류시간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전년동월 계절 기준선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최종 월 1,488분</a:t>
            </a:r>
          </a:p>
        </p:txBody>
      </p:sp>
      <p:sp>
        <p:nvSpPr>
          <p:cNvPr id="34" name="source-0-3">
            <a:extLst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noGrp="1"/>
          </p:cNvSpPr>
          <p:nvPr/>
        </p:nvSpPr>
        <p:spPr>
          <a:xfrm>
            <a:off x="1009650" y="640080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/>
              </a:rPr>
              <a:t>평균 숙박일수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LinearRegression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최종 월 2.76일</a:t>
            </a:r>
          </a:p>
        </p:txBody>
      </p:sp>
      <p:sp>
        <p:nvSpPr>
          <p:cNvPr id="35" name="source-0-4">
            <a:extLst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6" name="source-rule-1">
            <a:extLst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noGrp="1"/>
          </p:cNvSpPr>
          <p:nvPr/>
        </p:nvSpPr>
        <p:spPr>
          <a:xfrm>
            <a:off x="5524500" y="2943225"/>
            <a:ext cx="4114800" cy="28575"/>
          </a:xfrm>
          <a:prstGeom prst="rect">
            <a:avLst/>
          </a:prstGeom>
          <a:solidFill>
            <a:srgbClr val="00B7C9"/>
          </a:solidFill>
          <a:ln w="0">
            <a:noFill/>
          </a:ln>
        </p:spPr>
        <p:txBody>
          <a:bodyPr/>
          <a:p/>
        </p:txBody>
      </p:sp>
      <p:sp>
        <p:nvSpPr>
          <p:cNvPr id="37" name="source-1-0">
            <a:extLst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/>
              </a:rPr>
              <a:t>숙박방문자 비율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전년동월 계절 기준선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최종 월 12%</a:t>
            </a:r>
          </a:p>
        </p:txBody>
      </p:sp>
      <p:sp>
        <p:nvSpPr>
          <p:cNvPr id="38" name="source-1-1">
            <a:extLst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noGrp="1"/>
          </p:cNvSpPr>
          <p:nvPr/>
        </p:nvSpPr>
        <p:spPr>
          <a:xfrm>
            <a:off x="5524500" y="422910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/>
              </a:rPr>
              <a:t>숙박 목적지 검색량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RandomForestRegressor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최종 월 48,286건</a:t>
            </a:r>
          </a:p>
        </p:txBody>
      </p:sp>
      <p:sp>
        <p:nvSpPr>
          <p:cNvPr id="39" name="source-1-2">
            <a:extLst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noGrp="1"/>
          </p:cNvSpPr>
          <p:nvPr/>
        </p:nvSpPr>
        <p:spPr>
          <a:xfrm>
            <a:off x="5524500" y="53149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/>
              </a:rPr>
              <a:t>내비게이션 검색량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전년동월 계절 기준선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>최종 월 352,852건</a:t>
            </a:r>
          </a:p>
        </p:txBody>
      </p:sp>
      <p:sp>
        <p:nvSpPr>
          <p:cNvPr id="40" name="source-1-3">
            <a:extLst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1" name="source-1-4">
            <a:extLst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2" name="source-rule-2">
            <a:extLst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noGrp="1"/>
          </p:cNvSpPr>
          <p:nvPr/>
        </p:nvSpPr>
        <p:spPr>
          <a:xfrm>
            <a:off x="100393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43" name="source-2-0">
            <a:extLst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4" name="source-2-1">
            <a:extLst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5" name="source-2-2">
            <a:extLst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6" name="source-2-3">
            <a:extLst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7" name="source-2-4">
            <a:extLst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8" name="source-footer">
            <a:extLst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noGrp="1"/>
          </p:cNvSpPr>
          <p:nvPr/>
        </p:nvSpPr>
        <p:spPr>
          <a:xfrm>
            <a:off x="1009650" y="8096250"/>
            <a:ext cx="13220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원자료 202401~202606 | 버전 regional-demand-v3.1 | 예측 원수치·지표별 검증값은 이 장의 노트에 모두 수록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eyebrow">
            <a:extLst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noGrp="1"/>
          </p:cNvSpPr>
          <p:nvPr/>
        </p:nvSpPr>
        <p:spPr>
          <a:xfrm>
            <a:off x="1009650" y="714375"/>
            <a:ext cx="1323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noGrp="1"/>
          </p:cNvSpPr>
          <p:nvPr/>
        </p:nvSpPr>
        <p:spPr>
          <a:xfrm>
            <a:off x="1009650" y="1219200"/>
            <a:ext cx="13239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공식 사례·문서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13220700" cy="19050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29" name="source-subtitle">
            <a:extLst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132207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공식 사례·문서 · 전체 원문 목록  |  5/7</a:t>
            </a:r>
          </a:p>
        </p:txBody>
      </p:sp>
      <p:sp>
        <p:nvSpPr>
          <p:cNvPr id="30" name="source-rule-0">
            <a:extLst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31" name="source-0-0">
            <a:extLst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D50  요즘, 한국관광 2호 - 지방공항 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계 지역관광 활성화 방안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datalab.visitkorea.or.kr</a:t>
            </a:r>
          </a:p>
        </p:txBody>
      </p:sp>
      <p:sp>
        <p:nvSpPr>
          <p:cNvPr id="32" name="source-0-1">
            <a:extLst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3"/>
              </a:rPr>
              <a:t>D51  강진 반값여행 지역경제 효과 소개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3"/>
              </a:rPr>
              <a:t>jnfarm.jeonnam.go.kr</a:t>
            </a:r>
          </a:p>
        </p:txBody>
      </p:sp>
      <p:sp>
        <p:nvSpPr>
          <p:cNvPr id="33" name="source-0-2">
            <a:extLst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noGrp="1"/>
          </p:cNvSpPr>
          <p:nvPr/>
        </p:nvSpPr>
        <p:spPr>
          <a:xfrm>
            <a:off x="1009650" y="511492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4"/>
              </a:rPr>
              <a:t>D52  2024년 6월 여행가는 달 추진 보도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4"/>
              </a:rPr>
              <a:t>자료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4"/>
              </a:rPr>
              <a:t>mcst.go.kr</a:t>
            </a:r>
          </a:p>
        </p:txBody>
      </p:sp>
      <p:sp>
        <p:nvSpPr>
          <p:cNvPr id="34" name="source-0-3">
            <a:extLst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noGrp="1"/>
          </p:cNvSpPr>
          <p:nvPr/>
        </p:nvSpPr>
        <p:spPr>
          <a:xfrm>
            <a:off x="1009650" y="620077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5"/>
              </a:rPr>
              <a:t>D53  2024년도 정부업무평가 관광분야 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5"/>
              </a:rPr>
              <a:t>과자료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5"/>
              </a:rPr>
              <a:t>www.evaluation.go.kr</a:t>
            </a:r>
          </a:p>
        </p:txBody>
      </p:sp>
      <p:sp>
        <p:nvSpPr>
          <p:cNvPr id="35" name="source-0-4">
            <a:extLst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6" name="source-rule-1">
            <a:extLst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noGrp="1"/>
          </p:cNvSpPr>
          <p:nvPr/>
        </p:nvSpPr>
        <p:spPr>
          <a:xfrm>
            <a:off x="5524500" y="2943225"/>
            <a:ext cx="4114800" cy="28575"/>
          </a:xfrm>
          <a:prstGeom prst="rect">
            <a:avLst/>
          </a:prstGeom>
          <a:solidFill>
            <a:srgbClr val="00B7C9"/>
          </a:solidFill>
          <a:ln w="0">
            <a:noFill/>
          </a:ln>
        </p:spPr>
        <p:txBody>
          <a:bodyPr/>
          <a:p/>
        </p:txBody>
      </p:sp>
      <p:sp>
        <p:nvSpPr>
          <p:cNvPr id="37" name="source-1-0">
            <a:extLst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6"/>
              </a:rPr>
              <a:t>D54  전주시 2026년도 관광산업과 세출예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6"/>
              </a:rPr>
              <a:t>산 사업명세서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6"/>
              </a:rPr>
              <a:t>jeonju.go.kr</a:t>
            </a:r>
          </a:p>
        </p:txBody>
      </p:sp>
      <p:sp>
        <p:nvSpPr>
          <p:cNvPr id="38" name="source-1-1">
            <a:extLst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noGrp="1"/>
          </p:cNvSpPr>
          <p:nvPr/>
        </p:nvSpPr>
        <p:spPr>
          <a:xfrm>
            <a:off x="5524500" y="422910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7"/>
              </a:rPr>
              <a:t>D55  2022 대한민국 숙박대전 경제파급효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7"/>
              </a:rPr>
              <a:t>과 공개자료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7"/>
              </a:rPr>
              <a:t>kto.visitkorea.or.kr</a:t>
            </a:r>
          </a:p>
        </p:txBody>
      </p:sp>
      <p:sp>
        <p:nvSpPr>
          <p:cNvPr id="39" name="source-1-2">
            <a:extLst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noGrp="1"/>
          </p:cNvSpPr>
          <p:nvPr/>
        </p:nvSpPr>
        <p:spPr>
          <a:xfrm>
            <a:off x="5524500" y="531495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8"/>
              </a:rPr>
              <a:t>D56  2025 대한민국 밤밤페스타 개최 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8"/>
              </a:rPr>
              <a:t>시 및 일정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8"/>
              </a:rPr>
              <a:t>korean.visitkorea.or.kr</a:t>
            </a:r>
          </a:p>
        </p:txBody>
      </p:sp>
      <p:sp>
        <p:nvSpPr>
          <p:cNvPr id="40" name="source-1-3">
            <a:extLst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noGrp="1"/>
          </p:cNvSpPr>
          <p:nvPr/>
        </p:nvSpPr>
        <p:spPr>
          <a:xfrm>
            <a:off x="5524500" y="6400800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9"/>
              </a:rPr>
              <a:t>참고 견적 추가 조사  강진군 반값여행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9"/>
              </a:rPr>
              <a:t>공식 신청·정산 조건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9"/>
              </a:rPr>
              <a:t>www.gangjintour.com · 2026-09-05</a:t>
            </a:r>
          </a:p>
        </p:txBody>
      </p:sp>
      <p:sp>
        <p:nvSpPr>
          <p:cNvPr id="41" name="source-1-4">
            <a:extLst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2" name="source-rule-2">
            <a:extLst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noGrp="1"/>
          </p:cNvSpPr>
          <p:nvPr/>
        </p:nvSpPr>
        <p:spPr>
          <a:xfrm>
            <a:off x="100393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43" name="source-2-0">
            <a:extLst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4" name="source-2-1">
            <a:extLst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5" name="source-2-2">
            <a:extLst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6" name="source-2-3">
            <a:extLst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7" name="source-2-4">
            <a:extLst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8" name="source-footer">
            <a:extLst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noGrp="1"/>
          </p:cNvSpPr>
          <p:nvPr/>
        </p:nvSpPr>
        <p:spPr>
          <a:xfrm>
            <a:off x="1009650" y="8096250"/>
            <a:ext cx="13220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후보·보조 조회를 포함한 저장 근거 목록입니다. 파란 이름을 누르면 원문으로 이동합니다. 전체 URL·출처 ID는 노트에 보존합니다.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eyebrow">
            <a:extLst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noGrp="1"/>
          </p:cNvSpPr>
          <p:nvPr/>
        </p:nvSpPr>
        <p:spPr>
          <a:xfrm>
            <a:off x="1009650" y="714375"/>
            <a:ext cx="1323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noGrp="1"/>
          </p:cNvSpPr>
          <p:nvPr/>
        </p:nvSpPr>
        <p:spPr>
          <a:xfrm>
            <a:off x="1009650" y="1219200"/>
            <a:ext cx="13239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관광자원·사진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13220700" cy="19050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29" name="source-subtitle">
            <a:extLst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132207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관광자원·사진 · 전체 API 조회 목록  |  6/7</a:t>
            </a:r>
          </a:p>
        </p:txBody>
      </p:sp>
      <p:sp>
        <p:nvSpPr>
          <p:cNvPr id="30" name="source-rule-0">
            <a:extLst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31" name="source-0-0">
            <a:extLst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D30  감악산캠핑숲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2" name="source-0-1">
            <a:extLst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noGrp="1"/>
          </p:cNvSpPr>
          <p:nvPr/>
        </p:nvSpPr>
        <p:spPr>
          <a:xfrm>
            <a:off x="1009650" y="4029075"/>
            <a:ext cx="4114800" cy="942975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D31  강원감영관찰사·무릉고서화미술박물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3" name="source-0-2">
            <a:extLst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noGrp="1"/>
          </p:cNvSpPr>
          <p:nvPr/>
        </p:nvSpPr>
        <p:spPr>
          <a:xfrm>
            <a:off x="1009650" y="511492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D32  강원도힐링캠핑장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4" name="source-0-3">
            <a:extLst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noGrp="1"/>
          </p:cNvSpPr>
          <p:nvPr/>
        </p:nvSpPr>
        <p:spPr>
          <a:xfrm>
            <a:off x="1009650" y="60007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D33  경천묘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5" name="source-0-4">
            <a:extLst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noGrp="1"/>
          </p:cNvSpPr>
          <p:nvPr/>
        </p:nvSpPr>
        <p:spPr>
          <a:xfrm>
            <a:off x="1009650" y="688657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D34  고판화박물관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6" name="source-rule-1">
            <a:extLst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noGrp="1"/>
          </p:cNvSpPr>
          <p:nvPr/>
        </p:nvSpPr>
        <p:spPr>
          <a:xfrm>
            <a:off x="5524500" y="2943225"/>
            <a:ext cx="4114800" cy="28575"/>
          </a:xfrm>
          <a:prstGeom prst="rect">
            <a:avLst/>
          </a:prstGeom>
          <a:solidFill>
            <a:srgbClr val="00B7C9"/>
          </a:solidFill>
          <a:ln w="0">
            <a:noFill/>
          </a:ln>
        </p:spPr>
        <p:txBody>
          <a:bodyPr/>
          <a:p/>
        </p:txBody>
      </p:sp>
      <p:sp>
        <p:nvSpPr>
          <p:cNvPr id="37" name="source-1-0">
            <a:extLst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D35  관음사·국형사계곡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8" name="source-1-1">
            <a:extLst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noGrp="1"/>
          </p:cNvSpPr>
          <p:nvPr/>
        </p:nvSpPr>
        <p:spPr>
          <a:xfrm>
            <a:off x="5524500" y="402907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D36  광화문갈비 원주점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9" name="source-1-2">
            <a:extLst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noGrp="1"/>
          </p:cNvSpPr>
          <p:nvPr/>
        </p:nvSpPr>
        <p:spPr>
          <a:xfrm>
            <a:off x="5524500" y="491490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D37  구 조선식산은행 원주지점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0" name="source-1-3">
            <a:extLst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noGrp="1"/>
          </p:cNvSpPr>
          <p:nvPr/>
        </p:nvSpPr>
        <p:spPr>
          <a:xfrm>
            <a:off x="5524500" y="580072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D38  국형사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1" name="source-1-4">
            <a:extLst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noGrp="1"/>
          </p:cNvSpPr>
          <p:nvPr/>
        </p:nvSpPr>
        <p:spPr>
          <a:xfrm>
            <a:off x="5524500" y="66865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D39  금대 에코힐링 캠핑장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2" name="source-rule-2">
            <a:extLst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noGrp="1"/>
          </p:cNvSpPr>
          <p:nvPr/>
        </p:nvSpPr>
        <p:spPr>
          <a:xfrm>
            <a:off x="100393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43" name="source-2-0">
            <a:extLst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D40  금대계곡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4" name="source-2-1">
            <a:extLst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noGrp="1"/>
          </p:cNvSpPr>
          <p:nvPr/>
        </p:nvSpPr>
        <p:spPr>
          <a:xfrm>
            <a:off x="10039350" y="402907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D41  금대자동차야영장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5" name="source-2-2">
            <a:extLst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noGrp="1"/>
          </p:cNvSpPr>
          <p:nvPr/>
        </p:nvSpPr>
        <p:spPr>
          <a:xfrm>
            <a:off x="10039350" y="491490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D42  기후변화홍보관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6" name="source-2-3">
            <a:extLst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noGrp="1"/>
          </p:cNvSpPr>
          <p:nvPr/>
        </p:nvSpPr>
        <p:spPr>
          <a:xfrm>
            <a:off x="10039350" y="580072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D43  김가네원주추어탕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7" name="source-2-4">
            <a:extLst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noGrp="1"/>
          </p:cNvSpPr>
          <p:nvPr/>
        </p:nvSpPr>
        <p:spPr>
          <a:xfrm>
            <a:off x="10039350" y="66865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D44  김제남 신도비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48" name="source-footer">
            <a:extLst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noGrp="1"/>
          </p:cNvSpPr>
          <p:nvPr/>
        </p:nvSpPr>
        <p:spPr>
          <a:xfrm>
            <a:off x="1009650" y="8096250"/>
            <a:ext cx="13220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후보·보조 조회를 포함한 저장 근거 목록입니다. 파란 이름을 누르면 원문으로 이동합니다. 전체 URL·출처 ID는 노트에 보존합니다.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eyebrow">
            <a:extLst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noGrp="1"/>
          </p:cNvSpPr>
          <p:nvPr/>
        </p:nvSpPr>
        <p:spPr>
          <a:xfrm>
            <a:off x="1009650" y="714375"/>
            <a:ext cx="1323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noGrp="1"/>
          </p:cNvSpPr>
          <p:nvPr/>
        </p:nvSpPr>
        <p:spPr>
          <a:xfrm>
            <a:off x="1009650" y="1219200"/>
            <a:ext cx="13239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관광자원·사진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13220700" cy="19050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29" name="source-subtitle">
            <a:extLst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noGrp="1"/>
          </p:cNvSpPr>
          <p:nvPr/>
        </p:nvSpPr>
        <p:spPr>
          <a:xfrm>
            <a:off x="1009650" y="2305050"/>
            <a:ext cx="132207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관광자원·사진 · 전체 API 조회 목록  |  7/7</a:t>
            </a:r>
          </a:p>
        </p:txBody>
      </p:sp>
      <p:sp>
        <p:nvSpPr>
          <p:cNvPr id="30" name="source-rule-0">
            <a:extLst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31" name="source-0-0">
            <a:extLst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D45  넌스키 난보드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2" name="source-0-1">
            <a:extLst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noGrp="1"/>
          </p:cNvSpPr>
          <p:nvPr/>
        </p:nvSpPr>
        <p:spPr>
          <a:xfrm>
            <a:off x="1009650" y="402907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D46  농가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3" name="source-0-2">
            <a:extLst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noGrp="1"/>
          </p:cNvSpPr>
          <p:nvPr/>
        </p:nvSpPr>
        <p:spPr>
          <a:xfrm>
            <a:off x="1009650" y="491490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D47  단관공원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4" name="source-0-3">
            <a:extLst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noGrp="1"/>
          </p:cNvSpPr>
          <p:nvPr/>
        </p:nvSpPr>
        <p:spPr>
          <a:xfrm>
            <a:off x="1009650" y="5800725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D48  동승루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5" name="source-0-4">
            <a:extLst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noGrp="1"/>
          </p:cNvSpPr>
          <p:nvPr/>
        </p:nvSpPr>
        <p:spPr>
          <a:xfrm>
            <a:off x="1009650" y="66865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D49  들꽃가든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u="none">
                <a:solidFill>
                  <a:srgbClr val="004EA2"/>
                </a:solidFill>
                <a:hlinkClick r:id="rId2"/>
              </a:rPr>
              <a:t>한국관광공사 TourAPI</a:t>
            </a:r>
          </a:p>
        </p:txBody>
      </p:sp>
      <p:sp>
        <p:nvSpPr>
          <p:cNvPr id="36" name="source-rule-1">
            <a:extLst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noGrp="1"/>
          </p:cNvSpPr>
          <p:nvPr/>
        </p:nvSpPr>
        <p:spPr>
          <a:xfrm>
            <a:off x="5524500" y="2943225"/>
            <a:ext cx="4114800" cy="28575"/>
          </a:xfrm>
          <a:prstGeom prst="rect">
            <a:avLst/>
          </a:prstGeom>
          <a:solidFill>
            <a:srgbClr val="00B7C9"/>
          </a:solidFill>
          <a:ln w="0">
            <a:noFill/>
          </a:ln>
        </p:spPr>
        <p:txBody>
          <a:bodyPr/>
          <a:p/>
        </p:txBody>
      </p:sp>
      <p:sp>
        <p:nvSpPr>
          <p:cNvPr id="37" name="source-1-0">
            <a:extLst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8" name="source-1-1">
            <a:extLst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39" name="source-1-2">
            <a:extLst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0" name="source-1-3">
            <a:extLst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1" name="source-1-4">
            <a:extLst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2" name="source-rule-2">
            <a:extLst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noGrp="1"/>
          </p:cNvSpPr>
          <p:nvPr/>
        </p:nvSpPr>
        <p:spPr>
          <a:xfrm>
            <a:off x="10039350" y="2943225"/>
            <a:ext cx="4114800" cy="28575"/>
          </a:xfrm>
          <a:prstGeom prst="rect">
            <a:avLst/>
          </a:prstGeom>
          <a:solidFill>
            <a:srgbClr val="004EA2"/>
          </a:solidFill>
          <a:ln w="0">
            <a:noFill/>
          </a:ln>
        </p:spPr>
        <p:txBody>
          <a:bodyPr/>
          <a:p/>
        </p:txBody>
      </p:sp>
      <p:sp>
        <p:nvSpPr>
          <p:cNvPr id="43" name="source-2-0">
            <a:extLst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4" name="source-2-1">
            <a:extLst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5" name="source-2-2">
            <a:extLst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6" name="source-2-3">
            <a:extLst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7" name="source-2-4">
            <a:extLst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4114800" cy="742950"/>
          </a:xfrm>
          <a:prstGeom prst="rect">
            <a:avLst/>
          </a:prstGeom>
          <a:noFill/>
          <a:ln w="0">
            <a:noFill/>
          </a:ln>
        </p:spPr>
        <p:txBody>
          <a:bodyPr anchor="t" wrap="non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/>
              <a:t/>
            </a:r>
          </a:p>
        </p:txBody>
      </p:sp>
      <p:sp>
        <p:nvSpPr>
          <p:cNvPr id="48" name="source-footer">
            <a:extLst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noGrp="1"/>
          </p:cNvSpPr>
          <p:nvPr/>
        </p:nvSpPr>
        <p:spPr>
          <a:xfrm>
            <a:off x="1009650" y="8096250"/>
            <a:ext cx="132207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후보·보조 조회를 포함한 저장 근거 목록입니다. 파란 이름을 누르면 원문으로 이동합니다. 전체 URL·출처 ID는 노트에 보존합니다.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