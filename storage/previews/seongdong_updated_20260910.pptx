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663.8883</c:v>
                </c:pt>
                <c:pt idx="1">
                  <c:v>657.0358</c:v>
                </c:pt>
                <c:pt idx="2">
                  <c:v>658.5928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708.14752</c:v>
                </c:pt>
                <c:pt idx="1">
                  <c:v>744.64057333</c:v>
                </c:pt>
                <c:pt idx="2">
                  <c:v>790.31136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850.0"/>
          <c:min val="6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1029.05513747</c:v>
                </c:pt>
                <c:pt idx="1">
                  <c:v>1034.04579597</c:v>
                </c:pt>
                <c:pt idx="2">
                  <c:v>1071.17698458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1097.6588133</c:v>
                </c:pt>
                <c:pt idx="1">
                  <c:v>1171.91856877</c:v>
                </c:pt>
                <c:pt idx="2">
                  <c:v>1285.4123815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400.0"/>
          <c:min val="9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dataset:11200:1 | 한국관광 데이터랩 · 서울특별시 성동구 순 방문자 수 및 숙박 비율 (이동통신 기반 외지인) | https://datalab.visitkorea.or.kr/</a:t>
            </a:r>
          </a:p>
          <a:p xmlns:a="http://schemas.openxmlformats.org/drawingml/2006/main">
            <a:r>
              <a:t>dataset:11200:2 | 한국관광 데이터랩 · 서울특별시 성동구 월간 순 방문자 수 (이동통신 기반 외지인) | https://datalab.visitkorea.or.kr/</a:t>
            </a:r>
          </a:p>
          <a:p xmlns:a="http://schemas.openxmlformats.org/drawingml/2006/main">
            <a:r>
              <a:t>dataset:11200:3 | 한국관광 데이터랩 · 서울특별시 성동구 관광소비 추이_외지인 | https://datalab.visitkorea.or.kr/</a:t>
            </a:r>
          </a:p>
          <a:p xmlns:a="http://schemas.openxmlformats.org/drawingml/2006/main">
            <a:r>
              <a:t>dataset:11200:4 | 한국관광 데이터랩 · 서울특별시 성동구 숙박방문자 비율 추이 (이동통신 기반 외지인) | https://datalab.visitkorea.or.kr/</a:t>
            </a:r>
          </a:p>
          <a:p xmlns:a="http://schemas.openxmlformats.org/drawingml/2006/main">
            <a:r>
              <a:t>dataset:11200:5 | 한국관광 데이터랩 · 서울특별시 성동구 평균 숙박일 (이동통신 기반 외지인) | https://datalab.visitkorea.or.kr/</a:t>
            </a:r>
          </a:p>
          <a:p xmlns:a="http://schemas.openxmlformats.org/drawingml/2006/main">
            <a:r>
              <a:t>dataset:11200:6 | 한국관광 데이터랩 · 서울특별시 성동구 내비게이션 목적지 유형별 검색량 | https://datalab.visitkorea.or.kr/</a:t>
            </a:r>
          </a:p>
          <a:p xmlns:a="http://schemas.openxmlformats.org/drawingml/2006/main">
            <a:r>
              <a:t>dataset:11200:7 | 한국관광 데이터랩 · 서울특별시 성동구 SNS 언급량 | https://datalab.visitkorea.or.kr/</a:t>
            </a:r>
          </a:p>
          <a:p xmlns:a="http://schemas.openxmlformats.org/drawingml/2006/main">
            <a:r>
              <a:t>datalab:0ea2e7ff8811:517c835e3039 | 한국관광 데이터랩 공식 다운로드 · 서울특별시_성동구/숙박_체류시간/2025_01_12.zip | https://datalab.visitkorea.or.kr/</a:t>
            </a:r>
          </a:p>
          <a:p xmlns:a="http://schemas.openxmlformats.org/drawingml/2006/main">
            <a:r>
              <a:t>datalab:3a79405535b3:68f41f6aa9c6 | 한국관광 데이터랩 공식 다운로드 · 서울특별시_성동구/관광소비/2025_01_12.zip | https://datalab.visitkorea.or.kr/</a:t>
            </a:r>
          </a:p>
          <a:p xmlns:a="http://schemas.openxmlformats.org/drawingml/2006/main">
            <a:r>
              <a:t>datalab:6217474023e5:2e717447925f | 한국관광 데이터랩 공식 다운로드 · 서울특별시_성동구/숙박_체류시간/2026_01_06.zip | https://datalab.visitkorea.or.kr/</a:t>
            </a:r>
          </a:p>
          <a:p xmlns:a="http://schemas.openxmlformats.org/drawingml/2006/main">
            <a:r>
              <a:t>datalab:62312101c8d0:9c44bd532366 | 한국관광 데이터랩 공식 다운로드 · 서울특별시_성동구/방문자/2025_01_12.zip | https://datalab.visitkorea.or.kr/</a:t>
            </a:r>
          </a:p>
          <a:p xmlns:a="http://schemas.openxmlformats.org/drawingml/2006/main">
            <a:r>
              <a:t>datalab:7ddda0420208:c68bf7b028b0 | 한국관광 데이터랩 공식 다운로드 · 서울특별시_성동구/관광소비/2026_01_06.zip | https://datalab.visitkorea.or.kr/</a:t>
            </a:r>
          </a:p>
          <a:p xmlns:a="http://schemas.openxmlformats.org/drawingml/2006/main">
            <a:r>
              <a:t>datalab:9369271c7419:76a9b6ea89d8 | 한국관광 데이터랩 공식 다운로드 · 서울특별시_성동구/방문자/2026_01_06.zip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regional-status:300d117a9148:9b5e59efa799 | 한국관광 데이터랩 지역별 관광 현황 · 서울특별시 성동구 · 인기관광지 | https://datalab.visitkorea.or.kr/</a:t>
            </a:r>
          </a:p>
          <a:p xmlns:a="http://schemas.openxmlformats.org/drawingml/2006/main">
            <a:r>
              <a:t>regional-status:e1f4d12a3396:706443b7ba17 | 한국관광 데이터랩 지역별 관광 현황 · 서울특별시 성동구 · 유입유출 | https://datalab.visitkorea.or.kr/</a:t>
            </a:r>
          </a:p>
          <a:p xmlns:a="http://schemas.openxmlformats.org/drawingml/2006/main">
            <a:r>
              <a:t>regional-status:f05693fd34a7:ae929e215d91 | 한국관광 데이터랩 지역별 관광 현황 · 서울특별시 성동구 · 지역집중률 | https://datalab.visitkorea.or.kr/</a:t>
            </a:r>
          </a:p>
          <a:p xmlns:a="http://schemas.openxmlformats.org/drawingml/2006/main">
            <a:r>
              <a:t>ml:11200:regional-demand-v3.1:202606 | 지역 관광수요 ML 전망 · 공식 관측값 아님 | URL 미기록</a:t>
            </a:r>
          </a:p>
          <a:p xmlns:a="http://schemas.openxmlformats.org/drawingml/2006/main">
            <a:r>
              <a:t>tour-api:2901229 | 가조쿠 | https://apis.data.go.kr/B551011/KorService2</a:t>
            </a:r>
          </a:p>
          <a:p xmlns:a="http://schemas.openxmlformats.org/drawingml/2006/main">
            <a:r>
              <a:t>tour-api:2895161 | 계월 | https://apis.data.go.kr/B551011/KorService2</a:t>
            </a:r>
          </a:p>
          <a:p xmlns:a="http://schemas.openxmlformats.org/drawingml/2006/main">
            <a:r>
              <a:t>tour-api:2901359 | 계자람 | https://apis.data.go.kr/B551011/KorService2</a:t>
            </a:r>
          </a:p>
          <a:p xmlns:a="http://schemas.openxmlformats.org/drawingml/2006/main">
            <a:r>
              <a:t>tour-api:2895211 | 구욱희씨 | https://apis.data.go.kr/B551011/KorService2</a:t>
            </a:r>
          </a:p>
          <a:p xmlns:a="http://schemas.openxmlformats.org/drawingml/2006/main">
            <a:r>
              <a:t>tour-api:2895236 | 구펠 | https://apis.data.go.kr/B551011/KorService2</a:t>
            </a:r>
          </a:p>
          <a:p xmlns:a="http://schemas.openxmlformats.org/drawingml/2006/main">
            <a:r>
              <a:t>tour-api:2898994 | 그라데이션커피 | https://apis.data.go.kr/B551011/KorService2</a:t>
            </a:r>
          </a:p>
          <a:p xmlns:a="http://schemas.openxmlformats.org/drawingml/2006/main">
            <a:r>
              <a:t>tour-api:2894873 | 그린랩 | https://apis.data.go.kr/B551011/KorService2</a:t>
            </a:r>
          </a:p>
          <a:p xmlns:a="http://schemas.openxmlformats.org/drawingml/2006/main">
            <a:r>
              <a:t>tour-api:2743748 | 금남시장 | https://apis.data.go.kr/B551011/KorService2</a:t>
            </a:r>
          </a:p>
          <a:p xmlns:a="http://schemas.openxmlformats.org/drawingml/2006/main">
            <a:r>
              <a:t>tour-api:2901568 | 기후 | https://apis.data.go.kr/B551011/KorService2</a:t>
            </a:r>
          </a:p>
          <a:p xmlns:a="http://schemas.openxmlformats.org/drawingml/2006/main">
            <a:r>
              <a:t>tour-api:2894842 | 꾸아 성수점 | https://apis.data.go.kr/B551011/KorService2</a:t>
            </a:r>
          </a:p>
          <a:p xmlns:a="http://schemas.openxmlformats.org/drawingml/2006/main">
            <a:r>
              <a:t>tour-api:2843520 | 난포 | https://apis.data.go.kr/B551011/KorService2</a:t>
            </a:r>
          </a:p>
          <a:p xmlns:a="http://schemas.openxmlformats.org/drawingml/2006/main">
            <a:r>
              <a:t>tour-api:2894810 | 누메로도스 | https://apis.data.go.kr/B551011/KorService2</a:t>
            </a:r>
          </a:p>
          <a:p xmlns:a="http://schemas.openxmlformats.org/drawingml/2006/main">
            <a:r>
              <a:t>tour-api:2894795 | 누메로뜨레쓰 | https://apis.data.go.kr/B551011/KorService2</a:t>
            </a:r>
          </a:p>
          <a:p xmlns:a="http://schemas.openxmlformats.org/drawingml/2006/main">
            <a:r>
              <a:t>tour-api:2894763 | 니드스윗 | https://apis.data.go.kr/B551011/KorService2</a:t>
            </a:r>
          </a:p>
          <a:p xmlns:a="http://schemas.openxmlformats.org/drawingml/2006/main">
            <a:r>
              <a:t>tour-api:2894747 | 단일서울 | https://apis.data.go.kr/B551011/KorService2</a:t>
            </a:r>
          </a:p>
          <a:p xmlns:a="http://schemas.openxmlformats.org/drawingml/2006/main">
            <a:r>
              <a:t>tour-api:2894854 | 대돈집 | https://apis.data.go.kr/B551011/KorService2</a:t>
            </a:r>
          </a:p>
          <a:p xmlns:a="http://schemas.openxmlformats.org/drawingml/2006/main">
            <a:r>
              <a:t>tour-api:2899012 | 대흥정육식당 | https://apis.data.go.kr/B551011/KorService2</a:t>
            </a:r>
          </a:p>
          <a:p xmlns:a="http://schemas.openxmlformats.org/drawingml/2006/main">
            <a:r>
              <a:t>tour-api:2753089 | 더서울라이티움 | https://apis.data.go.kr/B551011/KorService2</a:t>
            </a:r>
          </a:p>
          <a:p xmlns:a="http://schemas.openxmlformats.org/drawingml/2006/main">
            <a:r>
              <a:t>tour-api:736766 | 더페이지갤러리 | https://apis.data.go.kr/B551011/KorService2</a:t>
            </a:r>
          </a:p>
          <a:p xmlns:a="http://schemas.openxmlformats.org/drawingml/2006/main">
            <a:r>
              <a:t>tour-api:2845040 | 땅코참숯구이 본점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web:11200:1 | 2026 서울국제정원박람회 &lt; 행사·공연 정보 &lt; 축제·관광 &lt; 미래한강본부, 한강공원 | https://hangang.seoul.go.kr/www/eventMng/detail.do?evntSn=378&amp;mid=538&amp;srchType=list</a:t>
            </a:r>
          </a:p>
          <a:p xmlns:a="http://schemas.openxmlformats.org/drawingml/2006/main">
            <a:r>
              <a:t>web:11200:2 | 개막 20일차 250만명 넘은 서울국제정원박람회… 성수 상권 매출 30% 급증 &gt; 보도자료 | 서울특별시 | https://www.seoul.go.kr/news/news_report.do?nttNo=458311</a:t>
            </a:r>
          </a:p>
          <a:p xmlns:a="http://schemas.openxmlformats.org/drawingml/2006/main">
            <a:r>
              <a:t>web:11200:3 | 서울숲-성수 커넥트 투어 | 2026 서울국제정원박람회 | https://gov.seoul.go.kr/festa/garden/y2026/program/garden-culture-program/commentary-program?article=42926</a:t>
            </a:r>
          </a:p>
          <a:p xmlns:a="http://schemas.openxmlformats.org/drawingml/2006/main">
            <a:r>
              <a:t>web:11200:4 | 2026 서울축제지도 - 가을편 &lt; 공지사항(상세) &lt; 새소식 | 서울문화포털 | https://culture.seoul.go.kr/culture/bbs/B0000000/view.do?menuNo=200050&amp;nttId=16465</a:t>
            </a:r>
          </a:p>
          <a:p xmlns:a="http://schemas.openxmlformats.org/drawingml/2006/main">
            <a:r>
              <a:t>web:11200:5 | 오시는 길 | 2026 서울국제정원박람회 | https://www.seoul.go.kr/festa/garden/y2026/introduce/location?pc=1</a:t>
            </a:r>
          </a:p>
          <a:p xmlns:a="http://schemas.openxmlformats.org/drawingml/2006/main">
            <a:r>
              <a:t>web:11200:6 | (석간) 제11차 도시건축공동위원회 개최결과 &gt; 보도자료 | 서울특별시 | https://www.seoul.go.kr/news/news_report.do?nttNo=460823&amp;tr_code=snews</a:t>
            </a:r>
          </a:p>
          <a:p xmlns:a="http://schemas.openxmlformats.org/drawingml/2006/main">
            <a:r>
              <a:t>web:11200:7 | 2026 서울국제정원박람회 &lt; 행사·공연 정보 &lt; 축제·관광 &lt; 미래한강본부, 한강공원 | https://hangang.seoul.go.kr/www/eventMng/detail.do?evntSn=378&amp;mid=538&amp;srchType=list</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dataset:11200:1 | 한국관광 데이터랩 · 서울특별시 성동구 순 방문자 수 및 숙박 비율 (이동통신 기반 외지인) | https://datalab.visitkorea.or.kr/</a:t>
            </a:r>
          </a:p>
          <a:p xmlns:a="http://schemas.openxmlformats.org/drawingml/2006/main">
            <a:r>
              <a:t>dataset:11200:2 | 한국관광 데이터랩 · 서울특별시 성동구 월간 순 방문자 수 (이동통신 기반 외지인) | https://datalab.visitkorea.or.kr/</a:t>
            </a:r>
          </a:p>
          <a:p xmlns:a="http://schemas.openxmlformats.org/drawingml/2006/main">
            <a:r>
              <a:t>dataset:11200:3 | 한국관광 데이터랩 · 서울특별시 성동구 관광소비 추이_외지인 | https://datalab.visitkorea.or.kr/</a:t>
            </a:r>
          </a:p>
          <a:p xmlns:a="http://schemas.openxmlformats.org/drawingml/2006/main">
            <a:r>
              <a:t>dataset:11200:4 | 한국관광 데이터랩 · 서울특별시 성동구 숙박방문자 비율 추이 (이동통신 기반 외지인) | https://datalab.visitkorea.or.kr/</a:t>
            </a:r>
          </a:p>
          <a:p xmlns:a="http://schemas.openxmlformats.org/drawingml/2006/main">
            <a:r>
              <a:t>dataset:11200:5 | 한국관광 데이터랩 · 서울특별시 성동구 평균 숙박일 (이동통신 기반 외지인) | https://datalab.visitkorea.or.kr/</a:t>
            </a:r>
          </a:p>
          <a:p xmlns:a="http://schemas.openxmlformats.org/drawingml/2006/main">
            <a:r>
              <a:t>dataset:11200:6 | 한국관광 데이터랩 · 서울특별시 성동구 내비게이션 목적지 유형별 검색량 | https://datalab.visitkorea.or.kr/</a:t>
            </a:r>
          </a:p>
          <a:p xmlns:a="http://schemas.openxmlformats.org/drawingml/2006/main">
            <a:r>
              <a:t>dataset:11200:7 | 한국관광 데이터랩 · 서울특별시 성동구 SNS 언급량 | https://datalab.visitkorea.or.kr/</a:t>
            </a:r>
          </a:p>
          <a:p xmlns:a="http://schemas.openxmlformats.org/drawingml/2006/main">
            <a:r>
              <a:t>datalab:0ea2e7ff8811:517c835e3039 | 한국관광 데이터랩 공식 다운로드 · 서울특별시_성동구/숙박_체류시간/2025_01_12.zip | https://datalab.visitkorea.or.kr/</a:t>
            </a:r>
          </a:p>
          <a:p xmlns:a="http://schemas.openxmlformats.org/drawingml/2006/main">
            <a:r>
              <a:t>datalab:3a79405535b3:68f41f6aa9c6 | 한국관광 데이터랩 공식 다운로드 · 서울특별시_성동구/관광소비/2025_01_12.zip | https://datalab.visitkorea.or.kr/</a:t>
            </a:r>
          </a:p>
          <a:p xmlns:a="http://schemas.openxmlformats.org/drawingml/2006/main">
            <a:r>
              <a:t>datalab:6217474023e5:2e717447925f | 한국관광 데이터랩 공식 다운로드 · 서울특별시_성동구/숙박_체류시간/2026_01_06.zip | https://datalab.visitkorea.or.kr/</a:t>
            </a:r>
          </a:p>
          <a:p xmlns:a="http://schemas.openxmlformats.org/drawingml/2006/main">
            <a:r>
              <a:t>datalab:62312101c8d0:9c44bd532366 | 한국관광 데이터랩 공식 다운로드 · 서울특별시_성동구/방문자/2025_01_12.zip | https://datalab.visitkorea.or.kr/</a:t>
            </a:r>
          </a:p>
          <a:p xmlns:a="http://schemas.openxmlformats.org/drawingml/2006/main">
            <a:r>
              <a:t>datalab:7ddda0420208:c68bf7b028b0 | 한국관광 데이터랩 공식 다운로드 · 서울특별시_성동구/관광소비/2026_01_06.zip | https://datalab.visitkorea.or.kr/</a:t>
            </a:r>
          </a:p>
          <a:p xmlns:a="http://schemas.openxmlformats.org/drawingml/2006/main">
            <a:r>
              <a:t>datalab:9369271c7419:76a9b6ea89d8 | 한국관광 데이터랩 공식 다운로드 · 서울특별시_성동구/방문자/2026_01_06.zip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regional-status:300d117a9148:9b5e59efa799 | 한국관광 데이터랩 지역별 관광 현황 · 서울특별시 성동구 · 인기관광지 | https://datalab.visitkorea.or.kr/</a:t>
            </a:r>
          </a:p>
          <a:p xmlns:a="http://schemas.openxmlformats.org/drawingml/2006/main">
            <a:r>
              <a:t>regional-status:e1f4d12a3396:706443b7ba17 | 한국관광 데이터랩 지역별 관광 현황 · 서울특별시 성동구 · 유입유출 | https://datalab.visitkorea.or.kr/</a:t>
            </a:r>
          </a:p>
          <a:p xmlns:a="http://schemas.openxmlformats.org/drawingml/2006/main">
            <a:r>
              <a:t>regional-status:f05693fd34a7:ae929e215d91 | 한국관광 데이터랩 지역별 관광 현황 · 서울특별시 성동구 · 지역집중률 | https://datalab.visitkorea.or.kr/</a:t>
            </a:r>
          </a:p>
          <a:p xmlns:a="http://schemas.openxmlformats.org/drawingml/2006/main">
            <a:r>
              <a:t>ml:11200:regional-demand-v3.1:202606 | 지역 관광수요 ML 전망 · 공식 관측값 아님 | URL 미기록</a:t>
            </a:r>
          </a:p>
          <a:p xmlns:a="http://schemas.openxmlformats.org/drawingml/2006/main">
            <a:r>
              <a:t>tour-api:2901229 | 가조쿠 | https://apis.data.go.kr/B551011/KorService2</a:t>
            </a:r>
          </a:p>
          <a:p xmlns:a="http://schemas.openxmlformats.org/drawingml/2006/main">
            <a:r>
              <a:t>tour-api:2895161 | 계월 | https://apis.data.go.kr/B551011/KorService2</a:t>
            </a:r>
          </a:p>
          <a:p xmlns:a="http://schemas.openxmlformats.org/drawingml/2006/main">
            <a:r>
              <a:t>tour-api:2901359 | 계자람 | https://apis.data.go.kr/B551011/KorService2</a:t>
            </a:r>
          </a:p>
          <a:p xmlns:a="http://schemas.openxmlformats.org/drawingml/2006/main">
            <a:r>
              <a:t>tour-api:2895211 | 구욱희씨 | https://apis.data.go.kr/B551011/KorService2</a:t>
            </a:r>
          </a:p>
          <a:p xmlns:a="http://schemas.openxmlformats.org/drawingml/2006/main">
            <a:r>
              <a:t>tour-api:2895236 | 구펠 | https://apis.data.go.kr/B551011/KorService2</a:t>
            </a:r>
          </a:p>
          <a:p xmlns:a="http://schemas.openxmlformats.org/drawingml/2006/main">
            <a:r>
              <a:t>tour-api:2898994 | 그라데이션커피 | https://apis.data.go.kr/B551011/KorService2</a:t>
            </a:r>
          </a:p>
          <a:p xmlns:a="http://schemas.openxmlformats.org/drawingml/2006/main">
            <a:r>
              <a:t>tour-api:2894873 | 그린랩 | https://apis.data.go.kr/B551011/KorService2</a:t>
            </a:r>
          </a:p>
          <a:p xmlns:a="http://schemas.openxmlformats.org/drawingml/2006/main">
            <a:r>
              <a:t>tour-api:2743748 | 금남시장 | https://apis.data.go.kr/B551011/KorService2</a:t>
            </a:r>
          </a:p>
          <a:p xmlns:a="http://schemas.openxmlformats.org/drawingml/2006/main">
            <a:r>
              <a:t>tour-api:2901568 | 기후 | https://apis.data.go.kr/B551011/KorService2</a:t>
            </a:r>
          </a:p>
          <a:p xmlns:a="http://schemas.openxmlformats.org/drawingml/2006/main">
            <a:r>
              <a:t>tour-api:2894842 | 꾸아 성수점 | https://apis.data.go.kr/B551011/KorService2</a:t>
            </a:r>
          </a:p>
          <a:p xmlns:a="http://schemas.openxmlformats.org/drawingml/2006/main">
            <a:r>
              <a:t>tour-api:2843520 | 난포 | https://apis.data.go.kr/B551011/KorService2</a:t>
            </a:r>
          </a:p>
          <a:p xmlns:a="http://schemas.openxmlformats.org/drawingml/2006/main">
            <a:r>
              <a:t>tour-api:2894810 | 누메로도스 | https://apis.data.go.kr/B551011/KorService2</a:t>
            </a:r>
          </a:p>
          <a:p xmlns:a="http://schemas.openxmlformats.org/drawingml/2006/main">
            <a:r>
              <a:t>tour-api:2894795 | 누메로뜨레쓰 | https://apis.data.go.kr/B551011/KorService2</a:t>
            </a:r>
          </a:p>
          <a:p xmlns:a="http://schemas.openxmlformats.org/drawingml/2006/main">
            <a:r>
              <a:t>tour-api:2894763 | 니드스윗 | https://apis.data.go.kr/B551011/KorService2</a:t>
            </a:r>
          </a:p>
          <a:p xmlns:a="http://schemas.openxmlformats.org/drawingml/2006/main">
            <a:r>
              <a:t>tour-api:2894747 | 단일서울 | https://apis.data.go.kr/B551011/KorService2</a:t>
            </a:r>
          </a:p>
          <a:p xmlns:a="http://schemas.openxmlformats.org/drawingml/2006/main">
            <a:r>
              <a:t>tour-api:2894854 | 대돈집 | https://apis.data.go.kr/B551011/KorService2</a:t>
            </a:r>
          </a:p>
          <a:p xmlns:a="http://schemas.openxmlformats.org/drawingml/2006/main">
            <a:r>
              <a:t>tour-api:2899012 | 대흥정육식당 | https://apis.data.go.kr/B551011/KorService2</a:t>
            </a:r>
          </a:p>
          <a:p xmlns:a="http://schemas.openxmlformats.org/drawingml/2006/main">
            <a:r>
              <a:t>tour-api:2753089 | 더서울라이티움 | https://apis.data.go.kr/B551011/KorService2</a:t>
            </a:r>
          </a:p>
          <a:p xmlns:a="http://schemas.openxmlformats.org/drawingml/2006/main">
            <a:r>
              <a:t>tour-api:736766 | 더페이지갤러리 | https://apis.data.go.kr/B551011/KorService2</a:t>
            </a:r>
          </a:p>
          <a:p xmlns:a="http://schemas.openxmlformats.org/drawingml/2006/main">
            <a:r>
              <a:t>tour-api:2845040 | 땅코참숯구이 본점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web:11200:1 | 2026 서울국제정원박람회 &lt; 행사·공연 정보 &lt; 축제·관광 &lt; 미래한강본부, 한강공원 | https://hangang.seoul.go.kr/www/eventMng/detail.do?evntSn=378&amp;mid=538&amp;srchType=list</a:t>
            </a:r>
          </a:p>
          <a:p xmlns:a="http://schemas.openxmlformats.org/drawingml/2006/main">
            <a:r>
              <a:t>web:11200:2 | 개막 20일차 250만명 넘은 서울국제정원박람회… 성수 상권 매출 30% 급증 &gt; 보도자료 | 서울특별시 | https://www.seoul.go.kr/news/news_report.do?nttNo=458311</a:t>
            </a:r>
          </a:p>
          <a:p xmlns:a="http://schemas.openxmlformats.org/drawingml/2006/main">
            <a:r>
              <a:t>web:11200:3 | 서울숲-성수 커넥트 투어 | 2026 서울국제정원박람회 | https://gov.seoul.go.kr/festa/garden/y2026/program/garden-culture-program/commentary-program?article=42926</a:t>
            </a:r>
          </a:p>
          <a:p xmlns:a="http://schemas.openxmlformats.org/drawingml/2006/main">
            <a:r>
              <a:t>web:11200:4 | 2026 서울축제지도 - 가을편 &lt; 공지사항(상세) &lt; 새소식 | 서울문화포털 | https://culture.seoul.go.kr/culture/bbs/B0000000/view.do?menuNo=200050&amp;nttId=16465</a:t>
            </a:r>
          </a:p>
          <a:p xmlns:a="http://schemas.openxmlformats.org/drawingml/2006/main">
            <a:r>
              <a:t>web:11200:5 | 오시는 길 | 2026 서울국제정원박람회 | https://www.seoul.go.kr/festa/garden/y2026/introduce/location?pc=1</a:t>
            </a:r>
          </a:p>
          <a:p xmlns:a="http://schemas.openxmlformats.org/drawingml/2006/main">
            <a:r>
              <a:t>web:11200:6 | (석간) 제11차 도시건축공동위원회 개최결과 &gt; 보도자료 | 서울특별시 | https://www.seoul.go.kr/news/news_report.do?nttNo=460823&amp;tr_code=snews</a:t>
            </a:r>
          </a:p>
          <a:p xmlns:a="http://schemas.openxmlformats.org/drawingml/2006/main">
            <a:r>
              <a:t>web:11200:7 | 2026 서울국제정원박람회 &lt; 행사·공연 정보 &lt; 축제·관광 &lt; 미래한강본부, 한강공원 | https://hangang.seoul.go.kr/www/eventMng/detail.do?evntSn=378&amp;mid=538&amp;srchType=list</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dataset:11200:1 | 한국관광 데이터랩 · 서울특별시 성동구 순 방문자 수 및 숙박 비율 (이동통신 기반 외지인) | https://datalab.visitkorea.or.kr/</a:t>
            </a:r>
          </a:p>
          <a:p xmlns:a="http://schemas.openxmlformats.org/drawingml/2006/main">
            <a:r>
              <a:t>dataset:11200:2 | 한국관광 데이터랩 · 서울특별시 성동구 월간 순 방문자 수 (이동통신 기반 외지인) | https://datalab.visitkorea.or.kr/</a:t>
            </a:r>
          </a:p>
          <a:p xmlns:a="http://schemas.openxmlformats.org/drawingml/2006/main">
            <a:r>
              <a:t>dataset:11200:3 | 한국관광 데이터랩 · 서울특별시 성동구 관광소비 추이_외지인 | https://datalab.visitkorea.or.kr/</a:t>
            </a:r>
          </a:p>
          <a:p xmlns:a="http://schemas.openxmlformats.org/drawingml/2006/main">
            <a:r>
              <a:t>dataset:11200:4 | 한국관광 데이터랩 · 서울특별시 성동구 숙박방문자 비율 추이 (이동통신 기반 외지인) | https://datalab.visitkorea.or.kr/</a:t>
            </a:r>
          </a:p>
          <a:p xmlns:a="http://schemas.openxmlformats.org/drawingml/2006/main">
            <a:r>
              <a:t>dataset:11200:5 | 한국관광 데이터랩 · 서울특별시 성동구 평균 숙박일 (이동통신 기반 외지인) | https://datalab.visitkorea.or.kr/</a:t>
            </a:r>
          </a:p>
          <a:p xmlns:a="http://schemas.openxmlformats.org/drawingml/2006/main">
            <a:r>
              <a:t>dataset:11200:6 | 한국관광 데이터랩 · 서울특별시 성동구 내비게이션 목적지 유형별 검색량 | https://datalab.visitkorea.or.kr/</a:t>
            </a:r>
          </a:p>
          <a:p xmlns:a="http://schemas.openxmlformats.org/drawingml/2006/main">
            <a:r>
              <a:t>dataset:11200:7 | 한국관광 데이터랩 · 서울특별시 성동구 SNS 언급량 | https://datalab.visitkorea.or.kr/</a:t>
            </a:r>
          </a:p>
          <a:p xmlns:a="http://schemas.openxmlformats.org/drawingml/2006/main">
            <a:r>
              <a:t>datalab:0ea2e7ff8811:517c835e3039 | 한국관광 데이터랩 공식 다운로드 · 서울특별시_성동구/숙박_체류시간/2025_01_12.zip | https://datalab.visitkorea.or.kr/</a:t>
            </a:r>
          </a:p>
          <a:p xmlns:a="http://schemas.openxmlformats.org/drawingml/2006/main">
            <a:r>
              <a:t>datalab:3a79405535b3:68f41f6aa9c6 | 한국관광 데이터랩 공식 다운로드 · 서울특별시_성동구/관광소비/2025_01_12.zip | https://datalab.visitkorea.or.kr/</a:t>
            </a:r>
          </a:p>
          <a:p xmlns:a="http://schemas.openxmlformats.org/drawingml/2006/main">
            <a:r>
              <a:t>datalab:6217474023e5:2e717447925f | 한국관광 데이터랩 공식 다운로드 · 서울특별시_성동구/숙박_체류시간/2026_01_06.zip | https://datalab.visitkorea.or.kr/</a:t>
            </a:r>
          </a:p>
          <a:p xmlns:a="http://schemas.openxmlformats.org/drawingml/2006/main">
            <a:r>
              <a:t>datalab:62312101c8d0:9c44bd532366 | 한국관광 데이터랩 공식 다운로드 · 서울특별시_성동구/방문자/2025_01_12.zip | https://datalab.visitkorea.or.kr/</a:t>
            </a:r>
          </a:p>
          <a:p xmlns:a="http://schemas.openxmlformats.org/drawingml/2006/main">
            <a:r>
              <a:t>datalab:7ddda0420208:c68bf7b028b0 | 한국관광 데이터랩 공식 다운로드 · 서울특별시_성동구/관광소비/2026_01_06.zip | https://datalab.visitkorea.or.kr/</a:t>
            </a:r>
          </a:p>
          <a:p xmlns:a="http://schemas.openxmlformats.org/drawingml/2006/main">
            <a:r>
              <a:t>datalab:9369271c7419:76a9b6ea89d8 | 한국관광 데이터랩 공식 다운로드 · 서울특별시_성동구/방문자/2026_01_06.zip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regional-status:300d117a9148:9b5e59efa799 | 한국관광 데이터랩 지역별 관광 현황 · 서울특별시 성동구 · 인기관광지 | https://datalab.visitkorea.or.kr/</a:t>
            </a:r>
          </a:p>
          <a:p xmlns:a="http://schemas.openxmlformats.org/drawingml/2006/main">
            <a:r>
              <a:t>regional-status:e1f4d12a3396:706443b7ba17 | 한국관광 데이터랩 지역별 관광 현황 · 서울특별시 성동구 · 유입유출 | https://datalab.visitkorea.or.kr/</a:t>
            </a:r>
          </a:p>
          <a:p xmlns:a="http://schemas.openxmlformats.org/drawingml/2006/main">
            <a:r>
              <a:t>regional-status:f05693fd34a7:ae929e215d91 | 한국관광 데이터랩 지역별 관광 현황 · 서울특별시 성동구 · 지역집중률 | https://datalab.visitkorea.or.kr/</a:t>
            </a:r>
          </a:p>
          <a:p xmlns:a="http://schemas.openxmlformats.org/drawingml/2006/main">
            <a:r>
              <a:t>ml:11200:regional-demand-v3.1:202606 | 지역 관광수요 ML 전망 · 공식 관측값 아님 | URL 미기록</a:t>
            </a:r>
          </a:p>
          <a:p xmlns:a="http://schemas.openxmlformats.org/drawingml/2006/main">
            <a:r>
              <a:t>tour-api:2901229 | 가조쿠 | https://apis.data.go.kr/B551011/KorService2</a:t>
            </a:r>
          </a:p>
          <a:p xmlns:a="http://schemas.openxmlformats.org/drawingml/2006/main">
            <a:r>
              <a:t>tour-api:2895161 | 계월 | https://apis.data.go.kr/B551011/KorService2</a:t>
            </a:r>
          </a:p>
          <a:p xmlns:a="http://schemas.openxmlformats.org/drawingml/2006/main">
            <a:r>
              <a:t>tour-api:2901359 | 계자람 | https://apis.data.go.kr/B551011/KorService2</a:t>
            </a:r>
          </a:p>
          <a:p xmlns:a="http://schemas.openxmlformats.org/drawingml/2006/main">
            <a:r>
              <a:t>tour-api:2895211 | 구욱희씨 | https://apis.data.go.kr/B551011/KorService2</a:t>
            </a:r>
          </a:p>
          <a:p xmlns:a="http://schemas.openxmlformats.org/drawingml/2006/main">
            <a:r>
              <a:t>tour-api:2895236 | 구펠 | https://apis.data.go.kr/B551011/KorService2</a:t>
            </a:r>
          </a:p>
          <a:p xmlns:a="http://schemas.openxmlformats.org/drawingml/2006/main">
            <a:r>
              <a:t>tour-api:2898994 | 그라데이션커피 | https://apis.data.go.kr/B551011/KorService2</a:t>
            </a:r>
          </a:p>
          <a:p xmlns:a="http://schemas.openxmlformats.org/drawingml/2006/main">
            <a:r>
              <a:t>tour-api:2894873 | 그린랩 | https://apis.data.go.kr/B551011/KorService2</a:t>
            </a:r>
          </a:p>
          <a:p xmlns:a="http://schemas.openxmlformats.org/drawingml/2006/main">
            <a:r>
              <a:t>tour-api:2743748 | 금남시장 | https://apis.data.go.kr/B551011/KorService2</a:t>
            </a:r>
          </a:p>
          <a:p xmlns:a="http://schemas.openxmlformats.org/drawingml/2006/main">
            <a:r>
              <a:t>tour-api:2901568 | 기후 | https://apis.data.go.kr/B551011/KorService2</a:t>
            </a:r>
          </a:p>
          <a:p xmlns:a="http://schemas.openxmlformats.org/drawingml/2006/main">
            <a:r>
              <a:t>tour-api:2894842 | 꾸아 성수점 | https://apis.data.go.kr/B551011/KorService2</a:t>
            </a:r>
          </a:p>
          <a:p xmlns:a="http://schemas.openxmlformats.org/drawingml/2006/main">
            <a:r>
              <a:t>tour-api:2843520 | 난포 | https://apis.data.go.kr/B551011/KorService2</a:t>
            </a:r>
          </a:p>
          <a:p xmlns:a="http://schemas.openxmlformats.org/drawingml/2006/main">
            <a:r>
              <a:t>tour-api:2894810 | 누메로도스 | https://apis.data.go.kr/B551011/KorService2</a:t>
            </a:r>
          </a:p>
          <a:p xmlns:a="http://schemas.openxmlformats.org/drawingml/2006/main">
            <a:r>
              <a:t>tour-api:2894795 | 누메로뜨레쓰 | https://apis.data.go.kr/B551011/KorService2</a:t>
            </a:r>
          </a:p>
          <a:p xmlns:a="http://schemas.openxmlformats.org/drawingml/2006/main">
            <a:r>
              <a:t>tour-api:2894763 | 니드스윗 | https://apis.data.go.kr/B551011/KorService2</a:t>
            </a:r>
          </a:p>
          <a:p xmlns:a="http://schemas.openxmlformats.org/drawingml/2006/main">
            <a:r>
              <a:t>tour-api:2894747 | 단일서울 | https://apis.data.go.kr/B551011/KorService2</a:t>
            </a:r>
          </a:p>
          <a:p xmlns:a="http://schemas.openxmlformats.org/drawingml/2006/main">
            <a:r>
              <a:t>tour-api:2894854 | 대돈집 | https://apis.data.go.kr/B551011/KorService2</a:t>
            </a:r>
          </a:p>
          <a:p xmlns:a="http://schemas.openxmlformats.org/drawingml/2006/main">
            <a:r>
              <a:t>tour-api:2899012 | 대흥정육식당 | https://apis.data.go.kr/B551011/KorService2</a:t>
            </a:r>
          </a:p>
          <a:p xmlns:a="http://schemas.openxmlformats.org/drawingml/2006/main">
            <a:r>
              <a:t>tour-api:2753089 | 더서울라이티움 | https://apis.data.go.kr/B551011/KorService2</a:t>
            </a:r>
          </a:p>
          <a:p xmlns:a="http://schemas.openxmlformats.org/drawingml/2006/main">
            <a:r>
              <a:t>tour-api:736766 | 더페이지갤러리 | https://apis.data.go.kr/B551011/KorService2</a:t>
            </a:r>
          </a:p>
          <a:p xmlns:a="http://schemas.openxmlformats.org/drawingml/2006/main">
            <a:r>
              <a:t>tour-api:2845040 | 땅코참숯구이 본점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web:11200:1 | 2026 서울국제정원박람회 &lt; 행사·공연 정보 &lt; 축제·관광 &lt; 미래한강본부, 한강공원 | https://hangang.seoul.go.kr/www/eventMng/detail.do?evntSn=378&amp;mid=538&amp;srchType=list</a:t>
            </a:r>
          </a:p>
          <a:p xmlns:a="http://schemas.openxmlformats.org/drawingml/2006/main">
            <a:r>
              <a:t>web:11200:2 | 개막 20일차 250만명 넘은 서울국제정원박람회… 성수 상권 매출 30% 급증 &gt; 보도자료 | 서울특별시 | https://www.seoul.go.kr/news/news_report.do?nttNo=458311</a:t>
            </a:r>
          </a:p>
          <a:p xmlns:a="http://schemas.openxmlformats.org/drawingml/2006/main">
            <a:r>
              <a:t>web:11200:3 | 서울숲-성수 커넥트 투어 | 2026 서울국제정원박람회 | https://gov.seoul.go.kr/festa/garden/y2026/program/garden-culture-program/commentary-program?article=42926</a:t>
            </a:r>
          </a:p>
          <a:p xmlns:a="http://schemas.openxmlformats.org/drawingml/2006/main">
            <a:r>
              <a:t>web:11200:4 | 2026 서울축제지도 - 가을편 &lt; 공지사항(상세) &lt; 새소식 | 서울문화포털 | https://culture.seoul.go.kr/culture/bbs/B0000000/view.do?menuNo=200050&amp;nttId=16465</a:t>
            </a:r>
          </a:p>
          <a:p xmlns:a="http://schemas.openxmlformats.org/drawingml/2006/main">
            <a:r>
              <a:t>web:11200:5 | 오시는 길 | 2026 서울국제정원박람회 | https://www.seoul.go.kr/festa/garden/y2026/introduce/location?pc=1</a:t>
            </a:r>
          </a:p>
          <a:p xmlns:a="http://schemas.openxmlformats.org/drawingml/2006/main">
            <a:r>
              <a:t>web:11200:6 | (석간) 제11차 도시건축공동위원회 개최결과 &gt; 보도자료 | 서울특별시 | https://www.seoul.go.kr/news/news_report.do?nttNo=460823&amp;tr_code=snews</a:t>
            </a:r>
          </a:p>
          <a:p xmlns:a="http://schemas.openxmlformats.org/drawingml/2006/main">
            <a:r>
              <a:t>web:11200:7 | 2026 서울국제정원박람회 &lt; 행사·공연 정보 &lt; 축제·관광 &lt; 미래한강본부, 한강공원 | https://hangang.seoul.go.kr/www/eventMng/detail.do?evntSn=378&amp;mid=538&amp;srchType=list</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재사용률(분자: 환급 후 성동구 내 적격 재결제액 합계 / 분모: 지급한 환급액 합계). 기준기간: 운영 전 4주. 측정주기: 매주. 수집방법: 신청·승인·이용·결제 원장 집계. 비교집단: 동일 기간 내 미참여 권역 또는 순차 도입 미운영 집단. 성공기준: 기준선 확인 후 착수 전 확정.",</a:t>
            </a:r>
          </a:p>
          <a:p xmlns:a="http://schemas.openxmlformats.org/drawingml/2006/main">
            <a:r>
              <a:t>    "title": "성동구 지역상품권 환급 프로그램",</a:t>
            </a:r>
          </a:p>
          <a:p xmlns:a="http://schemas.openxmlformats.org/drawingml/2006/main">
            <a:r>
              <a:t>    "budget": "지역상품권 환급액 = (외지인 관광객의 지역 내 소비액 × 20%) + (지역상품권 발행 비용: 1,000원/장). 단가 및 정확한 환급 대상 규모는 시범 운영 전 확정 필요.",</a:t>
            </a:r>
          </a:p>
          <a:p xmlns:a="http://schemas.openxmlformats.org/drawingml/2006/main">
            <a:r>
              <a:t>    "evidence": "case:gangjin_half_price_2024, dataset:11200:1, dataset:11200:3",</a:t>
            </a:r>
          </a:p>
          <a:p xmlns:a="http://schemas.openxmlformats.org/drawingml/2006/main">
            <a:r>
              <a:t>    "priority": 1,</a:t>
            </a:r>
          </a:p>
          <a:p xmlns:a="http://schemas.openxmlformats.org/drawingml/2006/main">
            <a:r>
              <a:t>    "solution": "성동구를 방문한 외지인 관광객이 지정된 지역 내 상점에서 일정 금액 이상 소비 시, 소비액의 일부를 성동구 지역상품권으로 즉시 또는 사후 환급하여 해당 상품권이 다시 성동구 내에서 사용되도록 선순환 구조를 구축함.",</a:t>
            </a:r>
          </a:p>
          <a:p xmlns:a="http://schemas.openxmlformats.org/drawingml/2006/main">
            <a:r>
              <a:t>    "timeframe": "2026-09 ~ 2026-11, 3개월",</a:t>
            </a:r>
          </a:p>
          <a:p xmlns:a="http://schemas.openxmlformats.org/drawingml/2006/main">
            <a:r>
              <a:t>    "expected_effect": "계획 목표: 최종월 ML 기준 전망 대비 방문 +20%, 소비 +20%. 월별 목표는 단계 적용하며 참여·이용 실적은 별도 집계합니다.",</a:t>
            </a:r>
          </a:p>
          <a:p xmlns:a="http://schemas.openxmlformats.org/drawingml/2006/main">
            <a:r>
              <a:t>    "problem_to_solve": "낮은 숙박 비율과 당일치기 위주의 소비 패턴을 개선하여 외지인 관광객의 지역 내 체류 시간 및 총 소비액을 증대함.",</a:t>
            </a:r>
          </a:p>
          <a:p xmlns:a="http://schemas.openxmlformats.org/drawingml/2006/main">
            <a:r>
              <a:t>    "comparison_analysis": "강진군 반값여행 사례(case:gangjin_half_price_2024)는 여행자 지출 일부를 지역상품권으로 환급하여 재사용을 유도하는 모델임. 성동구는 이를 적용하되, 성수동 등 특정 권역의 상점 특성과 지역상품권 사용처를 조정하여 운영함.",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참여 상점 모집 및 환급 기준(최소 결제액 등) 수립을 진행하고, 참여 업체 명단 및 운영 지침(안)을 확보함. 모집 미달 시 참여 규모 축소 검토.",</a:t>
            </a:r>
          </a:p>
          <a:p xmlns:a="http://schemas.openxmlformats.org/drawingml/2006/main">
            <a:r>
              <a:t>        "schedule": "2026-09",</a:t>
            </a:r>
          </a:p>
          <a:p xmlns:a="http://schemas.openxmlformats.org/drawingml/2006/main">
            <a:r>
              <a:t>        "deliverable": "참여 업체 명단 및 운영 지침(안)"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"운영지원팀이 영수증 인증 방식 및 중복 수혜 방지 프로세스를 점검하고, 지출 증빙 및 환급 시스템의 기술적 작동 여부를 확인함.",</a:t>
            </a:r>
          </a:p>
          <a:p xmlns:a="http://schemas.openxmlformats.org/drawingml/2006/main">
            <a:r>
              <a:t>        "schedule": "2026-09",</a:t>
            </a:r>
          </a:p>
          <a:p xmlns:a="http://schemas.openxmlformats.org/drawingml/2006/main">
            <a:r>
              <a:t>        "deliverable": "영수증 인증 및 중복 방지 프로세스 확정서"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"홍보팀이 환급 신청 및 지급 원장(신청·승인·결제 데이터)을 관리하며, 프로그램 시범 운영과 함께 온·오프라인 홍보를 수행함.",</a:t>
            </a:r>
          </a:p>
          <a:p xmlns:a="http://schemas.openxmlformats.org/drawingml/2006/main">
            <a:r>
              <a:t>        "schedule": "2026-10",</a:t>
            </a:r>
          </a:p>
          <a:p xmlns:a="http://schemas.openxmlformats.org/drawingml/2006/main">
            <a:r>
              <a:t>        "deliverable": "환급 신청 및 지급 원장"</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"현장점검팀이 상점별 이용 현황 및 불편 사항을 수집하고, 참여 업체 피드백을 바탕으로 운영 방식을 모니터링함.",</a:t>
            </a:r>
          </a:p>
          <a:p xmlns:a="http://schemas.openxmlformats.org/drawingml/2006/main">
            <a:r>
              <a:t>        "schedule": "2026-10",</a:t>
            </a:r>
          </a:p>
          <a:p xmlns:a="http://schemas.openxmlformats.org/drawingml/2006/main">
            <a:r>
              <a:t>        "deliverable": "상점별 이용 현황 및 불편 사항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"데이터분석팀이 소비 증대 및 상품권 재사용률을 분석하고, 신청·승인·결제 원장을 기반으로 최종 성과 데이터를 집계함.",</a:t>
            </a:r>
          </a:p>
          <a:p xmlns:a="http://schemas.openxmlformats.org/drawingml/2006/main">
            <a:r>
              <a:t>        "schedule": "2026-11",</a:t>
            </a:r>
          </a:p>
          <a:p xmlns:a="http://schemas.openxmlformats.org/drawingml/2006/main">
            <a:r>
              <a:t>        "deliverable": "소비 증대 및 상품권 재사용률 분석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dataset:11200:1 | 한국관광 데이터랩 · 서울특별시 성동구 순 방문자 수 및 숙박 비율 (이동통신 기반 외지인) | https://datalab.visitkorea.or.kr/</a:t>
            </a:r>
          </a:p>
          <a:p xmlns:a="http://schemas.openxmlformats.org/drawingml/2006/main">
            <a:r>
              <a:t>dataset:11200:2 | 한국관광 데이터랩 · 서울특별시 성동구 월간 순 방문자 수 (이동통신 기반 외지인) | https://datalab.visitkorea.or.kr/</a:t>
            </a:r>
          </a:p>
          <a:p xmlns:a="http://schemas.openxmlformats.org/drawingml/2006/main">
            <a:r>
              <a:t>dataset:11200:3 | 한국관광 데이터랩 · 서울특별시 성동구 관광소비 추이_외지인 | https://datalab.visitkorea.or.kr/</a:t>
            </a:r>
          </a:p>
          <a:p xmlns:a="http://schemas.openxmlformats.org/drawingml/2006/main">
            <a:r>
              <a:t>dataset:11200:4 | 한국관광 데이터랩 · 서울특별시 성동구 숙박방문자 비율 추이 (이동통신 기반 외지인) | https://datalab.visitkorea.or.kr/</a:t>
            </a:r>
          </a:p>
          <a:p xmlns:a="http://schemas.openxmlformats.org/drawingml/2006/main">
            <a:r>
              <a:t>dataset:11200:5 | 한국관광 데이터랩 · 서울특별시 성동구 평균 숙박일 (이동통신 기반 외지인) | https://datalab.visitkorea.or.kr/</a:t>
            </a:r>
          </a:p>
          <a:p xmlns:a="http://schemas.openxmlformats.org/drawingml/2006/main">
            <a:r>
              <a:t>dataset:11200:6 | 한국관광 데이터랩 · 서울특별시 성동구 내비게이션 목적지 유형별 검색량 | https://datalab.visitkorea.or.kr/</a:t>
            </a:r>
          </a:p>
          <a:p xmlns:a="http://schemas.openxmlformats.org/drawingml/2006/main">
            <a:r>
              <a:t>dataset:11200:7 | 한국관광 데이터랩 · 서울특별시 성동구 SNS 언급량 | https://datalab.visitkorea.or.kr/</a:t>
            </a:r>
          </a:p>
          <a:p xmlns:a="http://schemas.openxmlformats.org/drawingml/2006/main">
            <a:r>
              <a:t>datalab:0ea2e7ff8811:517c835e3039 | 한국관광 데이터랩 공식 다운로드 · 서울특별시_성동구/숙박_체류시간/2025_01_12.zip | https://datalab.visitkorea.or.kr/</a:t>
            </a:r>
          </a:p>
          <a:p xmlns:a="http://schemas.openxmlformats.org/drawingml/2006/main">
            <a:r>
              <a:t>datalab:3a79405535b3:68f41f6aa9c6 | 한국관광 데이터랩 공식 다운로드 · 서울특별시_성동구/관광소비/2025_01_12.zip | https://datalab.visitkorea.or.kr/</a:t>
            </a:r>
          </a:p>
          <a:p xmlns:a="http://schemas.openxmlformats.org/drawingml/2006/main">
            <a:r>
              <a:t>datalab:6217474023e5:2e717447925f | 한국관광 데이터랩 공식 다운로드 · 서울특별시_성동구/숙박_체류시간/2026_01_06.zip | https://datalab.visitkorea.or.kr/</a:t>
            </a:r>
          </a:p>
          <a:p xmlns:a="http://schemas.openxmlformats.org/drawingml/2006/main">
            <a:r>
              <a:t>datalab:62312101c8d0:9c44bd532366 | 한국관광 데이터랩 공식 다운로드 · 서울특별시_성동구/방문자/2025_01_12.zip | https://datalab.visitkorea.or.kr/</a:t>
            </a:r>
          </a:p>
          <a:p xmlns:a="http://schemas.openxmlformats.org/drawingml/2006/main">
            <a:r>
              <a:t>datalab:7ddda0420208:c68bf7b028b0 | 한국관광 데이터랩 공식 다운로드 · 서울특별시_성동구/관광소비/2026_01_06.zip | https://datalab.visitkorea.or.kr/</a:t>
            </a:r>
          </a:p>
          <a:p xmlns:a="http://schemas.openxmlformats.org/drawingml/2006/main">
            <a:r>
              <a:t>datalab:9369271c7419:76a9b6ea89d8 | 한국관광 데이터랩 공식 다운로드 · 서울특별시_성동구/방문자/2026_01_06.zip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regional-status:300d117a9148:9b5e59efa799 | 한국관광 데이터랩 지역별 관광 현황 · 서울특별시 성동구 · 인기관광지 | https://datalab.visitkorea.or.kr/</a:t>
            </a:r>
          </a:p>
          <a:p xmlns:a="http://schemas.openxmlformats.org/drawingml/2006/main">
            <a:r>
              <a:t>regional-status:e1f4d12a3396:706443b7ba17 | 한국관광 데이터랩 지역별 관광 현황 · 서울특별시 성동구 · 유입유출 | https://datalab.visitkorea.or.kr/</a:t>
            </a:r>
          </a:p>
          <a:p xmlns:a="http://schemas.openxmlformats.org/drawingml/2006/main">
            <a:r>
              <a:t>regional-status:f05693fd34a7:ae929e215d91 | 한국관광 데이터랩 지역별 관광 현황 · 서울특별시 성동구 · 지역집중률 | https://datalab.visitkorea.or.kr/</a:t>
            </a:r>
          </a:p>
          <a:p xmlns:a="http://schemas.openxmlformats.org/drawingml/2006/main">
            <a:r>
              <a:t>ml:11200:regional-demand-v3.1:202606 | 지역 관광수요 ML 전망 · 공식 관측값 아님 | URL 미기록</a:t>
            </a:r>
          </a:p>
          <a:p xmlns:a="http://schemas.openxmlformats.org/drawingml/2006/main">
            <a:r>
              <a:t>tour-api:2901229 | 가조쿠 | https://apis.data.go.kr/B551011/KorService2</a:t>
            </a:r>
          </a:p>
          <a:p xmlns:a="http://schemas.openxmlformats.org/drawingml/2006/main">
            <a:r>
              <a:t>tour-api:2895161 | 계월 | https://apis.data.go.kr/B551011/KorService2</a:t>
            </a:r>
          </a:p>
          <a:p xmlns:a="http://schemas.openxmlformats.org/drawingml/2006/main">
            <a:r>
              <a:t>tour-api:2901359 | 계자람 | https://apis.data.go.kr/B551011/KorService2</a:t>
            </a:r>
          </a:p>
          <a:p xmlns:a="http://schemas.openxmlformats.org/drawingml/2006/main">
            <a:r>
              <a:t>tour-api:2895211 | 구욱희씨 | https://apis.data.go.kr/B551011/KorService2</a:t>
            </a:r>
          </a:p>
          <a:p xmlns:a="http://schemas.openxmlformats.org/drawingml/2006/main">
            <a:r>
              <a:t>tour-api:2895236 | 구펠 | https://apis.data.go.kr/B551011/KorService2</a:t>
            </a:r>
          </a:p>
          <a:p xmlns:a="http://schemas.openxmlformats.org/drawingml/2006/main">
            <a:r>
              <a:t>tour-api:2898994 | 그라데이션커피 | https://apis.data.go.kr/B551011/KorService2</a:t>
            </a:r>
          </a:p>
          <a:p xmlns:a="http://schemas.openxmlformats.org/drawingml/2006/main">
            <a:r>
              <a:t>tour-api:2894873 | 그린랩 | https://apis.data.go.kr/B551011/KorService2</a:t>
            </a:r>
          </a:p>
          <a:p xmlns:a="http://schemas.openxmlformats.org/drawingml/2006/main">
            <a:r>
              <a:t>tour-api:2743748 | 금남시장 | https://apis.data.go.kr/B551011/KorService2</a:t>
            </a:r>
          </a:p>
          <a:p xmlns:a="http://schemas.openxmlformats.org/drawingml/2006/main">
            <a:r>
              <a:t>tour-api:2901568 | 기후 | https://apis.data.go.kr/B551011/KorService2</a:t>
            </a:r>
          </a:p>
          <a:p xmlns:a="http://schemas.openxmlformats.org/drawingml/2006/main">
            <a:r>
              <a:t>tour-api:2894842 | 꾸아 성수점 | https://apis.data.go.kr/B551011/KorService2</a:t>
            </a:r>
          </a:p>
          <a:p xmlns:a="http://schemas.openxmlformats.org/drawingml/2006/main">
            <a:r>
              <a:t>tour-api:2843520 | 난포 | https://apis.data.go.kr/B551011/KorService2</a:t>
            </a:r>
          </a:p>
          <a:p xmlns:a="http://schemas.openxmlformats.org/drawingml/2006/main">
            <a:r>
              <a:t>tour-api:2894810 | 누메로도스 | https://apis.data.go.kr/B551011/KorService2</a:t>
            </a:r>
          </a:p>
          <a:p xmlns:a="http://schemas.openxmlformats.org/drawingml/2006/main">
            <a:r>
              <a:t>tour-api:2894795 | 누메로뜨레쓰 | https://apis.data.go.kr/B551011/KorService2</a:t>
            </a:r>
          </a:p>
          <a:p xmlns:a="http://schemas.openxmlformats.org/drawingml/2006/main">
            <a:r>
              <a:t>tour-api:2894763 | 니드스윗 | https://apis.data.go.kr/B551011/KorService2</a:t>
            </a:r>
          </a:p>
          <a:p xmlns:a="http://schemas.openxmlformats.org/drawingml/2006/main">
            <a:r>
              <a:t>tour-api:2894747 | 단일서울 | https://apis.data.go.kr/B551011/KorService2</a:t>
            </a:r>
          </a:p>
          <a:p xmlns:a="http://schemas.openxmlformats.org/drawingml/2006/main">
            <a:r>
              <a:t>tour-api:2894854 | 대돈집 | https://apis.data.go.kr/B551011/KorService2</a:t>
            </a:r>
          </a:p>
          <a:p xmlns:a="http://schemas.openxmlformats.org/drawingml/2006/main">
            <a:r>
              <a:t>tour-api:2899012 | 대흥정육식당 | https://apis.data.go.kr/B551011/KorService2</a:t>
            </a:r>
          </a:p>
          <a:p xmlns:a="http://schemas.openxmlformats.org/drawingml/2006/main">
            <a:r>
              <a:t>tour-api:2753089 | 더서울라이티움 | https://apis.data.go.kr/B551011/KorService2</a:t>
            </a:r>
          </a:p>
          <a:p xmlns:a="http://schemas.openxmlformats.org/drawingml/2006/main">
            <a:r>
              <a:t>tour-api:736766 | 더페이지갤러리 | https://apis.data.go.kr/B551011/KorService2</a:t>
            </a:r>
          </a:p>
          <a:p xmlns:a="http://schemas.openxmlformats.org/drawingml/2006/main">
            <a:r>
              <a:t>tour-api:2845040 | 땅코참숯구이 본점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web:11200:1 | 2026 서울국제정원박람회 &lt; 행사·공연 정보 &lt; 축제·관광 &lt; 미래한강본부, 한강공원 | https://hangang.seoul.go.kr/www/eventMng/detail.do?evntSn=378&amp;mid=538&amp;srchType=list</a:t>
            </a:r>
          </a:p>
          <a:p xmlns:a="http://schemas.openxmlformats.org/drawingml/2006/main">
            <a:r>
              <a:t>web:11200:2 | 개막 20일차 250만명 넘은 서울국제정원박람회… 성수 상권 매출 30% 급증 &gt; 보도자료 | 서울특별시 | https://www.seoul.go.kr/news/news_report.do?nttNo=458311</a:t>
            </a:r>
          </a:p>
          <a:p xmlns:a="http://schemas.openxmlformats.org/drawingml/2006/main">
            <a:r>
              <a:t>web:11200:3 | 서울숲-성수 커넥트 투어 | 2026 서울국제정원박람회 | https://gov.seoul.go.kr/festa/garden/y2026/program/garden-culture-program/commentary-program?article=42926</a:t>
            </a:r>
          </a:p>
          <a:p xmlns:a="http://schemas.openxmlformats.org/drawingml/2006/main">
            <a:r>
              <a:t>web:11200:4 | 2026 서울축제지도 - 가을편 &lt; 공지사항(상세) &lt; 새소식 | 서울문화포털 | https://culture.seoul.go.kr/culture/bbs/B0000000/view.do?menuNo=200050&amp;nttId=16465</a:t>
            </a:r>
          </a:p>
          <a:p xmlns:a="http://schemas.openxmlformats.org/drawingml/2006/main">
            <a:r>
              <a:t>web:11200:5 | 오시는 길 | 2026 서울국제정원박람회 | https://www.seoul.go.kr/festa/garden/y2026/introduce/location?pc=1</a:t>
            </a:r>
          </a:p>
          <a:p xmlns:a="http://schemas.openxmlformats.org/drawingml/2006/main">
            <a:r>
              <a:t>web:11200:6 | (석간) 제11차 도시건축공동위원회 개최결과 &gt; 보도자료 | 서울특별시 | https://www.seoul.go.kr/news/news_report.do?nttNo=460823&amp;tr_code=snews</a:t>
            </a:r>
          </a:p>
          <a:p xmlns:a="http://schemas.openxmlformats.org/drawingml/2006/main">
            <a:r>
              <a:t>web:11200:7 | 2026 서울국제정원박람회 &lt; 행사·공연 정보 &lt; 축제·관광 &lt; 미래한강본부, 한강공원 | https://hangang.seoul.go.kr/www/eventMng/detail.do?evntSn=378&amp;mid=538&amp;srchType=list</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재사용률(분자: 환급 후 성동구 내 적격 재결제액 합계 / 분모: 지급한 환급액 합계). 기준기간: 운영 전 4주. 측정주기: 매주. 수집방법: 신청·승인·이용·결제 원장 집계. 비교집단: 동일 기간 내 미참여 권역 또는 순차 도입 미운영 집단. 성공기준: 기준선 확인 후 착수 전 확정.",</a:t>
            </a:r>
          </a:p>
          <a:p xmlns:a="http://schemas.openxmlformats.org/drawingml/2006/main">
            <a:r>
              <a:t>    "title": "성동구 지역상품권 환급 프로그램",</a:t>
            </a:r>
          </a:p>
          <a:p xmlns:a="http://schemas.openxmlformats.org/drawingml/2006/main">
            <a:r>
              <a:t>    "budget": "지역상품권 환급액 = (외지인 관광객의 지역 내 소비액 × 20%) + (지역상품권 발행 비용: 1,000원/장). 단가 및 정확한 환급 대상 규모는 시범 운영 전 확정 필요.",</a:t>
            </a:r>
          </a:p>
          <a:p xmlns:a="http://schemas.openxmlformats.org/drawingml/2006/main">
            <a:r>
              <a:t>    "evidence": "case:gangjin_half_price_2024, dataset:11200:1, dataset:11200:3",</a:t>
            </a:r>
          </a:p>
          <a:p xmlns:a="http://schemas.openxmlformats.org/drawingml/2006/main">
            <a:r>
              <a:t>    "priority": 1,</a:t>
            </a:r>
          </a:p>
          <a:p xmlns:a="http://schemas.openxmlformats.org/drawingml/2006/main">
            <a:r>
              <a:t>    "solution": "성동구를 방문한 외지인 관광객이 지정된 지역 내 상점에서 일정 금액 이상 소비 시, 소비액의 일부를 성동구 지역상품권으로 즉시 또는 사후 환급하여 해당 상품권이 다시 성동구 내에서 사용되도록 선순환 구조를 구축함.",</a:t>
            </a:r>
          </a:p>
          <a:p xmlns:a="http://schemas.openxmlformats.org/drawingml/2006/main">
            <a:r>
              <a:t>    "timeframe": "2026-09 ~ 2026-11, 3개월",</a:t>
            </a:r>
          </a:p>
          <a:p xmlns:a="http://schemas.openxmlformats.org/drawingml/2006/main">
            <a:r>
              <a:t>    "expected_effect": "계획 목표: 최종월 ML 기준 전망 대비 방문 +20%, 소비 +20%. 월별 목표는 단계 적용하며 참여·이용 실적은 별도 집계합니다.",</a:t>
            </a:r>
          </a:p>
          <a:p xmlns:a="http://schemas.openxmlformats.org/drawingml/2006/main">
            <a:r>
              <a:t>    "problem_to_solve": "낮은 숙박 비율과 당일치기 위주의 소비 패턴을 개선하여 외지인 관광객의 지역 내 체류 시간 및 총 소비액을 증대함.",</a:t>
            </a:r>
          </a:p>
          <a:p xmlns:a="http://schemas.openxmlformats.org/drawingml/2006/main">
            <a:r>
              <a:t>    "comparison_analysis": "강진군 반값여행 사례(case:gangjin_half_price_2024)는 여행자 지출 일부를 지역상품권으로 환급하여 재사용을 유도하는 모델임. 성동구는 이를 적용하되, 성수동 등 특정 권역의 상점 특성과 지역상품권 사용처를 조정하여 운영함.",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참여 상점 모집 및 환급 기준(최소 결제액 등) 수립을 진행하고, 참여 업체 명단 및 운영 지침(안)을 확보함. 모집 미달 시 참여 규모 축소 검토.",</a:t>
            </a:r>
          </a:p>
          <a:p xmlns:a="http://schemas.openxmlformats.org/drawingml/2006/main">
            <a:r>
              <a:t>        "schedule": "2026-09",</a:t>
            </a:r>
          </a:p>
          <a:p xmlns:a="http://schemas.openxmlformats.org/drawingml/2006/main">
            <a:r>
              <a:t>        "deliverable": "참여 업체 명단 및 운영 지침(안)"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"운영지원팀이 영수증 인증 방식 및 중복 수혜 방지 프로세스를 점검하고, 지출 증빙 및 환급 시스템의 기술적 작동 여부를 확인함.",</a:t>
            </a:r>
          </a:p>
          <a:p xmlns:a="http://schemas.openxmlformats.org/drawingml/2006/main">
            <a:r>
              <a:t>        "schedule": "2026-09",</a:t>
            </a:r>
          </a:p>
          <a:p xmlns:a="http://schemas.openxmlformats.org/drawingml/2006/main">
            <a:r>
              <a:t>        "deliverable": "영수증 인증 및 중복 방지 프로세스 확정서"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"홍보팀이 환급 신청 및 지급 원장(신청·승인·결제 데이터)을 관리하며, 프로그램 시범 운영과 함께 온·오프라인 홍보를 수행함.",</a:t>
            </a:r>
          </a:p>
          <a:p xmlns:a="http://schemas.openxmlformats.org/drawingml/2006/main">
            <a:r>
              <a:t>        "schedule": "2026-10",</a:t>
            </a:r>
          </a:p>
          <a:p xmlns:a="http://schemas.openxmlformats.org/drawingml/2006/main">
            <a:r>
              <a:t>        "deliverable": "환급 신청 및 지급 원장"</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"현장점검팀이 상점별 이용 현황 및 불편 사항을 수집하고, 참여 업체 피드백을 바탕으로 운영 방식을 모니터링함.",</a:t>
            </a:r>
          </a:p>
          <a:p xmlns:a="http://schemas.openxmlformats.org/drawingml/2006/main">
            <a:r>
              <a:t>        "schedule": "2026-10",</a:t>
            </a:r>
          </a:p>
          <a:p xmlns:a="http://schemas.openxmlformats.org/drawingml/2006/main">
            <a:r>
              <a:t>        "deliverable": "상점별 이용 현황 및 불편 사항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"데이터분석팀이 소비 증대 및 상품권 재사용률을 분석하고, 신청·승인·결제 원장을 기반으로 최종 성과 데이터를 집계함.",</a:t>
            </a:r>
          </a:p>
          <a:p xmlns:a="http://schemas.openxmlformats.org/drawingml/2006/main">
            <a:r>
              <a:t>        "schedule": "2026-11",</a:t>
            </a:r>
          </a:p>
          <a:p xmlns:a="http://schemas.openxmlformats.org/drawingml/2006/main">
            <a:r>
              <a:t>        "deliverable": "소비 증대 및 상품권 재사용률 분석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dataset:11200:1 | 한국관광 데이터랩 · 서울특별시 성동구 순 방문자 수 및 숙박 비율 (이동통신 기반 외지인) | https://datalab.visitkorea.or.kr/</a:t>
            </a:r>
          </a:p>
          <a:p>
            <a:r>
              <a:t>dataset:11200:2 | 한국관광 데이터랩 · 서울특별시 성동구 월간 순 방문자 수 (이동통신 기반 외지인) | https://datalab.visitkorea.or.kr/</a:t>
            </a:r>
          </a:p>
          <a:p>
            <a:r>
              <a:t>dataset:11200:3 | 한국관광 데이터랩 · 서울특별시 성동구 관광소비 추이_외지인 | https://datalab.visitkorea.or.kr/</a:t>
            </a:r>
          </a:p>
          <a:p>
            <a:r>
              <a:t>dataset:11200:4 | 한국관광 데이터랩 · 서울특별시 성동구 숙박방문자 비율 추이 (이동통신 기반 외지인) | https://datalab.visitkorea.or.kr/</a:t>
            </a:r>
          </a:p>
          <a:p>
            <a:r>
              <a:t>dataset:11200:5 | 한국관광 데이터랩 · 서울특별시 성동구 평균 숙박일 (이동통신 기반 외지인) | https://datalab.visitkorea.or.kr/</a:t>
            </a:r>
          </a:p>
          <a:p>
            <a:r>
              <a:t>dataset:11200:6 | 한국관광 데이터랩 · 서울특별시 성동구 내비게이션 목적지 유형별 검색량 | https://datalab.visitkorea.or.kr/</a:t>
            </a:r>
          </a:p>
          <a:p>
            <a:r>
              <a:t>dataset:11200:7 | 한국관광 데이터랩 · 서울특별시 성동구 SNS 언급량 | https://datalab.visitkorea.or.kr/</a:t>
            </a:r>
          </a:p>
          <a:p>
            <a:r>
              <a:t>datalab:0ea2e7ff8811:517c835e3039 | 한국관광 데이터랩 공식 다운로드 · 서울특별시_성동구/숙박_체류시간/2025_01_12.zip | https://datalab.visitkorea.or.kr/</a:t>
            </a:r>
          </a:p>
          <a:p>
            <a:r>
              <a:t>datalab:3a79405535b3:68f41f6aa9c6 | 한국관광 데이터랩 공식 다운로드 · 서울특별시_성동구/관광소비/2025_01_12.zip | https://datalab.visitkorea.or.kr/</a:t>
            </a:r>
          </a:p>
          <a:p>
            <a:r>
              <a:t>datalab:6217474023e5:2e717447925f | 한국관광 데이터랩 공식 다운로드 · 서울특별시_성동구/숙박_체류시간/2026_01_06.zip | https://datalab.visitkorea.or.kr/</a:t>
            </a:r>
          </a:p>
          <a:p>
            <a:r>
              <a:t>datalab:62312101c8d0:9c44bd532366 | 한국관광 데이터랩 공식 다운로드 · 서울특별시_성동구/방문자/2025_01_12.zip | https://datalab.visitkorea.or.kr/</a:t>
            </a:r>
          </a:p>
          <a:p>
            <a:r>
              <a:t>datalab:7ddda0420208:c68bf7b028b0 | 한국관광 데이터랩 공식 다운로드 · 서울특별시_성동구/관광소비/2026_01_06.zip | https://datalab.visitkorea.or.kr/</a:t>
            </a:r>
          </a:p>
          <a:p>
            <a:r>
              <a:t>datalab:9369271c7419:76a9b6ea89d8 | 한국관광 데이터랩 공식 다운로드 · 서울특별시_성동구/방문자/2026_01_06.zip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regional-status:300d117a9148:9b5e59efa799 | 한국관광 데이터랩 지역별 관광 현황 · 서울특별시 성동구 · 인기관광지 | https://datalab.visitkorea.or.kr/</a:t>
            </a:r>
          </a:p>
          <a:p>
            <a:r>
              <a:t>regional-status:e1f4d12a3396:706443b7ba17 | 한국관광 데이터랩 지역별 관광 현황 · 서울특별시 성동구 · 유입유출 | https://datalab.visitkorea.or.kr/</a:t>
            </a:r>
          </a:p>
          <a:p>
            <a:r>
              <a:t>regional-status:f05693fd34a7:ae929e215d91 | 한국관광 데이터랩 지역별 관광 현황 · 서울특별시 성동구 · 지역집중률 | https://datalab.visitkorea.or.kr/</a:t>
            </a:r>
          </a:p>
          <a:p>
            <a:r>
              <a:t>ml:11200:regional-demand-v3.1:202606 | 지역 관광수요 ML 전망 · 공식 관측값 아님 | URL 미기록</a:t>
            </a:r>
          </a:p>
          <a:p>
            <a:r>
              <a:t>tour-api:2901229 | 가조쿠 | https://apis.data.go.kr/B551011/KorService2</a:t>
            </a:r>
          </a:p>
          <a:p>
            <a:r>
              <a:t>tour-api:2895161 | 계월 | https://apis.data.go.kr/B551011/KorService2</a:t>
            </a:r>
          </a:p>
          <a:p>
            <a:r>
              <a:t>tour-api:2901359 | 계자람 | https://apis.data.go.kr/B551011/KorService2</a:t>
            </a:r>
          </a:p>
          <a:p>
            <a:r>
              <a:t>tour-api:2895211 | 구욱희씨 | https://apis.data.go.kr/B551011/KorService2</a:t>
            </a:r>
          </a:p>
          <a:p>
            <a:r>
              <a:t>tour-api:2895236 | 구펠 | https://apis.data.go.kr/B551011/KorService2</a:t>
            </a:r>
          </a:p>
          <a:p>
            <a:r>
              <a:t>tour-api:2898994 | 그라데이션커피 | https://apis.data.go.kr/B551011/KorService2</a:t>
            </a:r>
          </a:p>
          <a:p>
            <a:r>
              <a:t>tour-api:2894873 | 그린랩 | https://apis.data.go.kr/B551011/KorService2</a:t>
            </a:r>
          </a:p>
          <a:p>
            <a:r>
              <a:t>tour-api:2743748 | 금남시장 | https://apis.data.go.kr/B551011/KorService2</a:t>
            </a:r>
          </a:p>
          <a:p>
            <a:r>
              <a:t>tour-api:2901568 | 기후 | https://apis.data.go.kr/B551011/KorService2</a:t>
            </a:r>
          </a:p>
          <a:p>
            <a:r>
              <a:t>tour-api:2894842 | 꾸아 성수점 | https://apis.data.go.kr/B551011/KorService2</a:t>
            </a:r>
          </a:p>
          <a:p>
            <a:r>
              <a:t>tour-api:2843520 | 난포 | https://apis.data.go.kr/B551011/KorService2</a:t>
            </a:r>
          </a:p>
          <a:p>
            <a:r>
              <a:t>tour-api:2894810 | 누메로도스 | https://apis.data.go.kr/B551011/KorService2</a:t>
            </a:r>
          </a:p>
          <a:p>
            <a:r>
              <a:t>tour-api:2894795 | 누메로뜨레쓰 | https://apis.data.go.kr/B551011/KorService2</a:t>
            </a:r>
          </a:p>
          <a:p>
            <a:r>
              <a:t>tour-api:2894763 | 니드스윗 | https://apis.data.go.kr/B551011/KorService2</a:t>
            </a:r>
          </a:p>
          <a:p>
            <a:r>
              <a:t>tour-api:2894747 | 단일서울 | https://apis.data.go.kr/B551011/KorService2</a:t>
            </a:r>
          </a:p>
          <a:p>
            <a:r>
              <a:t>tour-api:2894854 | 대돈집 | https://apis.data.go.kr/B551011/KorService2</a:t>
            </a:r>
          </a:p>
          <a:p>
            <a:r>
              <a:t>tour-api:2899012 | 대흥정육식당 | https://apis.data.go.kr/B551011/KorService2</a:t>
            </a:r>
          </a:p>
          <a:p>
            <a:r>
              <a:t>tour-api:2753089 | 더서울라이티움 | https://apis.data.go.kr/B551011/KorService2</a:t>
            </a:r>
          </a:p>
          <a:p>
            <a:r>
              <a:t>tour-api:736766 | 더페이지갤러리 | https://apis.data.go.kr/B551011/KorService2</a:t>
            </a:r>
          </a:p>
          <a:p>
            <a:r>
              <a:t>tour-api:2845040 | 땅코참숯구이 본점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web:11200:1 | 2026 서울국제정원박람회 &lt; 행사·공연 정보 &lt; 축제·관광 &lt; 미래한강본부, 한강공원 | https://hangang.seoul.go.kr/www/eventMng/detail.do?evntSn=378&amp;mid=538&amp;srchType=list</a:t>
            </a:r>
          </a:p>
          <a:p>
            <a:r>
              <a:t>web:11200:2 | 개막 20일차 250만명 넘은 서울국제정원박람회… 성수 상권 매출 30% 급증 &gt; 보도자료 | 서울특별시 | https://www.seoul.go.kr/news/news_report.do?nttNo=458311</a:t>
            </a:r>
          </a:p>
          <a:p>
            <a:r>
              <a:t>web:11200:3 | 서울숲-성수 커넥트 투어 | 2026 서울국제정원박람회 | https://gov.seoul.go.kr/festa/garden/y2026/program/garden-culture-program/commentary-program?article=42926</a:t>
            </a:r>
          </a:p>
          <a:p>
            <a:r>
              <a:t>web:11200:4 | 2026 서울축제지도 - 가을편 &lt; 공지사항(상세) &lt; 새소식 | 서울문화포털 | https://culture.seoul.go.kr/culture/bbs/B0000000/view.do?menuNo=200050&amp;nttId=16465</a:t>
            </a:r>
          </a:p>
          <a:p>
            <a:r>
              <a:t>web:11200:5 | 오시는 길 | 2026 서울국제정원박람회 | https://www.seoul.go.kr/festa/garden/y2026/introduce/location?pc=1</a:t>
            </a:r>
          </a:p>
          <a:p>
            <a:r>
              <a:t>web:11200:6 | (석간) 제11차 도시건축공동위원회 개최결과 &gt; 보도자료 | 서울특별시 | https://www.seoul.go.kr/news/news_report.do?nttNo=460823&amp;tr_code=snews</a:t>
            </a:r>
          </a:p>
          <a:p>
            <a:r>
              <a:t>web:11200:7 | 2026 서울국제정원박람회 &lt; 행사·공연 정보 &lt; 축제·관광 &lt; 미래한강본부, 한강공원 | https://hangang.seoul.go.kr/www/eventMng/detail.do?evntSn=378&amp;mid=538&amp;srchType=list</a:t>
            </a:r>
          </a:p>
          <a:p>
            <a:r>
              <a:t>case:jeonju_night_budget_2026 | 전주시 2026년도 관광산업과 세출예산 사업명세서 | https://jeonju.go.kr/resource/www/images/download/budget/2026/2026_31_2.pdf</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서울특별시 성동구 순 방문자 수 및 숙박 비율 (이동통신 기반 외지인)",</a:t>
            </a:r>
          </a:p>
          <a:p>
            <a:r>
              <a:t>      "summary": "월간 순 방문자 수: 6,687,696명 (관측 기준월: 2026-06)",</a:t>
            </a:r>
          </a:p>
          <a:p>
            <a:r>
              <a:t>      "source_id": "dataset:11200:1",</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월간 순 방문자 수 (이동통신 기반 외지인)",</a:t>
            </a:r>
          </a:p>
          <a:p>
            <a:r>
              <a:t>      "summary": "전년동월 외지인 방문자 증감률: 10.2% (관측 기준월: 2026-06)",</a:t>
            </a:r>
          </a:p>
          <a:p>
            <a:r>
              <a:t>      "source_id": "dataset:11200:2",</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관광소비 추이_외지인",</a:t>
            </a:r>
          </a:p>
          <a:p>
            <a:r>
              <a:t>      "summary": "월간 외지인 관광소비 총액: 93,151,315,000원 (관측 기준월: 2026-06)",</a:t>
            </a:r>
          </a:p>
          <a:p>
            <a:r>
              <a:t>      "source_id": "dataset:11200:3",</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숙박방문자 비율 추이 (이동통신 기반 외지인)",</a:t>
            </a:r>
          </a:p>
          <a:p>
            <a:r>
              <a:t>      "summary": "외지인 숙박 방문 비율: 3.7% (관측 기준월: 2026-06)",</a:t>
            </a:r>
          </a:p>
          <a:p>
            <a:r>
              <a:t>      "source_id": "dataset:11200:4",</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평균 숙박일 (이동통신 기반 외지인)",</a:t>
            </a:r>
          </a:p>
          <a:p>
            <a:r>
              <a:t>      "summary": "외지인 평균 숙박일수: 3.03일 (관측 기준월: 2026-06)",</a:t>
            </a:r>
          </a:p>
          <a:p>
            <a:r>
              <a:t>      "source_id": "dataset:11200:5",</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내비게이션 목적지 유형별 검색량",</a:t>
            </a:r>
          </a:p>
          <a:p>
            <a:r>
              <a:t>      "summary": "내비게이션 목적지 검색량: 89,198건 (관측 기준월: 2026-06)",</a:t>
            </a:r>
          </a:p>
          <a:p>
            <a:r>
              <a:t>      "source_id": "dataset:11200:6",</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SNS 언급량",</a:t>
            </a:r>
          </a:p>
          <a:p>
            <a:r>
              <a:t>      "summary": "SNS 언급량: 71,233건 (관측 기준월: 2026-06)",</a:t>
            </a:r>
          </a:p>
          <a:p>
            <a:r>
              <a:t>      "source_id": "dataset:11200:7",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서울특별시_성동구/숙박_체류시간/2025_01_12.zip",</a:t>
            </a:r>
          </a:p>
          <a:p>
            <a:r>
              <a:t>      "summary": "전국 비교 기준 기간: 2025-07 ~ 2026-06",</a:t>
            </a:r>
          </a:p>
          <a:p>
            <a:r>
              <a:t>      "source_id": "datalab:0ea2e7ff8811:517c835e3039",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서울특별시_성동구/관광소비/2025_01_12.zip",</a:t>
            </a:r>
          </a:p>
          <a:p>
            <a:r>
              <a:t>      "summary": "전국 비교 기준 기간: 2025-07 ~ 2026-06",</a:t>
            </a:r>
          </a:p>
          <a:p>
            <a:r>
              <a:t>      "source_id": "datalab:3a79405535b3:68f41f6aa9c6",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서울특별시_성동구/숙박_체류시간/2026_01_06.zip",</a:t>
            </a:r>
          </a:p>
          <a:p>
            <a:r>
              <a:t>      "summary": "전국 비교 기준 기간: 2025-07 ~ 2026-06",</a:t>
            </a:r>
          </a:p>
          <a:p>
            <a:r>
              <a:t>      "source_id": "datalab:6217474023e5:2e717447925f",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서울특별시_성동구/방문자/2025_01_12.zip",</a:t>
            </a:r>
          </a:p>
          <a:p>
            <a:r>
              <a:t>      "summary": "전국 비교 기준 기간: 2025-07 ~ 2026-06",</a:t>
            </a:r>
          </a:p>
          <a:p>
            <a:r>
              <a:t>      "source_id": "datalab:62312101c8d0:9c44bd532366",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서울특별시_성동구/관광소비/2026_01_06.zip",</a:t>
            </a:r>
          </a:p>
          <a:p>
            <a:r>
              <a:t>      "summary": "전국 비교 기준 기간: 2025-07 ~ 2026-06",</a:t>
            </a:r>
          </a:p>
          <a:p>
            <a:r>
              <a:t>      "source_id": "datalab:7ddda0420208:c68bf7b028b0",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서울특별시_성동구/방문자/2026_01_06.zip",</a:t>
            </a:r>
          </a:p>
          <a:p>
            <a:r>
              <a:t>      "summary": "전국 비교 기준 기간: 2025-07 ~ 2026-06",</a:t>
            </a:r>
          </a:p>
          <a:p>
            <a:r>
              <a:t>      "source_id": "datalab:9369271c7419:76a9b6ea89d8",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서울특별시 성동구 · 인기관광지",</a:t>
            </a:r>
          </a:p>
          <a:p>
            <a:r>
              <a:t>      "summary": "관측 기간: 2025-07 ~ 2026-06. 유입·유출·인기장소 또는 30일 집중 운영 신호.",</a:t>
            </a:r>
          </a:p>
          <a:p>
            <a:r>
              <a:t>      "source_id": "regional-status:300d117a9148:9b5e59efa799",</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유입유출",</a:t>
            </a:r>
          </a:p>
          <a:p>
            <a:r>
              <a:t>      "summary": "관측 기간: 2025-07 ~ 2026-06. 유입·유출·인기장소 또는 30일 집중 운영 신호.",</a:t>
            </a:r>
          </a:p>
          <a:p>
            <a:r>
              <a:t>      "source_id": "regional-status:e1f4d12a3396:706443b7ba17",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지역집중률",</a:t>
            </a:r>
          </a:p>
          <a:p>
            <a:r>
              <a:t>      "summary": "관측 기간: 2025-07 ~ 2026-06. 유입·유출·인기장소 또는 30일 집중 운영 신호.",</a:t>
            </a:r>
          </a:p>
          <a:p>
            <a:r>
              <a:t>      "source_id": "regional-status:f05693fd34a7:ae929e215d91",</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"ml:11200:regional-demand-v3.1:202606",</a:t>
            </a:r>
          </a:p>
          <a:p>
            <a:r>
              <a:t>      "source_url": "",</a:t>
            </a:r>
          </a:p>
          <a:p>
            <a:r>
              <a:t>      "source_type": "model_forecast",</a:t>
            </a:r>
          </a:p>
          <a:p>
            <a:r>
              <a:t>      "model_version": "regional-demand-v3.1",</a:t>
            </a:r>
          </a:p>
          <a:p>
            <a:r>
              <a:t>      "data_fingerprint": "c47c92e05a4d54565864c2c7d1091d0c4f29ba1e6f45559f77d766e9c92e6d24"</a:t>
            </a:r>
          </a:p>
          <a:p>
            <a:r>
              <a:t>    },</a:t>
            </a:r>
          </a:p>
          <a:p>
            <a:r>
              <a:t>    {</a:t>
            </a:r>
          </a:p>
          <a:p>
            <a:r>
              <a:t>      "title": "가조쿠",</a:t>
            </a:r>
          </a:p>
          <a:p>
            <a:r>
              <a:t>      "address": "서울특별시 성동구 연무장길 31-2 (성수동2가)",</a:t>
            </a:r>
          </a:p>
          <a:p>
            <a:r>
              <a:t>      "summary": "한국관광공사 국문관광정보 API가 반환한 선택 지역 관광자원",</a:t>
            </a:r>
          </a:p>
          <a:p>
            <a:r>
              <a:t>      "image_url": "http://tong.visitkorea.or.kr/cms/resource/12/2901212_image2_1.jpg",</a:t>
            </a:r>
          </a:p>
          <a:p>
            <a:r>
              <a:t>      "source_id": "tour-api:2901229",</a:t>
            </a:r>
          </a:p>
          <a:p>
            <a:r>
              <a:t>      "content_id": "2901229",</a:t>
            </a:r>
          </a:p>
          <a:p>
            <a:r>
              <a:t>      "source_url": "https://apis.data.go.kr/B551011/KorService2",</a:t>
            </a:r>
          </a:p>
          <a:p>
            <a:r>
              <a:t>      "source_type": "open_api",</a:t>
            </a:r>
          </a:p>
          <a:p>
            <a:r>
              <a:t>      "content_type_id": "39"</a:t>
            </a:r>
          </a:p>
          <a:p>
            <a:r>
              <a:t>    },</a:t>
            </a:r>
          </a:p>
          <a:p>
            <a:r>
              <a:t>    {</a:t>
            </a:r>
          </a:p>
          <a:p>
            <a:r>
              <a:t>      "title": "계월",</a:t>
            </a:r>
          </a:p>
          <a:p>
            <a:r>
              <a:t>      "address": "서울특별시 성동구 성덕정3길 8 (성수동1가)",</a:t>
            </a:r>
          </a:p>
          <a:p>
            <a:r>
              <a:t>      "summary": "한국관광공사 국문관광정보 API가 반환한 선택 지역 관광자원",</a:t>
            </a:r>
          </a:p>
          <a:p>
            <a:r>
              <a:t>      "image_url": "http://tong.visitkorea.or.kr/cms/resource/44/2895144_image2_1.JPG",</a:t>
            </a:r>
          </a:p>
          <a:p>
            <a:r>
              <a:t>      "source_id": "tour-api:2895161",</a:t>
            </a:r>
          </a:p>
          <a:p>
            <a:r>
              <a:t>      "content_id": "2895161",</a:t>
            </a:r>
          </a:p>
          <a:p>
            <a:r>
              <a:t>      "source_url": "https://apis.data.go.kr/B551011/KorService2",</a:t>
            </a:r>
          </a:p>
          <a:p>
            <a:r>
              <a:t>      "source_type": "open_api",</a:t>
            </a:r>
          </a:p>
          <a:p>
            <a:r>
              <a:t>      "content_type_id": "39"</a:t>
            </a:r>
          </a:p>
          <a:p>
            <a:r>
              <a:t>    },</a:t>
            </a:r>
          </a:p>
          <a:p>
            <a:r>
              <a:t>    {</a:t>
            </a:r>
          </a:p>
          <a:p>
            <a:r>
              <a:t>      "title": "계자람",</a:t>
            </a:r>
          </a:p>
          <a:p>
            <a:r>
              <a:t>      "address": "서울특별시 성동구 성덕정17길 5 (성수동2가)",</a:t>
            </a:r>
          </a:p>
          <a:p>
            <a:r>
              <a:t>      "summary": "한국관광공사 국문관광정보 API가 반환한 선택 지역 관광자원",</a:t>
            </a:r>
          </a:p>
          <a:p>
            <a:r>
              <a:t>      "image_url": "http://tong.visitkorea.or.kr/cms/resource/51/2901351_image2_1.jpg",</a:t>
            </a:r>
          </a:p>
          <a:p>
            <a:r>
              <a:t>      "source_id": "tour-api:2901359",</a:t>
            </a:r>
          </a:p>
          <a:p>
            <a:r>
              <a:t>      "content_id": "2901359",</a:t>
            </a:r>
          </a:p>
          <a:p>
            <a:r>
              <a:t>      "source_url": "https://apis.data.go.kr/B551011/KorService2",</a:t>
            </a:r>
          </a:p>
          <a:p>
            <a:r>
              <a:t>      "source_type": "open_api",</a:t>
            </a:r>
          </a:p>
          <a:p>
            <a:r>
              <a:t>      "content_type_id": "39"</a:t>
            </a:r>
          </a:p>
          <a:p>
            <a:r>
              <a:t>    },</a:t>
            </a:r>
          </a:p>
          <a:p>
            <a:r>
              <a:t>    {</a:t>
            </a:r>
          </a:p>
          <a:p>
            <a:r>
              <a:t>      "title": "구욱희씨",</a:t>
            </a:r>
          </a:p>
          <a:p>
            <a:r>
              <a:t>      "address": "서울특별시 성동구 서울숲4길 12-22",</a:t>
            </a:r>
          </a:p>
          <a:p>
            <a:r>
              <a:t>      "summary": "한국관광공사 국문관광정보 API가 반환한 선택 지역 관광자원",</a:t>
            </a:r>
          </a:p>
          <a:p>
            <a:r>
              <a:t>      "image_url": "http://tong.visitkorea.or.kr/cms/resource/08/2895208_image2_1.jpg",</a:t>
            </a:r>
          </a:p>
          <a:p>
            <a:r>
              <a:t>      "source_id": "tour-api:2895211",</a:t>
            </a:r>
          </a:p>
          <a:p>
            <a:r>
              <a:t>      "content_id": "2895211",</a:t>
            </a:r>
          </a:p>
          <a:p>
            <a:r>
              <a:t>      "source_url": "https://apis.data.go.kr/B551011/KorService2",</a:t>
            </a:r>
          </a:p>
          <a:p>
            <a:r>
              <a:t>      "source_type": "open_api",</a:t>
            </a:r>
          </a:p>
          <a:p>
            <a:r>
              <a:t>      "content_type_id": "39"</a:t>
            </a:r>
          </a:p>
          <a:p>
            <a:r>
              <a:t>    },</a:t>
            </a:r>
          </a:p>
          <a:p>
            <a:r>
              <a:t>    {</a:t>
            </a:r>
          </a:p>
          <a:p>
            <a:r>
              <a:t>      "title": "구펠",</a:t>
            </a:r>
          </a:p>
          <a:p>
            <a:r>
              <a:t>      "address": "서울특별시 성동구 왕십리로14길 30-1 (성수동1가)",</a:t>
            </a:r>
          </a:p>
          <a:p>
            <a:r>
              <a:t>      "summary": "한국관광공사 국문관광정보 API가 반환한 선택 지역 관광자원",</a:t>
            </a:r>
          </a:p>
          <a:p>
            <a:r>
              <a:t>      "image_url": "http://tong.visitkorea.or.kr/cms/resource/26/2895226_image2_1.jpg",</a:t>
            </a:r>
          </a:p>
          <a:p>
            <a:r>
              <a:t>      "source_id": "tour-api:2895236",</a:t>
            </a:r>
          </a:p>
          <a:p>
            <a:r>
              <a:t>      "content_id": "2895236",</a:t>
            </a:r>
          </a:p>
          <a:p>
            <a:r>
              <a:t>      "source_url": "https://apis.data.go.kr/B551011/KorService2",</a:t>
            </a:r>
          </a:p>
          <a:p>
            <a:r>
              <a:t>      "source_type": "open_api",</a:t>
            </a:r>
          </a:p>
          <a:p>
            <a:r>
              <a:t>      "content_type_id": "39"</a:t>
            </a:r>
          </a:p>
          <a:p>
            <a:r>
              <a:t>    },</a:t>
            </a:r>
          </a:p>
          <a:p>
            <a:r>
              <a:t>    {</a:t>
            </a:r>
          </a:p>
          <a:p>
            <a:r>
              <a:t>      "title": "그라데이션커피",</a:t>
            </a:r>
          </a:p>
          <a:p>
            <a:r>
              <a:t>      "address": "서울특별시 성동구 상원12길 24-1 (성수동1가)",</a:t>
            </a:r>
          </a:p>
          <a:p>
            <a:r>
              <a:t>      "summary": "한국관광공사 국문관광정보 API가 반환한 선택 지역 관광자원",</a:t>
            </a:r>
          </a:p>
          <a:p>
            <a:r>
              <a:t>      "image_url": "http://tong.visitkorea.or.kr/cms/resource/82/2898982_image2_1.jpg",</a:t>
            </a:r>
          </a:p>
          <a:p>
            <a:r>
              <a:t>      "source_id": "tour-api:2898994",</a:t>
            </a:r>
          </a:p>
          <a:p>
            <a:r>
              <a:t>      "content_id": "2898994",</a:t>
            </a:r>
          </a:p>
          <a:p>
            <a:r>
              <a:t>      "source_url": "https://apis.data.go.kr/B551011/KorService2",</a:t>
            </a:r>
          </a:p>
          <a:p>
            <a:r>
              <a:t>      "source_type": "open_api",</a:t>
            </a:r>
          </a:p>
          <a:p>
            <a:r>
              <a:t>      "content_type_id": "39"</a:t>
            </a:r>
          </a:p>
          <a:p>
            <a:r>
              <a:t>    },</a:t>
            </a:r>
          </a:p>
          <a:p>
            <a:r>
              <a:t>    {</a:t>
            </a:r>
          </a:p>
          <a:p>
            <a:r>
              <a:t>      "title": "그린랩",</a:t>
            </a:r>
          </a:p>
          <a:p>
            <a:r>
              <a:t>      "address": "서울특별시 성동구 서울숲2길 18-11",</a:t>
            </a:r>
          </a:p>
          <a:p>
            <a:r>
              <a:t>      "summary": "한국관광공사 국문관광정보 API가 반환한 선택 지역 관광자원",</a:t>
            </a:r>
          </a:p>
          <a:p>
            <a:r>
              <a:t>      "image_url": "http://tong.visitkorea.or.kr/cms/resource/64/2894864_image2_1.JPG",</a:t>
            </a:r>
          </a:p>
          <a:p>
            <a:r>
              <a:t>      "source_id": "tour-api:2894873",</a:t>
            </a:r>
          </a:p>
          <a:p>
            <a:r>
              <a:t>      "content_id": "2894873",</a:t>
            </a:r>
          </a:p>
          <a:p>
            <a:r>
              <a:t>      "source_url": "https://apis.data.go.kr/B551011/KorService2",</a:t>
            </a:r>
          </a:p>
          <a:p>
            <a:r>
              <a:t>      "source_type": "open_api",</a:t>
            </a:r>
          </a:p>
          <a:p>
            <a:r>
              <a:t>      "content_type_id": "39"</a:t>
            </a:r>
          </a:p>
          <a:p>
            <a:r>
              <a:t>    },</a:t>
            </a:r>
          </a:p>
          <a:p>
            <a:r>
              <a:t>    {</a:t>
            </a:r>
          </a:p>
          <a:p>
            <a:r>
              <a:t>      "title": "금남시장",</a:t>
            </a:r>
          </a:p>
          <a:p>
            <a:r>
              <a:t>      "address": "서울특별시 성동구 독서당로 303-7 (금호동3가)",</a:t>
            </a:r>
          </a:p>
          <a:p>
            <a:r>
              <a:t>      "summary": "한국관광공사 국문관광정보 API가 반환한 선택 지역 관광자원",</a:t>
            </a:r>
          </a:p>
          <a:p>
            <a:r>
              <a:t>      "image_url": "http://tong.visitkorea.or.kr/cms/resource/59/3414159_image2_1.jpg",</a:t>
            </a:r>
          </a:p>
          <a:p>
            <a:r>
              <a:t>      "source_id": "tour-api:2743748",</a:t>
            </a:r>
          </a:p>
          <a:p>
            <a:r>
              <a:t>      "content_id": "2743748",</a:t>
            </a:r>
          </a:p>
          <a:p>
            <a:r>
              <a:t>      "source_url": "https://apis.data.go.kr/B551011/KorService2",</a:t>
            </a:r>
          </a:p>
          <a:p>
            <a:r>
              <a:t>      "source_type": "open_api",</a:t>
            </a:r>
          </a:p>
          <a:p>
            <a:r>
              <a:t>      "content_type_id": "38"</a:t>
            </a:r>
          </a:p>
          <a:p>
            <a:r>
              <a:t>    },</a:t>
            </a:r>
          </a:p>
          <a:p>
            <a:r>
              <a:t>    {</a:t>
            </a:r>
          </a:p>
          <a:p>
            <a:r>
              <a:t>      "title": "기후",</a:t>
            </a:r>
          </a:p>
          <a:p>
            <a:r>
              <a:t>      "address": "서울특별시 성동구 성수이로 66 서울숲 드림타워",</a:t>
            </a:r>
          </a:p>
          <a:p>
            <a:r>
              <a:t>      "summary": "한국관광공사 국문관광정보 API가 반환한 선택 지역 관광자원",</a:t>
            </a:r>
          </a:p>
          <a:p>
            <a:r>
              <a:t>      "image_url": "http://tong.visitkorea.or.kr/cms/resource/59/2901559_image2_1.jpg",</a:t>
            </a:r>
          </a:p>
          <a:p>
            <a:r>
              <a:t>      "source_id": "tour-api:2901568",</a:t>
            </a:r>
          </a:p>
          <a:p>
            <a:r>
              <a:t>      "content_id": "2901568",</a:t>
            </a:r>
          </a:p>
          <a:p>
            <a:r>
              <a:t>      "source_url": "https://apis.data.go.kr/B551011/KorService2",</a:t>
            </a:r>
          </a:p>
          <a:p>
            <a:r>
              <a:t>      "source_type": "open_api",</a:t>
            </a:r>
          </a:p>
          <a:p>
            <a:r>
              <a:t>      "content_type_id": "39"</a:t>
            </a:r>
          </a:p>
          <a:p>
            <a:r>
              <a:t>    },</a:t>
            </a:r>
          </a:p>
          <a:p>
            <a:r>
              <a:t>    {</a:t>
            </a:r>
          </a:p>
          <a:p>
            <a:r>
              <a:t>      "title": "꾸아 성수점",</a:t>
            </a:r>
          </a:p>
          <a:p>
            <a:r>
              <a:t>      "address": "서울특별시 성동구 왕십리로 94-2 (성수동1가)",</a:t>
            </a:r>
          </a:p>
          <a:p>
            <a:r>
              <a:t>      "summary": "한국관광공사 국문관광정보 API가 반환한 선택 지역 관광자원",</a:t>
            </a:r>
          </a:p>
          <a:p>
            <a:r>
              <a:t>      "image_url": "http://tong.visitkorea.or.kr/cms/resource/17/2894817_image2_1.jpg",</a:t>
            </a:r>
          </a:p>
          <a:p>
            <a:r>
              <a:t>      "source_id": "tour-api:2894842",</a:t>
            </a:r>
          </a:p>
          <a:p>
            <a:r>
              <a:t>      "content_id": "2894842",</a:t>
            </a:r>
          </a:p>
          <a:p>
            <a:r>
              <a:t>      "source_url": "https://apis.data.go.kr/B551011/KorService2",</a:t>
            </a:r>
          </a:p>
          <a:p>
            <a:r>
              <a:t>      "source_type": "open_api",</a:t>
            </a:r>
          </a:p>
          <a:p>
            <a:r>
              <a:t>      "content_type_id": "39"</a:t>
            </a:r>
          </a:p>
          <a:p>
            <a:r>
              <a:t>    },</a:t>
            </a:r>
          </a:p>
          <a:p>
            <a:r>
              <a:t>    {</a:t>
            </a:r>
          </a:p>
          <a:p>
            <a:r>
              <a:t>      "title": "난포",</a:t>
            </a:r>
          </a:p>
          <a:p>
            <a:r>
              <a:t>      "address": "서울특별시 성동구 서울숲4길 18-8 (성수동1가)",</a:t>
            </a:r>
          </a:p>
          <a:p>
            <a:r>
              <a:t>      "summary": "한국관광공사 국문관광정보 API가 반환한 선택 지역 관광자원",</a:t>
            </a:r>
          </a:p>
          <a:p>
            <a:r>
              <a:t>      "image_url": "http://tong.visitkorea.or.kr/cms/resource/15/2843515_image2_1.jpg",</a:t>
            </a:r>
          </a:p>
          <a:p>
            <a:r>
              <a:t>      "source_id": "tour-api:2843520",</a:t>
            </a:r>
          </a:p>
          <a:p>
            <a:r>
              <a:t>      "content_id": "2843520",</a:t>
            </a:r>
          </a:p>
          <a:p>
            <a:r>
              <a:t>      "source_url": "https://apis.data.go.kr/B551011/KorService2",</a:t>
            </a:r>
          </a:p>
          <a:p>
            <a:r>
              <a:t>      "source_type": "open_api",</a:t>
            </a:r>
          </a:p>
          <a:p>
            <a:r>
              <a:t>      "content_type_id": "39"</a:t>
            </a:r>
          </a:p>
          <a:p>
            <a:r>
              <a:t>    },</a:t>
            </a:r>
          </a:p>
          <a:p>
            <a:r>
              <a:t>    {</a:t>
            </a:r>
          </a:p>
          <a:p>
            <a:r>
              <a:t>      "title": "누메로도스",</a:t>
            </a:r>
          </a:p>
          <a:p>
            <a:r>
              <a:t>      "address": "서울특별시 성동구 상원1길 35-9 (성수동1가)",</a:t>
            </a:r>
          </a:p>
          <a:p>
            <a:r>
              <a:t>      "summary": "한국관광공사 국문관광정보 API가 반환한 선택 지역 관광자원",</a:t>
            </a:r>
          </a:p>
          <a:p>
            <a:r>
              <a:t>      "image_url": "http://tong.visitkorea.or.kr/cms/resource/99/2894799_image2_1.jpg",</a:t>
            </a:r>
          </a:p>
          <a:p>
            <a:r>
              <a:t>      "source_id": "tour-api:2894810",</a:t>
            </a:r>
          </a:p>
          <a:p>
            <a:r>
              <a:t>      "content_id": "2894810",</a:t>
            </a:r>
          </a:p>
          <a:p>
            <a:r>
              <a:t>      "source_url": "https://apis.data.go.kr/B551011/KorService2",</a:t>
            </a:r>
          </a:p>
          <a:p>
            <a:r>
              <a:t>      "source_type": "open_api",</a:t>
            </a:r>
          </a:p>
          <a:p>
            <a:r>
              <a:t>      "content_type_id": "39"</a:t>
            </a:r>
          </a:p>
          <a:p>
            <a:r>
              <a:t>    },</a:t>
            </a:r>
          </a:p>
          <a:p>
            <a:r>
              <a:t>    {</a:t>
            </a:r>
          </a:p>
          <a:p>
            <a:r>
              <a:t>      "title": "누메로뜨레쓰",</a:t>
            </a:r>
          </a:p>
          <a:p>
            <a:r>
              <a:t>      "address": "서울특별시 성동구 성수일로 21 (성수동1가)",</a:t>
            </a:r>
          </a:p>
          <a:p>
            <a:r>
              <a:t>      "summary": "한국관광공사 국문관광정보 API가 반환한 선택 지역 관광자원",</a:t>
            </a:r>
          </a:p>
          <a:p>
            <a:r>
              <a:t>      "image_url": "http://tong.visitkorea.or.kr/cms/resource/76/2894776_image2_1.jpg",</a:t>
            </a:r>
          </a:p>
          <a:p>
            <a:r>
              <a:t>      "source_id": "tour-api:2894795",</a:t>
            </a:r>
          </a:p>
          <a:p>
            <a:r>
              <a:t>      "content_id": "2894795",</a:t>
            </a:r>
          </a:p>
          <a:p>
            <a:r>
              <a:t>      "source_url": "https://apis.data.go.kr/B551011/KorService2",</a:t>
            </a:r>
          </a:p>
          <a:p>
            <a:r>
              <a:t>      "source_type": "open_api",</a:t>
            </a:r>
          </a:p>
          <a:p>
            <a:r>
              <a:t>      "content_type_id": "39"</a:t>
            </a:r>
          </a:p>
          <a:p>
            <a:r>
              <a:t>    },</a:t>
            </a:r>
          </a:p>
          <a:p>
            <a:r>
              <a:t>    {</a:t>
            </a:r>
          </a:p>
          <a:p>
            <a:r>
              <a:t>      "title": "니드스윗",</a:t>
            </a:r>
          </a:p>
          <a:p>
            <a:r>
              <a:t>      "address": "서울특별시 성동구 아차산로1길 9",</a:t>
            </a:r>
          </a:p>
          <a:p>
            <a:r>
              <a:t>      "summary": "한국관광공사 국문관광정보 API가 반환한 선택 지역 관광자원",</a:t>
            </a:r>
          </a:p>
          <a:p>
            <a:r>
              <a:t>      "image_url": "http://tong.visitkorea.or.kr/cms/resource/55/2894755_image2_1.jpg",</a:t>
            </a:r>
          </a:p>
          <a:p>
            <a:r>
              <a:t>      "source_id": "tour-api:2894763",</a:t>
            </a:r>
          </a:p>
          <a:p>
            <a:r>
              <a:t>      "content_id": "2894763",</a:t>
            </a:r>
          </a:p>
          <a:p>
            <a:r>
              <a:t>      "source_url": "https://apis.data.go.kr/B551011/KorService2",</a:t>
            </a:r>
          </a:p>
          <a:p>
            <a:r>
              <a:t>      "source_type": "open_api",</a:t>
            </a:r>
          </a:p>
          <a:p>
            <a:r>
              <a:t>      "content_type_id": "39"</a:t>
            </a:r>
          </a:p>
          <a:p>
            <a:r>
              <a:t>    },</a:t>
            </a:r>
          </a:p>
          <a:p>
            <a:r>
              <a:t>    {</a:t>
            </a:r>
          </a:p>
          <a:p>
            <a:r>
              <a:t>      "title": "단일서울",</a:t>
            </a:r>
          </a:p>
          <a:p>
            <a:r>
              <a:t>      "address": "서울특별시 성동구 왕십리로 66-33 (성수동1가)",</a:t>
            </a:r>
          </a:p>
          <a:p>
            <a:r>
              <a:t>      "summary": "한국관광공사 국문관광정보 API가 반환한 선택 지역 관광자원",</a:t>
            </a:r>
          </a:p>
          <a:p>
            <a:r>
              <a:t>      "image_url": "http://tong.visitkorea.or.kr/cms/resource/34/2894734_image2_1.jpg",</a:t>
            </a:r>
          </a:p>
          <a:p>
            <a:r>
              <a:t>      "source_id": "tour-api:2894747",</a:t>
            </a:r>
          </a:p>
          <a:p>
            <a:r>
              <a:t>      "content_id": "2894747",</a:t>
            </a:r>
          </a:p>
          <a:p>
            <a:r>
              <a:t>      "source_url": "https://apis.data.go.kr/B551011/KorService2",</a:t>
            </a:r>
          </a:p>
          <a:p>
            <a:r>
              <a:t>      "source_type": "open_api",</a:t>
            </a:r>
          </a:p>
          <a:p>
            <a:r>
              <a:t>      "content_type_id": "39"</a:t>
            </a:r>
          </a:p>
          <a:p>
            <a:r>
              <a:t>    },</a:t>
            </a:r>
          </a:p>
          <a:p>
            <a:r>
              <a:t>    {</a:t>
            </a:r>
          </a:p>
          <a:p>
            <a:r>
              <a:t>      "title": "대돈집",</a:t>
            </a:r>
          </a:p>
          <a:p>
            <a:r>
              <a:t>      "address": "서울특별시 성동구 왕십리로14길 18 뚝섬영재어린이집",</a:t>
            </a:r>
          </a:p>
          <a:p>
            <a:r>
              <a:t>      "summary": "한국관광공사 국문관광정보 API가 반환한 선택 지역 관광자원",</a:t>
            </a:r>
          </a:p>
          <a:p>
            <a:r>
              <a:t>      "image_url": "http://tong.visitkorea.or.kr/cms/resource/33/2894833_image2_1.jpg",</a:t>
            </a:r>
          </a:p>
          <a:p>
            <a:r>
              <a:t>      "source_id": "tour-api:2894854",</a:t>
            </a:r>
          </a:p>
          <a:p>
            <a:r>
              <a:t>      "content_id": "2894854",</a:t>
            </a:r>
          </a:p>
          <a:p>
            <a:r>
              <a:t>      "source_url": "https://apis.data.go.kr/B551011/KorService2",</a:t>
            </a:r>
          </a:p>
          <a:p>
            <a:r>
              <a:t>      "source_type": "open_api",</a:t>
            </a:r>
          </a:p>
          <a:p>
            <a:r>
              <a:t>      "content_type_id": "39"</a:t>
            </a:r>
          </a:p>
          <a:p>
            <a:r>
              <a:t>    },</a:t>
            </a:r>
          </a:p>
          <a:p>
            <a:r>
              <a:t>    {</a:t>
            </a:r>
          </a:p>
          <a:p>
            <a:r>
              <a:t>      "title": "대흥정육식당",</a:t>
            </a:r>
          </a:p>
          <a:p>
            <a:r>
              <a:t>      "address": "서울특별시 성동구 왕십리로 16 (성수동1가, 트리마제)",</a:t>
            </a:r>
          </a:p>
          <a:p>
            <a:r>
              <a:t>      "summary": "한국관광공사 국문관광정보 API가 반환한 선택 지역 관광자원",</a:t>
            </a:r>
          </a:p>
          <a:p>
            <a:r>
              <a:t>      "image_url": "http://tong.visitkorea.or.kr/cms/resource/97/2898997_image2_1.jpg",</a:t>
            </a:r>
          </a:p>
          <a:p>
            <a:r>
              <a:t>      "source_id": "tour-api:2899012",</a:t>
            </a:r>
          </a:p>
          <a:p>
            <a:r>
              <a:t>      "content_id": "2899012",</a:t>
            </a:r>
          </a:p>
          <a:p>
            <a:r>
              <a:t>      "source_url": "https://apis.data.go.kr/B551011/KorService2",</a:t>
            </a:r>
          </a:p>
          <a:p>
            <a:r>
              <a:t>      "source_type": "open_api",</a:t>
            </a:r>
          </a:p>
          <a:p>
            <a:r>
              <a:t>      "content_type_id": "39"</a:t>
            </a:r>
          </a:p>
          <a:p>
            <a:r>
              <a:t>    },</a:t>
            </a:r>
          </a:p>
          <a:p>
            <a:r>
              <a:t>    {</a:t>
            </a:r>
          </a:p>
          <a:p>
            <a:r>
              <a:t>      "title": "더서울라이티움",</a:t>
            </a:r>
          </a:p>
          <a:p>
            <a:r>
              <a:t>      "address": "서울특별시 성동구 서울숲2길 32-14 (성수동1가, 갤러리아 포레)",</a:t>
            </a:r>
          </a:p>
          <a:p>
            <a:r>
              <a:t>      "summary": "한국관광공사 국문관광정보 API가 반환한 선택 지역 관광자원",</a:t>
            </a:r>
          </a:p>
          <a:p>
            <a:r>
              <a:t>      "image_url": "http://tong.visitkorea.or.kr/cms/resource/37/3401437_image2_1.JPG",</a:t>
            </a:r>
          </a:p>
          <a:p>
            <a:r>
              <a:t>      "source_id": "tour-api:2753089",</a:t>
            </a:r>
          </a:p>
          <a:p>
            <a:r>
              <a:t>      "content_id": "2753089",</a:t>
            </a:r>
          </a:p>
          <a:p>
            <a:r>
              <a:t>      "source_url": "https://apis.data.go.kr/B551011/KorService2",</a:t>
            </a:r>
          </a:p>
          <a:p>
            <a:r>
              <a:t>      "source_type": "open_api",</a:t>
            </a:r>
          </a:p>
          <a:p>
            <a:r>
              <a:t>      "content_type_id": "14"</a:t>
            </a:r>
          </a:p>
          <a:p>
            <a:r>
              <a:t>    },</a:t>
            </a:r>
          </a:p>
          <a:p>
            <a:r>
              <a:t>    {</a:t>
            </a:r>
          </a:p>
          <a:p>
            <a:r>
              <a:t>      "title": "더페이지갤러리",</a:t>
            </a:r>
          </a:p>
          <a:p>
            <a:r>
              <a:t>      "address": "서울특별시 성동구 서울숲2길 32-14 (성수동1가, 갤러리아 포레)",</a:t>
            </a:r>
          </a:p>
          <a:p>
            <a:r>
              <a:t>      "summary": "한국관광공사 국문관광정보 API가 반환한 선택 지역 관광자원",</a:t>
            </a:r>
          </a:p>
          <a:p>
            <a:r>
              <a:t>      "image_url": "http://tong.visitkorea.or.kr/cms/resource/89/2368189_image2_1.JPG",</a:t>
            </a:r>
          </a:p>
          <a:p>
            <a:r>
              <a:t>      "source_id": "tour-api:736766",</a:t>
            </a:r>
          </a:p>
          <a:p>
            <a:r>
              <a:t>      "content_id": "736766",</a:t>
            </a:r>
          </a:p>
          <a:p>
            <a:r>
              <a:t>      "source_url": "https://apis.data.go.kr/B551011/KorService2",</a:t>
            </a:r>
          </a:p>
          <a:p>
            <a:r>
              <a:t>      "source_type": "open_api",</a:t>
            </a:r>
          </a:p>
          <a:p>
            <a:r>
              <a:t>      "content_type_id": "14"</a:t>
            </a:r>
          </a:p>
          <a:p>
            <a:r>
              <a:t>    },</a:t>
            </a:r>
          </a:p>
          <a:p>
            <a:r>
              <a:t>    {</a:t>
            </a:r>
          </a:p>
          <a:p>
            <a:r>
              <a:t>      "title": "땅코참숯구이 본점",</a:t>
            </a:r>
          </a:p>
          <a:p>
            <a:r>
              <a:t>      "address": "서울특별시 성동구 행당로17길 26 (행당동)",</a:t>
            </a:r>
          </a:p>
          <a:p>
            <a:r>
              <a:t>      "summary": "한국관광공사 국문관광정보 API가 반환한 선택 지역 관광자원",</a:t>
            </a:r>
          </a:p>
          <a:p>
            <a:r>
              <a:t>      "image_url": "http://tong.visitkorea.or.kr/cms/resource/23/2845023_image2_1.jpg",</a:t>
            </a:r>
          </a:p>
          <a:p>
            <a:r>
              <a:t>      "source_id": "tour-api:2845040",</a:t>
            </a:r>
          </a:p>
          <a:p>
            <a:r>
              <a:t>      "content_id": "2845040",</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"2026 서울국제정원박람회 &lt; 행사·공연 정보 &lt; 축제·관광 &lt; 미래한강본부, 한강공원",</a:t>
            </a:r>
          </a:p>
          <a:p>
            <a:r>
              <a:t>      "summary": "2026 서울국제정원박람회는 2026년 5월 1일부터 10월 27일까지 서울숲과 성수 일대에서 운영되며, 서울숲·한강·성수동·뚝섬대정원을 연결하는 구성을 공식적으로 제시한다. 따라서 9~10월에는 별도 거점 조성보다 이 행사 구역과 충돌하지 않는 보행 안내, 체류 동선, 상권 연결을 우선 검토할 수 있다.",</a:t>
            </a:r>
          </a:p>
          <a:p>
            <a:r>
              <a:t>      "source_id": "web:11200:1",</a:t>
            </a:r>
          </a:p>
          <a:p>
            <a:r>
              <a:t>      "source_url": "https://hangang.seoul.go.kr/www/eventMng/detail.do?evntSn=378&amp;mid=538&amp;srchType=list",</a:t>
            </a:r>
          </a:p>
          <a:p>
            <a:r>
              <a:t>      "source_type": "official_web",</a:t>
            </a:r>
          </a:p>
          <a:p>
            <a:r>
              <a:t>      "why_relevant": "사업기간 2026-09-01~2026-11-30 중 9~10월이 기존 대형 행사 운영기간과 겹친다. 기존 행사와 같은 장소에서 별도 프로그램을 신설할 경우 공간·안전·운영주체 조정이 필요하므로, 보완형 운영안이 중복 위험이 낮다.",</a:t>
            </a:r>
          </a:p>
          <a:p>
            <a:r>
              <a:t>      "published_or_updated_at": "수정 2026-08-18"</a:t>
            </a:r>
          </a:p>
          <a:p>
            <a:r>
              <a:t>    },</a:t>
            </a:r>
          </a:p>
          <a:p>
            <a:r>
              <a:t>    {</a:t>
            </a:r>
          </a:p>
          <a:p>
            <a:r>
              <a:t>      "title": "개막 20일차 250만명 넘은 서울국제정원박람회… 성수 상권 매출 30% 급증 &gt; 보도자료 | 서울특별시",</a:t>
            </a:r>
          </a:p>
          <a:p>
            <a:r>
              <a:t>      "summary": "서울시는 2026 서울국제정원박람회에서 서울숲의 휴게시설을 보완해 좌석을 확충하고, 정원마켓과 3개 푸드트럭 존을 운영했다고 밝혔다. 같은 자료는 주말·주요 이벤트일에 방문객 수와 체류시간이 함께 늘었다는 분석 결과를 제시한다.",</a:t>
            </a:r>
          </a:p>
          <a:p>
            <a:r>
              <a:t>      "source_id": "web:11200:2",</a:t>
            </a:r>
          </a:p>
          <a:p>
            <a:r>
              <a:t>      "source_url": "https://www.seoul.go.kr/news/news_report.do?nttNo=458311",</a:t>
            </a:r>
          </a:p>
          <a:p>
            <a:r>
              <a:t>      "source_type": "official_web",</a:t>
            </a:r>
          </a:p>
          <a:p>
            <a:r>
              <a:t>      "why_relevant": "체류 개선 후보 중 ‘휴식 좌석·먹거리·이벤트 동선’을 결합하는 방식에 공식 현장운영 사례가 있다. 다만 이 결과는 2026 정원박람회 기간의 분석이므로, 가을 성수 사업에도 동일한 효과가 난다고 일반화하지 않고 운영조건 검토 사례로만 사용해야 한다.",</a:t>
            </a:r>
          </a:p>
          <a:p>
            <a:r>
              <a:t>      "published_or_updated_at": "등록·수정 2026-05-20"</a:t>
            </a:r>
          </a:p>
          <a:p>
            <a:r>
              <a:t>    },</a:t>
            </a:r>
          </a:p>
          <a:p>
            <a:r>
              <a:t>    {</a:t>
            </a:r>
          </a:p>
          <a:p>
            <a:r>
              <a:t>      "title": "서울숲-성수 커넥트 투어 | 2026 서울국제정원박람회",</a:t>
            </a:r>
          </a:p>
          <a:p>
            <a:r>
              <a:t>      "summary": "서울숲-성수 커넥트 투어는 성수근린공원에서 출발해 성수부터 서울숲까지 연결하는 무료 프로그램으로, 매주 화·목 13:00~14:30에 회차당 15명 내외 사전접수 방식으로 안내되었다.",</a:t>
            </a:r>
          </a:p>
          <a:p>
            <a:r>
              <a:t>      "source_id": "web:11200:3",</a:t>
            </a:r>
          </a:p>
          <a:p>
            <a:r>
              <a:t>      "source_url": "https://gov.seoul.go.kr/festa/garden/y2026/program/garden-culture-program/commentary-program?article=42926",</a:t>
            </a:r>
          </a:p>
          <a:p>
            <a:r>
              <a:t>      "source_type": "official_web",</a:t>
            </a:r>
          </a:p>
          <a:p>
            <a:r>
              <a:t>      "why_relevant": "‘공원 방문 후 성수 상권으로 이동’시키는 해설·도보 연결 방식이 실제로 운영된 공식 사례다. 권고안에서는 이 방식을 그대로 복제하기보다, 가을 행사일 및 야간 수요에 맞는 회차·집결지·예약방식으로 전환 가능한지 주최 측과 확인하는 참고사례로 활용한다.",</a:t>
            </a:r>
          </a:p>
          <a:p>
            <a:r>
              <a:t>      "published_or_updated_at": "페이지 확인일 기준 2026-09"</a:t>
            </a:r>
          </a:p>
          <a:p>
            <a:r>
              <a:t>    },</a:t>
            </a:r>
          </a:p>
          <a:p>
            <a:r>
              <a:t>    {</a:t>
            </a:r>
          </a:p>
          <a:p>
            <a:r>
              <a:t>      "title": "2026 서울축제지도 - 가을편 &lt; 공지사항(상세) &lt; 새소식 | 서울문화포털",</a:t>
            </a:r>
          </a:p>
          <a:p>
            <a:r>
              <a:t>      "summary": "크리에이티브X성수는 2026년 10월 5일부터 10월 11일까지 성수동 서울숲·언더스탠드 에비뉴 등에서 예정되어 있으며, 페어·문화 콘퍼런스·토크쇼·전시·공예 프리마켓·패션쇼·음악공연을 포함하는 글로벌 문화창조산업축제로 안내되어 있다.",</a:t>
            </a:r>
          </a:p>
          <a:p>
            <a:r>
              <a:t>      "source_id": "web:11200:4",</a:t>
            </a:r>
          </a:p>
          <a:p>
            <a:r>
              <a:t>      "source_url": "https://culture.seoul.go.kr/culture/bbs/B0000000/view.do?menuNo=200050&amp;nttId=16465",</a:t>
            </a:r>
          </a:p>
          <a:p>
            <a:r>
              <a:t>      "source_type": "official_web",</a:t>
            </a:r>
          </a:p>
          <a:p>
            <a:r>
              <a:t>      "why_relevant": "10월 운영의 집중 구간으로 삼을 수 있는 확정 행사다. 다만 해당 축제의 프로그램·부스·방문객을 성동구 사업이 사용할 수 있는지, 공동홍보·쿠폰·스탬프·동선안내가 가능한지는 공식 문서만으로 확인되지 않았으므로 별도 협의가 필요하다.",</a:t>
            </a:r>
          </a:p>
          <a:p>
            <a:r>
              <a:t>      "published_or_updated_at": "등록 2026-08-31"</a:t>
            </a:r>
          </a:p>
          <a:p>
            <a:r>
              <a:t>    },</a:t>
            </a:r>
          </a:p>
          <a:p>
            <a:r>
              <a:t>    {</a:t>
            </a:r>
          </a:p>
          <a:p>
            <a:r>
              <a:t>      "title": "오시는 길 | 2026 서울국제정원박람회",</a:t>
            </a:r>
          </a:p>
          <a:p>
            <a:r>
              <a:t>      "summary": "서울숲은 수인분당선 서울숲역 3·4·5번 출구에서 도보 2분, 2호선 뚝섬역 7·8번 출구에서 도보 11분으로 안내되어 있다. 서울숲 주차장과 뚝섬유수지 공영주차장은 모두 24시간 운영으로 제시되어 있으며, 행사 안내는 친환경 행사를 위해 대중교통 이용을 권장한다.",</a:t>
            </a:r>
          </a:p>
          <a:p>
            <a:r>
              <a:t>      "source_id": "web:11200:5",</a:t>
            </a:r>
          </a:p>
          <a:p>
            <a:r>
              <a:t>      "source_url": "https://www.seoul.go.kr/festa/garden/y2026/introduce/location?pc=1",</a:t>
            </a:r>
          </a:p>
          <a:p>
            <a:r>
              <a:t>      "source_type": "official_web",</a:t>
            </a:r>
          </a:p>
          <a:p>
            <a:r>
              <a:t>      "why_relevant": "권고안의 운영권역은 대중교통 도착지에서 공원·성수 상권까지의 마지막 보행 연결을 명확히 안내하는 데 초점을 둘 수 있다. 승용차 유입 확대를 핵심 방식으로 삼기보다는 지하철·버스·보행 중심으로 설계하는 것이 공식 안내와 부합한다.",</a:t>
            </a:r>
          </a:p>
          <a:p>
            <a:r>
              <a:t>      "published_or_updated_at": "2026년 행사 안내 페이지"</a:t>
            </a:r>
          </a:p>
          <a:p>
            <a:r>
              <a:t>    },</a:t>
            </a:r>
          </a:p>
          <a:p>
            <a:r>
              <a:t>    {</a:t>
            </a:r>
          </a:p>
          <a:p>
            <a:r>
              <a:t>      "title": "(석간) 제11차 도시건축공동위원회 개최결과 &gt; 보도자료 | 서울특별시",</a:t>
            </a:r>
          </a:p>
          <a:p>
            <a:r>
              <a:t>      "summary": "서울시는 성수 준공업지역 지구단위계획에서 성수역-연무장길 가로변의 지역 특화경관을 유도하고, 지하철 2호선 연접부 개방형녹지 및 서울숲·뚝섬으로 이어지는 보행 네트워크를 조성하는 방향을 제시했다. 연무장길에는 제한적 차량출입 불허구간과 주차기준 완화를 통해 사람 중심의 걷기 좋은 거리로 재편하는 방향도 포함됐다.",</a:t>
            </a:r>
          </a:p>
          <a:p>
            <a:r>
              <a:t>      "source_id": "web:11200:6",</a:t>
            </a:r>
          </a:p>
          <a:p>
            <a:r>
              <a:t>      "source_url": "https://www.seoul.go.kr/news/news_report.do?nttNo=460823&amp;tr_code=snews",</a:t>
            </a:r>
          </a:p>
          <a:p>
            <a:r>
              <a:t>      "source_type": "official_web",</a:t>
            </a:r>
          </a:p>
          <a:p>
            <a:r>
              <a:t>      "why_relevant": "중기적으로 성수역-연무장길-서울숲 보행축은 체류 연결 사업의 대상권역 후보가 될 수 있다. 그러나 이는 도시계획 방향이며 2026년 가을에 모든 물리적 시설이 완공·운영된다는 뜻은 아니므로, 실제 공사·통행·행사 가능 구간은 현장과 관계부서에 확인해야 한다.",</a:t>
            </a:r>
          </a:p>
          <a:p>
            <a:r>
              <a:t>      "published_or_updated_at": "등록 2026-07-01"</a:t>
            </a:r>
          </a:p>
          <a:p>
            <a:r>
              <a:t>    },</a:t>
            </a:r>
          </a:p>
          <a:p>
            <a:r>
              <a:t>    {</a:t>
            </a:r>
          </a:p>
          <a:p>
            <a:r>
              <a:t>      "title": "2026 서울국제정원박람회 &lt; 행사·공연 정보 &lt; 축제·관광 &lt; 미래한강본부, 한강공원",</a:t>
            </a:r>
          </a:p>
          <a:p>
            <a:r>
              <a:t>      "summary": "서울국제정원박람회 공식 안내에는 서울숲 선착장 추가 운항과 야간 운항 증편이 소개되어 있다.",</a:t>
            </a:r>
          </a:p>
          <a:p>
            <a:r>
              <a:t>      "source_id": "web:11200:7",</a:t>
            </a:r>
          </a:p>
          <a:p>
            <a:r>
              <a:t>      "source_url": "https://hangang.seoul.go.kr/www/eventMng/detail.do?evntSn=378&amp;mid=538&amp;srchType=list",</a:t>
            </a:r>
          </a:p>
          <a:p>
            <a:r>
              <a:t>      "source_type": "official_web",</a:t>
            </a:r>
          </a:p>
          <a:p>
            <a:r>
              <a:t>      "why_relevant": "9~10월 주말 또는 야간 프로그램을 검토할 때 한강 수상교통을 보조 접근수단 후보로 검토할 근거가 된다. 다만 11월까지의 실제 운항일·막차·결항 기준은 이 자료에 확정적으로 제시되지 않아, 사업 홍보문구에 포함하기 전 운영기관 확인이 필요하다.",</a:t>
            </a:r>
          </a:p>
          <a:p>
            <a:r>
              <a:t>      "published_or_updated_at": "수정 2026-08-18"</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"document_type": "case_study_budget",</a:t>
            </a:r>
          </a:p>
          <a:p>
            <a:r>
              <a:t>      "observed_result": "예산서이므로 방문·소비 성과는 확인되지 않음",</a:t>
            </a:r>
          </a:p>
          <a:p>
            <a:r>
              <a:t>      "operating_model": "사무관리, 행사운영, 연구용역, 민간경상보조 등으로 사업비를 항목별 편성",</a:t>
            </a:r>
          </a:p>
          <a:p>
            <a:r>
              <a:t>      "retrieval_method": "curated_registry",</a:t>
            </a:r>
          </a:p>
          <a:p>
            <a:r>
              <a:t>      "evidence_strength": "high",</a:t>
            </a:r>
          </a:p>
          <a:p>
            <a:r>
              <a:t>      "retrieval_context": {</a:t>
            </a:r>
          </a:p>
          <a:p>
            <a:r>
              <a:t>        "scope": "cross_province",</a:t>
            </a:r>
          </a:p>
          <a:p>
            <a:r>
              <a:t>        "peer_region_code": null</a:t>
            </a:r>
          </a:p>
          <a:p>
            <a:r>
              <a:t>      },</a:t>
            </a:r>
          </a:p>
          <a:p>
            <a:r>
              <a:t>      "measurement_period": "2026년 예산",</a:t>
            </a:r>
          </a:p>
          <a:p>
            <a:r>
              <a:t>      "transfer_conditions": [</a:t>
            </a:r>
          </a:p>
          <a:p>
            <a:r>
              <a:t>        "국비·도비·시비 분담 가능성 검토",</a:t>
            </a:r>
          </a:p>
          <a:p>
            <a:r>
              <a:t>        "행사비와 상설운영비를 분리 산정",</a:t>
            </a:r>
          </a:p>
          <a:p>
            <a:r>
              <a:t>        "성과평가 비용을 별도 항목으로 확보"</a:t>
            </a:r>
          </a:p>
          <a:p>
            <a:r>
              <a:t>      ],</a:t>
            </a:r>
          </a:p>
          <a:p>
            <a:r>
              <a:t>      "published_or_updated_at": "2026",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"202609",</a:t>
            </a:r>
          </a:p>
          <a:p>
            <a:r>
              <a:t>        "visitors": 6638883.0,</a:t>
            </a:r>
          </a:p>
          <a:p>
            <a:r>
              <a:t>        "is_forecast": true,</a:t>
            </a:r>
          </a:p>
          <a:p>
            <a:r>
              <a:t>        "spending_krw": 102905513747.0,</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6570358.0,</a:t>
            </a:r>
          </a:p>
          <a:p>
            <a:r>
              <a:t>        "is_forecast": true,</a:t>
            </a:r>
          </a:p>
          <a:p>
            <a:r>
              <a:t>        "spending_krw": 103404579597.0,</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6585928.0,</a:t>
            </a:r>
          </a:p>
          <a:p>
            <a:r>
              <a:t>        "is_forecast": true,</a:t>
            </a:r>
          </a:p>
          <a:p>
            <a:r>
              <a:t>        "spending_krw": 107117698458.0,</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6551545,</a:t>
            </a:r>
          </a:p>
          <a:p>
            <a:r>
              <a:t>      "is_forecast": true,</a:t>
            </a:r>
          </a:p>
          <a:p>
            <a:r>
              <a:t>      "spending_krw": 99619891149,</a:t>
            </a:r>
          </a:p>
          <a:p>
            <a:r>
              <a:t>      "stay_minutes": 715.0,</a:t>
            </a:r>
          </a:p>
          <a:p>
            <a:r>
              <a:t>      "lodging_nights": 2.92,</a:t>
            </a:r>
          </a:p>
          <a:p>
            <a:r>
              <a:t>      "lodging_rate_pct": 3.9,</a:t>
            </a:r>
          </a:p>
          <a:p>
            <a:r>
              <a:t>      "lodging_searches": 2427,</a:t>
            </a:r>
          </a:p>
          <a:p>
            <a:r>
              <a:t>      "navigation_searches": 110530,</a:t>
            </a:r>
          </a:p>
          <a:p>
            <a:r>
              <a:t>      "visitor_yoy_percent": 8.42,</a:t>
            </a:r>
          </a:p>
          <a:p>
            <a:r>
              <a:t>      "spending_yoy_percent": 7.8,</a:t>
            </a:r>
          </a:p>
          <a:p>
            <a:r>
              <a:t>      "metric_changes_percent": {</a:t>
            </a:r>
          </a:p>
          <a:p>
            <a:r>
              <a:t>        "stay_minutes": 0.0,</a:t>
            </a:r>
          </a:p>
          <a:p>
            <a:r>
              <a:t>        "lodging_nights": -1.02,</a:t>
            </a:r>
          </a:p>
          <a:p>
            <a:r>
              <a:t>        "lodging_rate_pct": 0.0,</a:t>
            </a:r>
          </a:p>
          <a:p>
            <a:r>
              <a:t>        "lodging_searches": -12.98,</a:t>
            </a:r>
          </a:p>
          <a:p>
            <a:r>
              <a:t>        "navigation_searches": 0.0</a:t>
            </a:r>
          </a:p>
          <a:p>
            <a:r>
              <a:t>      },</a:t>
            </a:r>
          </a:p>
          <a:p>
            <a:r>
              <a:t>      "previous_year_visitors": 6042778,</a:t>
            </a:r>
          </a:p>
          <a:p>
            <a:r>
              <a:t>      "previous_year_spending_krw": 92415108000,</a:t>
            </a:r>
          </a:p>
          <a:p>
            <a:r>
              <a:t>      "previous_year_stay_minutes": 715.0,</a:t>
            </a:r>
          </a:p>
          <a:p>
            <a:r>
              <a:t>      "previous_year_lodging_nights": 2.95,</a:t>
            </a:r>
          </a:p>
          <a:p>
            <a:r>
              <a:t>      "previous_year_lodging_rate_pct": 3.9,</a:t>
            </a:r>
          </a:p>
          <a:p>
            <a:r>
              <a:t>      "previous_year_lodging_searches": 2789,</a:t>
            </a:r>
          </a:p>
          <a:p>
            <a:r>
              <a:t>      "previous_year_navigation_searches": 110530</a:t>
            </a:r>
          </a:p>
          <a:p>
            <a:r>
              <a:t>    },</a:t>
            </a:r>
          </a:p>
          <a:p>
            <a:r>
              <a:t>    {</a:t>
            </a:r>
          </a:p>
          <a:p>
            <a:r>
              <a:t>      "month": "202608",</a:t>
            </a:r>
          </a:p>
          <a:p>
            <a:r>
              <a:t>      "visitors": 6392576,</a:t>
            </a:r>
          </a:p>
          <a:p>
            <a:r>
              <a:t>      "is_forecast": true,</a:t>
            </a:r>
          </a:p>
          <a:p>
            <a:r>
              <a:t>      "spending_krw": 100649180510,</a:t>
            </a:r>
          </a:p>
          <a:p>
            <a:r>
              <a:t>      "stay_minutes": 727.0,</a:t>
            </a:r>
          </a:p>
          <a:p>
            <a:r>
              <a:t>      "lodging_nights": 2.93,</a:t>
            </a:r>
          </a:p>
          <a:p>
            <a:r>
              <a:t>      "lodging_rate_pct": 4.3,</a:t>
            </a:r>
          </a:p>
          <a:p>
            <a:r>
              <a:t>      "lodging_searches": 2345,</a:t>
            </a:r>
          </a:p>
          <a:p>
            <a:r>
              <a:t>      "navigation_searches": 116553,</a:t>
            </a:r>
          </a:p>
          <a:p>
            <a:r>
              <a:t>      "visitor_yoy_percent": 7.88,</a:t>
            </a:r>
          </a:p>
          <a:p>
            <a:r>
              <a:t>      "spending_yoy_percent": 6.05,</a:t>
            </a:r>
          </a:p>
          <a:p>
            <a:r>
              <a:t>      "metric_changes_percent": {</a:t>
            </a:r>
          </a:p>
          <a:p>
            <a:r>
              <a:t>        "stay_minutes": 0.0,</a:t>
            </a:r>
          </a:p>
          <a:p>
            <a:r>
              <a:t>        "lodging_nights": 0.69,</a:t>
            </a:r>
          </a:p>
          <a:p>
            <a:r>
              <a:t>        "lodging_rate_pct": 0.0,</a:t>
            </a:r>
          </a:p>
          <a:p>
            <a:r>
              <a:t>        "lodging_searches": -4.64,</a:t>
            </a:r>
          </a:p>
          <a:p>
            <a:r>
              <a:t>        "navigation_searches": 0.0</a:t>
            </a:r>
          </a:p>
          <a:p>
            <a:r>
              <a:t>      },</a:t>
            </a:r>
          </a:p>
          <a:p>
            <a:r>
              <a:t>      "previous_year_visitors": 5925815,</a:t>
            </a:r>
          </a:p>
          <a:p>
            <a:r>
              <a:t>      "previous_year_spending_krw": 94907804000,</a:t>
            </a:r>
          </a:p>
          <a:p>
            <a:r>
              <a:t>      "previous_year_stay_minutes": 727.0,</a:t>
            </a:r>
          </a:p>
          <a:p>
            <a:r>
              <a:t>      "previous_year_lodging_nights": 2.91,</a:t>
            </a:r>
          </a:p>
          <a:p>
            <a:r>
              <a:t>      "previous_year_lodging_rate_pct": 4.3,</a:t>
            </a:r>
          </a:p>
          <a:p>
            <a:r>
              <a:t>      "previous_year_lodging_searches": 2459,</a:t>
            </a:r>
          </a:p>
          <a:p>
            <a:r>
              <a:t>      "previous_year_navigation_searches": 116553</a:t>
            </a:r>
          </a:p>
          <a:p>
            <a:r>
              <a:t>    },</a:t>
            </a:r>
          </a:p>
          <a:p>
            <a:r>
              <a:t>    {</a:t>
            </a:r>
          </a:p>
          <a:p>
            <a:r>
              <a:t>      "month": "202609",</a:t>
            </a:r>
          </a:p>
          <a:p>
            <a:r>
              <a:t>      "visitors": 6638883,</a:t>
            </a:r>
          </a:p>
          <a:p>
            <a:r>
              <a:t>      "is_forecast": true,</a:t>
            </a:r>
          </a:p>
          <a:p>
            <a:r>
              <a:t>      "spending_krw": 102905513747,</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a:t>
            </a:r>
          </a:p>
          <a:p>
            <a:r>
              <a:t>      "is_forecast": true,</a:t>
            </a:r>
          </a:p>
          <a:p>
            <a:r>
              <a:t>      "spending_krw": 103404579597,</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a:t>
            </a:r>
          </a:p>
          <a:p>
            <a:r>
              <a:t>      "is_forecast": true,</a:t>
            </a:r>
          </a:p>
          <a:p>
            <a:r>
              <a:t>      "spending_krw": 107117698458,</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"evaluation": {</a:t>
            </a:r>
          </a:p>
          <a:p>
            <a:r>
              <a:t>    "metrics": {</a:t>
            </a:r>
          </a:p>
          <a:p>
            <a:r>
              <a:t>      "visitors": {</a:t>
            </a:r>
          </a:p>
          <a:p>
            <a:r>
              <a:t>        "test_mae": 512302.72,</a:t>
            </a:r>
          </a:p>
          <a:p>
            <a:r>
              <a:t>        "recursive_mae": {</a:t>
            </a:r>
          </a:p>
          <a:p>
            <a:r>
              <a:t>          "1": {</a:t>
            </a:r>
          </a:p>
          <a:p>
            <a:r>
              <a:t>            "baseline": 505115.0,</a:t>
            </a:r>
          </a:p>
          <a:p>
            <a:r>
              <a:t>            "selected": 637542.5,</a:t>
            </a:r>
          </a:p>
          <a:p>
            <a:r>
              <a:t>            "sample_count": 2</a:t>
            </a:r>
          </a:p>
          <a:p>
            <a:r>
              <a:t>          },</a:t>
            </a:r>
          </a:p>
          <a:p>
            <a:r>
              <a:t>          "2": {</a:t>
            </a:r>
          </a:p>
          <a:p>
            <a:r>
              <a:t>            "baseline": 350616.5,</a:t>
            </a:r>
          </a:p>
          <a:p>
            <a:r>
              <a:t>            "selected": 385661.0,</a:t>
            </a:r>
          </a:p>
          <a:p>
            <a:r>
              <a:t>            "sample_count": 2</a:t>
            </a:r>
          </a:p>
          <a:p>
            <a:r>
              <a:t>          },</a:t>
            </a:r>
          </a:p>
          <a:p>
            <a:r>
              <a:t>          "3": {</a:t>
            </a:r>
          </a:p>
          <a:p>
            <a:r>
              <a:t>            "baseline": 508390.5,</a:t>
            </a:r>
          </a:p>
          <a:p>
            <a:r>
              <a:t>            "selected": 376970.5,</a:t>
            </a:r>
          </a:p>
          <a:p>
            <a:r>
              <a:t>            "sample_count": 2</a:t>
            </a:r>
          </a:p>
          <a:p>
            <a:r>
              <a:t>          }</a:t>
            </a:r>
          </a:p>
          <a:p>
            <a:r>
              <a:t>        },</a:t>
            </a:r>
          </a:p>
          <a:p>
            <a:r>
              <a:t>        "selected_model": "RandomForestRegressor",</a:t>
            </a:r>
          </a:p>
          <a:p>
            <a:r>
              <a:t>        "baseline_test_mae": 506752.75,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5905429236.35,</a:t>
            </a:r>
          </a:p>
          <a:p>
            <a:r>
              <a:t>        "recursive_mae": {</a:t>
            </a:r>
          </a:p>
          <a:p>
            <a:r>
              <a:t>          "1": {</a:t>
            </a:r>
          </a:p>
          <a:p>
            <a:r>
              <a:t>            "baseline": 3857228000.0,</a:t>
            </a:r>
          </a:p>
          <a:p>
            <a:r>
              <a:t>            "selected": 3675260054.5,</a:t>
            </a:r>
          </a:p>
          <a:p>
            <a:r>
              <a:t>            "sample_count": 2</a:t>
            </a:r>
          </a:p>
          <a:p>
            <a:r>
              <a:t>          },</a:t>
            </a:r>
          </a:p>
          <a:p>
            <a:r>
              <a:t>          "2": {</a:t>
            </a:r>
          </a:p>
          <a:p>
            <a:r>
              <a:t>            "baseline": 5016656500.0,</a:t>
            </a:r>
          </a:p>
          <a:p>
            <a:r>
              <a:t>            "selected": 2276015570.0,</a:t>
            </a:r>
          </a:p>
          <a:p>
            <a:r>
              <a:t>            "sample_count": 2</a:t>
            </a:r>
          </a:p>
          <a:p>
            <a:r>
              <a:t>          },</a:t>
            </a:r>
          </a:p>
          <a:p>
            <a:r>
              <a:t>          "3": {</a:t>
            </a:r>
          </a:p>
          <a:p>
            <a:r>
              <a:t>            "baseline": 3931632500.0,</a:t>
            </a:r>
          </a:p>
          <a:p>
            <a:r>
              <a:t>            "selected": 7285373763.0,</a:t>
            </a:r>
          </a:p>
          <a:p>
            <a:r>
              <a:t>            "sample_count": 2</a:t>
            </a:r>
          </a:p>
          <a:p>
            <a:r>
              <a:t>          }</a:t>
            </a:r>
          </a:p>
          <a:p>
            <a:r>
              <a:t>        },</a:t>
            </a:r>
          </a:p>
          <a:p>
            <a:r>
              <a:t>        "selected_model": "LinearRegression",</a:t>
            </a:r>
          </a:p>
          <a:p>
            <a:r>
              <a:t>        "baseline_test_mae": 3894430250.0,</a:t>
            </a:r>
          </a:p>
          <a:p>
            <a:r>
              <a:t>        "model_reliability": "below_baseline_on_test",</a:t>
            </a:r>
          </a:p>
          <a:p>
            <a:r>
              <a:t>        "beats_baseline_on_test": false,</a:t>
            </a:r>
          </a:p>
          <a:p>
            <a:r>
              <a:t>        "recursive_horizons_worse_than_baseline": [</a:t>
            </a:r>
          </a:p>
          <a:p>
            <a:r>
              <a:t>          "3"</a:t>
            </a:r>
          </a:p>
          <a:p>
            <a:r>
              <a:t>        ]</a:t>
            </a:r>
          </a:p>
          <a:p>
            <a:r>
              <a:t>      },</a:t>
            </a:r>
          </a:p>
          <a:p>
            <a:r>
              <a:t>      "stay_minutes": {</a:t>
            </a:r>
          </a:p>
          <a:p>
            <a:r>
              <a:t>        "test_mae": 81.25,</a:t>
            </a:r>
          </a:p>
          <a:p>
            <a:r>
              <a:t>        "recursive_mae": {</a:t>
            </a:r>
          </a:p>
          <a:p>
            <a:r>
              <a:t>          "1": {</a:t>
            </a:r>
          </a:p>
          <a:p>
            <a:r>
              <a:t>            "baseline": 15.0,</a:t>
            </a:r>
          </a:p>
          <a:p>
            <a:r>
              <a:t>            "selected": 15.0,</a:t>
            </a:r>
          </a:p>
          <a:p>
            <a:r>
              <a:t>            "sample_count": 2</a:t>
            </a:r>
          </a:p>
          <a:p>
            <a:r>
              <a:t>          },</a:t>
            </a:r>
          </a:p>
          <a:p>
            <a:r>
              <a:t>          "2": {</a:t>
            </a:r>
          </a:p>
          <a:p>
            <a:r>
              <a:t>            "baseline": 148.0,</a:t>
            </a:r>
          </a:p>
          <a:p>
            <a:r>
              <a:t>            "selected": 148.0,</a:t>
            </a:r>
          </a:p>
          <a:p>
            <a:r>
              <a:t>            "sample_count": 2</a:t>
            </a:r>
          </a:p>
          <a:p>
            <a:r>
              <a:t>          },</a:t>
            </a:r>
          </a:p>
          <a:p>
            <a:r>
              <a:t>          "3": {</a:t>
            </a:r>
          </a:p>
          <a:p>
            <a:r>
              <a:t>            "baseline": 147.5,</a:t>
            </a:r>
          </a:p>
          <a:p>
            <a:r>
              <a:t>            "selected": 147.5,</a:t>
            </a:r>
          </a:p>
          <a:p>
            <a:r>
              <a:t>            "sample_count": 2</a:t>
            </a:r>
          </a:p>
          <a:p>
            <a:r>
              <a:t>          }</a:t>
            </a:r>
          </a:p>
          <a:p>
            <a:r>
              <a:t>        },</a:t>
            </a:r>
          </a:p>
          <a:p>
            <a:r>
              <a:t>        "selected_model": "seasonal_naive_previous_year_same_month",</a:t>
            </a:r>
          </a:p>
          <a:p>
            <a:r>
              <a:t>        "baseline_test_mae": 81.25,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0.07,</a:t>
            </a:r>
          </a:p>
          <a:p>
            <a:r>
              <a:t>            "selected": 0.1,</a:t>
            </a:r>
          </a:p>
          <a:p>
            <a:r>
              <a:t>            "sample_count": 2</a:t>
            </a:r>
          </a:p>
          <a:p>
            <a:r>
              <a:t>          },</a:t>
            </a:r>
          </a:p>
          <a:p>
            <a:r>
              <a:t>          "2": {</a:t>
            </a:r>
          </a:p>
          <a:p>
            <a:r>
              <a:t>            "baseline": 0.11,</a:t>
            </a:r>
          </a:p>
          <a:p>
            <a:r>
              <a:t>            "selected": 0.16,</a:t>
            </a:r>
          </a:p>
          <a:p>
            <a:r>
              <a:t>            "sample_count": 2</a:t>
            </a:r>
          </a:p>
          <a:p>
            <a:r>
              <a:t>          },</a:t>
            </a:r>
          </a:p>
          <a:p>
            <a:r>
              <a:t>          "3": {</a:t>
            </a:r>
          </a:p>
          <a:p>
            <a:r>
              <a:t>            "baseline": 0.15,</a:t>
            </a:r>
          </a:p>
          <a:p>
            <a:r>
              <a:t>            "selected": 0.17,</a:t>
            </a:r>
          </a:p>
          <a:p>
            <a:r>
              <a:t>            "sample_count": 2</a:t>
            </a:r>
          </a:p>
          <a:p>
            <a:r>
              <a:t>          }</a:t>
            </a:r>
          </a:p>
          <a:p>
            <a:r>
              <a:t>        },</a:t>
            </a:r>
          </a:p>
          <a:p>
            <a:r>
              <a:t>        "selected_model": "LinearRegression",</a:t>
            </a:r>
          </a:p>
          <a:p>
            <a:r>
              <a:t>        "baseline_test_mae": 0.11,</a:t>
            </a:r>
          </a:p>
          <a:p>
            <a:r>
              <a:t>        "model_reliability": "mixed_recursive_performance",</a:t>
            </a:r>
          </a:p>
          <a:p>
            <a:r>
              <a:t>        "beats_baseline_on_test": true,</a:t>
            </a:r>
          </a:p>
          <a:p>
            <a:r>
              <a:t>        "recursive_horizons_worse_than_baseline": [</a:t>
            </a:r>
          </a:p>
          <a:p>
            <a:r>
              <a:t>          "1",</a:t>
            </a:r>
          </a:p>
          <a:p>
            <a:r>
              <a:t>          "2",</a:t>
            </a:r>
          </a:p>
          <a:p>
            <a:r>
              <a:t>          "3"</a:t>
            </a:r>
          </a:p>
          <a:p>
            <a:r>
              <a:t>        ]</a:t>
            </a:r>
          </a:p>
          <a:p>
            <a:r>
              <a:t>      },</a:t>
            </a:r>
          </a:p>
          <a:p>
            <a:r>
              <a:t>      "lodging_rate_pct": {</a:t>
            </a:r>
          </a:p>
          <a:p>
            <a:r>
              <a:t>        "test_mae": 0.32,</a:t>
            </a:r>
          </a:p>
          <a:p>
            <a:r>
              <a:t>        "recursive_mae": {</a:t>
            </a:r>
          </a:p>
          <a:p>
            <a:r>
              <a:t>          "1": {</a:t>
            </a:r>
          </a:p>
          <a:p>
            <a:r>
              <a:t>            "baseline": 0.3,</a:t>
            </a:r>
          </a:p>
          <a:p>
            <a:r>
              <a:t>            "selected": 0.3,</a:t>
            </a:r>
          </a:p>
          <a:p>
            <a:r>
              <a:t>            "sample_count": 2</a:t>
            </a:r>
          </a:p>
          <a:p>
            <a:r>
              <a:t>          },</a:t>
            </a:r>
          </a:p>
          <a:p>
            <a:r>
              <a:t>          "2": {</a:t>
            </a:r>
          </a:p>
          <a:p>
            <a:r>
              <a:t>            "baseline": 0.4,</a:t>
            </a:r>
          </a:p>
          <a:p>
            <a:r>
              <a:t>            "selected": 0.4,</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0.32,</a:t>
            </a:r>
          </a:p>
          <a:p>
            <a:r>
              <a:t>        "model_reliability": "seasonal_baseline",</a:t>
            </a:r>
          </a:p>
          <a:p>
            <a:r>
              <a:t>        "beats_baseline_on_test": false,</a:t>
            </a:r>
          </a:p>
          <a:p>
            <a:r>
              <a:t>        "recursive_horizons_worse_than_baseline": []</a:t>
            </a:r>
          </a:p>
          <a:p>
            <a:r>
              <a:t>      },</a:t>
            </a:r>
          </a:p>
          <a:p>
            <a:r>
              <a:t>      "lodging_searches": {</a:t>
            </a:r>
          </a:p>
          <a:p>
            <a:r>
              <a:t>        "test_mae": 141.88,</a:t>
            </a:r>
          </a:p>
          <a:p>
            <a:r>
              <a:t>        "recursive_mae": {</a:t>
            </a:r>
          </a:p>
          <a:p>
            <a:r>
              <a:t>          "1": {</a:t>
            </a:r>
          </a:p>
          <a:p>
            <a:r>
              <a:t>            "baseline": 239.0,</a:t>
            </a:r>
          </a:p>
          <a:p>
            <a:r>
              <a:t>            "selected": 78.5,</a:t>
            </a:r>
          </a:p>
          <a:p>
            <a:r>
              <a:t>            "sample_count": 2</a:t>
            </a:r>
          </a:p>
          <a:p>
            <a:r>
              <a:t>          },</a:t>
            </a:r>
          </a:p>
          <a:p>
            <a:r>
              <a:t>          "2": {</a:t>
            </a:r>
          </a:p>
          <a:p>
            <a:r>
              <a:t>            "baseline": 215.5,</a:t>
            </a:r>
          </a:p>
          <a:p>
            <a:r>
              <a:t>            "selected": 71.5,</a:t>
            </a:r>
          </a:p>
          <a:p>
            <a:r>
              <a:t>            "sample_count": 2</a:t>
            </a:r>
          </a:p>
          <a:p>
            <a:r>
              <a:t>          },</a:t>
            </a:r>
          </a:p>
          <a:p>
            <a:r>
              <a:t>          "3": {</a:t>
            </a:r>
          </a:p>
          <a:p>
            <a:r>
              <a:t>            "baseline": 282.5,</a:t>
            </a:r>
          </a:p>
          <a:p>
            <a:r>
              <a:t>            "selected": 143.0,</a:t>
            </a:r>
          </a:p>
          <a:p>
            <a:r>
              <a:t>            "sample_count": 2</a:t>
            </a:r>
          </a:p>
          <a:p>
            <a:r>
              <a:t>          }</a:t>
            </a:r>
          </a:p>
          <a:p>
            <a:r>
              <a:t>        },</a:t>
            </a:r>
          </a:p>
          <a:p>
            <a:r>
              <a:t>        "selected_model": "RandomForestRegressor",</a:t>
            </a:r>
          </a:p>
          <a:p>
            <a:r>
              <a:t>        "baseline_test_mae": 260.75,</a:t>
            </a:r>
          </a:p>
          <a:p>
            <a:r>
              <a:t>        "model_reliability": "limited_backtest_support",</a:t>
            </a:r>
          </a:p>
          <a:p>
            <a:r>
              <a:t>        "beats_baseline_on_test": true,</a:t>
            </a:r>
          </a:p>
          <a:p>
            <a:r>
              <a:t>        "recursive_horizons_worse_than_baseline": []</a:t>
            </a:r>
          </a:p>
          <a:p>
            <a:r>
              <a:t>      },</a:t>
            </a:r>
          </a:p>
          <a:p>
            <a:r>
              <a:t>      "navigation_searches": {</a:t>
            </a:r>
          </a:p>
          <a:p>
            <a:r>
              <a:t>        "test_mae": 18943.5,</a:t>
            </a:r>
          </a:p>
          <a:p>
            <a:r>
              <a:t>        "recursive_mae": {</a:t>
            </a:r>
          </a:p>
          <a:p>
            <a:r>
              <a:t>          "1": {</a:t>
            </a:r>
          </a:p>
          <a:p>
            <a:r>
              <a:t>            "baseline": 21342.5,</a:t>
            </a:r>
          </a:p>
          <a:p>
            <a:r>
              <a:t>            "selected": 21342.5,</a:t>
            </a:r>
          </a:p>
          <a:p>
            <a:r>
              <a:t>            "sample_count": 2</a:t>
            </a:r>
          </a:p>
          <a:p>
            <a:r>
              <a:t>          },</a:t>
            </a:r>
          </a:p>
          <a:p>
            <a:r>
              <a:t>          "2": {</a:t>
            </a:r>
          </a:p>
          <a:p>
            <a:r>
              <a:t>            "baseline": 18933.0,</a:t>
            </a:r>
          </a:p>
          <a:p>
            <a:r>
              <a:t>            "selected": 18933.0,</a:t>
            </a:r>
          </a:p>
          <a:p>
            <a:r>
              <a:t>            "sample_count": 2</a:t>
            </a:r>
          </a:p>
          <a:p>
            <a:r>
              <a:t>          },</a:t>
            </a:r>
          </a:p>
          <a:p>
            <a:r>
              <a:t>          "3": {</a:t>
            </a:r>
          </a:p>
          <a:p>
            <a:r>
              <a:t>            "baseline": 16544.5,</a:t>
            </a:r>
          </a:p>
          <a:p>
            <a:r>
              <a:t>            "selected": 16544.5,</a:t>
            </a:r>
          </a:p>
          <a:p>
            <a:r>
              <a:t>            "sample_count": 2</a:t>
            </a:r>
          </a:p>
          <a:p>
            <a:r>
              <a:t>          }</a:t>
            </a:r>
          </a:p>
          <a:p>
            <a:r>
              <a:t>        },</a:t>
            </a:r>
          </a:p>
          <a:p>
            <a:r>
              <a:t>        "selected_model": "seasonal_naive_previous_year_same_month",</a:t>
            </a:r>
          </a:p>
          <a:p>
            <a:r>
              <a:t>        "baseline_test_mae": 18943.5,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5,</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"지역상품권 환급액 = (외지인 관광객의 지역 내 소비액 × 20%) + (지역상품권 발행 비용: 1,000원/장). 단가 및 정확한 환급 대상 규모는 시범 운영 전 확정 필요.",</a:t>
            </a:r>
          </a:p>
          <a:p>
            <a:r>
              <a:t>        "본문 기준"</a:t>
            </a:r>
          </a:p>
          <a:p>
            <a:r>
              <a:t>      ]</a:t>
            </a:r>
          </a:p>
          <a:p>
            <a:r>
              <a:t>    ],</a:t>
            </a:r>
          </a:p>
          <a:p>
            <a:r>
              <a:t>    "original_text": "지역상품권 환급액 = (외지인 관광객의 지역 내 소비액 × 20%) + (지역상품권 발행 비용: 1,000원/장). 단가 및 정확한 환급 대상 규모는 시범 운영 전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"operation-document-v1",</a:t>
            </a:r>
          </a:p>
          <a:p xmlns:a="http://schemas.openxmlformats.org/drawingml/2006/main">
            <a:r>
              <a:t>  "sources":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참여 상점 모집 및 환급 기준(최소 결제액 등) 수립을 진행하고, 참여 업체 명단 및 운영 지침(안)을 확보함. 모집 미달 시 참여 규모 축소 검토.", "schedule": "2026-09", "deliverable": "참여 업체 명단 및 운영 지침(안)"}, {"step": 2, "task": "운영지원팀이 영수증 인증 방식 및 중복 수혜 방지 프로세스를 점검하고, 지출 증빙 및 환급 시스템의 기술적 작동 여부를 확인함.", "schedule": "2026-09", "deliverable": "영수증 인증 및 중복 방지 프로세스 확정서"}, {"step": 3, "task": "홍보팀이 환급 신청 및 지급 원장(신청·승인·결제 데이터)을 관리하며, 프로그램 시범 운영과 함께 온·오프라인 홍보를 수행함.", "schedule": "2026-10", "deliverable": "환급 신청 및 지급 원장"}, {"step": 4, "task": "현장점검팀이 상점별 이용 현황 및 불편 사항을 수집하고, 참여 업체 피드백을 바탕으로 운영 방식을 모니터링함.", "schedule": "2026-10", "deliverable": "상점별 이용 현황 및 불편 사항 보고서"}, {"step": 5, "task": "데이터분석팀이 소비 증대 및 상품권 재사용률을 분석하고, 신청·승인·결제 원장을 기반으로 최종 성과 데이터를 집계함.", "schedule": "2026-11", "deliverable": "소비 증대 및 상품권 재사용률 분석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dataset:11200:1 | 한국관광 데이터랩 · 서울특별시 성동구 순 방문자 수 및 숙박 비율 (이동통신 기반 외지인) | https://datalab.visitkorea.or.kr/</a:t>
            </a:r>
          </a:p>
          <a:p>
            <a:r>
              <a:t>dataset:11200:2 | 한국관광 데이터랩 · 서울특별시 성동구 월간 순 방문자 수 (이동통신 기반 외지인) | https://datalab.visitkorea.or.kr/</a:t>
            </a:r>
          </a:p>
          <a:p>
            <a:r>
              <a:t>dataset:11200:3 | 한국관광 데이터랩 · 서울특별시 성동구 관광소비 추이_외지인 | https://datalab.visitkorea.or.kr/</a:t>
            </a:r>
          </a:p>
          <a:p>
            <a:r>
              <a:t>dataset:11200:4 | 한국관광 데이터랩 · 서울특별시 성동구 숙박방문자 비율 추이 (이동통신 기반 외지인) | https://datalab.visitkorea.or.kr/</a:t>
            </a:r>
          </a:p>
          <a:p>
            <a:r>
              <a:t>dataset:11200:5 | 한국관광 데이터랩 · 서울특별시 성동구 평균 숙박일 (이동통신 기반 외지인) | https://datalab.visitkorea.or.kr/</a:t>
            </a:r>
          </a:p>
          <a:p>
            <a:r>
              <a:t>dataset:11200:6 | 한국관광 데이터랩 · 서울특별시 성동구 내비게이션 목적지 유형별 검색량 | https://datalab.visitkorea.or.kr/</a:t>
            </a:r>
          </a:p>
          <a:p>
            <a:r>
              <a:t>dataset:11200:7 | 한국관광 데이터랩 · 서울특별시 성동구 SNS 언급량 | https://datalab.visitkorea.or.kr/</a:t>
            </a:r>
          </a:p>
          <a:p>
            <a:r>
              <a:t>datalab:0ea2e7ff8811:517c835e3039 | 한국관광 데이터랩 공식 다운로드 · 서울특별시_성동구/숙박_체류시간/2025_01_12.zip | https://datalab.visitkorea.or.kr/</a:t>
            </a:r>
          </a:p>
          <a:p>
            <a:r>
              <a:t>datalab:3a79405535b3:68f41f6aa9c6 | 한국관광 데이터랩 공식 다운로드 · 서울특별시_성동구/관광소비/2025_01_12.zip | https://datalab.visitkorea.or.kr/</a:t>
            </a:r>
          </a:p>
          <a:p>
            <a:r>
              <a:t>datalab:6217474023e5:2e717447925f | 한국관광 데이터랩 공식 다운로드 · 서울특별시_성동구/숙박_체류시간/2026_01_06.zip | https://datalab.visitkorea.or.kr/</a:t>
            </a:r>
          </a:p>
          <a:p>
            <a:r>
              <a:t>datalab:62312101c8d0:9c44bd532366 | 한국관광 데이터랩 공식 다운로드 · 서울특별시_성동구/방문자/2025_01_12.zip | https://datalab.visitkorea.or.kr/</a:t>
            </a:r>
          </a:p>
          <a:p>
            <a:r>
              <a:t>datalab:7ddda0420208:c68bf7b028b0 | 한국관광 데이터랩 공식 다운로드 · 서울특별시_성동구/관광소비/2026_01_06.zip | https://datalab.visitkorea.or.kr/</a:t>
            </a:r>
          </a:p>
          <a:p>
            <a:r>
              <a:t>datalab:9369271c7419:76a9b6ea89d8 | 한국관광 데이터랩 공식 다운로드 · 서울특별시_성동구/방문자/2026_01_06.zip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regional-status:300d117a9148:9b5e59efa799 | 한국관광 데이터랩 지역별 관광 현황 · 서울특별시 성동구 · 인기관광지 | https://datalab.visitkorea.or.kr/</a:t>
            </a:r>
          </a:p>
          <a:p>
            <a:r>
              <a:t>regional-status:e1f4d12a3396:706443b7ba17 | 한국관광 데이터랩 지역별 관광 현황 · 서울특별시 성동구 · 유입유출 | https://datalab.visitkorea.or.kr/</a:t>
            </a:r>
          </a:p>
          <a:p>
            <a:r>
              <a:t>regional-status:f05693fd34a7:ae929e215d91 | 한국관광 데이터랩 지역별 관광 현황 · 서울특별시 성동구 · 지역집중률 | https://datalab.visitkorea.or.kr/</a:t>
            </a:r>
          </a:p>
          <a:p>
            <a:r>
              <a:t>ml:11200:regional-demand-v3.1:202606 | 지역 관광수요 ML 전망 · 공식 관측값 아님 | URL 미기록</a:t>
            </a:r>
          </a:p>
          <a:p>
            <a:r>
              <a:t>tour-api:2901229 | 가조쿠 | https://apis.data.go.kr/B551011/KorService2</a:t>
            </a:r>
          </a:p>
          <a:p>
            <a:r>
              <a:t>tour-api:2895161 | 계월 | https://apis.data.go.kr/B551011/KorService2</a:t>
            </a:r>
          </a:p>
          <a:p>
            <a:r>
              <a:t>tour-api:2901359 | 계자람 | https://apis.data.go.kr/B551011/KorService2</a:t>
            </a:r>
          </a:p>
          <a:p>
            <a:r>
              <a:t>tour-api:2895211 | 구욱희씨 | https://apis.data.go.kr/B551011/KorService2</a:t>
            </a:r>
          </a:p>
          <a:p>
            <a:r>
              <a:t>tour-api:2895236 | 구펠 | https://apis.data.go.kr/B551011/KorService2</a:t>
            </a:r>
          </a:p>
          <a:p>
            <a:r>
              <a:t>tour-api:2898994 | 그라데이션커피 | https://apis.data.go.kr/B551011/KorService2</a:t>
            </a:r>
          </a:p>
          <a:p>
            <a:r>
              <a:t>tour-api:2894873 | 그린랩 | https://apis.data.go.kr/B551011/KorService2</a:t>
            </a:r>
          </a:p>
          <a:p>
            <a:r>
              <a:t>tour-api:2743748 | 금남시장 | https://apis.data.go.kr/B551011/KorService2</a:t>
            </a:r>
          </a:p>
          <a:p>
            <a:r>
              <a:t>tour-api:2901568 | 기후 | https://apis.data.go.kr/B551011/KorService2</a:t>
            </a:r>
          </a:p>
          <a:p>
            <a:r>
              <a:t>tour-api:2894842 | 꾸아 성수점 | https://apis.data.go.kr/B551011/KorService2</a:t>
            </a:r>
          </a:p>
          <a:p>
            <a:r>
              <a:t>tour-api:2843520 | 난포 | https://apis.data.go.kr/B551011/KorService2</a:t>
            </a:r>
          </a:p>
          <a:p>
            <a:r>
              <a:t>tour-api:2894810 | 누메로도스 | https://apis.data.go.kr/B551011/KorService2</a:t>
            </a:r>
          </a:p>
          <a:p>
            <a:r>
              <a:t>tour-api:2894795 | 누메로뜨레쓰 | https://apis.data.go.kr/B551011/KorService2</a:t>
            </a:r>
          </a:p>
          <a:p>
            <a:r>
              <a:t>tour-api:2894763 | 니드스윗 | https://apis.data.go.kr/B551011/KorService2</a:t>
            </a:r>
          </a:p>
          <a:p>
            <a:r>
              <a:t>tour-api:2894747 | 단일서울 | https://apis.data.go.kr/B551011/KorService2</a:t>
            </a:r>
          </a:p>
          <a:p>
            <a:r>
              <a:t>tour-api:2894854 | 대돈집 | https://apis.data.go.kr/B551011/KorService2</a:t>
            </a:r>
          </a:p>
          <a:p>
            <a:r>
              <a:t>tour-api:2899012 | 대흥정육식당 | https://apis.data.go.kr/B551011/KorService2</a:t>
            </a:r>
          </a:p>
          <a:p>
            <a:r>
              <a:t>tour-api:2753089 | 더서울라이티움 | https://apis.data.go.kr/B551011/KorService2</a:t>
            </a:r>
          </a:p>
          <a:p>
            <a:r>
              <a:t>tour-api:736766 | 더페이지갤러리 | https://apis.data.go.kr/B551011/KorService2</a:t>
            </a:r>
          </a:p>
          <a:p>
            <a:r>
              <a:t>tour-api:2845040 | 땅코참숯구이 본점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web:11200:1 | 2026 서울국제정원박람회 &lt; 행사·공연 정보 &lt; 축제·관광 &lt; 미래한강본부, 한강공원 | https://hangang.seoul.go.kr/www/eventMng/detail.do?evntSn=378&amp;mid=538&amp;srchType=list</a:t>
            </a:r>
          </a:p>
          <a:p>
            <a:r>
              <a:t>web:11200:2 | 개막 20일차 250만명 넘은 서울국제정원박람회… 성수 상권 매출 30% 급증 &gt; 보도자료 | 서울특별시 | https://www.seoul.go.kr/news/news_report.do?nttNo=458311</a:t>
            </a:r>
          </a:p>
          <a:p>
            <a:r>
              <a:t>web:11200:3 | 서울숲-성수 커넥트 투어 | 2026 서울국제정원박람회 | https://gov.seoul.go.kr/festa/garden/y2026/program/garden-culture-program/commentary-program?article=42926</a:t>
            </a:r>
          </a:p>
          <a:p>
            <a:r>
              <a:t>web:11200:4 | 2026 서울축제지도 - 가을편 &lt; 공지사항(상세) &lt; 새소식 | 서울문화포털 | https://culture.seoul.go.kr/culture/bbs/B0000000/view.do?menuNo=200050&amp;nttId=16465</a:t>
            </a:r>
          </a:p>
          <a:p>
            <a:r>
              <a:t>web:11200:5 | 오시는 길 | 2026 서울국제정원박람회 | https://www.seoul.go.kr/festa/garden/y2026/introduce/location?pc=1</a:t>
            </a:r>
          </a:p>
          <a:p>
            <a:r>
              <a:t>web:11200:6 | (석간) 제11차 도시건축공동위원회 개최결과 &gt; 보도자료 | 서울특별시 | https://www.seoul.go.kr/news/news_report.do?nttNo=460823&amp;tr_code=snews</a:t>
            </a:r>
          </a:p>
          <a:p>
            <a:r>
              <a:t>web:11200:7 | 2026 서울국제정원박람회 &lt; 행사·공연 정보 &lt; 축제·관광 &lt; 미래한강본부, 한강공원 | https://hangang.seoul.go.kr/www/eventMng/detail.do?evntSn=378&amp;mid=538&amp;srchType=list</a:t>
            </a:r>
          </a:p>
          <a:p>
            <a:r>
              <a:t>case:jeonju_night_budget_2026 | 전주시 2026년도 관광산업과 세출예산 사업명세서 | https://jeonju.go.kr/resource/www/images/download/budget/2026/2026_31_2.pdf</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서울특별시 성동구 순 방문자 수 및 숙박 비율 (이동통신 기반 외지인)",</a:t>
            </a:r>
          </a:p>
          <a:p>
            <a:r>
              <a:t>      "summary": "월간 순 방문자 수: 6,687,696명 (관측 기준월: 2026-06)",</a:t>
            </a:r>
          </a:p>
          <a:p>
            <a:r>
              <a:t>      "source_id": "dataset:11200:1",</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월간 순 방문자 수 (이동통신 기반 외지인)",</a:t>
            </a:r>
          </a:p>
          <a:p>
            <a:r>
              <a:t>      "summary": "전년동월 외지인 방문자 증감률: 10.2% (관측 기준월: 2026-06)",</a:t>
            </a:r>
          </a:p>
          <a:p>
            <a:r>
              <a:t>      "source_id": "dataset:11200:2",</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관광소비 추이_외지인",</a:t>
            </a:r>
          </a:p>
          <a:p>
            <a:r>
              <a:t>      "summary": "월간 외지인 관광소비 총액: 93,151,315,000원 (관측 기준월: 2026-06)",</a:t>
            </a:r>
          </a:p>
          <a:p>
            <a:r>
              <a:t>      "source_id": "dataset:11200:3",</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숙박방문자 비율 추이 (이동통신 기반 외지인)",</a:t>
            </a:r>
          </a:p>
          <a:p>
            <a:r>
              <a:t>      "summary": "외지인 숙박 방문 비율: 3.7% (관측 기준월: 2026-06)",</a:t>
            </a:r>
          </a:p>
          <a:p>
            <a:r>
              <a:t>      "source_id": "dataset:11200:4",</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평균 숙박일 (이동통신 기반 외지인)",</a:t>
            </a:r>
          </a:p>
          <a:p>
            <a:r>
              <a:t>      "summary": "외지인 평균 숙박일수: 3.03일 (관측 기준월: 2026-06)",</a:t>
            </a:r>
          </a:p>
          <a:p>
            <a:r>
              <a:t>      "source_id": "dataset:11200:5",</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내비게이션 목적지 유형별 검색량",</a:t>
            </a:r>
          </a:p>
          <a:p>
            <a:r>
              <a:t>      "summary": "내비게이션 목적지 검색량: 89,198건 (관측 기준월: 2026-06)",</a:t>
            </a:r>
          </a:p>
          <a:p>
            <a:r>
              <a:t>      "source_id": "dataset:11200:6",</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SNS 언급량",</a:t>
            </a:r>
          </a:p>
          <a:p>
            <a:r>
              <a:t>      "summary": "SNS 언급량: 71,233건 (관측 기준월: 2026-06)",</a:t>
            </a:r>
          </a:p>
          <a:p>
            <a:r>
              <a:t>      "source_id": "dataset:11200:7",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서울특별시_성동구/숙박_체류시간/2025_01_12.zip",</a:t>
            </a:r>
          </a:p>
          <a:p>
            <a:r>
              <a:t>      "summary": "전국 비교 기준 기간: 2025-07 ~ 2026-06",</a:t>
            </a:r>
          </a:p>
          <a:p>
            <a:r>
              <a:t>      "source_id": "datalab:0ea2e7ff8811:517c835e3039",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서울특별시_성동구/관광소비/2025_01_12.zip",</a:t>
            </a:r>
          </a:p>
          <a:p>
            <a:r>
              <a:t>      "summary": "전국 비교 기준 기간: 2025-07 ~ 2026-06",</a:t>
            </a:r>
          </a:p>
          <a:p>
            <a:r>
              <a:t>      "source_id": "datalab:3a79405535b3:68f41f6aa9c6",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서울특별시_성동구/숙박_체류시간/2026_01_06.zip",</a:t>
            </a:r>
          </a:p>
          <a:p>
            <a:r>
              <a:t>      "summary": "전국 비교 기준 기간: 2025-07 ~ 2026-06",</a:t>
            </a:r>
          </a:p>
          <a:p>
            <a:r>
              <a:t>      "source_id": "datalab:6217474023e5:2e717447925f",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서울특별시_성동구/방문자/2025_01_12.zip",</a:t>
            </a:r>
          </a:p>
          <a:p>
            <a:r>
              <a:t>      "summary": "전국 비교 기준 기간: 2025-07 ~ 2026-06",</a:t>
            </a:r>
          </a:p>
          <a:p>
            <a:r>
              <a:t>      "source_id": "datalab:62312101c8d0:9c44bd532366",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서울특별시_성동구/관광소비/2026_01_06.zip",</a:t>
            </a:r>
          </a:p>
          <a:p>
            <a:r>
              <a:t>      "summary": "전국 비교 기준 기간: 2025-07 ~ 2026-06",</a:t>
            </a:r>
          </a:p>
          <a:p>
            <a:r>
              <a:t>      "source_id": "datalab:7ddda0420208:c68bf7b028b0",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서울특별시_성동구/방문자/2026_01_06.zip",</a:t>
            </a:r>
          </a:p>
          <a:p>
            <a:r>
              <a:t>      "summary": "전국 비교 기준 기간: 2025-07 ~ 2026-06",</a:t>
            </a:r>
          </a:p>
          <a:p>
            <a:r>
              <a:t>      "source_id": "datalab:9369271c7419:76a9b6ea89d8",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서울특별시 성동구 · 인기관광지",</a:t>
            </a:r>
          </a:p>
          <a:p>
            <a:r>
              <a:t>      "summary": "관측 기간: 2025-07 ~ 2026-06. 유입·유출·인기장소 또는 30일 집중 운영 신호.",</a:t>
            </a:r>
          </a:p>
          <a:p>
            <a:r>
              <a:t>      "source_id": "regional-status:300d117a9148:9b5e59efa799",</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유입유출",</a:t>
            </a:r>
          </a:p>
          <a:p>
            <a:r>
              <a:t>      "summary": "관측 기간: 2025-07 ~ 2026-06. 유입·유출·인기장소 또는 30일 집중 운영 신호.",</a:t>
            </a:r>
          </a:p>
          <a:p>
            <a:r>
              <a:t>      "source_id": "regional-status:e1f4d12a3396:706443b7ba17",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지역집중률",</a:t>
            </a:r>
          </a:p>
          <a:p>
            <a:r>
              <a:t>      "summary": "관측 기간: 2025-07 ~ 2026-06. 유입·유출·인기장소 또는 30일 집중 운영 신호.",</a:t>
            </a:r>
          </a:p>
          <a:p>
            <a:r>
              <a:t>      "source_id": "regional-status:f05693fd34a7:ae929e215d91",</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"ml:11200:regional-demand-v3.1:202606",</a:t>
            </a:r>
          </a:p>
          <a:p>
            <a:r>
              <a:t>      "source_url": "",</a:t>
            </a:r>
          </a:p>
          <a:p>
            <a:r>
              <a:t>      "source_type": "model_forecast",</a:t>
            </a:r>
          </a:p>
          <a:p>
            <a:r>
              <a:t>      "model_version": "regional-demand-v3.1",</a:t>
            </a:r>
          </a:p>
          <a:p>
            <a:r>
              <a:t>      "data_fingerprint": "c47c92e05a4d54565864c2c7d1091d0c4f29ba1e6f45559f77d766e9c92e6d24"</a:t>
            </a:r>
          </a:p>
          <a:p>
            <a:r>
              <a:t>    },</a:t>
            </a:r>
          </a:p>
          <a:p>
            <a:r>
              <a:t>    {</a:t>
            </a:r>
          </a:p>
          <a:p>
            <a:r>
              <a:t>      "title": "가조쿠",</a:t>
            </a:r>
          </a:p>
          <a:p>
            <a:r>
              <a:t>      "address": "서울특별시 성동구 연무장길 31-2 (성수동2가)",</a:t>
            </a:r>
          </a:p>
          <a:p>
            <a:r>
              <a:t>      "summary": "한국관광공사 국문관광정보 API가 반환한 선택 지역 관광자원",</a:t>
            </a:r>
          </a:p>
          <a:p>
            <a:r>
              <a:t>      "image_url": "http://tong.visitkorea.or.kr/cms/resource/12/2901212_image2_1.jpg",</a:t>
            </a:r>
          </a:p>
          <a:p>
            <a:r>
              <a:t>      "source_id": "tour-api:2901229",</a:t>
            </a:r>
          </a:p>
          <a:p>
            <a:r>
              <a:t>      "content_id": "2901229",</a:t>
            </a:r>
          </a:p>
          <a:p>
            <a:r>
              <a:t>      "source_url": "https://apis.data.go.kr/B551011/KorService2",</a:t>
            </a:r>
          </a:p>
          <a:p>
            <a:r>
              <a:t>      "source_type": "open_api",</a:t>
            </a:r>
          </a:p>
          <a:p>
            <a:r>
              <a:t>      "content_type_id": "39"</a:t>
            </a:r>
          </a:p>
          <a:p>
            <a:r>
              <a:t>    },</a:t>
            </a:r>
          </a:p>
          <a:p>
            <a:r>
              <a:t>    {</a:t>
            </a:r>
          </a:p>
          <a:p>
            <a:r>
              <a:t>      "title": "계월",</a:t>
            </a:r>
          </a:p>
          <a:p>
            <a:r>
              <a:t>      "address": "서울특별시 성동구 성덕정3길 8 (성수동1가)",</a:t>
            </a:r>
          </a:p>
          <a:p>
            <a:r>
              <a:t>      "summary": "한국관광공사 국문관광정보 API가 반환한 선택 지역 관광자원",</a:t>
            </a:r>
          </a:p>
          <a:p>
            <a:r>
              <a:t>      "image_url": "http://tong.visitkorea.or.kr/cms/resource/44/2895144_image2_1.JPG",</a:t>
            </a:r>
          </a:p>
          <a:p>
            <a:r>
              <a:t>      "source_id": "tour-api:2895161",</a:t>
            </a:r>
          </a:p>
          <a:p>
            <a:r>
              <a:t>      "content_id": "2895161",</a:t>
            </a:r>
          </a:p>
          <a:p>
            <a:r>
              <a:t>      "source_url": "https://apis.data.go.kr/B551011/KorService2",</a:t>
            </a:r>
          </a:p>
          <a:p>
            <a:r>
              <a:t>      "source_type": "open_api",</a:t>
            </a:r>
          </a:p>
          <a:p>
            <a:r>
              <a:t>      "content_type_id": "39"</a:t>
            </a:r>
          </a:p>
          <a:p>
            <a:r>
              <a:t>    },</a:t>
            </a:r>
          </a:p>
          <a:p>
            <a:r>
              <a:t>    {</a:t>
            </a:r>
          </a:p>
          <a:p>
            <a:r>
              <a:t>      "title": "계자람",</a:t>
            </a:r>
          </a:p>
          <a:p>
            <a:r>
              <a:t>      "address": "서울특별시 성동구 성덕정17길 5 (성수동2가)",</a:t>
            </a:r>
          </a:p>
          <a:p>
            <a:r>
              <a:t>      "summary": "한국관광공사 국문관광정보 API가 반환한 선택 지역 관광자원",</a:t>
            </a:r>
          </a:p>
          <a:p>
            <a:r>
              <a:t>      "image_url": "http://tong.visitkorea.or.kr/cms/resource/51/2901351_image2_1.jpg",</a:t>
            </a:r>
          </a:p>
          <a:p>
            <a:r>
              <a:t>      "source_id": "tour-api:2901359",</a:t>
            </a:r>
          </a:p>
          <a:p>
            <a:r>
              <a:t>      "content_id": "2901359",</a:t>
            </a:r>
          </a:p>
          <a:p>
            <a:r>
              <a:t>      "source_url": "https://apis.data.go.kr/B551011/KorService2",</a:t>
            </a:r>
          </a:p>
          <a:p>
            <a:r>
              <a:t>      "source_type": "open_api",</a:t>
            </a:r>
          </a:p>
          <a:p>
            <a:r>
              <a:t>      "content_type_id": "39"</a:t>
            </a:r>
          </a:p>
          <a:p>
            <a:r>
              <a:t>    },</a:t>
            </a:r>
          </a:p>
          <a:p>
            <a:r>
              <a:t>    {</a:t>
            </a:r>
          </a:p>
          <a:p>
            <a:r>
              <a:t>      "title": "구욱희씨",</a:t>
            </a:r>
          </a:p>
          <a:p>
            <a:r>
              <a:t>      "address": "서울특별시 성동구 서울숲4길 12-22",</a:t>
            </a:r>
          </a:p>
          <a:p>
            <a:r>
              <a:t>      "summary": "한국관광공사 국문관광정보 API가 반환한 선택 지역 관광자원",</a:t>
            </a:r>
          </a:p>
          <a:p>
            <a:r>
              <a:t>      "image_url": "http://tong.visitkorea.or.kr/cms/resource/08/2895208_image2_1.jpg",</a:t>
            </a:r>
          </a:p>
          <a:p>
            <a:r>
              <a:t>      "source_id": "tour-api:2895211",</a:t>
            </a:r>
          </a:p>
          <a:p>
            <a:r>
              <a:t>      "content_id": "2895211",</a:t>
            </a:r>
          </a:p>
          <a:p>
            <a:r>
              <a:t>      "source_url": "https://apis.data.go.kr/B551011/KorService2",</a:t>
            </a:r>
          </a:p>
          <a:p>
            <a:r>
              <a:t>      "source_type": "open_api",</a:t>
            </a:r>
          </a:p>
          <a:p>
            <a:r>
              <a:t>      "content_type_id": "39"</a:t>
            </a:r>
          </a:p>
          <a:p>
            <a:r>
              <a:t>    },</a:t>
            </a:r>
          </a:p>
          <a:p>
            <a:r>
              <a:t>    {</a:t>
            </a:r>
          </a:p>
          <a:p>
            <a:r>
              <a:t>      "title": "구펠",</a:t>
            </a:r>
          </a:p>
          <a:p>
            <a:r>
              <a:t>      "address": "서울특별시 성동구 왕십리로14길 30-1 (성수동1가)",</a:t>
            </a:r>
          </a:p>
          <a:p>
            <a:r>
              <a:t>      "summary": "한국관광공사 국문관광정보 API가 반환한 선택 지역 관광자원",</a:t>
            </a:r>
          </a:p>
          <a:p>
            <a:r>
              <a:t>      "image_url": "http://tong.visitkorea.or.kr/cms/resource/26/2895226_image2_1.jpg",</a:t>
            </a:r>
          </a:p>
          <a:p>
            <a:r>
              <a:t>      "source_id": "tour-api:2895236",</a:t>
            </a:r>
          </a:p>
          <a:p>
            <a:r>
              <a:t>      "content_id": "2895236",</a:t>
            </a:r>
          </a:p>
          <a:p>
            <a:r>
              <a:t>      "source_url": "https://apis.data.go.kr/B551011/KorService2",</a:t>
            </a:r>
          </a:p>
          <a:p>
            <a:r>
              <a:t>      "source_type": "open_api",</a:t>
            </a:r>
          </a:p>
          <a:p>
            <a:r>
              <a:t>      "content_type_id": "39"</a:t>
            </a:r>
          </a:p>
          <a:p>
            <a:r>
              <a:t>    },</a:t>
            </a:r>
          </a:p>
          <a:p>
            <a:r>
              <a:t>    {</a:t>
            </a:r>
          </a:p>
          <a:p>
            <a:r>
              <a:t>      "title": "그라데이션커피",</a:t>
            </a:r>
          </a:p>
          <a:p>
            <a:r>
              <a:t>      "address": "서울특별시 성동구 상원12길 24-1 (성수동1가)",</a:t>
            </a:r>
          </a:p>
          <a:p>
            <a:r>
              <a:t>      "summary": "한국관광공사 국문관광정보 API가 반환한 선택 지역 관광자원",</a:t>
            </a:r>
          </a:p>
          <a:p>
            <a:r>
              <a:t>      "image_url": "http://tong.visitkorea.or.kr/cms/resource/82/2898982_image2_1.jpg",</a:t>
            </a:r>
          </a:p>
          <a:p>
            <a:r>
              <a:t>      "source_id": "tour-api:2898994",</a:t>
            </a:r>
          </a:p>
          <a:p>
            <a:r>
              <a:t>      "content_id": "2898994",</a:t>
            </a:r>
          </a:p>
          <a:p>
            <a:r>
              <a:t>      "source_url": "https://apis.data.go.kr/B551011/KorService2",</a:t>
            </a:r>
          </a:p>
          <a:p>
            <a:r>
              <a:t>      "source_type": "open_api",</a:t>
            </a:r>
          </a:p>
          <a:p>
            <a:r>
              <a:t>      "content_type_id": "39"</a:t>
            </a:r>
          </a:p>
          <a:p>
            <a:r>
              <a:t>    },</a:t>
            </a:r>
          </a:p>
          <a:p>
            <a:r>
              <a:t>    {</a:t>
            </a:r>
          </a:p>
          <a:p>
            <a:r>
              <a:t>      "title": "그린랩",</a:t>
            </a:r>
          </a:p>
          <a:p>
            <a:r>
              <a:t>      "address": "서울특별시 성동구 서울숲2길 18-11",</a:t>
            </a:r>
          </a:p>
          <a:p>
            <a:r>
              <a:t>      "summary": "한국관광공사 국문관광정보 API가 반환한 선택 지역 관광자원",</a:t>
            </a:r>
          </a:p>
          <a:p>
            <a:r>
              <a:t>      "image_url": "http://tong.visitkorea.or.kr/cms/resource/64/2894864_image2_1.JPG",</a:t>
            </a:r>
          </a:p>
          <a:p>
            <a:r>
              <a:t>      "source_id": "tour-api:2894873",</a:t>
            </a:r>
          </a:p>
          <a:p>
            <a:r>
              <a:t>      "content_id": "2894873",</a:t>
            </a:r>
          </a:p>
          <a:p>
            <a:r>
              <a:t>      "source_url": "https://apis.data.go.kr/B551011/KorService2",</a:t>
            </a:r>
          </a:p>
          <a:p>
            <a:r>
              <a:t>      "source_type": "open_api",</a:t>
            </a:r>
          </a:p>
          <a:p>
            <a:r>
              <a:t>      "content_type_id": "39"</a:t>
            </a:r>
          </a:p>
          <a:p>
            <a:r>
              <a:t>    },</a:t>
            </a:r>
          </a:p>
          <a:p>
            <a:r>
              <a:t>    {</a:t>
            </a:r>
          </a:p>
          <a:p>
            <a:r>
              <a:t>      "title": "금남시장",</a:t>
            </a:r>
          </a:p>
          <a:p>
            <a:r>
              <a:t>      "address": "서울특별시 성동구 독서당로 303-7 (금호동3가)",</a:t>
            </a:r>
          </a:p>
          <a:p>
            <a:r>
              <a:t>      "summary": "한국관광공사 국문관광정보 API가 반환한 선택 지역 관광자원",</a:t>
            </a:r>
          </a:p>
          <a:p>
            <a:r>
              <a:t>      "image_url": "http://tong.visitkorea.or.kr/cms/resource/59/3414159_image2_1.jpg",</a:t>
            </a:r>
          </a:p>
          <a:p>
            <a:r>
              <a:t>      "source_id": "tour-api:2743748",</a:t>
            </a:r>
          </a:p>
          <a:p>
            <a:r>
              <a:t>      "content_id": "2743748",</a:t>
            </a:r>
          </a:p>
          <a:p>
            <a:r>
              <a:t>      "source_url": "https://apis.data.go.kr/B551011/KorService2",</a:t>
            </a:r>
          </a:p>
          <a:p>
            <a:r>
              <a:t>      "source_type": "open_api",</a:t>
            </a:r>
          </a:p>
          <a:p>
            <a:r>
              <a:t>      "content_type_id": "38"</a:t>
            </a:r>
          </a:p>
          <a:p>
            <a:r>
              <a:t>    },</a:t>
            </a:r>
          </a:p>
          <a:p>
            <a:r>
              <a:t>    {</a:t>
            </a:r>
          </a:p>
          <a:p>
            <a:r>
              <a:t>      "title": "기후",</a:t>
            </a:r>
          </a:p>
          <a:p>
            <a:r>
              <a:t>      "address": "서울특별시 성동구 성수이로 66 서울숲 드림타워",</a:t>
            </a:r>
          </a:p>
          <a:p>
            <a:r>
              <a:t>      "summary": "한국관광공사 국문관광정보 API가 반환한 선택 지역 관광자원",</a:t>
            </a:r>
          </a:p>
          <a:p>
            <a:r>
              <a:t>      "image_url": "http://tong.visitkorea.or.kr/cms/resource/59/2901559_image2_1.jpg",</a:t>
            </a:r>
          </a:p>
          <a:p>
            <a:r>
              <a:t>      "source_id": "tour-api:2901568",</a:t>
            </a:r>
          </a:p>
          <a:p>
            <a:r>
              <a:t>      "content_id": "2901568",</a:t>
            </a:r>
          </a:p>
          <a:p>
            <a:r>
              <a:t>      "source_url": "https://apis.data.go.kr/B551011/KorService2",</a:t>
            </a:r>
          </a:p>
          <a:p>
            <a:r>
              <a:t>      "source_type": "open_api",</a:t>
            </a:r>
          </a:p>
          <a:p>
            <a:r>
              <a:t>      "content_type_id": "39"</a:t>
            </a:r>
          </a:p>
          <a:p>
            <a:r>
              <a:t>    },</a:t>
            </a:r>
          </a:p>
          <a:p>
            <a:r>
              <a:t>    {</a:t>
            </a:r>
          </a:p>
          <a:p>
            <a:r>
              <a:t>      "title": "꾸아 성수점",</a:t>
            </a:r>
          </a:p>
          <a:p>
            <a:r>
              <a:t>      "address": "서울특별시 성동구 왕십리로 94-2 (성수동1가)",</a:t>
            </a:r>
          </a:p>
          <a:p>
            <a:r>
              <a:t>      "summary": "한국관광공사 국문관광정보 API가 반환한 선택 지역 관광자원",</a:t>
            </a:r>
          </a:p>
          <a:p>
            <a:r>
              <a:t>      "image_url": "http://tong.visitkorea.or.kr/cms/resource/17/2894817_image2_1.jpg",</a:t>
            </a:r>
          </a:p>
          <a:p>
            <a:r>
              <a:t>      "source_id": "tour-api:2894842",</a:t>
            </a:r>
          </a:p>
          <a:p>
            <a:r>
              <a:t>      "content_id": "2894842",</a:t>
            </a:r>
          </a:p>
          <a:p>
            <a:r>
              <a:t>      "source_url": "https://apis.data.go.kr/B551011/KorService2",</a:t>
            </a:r>
          </a:p>
          <a:p>
            <a:r>
              <a:t>      "source_type": "open_api",</a:t>
            </a:r>
          </a:p>
          <a:p>
            <a:r>
              <a:t>      "content_type_id": "39"</a:t>
            </a:r>
          </a:p>
          <a:p>
            <a:r>
              <a:t>    },</a:t>
            </a:r>
          </a:p>
          <a:p>
            <a:r>
              <a:t>    {</a:t>
            </a:r>
          </a:p>
          <a:p>
            <a:r>
              <a:t>      "title": "난포",</a:t>
            </a:r>
          </a:p>
          <a:p>
            <a:r>
              <a:t>      "address": "서울특별시 성동구 서울숲4길 18-8 (성수동1가)",</a:t>
            </a:r>
          </a:p>
          <a:p>
            <a:r>
              <a:t>      "summary": "한국관광공사 국문관광정보 API가 반환한 선택 지역 관광자원",</a:t>
            </a:r>
          </a:p>
          <a:p>
            <a:r>
              <a:t>      "image_url": "http://tong.visitkorea.or.kr/cms/resource/15/2843515_image2_1.jpg",</a:t>
            </a:r>
          </a:p>
          <a:p>
            <a:r>
              <a:t>      "source_id": "tour-api:2843520",</a:t>
            </a:r>
          </a:p>
          <a:p>
            <a:r>
              <a:t>      "content_id": "2843520",</a:t>
            </a:r>
          </a:p>
          <a:p>
            <a:r>
              <a:t>      "source_url": "https://apis.data.go.kr/B551011/KorService2",</a:t>
            </a:r>
          </a:p>
          <a:p>
            <a:r>
              <a:t>      "source_type": "open_api",</a:t>
            </a:r>
          </a:p>
          <a:p>
            <a:r>
              <a:t>      "content_type_id": "39"</a:t>
            </a:r>
          </a:p>
          <a:p>
            <a:r>
              <a:t>    },</a:t>
            </a:r>
          </a:p>
          <a:p>
            <a:r>
              <a:t>    {</a:t>
            </a:r>
          </a:p>
          <a:p>
            <a:r>
              <a:t>      "title": "누메로도스",</a:t>
            </a:r>
          </a:p>
          <a:p>
            <a:r>
              <a:t>      "address": "서울특별시 성동구 상원1길 35-9 (성수동1가)",</a:t>
            </a:r>
          </a:p>
          <a:p>
            <a:r>
              <a:t>      "summary": "한국관광공사 국문관광정보 API가 반환한 선택 지역 관광자원",</a:t>
            </a:r>
          </a:p>
          <a:p>
            <a:r>
              <a:t>      "image_url": "http://tong.visitkorea.or.kr/cms/resource/99/2894799_image2_1.jpg",</a:t>
            </a:r>
          </a:p>
          <a:p>
            <a:r>
              <a:t>      "source_id": "tour-api:2894810",</a:t>
            </a:r>
          </a:p>
          <a:p>
            <a:r>
              <a:t>      "content_id": "2894810",</a:t>
            </a:r>
          </a:p>
          <a:p>
            <a:r>
              <a:t>      "source_url": "https://apis.data.go.kr/B551011/KorService2",</a:t>
            </a:r>
          </a:p>
          <a:p>
            <a:r>
              <a:t>      "source_type": "open_api",</a:t>
            </a:r>
          </a:p>
          <a:p>
            <a:r>
              <a:t>      "content_type_id": "39"</a:t>
            </a:r>
          </a:p>
          <a:p>
            <a:r>
              <a:t>    },</a:t>
            </a:r>
          </a:p>
          <a:p>
            <a:r>
              <a:t>    {</a:t>
            </a:r>
          </a:p>
          <a:p>
            <a:r>
              <a:t>      "title": "누메로뜨레쓰",</a:t>
            </a:r>
          </a:p>
          <a:p>
            <a:r>
              <a:t>      "address": "서울특별시 성동구 성수일로 21 (성수동1가)",</a:t>
            </a:r>
          </a:p>
          <a:p>
            <a:r>
              <a:t>      "summary": "한국관광공사 국문관광정보 API가 반환한 선택 지역 관광자원",</a:t>
            </a:r>
          </a:p>
          <a:p>
            <a:r>
              <a:t>      "image_url": "http://tong.visitkorea.or.kr/cms/resource/76/2894776_image2_1.jpg",</a:t>
            </a:r>
          </a:p>
          <a:p>
            <a:r>
              <a:t>      "source_id": "tour-api:2894795",</a:t>
            </a:r>
          </a:p>
          <a:p>
            <a:r>
              <a:t>      "content_id": "2894795",</a:t>
            </a:r>
          </a:p>
          <a:p>
            <a:r>
              <a:t>      "source_url": "https://apis.data.go.kr/B551011/KorService2",</a:t>
            </a:r>
          </a:p>
          <a:p>
            <a:r>
              <a:t>      "source_type": "open_api",</a:t>
            </a:r>
          </a:p>
          <a:p>
            <a:r>
              <a:t>      "content_type_id": "39"</a:t>
            </a:r>
          </a:p>
          <a:p>
            <a:r>
              <a:t>    },</a:t>
            </a:r>
          </a:p>
          <a:p>
            <a:r>
              <a:t>    {</a:t>
            </a:r>
          </a:p>
          <a:p>
            <a:r>
              <a:t>      "title": "니드스윗",</a:t>
            </a:r>
          </a:p>
          <a:p>
            <a:r>
              <a:t>      "address": "서울특별시 성동구 아차산로1길 9",</a:t>
            </a:r>
          </a:p>
          <a:p>
            <a:r>
              <a:t>      "summary": "한국관광공사 국문관광정보 API가 반환한 선택 지역 관광자원",</a:t>
            </a:r>
          </a:p>
          <a:p>
            <a:r>
              <a:t>      "image_url": "http://tong.visitkorea.or.kr/cms/resource/55/2894755_image2_1.jpg",</a:t>
            </a:r>
          </a:p>
          <a:p>
            <a:r>
              <a:t>      "source_id": "tour-api:2894763",</a:t>
            </a:r>
          </a:p>
          <a:p>
            <a:r>
              <a:t>      "content_id": "2894763",</a:t>
            </a:r>
          </a:p>
          <a:p>
            <a:r>
              <a:t>      "source_url": "https://apis.data.go.kr/B551011/KorService2",</a:t>
            </a:r>
          </a:p>
          <a:p>
            <a:r>
              <a:t>      "source_type": "open_api",</a:t>
            </a:r>
          </a:p>
          <a:p>
            <a:r>
              <a:t>      "content_type_id": "39"</a:t>
            </a:r>
          </a:p>
          <a:p>
            <a:r>
              <a:t>    },</a:t>
            </a:r>
          </a:p>
          <a:p>
            <a:r>
              <a:t>    {</a:t>
            </a:r>
          </a:p>
          <a:p>
            <a:r>
              <a:t>      "title": "단일서울",</a:t>
            </a:r>
          </a:p>
          <a:p>
            <a:r>
              <a:t>      "address": "서울특별시 성동구 왕십리로 66-33 (성수동1가)",</a:t>
            </a:r>
          </a:p>
          <a:p>
            <a:r>
              <a:t>      "summary": "한국관광공사 국문관광정보 API가 반환한 선택 지역 관광자원",</a:t>
            </a:r>
          </a:p>
          <a:p>
            <a:r>
              <a:t>      "image_url": "http://tong.visitkorea.or.kr/cms/resource/34/2894734_image2_1.jpg",</a:t>
            </a:r>
          </a:p>
          <a:p>
            <a:r>
              <a:t>      "source_id": "tour-api:2894747",</a:t>
            </a:r>
          </a:p>
          <a:p>
            <a:r>
              <a:t>      "content_id": "2894747",</a:t>
            </a:r>
          </a:p>
          <a:p>
            <a:r>
              <a:t>      "source_url": "https://apis.data.go.kr/B551011/KorService2",</a:t>
            </a:r>
          </a:p>
          <a:p>
            <a:r>
              <a:t>      "source_type": "open_api",</a:t>
            </a:r>
          </a:p>
          <a:p>
            <a:r>
              <a:t>      "content_type_id": "39"</a:t>
            </a:r>
          </a:p>
          <a:p>
            <a:r>
              <a:t>    },</a:t>
            </a:r>
          </a:p>
          <a:p>
            <a:r>
              <a:t>    {</a:t>
            </a:r>
          </a:p>
          <a:p>
            <a:r>
              <a:t>      "title": "대돈집",</a:t>
            </a:r>
          </a:p>
          <a:p>
            <a:r>
              <a:t>      "address": "서울특별시 성동구 왕십리로14길 18 뚝섬영재어린이집",</a:t>
            </a:r>
          </a:p>
          <a:p>
            <a:r>
              <a:t>      "summary": "한국관광공사 국문관광정보 API가 반환한 선택 지역 관광자원",</a:t>
            </a:r>
          </a:p>
          <a:p>
            <a:r>
              <a:t>      "image_url": "http://tong.visitkorea.or.kr/cms/resource/33/2894833_image2_1.jpg",</a:t>
            </a:r>
          </a:p>
          <a:p>
            <a:r>
              <a:t>      "source_id": "tour-api:2894854",</a:t>
            </a:r>
          </a:p>
          <a:p>
            <a:r>
              <a:t>      "content_id": "2894854",</a:t>
            </a:r>
          </a:p>
          <a:p>
            <a:r>
              <a:t>      "source_url": "https://apis.data.go.kr/B551011/KorService2",</a:t>
            </a:r>
          </a:p>
          <a:p>
            <a:r>
              <a:t>      "source_type": "open_api",</a:t>
            </a:r>
          </a:p>
          <a:p>
            <a:r>
              <a:t>      "content_type_id": "39"</a:t>
            </a:r>
          </a:p>
          <a:p>
            <a:r>
              <a:t>    },</a:t>
            </a:r>
          </a:p>
          <a:p>
            <a:r>
              <a:t>    {</a:t>
            </a:r>
          </a:p>
          <a:p>
            <a:r>
              <a:t>      "title": "대흥정육식당",</a:t>
            </a:r>
          </a:p>
          <a:p>
            <a:r>
              <a:t>      "address": "서울특별시 성동구 왕십리로 16 (성수동1가, 트리마제)",</a:t>
            </a:r>
          </a:p>
          <a:p>
            <a:r>
              <a:t>      "summary": "한국관광공사 국문관광정보 API가 반환한 선택 지역 관광자원",</a:t>
            </a:r>
          </a:p>
          <a:p>
            <a:r>
              <a:t>      "image_url": "http://tong.visitkorea.or.kr/cms/resource/97/2898997_image2_1.jpg",</a:t>
            </a:r>
          </a:p>
          <a:p>
            <a:r>
              <a:t>      "source_id": "tour-api:2899012",</a:t>
            </a:r>
          </a:p>
          <a:p>
            <a:r>
              <a:t>      "content_id": "2899012",</a:t>
            </a:r>
          </a:p>
          <a:p>
            <a:r>
              <a:t>      "source_url": "https://apis.data.go.kr/B551011/KorService2",</a:t>
            </a:r>
          </a:p>
          <a:p>
            <a:r>
              <a:t>      "source_type": "open_api",</a:t>
            </a:r>
          </a:p>
          <a:p>
            <a:r>
              <a:t>      "content_type_id": "39"</a:t>
            </a:r>
          </a:p>
          <a:p>
            <a:r>
              <a:t>    },</a:t>
            </a:r>
          </a:p>
          <a:p>
            <a:r>
              <a:t>    {</a:t>
            </a:r>
          </a:p>
          <a:p>
            <a:r>
              <a:t>      "title": "더서울라이티움",</a:t>
            </a:r>
          </a:p>
          <a:p>
            <a:r>
              <a:t>      "address": "서울특별시 성동구 서울숲2길 32-14 (성수동1가, 갤러리아 포레)",</a:t>
            </a:r>
          </a:p>
          <a:p>
            <a:r>
              <a:t>      "summary": "한국관광공사 국문관광정보 API가 반환한 선택 지역 관광자원",</a:t>
            </a:r>
          </a:p>
          <a:p>
            <a:r>
              <a:t>      "image_url": "http://tong.visitkorea.or.kr/cms/resource/37/3401437_image2_1.JPG",</a:t>
            </a:r>
          </a:p>
          <a:p>
            <a:r>
              <a:t>      "source_id": "tour-api:2753089",</a:t>
            </a:r>
          </a:p>
          <a:p>
            <a:r>
              <a:t>      "content_id": "2753089",</a:t>
            </a:r>
          </a:p>
          <a:p>
            <a:r>
              <a:t>      "source_url": "https://apis.data.go.kr/B551011/KorService2",</a:t>
            </a:r>
          </a:p>
          <a:p>
            <a:r>
              <a:t>      "source_type": "open_api",</a:t>
            </a:r>
          </a:p>
          <a:p>
            <a:r>
              <a:t>      "content_type_id": "14"</a:t>
            </a:r>
          </a:p>
          <a:p>
            <a:r>
              <a:t>    },</a:t>
            </a:r>
          </a:p>
          <a:p>
            <a:r>
              <a:t>    {</a:t>
            </a:r>
          </a:p>
          <a:p>
            <a:r>
              <a:t>      "title": "더페이지갤러리",</a:t>
            </a:r>
          </a:p>
          <a:p>
            <a:r>
              <a:t>      "address": "서울특별시 성동구 서울숲2길 32-14 (성수동1가, 갤러리아 포레)",</a:t>
            </a:r>
          </a:p>
          <a:p>
            <a:r>
              <a:t>      "summary": "한국관광공사 국문관광정보 API가 반환한 선택 지역 관광자원",</a:t>
            </a:r>
          </a:p>
          <a:p>
            <a:r>
              <a:t>      "image_url": "http://tong.visitkorea.or.kr/cms/resource/89/2368189_image2_1.JPG",</a:t>
            </a:r>
          </a:p>
          <a:p>
            <a:r>
              <a:t>      "source_id": "tour-api:736766",</a:t>
            </a:r>
          </a:p>
          <a:p>
            <a:r>
              <a:t>      "content_id": "736766",</a:t>
            </a:r>
          </a:p>
          <a:p>
            <a:r>
              <a:t>      "source_url": "https://apis.data.go.kr/B551011/KorService2",</a:t>
            </a:r>
          </a:p>
          <a:p>
            <a:r>
              <a:t>      "source_type": "open_api",</a:t>
            </a:r>
          </a:p>
          <a:p>
            <a:r>
              <a:t>      "content_type_id": "14"</a:t>
            </a:r>
          </a:p>
          <a:p>
            <a:r>
              <a:t>    },</a:t>
            </a:r>
          </a:p>
          <a:p>
            <a:r>
              <a:t>    {</a:t>
            </a:r>
          </a:p>
          <a:p>
            <a:r>
              <a:t>      "title": "땅코참숯구이 본점",</a:t>
            </a:r>
          </a:p>
          <a:p>
            <a:r>
              <a:t>      "address": "서울특별시 성동구 행당로17길 26 (행당동)",</a:t>
            </a:r>
          </a:p>
          <a:p>
            <a:r>
              <a:t>      "summary": "한국관광공사 국문관광정보 API가 반환한 선택 지역 관광자원",</a:t>
            </a:r>
          </a:p>
          <a:p>
            <a:r>
              <a:t>      "image_url": "http://tong.visitkorea.or.kr/cms/resource/23/2845023_image2_1.jpg",</a:t>
            </a:r>
          </a:p>
          <a:p>
            <a:r>
              <a:t>      "source_id": "tour-api:2845040",</a:t>
            </a:r>
          </a:p>
          <a:p>
            <a:r>
              <a:t>      "content_id": "2845040",</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"2026 서울국제정원박람회 &lt; 행사·공연 정보 &lt; 축제·관광 &lt; 미래한강본부, 한강공원",</a:t>
            </a:r>
          </a:p>
          <a:p>
            <a:r>
              <a:t>      "summary": "2026 서울국제정원박람회는 2026년 5월 1일부터 10월 27일까지 서울숲과 성수 일대에서 운영되며, 서울숲·한강·성수동·뚝섬대정원을 연결하는 구성을 공식적으로 제시한다. 따라서 9~10월에는 별도 거점 조성보다 이 행사 구역과 충돌하지 않는 보행 안내, 체류 동선, 상권 연결을 우선 검토할 수 있다.",</a:t>
            </a:r>
          </a:p>
          <a:p>
            <a:r>
              <a:t>      "source_id": "web:11200:1",</a:t>
            </a:r>
          </a:p>
          <a:p>
            <a:r>
              <a:t>      "source_url": "https://hangang.seoul.go.kr/www/eventMng/detail.do?evntSn=378&amp;mid=538&amp;srchType=list",</a:t>
            </a:r>
          </a:p>
          <a:p>
            <a:r>
              <a:t>      "source_type": "official_web",</a:t>
            </a:r>
          </a:p>
          <a:p>
            <a:r>
              <a:t>      "why_relevant": "사업기간 2026-09-01~2026-11-30 중 9~10월이 기존 대형 행사 운영기간과 겹친다. 기존 행사와 같은 장소에서 별도 프로그램을 신설할 경우 공간·안전·운영주체 조정이 필요하므로, 보완형 운영안이 중복 위험이 낮다.",</a:t>
            </a:r>
          </a:p>
          <a:p>
            <a:r>
              <a:t>      "published_or_updated_at": "수정 2026-08-18"</a:t>
            </a:r>
          </a:p>
          <a:p>
            <a:r>
              <a:t>    },</a:t>
            </a:r>
          </a:p>
          <a:p>
            <a:r>
              <a:t>    {</a:t>
            </a:r>
          </a:p>
          <a:p>
            <a:r>
              <a:t>      "title": "개막 20일차 250만명 넘은 서울국제정원박람회… 성수 상권 매출 30% 급증 &gt; 보도자료 | 서울특별시",</a:t>
            </a:r>
          </a:p>
          <a:p>
            <a:r>
              <a:t>      "summary": "서울시는 2026 서울국제정원박람회에서 서울숲의 휴게시설을 보완해 좌석을 확충하고, 정원마켓과 3개 푸드트럭 존을 운영했다고 밝혔다. 같은 자료는 주말·주요 이벤트일에 방문객 수와 체류시간이 함께 늘었다는 분석 결과를 제시한다.",</a:t>
            </a:r>
          </a:p>
          <a:p>
            <a:r>
              <a:t>      "source_id": "web:11200:2",</a:t>
            </a:r>
          </a:p>
          <a:p>
            <a:r>
              <a:t>      "source_url": "https://www.seoul.go.kr/news/news_report.do?nttNo=458311",</a:t>
            </a:r>
          </a:p>
          <a:p>
            <a:r>
              <a:t>      "source_type": "official_web",</a:t>
            </a:r>
          </a:p>
          <a:p>
            <a:r>
              <a:t>      "why_relevant": "체류 개선 후보 중 ‘휴식 좌석·먹거리·이벤트 동선’을 결합하는 방식에 공식 현장운영 사례가 있다. 다만 이 결과는 2026 정원박람회 기간의 분석이므로, 가을 성수 사업에도 동일한 효과가 난다고 일반화하지 않고 운영조건 검토 사례로만 사용해야 한다.",</a:t>
            </a:r>
          </a:p>
          <a:p>
            <a:r>
              <a:t>      "published_or_updated_at": "등록·수정 2026-05-20"</a:t>
            </a:r>
          </a:p>
          <a:p>
            <a:r>
              <a:t>    },</a:t>
            </a:r>
          </a:p>
          <a:p>
            <a:r>
              <a:t>    {</a:t>
            </a:r>
          </a:p>
          <a:p>
            <a:r>
              <a:t>      "title": "서울숲-성수 커넥트 투어 | 2026 서울국제정원박람회",</a:t>
            </a:r>
          </a:p>
          <a:p>
            <a:r>
              <a:t>      "summary": "서울숲-성수 커넥트 투어는 성수근린공원에서 출발해 성수부터 서울숲까지 연결하는 무료 프로그램으로, 매주 화·목 13:00~14:30에 회차당 15명 내외 사전접수 방식으로 안내되었다.",</a:t>
            </a:r>
          </a:p>
          <a:p>
            <a:r>
              <a:t>      "source_id": "web:11200:3",</a:t>
            </a:r>
          </a:p>
          <a:p>
            <a:r>
              <a:t>      "source_url": "https://gov.seoul.go.kr/festa/garden/y2026/program/garden-culture-program/commentary-program?article=42926",</a:t>
            </a:r>
          </a:p>
          <a:p>
            <a:r>
              <a:t>      "source_type": "official_web",</a:t>
            </a:r>
          </a:p>
          <a:p>
            <a:r>
              <a:t>      "why_relevant": "‘공원 방문 후 성수 상권으로 이동’시키는 해설·도보 연결 방식이 실제로 운영된 공식 사례다. 권고안에서는 이 방식을 그대로 복제하기보다, 가을 행사일 및 야간 수요에 맞는 회차·집결지·예약방식으로 전환 가능한지 주최 측과 확인하는 참고사례로 활용한다.",</a:t>
            </a:r>
          </a:p>
          <a:p>
            <a:r>
              <a:t>      "published_or_updated_at": "페이지 확인일 기준 2026-09"</a:t>
            </a:r>
          </a:p>
          <a:p>
            <a:r>
              <a:t>    },</a:t>
            </a:r>
          </a:p>
          <a:p>
            <a:r>
              <a:t>    {</a:t>
            </a:r>
          </a:p>
          <a:p>
            <a:r>
              <a:t>      "title": "2026 서울축제지도 - 가을편 &lt; 공지사항(상세) &lt; 새소식 | 서울문화포털",</a:t>
            </a:r>
          </a:p>
          <a:p>
            <a:r>
              <a:t>      "summary": "크리에이티브X성수는 2026년 10월 5일부터 10월 11일까지 성수동 서울숲·언더스탠드 에비뉴 등에서 예정되어 있으며, 페어·문화 콘퍼런스·토크쇼·전시·공예 프리마켓·패션쇼·음악공연을 포함하는 글로벌 문화창조산업축제로 안내되어 있다.",</a:t>
            </a:r>
          </a:p>
          <a:p>
            <a:r>
              <a:t>      "source_id": "web:11200:4",</a:t>
            </a:r>
          </a:p>
          <a:p>
            <a:r>
              <a:t>      "source_url": "https://culture.seoul.go.kr/culture/bbs/B0000000/view.do?menuNo=200050&amp;nttId=16465",</a:t>
            </a:r>
          </a:p>
          <a:p>
            <a:r>
              <a:t>      "source_type": "official_web",</a:t>
            </a:r>
          </a:p>
          <a:p>
            <a:r>
              <a:t>      "why_relevant": "10월 운영의 집중 구간으로 삼을 수 있는 확정 행사다. 다만 해당 축제의 프로그램·부스·방문객을 성동구 사업이 사용할 수 있는지, 공동홍보·쿠폰·스탬프·동선안내가 가능한지는 공식 문서만으로 확인되지 않았으므로 별도 협의가 필요하다.",</a:t>
            </a:r>
          </a:p>
          <a:p>
            <a:r>
              <a:t>      "published_or_updated_at": "등록 2026-08-31"</a:t>
            </a:r>
          </a:p>
          <a:p>
            <a:r>
              <a:t>    },</a:t>
            </a:r>
          </a:p>
          <a:p>
            <a:r>
              <a:t>    {</a:t>
            </a:r>
          </a:p>
          <a:p>
            <a:r>
              <a:t>      "title": "오시는 길 | 2026 서울국제정원박람회",</a:t>
            </a:r>
          </a:p>
          <a:p>
            <a:r>
              <a:t>      "summary": "서울숲은 수인분당선 서울숲역 3·4·5번 출구에서 도보 2분, 2호선 뚝섬역 7·8번 출구에서 도보 11분으로 안내되어 있다. 서울숲 주차장과 뚝섬유수지 공영주차장은 모두 24시간 운영으로 제시되어 있으며, 행사 안내는 친환경 행사를 위해 대중교통 이용을 권장한다.",</a:t>
            </a:r>
          </a:p>
          <a:p>
            <a:r>
              <a:t>      "source_id": "web:11200:5",</a:t>
            </a:r>
          </a:p>
          <a:p>
            <a:r>
              <a:t>      "source_url": "https://www.seoul.go.kr/festa/garden/y2026/introduce/location?pc=1",</a:t>
            </a:r>
          </a:p>
          <a:p>
            <a:r>
              <a:t>      "source_type": "official_web",</a:t>
            </a:r>
          </a:p>
          <a:p>
            <a:r>
              <a:t>      "why_relevant": "권고안의 운영권역은 대중교통 도착지에서 공원·성수 상권까지의 마지막 보행 연결을 명확히 안내하는 데 초점을 둘 수 있다. 승용차 유입 확대를 핵심 방식으로 삼기보다는 지하철·버스·보행 중심으로 설계하는 것이 공식 안내와 부합한다.",</a:t>
            </a:r>
          </a:p>
          <a:p>
            <a:r>
              <a:t>      "published_or_updated_at": "2026년 행사 안내 페이지"</a:t>
            </a:r>
          </a:p>
          <a:p>
            <a:r>
              <a:t>    },</a:t>
            </a:r>
          </a:p>
          <a:p>
            <a:r>
              <a:t>    {</a:t>
            </a:r>
          </a:p>
          <a:p>
            <a:r>
              <a:t>      "title": "(석간) 제11차 도시건축공동위원회 개최결과 &gt; 보도자료 | 서울특별시",</a:t>
            </a:r>
          </a:p>
          <a:p>
            <a:r>
              <a:t>      "summary": "서울시는 성수 준공업지역 지구단위계획에서 성수역-연무장길 가로변의 지역 특화경관을 유도하고, 지하철 2호선 연접부 개방형녹지 및 서울숲·뚝섬으로 이어지는 보행 네트워크를 조성하는 방향을 제시했다. 연무장길에는 제한적 차량출입 불허구간과 주차기준 완화를 통해 사람 중심의 걷기 좋은 거리로 재편하는 방향도 포함됐다.",</a:t>
            </a:r>
          </a:p>
          <a:p>
            <a:r>
              <a:t>      "source_id": "web:11200:6",</a:t>
            </a:r>
          </a:p>
          <a:p>
            <a:r>
              <a:t>      "source_url": "https://www.seoul.go.kr/news/news_report.do?nttNo=460823&amp;tr_code=snews",</a:t>
            </a:r>
          </a:p>
          <a:p>
            <a:r>
              <a:t>      "source_type": "official_web",</a:t>
            </a:r>
          </a:p>
          <a:p>
            <a:r>
              <a:t>      "why_relevant": "중기적으로 성수역-연무장길-서울숲 보행축은 체류 연결 사업의 대상권역 후보가 될 수 있다. 그러나 이는 도시계획 방향이며 2026년 가을에 모든 물리적 시설이 완공·운영된다는 뜻은 아니므로, 실제 공사·통행·행사 가능 구간은 현장과 관계부서에 확인해야 한다.",</a:t>
            </a:r>
          </a:p>
          <a:p>
            <a:r>
              <a:t>      "published_or_updated_at": "등록 2026-07-01"</a:t>
            </a:r>
          </a:p>
          <a:p>
            <a:r>
              <a:t>    },</a:t>
            </a:r>
          </a:p>
          <a:p>
            <a:r>
              <a:t>    {</a:t>
            </a:r>
          </a:p>
          <a:p>
            <a:r>
              <a:t>      "title": "2026 서울국제정원박람회 &lt; 행사·공연 정보 &lt; 축제·관광 &lt; 미래한강본부, 한강공원",</a:t>
            </a:r>
          </a:p>
          <a:p>
            <a:r>
              <a:t>      "summary": "서울국제정원박람회 공식 안내에는 서울숲 선착장 추가 운항과 야간 운항 증편이 소개되어 있다.",</a:t>
            </a:r>
          </a:p>
          <a:p>
            <a:r>
              <a:t>      "source_id": "web:11200:7",</a:t>
            </a:r>
          </a:p>
          <a:p>
            <a:r>
              <a:t>      "source_url": "https://hangang.seoul.go.kr/www/eventMng/detail.do?evntSn=378&amp;mid=538&amp;srchType=list",</a:t>
            </a:r>
          </a:p>
          <a:p>
            <a:r>
              <a:t>      "source_type": "official_web",</a:t>
            </a:r>
          </a:p>
          <a:p>
            <a:r>
              <a:t>      "why_relevant": "9~10월 주말 또는 야간 프로그램을 검토할 때 한강 수상교통을 보조 접근수단 후보로 검토할 근거가 된다. 다만 11월까지의 실제 운항일·막차·결항 기준은 이 자료에 확정적으로 제시되지 않아, 사업 홍보문구에 포함하기 전 운영기관 확인이 필요하다.",</a:t>
            </a:r>
          </a:p>
          <a:p>
            <a:r>
              <a:t>      "published_or_updated_at": "수정 2026-08-18"</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"document_type": "case_study_budget",</a:t>
            </a:r>
          </a:p>
          <a:p>
            <a:r>
              <a:t>      "observed_result": "예산서이므로 방문·소비 성과는 확인되지 않음",</a:t>
            </a:r>
          </a:p>
          <a:p>
            <a:r>
              <a:t>      "operating_model": "사무관리, 행사운영, 연구용역, 민간경상보조 등으로 사업비를 항목별 편성",</a:t>
            </a:r>
          </a:p>
          <a:p>
            <a:r>
              <a:t>      "retrieval_method": "curated_registry",</a:t>
            </a:r>
          </a:p>
          <a:p>
            <a:r>
              <a:t>      "evidence_strength": "high",</a:t>
            </a:r>
          </a:p>
          <a:p>
            <a:r>
              <a:t>      "retrieval_context": {</a:t>
            </a:r>
          </a:p>
          <a:p>
            <a:r>
              <a:t>        "scope": "cross_province",</a:t>
            </a:r>
          </a:p>
          <a:p>
            <a:r>
              <a:t>        "peer_region_code": null</a:t>
            </a:r>
          </a:p>
          <a:p>
            <a:r>
              <a:t>      },</a:t>
            </a:r>
          </a:p>
          <a:p>
            <a:r>
              <a:t>      "measurement_period": "2026년 예산",</a:t>
            </a:r>
          </a:p>
          <a:p>
            <a:r>
              <a:t>      "transfer_conditions": [</a:t>
            </a:r>
          </a:p>
          <a:p>
            <a:r>
              <a:t>        "국비·도비·시비 분담 가능성 검토",</a:t>
            </a:r>
          </a:p>
          <a:p>
            <a:r>
              <a:t>        "행사비와 상설운영비를 분리 산정",</a:t>
            </a:r>
          </a:p>
          <a:p>
            <a:r>
              <a:t>        "성과평가 비용을 별도 항목으로 확보"</a:t>
            </a:r>
          </a:p>
          <a:p>
            <a:r>
              <a:t>      ],</a:t>
            </a:r>
          </a:p>
          <a:p>
            <a:r>
              <a:t>      "published_or_updated_at": "2026",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"202609",</a:t>
            </a:r>
          </a:p>
          <a:p>
            <a:r>
              <a:t>        "visitors": 6638883.0,</a:t>
            </a:r>
          </a:p>
          <a:p>
            <a:r>
              <a:t>        "is_forecast": true,</a:t>
            </a:r>
          </a:p>
          <a:p>
            <a:r>
              <a:t>        "spending_krw": 102905513747.0,</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6570358.0,</a:t>
            </a:r>
          </a:p>
          <a:p>
            <a:r>
              <a:t>        "is_forecast": true,</a:t>
            </a:r>
          </a:p>
          <a:p>
            <a:r>
              <a:t>        "spending_krw": 103404579597.0,</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6585928.0,</a:t>
            </a:r>
          </a:p>
          <a:p>
            <a:r>
              <a:t>        "is_forecast": true,</a:t>
            </a:r>
          </a:p>
          <a:p>
            <a:r>
              <a:t>        "spending_krw": 107117698458.0,</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6551545,</a:t>
            </a:r>
          </a:p>
          <a:p>
            <a:r>
              <a:t>      "is_forecast": true,</a:t>
            </a:r>
          </a:p>
          <a:p>
            <a:r>
              <a:t>      "spending_krw": 99619891149,</a:t>
            </a:r>
          </a:p>
          <a:p>
            <a:r>
              <a:t>      "stay_minutes": 715.0,</a:t>
            </a:r>
          </a:p>
          <a:p>
            <a:r>
              <a:t>      "lodging_nights": 2.92,</a:t>
            </a:r>
          </a:p>
          <a:p>
            <a:r>
              <a:t>      "lodging_rate_pct": 3.9,</a:t>
            </a:r>
          </a:p>
          <a:p>
            <a:r>
              <a:t>      "lodging_searches": 2427,</a:t>
            </a:r>
          </a:p>
          <a:p>
            <a:r>
              <a:t>      "navigation_searches": 110530,</a:t>
            </a:r>
          </a:p>
          <a:p>
            <a:r>
              <a:t>      "visitor_yoy_percent": 8.42,</a:t>
            </a:r>
          </a:p>
          <a:p>
            <a:r>
              <a:t>      "spending_yoy_percent": 7.8,</a:t>
            </a:r>
          </a:p>
          <a:p>
            <a:r>
              <a:t>      "metric_changes_percent": {</a:t>
            </a:r>
          </a:p>
          <a:p>
            <a:r>
              <a:t>        "stay_minutes": 0.0,</a:t>
            </a:r>
          </a:p>
          <a:p>
            <a:r>
              <a:t>        "lodging_nights": -1.02,</a:t>
            </a:r>
          </a:p>
          <a:p>
            <a:r>
              <a:t>        "lodging_rate_pct": 0.0,</a:t>
            </a:r>
          </a:p>
          <a:p>
            <a:r>
              <a:t>        "lodging_searches": -12.98,</a:t>
            </a:r>
          </a:p>
          <a:p>
            <a:r>
              <a:t>        "navigation_searches": 0.0</a:t>
            </a:r>
          </a:p>
          <a:p>
            <a:r>
              <a:t>      },</a:t>
            </a:r>
          </a:p>
          <a:p>
            <a:r>
              <a:t>      "previous_year_visitors": 6042778,</a:t>
            </a:r>
          </a:p>
          <a:p>
            <a:r>
              <a:t>      "previous_year_spending_krw": 92415108000,</a:t>
            </a:r>
          </a:p>
          <a:p>
            <a:r>
              <a:t>      "previous_year_stay_minutes": 715.0,</a:t>
            </a:r>
          </a:p>
          <a:p>
            <a:r>
              <a:t>      "previous_year_lodging_nights": 2.95,</a:t>
            </a:r>
          </a:p>
          <a:p>
            <a:r>
              <a:t>      "previous_year_lodging_rate_pct": 3.9,</a:t>
            </a:r>
          </a:p>
          <a:p>
            <a:r>
              <a:t>      "previous_year_lodging_searches": 2789,</a:t>
            </a:r>
          </a:p>
          <a:p>
            <a:r>
              <a:t>      "previous_year_navigation_searches": 110530</a:t>
            </a:r>
          </a:p>
          <a:p>
            <a:r>
              <a:t>    },</a:t>
            </a:r>
          </a:p>
          <a:p>
            <a:r>
              <a:t>    {</a:t>
            </a:r>
          </a:p>
          <a:p>
            <a:r>
              <a:t>      "month": "202608",</a:t>
            </a:r>
          </a:p>
          <a:p>
            <a:r>
              <a:t>      "visitors": 6392576,</a:t>
            </a:r>
          </a:p>
          <a:p>
            <a:r>
              <a:t>      "is_forecast": true,</a:t>
            </a:r>
          </a:p>
          <a:p>
            <a:r>
              <a:t>      "spending_krw": 100649180510,</a:t>
            </a:r>
          </a:p>
          <a:p>
            <a:r>
              <a:t>      "stay_minutes": 727.0,</a:t>
            </a:r>
          </a:p>
          <a:p>
            <a:r>
              <a:t>      "lodging_nights": 2.93,</a:t>
            </a:r>
          </a:p>
          <a:p>
            <a:r>
              <a:t>      "lodging_rate_pct": 4.3,</a:t>
            </a:r>
          </a:p>
          <a:p>
            <a:r>
              <a:t>      "lodging_searches": 2345,</a:t>
            </a:r>
          </a:p>
          <a:p>
            <a:r>
              <a:t>      "navigation_searches": 116553,</a:t>
            </a:r>
          </a:p>
          <a:p>
            <a:r>
              <a:t>      "visitor_yoy_percent": 7.88,</a:t>
            </a:r>
          </a:p>
          <a:p>
            <a:r>
              <a:t>      "spending_yoy_percent": 6.05,</a:t>
            </a:r>
          </a:p>
          <a:p>
            <a:r>
              <a:t>      "metric_changes_percent": {</a:t>
            </a:r>
          </a:p>
          <a:p>
            <a:r>
              <a:t>        "stay_minutes": 0.0,</a:t>
            </a:r>
          </a:p>
          <a:p>
            <a:r>
              <a:t>        "lodging_nights": 0.69,</a:t>
            </a:r>
          </a:p>
          <a:p>
            <a:r>
              <a:t>        "lodging_rate_pct": 0.0,</a:t>
            </a:r>
          </a:p>
          <a:p>
            <a:r>
              <a:t>        "lodging_searches": -4.64,</a:t>
            </a:r>
          </a:p>
          <a:p>
            <a:r>
              <a:t>        "navigation_searches": 0.0</a:t>
            </a:r>
          </a:p>
          <a:p>
            <a:r>
              <a:t>      },</a:t>
            </a:r>
          </a:p>
          <a:p>
            <a:r>
              <a:t>      "previous_year_visitors": 5925815,</a:t>
            </a:r>
          </a:p>
          <a:p>
            <a:r>
              <a:t>      "previous_year_spending_krw": 94907804000,</a:t>
            </a:r>
          </a:p>
          <a:p>
            <a:r>
              <a:t>      "previous_year_stay_minutes": 727.0,</a:t>
            </a:r>
          </a:p>
          <a:p>
            <a:r>
              <a:t>      "previous_year_lodging_nights": 2.91,</a:t>
            </a:r>
          </a:p>
          <a:p>
            <a:r>
              <a:t>      "previous_year_lodging_rate_pct": 4.3,</a:t>
            </a:r>
          </a:p>
          <a:p>
            <a:r>
              <a:t>      "previous_year_lodging_searches": 2459,</a:t>
            </a:r>
          </a:p>
          <a:p>
            <a:r>
              <a:t>      "previous_year_navigation_searches": 116553</a:t>
            </a:r>
          </a:p>
          <a:p>
            <a:r>
              <a:t>    },</a:t>
            </a:r>
          </a:p>
          <a:p>
            <a:r>
              <a:t>    {</a:t>
            </a:r>
          </a:p>
          <a:p>
            <a:r>
              <a:t>      "month": "202609",</a:t>
            </a:r>
          </a:p>
          <a:p>
            <a:r>
              <a:t>      "visitors": 6638883,</a:t>
            </a:r>
          </a:p>
          <a:p>
            <a:r>
              <a:t>      "is_forecast": true,</a:t>
            </a:r>
          </a:p>
          <a:p>
            <a:r>
              <a:t>      "spending_krw": 102905513747,</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a:t>
            </a:r>
          </a:p>
          <a:p>
            <a:r>
              <a:t>      "is_forecast": true,</a:t>
            </a:r>
          </a:p>
          <a:p>
            <a:r>
              <a:t>      "spending_krw": 103404579597,</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a:t>
            </a:r>
          </a:p>
          <a:p>
            <a:r>
              <a:t>      "is_forecast": true,</a:t>
            </a:r>
          </a:p>
          <a:p>
            <a:r>
              <a:t>      "spending_krw": 107117698458,</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"evaluation": {</a:t>
            </a:r>
          </a:p>
          <a:p>
            <a:r>
              <a:t>    "metrics": {</a:t>
            </a:r>
          </a:p>
          <a:p>
            <a:r>
              <a:t>      "visitors": {</a:t>
            </a:r>
          </a:p>
          <a:p>
            <a:r>
              <a:t>        "test_mae": 512302.72,</a:t>
            </a:r>
          </a:p>
          <a:p>
            <a:r>
              <a:t>        "recursive_mae": {</a:t>
            </a:r>
          </a:p>
          <a:p>
            <a:r>
              <a:t>          "1": {</a:t>
            </a:r>
          </a:p>
          <a:p>
            <a:r>
              <a:t>            "baseline": 505115.0,</a:t>
            </a:r>
          </a:p>
          <a:p>
            <a:r>
              <a:t>            "selected": 637542.5,</a:t>
            </a:r>
          </a:p>
          <a:p>
            <a:r>
              <a:t>            "sample_count": 2</a:t>
            </a:r>
          </a:p>
          <a:p>
            <a:r>
              <a:t>          },</a:t>
            </a:r>
          </a:p>
          <a:p>
            <a:r>
              <a:t>          "2": {</a:t>
            </a:r>
          </a:p>
          <a:p>
            <a:r>
              <a:t>            "baseline": 350616.5,</a:t>
            </a:r>
          </a:p>
          <a:p>
            <a:r>
              <a:t>            "selected": 385661.0,</a:t>
            </a:r>
          </a:p>
          <a:p>
            <a:r>
              <a:t>            "sample_count": 2</a:t>
            </a:r>
          </a:p>
          <a:p>
            <a:r>
              <a:t>          },</a:t>
            </a:r>
          </a:p>
          <a:p>
            <a:r>
              <a:t>          "3": {</a:t>
            </a:r>
          </a:p>
          <a:p>
            <a:r>
              <a:t>            "baseline": 508390.5,</a:t>
            </a:r>
          </a:p>
          <a:p>
            <a:r>
              <a:t>            "selected": 376970.5,</a:t>
            </a:r>
          </a:p>
          <a:p>
            <a:r>
              <a:t>            "sample_count": 2</a:t>
            </a:r>
          </a:p>
          <a:p>
            <a:r>
              <a:t>          }</a:t>
            </a:r>
          </a:p>
          <a:p>
            <a:r>
              <a:t>        },</a:t>
            </a:r>
          </a:p>
          <a:p>
            <a:r>
              <a:t>        "selected_model": "RandomForestRegressor",</a:t>
            </a:r>
          </a:p>
          <a:p>
            <a:r>
              <a:t>        "baseline_test_mae": 506752.75,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5905429236.35,</a:t>
            </a:r>
          </a:p>
          <a:p>
            <a:r>
              <a:t>        "recursive_mae": {</a:t>
            </a:r>
          </a:p>
          <a:p>
            <a:r>
              <a:t>          "1": {</a:t>
            </a:r>
          </a:p>
          <a:p>
            <a:r>
              <a:t>            "baseline": 3857228000.0,</a:t>
            </a:r>
          </a:p>
          <a:p>
            <a:r>
              <a:t>            "selected": 3675260054.5,</a:t>
            </a:r>
          </a:p>
          <a:p>
            <a:r>
              <a:t>            "sample_count": 2</a:t>
            </a:r>
          </a:p>
          <a:p>
            <a:r>
              <a:t>          },</a:t>
            </a:r>
          </a:p>
          <a:p>
            <a:r>
              <a:t>          "2": {</a:t>
            </a:r>
          </a:p>
          <a:p>
            <a:r>
              <a:t>            "baseline": 5016656500.0,</a:t>
            </a:r>
          </a:p>
          <a:p>
            <a:r>
              <a:t>            "selected": 2276015570.0,</a:t>
            </a:r>
          </a:p>
          <a:p>
            <a:r>
              <a:t>            "sample_count": 2</a:t>
            </a:r>
          </a:p>
          <a:p>
            <a:r>
              <a:t>          },</a:t>
            </a:r>
          </a:p>
          <a:p>
            <a:r>
              <a:t>          "3": {</a:t>
            </a:r>
          </a:p>
          <a:p>
            <a:r>
              <a:t>            "baseline": 3931632500.0,</a:t>
            </a:r>
          </a:p>
          <a:p>
            <a:r>
              <a:t>            "selected": 7285373763.0,</a:t>
            </a:r>
          </a:p>
          <a:p>
            <a:r>
              <a:t>            "sample_count": 2</a:t>
            </a:r>
          </a:p>
          <a:p>
            <a:r>
              <a:t>          }</a:t>
            </a:r>
          </a:p>
          <a:p>
            <a:r>
              <a:t>        },</a:t>
            </a:r>
          </a:p>
          <a:p>
            <a:r>
              <a:t>        "selected_model": "LinearRegression",</a:t>
            </a:r>
          </a:p>
          <a:p>
            <a:r>
              <a:t>        "baseline_test_mae": 3894430250.0,</a:t>
            </a:r>
          </a:p>
          <a:p>
            <a:r>
              <a:t>        "model_reliability": "below_baseline_on_test",</a:t>
            </a:r>
          </a:p>
          <a:p>
            <a:r>
              <a:t>        "beats_baseline_on_test": false,</a:t>
            </a:r>
          </a:p>
          <a:p>
            <a:r>
              <a:t>        "recursive_horizons_worse_than_baseline": [</a:t>
            </a:r>
          </a:p>
          <a:p>
            <a:r>
              <a:t>          "3"</a:t>
            </a:r>
          </a:p>
          <a:p>
            <a:r>
              <a:t>        ]</a:t>
            </a:r>
          </a:p>
          <a:p>
            <a:r>
              <a:t>      },</a:t>
            </a:r>
          </a:p>
          <a:p>
            <a:r>
              <a:t>      "stay_minutes": {</a:t>
            </a:r>
          </a:p>
          <a:p>
            <a:r>
              <a:t>        "test_mae": 81.25,</a:t>
            </a:r>
          </a:p>
          <a:p>
            <a:r>
              <a:t>        "recursive_mae": {</a:t>
            </a:r>
          </a:p>
          <a:p>
            <a:r>
              <a:t>          "1": {</a:t>
            </a:r>
          </a:p>
          <a:p>
            <a:r>
              <a:t>            "baseline": 15.0,</a:t>
            </a:r>
          </a:p>
          <a:p>
            <a:r>
              <a:t>            "selected": 15.0,</a:t>
            </a:r>
          </a:p>
          <a:p>
            <a:r>
              <a:t>            "sample_count": 2</a:t>
            </a:r>
          </a:p>
          <a:p>
            <a:r>
              <a:t>          },</a:t>
            </a:r>
          </a:p>
          <a:p>
            <a:r>
              <a:t>          "2": {</a:t>
            </a:r>
          </a:p>
          <a:p>
            <a:r>
              <a:t>            "baseline": 148.0,</a:t>
            </a:r>
          </a:p>
          <a:p>
            <a:r>
              <a:t>            "selected": 148.0,</a:t>
            </a:r>
          </a:p>
          <a:p>
            <a:r>
              <a:t>            "sample_count": 2</a:t>
            </a:r>
          </a:p>
          <a:p>
            <a:r>
              <a:t>          },</a:t>
            </a:r>
          </a:p>
          <a:p>
            <a:r>
              <a:t>          "3": {</a:t>
            </a:r>
          </a:p>
          <a:p>
            <a:r>
              <a:t>            "baseline": 147.5,</a:t>
            </a:r>
          </a:p>
          <a:p>
            <a:r>
              <a:t>            "selected": 147.5,</a:t>
            </a:r>
          </a:p>
          <a:p>
            <a:r>
              <a:t>            "sample_count": 2</a:t>
            </a:r>
          </a:p>
          <a:p>
            <a:r>
              <a:t>          }</a:t>
            </a:r>
          </a:p>
          <a:p>
            <a:r>
              <a:t>        },</a:t>
            </a:r>
          </a:p>
          <a:p>
            <a:r>
              <a:t>        "selected_model": "seasonal_naive_previous_year_same_month",</a:t>
            </a:r>
          </a:p>
          <a:p>
            <a:r>
              <a:t>        "baseline_test_mae": 81.25,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0.07,</a:t>
            </a:r>
          </a:p>
          <a:p>
            <a:r>
              <a:t>            "selected": 0.1,</a:t>
            </a:r>
          </a:p>
          <a:p>
            <a:r>
              <a:t>            "sample_count": 2</a:t>
            </a:r>
          </a:p>
          <a:p>
            <a:r>
              <a:t>          },</a:t>
            </a:r>
          </a:p>
          <a:p>
            <a:r>
              <a:t>          "2": {</a:t>
            </a:r>
          </a:p>
          <a:p>
            <a:r>
              <a:t>            "baseline": 0.11,</a:t>
            </a:r>
          </a:p>
          <a:p>
            <a:r>
              <a:t>            "selected": 0.16,</a:t>
            </a:r>
          </a:p>
          <a:p>
            <a:r>
              <a:t>            "sample_count": 2</a:t>
            </a:r>
          </a:p>
          <a:p>
            <a:r>
              <a:t>          },</a:t>
            </a:r>
          </a:p>
          <a:p>
            <a:r>
              <a:t>          "3": {</a:t>
            </a:r>
          </a:p>
          <a:p>
            <a:r>
              <a:t>            "baseline": 0.15,</a:t>
            </a:r>
          </a:p>
          <a:p>
            <a:r>
              <a:t>            "selected": 0.17,</a:t>
            </a:r>
          </a:p>
          <a:p>
            <a:r>
              <a:t>            "sample_count": 2</a:t>
            </a:r>
          </a:p>
          <a:p>
            <a:r>
              <a:t>          }</a:t>
            </a:r>
          </a:p>
          <a:p>
            <a:r>
              <a:t>        },</a:t>
            </a:r>
          </a:p>
          <a:p>
            <a:r>
              <a:t>        "selected_model": "LinearRegression",</a:t>
            </a:r>
          </a:p>
          <a:p>
            <a:r>
              <a:t>        "baseline_test_mae": 0.11,</a:t>
            </a:r>
          </a:p>
          <a:p>
            <a:r>
              <a:t>        "model_reliability": "mixed_recursive_performance",</a:t>
            </a:r>
          </a:p>
          <a:p>
            <a:r>
              <a:t>        "beats_baseline_on_test": true,</a:t>
            </a:r>
          </a:p>
          <a:p>
            <a:r>
              <a:t>        "recursive_horizons_worse_than_baseline": [</a:t>
            </a:r>
          </a:p>
          <a:p>
            <a:r>
              <a:t>          "1",</a:t>
            </a:r>
          </a:p>
          <a:p>
            <a:r>
              <a:t>          "2",</a:t>
            </a:r>
          </a:p>
          <a:p>
            <a:r>
              <a:t>          "3"</a:t>
            </a:r>
          </a:p>
          <a:p>
            <a:r>
              <a:t>        ]</a:t>
            </a:r>
          </a:p>
          <a:p>
            <a:r>
              <a:t>      },</a:t>
            </a:r>
          </a:p>
          <a:p>
            <a:r>
              <a:t>      "lodging_rate_pct": {</a:t>
            </a:r>
          </a:p>
          <a:p>
            <a:r>
              <a:t>        "test_mae": 0.32,</a:t>
            </a:r>
          </a:p>
          <a:p>
            <a:r>
              <a:t>        "recursive_mae": {</a:t>
            </a:r>
          </a:p>
          <a:p>
            <a:r>
              <a:t>          "1": {</a:t>
            </a:r>
          </a:p>
          <a:p>
            <a:r>
              <a:t>            "baseline": 0.3,</a:t>
            </a:r>
          </a:p>
          <a:p>
            <a:r>
              <a:t>            "selected": 0.3,</a:t>
            </a:r>
          </a:p>
          <a:p>
            <a:r>
              <a:t>            "sample_count": 2</a:t>
            </a:r>
          </a:p>
          <a:p>
            <a:r>
              <a:t>          },</a:t>
            </a:r>
          </a:p>
          <a:p>
            <a:r>
              <a:t>          "2": {</a:t>
            </a:r>
          </a:p>
          <a:p>
            <a:r>
              <a:t>            "baseline": 0.4,</a:t>
            </a:r>
          </a:p>
          <a:p>
            <a:r>
              <a:t>            "selected": 0.4,</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0.32,</a:t>
            </a:r>
          </a:p>
          <a:p>
            <a:r>
              <a:t>        "model_reliability": "seasonal_baseline",</a:t>
            </a:r>
          </a:p>
          <a:p>
            <a:r>
              <a:t>        "beats_baseline_on_test": false,</a:t>
            </a:r>
          </a:p>
          <a:p>
            <a:r>
              <a:t>        "recursive_horizons_worse_than_baseline": []</a:t>
            </a:r>
          </a:p>
          <a:p>
            <a:r>
              <a:t>      },</a:t>
            </a:r>
          </a:p>
          <a:p>
            <a:r>
              <a:t>      "lodging_searches": {</a:t>
            </a:r>
          </a:p>
          <a:p>
            <a:r>
              <a:t>        "test_mae": 141.88,</a:t>
            </a:r>
          </a:p>
          <a:p>
            <a:r>
              <a:t>        "recursive_mae": {</a:t>
            </a:r>
          </a:p>
          <a:p>
            <a:r>
              <a:t>          "1": {</a:t>
            </a:r>
          </a:p>
          <a:p>
            <a:r>
              <a:t>            "baseline": 239.0,</a:t>
            </a:r>
          </a:p>
          <a:p>
            <a:r>
              <a:t>            "selected": 78.5,</a:t>
            </a:r>
          </a:p>
          <a:p>
            <a:r>
              <a:t>            "sample_count": 2</a:t>
            </a:r>
          </a:p>
          <a:p>
            <a:r>
              <a:t>          },</a:t>
            </a:r>
          </a:p>
          <a:p>
            <a:r>
              <a:t>          "2": {</a:t>
            </a:r>
          </a:p>
          <a:p>
            <a:r>
              <a:t>            "baseline": 215.5,</a:t>
            </a:r>
          </a:p>
          <a:p>
            <a:r>
              <a:t>            "selected": 71.5,</a:t>
            </a:r>
          </a:p>
          <a:p>
            <a:r>
              <a:t>            "sample_count": 2</a:t>
            </a:r>
          </a:p>
          <a:p>
            <a:r>
              <a:t>          },</a:t>
            </a:r>
          </a:p>
          <a:p>
            <a:r>
              <a:t>          "3": {</a:t>
            </a:r>
          </a:p>
          <a:p>
            <a:r>
              <a:t>            "baseline": 282.5,</a:t>
            </a:r>
          </a:p>
          <a:p>
            <a:r>
              <a:t>            "selected": 143.0,</a:t>
            </a:r>
          </a:p>
          <a:p>
            <a:r>
              <a:t>            "sample_count": 2</a:t>
            </a:r>
          </a:p>
          <a:p>
            <a:r>
              <a:t>          }</a:t>
            </a:r>
          </a:p>
          <a:p>
            <a:r>
              <a:t>        },</a:t>
            </a:r>
          </a:p>
          <a:p>
            <a:r>
              <a:t>        "selected_model": "RandomForestRegressor",</a:t>
            </a:r>
          </a:p>
          <a:p>
            <a:r>
              <a:t>        "baseline_test_mae": 260.75,</a:t>
            </a:r>
          </a:p>
          <a:p>
            <a:r>
              <a:t>        "model_reliability": "limited_backtest_support",</a:t>
            </a:r>
          </a:p>
          <a:p>
            <a:r>
              <a:t>        "beats_baseline_on_test": true,</a:t>
            </a:r>
          </a:p>
          <a:p>
            <a:r>
              <a:t>        "recursive_horizons_worse_than_baseline": []</a:t>
            </a:r>
          </a:p>
          <a:p>
            <a:r>
              <a:t>      },</a:t>
            </a:r>
          </a:p>
          <a:p>
            <a:r>
              <a:t>      "navigation_searches": {</a:t>
            </a:r>
          </a:p>
          <a:p>
            <a:r>
              <a:t>        "test_mae": 18943.5,</a:t>
            </a:r>
          </a:p>
          <a:p>
            <a:r>
              <a:t>        "recursive_mae": {</a:t>
            </a:r>
          </a:p>
          <a:p>
            <a:r>
              <a:t>          "1": {</a:t>
            </a:r>
          </a:p>
          <a:p>
            <a:r>
              <a:t>            "baseline": 21342.5,</a:t>
            </a:r>
          </a:p>
          <a:p>
            <a:r>
              <a:t>            "selected": 21342.5,</a:t>
            </a:r>
          </a:p>
          <a:p>
            <a:r>
              <a:t>            "sample_count": 2</a:t>
            </a:r>
          </a:p>
          <a:p>
            <a:r>
              <a:t>          },</a:t>
            </a:r>
          </a:p>
          <a:p>
            <a:r>
              <a:t>          "2": {</a:t>
            </a:r>
          </a:p>
          <a:p>
            <a:r>
              <a:t>            "baseline": 18933.0,</a:t>
            </a:r>
          </a:p>
          <a:p>
            <a:r>
              <a:t>            "selected": 18933.0,</a:t>
            </a:r>
          </a:p>
          <a:p>
            <a:r>
              <a:t>            "sample_count": 2</a:t>
            </a:r>
          </a:p>
          <a:p>
            <a:r>
              <a:t>          },</a:t>
            </a:r>
          </a:p>
          <a:p>
            <a:r>
              <a:t>          "3": {</a:t>
            </a:r>
          </a:p>
          <a:p>
            <a:r>
              <a:t>            "baseline": 16544.5,</a:t>
            </a:r>
          </a:p>
          <a:p>
            <a:r>
              <a:t>            "selected": 16544.5,</a:t>
            </a:r>
          </a:p>
          <a:p>
            <a:r>
              <a:t>            "sample_count": 2</a:t>
            </a:r>
          </a:p>
          <a:p>
            <a:r>
              <a:t>          }</a:t>
            </a:r>
          </a:p>
          <a:p>
            <a:r>
              <a:t>        },</a:t>
            </a:r>
          </a:p>
          <a:p>
            <a:r>
              <a:t>        "selected_model": "seasonal_naive_previous_year_same_month",</a:t>
            </a:r>
          </a:p>
          <a:p>
            <a:r>
              <a:t>        "baseline_test_mae": 18943.5,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5,</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"지역상품권 환급액 = (외지인 관광객의 지역 내 소비액 × 20%) + (지역상품권 발행 비용: 1,000원/장). 단가 및 정확한 환급 대상 규모는 시범 운영 전 확정 필요.",</a:t>
            </a:r>
          </a:p>
          <a:p>
            <a:r>
              <a:t>        "본문 기준"</a:t>
            </a:r>
          </a:p>
          <a:p>
            <a:r>
              <a:t>      ]</a:t>
            </a:r>
          </a:p>
          <a:p>
            <a:r>
              <a:t>    ],</a:t>
            </a:r>
          </a:p>
          <a:p>
            <a:r>
              <a:t>    "original_text": "지역상품권 환급액 = (외지인 관광객의 지역 내 소비액 × 20%) + (지역상품권 발행 비용: 1,000원/장). 단가 및 정확한 환급 대상 규모는 시범 운영 전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서울특별시 성동구에서는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2,635,826명 × 시범 담당 비중 1% → 26,359건(올림). 1%는 직접 운영할 참여량 배분 가정이며 전환율 예측이 아닙니다.",</a:t>
            </a:r>
          </a:p>
          <a:p>
            <a:r>
              <a:t>  "additional_visitors_target": 2635825.5333333313,</a:t>
            </a:r>
          </a:p>
          <a:p>
            <a:r>
              <a:t>  "pilot_share_pct": 1,</a:t>
            </a:r>
          </a:p>
          <a:p>
            <a:r>
              <a:t>  "status": "planning_assumption_not_quote",</a:t>
            </a:r>
          </a:p>
          <a:p>
            <a:r>
              <a:t>  "months": 3,</a:t>
            </a:r>
          </a:p>
          <a:p>
            <a:r>
              <a:t>  "refund": true,</a:t>
            </a:r>
          </a:p>
          <a:p>
            <a:r>
              <a:t>  "quantity": 26359,</a:t>
            </a:r>
          </a:p>
          <a:p>
            <a:r>
              <a:t>  "unit_krw": 50000,</a:t>
            </a:r>
          </a:p>
          <a:p>
            <a:r>
              <a:t>  "redemption_target_pct": 80,</a:t>
            </a:r>
          </a:p>
          <a:p>
            <a:r>
              <a:t>  "redemption_count": 21087,</a:t>
            </a:r>
          </a:p>
          <a:p>
            <a:r>
              <a:t>  "qualifying_spend_krw": 2635900000,</a:t>
            </a:r>
          </a:p>
          <a:p>
            <a:r>
              <a:t>  "subtotal_krw": 1492200000,</a:t>
            </a:r>
          </a:p>
          <a:p>
            <a:r>
              <a:t>  "reserve_krw": 149220000,</a:t>
            </a:r>
          </a:p>
          <a:p>
            <a:r>
              <a:t>  "total_krw": 1641420000,</a:t>
            </a:r>
          </a:p>
          <a:p>
            <a:r>
              <a:t>  "within_hard_budget": true,</a:t>
            </a:r>
          </a:p>
          <a:p>
            <a:r>
              <a:t>  "items": [</a:t>
            </a:r>
          </a:p>
          <a:p>
            <a:r>
              <a:t>    {</a:t>
            </a:r>
          </a:p>
          <a:p>
            <a:r>
              <a:t>      "name": "여행비 환급 지원",</a:t>
            </a:r>
          </a:p>
          <a:p>
            <a:r>
              <a:t>      "basis": "26,359건 × 50,000원",</a:t>
            </a:r>
          </a:p>
          <a:p>
            <a:r>
              <a:t>      "amount": 1317950000</a:t>
            </a:r>
          </a:p>
          <a:p>
            <a:r>
              <a:t>    },</a:t>
            </a:r>
          </a:p>
          <a:p>
            <a:r>
              <a:t>    {</a:t>
            </a:r>
          </a:p>
          <a:p>
            <a:r>
              <a:t>      "name": "현장 운영·정산",</a:t>
            </a:r>
          </a:p>
          <a:p>
            <a:r>
              <a:t>      "basis": "max(월 20인일 × 3, 26,359건 ÷ 25건/인일 올림) = 1055인일 × 150,000원",</a:t>
            </a:r>
          </a:p>
          <a:p>
            <a:r>
              <a:t>      "amount": 158250000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149,220만원 × 10%",</a:t>
            </a:r>
          </a:p>
          <a:p>
            <a:r>
              <a:t>      "amount": 149220000</a:t>
            </a:r>
          </a:p>
          <a:p>
            <a:r>
              <a:t>    }</a:t>
            </a:r>
          </a:p>
          <a:p>
            <a:r>
              <a:t>  ],</a:t>
            </a:r>
          </a:p>
          <a:p>
            <a:r>
              <a:t>  "sources": [</a:t>
            </a:r>
          </a:p>
          <a:p>
            <a:r>
              <a:t>    {</a:t>
            </a:r>
          </a:p>
          <a:p>
            <a:r>
              <a:t>      "source_id": "estimate:gangjin-refund-rules:20260905",</a:t>
            </a:r>
          </a:p>
          <a:p>
            <a:r>
              <a:t>      "source_type": "budget_reference",</a:t>
            </a:r>
          </a:p>
          <a:p>
            <a:r>
              <a:t>      "title": "강진군 반값여행 공식 신청·정산 조건",</a:t>
            </a:r>
          </a:p>
          <a:p>
            <a:r>
              <a:t>      "source_url": "https://www.gangjintour.com/advance/advance_req.html",</a:t>
            </a:r>
          </a:p>
          <a:p>
            <a:r>
              <a:t>      "summary": "일반 관광객 여행비 50% 상품권 환급. 개인 최대 10만원·팀 최대 20만원. 원주 효과나 공급업체 단가의 근거는 아님.",</a:t>
            </a:r>
          </a:p>
          <a:p>
            <a:r>
              <a:t>      "accessed_at": "2026-09-05"</a:t>
            </a:r>
          </a:p>
          <a:p>
            <a:r>
              <a:t>    }</a:t>
            </a:r>
          </a:p>
          <a:p>
            <a:r>
              <a:t>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dataset:11200:1 | 한국관광 데이터랩 · 서울특별시 성동구 순 방문자 수 및 숙박 비율 (이동통신 기반 외지인) | https://datalab.visitkorea.or.kr/</a:t>
            </a:r>
          </a:p>
          <a:p xmlns:a="http://schemas.openxmlformats.org/drawingml/2006/main">
            <a:r>
              <a:t>dataset:11200:2 | 한국관광 데이터랩 · 서울특별시 성동구 월간 순 방문자 수 (이동통신 기반 외지인) | https://datalab.visitkorea.or.kr/</a:t>
            </a:r>
          </a:p>
          <a:p xmlns:a="http://schemas.openxmlformats.org/drawingml/2006/main">
            <a:r>
              <a:t>dataset:11200:3 | 한국관광 데이터랩 · 서울특별시 성동구 관광소비 추이_외지인 | https://datalab.visitkorea.or.kr/</a:t>
            </a:r>
          </a:p>
          <a:p xmlns:a="http://schemas.openxmlformats.org/drawingml/2006/main">
            <a:r>
              <a:t>dataset:11200:4 | 한국관광 데이터랩 · 서울특별시 성동구 숙박방문자 비율 추이 (이동통신 기반 외지인) | https://datalab.visitkorea.or.kr/</a:t>
            </a:r>
          </a:p>
          <a:p xmlns:a="http://schemas.openxmlformats.org/drawingml/2006/main">
            <a:r>
              <a:t>dataset:11200:5 | 한국관광 데이터랩 · 서울특별시 성동구 평균 숙박일 (이동통신 기반 외지인) | https://datalab.visitkorea.or.kr/</a:t>
            </a:r>
          </a:p>
          <a:p xmlns:a="http://schemas.openxmlformats.org/drawingml/2006/main">
            <a:r>
              <a:t>dataset:11200:6 | 한국관광 데이터랩 · 서울특별시 성동구 내비게이션 목적지 유형별 검색량 | https://datalab.visitkorea.or.kr/</a:t>
            </a:r>
          </a:p>
          <a:p xmlns:a="http://schemas.openxmlformats.org/drawingml/2006/main">
            <a:r>
              <a:t>dataset:11200:7 | 한국관광 데이터랩 · 서울특별시 성동구 SNS 언급량 | https://datalab.visitkorea.or.kr/</a:t>
            </a:r>
          </a:p>
          <a:p xmlns:a="http://schemas.openxmlformats.org/drawingml/2006/main">
            <a:r>
              <a:t>datalab:0ea2e7ff8811:517c835e3039 | 한국관광 데이터랩 공식 다운로드 · 서울특별시_성동구/숙박_체류시간/2025_01_12.zip | https://datalab.visitkorea.or.kr/</a:t>
            </a:r>
          </a:p>
          <a:p xmlns:a="http://schemas.openxmlformats.org/drawingml/2006/main">
            <a:r>
              <a:t>datalab:3a79405535b3:68f41f6aa9c6 | 한국관광 데이터랩 공식 다운로드 · 서울특별시_성동구/관광소비/2025_01_12.zip | https://datalab.visitkorea.or.kr/</a:t>
            </a:r>
          </a:p>
          <a:p xmlns:a="http://schemas.openxmlformats.org/drawingml/2006/main">
            <a:r>
              <a:t>datalab:6217474023e5:2e717447925f | 한국관광 데이터랩 공식 다운로드 · 서울특별시_성동구/숙박_체류시간/2026_01_06.zip | https://datalab.visitkorea.or.kr/</a:t>
            </a:r>
          </a:p>
          <a:p xmlns:a="http://schemas.openxmlformats.org/drawingml/2006/main">
            <a:r>
              <a:t>datalab:62312101c8d0:9c44bd532366 | 한국관광 데이터랩 공식 다운로드 · 서울특별시_성동구/방문자/2025_01_12.zip | https://datalab.visitkorea.or.kr/</a:t>
            </a:r>
          </a:p>
          <a:p xmlns:a="http://schemas.openxmlformats.org/drawingml/2006/main">
            <a:r>
              <a:t>datalab:7ddda0420208:c68bf7b028b0 | 한국관광 데이터랩 공식 다운로드 · 서울특별시_성동구/관광소비/2026_01_06.zip | https://datalab.visitkorea.or.kr/</a:t>
            </a:r>
          </a:p>
          <a:p xmlns:a="http://schemas.openxmlformats.org/drawingml/2006/main">
            <a:r>
              <a:t>datalab:9369271c7419:76a9b6ea89d8 | 한국관광 데이터랩 공식 다운로드 · 서울특별시_성동구/방문자/2026_01_06.zip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regional-status:300d117a9148:9b5e59efa799 | 한국관광 데이터랩 지역별 관광 현황 · 서울특별시 성동구 · 인기관광지 | https://datalab.visitkorea.or.kr/</a:t>
            </a:r>
          </a:p>
          <a:p xmlns:a="http://schemas.openxmlformats.org/drawingml/2006/main">
            <a:r>
              <a:t>regional-status:e1f4d12a3396:706443b7ba17 | 한국관광 데이터랩 지역별 관광 현황 · 서울특별시 성동구 · 유입유출 | https://datalab.visitkorea.or.kr/</a:t>
            </a:r>
          </a:p>
          <a:p xmlns:a="http://schemas.openxmlformats.org/drawingml/2006/main">
            <a:r>
              <a:t>regional-status:f05693fd34a7:ae929e215d91 | 한국관광 데이터랩 지역별 관광 현황 · 서울특별시 성동구 · 지역집중률 | https://datalab.visitkorea.or.kr/</a:t>
            </a:r>
          </a:p>
          <a:p xmlns:a="http://schemas.openxmlformats.org/drawingml/2006/main">
            <a:r>
              <a:t>ml:11200:regional-demand-v3.1:202606 | 지역 관광수요 ML 전망 · 공식 관측값 아님 | URL 미기록</a:t>
            </a:r>
          </a:p>
          <a:p xmlns:a="http://schemas.openxmlformats.org/drawingml/2006/main">
            <a:r>
              <a:t>tour-api:2901229 | 가조쿠 | https://apis.data.go.kr/B551011/KorService2</a:t>
            </a:r>
          </a:p>
          <a:p xmlns:a="http://schemas.openxmlformats.org/drawingml/2006/main">
            <a:r>
              <a:t>tour-api:2895161 | 계월 | https://apis.data.go.kr/B551011/KorService2</a:t>
            </a:r>
          </a:p>
          <a:p xmlns:a="http://schemas.openxmlformats.org/drawingml/2006/main">
            <a:r>
              <a:t>tour-api:2901359 | 계자람 | https://apis.data.go.kr/B551011/KorService2</a:t>
            </a:r>
          </a:p>
          <a:p xmlns:a="http://schemas.openxmlformats.org/drawingml/2006/main">
            <a:r>
              <a:t>tour-api:2895211 | 구욱희씨 | https://apis.data.go.kr/B551011/KorService2</a:t>
            </a:r>
          </a:p>
          <a:p xmlns:a="http://schemas.openxmlformats.org/drawingml/2006/main">
            <a:r>
              <a:t>tour-api:2895236 | 구펠 | https://apis.data.go.kr/B551011/KorService2</a:t>
            </a:r>
          </a:p>
          <a:p xmlns:a="http://schemas.openxmlformats.org/drawingml/2006/main">
            <a:r>
              <a:t>tour-api:2898994 | 그라데이션커피 | https://apis.data.go.kr/B551011/KorService2</a:t>
            </a:r>
          </a:p>
          <a:p xmlns:a="http://schemas.openxmlformats.org/drawingml/2006/main">
            <a:r>
              <a:t>tour-api:2894873 | 그린랩 | https://apis.data.go.kr/B551011/KorService2</a:t>
            </a:r>
          </a:p>
          <a:p xmlns:a="http://schemas.openxmlformats.org/drawingml/2006/main">
            <a:r>
              <a:t>tour-api:2743748 | 금남시장 | https://apis.data.go.kr/B551011/KorService2</a:t>
            </a:r>
          </a:p>
          <a:p xmlns:a="http://schemas.openxmlformats.org/drawingml/2006/main">
            <a:r>
              <a:t>tour-api:2901568 | 기후 | https://apis.data.go.kr/B551011/KorService2</a:t>
            </a:r>
          </a:p>
          <a:p xmlns:a="http://schemas.openxmlformats.org/drawingml/2006/main">
            <a:r>
              <a:t>tour-api:2894842 | 꾸아 성수점 | https://apis.data.go.kr/B551011/KorService2</a:t>
            </a:r>
          </a:p>
          <a:p xmlns:a="http://schemas.openxmlformats.org/drawingml/2006/main">
            <a:r>
              <a:t>tour-api:2843520 | 난포 | https://apis.data.go.kr/B551011/KorService2</a:t>
            </a:r>
          </a:p>
          <a:p xmlns:a="http://schemas.openxmlformats.org/drawingml/2006/main">
            <a:r>
              <a:t>tour-api:2894810 | 누메로도스 | https://apis.data.go.kr/B551011/KorService2</a:t>
            </a:r>
          </a:p>
          <a:p xmlns:a="http://schemas.openxmlformats.org/drawingml/2006/main">
            <a:r>
              <a:t>tour-api:2894795 | 누메로뜨레쓰 | https://apis.data.go.kr/B551011/KorService2</a:t>
            </a:r>
          </a:p>
          <a:p xmlns:a="http://schemas.openxmlformats.org/drawingml/2006/main">
            <a:r>
              <a:t>tour-api:2894763 | 니드스윗 | https://apis.data.go.kr/B551011/KorService2</a:t>
            </a:r>
          </a:p>
          <a:p xmlns:a="http://schemas.openxmlformats.org/drawingml/2006/main">
            <a:r>
              <a:t>tour-api:2894747 | 단일서울 | https://apis.data.go.kr/B551011/KorService2</a:t>
            </a:r>
          </a:p>
          <a:p xmlns:a="http://schemas.openxmlformats.org/drawingml/2006/main">
            <a:r>
              <a:t>tour-api:2894854 | 대돈집 | https://apis.data.go.kr/B551011/KorService2</a:t>
            </a:r>
          </a:p>
          <a:p xmlns:a="http://schemas.openxmlformats.org/drawingml/2006/main">
            <a:r>
              <a:t>tour-api:2899012 | 대흥정육식당 | https://apis.data.go.kr/B551011/KorService2</a:t>
            </a:r>
          </a:p>
          <a:p xmlns:a="http://schemas.openxmlformats.org/drawingml/2006/main">
            <a:r>
              <a:t>tour-api:2753089 | 더서울라이티움 | https://apis.data.go.kr/B551011/KorService2</a:t>
            </a:r>
          </a:p>
          <a:p xmlns:a="http://schemas.openxmlformats.org/drawingml/2006/main">
            <a:r>
              <a:t>tour-api:736766 | 더페이지갤러리 | https://apis.data.go.kr/B551011/KorService2</a:t>
            </a:r>
          </a:p>
          <a:p xmlns:a="http://schemas.openxmlformats.org/drawingml/2006/main">
            <a:r>
              <a:t>tour-api:2845040 | 땅코참숯구이 본점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web:11200:1 | 2026 서울국제정원박람회 &lt; 행사·공연 정보 &lt; 축제·관광 &lt; 미래한강본부, 한강공원 | https://hangang.seoul.go.kr/www/eventMng/detail.do?evntSn=378&amp;mid=538&amp;srchType=list</a:t>
            </a:r>
          </a:p>
          <a:p xmlns:a="http://schemas.openxmlformats.org/drawingml/2006/main">
            <a:r>
              <a:t>web:11200:2 | 개막 20일차 250만명 넘은 서울국제정원박람회… 성수 상권 매출 30% 급증 &gt; 보도자료 | 서울특별시 | https://www.seoul.go.kr/news/news_report.do?nttNo=458311</a:t>
            </a:r>
          </a:p>
          <a:p xmlns:a="http://schemas.openxmlformats.org/drawingml/2006/main">
            <a:r>
              <a:t>web:11200:3 | 서울숲-성수 커넥트 투어 | 2026 서울국제정원박람회 | https://gov.seoul.go.kr/festa/garden/y2026/program/garden-culture-program/commentary-program?article=42926</a:t>
            </a:r>
          </a:p>
          <a:p xmlns:a="http://schemas.openxmlformats.org/drawingml/2006/main">
            <a:r>
              <a:t>web:11200:4 | 2026 서울축제지도 - 가을편 &lt; 공지사항(상세) &lt; 새소식 | 서울문화포털 | https://culture.seoul.go.kr/culture/bbs/B0000000/view.do?menuNo=200050&amp;nttId=16465</a:t>
            </a:r>
          </a:p>
          <a:p xmlns:a="http://schemas.openxmlformats.org/drawingml/2006/main">
            <a:r>
              <a:t>web:11200:5 | 오시는 길 | 2026 서울국제정원박람회 | https://www.seoul.go.kr/festa/garden/y2026/introduce/location?pc=1</a:t>
            </a:r>
          </a:p>
          <a:p xmlns:a="http://schemas.openxmlformats.org/drawingml/2006/main">
            <a:r>
              <a:t>web:11200:6 | (석간) 제11차 도시건축공동위원회 개최결과 &gt; 보도자료 | 서울특별시 | https://www.seoul.go.kr/news/news_report.do?nttNo=460823&amp;tr_code=snews</a:t>
            </a:r>
          </a:p>
          <a:p xmlns:a="http://schemas.openxmlformats.org/drawingml/2006/main">
            <a:r>
              <a:t>web:11200:7 | 2026 서울국제정원박람회 &lt; 행사·공연 정보 &lt; 축제·관광 &lt; 미래한강본부, 한강공원 | https://hangang.seoul.go.kr/www/eventMng/detail.do?evntSn=378&amp;mid=538&amp;srchType=list</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서울특별시 성동구 순 방문자 수 및 숙박 비율 (이동통신 기반 외지인)",</a:t>
            </a:r>
          </a:p>
          <a:p xmlns:a="http://schemas.openxmlformats.org/drawingml/2006/main">
            <a:r>
              <a:t>      "summary": "월간 순 방문자 수: 6,687,696명 (관측 기준월: 2026-06)",</a:t>
            </a:r>
          </a:p>
          <a:p xmlns:a="http://schemas.openxmlformats.org/drawingml/2006/main">
            <a:r>
              <a:t>      "source_id": "dataset:11200:1",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서울특별시 성동구 월간 순 방문자 수 (이동통신 기반 외지인)",</a:t>
            </a:r>
          </a:p>
          <a:p xmlns:a="http://schemas.openxmlformats.org/drawingml/2006/main">
            <a:r>
              <a:t>      "summary": "전년동월 외지인 방문자 증감률: 10.2% (관측 기준월: 2026-06)",</a:t>
            </a:r>
          </a:p>
          <a:p xmlns:a="http://schemas.openxmlformats.org/drawingml/2006/main">
            <a:r>
              <a:t>      "source_id": "dataset:11200:2",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서울특별시 성동구 관광소비 추이_외지인",</a:t>
            </a:r>
          </a:p>
          <a:p xmlns:a="http://schemas.openxmlformats.org/drawingml/2006/main">
            <a:r>
              <a:t>      "summary": "월간 외지인 관광소비 총액: 93,151,315,000원 (관측 기준월: 2026-06)",</a:t>
            </a:r>
          </a:p>
          <a:p xmlns:a="http://schemas.openxmlformats.org/drawingml/2006/main">
            <a:r>
              <a:t>      "source_id": "dataset:11200:3",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서울특별시 성동구 숙박방문자 비율 추이 (이동통신 기반 외지인)",</a:t>
            </a:r>
          </a:p>
          <a:p xmlns:a="http://schemas.openxmlformats.org/drawingml/2006/main">
            <a:r>
              <a:t>      "summary": "외지인 숙박 방문 비율: 3.7% (관측 기준월: 2026-06)",</a:t>
            </a:r>
          </a:p>
          <a:p xmlns:a="http://schemas.openxmlformats.org/drawingml/2006/main">
            <a:r>
              <a:t>      "source_id": "dataset:11200:4",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서울특별시 성동구 평균 숙박일 (이동통신 기반 외지인)",</a:t>
            </a:r>
          </a:p>
          <a:p xmlns:a="http://schemas.openxmlformats.org/drawingml/2006/main">
            <a:r>
              <a:t>      "summary": "외지인 평균 숙박일수: 3.03일 (관측 기준월: 2026-06)",</a:t>
            </a:r>
          </a:p>
          <a:p xmlns:a="http://schemas.openxmlformats.org/drawingml/2006/main">
            <a:r>
              <a:t>      "source_id": "dataset:11200:5",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서울특별시 성동구 내비게이션 목적지 유형별 검색량",</a:t>
            </a:r>
          </a:p>
          <a:p xmlns:a="http://schemas.openxmlformats.org/drawingml/2006/main">
            <a:r>
              <a:t>      "summary": "내비게이션 목적지 검색량: 89,198건 (관측 기준월: 2026-06)",</a:t>
            </a:r>
          </a:p>
          <a:p xmlns:a="http://schemas.openxmlformats.org/drawingml/2006/main">
            <a:r>
              <a:t>      "source_id": "dataset:11200:6",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서울특별시 성동구 SNS 언급량",</a:t>
            </a:r>
          </a:p>
          <a:p xmlns:a="http://schemas.openxmlformats.org/drawingml/2006/main">
            <a:r>
              <a:t>      "summary": "SNS 언급량: 71,233건 (관측 기준월: 2026-06)",</a:t>
            </a:r>
          </a:p>
          <a:p xmlns:a="http://schemas.openxmlformats.org/drawingml/2006/main">
            <a:r>
              <a:t>      "source_id": "dataset:11200:7",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서울특별시_성동구/숙박_체류시간/2025_01_12.zip",</a:t>
            </a:r>
          </a:p>
          <a:p xmlns:a="http://schemas.openxmlformats.org/drawingml/2006/main">
            <a:r>
              <a:t>      "summary": "전국 비교 기준 기간: 2025-07 ~ 2026-06",</a:t>
            </a:r>
          </a:p>
          <a:p xmlns:a="http://schemas.openxmlformats.org/drawingml/2006/main">
            <a:r>
              <a:t>      "source_id": "datalab:0ea2e7ff8811:517c835e3039",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서울특별시_성동구/관광소비/2025_01_12.zip",</a:t>
            </a:r>
          </a:p>
          <a:p xmlns:a="http://schemas.openxmlformats.org/drawingml/2006/main">
            <a:r>
              <a:t>      "summary": "전국 비교 기준 기간: 2025-07 ~ 2026-06",</a:t>
            </a:r>
          </a:p>
          <a:p xmlns:a="http://schemas.openxmlformats.org/drawingml/2006/main">
            <a:r>
              <a:t>      "source_id": "datalab:3a79405535b3:68f41f6aa9c6",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서울특별시_성동구/숙박_체류시간/2026_01_06.zip",</a:t>
            </a:r>
          </a:p>
          <a:p xmlns:a="http://schemas.openxmlformats.org/drawingml/2006/main">
            <a:r>
              <a:t>      "summary": "전국 비교 기준 기간: 2025-07 ~ 2026-06",</a:t>
            </a:r>
          </a:p>
          <a:p xmlns:a="http://schemas.openxmlformats.org/drawingml/2006/main">
            <a:r>
              <a:t>      "source_id": "datalab:6217474023e5:2e717447925f",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서울특별시_성동구/방문자/2025_01_12.zip",</a:t>
            </a:r>
          </a:p>
          <a:p xmlns:a="http://schemas.openxmlformats.org/drawingml/2006/main">
            <a:r>
              <a:t>      "summary": "전국 비교 기준 기간: 2025-07 ~ 2026-06",</a:t>
            </a:r>
          </a:p>
          <a:p xmlns:a="http://schemas.openxmlformats.org/drawingml/2006/main">
            <a:r>
              <a:t>      "source_id": "datalab:62312101c8d0:9c44bd532366",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서울특별시_성동구/관광소비/2026_01_06.zip",</a:t>
            </a:r>
          </a:p>
          <a:p xmlns:a="http://schemas.openxmlformats.org/drawingml/2006/main">
            <a:r>
              <a:t>      "summary": "전국 비교 기준 기간: 2025-07 ~ 2026-06",</a:t>
            </a:r>
          </a:p>
          <a:p xmlns:a="http://schemas.openxmlformats.org/drawingml/2006/main">
            <a:r>
              <a:t>      "source_id": "datalab:7ddda0420208:c68bf7b028b0",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서울특별시_성동구/방문자/2026_01_06.zip",</a:t>
            </a:r>
          </a:p>
          <a:p xmlns:a="http://schemas.openxmlformats.org/drawingml/2006/main">
            <a:r>
              <a:t>      "summary": "전국 비교 기준 기간: 2025-07 ~ 2026-06",</a:t>
            </a:r>
          </a:p>
          <a:p xmlns:a="http://schemas.openxmlformats.org/drawingml/2006/main">
            <a:r>
              <a:t>      "source_id": "datalab:9369271c7419:76a9b6ea89d8",</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서울특별시 성동구 · 인기관광지",</a:t>
            </a:r>
          </a:p>
          <a:p xmlns:a="http://schemas.openxmlformats.org/drawingml/2006/main">
            <a:r>
              <a:t>      "summary": "관측 기간: 2025-07 ~ 2026-06. 유입·유출·인기장소 또는 30일 집중 운영 신호.",</a:t>
            </a:r>
          </a:p>
          <a:p xmlns:a="http://schemas.openxmlformats.org/drawingml/2006/main">
            <a:r>
              <a:t>      "source_id": "regional-status:300d117a9148:9b5e59efa799",</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서울특별시 성동구 · 유입유출",</a:t>
            </a:r>
          </a:p>
          <a:p xmlns:a="http://schemas.openxmlformats.org/drawingml/2006/main">
            <a:r>
              <a:t>      "summary": "관측 기간: 2025-07 ~ 2026-06. 유입·유출·인기장소 또는 30일 집중 운영 신호.",</a:t>
            </a:r>
          </a:p>
          <a:p xmlns:a="http://schemas.openxmlformats.org/drawingml/2006/main">
            <a:r>
              <a:t>      "source_id": "regional-status:e1f4d12a3396:706443b7ba17",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서울특별시 성동구 · 지역집중률",</a:t>
            </a:r>
          </a:p>
          <a:p xmlns:a="http://schemas.openxmlformats.org/drawingml/2006/main">
            <a:r>
              <a:t>      "summary": "관측 기간: 2025-07 ~ 2026-06. 유입·유출·인기장소 또는 30일 집중 운영 신호.",</a:t>
            </a:r>
          </a:p>
          <a:p xmlns:a="http://schemas.openxmlformats.org/drawingml/2006/main">
            <a:r>
              <a:t>      "source_id": "regional-status:f05693fd34a7:ae929e215d91",</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"ml:11200:regional-demand-v3.1:202606",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"c47c92e05a4d54565864c2c7d1091d0c4f29ba1e6f45559f77d766e9c92e6d24"</a:t>
            </a:r>
          </a:p>
          <a:p xmlns:a="http://schemas.openxmlformats.org/drawingml/2006/main">
            <a:r>
              <a:t>    },</a:t>
            </a:r>
          </a:p>
          <a:p xmlns:a="http://schemas.openxmlformats.org/drawingml/2006/main">
            <a:r>
              <a:t>    {</a:t>
            </a:r>
          </a:p>
          <a:p xmlns:a="http://schemas.openxmlformats.org/drawingml/2006/main">
            <a:r>
              <a:t>      "title": "가조쿠",</a:t>
            </a:r>
          </a:p>
          <a:p xmlns:a="http://schemas.openxmlformats.org/drawingml/2006/main">
            <a:r>
              <a:t>      "address": "서울특별시 성동구 연무장길 31-2 (성수동2가)",</a:t>
            </a:r>
          </a:p>
          <a:p xmlns:a="http://schemas.openxmlformats.org/drawingml/2006/main">
            <a:r>
              <a:t>      "summary": "한국관광공사 국문관광정보 API가 반환한 선택 지역 관광자원",</a:t>
            </a:r>
          </a:p>
          <a:p xmlns:a="http://schemas.openxmlformats.org/drawingml/2006/main">
            <a:r>
              <a:t>      "image_url": "http://tong.visitkorea.or.kr/cms/resource/12/2901212_image2_1.jpg",</a:t>
            </a:r>
          </a:p>
          <a:p xmlns:a="http://schemas.openxmlformats.org/drawingml/2006/main">
            <a:r>
              <a:t>      "source_id": "tour-api:2901229",</a:t>
            </a:r>
          </a:p>
          <a:p xmlns:a="http://schemas.openxmlformats.org/drawingml/2006/main">
            <a:r>
              <a:t>      "content_id": "2901229",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"계월",</a:t>
            </a:r>
          </a:p>
          <a:p xmlns:a="http://schemas.openxmlformats.org/drawingml/2006/main">
            <a:r>
              <a:t>      "address": "서울특별시 성동구 성덕정3길 8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"http://tong.visitkorea.or.kr/cms/resource/44/2895144_image2_1.JPG",</a:t>
            </a:r>
          </a:p>
          <a:p xmlns:a="http://schemas.openxmlformats.org/drawingml/2006/main">
            <a:r>
              <a:t>      "source_id": "tour-api:2895161",</a:t>
            </a:r>
          </a:p>
          <a:p xmlns:a="http://schemas.openxmlformats.org/drawingml/2006/main">
            <a:r>
              <a:t>      "content_id": "2895161",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"계자람",</a:t>
            </a:r>
          </a:p>
          <a:p xmlns:a="http://schemas.openxmlformats.org/drawingml/2006/main">
            <a:r>
              <a:t>      "address": "서울특별시 성동구 성덕정17길 5 (성수동2가)",</a:t>
            </a:r>
          </a:p>
          <a:p xmlns:a="http://schemas.openxmlformats.org/drawingml/2006/main">
            <a:r>
              <a:t>      "summary": "한국관광공사 국문관광정보 API가 반환한 선택 지역 관광자원",</a:t>
            </a:r>
          </a:p>
          <a:p xmlns:a="http://schemas.openxmlformats.org/drawingml/2006/main">
            <a:r>
              <a:t>      "image_url": "http://tong.visitkorea.or.kr/cms/resource/51/2901351_image2_1.jpg",</a:t>
            </a:r>
          </a:p>
          <a:p xmlns:a="http://schemas.openxmlformats.org/drawingml/2006/main">
            <a:r>
              <a:t>      "source_id": "tour-api:2901359",</a:t>
            </a:r>
          </a:p>
          <a:p xmlns:a="http://schemas.openxmlformats.org/drawingml/2006/main">
            <a:r>
              <a:t>      "content_id": "2901359",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"구욱희씨",</a:t>
            </a:r>
          </a:p>
          <a:p xmlns:a="http://schemas.openxmlformats.org/drawingml/2006/main">
            <a:r>
              <a:t>      "address": "서울특별시 성동구 서울숲4길 12-22",</a:t>
            </a:r>
          </a:p>
          <a:p xmlns:a="http://schemas.openxmlformats.org/drawingml/2006/main">
            <a:r>
              <a:t>      "summary": "한국관광공사 국문관광정보 API가 반환한 선택 지역 관광자원",</a:t>
            </a:r>
          </a:p>
          <a:p xmlns:a="http://schemas.openxmlformats.org/drawingml/2006/main">
            <a:r>
              <a:t>      "image_url": "http://tong.visitkorea.or.kr/cms/resource/08/2895208_image2_1.jpg",</a:t>
            </a:r>
          </a:p>
          <a:p xmlns:a="http://schemas.openxmlformats.org/drawingml/2006/main">
            <a:r>
              <a:t>      "source_id": "tour-api:2895211",</a:t>
            </a:r>
          </a:p>
          <a:p xmlns:a="http://schemas.openxmlformats.org/drawingml/2006/main">
            <a:r>
              <a:t>      "content_id": "2895211",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"구펠",</a:t>
            </a:r>
          </a:p>
          <a:p xmlns:a="http://schemas.openxmlformats.org/drawingml/2006/main">
            <a:r>
              <a:t>      "address": "서울특별시 성동구 왕십리로14길 30-1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"http://tong.visitkorea.or.kr/cms/resource/26/2895226_image2_1.jpg",</a:t>
            </a:r>
          </a:p>
          <a:p xmlns:a="http://schemas.openxmlformats.org/drawingml/2006/main">
            <a:r>
              <a:t>      "source_id": "tour-api:2895236",</a:t>
            </a:r>
          </a:p>
          <a:p xmlns:a="http://schemas.openxmlformats.org/drawingml/2006/main">
            <a:r>
              <a:t>      "content_id": "2895236",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"그라데이션커피",</a:t>
            </a:r>
          </a:p>
          <a:p xmlns:a="http://schemas.openxmlformats.org/drawingml/2006/main">
            <a:r>
              <a:t>      "address": "서울특별시 성동구 상원12길 24-1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"http://tong.visitkorea.or.kr/cms/resource/82/2898982_image2_1.jpg",</a:t>
            </a:r>
          </a:p>
          <a:p xmlns:a="http://schemas.openxmlformats.org/drawingml/2006/main">
            <a:r>
              <a:t>      "source_id": "tour-api:2898994",</a:t>
            </a:r>
          </a:p>
          <a:p xmlns:a="http://schemas.openxmlformats.org/drawingml/2006/main">
            <a:r>
              <a:t>      "content_id": "2898994",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"그린랩",</a:t>
            </a:r>
          </a:p>
          <a:p xmlns:a="http://schemas.openxmlformats.org/drawingml/2006/main">
            <a:r>
              <a:t>      "address": "서울특별시 성동구 서울숲2길 18-11",</a:t>
            </a:r>
          </a:p>
          <a:p xmlns:a="http://schemas.openxmlformats.org/drawingml/2006/main">
            <a:r>
              <a:t>      "summary": "한국관광공사 국문관광정보 API가 반환한 선택 지역 관광자원",</a:t>
            </a:r>
          </a:p>
          <a:p xmlns:a="http://schemas.openxmlformats.org/drawingml/2006/main">
            <a:r>
              <a:t>      "image_url": "http://tong.visitkorea.or.kr/cms/resource/64/2894864_image2_1.JPG",</a:t>
            </a:r>
          </a:p>
          <a:p xmlns:a="http://schemas.openxmlformats.org/drawingml/2006/main">
            <a:r>
              <a:t>      "source_id": "tour-api:2894873",</a:t>
            </a:r>
          </a:p>
          <a:p xmlns:a="http://schemas.openxmlformats.org/drawingml/2006/main">
            <a:r>
              <a:t>      "content_id": "2894873",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"금남시장",</a:t>
            </a:r>
          </a:p>
          <a:p xmlns:a="http://schemas.openxmlformats.org/drawingml/2006/main">
            <a:r>
              <a:t>      "address": "서울특별시 성동구 독서당로 303-7 (금호동3가)",</a:t>
            </a:r>
          </a:p>
          <a:p xmlns:a="http://schemas.openxmlformats.org/drawingml/2006/main">
            <a:r>
              <a:t>      "summary": "한국관광공사 국문관광정보 API가 반환한 선택 지역 관광자원",</a:t>
            </a:r>
          </a:p>
          <a:p xmlns:a="http://schemas.openxmlformats.org/drawingml/2006/main">
            <a:r>
              <a:t>      "image_url": "http://tong.visitkorea.or.kr/cms/resource/59/3414159_image2_1.jpg",</a:t>
            </a:r>
          </a:p>
          <a:p xmlns:a="http://schemas.openxmlformats.org/drawingml/2006/main">
            <a:r>
              <a:t>      "source_id": "tour-api:2743748",</a:t>
            </a:r>
          </a:p>
          <a:p xmlns:a="http://schemas.openxmlformats.org/drawingml/2006/main">
            <a:r>
              <a:t>      "content_id": "2743748",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"기후",</a:t>
            </a:r>
          </a:p>
          <a:p xmlns:a="http://schemas.openxmlformats.org/drawingml/2006/main">
            <a:r>
              <a:t>      "address": "서울특별시 성동구 성수이로 66 서울숲 드림타워",</a:t>
            </a:r>
          </a:p>
          <a:p xmlns:a="http://schemas.openxmlformats.org/drawingml/2006/main">
            <a:r>
              <a:t>      "summary": "한국관광공사 국문관광정보 API가 반환한 선택 지역 관광자원",</a:t>
            </a:r>
          </a:p>
          <a:p xmlns:a="http://schemas.openxmlformats.org/drawingml/2006/main">
            <a:r>
              <a:t>      "image_url": "http://tong.visitkorea.or.kr/cms/resource/59/2901559_image2_1.jpg",</a:t>
            </a:r>
          </a:p>
          <a:p xmlns:a="http://schemas.openxmlformats.org/drawingml/2006/main">
            <a:r>
              <a:t>      "source_id": "tour-api:2901568",</a:t>
            </a:r>
          </a:p>
          <a:p xmlns:a="http://schemas.openxmlformats.org/drawingml/2006/main">
            <a:r>
              <a:t>      "content_id": "2901568",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"꾸아 성수점",</a:t>
            </a:r>
          </a:p>
          <a:p xmlns:a="http://schemas.openxmlformats.org/drawingml/2006/main">
            <a:r>
              <a:t>      "address": "서울특별시 성동구 왕십리로 94-2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"http://tong.visitkorea.or.kr/cms/resource/17/2894817_image2_1.jpg",</a:t>
            </a:r>
          </a:p>
          <a:p xmlns:a="http://schemas.openxmlformats.org/drawingml/2006/main">
            <a:r>
              <a:t>      "source_id": "tour-api:2894842",</a:t>
            </a:r>
          </a:p>
          <a:p xmlns:a="http://schemas.openxmlformats.org/drawingml/2006/main">
            <a:r>
              <a:t>      "content_id": "2894842",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"난포",</a:t>
            </a:r>
          </a:p>
          <a:p xmlns:a="http://schemas.openxmlformats.org/drawingml/2006/main">
            <a:r>
              <a:t>      "address": "서울특별시 성동구 서울숲4길 18-8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"http://tong.visitkorea.or.kr/cms/resource/15/2843515_image2_1.jpg",</a:t>
            </a:r>
          </a:p>
          <a:p xmlns:a="http://schemas.openxmlformats.org/drawingml/2006/main">
            <a:r>
              <a:t>      "source_id": "tour-api:2843520",</a:t>
            </a:r>
          </a:p>
          <a:p xmlns:a="http://schemas.openxmlformats.org/drawingml/2006/main">
            <a:r>
              <a:t>      "content_id": "2843520",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"누메로도스",</a:t>
            </a:r>
          </a:p>
          <a:p xmlns:a="http://schemas.openxmlformats.org/drawingml/2006/main">
            <a:r>
              <a:t>      "address": "서울특별시 성동구 상원1길 35-9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"http://tong.visitkorea.or.kr/cms/resource/99/2894799_image2_1.jpg",</a:t>
            </a:r>
          </a:p>
          <a:p xmlns:a="http://schemas.openxmlformats.org/drawingml/2006/main">
            <a:r>
              <a:t>      "source_id": "tour-api:2894810",</a:t>
            </a:r>
          </a:p>
          <a:p xmlns:a="http://schemas.openxmlformats.org/drawingml/2006/main">
            <a:r>
              <a:t>      "content_id": "2894810",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"누메로뜨레쓰",</a:t>
            </a:r>
          </a:p>
          <a:p xmlns:a="http://schemas.openxmlformats.org/drawingml/2006/main">
            <a:r>
              <a:t>      "address": "서울특별시 성동구 성수일로 21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"http://tong.visitkorea.or.kr/cms/resource/76/2894776_image2_1.jpg",</a:t>
            </a:r>
          </a:p>
          <a:p xmlns:a="http://schemas.openxmlformats.org/drawingml/2006/main">
            <a:r>
              <a:t>      "source_id": "tour-api:2894795",</a:t>
            </a:r>
          </a:p>
          <a:p xmlns:a="http://schemas.openxmlformats.org/drawingml/2006/main">
            <a:r>
              <a:t>      "content_id": "2894795",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"니드스윗",</a:t>
            </a:r>
          </a:p>
          <a:p xmlns:a="http://schemas.openxmlformats.org/drawingml/2006/main">
            <a:r>
              <a:t>      "address": "서울특별시 성동구 아차산로1길 9",</a:t>
            </a:r>
          </a:p>
          <a:p xmlns:a="http://schemas.openxmlformats.org/drawingml/2006/main">
            <a:r>
              <a:t>      "summary": "한국관광공사 국문관광정보 API가 반환한 선택 지역 관광자원",</a:t>
            </a:r>
          </a:p>
          <a:p xmlns:a="http://schemas.openxmlformats.org/drawingml/2006/main">
            <a:r>
              <a:t>      "image_url": "http://tong.visitkorea.or.kr/cms/resource/55/2894755_image2_1.jpg",</a:t>
            </a:r>
          </a:p>
          <a:p xmlns:a="http://schemas.openxmlformats.org/drawingml/2006/main">
            <a:r>
              <a:t>      "source_id": "tour-api:2894763",</a:t>
            </a:r>
          </a:p>
          <a:p xmlns:a="http://schemas.openxmlformats.org/drawingml/2006/main">
            <a:r>
              <a:t>      "content_id": "2894763",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"단일서울",</a:t>
            </a:r>
          </a:p>
          <a:p xmlns:a="http://schemas.openxmlformats.org/drawingml/2006/main">
            <a:r>
              <a:t>      "address": "서울특별시 성동구 왕십리로 66-33 (성수동1가)",</a:t>
            </a:r>
          </a:p>
          <a:p xmlns:a="http://schemas.openxmlformats.org/drawingml/2006/main">
            <a:r>
              <a:t>      "summary": "한국관광공사 국문관광정보 API가 반환한 선택 지역 관광자원",</a:t>
            </a:r>
          </a:p>
          <a:p xmlns:a="http://schemas.openxmlformats.org/drawingml/2006/main">
            <a:r>
              <a:t>      "image_url": "http://tong.visitkorea.or.kr/cms/resource/34/2894734_image2_1.jpg",</a:t>
            </a:r>
          </a:p>
          <a:p xmlns:a="http://schemas.openxmlformats.org/drawingml/2006/main">
            <a:r>
              <a:t>      "source_id": "tour-api:2894747",</a:t>
            </a:r>
          </a:p>
          <a:p xmlns:a="http://schemas.openxmlformats.org/drawingml/2006/main">
            <a:r>
              <a:t>      "content_id": "2894747",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"대돈집",</a:t>
            </a:r>
          </a:p>
          <a:p xmlns:a="http://schemas.openxmlformats.org/drawingml/2006/main">
            <a:r>
              <a:t>      "address": "서울특별시 성동구 왕십리로14길 18 뚝섬영재어린이집",</a:t>
            </a:r>
          </a:p>
          <a:p xmlns:a="http://schemas.openxmlformats.org/drawingml/2006/main">
            <a:r>
              <a:t>      "summary": "한국관광공사 국문관광정보 API가 반환한 선택 지역 관광자원",</a:t>
            </a:r>
          </a:p>
          <a:p xmlns:a="http://schemas.openxmlformats.org/drawingml/2006/main">
            <a:r>
              <a:t>      "image_url": "http://tong.visitkorea.or.kr/cms/resource/33/2894833_image2_1.jpg",</a:t>
            </a:r>
          </a:p>
          <a:p xmlns:a="http://schemas.openxmlformats.org/drawingml/2006/main">
            <a:r>
              <a:t>      "source_id": "tour-api:2894854",</a:t>
            </a:r>
          </a:p>
          <a:p xmlns:a="http://schemas.openxmlformats.org/drawingml/2006/main">
            <a:r>
              <a:t>      "content_id": "2894854",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"대흥정육식당",</a:t>
            </a:r>
          </a:p>
          <a:p xmlns:a="http://schemas.openxmlformats.org/drawingml/2006/main">
            <a:r>
              <a:t>      "address": "서울특별시 성동구 왕십리로 16 (성수동1가, 트리마제)",</a:t>
            </a:r>
          </a:p>
          <a:p xmlns:a="http://schemas.openxmlformats.org/drawingml/2006/main">
            <a:r>
              <a:t>      "summary": "한국관광공사 국문관광정보 API가 반환한 선택 지역 관광자원",</a:t>
            </a:r>
          </a:p>
          <a:p xmlns:a="http://schemas.openxmlformats.org/drawingml/2006/main">
            <a:r>
              <a:t>      "image_url": "http://tong.visitkorea.or.kr/cms/resource/97/2898997_image2_1.jpg",</a:t>
            </a:r>
          </a:p>
          <a:p xmlns:a="http://schemas.openxmlformats.org/drawingml/2006/main">
            <a:r>
              <a:t>      "source_id": "tour-api:2899012",</a:t>
            </a:r>
          </a:p>
          <a:p xmlns:a="http://schemas.openxmlformats.org/drawingml/2006/main">
            <a:r>
              <a:t>      "content_id": "2899012",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"더서울라이티움",</a:t>
            </a:r>
          </a:p>
          <a:p xmlns:a="http://schemas.openxmlformats.org/drawingml/2006/main">
            <a:r>
              <a:t>      "address": "서울특별시 성동구 서울숲2길 32-14 (성수동1가, 갤러리아 포레)",</a:t>
            </a:r>
          </a:p>
          <a:p xmlns:a="http://schemas.openxmlformats.org/drawingml/2006/main">
            <a:r>
              <a:t>      "summary": "한국관광공사 국문관광정보 API가 반환한 선택 지역 관광자원",</a:t>
            </a:r>
          </a:p>
          <a:p xmlns:a="http://schemas.openxmlformats.org/drawingml/2006/main">
            <a:r>
              <a:t>      "image_url": "http://tong.visitkorea.or.kr/cms/resource/37/3401437_image2_1.JPG",</a:t>
            </a:r>
          </a:p>
          <a:p xmlns:a="http://schemas.openxmlformats.org/drawingml/2006/main">
            <a:r>
              <a:t>      "source_id": "tour-api:2753089",</a:t>
            </a:r>
          </a:p>
          <a:p xmlns:a="http://schemas.openxmlformats.org/drawingml/2006/main">
            <a:r>
              <a:t>      "content_id": "2753089",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"더페이지갤러리",</a:t>
            </a:r>
          </a:p>
          <a:p xmlns:a="http://schemas.openxmlformats.org/drawingml/2006/main">
            <a:r>
              <a:t>      "address": "서울특별시 성동구 서울숲2길 32-14 (성수동1가, 갤러리아 포레)",</a:t>
            </a:r>
          </a:p>
          <a:p xmlns:a="http://schemas.openxmlformats.org/drawingml/2006/main">
            <a:r>
              <a:t>      "summary": "한국관광공사 국문관광정보 API가 반환한 선택 지역 관광자원",</a:t>
            </a:r>
          </a:p>
          <a:p xmlns:a="http://schemas.openxmlformats.org/drawingml/2006/main">
            <a:r>
              <a:t>      "image_url": "http://tong.visitkorea.or.kr/cms/resource/89/2368189_image2_1.JPG",</a:t>
            </a:r>
          </a:p>
          <a:p xmlns:a="http://schemas.openxmlformats.org/drawingml/2006/main">
            <a:r>
              <a:t>      "source_id": "tour-api:736766",</a:t>
            </a:r>
          </a:p>
          <a:p xmlns:a="http://schemas.openxmlformats.org/drawingml/2006/main">
            <a:r>
              <a:t>      "content_id": "736766",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"땅코참숯구이 본점",</a:t>
            </a:r>
          </a:p>
          <a:p xmlns:a="http://schemas.openxmlformats.org/drawingml/2006/main">
            <a:r>
              <a:t>      "address": "서울특별시 성동구 행당로17길 26 (행당동)",</a:t>
            </a:r>
          </a:p>
          <a:p xmlns:a="http://schemas.openxmlformats.org/drawingml/2006/main">
            <a:r>
              <a:t>      "summary": "한국관광공사 국문관광정보 API가 반환한 선택 지역 관광자원",</a:t>
            </a:r>
          </a:p>
          <a:p xmlns:a="http://schemas.openxmlformats.org/drawingml/2006/main">
            <a:r>
              <a:t>      "image_url": "http://tong.visitkorea.or.kr/cms/resource/23/2845023_image2_1.jpg",</a:t>
            </a:r>
          </a:p>
          <a:p xmlns:a="http://schemas.openxmlformats.org/drawingml/2006/main">
            <a:r>
              <a:t>      "source_id": "tour-api:2845040",</a:t>
            </a:r>
          </a:p>
          <a:p xmlns:a="http://schemas.openxmlformats.org/drawingml/2006/main">
            <a:r>
              <a:t>      "content_id": "2845040",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36쪽, PDF 40쪽, PDF 41쪽,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9</a:t>
            </a:r>
          </a:p>
          <a:p xmlns:a="http://schemas.openxmlformats.org/drawingml/2006/main">
            <a:r>
              <a:t>    },</a:t>
            </a:r>
          </a:p>
          <a:p xmlns:a="http://schemas.openxmlformats.org/drawingml/2006/main">
            <a:r>
              <a:t>    {</a:t>
            </a:r>
          </a:p>
          <a:p xmlns:a="http://schemas.openxmlformats.org/drawingml/2006/main">
            <a:r>
              <a:t>      "title": "2026 서울국제정원박람회 &lt; 행사·공연 정보 &lt; 축제·관광 &lt; 미래한강본부, 한강공원",</a:t>
            </a:r>
          </a:p>
          <a:p xmlns:a="http://schemas.openxmlformats.org/drawingml/2006/main">
            <a:r>
              <a:t>      "summary": "2026 서울국제정원박람회는 2026년 5월 1일부터 10월 27일까지 서울숲과 성수 일대에서 운영되며, 서울숲·한강·성수동·뚝섬대정원을 연결하는 구성을 공식적으로 제시한다. 따라서 9~10월에는 별도 거점 조성보다 이 행사 구역과 충돌하지 않는 보행 안내, 체류 동선, 상권 연결을 우선 검토할 수 있다.",</a:t>
            </a:r>
          </a:p>
          <a:p xmlns:a="http://schemas.openxmlformats.org/drawingml/2006/main">
            <a:r>
              <a:t>      "source_id": "web:11200:1",</a:t>
            </a:r>
          </a:p>
          <a:p xmlns:a="http://schemas.openxmlformats.org/drawingml/2006/main">
            <a:r>
              <a:t>      "source_url": "https://hangang.seoul.go.kr/www/eventMng/detail.do?evntSn=378&amp;mid=538&amp;srchType=list",</a:t>
            </a:r>
          </a:p>
          <a:p xmlns:a="http://schemas.openxmlformats.org/drawingml/2006/main">
            <a:r>
              <a:t>      "source_type": "official_web",</a:t>
            </a:r>
          </a:p>
          <a:p xmlns:a="http://schemas.openxmlformats.org/drawingml/2006/main">
            <a:r>
              <a:t>      "why_relevant": "사업기간 2026-09-01~2026-11-30 중 9~10월이 기존 대형 행사 운영기간과 겹친다. 기존 행사와 같은 장소에서 별도 프로그램을 신설할 경우 공간·안전·운영주체 조정이 필요하므로, 보완형 운영안이 중복 위험이 낮다.",</a:t>
            </a:r>
          </a:p>
          <a:p xmlns:a="http://schemas.openxmlformats.org/drawingml/2006/main">
            <a:r>
              <a:t>      "published_or_updated_at": "수정 2026-08-18"</a:t>
            </a:r>
          </a:p>
          <a:p xmlns:a="http://schemas.openxmlformats.org/drawingml/2006/main">
            <a:r>
              <a:t>    },</a:t>
            </a:r>
          </a:p>
          <a:p xmlns:a="http://schemas.openxmlformats.org/drawingml/2006/main">
            <a:r>
              <a:t>    {</a:t>
            </a:r>
          </a:p>
          <a:p xmlns:a="http://schemas.openxmlformats.org/drawingml/2006/main">
            <a:r>
              <a:t>      "title": "개막 20일차 250만명 넘은 서울국제정원박람회… 성수 상권 매출 30% 급증 &gt; 보도자료 | 서울특별시",</a:t>
            </a:r>
          </a:p>
          <a:p xmlns:a="http://schemas.openxmlformats.org/drawingml/2006/main">
            <a:r>
              <a:t>      "summary": "서울시는 2026 서울국제정원박람회에서 서울숲의 휴게시설을 보완해 좌석을 확충하고, 정원마켓과 3개 푸드트럭 존을 운영했다고 밝혔다. 같은 자료는 주말·주요 이벤트일에 방문객 수와 체류시간이 함께 늘었다는 분석 결과를 제시한다.",</a:t>
            </a:r>
          </a:p>
          <a:p xmlns:a="http://schemas.openxmlformats.org/drawingml/2006/main">
            <a:r>
              <a:t>      "source_id": "web:11200:2",</a:t>
            </a:r>
          </a:p>
          <a:p xmlns:a="http://schemas.openxmlformats.org/drawingml/2006/main">
            <a:r>
              <a:t>      "source_url": "https://www.seoul.go.kr/news/news_report.do?nttNo=458311",</a:t>
            </a:r>
          </a:p>
          <a:p xmlns:a="http://schemas.openxmlformats.org/drawingml/2006/main">
            <a:r>
              <a:t>      "source_type": "official_web",</a:t>
            </a:r>
          </a:p>
          <a:p xmlns:a="http://schemas.openxmlformats.org/drawingml/2006/main">
            <a:r>
              <a:t>      "why_relevant": "체류 개선 후보 중 ‘휴식 좌석·먹거리·이벤트 동선’을 결합하는 방식에 공식 현장운영 사례가 있다. 다만 이 결과는 2026 정원박람회 기간의 분석이므로, 가을 성수 사업에도 동일한 효과가 난다고 일반화하지 않고 운영조건 검토 사례로만 사용해야 한다.",</a:t>
            </a:r>
          </a:p>
          <a:p xmlns:a="http://schemas.openxmlformats.org/drawingml/2006/main">
            <a:r>
              <a:t>      "published_or_updated_at": "등록·수정 2026-05-20"</a:t>
            </a:r>
          </a:p>
          <a:p xmlns:a="http://schemas.openxmlformats.org/drawingml/2006/main">
            <a:r>
              <a:t>    },</a:t>
            </a:r>
          </a:p>
          <a:p xmlns:a="http://schemas.openxmlformats.org/drawingml/2006/main">
            <a:r>
              <a:t>    {</a:t>
            </a:r>
          </a:p>
          <a:p xmlns:a="http://schemas.openxmlformats.org/drawingml/2006/main">
            <a:r>
              <a:t>      "title": "서울숲-성수 커넥트 투어 | 2026 서울국제정원박람회",</a:t>
            </a:r>
          </a:p>
          <a:p xmlns:a="http://schemas.openxmlformats.org/drawingml/2006/main">
            <a:r>
              <a:t>      "summary": "서울숲-성수 커넥트 투어는 성수근린공원에서 출발해 성수부터 서울숲까지 연결하는 무료 프로그램으로, 매주 화·목 13:00~14:30에 회차당 15명 내외 사전접수 방식으로 안내되었다.",</a:t>
            </a:r>
          </a:p>
          <a:p xmlns:a="http://schemas.openxmlformats.org/drawingml/2006/main">
            <a:r>
              <a:t>      "source_id": "web:11200:3",</a:t>
            </a:r>
          </a:p>
          <a:p xmlns:a="http://schemas.openxmlformats.org/drawingml/2006/main">
            <a:r>
              <a:t>      "source_url": "https://gov.seoul.go.kr/festa/garden/y2026/program/garden-culture-program/commentary-program?article=42926",</a:t>
            </a:r>
          </a:p>
          <a:p xmlns:a="http://schemas.openxmlformats.org/drawingml/2006/main">
            <a:r>
              <a:t>      "source_type": "official_web",</a:t>
            </a:r>
          </a:p>
          <a:p xmlns:a="http://schemas.openxmlformats.org/drawingml/2006/main">
            <a:r>
              <a:t>      "why_relevant": "‘공원 방문 후 성수 상권으로 이동’시키는 해설·도보 연결 방식이 실제로 운영된 공식 사례다. 권고안에서는 이 방식을 그대로 복제하기보다, 가을 행사일 및 야간 수요에 맞는 회차·집결지·예약방식으로 전환 가능한지 주최 측과 확인하는 참고사례로 활용한다.",</a:t>
            </a:r>
          </a:p>
          <a:p xmlns:a="http://schemas.openxmlformats.org/drawingml/2006/main">
            <a:r>
              <a:t>      "published_or_updated_at": "페이지 확인일 기준 2026-09"</a:t>
            </a:r>
          </a:p>
          <a:p xmlns:a="http://schemas.openxmlformats.org/drawingml/2006/main">
            <a:r>
              <a:t>    },</a:t>
            </a:r>
          </a:p>
          <a:p xmlns:a="http://schemas.openxmlformats.org/drawingml/2006/main">
            <a:r>
              <a:t>    {</a:t>
            </a:r>
          </a:p>
          <a:p xmlns:a="http://schemas.openxmlformats.org/drawingml/2006/main">
            <a:r>
              <a:t>      "title": "2026 서울축제지도 - 가을편 &lt; 공지사항(상세) &lt; 새소식 | 서울문화포털",</a:t>
            </a:r>
          </a:p>
          <a:p xmlns:a="http://schemas.openxmlformats.org/drawingml/2006/main">
            <a:r>
              <a:t>      "summary": "크리에이티브X성수는 2026년 10월 5일부터 10월 11일까지 성수동 서울숲·언더스탠드 에비뉴 등에서 예정되어 있으며, 페어·문화 콘퍼런스·토크쇼·전시·공예 프리마켓·패션쇼·음악공연을 포함하는 글로벌 문화창조산업축제로 안내되어 있다.",</a:t>
            </a:r>
          </a:p>
          <a:p xmlns:a="http://schemas.openxmlformats.org/drawingml/2006/main">
            <a:r>
              <a:t>      "source_id": "web:11200:4",</a:t>
            </a:r>
          </a:p>
          <a:p xmlns:a="http://schemas.openxmlformats.org/drawingml/2006/main">
            <a:r>
              <a:t>      "source_url": "https://culture.seoul.go.kr/culture/bbs/B0000000/view.do?menuNo=200050&amp;nttId=16465",</a:t>
            </a:r>
          </a:p>
          <a:p xmlns:a="http://schemas.openxmlformats.org/drawingml/2006/main">
            <a:r>
              <a:t>      "source_type": "official_web",</a:t>
            </a:r>
          </a:p>
          <a:p xmlns:a="http://schemas.openxmlformats.org/drawingml/2006/main">
            <a:r>
              <a:t>      "why_relevant": "10월 운영의 집중 구간으로 삼을 수 있는 확정 행사다. 다만 해당 축제의 프로그램·부스·방문객을 성동구 사업이 사용할 수 있는지, 공동홍보·쿠폰·스탬프·동선안내가 가능한지는 공식 문서만으로 확인되지 않았으므로 별도 협의가 필요하다.",</a:t>
            </a:r>
          </a:p>
          <a:p xmlns:a="http://schemas.openxmlformats.org/drawingml/2006/main">
            <a:r>
              <a:t>      "published_or_updated_at": "등록 2026-08-31"</a:t>
            </a:r>
          </a:p>
          <a:p xmlns:a="http://schemas.openxmlformats.org/drawingml/2006/main">
            <a:r>
              <a:t>    },</a:t>
            </a:r>
          </a:p>
          <a:p xmlns:a="http://schemas.openxmlformats.org/drawingml/2006/main">
            <a:r>
              <a:t>    {</a:t>
            </a:r>
          </a:p>
          <a:p xmlns:a="http://schemas.openxmlformats.org/drawingml/2006/main">
            <a:r>
              <a:t>      "title": "오시는 길 | 2026 서울국제정원박람회",</a:t>
            </a:r>
          </a:p>
          <a:p xmlns:a="http://schemas.openxmlformats.org/drawingml/2006/main">
            <a:r>
              <a:t>      "summary": "서울숲은 수인분당선 서울숲역 3·4·5번 출구에서 도보 2분, 2호선 뚝섬역 7·8번 출구에서 도보 11분으로 안내되어 있다. 서울숲 주차장과 뚝섬유수지 공영주차장은 모두 24시간 운영으로 제시되어 있으며, 행사 안내는 친환경 행사를 위해 대중교통 이용을 권장한다.",</a:t>
            </a:r>
          </a:p>
          <a:p xmlns:a="http://schemas.openxmlformats.org/drawingml/2006/main">
            <a:r>
              <a:t>      "source_id": "web:11200:5",</a:t>
            </a:r>
          </a:p>
          <a:p xmlns:a="http://schemas.openxmlformats.org/drawingml/2006/main">
            <a:r>
              <a:t>      "source_url": "https://www.seoul.go.kr/festa/garden/y2026/introduce/location?pc=1",</a:t>
            </a:r>
          </a:p>
          <a:p xmlns:a="http://schemas.openxmlformats.org/drawingml/2006/main">
            <a:r>
              <a:t>      "source_type": "official_web",</a:t>
            </a:r>
          </a:p>
          <a:p xmlns:a="http://schemas.openxmlformats.org/drawingml/2006/main">
            <a:r>
              <a:t>      "why_relevant": "권고안의 운영권역은 대중교통 도착지에서 공원·성수 상권까지의 마지막 보행 연결을 명확히 안내하는 데 초점을 둘 수 있다. 승용차 유입 확대를 핵심 방식으로 삼기보다는 지하철·버스·보행 중심으로 설계하는 것이 공식 안내와 부합한다.",</a:t>
            </a:r>
          </a:p>
          <a:p xmlns:a="http://schemas.openxmlformats.org/drawingml/2006/main">
            <a:r>
              <a:t>      "published_or_updated_at": "2026년 행사 안내 페이지"</a:t>
            </a:r>
          </a:p>
          <a:p xmlns:a="http://schemas.openxmlformats.org/drawingml/2006/main">
            <a:r>
              <a:t>    },</a:t>
            </a:r>
          </a:p>
          <a:p xmlns:a="http://schemas.openxmlformats.org/drawingml/2006/main">
            <a:r>
              <a:t>    {</a:t>
            </a:r>
          </a:p>
          <a:p xmlns:a="http://schemas.openxmlformats.org/drawingml/2006/main">
            <a:r>
              <a:t>      "title": "(석간) 제11차 도시건축공동위원회 개최결과 &gt; 보도자료 | 서울특별시",</a:t>
            </a:r>
          </a:p>
          <a:p xmlns:a="http://schemas.openxmlformats.org/drawingml/2006/main">
            <a:r>
              <a:t>      "summary": "서울시는 성수 준공업지역 지구단위계획에서 성수역-연무장길 가로변의 지역 특화경관을 유도하고, 지하철 2호선 연접부 개방형녹지 및 서울숲·뚝섬으로 이어지는 보행 네트워크를 조성하는 방향을 제시했다. 연무장길에는 제한적 차량출입 불허구간과 주차기준 완화를 통해 사람 중심의 걷기 좋은 거리로 재편하는 방향도 포함됐다.",</a:t>
            </a:r>
          </a:p>
          <a:p xmlns:a="http://schemas.openxmlformats.org/drawingml/2006/main">
            <a:r>
              <a:t>      "source_id": "web:11200:6",</a:t>
            </a:r>
          </a:p>
          <a:p xmlns:a="http://schemas.openxmlformats.org/drawingml/2006/main">
            <a:r>
              <a:t>      "source_url": "https://www.seoul.go.kr/news/news_report.do?nttNo=460823&amp;tr_code=snews",</a:t>
            </a:r>
          </a:p>
          <a:p xmlns:a="http://schemas.openxmlformats.org/drawingml/2006/main">
            <a:r>
              <a:t>      "source_type": "official_web",</a:t>
            </a:r>
          </a:p>
          <a:p xmlns:a="http://schemas.openxmlformats.org/drawingml/2006/main">
            <a:r>
              <a:t>      "why_relevant": "중기적으로 성수역-연무장길-서울숲 보행축은 체류 연결 사업의 대상권역 후보가 될 수 있다. 그러나 이는 도시계획 방향이며 2026년 가을에 모든 물리적 시설이 완공·운영된다는 뜻은 아니므로, 실제 공사·통행·행사 가능 구간은 현장과 관계부서에 확인해야 한다.",</a:t>
            </a:r>
          </a:p>
          <a:p xmlns:a="http://schemas.openxmlformats.org/drawingml/2006/main">
            <a:r>
              <a:t>      "published_or_updated_at": "등록 2026-07-01"</a:t>
            </a:r>
          </a:p>
          <a:p xmlns:a="http://schemas.openxmlformats.org/drawingml/2006/main">
            <a:r>
              <a:t>    },</a:t>
            </a:r>
          </a:p>
          <a:p xmlns:a="http://schemas.openxmlformats.org/drawingml/2006/main">
            <a:r>
              <a:t>    {</a:t>
            </a:r>
          </a:p>
          <a:p xmlns:a="http://schemas.openxmlformats.org/drawingml/2006/main">
            <a:r>
              <a:t>      "title": "2026 서울국제정원박람회 &lt; 행사·공연 정보 &lt; 축제·관광 &lt; 미래한강본부, 한강공원",</a:t>
            </a:r>
          </a:p>
          <a:p xmlns:a="http://schemas.openxmlformats.org/drawingml/2006/main">
            <a:r>
              <a:t>      "summary": "서울국제정원박람회 공식 안내에는 서울숲 선착장 추가 운항과 야간 운항 증편이 소개되어 있다.",</a:t>
            </a:r>
          </a:p>
          <a:p xmlns:a="http://schemas.openxmlformats.org/drawingml/2006/main">
            <a:r>
              <a:t>      "source_id": "web:11200:7",</a:t>
            </a:r>
          </a:p>
          <a:p xmlns:a="http://schemas.openxmlformats.org/drawingml/2006/main">
            <a:r>
              <a:t>      "source_url": "https://hangang.seoul.go.kr/www/eventMng/detail.do?evntSn=378&amp;mid=538&amp;srchType=list",</a:t>
            </a:r>
          </a:p>
          <a:p xmlns:a="http://schemas.openxmlformats.org/drawingml/2006/main">
            <a:r>
              <a:t>      "source_type": "official_web",</a:t>
            </a:r>
          </a:p>
          <a:p xmlns:a="http://schemas.openxmlformats.org/drawingml/2006/main">
            <a:r>
              <a:t>      "why_relevant": "9~10월 주말 또는 야간 프로그램을 검토할 때 한강 수상교통을 보조 접근수단 후보로 검토할 근거가 된다. 다만 11월까지의 실제 운항일·막차·결항 기준은 이 자료에 확정적으로 제시되지 않아, 사업 홍보문구에 포함하기 전 운영기관 확인이 필요하다.",</a:t>
            </a:r>
          </a:p>
          <a:p xmlns:a="http://schemas.openxmlformats.org/drawingml/2006/main">
            <a:r>
              <a:t>      "published_or_updated_at": "수정 2026-08-18"</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"document_type": "case_study_budget",</a:t>
            </a:r>
          </a:p>
          <a:p xmlns:a="http://schemas.openxmlformats.org/drawingml/2006/main">
            <a:r>
              <a:t>      "observed_result": "예산서이므로 방문·소비 성과는 확인되지 않음",</a:t>
            </a:r>
          </a:p>
          <a:p xmlns:a="http://schemas.openxmlformats.org/drawingml/2006/main">
            <a:r>
              <a:t>      "operating_model": "사무관리, 행사운영, 연구용역, 민간경상보조 등으로 사업비를 항목별 편성",</a:t>
            </a:r>
          </a:p>
          <a:p xmlns:a="http://schemas.openxmlformats.org/drawingml/2006/main">
            <a:r>
              <a:t>      "retrieval_method": "curated_registry",</a:t>
            </a:r>
          </a:p>
          <a:p xmlns:a="http://schemas.openxmlformats.org/drawingml/2006/main">
            <a:r>
              <a:t>      "evidence_strength": "high",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예산",</a:t>
            </a:r>
          </a:p>
          <a:p xmlns:a="http://schemas.openxmlformats.org/drawingml/2006/main">
            <a:r>
              <a:t>      "transfer_conditions": [</a:t>
            </a:r>
          </a:p>
          <a:p xmlns:a="http://schemas.openxmlformats.org/drawingml/2006/main">
            <a:r>
              <a:t>        "국비·도비·시비 분담 가능성 검토",</a:t>
            </a:r>
          </a:p>
          <a:p xmlns:a="http://schemas.openxmlformats.org/drawingml/2006/main">
            <a:r>
              <a:t>        "행사비와 상설운영비를 분리 산정",</a:t>
            </a:r>
          </a:p>
          <a:p xmlns:a="http://schemas.openxmlformats.org/drawingml/2006/main">
            <a:r>
              <a:t>        "성과평가 비용을 별도 항목으로 확보"</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"2024년도 정부업무평가 관광분야 성과자료",</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"source_id": "case:night_tourism_cities_2024",</a:t>
            </a:r>
          </a:p>
          <a:p xmlns:a="http://schemas.openxmlformats.org/drawingml/2006/main">
            <a:r>
              <a:t>      "source_url": "https://www.evaluation.go.kr/upload2/atch/eval/20250429095846463.pdf",</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"상설 야간 콘텐츠와 경관·교통·안전 운영",</a:t>
            </a:r>
          </a:p>
          <a:p xmlns:a="http://schemas.openxmlformats.org/drawingml/2006/main">
            <a:r>
              <a:t>      "document_type": "case_study",</a:t>
            </a:r>
          </a:p>
          <a:p xmlns:a="http://schemas.openxmlformats.org/drawingml/2006/main">
            <a:r>
              <a:t>      "observed_result": "정부업무평가 자료는 특화도시 10곳 방문객이 2023년 같은 기간보다 3% 증가했다고 기록",</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"published_or_updated_at": "2025-04-29",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6638883.0,</a:t>
            </a:r>
          </a:p>
          <a:p xmlns:a="http://schemas.openxmlformats.org/drawingml/2006/main">
            <a:r>
              <a:t>        "is_forecast": true,</a:t>
            </a:r>
          </a:p>
          <a:p xmlns:a="http://schemas.openxmlformats.org/drawingml/2006/main">
            <a:r>
              <a:t>        "spending_krw": 102905513747.0,</a:t>
            </a:r>
          </a:p>
          <a:p xmlns:a="http://schemas.openxmlformats.org/drawingml/2006/main">
            <a:r>
              <a:t>        "stay_minutes": 729.0,</a:t>
            </a:r>
          </a:p>
          <a:p xmlns:a="http://schemas.openxmlformats.org/drawingml/2006/main">
            <a:r>
              <a:t>        "lodging_nights": 2.95,</a:t>
            </a:r>
          </a:p>
          <a:p xmlns:a="http://schemas.openxmlformats.org/drawingml/2006/main">
            <a:r>
              <a:t>        "lodging_rate_pct": 3.8,</a:t>
            </a:r>
          </a:p>
          <a:p xmlns:a="http://schemas.openxmlformats.org/drawingml/2006/main">
            <a:r>
              <a:t>        "lodging_searches": 2301,</a:t>
            </a:r>
          </a:p>
          <a:p xmlns:a="http://schemas.openxmlformats.org/drawingml/2006/main">
            <a:r>
              <a:t>        "navigation_searches": 108724,</a:t>
            </a:r>
          </a:p>
          <a:p xmlns:a="http://schemas.openxmlformats.org/drawingml/2006/main">
            <a:r>
              <a:t>        "visitor_yoy_percent": -0.24,</a:t>
            </a:r>
          </a:p>
          <a:p xmlns:a="http://schemas.openxmlformats.org/drawingml/2006/main">
            <a:r>
              <a:t>        "spending_yoy_percent": 9.25,</a:t>
            </a:r>
          </a:p>
          <a:p xmlns:a="http://schemas.openxmlformats.org/drawingml/2006/main">
            <a:r>
              <a:t>        "metric_changes_percent": {</a:t>
            </a:r>
          </a:p>
          <a:p xmlns:a="http://schemas.openxmlformats.org/drawingml/2006/main">
            <a:r>
              <a:t>          "stay_minutes": 0.0,</a:t>
            </a:r>
          </a:p>
          <a:p xmlns:a="http://schemas.openxmlformats.org/drawingml/2006/main">
            <a:r>
              <a:t>          "lodging_nights": -1.01,</a:t>
            </a:r>
          </a:p>
          <a:p xmlns:a="http://schemas.openxmlformats.org/drawingml/2006/main">
            <a:r>
              <a:t>          "lodging_rate_pct": 0.0,</a:t>
            </a:r>
          </a:p>
          <a:p xmlns:a="http://schemas.openxmlformats.org/drawingml/2006/main">
            <a:r>
              <a:t>          "lodging_searches": 5.41,</a:t>
            </a:r>
          </a:p>
          <a:p xmlns:a="http://schemas.openxmlformats.org/drawingml/2006/main">
            <a:r>
              <a:t>          "navigation_searches": 0.0</a:t>
            </a:r>
          </a:p>
          <a:p xmlns:a="http://schemas.openxmlformats.org/drawingml/2006/main">
            <a:r>
              <a:t>        },</a:t>
            </a:r>
          </a:p>
          <a:p xmlns:a="http://schemas.openxmlformats.org/drawingml/2006/main">
            <a:r>
              <a:t>        "previous_year_visitors": 6654997,</a:t>
            </a:r>
          </a:p>
          <a:p xmlns:a="http://schemas.openxmlformats.org/drawingml/2006/main">
            <a:r>
              <a:t>        "previous_year_spending_krw": 94192832000,</a:t>
            </a:r>
          </a:p>
          <a:p xmlns:a="http://schemas.openxmlformats.org/drawingml/2006/main">
            <a:r>
              <a:t>        "previous_year_stay_minutes": 729.0,</a:t>
            </a:r>
          </a:p>
          <a:p xmlns:a="http://schemas.openxmlformats.org/drawingml/2006/main">
            <a:r>
              <a:t>        "previous_year_lodging_nights": 2.98,</a:t>
            </a:r>
          </a:p>
          <a:p xmlns:a="http://schemas.openxmlformats.org/drawingml/2006/main">
            <a:r>
              <a:t>        "previous_year_lodging_rate_pct": 3.8,</a:t>
            </a:r>
          </a:p>
          <a:p xmlns:a="http://schemas.openxmlformats.org/drawingml/2006/main">
            <a:r>
              <a:t>        "previous_year_lodging_searches": 2183,</a:t>
            </a:r>
          </a:p>
          <a:p xmlns:a="http://schemas.openxmlformats.org/drawingml/2006/main">
            <a:r>
              <a:t>        "previous_year_navigation_searches": 108724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6570358.0,</a:t>
            </a:r>
          </a:p>
          <a:p xmlns:a="http://schemas.openxmlformats.org/drawingml/2006/main">
            <a:r>
              <a:t>        "is_forecast": true,</a:t>
            </a:r>
          </a:p>
          <a:p xmlns:a="http://schemas.openxmlformats.org/drawingml/2006/main">
            <a:r>
              <a:t>        "spending_krw": 103404579597.0,</a:t>
            </a:r>
          </a:p>
          <a:p xmlns:a="http://schemas.openxmlformats.org/drawingml/2006/main">
            <a:r>
              <a:t>        "stay_minutes": 726.0,</a:t>
            </a:r>
          </a:p>
          <a:p xmlns:a="http://schemas.openxmlformats.org/drawingml/2006/main">
            <a:r>
              <a:t>        "lodging_nights": 2.92,</a:t>
            </a:r>
          </a:p>
          <a:p xmlns:a="http://schemas.openxmlformats.org/drawingml/2006/main">
            <a:r>
              <a:t>        "lodging_rate_pct": 4.5,</a:t>
            </a:r>
          </a:p>
          <a:p xmlns:a="http://schemas.openxmlformats.org/drawingml/2006/main">
            <a:r>
              <a:t>        "lodging_searches": 2786,</a:t>
            </a:r>
          </a:p>
          <a:p xmlns:a="http://schemas.openxmlformats.org/drawingml/2006/main">
            <a:r>
              <a:t>        "navigation_searches": 176420,</a:t>
            </a:r>
          </a:p>
          <a:p xmlns:a="http://schemas.openxmlformats.org/drawingml/2006/main">
            <a:r>
              <a:t>        "visitor_yoy_percent": 6.49,</a:t>
            </a:r>
          </a:p>
          <a:p xmlns:a="http://schemas.openxmlformats.org/drawingml/2006/main">
            <a:r>
              <a:t>        "spending_yoy_percent": 6.54,</a:t>
            </a:r>
          </a:p>
          <a:p xmlns:a="http://schemas.openxmlformats.org/drawingml/2006/main">
            <a:r>
              <a:t>        "metric_changes_percent": {</a:t>
            </a:r>
          </a:p>
          <a:p xmlns:a="http://schemas.openxmlformats.org/drawingml/2006/main">
            <a:r>
              <a:t>          "stay_minutes": 0.0,</a:t>
            </a:r>
          </a:p>
          <a:p xmlns:a="http://schemas.openxmlformats.org/drawingml/2006/main">
            <a:r>
              <a:t>          "lodging_nights": -0.68,</a:t>
            </a:r>
          </a:p>
          <a:p xmlns:a="http://schemas.openxmlformats.org/drawingml/2006/main">
            <a:r>
              <a:t>          "lodging_rate_pct": 0.0,</a:t>
            </a:r>
          </a:p>
          <a:p xmlns:a="http://schemas.openxmlformats.org/drawingml/2006/main">
            <a:r>
              <a:t>          "lodging_searches": -23.0,</a:t>
            </a:r>
          </a:p>
          <a:p xmlns:a="http://schemas.openxmlformats.org/drawingml/2006/main">
            <a:r>
              <a:t>          "navigation_searches": 0.0</a:t>
            </a:r>
          </a:p>
          <a:p xmlns:a="http://schemas.openxmlformats.org/drawingml/2006/main">
            <a:r>
              <a:t>        },</a:t>
            </a:r>
          </a:p>
          <a:p xmlns:a="http://schemas.openxmlformats.org/drawingml/2006/main">
            <a:r>
              <a:t>        "previous_year_visitors": 6170192,</a:t>
            </a:r>
          </a:p>
          <a:p xmlns:a="http://schemas.openxmlformats.org/drawingml/2006/main">
            <a:r>
              <a:t>        "previous_year_spending_krw": 97053863000,</a:t>
            </a:r>
          </a:p>
          <a:p xmlns:a="http://schemas.openxmlformats.org/drawingml/2006/main">
            <a:r>
              <a:t>        "previous_year_stay_minutes": 726.0,</a:t>
            </a:r>
          </a:p>
          <a:p xmlns:a="http://schemas.openxmlformats.org/drawingml/2006/main">
            <a:r>
              <a:t>        "previous_year_lodging_nights": 2.94,</a:t>
            </a:r>
          </a:p>
          <a:p xmlns:a="http://schemas.openxmlformats.org/drawingml/2006/main">
            <a:r>
              <a:t>        "previous_year_lodging_rate_pct": 4.5,</a:t>
            </a:r>
          </a:p>
          <a:p xmlns:a="http://schemas.openxmlformats.org/drawingml/2006/main">
            <a:r>
              <a:t>        "previous_year_lodging_searches": 3618,</a:t>
            </a:r>
          </a:p>
          <a:p xmlns:a="http://schemas.openxmlformats.org/drawingml/2006/main">
            <a:r>
              <a:t>        "previous_year_navigation_searches": 176420</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6585928.0,</a:t>
            </a:r>
          </a:p>
          <a:p xmlns:a="http://schemas.openxmlformats.org/drawingml/2006/main">
            <a:r>
              <a:t>        "is_forecast": true,</a:t>
            </a:r>
          </a:p>
          <a:p xmlns:a="http://schemas.openxmlformats.org/drawingml/2006/main">
            <a:r>
              <a:t>        "spending_krw": 107117698458.0,</a:t>
            </a:r>
          </a:p>
          <a:p xmlns:a="http://schemas.openxmlformats.org/drawingml/2006/main">
            <a:r>
              <a:t>        "stay_minutes": 600.0,</a:t>
            </a:r>
          </a:p>
          <a:p xmlns:a="http://schemas.openxmlformats.org/drawingml/2006/main">
            <a:r>
              <a:t>        "lodging_nights": 2.91,</a:t>
            </a:r>
          </a:p>
          <a:p xmlns:a="http://schemas.openxmlformats.org/drawingml/2006/main">
            <a:r>
              <a:t>        "lodging_rate_pct": 3.6,</a:t>
            </a:r>
          </a:p>
          <a:p xmlns:a="http://schemas.openxmlformats.org/drawingml/2006/main">
            <a:r>
              <a:t>        "lodging_searches": 2335,</a:t>
            </a:r>
          </a:p>
          <a:p xmlns:a="http://schemas.openxmlformats.org/drawingml/2006/main">
            <a:r>
              <a:t>        "navigation_searches": 115407,</a:t>
            </a:r>
          </a:p>
          <a:p xmlns:a="http://schemas.openxmlformats.org/drawingml/2006/main">
            <a:r>
              <a:t>        "visitor_yoy_percent": -0.86,</a:t>
            </a:r>
          </a:p>
          <a:p xmlns:a="http://schemas.openxmlformats.org/drawingml/2006/main">
            <a:r>
              <a:t>        "spending_yoy_percent": 5.78,</a:t>
            </a:r>
          </a:p>
          <a:p xmlns:a="http://schemas.openxmlformats.org/drawingml/2006/main">
            <a:r>
              <a:t>        "metric_changes_percent": {</a:t>
            </a:r>
          </a:p>
          <a:p xmlns:a="http://schemas.openxmlformats.org/drawingml/2006/main">
            <a:r>
              <a:t>          "stay_minutes": 0.0,</a:t>
            </a:r>
          </a:p>
          <a:p xmlns:a="http://schemas.openxmlformats.org/drawingml/2006/main">
            <a:r>
              <a:t>          "lodging_nights": 0.69,</a:t>
            </a:r>
          </a:p>
          <a:p xmlns:a="http://schemas.openxmlformats.org/drawingml/2006/main">
            <a:r>
              <a:t>          "lodging_rate_pct": 0.0,</a:t>
            </a:r>
          </a:p>
          <a:p xmlns:a="http://schemas.openxmlformats.org/drawingml/2006/main">
            <a:r>
              <a:t>          "lodging_searches": -7.71,</a:t>
            </a:r>
          </a:p>
          <a:p xmlns:a="http://schemas.openxmlformats.org/drawingml/2006/main">
            <a:r>
              <a:t>          "navigation_searches": 0.0</a:t>
            </a:r>
          </a:p>
          <a:p xmlns:a="http://schemas.openxmlformats.org/drawingml/2006/main">
            <a:r>
              <a:t>        },</a:t>
            </a:r>
          </a:p>
          <a:p xmlns:a="http://schemas.openxmlformats.org/drawingml/2006/main">
            <a:r>
              <a:t>        "previous_year_visitors": 6643276,</a:t>
            </a:r>
          </a:p>
          <a:p xmlns:a="http://schemas.openxmlformats.org/drawingml/2006/main">
            <a:r>
              <a:t>        "previous_year_spending_krw": 101267996000,</a:t>
            </a:r>
          </a:p>
          <a:p xmlns:a="http://schemas.openxmlformats.org/drawingml/2006/main">
            <a:r>
              <a:t>        "previous_year_stay_minutes": 600.0,</a:t>
            </a:r>
          </a:p>
          <a:p xmlns:a="http://schemas.openxmlformats.org/drawingml/2006/main">
            <a:r>
              <a:t>        "previous_year_lodging_nights": 2.89,</a:t>
            </a:r>
          </a:p>
          <a:p xmlns:a="http://schemas.openxmlformats.org/drawingml/2006/main">
            <a:r>
              <a:t>        "previous_year_lodging_rate_pct": 3.6,</a:t>
            </a:r>
          </a:p>
          <a:p xmlns:a="http://schemas.openxmlformats.org/drawingml/2006/main">
            <a:r>
              <a:t>        "previous_year_lodging_searches": 2530,</a:t>
            </a:r>
          </a:p>
          <a:p xmlns:a="http://schemas.openxmlformats.org/drawingml/2006/main">
            <a:r>
              <a:t>        "previous_year_navigation_searches": 115407</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6551545,</a:t>
            </a:r>
          </a:p>
          <a:p xmlns:a="http://schemas.openxmlformats.org/drawingml/2006/main">
            <a:r>
              <a:t>      "is_forecast": true,</a:t>
            </a:r>
          </a:p>
          <a:p xmlns:a="http://schemas.openxmlformats.org/drawingml/2006/main">
            <a:r>
              <a:t>      "spending_krw": 99619891149,</a:t>
            </a:r>
          </a:p>
          <a:p xmlns:a="http://schemas.openxmlformats.org/drawingml/2006/main">
            <a:r>
              <a:t>      "stay_minutes": 715.0,</a:t>
            </a:r>
          </a:p>
          <a:p xmlns:a="http://schemas.openxmlformats.org/drawingml/2006/main">
            <a:r>
              <a:t>      "lodging_nights": 2.92,</a:t>
            </a:r>
          </a:p>
          <a:p xmlns:a="http://schemas.openxmlformats.org/drawingml/2006/main">
            <a:r>
              <a:t>      "lodging_rate_pct": 3.9,</a:t>
            </a:r>
          </a:p>
          <a:p xmlns:a="http://schemas.openxmlformats.org/drawingml/2006/main">
            <a:r>
              <a:t>      "lodging_searches": 2427,</a:t>
            </a:r>
          </a:p>
          <a:p xmlns:a="http://schemas.openxmlformats.org/drawingml/2006/main">
            <a:r>
              <a:t>      "navigation_searches": 110530,</a:t>
            </a:r>
          </a:p>
          <a:p xmlns:a="http://schemas.openxmlformats.org/drawingml/2006/main">
            <a:r>
              <a:t>      "visitor_yoy_percent": 8.42,</a:t>
            </a:r>
          </a:p>
          <a:p xmlns:a="http://schemas.openxmlformats.org/drawingml/2006/main">
            <a:r>
              <a:t>      "spending_yoy_percent": 7.8,</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-12.98,</a:t>
            </a:r>
          </a:p>
          <a:p xmlns:a="http://schemas.openxmlformats.org/drawingml/2006/main">
            <a:r>
              <a:t>        "navigation_searches": 0.0</a:t>
            </a:r>
          </a:p>
          <a:p xmlns:a="http://schemas.openxmlformats.org/drawingml/2006/main">
            <a:r>
              <a:t>      },</a:t>
            </a:r>
          </a:p>
          <a:p xmlns:a="http://schemas.openxmlformats.org/drawingml/2006/main">
            <a:r>
              <a:t>      "previous_year_visitors": 6042778,</a:t>
            </a:r>
          </a:p>
          <a:p xmlns:a="http://schemas.openxmlformats.org/drawingml/2006/main">
            <a:r>
              <a:t>      "previous_year_spending_krw": 92415108000,</a:t>
            </a:r>
          </a:p>
          <a:p xmlns:a="http://schemas.openxmlformats.org/drawingml/2006/main">
            <a:r>
              <a:t>      "previous_year_stay_minutes": 715.0,</a:t>
            </a:r>
          </a:p>
          <a:p xmlns:a="http://schemas.openxmlformats.org/drawingml/2006/main">
            <a:r>
              <a:t>      "previous_year_lodging_nights": 2.95,</a:t>
            </a:r>
          </a:p>
          <a:p xmlns:a="http://schemas.openxmlformats.org/drawingml/2006/main">
            <a:r>
              <a:t>      "previous_year_lodging_rate_pct": 3.9,</a:t>
            </a:r>
          </a:p>
          <a:p xmlns:a="http://schemas.openxmlformats.org/drawingml/2006/main">
            <a:r>
              <a:t>      "previous_year_lodging_searches": 2789,</a:t>
            </a:r>
          </a:p>
          <a:p xmlns:a="http://schemas.openxmlformats.org/drawingml/2006/main">
            <a:r>
              <a:t>      "previous_year_navigation_searches": 110530</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6392576,</a:t>
            </a:r>
          </a:p>
          <a:p xmlns:a="http://schemas.openxmlformats.org/drawingml/2006/main">
            <a:r>
              <a:t>      "is_forecast": true,</a:t>
            </a:r>
          </a:p>
          <a:p xmlns:a="http://schemas.openxmlformats.org/drawingml/2006/main">
            <a:r>
              <a:t>      "spending_krw": 100649180510,</a:t>
            </a:r>
          </a:p>
          <a:p xmlns:a="http://schemas.openxmlformats.org/drawingml/2006/main">
            <a:r>
              <a:t>      "stay_minutes": 727.0,</a:t>
            </a:r>
          </a:p>
          <a:p xmlns:a="http://schemas.openxmlformats.org/drawingml/2006/main">
            <a:r>
              <a:t>      "lodging_nights": 2.93,</a:t>
            </a:r>
          </a:p>
          <a:p xmlns:a="http://schemas.openxmlformats.org/drawingml/2006/main">
            <a:r>
              <a:t>      "lodging_rate_pct": 4.3,</a:t>
            </a:r>
          </a:p>
          <a:p xmlns:a="http://schemas.openxmlformats.org/drawingml/2006/main">
            <a:r>
              <a:t>      "lodging_searches": 2345,</a:t>
            </a:r>
          </a:p>
          <a:p xmlns:a="http://schemas.openxmlformats.org/drawingml/2006/main">
            <a:r>
              <a:t>      "navigation_searches": 116553,</a:t>
            </a:r>
          </a:p>
          <a:p xmlns:a="http://schemas.openxmlformats.org/drawingml/2006/main">
            <a:r>
              <a:t>      "visitor_yoy_percent": 7.88,</a:t>
            </a:r>
          </a:p>
          <a:p xmlns:a="http://schemas.openxmlformats.org/drawingml/2006/main">
            <a:r>
              <a:t>      "spending_yoy_percent": 6.05,</a:t>
            </a:r>
          </a:p>
          <a:p xmlns:a="http://schemas.openxmlformats.org/drawingml/2006/main">
            <a:r>
              <a:t>      "metric_changes_percent": {</a:t>
            </a:r>
          </a:p>
          <a:p xmlns:a="http://schemas.openxmlformats.org/drawingml/2006/main">
            <a:r>
              <a:t>        "stay_minutes": 0.0,</a:t>
            </a:r>
          </a:p>
          <a:p xmlns:a="http://schemas.openxmlformats.org/drawingml/2006/main">
            <a:r>
              <a:t>        "lodging_nights": 0.69,</a:t>
            </a:r>
          </a:p>
          <a:p xmlns:a="http://schemas.openxmlformats.org/drawingml/2006/main">
            <a:r>
              <a:t>        "lodging_rate_pct": 0.0,</a:t>
            </a:r>
          </a:p>
          <a:p xmlns:a="http://schemas.openxmlformats.org/drawingml/2006/main">
            <a:r>
              <a:t>        "lodging_searches": -4.64,</a:t>
            </a:r>
          </a:p>
          <a:p xmlns:a="http://schemas.openxmlformats.org/drawingml/2006/main">
            <a:r>
              <a:t>        "navigation_searches": 0.0</a:t>
            </a:r>
          </a:p>
          <a:p xmlns:a="http://schemas.openxmlformats.org/drawingml/2006/main">
            <a:r>
              <a:t>      },</a:t>
            </a:r>
          </a:p>
          <a:p xmlns:a="http://schemas.openxmlformats.org/drawingml/2006/main">
            <a:r>
              <a:t>      "previous_year_visitors": 5925815,</a:t>
            </a:r>
          </a:p>
          <a:p xmlns:a="http://schemas.openxmlformats.org/drawingml/2006/main">
            <a:r>
              <a:t>      "previous_year_spending_krw": 94907804000,</a:t>
            </a:r>
          </a:p>
          <a:p xmlns:a="http://schemas.openxmlformats.org/drawingml/2006/main">
            <a:r>
              <a:t>      "previous_year_stay_minutes": 727.0,</a:t>
            </a:r>
          </a:p>
          <a:p xmlns:a="http://schemas.openxmlformats.org/drawingml/2006/main">
            <a:r>
              <a:t>      "previous_year_lodging_nights": 2.91,</a:t>
            </a:r>
          </a:p>
          <a:p xmlns:a="http://schemas.openxmlformats.org/drawingml/2006/main">
            <a:r>
              <a:t>      "previous_year_lodging_rate_pct": 4.3,</a:t>
            </a:r>
          </a:p>
          <a:p xmlns:a="http://schemas.openxmlformats.org/drawingml/2006/main">
            <a:r>
              <a:t>      "previous_year_lodging_searches": 2459,</a:t>
            </a:r>
          </a:p>
          <a:p xmlns:a="http://schemas.openxmlformats.org/drawingml/2006/main">
            <a:r>
              <a:t>      "previous_year_navigation_searches": 116553</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6638883,</a:t>
            </a:r>
          </a:p>
          <a:p xmlns:a="http://schemas.openxmlformats.org/drawingml/2006/main">
            <a:r>
              <a:t>      "is_forecast": true,</a:t>
            </a:r>
          </a:p>
          <a:p xmlns:a="http://schemas.openxmlformats.org/drawingml/2006/main">
            <a:r>
              <a:t>      "spending_krw": 102905513747,</a:t>
            </a:r>
          </a:p>
          <a:p xmlns:a="http://schemas.openxmlformats.org/drawingml/2006/main">
            <a:r>
              <a:t>      "stay_minutes": 729.0,</a:t>
            </a:r>
          </a:p>
          <a:p xmlns:a="http://schemas.openxmlformats.org/drawingml/2006/main">
            <a:r>
              <a:t>      "lodging_nights": 2.95,</a:t>
            </a:r>
          </a:p>
          <a:p xmlns:a="http://schemas.openxmlformats.org/drawingml/2006/main">
            <a:r>
              <a:t>      "lodging_rate_pct": 3.8,</a:t>
            </a:r>
          </a:p>
          <a:p xmlns:a="http://schemas.openxmlformats.org/drawingml/2006/main">
            <a:r>
              <a:t>      "lodging_searches": 2301,</a:t>
            </a:r>
          </a:p>
          <a:p xmlns:a="http://schemas.openxmlformats.org/drawingml/2006/main">
            <a:r>
              <a:t>      "navigation_searches": 108724,</a:t>
            </a:r>
          </a:p>
          <a:p xmlns:a="http://schemas.openxmlformats.org/drawingml/2006/main">
            <a:r>
              <a:t>      "visitor_yoy_percent": -0.24,</a:t>
            </a:r>
          </a:p>
          <a:p xmlns:a="http://schemas.openxmlformats.org/drawingml/2006/main">
            <a:r>
              <a:t>      "spending_yoy_percent": 9.25,</a:t>
            </a:r>
          </a:p>
          <a:p xmlns:a="http://schemas.openxmlformats.org/drawingml/2006/main">
            <a:r>
              <a:t>      "metric_changes_percent": {</a:t>
            </a:r>
          </a:p>
          <a:p xmlns:a="http://schemas.openxmlformats.org/drawingml/2006/main">
            <a:r>
              <a:t>        "stay_minutes": 0.0,</a:t>
            </a:r>
          </a:p>
          <a:p xmlns:a="http://schemas.openxmlformats.org/drawingml/2006/main">
            <a:r>
              <a:t>        "lodging_nights": -1.01,</a:t>
            </a:r>
          </a:p>
          <a:p xmlns:a="http://schemas.openxmlformats.org/drawingml/2006/main">
            <a:r>
              <a:t>        "lodging_rate_pct": 0.0,</a:t>
            </a:r>
          </a:p>
          <a:p xmlns:a="http://schemas.openxmlformats.org/drawingml/2006/main">
            <a:r>
              <a:t>        "lodging_searches": 5.41,</a:t>
            </a:r>
          </a:p>
          <a:p xmlns:a="http://schemas.openxmlformats.org/drawingml/2006/main">
            <a:r>
              <a:t>        "navigation_searches": 0.0</a:t>
            </a:r>
          </a:p>
          <a:p xmlns:a="http://schemas.openxmlformats.org/drawingml/2006/main">
            <a:r>
              <a:t>      },</a:t>
            </a:r>
          </a:p>
          <a:p xmlns:a="http://schemas.openxmlformats.org/drawingml/2006/main">
            <a:r>
              <a:t>      "previous_year_visitors": 6654997,</a:t>
            </a:r>
          </a:p>
          <a:p xmlns:a="http://schemas.openxmlformats.org/drawingml/2006/main">
            <a:r>
              <a:t>      "previous_year_spending_krw": 94192832000,</a:t>
            </a:r>
          </a:p>
          <a:p xmlns:a="http://schemas.openxmlformats.org/drawingml/2006/main">
            <a:r>
              <a:t>      "previous_year_stay_minutes": 729.0,</a:t>
            </a:r>
          </a:p>
          <a:p xmlns:a="http://schemas.openxmlformats.org/drawingml/2006/main">
            <a:r>
              <a:t>      "previous_year_lodging_nights": 2.98,</a:t>
            </a:r>
          </a:p>
          <a:p xmlns:a="http://schemas.openxmlformats.org/drawingml/2006/main">
            <a:r>
              <a:t>      "previous_year_lodging_rate_pct": 3.8,</a:t>
            </a:r>
          </a:p>
          <a:p xmlns:a="http://schemas.openxmlformats.org/drawingml/2006/main">
            <a:r>
              <a:t>      "previous_year_lodging_searches": 2183,</a:t>
            </a:r>
          </a:p>
          <a:p xmlns:a="http://schemas.openxmlformats.org/drawingml/2006/main">
            <a:r>
              <a:t>      "previous_year_navigation_searches": 108724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6570358,</a:t>
            </a:r>
          </a:p>
          <a:p xmlns:a="http://schemas.openxmlformats.org/drawingml/2006/main">
            <a:r>
              <a:t>      "is_forecast": true,</a:t>
            </a:r>
          </a:p>
          <a:p xmlns:a="http://schemas.openxmlformats.org/drawingml/2006/main">
            <a:r>
              <a:t>      "spending_krw": 103404579597,</a:t>
            </a:r>
          </a:p>
          <a:p xmlns:a="http://schemas.openxmlformats.org/drawingml/2006/main">
            <a:r>
              <a:t>      "stay_minutes": 726.0,</a:t>
            </a:r>
          </a:p>
          <a:p xmlns:a="http://schemas.openxmlformats.org/drawingml/2006/main">
            <a:r>
              <a:t>      "lodging_nights": 2.92,</a:t>
            </a:r>
          </a:p>
          <a:p xmlns:a="http://schemas.openxmlformats.org/drawingml/2006/main">
            <a:r>
              <a:t>      "lodging_rate_pct": 4.5,</a:t>
            </a:r>
          </a:p>
          <a:p xmlns:a="http://schemas.openxmlformats.org/drawingml/2006/main">
            <a:r>
              <a:t>      "lodging_searches": 2786,</a:t>
            </a:r>
          </a:p>
          <a:p xmlns:a="http://schemas.openxmlformats.org/drawingml/2006/main">
            <a:r>
              <a:t>      "navigation_searches": 176420,</a:t>
            </a:r>
          </a:p>
          <a:p xmlns:a="http://schemas.openxmlformats.org/drawingml/2006/main">
            <a:r>
              <a:t>      "visitor_yoy_percent": 6.49,</a:t>
            </a:r>
          </a:p>
          <a:p xmlns:a="http://schemas.openxmlformats.org/drawingml/2006/main">
            <a:r>
              <a:t>      "spending_yoy_percent": 6.54,</a:t>
            </a:r>
          </a:p>
          <a:p xmlns:a="http://schemas.openxmlformats.org/drawingml/2006/main">
            <a:r>
              <a:t>      "metric_changes_percent": {</a:t>
            </a:r>
          </a:p>
          <a:p xmlns:a="http://schemas.openxmlformats.org/drawingml/2006/main">
            <a:r>
              <a:t>        "stay_minutes": 0.0,</a:t>
            </a:r>
          </a:p>
          <a:p xmlns:a="http://schemas.openxmlformats.org/drawingml/2006/main">
            <a:r>
              <a:t>        "lodging_nights": -0.68,</a:t>
            </a:r>
          </a:p>
          <a:p xmlns:a="http://schemas.openxmlformats.org/drawingml/2006/main">
            <a:r>
              <a:t>        "lodging_rate_pct": 0.0,</a:t>
            </a:r>
          </a:p>
          <a:p xmlns:a="http://schemas.openxmlformats.org/drawingml/2006/main">
            <a:r>
              <a:t>        "lodging_searches": -23.0,</a:t>
            </a:r>
          </a:p>
          <a:p xmlns:a="http://schemas.openxmlformats.org/drawingml/2006/main">
            <a:r>
              <a:t>        "navigation_searches": 0.0</a:t>
            </a:r>
          </a:p>
          <a:p xmlns:a="http://schemas.openxmlformats.org/drawingml/2006/main">
            <a:r>
              <a:t>      },</a:t>
            </a:r>
          </a:p>
          <a:p xmlns:a="http://schemas.openxmlformats.org/drawingml/2006/main">
            <a:r>
              <a:t>      "previous_year_visitors": 6170192,</a:t>
            </a:r>
          </a:p>
          <a:p xmlns:a="http://schemas.openxmlformats.org/drawingml/2006/main">
            <a:r>
              <a:t>      "previous_year_spending_krw": 97053863000,</a:t>
            </a:r>
          </a:p>
          <a:p xmlns:a="http://schemas.openxmlformats.org/drawingml/2006/main">
            <a:r>
              <a:t>      "previous_year_stay_minutes": 726.0,</a:t>
            </a:r>
          </a:p>
          <a:p xmlns:a="http://schemas.openxmlformats.org/drawingml/2006/main">
            <a:r>
              <a:t>      "previous_year_lodging_nights": 2.94,</a:t>
            </a:r>
          </a:p>
          <a:p xmlns:a="http://schemas.openxmlformats.org/drawingml/2006/main">
            <a:r>
              <a:t>      "previous_year_lodging_rate_pct": 4.5,</a:t>
            </a:r>
          </a:p>
          <a:p xmlns:a="http://schemas.openxmlformats.org/drawingml/2006/main">
            <a:r>
              <a:t>      "previous_year_lodging_searches": 3618,</a:t>
            </a:r>
          </a:p>
          <a:p xmlns:a="http://schemas.openxmlformats.org/drawingml/2006/main">
            <a:r>
              <a:t>      "previous_year_navigation_searches": 176420</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6585928,</a:t>
            </a:r>
          </a:p>
          <a:p xmlns:a="http://schemas.openxmlformats.org/drawingml/2006/main">
            <a:r>
              <a:t>      "is_forecast": true,</a:t>
            </a:r>
          </a:p>
          <a:p xmlns:a="http://schemas.openxmlformats.org/drawingml/2006/main">
            <a:r>
              <a:t>      "spending_krw": 107117698458,</a:t>
            </a:r>
          </a:p>
          <a:p xmlns:a="http://schemas.openxmlformats.org/drawingml/2006/main">
            <a:r>
              <a:t>      "stay_minutes": 600.0,</a:t>
            </a:r>
          </a:p>
          <a:p xmlns:a="http://schemas.openxmlformats.org/drawingml/2006/main">
            <a:r>
              <a:t>      "lodging_nights": 2.91,</a:t>
            </a:r>
          </a:p>
          <a:p xmlns:a="http://schemas.openxmlformats.org/drawingml/2006/main">
            <a:r>
              <a:t>      "lodging_rate_pct": 3.6,</a:t>
            </a:r>
          </a:p>
          <a:p xmlns:a="http://schemas.openxmlformats.org/drawingml/2006/main">
            <a:r>
              <a:t>      "lodging_searches": 2335,</a:t>
            </a:r>
          </a:p>
          <a:p xmlns:a="http://schemas.openxmlformats.org/drawingml/2006/main">
            <a:r>
              <a:t>      "navigation_searches": 115407,</a:t>
            </a:r>
          </a:p>
          <a:p xmlns:a="http://schemas.openxmlformats.org/drawingml/2006/main">
            <a:r>
              <a:t>      "visitor_yoy_percent": -0.86,</a:t>
            </a:r>
          </a:p>
          <a:p xmlns:a="http://schemas.openxmlformats.org/drawingml/2006/main">
            <a:r>
              <a:t>      "spending_yoy_percent": 5.78,</a:t>
            </a:r>
          </a:p>
          <a:p xmlns:a="http://schemas.openxmlformats.org/drawingml/2006/main">
            <a:r>
              <a:t>      "metric_changes_percent": {</a:t>
            </a:r>
          </a:p>
          <a:p xmlns:a="http://schemas.openxmlformats.org/drawingml/2006/main">
            <a:r>
              <a:t>        "stay_minutes": 0.0,</a:t>
            </a:r>
          </a:p>
          <a:p xmlns:a="http://schemas.openxmlformats.org/drawingml/2006/main">
            <a:r>
              <a:t>        "lodging_nights": 0.69,</a:t>
            </a:r>
          </a:p>
          <a:p xmlns:a="http://schemas.openxmlformats.org/drawingml/2006/main">
            <a:r>
              <a:t>        "lodging_rate_pct": 0.0,</a:t>
            </a:r>
          </a:p>
          <a:p xmlns:a="http://schemas.openxmlformats.org/drawingml/2006/main">
            <a:r>
              <a:t>        "lodging_searches": -7.71,</a:t>
            </a:r>
          </a:p>
          <a:p xmlns:a="http://schemas.openxmlformats.org/drawingml/2006/main">
            <a:r>
              <a:t>        "navigation_searches": 0.0</a:t>
            </a:r>
          </a:p>
          <a:p xmlns:a="http://schemas.openxmlformats.org/drawingml/2006/main">
            <a:r>
              <a:t>      },</a:t>
            </a:r>
          </a:p>
          <a:p xmlns:a="http://schemas.openxmlformats.org/drawingml/2006/main">
            <a:r>
              <a:t>      "previous_year_visitors": 6643276,</a:t>
            </a:r>
          </a:p>
          <a:p xmlns:a="http://schemas.openxmlformats.org/drawingml/2006/main">
            <a:r>
              <a:t>      "previous_year_spending_krw": 101267996000,</a:t>
            </a:r>
          </a:p>
          <a:p xmlns:a="http://schemas.openxmlformats.org/drawingml/2006/main">
            <a:r>
              <a:t>      "previous_year_stay_minutes": 600.0,</a:t>
            </a:r>
          </a:p>
          <a:p xmlns:a="http://schemas.openxmlformats.org/drawingml/2006/main">
            <a:r>
              <a:t>      "previous_year_lodging_nights": 2.89,</a:t>
            </a:r>
          </a:p>
          <a:p xmlns:a="http://schemas.openxmlformats.org/drawingml/2006/main">
            <a:r>
              <a:t>      "previous_year_lodging_rate_pct": 3.6,</a:t>
            </a:r>
          </a:p>
          <a:p xmlns:a="http://schemas.openxmlformats.org/drawingml/2006/main">
            <a:r>
              <a:t>      "previous_year_lodging_searches": 2530,</a:t>
            </a:r>
          </a:p>
          <a:p xmlns:a="http://schemas.openxmlformats.org/drawingml/2006/main">
            <a:r>
              <a:t>      "previous_year_navigation_searches": 115407</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512302.72,</a:t>
            </a:r>
          </a:p>
          <a:p xmlns:a="http://schemas.openxmlformats.org/drawingml/2006/main">
            <a:r>
              <a:t>        "recursive_mae": {</a:t>
            </a:r>
          </a:p>
          <a:p xmlns:a="http://schemas.openxmlformats.org/drawingml/2006/main">
            <a:r>
              <a:t>          "1": {</a:t>
            </a:r>
          </a:p>
          <a:p xmlns:a="http://schemas.openxmlformats.org/drawingml/2006/main">
            <a:r>
              <a:t>            "baseline": 505115.0,</a:t>
            </a:r>
          </a:p>
          <a:p xmlns:a="http://schemas.openxmlformats.org/drawingml/2006/main">
            <a:r>
              <a:t>            "selected": 637542.5,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350616.5,</a:t>
            </a:r>
          </a:p>
          <a:p xmlns:a="http://schemas.openxmlformats.org/drawingml/2006/main">
            <a:r>
              <a:t>            "selected": 385661.0,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508390.5,</a:t>
            </a:r>
          </a:p>
          <a:p xmlns:a="http://schemas.openxmlformats.org/drawingml/2006/main">
            <a:r>
              <a:t>            "selected": 376970.5,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506752.75,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5905429236.35,</a:t>
            </a:r>
          </a:p>
          <a:p xmlns:a="http://schemas.openxmlformats.org/drawingml/2006/main">
            <a:r>
              <a:t>        "recursive_mae": {</a:t>
            </a:r>
          </a:p>
          <a:p xmlns:a="http://schemas.openxmlformats.org/drawingml/2006/main">
            <a:r>
              <a:t>          "1": {</a:t>
            </a:r>
          </a:p>
          <a:p xmlns:a="http://schemas.openxmlformats.org/drawingml/2006/main">
            <a:r>
              <a:t>            "baseline": 3857228000.0,</a:t>
            </a:r>
          </a:p>
          <a:p xmlns:a="http://schemas.openxmlformats.org/drawingml/2006/main">
            <a:r>
              <a:t>            "selected": 3675260054.5,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5016656500.0,</a:t>
            </a:r>
          </a:p>
          <a:p xmlns:a="http://schemas.openxmlformats.org/drawingml/2006/main">
            <a:r>
              <a:t>            "selected": 2276015570.0,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3931632500.0,</a:t>
            </a:r>
          </a:p>
          <a:p xmlns:a="http://schemas.openxmlformats.org/drawingml/2006/main">
            <a:r>
              <a:t>            "selected": 7285373763.0,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3894430250.0,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81.25,</a:t>
            </a:r>
          </a:p>
          <a:p xmlns:a="http://schemas.openxmlformats.org/drawingml/2006/main">
            <a:r>
              <a:t>        "recursive_mae": {</a:t>
            </a:r>
          </a:p>
          <a:p xmlns:a="http://schemas.openxmlformats.org/drawingml/2006/main">
            <a:r>
              <a:t>          "1": {</a:t>
            </a:r>
          </a:p>
          <a:p xmlns:a="http://schemas.openxmlformats.org/drawingml/2006/main">
            <a:r>
              <a:t>            "baseline": 15.0,</a:t>
            </a:r>
          </a:p>
          <a:p xmlns:a="http://schemas.openxmlformats.org/drawingml/2006/main">
            <a:r>
              <a:t>            "selected": 15.0,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148.0,</a:t>
            </a:r>
          </a:p>
          <a:p xmlns:a="http://schemas.openxmlformats.org/drawingml/2006/main">
            <a:r>
              <a:t>            "selected": 148.0,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147.5,</a:t>
            </a:r>
          </a:p>
          <a:p xmlns:a="http://schemas.openxmlformats.org/drawingml/2006/main">
            <a:r>
              <a:t>            "selected": 147.5,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81.25,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0.1,</a:t>
            </a:r>
          </a:p>
          <a:p xmlns:a="http://schemas.openxmlformats.org/drawingml/2006/main">
            <a:r>
              <a:t>        "recursive_mae": {</a:t>
            </a:r>
          </a:p>
          <a:p xmlns:a="http://schemas.openxmlformats.org/drawingml/2006/main">
            <a:r>
              <a:t>          "1": {</a:t>
            </a:r>
          </a:p>
          <a:p xmlns:a="http://schemas.openxmlformats.org/drawingml/2006/main">
            <a:r>
              <a:t>            "baseline": 0.07,</a:t>
            </a:r>
          </a:p>
          <a:p xmlns:a="http://schemas.openxmlformats.org/drawingml/2006/main">
            <a:r>
              <a:t>            "selected": 0.1,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0.16,</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0.15,</a:t>
            </a:r>
          </a:p>
          <a:p xmlns:a="http://schemas.openxmlformats.org/drawingml/2006/main">
            <a:r>
              <a:t>            "selected": 0.17,</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0.11,</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"test_mae": 0.32,</a:t>
            </a:r>
          </a:p>
          <a:p xmlns:a="http://schemas.openxmlformats.org/drawingml/2006/main">
            <a:r>
              <a:t>        "recursive_mae": {</a:t>
            </a:r>
          </a:p>
          <a:p xmlns:a="http://schemas.openxmlformats.org/drawingml/2006/main">
            <a:r>
              <a:t>          "1":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0.35,</a:t>
            </a:r>
          </a:p>
          <a:p xmlns:a="http://schemas.openxmlformats.org/drawingml/2006/main">
            <a:r>
              <a:t>            "selected": 0.35,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0.32,</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141.88,</a:t>
            </a:r>
          </a:p>
          <a:p xmlns:a="http://schemas.openxmlformats.org/drawingml/2006/main">
            <a:r>
              <a:t>        "recursive_mae": {</a:t>
            </a:r>
          </a:p>
          <a:p xmlns:a="http://schemas.openxmlformats.org/drawingml/2006/main">
            <a:r>
              <a:t>          "1": {</a:t>
            </a:r>
          </a:p>
          <a:p xmlns:a="http://schemas.openxmlformats.org/drawingml/2006/main">
            <a:r>
              <a:t>            "baseline": 239.0,</a:t>
            </a:r>
          </a:p>
          <a:p xmlns:a="http://schemas.openxmlformats.org/drawingml/2006/main">
            <a:r>
              <a:t>            "selected": 78.5,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215.5,</a:t>
            </a:r>
          </a:p>
          <a:p xmlns:a="http://schemas.openxmlformats.org/drawingml/2006/main">
            <a:r>
              <a:t>            "selected": 71.5,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282.5,</a:t>
            </a:r>
          </a:p>
          <a:p xmlns:a="http://schemas.openxmlformats.org/drawingml/2006/main">
            <a:r>
              <a:t>            "selected": 143.0,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260.75,</a:t>
            </a:r>
          </a:p>
          <a:p xmlns:a="http://schemas.openxmlformats.org/drawingml/2006/main">
            <a:r>
              <a:t>        "model_reliability": "limited_backtest_support",</a:t>
            </a:r>
          </a:p>
          <a:p xmlns:a="http://schemas.openxmlformats.org/drawingml/2006/main">
            <a:r>
              <a:t>        "beats_baseline_on_test": true,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18943.5,</a:t>
            </a:r>
          </a:p>
          <a:p xmlns:a="http://schemas.openxmlformats.org/drawingml/2006/main">
            <a:r>
              <a:t>        "recursive_mae": {</a:t>
            </a:r>
          </a:p>
          <a:p xmlns:a="http://schemas.openxmlformats.org/drawingml/2006/main">
            <a:r>
              <a:t>          "1": {</a:t>
            </a:r>
          </a:p>
          <a:p xmlns:a="http://schemas.openxmlformats.org/drawingml/2006/main">
            <a:r>
              <a:t>            "baseline": 21342.5,</a:t>
            </a:r>
          </a:p>
          <a:p xmlns:a="http://schemas.openxmlformats.org/drawingml/2006/main">
            <a:r>
              <a:t>            "selected": 21342.5,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18933.0,</a:t>
            </a:r>
          </a:p>
          <a:p xmlns:a="http://schemas.openxmlformats.org/drawingml/2006/main">
            <a:r>
              <a:t>            "selected": 18933.0,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16544.5,</a:t>
            </a:r>
          </a:p>
          <a:p xmlns:a="http://schemas.openxmlformats.org/drawingml/2006/main">
            <a:r>
              <a:t>            "selected": 16544.5,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18943.5,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5,</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20.0,</a:t>
            </a:r>
          </a:p>
          <a:p xmlns:a="http://schemas.openxmlformats.org/drawingml/2006/main">
            <a:r>
              <a:t>    "spending_target_pct": 20.0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"지역상품권 환급액 = (외지인 관광객의 지역 내 소비액 × 20%) + (지역상품권 발행 비용: 1,000원/장). 단가 및 정확한 환급 대상 규모는 시범 운영 전 확정 필요.",</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"지역상품권 환급액 = (외지인 관광객의 지역 내 소비액 × 20%) + (지역상품권 발행 비용: 1,000원/장). 단가 및 정확한 환급 대상 규모는 시범 운영 전 확정 필요.",</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dataset:11200:1 | 한국관광 데이터랩 · 서울특별시 성동구 순 방문자 수 및 숙박 비율 (이동통신 기반 외지인) | https://datalab.visitkorea.or.kr/</a:t>
            </a:r>
          </a:p>
          <a:p>
            <a:r>
              <a:t>dataset:11200:2 | 한국관광 데이터랩 · 서울특별시 성동구 월간 순 방문자 수 (이동통신 기반 외지인) | https://datalab.visitkorea.or.kr/</a:t>
            </a:r>
          </a:p>
          <a:p>
            <a:r>
              <a:t>dataset:11200:3 | 한국관광 데이터랩 · 서울특별시 성동구 관광소비 추이_외지인 | https://datalab.visitkorea.or.kr/</a:t>
            </a:r>
          </a:p>
          <a:p>
            <a:r>
              <a:t>dataset:11200:4 | 한국관광 데이터랩 · 서울특별시 성동구 숙박방문자 비율 추이 (이동통신 기반 외지인) | https://datalab.visitkorea.or.kr/</a:t>
            </a:r>
          </a:p>
          <a:p>
            <a:r>
              <a:t>dataset:11200:5 | 한국관광 데이터랩 · 서울특별시 성동구 평균 숙박일 (이동통신 기반 외지인) | https://datalab.visitkorea.or.kr/</a:t>
            </a:r>
          </a:p>
          <a:p>
            <a:r>
              <a:t>dataset:11200:6 | 한국관광 데이터랩 · 서울특별시 성동구 내비게이션 목적지 유형별 검색량 | https://datalab.visitkorea.or.kr/</a:t>
            </a:r>
          </a:p>
          <a:p>
            <a:r>
              <a:t>dataset:11200:7 | 한국관광 데이터랩 · 서울특별시 성동구 SNS 언급량 | https://datalab.visitkorea.or.kr/</a:t>
            </a:r>
          </a:p>
          <a:p>
            <a:r>
              <a:t>datalab:0ea2e7ff8811:517c835e3039 | 한국관광 데이터랩 공식 다운로드 · 서울특별시_성동구/숙박_체류시간/2025_01_12.zip | https://datalab.visitkorea.or.kr/</a:t>
            </a:r>
          </a:p>
          <a:p>
            <a:r>
              <a:t>datalab:3a79405535b3:68f41f6aa9c6 | 한국관광 데이터랩 공식 다운로드 · 서울특별시_성동구/관광소비/2025_01_12.zip | https://datalab.visitkorea.or.kr/</a:t>
            </a:r>
          </a:p>
          <a:p>
            <a:r>
              <a:t>datalab:6217474023e5:2e717447925f | 한국관광 데이터랩 공식 다운로드 · 서울특별시_성동구/숙박_체류시간/2026_01_06.zip | https://datalab.visitkorea.or.kr/</a:t>
            </a:r>
          </a:p>
          <a:p>
            <a:r>
              <a:t>datalab:62312101c8d0:9c44bd532366 | 한국관광 데이터랩 공식 다운로드 · 서울특별시_성동구/방문자/2025_01_12.zip | https://datalab.visitkorea.or.kr/</a:t>
            </a:r>
          </a:p>
          <a:p>
            <a:r>
              <a:t>datalab:7ddda0420208:c68bf7b028b0 | 한국관광 데이터랩 공식 다운로드 · 서울특별시_성동구/관광소비/2026_01_06.zip | https://datalab.visitkorea.or.kr/</a:t>
            </a:r>
          </a:p>
          <a:p>
            <a:r>
              <a:t>datalab:9369271c7419:76a9b6ea89d8 | 한국관광 데이터랩 공식 다운로드 · 서울특별시_성동구/방문자/2026_01_06.zip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regional-status:300d117a9148:9b5e59efa799 | 한국관광 데이터랩 지역별 관광 현황 · 서울특별시 성동구 · 인기관광지 | https://datalab.visitkorea.or.kr/</a:t>
            </a:r>
          </a:p>
          <a:p>
            <a:r>
              <a:t>regional-status:e1f4d12a3396:706443b7ba17 | 한국관광 데이터랩 지역별 관광 현황 · 서울특별시 성동구 · 유입유출 | https://datalab.visitkorea.or.kr/</a:t>
            </a:r>
          </a:p>
          <a:p>
            <a:r>
              <a:t>regional-status:f05693fd34a7:ae929e215d91 | 한국관광 데이터랩 지역별 관광 현황 · 서울특별시 성동구 · 지역집중률 | https://datalab.visitkorea.or.kr/</a:t>
            </a:r>
          </a:p>
          <a:p>
            <a:r>
              <a:t>ml:11200:regional-demand-v3.1:202606 | 지역 관광수요 ML 전망 · 공식 관측값 아님 | URL 미기록</a:t>
            </a:r>
          </a:p>
          <a:p>
            <a:r>
              <a:t>tour-api:2901229 | 가조쿠 | https://apis.data.go.kr/B551011/KorService2</a:t>
            </a:r>
          </a:p>
          <a:p>
            <a:r>
              <a:t>tour-api:2895161 | 계월 | https://apis.data.go.kr/B551011/KorService2</a:t>
            </a:r>
          </a:p>
          <a:p>
            <a:r>
              <a:t>tour-api:2901359 | 계자람 | https://apis.data.go.kr/B551011/KorService2</a:t>
            </a:r>
          </a:p>
          <a:p>
            <a:r>
              <a:t>tour-api:2895211 | 구욱희씨 | https://apis.data.go.kr/B551011/KorService2</a:t>
            </a:r>
          </a:p>
          <a:p>
            <a:r>
              <a:t>tour-api:2895236 | 구펠 | https://apis.data.go.kr/B551011/KorService2</a:t>
            </a:r>
          </a:p>
          <a:p>
            <a:r>
              <a:t>tour-api:2898994 | 그라데이션커피 | https://apis.data.go.kr/B551011/KorService2</a:t>
            </a:r>
          </a:p>
          <a:p>
            <a:r>
              <a:t>tour-api:2894873 | 그린랩 | https://apis.data.go.kr/B551011/KorService2</a:t>
            </a:r>
          </a:p>
          <a:p>
            <a:r>
              <a:t>tour-api:2743748 | 금남시장 | https://apis.data.go.kr/B551011/KorService2</a:t>
            </a:r>
          </a:p>
          <a:p>
            <a:r>
              <a:t>tour-api:2901568 | 기후 | https://apis.data.go.kr/B551011/KorService2</a:t>
            </a:r>
          </a:p>
          <a:p>
            <a:r>
              <a:t>tour-api:2894842 | 꾸아 성수점 | https://apis.data.go.kr/B551011/KorService2</a:t>
            </a:r>
          </a:p>
          <a:p>
            <a:r>
              <a:t>tour-api:2843520 | 난포 | https://apis.data.go.kr/B551011/KorService2</a:t>
            </a:r>
          </a:p>
          <a:p>
            <a:r>
              <a:t>tour-api:2894810 | 누메로도스 | https://apis.data.go.kr/B551011/KorService2</a:t>
            </a:r>
          </a:p>
          <a:p>
            <a:r>
              <a:t>tour-api:2894795 | 누메로뜨레쓰 | https://apis.data.go.kr/B551011/KorService2</a:t>
            </a:r>
          </a:p>
          <a:p>
            <a:r>
              <a:t>tour-api:2894763 | 니드스윗 | https://apis.data.go.kr/B551011/KorService2</a:t>
            </a:r>
          </a:p>
          <a:p>
            <a:r>
              <a:t>tour-api:2894747 | 단일서울 | https://apis.data.go.kr/B551011/KorService2</a:t>
            </a:r>
          </a:p>
          <a:p>
            <a:r>
              <a:t>tour-api:2894854 | 대돈집 | https://apis.data.go.kr/B551011/KorService2</a:t>
            </a:r>
          </a:p>
          <a:p>
            <a:r>
              <a:t>tour-api:2899012 | 대흥정육식당 | https://apis.data.go.kr/B551011/KorService2</a:t>
            </a:r>
          </a:p>
          <a:p>
            <a:r>
              <a:t>tour-api:2753089 | 더서울라이티움 | https://apis.data.go.kr/B551011/KorService2</a:t>
            </a:r>
          </a:p>
          <a:p>
            <a:r>
              <a:t>tour-api:736766 | 더페이지갤러리 | https://apis.data.go.kr/B551011/KorService2</a:t>
            </a:r>
          </a:p>
          <a:p>
            <a:r>
              <a:t>tour-api:2845040 | 땅코참숯구이 본점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web:11200:1 | 2026 서울국제정원박람회 &lt; 행사·공연 정보 &lt; 축제·관광 &lt; 미래한강본부, 한강공원 | https://hangang.seoul.go.kr/www/eventMng/detail.do?evntSn=378&amp;mid=538&amp;srchType=list</a:t>
            </a:r>
          </a:p>
          <a:p>
            <a:r>
              <a:t>web:11200:2 | 개막 20일차 250만명 넘은 서울국제정원박람회… 성수 상권 매출 30% 급증 &gt; 보도자료 | 서울특별시 | https://www.seoul.go.kr/news/news_report.do?nttNo=458311</a:t>
            </a:r>
          </a:p>
          <a:p>
            <a:r>
              <a:t>web:11200:3 | 서울숲-성수 커넥트 투어 | 2026 서울국제정원박람회 | https://gov.seoul.go.kr/festa/garden/y2026/program/garden-culture-program/commentary-program?article=42926</a:t>
            </a:r>
          </a:p>
          <a:p>
            <a:r>
              <a:t>web:11200:4 | 2026 서울축제지도 - 가을편 &lt; 공지사항(상세) &lt; 새소식 | 서울문화포털 | https://culture.seoul.go.kr/culture/bbs/B0000000/view.do?menuNo=200050&amp;nttId=16465</a:t>
            </a:r>
          </a:p>
          <a:p>
            <a:r>
              <a:t>web:11200:5 | 오시는 길 | 2026 서울국제정원박람회 | https://www.seoul.go.kr/festa/garden/y2026/introduce/location?pc=1</a:t>
            </a:r>
          </a:p>
          <a:p>
            <a:r>
              <a:t>web:11200:6 | (석간) 제11차 도시건축공동위원회 개최결과 &gt; 보도자료 | 서울특별시 | https://www.seoul.go.kr/news/news_report.do?nttNo=460823&amp;tr_code=snews</a:t>
            </a:r>
          </a:p>
          <a:p>
            <a:r>
              <a:t>web:11200:7 | 2026 서울국제정원박람회 &lt; 행사·공연 정보 &lt; 축제·관광 &lt; 미래한강본부, 한강공원 | https://hangang.seoul.go.kr/www/eventMng/detail.do?evntSn=378&amp;mid=538&amp;srchType=list</a:t>
            </a:r>
          </a:p>
          <a:p>
            <a:r>
              <a:t>case:jeonju_night_budget_2026 | 전주시 2026년도 관광산업과 세출예산 사업명세서 | https://jeonju.go.kr/resource/www/images/download/budget/2026/2026_31_2.pdf</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서울특별시 성동구 순 방문자 수 및 숙박 비율 (이동통신 기반 외지인)",</a:t>
            </a:r>
          </a:p>
          <a:p>
            <a:r>
              <a:t>      "summary": "월간 순 방문자 수: 6,687,696명 (관측 기준월: 2026-06)",</a:t>
            </a:r>
          </a:p>
          <a:p>
            <a:r>
              <a:t>      "source_id": "dataset:11200:1",</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월간 순 방문자 수 (이동통신 기반 외지인)",</a:t>
            </a:r>
          </a:p>
          <a:p>
            <a:r>
              <a:t>      "summary": "전년동월 외지인 방문자 증감률: 10.2% (관측 기준월: 2026-06)",</a:t>
            </a:r>
          </a:p>
          <a:p>
            <a:r>
              <a:t>      "source_id": "dataset:11200:2",</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관광소비 추이_외지인",</a:t>
            </a:r>
          </a:p>
          <a:p>
            <a:r>
              <a:t>      "summary": "월간 외지인 관광소비 총액: 93,151,315,000원 (관측 기준월: 2026-06)",</a:t>
            </a:r>
          </a:p>
          <a:p>
            <a:r>
              <a:t>      "source_id": "dataset:11200:3",</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숙박방문자 비율 추이 (이동통신 기반 외지인)",</a:t>
            </a:r>
          </a:p>
          <a:p>
            <a:r>
              <a:t>      "summary": "외지인 숙박 방문 비율: 3.7% (관측 기준월: 2026-06)",</a:t>
            </a:r>
          </a:p>
          <a:p>
            <a:r>
              <a:t>      "source_id": "dataset:11200:4",</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평균 숙박일 (이동통신 기반 외지인)",</a:t>
            </a:r>
          </a:p>
          <a:p>
            <a:r>
              <a:t>      "summary": "외지인 평균 숙박일수: 3.03일 (관측 기준월: 2026-06)",</a:t>
            </a:r>
          </a:p>
          <a:p>
            <a:r>
              <a:t>      "source_id": "dataset:11200:5",</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내비게이션 목적지 유형별 검색량",</a:t>
            </a:r>
          </a:p>
          <a:p>
            <a:r>
              <a:t>      "summary": "내비게이션 목적지 검색량: 89,198건 (관측 기준월: 2026-06)",</a:t>
            </a:r>
          </a:p>
          <a:p>
            <a:r>
              <a:t>      "source_id": "dataset:11200:6",</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SNS 언급량",</a:t>
            </a:r>
          </a:p>
          <a:p>
            <a:r>
              <a:t>      "summary": "SNS 언급량: 71,233건 (관측 기준월: 2026-06)",</a:t>
            </a:r>
          </a:p>
          <a:p>
            <a:r>
              <a:t>      "source_id": "dataset:11200:7",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서울특별시_성동구/숙박_체류시간/2025_01_12.zip",</a:t>
            </a:r>
          </a:p>
          <a:p>
            <a:r>
              <a:t>      "summary": "전국 비교 기준 기간: 2025-07 ~ 2026-06",</a:t>
            </a:r>
          </a:p>
          <a:p>
            <a:r>
              <a:t>      "source_id": "datalab:0ea2e7ff8811:517c835e3039",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서울특별시_성동구/관광소비/2025_01_12.zip",</a:t>
            </a:r>
          </a:p>
          <a:p>
            <a:r>
              <a:t>      "summary": "전국 비교 기준 기간: 2025-07 ~ 2026-06",</a:t>
            </a:r>
          </a:p>
          <a:p>
            <a:r>
              <a:t>      "source_id": "datalab:3a79405535b3:68f41f6aa9c6",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서울특별시_성동구/숙박_체류시간/2026_01_06.zip",</a:t>
            </a:r>
          </a:p>
          <a:p>
            <a:r>
              <a:t>      "summary": "전국 비교 기준 기간: 2025-07 ~ 2026-06",</a:t>
            </a:r>
          </a:p>
          <a:p>
            <a:r>
              <a:t>      "source_id": "datalab:6217474023e5:2e717447925f",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서울특별시_성동구/방문자/2025_01_12.zip",</a:t>
            </a:r>
          </a:p>
          <a:p>
            <a:r>
              <a:t>      "summary": "전국 비교 기준 기간: 2025-07 ~ 2026-06",</a:t>
            </a:r>
          </a:p>
          <a:p>
            <a:r>
              <a:t>      "source_id": "datalab:62312101c8d0:9c44bd532366",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서울특별시_성동구/관광소비/2026_01_06.zip",</a:t>
            </a:r>
          </a:p>
          <a:p>
            <a:r>
              <a:t>      "summary": "전국 비교 기준 기간: 2025-07 ~ 2026-06",</a:t>
            </a:r>
          </a:p>
          <a:p>
            <a:r>
              <a:t>      "source_id": "datalab:7ddda0420208:c68bf7b028b0",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서울특별시_성동구/방문자/2026_01_06.zip",</a:t>
            </a:r>
          </a:p>
          <a:p>
            <a:r>
              <a:t>      "summary": "전국 비교 기준 기간: 2025-07 ~ 2026-06",</a:t>
            </a:r>
          </a:p>
          <a:p>
            <a:r>
              <a:t>      "source_id": "datalab:9369271c7419:76a9b6ea89d8",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서울특별시 성동구 · 인기관광지",</a:t>
            </a:r>
          </a:p>
          <a:p>
            <a:r>
              <a:t>      "summary": "관측 기간: 2025-07 ~ 2026-06. 유입·유출·인기장소 또는 30일 집중 운영 신호.",</a:t>
            </a:r>
          </a:p>
          <a:p>
            <a:r>
              <a:t>      "source_id": "regional-status:300d117a9148:9b5e59efa799",</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유입유출",</a:t>
            </a:r>
          </a:p>
          <a:p>
            <a:r>
              <a:t>      "summary": "관측 기간: 2025-07 ~ 2026-06. 유입·유출·인기장소 또는 30일 집중 운영 신호.",</a:t>
            </a:r>
          </a:p>
          <a:p>
            <a:r>
              <a:t>      "source_id": "regional-status:e1f4d12a3396:706443b7ba17",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지역집중률",</a:t>
            </a:r>
          </a:p>
          <a:p>
            <a:r>
              <a:t>      "summary": "관측 기간: 2025-07 ~ 2026-06. 유입·유출·인기장소 또는 30일 집중 운영 신호.",</a:t>
            </a:r>
          </a:p>
          <a:p>
            <a:r>
              <a:t>      "source_id": "regional-status:f05693fd34a7:ae929e215d91",</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"ml:11200:regional-demand-v3.1:202606",</a:t>
            </a:r>
          </a:p>
          <a:p>
            <a:r>
              <a:t>      "source_url": "",</a:t>
            </a:r>
          </a:p>
          <a:p>
            <a:r>
              <a:t>      "source_type": "model_forecast",</a:t>
            </a:r>
          </a:p>
          <a:p>
            <a:r>
              <a:t>      "model_version": "regional-demand-v3.1",</a:t>
            </a:r>
          </a:p>
          <a:p>
            <a:r>
              <a:t>      "data_fingerprint": "c47c92e05a4d54565864c2c7d1091d0c4f29ba1e6f45559f77d766e9c92e6d24"</a:t>
            </a:r>
          </a:p>
          <a:p>
            <a:r>
              <a:t>    },</a:t>
            </a:r>
          </a:p>
          <a:p>
            <a:r>
              <a:t>    {</a:t>
            </a:r>
          </a:p>
          <a:p>
            <a:r>
              <a:t>      "title": "가조쿠",</a:t>
            </a:r>
          </a:p>
          <a:p>
            <a:r>
              <a:t>      "address": "서울특별시 성동구 연무장길 31-2 (성수동2가)",</a:t>
            </a:r>
          </a:p>
          <a:p>
            <a:r>
              <a:t>      "summary": "한국관광공사 국문관광정보 API가 반환한 선택 지역 관광자원",</a:t>
            </a:r>
          </a:p>
          <a:p>
            <a:r>
              <a:t>      "image_url": "http://tong.visitkorea.or.kr/cms/resource/12/2901212_image2_1.jpg",</a:t>
            </a:r>
          </a:p>
          <a:p>
            <a:r>
              <a:t>      "source_id": "tour-api:2901229",</a:t>
            </a:r>
          </a:p>
          <a:p>
            <a:r>
              <a:t>      "content_id": "2901229",</a:t>
            </a:r>
          </a:p>
          <a:p>
            <a:r>
              <a:t>      "source_url": "https://apis.data.go.kr/B551011/KorService2",</a:t>
            </a:r>
          </a:p>
          <a:p>
            <a:r>
              <a:t>      "source_type": "open_api",</a:t>
            </a:r>
          </a:p>
          <a:p>
            <a:r>
              <a:t>      "content_type_id": "39"</a:t>
            </a:r>
          </a:p>
          <a:p>
            <a:r>
              <a:t>    },</a:t>
            </a:r>
          </a:p>
          <a:p>
            <a:r>
              <a:t>    {</a:t>
            </a:r>
          </a:p>
          <a:p>
            <a:r>
              <a:t>      "title": "계월",</a:t>
            </a:r>
          </a:p>
          <a:p>
            <a:r>
              <a:t>      "address": "서울특별시 성동구 성덕정3길 8 (성수동1가)",</a:t>
            </a:r>
          </a:p>
          <a:p>
            <a:r>
              <a:t>      "summary": "한국관광공사 국문관광정보 API가 반환한 선택 지역 관광자원",</a:t>
            </a:r>
          </a:p>
          <a:p>
            <a:r>
              <a:t>      "image_url": "http://tong.visitkorea.or.kr/cms/resource/44/2895144_image2_1.JPG",</a:t>
            </a:r>
          </a:p>
          <a:p>
            <a:r>
              <a:t>      "source_id": "tour-api:2895161",</a:t>
            </a:r>
          </a:p>
          <a:p>
            <a:r>
              <a:t>      "content_id": "2895161",</a:t>
            </a:r>
          </a:p>
          <a:p>
            <a:r>
              <a:t>      "source_url": "https://apis.data.go.kr/B551011/KorService2",</a:t>
            </a:r>
          </a:p>
          <a:p>
            <a:r>
              <a:t>      "source_type": "open_api",</a:t>
            </a:r>
          </a:p>
          <a:p>
            <a:r>
              <a:t>      "content_type_id": "39"</a:t>
            </a:r>
          </a:p>
          <a:p>
            <a:r>
              <a:t>    },</a:t>
            </a:r>
          </a:p>
          <a:p>
            <a:r>
              <a:t>    {</a:t>
            </a:r>
          </a:p>
          <a:p>
            <a:r>
              <a:t>      "title": "계자람",</a:t>
            </a:r>
          </a:p>
          <a:p>
            <a:r>
              <a:t>      "address": "서울특별시 성동구 성덕정17길 5 (성수동2가)",</a:t>
            </a:r>
          </a:p>
          <a:p>
            <a:r>
              <a:t>      "summary": "한국관광공사 국문관광정보 API가 반환한 선택 지역 관광자원",</a:t>
            </a:r>
          </a:p>
          <a:p>
            <a:r>
              <a:t>      "image_url": "http://tong.visitkorea.or.kr/cms/resource/51/2901351_image2_1.jpg",</a:t>
            </a:r>
          </a:p>
          <a:p>
            <a:r>
              <a:t>      "source_id": "tour-api:2901359",</a:t>
            </a:r>
          </a:p>
          <a:p>
            <a:r>
              <a:t>      "content_id": "2901359",</a:t>
            </a:r>
          </a:p>
          <a:p>
            <a:r>
              <a:t>      "source_url": "https://apis.data.go.kr/B551011/KorService2",</a:t>
            </a:r>
          </a:p>
          <a:p>
            <a:r>
              <a:t>      "source_type": "open_api",</a:t>
            </a:r>
          </a:p>
          <a:p>
            <a:r>
              <a:t>      "content_type_id": "39"</a:t>
            </a:r>
          </a:p>
          <a:p>
            <a:r>
              <a:t>    },</a:t>
            </a:r>
          </a:p>
          <a:p>
            <a:r>
              <a:t>    {</a:t>
            </a:r>
          </a:p>
          <a:p>
            <a:r>
              <a:t>      "title": "구욱희씨",</a:t>
            </a:r>
          </a:p>
          <a:p>
            <a:r>
              <a:t>      "address": "서울특별시 성동구 서울숲4길 12-22",</a:t>
            </a:r>
          </a:p>
          <a:p>
            <a:r>
              <a:t>      "summary": "한국관광공사 국문관광정보 API가 반환한 선택 지역 관광자원",</a:t>
            </a:r>
          </a:p>
          <a:p>
            <a:r>
              <a:t>      "image_url": "http://tong.visitkorea.or.kr/cms/resource/08/2895208_image2_1.jpg",</a:t>
            </a:r>
          </a:p>
          <a:p>
            <a:r>
              <a:t>      "source_id": "tour-api:2895211",</a:t>
            </a:r>
          </a:p>
          <a:p>
            <a:r>
              <a:t>      "content_id": "2895211",</a:t>
            </a:r>
          </a:p>
          <a:p>
            <a:r>
              <a:t>      "source_url": "https://apis.data.go.kr/B551011/KorService2",</a:t>
            </a:r>
          </a:p>
          <a:p>
            <a:r>
              <a:t>      "source_type": "open_api",</a:t>
            </a:r>
          </a:p>
          <a:p>
            <a:r>
              <a:t>      "content_type_id": "39"</a:t>
            </a:r>
          </a:p>
          <a:p>
            <a:r>
              <a:t>    },</a:t>
            </a:r>
          </a:p>
          <a:p>
            <a:r>
              <a:t>    {</a:t>
            </a:r>
          </a:p>
          <a:p>
            <a:r>
              <a:t>      "title": "구펠",</a:t>
            </a:r>
          </a:p>
          <a:p>
            <a:r>
              <a:t>      "address": "서울특별시 성동구 왕십리로14길 30-1 (성수동1가)",</a:t>
            </a:r>
          </a:p>
          <a:p>
            <a:r>
              <a:t>      "summary": "한국관광공사 국문관광정보 API가 반환한 선택 지역 관광자원",</a:t>
            </a:r>
          </a:p>
          <a:p>
            <a:r>
              <a:t>      "image_url": "http://tong.visitkorea.or.kr/cms/resource/26/2895226_image2_1.jpg",</a:t>
            </a:r>
          </a:p>
          <a:p>
            <a:r>
              <a:t>      "source_id": "tour-api:2895236",</a:t>
            </a:r>
          </a:p>
          <a:p>
            <a:r>
              <a:t>      "content_id": "2895236",</a:t>
            </a:r>
          </a:p>
          <a:p>
            <a:r>
              <a:t>      "source_url": "https://apis.data.go.kr/B551011/KorService2",</a:t>
            </a:r>
          </a:p>
          <a:p>
            <a:r>
              <a:t>      "source_type": "open_api",</a:t>
            </a:r>
          </a:p>
          <a:p>
            <a:r>
              <a:t>      "content_type_id": "39"</a:t>
            </a:r>
          </a:p>
          <a:p>
            <a:r>
              <a:t>    },</a:t>
            </a:r>
          </a:p>
          <a:p>
            <a:r>
              <a:t>    {</a:t>
            </a:r>
          </a:p>
          <a:p>
            <a:r>
              <a:t>      "title": "그라데이션커피",</a:t>
            </a:r>
          </a:p>
          <a:p>
            <a:r>
              <a:t>      "address": "서울특별시 성동구 상원12길 24-1 (성수동1가)",</a:t>
            </a:r>
          </a:p>
          <a:p>
            <a:r>
              <a:t>      "summary": "한국관광공사 국문관광정보 API가 반환한 선택 지역 관광자원",</a:t>
            </a:r>
          </a:p>
          <a:p>
            <a:r>
              <a:t>      "image_url": "http://tong.visitkorea.or.kr/cms/resource/82/2898982_image2_1.jpg",</a:t>
            </a:r>
          </a:p>
          <a:p>
            <a:r>
              <a:t>      "source_id": "tour-api:2898994",</a:t>
            </a:r>
          </a:p>
          <a:p>
            <a:r>
              <a:t>      "content_id": "2898994",</a:t>
            </a:r>
          </a:p>
          <a:p>
            <a:r>
              <a:t>      "source_url": "https://apis.data.go.kr/B551011/KorService2",</a:t>
            </a:r>
          </a:p>
          <a:p>
            <a:r>
              <a:t>      "source_type": "open_api",</a:t>
            </a:r>
          </a:p>
          <a:p>
            <a:r>
              <a:t>      "content_type_id": "39"</a:t>
            </a:r>
          </a:p>
          <a:p>
            <a:r>
              <a:t>    },</a:t>
            </a:r>
          </a:p>
          <a:p>
            <a:r>
              <a:t>    {</a:t>
            </a:r>
          </a:p>
          <a:p>
            <a:r>
              <a:t>      "title": "그린랩",</a:t>
            </a:r>
          </a:p>
          <a:p>
            <a:r>
              <a:t>      "address": "서울특별시 성동구 서울숲2길 18-11",</a:t>
            </a:r>
          </a:p>
          <a:p>
            <a:r>
              <a:t>      "summary": "한국관광공사 국문관광정보 API가 반환한 선택 지역 관광자원",</a:t>
            </a:r>
          </a:p>
          <a:p>
            <a:r>
              <a:t>      "image_url": "http://tong.visitkorea.or.kr/cms/resource/64/2894864_image2_1.JPG",</a:t>
            </a:r>
          </a:p>
          <a:p>
            <a:r>
              <a:t>      "source_id": "tour-api:2894873",</a:t>
            </a:r>
          </a:p>
          <a:p>
            <a:r>
              <a:t>      "content_id": "2894873",</a:t>
            </a:r>
          </a:p>
          <a:p>
            <a:r>
              <a:t>      "source_url": "https://apis.data.go.kr/B551011/KorService2",</a:t>
            </a:r>
          </a:p>
          <a:p>
            <a:r>
              <a:t>      "source_type": "open_api",</a:t>
            </a:r>
          </a:p>
          <a:p>
            <a:r>
              <a:t>      "content_type_id": "39"</a:t>
            </a:r>
          </a:p>
          <a:p>
            <a:r>
              <a:t>    },</a:t>
            </a:r>
          </a:p>
          <a:p>
            <a:r>
              <a:t>    {</a:t>
            </a:r>
          </a:p>
          <a:p>
            <a:r>
              <a:t>      "title": "금남시장",</a:t>
            </a:r>
          </a:p>
          <a:p>
            <a:r>
              <a:t>      "address": "서울특별시 성동구 독서당로 303-7 (금호동3가)",</a:t>
            </a:r>
          </a:p>
          <a:p>
            <a:r>
              <a:t>      "summary": "한국관광공사 국문관광정보 API가 반환한 선택 지역 관광자원",</a:t>
            </a:r>
          </a:p>
          <a:p>
            <a:r>
              <a:t>      "image_url": "http://tong.visitkorea.or.kr/cms/resource/59/3414159_image2_1.jpg",</a:t>
            </a:r>
          </a:p>
          <a:p>
            <a:r>
              <a:t>      "source_id": "tour-api:2743748",</a:t>
            </a:r>
          </a:p>
          <a:p>
            <a:r>
              <a:t>      "content_id": "2743748",</a:t>
            </a:r>
          </a:p>
          <a:p>
            <a:r>
              <a:t>      "source_url": "https://apis.data.go.kr/B551011/KorService2",</a:t>
            </a:r>
          </a:p>
          <a:p>
            <a:r>
              <a:t>      "source_type": "open_api",</a:t>
            </a:r>
          </a:p>
          <a:p>
            <a:r>
              <a:t>      "content_type_id": "38"</a:t>
            </a:r>
          </a:p>
          <a:p>
            <a:r>
              <a:t>    },</a:t>
            </a:r>
          </a:p>
          <a:p>
            <a:r>
              <a:t>    {</a:t>
            </a:r>
          </a:p>
          <a:p>
            <a:r>
              <a:t>      "title": "기후",</a:t>
            </a:r>
          </a:p>
          <a:p>
            <a:r>
              <a:t>      "address": "서울특별시 성동구 성수이로 66 서울숲 드림타워",</a:t>
            </a:r>
          </a:p>
          <a:p>
            <a:r>
              <a:t>      "summary": "한국관광공사 국문관광정보 API가 반환한 선택 지역 관광자원",</a:t>
            </a:r>
          </a:p>
          <a:p>
            <a:r>
              <a:t>      "image_url": "http://tong.visitkorea.or.kr/cms/resource/59/2901559_image2_1.jpg",</a:t>
            </a:r>
          </a:p>
          <a:p>
            <a:r>
              <a:t>      "source_id": "tour-api:2901568",</a:t>
            </a:r>
          </a:p>
          <a:p>
            <a:r>
              <a:t>      "content_id": "2901568",</a:t>
            </a:r>
          </a:p>
          <a:p>
            <a:r>
              <a:t>      "source_url": "https://apis.data.go.kr/B551011/KorService2",</a:t>
            </a:r>
          </a:p>
          <a:p>
            <a:r>
              <a:t>      "source_type": "open_api",</a:t>
            </a:r>
          </a:p>
          <a:p>
            <a:r>
              <a:t>      "content_type_id": "39"</a:t>
            </a:r>
          </a:p>
          <a:p>
            <a:r>
              <a:t>    },</a:t>
            </a:r>
          </a:p>
          <a:p>
            <a:r>
              <a:t>    {</a:t>
            </a:r>
          </a:p>
          <a:p>
            <a:r>
              <a:t>      "title": "꾸아 성수점",</a:t>
            </a:r>
          </a:p>
          <a:p>
            <a:r>
              <a:t>      "address": "서울특별시 성동구 왕십리로 94-2 (성수동1가)",</a:t>
            </a:r>
          </a:p>
          <a:p>
            <a:r>
              <a:t>      "summary": "한국관광공사 국문관광정보 API가 반환한 선택 지역 관광자원",</a:t>
            </a:r>
          </a:p>
          <a:p>
            <a:r>
              <a:t>      "image_url": "http://tong.visitkorea.or.kr/cms/resource/17/2894817_image2_1.jpg",</a:t>
            </a:r>
          </a:p>
          <a:p>
            <a:r>
              <a:t>      "source_id": "tour-api:2894842",</a:t>
            </a:r>
          </a:p>
          <a:p>
            <a:r>
              <a:t>      "content_id": "2894842",</a:t>
            </a:r>
          </a:p>
          <a:p>
            <a:r>
              <a:t>      "source_url": "https://apis.data.go.kr/B551011/KorService2",</a:t>
            </a:r>
          </a:p>
          <a:p>
            <a:r>
              <a:t>      "source_type": "open_api",</a:t>
            </a:r>
          </a:p>
          <a:p>
            <a:r>
              <a:t>      "content_type_id": "39"</a:t>
            </a:r>
          </a:p>
          <a:p>
            <a:r>
              <a:t>    },</a:t>
            </a:r>
          </a:p>
          <a:p>
            <a:r>
              <a:t>    {</a:t>
            </a:r>
          </a:p>
          <a:p>
            <a:r>
              <a:t>      "title": "난포",</a:t>
            </a:r>
          </a:p>
          <a:p>
            <a:r>
              <a:t>      "address": "서울특별시 성동구 서울숲4길 18-8 (성수동1가)",</a:t>
            </a:r>
          </a:p>
          <a:p>
            <a:r>
              <a:t>      "summary": "한국관광공사 국문관광정보 API가 반환한 선택 지역 관광자원",</a:t>
            </a:r>
          </a:p>
          <a:p>
            <a:r>
              <a:t>      "image_url": "http://tong.visitkorea.or.kr/cms/resource/15/2843515_image2_1.jpg",</a:t>
            </a:r>
          </a:p>
          <a:p>
            <a:r>
              <a:t>      "source_id": "tour-api:2843520",</a:t>
            </a:r>
          </a:p>
          <a:p>
            <a:r>
              <a:t>      "content_id": "2843520",</a:t>
            </a:r>
          </a:p>
          <a:p>
            <a:r>
              <a:t>      "source_url": "https://apis.data.go.kr/B551011/KorService2",</a:t>
            </a:r>
          </a:p>
          <a:p>
            <a:r>
              <a:t>      "source_type": "open_api",</a:t>
            </a:r>
          </a:p>
          <a:p>
            <a:r>
              <a:t>      "content_type_id": "39"</a:t>
            </a:r>
          </a:p>
          <a:p>
            <a:r>
              <a:t>    },</a:t>
            </a:r>
          </a:p>
          <a:p>
            <a:r>
              <a:t>    {</a:t>
            </a:r>
          </a:p>
          <a:p>
            <a:r>
              <a:t>      "title": "누메로도스",</a:t>
            </a:r>
          </a:p>
          <a:p>
            <a:r>
              <a:t>      "address": "서울특별시 성동구 상원1길 35-9 (성수동1가)",</a:t>
            </a:r>
          </a:p>
          <a:p>
            <a:r>
              <a:t>      "summary": "한국관광공사 국문관광정보 API가 반환한 선택 지역 관광자원",</a:t>
            </a:r>
          </a:p>
          <a:p>
            <a:r>
              <a:t>      "image_url": "http://tong.visitkorea.or.kr/cms/resource/99/2894799_image2_1.jpg",</a:t>
            </a:r>
          </a:p>
          <a:p>
            <a:r>
              <a:t>      "source_id": "tour-api:2894810",</a:t>
            </a:r>
          </a:p>
          <a:p>
            <a:r>
              <a:t>      "content_id": "2894810",</a:t>
            </a:r>
          </a:p>
          <a:p>
            <a:r>
              <a:t>      "source_url": "https://apis.data.go.kr/B551011/KorService2",</a:t>
            </a:r>
          </a:p>
          <a:p>
            <a:r>
              <a:t>      "source_type": "open_api",</a:t>
            </a:r>
          </a:p>
          <a:p>
            <a:r>
              <a:t>      "content_type_id": "39"</a:t>
            </a:r>
          </a:p>
          <a:p>
            <a:r>
              <a:t>    },</a:t>
            </a:r>
          </a:p>
          <a:p>
            <a:r>
              <a:t>    {</a:t>
            </a:r>
          </a:p>
          <a:p>
            <a:r>
              <a:t>      "title": "누메로뜨레쓰",</a:t>
            </a:r>
          </a:p>
          <a:p>
            <a:r>
              <a:t>      "address": "서울특별시 성동구 성수일로 21 (성수동1가)",</a:t>
            </a:r>
          </a:p>
          <a:p>
            <a:r>
              <a:t>      "summary": "한국관광공사 국문관광정보 API가 반환한 선택 지역 관광자원",</a:t>
            </a:r>
          </a:p>
          <a:p>
            <a:r>
              <a:t>      "image_url": "http://tong.visitkorea.or.kr/cms/resource/76/2894776_image2_1.jpg",</a:t>
            </a:r>
          </a:p>
          <a:p>
            <a:r>
              <a:t>      "source_id": "tour-api:2894795",</a:t>
            </a:r>
          </a:p>
          <a:p>
            <a:r>
              <a:t>      "content_id": "2894795",</a:t>
            </a:r>
          </a:p>
          <a:p>
            <a:r>
              <a:t>      "source_url": "https://apis.data.go.kr/B551011/KorService2",</a:t>
            </a:r>
          </a:p>
          <a:p>
            <a:r>
              <a:t>      "source_type": "open_api",</a:t>
            </a:r>
          </a:p>
          <a:p>
            <a:r>
              <a:t>      "content_type_id": "39"</a:t>
            </a:r>
          </a:p>
          <a:p>
            <a:r>
              <a:t>    },</a:t>
            </a:r>
          </a:p>
          <a:p>
            <a:r>
              <a:t>    {</a:t>
            </a:r>
          </a:p>
          <a:p>
            <a:r>
              <a:t>      "title": "니드스윗",</a:t>
            </a:r>
          </a:p>
          <a:p>
            <a:r>
              <a:t>      "address": "서울특별시 성동구 아차산로1길 9",</a:t>
            </a:r>
          </a:p>
          <a:p>
            <a:r>
              <a:t>      "summary": "한국관광공사 국문관광정보 API가 반환한 선택 지역 관광자원",</a:t>
            </a:r>
          </a:p>
          <a:p>
            <a:r>
              <a:t>      "image_url": "http://tong.visitkorea.or.kr/cms/resource/55/2894755_image2_1.jpg",</a:t>
            </a:r>
          </a:p>
          <a:p>
            <a:r>
              <a:t>      "source_id": "tour-api:2894763",</a:t>
            </a:r>
          </a:p>
          <a:p>
            <a:r>
              <a:t>      "content_id": "2894763",</a:t>
            </a:r>
          </a:p>
          <a:p>
            <a:r>
              <a:t>      "source_url": "https://apis.data.go.kr/B551011/KorService2",</a:t>
            </a:r>
          </a:p>
          <a:p>
            <a:r>
              <a:t>      "source_type": "open_api",</a:t>
            </a:r>
          </a:p>
          <a:p>
            <a:r>
              <a:t>      "content_type_id": "39"</a:t>
            </a:r>
          </a:p>
          <a:p>
            <a:r>
              <a:t>    },</a:t>
            </a:r>
          </a:p>
          <a:p>
            <a:r>
              <a:t>    {</a:t>
            </a:r>
          </a:p>
          <a:p>
            <a:r>
              <a:t>      "title": "단일서울",</a:t>
            </a:r>
          </a:p>
          <a:p>
            <a:r>
              <a:t>      "address": "서울특별시 성동구 왕십리로 66-33 (성수동1가)",</a:t>
            </a:r>
          </a:p>
          <a:p>
            <a:r>
              <a:t>      "summary": "한국관광공사 국문관광정보 API가 반환한 선택 지역 관광자원",</a:t>
            </a:r>
          </a:p>
          <a:p>
            <a:r>
              <a:t>      "image_url": "http://tong.visitkorea.or.kr/cms/resource/34/2894734_image2_1.jpg",</a:t>
            </a:r>
          </a:p>
          <a:p>
            <a:r>
              <a:t>      "source_id": "tour-api:2894747",</a:t>
            </a:r>
          </a:p>
          <a:p>
            <a:r>
              <a:t>      "content_id": "2894747",</a:t>
            </a:r>
          </a:p>
          <a:p>
            <a:r>
              <a:t>      "source_url": "https://apis.data.go.kr/B551011/KorService2",</a:t>
            </a:r>
          </a:p>
          <a:p>
            <a:r>
              <a:t>      "source_type": "open_api",</a:t>
            </a:r>
          </a:p>
          <a:p>
            <a:r>
              <a:t>      "content_type_id": "39"</a:t>
            </a:r>
          </a:p>
          <a:p>
            <a:r>
              <a:t>    },</a:t>
            </a:r>
          </a:p>
          <a:p>
            <a:r>
              <a:t>    {</a:t>
            </a:r>
          </a:p>
          <a:p>
            <a:r>
              <a:t>      "title": "대돈집",</a:t>
            </a:r>
          </a:p>
          <a:p>
            <a:r>
              <a:t>      "address": "서울특별시 성동구 왕십리로14길 18 뚝섬영재어린이집",</a:t>
            </a:r>
          </a:p>
          <a:p>
            <a:r>
              <a:t>      "summary": "한국관광공사 국문관광정보 API가 반환한 선택 지역 관광자원",</a:t>
            </a:r>
          </a:p>
          <a:p>
            <a:r>
              <a:t>      "image_url": "http://tong.visitkorea.or.kr/cms/resource/33/2894833_image2_1.jpg",</a:t>
            </a:r>
          </a:p>
          <a:p>
            <a:r>
              <a:t>      "source_id": "tour-api:2894854",</a:t>
            </a:r>
          </a:p>
          <a:p>
            <a:r>
              <a:t>      "content_id": "2894854",</a:t>
            </a:r>
          </a:p>
          <a:p>
            <a:r>
              <a:t>      "source_url": "https://apis.data.go.kr/B551011/KorService2",</a:t>
            </a:r>
          </a:p>
          <a:p>
            <a:r>
              <a:t>      "source_type": "open_api",</a:t>
            </a:r>
          </a:p>
          <a:p>
            <a:r>
              <a:t>      "content_type_id": "39"</a:t>
            </a:r>
          </a:p>
          <a:p>
            <a:r>
              <a:t>    },</a:t>
            </a:r>
          </a:p>
          <a:p>
            <a:r>
              <a:t>    {</a:t>
            </a:r>
          </a:p>
          <a:p>
            <a:r>
              <a:t>      "title": "대흥정육식당",</a:t>
            </a:r>
          </a:p>
          <a:p>
            <a:r>
              <a:t>      "address": "서울특별시 성동구 왕십리로 16 (성수동1가, 트리마제)",</a:t>
            </a:r>
          </a:p>
          <a:p>
            <a:r>
              <a:t>      "summary": "한국관광공사 국문관광정보 API가 반환한 선택 지역 관광자원",</a:t>
            </a:r>
          </a:p>
          <a:p>
            <a:r>
              <a:t>      "image_url": "http://tong.visitkorea.or.kr/cms/resource/97/2898997_image2_1.jpg",</a:t>
            </a:r>
          </a:p>
          <a:p>
            <a:r>
              <a:t>      "source_id": "tour-api:2899012",</a:t>
            </a:r>
          </a:p>
          <a:p>
            <a:r>
              <a:t>      "content_id": "2899012",</a:t>
            </a:r>
          </a:p>
          <a:p>
            <a:r>
              <a:t>      "source_url": "https://apis.data.go.kr/B551011/KorService2",</a:t>
            </a:r>
          </a:p>
          <a:p>
            <a:r>
              <a:t>      "source_type": "open_api",</a:t>
            </a:r>
          </a:p>
          <a:p>
            <a:r>
              <a:t>      "content_type_id": "39"</a:t>
            </a:r>
          </a:p>
          <a:p>
            <a:r>
              <a:t>    },</a:t>
            </a:r>
          </a:p>
          <a:p>
            <a:r>
              <a:t>    {</a:t>
            </a:r>
          </a:p>
          <a:p>
            <a:r>
              <a:t>      "title": "더서울라이티움",</a:t>
            </a:r>
          </a:p>
          <a:p>
            <a:r>
              <a:t>      "address": "서울특별시 성동구 서울숲2길 32-14 (성수동1가, 갤러리아 포레)",</a:t>
            </a:r>
          </a:p>
          <a:p>
            <a:r>
              <a:t>      "summary": "한국관광공사 국문관광정보 API가 반환한 선택 지역 관광자원",</a:t>
            </a:r>
          </a:p>
          <a:p>
            <a:r>
              <a:t>      "image_url": "http://tong.visitkorea.or.kr/cms/resource/37/3401437_image2_1.JPG",</a:t>
            </a:r>
          </a:p>
          <a:p>
            <a:r>
              <a:t>      "source_id": "tour-api:2753089",</a:t>
            </a:r>
          </a:p>
          <a:p>
            <a:r>
              <a:t>      "content_id": "2753089",</a:t>
            </a:r>
          </a:p>
          <a:p>
            <a:r>
              <a:t>      "source_url": "https://apis.data.go.kr/B551011/KorService2",</a:t>
            </a:r>
          </a:p>
          <a:p>
            <a:r>
              <a:t>      "source_type": "open_api",</a:t>
            </a:r>
          </a:p>
          <a:p>
            <a:r>
              <a:t>      "content_type_id": "14"</a:t>
            </a:r>
          </a:p>
          <a:p>
            <a:r>
              <a:t>    },</a:t>
            </a:r>
          </a:p>
          <a:p>
            <a:r>
              <a:t>    {</a:t>
            </a:r>
          </a:p>
          <a:p>
            <a:r>
              <a:t>      "title": "더페이지갤러리",</a:t>
            </a:r>
          </a:p>
          <a:p>
            <a:r>
              <a:t>      "address": "서울특별시 성동구 서울숲2길 32-14 (성수동1가, 갤러리아 포레)",</a:t>
            </a:r>
          </a:p>
          <a:p>
            <a:r>
              <a:t>      "summary": "한국관광공사 국문관광정보 API가 반환한 선택 지역 관광자원",</a:t>
            </a:r>
          </a:p>
          <a:p>
            <a:r>
              <a:t>      "image_url": "http://tong.visitkorea.or.kr/cms/resource/89/2368189_image2_1.JPG",</a:t>
            </a:r>
          </a:p>
          <a:p>
            <a:r>
              <a:t>      "source_id": "tour-api:736766",</a:t>
            </a:r>
          </a:p>
          <a:p>
            <a:r>
              <a:t>      "content_id": "736766",</a:t>
            </a:r>
          </a:p>
          <a:p>
            <a:r>
              <a:t>      "source_url": "https://apis.data.go.kr/B551011/KorService2",</a:t>
            </a:r>
          </a:p>
          <a:p>
            <a:r>
              <a:t>      "source_type": "open_api",</a:t>
            </a:r>
          </a:p>
          <a:p>
            <a:r>
              <a:t>      "content_type_id": "14"</a:t>
            </a:r>
          </a:p>
          <a:p>
            <a:r>
              <a:t>    },</a:t>
            </a:r>
          </a:p>
          <a:p>
            <a:r>
              <a:t>    {</a:t>
            </a:r>
          </a:p>
          <a:p>
            <a:r>
              <a:t>      "title": "땅코참숯구이 본점",</a:t>
            </a:r>
          </a:p>
          <a:p>
            <a:r>
              <a:t>      "address": "서울특별시 성동구 행당로17길 26 (행당동)",</a:t>
            </a:r>
          </a:p>
          <a:p>
            <a:r>
              <a:t>      "summary": "한국관광공사 국문관광정보 API가 반환한 선택 지역 관광자원",</a:t>
            </a:r>
          </a:p>
          <a:p>
            <a:r>
              <a:t>      "image_url": "http://tong.visitkorea.or.kr/cms/resource/23/2845023_image2_1.jpg",</a:t>
            </a:r>
          </a:p>
          <a:p>
            <a:r>
              <a:t>      "source_id": "tour-api:2845040",</a:t>
            </a:r>
          </a:p>
          <a:p>
            <a:r>
              <a:t>      "content_id": "2845040",</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"2026 서울국제정원박람회 &lt; 행사·공연 정보 &lt; 축제·관광 &lt; 미래한강본부, 한강공원",</a:t>
            </a:r>
          </a:p>
          <a:p>
            <a:r>
              <a:t>      "summary": "2026 서울국제정원박람회는 2026년 5월 1일부터 10월 27일까지 서울숲과 성수 일대에서 운영되며, 서울숲·한강·성수동·뚝섬대정원을 연결하는 구성을 공식적으로 제시한다. 따라서 9~10월에는 별도 거점 조성보다 이 행사 구역과 충돌하지 않는 보행 안내, 체류 동선, 상권 연결을 우선 검토할 수 있다.",</a:t>
            </a:r>
          </a:p>
          <a:p>
            <a:r>
              <a:t>      "source_id": "web:11200:1",</a:t>
            </a:r>
          </a:p>
          <a:p>
            <a:r>
              <a:t>      "source_url": "https://hangang.seoul.go.kr/www/eventMng/detail.do?evntSn=378&amp;mid=538&amp;srchType=list",</a:t>
            </a:r>
          </a:p>
          <a:p>
            <a:r>
              <a:t>      "source_type": "official_web",</a:t>
            </a:r>
          </a:p>
          <a:p>
            <a:r>
              <a:t>      "why_relevant": "사업기간 2026-09-01~2026-11-30 중 9~10월이 기존 대형 행사 운영기간과 겹친다. 기존 행사와 같은 장소에서 별도 프로그램을 신설할 경우 공간·안전·운영주체 조정이 필요하므로, 보완형 운영안이 중복 위험이 낮다.",</a:t>
            </a:r>
          </a:p>
          <a:p>
            <a:r>
              <a:t>      "published_or_updated_at": "수정 2026-08-18"</a:t>
            </a:r>
          </a:p>
          <a:p>
            <a:r>
              <a:t>    },</a:t>
            </a:r>
          </a:p>
          <a:p>
            <a:r>
              <a:t>    {</a:t>
            </a:r>
          </a:p>
          <a:p>
            <a:r>
              <a:t>      "title": "개막 20일차 250만명 넘은 서울국제정원박람회… 성수 상권 매출 30% 급증 &gt; 보도자료 | 서울특별시",</a:t>
            </a:r>
          </a:p>
          <a:p>
            <a:r>
              <a:t>      "summary": "서울시는 2026 서울국제정원박람회에서 서울숲의 휴게시설을 보완해 좌석을 확충하고, 정원마켓과 3개 푸드트럭 존을 운영했다고 밝혔다. 같은 자료는 주말·주요 이벤트일에 방문객 수와 체류시간이 함께 늘었다는 분석 결과를 제시한다.",</a:t>
            </a:r>
          </a:p>
          <a:p>
            <a:r>
              <a:t>      "source_id": "web:11200:2",</a:t>
            </a:r>
          </a:p>
          <a:p>
            <a:r>
              <a:t>      "source_url": "https://www.seoul.go.kr/news/news_report.do?nttNo=458311",</a:t>
            </a:r>
          </a:p>
          <a:p>
            <a:r>
              <a:t>      "source_type": "official_web",</a:t>
            </a:r>
          </a:p>
          <a:p>
            <a:r>
              <a:t>      "why_relevant": "체류 개선 후보 중 ‘휴식 좌석·먹거리·이벤트 동선’을 결합하는 방식에 공식 현장운영 사례가 있다. 다만 이 결과는 2026 정원박람회 기간의 분석이므로, 가을 성수 사업에도 동일한 효과가 난다고 일반화하지 않고 운영조건 검토 사례로만 사용해야 한다.",</a:t>
            </a:r>
          </a:p>
          <a:p>
            <a:r>
              <a:t>      "published_or_updated_at": "등록·수정 2026-05-20"</a:t>
            </a:r>
          </a:p>
          <a:p>
            <a:r>
              <a:t>    },</a:t>
            </a:r>
          </a:p>
          <a:p>
            <a:r>
              <a:t>    {</a:t>
            </a:r>
          </a:p>
          <a:p>
            <a:r>
              <a:t>      "title": "서울숲-성수 커넥트 투어 | 2026 서울국제정원박람회",</a:t>
            </a:r>
          </a:p>
          <a:p>
            <a:r>
              <a:t>      "summary": "서울숲-성수 커넥트 투어는 성수근린공원에서 출발해 성수부터 서울숲까지 연결하는 무료 프로그램으로, 매주 화·목 13:00~14:30에 회차당 15명 내외 사전접수 방식으로 안내되었다.",</a:t>
            </a:r>
          </a:p>
          <a:p>
            <a:r>
              <a:t>      "source_id": "web:11200:3",</a:t>
            </a:r>
          </a:p>
          <a:p>
            <a:r>
              <a:t>      "source_url": "https://gov.seoul.go.kr/festa/garden/y2026/program/garden-culture-program/commentary-program?article=42926",</a:t>
            </a:r>
          </a:p>
          <a:p>
            <a:r>
              <a:t>      "source_type": "official_web",</a:t>
            </a:r>
          </a:p>
          <a:p>
            <a:r>
              <a:t>      "why_relevant": "‘공원 방문 후 성수 상권으로 이동’시키는 해설·도보 연결 방식이 실제로 운영된 공식 사례다. 권고안에서는 이 방식을 그대로 복제하기보다, 가을 행사일 및 야간 수요에 맞는 회차·집결지·예약방식으로 전환 가능한지 주최 측과 확인하는 참고사례로 활용한다.",</a:t>
            </a:r>
          </a:p>
          <a:p>
            <a:r>
              <a:t>      "published_or_updated_at": "페이지 확인일 기준 2026-09"</a:t>
            </a:r>
          </a:p>
          <a:p>
            <a:r>
              <a:t>    },</a:t>
            </a:r>
          </a:p>
          <a:p>
            <a:r>
              <a:t>    {</a:t>
            </a:r>
          </a:p>
          <a:p>
            <a:r>
              <a:t>      "title": "2026 서울축제지도 - 가을편 &lt; 공지사항(상세) &lt; 새소식 | 서울문화포털",</a:t>
            </a:r>
          </a:p>
          <a:p>
            <a:r>
              <a:t>      "summary": "크리에이티브X성수는 2026년 10월 5일부터 10월 11일까지 성수동 서울숲·언더스탠드 에비뉴 등에서 예정되어 있으며, 페어·문화 콘퍼런스·토크쇼·전시·공예 프리마켓·패션쇼·음악공연을 포함하는 글로벌 문화창조산업축제로 안내되어 있다.",</a:t>
            </a:r>
          </a:p>
          <a:p>
            <a:r>
              <a:t>      "source_id": "web:11200:4",</a:t>
            </a:r>
          </a:p>
          <a:p>
            <a:r>
              <a:t>      "source_url": "https://culture.seoul.go.kr/culture/bbs/B0000000/view.do?menuNo=200050&amp;nttId=16465",</a:t>
            </a:r>
          </a:p>
          <a:p>
            <a:r>
              <a:t>      "source_type": "official_web",</a:t>
            </a:r>
          </a:p>
          <a:p>
            <a:r>
              <a:t>      "why_relevant": "10월 운영의 집중 구간으로 삼을 수 있는 확정 행사다. 다만 해당 축제의 프로그램·부스·방문객을 성동구 사업이 사용할 수 있는지, 공동홍보·쿠폰·스탬프·동선안내가 가능한지는 공식 문서만으로 확인되지 않았으므로 별도 협의가 필요하다.",</a:t>
            </a:r>
          </a:p>
          <a:p>
            <a:r>
              <a:t>      "published_or_updated_at": "등록 2026-08-31"</a:t>
            </a:r>
          </a:p>
          <a:p>
            <a:r>
              <a:t>    },</a:t>
            </a:r>
          </a:p>
          <a:p>
            <a:r>
              <a:t>    {</a:t>
            </a:r>
          </a:p>
          <a:p>
            <a:r>
              <a:t>      "title": "오시는 길 | 2026 서울국제정원박람회",</a:t>
            </a:r>
          </a:p>
          <a:p>
            <a:r>
              <a:t>      "summary": "서울숲은 수인분당선 서울숲역 3·4·5번 출구에서 도보 2분, 2호선 뚝섬역 7·8번 출구에서 도보 11분으로 안내되어 있다. 서울숲 주차장과 뚝섬유수지 공영주차장은 모두 24시간 운영으로 제시되어 있으며, 행사 안내는 친환경 행사를 위해 대중교통 이용을 권장한다.",</a:t>
            </a:r>
          </a:p>
          <a:p>
            <a:r>
              <a:t>      "source_id": "web:11200:5",</a:t>
            </a:r>
          </a:p>
          <a:p>
            <a:r>
              <a:t>      "source_url": "https://www.seoul.go.kr/festa/garden/y2026/introduce/location?pc=1",</a:t>
            </a:r>
          </a:p>
          <a:p>
            <a:r>
              <a:t>      "source_type": "official_web",</a:t>
            </a:r>
          </a:p>
          <a:p>
            <a:r>
              <a:t>      "why_relevant": "권고안의 운영권역은 대중교통 도착지에서 공원·성수 상권까지의 마지막 보행 연결을 명확히 안내하는 데 초점을 둘 수 있다. 승용차 유입 확대를 핵심 방식으로 삼기보다는 지하철·버스·보행 중심으로 설계하는 것이 공식 안내와 부합한다.",</a:t>
            </a:r>
          </a:p>
          <a:p>
            <a:r>
              <a:t>      "published_or_updated_at": "2026년 행사 안내 페이지"</a:t>
            </a:r>
          </a:p>
          <a:p>
            <a:r>
              <a:t>    },</a:t>
            </a:r>
          </a:p>
          <a:p>
            <a:r>
              <a:t>    {</a:t>
            </a:r>
          </a:p>
          <a:p>
            <a:r>
              <a:t>      "title": "(석간) 제11차 도시건축공동위원회 개최결과 &gt; 보도자료 | 서울특별시",</a:t>
            </a:r>
          </a:p>
          <a:p>
            <a:r>
              <a:t>      "summary": "서울시는 성수 준공업지역 지구단위계획에서 성수역-연무장길 가로변의 지역 특화경관을 유도하고, 지하철 2호선 연접부 개방형녹지 및 서울숲·뚝섬으로 이어지는 보행 네트워크를 조성하는 방향을 제시했다. 연무장길에는 제한적 차량출입 불허구간과 주차기준 완화를 통해 사람 중심의 걷기 좋은 거리로 재편하는 방향도 포함됐다.",</a:t>
            </a:r>
          </a:p>
          <a:p>
            <a:r>
              <a:t>      "source_id": "web:11200:6",</a:t>
            </a:r>
          </a:p>
          <a:p>
            <a:r>
              <a:t>      "source_url": "https://www.seoul.go.kr/news/news_report.do?nttNo=460823&amp;tr_code=snews",</a:t>
            </a:r>
          </a:p>
          <a:p>
            <a:r>
              <a:t>      "source_type": "official_web",</a:t>
            </a:r>
          </a:p>
          <a:p>
            <a:r>
              <a:t>      "why_relevant": "중기적으로 성수역-연무장길-서울숲 보행축은 체류 연결 사업의 대상권역 후보가 될 수 있다. 그러나 이는 도시계획 방향이며 2026년 가을에 모든 물리적 시설이 완공·운영된다는 뜻은 아니므로, 실제 공사·통행·행사 가능 구간은 현장과 관계부서에 확인해야 한다.",</a:t>
            </a:r>
          </a:p>
          <a:p>
            <a:r>
              <a:t>      "published_or_updated_at": "등록 2026-07-01"</a:t>
            </a:r>
          </a:p>
          <a:p>
            <a:r>
              <a:t>    },</a:t>
            </a:r>
          </a:p>
          <a:p>
            <a:r>
              <a:t>    {</a:t>
            </a:r>
          </a:p>
          <a:p>
            <a:r>
              <a:t>      "title": "2026 서울국제정원박람회 &lt; 행사·공연 정보 &lt; 축제·관광 &lt; 미래한강본부, 한강공원",</a:t>
            </a:r>
          </a:p>
          <a:p>
            <a:r>
              <a:t>      "summary": "서울국제정원박람회 공식 안내에는 서울숲 선착장 추가 운항과 야간 운항 증편이 소개되어 있다.",</a:t>
            </a:r>
          </a:p>
          <a:p>
            <a:r>
              <a:t>      "source_id": "web:11200:7",</a:t>
            </a:r>
          </a:p>
          <a:p>
            <a:r>
              <a:t>      "source_url": "https://hangang.seoul.go.kr/www/eventMng/detail.do?evntSn=378&amp;mid=538&amp;srchType=list",</a:t>
            </a:r>
          </a:p>
          <a:p>
            <a:r>
              <a:t>      "source_type": "official_web",</a:t>
            </a:r>
          </a:p>
          <a:p>
            <a:r>
              <a:t>      "why_relevant": "9~10월 주말 또는 야간 프로그램을 검토할 때 한강 수상교통을 보조 접근수단 후보로 검토할 근거가 된다. 다만 11월까지의 실제 운항일·막차·결항 기준은 이 자료에 확정적으로 제시되지 않아, 사업 홍보문구에 포함하기 전 운영기관 확인이 필요하다.",</a:t>
            </a:r>
          </a:p>
          <a:p>
            <a:r>
              <a:t>      "published_or_updated_at": "수정 2026-08-18"</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"document_type": "case_study_budget",</a:t>
            </a:r>
          </a:p>
          <a:p>
            <a:r>
              <a:t>      "observed_result": "예산서이므로 방문·소비 성과는 확인되지 않음",</a:t>
            </a:r>
          </a:p>
          <a:p>
            <a:r>
              <a:t>      "operating_model": "사무관리, 행사운영, 연구용역, 민간경상보조 등으로 사업비를 항목별 편성",</a:t>
            </a:r>
          </a:p>
          <a:p>
            <a:r>
              <a:t>      "retrieval_method": "curated_registry",</a:t>
            </a:r>
          </a:p>
          <a:p>
            <a:r>
              <a:t>      "evidence_strength": "high",</a:t>
            </a:r>
          </a:p>
          <a:p>
            <a:r>
              <a:t>      "retrieval_context": {</a:t>
            </a:r>
          </a:p>
          <a:p>
            <a:r>
              <a:t>        "scope": "cross_province",</a:t>
            </a:r>
          </a:p>
          <a:p>
            <a:r>
              <a:t>        "peer_region_code": null</a:t>
            </a:r>
          </a:p>
          <a:p>
            <a:r>
              <a:t>      },</a:t>
            </a:r>
          </a:p>
          <a:p>
            <a:r>
              <a:t>      "measurement_period": "2026년 예산",</a:t>
            </a:r>
          </a:p>
          <a:p>
            <a:r>
              <a:t>      "transfer_conditions": [</a:t>
            </a:r>
          </a:p>
          <a:p>
            <a:r>
              <a:t>        "국비·도비·시비 분담 가능성 검토",</a:t>
            </a:r>
          </a:p>
          <a:p>
            <a:r>
              <a:t>        "행사비와 상설운영비를 분리 산정",</a:t>
            </a:r>
          </a:p>
          <a:p>
            <a:r>
              <a:t>        "성과평가 비용을 별도 항목으로 확보"</a:t>
            </a:r>
          </a:p>
          <a:p>
            <a:r>
              <a:t>      ],</a:t>
            </a:r>
          </a:p>
          <a:p>
            <a:r>
              <a:t>      "published_or_updated_at": "2026",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"202609",</a:t>
            </a:r>
          </a:p>
          <a:p>
            <a:r>
              <a:t>        "visitors": 6638883.0,</a:t>
            </a:r>
          </a:p>
          <a:p>
            <a:r>
              <a:t>        "is_forecast": true,</a:t>
            </a:r>
          </a:p>
          <a:p>
            <a:r>
              <a:t>        "spending_krw": 102905513747.0,</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6570358.0,</a:t>
            </a:r>
          </a:p>
          <a:p>
            <a:r>
              <a:t>        "is_forecast": true,</a:t>
            </a:r>
          </a:p>
          <a:p>
            <a:r>
              <a:t>        "spending_krw": 103404579597.0,</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6585928.0,</a:t>
            </a:r>
          </a:p>
          <a:p>
            <a:r>
              <a:t>        "is_forecast": true,</a:t>
            </a:r>
          </a:p>
          <a:p>
            <a:r>
              <a:t>        "spending_krw": 107117698458.0,</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6551545,</a:t>
            </a:r>
          </a:p>
          <a:p>
            <a:r>
              <a:t>      "is_forecast": true,</a:t>
            </a:r>
          </a:p>
          <a:p>
            <a:r>
              <a:t>      "spending_krw": 99619891149,</a:t>
            </a:r>
          </a:p>
          <a:p>
            <a:r>
              <a:t>      "stay_minutes": 715.0,</a:t>
            </a:r>
          </a:p>
          <a:p>
            <a:r>
              <a:t>      "lodging_nights": 2.92,</a:t>
            </a:r>
          </a:p>
          <a:p>
            <a:r>
              <a:t>      "lodging_rate_pct": 3.9,</a:t>
            </a:r>
          </a:p>
          <a:p>
            <a:r>
              <a:t>      "lodging_searches": 2427,</a:t>
            </a:r>
          </a:p>
          <a:p>
            <a:r>
              <a:t>      "navigation_searches": 110530,</a:t>
            </a:r>
          </a:p>
          <a:p>
            <a:r>
              <a:t>      "visitor_yoy_percent": 8.42,</a:t>
            </a:r>
          </a:p>
          <a:p>
            <a:r>
              <a:t>      "spending_yoy_percent": 7.8,</a:t>
            </a:r>
          </a:p>
          <a:p>
            <a:r>
              <a:t>      "metric_changes_percent": {</a:t>
            </a:r>
          </a:p>
          <a:p>
            <a:r>
              <a:t>        "stay_minutes": 0.0,</a:t>
            </a:r>
          </a:p>
          <a:p>
            <a:r>
              <a:t>        "lodging_nights": -1.02,</a:t>
            </a:r>
          </a:p>
          <a:p>
            <a:r>
              <a:t>        "lodging_rate_pct": 0.0,</a:t>
            </a:r>
          </a:p>
          <a:p>
            <a:r>
              <a:t>        "lodging_searches": -12.98,</a:t>
            </a:r>
          </a:p>
          <a:p>
            <a:r>
              <a:t>        "navigation_searches": 0.0</a:t>
            </a:r>
          </a:p>
          <a:p>
            <a:r>
              <a:t>      },</a:t>
            </a:r>
          </a:p>
          <a:p>
            <a:r>
              <a:t>      "previous_year_visitors": 6042778,</a:t>
            </a:r>
          </a:p>
          <a:p>
            <a:r>
              <a:t>      "previous_year_spending_krw": 92415108000,</a:t>
            </a:r>
          </a:p>
          <a:p>
            <a:r>
              <a:t>      "previous_year_stay_minutes": 715.0,</a:t>
            </a:r>
          </a:p>
          <a:p>
            <a:r>
              <a:t>      "previous_year_lodging_nights": 2.95,</a:t>
            </a:r>
          </a:p>
          <a:p>
            <a:r>
              <a:t>      "previous_year_lodging_rate_pct": 3.9,</a:t>
            </a:r>
          </a:p>
          <a:p>
            <a:r>
              <a:t>      "previous_year_lodging_searches": 2789,</a:t>
            </a:r>
          </a:p>
          <a:p>
            <a:r>
              <a:t>      "previous_year_navigation_searches": 110530</a:t>
            </a:r>
          </a:p>
          <a:p>
            <a:r>
              <a:t>    },</a:t>
            </a:r>
          </a:p>
          <a:p>
            <a:r>
              <a:t>    {</a:t>
            </a:r>
          </a:p>
          <a:p>
            <a:r>
              <a:t>      "month": "202608",</a:t>
            </a:r>
          </a:p>
          <a:p>
            <a:r>
              <a:t>      "visitors": 6392576,</a:t>
            </a:r>
          </a:p>
          <a:p>
            <a:r>
              <a:t>      "is_forecast": true,</a:t>
            </a:r>
          </a:p>
          <a:p>
            <a:r>
              <a:t>      "spending_krw": 100649180510,</a:t>
            </a:r>
          </a:p>
          <a:p>
            <a:r>
              <a:t>      "stay_minutes": 727.0,</a:t>
            </a:r>
          </a:p>
          <a:p>
            <a:r>
              <a:t>      "lodging_nights": 2.93,</a:t>
            </a:r>
          </a:p>
          <a:p>
            <a:r>
              <a:t>      "lodging_rate_pct": 4.3,</a:t>
            </a:r>
          </a:p>
          <a:p>
            <a:r>
              <a:t>      "lodging_searches": 2345,</a:t>
            </a:r>
          </a:p>
          <a:p>
            <a:r>
              <a:t>      "navigation_searches": 116553,</a:t>
            </a:r>
          </a:p>
          <a:p>
            <a:r>
              <a:t>      "visitor_yoy_percent": 7.88,</a:t>
            </a:r>
          </a:p>
          <a:p>
            <a:r>
              <a:t>      "spending_yoy_percent": 6.05,</a:t>
            </a:r>
          </a:p>
          <a:p>
            <a:r>
              <a:t>      "metric_changes_percent": {</a:t>
            </a:r>
          </a:p>
          <a:p>
            <a:r>
              <a:t>        "stay_minutes": 0.0,</a:t>
            </a:r>
          </a:p>
          <a:p>
            <a:r>
              <a:t>        "lodging_nights": 0.69,</a:t>
            </a:r>
          </a:p>
          <a:p>
            <a:r>
              <a:t>        "lodging_rate_pct": 0.0,</a:t>
            </a:r>
          </a:p>
          <a:p>
            <a:r>
              <a:t>        "lodging_searches": -4.64,</a:t>
            </a:r>
          </a:p>
          <a:p>
            <a:r>
              <a:t>        "navigation_searches": 0.0</a:t>
            </a:r>
          </a:p>
          <a:p>
            <a:r>
              <a:t>      },</a:t>
            </a:r>
          </a:p>
          <a:p>
            <a:r>
              <a:t>      "previous_year_visitors": 5925815,</a:t>
            </a:r>
          </a:p>
          <a:p>
            <a:r>
              <a:t>      "previous_year_spending_krw": 94907804000,</a:t>
            </a:r>
          </a:p>
          <a:p>
            <a:r>
              <a:t>      "previous_year_stay_minutes": 727.0,</a:t>
            </a:r>
          </a:p>
          <a:p>
            <a:r>
              <a:t>      "previous_year_lodging_nights": 2.91,</a:t>
            </a:r>
          </a:p>
          <a:p>
            <a:r>
              <a:t>      "previous_year_lodging_rate_pct": 4.3,</a:t>
            </a:r>
          </a:p>
          <a:p>
            <a:r>
              <a:t>      "previous_year_lodging_searches": 2459,</a:t>
            </a:r>
          </a:p>
          <a:p>
            <a:r>
              <a:t>      "previous_year_navigation_searches": 116553</a:t>
            </a:r>
          </a:p>
          <a:p>
            <a:r>
              <a:t>    },</a:t>
            </a:r>
          </a:p>
          <a:p>
            <a:r>
              <a:t>    {</a:t>
            </a:r>
          </a:p>
          <a:p>
            <a:r>
              <a:t>      "month": "202609",</a:t>
            </a:r>
          </a:p>
          <a:p>
            <a:r>
              <a:t>      "visitors": 6638883,</a:t>
            </a:r>
          </a:p>
          <a:p>
            <a:r>
              <a:t>      "is_forecast": true,</a:t>
            </a:r>
          </a:p>
          <a:p>
            <a:r>
              <a:t>      "spending_krw": 102905513747,</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a:t>
            </a:r>
          </a:p>
          <a:p>
            <a:r>
              <a:t>      "is_forecast": true,</a:t>
            </a:r>
          </a:p>
          <a:p>
            <a:r>
              <a:t>      "spending_krw": 103404579597,</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a:t>
            </a:r>
          </a:p>
          <a:p>
            <a:r>
              <a:t>      "is_forecast": true,</a:t>
            </a:r>
          </a:p>
          <a:p>
            <a:r>
              <a:t>      "spending_krw": 107117698458,</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"evaluation": {</a:t>
            </a:r>
          </a:p>
          <a:p>
            <a:r>
              <a:t>    "metrics": {</a:t>
            </a:r>
          </a:p>
          <a:p>
            <a:r>
              <a:t>      "visitors": {</a:t>
            </a:r>
          </a:p>
          <a:p>
            <a:r>
              <a:t>        "test_mae": 512302.72,</a:t>
            </a:r>
          </a:p>
          <a:p>
            <a:r>
              <a:t>        "recursive_mae": {</a:t>
            </a:r>
          </a:p>
          <a:p>
            <a:r>
              <a:t>          "1": {</a:t>
            </a:r>
          </a:p>
          <a:p>
            <a:r>
              <a:t>            "baseline": 505115.0,</a:t>
            </a:r>
          </a:p>
          <a:p>
            <a:r>
              <a:t>            "selected": 637542.5,</a:t>
            </a:r>
          </a:p>
          <a:p>
            <a:r>
              <a:t>            "sample_count": 2</a:t>
            </a:r>
          </a:p>
          <a:p>
            <a:r>
              <a:t>          },</a:t>
            </a:r>
          </a:p>
          <a:p>
            <a:r>
              <a:t>          "2": {</a:t>
            </a:r>
          </a:p>
          <a:p>
            <a:r>
              <a:t>            "baseline": 350616.5,</a:t>
            </a:r>
          </a:p>
          <a:p>
            <a:r>
              <a:t>            "selected": 385661.0,</a:t>
            </a:r>
          </a:p>
          <a:p>
            <a:r>
              <a:t>            "sample_count": 2</a:t>
            </a:r>
          </a:p>
          <a:p>
            <a:r>
              <a:t>          },</a:t>
            </a:r>
          </a:p>
          <a:p>
            <a:r>
              <a:t>          "3": {</a:t>
            </a:r>
          </a:p>
          <a:p>
            <a:r>
              <a:t>            "baseline": 508390.5,</a:t>
            </a:r>
          </a:p>
          <a:p>
            <a:r>
              <a:t>            "selected": 376970.5,</a:t>
            </a:r>
          </a:p>
          <a:p>
            <a:r>
              <a:t>            "sample_count": 2</a:t>
            </a:r>
          </a:p>
          <a:p>
            <a:r>
              <a:t>          }</a:t>
            </a:r>
          </a:p>
          <a:p>
            <a:r>
              <a:t>        },</a:t>
            </a:r>
          </a:p>
          <a:p>
            <a:r>
              <a:t>        "selected_model": "RandomForestRegressor",</a:t>
            </a:r>
          </a:p>
          <a:p>
            <a:r>
              <a:t>        "baseline_test_mae": 506752.75,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5905429236.35,</a:t>
            </a:r>
          </a:p>
          <a:p>
            <a:r>
              <a:t>        "recursive_mae": {</a:t>
            </a:r>
          </a:p>
          <a:p>
            <a:r>
              <a:t>          "1": {</a:t>
            </a:r>
          </a:p>
          <a:p>
            <a:r>
              <a:t>            "baseline": 3857228000.0,</a:t>
            </a:r>
          </a:p>
          <a:p>
            <a:r>
              <a:t>            "selected": 3675260054.5,</a:t>
            </a:r>
          </a:p>
          <a:p>
            <a:r>
              <a:t>            "sample_count": 2</a:t>
            </a:r>
          </a:p>
          <a:p>
            <a:r>
              <a:t>          },</a:t>
            </a:r>
          </a:p>
          <a:p>
            <a:r>
              <a:t>          "2": {</a:t>
            </a:r>
          </a:p>
          <a:p>
            <a:r>
              <a:t>            "baseline": 5016656500.0,</a:t>
            </a:r>
          </a:p>
          <a:p>
            <a:r>
              <a:t>            "selected": 2276015570.0,</a:t>
            </a:r>
          </a:p>
          <a:p>
            <a:r>
              <a:t>            "sample_count": 2</a:t>
            </a:r>
          </a:p>
          <a:p>
            <a:r>
              <a:t>          },</a:t>
            </a:r>
          </a:p>
          <a:p>
            <a:r>
              <a:t>          "3": {</a:t>
            </a:r>
          </a:p>
          <a:p>
            <a:r>
              <a:t>            "baseline": 3931632500.0,</a:t>
            </a:r>
          </a:p>
          <a:p>
            <a:r>
              <a:t>            "selected": 7285373763.0,</a:t>
            </a:r>
          </a:p>
          <a:p>
            <a:r>
              <a:t>            "sample_count": 2</a:t>
            </a:r>
          </a:p>
          <a:p>
            <a:r>
              <a:t>          }</a:t>
            </a:r>
          </a:p>
          <a:p>
            <a:r>
              <a:t>        },</a:t>
            </a:r>
          </a:p>
          <a:p>
            <a:r>
              <a:t>        "selected_model": "LinearRegression",</a:t>
            </a:r>
          </a:p>
          <a:p>
            <a:r>
              <a:t>        "baseline_test_mae": 3894430250.0,</a:t>
            </a:r>
          </a:p>
          <a:p>
            <a:r>
              <a:t>        "model_reliability": "below_baseline_on_test",</a:t>
            </a:r>
          </a:p>
          <a:p>
            <a:r>
              <a:t>        "beats_baseline_on_test": false,</a:t>
            </a:r>
          </a:p>
          <a:p>
            <a:r>
              <a:t>        "recursive_horizons_worse_than_baseline": [</a:t>
            </a:r>
          </a:p>
          <a:p>
            <a:r>
              <a:t>          "3"</a:t>
            </a:r>
          </a:p>
          <a:p>
            <a:r>
              <a:t>        ]</a:t>
            </a:r>
          </a:p>
          <a:p>
            <a:r>
              <a:t>      },</a:t>
            </a:r>
          </a:p>
          <a:p>
            <a:r>
              <a:t>      "stay_minutes": {</a:t>
            </a:r>
          </a:p>
          <a:p>
            <a:r>
              <a:t>        "test_mae": 81.25,</a:t>
            </a:r>
          </a:p>
          <a:p>
            <a:r>
              <a:t>        "recursive_mae": {</a:t>
            </a:r>
          </a:p>
          <a:p>
            <a:r>
              <a:t>          "1": {</a:t>
            </a:r>
          </a:p>
          <a:p>
            <a:r>
              <a:t>            "baseline": 15.0,</a:t>
            </a:r>
          </a:p>
          <a:p>
            <a:r>
              <a:t>            "selected": 15.0,</a:t>
            </a:r>
          </a:p>
          <a:p>
            <a:r>
              <a:t>            "sample_count": 2</a:t>
            </a:r>
          </a:p>
          <a:p>
            <a:r>
              <a:t>          },</a:t>
            </a:r>
          </a:p>
          <a:p>
            <a:r>
              <a:t>          "2": {</a:t>
            </a:r>
          </a:p>
          <a:p>
            <a:r>
              <a:t>            "baseline": 148.0,</a:t>
            </a:r>
          </a:p>
          <a:p>
            <a:r>
              <a:t>            "selected": 148.0,</a:t>
            </a:r>
          </a:p>
          <a:p>
            <a:r>
              <a:t>            "sample_count": 2</a:t>
            </a:r>
          </a:p>
          <a:p>
            <a:r>
              <a:t>          },</a:t>
            </a:r>
          </a:p>
          <a:p>
            <a:r>
              <a:t>          "3": {</a:t>
            </a:r>
          </a:p>
          <a:p>
            <a:r>
              <a:t>            "baseline": 147.5,</a:t>
            </a:r>
          </a:p>
          <a:p>
            <a:r>
              <a:t>            "selected": 147.5,</a:t>
            </a:r>
          </a:p>
          <a:p>
            <a:r>
              <a:t>            "sample_count": 2</a:t>
            </a:r>
          </a:p>
          <a:p>
            <a:r>
              <a:t>          }</a:t>
            </a:r>
          </a:p>
          <a:p>
            <a:r>
              <a:t>        },</a:t>
            </a:r>
          </a:p>
          <a:p>
            <a:r>
              <a:t>        "selected_model": "seasonal_naive_previous_year_same_month",</a:t>
            </a:r>
          </a:p>
          <a:p>
            <a:r>
              <a:t>        "baseline_test_mae": 81.25,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0.07,</a:t>
            </a:r>
          </a:p>
          <a:p>
            <a:r>
              <a:t>            "selected": 0.1,</a:t>
            </a:r>
          </a:p>
          <a:p>
            <a:r>
              <a:t>            "sample_count": 2</a:t>
            </a:r>
          </a:p>
          <a:p>
            <a:r>
              <a:t>          },</a:t>
            </a:r>
          </a:p>
          <a:p>
            <a:r>
              <a:t>          "2": {</a:t>
            </a:r>
          </a:p>
          <a:p>
            <a:r>
              <a:t>            "baseline": 0.11,</a:t>
            </a:r>
          </a:p>
          <a:p>
            <a:r>
              <a:t>            "selected": 0.16,</a:t>
            </a:r>
          </a:p>
          <a:p>
            <a:r>
              <a:t>            "sample_count": 2</a:t>
            </a:r>
          </a:p>
          <a:p>
            <a:r>
              <a:t>          },</a:t>
            </a:r>
          </a:p>
          <a:p>
            <a:r>
              <a:t>          "3": {</a:t>
            </a:r>
          </a:p>
          <a:p>
            <a:r>
              <a:t>            "baseline": 0.15,</a:t>
            </a:r>
          </a:p>
          <a:p>
            <a:r>
              <a:t>            "selected": 0.17,</a:t>
            </a:r>
          </a:p>
          <a:p>
            <a:r>
              <a:t>            "sample_count": 2</a:t>
            </a:r>
          </a:p>
          <a:p>
            <a:r>
              <a:t>          }</a:t>
            </a:r>
          </a:p>
          <a:p>
            <a:r>
              <a:t>        },</a:t>
            </a:r>
          </a:p>
          <a:p>
            <a:r>
              <a:t>        "selected_model": "LinearRegression",</a:t>
            </a:r>
          </a:p>
          <a:p>
            <a:r>
              <a:t>        "baseline_test_mae": 0.11,</a:t>
            </a:r>
          </a:p>
          <a:p>
            <a:r>
              <a:t>        "model_reliability": "mixed_recursive_performance",</a:t>
            </a:r>
          </a:p>
          <a:p>
            <a:r>
              <a:t>        "beats_baseline_on_test": true,</a:t>
            </a:r>
          </a:p>
          <a:p>
            <a:r>
              <a:t>        "recursive_horizons_worse_than_baseline": [</a:t>
            </a:r>
          </a:p>
          <a:p>
            <a:r>
              <a:t>          "1",</a:t>
            </a:r>
          </a:p>
          <a:p>
            <a:r>
              <a:t>          "2",</a:t>
            </a:r>
          </a:p>
          <a:p>
            <a:r>
              <a:t>          "3"</a:t>
            </a:r>
          </a:p>
          <a:p>
            <a:r>
              <a:t>        ]</a:t>
            </a:r>
          </a:p>
          <a:p>
            <a:r>
              <a:t>      },</a:t>
            </a:r>
          </a:p>
          <a:p>
            <a:r>
              <a:t>      "lodging_rate_pct": {</a:t>
            </a:r>
          </a:p>
          <a:p>
            <a:r>
              <a:t>        "test_mae": 0.32,</a:t>
            </a:r>
          </a:p>
          <a:p>
            <a:r>
              <a:t>        "recursive_mae": {</a:t>
            </a:r>
          </a:p>
          <a:p>
            <a:r>
              <a:t>          "1": {</a:t>
            </a:r>
          </a:p>
          <a:p>
            <a:r>
              <a:t>            "baseline": 0.3,</a:t>
            </a:r>
          </a:p>
          <a:p>
            <a:r>
              <a:t>            "selected": 0.3,</a:t>
            </a:r>
          </a:p>
          <a:p>
            <a:r>
              <a:t>            "sample_count": 2</a:t>
            </a:r>
          </a:p>
          <a:p>
            <a:r>
              <a:t>          },</a:t>
            </a:r>
          </a:p>
          <a:p>
            <a:r>
              <a:t>          "2": {</a:t>
            </a:r>
          </a:p>
          <a:p>
            <a:r>
              <a:t>            "baseline": 0.4,</a:t>
            </a:r>
          </a:p>
          <a:p>
            <a:r>
              <a:t>            "selected": 0.4,</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0.32,</a:t>
            </a:r>
          </a:p>
          <a:p>
            <a:r>
              <a:t>        "model_reliability": "seasonal_baseline",</a:t>
            </a:r>
          </a:p>
          <a:p>
            <a:r>
              <a:t>        "beats_baseline_on_test": false,</a:t>
            </a:r>
          </a:p>
          <a:p>
            <a:r>
              <a:t>        "recursive_horizons_worse_than_baseline": []</a:t>
            </a:r>
          </a:p>
          <a:p>
            <a:r>
              <a:t>      },</a:t>
            </a:r>
          </a:p>
          <a:p>
            <a:r>
              <a:t>      "lodging_searches": {</a:t>
            </a:r>
          </a:p>
          <a:p>
            <a:r>
              <a:t>        "test_mae": 141.88,</a:t>
            </a:r>
          </a:p>
          <a:p>
            <a:r>
              <a:t>        "recursive_mae": {</a:t>
            </a:r>
          </a:p>
          <a:p>
            <a:r>
              <a:t>          "1": {</a:t>
            </a:r>
          </a:p>
          <a:p>
            <a:r>
              <a:t>            "baseline": 239.0,</a:t>
            </a:r>
          </a:p>
          <a:p>
            <a:r>
              <a:t>            "selected": 78.5,</a:t>
            </a:r>
          </a:p>
          <a:p>
            <a:r>
              <a:t>            "sample_count": 2</a:t>
            </a:r>
          </a:p>
          <a:p>
            <a:r>
              <a:t>          },</a:t>
            </a:r>
          </a:p>
          <a:p>
            <a:r>
              <a:t>          "2": {</a:t>
            </a:r>
          </a:p>
          <a:p>
            <a:r>
              <a:t>            "baseline": 215.5,</a:t>
            </a:r>
          </a:p>
          <a:p>
            <a:r>
              <a:t>            "selected": 71.5,</a:t>
            </a:r>
          </a:p>
          <a:p>
            <a:r>
              <a:t>            "sample_count": 2</a:t>
            </a:r>
          </a:p>
          <a:p>
            <a:r>
              <a:t>          },</a:t>
            </a:r>
          </a:p>
          <a:p>
            <a:r>
              <a:t>          "3": {</a:t>
            </a:r>
          </a:p>
          <a:p>
            <a:r>
              <a:t>            "baseline": 282.5,</a:t>
            </a:r>
          </a:p>
          <a:p>
            <a:r>
              <a:t>            "selected": 143.0,</a:t>
            </a:r>
          </a:p>
          <a:p>
            <a:r>
              <a:t>            "sample_count": 2</a:t>
            </a:r>
          </a:p>
          <a:p>
            <a:r>
              <a:t>          }</a:t>
            </a:r>
          </a:p>
          <a:p>
            <a:r>
              <a:t>        },</a:t>
            </a:r>
          </a:p>
          <a:p>
            <a:r>
              <a:t>        "selected_model": "RandomForestRegressor",</a:t>
            </a:r>
          </a:p>
          <a:p>
            <a:r>
              <a:t>        "baseline_test_mae": 260.75,</a:t>
            </a:r>
          </a:p>
          <a:p>
            <a:r>
              <a:t>        "model_reliability": "limited_backtest_support",</a:t>
            </a:r>
          </a:p>
          <a:p>
            <a:r>
              <a:t>        "beats_baseline_on_test": true,</a:t>
            </a:r>
          </a:p>
          <a:p>
            <a:r>
              <a:t>        "recursive_horizons_worse_than_baseline": []</a:t>
            </a:r>
          </a:p>
          <a:p>
            <a:r>
              <a:t>      },</a:t>
            </a:r>
          </a:p>
          <a:p>
            <a:r>
              <a:t>      "navigation_searches": {</a:t>
            </a:r>
          </a:p>
          <a:p>
            <a:r>
              <a:t>        "test_mae": 18943.5,</a:t>
            </a:r>
          </a:p>
          <a:p>
            <a:r>
              <a:t>        "recursive_mae": {</a:t>
            </a:r>
          </a:p>
          <a:p>
            <a:r>
              <a:t>          "1": {</a:t>
            </a:r>
          </a:p>
          <a:p>
            <a:r>
              <a:t>            "baseline": 21342.5,</a:t>
            </a:r>
          </a:p>
          <a:p>
            <a:r>
              <a:t>            "selected": 21342.5,</a:t>
            </a:r>
          </a:p>
          <a:p>
            <a:r>
              <a:t>            "sample_count": 2</a:t>
            </a:r>
          </a:p>
          <a:p>
            <a:r>
              <a:t>          },</a:t>
            </a:r>
          </a:p>
          <a:p>
            <a:r>
              <a:t>          "2": {</a:t>
            </a:r>
          </a:p>
          <a:p>
            <a:r>
              <a:t>            "baseline": 18933.0,</a:t>
            </a:r>
          </a:p>
          <a:p>
            <a:r>
              <a:t>            "selected": 18933.0,</a:t>
            </a:r>
          </a:p>
          <a:p>
            <a:r>
              <a:t>            "sample_count": 2</a:t>
            </a:r>
          </a:p>
          <a:p>
            <a:r>
              <a:t>          },</a:t>
            </a:r>
          </a:p>
          <a:p>
            <a:r>
              <a:t>          "3": {</a:t>
            </a:r>
          </a:p>
          <a:p>
            <a:r>
              <a:t>            "baseline": 16544.5,</a:t>
            </a:r>
          </a:p>
          <a:p>
            <a:r>
              <a:t>            "selected": 16544.5,</a:t>
            </a:r>
          </a:p>
          <a:p>
            <a:r>
              <a:t>            "sample_count": 2</a:t>
            </a:r>
          </a:p>
          <a:p>
            <a:r>
              <a:t>          }</a:t>
            </a:r>
          </a:p>
          <a:p>
            <a:r>
              <a:t>        },</a:t>
            </a:r>
          </a:p>
          <a:p>
            <a:r>
              <a:t>        "selected_model": "seasonal_naive_previous_year_same_month",</a:t>
            </a:r>
          </a:p>
          <a:p>
            <a:r>
              <a:t>        "baseline_test_mae": 18943.5,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5,</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"지역상품권 환급액 = (외지인 관광객의 지역 내 소비액 × 20%) + (지역상품권 발행 비용: 1,000원/장). 단가 및 정확한 환급 대상 규모는 시범 운영 전 확정 필요.",</a:t>
            </a:r>
          </a:p>
          <a:p>
            <a:r>
              <a:t>        "본문 기준"</a:t>
            </a:r>
          </a:p>
          <a:p>
            <a:r>
              <a:t>      ]</a:t>
            </a:r>
          </a:p>
          <a:p>
            <a:r>
              <a:t>    ],</a:t>
            </a:r>
          </a:p>
          <a:p>
            <a:r>
              <a:t>    "original_text": "지역상품권 환급액 = (외지인 관광객의 지역 내 소비액 × 20%) + (지역상품권 발행 비용: 1,000원/장). 단가 및 정확한 환급 대상 규모는 시범 운영 전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dataset:11200:1 | 한국관광 데이터랩 · 서울특별시 성동구 순 방문자 수 및 숙박 비율 (이동통신 기반 외지인) | https://datalab.visitkorea.or.kr/</a:t>
            </a:r>
          </a:p>
          <a:p>
            <a:r>
              <a:t>dataset:11200:2 | 한국관광 데이터랩 · 서울특별시 성동구 월간 순 방문자 수 (이동통신 기반 외지인) | https://datalab.visitkorea.or.kr/</a:t>
            </a:r>
          </a:p>
          <a:p>
            <a:r>
              <a:t>dataset:11200:3 | 한국관광 데이터랩 · 서울특별시 성동구 관광소비 추이_외지인 | https://datalab.visitkorea.or.kr/</a:t>
            </a:r>
          </a:p>
          <a:p>
            <a:r>
              <a:t>dataset:11200:4 | 한국관광 데이터랩 · 서울특별시 성동구 숙박방문자 비율 추이 (이동통신 기반 외지인) | https://datalab.visitkorea.or.kr/</a:t>
            </a:r>
          </a:p>
          <a:p>
            <a:r>
              <a:t>dataset:11200:5 | 한국관광 데이터랩 · 서울특별시 성동구 평균 숙박일 (이동통신 기반 외지인) | https://datalab.visitkorea.or.kr/</a:t>
            </a:r>
          </a:p>
          <a:p>
            <a:r>
              <a:t>dataset:11200:6 | 한국관광 데이터랩 · 서울특별시 성동구 내비게이션 목적지 유형별 검색량 | https://datalab.visitkorea.or.kr/</a:t>
            </a:r>
          </a:p>
          <a:p>
            <a:r>
              <a:t>dataset:11200:7 | 한국관광 데이터랩 · 서울특별시 성동구 SNS 언급량 | https://datalab.visitkorea.or.kr/</a:t>
            </a:r>
          </a:p>
          <a:p>
            <a:r>
              <a:t>datalab:0ea2e7ff8811:517c835e3039 | 한국관광 데이터랩 공식 다운로드 · 서울특별시_성동구/숙박_체류시간/2025_01_12.zip | https://datalab.visitkorea.or.kr/</a:t>
            </a:r>
          </a:p>
          <a:p>
            <a:r>
              <a:t>datalab:3a79405535b3:68f41f6aa9c6 | 한국관광 데이터랩 공식 다운로드 · 서울특별시_성동구/관광소비/2025_01_12.zip | https://datalab.visitkorea.or.kr/</a:t>
            </a:r>
          </a:p>
          <a:p>
            <a:r>
              <a:t>datalab:6217474023e5:2e717447925f | 한국관광 데이터랩 공식 다운로드 · 서울특별시_성동구/숙박_체류시간/2026_01_06.zip | https://datalab.visitkorea.or.kr/</a:t>
            </a:r>
          </a:p>
          <a:p>
            <a:r>
              <a:t>datalab:62312101c8d0:9c44bd532366 | 한국관광 데이터랩 공식 다운로드 · 서울특별시_성동구/방문자/2025_01_12.zip | https://datalab.visitkorea.or.kr/</a:t>
            </a:r>
          </a:p>
          <a:p>
            <a:r>
              <a:t>datalab:7ddda0420208:c68bf7b028b0 | 한국관광 데이터랩 공식 다운로드 · 서울특별시_성동구/관광소비/2026_01_06.zip | https://datalab.visitkorea.or.kr/</a:t>
            </a:r>
          </a:p>
          <a:p>
            <a:r>
              <a:t>datalab:9369271c7419:76a9b6ea89d8 | 한국관광 데이터랩 공식 다운로드 · 서울특별시_성동구/방문자/2026_01_06.zip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regional-status:300d117a9148:9b5e59efa799 | 한국관광 데이터랩 지역별 관광 현황 · 서울특별시 성동구 · 인기관광지 | https://datalab.visitkorea.or.kr/</a:t>
            </a:r>
          </a:p>
          <a:p>
            <a:r>
              <a:t>regional-status:e1f4d12a3396:706443b7ba17 | 한국관광 데이터랩 지역별 관광 현황 · 서울특별시 성동구 · 유입유출 | https://datalab.visitkorea.or.kr/</a:t>
            </a:r>
          </a:p>
          <a:p>
            <a:r>
              <a:t>regional-status:f05693fd34a7:ae929e215d91 | 한국관광 데이터랩 지역별 관광 현황 · 서울특별시 성동구 · 지역집중률 | https://datalab.visitkorea.or.kr/</a:t>
            </a:r>
          </a:p>
          <a:p>
            <a:r>
              <a:t>ml:11200:regional-demand-v3.1:202606 | 지역 관광수요 ML 전망 · 공식 관측값 아님 | URL 미기록</a:t>
            </a:r>
          </a:p>
          <a:p>
            <a:r>
              <a:t>tour-api:2901229 | 가조쿠 | https://apis.data.go.kr/B551011/KorService2</a:t>
            </a:r>
          </a:p>
          <a:p>
            <a:r>
              <a:t>tour-api:2895161 | 계월 | https://apis.data.go.kr/B551011/KorService2</a:t>
            </a:r>
          </a:p>
          <a:p>
            <a:r>
              <a:t>tour-api:2901359 | 계자람 | https://apis.data.go.kr/B551011/KorService2</a:t>
            </a:r>
          </a:p>
          <a:p>
            <a:r>
              <a:t>tour-api:2895211 | 구욱희씨 | https://apis.data.go.kr/B551011/KorService2</a:t>
            </a:r>
          </a:p>
          <a:p>
            <a:r>
              <a:t>tour-api:2895236 | 구펠 | https://apis.data.go.kr/B551011/KorService2</a:t>
            </a:r>
          </a:p>
          <a:p>
            <a:r>
              <a:t>tour-api:2898994 | 그라데이션커피 | https://apis.data.go.kr/B551011/KorService2</a:t>
            </a:r>
          </a:p>
          <a:p>
            <a:r>
              <a:t>tour-api:2894873 | 그린랩 | https://apis.data.go.kr/B551011/KorService2</a:t>
            </a:r>
          </a:p>
          <a:p>
            <a:r>
              <a:t>tour-api:2743748 | 금남시장 | https://apis.data.go.kr/B551011/KorService2</a:t>
            </a:r>
          </a:p>
          <a:p>
            <a:r>
              <a:t>tour-api:2901568 | 기후 | https://apis.data.go.kr/B551011/KorService2</a:t>
            </a:r>
          </a:p>
          <a:p>
            <a:r>
              <a:t>tour-api:2894842 | 꾸아 성수점 | https://apis.data.go.kr/B551011/KorService2</a:t>
            </a:r>
          </a:p>
          <a:p>
            <a:r>
              <a:t>tour-api:2843520 | 난포 | https://apis.data.go.kr/B551011/KorService2</a:t>
            </a:r>
          </a:p>
          <a:p>
            <a:r>
              <a:t>tour-api:2894810 | 누메로도스 | https://apis.data.go.kr/B551011/KorService2</a:t>
            </a:r>
          </a:p>
          <a:p>
            <a:r>
              <a:t>tour-api:2894795 | 누메로뜨레쓰 | https://apis.data.go.kr/B551011/KorService2</a:t>
            </a:r>
          </a:p>
          <a:p>
            <a:r>
              <a:t>tour-api:2894763 | 니드스윗 | https://apis.data.go.kr/B551011/KorService2</a:t>
            </a:r>
          </a:p>
          <a:p>
            <a:r>
              <a:t>tour-api:2894747 | 단일서울 | https://apis.data.go.kr/B551011/KorService2</a:t>
            </a:r>
          </a:p>
          <a:p>
            <a:r>
              <a:t>tour-api:2894854 | 대돈집 | https://apis.data.go.kr/B551011/KorService2</a:t>
            </a:r>
          </a:p>
          <a:p>
            <a:r>
              <a:t>tour-api:2899012 | 대흥정육식당 | https://apis.data.go.kr/B551011/KorService2</a:t>
            </a:r>
          </a:p>
          <a:p>
            <a:r>
              <a:t>tour-api:2753089 | 더서울라이티움 | https://apis.data.go.kr/B551011/KorService2</a:t>
            </a:r>
          </a:p>
          <a:p>
            <a:r>
              <a:t>tour-api:736766 | 더페이지갤러리 | https://apis.data.go.kr/B551011/KorService2</a:t>
            </a:r>
          </a:p>
          <a:p>
            <a:r>
              <a:t>tour-api:2845040 | 땅코참숯구이 본점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web:11200:1 | 2026 서울국제정원박람회 &lt; 행사·공연 정보 &lt; 축제·관광 &lt; 미래한강본부, 한강공원 | https://hangang.seoul.go.kr/www/eventMng/detail.do?evntSn=378&amp;mid=538&amp;srchType=list</a:t>
            </a:r>
          </a:p>
          <a:p>
            <a:r>
              <a:t>web:11200:2 | 개막 20일차 250만명 넘은 서울국제정원박람회… 성수 상권 매출 30% 급증 &gt; 보도자료 | 서울특별시 | https://www.seoul.go.kr/news/news_report.do?nttNo=458311</a:t>
            </a:r>
          </a:p>
          <a:p>
            <a:r>
              <a:t>web:11200:3 | 서울숲-성수 커넥트 투어 | 2026 서울국제정원박람회 | https://gov.seoul.go.kr/festa/garden/y2026/program/garden-culture-program/commentary-program?article=42926</a:t>
            </a:r>
          </a:p>
          <a:p>
            <a:r>
              <a:t>web:11200:4 | 2026 서울축제지도 - 가을편 &lt; 공지사항(상세) &lt; 새소식 | 서울문화포털 | https://culture.seoul.go.kr/culture/bbs/B0000000/view.do?menuNo=200050&amp;nttId=16465</a:t>
            </a:r>
          </a:p>
          <a:p>
            <a:r>
              <a:t>web:11200:5 | 오시는 길 | 2026 서울국제정원박람회 | https://www.seoul.go.kr/festa/garden/y2026/introduce/location?pc=1</a:t>
            </a:r>
          </a:p>
          <a:p>
            <a:r>
              <a:t>web:11200:6 | (석간) 제11차 도시건축공동위원회 개최결과 &gt; 보도자료 | 서울특별시 | https://www.seoul.go.kr/news/news_report.do?nttNo=460823&amp;tr_code=snews</a:t>
            </a:r>
          </a:p>
          <a:p>
            <a:r>
              <a:t>web:11200:7 | 2026 서울국제정원박람회 &lt; 행사·공연 정보 &lt; 축제·관광 &lt; 미래한강본부, 한강공원 | https://hangang.seoul.go.kr/www/eventMng/detail.do?evntSn=378&amp;mid=538&amp;srchType=list</a:t>
            </a:r>
          </a:p>
          <a:p>
            <a:r>
              <a:t>case:jeonju_night_budget_2026 | 전주시 2026년도 관광산업과 세출예산 사업명세서 | https://jeonju.go.kr/resource/www/images/download/budget/2026/2026_31_2.pdf</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서울특별시 성동구 순 방문자 수 및 숙박 비율 (이동통신 기반 외지인)",</a:t>
            </a:r>
          </a:p>
          <a:p>
            <a:r>
              <a:t>      "summary": "월간 순 방문자 수: 6,687,696명 (관측 기준월: 2026-06)",</a:t>
            </a:r>
          </a:p>
          <a:p>
            <a:r>
              <a:t>      "source_id": "dataset:11200:1",</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월간 순 방문자 수 (이동통신 기반 외지인)",</a:t>
            </a:r>
          </a:p>
          <a:p>
            <a:r>
              <a:t>      "summary": "전년동월 외지인 방문자 증감률: 10.2% (관측 기준월: 2026-06)",</a:t>
            </a:r>
          </a:p>
          <a:p>
            <a:r>
              <a:t>      "source_id": "dataset:11200:2",</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관광소비 추이_외지인",</a:t>
            </a:r>
          </a:p>
          <a:p>
            <a:r>
              <a:t>      "summary": "월간 외지인 관광소비 총액: 93,151,315,000원 (관측 기준월: 2026-06)",</a:t>
            </a:r>
          </a:p>
          <a:p>
            <a:r>
              <a:t>      "source_id": "dataset:11200:3",</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숙박방문자 비율 추이 (이동통신 기반 외지인)",</a:t>
            </a:r>
          </a:p>
          <a:p>
            <a:r>
              <a:t>      "summary": "외지인 숙박 방문 비율: 3.7% (관측 기준월: 2026-06)",</a:t>
            </a:r>
          </a:p>
          <a:p>
            <a:r>
              <a:t>      "source_id": "dataset:11200:4",</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평균 숙박일 (이동통신 기반 외지인)",</a:t>
            </a:r>
          </a:p>
          <a:p>
            <a:r>
              <a:t>      "summary": "외지인 평균 숙박일수: 3.03일 (관측 기준월: 2026-06)",</a:t>
            </a:r>
          </a:p>
          <a:p>
            <a:r>
              <a:t>      "source_id": "dataset:11200:5",</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내비게이션 목적지 유형별 검색량",</a:t>
            </a:r>
          </a:p>
          <a:p>
            <a:r>
              <a:t>      "summary": "내비게이션 목적지 검색량: 89,198건 (관측 기준월: 2026-06)",</a:t>
            </a:r>
          </a:p>
          <a:p>
            <a:r>
              <a:t>      "source_id": "dataset:11200:6",</a:t>
            </a:r>
          </a:p>
          <a:p>
            <a:r>
              <a:t>      "source_url": "https://datalab.visitkorea.or.kr/",</a:t>
            </a:r>
          </a:p>
          <a:p>
            <a:r>
              <a:t>      "source_type": "dataset",</a:t>
            </a:r>
          </a:p>
          <a:p>
            <a:r>
              <a:t>      "observation_period": "2026-06",</a:t>
            </a:r>
          </a:p>
          <a:p>
            <a:r>
              <a:t>      "published_or_updated_at": "2026-06"</a:t>
            </a:r>
          </a:p>
          <a:p>
            <a:r>
              <a:t>    },</a:t>
            </a:r>
          </a:p>
          <a:p>
            <a:r>
              <a:t>    {</a:t>
            </a:r>
          </a:p>
          <a:p>
            <a:r>
              <a:t>      "title": "한국관광 데이터랩 · 서울특별시 성동구 SNS 언급량",</a:t>
            </a:r>
          </a:p>
          <a:p>
            <a:r>
              <a:t>      "summary": "SNS 언급량: 71,233건 (관측 기준월: 2026-06)",</a:t>
            </a:r>
          </a:p>
          <a:p>
            <a:r>
              <a:t>      "source_id": "dataset:11200:7",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서울특별시_성동구/숙박_체류시간/2025_01_12.zip",</a:t>
            </a:r>
          </a:p>
          <a:p>
            <a:r>
              <a:t>      "summary": "전국 비교 기준 기간: 2025-07 ~ 2026-06",</a:t>
            </a:r>
          </a:p>
          <a:p>
            <a:r>
              <a:t>      "source_id": "datalab:0ea2e7ff8811:517c835e3039",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서울특별시_성동구/관광소비/2025_01_12.zip",</a:t>
            </a:r>
          </a:p>
          <a:p>
            <a:r>
              <a:t>      "summary": "전국 비교 기준 기간: 2025-07 ~ 2026-06",</a:t>
            </a:r>
          </a:p>
          <a:p>
            <a:r>
              <a:t>      "source_id": "datalab:3a79405535b3:68f41f6aa9c6",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서울특별시_성동구/숙박_체류시간/2026_01_06.zip",</a:t>
            </a:r>
          </a:p>
          <a:p>
            <a:r>
              <a:t>      "summary": "전국 비교 기준 기간: 2025-07 ~ 2026-06",</a:t>
            </a:r>
          </a:p>
          <a:p>
            <a:r>
              <a:t>      "source_id": "datalab:6217474023e5:2e717447925f",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서울특별시_성동구/방문자/2025_01_12.zip",</a:t>
            </a:r>
          </a:p>
          <a:p>
            <a:r>
              <a:t>      "summary": "전국 비교 기준 기간: 2025-07 ~ 2026-06",</a:t>
            </a:r>
          </a:p>
          <a:p>
            <a:r>
              <a:t>      "source_id": "datalab:62312101c8d0:9c44bd532366",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서울특별시_성동구/관광소비/2026_01_06.zip",</a:t>
            </a:r>
          </a:p>
          <a:p>
            <a:r>
              <a:t>      "summary": "전국 비교 기준 기간: 2025-07 ~ 2026-06",</a:t>
            </a:r>
          </a:p>
          <a:p>
            <a:r>
              <a:t>      "source_id": "datalab:7ddda0420208:c68bf7b028b0",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서울특별시_성동구/방문자/2026_01_06.zip",</a:t>
            </a:r>
          </a:p>
          <a:p>
            <a:r>
              <a:t>      "summary": "전국 비교 기준 기간: 2025-07 ~ 2026-06",</a:t>
            </a:r>
          </a:p>
          <a:p>
            <a:r>
              <a:t>      "source_id": "datalab:9369271c7419:76a9b6ea89d8",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서울특별시 성동구 · 인기관광지",</a:t>
            </a:r>
          </a:p>
          <a:p>
            <a:r>
              <a:t>      "summary": "관측 기간: 2025-07 ~ 2026-06. 유입·유출·인기장소 또는 30일 집중 운영 신호.",</a:t>
            </a:r>
          </a:p>
          <a:p>
            <a:r>
              <a:t>      "source_id": "regional-status:300d117a9148:9b5e59efa799",</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유입유출",</a:t>
            </a:r>
          </a:p>
          <a:p>
            <a:r>
              <a:t>      "summary": "관측 기간: 2025-07 ~ 2026-06. 유입·유출·인기장소 또는 30일 집중 운영 신호.",</a:t>
            </a:r>
          </a:p>
          <a:p>
            <a:r>
              <a:t>      "source_id": "regional-status:e1f4d12a3396:706443b7ba17",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서울특별시 성동구 · 지역집중률",</a:t>
            </a:r>
          </a:p>
          <a:p>
            <a:r>
              <a:t>      "summary": "관측 기간: 2025-07 ~ 2026-06. 유입·유출·인기장소 또는 30일 집중 운영 신호.",</a:t>
            </a:r>
          </a:p>
          <a:p>
            <a:r>
              <a:t>      "source_id": "regional-status:f05693fd34a7:ae929e215d91",</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"ml:11200:regional-demand-v3.1:202606",</a:t>
            </a:r>
          </a:p>
          <a:p>
            <a:r>
              <a:t>      "source_url": "",</a:t>
            </a:r>
          </a:p>
          <a:p>
            <a:r>
              <a:t>      "source_type": "model_forecast",</a:t>
            </a:r>
          </a:p>
          <a:p>
            <a:r>
              <a:t>      "model_version": "regional-demand-v3.1",</a:t>
            </a:r>
          </a:p>
          <a:p>
            <a:r>
              <a:t>      "data_fingerprint": "c47c92e05a4d54565864c2c7d1091d0c4f29ba1e6f45559f77d766e9c92e6d24"</a:t>
            </a:r>
          </a:p>
          <a:p>
            <a:r>
              <a:t>    },</a:t>
            </a:r>
          </a:p>
          <a:p>
            <a:r>
              <a:t>    {</a:t>
            </a:r>
          </a:p>
          <a:p>
            <a:r>
              <a:t>      "title": "가조쿠",</a:t>
            </a:r>
          </a:p>
          <a:p>
            <a:r>
              <a:t>      "address": "서울특별시 성동구 연무장길 31-2 (성수동2가)",</a:t>
            </a:r>
          </a:p>
          <a:p>
            <a:r>
              <a:t>      "summary": "한국관광공사 국문관광정보 API가 반환한 선택 지역 관광자원",</a:t>
            </a:r>
          </a:p>
          <a:p>
            <a:r>
              <a:t>      "image_url": "http://tong.visitkorea.or.kr/cms/resource/12/2901212_image2_1.jpg",</a:t>
            </a:r>
          </a:p>
          <a:p>
            <a:r>
              <a:t>      "source_id": "tour-api:2901229",</a:t>
            </a:r>
          </a:p>
          <a:p>
            <a:r>
              <a:t>      "content_id": "2901229",</a:t>
            </a:r>
          </a:p>
          <a:p>
            <a:r>
              <a:t>      "source_url": "https://apis.data.go.kr/B551011/KorService2",</a:t>
            </a:r>
          </a:p>
          <a:p>
            <a:r>
              <a:t>      "source_type": "open_api",</a:t>
            </a:r>
          </a:p>
          <a:p>
            <a:r>
              <a:t>      "content_type_id": "39"</a:t>
            </a:r>
          </a:p>
          <a:p>
            <a:r>
              <a:t>    },</a:t>
            </a:r>
          </a:p>
          <a:p>
            <a:r>
              <a:t>    {</a:t>
            </a:r>
          </a:p>
          <a:p>
            <a:r>
              <a:t>      "title": "계월",</a:t>
            </a:r>
          </a:p>
          <a:p>
            <a:r>
              <a:t>      "address": "서울특별시 성동구 성덕정3길 8 (성수동1가)",</a:t>
            </a:r>
          </a:p>
          <a:p>
            <a:r>
              <a:t>      "summary": "한국관광공사 국문관광정보 API가 반환한 선택 지역 관광자원",</a:t>
            </a:r>
          </a:p>
          <a:p>
            <a:r>
              <a:t>      "image_url": "http://tong.visitkorea.or.kr/cms/resource/44/2895144_image2_1.JPG",</a:t>
            </a:r>
          </a:p>
          <a:p>
            <a:r>
              <a:t>      "source_id": "tour-api:2895161",</a:t>
            </a:r>
          </a:p>
          <a:p>
            <a:r>
              <a:t>      "content_id": "2895161",</a:t>
            </a:r>
          </a:p>
          <a:p>
            <a:r>
              <a:t>      "source_url": "https://apis.data.go.kr/B551011/KorService2",</a:t>
            </a:r>
          </a:p>
          <a:p>
            <a:r>
              <a:t>      "source_type": "open_api",</a:t>
            </a:r>
          </a:p>
          <a:p>
            <a:r>
              <a:t>      "content_type_id": "39"</a:t>
            </a:r>
          </a:p>
          <a:p>
            <a:r>
              <a:t>    },</a:t>
            </a:r>
          </a:p>
          <a:p>
            <a:r>
              <a:t>    {</a:t>
            </a:r>
          </a:p>
          <a:p>
            <a:r>
              <a:t>      "title": "계자람",</a:t>
            </a:r>
          </a:p>
          <a:p>
            <a:r>
              <a:t>      "address": "서울특별시 성동구 성덕정17길 5 (성수동2가)",</a:t>
            </a:r>
          </a:p>
          <a:p>
            <a:r>
              <a:t>      "summary": "한국관광공사 국문관광정보 API가 반환한 선택 지역 관광자원",</a:t>
            </a:r>
          </a:p>
          <a:p>
            <a:r>
              <a:t>      "image_url": "http://tong.visitkorea.or.kr/cms/resource/51/2901351_image2_1.jpg",</a:t>
            </a:r>
          </a:p>
          <a:p>
            <a:r>
              <a:t>      "source_id": "tour-api:2901359",</a:t>
            </a:r>
          </a:p>
          <a:p>
            <a:r>
              <a:t>      "content_id": "2901359",</a:t>
            </a:r>
          </a:p>
          <a:p>
            <a:r>
              <a:t>      "source_url": "https://apis.data.go.kr/B551011/KorService2",</a:t>
            </a:r>
          </a:p>
          <a:p>
            <a:r>
              <a:t>      "source_type": "open_api",</a:t>
            </a:r>
          </a:p>
          <a:p>
            <a:r>
              <a:t>      "content_type_id": "39"</a:t>
            </a:r>
          </a:p>
          <a:p>
            <a:r>
              <a:t>    },</a:t>
            </a:r>
          </a:p>
          <a:p>
            <a:r>
              <a:t>    {</a:t>
            </a:r>
          </a:p>
          <a:p>
            <a:r>
              <a:t>      "title": "구욱희씨",</a:t>
            </a:r>
          </a:p>
          <a:p>
            <a:r>
              <a:t>      "address": "서울특별시 성동구 서울숲4길 12-22",</a:t>
            </a:r>
          </a:p>
          <a:p>
            <a:r>
              <a:t>      "summary": "한국관광공사 국문관광정보 API가 반환한 선택 지역 관광자원",</a:t>
            </a:r>
          </a:p>
          <a:p>
            <a:r>
              <a:t>      "image_url": "http://tong.visitkorea.or.kr/cms/resource/08/2895208_image2_1.jpg",</a:t>
            </a:r>
          </a:p>
          <a:p>
            <a:r>
              <a:t>      "source_id": "tour-api:2895211",</a:t>
            </a:r>
          </a:p>
          <a:p>
            <a:r>
              <a:t>      "content_id": "2895211",</a:t>
            </a:r>
          </a:p>
          <a:p>
            <a:r>
              <a:t>      "source_url": "https://apis.data.go.kr/B551011/KorService2",</a:t>
            </a:r>
          </a:p>
          <a:p>
            <a:r>
              <a:t>      "source_type": "open_api",</a:t>
            </a:r>
          </a:p>
          <a:p>
            <a:r>
              <a:t>      "content_type_id": "39"</a:t>
            </a:r>
          </a:p>
          <a:p>
            <a:r>
              <a:t>    },</a:t>
            </a:r>
          </a:p>
          <a:p>
            <a:r>
              <a:t>    {</a:t>
            </a:r>
          </a:p>
          <a:p>
            <a:r>
              <a:t>      "title": "구펠",</a:t>
            </a:r>
          </a:p>
          <a:p>
            <a:r>
              <a:t>      "address": "서울특별시 성동구 왕십리로14길 30-1 (성수동1가)",</a:t>
            </a:r>
          </a:p>
          <a:p>
            <a:r>
              <a:t>      "summary": "한국관광공사 국문관광정보 API가 반환한 선택 지역 관광자원",</a:t>
            </a:r>
          </a:p>
          <a:p>
            <a:r>
              <a:t>      "image_url": "http://tong.visitkorea.or.kr/cms/resource/26/2895226_image2_1.jpg",</a:t>
            </a:r>
          </a:p>
          <a:p>
            <a:r>
              <a:t>      "source_id": "tour-api:2895236",</a:t>
            </a:r>
          </a:p>
          <a:p>
            <a:r>
              <a:t>      "content_id": "2895236",</a:t>
            </a:r>
          </a:p>
          <a:p>
            <a:r>
              <a:t>      "source_url": "https://apis.data.go.kr/B551011/KorService2",</a:t>
            </a:r>
          </a:p>
          <a:p>
            <a:r>
              <a:t>      "source_type": "open_api",</a:t>
            </a:r>
          </a:p>
          <a:p>
            <a:r>
              <a:t>      "content_type_id": "39"</a:t>
            </a:r>
          </a:p>
          <a:p>
            <a:r>
              <a:t>    },</a:t>
            </a:r>
          </a:p>
          <a:p>
            <a:r>
              <a:t>    {</a:t>
            </a:r>
          </a:p>
          <a:p>
            <a:r>
              <a:t>      "title": "그라데이션커피",</a:t>
            </a:r>
          </a:p>
          <a:p>
            <a:r>
              <a:t>      "address": "서울특별시 성동구 상원12길 24-1 (성수동1가)",</a:t>
            </a:r>
          </a:p>
          <a:p>
            <a:r>
              <a:t>      "summary": "한국관광공사 국문관광정보 API가 반환한 선택 지역 관광자원",</a:t>
            </a:r>
          </a:p>
          <a:p>
            <a:r>
              <a:t>      "image_url": "http://tong.visitkorea.or.kr/cms/resource/82/2898982_image2_1.jpg",</a:t>
            </a:r>
          </a:p>
          <a:p>
            <a:r>
              <a:t>      "source_id": "tour-api:2898994",</a:t>
            </a:r>
          </a:p>
          <a:p>
            <a:r>
              <a:t>      "content_id": "2898994",</a:t>
            </a:r>
          </a:p>
          <a:p>
            <a:r>
              <a:t>      "source_url": "https://apis.data.go.kr/B551011/KorService2",</a:t>
            </a:r>
          </a:p>
          <a:p>
            <a:r>
              <a:t>      "source_type": "open_api",</a:t>
            </a:r>
          </a:p>
          <a:p>
            <a:r>
              <a:t>      "content_type_id": "39"</a:t>
            </a:r>
          </a:p>
          <a:p>
            <a:r>
              <a:t>    },</a:t>
            </a:r>
          </a:p>
          <a:p>
            <a:r>
              <a:t>    {</a:t>
            </a:r>
          </a:p>
          <a:p>
            <a:r>
              <a:t>      "title": "그린랩",</a:t>
            </a:r>
          </a:p>
          <a:p>
            <a:r>
              <a:t>      "address": "서울특별시 성동구 서울숲2길 18-11",</a:t>
            </a:r>
          </a:p>
          <a:p>
            <a:r>
              <a:t>      "summary": "한국관광공사 국문관광정보 API가 반환한 선택 지역 관광자원",</a:t>
            </a:r>
          </a:p>
          <a:p>
            <a:r>
              <a:t>      "image_url": "http://tong.visitkorea.or.kr/cms/resource/64/2894864_image2_1.JPG",</a:t>
            </a:r>
          </a:p>
          <a:p>
            <a:r>
              <a:t>      "source_id": "tour-api:2894873",</a:t>
            </a:r>
          </a:p>
          <a:p>
            <a:r>
              <a:t>      "content_id": "2894873",</a:t>
            </a:r>
          </a:p>
          <a:p>
            <a:r>
              <a:t>      "source_url": "https://apis.data.go.kr/B551011/KorService2",</a:t>
            </a:r>
          </a:p>
          <a:p>
            <a:r>
              <a:t>      "source_type": "open_api",</a:t>
            </a:r>
          </a:p>
          <a:p>
            <a:r>
              <a:t>      "content_type_id": "39"</a:t>
            </a:r>
          </a:p>
          <a:p>
            <a:r>
              <a:t>    },</a:t>
            </a:r>
          </a:p>
          <a:p>
            <a:r>
              <a:t>    {</a:t>
            </a:r>
          </a:p>
          <a:p>
            <a:r>
              <a:t>      "title": "금남시장",</a:t>
            </a:r>
          </a:p>
          <a:p>
            <a:r>
              <a:t>      "address": "서울특별시 성동구 독서당로 303-7 (금호동3가)",</a:t>
            </a:r>
          </a:p>
          <a:p>
            <a:r>
              <a:t>      "summary": "한국관광공사 국문관광정보 API가 반환한 선택 지역 관광자원",</a:t>
            </a:r>
          </a:p>
          <a:p>
            <a:r>
              <a:t>      "image_url": "http://tong.visitkorea.or.kr/cms/resource/59/3414159_image2_1.jpg",</a:t>
            </a:r>
          </a:p>
          <a:p>
            <a:r>
              <a:t>      "source_id": "tour-api:2743748",</a:t>
            </a:r>
          </a:p>
          <a:p>
            <a:r>
              <a:t>      "content_id": "2743748",</a:t>
            </a:r>
          </a:p>
          <a:p>
            <a:r>
              <a:t>      "source_url": "https://apis.data.go.kr/B551011/KorService2",</a:t>
            </a:r>
          </a:p>
          <a:p>
            <a:r>
              <a:t>      "source_type": "open_api",</a:t>
            </a:r>
          </a:p>
          <a:p>
            <a:r>
              <a:t>      "content_type_id": "38"</a:t>
            </a:r>
          </a:p>
          <a:p>
            <a:r>
              <a:t>    },</a:t>
            </a:r>
          </a:p>
          <a:p>
            <a:r>
              <a:t>    {</a:t>
            </a:r>
          </a:p>
          <a:p>
            <a:r>
              <a:t>      "title": "기후",</a:t>
            </a:r>
          </a:p>
          <a:p>
            <a:r>
              <a:t>      "address": "서울특별시 성동구 성수이로 66 서울숲 드림타워",</a:t>
            </a:r>
          </a:p>
          <a:p>
            <a:r>
              <a:t>      "summary": "한국관광공사 국문관광정보 API가 반환한 선택 지역 관광자원",</a:t>
            </a:r>
          </a:p>
          <a:p>
            <a:r>
              <a:t>      "image_url": "http://tong.visitkorea.or.kr/cms/resource/59/2901559_image2_1.jpg",</a:t>
            </a:r>
          </a:p>
          <a:p>
            <a:r>
              <a:t>      "source_id": "tour-api:2901568",</a:t>
            </a:r>
          </a:p>
          <a:p>
            <a:r>
              <a:t>      "content_id": "2901568",</a:t>
            </a:r>
          </a:p>
          <a:p>
            <a:r>
              <a:t>      "source_url": "https://apis.data.go.kr/B551011/KorService2",</a:t>
            </a:r>
          </a:p>
          <a:p>
            <a:r>
              <a:t>      "source_type": "open_api",</a:t>
            </a:r>
          </a:p>
          <a:p>
            <a:r>
              <a:t>      "content_type_id": "39"</a:t>
            </a:r>
          </a:p>
          <a:p>
            <a:r>
              <a:t>    },</a:t>
            </a:r>
          </a:p>
          <a:p>
            <a:r>
              <a:t>    {</a:t>
            </a:r>
          </a:p>
          <a:p>
            <a:r>
              <a:t>      "title": "꾸아 성수점",</a:t>
            </a:r>
          </a:p>
          <a:p>
            <a:r>
              <a:t>      "address": "서울특별시 성동구 왕십리로 94-2 (성수동1가)",</a:t>
            </a:r>
          </a:p>
          <a:p>
            <a:r>
              <a:t>      "summary": "한국관광공사 국문관광정보 API가 반환한 선택 지역 관광자원",</a:t>
            </a:r>
          </a:p>
          <a:p>
            <a:r>
              <a:t>      "image_url": "http://tong.visitkorea.or.kr/cms/resource/17/2894817_image2_1.jpg",</a:t>
            </a:r>
          </a:p>
          <a:p>
            <a:r>
              <a:t>      "source_id": "tour-api:2894842",</a:t>
            </a:r>
          </a:p>
          <a:p>
            <a:r>
              <a:t>      "content_id": "2894842",</a:t>
            </a:r>
          </a:p>
          <a:p>
            <a:r>
              <a:t>      "source_url": "https://apis.data.go.kr/B551011/KorService2",</a:t>
            </a:r>
          </a:p>
          <a:p>
            <a:r>
              <a:t>      "source_type": "open_api",</a:t>
            </a:r>
          </a:p>
          <a:p>
            <a:r>
              <a:t>      "content_type_id": "39"</a:t>
            </a:r>
          </a:p>
          <a:p>
            <a:r>
              <a:t>    },</a:t>
            </a:r>
          </a:p>
          <a:p>
            <a:r>
              <a:t>    {</a:t>
            </a:r>
          </a:p>
          <a:p>
            <a:r>
              <a:t>      "title": "난포",</a:t>
            </a:r>
          </a:p>
          <a:p>
            <a:r>
              <a:t>      "address": "서울특별시 성동구 서울숲4길 18-8 (성수동1가)",</a:t>
            </a:r>
          </a:p>
          <a:p>
            <a:r>
              <a:t>      "summary": "한국관광공사 국문관광정보 API가 반환한 선택 지역 관광자원",</a:t>
            </a:r>
          </a:p>
          <a:p>
            <a:r>
              <a:t>      "image_url": "http://tong.visitkorea.or.kr/cms/resource/15/2843515_image2_1.jpg",</a:t>
            </a:r>
          </a:p>
          <a:p>
            <a:r>
              <a:t>      "source_id": "tour-api:2843520",</a:t>
            </a:r>
          </a:p>
          <a:p>
            <a:r>
              <a:t>      "content_id": "2843520",</a:t>
            </a:r>
          </a:p>
          <a:p>
            <a:r>
              <a:t>      "source_url": "https://apis.data.go.kr/B551011/KorService2",</a:t>
            </a:r>
          </a:p>
          <a:p>
            <a:r>
              <a:t>      "source_type": "open_api",</a:t>
            </a:r>
          </a:p>
          <a:p>
            <a:r>
              <a:t>      "content_type_id": "39"</a:t>
            </a:r>
          </a:p>
          <a:p>
            <a:r>
              <a:t>    },</a:t>
            </a:r>
          </a:p>
          <a:p>
            <a:r>
              <a:t>    {</a:t>
            </a:r>
          </a:p>
          <a:p>
            <a:r>
              <a:t>      "title": "누메로도스",</a:t>
            </a:r>
          </a:p>
          <a:p>
            <a:r>
              <a:t>      "address": "서울특별시 성동구 상원1길 35-9 (성수동1가)",</a:t>
            </a:r>
          </a:p>
          <a:p>
            <a:r>
              <a:t>      "summary": "한국관광공사 국문관광정보 API가 반환한 선택 지역 관광자원",</a:t>
            </a:r>
          </a:p>
          <a:p>
            <a:r>
              <a:t>      "image_url": "http://tong.visitkorea.or.kr/cms/resource/99/2894799_image2_1.jpg",</a:t>
            </a:r>
          </a:p>
          <a:p>
            <a:r>
              <a:t>      "source_id": "tour-api:2894810",</a:t>
            </a:r>
          </a:p>
          <a:p>
            <a:r>
              <a:t>      "content_id": "2894810",</a:t>
            </a:r>
          </a:p>
          <a:p>
            <a:r>
              <a:t>      "source_url": "https://apis.data.go.kr/B551011/KorService2",</a:t>
            </a:r>
          </a:p>
          <a:p>
            <a:r>
              <a:t>      "source_type": "open_api",</a:t>
            </a:r>
          </a:p>
          <a:p>
            <a:r>
              <a:t>      "content_type_id": "39"</a:t>
            </a:r>
          </a:p>
          <a:p>
            <a:r>
              <a:t>    },</a:t>
            </a:r>
          </a:p>
          <a:p>
            <a:r>
              <a:t>    {</a:t>
            </a:r>
          </a:p>
          <a:p>
            <a:r>
              <a:t>      "title": "누메로뜨레쓰",</a:t>
            </a:r>
          </a:p>
          <a:p>
            <a:r>
              <a:t>      "address": "서울특별시 성동구 성수일로 21 (성수동1가)",</a:t>
            </a:r>
          </a:p>
          <a:p>
            <a:r>
              <a:t>      "summary": "한국관광공사 국문관광정보 API가 반환한 선택 지역 관광자원",</a:t>
            </a:r>
          </a:p>
          <a:p>
            <a:r>
              <a:t>      "image_url": "http://tong.visitkorea.or.kr/cms/resource/76/2894776_image2_1.jpg",</a:t>
            </a:r>
          </a:p>
          <a:p>
            <a:r>
              <a:t>      "source_id": "tour-api:2894795",</a:t>
            </a:r>
          </a:p>
          <a:p>
            <a:r>
              <a:t>      "content_id": "2894795",</a:t>
            </a:r>
          </a:p>
          <a:p>
            <a:r>
              <a:t>      "source_url": "https://apis.data.go.kr/B551011/KorService2",</a:t>
            </a:r>
          </a:p>
          <a:p>
            <a:r>
              <a:t>      "source_type": "open_api",</a:t>
            </a:r>
          </a:p>
          <a:p>
            <a:r>
              <a:t>      "content_type_id": "39"</a:t>
            </a:r>
          </a:p>
          <a:p>
            <a:r>
              <a:t>    },</a:t>
            </a:r>
          </a:p>
          <a:p>
            <a:r>
              <a:t>    {</a:t>
            </a:r>
          </a:p>
          <a:p>
            <a:r>
              <a:t>      "title": "니드스윗",</a:t>
            </a:r>
          </a:p>
          <a:p>
            <a:r>
              <a:t>      "address": "서울특별시 성동구 아차산로1길 9",</a:t>
            </a:r>
          </a:p>
          <a:p>
            <a:r>
              <a:t>      "summary": "한국관광공사 국문관광정보 API가 반환한 선택 지역 관광자원",</a:t>
            </a:r>
          </a:p>
          <a:p>
            <a:r>
              <a:t>      "image_url": "http://tong.visitkorea.or.kr/cms/resource/55/2894755_image2_1.jpg",</a:t>
            </a:r>
          </a:p>
          <a:p>
            <a:r>
              <a:t>      "source_id": "tour-api:2894763",</a:t>
            </a:r>
          </a:p>
          <a:p>
            <a:r>
              <a:t>      "content_id": "2894763",</a:t>
            </a:r>
          </a:p>
          <a:p>
            <a:r>
              <a:t>      "source_url": "https://apis.data.go.kr/B551011/KorService2",</a:t>
            </a:r>
          </a:p>
          <a:p>
            <a:r>
              <a:t>      "source_type": "open_api",</a:t>
            </a:r>
          </a:p>
          <a:p>
            <a:r>
              <a:t>      "content_type_id": "39"</a:t>
            </a:r>
          </a:p>
          <a:p>
            <a:r>
              <a:t>    },</a:t>
            </a:r>
          </a:p>
          <a:p>
            <a:r>
              <a:t>    {</a:t>
            </a:r>
          </a:p>
          <a:p>
            <a:r>
              <a:t>      "title": "단일서울",</a:t>
            </a:r>
          </a:p>
          <a:p>
            <a:r>
              <a:t>      "address": "서울특별시 성동구 왕십리로 66-33 (성수동1가)",</a:t>
            </a:r>
          </a:p>
          <a:p>
            <a:r>
              <a:t>      "summary": "한국관광공사 국문관광정보 API가 반환한 선택 지역 관광자원",</a:t>
            </a:r>
          </a:p>
          <a:p>
            <a:r>
              <a:t>      "image_url": "http://tong.visitkorea.or.kr/cms/resource/34/2894734_image2_1.jpg",</a:t>
            </a:r>
          </a:p>
          <a:p>
            <a:r>
              <a:t>      "source_id": "tour-api:2894747",</a:t>
            </a:r>
          </a:p>
          <a:p>
            <a:r>
              <a:t>      "content_id": "2894747",</a:t>
            </a:r>
          </a:p>
          <a:p>
            <a:r>
              <a:t>      "source_url": "https://apis.data.go.kr/B551011/KorService2",</a:t>
            </a:r>
          </a:p>
          <a:p>
            <a:r>
              <a:t>      "source_type": "open_api",</a:t>
            </a:r>
          </a:p>
          <a:p>
            <a:r>
              <a:t>      "content_type_id": "39"</a:t>
            </a:r>
          </a:p>
          <a:p>
            <a:r>
              <a:t>    },</a:t>
            </a:r>
          </a:p>
          <a:p>
            <a:r>
              <a:t>    {</a:t>
            </a:r>
          </a:p>
          <a:p>
            <a:r>
              <a:t>      "title": "대돈집",</a:t>
            </a:r>
          </a:p>
          <a:p>
            <a:r>
              <a:t>      "address": "서울특별시 성동구 왕십리로14길 18 뚝섬영재어린이집",</a:t>
            </a:r>
          </a:p>
          <a:p>
            <a:r>
              <a:t>      "summary": "한국관광공사 국문관광정보 API가 반환한 선택 지역 관광자원",</a:t>
            </a:r>
          </a:p>
          <a:p>
            <a:r>
              <a:t>      "image_url": "http://tong.visitkorea.or.kr/cms/resource/33/2894833_image2_1.jpg",</a:t>
            </a:r>
          </a:p>
          <a:p>
            <a:r>
              <a:t>      "source_id": "tour-api:2894854",</a:t>
            </a:r>
          </a:p>
          <a:p>
            <a:r>
              <a:t>      "content_id": "2894854",</a:t>
            </a:r>
          </a:p>
          <a:p>
            <a:r>
              <a:t>      "source_url": "https://apis.data.go.kr/B551011/KorService2",</a:t>
            </a:r>
          </a:p>
          <a:p>
            <a:r>
              <a:t>      "source_type": "open_api",</a:t>
            </a:r>
          </a:p>
          <a:p>
            <a:r>
              <a:t>      "content_type_id": "39"</a:t>
            </a:r>
          </a:p>
          <a:p>
            <a:r>
              <a:t>    },</a:t>
            </a:r>
          </a:p>
          <a:p>
            <a:r>
              <a:t>    {</a:t>
            </a:r>
          </a:p>
          <a:p>
            <a:r>
              <a:t>      "title": "대흥정육식당",</a:t>
            </a:r>
          </a:p>
          <a:p>
            <a:r>
              <a:t>      "address": "서울특별시 성동구 왕십리로 16 (성수동1가, 트리마제)",</a:t>
            </a:r>
          </a:p>
          <a:p>
            <a:r>
              <a:t>      "summary": "한국관광공사 국문관광정보 API가 반환한 선택 지역 관광자원",</a:t>
            </a:r>
          </a:p>
          <a:p>
            <a:r>
              <a:t>      "image_url": "http://tong.visitkorea.or.kr/cms/resource/97/2898997_image2_1.jpg",</a:t>
            </a:r>
          </a:p>
          <a:p>
            <a:r>
              <a:t>      "source_id": "tour-api:2899012",</a:t>
            </a:r>
          </a:p>
          <a:p>
            <a:r>
              <a:t>      "content_id": "2899012",</a:t>
            </a:r>
          </a:p>
          <a:p>
            <a:r>
              <a:t>      "source_url": "https://apis.data.go.kr/B551011/KorService2",</a:t>
            </a:r>
          </a:p>
          <a:p>
            <a:r>
              <a:t>      "source_type": "open_api",</a:t>
            </a:r>
          </a:p>
          <a:p>
            <a:r>
              <a:t>      "content_type_id": "39"</a:t>
            </a:r>
          </a:p>
          <a:p>
            <a:r>
              <a:t>    },</a:t>
            </a:r>
          </a:p>
          <a:p>
            <a:r>
              <a:t>    {</a:t>
            </a:r>
          </a:p>
          <a:p>
            <a:r>
              <a:t>      "title": "더서울라이티움",</a:t>
            </a:r>
          </a:p>
          <a:p>
            <a:r>
              <a:t>      "address": "서울특별시 성동구 서울숲2길 32-14 (성수동1가, 갤러리아 포레)",</a:t>
            </a:r>
          </a:p>
          <a:p>
            <a:r>
              <a:t>      "summary": "한국관광공사 국문관광정보 API가 반환한 선택 지역 관광자원",</a:t>
            </a:r>
          </a:p>
          <a:p>
            <a:r>
              <a:t>      "image_url": "http://tong.visitkorea.or.kr/cms/resource/37/3401437_image2_1.JPG",</a:t>
            </a:r>
          </a:p>
          <a:p>
            <a:r>
              <a:t>      "source_id": "tour-api:2753089",</a:t>
            </a:r>
          </a:p>
          <a:p>
            <a:r>
              <a:t>      "content_id": "2753089",</a:t>
            </a:r>
          </a:p>
          <a:p>
            <a:r>
              <a:t>      "source_url": "https://apis.data.go.kr/B551011/KorService2",</a:t>
            </a:r>
          </a:p>
          <a:p>
            <a:r>
              <a:t>      "source_type": "open_api",</a:t>
            </a:r>
          </a:p>
          <a:p>
            <a:r>
              <a:t>      "content_type_id": "14"</a:t>
            </a:r>
          </a:p>
          <a:p>
            <a:r>
              <a:t>    },</a:t>
            </a:r>
          </a:p>
          <a:p>
            <a:r>
              <a:t>    {</a:t>
            </a:r>
          </a:p>
          <a:p>
            <a:r>
              <a:t>      "title": "더페이지갤러리",</a:t>
            </a:r>
          </a:p>
          <a:p>
            <a:r>
              <a:t>      "address": "서울특별시 성동구 서울숲2길 32-14 (성수동1가, 갤러리아 포레)",</a:t>
            </a:r>
          </a:p>
          <a:p>
            <a:r>
              <a:t>      "summary": "한국관광공사 국문관광정보 API가 반환한 선택 지역 관광자원",</a:t>
            </a:r>
          </a:p>
          <a:p>
            <a:r>
              <a:t>      "image_url": "http://tong.visitkorea.or.kr/cms/resource/89/2368189_image2_1.JPG",</a:t>
            </a:r>
          </a:p>
          <a:p>
            <a:r>
              <a:t>      "source_id": "tour-api:736766",</a:t>
            </a:r>
          </a:p>
          <a:p>
            <a:r>
              <a:t>      "content_id": "736766",</a:t>
            </a:r>
          </a:p>
          <a:p>
            <a:r>
              <a:t>      "source_url": "https://apis.data.go.kr/B551011/KorService2",</a:t>
            </a:r>
          </a:p>
          <a:p>
            <a:r>
              <a:t>      "source_type": "open_api",</a:t>
            </a:r>
          </a:p>
          <a:p>
            <a:r>
              <a:t>      "content_type_id": "14"</a:t>
            </a:r>
          </a:p>
          <a:p>
            <a:r>
              <a:t>    },</a:t>
            </a:r>
          </a:p>
          <a:p>
            <a:r>
              <a:t>    {</a:t>
            </a:r>
          </a:p>
          <a:p>
            <a:r>
              <a:t>      "title": "땅코참숯구이 본점",</a:t>
            </a:r>
          </a:p>
          <a:p>
            <a:r>
              <a:t>      "address": "서울특별시 성동구 행당로17길 26 (행당동)",</a:t>
            </a:r>
          </a:p>
          <a:p>
            <a:r>
              <a:t>      "summary": "한국관광공사 국문관광정보 API가 반환한 선택 지역 관광자원",</a:t>
            </a:r>
          </a:p>
          <a:p>
            <a:r>
              <a:t>      "image_url": "http://tong.visitkorea.or.kr/cms/resource/23/2845023_image2_1.jpg",</a:t>
            </a:r>
          </a:p>
          <a:p>
            <a:r>
              <a:t>      "source_id": "tour-api:2845040",</a:t>
            </a:r>
          </a:p>
          <a:p>
            <a:r>
              <a:t>      "content_id": "2845040",</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"2026 서울국제정원박람회 &lt; 행사·공연 정보 &lt; 축제·관광 &lt; 미래한강본부, 한강공원",</a:t>
            </a:r>
          </a:p>
          <a:p>
            <a:r>
              <a:t>      "summary": "2026 서울국제정원박람회는 2026년 5월 1일부터 10월 27일까지 서울숲과 성수 일대에서 운영되며, 서울숲·한강·성수동·뚝섬대정원을 연결하는 구성을 공식적으로 제시한다. 따라서 9~10월에는 별도 거점 조성보다 이 행사 구역과 충돌하지 않는 보행 안내, 체류 동선, 상권 연결을 우선 검토할 수 있다.",</a:t>
            </a:r>
          </a:p>
          <a:p>
            <a:r>
              <a:t>      "source_id": "web:11200:1",</a:t>
            </a:r>
          </a:p>
          <a:p>
            <a:r>
              <a:t>      "source_url": "https://hangang.seoul.go.kr/www/eventMng/detail.do?evntSn=378&amp;mid=538&amp;srchType=list",</a:t>
            </a:r>
          </a:p>
          <a:p>
            <a:r>
              <a:t>      "source_type": "official_web",</a:t>
            </a:r>
          </a:p>
          <a:p>
            <a:r>
              <a:t>      "why_relevant": "사업기간 2026-09-01~2026-11-30 중 9~10월이 기존 대형 행사 운영기간과 겹친다. 기존 행사와 같은 장소에서 별도 프로그램을 신설할 경우 공간·안전·운영주체 조정이 필요하므로, 보완형 운영안이 중복 위험이 낮다.",</a:t>
            </a:r>
          </a:p>
          <a:p>
            <a:r>
              <a:t>      "published_or_updated_at": "수정 2026-08-18"</a:t>
            </a:r>
          </a:p>
          <a:p>
            <a:r>
              <a:t>    },</a:t>
            </a:r>
          </a:p>
          <a:p>
            <a:r>
              <a:t>    {</a:t>
            </a:r>
          </a:p>
          <a:p>
            <a:r>
              <a:t>      "title": "개막 20일차 250만명 넘은 서울국제정원박람회… 성수 상권 매출 30% 급증 &gt; 보도자료 | 서울특별시",</a:t>
            </a:r>
          </a:p>
          <a:p>
            <a:r>
              <a:t>      "summary": "서울시는 2026 서울국제정원박람회에서 서울숲의 휴게시설을 보완해 좌석을 확충하고, 정원마켓과 3개 푸드트럭 존을 운영했다고 밝혔다. 같은 자료는 주말·주요 이벤트일에 방문객 수와 체류시간이 함께 늘었다는 분석 결과를 제시한다.",</a:t>
            </a:r>
          </a:p>
          <a:p>
            <a:r>
              <a:t>      "source_id": "web:11200:2",</a:t>
            </a:r>
          </a:p>
          <a:p>
            <a:r>
              <a:t>      "source_url": "https://www.seoul.go.kr/news/news_report.do?nttNo=458311",</a:t>
            </a:r>
          </a:p>
          <a:p>
            <a:r>
              <a:t>      "source_type": "official_web",</a:t>
            </a:r>
          </a:p>
          <a:p>
            <a:r>
              <a:t>      "why_relevant": "체류 개선 후보 중 ‘휴식 좌석·먹거리·이벤트 동선’을 결합하는 방식에 공식 현장운영 사례가 있다. 다만 이 결과는 2026 정원박람회 기간의 분석이므로, 가을 성수 사업에도 동일한 효과가 난다고 일반화하지 않고 운영조건 검토 사례로만 사용해야 한다.",</a:t>
            </a:r>
          </a:p>
          <a:p>
            <a:r>
              <a:t>      "published_or_updated_at": "등록·수정 2026-05-20"</a:t>
            </a:r>
          </a:p>
          <a:p>
            <a:r>
              <a:t>    },</a:t>
            </a:r>
          </a:p>
          <a:p>
            <a:r>
              <a:t>    {</a:t>
            </a:r>
          </a:p>
          <a:p>
            <a:r>
              <a:t>      "title": "서울숲-성수 커넥트 투어 | 2026 서울국제정원박람회",</a:t>
            </a:r>
          </a:p>
          <a:p>
            <a:r>
              <a:t>      "summary": "서울숲-성수 커넥트 투어는 성수근린공원에서 출발해 성수부터 서울숲까지 연결하는 무료 프로그램으로, 매주 화·목 13:00~14:30에 회차당 15명 내외 사전접수 방식으로 안내되었다.",</a:t>
            </a:r>
          </a:p>
          <a:p>
            <a:r>
              <a:t>      "source_id": "web:11200:3",</a:t>
            </a:r>
          </a:p>
          <a:p>
            <a:r>
              <a:t>      "source_url": "https://gov.seoul.go.kr/festa/garden/y2026/program/garden-culture-program/commentary-program?article=42926",</a:t>
            </a:r>
          </a:p>
          <a:p>
            <a:r>
              <a:t>      "source_type": "official_web",</a:t>
            </a:r>
          </a:p>
          <a:p>
            <a:r>
              <a:t>      "why_relevant": "‘공원 방문 후 성수 상권으로 이동’시키는 해설·도보 연결 방식이 실제로 운영된 공식 사례다. 권고안에서는 이 방식을 그대로 복제하기보다, 가을 행사일 및 야간 수요에 맞는 회차·집결지·예약방식으로 전환 가능한지 주최 측과 확인하는 참고사례로 활용한다.",</a:t>
            </a:r>
          </a:p>
          <a:p>
            <a:r>
              <a:t>      "published_or_updated_at": "페이지 확인일 기준 2026-09"</a:t>
            </a:r>
          </a:p>
          <a:p>
            <a:r>
              <a:t>    },</a:t>
            </a:r>
          </a:p>
          <a:p>
            <a:r>
              <a:t>    {</a:t>
            </a:r>
          </a:p>
          <a:p>
            <a:r>
              <a:t>      "title": "2026 서울축제지도 - 가을편 &lt; 공지사항(상세) &lt; 새소식 | 서울문화포털",</a:t>
            </a:r>
          </a:p>
          <a:p>
            <a:r>
              <a:t>      "summary": "크리에이티브X성수는 2026년 10월 5일부터 10월 11일까지 성수동 서울숲·언더스탠드 에비뉴 등에서 예정되어 있으며, 페어·문화 콘퍼런스·토크쇼·전시·공예 프리마켓·패션쇼·음악공연을 포함하는 글로벌 문화창조산업축제로 안내되어 있다.",</a:t>
            </a:r>
          </a:p>
          <a:p>
            <a:r>
              <a:t>      "source_id": "web:11200:4",</a:t>
            </a:r>
          </a:p>
          <a:p>
            <a:r>
              <a:t>      "source_url": "https://culture.seoul.go.kr/culture/bbs/B0000000/view.do?menuNo=200050&amp;nttId=16465",</a:t>
            </a:r>
          </a:p>
          <a:p>
            <a:r>
              <a:t>      "source_type": "official_web",</a:t>
            </a:r>
          </a:p>
          <a:p>
            <a:r>
              <a:t>      "why_relevant": "10월 운영의 집중 구간으로 삼을 수 있는 확정 행사다. 다만 해당 축제의 프로그램·부스·방문객을 성동구 사업이 사용할 수 있는지, 공동홍보·쿠폰·스탬프·동선안내가 가능한지는 공식 문서만으로 확인되지 않았으므로 별도 협의가 필요하다.",</a:t>
            </a:r>
          </a:p>
          <a:p>
            <a:r>
              <a:t>      "published_or_updated_at": "등록 2026-08-31"</a:t>
            </a:r>
          </a:p>
          <a:p>
            <a:r>
              <a:t>    },</a:t>
            </a:r>
          </a:p>
          <a:p>
            <a:r>
              <a:t>    {</a:t>
            </a:r>
          </a:p>
          <a:p>
            <a:r>
              <a:t>      "title": "오시는 길 | 2026 서울국제정원박람회",</a:t>
            </a:r>
          </a:p>
          <a:p>
            <a:r>
              <a:t>      "summary": "서울숲은 수인분당선 서울숲역 3·4·5번 출구에서 도보 2분, 2호선 뚝섬역 7·8번 출구에서 도보 11분으로 안내되어 있다. 서울숲 주차장과 뚝섬유수지 공영주차장은 모두 24시간 운영으로 제시되어 있으며, 행사 안내는 친환경 행사를 위해 대중교통 이용을 권장한다.",</a:t>
            </a:r>
          </a:p>
          <a:p>
            <a:r>
              <a:t>      "source_id": "web:11200:5",</a:t>
            </a:r>
          </a:p>
          <a:p>
            <a:r>
              <a:t>      "source_url": "https://www.seoul.go.kr/festa/garden/y2026/introduce/location?pc=1",</a:t>
            </a:r>
          </a:p>
          <a:p>
            <a:r>
              <a:t>      "source_type": "official_web",</a:t>
            </a:r>
          </a:p>
          <a:p>
            <a:r>
              <a:t>      "why_relevant": "권고안의 운영권역은 대중교통 도착지에서 공원·성수 상권까지의 마지막 보행 연결을 명확히 안내하는 데 초점을 둘 수 있다. 승용차 유입 확대를 핵심 방식으로 삼기보다는 지하철·버스·보행 중심으로 설계하는 것이 공식 안내와 부합한다.",</a:t>
            </a:r>
          </a:p>
          <a:p>
            <a:r>
              <a:t>      "published_or_updated_at": "2026년 행사 안내 페이지"</a:t>
            </a:r>
          </a:p>
          <a:p>
            <a:r>
              <a:t>    },</a:t>
            </a:r>
          </a:p>
          <a:p>
            <a:r>
              <a:t>    {</a:t>
            </a:r>
          </a:p>
          <a:p>
            <a:r>
              <a:t>      "title": "(석간) 제11차 도시건축공동위원회 개최결과 &gt; 보도자료 | 서울특별시",</a:t>
            </a:r>
          </a:p>
          <a:p>
            <a:r>
              <a:t>      "summary": "서울시는 성수 준공업지역 지구단위계획에서 성수역-연무장길 가로변의 지역 특화경관을 유도하고, 지하철 2호선 연접부 개방형녹지 및 서울숲·뚝섬으로 이어지는 보행 네트워크를 조성하는 방향을 제시했다. 연무장길에는 제한적 차량출입 불허구간과 주차기준 완화를 통해 사람 중심의 걷기 좋은 거리로 재편하는 방향도 포함됐다.",</a:t>
            </a:r>
          </a:p>
          <a:p>
            <a:r>
              <a:t>      "source_id": "web:11200:6",</a:t>
            </a:r>
          </a:p>
          <a:p>
            <a:r>
              <a:t>      "source_url": "https://www.seoul.go.kr/news/news_report.do?nttNo=460823&amp;tr_code=snews",</a:t>
            </a:r>
          </a:p>
          <a:p>
            <a:r>
              <a:t>      "source_type": "official_web",</a:t>
            </a:r>
          </a:p>
          <a:p>
            <a:r>
              <a:t>      "why_relevant": "중기적으로 성수역-연무장길-서울숲 보행축은 체류 연결 사업의 대상권역 후보가 될 수 있다. 그러나 이는 도시계획 방향이며 2026년 가을에 모든 물리적 시설이 완공·운영된다는 뜻은 아니므로, 실제 공사·통행·행사 가능 구간은 현장과 관계부서에 확인해야 한다.",</a:t>
            </a:r>
          </a:p>
          <a:p>
            <a:r>
              <a:t>      "published_or_updated_at": "등록 2026-07-01"</a:t>
            </a:r>
          </a:p>
          <a:p>
            <a:r>
              <a:t>    },</a:t>
            </a:r>
          </a:p>
          <a:p>
            <a:r>
              <a:t>    {</a:t>
            </a:r>
          </a:p>
          <a:p>
            <a:r>
              <a:t>      "title": "2026 서울국제정원박람회 &lt; 행사·공연 정보 &lt; 축제·관광 &lt; 미래한강본부, 한강공원",</a:t>
            </a:r>
          </a:p>
          <a:p>
            <a:r>
              <a:t>      "summary": "서울국제정원박람회 공식 안내에는 서울숲 선착장 추가 운항과 야간 운항 증편이 소개되어 있다.",</a:t>
            </a:r>
          </a:p>
          <a:p>
            <a:r>
              <a:t>      "source_id": "web:11200:7",</a:t>
            </a:r>
          </a:p>
          <a:p>
            <a:r>
              <a:t>      "source_url": "https://hangang.seoul.go.kr/www/eventMng/detail.do?evntSn=378&amp;mid=538&amp;srchType=list",</a:t>
            </a:r>
          </a:p>
          <a:p>
            <a:r>
              <a:t>      "source_type": "official_web",</a:t>
            </a:r>
          </a:p>
          <a:p>
            <a:r>
              <a:t>      "why_relevant": "9~10월 주말 또는 야간 프로그램을 검토할 때 한강 수상교통을 보조 접근수단 후보로 검토할 근거가 된다. 다만 11월까지의 실제 운항일·막차·결항 기준은 이 자료에 확정적으로 제시되지 않아, 사업 홍보문구에 포함하기 전 운영기관 확인이 필요하다.",</a:t>
            </a:r>
          </a:p>
          <a:p>
            <a:r>
              <a:t>      "published_or_updated_at": "수정 2026-08-18"</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"document_type": "case_study_budget",</a:t>
            </a:r>
          </a:p>
          <a:p>
            <a:r>
              <a:t>      "observed_result": "예산서이므로 방문·소비 성과는 확인되지 않음",</a:t>
            </a:r>
          </a:p>
          <a:p>
            <a:r>
              <a:t>      "operating_model": "사무관리, 행사운영, 연구용역, 민간경상보조 등으로 사업비를 항목별 편성",</a:t>
            </a:r>
          </a:p>
          <a:p>
            <a:r>
              <a:t>      "retrieval_method": "curated_registry",</a:t>
            </a:r>
          </a:p>
          <a:p>
            <a:r>
              <a:t>      "evidence_strength": "high",</a:t>
            </a:r>
          </a:p>
          <a:p>
            <a:r>
              <a:t>      "retrieval_context": {</a:t>
            </a:r>
          </a:p>
          <a:p>
            <a:r>
              <a:t>        "scope": "cross_province",</a:t>
            </a:r>
          </a:p>
          <a:p>
            <a:r>
              <a:t>        "peer_region_code": null</a:t>
            </a:r>
          </a:p>
          <a:p>
            <a:r>
              <a:t>      },</a:t>
            </a:r>
          </a:p>
          <a:p>
            <a:r>
              <a:t>      "measurement_period": "2026년 예산",</a:t>
            </a:r>
          </a:p>
          <a:p>
            <a:r>
              <a:t>      "transfer_conditions": [</a:t>
            </a:r>
          </a:p>
          <a:p>
            <a:r>
              <a:t>        "국비·도비·시비 분담 가능성 검토",</a:t>
            </a:r>
          </a:p>
          <a:p>
            <a:r>
              <a:t>        "행사비와 상설운영비를 분리 산정",</a:t>
            </a:r>
          </a:p>
          <a:p>
            <a:r>
              <a:t>        "성과평가 비용을 별도 항목으로 확보"</a:t>
            </a:r>
          </a:p>
          <a:p>
            <a:r>
              <a:t>      ],</a:t>
            </a:r>
          </a:p>
          <a:p>
            <a:r>
              <a:t>      "published_or_updated_at": "2026",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"document_type": "case_study",</a:t>
            </a:r>
          </a:p>
          <a:p>
            <a:r>
              <a:t>      "observed_result": "정부업무평가 자료는 특화도시 10곳 방문객이 2023년 같은 기간보다 3% 증가했다고 기록",</a:t>
            </a:r>
          </a:p>
          <a:p>
            <a:r>
              <a:t>      "operating_model": "지역 스토리를 반영한 야간 프로그램을 상설·행사형으로 운영하고 야간 경관, 이동, 식음, 안전 여건을 함께 구성",</a:t>
            </a:r>
          </a:p>
          <a:p>
            <a:r>
              <a:t>      "retrieval_method": "curated_registry",</a:t>
            </a:r>
          </a:p>
          <a:p>
            <a:r>
              <a:t>      "evidence_strength": "medium",</a:t>
            </a:r>
          </a:p>
          <a:p>
            <a:r>
              <a:t>      "retrieval_context": {</a:t>
            </a:r>
          </a:p>
          <a:p>
            <a:r>
              <a:t>        "scope": "national_or_unresolved",</a:t>
            </a:r>
          </a:p>
          <a:p>
            <a:r>
              <a:t>        "peer_region_code": null</a:t>
            </a:r>
          </a:p>
          <a:p>
            <a:r>
              <a:t>      },</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"published_or_updated_at": "2025-04-29",</a:t>
            </a:r>
          </a:p>
          <a:p>
            <a:r>
              <a:t>      "quantitative_result_approved": null</a:t>
            </a:r>
          </a:p>
          <a:p>
            <a:r>
              <a:t>    }</a:t>
            </a:r>
          </a:p>
          <a:p>
            <a:r>
              <a:t>  ],</a:t>
            </a:r>
          </a:p>
          <a:p>
            <a:r>
              <a:t>  "selected_forecast": {</a:t>
            </a:r>
          </a:p>
          <a:p>
            <a:r>
              <a:t>    "rows": [</a:t>
            </a:r>
          </a:p>
          <a:p>
            <a:r>
              <a:t>      {</a:t>
            </a:r>
          </a:p>
          <a:p>
            <a:r>
              <a:t>        "month": "202609",</a:t>
            </a:r>
          </a:p>
          <a:p>
            <a:r>
              <a:t>        "visitors": 6638883.0,</a:t>
            </a:r>
          </a:p>
          <a:p>
            <a:r>
              <a:t>        "is_forecast": true,</a:t>
            </a:r>
          </a:p>
          <a:p>
            <a:r>
              <a:t>        "spending_krw": 102905513747.0,</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6570358.0,</a:t>
            </a:r>
          </a:p>
          <a:p>
            <a:r>
              <a:t>        "is_forecast": true,</a:t>
            </a:r>
          </a:p>
          <a:p>
            <a:r>
              <a:t>        "spending_krw": 103404579597.0,</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6585928.0,</a:t>
            </a:r>
          </a:p>
          <a:p>
            <a:r>
              <a:t>        "is_forecast": true,</a:t>
            </a:r>
          </a:p>
          <a:p>
            <a:r>
              <a:t>        "spending_krw": 107117698458.0,</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6551545,</a:t>
            </a:r>
          </a:p>
          <a:p>
            <a:r>
              <a:t>      "is_forecast": true,</a:t>
            </a:r>
          </a:p>
          <a:p>
            <a:r>
              <a:t>      "spending_krw": 99619891149,</a:t>
            </a:r>
          </a:p>
          <a:p>
            <a:r>
              <a:t>      "stay_minutes": 715.0,</a:t>
            </a:r>
          </a:p>
          <a:p>
            <a:r>
              <a:t>      "lodging_nights": 2.92,</a:t>
            </a:r>
          </a:p>
          <a:p>
            <a:r>
              <a:t>      "lodging_rate_pct": 3.9,</a:t>
            </a:r>
          </a:p>
          <a:p>
            <a:r>
              <a:t>      "lodging_searches": 2427,</a:t>
            </a:r>
          </a:p>
          <a:p>
            <a:r>
              <a:t>      "navigation_searches": 110530,</a:t>
            </a:r>
          </a:p>
          <a:p>
            <a:r>
              <a:t>      "visitor_yoy_percent": 8.42,</a:t>
            </a:r>
          </a:p>
          <a:p>
            <a:r>
              <a:t>      "spending_yoy_percent": 7.8,</a:t>
            </a:r>
          </a:p>
          <a:p>
            <a:r>
              <a:t>      "metric_changes_percent": {</a:t>
            </a:r>
          </a:p>
          <a:p>
            <a:r>
              <a:t>        "stay_minutes": 0.0,</a:t>
            </a:r>
          </a:p>
          <a:p>
            <a:r>
              <a:t>        "lodging_nights": -1.02,</a:t>
            </a:r>
          </a:p>
          <a:p>
            <a:r>
              <a:t>        "lodging_rate_pct": 0.0,</a:t>
            </a:r>
          </a:p>
          <a:p>
            <a:r>
              <a:t>        "lodging_searches": -12.98,</a:t>
            </a:r>
          </a:p>
          <a:p>
            <a:r>
              <a:t>        "navigation_searches": 0.0</a:t>
            </a:r>
          </a:p>
          <a:p>
            <a:r>
              <a:t>      },</a:t>
            </a:r>
          </a:p>
          <a:p>
            <a:r>
              <a:t>      "previous_year_visitors": 6042778,</a:t>
            </a:r>
          </a:p>
          <a:p>
            <a:r>
              <a:t>      "previous_year_spending_krw": 92415108000,</a:t>
            </a:r>
          </a:p>
          <a:p>
            <a:r>
              <a:t>      "previous_year_stay_minutes": 715.0,</a:t>
            </a:r>
          </a:p>
          <a:p>
            <a:r>
              <a:t>      "previous_year_lodging_nights": 2.95,</a:t>
            </a:r>
          </a:p>
          <a:p>
            <a:r>
              <a:t>      "previous_year_lodging_rate_pct": 3.9,</a:t>
            </a:r>
          </a:p>
          <a:p>
            <a:r>
              <a:t>      "previous_year_lodging_searches": 2789,</a:t>
            </a:r>
          </a:p>
          <a:p>
            <a:r>
              <a:t>      "previous_year_navigation_searches": 110530</a:t>
            </a:r>
          </a:p>
          <a:p>
            <a:r>
              <a:t>    },</a:t>
            </a:r>
          </a:p>
          <a:p>
            <a:r>
              <a:t>    {</a:t>
            </a:r>
          </a:p>
          <a:p>
            <a:r>
              <a:t>      "month": "202608",</a:t>
            </a:r>
          </a:p>
          <a:p>
            <a:r>
              <a:t>      "visitors": 6392576,</a:t>
            </a:r>
          </a:p>
          <a:p>
            <a:r>
              <a:t>      "is_forecast": true,</a:t>
            </a:r>
          </a:p>
          <a:p>
            <a:r>
              <a:t>      "spending_krw": 100649180510,</a:t>
            </a:r>
          </a:p>
          <a:p>
            <a:r>
              <a:t>      "stay_minutes": 727.0,</a:t>
            </a:r>
          </a:p>
          <a:p>
            <a:r>
              <a:t>      "lodging_nights": 2.93,</a:t>
            </a:r>
          </a:p>
          <a:p>
            <a:r>
              <a:t>      "lodging_rate_pct": 4.3,</a:t>
            </a:r>
          </a:p>
          <a:p>
            <a:r>
              <a:t>      "lodging_searches": 2345,</a:t>
            </a:r>
          </a:p>
          <a:p>
            <a:r>
              <a:t>      "navigation_searches": 116553,</a:t>
            </a:r>
          </a:p>
          <a:p>
            <a:r>
              <a:t>      "visitor_yoy_percent": 7.88,</a:t>
            </a:r>
          </a:p>
          <a:p>
            <a:r>
              <a:t>      "spending_yoy_percent": 6.05,</a:t>
            </a:r>
          </a:p>
          <a:p>
            <a:r>
              <a:t>      "metric_changes_percent": {</a:t>
            </a:r>
          </a:p>
          <a:p>
            <a:r>
              <a:t>        "stay_minutes": 0.0,</a:t>
            </a:r>
          </a:p>
          <a:p>
            <a:r>
              <a:t>        "lodging_nights": 0.69,</a:t>
            </a:r>
          </a:p>
          <a:p>
            <a:r>
              <a:t>        "lodging_rate_pct": 0.0,</a:t>
            </a:r>
          </a:p>
          <a:p>
            <a:r>
              <a:t>        "lodging_searches": -4.64,</a:t>
            </a:r>
          </a:p>
          <a:p>
            <a:r>
              <a:t>        "navigation_searches": 0.0</a:t>
            </a:r>
          </a:p>
          <a:p>
            <a:r>
              <a:t>      },</a:t>
            </a:r>
          </a:p>
          <a:p>
            <a:r>
              <a:t>      "previous_year_visitors": 5925815,</a:t>
            </a:r>
          </a:p>
          <a:p>
            <a:r>
              <a:t>      "previous_year_spending_krw": 94907804000,</a:t>
            </a:r>
          </a:p>
          <a:p>
            <a:r>
              <a:t>      "previous_year_stay_minutes": 727.0,</a:t>
            </a:r>
          </a:p>
          <a:p>
            <a:r>
              <a:t>      "previous_year_lodging_nights": 2.91,</a:t>
            </a:r>
          </a:p>
          <a:p>
            <a:r>
              <a:t>      "previous_year_lodging_rate_pct": 4.3,</a:t>
            </a:r>
          </a:p>
          <a:p>
            <a:r>
              <a:t>      "previous_year_lodging_searches": 2459,</a:t>
            </a:r>
          </a:p>
          <a:p>
            <a:r>
              <a:t>      "previous_year_navigation_searches": 116553</a:t>
            </a:r>
          </a:p>
          <a:p>
            <a:r>
              <a:t>    },</a:t>
            </a:r>
          </a:p>
          <a:p>
            <a:r>
              <a:t>    {</a:t>
            </a:r>
          </a:p>
          <a:p>
            <a:r>
              <a:t>      "month": "202609",</a:t>
            </a:r>
          </a:p>
          <a:p>
            <a:r>
              <a:t>      "visitors": 6638883,</a:t>
            </a:r>
          </a:p>
          <a:p>
            <a:r>
              <a:t>      "is_forecast": true,</a:t>
            </a:r>
          </a:p>
          <a:p>
            <a:r>
              <a:t>      "spending_krw": 102905513747,</a:t>
            </a:r>
          </a:p>
          <a:p>
            <a:r>
              <a:t>      "stay_minutes": 729.0,</a:t>
            </a:r>
          </a:p>
          <a:p>
            <a:r>
              <a:t>      "lodging_nights": 2.95,</a:t>
            </a:r>
          </a:p>
          <a:p>
            <a:r>
              <a:t>      "lodging_rate_pct": 3.8,</a:t>
            </a:r>
          </a:p>
          <a:p>
            <a:r>
              <a:t>      "lodging_searches": 2301,</a:t>
            </a:r>
          </a:p>
          <a:p>
            <a:r>
              <a:t>      "navigation_searches": 108724,</a:t>
            </a:r>
          </a:p>
          <a:p>
            <a:r>
              <a:t>      "visitor_yoy_percent": -0.24,</a:t>
            </a:r>
          </a:p>
          <a:p>
            <a:r>
              <a:t>      "spending_yoy_percent": 9.25,</a:t>
            </a:r>
          </a:p>
          <a:p>
            <a:r>
              <a:t>      "metric_changes_percent": {</a:t>
            </a:r>
          </a:p>
          <a:p>
            <a:r>
              <a:t>        "stay_minutes": 0.0,</a:t>
            </a:r>
          </a:p>
          <a:p>
            <a:r>
              <a:t>        "lodging_nights": -1.01,</a:t>
            </a:r>
          </a:p>
          <a:p>
            <a:r>
              <a:t>        "lodging_rate_pct": 0.0,</a:t>
            </a:r>
          </a:p>
          <a:p>
            <a:r>
              <a:t>        "lodging_searches": 5.41,</a:t>
            </a:r>
          </a:p>
          <a:p>
            <a:r>
              <a:t>        "navigation_searches": 0.0</a:t>
            </a:r>
          </a:p>
          <a:p>
            <a:r>
              <a:t>      },</a:t>
            </a:r>
          </a:p>
          <a:p>
            <a:r>
              <a:t>      "previous_year_visitors": 6654997,</a:t>
            </a:r>
          </a:p>
          <a:p>
            <a:r>
              <a:t>      "previous_year_spending_krw": 94192832000,</a:t>
            </a:r>
          </a:p>
          <a:p>
            <a:r>
              <a:t>      "previous_year_stay_minutes": 729.0,</a:t>
            </a:r>
          </a:p>
          <a:p>
            <a:r>
              <a:t>      "previous_year_lodging_nights": 2.98,</a:t>
            </a:r>
          </a:p>
          <a:p>
            <a:r>
              <a:t>      "previous_year_lodging_rate_pct": 3.8,</a:t>
            </a:r>
          </a:p>
          <a:p>
            <a:r>
              <a:t>      "previous_year_lodging_searches": 2183,</a:t>
            </a:r>
          </a:p>
          <a:p>
            <a:r>
              <a:t>      "previous_year_navigation_searches": 108724</a:t>
            </a:r>
          </a:p>
          <a:p>
            <a:r>
              <a:t>    },</a:t>
            </a:r>
          </a:p>
          <a:p>
            <a:r>
              <a:t>    {</a:t>
            </a:r>
          </a:p>
          <a:p>
            <a:r>
              <a:t>      "month": "202610",</a:t>
            </a:r>
          </a:p>
          <a:p>
            <a:r>
              <a:t>      "visitors": 6570358,</a:t>
            </a:r>
          </a:p>
          <a:p>
            <a:r>
              <a:t>      "is_forecast": true,</a:t>
            </a:r>
          </a:p>
          <a:p>
            <a:r>
              <a:t>      "spending_krw": 103404579597,</a:t>
            </a:r>
          </a:p>
          <a:p>
            <a:r>
              <a:t>      "stay_minutes": 726.0,</a:t>
            </a:r>
          </a:p>
          <a:p>
            <a:r>
              <a:t>      "lodging_nights": 2.92,</a:t>
            </a:r>
          </a:p>
          <a:p>
            <a:r>
              <a:t>      "lodging_rate_pct": 4.5,</a:t>
            </a:r>
          </a:p>
          <a:p>
            <a:r>
              <a:t>      "lodging_searches": 2786,</a:t>
            </a:r>
          </a:p>
          <a:p>
            <a:r>
              <a:t>      "navigation_searches": 176420,</a:t>
            </a:r>
          </a:p>
          <a:p>
            <a:r>
              <a:t>      "visitor_yoy_percent": 6.49,</a:t>
            </a:r>
          </a:p>
          <a:p>
            <a:r>
              <a:t>      "spending_yoy_percent": 6.54,</a:t>
            </a:r>
          </a:p>
          <a:p>
            <a:r>
              <a:t>      "metric_changes_percent": {</a:t>
            </a:r>
          </a:p>
          <a:p>
            <a:r>
              <a:t>        "stay_minutes": 0.0,</a:t>
            </a:r>
          </a:p>
          <a:p>
            <a:r>
              <a:t>        "lodging_nights": -0.68,</a:t>
            </a:r>
          </a:p>
          <a:p>
            <a:r>
              <a:t>        "lodging_rate_pct": 0.0,</a:t>
            </a:r>
          </a:p>
          <a:p>
            <a:r>
              <a:t>        "lodging_searches": -23.0,</a:t>
            </a:r>
          </a:p>
          <a:p>
            <a:r>
              <a:t>        "navigation_searches": 0.0</a:t>
            </a:r>
          </a:p>
          <a:p>
            <a:r>
              <a:t>      },</a:t>
            </a:r>
          </a:p>
          <a:p>
            <a:r>
              <a:t>      "previous_year_visitors": 6170192,</a:t>
            </a:r>
          </a:p>
          <a:p>
            <a:r>
              <a:t>      "previous_year_spending_krw": 97053863000,</a:t>
            </a:r>
          </a:p>
          <a:p>
            <a:r>
              <a:t>      "previous_year_stay_minutes": 726.0,</a:t>
            </a:r>
          </a:p>
          <a:p>
            <a:r>
              <a:t>      "previous_year_lodging_nights": 2.94,</a:t>
            </a:r>
          </a:p>
          <a:p>
            <a:r>
              <a:t>      "previous_year_lodging_rate_pct": 4.5,</a:t>
            </a:r>
          </a:p>
          <a:p>
            <a:r>
              <a:t>      "previous_year_lodging_searches": 3618,</a:t>
            </a:r>
          </a:p>
          <a:p>
            <a:r>
              <a:t>      "previous_year_navigation_searches": 176420</a:t>
            </a:r>
          </a:p>
          <a:p>
            <a:r>
              <a:t>    },</a:t>
            </a:r>
          </a:p>
          <a:p>
            <a:r>
              <a:t>    {</a:t>
            </a:r>
          </a:p>
          <a:p>
            <a:r>
              <a:t>      "month": "202611",</a:t>
            </a:r>
          </a:p>
          <a:p>
            <a:r>
              <a:t>      "visitors": 6585928,</a:t>
            </a:r>
          </a:p>
          <a:p>
            <a:r>
              <a:t>      "is_forecast": true,</a:t>
            </a:r>
          </a:p>
          <a:p>
            <a:r>
              <a:t>      "spending_krw": 107117698458,</a:t>
            </a:r>
          </a:p>
          <a:p>
            <a:r>
              <a:t>      "stay_minutes": 600.0,</a:t>
            </a:r>
          </a:p>
          <a:p>
            <a:r>
              <a:t>      "lodging_nights": 2.91,</a:t>
            </a:r>
          </a:p>
          <a:p>
            <a:r>
              <a:t>      "lodging_rate_pct": 3.6,</a:t>
            </a:r>
          </a:p>
          <a:p>
            <a:r>
              <a:t>      "lodging_searches": 2335,</a:t>
            </a:r>
          </a:p>
          <a:p>
            <a:r>
              <a:t>      "navigation_searches": 115407,</a:t>
            </a:r>
          </a:p>
          <a:p>
            <a:r>
              <a:t>      "visitor_yoy_percent": -0.86,</a:t>
            </a:r>
          </a:p>
          <a:p>
            <a:r>
              <a:t>      "spending_yoy_percent": 5.78,</a:t>
            </a:r>
          </a:p>
          <a:p>
            <a:r>
              <a:t>      "metric_changes_percent": {</a:t>
            </a:r>
          </a:p>
          <a:p>
            <a:r>
              <a:t>        "stay_minutes": 0.0,</a:t>
            </a:r>
          </a:p>
          <a:p>
            <a:r>
              <a:t>        "lodging_nights": 0.69,</a:t>
            </a:r>
          </a:p>
          <a:p>
            <a:r>
              <a:t>        "lodging_rate_pct": 0.0,</a:t>
            </a:r>
          </a:p>
          <a:p>
            <a:r>
              <a:t>        "lodging_searches": -7.71,</a:t>
            </a:r>
          </a:p>
          <a:p>
            <a:r>
              <a:t>        "navigation_searches": 0.0</a:t>
            </a:r>
          </a:p>
          <a:p>
            <a:r>
              <a:t>      },</a:t>
            </a:r>
          </a:p>
          <a:p>
            <a:r>
              <a:t>      "previous_year_visitors": 6643276,</a:t>
            </a:r>
          </a:p>
          <a:p>
            <a:r>
              <a:t>      "previous_year_spending_krw": 101267996000,</a:t>
            </a:r>
          </a:p>
          <a:p>
            <a:r>
              <a:t>      "previous_year_stay_minutes": 600.0,</a:t>
            </a:r>
          </a:p>
          <a:p>
            <a:r>
              <a:t>      "previous_year_lodging_nights": 2.89,</a:t>
            </a:r>
          </a:p>
          <a:p>
            <a:r>
              <a:t>      "previous_year_lodging_rate_pct": 3.6,</a:t>
            </a:r>
          </a:p>
          <a:p>
            <a:r>
              <a:t>      "previous_year_lodging_searches": 2530,</a:t>
            </a:r>
          </a:p>
          <a:p>
            <a:r>
              <a:t>      "previous_year_navigation_searches": 115407</a:t>
            </a:r>
          </a:p>
          <a:p>
            <a:r>
              <a:t>    }</a:t>
            </a:r>
          </a:p>
          <a:p>
            <a:r>
              <a:t>  ],</a:t>
            </a:r>
          </a:p>
          <a:p>
            <a:r>
              <a:t>  "evaluation": {</a:t>
            </a:r>
          </a:p>
          <a:p>
            <a:r>
              <a:t>    "metrics": {</a:t>
            </a:r>
          </a:p>
          <a:p>
            <a:r>
              <a:t>      "visitors": {</a:t>
            </a:r>
          </a:p>
          <a:p>
            <a:r>
              <a:t>        "test_mae": 512302.72,</a:t>
            </a:r>
          </a:p>
          <a:p>
            <a:r>
              <a:t>        "recursive_mae": {</a:t>
            </a:r>
          </a:p>
          <a:p>
            <a:r>
              <a:t>          "1": {</a:t>
            </a:r>
          </a:p>
          <a:p>
            <a:r>
              <a:t>            "baseline": 505115.0,</a:t>
            </a:r>
          </a:p>
          <a:p>
            <a:r>
              <a:t>            "selected": 637542.5,</a:t>
            </a:r>
          </a:p>
          <a:p>
            <a:r>
              <a:t>            "sample_count": 2</a:t>
            </a:r>
          </a:p>
          <a:p>
            <a:r>
              <a:t>          },</a:t>
            </a:r>
          </a:p>
          <a:p>
            <a:r>
              <a:t>          "2": {</a:t>
            </a:r>
          </a:p>
          <a:p>
            <a:r>
              <a:t>            "baseline": 350616.5,</a:t>
            </a:r>
          </a:p>
          <a:p>
            <a:r>
              <a:t>            "selected": 385661.0,</a:t>
            </a:r>
          </a:p>
          <a:p>
            <a:r>
              <a:t>            "sample_count": 2</a:t>
            </a:r>
          </a:p>
          <a:p>
            <a:r>
              <a:t>          },</a:t>
            </a:r>
          </a:p>
          <a:p>
            <a:r>
              <a:t>          "3": {</a:t>
            </a:r>
          </a:p>
          <a:p>
            <a:r>
              <a:t>            "baseline": 508390.5,</a:t>
            </a:r>
          </a:p>
          <a:p>
            <a:r>
              <a:t>            "selected": 376970.5,</a:t>
            </a:r>
          </a:p>
          <a:p>
            <a:r>
              <a:t>            "sample_count": 2</a:t>
            </a:r>
          </a:p>
          <a:p>
            <a:r>
              <a:t>          }</a:t>
            </a:r>
          </a:p>
          <a:p>
            <a:r>
              <a:t>        },</a:t>
            </a:r>
          </a:p>
          <a:p>
            <a:r>
              <a:t>        "selected_model": "RandomForestRegressor",</a:t>
            </a:r>
          </a:p>
          <a:p>
            <a:r>
              <a:t>        "baseline_test_mae": 506752.75,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5905429236.35,</a:t>
            </a:r>
          </a:p>
          <a:p>
            <a:r>
              <a:t>        "recursive_mae": {</a:t>
            </a:r>
          </a:p>
          <a:p>
            <a:r>
              <a:t>          "1": {</a:t>
            </a:r>
          </a:p>
          <a:p>
            <a:r>
              <a:t>            "baseline": 3857228000.0,</a:t>
            </a:r>
          </a:p>
          <a:p>
            <a:r>
              <a:t>            "selected": 3675260054.5,</a:t>
            </a:r>
          </a:p>
          <a:p>
            <a:r>
              <a:t>            "sample_count": 2</a:t>
            </a:r>
          </a:p>
          <a:p>
            <a:r>
              <a:t>          },</a:t>
            </a:r>
          </a:p>
          <a:p>
            <a:r>
              <a:t>          "2": {</a:t>
            </a:r>
          </a:p>
          <a:p>
            <a:r>
              <a:t>            "baseline": 5016656500.0,</a:t>
            </a:r>
          </a:p>
          <a:p>
            <a:r>
              <a:t>            "selected": 2276015570.0,</a:t>
            </a:r>
          </a:p>
          <a:p>
            <a:r>
              <a:t>            "sample_count": 2</a:t>
            </a:r>
          </a:p>
          <a:p>
            <a:r>
              <a:t>          },</a:t>
            </a:r>
          </a:p>
          <a:p>
            <a:r>
              <a:t>          "3": {</a:t>
            </a:r>
          </a:p>
          <a:p>
            <a:r>
              <a:t>            "baseline": 3931632500.0,</a:t>
            </a:r>
          </a:p>
          <a:p>
            <a:r>
              <a:t>            "selected": 7285373763.0,</a:t>
            </a:r>
          </a:p>
          <a:p>
            <a:r>
              <a:t>            "sample_count": 2</a:t>
            </a:r>
          </a:p>
          <a:p>
            <a:r>
              <a:t>          }</a:t>
            </a:r>
          </a:p>
          <a:p>
            <a:r>
              <a:t>        },</a:t>
            </a:r>
          </a:p>
          <a:p>
            <a:r>
              <a:t>        "selected_model": "LinearRegression",</a:t>
            </a:r>
          </a:p>
          <a:p>
            <a:r>
              <a:t>        "baseline_test_mae": 3894430250.0,</a:t>
            </a:r>
          </a:p>
          <a:p>
            <a:r>
              <a:t>        "model_reliability": "below_baseline_on_test",</a:t>
            </a:r>
          </a:p>
          <a:p>
            <a:r>
              <a:t>        "beats_baseline_on_test": false,</a:t>
            </a:r>
          </a:p>
          <a:p>
            <a:r>
              <a:t>        "recursive_horizons_worse_than_baseline": [</a:t>
            </a:r>
          </a:p>
          <a:p>
            <a:r>
              <a:t>          "3"</a:t>
            </a:r>
          </a:p>
          <a:p>
            <a:r>
              <a:t>        ]</a:t>
            </a:r>
          </a:p>
          <a:p>
            <a:r>
              <a:t>      },</a:t>
            </a:r>
          </a:p>
          <a:p>
            <a:r>
              <a:t>      "stay_minutes": {</a:t>
            </a:r>
          </a:p>
          <a:p>
            <a:r>
              <a:t>        "test_mae": 81.25,</a:t>
            </a:r>
          </a:p>
          <a:p>
            <a:r>
              <a:t>        "recursive_mae": {</a:t>
            </a:r>
          </a:p>
          <a:p>
            <a:r>
              <a:t>          "1": {</a:t>
            </a:r>
          </a:p>
          <a:p>
            <a:r>
              <a:t>            "baseline": 15.0,</a:t>
            </a:r>
          </a:p>
          <a:p>
            <a:r>
              <a:t>            "selected": 15.0,</a:t>
            </a:r>
          </a:p>
          <a:p>
            <a:r>
              <a:t>            "sample_count": 2</a:t>
            </a:r>
          </a:p>
          <a:p>
            <a:r>
              <a:t>          },</a:t>
            </a:r>
          </a:p>
          <a:p>
            <a:r>
              <a:t>          "2": {</a:t>
            </a:r>
          </a:p>
          <a:p>
            <a:r>
              <a:t>            "baseline": 148.0,</a:t>
            </a:r>
          </a:p>
          <a:p>
            <a:r>
              <a:t>            "selected": 148.0,</a:t>
            </a:r>
          </a:p>
          <a:p>
            <a:r>
              <a:t>            "sample_count": 2</a:t>
            </a:r>
          </a:p>
          <a:p>
            <a:r>
              <a:t>          },</a:t>
            </a:r>
          </a:p>
          <a:p>
            <a:r>
              <a:t>          "3": {</a:t>
            </a:r>
          </a:p>
          <a:p>
            <a:r>
              <a:t>            "baseline": 147.5,</a:t>
            </a:r>
          </a:p>
          <a:p>
            <a:r>
              <a:t>            "selected": 147.5,</a:t>
            </a:r>
          </a:p>
          <a:p>
            <a:r>
              <a:t>            "sample_count": 2</a:t>
            </a:r>
          </a:p>
          <a:p>
            <a:r>
              <a:t>          }</a:t>
            </a:r>
          </a:p>
          <a:p>
            <a:r>
              <a:t>        },</a:t>
            </a:r>
          </a:p>
          <a:p>
            <a:r>
              <a:t>        "selected_model": "seasonal_naive_previous_year_same_month",</a:t>
            </a:r>
          </a:p>
          <a:p>
            <a:r>
              <a:t>        "baseline_test_mae": 81.25,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0.07,</a:t>
            </a:r>
          </a:p>
          <a:p>
            <a:r>
              <a:t>            "selected": 0.1,</a:t>
            </a:r>
          </a:p>
          <a:p>
            <a:r>
              <a:t>            "sample_count": 2</a:t>
            </a:r>
          </a:p>
          <a:p>
            <a:r>
              <a:t>          },</a:t>
            </a:r>
          </a:p>
          <a:p>
            <a:r>
              <a:t>          "2": {</a:t>
            </a:r>
          </a:p>
          <a:p>
            <a:r>
              <a:t>            "baseline": 0.11,</a:t>
            </a:r>
          </a:p>
          <a:p>
            <a:r>
              <a:t>            "selected": 0.16,</a:t>
            </a:r>
          </a:p>
          <a:p>
            <a:r>
              <a:t>            "sample_count": 2</a:t>
            </a:r>
          </a:p>
          <a:p>
            <a:r>
              <a:t>          },</a:t>
            </a:r>
          </a:p>
          <a:p>
            <a:r>
              <a:t>          "3": {</a:t>
            </a:r>
          </a:p>
          <a:p>
            <a:r>
              <a:t>            "baseline": 0.15,</a:t>
            </a:r>
          </a:p>
          <a:p>
            <a:r>
              <a:t>            "selected": 0.17,</a:t>
            </a:r>
          </a:p>
          <a:p>
            <a:r>
              <a:t>            "sample_count": 2</a:t>
            </a:r>
          </a:p>
          <a:p>
            <a:r>
              <a:t>          }</a:t>
            </a:r>
          </a:p>
          <a:p>
            <a:r>
              <a:t>        },</a:t>
            </a:r>
          </a:p>
          <a:p>
            <a:r>
              <a:t>        "selected_model": "LinearRegression",</a:t>
            </a:r>
          </a:p>
          <a:p>
            <a:r>
              <a:t>        "baseline_test_mae": 0.11,</a:t>
            </a:r>
          </a:p>
          <a:p>
            <a:r>
              <a:t>        "model_reliability": "mixed_recursive_performance",</a:t>
            </a:r>
          </a:p>
          <a:p>
            <a:r>
              <a:t>        "beats_baseline_on_test": true,</a:t>
            </a:r>
          </a:p>
          <a:p>
            <a:r>
              <a:t>        "recursive_horizons_worse_than_baseline": [</a:t>
            </a:r>
          </a:p>
          <a:p>
            <a:r>
              <a:t>          "1",</a:t>
            </a:r>
          </a:p>
          <a:p>
            <a:r>
              <a:t>          "2",</a:t>
            </a:r>
          </a:p>
          <a:p>
            <a:r>
              <a:t>          "3"</a:t>
            </a:r>
          </a:p>
          <a:p>
            <a:r>
              <a:t>        ]</a:t>
            </a:r>
          </a:p>
          <a:p>
            <a:r>
              <a:t>      },</a:t>
            </a:r>
          </a:p>
          <a:p>
            <a:r>
              <a:t>      "lodging_rate_pct": {</a:t>
            </a:r>
          </a:p>
          <a:p>
            <a:r>
              <a:t>        "test_mae": 0.32,</a:t>
            </a:r>
          </a:p>
          <a:p>
            <a:r>
              <a:t>        "recursive_mae": {</a:t>
            </a:r>
          </a:p>
          <a:p>
            <a:r>
              <a:t>          "1": {</a:t>
            </a:r>
          </a:p>
          <a:p>
            <a:r>
              <a:t>            "baseline": 0.3,</a:t>
            </a:r>
          </a:p>
          <a:p>
            <a:r>
              <a:t>            "selected": 0.3,</a:t>
            </a:r>
          </a:p>
          <a:p>
            <a:r>
              <a:t>            "sample_count": 2</a:t>
            </a:r>
          </a:p>
          <a:p>
            <a:r>
              <a:t>          },</a:t>
            </a:r>
          </a:p>
          <a:p>
            <a:r>
              <a:t>          "2": {</a:t>
            </a:r>
          </a:p>
          <a:p>
            <a:r>
              <a:t>            "baseline": 0.4,</a:t>
            </a:r>
          </a:p>
          <a:p>
            <a:r>
              <a:t>            "selected": 0.4,</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0.32,</a:t>
            </a:r>
          </a:p>
          <a:p>
            <a:r>
              <a:t>        "model_reliability": "seasonal_baseline",</a:t>
            </a:r>
          </a:p>
          <a:p>
            <a:r>
              <a:t>        "beats_baseline_on_test": false,</a:t>
            </a:r>
          </a:p>
          <a:p>
            <a:r>
              <a:t>        "recursive_horizons_worse_than_baseline": []</a:t>
            </a:r>
          </a:p>
          <a:p>
            <a:r>
              <a:t>      },</a:t>
            </a:r>
          </a:p>
          <a:p>
            <a:r>
              <a:t>      "lodging_searches": {</a:t>
            </a:r>
          </a:p>
          <a:p>
            <a:r>
              <a:t>        "test_mae": 141.88,</a:t>
            </a:r>
          </a:p>
          <a:p>
            <a:r>
              <a:t>        "recursive_mae": {</a:t>
            </a:r>
          </a:p>
          <a:p>
            <a:r>
              <a:t>          "1": {</a:t>
            </a:r>
          </a:p>
          <a:p>
            <a:r>
              <a:t>            "baseline": 239.0,</a:t>
            </a:r>
          </a:p>
          <a:p>
            <a:r>
              <a:t>            "selected": 78.5,</a:t>
            </a:r>
          </a:p>
          <a:p>
            <a:r>
              <a:t>            "sample_count": 2</a:t>
            </a:r>
          </a:p>
          <a:p>
            <a:r>
              <a:t>          },</a:t>
            </a:r>
          </a:p>
          <a:p>
            <a:r>
              <a:t>          "2": {</a:t>
            </a:r>
          </a:p>
          <a:p>
            <a:r>
              <a:t>            "baseline": 215.5,</a:t>
            </a:r>
          </a:p>
          <a:p>
            <a:r>
              <a:t>            "selected": 71.5,</a:t>
            </a:r>
          </a:p>
          <a:p>
            <a:r>
              <a:t>            "sample_count": 2</a:t>
            </a:r>
          </a:p>
          <a:p>
            <a:r>
              <a:t>          },</a:t>
            </a:r>
          </a:p>
          <a:p>
            <a:r>
              <a:t>          "3": {</a:t>
            </a:r>
          </a:p>
          <a:p>
            <a:r>
              <a:t>            "baseline": 282.5,</a:t>
            </a:r>
          </a:p>
          <a:p>
            <a:r>
              <a:t>            "selected": 143.0,</a:t>
            </a:r>
          </a:p>
          <a:p>
            <a:r>
              <a:t>            "sample_count": 2</a:t>
            </a:r>
          </a:p>
          <a:p>
            <a:r>
              <a:t>          }</a:t>
            </a:r>
          </a:p>
          <a:p>
            <a:r>
              <a:t>        },</a:t>
            </a:r>
          </a:p>
          <a:p>
            <a:r>
              <a:t>        "selected_model": "RandomForestRegressor",</a:t>
            </a:r>
          </a:p>
          <a:p>
            <a:r>
              <a:t>        "baseline_test_mae": 260.75,</a:t>
            </a:r>
          </a:p>
          <a:p>
            <a:r>
              <a:t>        "model_reliability": "limited_backtest_support",</a:t>
            </a:r>
          </a:p>
          <a:p>
            <a:r>
              <a:t>        "beats_baseline_on_test": true,</a:t>
            </a:r>
          </a:p>
          <a:p>
            <a:r>
              <a:t>        "recursive_horizons_worse_than_baseline": []</a:t>
            </a:r>
          </a:p>
          <a:p>
            <a:r>
              <a:t>      },</a:t>
            </a:r>
          </a:p>
          <a:p>
            <a:r>
              <a:t>      "navigation_searches": {</a:t>
            </a:r>
          </a:p>
          <a:p>
            <a:r>
              <a:t>        "test_mae": 18943.5,</a:t>
            </a:r>
          </a:p>
          <a:p>
            <a:r>
              <a:t>        "recursive_mae": {</a:t>
            </a:r>
          </a:p>
          <a:p>
            <a:r>
              <a:t>          "1": {</a:t>
            </a:r>
          </a:p>
          <a:p>
            <a:r>
              <a:t>            "baseline": 21342.5,</a:t>
            </a:r>
          </a:p>
          <a:p>
            <a:r>
              <a:t>            "selected": 21342.5,</a:t>
            </a:r>
          </a:p>
          <a:p>
            <a:r>
              <a:t>            "sample_count": 2</a:t>
            </a:r>
          </a:p>
          <a:p>
            <a:r>
              <a:t>          },</a:t>
            </a:r>
          </a:p>
          <a:p>
            <a:r>
              <a:t>          "2": {</a:t>
            </a:r>
          </a:p>
          <a:p>
            <a:r>
              <a:t>            "baseline": 18933.0,</a:t>
            </a:r>
          </a:p>
          <a:p>
            <a:r>
              <a:t>            "selected": 18933.0,</a:t>
            </a:r>
          </a:p>
          <a:p>
            <a:r>
              <a:t>            "sample_count": 2</a:t>
            </a:r>
          </a:p>
          <a:p>
            <a:r>
              <a:t>          },</a:t>
            </a:r>
          </a:p>
          <a:p>
            <a:r>
              <a:t>          "3": {</a:t>
            </a:r>
          </a:p>
          <a:p>
            <a:r>
              <a:t>            "baseline": 16544.5,</a:t>
            </a:r>
          </a:p>
          <a:p>
            <a:r>
              <a:t>            "selected": 16544.5,</a:t>
            </a:r>
          </a:p>
          <a:p>
            <a:r>
              <a:t>            "sample_count": 2</a:t>
            </a:r>
          </a:p>
          <a:p>
            <a:r>
              <a:t>          }</a:t>
            </a:r>
          </a:p>
          <a:p>
            <a:r>
              <a:t>        },</a:t>
            </a:r>
          </a:p>
          <a:p>
            <a:r>
              <a:t>        "selected_model": "seasonal_naive_previous_year_same_month",</a:t>
            </a:r>
          </a:p>
          <a:p>
            <a:r>
              <a:t>        "baseline_test_mae": 18943.5,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5,</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"지역상품권 환급액 = (외지인 관광객의 지역 내 소비액 × 20%) + (지역상품권 발행 비용: 1,000원/장). 단가 및 정확한 환급 대상 규모는 시범 운영 전 확정 필요.",</a:t>
            </a:r>
          </a:p>
          <a:p>
            <a:r>
              <a:t>        "본문 기준"</a:t>
            </a:r>
          </a:p>
          <a:p>
            <a:r>
              <a:t>      ]</a:t>
            </a:r>
          </a:p>
          <a:p>
            <a:r>
              <a:t>    ],</a:t>
            </a:r>
          </a:p>
          <a:p>
            <a:r>
              <a:t>    "original_text": "지역상품권 환급액 = (외지인 관광객의 지역 내 소비액 × 20%) + (지역상품권 발행 비용: 1,000원/장). 단가 및 정확한 환급 대상 규모는 시범 운영 전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"operation-document-v1",</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"observed_findings": [</a:t>
            </a:r>
          </a:p>
          <a:p>
            <a:r>
              <a:t>    {</a:t>
            </a:r>
          </a:p>
          <a:p>
            <a:r>
              <a:t>      "value": "6,687,696명",</a:t>
            </a:r>
          </a:p>
          <a:p>
            <a:r>
              <a:t>      "metric": "월간 순 방문자 수",</a:t>
            </a:r>
          </a:p>
          <a:p>
            <a:r>
              <a:t>      "source": "dataset:11200:1",</a:t>
            </a:r>
          </a:p>
          <a:p>
            <a:r>
              <a:t>      "interpretation": "2026-06 기준 외지인 방문 규모는 크나, 숙박 방문 비율은 3.7%로 낮아 체류 시간 연장이 필요함."</a:t>
            </a:r>
          </a:p>
          <a:p>
            <a:r>
              <a:t>    },</a:t>
            </a:r>
          </a:p>
          <a:p>
            <a:r>
              <a:t>    {</a:t>
            </a:r>
          </a:p>
          <a:p>
            <a:r>
              <a:t>      "value": "93,151,315,000원",</a:t>
            </a:r>
          </a:p>
          <a:p>
            <a:r>
              <a:t>      "metric": "외지인 관광소비 총액",</a:t>
            </a:r>
          </a:p>
          <a:p>
            <a:r>
              <a:t>      "source": "dataset:11200:3",</a:t>
            </a:r>
          </a:p>
          <a:p>
            <a:r>
              <a:t>      "interpretation": "2026-06 기준 소비 규모는 상당하나, 숙박업 비중(0.1%)이 매우 낮아 체류형 소비 유도가 핵심 과제임."</a:t>
            </a:r>
          </a:p>
          <a:p>
            <a:r>
              <a:t>    },</a:t>
            </a:r>
          </a:p>
          <a:p>
            <a:r>
              <a:t>    {</a:t>
            </a:r>
          </a:p>
          <a:p>
            <a:r>
              <a:t>      "value": "3.03일",</a:t>
            </a:r>
          </a:p>
          <a:p>
            <a:r>
              <a:t>      "metric": "외지인 평균 숙박일수",</a:t>
            </a:r>
          </a:p>
          <a:p>
            <a:r>
              <a:t>      "source": "dataset:11200:5",</a:t>
            </a:r>
          </a:p>
          <a:p>
            <a:r>
              <a:t>      "interpretation": "평균 체류 기간은 확보되어 있으나, 숙박 방문 비율이 낮아 당일치기 위주의 소비 패턴을 보임."</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image" Target="../media/image2.jpg"/><Relationship Id="rId8" Type="http://schemas.openxmlformats.org/officeDocument/2006/relationships/hyperlink" Target="https://www.korea.kr/news/policyNewsView.do?newsId=148947084" TargetMode="External"/><Relationship Id="rId9"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0" Type="http://schemas.openxmlformats.org/officeDocument/2006/relationships/image" Target="../media/image3.jpg"/><Relationship Id="rId11" Type="http://schemas.openxmlformats.org/officeDocument/2006/relationships/hyperlink" Target="https://isum.incheon.go.kr/theme/themeContent.do?key=2407020018" TargetMode="External"/><Relationship Id="rId12" Type="http://schemas.openxmlformats.org/officeDocument/2006/relationships/hyperlink" Target="https://kto.visitkorea.or.kr/upload/flexer/upload/ktobiz/20220928/b623b5f9-3ec0-11ed-9832-ddf31964842e.hwp.files/Sections1.html" TargetMode="Externa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hangang.seoul.go.kr/www/eventMng/detail.do?evntSn=378&amp;mid=538&amp;srchType=list" TargetMode="External"/><Relationship Id="rId5" Type="http://schemas.openxmlformats.org/officeDocument/2006/relationships/hyperlink" Target="https://www.seoul.go.kr/news/news_report.do?nttNo=458311" TargetMode="External"/><Relationship Id="rId6" Type="http://schemas.openxmlformats.org/officeDocument/2006/relationships/hyperlink" Target="https://gov.seoul.go.kr/festa/garden/y2026/program/garden-culture-program/commentary-program?article=42926" TargetMode="Externa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bbs/B0000000/view.do?menuNo=200050&amp;nttId=16465" TargetMode="External"/><Relationship Id="rId3" Type="http://schemas.openxmlformats.org/officeDocument/2006/relationships/hyperlink" Target="https://www.seoul.go.kr/festa/garden/y2026/introduce/location?pc=1" TargetMode="External"/><Relationship Id="rId4" Type="http://schemas.openxmlformats.org/officeDocument/2006/relationships/hyperlink" Target="https://www.seoul.go.kr/news/news_report.do?nttNo=460823&amp;tr_code=snews" TargetMode="External"/><Relationship Id="rId5" Type="http://schemas.openxmlformats.org/officeDocument/2006/relationships/hyperlink" Target="https://hangang.seoul.go.kr/www/eventMng/detail.do?evntSn=378&amp;mid=538&amp;srchType=list" TargetMode="External"/><Relationship Id="rId6" Type="http://schemas.openxmlformats.org/officeDocument/2006/relationships/hyperlink" Target="https://jeonju.go.kr/resource/www/images/download/budget/2026/2026_31_2.pdf" TargetMode="External"/><Relationship Id="rId7" Type="http://schemas.openxmlformats.org/officeDocument/2006/relationships/hyperlink" Target="https://jnfarm.jeonnam.go.kr/board/FARM_BOARD_008/boardView.do?bdId=BD_00000000000011721&amp;menuCd=farm004002" TargetMode="External"/><Relationship Id="rId8"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9" Type="http://schemas.openxmlformats.org/officeDocument/2006/relationships/hyperlink" Target="https://kto.visitkorea.or.kr/upload/flexer/upload/ktobiz/20220928/b623b5f9-3ec0-11ed-9832-ddf31964842e.hwp.files/Sections1.html" TargetMode="External"/><Relationship Id="rId10" Type="http://schemas.openxmlformats.org/officeDocument/2006/relationships/hyperlink" Target="https://korean.visitkorea.or.kr/detail/rem_detail.do?cotid=f9c636b2-dd7c-4f09-af3d-6af43b33d371" TargetMode="External"/><Relationship Id="rId11" Type="http://schemas.openxmlformats.org/officeDocument/2006/relationships/hyperlink" Target="https://www.evaluation.go.kr/upload2/atch/eval/20250429095846463.pdf" TargetMode="External"/><Relationship Id="rId12" Type="http://schemas.openxmlformats.org/officeDocument/2006/relationships/hyperlink" Target="https://apis.data.go.kr/B551011/KorService2" TargetMode="Externa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성동구 지역상품권 환급 프로그램</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서울특별시 성동구</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2026-09-10</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성동구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서울특별시 성동구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2026. 09. 10</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7867650"/>
            <a:ext cx="4143375" cy="6858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7924800"/>
            <a:ext cx="4143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성동구 지역상품권 환급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성동구를 방문한 외지인 관광객이 지정된 지역 내 상점에서</a:t>
            </a:r>
          </a:p>
          <a:p>
            <a:pPr eaLnBrk="0">
              <a:lnSpc>
                <a:spcPts val="3187"/>
              </a:lnSpc>
              <a:spcBef>
                <a:spcPts val="0"/>
              </a:spcBef>
              <a:spcAft>
                <a:spcPts val="0"/>
              </a:spcAft>
            </a:pPr>
            <a:r>
              <a:rPr sz="2550" b="1">
                <a:solidFill>
                  <a:srgbClr val="1D2227"/>
                </a:solidFill>
                <a:latin typeface="Noto Sans KR"/>
              </a:rPr>
              <a:t>일정 금액 이상 소비 시, 소비액의 일부를 성동구</a:t>
            </a:r>
          </a:p>
          <a:p>
            <a:pPr eaLnBrk="0">
              <a:lnSpc>
                <a:spcPts val="3187"/>
              </a:lnSpc>
              <a:spcBef>
                <a:spcPts val="0"/>
              </a:spcBef>
              <a:spcAft>
                <a:spcPts val="0"/>
              </a:spcAft>
            </a:pPr>
            <a:r>
              <a:rPr sz="2550" b="1">
                <a:solidFill>
                  <a:srgbClr val="1D2227"/>
                </a:solidFill>
                <a:latin typeface="Noto Sans KR"/>
              </a:rPr>
              <a:t>지역상품권으로 즉시 또는 사후 환급하여 해당 상품권이 다시</a:t>
            </a:r>
          </a:p>
          <a:p>
            <a:pPr eaLnBrk="0">
              <a:lnSpc>
                <a:spcPts val="3187"/>
              </a:lnSpc>
              <a:spcBef>
                <a:spcPts val="0"/>
              </a:spcBef>
              <a:spcAft>
                <a:spcPts val="0"/>
              </a:spcAft>
            </a:pPr>
            <a:r>
              <a:rPr sz="2550" b="1">
                <a:solidFill>
                  <a:srgbClr val="1D2227"/>
                </a:solidFill>
                <a:latin typeface="Noto Sans KR"/>
              </a:rPr>
              <a:t>성동구 내에서 사용되도록 선순환 구조를 구축함.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지역상품권 사용처와 관광업체 참여 기준, 여행 지출 증빙과 중복수혜 방지</a:t>
            </a:r>
          </a:p>
          <a:p>
            <a:pPr eaLnBrk="0">
              <a:lnSpc>
                <a:spcPts val="2343"/>
              </a:lnSpc>
              <a:spcBef>
                <a:spcPts val="0"/>
              </a:spcBef>
              <a:spcAft>
                <a:spcPts val="0"/>
              </a:spcAft>
            </a:pPr>
            <a:r>
              <a:rPr sz="1875" b="0">
                <a:solidFill>
                  <a:srgbClr val="59636E"/>
                </a:solidFill>
                <a:latin typeface="Noto Sans KR"/>
              </a:rPr>
              <a:t>절차, 지원금보다 추가 지역소비가 큰지 사후 측정 필요.</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성동구를 방문한 외지인 관광객이 지정된 지역 내</a:t>
            </a:r>
          </a:p>
          <a:p>
            <a:pPr eaLnBrk="0">
              <a:lnSpc>
                <a:spcPts val="1827"/>
              </a:lnSpc>
              <a:spcBef>
                <a:spcPts val="0"/>
              </a:spcBef>
              <a:spcAft>
                <a:spcPts val="0"/>
              </a:spcAft>
            </a:pPr>
            <a:r>
              <a:rPr sz="1462" b="0">
                <a:solidFill>
                  <a:srgbClr val="59636E"/>
                </a:solidFill>
                <a:latin typeface="Noto Sans KR"/>
              </a:rPr>
              <a:t>상점에서 일정 금액 이상 소비 시, 소비액의 일부를</a:t>
            </a:r>
          </a:p>
          <a:p>
            <a:pPr eaLnBrk="0">
              <a:lnSpc>
                <a:spcPts val="1827"/>
              </a:lnSpc>
              <a:spcBef>
                <a:spcPts val="0"/>
              </a:spcBef>
              <a:spcAft>
                <a:spcPts val="0"/>
              </a:spcAft>
            </a:pPr>
            <a:r>
              <a:rPr sz="1462" b="0">
                <a:solidFill>
                  <a:srgbClr val="59636E"/>
                </a:solidFill>
                <a:latin typeface="Noto Sans KR"/>
              </a:rPr>
              <a:t>성동구 지역상품권으로 즉시 또는 사후 환급하여</a:t>
            </a:r>
          </a:p>
          <a:p>
            <a:pPr eaLnBrk="0">
              <a:lnSpc>
                <a:spcPts val="1827"/>
              </a:lnSpc>
              <a:spcBef>
                <a:spcPts val="0"/>
              </a:spcBef>
              <a:spcAft>
                <a:spcPts val="0"/>
              </a:spcAft>
            </a:pPr>
            <a:r>
              <a:rPr sz="1462" b="0">
                <a:solidFill>
                  <a:srgbClr val="59636E"/>
                </a:solidFill>
                <a:latin typeface="Noto Sans KR"/>
              </a:rPr>
              <a:t>해당 상품권이 다시 성동구 내에서 사용되도록</a:t>
            </a:r>
          </a:p>
          <a:p>
            <a:pPr eaLnBrk="0">
              <a:lnSpc>
                <a:spcPts val="1827"/>
              </a:lnSpc>
              <a:spcBef>
                <a:spcPts val="0"/>
              </a:spcBef>
              <a:spcAft>
                <a:spcPts val="0"/>
              </a:spcAft>
            </a:pPr>
            <a:r>
              <a:rPr sz="1462" b="0">
                <a:solidFill>
                  <a:srgbClr val="59636E"/>
                </a:solidFill>
                <a:latin typeface="Noto Sans KR"/>
              </a:rPr>
              <a:t>선순환 구조를 구축함.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2026-09 ~ 2026-11, 3개월</a:t>
            </a:r>
          </a:p>
          <a:p>
            <a:pPr eaLnBrk="0">
              <a:lnSpc>
                <a:spcPts val="1827"/>
              </a:lnSpc>
              <a:spcBef>
                <a:spcPts val="0"/>
              </a:spcBef>
              <a:spcAft>
                <a:spcPts val="0"/>
              </a:spcAft>
            </a:pPr>
            <a:r>
              <a:rPr sz="1462"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3개월 월별 합계</a:t>
            </a:r>
          </a:p>
          <a:p>
            <a:pPr eaLnBrk="0">
              <a:lnSpc>
                <a:spcPts val="1827"/>
              </a:lnSpc>
              <a:spcBef>
                <a:spcPts val="0"/>
              </a:spcBef>
              <a:spcAft>
                <a:spcPts val="0"/>
              </a:spcAft>
            </a:pPr>
            <a:r>
              <a:rPr sz="1462" b="0">
                <a:solidFill>
                  <a:srgbClr val="59636E"/>
                </a:solidFill>
                <a:latin typeface="Noto Sans KR"/>
              </a:rPr>
              <a:t>방문자 2,243만 명</a:t>
            </a:r>
          </a:p>
          <a:p>
            <a:pPr eaLnBrk="0">
              <a:lnSpc>
                <a:spcPts val="1827"/>
              </a:lnSpc>
              <a:spcBef>
                <a:spcPts val="0"/>
              </a:spcBef>
              <a:spcAft>
                <a:spcPts val="0"/>
              </a:spcAft>
            </a:pPr>
            <a:r>
              <a:rPr sz="1462" b="0">
                <a:solidFill>
                  <a:srgbClr val="59636E"/>
                </a:solidFill>
                <a:latin typeface="Noto Sans KR"/>
              </a:rPr>
              <a:t>관광소비액 3,555억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사례 실적을 참고한 계획 가정이며, 구체적인 채택 비율과 출처는 목표 설정 근거에 제시합니다.</a:t>
            </a:r>
          </a:p>
        </p:txBody>
      </p:sp>
    </p:spTree>
    <p:extLst>
      <p:ext uri="{BB962C8B-B14F-4D97-AF65-F5344CB8AC3E}">
        <p14:creationId xmlns:p14="http://schemas.microsoft.com/office/powerpoint/2010/main" val="380383987"/>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10" name="case-photo-0" descr="gangjin_official.jpg"/>
          <p:cNvPicPr>
            <a:picLocks noChangeAspect="1"/>
          </p:cNvPicPr>
          <p:nvPr/>
        </p:nvPicPr>
        <p:blipFill>
          <a:blip r:embed="rId4"/>
          <a:stretch>
            <a:fillRect/>
          </a:stretch>
        </p:blipFill>
        <p:spPr>
          <a:xfrm>
            <a:off x="1518636" y="5857875"/>
            <a:ext cx="3211126"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0="http://schemas.openxmlformats.org/officeDocument/2006/relationships" ns0:id="rId5"/>
              </a:rPr>
              <a:t>강진군 · 반값여행 공식 홍보물</a:t>
            </a:r>
          </a:p>
          <a:p>
            <a:pPr eaLnBrk="0">
              <a:lnSpc>
                <a:spcPts val="1500"/>
              </a:lnSpc>
              <a:spcBef>
                <a:spcPts val="0"/>
              </a:spcBef>
              <a:spcAft>
                <a:spcPts val="0"/>
              </a:spcAft>
            </a:pPr>
            <a:r>
              <a:rPr sz="1200" b="0">
                <a:solidFill>
                  <a:srgbClr val="59636E"/>
                </a:solidFill>
                <a:latin typeface="Noto Sans KR"/>
                <a:hlinkClick xmlns:ns1="http://schemas.openxmlformats.org/officeDocument/2006/relationships" ns1:id="rId5"/>
              </a:rPr>
              <a:t>출처: 강진 반값여행 공식 홈페이지</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비교할 다른 운영 방식</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18" name="case-photo-1" descr="digital_official.jpg"/>
          <p:cNvPicPr>
            <a:picLocks noChangeAspect="1"/>
          </p:cNvPicPr>
          <p:nvPr/>
        </p:nvPicPr>
        <p:blipFill>
          <a:blip r:embed="rId7"/>
          <a:stretch>
            <a:fillRect/>
          </a:stretch>
        </p:blipFill>
        <p:spPr>
          <a:xfrm>
            <a:off x="6934200" y="5857875"/>
            <a:ext cx="1371600"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3="http://schemas.openxmlformats.org/officeDocument/2006/relationships" ns3:id="rId8"/>
              </a:rPr>
              <a:t>전국 · 디지털 관광주민증 홍보물</a:t>
            </a:r>
          </a:p>
          <a:p>
            <a:pPr eaLnBrk="0">
              <a:lnSpc>
                <a:spcPts val="1500"/>
              </a:lnSpc>
              <a:spcBef>
                <a:spcPts val="0"/>
              </a:spcBef>
              <a:spcAft>
                <a:spcPts val="0"/>
              </a:spcAft>
            </a:pPr>
            <a:r>
              <a:rPr sz="1200" b="0">
                <a:solidFill>
                  <a:srgbClr val="59636E"/>
                </a:solidFill>
                <a:latin typeface="Noto Sans KR"/>
                <a:hlinkClick xmlns:ns4="http://schemas.openxmlformats.org/officeDocument/2006/relationships" ns4:id="rId8"/>
              </a:rPr>
              <a:t>출처: 대한민국 정책브리핑 (2025)</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5="http://schemas.openxmlformats.org/officeDocument/2006/relationships" ns5: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비교할 다른 운영 방식</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전국 숙박할인쿠폰 지원사업 ·</a:t>
            </a:r>
          </a:p>
          <a:p>
            <a:pPr eaLnBrk="0">
              <a:lnSpc>
                <a:spcPts val="2343"/>
              </a:lnSpc>
              <a:spcBef>
                <a:spcPts val="0"/>
              </a:spcBef>
              <a:spcAft>
                <a:spcPts val="0"/>
              </a:spcAft>
            </a:pPr>
            <a:r>
              <a:rPr sz="1875" b="1">
                <a:solidFill>
                  <a:srgbClr val="1D2227"/>
                </a:solidFill>
                <a:latin typeface="Noto Sans KR"/>
              </a:rPr>
              <a:t>온라인 예약 채널 숙박할인쿠폰</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온라인 여행사 예약 단계에서</a:t>
            </a:r>
          </a:p>
          <a:p>
            <a:pPr eaLnBrk="0">
              <a:lnSpc>
                <a:spcPts val="1968"/>
              </a:lnSpc>
              <a:spcBef>
                <a:spcPts val="0"/>
              </a:spcBef>
              <a:spcAft>
                <a:spcPts val="0"/>
              </a:spcAft>
            </a:pPr>
            <a:r>
              <a:rPr sz="1575" b="0">
                <a:solidFill>
                  <a:srgbClr val="59636E"/>
                </a:solidFill>
                <a:latin typeface="Noto Sans KR"/>
              </a:rPr>
              <a:t>할인쿠폰을 제공하고, 지역 숙소에서</a:t>
            </a:r>
          </a:p>
          <a:p>
            <a:pPr eaLnBrk="0">
              <a:lnSpc>
                <a:spcPts val="1968"/>
              </a:lnSpc>
              <a:spcBef>
                <a:spcPts val="0"/>
              </a:spcBef>
              <a:spcAft>
                <a:spcPts val="0"/>
              </a:spcAft>
            </a:pPr>
            <a:r>
              <a:rPr sz="1575" b="0">
                <a:solidFill>
                  <a:srgbClr val="59636E"/>
                </a:solidFill>
                <a:latin typeface="Noto Sans KR"/>
              </a:rPr>
              <a:t>사용할 수 있도록 참여 채널과</a:t>
            </a:r>
          </a:p>
          <a:p>
            <a:pPr eaLnBrk="0">
              <a:lnSpc>
                <a:spcPts val="1968"/>
              </a:lnSpc>
              <a:spcBef>
                <a:spcPts val="0"/>
              </a:spcBef>
              <a:spcAft>
                <a:spcPts val="0"/>
              </a:spcAft>
            </a:pPr>
            <a:r>
              <a:rPr sz="1575" b="0">
                <a:solidFill>
                  <a:srgbClr val="59636E"/>
                </a:solidFill>
                <a:latin typeface="Noto Sans KR"/>
              </a:rPr>
              <a:t>기간을 통합 운영</a:t>
            </a:r>
          </a:p>
        </p:txBody>
      </p:sp>
      <p:pic xmlns:a="http://schemas.openxmlformats.org/drawingml/2006/main" xmlns:r="http://schemas.openxmlformats.org/officeDocument/2006/relationships">
        <p:nvPicPr>
          <p:cNvPr id="26" name="case-photo-2" descr="incheon_official.jpg"/>
          <p:cNvPicPr>
            <a:picLocks noChangeAspect="1"/>
          </p:cNvPicPr>
          <p:nvPr/>
        </p:nvPicPr>
        <p:blipFill>
          <a:blip r:embed="rId10"/>
          <a:stretch>
            <a:fillRect/>
          </a:stretch>
        </p:blipFill>
        <p:spPr>
          <a:xfrm>
            <a:off x="10590240" y="5857875"/>
            <a:ext cx="3051119"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6="http://schemas.openxmlformats.org/officeDocument/2006/relationships" ns6:id="rId11"/>
              </a:rPr>
              <a:t>유사 사업 참고 · 인천 섬 · 로컬체험 여행 소개 사진</a:t>
            </a:r>
          </a:p>
          <a:p>
            <a:pPr eaLnBrk="0">
              <a:lnSpc>
                <a:spcPts val="1500"/>
              </a:lnSpc>
              <a:spcBef>
                <a:spcPts val="0"/>
              </a:spcBef>
              <a:spcAft>
                <a:spcPts val="0"/>
              </a:spcAft>
            </a:pPr>
            <a:r>
              <a:rPr sz="1200" b="0">
                <a:solidFill>
                  <a:srgbClr val="59636E"/>
                </a:solidFill>
                <a:latin typeface="Noto Sans KR"/>
                <a:hlinkClick xmlns:ns7="http://schemas.openxmlformats.org/officeDocument/2006/relationships" ns7:id="rId11"/>
              </a:rPr>
              <a:t>출처: 인천광역시 섬포털</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8="http://schemas.openxmlformats.org/officeDocument/2006/relationships" ns8:id="rId12"/>
              </a:rPr>
              <a:t>사업 원문 보기 ↗</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2026-09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59636E"/>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2026-09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59636E"/>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59636E"/>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2026-10 / 2026-11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59636E"/>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6,638,883명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7,081,475명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442,592명 · 6.67%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6,570,358명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7,446,406명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876,048명 · 13.33%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6,585,928명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7,903,114명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1,317,186명 · 20.00%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19,795,169명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22,430,995명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2,635,826명 · 13.32%</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2,635,826명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1,029.06억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1,097.66억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68.60억 원 · 6.67%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1,034.05억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1,171.92억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137.87억 원 · 13.33%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1,071.18억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1,285.41억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214.24억 원 · 20.00%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3,134.28억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3,554.99억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420.71억 원 · 13.42%</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420.71억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26.09 15,500원 · 26.10 15,738원 · 26.11 16,265원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164,142만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1,317,950,000원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26,359건 × 50,000원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158,250,000원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26,359건 ÷ 25건/인일 올림) = 1055인일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149,220,000원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149,220만원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2,635,826명 × 시범 담당 비중 1% → 26,359건(올림).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+20% · 소비 +20%</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참고 실적: 강진 2024년 10월 누적 248만 명, 전년 대비 25% 증가. 반값여행·축제가 함께 운영된 지역 전체 실적.</a:t>
            </a:r>
          </a:p>
          <a:p>
            <a:pPr eaLnBrk="0">
              <a:lnSpc>
                <a:spcPts val="2156"/>
              </a:lnSpc>
              <a:spcBef>
                <a:spcPts val="0"/>
              </a:spcBef>
              <a:spcAft>
                <a:spcPts val="0"/>
              </a:spcAft>
            </a:pPr>
            <a:r>
              <a:rPr sz="1725" b="0">
                <a:solidFill>
                  <a:srgbClr val="59636E"/>
                </a:solidFill>
                <a:latin typeface="Noto Sans KR"/>
              </a:rPr>
              <a:t>② 목표 채택: 25% × 80% = 20%. 80%는 단계 운영을 고려한 계획 가정이며 인구·통계 보정값은 아님.</a:t>
            </a:r>
          </a:p>
          <a:p>
            <a:pPr eaLnBrk="0">
              <a:lnSpc>
                <a:spcPts val="2156"/>
              </a:lnSpc>
              <a:spcBef>
                <a:spcPts val="0"/>
              </a:spcBef>
              <a:spcAft>
                <a:spcPts val="0"/>
              </a:spcAft>
            </a:pPr>
            <a:r>
              <a:rPr sz="1725" b="0">
                <a:solidFill>
                  <a:srgbClr val="59636E"/>
                </a:solidFill>
                <a:latin typeface="Noto Sans KR"/>
              </a:rPr>
              <a:t>③ 적용 목표: 최종월 방문 +20% · 소비 +20%.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서울특별시_성동구/숙박_체류시간/2025_01_12.zip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서울특별시_성동구/관광소비/2025_01_12.zip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서울특별시_성동구/숙박_체류시간/2026_01_06.zip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서울특별시_성동구/방문자/2025_01_12.zip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서울특별시_성동구/관광소비/2026_01_06.zip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서울특별시_성동구/방문자/2026_01_06.zip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랩_다운로드.zip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606_데이터랩_다운로드.zip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터랩_다운로드.zip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터랩_다운로드.zip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랩_다운로드.zip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랩_다운로드.zip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서울특별시 성동구</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성동구 지역상품권</a:t>
            </a:r>
          </a:p>
          <a:p xmlns:a="http://schemas.openxmlformats.org/drawingml/2006/main">
            <a:pPr eaLnBrk="0">
              <a:lnSpc>
                <a:spcPts val="2625"/>
              </a:lnSpc>
              <a:spcBef>
                <a:spcPts val="0"/>
              </a:spcBef>
              <a:spcAft>
                <a:spcPts val="0"/>
              </a:spcAft>
            </a:pPr>
            <a:r>
              <a:rPr sz="2100" b="1">
                <a:solidFill>
                  <a:srgbClr val="004EA2"/>
                </a:solidFill>
                <a:latin typeface="Noto Sans KR"/>
              </a:rPr>
              <a:t>환급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r:id="rId2"/>
              </a:rPr>
              <a:t>512_데이터랩_다운로드.zip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r:id="rId2"/>
              </a:rPr>
              <a:t>터랩_다운로드.zip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r:id="rId2"/>
              </a:rPr>
              <a:t>터랩_다운로드.zip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r:id="rId2"/>
              </a:rPr>
              <a:t>랩_다운로드.zip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r:id="rId2"/>
              </a:rPr>
              <a:t>랩_다운로드.zip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6,585,928명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1,071.18억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600분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2.91일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4%</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a:t>
            </a:r>
          </a:p>
          <a:p>
            <a:pPr eaLnBrk="0">
              <a:lnSpc>
                <a:spcPts val="1687"/>
              </a:lnSpc>
              <a:spcBef>
                <a:spcPts val="0"/>
              </a:spcBef>
              <a:spcAft>
                <a:spcPts val="0"/>
              </a:spcAft>
            </a:pPr>
            <a:r>
              <a:rPr sz="1350" b="0">
                <a:solidFill>
                  <a:srgbClr val="004EA2"/>
                </a:solidFill>
                <a:latin typeface="Noto Sans KR"/>
              </a:rPr>
              <a:t>RandomForestRegressor 최종 월 2,335건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115,407건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8쪽 (9개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2026 서울국제정원박람회 &lt;</a:t>
            </a:r>
          </a:p>
          <a:p>
            <a:pPr eaLnBrk="0">
              <a:lnSpc>
                <a:spcPts val="1687"/>
              </a:lnSpc>
              <a:spcBef>
                <a:spcPts val="0"/>
              </a:spcBef>
              <a:spcAft>
                <a:spcPts val="0"/>
              </a:spcAft>
            </a:pPr>
            <a:r>
              <a:rPr sz="1350" b="0" u="none">
                <a:solidFill>
                  <a:srgbClr val="004EA2"/>
                </a:solidFill>
                <a:latin typeface="Noto Sans KR"/>
                <a:hlinkClick r:id="rId4"/>
              </a:rPr>
              <a:t>행사·공연 정보 &lt; 축제·관광 &lt; 미래한강본부,</a:t>
            </a:r>
          </a:p>
          <a:p>
            <a:pPr eaLnBrk="0">
              <a:lnSpc>
                <a:spcPts val="1687"/>
              </a:lnSpc>
              <a:spcBef>
                <a:spcPts val="0"/>
              </a:spcBef>
              <a:spcAft>
                <a:spcPts val="0"/>
              </a:spcAft>
            </a:pPr>
            <a:r>
              <a:rPr sz="1350" b="0" u="none">
                <a:solidFill>
                  <a:srgbClr val="004EA2"/>
                </a:solidFill>
                <a:latin typeface="Noto Sans KR"/>
                <a:hlinkClick r:id="rId4"/>
              </a:rPr>
              <a:t>한강공원 hangang.seoul.go.kr</a:t>
            </a:r>
          </a:p>
        </p:txBody>
      </p:sp>
      <p:sp>
        <p:nvSpPr>
          <p:cNvPr id="23" name="reference-18"/>
          <p:cNvSpPr txBox="1"/>
          <p:nvPr/>
        </p:nvSpPr>
        <p:spPr>
          <a:xfrm>
            <a:off x="9963150" y="6000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개막 20일차 250만명 넘은</a:t>
            </a:r>
          </a:p>
          <a:p>
            <a:pPr eaLnBrk="0">
              <a:lnSpc>
                <a:spcPts val="1687"/>
              </a:lnSpc>
              <a:spcBef>
                <a:spcPts val="0"/>
              </a:spcBef>
              <a:spcAft>
                <a:spcPts val="0"/>
              </a:spcAft>
            </a:pPr>
            <a:r>
              <a:rPr sz="1350" b="0" u="none">
                <a:solidFill>
                  <a:srgbClr val="004EA2"/>
                </a:solidFill>
                <a:latin typeface="Noto Sans KR"/>
                <a:hlinkClick r:id="rId5"/>
              </a:rPr>
              <a:t>서울국제정원박람회 성수 상권 매출 30% 급증 &gt;</a:t>
            </a:r>
          </a:p>
          <a:p>
            <a:pPr eaLnBrk="0">
              <a:lnSpc>
                <a:spcPts val="1687"/>
              </a:lnSpc>
              <a:spcBef>
                <a:spcPts val="0"/>
              </a:spcBef>
              <a:spcAft>
                <a:spcPts val="0"/>
              </a:spcAft>
            </a:pPr>
            <a:r>
              <a:rPr sz="1350" b="0" u="none">
                <a:solidFill>
                  <a:srgbClr val="004EA2"/>
                </a:solidFill>
                <a:latin typeface="Noto Sans KR"/>
                <a:hlinkClick r:id="rId5"/>
              </a:rPr>
              <a:t>보도자료 | 서울특별시 www.seoul.go.kr</a:t>
            </a:r>
          </a:p>
        </p:txBody>
      </p:sp>
      <p:sp>
        <p:nvSpPr>
          <p:cNvPr id="24" name="reference-19"/>
          <p:cNvSpPr txBox="1"/>
          <p:nvPr/>
        </p:nvSpPr>
        <p:spPr>
          <a:xfrm>
            <a:off x="9963150" y="6815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서울숲-성수 커넥트 투어 | 2026</a:t>
            </a:r>
          </a:p>
          <a:p>
            <a:pPr eaLnBrk="0">
              <a:lnSpc>
                <a:spcPts val="1687"/>
              </a:lnSpc>
              <a:spcBef>
                <a:spcPts val="0"/>
              </a:spcBef>
              <a:spcAft>
                <a:spcPts val="0"/>
              </a:spcAft>
            </a:pPr>
            <a:r>
              <a:rPr sz="1350" b="0" u="none">
                <a:solidFill>
                  <a:srgbClr val="004EA2"/>
                </a:solidFill>
                <a:latin typeface="Noto Sans KR"/>
                <a:hlinkClick r:id="rId6"/>
              </a:rPr>
              <a:t>서울국제정원박람회 gov.seoul.go.kr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D54 2026 서울축제지도 - 가을편 &lt;</a:t>
            </a:r>
          </a:p>
          <a:p>
            <a:pPr eaLnBrk="0">
              <a:lnSpc>
                <a:spcPts val="1687"/>
              </a:lnSpc>
              <a:spcBef>
                <a:spcPts val="0"/>
              </a:spcBef>
              <a:spcAft>
                <a:spcPts val="0"/>
              </a:spcAft>
            </a:pPr>
            <a:r>
              <a:rPr sz="1350" b="0" u="none">
                <a:solidFill>
                  <a:srgbClr val="004EA2"/>
                </a:solidFill>
                <a:latin typeface="Noto Sans KR"/>
                <a:hlinkClick r:id="rId2"/>
              </a:rPr>
              <a:t>공지사항(상세) &lt; 새소식 |</a:t>
            </a:r>
          </a:p>
          <a:p>
            <a:pPr eaLnBrk="0">
              <a:lnSpc>
                <a:spcPts val="1687"/>
              </a:lnSpc>
              <a:spcBef>
                <a:spcPts val="0"/>
              </a:spcBef>
              <a:spcAft>
                <a:spcPts val="0"/>
              </a:spcAft>
            </a:pPr>
            <a:r>
              <a:rPr sz="1350" b="0" u="none">
                <a:solidFill>
                  <a:srgbClr val="004EA2"/>
                </a:solidFill>
                <a:latin typeface="Noto Sans KR"/>
                <a:hlinkClick r:id="rId2"/>
              </a:rPr>
              <a:t>서울문화포털 culture.seoul.go.kr</a:t>
            </a:r>
          </a:p>
        </p:txBody>
      </p:sp>
      <p:sp>
        <p:nvSpPr>
          <p:cNvPr id="6" name="reference-1"/>
          <p:cNvSpPr txBox="1"/>
          <p:nvPr/>
        </p:nvSpPr>
        <p:spPr>
          <a:xfrm>
            <a:off x="1009650" y="3386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D55 오시는 길 | 2026</a:t>
            </a:r>
          </a:p>
          <a:p>
            <a:pPr eaLnBrk="0">
              <a:lnSpc>
                <a:spcPts val="1687"/>
              </a:lnSpc>
              <a:spcBef>
                <a:spcPts val="0"/>
              </a:spcBef>
              <a:spcAft>
                <a:spcPts val="0"/>
              </a:spcAft>
            </a:pPr>
            <a:r>
              <a:rPr sz="1350" b="0" u="none">
                <a:solidFill>
                  <a:srgbClr val="004EA2"/>
                </a:solidFill>
                <a:latin typeface="Noto Sans KR"/>
                <a:hlinkClick r:id="rId3"/>
              </a:rPr>
              <a:t>서울국제정원박람회 www.seoul.go.kr</a:t>
            </a:r>
          </a:p>
        </p:txBody>
      </p:sp>
      <p:sp>
        <p:nvSpPr>
          <p:cNvPr id="7" name="reference-2"/>
          <p:cNvSpPr txBox="1"/>
          <p:nvPr/>
        </p:nvSpPr>
        <p:spPr>
          <a:xfrm>
            <a:off x="1009650" y="3986212"/>
            <a:ext cx="4248150" cy="57150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u="none">
                <a:solidFill>
                  <a:srgbClr val="004EA2"/>
                </a:solidFill>
                <a:latin typeface="Noto Sans KR"/>
                <a:hlinkClick r:id="rId4"/>
              </a:rPr>
              <a:t>공식 사례·문서 D56 (석간) 제11차 도시건축공동위원회</a:t>
            </a:r>
          </a:p>
          <a:p>
            <a:pPr eaLnBrk="0">
              <a:lnSpc>
                <a:spcPts val="1593"/>
              </a:lnSpc>
              <a:spcBef>
                <a:spcPts val="0"/>
              </a:spcBef>
              <a:spcAft>
                <a:spcPts val="0"/>
              </a:spcAft>
            </a:pPr>
            <a:r>
              <a:rPr sz="1275" b="0" u="none">
                <a:solidFill>
                  <a:srgbClr val="004EA2"/>
                </a:solidFill>
                <a:latin typeface="Noto Sans KR"/>
                <a:hlinkClick r:id="rId4"/>
              </a:rPr>
              <a:t>개최결과 &gt; 보도자료 | 서울특별시 www.seoul.go.kr</a:t>
            </a:r>
          </a:p>
        </p:txBody>
      </p:sp>
      <p:sp>
        <p:nvSpPr>
          <p:cNvPr id="8" name="reference-3"/>
          <p:cNvSpPr txBox="1"/>
          <p:nvPr/>
        </p:nvSpPr>
        <p:spPr>
          <a:xfrm>
            <a:off x="1009650" y="458628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D57 2026 서울국제정원박람회 &lt;</a:t>
            </a:r>
          </a:p>
          <a:p>
            <a:pPr eaLnBrk="0">
              <a:lnSpc>
                <a:spcPts val="1687"/>
              </a:lnSpc>
              <a:spcBef>
                <a:spcPts val="0"/>
              </a:spcBef>
              <a:spcAft>
                <a:spcPts val="0"/>
              </a:spcAft>
            </a:pPr>
            <a:r>
              <a:rPr sz="1350" b="0" u="none">
                <a:solidFill>
                  <a:srgbClr val="004EA2"/>
                </a:solidFill>
                <a:latin typeface="Noto Sans KR"/>
                <a:hlinkClick r:id="rId5"/>
              </a:rPr>
              <a:t>행사·공연 정보 &lt; 축제·관광 &lt; 미래한강본부,</a:t>
            </a:r>
          </a:p>
          <a:p>
            <a:pPr eaLnBrk="0">
              <a:lnSpc>
                <a:spcPts val="1687"/>
              </a:lnSpc>
              <a:spcBef>
                <a:spcPts val="0"/>
              </a:spcBef>
              <a:spcAft>
                <a:spcPts val="0"/>
              </a:spcAft>
            </a:pPr>
            <a:r>
              <a:rPr sz="1350" b="0" u="none">
                <a:solidFill>
                  <a:srgbClr val="004EA2"/>
                </a:solidFill>
                <a:latin typeface="Noto Sans KR"/>
                <a:hlinkClick r:id="rId5"/>
              </a:rPr>
              <a:t>한강공원 hangang.seoul.go.kr</a:t>
            </a:r>
          </a:p>
        </p:txBody>
      </p:sp>
      <p:sp>
        <p:nvSpPr>
          <p:cNvPr id="9" name="reference-4"/>
          <p:cNvSpPr txBox="1"/>
          <p:nvPr/>
        </p:nvSpPr>
        <p:spPr>
          <a:xfrm>
            <a:off x="100965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D58 전주시 2026년도 관광산업과</a:t>
            </a:r>
          </a:p>
          <a:p>
            <a:pPr eaLnBrk="0">
              <a:lnSpc>
                <a:spcPts val="1687"/>
              </a:lnSpc>
              <a:spcBef>
                <a:spcPts val="0"/>
              </a:spcBef>
              <a:spcAft>
                <a:spcPts val="0"/>
              </a:spcAft>
            </a:pPr>
            <a:r>
              <a:rPr sz="1350" b="0" u="none">
                <a:solidFill>
                  <a:srgbClr val="004EA2"/>
                </a:solidFill>
                <a:latin typeface="Noto Sans KR"/>
                <a:hlinkClick r:id="rId6"/>
              </a:rPr>
              <a:t>세출예산 사업명세서 jeonju.go.kr</a:t>
            </a:r>
          </a:p>
        </p:txBody>
      </p:sp>
      <p:sp>
        <p:nvSpPr>
          <p:cNvPr id="10" name="reference-5"/>
          <p:cNvSpPr txBox="1"/>
          <p:nvPr/>
        </p:nvSpPr>
        <p:spPr>
          <a:xfrm>
            <a:off x="100965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D59 강진 반값여행 지역경제 효과</a:t>
            </a:r>
          </a:p>
          <a:p>
            <a:pPr eaLnBrk="0">
              <a:lnSpc>
                <a:spcPts val="1687"/>
              </a:lnSpc>
              <a:spcBef>
                <a:spcPts val="0"/>
              </a:spcBef>
              <a:spcAft>
                <a:spcPts val="0"/>
              </a:spcAft>
            </a:pPr>
            <a:r>
              <a:rPr sz="1350" b="0" u="none">
                <a:solidFill>
                  <a:srgbClr val="004EA2"/>
                </a:solidFill>
                <a:latin typeface="Noto Sans KR"/>
                <a:hlinkClick r:id="rId7"/>
              </a:rPr>
              <a:t>소개 jnfarm.jeonnam.go.kr</a:t>
            </a:r>
          </a:p>
        </p:txBody>
      </p:sp>
      <p:sp>
        <p:nvSpPr>
          <p:cNvPr id="11" name="reference-6"/>
          <p:cNvSpPr txBox="1"/>
          <p:nvPr/>
        </p:nvSpPr>
        <p:spPr>
          <a:xfrm>
            <a:off x="100965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8"/>
              </a:rPr>
              <a:t>공식 사례·문서 D60 2024년 6월 여행가는 달 추진</a:t>
            </a:r>
          </a:p>
          <a:p>
            <a:pPr eaLnBrk="0">
              <a:lnSpc>
                <a:spcPts val="1687"/>
              </a:lnSpc>
              <a:spcBef>
                <a:spcPts val="0"/>
              </a:spcBef>
              <a:spcAft>
                <a:spcPts val="0"/>
              </a:spcAft>
            </a:pPr>
            <a:r>
              <a:rPr sz="1350" b="0" u="none">
                <a:solidFill>
                  <a:srgbClr val="004EA2"/>
                </a:solidFill>
                <a:latin typeface="Noto Sans KR"/>
                <a:hlinkClick r:id="rId8"/>
              </a:rPr>
              <a:t>보도자료 mcst.go.kr</a:t>
            </a:r>
          </a:p>
        </p:txBody>
      </p:sp>
      <p:sp>
        <p:nvSpPr>
          <p:cNvPr id="12" name="reference-7"/>
          <p:cNvSpPr txBox="1"/>
          <p:nvPr/>
        </p:nvSpPr>
        <p:spPr>
          <a:xfrm>
            <a:off x="100965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9"/>
              </a:rPr>
              <a:t>공식 사례·문서 D61 2022 대한민국 숙박대전</a:t>
            </a:r>
          </a:p>
          <a:p>
            <a:pPr eaLnBrk="0">
              <a:lnSpc>
                <a:spcPts val="1687"/>
              </a:lnSpc>
              <a:spcBef>
                <a:spcPts val="0"/>
              </a:spcBef>
              <a:spcAft>
                <a:spcPts val="0"/>
              </a:spcAft>
            </a:pPr>
            <a:r>
              <a:rPr sz="1350" b="0" u="none">
                <a:solidFill>
                  <a:srgbClr val="004EA2"/>
                </a:solidFill>
                <a:latin typeface="Noto Sans KR"/>
                <a:hlinkClick r:id="rId9"/>
              </a:rPr>
              <a:t>경제파급효과 공개자료 kto.visitkorea.or.kr</a:t>
            </a:r>
          </a:p>
        </p:txBody>
      </p:sp>
      <p:sp>
        <p:nvSpPr>
          <p:cNvPr id="13" name="reference-8"/>
          <p:cNvSpPr txBox="1"/>
          <p:nvPr/>
        </p:nvSpPr>
        <p:spPr>
          <a:xfrm>
            <a:off x="548640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공식 사례·문서 D62 2025 대한민국 밤밤페스타 개최</a:t>
            </a:r>
          </a:p>
          <a:p>
            <a:pPr eaLnBrk="0">
              <a:lnSpc>
                <a:spcPts val="1687"/>
              </a:lnSpc>
              <a:spcBef>
                <a:spcPts val="0"/>
              </a:spcBef>
              <a:spcAft>
                <a:spcPts val="0"/>
              </a:spcAft>
            </a:pPr>
            <a:r>
              <a:rPr sz="1350" b="0" u="none">
                <a:solidFill>
                  <a:srgbClr val="004EA2"/>
                </a:solidFill>
                <a:latin typeface="Noto Sans KR"/>
                <a:hlinkClick r:id="rId10"/>
              </a:rPr>
              <a:t>도시 및 일정 korean.visitkorea.or.kr</a:t>
            </a:r>
          </a:p>
        </p:txBody>
      </p:sp>
      <p:sp>
        <p:nvSpPr>
          <p:cNvPr id="14" name="reference-9"/>
          <p:cNvSpPr txBox="1"/>
          <p:nvPr/>
        </p:nvSpPr>
        <p:spPr>
          <a:xfrm>
            <a:off x="548640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공식 사례·문서 D63 2024년도 정부업무평가 관광분야</a:t>
            </a:r>
          </a:p>
          <a:p>
            <a:pPr eaLnBrk="0">
              <a:lnSpc>
                <a:spcPts val="1687"/>
              </a:lnSpc>
              <a:spcBef>
                <a:spcPts val="0"/>
              </a:spcBef>
              <a:spcAft>
                <a:spcPts val="0"/>
              </a:spcAft>
            </a:pPr>
            <a:r>
              <a:rPr sz="1350" b="0" u="none">
                <a:solidFill>
                  <a:srgbClr val="004EA2"/>
                </a:solidFill>
                <a:latin typeface="Noto Sans KR"/>
                <a:hlinkClick r:id="rId11"/>
              </a:rPr>
              <a:t>성과자료 www.evaluation.go.kr</a:t>
            </a:r>
          </a:p>
        </p:txBody>
      </p:sp>
      <p:sp>
        <p:nvSpPr>
          <p:cNvPr id="15" name="reference-10"/>
          <p:cNvSpPr txBox="1"/>
          <p:nvPr/>
        </p:nvSpPr>
        <p:spPr>
          <a:xfrm>
            <a:off x="548640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D30 가조쿠</a:t>
            </a:r>
          </a:p>
        </p:txBody>
      </p:sp>
      <p:sp>
        <p:nvSpPr>
          <p:cNvPr id="16" name="reference-11"/>
          <p:cNvSpPr txBox="1"/>
          <p:nvPr/>
        </p:nvSpPr>
        <p:spPr>
          <a:xfrm>
            <a:off x="5486400" y="42291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D31 계월</a:t>
            </a:r>
          </a:p>
        </p:txBody>
      </p:sp>
      <p:sp>
        <p:nvSpPr>
          <p:cNvPr id="17" name="reference-12"/>
          <p:cNvSpPr txBox="1"/>
          <p:nvPr/>
        </p:nvSpPr>
        <p:spPr>
          <a:xfrm>
            <a:off x="5486400" y="46863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D32 계자람</a:t>
            </a:r>
          </a:p>
        </p:txBody>
      </p:sp>
      <p:sp>
        <p:nvSpPr>
          <p:cNvPr id="18" name="reference-13"/>
          <p:cNvSpPr txBox="1"/>
          <p:nvPr/>
        </p:nvSpPr>
        <p:spPr>
          <a:xfrm>
            <a:off x="5486400" y="51435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D33 구욱희씨</a:t>
            </a:r>
          </a:p>
        </p:txBody>
      </p:sp>
      <p:sp>
        <p:nvSpPr>
          <p:cNvPr id="19" name="reference-14"/>
          <p:cNvSpPr txBox="1"/>
          <p:nvPr/>
        </p:nvSpPr>
        <p:spPr>
          <a:xfrm>
            <a:off x="5486400" y="56007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D34 구펠</a:t>
            </a:r>
          </a:p>
        </p:txBody>
      </p:sp>
      <p:sp>
        <p:nvSpPr>
          <p:cNvPr id="20" name="reference-15"/>
          <p:cNvSpPr txBox="1"/>
          <p:nvPr/>
        </p:nvSpPr>
        <p:spPr>
          <a:xfrm>
            <a:off x="5486400" y="6057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D35 그라데이션커피</a:t>
            </a:r>
          </a:p>
        </p:txBody>
      </p:sp>
      <p:sp>
        <p:nvSpPr>
          <p:cNvPr id="21" name="reference-16"/>
          <p:cNvSpPr txBox="1"/>
          <p:nvPr/>
        </p:nvSpPr>
        <p:spPr>
          <a:xfrm>
            <a:off x="5486400" y="65151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D36 그린랩</a:t>
            </a:r>
          </a:p>
        </p:txBody>
      </p:sp>
      <p:sp>
        <p:nvSpPr>
          <p:cNvPr id="22" name="reference-17"/>
          <p:cNvSpPr txBox="1"/>
          <p:nvPr/>
        </p:nvSpPr>
        <p:spPr>
          <a:xfrm>
            <a:off x="5486400" y="69723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D37 금남시장</a:t>
            </a:r>
          </a:p>
        </p:txBody>
      </p:sp>
      <p:sp>
        <p:nvSpPr>
          <p:cNvPr id="23" name="reference-18"/>
          <p:cNvSpPr txBox="1"/>
          <p:nvPr/>
        </p:nvSpPr>
        <p:spPr>
          <a:xfrm>
            <a:off x="5486400" y="74295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D38 기후</a:t>
            </a:r>
          </a:p>
        </p:txBody>
      </p:sp>
      <p:sp>
        <p:nvSpPr>
          <p:cNvPr id="24" name="reference-19"/>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D39 꾸아 성수점</a:t>
            </a:r>
          </a:p>
        </p:txBody>
      </p:sp>
      <p:sp>
        <p:nvSpPr>
          <p:cNvPr id="25" name="reference-20"/>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D40 난포</a:t>
            </a:r>
          </a:p>
        </p:txBody>
      </p:sp>
      <p:sp>
        <p:nvSpPr>
          <p:cNvPr id="26" name="reference-21"/>
          <p:cNvSpPr txBox="1"/>
          <p:nvPr/>
        </p:nvSpPr>
        <p:spPr>
          <a:xfrm>
            <a:off x="996315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D41 누메로도스</a:t>
            </a:r>
          </a:p>
        </p:txBody>
      </p:sp>
      <p:sp>
        <p:nvSpPr>
          <p:cNvPr id="27" name="reference-22"/>
          <p:cNvSpPr txBox="1"/>
          <p:nvPr/>
        </p:nvSpPr>
        <p:spPr>
          <a:xfrm>
            <a:off x="996315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D42 누메로뜨레쓰</a:t>
            </a:r>
          </a:p>
        </p:txBody>
      </p:sp>
      <p:sp>
        <p:nvSpPr>
          <p:cNvPr id="28" name="reference-23"/>
          <p:cNvSpPr txBox="1"/>
          <p:nvPr/>
        </p:nvSpPr>
        <p:spPr>
          <a:xfrm>
            <a:off x="996315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D43 니드스윗</a:t>
            </a:r>
          </a:p>
        </p:txBody>
      </p:sp>
      <p:sp>
        <p:nvSpPr>
          <p:cNvPr id="29" name="reference-24"/>
          <p:cNvSpPr txBox="1"/>
          <p:nvPr/>
        </p:nvSpPr>
        <p:spPr>
          <a:xfrm>
            <a:off x="996315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D44 단일서울</a:t>
            </a:r>
          </a:p>
        </p:txBody>
      </p:sp>
      <p:sp>
        <p:nvSpPr>
          <p:cNvPr id="30" name="reference-25"/>
          <p:cNvSpPr txBox="1"/>
          <p:nvPr/>
        </p:nvSpPr>
        <p:spPr>
          <a:xfrm>
            <a:off x="996315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D45 대돈집</a:t>
            </a:r>
          </a:p>
        </p:txBody>
      </p:sp>
      <p:sp>
        <p:nvSpPr>
          <p:cNvPr id="31" name="reference-26"/>
          <p:cNvSpPr txBox="1"/>
          <p:nvPr/>
        </p:nvSpPr>
        <p:spPr>
          <a:xfrm>
            <a:off x="996315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D46 대흥정육식당</a:t>
            </a:r>
          </a:p>
        </p:txBody>
      </p:sp>
      <p:sp>
        <p:nvSpPr>
          <p:cNvPr id="32" name="reference-27"/>
          <p:cNvSpPr txBox="1"/>
          <p:nvPr/>
        </p:nvSpPr>
        <p:spPr>
          <a:xfrm>
            <a:off x="996315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D47 더서울라이티움</a:t>
            </a:r>
          </a:p>
        </p:txBody>
      </p:sp>
      <p:sp>
        <p:nvSpPr>
          <p:cNvPr id="33" name="reference-28"/>
          <p:cNvSpPr txBox="1"/>
          <p:nvPr/>
        </p:nvSpPr>
        <p:spPr>
          <a:xfrm>
            <a:off x="996315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D48 더페이지갤러리</a:t>
            </a:r>
          </a:p>
        </p:txBody>
      </p:sp>
      <p:sp>
        <p:nvSpPr>
          <p:cNvPr id="34" name="reference-29"/>
          <p:cNvSpPr txBox="1"/>
          <p:nvPr/>
        </p:nvSpPr>
        <p:spPr>
          <a:xfrm>
            <a:off x="996315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2"/>
              </a:rPr>
              <a:t>관광자원·사진 D49 땅코참숯구이 본점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전라남도 강진군 · 반값여행 지역환급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여행자가 지역에서 지출한 비용의 일부를 지역상품권으로</a:t>
                      </a:r>
                    </a:p>
                    <a:p>
                      <a:pPr eaLnBrk="0">
                        <a:lnSpc>
                          <a:spcPct val="112000"/>
                        </a:lnSpc>
                        <a:spcBef>
                          <a:spcPts val="0"/>
                        </a:spcBef>
                        <a:spcAft>
                          <a:spcPts val="0"/>
                        </a:spcAft>
                      </a:pPr>
                      <a:r>
                        <a:rPr sz="1575" b="0">
                          <a:solidFill>
                            <a:srgbClr val="1D2227"/>
                          </a:solidFill>
                          <a:latin typeface="Noto Sans KR"/>
                        </a:rPr>
                        <a:t>돌려받게 하여 혜택이 다시 지역 상점에서 사용되도록 설계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6,687,696명 / 외지인 관광소비 총액:</a:t>
                      </a:r>
                    </a:p>
                    <a:p>
                      <a:pPr eaLnBrk="0">
                        <a:lnSpc>
                          <a:spcPct val="112000"/>
                        </a:lnSpc>
                        <a:spcBef>
                          <a:spcPts val="0"/>
                        </a:spcBef>
                        <a:spcAft>
                          <a:spcPts val="0"/>
                        </a:spcAft>
                      </a:pPr>
                      <a:r>
                        <a:rPr sz="1575" b="0">
                          <a:solidFill>
                            <a:srgbClr val="1D2227"/>
                          </a:solidFill>
                          <a:latin typeface="Noto Sans KR"/>
                        </a:rPr>
                        <a:t>93,151,315,000원 / 외지인 평균 숙박일수: 3.03일</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2,635,826명 × 1%</a:t>
                      </a:r>
                    </a:p>
                    <a:p>
                      <a:pPr eaLnBrk="0">
                        <a:lnSpc>
                          <a:spcPct val="112000"/>
                        </a:lnSpc>
                        <a:spcBef>
                          <a:spcPts val="0"/>
                        </a:spcBef>
                        <a:spcAft>
                          <a:spcPts val="0"/>
                        </a:spcAft>
                      </a:pPr>
                      <a:r>
                        <a:rPr sz="1575" b="0">
                          <a:solidFill>
                            <a:srgbClr val="1D2227"/>
                          </a:solidFill>
                          <a:latin typeface="Noto Sans KR"/>
                        </a:rPr>
                        <a:t>시범 참여 26,359건(올림·계획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성동구를 방문한 외지인 관광객이 지정된 지역 내 상점에서 일정 금액 이상 소비 시, 소비액의 일부를</a:t>
            </a:r>
          </a:p>
          <a:p>
            <a:pPr eaLnBrk="0">
              <a:lnSpc>
                <a:spcPts val="1968"/>
              </a:lnSpc>
              <a:spcBef>
                <a:spcPts val="0"/>
              </a:spcBef>
              <a:spcAft>
                <a:spcPts val="0"/>
              </a:spcAft>
            </a:pPr>
            <a:r>
              <a:rPr sz="1575" b="0">
                <a:solidFill>
                  <a:srgbClr val="1D2227"/>
                </a:solidFill>
                <a:latin typeface="Noto Sans KR"/>
              </a:rPr>
              <a:t>성동구 지역상품권으로 즉시 또는 사후 환급하여 해당 상품권이 다시 성동구 내에서</a:t>
            </a:r>
          </a:p>
          <a:p>
            <a:pPr eaLnBrk="0">
              <a:lnSpc>
                <a:spcPts val="1968"/>
              </a:lnSpc>
              <a:spcBef>
                <a:spcPts val="0"/>
              </a:spcBef>
              <a:spcAft>
                <a:spcPts val="0"/>
              </a:spcAft>
            </a:pPr>
            <a:r>
              <a:rPr sz="1575" b="0">
                <a:solidFill>
                  <a:srgbClr val="1D2227"/>
                </a:solidFill>
                <a:latin typeface="Noto Sans KR"/>
              </a:rPr>
              <a:t>사용되도록 선순환 구조를 구축함.</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강진 반값여행 지역경제 효과 소개</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