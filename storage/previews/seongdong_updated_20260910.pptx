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3.xml" ContentType="application/vnd.openxmlformats-officedocument.drawingml.chart+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c9acad3462d47f4" Type="http://schemas.openxmlformats.org/package/2006/relationships/metadata/core-properties" Target="docProps/core.xml"/><Relationship Id="R45c0ced956484f6e" Type="http://schemas.openxmlformats.org/officeDocument/2006/relationships/officeDocument" Target="ppt/presentation.xml"/><Relationship Id="Ra16f1779ee944664"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def75127518841e9"/>
  </p:sldMasterIdLst>
  <p:notesMasterIdLst>
    <p:notesMasterId xmlns:r="http://schemas.openxmlformats.org/officeDocument/2006/relationships" r:id="R39a2950bce3543d9"/>
  </p:notesMasterIdLst>
  <p:sldIdLst>
    <p:sldId xmlns:r="http://schemas.openxmlformats.org/officeDocument/2006/relationships" id="256" r:id="R886a7c7854c24ea4"/>
    <p:sldId xmlns:r="http://schemas.openxmlformats.org/officeDocument/2006/relationships" id="257" r:id="Rf0fd60d93fe24e2b"/>
    <p:sldId xmlns:r="http://schemas.openxmlformats.org/officeDocument/2006/relationships" id="258" r:id="Rb96b5134fc1b4629"/>
    <p:sldId xmlns:r="http://schemas.openxmlformats.org/officeDocument/2006/relationships" id="259" r:id="R5b6702ccd7664af1"/>
    <p:sldId xmlns:r="http://schemas.openxmlformats.org/officeDocument/2006/relationships" id="261" r:id="Rbf371966fa964fc8"/>
    <p:sldId xmlns:ns0="http://schemas.openxmlformats.org/officeDocument/2006/relationships" id="272" ns0:id="rId21"/>
    <p:sldId xmlns:r="http://schemas.openxmlformats.org/officeDocument/2006/relationships" id="262" r:id="R4c9d0e3030fa4c5f"/>
    <p:sldId xmlns:r="http://schemas.openxmlformats.org/officeDocument/2006/relationships" id="263" r:id="Rbbe47957bc6641c0"/>
    <p:sldId xmlns:ns0="http://schemas.openxmlformats.org/officeDocument/2006/relationships" id="271" ns0:id="rId17"/>
    <p:sldId xmlns:r="http://schemas.openxmlformats.org/officeDocument/2006/relationships" id="264" r:id="R72f63d3229d64861"/>
    <p:sldId xmlns:r="http://schemas.openxmlformats.org/officeDocument/2006/relationships" id="266" r:id="R029df0519ade4c8b"/>
    <p:sldId xmlns:ns0="http://schemas.openxmlformats.org/officeDocument/2006/relationships" id="268" ns0:id="rId19"/>
    <p:sldId xmlns:ns0="http://schemas.openxmlformats.org/officeDocument/2006/relationships" id="269" ns0:id="rId20"/>
    <p:sldId xmlns:r="http://schemas.openxmlformats.org/officeDocument/2006/relationships" id="267" r:id="R3ccf286ad0374944"/>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xml version='1.0' encoding='UTF-8' standalone='yes'?>
<Relationships xmlns="http://schemas.openxmlformats.org/package/2006/relationships"><Relationship Id="R029df0519ade4c8b" Type="http://schemas.openxmlformats.org/officeDocument/2006/relationships/slide" Target="slides/slide11.xml"/><Relationship Id="R08a84642cb64493b" Type="http://schemas.openxmlformats.org/officeDocument/2006/relationships/tableStyles" Target="tableStyles.xml"/><Relationship Id="R0fdc956208c94083" Type="http://schemas.openxmlformats.org/officeDocument/2006/relationships/viewProps" Target="viewProps.xml"/><Relationship Id="R39a2950bce3543d9" Type="http://schemas.openxmlformats.org/officeDocument/2006/relationships/notesMaster" Target="notesMasters/notesMaster1.xml"/><Relationship Id="R3ccf286ad0374944" Type="http://schemas.openxmlformats.org/officeDocument/2006/relationships/slide" Target="slides/slide12.xml"/><Relationship Id="R4c9d0e3030fa4c5f" Type="http://schemas.openxmlformats.org/officeDocument/2006/relationships/slide" Target="slides/slide7.xml"/><Relationship Id="R5b6702ccd7664af1" Type="http://schemas.openxmlformats.org/officeDocument/2006/relationships/slide" Target="slides/slide4.xml"/><Relationship Id="R618d7671ebe14b00" Type="http://schemas.openxmlformats.org/officeDocument/2006/relationships/theme" Target="theme/theme1.xml"/><Relationship Id="R667c03bfc37b4314" Type="http://schemas.openxmlformats.org/officeDocument/2006/relationships/presProps" Target="presProps.xml"/><Relationship Id="R72f63d3229d64861" Type="http://schemas.openxmlformats.org/officeDocument/2006/relationships/slide" Target="slides/slide9.xml"/><Relationship Id="R886a7c7854c24ea4" Type="http://schemas.openxmlformats.org/officeDocument/2006/relationships/slide" Target="slides/slide1.xml"/><Relationship Id="Rb96b5134fc1b4629" Type="http://schemas.openxmlformats.org/officeDocument/2006/relationships/slide" Target="slides/slide3.xml"/><Relationship Id="Rbbe47957bc6641c0" Type="http://schemas.openxmlformats.org/officeDocument/2006/relationships/slide" Target="slides/slide8.xml"/><Relationship Id="Rbf371966fa964fc8" Type="http://schemas.openxmlformats.org/officeDocument/2006/relationships/slide" Target="slides/slide6.xml"/><Relationship Id="Rdef75127518841e9" Type="http://schemas.openxmlformats.org/officeDocument/2006/relationships/slideMaster" Target="slideMasters/slideMaster1.xml"/><Relationship Id="Rf0fd60d93fe24e2b" Type="http://schemas.openxmlformats.org/officeDocument/2006/relationships/slide" Target="slides/slide2.xml"/><Relationship Id="rId17" Type="http://schemas.openxmlformats.org/officeDocument/2006/relationships/slide" Target="slides/slide10.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ML 기준 전망</c:v>
                </c:pt>
              </c:strCache>
            </c:strRef>
          </c:tx>
          <c:spPr>
            <a:ln w="38100">
              <a:solidFill>
                <a:srgbClr val="004EA2"/>
              </a:solidFill>
            </a:ln>
          </c:spPr>
          <c:marker>
            <c:symbol val="circle"/>
            <c:size val="7"/>
            <c:spPr>
              <a:solidFill>
                <a:srgbClr val="004EA2"/>
              </a:solidFill>
            </c:spPr>
          </c:marker>
          <c:dLbls>
            <c:numFmt formatCode="0&quot;만&quot;" sourceLinked="0"/>
            <c:txPr>
              <a:bodyPr/>
              <a:lstStyle/>
              <a:p>
                <a:pPr>
                  <a:defRPr sz="1200" b="1">
                    <a:solidFill>
                      <a:srgbClr val="004EA2"/>
                    </a:solidFill>
                    <a:latin typeface="맑은 고딕"/>
                  </a:defRPr>
                </a:pPr>
              </a:p>
            </c:txPr>
            <c:dLblPos val="b"/>
            <c:showLegendKey val="0"/>
            <c:showVal val="1"/>
            <c:showCatName val="0"/>
            <c:showSerName val="0"/>
            <c:showPercent val="0"/>
            <c:showBubbleSize val="0"/>
            <c:showLeaderLines val="1"/>
          </c:dLbls>
          <c:cat>
            <c:strRef>
              <c:f>Sheet1!$A$2:$A$4</c:f>
              <c:strCache>
                <c:ptCount val="3"/>
                <c:pt idx="0">
                  <c:v>26.09</c:v>
                </c:pt>
                <c:pt idx="1">
                  <c:v>26.10</c:v>
                </c:pt>
                <c:pt idx="2">
                  <c:v>26.11</c:v>
                </c:pt>
              </c:strCache>
            </c:strRef>
          </c:cat>
          <c:val>
            <c:numRef>
              <c:f>Sheet1!$B$2:$B$4</c:f>
              <c:numCache>
                <c:formatCode>General</c:formatCode>
                <c:ptCount val="3"/>
                <c:pt idx="0">
                  <c:v>663.8883</c:v>
                </c:pt>
                <c:pt idx="1">
                  <c:v>657.0358</c:v>
                </c:pt>
                <c:pt idx="2">
                  <c:v>658.5928</c:v>
                </c:pt>
              </c:numCache>
            </c:numRef>
          </c:val>
          <c:smooth val="0"/>
        </c:ser>
        <c:ser>
          <c:idx val="1"/>
          <c:order val="1"/>
          <c:tx>
            <c:strRef>
              <c:f>Sheet1!$C$1</c:f>
              <c:strCache>
                <c:ptCount val="1"/>
                <c:pt idx="0">
                  <c:v>목표 KPI</c:v>
                </c:pt>
              </c:strCache>
            </c:strRef>
          </c:tx>
          <c:spPr>
            <a:ln w="38100">
              <a:solidFill>
                <a:srgbClr val="FF6B00"/>
              </a:solidFill>
            </a:ln>
          </c:spPr>
          <c:marker>
            <c:symbol val="circle"/>
            <c:size val="7"/>
            <c:spPr>
              <a:solidFill>
                <a:srgbClr val="FF6B00"/>
              </a:solidFill>
            </c:spPr>
          </c:marker>
          <c:dLbls>
            <c:numFmt formatCode="0&quot;만&quot;" sourceLinked="0"/>
            <c:txPr>
              <a:bodyPr/>
              <a:lstStyle/>
              <a:p>
                <a:pPr>
                  <a:defRPr sz="1200" b="1">
                    <a:solidFill>
                      <a:srgbClr val="FF6B00"/>
                    </a:solidFill>
                    <a:latin typeface="맑은 고딕"/>
                  </a:defRPr>
                </a:pPr>
              </a:p>
            </c:txPr>
            <c:dLblPos val="t"/>
            <c:showLegendKey val="0"/>
            <c:showVal val="1"/>
            <c:showCatName val="0"/>
            <c:showSerName val="0"/>
            <c:showPercent val="0"/>
            <c:showBubbleSize val="0"/>
            <c:showLeaderLines val="1"/>
          </c:dLbls>
          <c:cat>
            <c:strRef>
              <c:f>Sheet1!$A$2:$A$4</c:f>
              <c:strCache>
                <c:ptCount val="3"/>
                <c:pt idx="0">
                  <c:v>26.09</c:v>
                </c:pt>
                <c:pt idx="1">
                  <c:v>26.10</c:v>
                </c:pt>
                <c:pt idx="2">
                  <c:v>26.11</c:v>
                </c:pt>
              </c:strCache>
            </c:strRef>
          </c:cat>
          <c:val>
            <c:numRef>
              <c:f>Sheet1!$C$2:$C$4</c:f>
              <c:numCache>
                <c:formatCode>General</c:formatCode>
                <c:ptCount val="3"/>
                <c:pt idx="0">
                  <c:v>708.14752</c:v>
                </c:pt>
                <c:pt idx="1">
                  <c:v>744.64057333</c:v>
                </c:pt>
                <c:pt idx="2">
                  <c:v>790.31136</c:v>
                </c:pt>
              </c:numCache>
            </c:numRef>
          </c:val>
          <c:smooth val="0"/>
        </c:ser>
        <c:dLbls>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low"/>
        <c:spPr>
          <a:ln>
            <a:solidFill>
              <a:srgbClr val="DCE5EF"/>
            </a:solidFill>
          </a:ln>
        </c:spPr>
        <c:txPr>
          <a:bodyPr/>
          <a:lstStyle/>
          <a:p>
            <a:pPr>
              <a:defRPr sz="1300">
                <a:solidFill>
                  <a:srgbClr val="59636E"/>
                </a:solidFill>
                <a:latin typeface="맑은 고딕"/>
              </a:defRPr>
            </a:pPr>
          </a:p>
        </c:txPr>
        <c:crossAx val="2140495176"/>
        <c:crosses val="autoZero"/>
        <c:auto val="1"/>
        <c:lblAlgn val="ctr"/>
        <c:lblOffset val="100"/>
        <c:noMultiLvlLbl val="0"/>
      </c:catAx>
      <c:valAx>
        <c:axId val="2140495176"/>
        <c:scaling>
          <c:max val="850.0"/>
          <c:min val="600.0"/>
        </c:scaling>
        <c:delete val="0"/>
        <c:axPos val="l"/>
        <c:majorGridlines>
          <c:spPr>
            <a:ln>
              <a:solidFill>
                <a:srgbClr val="DCE5EF"/>
              </a:solidFill>
            </a:ln>
          </c:spPr>
        </c:majorGridlines>
        <c:numFmt formatCode="#,##0" sourceLinked="0"/>
        <c:majorTickMark val="out"/>
        <c:minorTickMark val="none"/>
        <c:tickLblPos val="nextTo"/>
        <c:spPr>
          <a:ln>
            <a:solidFill>
              <a:srgbClr val="DCE5EF"/>
            </a:solidFill>
          </a:ln>
        </c:spPr>
        <c:txPr>
          <a:bodyPr/>
          <a:lstStyle/>
          <a:p>
            <a:pPr>
              <a:defRPr sz="1300">
                <a:solidFill>
                  <a:srgbClr val="59636E"/>
                </a:solidFill>
                <a:latin typeface="맑은 고딕"/>
              </a:defRPr>
            </a:pPr>
          </a:p>
        </c:txPr>
        <c:crossAx val="2118791784"/>
        <c:crosses val="autoZero"/>
        <c:majorUnit val="50.0"/>
      </c:valAx>
    </c:plotArea>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ML 기준 전망</c:v>
                </c:pt>
              </c:strCache>
            </c:strRef>
          </c:tx>
          <c:spPr>
            <a:ln w="38100">
              <a:solidFill>
                <a:srgbClr val="004EA2"/>
              </a:solidFill>
            </a:ln>
          </c:spPr>
          <c:marker>
            <c:symbol val="circle"/>
            <c:size val="7"/>
            <c:spPr>
              <a:solidFill>
                <a:srgbClr val="004EA2"/>
              </a:solidFill>
            </c:spPr>
          </c:marker>
          <c:dLbls>
            <c:numFmt formatCode="0&quot;억&quot;" sourceLinked="0"/>
            <c:txPr>
              <a:bodyPr/>
              <a:lstStyle/>
              <a:p>
                <a:pPr>
                  <a:defRPr sz="1200" b="1">
                    <a:solidFill>
                      <a:srgbClr val="004EA2"/>
                    </a:solidFill>
                    <a:latin typeface="맑은 고딕"/>
                  </a:defRPr>
                </a:pPr>
              </a:p>
            </c:txPr>
            <c:dLblPos val="b"/>
            <c:showLegendKey val="0"/>
            <c:showVal val="1"/>
            <c:showCatName val="0"/>
            <c:showSerName val="0"/>
            <c:showPercent val="0"/>
            <c:showBubbleSize val="0"/>
            <c:showLeaderLines val="1"/>
          </c:dLbls>
          <c:cat>
            <c:strRef>
              <c:f>Sheet1!$A$2:$A$4</c:f>
              <c:strCache>
                <c:ptCount val="3"/>
                <c:pt idx="0">
                  <c:v>26.09</c:v>
                </c:pt>
                <c:pt idx="1">
                  <c:v>26.10</c:v>
                </c:pt>
                <c:pt idx="2">
                  <c:v>26.11</c:v>
                </c:pt>
              </c:strCache>
            </c:strRef>
          </c:cat>
          <c:val>
            <c:numRef>
              <c:f>Sheet1!$B$2:$B$4</c:f>
              <c:numCache>
                <c:formatCode>General</c:formatCode>
                <c:ptCount val="3"/>
                <c:pt idx="0">
                  <c:v>1029.05513747</c:v>
                </c:pt>
                <c:pt idx="1">
                  <c:v>1034.04579597</c:v>
                </c:pt>
                <c:pt idx="2">
                  <c:v>1071.17698458</c:v>
                </c:pt>
              </c:numCache>
            </c:numRef>
          </c:val>
          <c:smooth val="0"/>
        </c:ser>
        <c:ser>
          <c:idx val="1"/>
          <c:order val="1"/>
          <c:tx>
            <c:strRef>
              <c:f>Sheet1!$C$1</c:f>
              <c:strCache>
                <c:ptCount val="1"/>
                <c:pt idx="0">
                  <c:v>목표 KPI</c:v>
                </c:pt>
              </c:strCache>
            </c:strRef>
          </c:tx>
          <c:spPr>
            <a:ln w="38100">
              <a:solidFill>
                <a:srgbClr val="FF6B00"/>
              </a:solidFill>
            </a:ln>
          </c:spPr>
          <c:marker>
            <c:symbol val="circle"/>
            <c:size val="7"/>
            <c:spPr>
              <a:solidFill>
                <a:srgbClr val="FF6B00"/>
              </a:solidFill>
            </c:spPr>
          </c:marker>
          <c:dLbls>
            <c:numFmt formatCode="0&quot;억&quot;" sourceLinked="0"/>
            <c:txPr>
              <a:bodyPr/>
              <a:lstStyle/>
              <a:p>
                <a:pPr>
                  <a:defRPr sz="1200" b="1">
                    <a:solidFill>
                      <a:srgbClr val="FF6B00"/>
                    </a:solidFill>
                    <a:latin typeface="맑은 고딕"/>
                  </a:defRPr>
                </a:pPr>
              </a:p>
            </c:txPr>
            <c:dLblPos val="t"/>
            <c:showLegendKey val="0"/>
            <c:showVal val="1"/>
            <c:showCatName val="0"/>
            <c:showSerName val="0"/>
            <c:showPercent val="0"/>
            <c:showBubbleSize val="0"/>
            <c:showLeaderLines val="1"/>
          </c:dLbls>
          <c:cat>
            <c:strRef>
              <c:f>Sheet1!$A$2:$A$4</c:f>
              <c:strCache>
                <c:ptCount val="3"/>
                <c:pt idx="0">
                  <c:v>26.09</c:v>
                </c:pt>
                <c:pt idx="1">
                  <c:v>26.10</c:v>
                </c:pt>
                <c:pt idx="2">
                  <c:v>26.11</c:v>
                </c:pt>
              </c:strCache>
            </c:strRef>
          </c:cat>
          <c:val>
            <c:numRef>
              <c:f>Sheet1!$C$2:$C$4</c:f>
              <c:numCache>
                <c:formatCode>General</c:formatCode>
                <c:ptCount val="3"/>
                <c:pt idx="0">
                  <c:v>1097.6588133</c:v>
                </c:pt>
                <c:pt idx="1">
                  <c:v>1171.91856877</c:v>
                </c:pt>
                <c:pt idx="2">
                  <c:v>1285.4123815</c:v>
                </c:pt>
              </c:numCache>
            </c:numRef>
          </c:val>
          <c:smooth val="0"/>
        </c:ser>
        <c:dLbls>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low"/>
        <c:spPr>
          <a:ln>
            <a:solidFill>
              <a:srgbClr val="DCE5EF"/>
            </a:solidFill>
          </a:ln>
        </c:spPr>
        <c:txPr>
          <a:bodyPr/>
          <a:lstStyle/>
          <a:p>
            <a:pPr>
              <a:defRPr sz="1300">
                <a:solidFill>
                  <a:srgbClr val="59636E"/>
                </a:solidFill>
                <a:latin typeface="맑은 고딕"/>
              </a:defRPr>
            </a:pPr>
          </a:p>
        </c:txPr>
        <c:crossAx val="2140495176"/>
        <c:crosses val="autoZero"/>
        <c:auto val="1"/>
        <c:lblAlgn val="ctr"/>
        <c:lblOffset val="100"/>
        <c:noMultiLvlLbl val="0"/>
      </c:catAx>
      <c:valAx>
        <c:axId val="2140495176"/>
        <c:scaling>
          <c:max val="1400.0"/>
          <c:min val="900.0"/>
        </c:scaling>
        <c:delete val="0"/>
        <c:axPos val="l"/>
        <c:majorGridlines>
          <c:spPr>
            <a:ln>
              <a:solidFill>
                <a:srgbClr val="DCE5EF"/>
              </a:solidFill>
            </a:ln>
          </c:spPr>
        </c:majorGridlines>
        <c:numFmt formatCode="#,##0" sourceLinked="0"/>
        <c:majorTickMark val="out"/>
        <c:minorTickMark val="none"/>
        <c:tickLblPos val="nextTo"/>
        <c:spPr>
          <a:ln>
            <a:solidFill>
              <a:srgbClr val="DCE5EF"/>
            </a:solidFill>
          </a:ln>
        </c:spPr>
        <c:txPr>
          <a:bodyPr/>
          <a:lstStyle/>
          <a:p>
            <a:pPr>
              <a:defRPr sz="1300">
                <a:solidFill>
                  <a:srgbClr val="59636E"/>
                </a:solidFill>
                <a:latin typeface="맑은 고딕"/>
              </a:defRPr>
            </a:pPr>
          </a:p>
        </c:txPr>
        <c:crossAx val="2118791784"/>
        <c:crosses val="autoZero"/>
        <c:majorUnit val="100.0"/>
      </c:valAx>
    </c:plotArea>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c221e18921444c36"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24ae6f84cfdd4244" Type="http://schemas.openxmlformats.org/officeDocument/2006/relationships/notesMaster" Target="../notesMasters/notesMaster1.xml"/><Relationship Id="R88f0191c0919446c"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441d388ffb344ce3" Type="http://schemas.openxmlformats.org/officeDocument/2006/relationships/slide" Target="../slides/slide2.xml"/><Relationship Id="Ra78cbacf853a4d2c"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3ac37f364ddb4b5a" Type="http://schemas.openxmlformats.org/officeDocument/2006/relationships/notesMaster" Target="../notesMasters/notesMaster1.xml"/><Relationship Id="R533025fa502d4be3"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4df52324b55d4359" Type="http://schemas.openxmlformats.org/officeDocument/2006/relationships/slide" Target="../slides/slide4.xml"/><Relationship Id="Rc24a4727af3340de"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0f673709257246ec" Type="http://schemas.openxmlformats.org/officeDocument/2006/relationships/slide" Target="../slides/slide6.xml"/><Relationship Id="R8a8db54fee034818"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24a20545e0fc4e86" Type="http://schemas.openxmlformats.org/officeDocument/2006/relationships/slide" Target="../slides/slide7.xml"/><Relationship Id="Rfa2c23df5fe342e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990bca06bbea4ea5" Type="http://schemas.openxmlformats.org/officeDocument/2006/relationships/slide" Target="../slides/slide12.xml"/><Relationship Id="Rd1e7cf7dd1634167"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관측값·저장 예측·계획 목표는 별개입니다. 문서용 참고 견적이며 원 보고서의 검수 결과를 변경하지 않습니다.</a:t>
            </a:r>
          </a:p>
          <a:p xmlns:a="http://schemas.openxmlformats.org/drawingml/2006/main">
            <a:r>
              <a:t>[Sources]</a:t>
            </a:r>
          </a:p>
          <a:p xmlns:a="http://schemas.openxmlformats.org/drawingml/2006/main">
            <a:r>
              <a:t>dataset:11200:1 | 한국관광 데이터랩 · 서울특별시 성동구 순 방문자 수 및 숙박 비율 (이동통신 기반 외지인) | https://datalab.visitkorea.or.kr/</a:t>
            </a:r>
          </a:p>
          <a:p xmlns:a="http://schemas.openxmlformats.org/drawingml/2006/main">
            <a:r>
              <a:t>dataset:11200:2 | 한국관광 데이터랩 · 서울특별시 성동구 월간 순 방문자 수 (이동통신 기반 외지인) | https://datalab.visitkorea.or.kr/</a:t>
            </a:r>
          </a:p>
          <a:p xmlns:a="http://schemas.openxmlformats.org/drawingml/2006/main">
            <a:r>
              <a:t>dataset:11200:3 | 한국관광 데이터랩 · 서울특별시 성동구 관광소비 추이_외지인 | https://datalab.visitkorea.or.kr/</a:t>
            </a:r>
          </a:p>
          <a:p xmlns:a="http://schemas.openxmlformats.org/drawingml/2006/main">
            <a:r>
              <a:t>dataset:11200:4 | 한국관광 데이터랩 · 서울특별시 성동구 숙박방문자 비율 추이 (이동통신 기반 외지인) | https://datalab.visitkorea.or.kr/</a:t>
            </a:r>
          </a:p>
          <a:p xmlns:a="http://schemas.openxmlformats.org/drawingml/2006/main">
            <a:r>
              <a:t>dataset:11200:5 | 한국관광 데이터랩 · 서울특별시 성동구 평균 숙박일 (이동통신 기반 외지인) | https://datalab.visitkorea.or.kr/</a:t>
            </a:r>
          </a:p>
          <a:p xmlns:a="http://schemas.openxmlformats.org/drawingml/2006/main">
            <a:r>
              <a:t>dataset:11200:6 | 한국관광 데이터랩 · 서울특별시 성동구 내비게이션 목적지 유형별 검색량 | https://datalab.visitkorea.or.kr/</a:t>
            </a:r>
          </a:p>
          <a:p xmlns:a="http://schemas.openxmlformats.org/drawingml/2006/main">
            <a:r>
              <a:t>dataset:11200:7 | 한국관광 데이터랩 · 서울특별시 성동구 SNS 언급량 | https://datalab.visitkorea.or.kr/</a:t>
            </a:r>
          </a:p>
          <a:p xmlns:a="http://schemas.openxmlformats.org/drawingml/2006/main">
            <a:r>
              <a:t>datalab:0ea2e7ff8811:517c835e3039 | 한국관광 데이터랩 공식 다운로드 · 서울특별시_성동구/숙박_체류시간/2025_01_12.zip | https://datalab.visitkorea.or.kr/</a:t>
            </a:r>
          </a:p>
          <a:p xmlns:a="http://schemas.openxmlformats.org/drawingml/2006/main">
            <a:r>
              <a:t>datalab:3a79405535b3:68f41f6aa9c6 | 한국관광 데이터랩 공식 다운로드 · 서울특별시_성동구/관광소비/2025_01_12.zip | https://datalab.visitkorea.or.kr/</a:t>
            </a:r>
          </a:p>
          <a:p xmlns:a="http://schemas.openxmlformats.org/drawingml/2006/main">
            <a:r>
              <a:t>datalab:6217474023e5:2e717447925f | 한국관광 데이터랩 공식 다운로드 · 서울특별시_성동구/숙박_체류시간/2026_01_06.zip | https://datalab.visitkorea.or.kr/</a:t>
            </a:r>
          </a:p>
          <a:p xmlns:a="http://schemas.openxmlformats.org/drawingml/2006/main">
            <a:r>
              <a:t>datalab:62312101c8d0:9c44bd532366 | 한국관광 데이터랩 공식 다운로드 · 서울특별시_성동구/방문자/2025_01_12.zip | https://datalab.visitkorea.or.kr/</a:t>
            </a:r>
          </a:p>
          <a:p xmlns:a="http://schemas.openxmlformats.org/drawingml/2006/main">
            <a:r>
              <a:t>datalab:7ddda0420208:c68bf7b028b0 | 한국관광 데이터랩 공식 다운로드 · 서울특별시_성동구/관광소비/2026_01_06.zip | https://datalab.visitkorea.or.kr/</a:t>
            </a:r>
          </a:p>
          <a:p xmlns:a="http://schemas.openxmlformats.org/drawingml/2006/main">
            <a:r>
              <a:t>datalab:9369271c7419:76a9b6ea89d8 | 한국관광 데이터랩 공식 다운로드 · 서울특별시_성동구/방문자/2026_01_06.zip | https://datalab.visitkorea.or.kr/</a:t>
            </a:r>
          </a:p>
          <a:p xmlns:a="http://schemas.openxmlformats.org/drawingml/2006/main">
            <a:r>
              <a:t>team-bigdata:23ea68053684:6bfbcf8aabf6 | 한국관광 데이터랩 전국 빅데이터 다운로드 · 이동통신/내국인/지역별 방문자수/20260820140607__202601-202606_데이터랩_다운로드.zip | https://datalab.visitkorea.or.kr/</a:t>
            </a:r>
          </a:p>
          <a:p xmlns:a="http://schemas.openxmlformats.org/drawingml/2006/main">
            <a:r>
              <a:t>team-bigdata:98d4ae590d9a:3be52dd54323 | 한국관광 데이터랩 전국 빅데이터 다운로드 · 이동통신/외국인/20260820141710_전국_202601-202606_데이터랩_다운로드.zip | https://datalab.visitkorea.or.kr/</a:t>
            </a:r>
          </a:p>
          <a:p xmlns:a="http://schemas.openxmlformats.org/drawingml/2006/main">
            <a:r>
              <a:t>team-bigdata:367cd0294ec4:873930d645e5 | 한국관광 데이터랩 전국 빅데이터 다운로드 · 신용카드/내국인/지역별 관광지출액/20260820140046__202601-202606_데이터랩_다운로드.zip | https://datalab.visitkorea.or.kr/</a:t>
            </a:r>
          </a:p>
          <a:p xmlns:a="http://schemas.openxmlformats.org/drawingml/2006/main">
            <a:r>
              <a:t>team-bigdata:553a0dad4bb4:5a31355dffe8 | 한국관광 데이터랩 전국 빅데이터 다운로드 · 신용카드/외국인/지역별 관광지출액/20260820140355__202601-202606_데이터랩_다운로드.zip | https://datalab.visitkorea.or.kr/</a:t>
            </a:r>
          </a:p>
          <a:p xmlns:a="http://schemas.openxmlformats.org/drawingml/2006/main">
            <a:r>
              <a:t>team-bigdata:a53dbe1c21df:77a052de41d5 | 한국관광 데이터랩 전국 빅데이터 다운로드 · 네비게이션/지역별 검색건수/20260820195507__202601-202606_데이터랩_다운로드.zip | https://datalab.visitkorea.or.kr/</a:t>
            </a:r>
          </a:p>
          <a:p xmlns:a="http://schemas.openxmlformats.org/drawingml/2006/main">
            <a:r>
              <a:t>team-bigdata:823a38d1d61c:5385261d02e5 | 한국관광 데이터랩 전국 빅데이터 다운로드 · 이동통신/내국인/지역별 방문자수/20260820140614__202501-202512_데이터랩_다운로드.zip | https://datalab.visitkorea.or.kr/</a:t>
            </a:r>
          </a:p>
          <a:p xmlns:a="http://schemas.openxmlformats.org/drawingml/2006/main">
            <a:r>
              <a:t>team-bigdata:2723bdb0d589:1666a34058ed | 한국관광 데이터랩 전국 빅데이터 다운로드 · 이동통신/외국인/20260820141649_전국_202501-202512_데이터랩_다운로드.zip | https://datalab.visitkorea.or.kr/</a:t>
            </a:r>
          </a:p>
          <a:p xmlns:a="http://schemas.openxmlformats.org/drawingml/2006/main">
            <a:r>
              <a:t>team-bigdata:83177a234971:c02cb7972e0f | 한국관광 데이터랩 전국 빅데이터 다운로드 · 신용카드/내국인/지역별 관광지출액/20260820135957__202501-202512_데이터랩_다운로드.zip | https://datalab.visitkorea.or.kr/</a:t>
            </a:r>
          </a:p>
          <a:p xmlns:a="http://schemas.openxmlformats.org/drawingml/2006/main">
            <a:r>
              <a:t>team-bigdata:58ded7732251:589c76395cbc | 한국관광 데이터랩 전국 빅데이터 다운로드 · 신용카드/외국인/지역별 관광지출액/20260820140409__202501-202512_데이터랩_다운로드.zip | https://datalab.visitkorea.or.kr/</a:t>
            </a:r>
          </a:p>
          <a:p xmlns:a="http://schemas.openxmlformats.org/drawingml/2006/main">
            <a:r>
              <a:t>team-bigdata:e28c947cb52f:bb4cb344a6ba | 한국관광 데이터랩 전국 빅데이터 다운로드 · 네비게이션/지역별 검색건수/20260820132007__202501-202512_데이터랩_다운로드.zip | https://datalab.visitkorea.or.kr/</a:t>
            </a:r>
          </a:p>
          <a:p xmlns:a="http://schemas.openxmlformats.org/drawingml/2006/main">
            <a:r>
              <a:t>team-bigdata:8815bbb11a39:1a5988f5f8ec | 한국관광 데이터랩 전국 빅데이터 다운로드 · 이동통신/내국인/지역별 방문자수/20260820140624__202401-202412_데이터랩_다운로드.zip | https://datalab.visitkorea.or.kr/</a:t>
            </a:r>
          </a:p>
          <a:p xmlns:a="http://schemas.openxmlformats.org/drawingml/2006/main">
            <a:r>
              <a:t>team-bigdata:19fd67fbb73d:afa4f0f54a2f | 한국관광 데이터랩 전국 빅데이터 다운로드 · 이동통신/외국인/20260820141639_전국_202401-202412_데이터랩_다운로드.zip | https://datalab.visitkorea.or.kr/</a:t>
            </a:r>
          </a:p>
          <a:p xmlns:a="http://schemas.openxmlformats.org/drawingml/2006/main">
            <a:r>
              <a:t>regional-status:300d117a9148:9b5e59efa799 | 한국관광 데이터랩 지역별 관광 현황 · 서울특별시 성동구 · 인기관광지 | https://datalab.visitkorea.or.kr/</a:t>
            </a:r>
          </a:p>
          <a:p xmlns:a="http://schemas.openxmlformats.org/drawingml/2006/main">
            <a:r>
              <a:t>regional-status:e1f4d12a3396:706443b7ba17 | 한국관광 데이터랩 지역별 관광 현황 · 서울특별시 성동구 · 유입유출 | https://datalab.visitkorea.or.kr/</a:t>
            </a:r>
          </a:p>
          <a:p xmlns:a="http://schemas.openxmlformats.org/drawingml/2006/main">
            <a:r>
              <a:t>regional-status:f05693fd34a7:ae929e215d91 | 한국관광 데이터랩 지역별 관광 현황 · 서울특별시 성동구 · 지역집중률 | https://datalab.visitkorea.or.kr/</a:t>
            </a:r>
          </a:p>
          <a:p xmlns:a="http://schemas.openxmlformats.org/drawingml/2006/main">
            <a:r>
              <a:t>ml:11200:regional-demand-v3.1:202606 | 지역 관광수요 ML 전망 · 공식 관측값 아님 | URL 미기록</a:t>
            </a:r>
          </a:p>
          <a:p xmlns:a="http://schemas.openxmlformats.org/drawingml/2006/main">
            <a:r>
              <a:t>tour-api:2901229 | 가조쿠 | https://apis.data.go.kr/B551011/KorService2</a:t>
            </a:r>
          </a:p>
          <a:p xmlns:a="http://schemas.openxmlformats.org/drawingml/2006/main">
            <a:r>
              <a:t>tour-api:2895161 | 계월 | https://apis.data.go.kr/B551011/KorService2</a:t>
            </a:r>
          </a:p>
          <a:p xmlns:a="http://schemas.openxmlformats.org/drawingml/2006/main">
            <a:r>
              <a:t>tour-api:2901359 | 계자람 | https://apis.data.go.kr/B551011/KorService2</a:t>
            </a:r>
          </a:p>
          <a:p xmlns:a="http://schemas.openxmlformats.org/drawingml/2006/main">
            <a:r>
              <a:t>tour-api:2895211 | 구욱희씨 | https://apis.data.go.kr/B551011/KorService2</a:t>
            </a:r>
          </a:p>
          <a:p xmlns:a="http://schemas.openxmlformats.org/drawingml/2006/main">
            <a:r>
              <a:t>tour-api:2895236 | 구펠 | https://apis.data.go.kr/B551011/KorService2</a:t>
            </a:r>
          </a:p>
          <a:p xmlns:a="http://schemas.openxmlformats.org/drawingml/2006/main">
            <a:r>
              <a:t>tour-api:2898994 | 그라데이션커피 | https://apis.data.go.kr/B551011/KorService2</a:t>
            </a:r>
          </a:p>
          <a:p xmlns:a="http://schemas.openxmlformats.org/drawingml/2006/main">
            <a:r>
              <a:t>tour-api:2894873 | 그린랩 | https://apis.data.go.kr/B551011/KorService2</a:t>
            </a:r>
          </a:p>
          <a:p xmlns:a="http://schemas.openxmlformats.org/drawingml/2006/main">
            <a:r>
              <a:t>tour-api:2743748 | 금남시장 | https://apis.data.go.kr/B551011/KorService2</a:t>
            </a:r>
          </a:p>
          <a:p xmlns:a="http://schemas.openxmlformats.org/drawingml/2006/main">
            <a:r>
              <a:t>tour-api:2901568 | 기후 | https://apis.data.go.kr/B551011/KorService2</a:t>
            </a:r>
          </a:p>
          <a:p xmlns:a="http://schemas.openxmlformats.org/drawingml/2006/main">
            <a:r>
              <a:t>tour-api:2894842 | 꾸아 성수점 | https://apis.data.go.kr/B551011/KorService2</a:t>
            </a:r>
          </a:p>
          <a:p xmlns:a="http://schemas.openxmlformats.org/drawingml/2006/main">
            <a:r>
              <a:t>tour-api:2843520 | 난포 | https://apis.data.go.kr/B551011/KorService2</a:t>
            </a:r>
          </a:p>
          <a:p xmlns:a="http://schemas.openxmlformats.org/drawingml/2006/main">
            <a:r>
              <a:t>tour-api:2894810 | 누메로도스 | https://apis.data.go.kr/B551011/KorService2</a:t>
            </a:r>
          </a:p>
          <a:p xmlns:a="http://schemas.openxmlformats.org/drawingml/2006/main">
            <a:r>
              <a:t>tour-api:2894795 | 누메로뜨레쓰 | https://apis.data.go.kr/B551011/KorService2</a:t>
            </a:r>
          </a:p>
          <a:p xmlns:a="http://schemas.openxmlformats.org/drawingml/2006/main">
            <a:r>
              <a:t>tour-api:2894763 | 니드스윗 | https://apis.data.go.kr/B551011/KorService2</a:t>
            </a:r>
          </a:p>
          <a:p xmlns:a="http://schemas.openxmlformats.org/drawingml/2006/main">
            <a:r>
              <a:t>tour-api:2894747 | 단일서울 | https://apis.data.go.kr/B551011/KorService2</a:t>
            </a:r>
          </a:p>
          <a:p xmlns:a="http://schemas.openxmlformats.org/drawingml/2006/main">
            <a:r>
              <a:t>tour-api:2894854 | 대돈집 | https://apis.data.go.kr/B551011/KorService2</a:t>
            </a:r>
          </a:p>
          <a:p xmlns:a="http://schemas.openxmlformats.org/drawingml/2006/main">
            <a:r>
              <a:t>tour-api:2899012 | 대흥정육식당 | https://apis.data.go.kr/B551011/KorService2</a:t>
            </a:r>
          </a:p>
          <a:p xmlns:a="http://schemas.openxmlformats.org/drawingml/2006/main">
            <a:r>
              <a:t>tour-api:2753089 | 더서울라이티움 | https://apis.data.go.kr/B551011/KorService2</a:t>
            </a:r>
          </a:p>
          <a:p xmlns:a="http://schemas.openxmlformats.org/drawingml/2006/main">
            <a:r>
              <a:t>tour-api:736766 | 더페이지갤러리 | https://apis.data.go.kr/B551011/KorService2</a:t>
            </a:r>
          </a:p>
          <a:p xmlns:a="http://schemas.openxmlformats.org/drawingml/2006/main">
            <a:r>
              <a:t>tour-api:2845040 | 땅코참숯구이 본점 | https://apis.data.go.kr/B551011/KorService2</a:t>
            </a:r>
          </a:p>
          <a:p xmlns:a="http://schemas.openxmlformats.org/drawingml/2006/main">
            <a:r>
              <a:t>reference:kto:2026:local-airport | 요즘, 한국관광 2호 - 지방공항 연계 지역관광 활성화 방안 | PDF 44쪽, PDF 43쪽, PDF 36쪽, PDF 40쪽, PDF 41쪽, PDF 41쪽, PDF 44쪽, PDF 43쪽, PDF 43쪽 | https://datalab.visitkorea.or.kr/site/portal/ex/bbs/View.do?bcIdx=311068&amp;cbIdx=1135&amp;pageIndex=1</a:t>
            </a:r>
          </a:p>
          <a:p xmlns:a="http://schemas.openxmlformats.org/drawingml/2006/main">
            <a:r>
              <a:t>web:11200:1 | 2026 서울국제정원박람회 &lt; 행사·공연 정보 &lt; 축제·관광 &lt; 미래한강본부, 한강공원 | https://hangang.seoul.go.kr/www/eventMng/detail.do?evntSn=378&amp;mid=538&amp;srchType=list</a:t>
            </a:r>
          </a:p>
          <a:p xmlns:a="http://schemas.openxmlformats.org/drawingml/2006/main">
            <a:r>
              <a:t>web:11200:2 | 개막 20일차 250만명 넘은 서울국제정원박람회… 성수 상권 매출 30% 급증 &gt; 보도자료 | 서울특별시 | https://www.seoul.go.kr/news/news_report.do?nttNo=458311</a:t>
            </a:r>
          </a:p>
          <a:p xmlns:a="http://schemas.openxmlformats.org/drawingml/2006/main">
            <a:r>
              <a:t>web:11200:3 | 서울숲-성수 커넥트 투어 | 2026 서울국제정원박람회 | https://gov.seoul.go.kr/festa/garden/y2026/program/garden-culture-program/commentary-program?article=42926</a:t>
            </a:r>
          </a:p>
          <a:p xmlns:a="http://schemas.openxmlformats.org/drawingml/2006/main">
            <a:r>
              <a:t>web:11200:4 | 2026 서울축제지도 - 가을편 &lt; 공지사항(상세) &lt; 새소식 | 서울문화포털 | https://culture.seoul.go.kr/culture/bbs/B0000000/view.do?menuNo=200050&amp;nttId=16465</a:t>
            </a:r>
          </a:p>
          <a:p xmlns:a="http://schemas.openxmlformats.org/drawingml/2006/main">
            <a:r>
              <a:t>web:11200:5 | 오시는 길 | 2026 서울국제정원박람회 | https://www.seoul.go.kr/festa/garden/y2026/introduce/location?pc=1</a:t>
            </a:r>
          </a:p>
          <a:p xmlns:a="http://schemas.openxmlformats.org/drawingml/2006/main">
            <a:r>
              <a:t>web:11200:6 | (석간) 제11차 도시건축공동위원회 개최결과 &gt; 보도자료 | 서울특별시 | https://www.seoul.go.kr/news/news_report.do?nttNo=460823&amp;tr_code=snews</a:t>
            </a:r>
          </a:p>
          <a:p xmlns:a="http://schemas.openxmlformats.org/drawingml/2006/main">
            <a:r>
              <a:t>web:11200:7 | 2026 서울국제정원박람회 &lt; 행사·공연 정보 &lt; 축제·관광 &lt; 미래한강본부, 한강공원 | https://hangang.seoul.go.kr/www/eventMng/detail.do?evntSn=378&amp;mid=538&amp;srchType=list</a:t>
            </a:r>
          </a:p>
          <a:p xmlns:a="http://schemas.openxmlformats.org/drawingml/2006/main">
            <a:r>
              <a:t>case:jeonju_night_budget_2026 | 전주시 2026년도 관광산업과 세출예산 사업명세서 | https://jeonju.go.kr/resource/www/images/download/budget/2026/2026_31_2.pdf</a:t>
            </a:r>
          </a:p>
          <a:p xmlns:a="http://schemas.openxmlformats.org/drawingml/2006/main">
            <a:r>
              <a:t>case:gangjin_half_price_2024 | 강진 반값여행 지역경제 효과 소개 | https://jnfarm.jeonnam.go.kr/board/FARM_BOARD_008/boardView.do?bdId=BD_00000000000011721&amp;menuCd=farm004002</a:t>
            </a:r>
          </a:p>
          <a:p xmlns:a="http://schemas.openxmlformats.org/drawingml/2006/main">
            <a:r>
              <a:t>case:digital_tourism_resident_2024 | 2024년 6월 여행가는 달 추진 보도자료 | https://mcst.go.kr/servlets/eduport/front/upload/UplDownloadFile?pFileName=%280514%29%EB%AC%B8%EC%B2%B4%EB%B6%80%EB%B3%B4%EB%8F%84%EC%9E%90%EB%A3%8C-6%EC%9B%94_%EC%97%AC%ED%96%89%EA%B0%80%EB%8A%94_%EB%8B%AC_%EC%B6%94%EC%A7%84.pdf&amp;pPath=0302000000&amp;pRealName=20240514083202149235802932_PRESS20240514083202456506.pdf</a:t>
            </a:r>
          </a:p>
          <a:p xmlns:a="http://schemas.openxmlformats.org/drawingml/2006/main">
            <a:r>
              <a:t>case:kto_stay_discount_2022 | 2022 대한민국 숙박대전 경제파급효과 공개자료 | https://kto.visitkorea.or.kr/upload/flexer/upload/ktobiz/20220928/b623b5f9-3ec0-11ed-9832-ddf31964842e.hwp.files/Sections1.html</a:t>
            </a:r>
          </a:p>
          <a:p xmlns:a="http://schemas.openxmlformats.org/drawingml/2006/main">
            <a:r>
              <a:t>case:night_festival_2025 | 2025 대한민국 밤밤페스타 개최 도시 및 일정 | https://korean.visitkorea.or.kr/detail/rem_detail.do?cotid=f9c636b2-dd7c-4f09-af3d-6af43b33d371</a:t>
            </a:r>
          </a:p>
          <a:p xmlns:a="http://schemas.openxmlformats.org/drawingml/2006/main">
            <a:r>
              <a:t>case:night_tourism_cities_2024 | 2024년도 정부업무평가 관광분야 성과자료 | https://www.evaluation.go.kr/upload2/atch/eval/20250429095846463.pdf</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관측값·저장 예측·계획 목표는 별개입니다. 문서용 참고 견적이며 원 보고서의 검수 결과를 변경하지 않습니다.</a:t>
            </a:r>
          </a:p>
          <a:p xmlns:a="http://schemas.openxmlformats.org/drawingml/2006/main">
            <a:r>
              <a:t>[Sources]</a:t>
            </a:r>
          </a:p>
          <a:p xmlns:a="http://schemas.openxmlformats.org/drawingml/2006/main">
            <a:r>
              <a:t>dataset:11200:1 | 한국관광 데이터랩 · 서울특별시 성동구 순 방문자 수 및 숙박 비율 (이동통신 기반 외지인) | https://datalab.visitkorea.or.kr/</a:t>
            </a:r>
          </a:p>
          <a:p xmlns:a="http://schemas.openxmlformats.org/drawingml/2006/main">
            <a:r>
              <a:t>dataset:11200:2 | 한국관광 데이터랩 · 서울특별시 성동구 월간 순 방문자 수 (이동통신 기반 외지인) | https://datalab.visitkorea.or.kr/</a:t>
            </a:r>
          </a:p>
          <a:p xmlns:a="http://schemas.openxmlformats.org/drawingml/2006/main">
            <a:r>
              <a:t>dataset:11200:3 | 한국관광 데이터랩 · 서울특별시 성동구 관광소비 추이_외지인 | https://datalab.visitkorea.or.kr/</a:t>
            </a:r>
          </a:p>
          <a:p xmlns:a="http://schemas.openxmlformats.org/drawingml/2006/main">
            <a:r>
              <a:t>dataset:11200:4 | 한국관광 데이터랩 · 서울특별시 성동구 숙박방문자 비율 추이 (이동통신 기반 외지인) | https://datalab.visitkorea.or.kr/</a:t>
            </a:r>
          </a:p>
          <a:p xmlns:a="http://schemas.openxmlformats.org/drawingml/2006/main">
            <a:r>
              <a:t>dataset:11200:5 | 한국관광 데이터랩 · 서울특별시 성동구 평균 숙박일 (이동통신 기반 외지인) | https://datalab.visitkorea.or.kr/</a:t>
            </a:r>
          </a:p>
          <a:p xmlns:a="http://schemas.openxmlformats.org/drawingml/2006/main">
            <a:r>
              <a:t>dataset:11200:6 | 한국관광 데이터랩 · 서울특별시 성동구 내비게이션 목적지 유형별 검색량 | https://datalab.visitkorea.or.kr/</a:t>
            </a:r>
          </a:p>
          <a:p xmlns:a="http://schemas.openxmlformats.org/drawingml/2006/main">
            <a:r>
              <a:t>dataset:11200:7 | 한국관광 데이터랩 · 서울특별시 성동구 SNS 언급량 | https://datalab.visitkorea.or.kr/</a:t>
            </a:r>
          </a:p>
          <a:p xmlns:a="http://schemas.openxmlformats.org/drawingml/2006/main">
            <a:r>
              <a:t>datalab:0ea2e7ff8811:517c835e3039 | 한국관광 데이터랩 공식 다운로드 · 서울특별시_성동구/숙박_체류시간/2025_01_12.zip | https://datalab.visitkorea.or.kr/</a:t>
            </a:r>
          </a:p>
          <a:p xmlns:a="http://schemas.openxmlformats.org/drawingml/2006/main">
            <a:r>
              <a:t>datalab:3a79405535b3:68f41f6aa9c6 | 한국관광 데이터랩 공식 다운로드 · 서울특별시_성동구/관광소비/2025_01_12.zip | https://datalab.visitkorea.or.kr/</a:t>
            </a:r>
          </a:p>
          <a:p xmlns:a="http://schemas.openxmlformats.org/drawingml/2006/main">
            <a:r>
              <a:t>datalab:6217474023e5:2e717447925f | 한국관광 데이터랩 공식 다운로드 · 서울특별시_성동구/숙박_체류시간/2026_01_06.zip | https://datalab.visitkorea.or.kr/</a:t>
            </a:r>
          </a:p>
          <a:p xmlns:a="http://schemas.openxmlformats.org/drawingml/2006/main">
            <a:r>
              <a:t>datalab:62312101c8d0:9c44bd532366 | 한국관광 데이터랩 공식 다운로드 · 서울특별시_성동구/방문자/2025_01_12.zip | https://datalab.visitkorea.or.kr/</a:t>
            </a:r>
          </a:p>
          <a:p xmlns:a="http://schemas.openxmlformats.org/drawingml/2006/main">
            <a:r>
              <a:t>datalab:7ddda0420208:c68bf7b028b0 | 한국관광 데이터랩 공식 다운로드 · 서울특별시_성동구/관광소비/2026_01_06.zip | https://datalab.visitkorea.or.kr/</a:t>
            </a:r>
          </a:p>
          <a:p xmlns:a="http://schemas.openxmlformats.org/drawingml/2006/main">
            <a:r>
              <a:t>datalab:9369271c7419:76a9b6ea89d8 | 한국관광 데이터랩 공식 다운로드 · 서울특별시_성동구/방문자/2026_01_06.zip | https://datalab.visitkorea.or.kr/</a:t>
            </a:r>
          </a:p>
          <a:p xmlns:a="http://schemas.openxmlformats.org/drawingml/2006/main">
            <a:r>
              <a:t>team-bigdata:23ea68053684:6bfbcf8aabf6 | 한국관광 데이터랩 전국 빅데이터 다운로드 · 이동통신/내국인/지역별 방문자수/20260820140607__202601-202606_데이터랩_다운로드.zip | https://datalab.visitkorea.or.kr/</a:t>
            </a:r>
          </a:p>
          <a:p xmlns:a="http://schemas.openxmlformats.org/drawingml/2006/main">
            <a:r>
              <a:t>team-bigdata:98d4ae590d9a:3be52dd54323 | 한국관광 데이터랩 전국 빅데이터 다운로드 · 이동통신/외국인/20260820141710_전국_202601-202606_데이터랩_다운로드.zip | https://datalab.visitkorea.or.kr/</a:t>
            </a:r>
          </a:p>
          <a:p xmlns:a="http://schemas.openxmlformats.org/drawingml/2006/main">
            <a:r>
              <a:t>team-bigdata:367cd0294ec4:873930d645e5 | 한국관광 데이터랩 전국 빅데이터 다운로드 · 신용카드/내국인/지역별 관광지출액/20260820140046__202601-202606_데이터랩_다운로드.zip | https://datalab.visitkorea.or.kr/</a:t>
            </a:r>
          </a:p>
          <a:p xmlns:a="http://schemas.openxmlformats.org/drawingml/2006/main">
            <a:r>
              <a:t>team-bigdata:553a0dad4bb4:5a31355dffe8 | 한국관광 데이터랩 전국 빅데이터 다운로드 · 신용카드/외국인/지역별 관광지출액/20260820140355__202601-202606_데이터랩_다운로드.zip | https://datalab.visitkorea.or.kr/</a:t>
            </a:r>
          </a:p>
          <a:p xmlns:a="http://schemas.openxmlformats.org/drawingml/2006/main">
            <a:r>
              <a:t>team-bigdata:a53dbe1c21df:77a052de41d5 | 한국관광 데이터랩 전국 빅데이터 다운로드 · 네비게이션/지역별 검색건수/20260820195507__202601-202606_데이터랩_다운로드.zip | https://datalab.visitkorea.or.kr/</a:t>
            </a:r>
          </a:p>
          <a:p xmlns:a="http://schemas.openxmlformats.org/drawingml/2006/main">
            <a:r>
              <a:t>team-bigdata:823a38d1d61c:5385261d02e5 | 한국관광 데이터랩 전국 빅데이터 다운로드 · 이동통신/내국인/지역별 방문자수/20260820140614__202501-202512_데이터랩_다운로드.zip | https://datalab.visitkorea.or.kr/</a:t>
            </a:r>
          </a:p>
          <a:p xmlns:a="http://schemas.openxmlformats.org/drawingml/2006/main">
            <a:r>
              <a:t>team-bigdata:2723bdb0d589:1666a34058ed | 한국관광 데이터랩 전국 빅데이터 다운로드 · 이동통신/외국인/20260820141649_전국_202501-202512_데이터랩_다운로드.zip | https://datalab.visitkorea.or.kr/</a:t>
            </a:r>
          </a:p>
          <a:p xmlns:a="http://schemas.openxmlformats.org/drawingml/2006/main">
            <a:r>
              <a:t>team-bigdata:83177a234971:c02cb7972e0f | 한국관광 데이터랩 전국 빅데이터 다운로드 · 신용카드/내국인/지역별 관광지출액/20260820135957__202501-202512_데이터랩_다운로드.zip | https://datalab.visitkorea.or.kr/</a:t>
            </a:r>
          </a:p>
          <a:p xmlns:a="http://schemas.openxmlformats.org/drawingml/2006/main">
            <a:r>
              <a:t>team-bigdata:58ded7732251:589c76395cbc | 한국관광 데이터랩 전국 빅데이터 다운로드 · 신용카드/외국인/지역별 관광지출액/20260820140409__202501-202512_데이터랩_다운로드.zip | https://datalab.visitkorea.or.kr/</a:t>
            </a:r>
          </a:p>
          <a:p xmlns:a="http://schemas.openxmlformats.org/drawingml/2006/main">
            <a:r>
              <a:t>team-bigdata:e28c947cb52f:bb4cb344a6ba | 한국관광 데이터랩 전국 빅데이터 다운로드 · 네비게이션/지역별 검색건수/20260820132007__202501-202512_데이터랩_다운로드.zip | https://datalab.visitkorea.or.kr/</a:t>
            </a:r>
          </a:p>
          <a:p xmlns:a="http://schemas.openxmlformats.org/drawingml/2006/main">
            <a:r>
              <a:t>team-bigdata:8815bbb11a39:1a5988f5f8ec | 한국관광 데이터랩 전국 빅데이터 다운로드 · 이동통신/내국인/지역별 방문자수/20260820140624__202401-202412_데이터랩_다운로드.zip | https://datalab.visitkorea.or.kr/</a:t>
            </a:r>
          </a:p>
          <a:p xmlns:a="http://schemas.openxmlformats.org/drawingml/2006/main">
            <a:r>
              <a:t>team-bigdata:19fd67fbb73d:afa4f0f54a2f | 한국관광 데이터랩 전국 빅데이터 다운로드 · 이동통신/외국인/20260820141639_전국_202401-202412_데이터랩_다운로드.zip | https://datalab.visitkorea.or.kr/</a:t>
            </a:r>
          </a:p>
          <a:p xmlns:a="http://schemas.openxmlformats.org/drawingml/2006/main">
            <a:r>
              <a:t>regional-status:300d117a9148:9b5e59efa799 | 한국관광 데이터랩 지역별 관광 현황 · 서울특별시 성동구 · 인기관광지 | https://datalab.visitkorea.or.kr/</a:t>
            </a:r>
          </a:p>
          <a:p xmlns:a="http://schemas.openxmlformats.org/drawingml/2006/main">
            <a:r>
              <a:t>regional-status:e1f4d12a3396:706443b7ba17 | 한국관광 데이터랩 지역별 관광 현황 · 서울특별시 성동구 · 유입유출 | https://datalab.visitkorea.or.kr/</a:t>
            </a:r>
          </a:p>
          <a:p xmlns:a="http://schemas.openxmlformats.org/drawingml/2006/main">
            <a:r>
              <a:t>regional-status:f05693fd34a7:ae929e215d91 | 한국관광 데이터랩 지역별 관광 현황 · 서울특별시 성동구 · 지역집중률 | https://datalab.visitkorea.or.kr/</a:t>
            </a:r>
          </a:p>
          <a:p xmlns:a="http://schemas.openxmlformats.org/drawingml/2006/main">
            <a:r>
              <a:t>ml:11200:regional-demand-v3.1:202606 | 지역 관광수요 ML 전망 · 공식 관측값 아님 | URL 미기록</a:t>
            </a:r>
          </a:p>
          <a:p xmlns:a="http://schemas.openxmlformats.org/drawingml/2006/main">
            <a:r>
              <a:t>tour-api:2901229 | 가조쿠 | https://apis.data.go.kr/B551011/KorService2</a:t>
            </a:r>
          </a:p>
          <a:p xmlns:a="http://schemas.openxmlformats.org/drawingml/2006/main">
            <a:r>
              <a:t>tour-api:2895161 | 계월 | https://apis.data.go.kr/B551011/KorService2</a:t>
            </a:r>
          </a:p>
          <a:p xmlns:a="http://schemas.openxmlformats.org/drawingml/2006/main">
            <a:r>
              <a:t>tour-api:2901359 | 계자람 | https://apis.data.go.kr/B551011/KorService2</a:t>
            </a:r>
          </a:p>
          <a:p xmlns:a="http://schemas.openxmlformats.org/drawingml/2006/main">
            <a:r>
              <a:t>tour-api:2895211 | 구욱희씨 | https://apis.data.go.kr/B551011/KorService2</a:t>
            </a:r>
          </a:p>
          <a:p xmlns:a="http://schemas.openxmlformats.org/drawingml/2006/main">
            <a:r>
              <a:t>tour-api:2895236 | 구펠 | https://apis.data.go.kr/B551011/KorService2</a:t>
            </a:r>
          </a:p>
          <a:p xmlns:a="http://schemas.openxmlformats.org/drawingml/2006/main">
            <a:r>
              <a:t>tour-api:2898994 | 그라데이션커피 | https://apis.data.go.kr/B551011/KorService2</a:t>
            </a:r>
          </a:p>
          <a:p xmlns:a="http://schemas.openxmlformats.org/drawingml/2006/main">
            <a:r>
              <a:t>tour-api:2894873 | 그린랩 | https://apis.data.go.kr/B551011/KorService2</a:t>
            </a:r>
          </a:p>
          <a:p xmlns:a="http://schemas.openxmlformats.org/drawingml/2006/main">
            <a:r>
              <a:t>tour-api:2743748 | 금남시장 | https://apis.data.go.kr/B551011/KorService2</a:t>
            </a:r>
          </a:p>
          <a:p xmlns:a="http://schemas.openxmlformats.org/drawingml/2006/main">
            <a:r>
              <a:t>tour-api:2901568 | 기후 | https://apis.data.go.kr/B551011/KorService2</a:t>
            </a:r>
          </a:p>
          <a:p xmlns:a="http://schemas.openxmlformats.org/drawingml/2006/main">
            <a:r>
              <a:t>tour-api:2894842 | 꾸아 성수점 | https://apis.data.go.kr/B551011/KorService2</a:t>
            </a:r>
          </a:p>
          <a:p xmlns:a="http://schemas.openxmlformats.org/drawingml/2006/main">
            <a:r>
              <a:t>tour-api:2843520 | 난포 | https://apis.data.go.kr/B551011/KorService2</a:t>
            </a:r>
          </a:p>
          <a:p xmlns:a="http://schemas.openxmlformats.org/drawingml/2006/main">
            <a:r>
              <a:t>tour-api:2894810 | 누메로도스 | https://apis.data.go.kr/B551011/KorService2</a:t>
            </a:r>
          </a:p>
          <a:p xmlns:a="http://schemas.openxmlformats.org/drawingml/2006/main">
            <a:r>
              <a:t>tour-api:2894795 | 누메로뜨레쓰 | https://apis.data.go.kr/B551011/KorService2</a:t>
            </a:r>
          </a:p>
          <a:p xmlns:a="http://schemas.openxmlformats.org/drawingml/2006/main">
            <a:r>
              <a:t>tour-api:2894763 | 니드스윗 | https://apis.data.go.kr/B551011/KorService2</a:t>
            </a:r>
          </a:p>
          <a:p xmlns:a="http://schemas.openxmlformats.org/drawingml/2006/main">
            <a:r>
              <a:t>tour-api:2894747 | 단일서울 | https://apis.data.go.kr/B551011/KorService2</a:t>
            </a:r>
          </a:p>
          <a:p xmlns:a="http://schemas.openxmlformats.org/drawingml/2006/main">
            <a:r>
              <a:t>tour-api:2894854 | 대돈집 | https://apis.data.go.kr/B551011/KorService2</a:t>
            </a:r>
          </a:p>
          <a:p xmlns:a="http://schemas.openxmlformats.org/drawingml/2006/main">
            <a:r>
              <a:t>tour-api:2899012 | 대흥정육식당 | https://apis.data.go.kr/B551011/KorService2</a:t>
            </a:r>
          </a:p>
          <a:p xmlns:a="http://schemas.openxmlformats.org/drawingml/2006/main">
            <a:r>
              <a:t>tour-api:2753089 | 더서울라이티움 | https://apis.data.go.kr/B551011/KorService2</a:t>
            </a:r>
          </a:p>
          <a:p xmlns:a="http://schemas.openxmlformats.org/drawingml/2006/main">
            <a:r>
              <a:t>tour-api:736766 | 더페이지갤러리 | https://apis.data.go.kr/B551011/KorService2</a:t>
            </a:r>
          </a:p>
          <a:p xmlns:a="http://schemas.openxmlformats.org/drawingml/2006/main">
            <a:r>
              <a:t>tour-api:2845040 | 땅코참숯구이 본점 | https://apis.data.go.kr/B551011/KorService2</a:t>
            </a:r>
          </a:p>
          <a:p xmlns:a="http://schemas.openxmlformats.org/drawingml/2006/main">
            <a:r>
              <a:t>reference:kto:2026:local-airport | 요즘, 한국관광 2호 - 지방공항 연계 지역관광 활성화 방안 | PDF 44쪽, PDF 43쪽, PDF 36쪽, PDF 40쪽, PDF 41쪽, PDF 41쪽, PDF 44쪽, PDF 43쪽, PDF 43쪽 | https://datalab.visitkorea.or.kr/site/portal/ex/bbs/View.do?bcIdx=311068&amp;cbIdx=1135&amp;pageIndex=1</a:t>
            </a:r>
          </a:p>
          <a:p xmlns:a="http://schemas.openxmlformats.org/drawingml/2006/main">
            <a:r>
              <a:t>web:11200:1 | 2026 서울국제정원박람회 &lt; 행사·공연 정보 &lt; 축제·관광 &lt; 미래한강본부, 한강공원 | https://hangang.seoul.go.kr/www/eventMng/detail.do?evntSn=378&amp;mid=538&amp;srchType=list</a:t>
            </a:r>
          </a:p>
          <a:p xmlns:a="http://schemas.openxmlformats.org/drawingml/2006/main">
            <a:r>
              <a:t>web:11200:2 | 개막 20일차 250만명 넘은 서울국제정원박람회… 성수 상권 매출 30% 급증 &gt; 보도자료 | 서울특별시 | https://www.seoul.go.kr/news/news_report.do?nttNo=458311</a:t>
            </a:r>
          </a:p>
          <a:p xmlns:a="http://schemas.openxmlformats.org/drawingml/2006/main">
            <a:r>
              <a:t>web:11200:3 | 서울숲-성수 커넥트 투어 | 2026 서울국제정원박람회 | https://gov.seoul.go.kr/festa/garden/y2026/program/garden-culture-program/commentary-program?article=42926</a:t>
            </a:r>
          </a:p>
          <a:p xmlns:a="http://schemas.openxmlformats.org/drawingml/2006/main">
            <a:r>
              <a:t>web:11200:4 | 2026 서울축제지도 - 가을편 &lt; 공지사항(상세) &lt; 새소식 | 서울문화포털 | https://culture.seoul.go.kr/culture/bbs/B0000000/view.do?menuNo=200050&amp;nttId=16465</a:t>
            </a:r>
          </a:p>
          <a:p xmlns:a="http://schemas.openxmlformats.org/drawingml/2006/main">
            <a:r>
              <a:t>web:11200:5 | 오시는 길 | 2026 서울국제정원박람회 | https://www.seoul.go.kr/festa/garden/y2026/introduce/location?pc=1</a:t>
            </a:r>
          </a:p>
          <a:p xmlns:a="http://schemas.openxmlformats.org/drawingml/2006/main">
            <a:r>
              <a:t>web:11200:6 | (석간) 제11차 도시건축공동위원회 개최결과 &gt; 보도자료 | 서울특별시 | https://www.seoul.go.kr/news/news_report.do?nttNo=460823&amp;tr_code=snews</a:t>
            </a:r>
          </a:p>
          <a:p xmlns:a="http://schemas.openxmlformats.org/drawingml/2006/main">
            <a:r>
              <a:t>web:11200:7 | 2026 서울국제정원박람회 &lt; 행사·공연 정보 &lt; 축제·관광 &lt; 미래한강본부, 한강공원 | https://hangang.seoul.go.kr/www/eventMng/detail.do?evntSn=378&amp;mid=538&amp;srchType=list</a:t>
            </a:r>
          </a:p>
          <a:p xmlns:a="http://schemas.openxmlformats.org/drawingml/2006/main">
            <a:r>
              <a:t>case:jeonju_night_budget_2026 | 전주시 2026년도 관광산업과 세출예산 사업명세서 | https://jeonju.go.kr/resource/www/images/download/budget/2026/2026_31_2.pdf</a:t>
            </a:r>
          </a:p>
          <a:p xmlns:a="http://schemas.openxmlformats.org/drawingml/2006/main">
            <a:r>
              <a:t>case:gangjin_half_price_2024 | 강진 반값여행 지역경제 효과 소개 | https://jnfarm.jeonnam.go.kr/board/FARM_BOARD_008/boardView.do?bdId=BD_00000000000011721&amp;menuCd=farm004002</a:t>
            </a:r>
          </a:p>
          <a:p xmlns:a="http://schemas.openxmlformats.org/drawingml/2006/main">
            <a:r>
              <a:t>case:digital_tourism_resident_2024 | 2024년 6월 여행가는 달 추진 보도자료 | https://mcst.go.kr/servlets/eduport/front/upload/UplDownloadFile?pFileName=%280514%29%EB%AC%B8%EC%B2%B4%EB%B6%80%EB%B3%B4%EB%8F%84%EC%9E%90%EB%A3%8C-6%EC%9B%94_%EC%97%AC%ED%96%89%EA%B0%80%EB%8A%94_%EB%8B%AC_%EC%B6%94%EC%A7%84.pdf&amp;pPath=0302000000&amp;pRealName=20240514083202149235802932_PRESS20240514083202456506.pdf</a:t>
            </a:r>
          </a:p>
          <a:p xmlns:a="http://schemas.openxmlformats.org/drawingml/2006/main">
            <a:r>
              <a:t>case:kto_stay_discount_2022 | 2022 대한민국 숙박대전 경제파급효과 공개자료 | https://kto.visitkorea.or.kr/upload/flexer/upload/ktobiz/20220928/b623b5f9-3ec0-11ed-9832-ddf31964842e.hwp.files/Sections1.html</a:t>
            </a:r>
          </a:p>
          <a:p xmlns:a="http://schemas.openxmlformats.org/drawingml/2006/main">
            <a:r>
              <a:t>case:night_festival_2025 | 2025 대한민국 밤밤페스타 개최 도시 및 일정 | https://korean.visitkorea.or.kr/detail/rem_detail.do?cotid=f9c636b2-dd7c-4f09-af3d-6af43b33d371</a:t>
            </a:r>
          </a:p>
          <a:p xmlns:a="http://schemas.openxmlformats.org/drawingml/2006/main">
            <a:r>
              <a:t>case:night_tourism_cities_2024 | 2024년도 정부업무평가 관광분야 성과자료 | https://www.evaluation.go.kr/upload2/atch/eval/20250429095846463.pdf</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관측값·저장 예측·계획 목표는 별개입니다. 문서용 참고 견적이며 원 보고서의 검수 결과를 변경하지 않습니다.</a:t>
            </a:r>
          </a:p>
          <a:p xmlns:a="http://schemas.openxmlformats.org/drawingml/2006/main">
            <a:r>
              <a:t>[Sources]</a:t>
            </a:r>
          </a:p>
          <a:p xmlns:a="http://schemas.openxmlformats.org/drawingml/2006/main">
            <a:r>
              <a:t>dataset:11200:1 | 한국관광 데이터랩 · 서울특별시 성동구 순 방문자 수 및 숙박 비율 (이동통신 기반 외지인) | https://datalab.visitkorea.or.kr/</a:t>
            </a:r>
          </a:p>
          <a:p xmlns:a="http://schemas.openxmlformats.org/drawingml/2006/main">
            <a:r>
              <a:t>dataset:11200:2 | 한국관광 데이터랩 · 서울특별시 성동구 월간 순 방문자 수 (이동통신 기반 외지인) | https://datalab.visitkorea.or.kr/</a:t>
            </a:r>
          </a:p>
          <a:p xmlns:a="http://schemas.openxmlformats.org/drawingml/2006/main">
            <a:r>
              <a:t>dataset:11200:3 | 한국관광 데이터랩 · 서울특별시 성동구 관광소비 추이_외지인 | https://datalab.visitkorea.or.kr/</a:t>
            </a:r>
          </a:p>
          <a:p xmlns:a="http://schemas.openxmlformats.org/drawingml/2006/main">
            <a:r>
              <a:t>dataset:11200:4 | 한국관광 데이터랩 · 서울특별시 성동구 숙박방문자 비율 추이 (이동통신 기반 외지인) | https://datalab.visitkorea.or.kr/</a:t>
            </a:r>
          </a:p>
          <a:p xmlns:a="http://schemas.openxmlformats.org/drawingml/2006/main">
            <a:r>
              <a:t>dataset:11200:5 | 한국관광 데이터랩 · 서울특별시 성동구 평균 숙박일 (이동통신 기반 외지인) | https://datalab.visitkorea.or.kr/</a:t>
            </a:r>
          </a:p>
          <a:p xmlns:a="http://schemas.openxmlformats.org/drawingml/2006/main">
            <a:r>
              <a:t>dataset:11200:6 | 한국관광 데이터랩 · 서울특별시 성동구 내비게이션 목적지 유형별 검색량 | https://datalab.visitkorea.or.kr/</a:t>
            </a:r>
          </a:p>
          <a:p xmlns:a="http://schemas.openxmlformats.org/drawingml/2006/main">
            <a:r>
              <a:t>dataset:11200:7 | 한국관광 데이터랩 · 서울특별시 성동구 SNS 언급량 | https://datalab.visitkorea.or.kr/</a:t>
            </a:r>
          </a:p>
          <a:p xmlns:a="http://schemas.openxmlformats.org/drawingml/2006/main">
            <a:r>
              <a:t>datalab:0ea2e7ff8811:517c835e3039 | 한국관광 데이터랩 공식 다운로드 · 서울특별시_성동구/숙박_체류시간/2025_01_12.zip | https://datalab.visitkorea.or.kr/</a:t>
            </a:r>
          </a:p>
          <a:p xmlns:a="http://schemas.openxmlformats.org/drawingml/2006/main">
            <a:r>
              <a:t>datalab:3a79405535b3:68f41f6aa9c6 | 한국관광 데이터랩 공식 다운로드 · 서울특별시_성동구/관광소비/2025_01_12.zip | https://datalab.visitkorea.or.kr/</a:t>
            </a:r>
          </a:p>
          <a:p xmlns:a="http://schemas.openxmlformats.org/drawingml/2006/main">
            <a:r>
              <a:t>datalab:6217474023e5:2e717447925f | 한국관광 데이터랩 공식 다운로드 · 서울특별시_성동구/숙박_체류시간/2026_01_06.zip | https://datalab.visitkorea.or.kr/</a:t>
            </a:r>
          </a:p>
          <a:p xmlns:a="http://schemas.openxmlformats.org/drawingml/2006/main">
            <a:r>
              <a:t>datalab:62312101c8d0:9c44bd532366 | 한국관광 데이터랩 공식 다운로드 · 서울특별시_성동구/방문자/2025_01_12.zip | https://datalab.visitkorea.or.kr/</a:t>
            </a:r>
          </a:p>
          <a:p xmlns:a="http://schemas.openxmlformats.org/drawingml/2006/main">
            <a:r>
              <a:t>datalab:7ddda0420208:c68bf7b028b0 | 한국관광 데이터랩 공식 다운로드 · 서울특별시_성동구/관광소비/2026_01_06.zip | https://datalab.visitkorea.or.kr/</a:t>
            </a:r>
          </a:p>
          <a:p xmlns:a="http://schemas.openxmlformats.org/drawingml/2006/main">
            <a:r>
              <a:t>datalab:9369271c7419:76a9b6ea89d8 | 한국관광 데이터랩 공식 다운로드 · 서울특별시_성동구/방문자/2026_01_06.zip | https://datalab.visitkorea.or.kr/</a:t>
            </a:r>
          </a:p>
          <a:p xmlns:a="http://schemas.openxmlformats.org/drawingml/2006/main">
            <a:r>
              <a:t>team-bigdata:23ea68053684:6bfbcf8aabf6 | 한국관광 데이터랩 전국 빅데이터 다운로드 · 이동통신/내국인/지역별 방문자수/20260820140607__202601-202606_데이터랩_다운로드.zip | https://datalab.visitkorea.or.kr/</a:t>
            </a:r>
          </a:p>
          <a:p xmlns:a="http://schemas.openxmlformats.org/drawingml/2006/main">
            <a:r>
              <a:t>team-bigdata:98d4ae590d9a:3be52dd54323 | 한국관광 데이터랩 전국 빅데이터 다운로드 · 이동통신/외국인/20260820141710_전국_202601-202606_데이터랩_다운로드.zip | https://datalab.visitkorea.or.kr/</a:t>
            </a:r>
          </a:p>
          <a:p xmlns:a="http://schemas.openxmlformats.org/drawingml/2006/main">
            <a:r>
              <a:t>team-bigdata:367cd0294ec4:873930d645e5 | 한국관광 데이터랩 전국 빅데이터 다운로드 · 신용카드/내국인/지역별 관광지출액/20260820140046__202601-202606_데이터랩_다운로드.zip | https://datalab.visitkorea.or.kr/</a:t>
            </a:r>
          </a:p>
          <a:p xmlns:a="http://schemas.openxmlformats.org/drawingml/2006/main">
            <a:r>
              <a:t>team-bigdata:553a0dad4bb4:5a31355dffe8 | 한국관광 데이터랩 전국 빅데이터 다운로드 · 신용카드/외국인/지역별 관광지출액/20260820140355__202601-202606_데이터랩_다운로드.zip | https://datalab.visitkorea.or.kr/</a:t>
            </a:r>
          </a:p>
          <a:p xmlns:a="http://schemas.openxmlformats.org/drawingml/2006/main">
            <a:r>
              <a:t>team-bigdata:a53dbe1c21df:77a052de41d5 | 한국관광 데이터랩 전국 빅데이터 다운로드 · 네비게이션/지역별 검색건수/20260820195507__202601-202606_데이터랩_다운로드.zip | https://datalab.visitkorea.or.kr/</a:t>
            </a:r>
          </a:p>
          <a:p xmlns:a="http://schemas.openxmlformats.org/drawingml/2006/main">
            <a:r>
              <a:t>team-bigdata:823a38d1d61c:5385261d02e5 | 한국관광 데이터랩 전국 빅데이터 다운로드 · 이동통신/내국인/지역별 방문자수/20260820140614__202501-202512_데이터랩_다운로드.zip | https://datalab.visitkorea.or.kr/</a:t>
            </a:r>
          </a:p>
          <a:p xmlns:a="http://schemas.openxmlformats.org/drawingml/2006/main">
            <a:r>
              <a:t>team-bigdata:2723bdb0d589:1666a34058ed | 한국관광 데이터랩 전국 빅데이터 다운로드 · 이동통신/외국인/20260820141649_전국_202501-202512_데이터랩_다운로드.zip | https://datalab.visitkorea.or.kr/</a:t>
            </a:r>
          </a:p>
          <a:p xmlns:a="http://schemas.openxmlformats.org/drawingml/2006/main">
            <a:r>
              <a:t>team-bigdata:83177a234971:c02cb7972e0f | 한국관광 데이터랩 전국 빅데이터 다운로드 · 신용카드/내국인/지역별 관광지출액/20260820135957__202501-202512_데이터랩_다운로드.zip | https://datalab.visitkorea.or.kr/</a:t>
            </a:r>
          </a:p>
          <a:p xmlns:a="http://schemas.openxmlformats.org/drawingml/2006/main">
            <a:r>
              <a:t>team-bigdata:58ded7732251:589c76395cbc | 한국관광 데이터랩 전국 빅데이터 다운로드 · 신용카드/외국인/지역별 관광지출액/20260820140409__202501-202512_데이터랩_다운로드.zip | https://datalab.visitkorea.or.kr/</a:t>
            </a:r>
          </a:p>
          <a:p xmlns:a="http://schemas.openxmlformats.org/drawingml/2006/main">
            <a:r>
              <a:t>team-bigdata:e28c947cb52f:bb4cb344a6ba | 한국관광 데이터랩 전국 빅데이터 다운로드 · 네비게이션/지역별 검색건수/20260820132007__202501-202512_데이터랩_다운로드.zip | https://datalab.visitkorea.or.kr/</a:t>
            </a:r>
          </a:p>
          <a:p xmlns:a="http://schemas.openxmlformats.org/drawingml/2006/main">
            <a:r>
              <a:t>team-bigdata:8815bbb11a39:1a5988f5f8ec | 한국관광 데이터랩 전국 빅데이터 다운로드 · 이동통신/내국인/지역별 방문자수/20260820140624__202401-202412_데이터랩_다운로드.zip | https://datalab.visitkorea.or.kr/</a:t>
            </a:r>
          </a:p>
          <a:p xmlns:a="http://schemas.openxmlformats.org/drawingml/2006/main">
            <a:r>
              <a:t>team-bigdata:19fd67fbb73d:afa4f0f54a2f | 한국관광 데이터랩 전국 빅데이터 다운로드 · 이동통신/외국인/20260820141639_전국_202401-202412_데이터랩_다운로드.zip | https://datalab.visitkorea.or.kr/</a:t>
            </a:r>
          </a:p>
          <a:p xmlns:a="http://schemas.openxmlformats.org/drawingml/2006/main">
            <a:r>
              <a:t>regional-status:300d117a9148:9b5e59efa799 | 한국관광 데이터랩 지역별 관광 현황 · 서울특별시 성동구 · 인기관광지 | https://datalab.visitkorea.or.kr/</a:t>
            </a:r>
          </a:p>
          <a:p xmlns:a="http://schemas.openxmlformats.org/drawingml/2006/main">
            <a:r>
              <a:t>regional-status:e1f4d12a3396:706443b7ba17 | 한국관광 데이터랩 지역별 관광 현황 · 서울특별시 성동구 · 유입유출 | https://datalab.visitkorea.or.kr/</a:t>
            </a:r>
          </a:p>
          <a:p xmlns:a="http://schemas.openxmlformats.org/drawingml/2006/main">
            <a:r>
              <a:t>regional-status:f05693fd34a7:ae929e215d91 | 한국관광 데이터랩 지역별 관광 현황 · 서울특별시 성동구 · 지역집중률 | https://datalab.visitkorea.or.kr/</a:t>
            </a:r>
          </a:p>
          <a:p xmlns:a="http://schemas.openxmlformats.org/drawingml/2006/main">
            <a:r>
              <a:t>ml:11200:regional-demand-v3.1:202606 | 지역 관광수요 ML 전망 · 공식 관측값 아님 | URL 미기록</a:t>
            </a:r>
          </a:p>
          <a:p xmlns:a="http://schemas.openxmlformats.org/drawingml/2006/main">
            <a:r>
              <a:t>tour-api:2901229 | 가조쿠 | https://apis.data.go.kr/B551011/KorService2</a:t>
            </a:r>
          </a:p>
          <a:p xmlns:a="http://schemas.openxmlformats.org/drawingml/2006/main">
            <a:r>
              <a:t>tour-api:2895161 | 계월 | https://apis.data.go.kr/B551011/KorService2</a:t>
            </a:r>
          </a:p>
          <a:p xmlns:a="http://schemas.openxmlformats.org/drawingml/2006/main">
            <a:r>
              <a:t>tour-api:2901359 | 계자람 | https://apis.data.go.kr/B551011/KorService2</a:t>
            </a:r>
          </a:p>
          <a:p xmlns:a="http://schemas.openxmlformats.org/drawingml/2006/main">
            <a:r>
              <a:t>tour-api:2895211 | 구욱희씨 | https://apis.data.go.kr/B551011/KorService2</a:t>
            </a:r>
          </a:p>
          <a:p xmlns:a="http://schemas.openxmlformats.org/drawingml/2006/main">
            <a:r>
              <a:t>tour-api:2895236 | 구펠 | https://apis.data.go.kr/B551011/KorService2</a:t>
            </a:r>
          </a:p>
          <a:p xmlns:a="http://schemas.openxmlformats.org/drawingml/2006/main">
            <a:r>
              <a:t>tour-api:2898994 | 그라데이션커피 | https://apis.data.go.kr/B551011/KorService2</a:t>
            </a:r>
          </a:p>
          <a:p xmlns:a="http://schemas.openxmlformats.org/drawingml/2006/main">
            <a:r>
              <a:t>tour-api:2894873 | 그린랩 | https://apis.data.go.kr/B551011/KorService2</a:t>
            </a:r>
          </a:p>
          <a:p xmlns:a="http://schemas.openxmlformats.org/drawingml/2006/main">
            <a:r>
              <a:t>tour-api:2743748 | 금남시장 | https://apis.data.go.kr/B551011/KorService2</a:t>
            </a:r>
          </a:p>
          <a:p xmlns:a="http://schemas.openxmlformats.org/drawingml/2006/main">
            <a:r>
              <a:t>tour-api:2901568 | 기후 | https://apis.data.go.kr/B551011/KorService2</a:t>
            </a:r>
          </a:p>
          <a:p xmlns:a="http://schemas.openxmlformats.org/drawingml/2006/main">
            <a:r>
              <a:t>tour-api:2894842 | 꾸아 성수점 | https://apis.data.go.kr/B551011/KorService2</a:t>
            </a:r>
          </a:p>
          <a:p xmlns:a="http://schemas.openxmlformats.org/drawingml/2006/main">
            <a:r>
              <a:t>tour-api:2843520 | 난포 | https://apis.data.go.kr/B551011/KorService2</a:t>
            </a:r>
          </a:p>
          <a:p xmlns:a="http://schemas.openxmlformats.org/drawingml/2006/main">
            <a:r>
              <a:t>tour-api:2894810 | 누메로도스 | https://apis.data.go.kr/B551011/KorService2</a:t>
            </a:r>
          </a:p>
          <a:p xmlns:a="http://schemas.openxmlformats.org/drawingml/2006/main">
            <a:r>
              <a:t>tour-api:2894795 | 누메로뜨레쓰 | https://apis.data.go.kr/B551011/KorService2</a:t>
            </a:r>
          </a:p>
          <a:p xmlns:a="http://schemas.openxmlformats.org/drawingml/2006/main">
            <a:r>
              <a:t>tour-api:2894763 | 니드스윗 | https://apis.data.go.kr/B551011/KorService2</a:t>
            </a:r>
          </a:p>
          <a:p xmlns:a="http://schemas.openxmlformats.org/drawingml/2006/main">
            <a:r>
              <a:t>tour-api:2894747 | 단일서울 | https://apis.data.go.kr/B551011/KorService2</a:t>
            </a:r>
          </a:p>
          <a:p xmlns:a="http://schemas.openxmlformats.org/drawingml/2006/main">
            <a:r>
              <a:t>tour-api:2894854 | 대돈집 | https://apis.data.go.kr/B551011/KorService2</a:t>
            </a:r>
          </a:p>
          <a:p xmlns:a="http://schemas.openxmlformats.org/drawingml/2006/main">
            <a:r>
              <a:t>tour-api:2899012 | 대흥정육식당 | https://apis.data.go.kr/B551011/KorService2</a:t>
            </a:r>
          </a:p>
          <a:p xmlns:a="http://schemas.openxmlformats.org/drawingml/2006/main">
            <a:r>
              <a:t>tour-api:2753089 | 더서울라이티움 | https://apis.data.go.kr/B551011/KorService2</a:t>
            </a:r>
          </a:p>
          <a:p xmlns:a="http://schemas.openxmlformats.org/drawingml/2006/main">
            <a:r>
              <a:t>tour-api:736766 | 더페이지갤러리 | https://apis.data.go.kr/B551011/KorService2</a:t>
            </a:r>
          </a:p>
          <a:p xmlns:a="http://schemas.openxmlformats.org/drawingml/2006/main">
            <a:r>
              <a:t>tour-api:2845040 | 땅코참숯구이 본점 | https://apis.data.go.kr/B551011/KorService2</a:t>
            </a:r>
          </a:p>
          <a:p xmlns:a="http://schemas.openxmlformats.org/drawingml/2006/main">
            <a:r>
              <a:t>reference:kto:2026:local-airport | 요즘, 한국관광 2호 - 지방공항 연계 지역관광 활성화 방안 | PDF 44쪽, PDF 43쪽, PDF 36쪽, PDF 40쪽, PDF 41쪽, PDF 41쪽, PDF 44쪽, PDF 43쪽, PDF 43쪽 | https://datalab.visitkorea.or.kr/site/portal/ex/bbs/View.do?bcIdx=311068&amp;cbIdx=1135&amp;pageIndex=1</a:t>
            </a:r>
          </a:p>
          <a:p xmlns:a="http://schemas.openxmlformats.org/drawingml/2006/main">
            <a:r>
              <a:t>web:11200:1 | 2026 서울국제정원박람회 &lt; 행사·공연 정보 &lt; 축제·관광 &lt; 미래한강본부, 한강공원 | https://hangang.seoul.go.kr/www/eventMng/detail.do?evntSn=378&amp;mid=538&amp;srchType=list</a:t>
            </a:r>
          </a:p>
          <a:p xmlns:a="http://schemas.openxmlformats.org/drawingml/2006/main">
            <a:r>
              <a:t>web:11200:2 | 개막 20일차 250만명 넘은 서울국제정원박람회… 성수 상권 매출 30% 급증 &gt; 보도자료 | 서울특별시 | https://www.seoul.go.kr/news/news_report.do?nttNo=458311</a:t>
            </a:r>
          </a:p>
          <a:p xmlns:a="http://schemas.openxmlformats.org/drawingml/2006/main">
            <a:r>
              <a:t>web:11200:3 | 서울숲-성수 커넥트 투어 | 2026 서울국제정원박람회 | https://gov.seoul.go.kr/festa/garden/y2026/program/garden-culture-program/commentary-program?article=42926</a:t>
            </a:r>
          </a:p>
          <a:p xmlns:a="http://schemas.openxmlformats.org/drawingml/2006/main">
            <a:r>
              <a:t>web:11200:4 | 2026 서울축제지도 - 가을편 &lt; 공지사항(상세) &lt; 새소식 | 서울문화포털 | https://culture.seoul.go.kr/culture/bbs/B0000000/view.do?menuNo=200050&amp;nttId=16465</a:t>
            </a:r>
          </a:p>
          <a:p xmlns:a="http://schemas.openxmlformats.org/drawingml/2006/main">
            <a:r>
              <a:t>web:11200:5 | 오시는 길 | 2026 서울국제정원박람회 | https://www.seoul.go.kr/festa/garden/y2026/introduce/location?pc=1</a:t>
            </a:r>
          </a:p>
          <a:p xmlns:a="http://schemas.openxmlformats.org/drawingml/2006/main">
            <a:r>
              <a:t>web:11200:6 | (석간) 제11차 도시건축공동위원회 개최결과 &gt; 보도자료 | 서울특별시 | https://www.seoul.go.kr/news/news_report.do?nttNo=460823&amp;tr_code=snews</a:t>
            </a:r>
          </a:p>
          <a:p xmlns:a="http://schemas.openxmlformats.org/drawingml/2006/main">
            <a:r>
              <a:t>web:11200:7 | 2026 서울국제정원박람회 &lt; 행사·공연 정보 &lt; 축제·관광 &lt; 미래한강본부, 한강공원 | https://hangang.seoul.go.kr/www/eventMng/detail.do?evntSn=378&amp;mid=538&amp;srchType=list</a:t>
            </a:r>
          </a:p>
          <a:p xmlns:a="http://schemas.openxmlformats.org/drawingml/2006/main">
            <a:r>
              <a:t>case:jeonju_night_budget_2026 | 전주시 2026년도 관광산업과 세출예산 사업명세서 | https://jeonju.go.kr/resource/www/images/download/budget/2026/2026_31_2.pdf</a:t>
            </a:r>
          </a:p>
          <a:p xmlns:a="http://schemas.openxmlformats.org/drawingml/2006/main">
            <a:r>
              <a:t>case:gangjin_half_price_2024 | 강진 반값여행 지역경제 효과 소개 | https://jnfarm.jeonnam.go.kr/board/FARM_BOARD_008/boardView.do?bdId=BD_00000000000011721&amp;menuCd=farm004002</a:t>
            </a:r>
          </a:p>
          <a:p xmlns:a="http://schemas.openxmlformats.org/drawingml/2006/main">
            <a:r>
              <a:t>case:digital_tourism_resident_2024 | 2024년 6월 여행가는 달 추진 보도자료 | https://mcst.go.kr/servlets/eduport/front/upload/UplDownloadFile?pFileName=%280514%29%EB%AC%B8%EC%B2%B4%EB%B6%80%EB%B3%B4%EB%8F%84%EC%9E%90%EB%A3%8C-6%EC%9B%94_%EC%97%AC%ED%96%89%EA%B0%80%EB%8A%94_%EB%8B%AC_%EC%B6%94%EC%A7%84.pdf&amp;pPath=0302000000&amp;pRealName=20240514083202149235802932_PRESS20240514083202456506.pdf</a:t>
            </a:r>
          </a:p>
          <a:p xmlns:a="http://schemas.openxmlformats.org/drawingml/2006/main">
            <a:r>
              <a:t>case:kto_stay_discount_2022 | 2022 대한민국 숙박대전 경제파급효과 공개자료 | https://kto.visitkorea.or.kr/upload/flexer/upload/ktobiz/20220928/b623b5f9-3ec0-11ed-9832-ddf31964842e.hwp.files/Sections1.html</a:t>
            </a:r>
          </a:p>
          <a:p xmlns:a="http://schemas.openxmlformats.org/drawingml/2006/main">
            <a:r>
              <a:t>case:night_festival_2025 | 2025 대한민국 밤밤페스타 개최 도시 및 일정 | https://korean.visitkorea.or.kr/detail/rem_detail.do?cotid=f9c636b2-dd7c-4f09-af3d-6af43b33d371</a:t>
            </a:r>
          </a:p>
          <a:p xmlns:a="http://schemas.openxmlformats.org/drawingml/2006/main">
            <a:r>
              <a:t>case:night_tourism_cities_2024 | 2024년도 정부업무평가 관광분야 성과자료 | https://www.evaluation.go.kr/upload2/atch/eval/20250429095846463.pdf</a:t>
            </a:r>
          </a:p>
          <a:p xmlns:a="http://schemas.openxmlformats.org/drawingml/2006/main">
            <a:r>
              <a:t>[/Sources]</a:t>
            </a:r>
          </a:p>
          <a:p xmlns:a="http://schemas.openxmlformats.org/drawingml/2006/main">
            <a:r>
              <a:t>[Saved narrative]</a:t>
            </a:r>
          </a:p>
          <a:p xmlns:a="http://schemas.openxmlformats.org/drawingml/2006/main">
            <a:r>
              <a:t>[</a:t>
            </a:r>
          </a:p>
          <a:p xmlns:a="http://schemas.openxmlformats.org/drawingml/2006/main">
            <a:r>
              <a:t>  {</a:t>
            </a:r>
          </a:p>
          <a:p xmlns:a="http://schemas.openxmlformats.org/drawingml/2006/main">
            <a:r>
              <a:t>    "kpi": "환급 후 재사용률(분자: 환급 후 성동구 내 적격 재결제액 합계 / 분모: 지급한 환급액 합계). 기준기간: 운영 전 4주. 측정주기: 매주. 수집방법: 신청·승인·이용·결제 원장 집계. 비교집단: 동일 기간 내 미참여 권역 또는 순차 도입 미운영 집단. 성공기준: 기준선 확인 후 착수 전 확정.",</a:t>
            </a:r>
          </a:p>
          <a:p xmlns:a="http://schemas.openxmlformats.org/drawingml/2006/main">
            <a:r>
              <a:t>    "title": "성동구 지역상품권 환급 프로그램",</a:t>
            </a:r>
          </a:p>
          <a:p xmlns:a="http://schemas.openxmlformats.org/drawingml/2006/main">
            <a:r>
              <a:t>    "budget": "지역상품권 환급액 = (외지인 관광객의 지역 내 소비액 × 20%) + (지역상품권 발행 비용: 1,000원/장). 단가 및 정확한 환급 대상 규모는 시범 운영 전 확정 필요.",</a:t>
            </a:r>
          </a:p>
          <a:p xmlns:a="http://schemas.openxmlformats.org/drawingml/2006/main">
            <a:r>
              <a:t>    "evidence": "case:gangjin_half_price_2024, dataset:11200:1, dataset:11200:3",</a:t>
            </a:r>
          </a:p>
          <a:p xmlns:a="http://schemas.openxmlformats.org/drawingml/2006/main">
            <a:r>
              <a:t>    "priority": 1,</a:t>
            </a:r>
          </a:p>
          <a:p xmlns:a="http://schemas.openxmlformats.org/drawingml/2006/main">
            <a:r>
              <a:t>    "solution": "성동구를 방문한 외지인 관광객이 지정된 지역 내 상점에서 일정 금액 이상 소비 시, 소비액의 일부를 성동구 지역상품권으로 즉시 또는 사후 환급하여 해당 상품권이 다시 성동구 내에서 사용되도록 선순환 구조를 구축함.",</a:t>
            </a:r>
          </a:p>
          <a:p xmlns:a="http://schemas.openxmlformats.org/drawingml/2006/main">
            <a:r>
              <a:t>    "timeframe": "2026-09 ~ 2026-11, 3개월",</a:t>
            </a:r>
          </a:p>
          <a:p xmlns:a="http://schemas.openxmlformats.org/drawingml/2006/main">
            <a:r>
              <a:t>    "expected_effect": "운영 목표 가정: 외지인 관광객의 지역 내 소비액이 10% 증가하거나, 지역상품권 사용액이 5% 증가하는 것을 목표로 함. (ML 전망은 탐색적이며 사업 효과를 확정하지 않음)",</a:t>
            </a:r>
          </a:p>
          <a:p xmlns:a="http://schemas.openxmlformats.org/drawingml/2006/main">
            <a:r>
              <a:t>    "problem_to_solve": "낮은 숙박 비율과 당일치기 위주의 소비 패턴을 개선하여 외지인 관광객의 지역 내 체류 시간 및 총 소비액을 증대함.",</a:t>
            </a:r>
          </a:p>
          <a:p xmlns:a="http://schemas.openxmlformats.org/drawingml/2006/main">
            <a:r>
              <a:t>    "comparison_analysis": "강진군 반값여행 사례(case:gangjin_half_price_2024)는 여행자 지출 일부를 지역상품권으로 환급하여 재사용을 유도하는 모델임. 성동구는 이를 적용하되, 성수동 등 특정 권역의 상점 특성과 지역상품권 사용처를 조정하여 운영함.",</a:t>
            </a:r>
          </a:p>
          <a:p xmlns:a="http://schemas.openxmlformats.org/drawingml/2006/main">
            <a:r>
              <a:t>    "implementation_steps": [</a:t>
            </a:r>
          </a:p>
          <a:p xmlns:a="http://schemas.openxmlformats.org/drawingml/2006/main">
            <a:r>
              <a:t>      {</a:t>
            </a:r>
          </a:p>
          <a:p xmlns:a="http://schemas.openxmlformats.org/drawingml/2006/main">
            <a:r>
              <a:t>        "step": 1,</a:t>
            </a:r>
          </a:p>
          <a:p xmlns:a="http://schemas.openxmlformats.org/drawingml/2006/main">
            <a:r>
              <a:t>        "task": "관광기획팀이 참여 상점 모집 및 환급 기준(최소 결제액 등) 수립을 진행하고, 참여 업체 명단 및 운영 지침(안)을 확보함. 모집 미달 시 참여 규모 축소 검토.",</a:t>
            </a:r>
          </a:p>
          <a:p xmlns:a="http://schemas.openxmlformats.org/drawingml/2006/main">
            <a:r>
              <a:t>        "schedule": "2026-09",</a:t>
            </a:r>
          </a:p>
          <a:p xmlns:a="http://schemas.openxmlformats.org/drawingml/2006/main">
            <a:r>
              <a:t>        "deliverable": "참여 업체 명단 및 운영 지침(안)"</a:t>
            </a:r>
          </a:p>
          <a:p xmlns:a="http://schemas.openxmlformats.org/drawingml/2006/main">
            <a:r>
              <a:t>      },</a:t>
            </a:r>
          </a:p>
          <a:p xmlns:a="http://schemas.openxmlformats.org/drawingml/2006/main">
            <a:r>
              <a:t>      {</a:t>
            </a:r>
          </a:p>
          <a:p xmlns:a="http://schemas.openxmlformats.org/drawingml/2006/main">
            <a:r>
              <a:t>        "step": 2,</a:t>
            </a:r>
          </a:p>
          <a:p xmlns:a="http://schemas.openxmlformats.org/drawingml/2006/main">
            <a:r>
              <a:t>        "task": "운영지원팀이 영수증 인증 방식 및 중복 수혜 방지 프로세스를 점검하고, 지출 증빙 및 환급 시스템의 기술적 작동 여부를 확인함.",</a:t>
            </a:r>
          </a:p>
          <a:p xmlns:a="http://schemas.openxmlformats.org/drawingml/2006/main">
            <a:r>
              <a:t>        "schedule": "2026-09",</a:t>
            </a:r>
          </a:p>
          <a:p xmlns:a="http://schemas.openxmlformats.org/drawingml/2006/main">
            <a:r>
              <a:t>        "deliverable": "영수증 인증 및 중복 방지 프로세스 확정서"</a:t>
            </a:r>
          </a:p>
          <a:p xmlns:a="http://schemas.openxmlformats.org/drawingml/2006/main">
            <a:r>
              <a:t>      },</a:t>
            </a:r>
          </a:p>
          <a:p xmlns:a="http://schemas.openxmlformats.org/drawingml/2006/main">
            <a:r>
              <a:t>      {</a:t>
            </a:r>
          </a:p>
          <a:p xmlns:a="http://schemas.openxmlformats.org/drawingml/2006/main">
            <a:r>
              <a:t>        "step": 3,</a:t>
            </a:r>
          </a:p>
          <a:p xmlns:a="http://schemas.openxmlformats.org/drawingml/2006/main">
            <a:r>
              <a:t>        "task": "홍보팀이 환급 신청 및 지급 원장(신청·승인·결제 데이터)을 관리하며, 프로그램 시범 운영과 함께 온·오프라인 홍보를 수행함.",</a:t>
            </a:r>
          </a:p>
          <a:p xmlns:a="http://schemas.openxmlformats.org/drawingml/2006/main">
            <a:r>
              <a:t>        "schedule": "2026-10",</a:t>
            </a:r>
          </a:p>
          <a:p xmlns:a="http://schemas.openxmlformats.org/drawingml/2006/main">
            <a:r>
              <a:t>        "deliverable": "환급 신청 및 지급 원장"</a:t>
            </a:r>
          </a:p>
          <a:p xmlns:a="http://schemas.openxmlformats.org/drawingml/2006/main">
            <a:r>
              <a:t>      },</a:t>
            </a:r>
          </a:p>
          <a:p xmlns:a="http://schemas.openxmlformats.org/drawingml/2006/main">
            <a:r>
              <a:t>      {</a:t>
            </a:r>
          </a:p>
          <a:p xmlns:a="http://schemas.openxmlformats.org/drawingml/2006/main">
            <a:r>
              <a:t>        "step": 4,</a:t>
            </a:r>
          </a:p>
          <a:p xmlns:a="http://schemas.openxmlformats.org/drawingml/2006/main">
            <a:r>
              <a:t>        "task": "현장점검팀이 상점별 이용 현황 및 불편 사항을 수집하고, 참여 업체 피드백을 바탕으로 운영 방식을 모니터링함.",</a:t>
            </a:r>
          </a:p>
          <a:p xmlns:a="http://schemas.openxmlformats.org/drawingml/2006/main">
            <a:r>
              <a:t>        "schedule": "2026-10",</a:t>
            </a:r>
          </a:p>
          <a:p xmlns:a="http://schemas.openxmlformats.org/drawingml/2006/main">
            <a:r>
              <a:t>        "deliverable": "상점별 이용 현황 및 불편 사항 보고서"</a:t>
            </a:r>
          </a:p>
          <a:p xmlns:a="http://schemas.openxmlformats.org/drawingml/2006/main">
            <a:r>
              <a:t>      },</a:t>
            </a:r>
          </a:p>
          <a:p xmlns:a="http://schemas.openxmlformats.org/drawingml/2006/main">
            <a:r>
              <a:t>      {</a:t>
            </a:r>
          </a:p>
          <a:p xmlns:a="http://schemas.openxmlformats.org/drawingml/2006/main">
            <a:r>
              <a:t>        "step": 5,</a:t>
            </a:r>
          </a:p>
          <a:p xmlns:a="http://schemas.openxmlformats.org/drawingml/2006/main">
            <a:r>
              <a:t>        "task": "데이터분석팀이 소비 증대 및 상품권 재사용률을 분석하고, 신청·승인·결제 원장을 기반으로 최종 성과 데이터를 집계함.",</a:t>
            </a:r>
          </a:p>
          <a:p xmlns:a="http://schemas.openxmlformats.org/drawingml/2006/main">
            <a:r>
              <a:t>        "schedule": "2026-11",</a:t>
            </a:r>
          </a:p>
          <a:p xmlns:a="http://schemas.openxmlformats.org/drawingml/2006/main">
            <a:r>
              <a:t>        "deliverable": "소비 증대 및 상품권 재사용률 분석 결과 보고서"</a:t>
            </a:r>
          </a:p>
          <a:p xmlns:a="http://schemas.openxmlformats.org/drawingml/2006/main">
            <a:r>
              <a:t>      }</a:t>
            </a:r>
          </a:p>
          <a:p xmlns:a="http://schemas.openxmlformats.org/drawingml/2006/main">
            <a:r>
              <a:t>    ],</a:t>
            </a:r>
          </a:p>
          <a:p xmlns:a="http://schemas.openxmlformats.org/drawingml/2006/main">
            <a:r>
              <a:t>    "visual_asset_source_ids": []</a:t>
            </a:r>
          </a:p>
          <a:p xmlns:a="http://schemas.openxmlformats.org/drawingml/2006/main">
            <a:r>
              <a:t>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관측값·저장 예측·계획 목표는 별개입니다. 문서용 참고 견적이며 원 보고서의 검수 결과를 변경하지 않습니다.</a:t>
            </a:r>
          </a:p>
          <a:p xmlns:a="http://schemas.openxmlformats.org/drawingml/2006/main">
            <a:r>
              <a:t>[Sources]</a:t>
            </a:r>
          </a:p>
          <a:p xmlns:a="http://schemas.openxmlformats.org/drawingml/2006/main">
            <a:r>
              <a:t>dataset:11200:1 | 한국관광 데이터랩 · 서울특별시 성동구 순 방문자 수 및 숙박 비율 (이동통신 기반 외지인) | https://datalab.visitkorea.or.kr/</a:t>
            </a:r>
          </a:p>
          <a:p xmlns:a="http://schemas.openxmlformats.org/drawingml/2006/main">
            <a:r>
              <a:t>dataset:11200:2 | 한국관광 데이터랩 · 서울특별시 성동구 월간 순 방문자 수 (이동통신 기반 외지인) | https://datalab.visitkorea.or.kr/</a:t>
            </a:r>
          </a:p>
          <a:p xmlns:a="http://schemas.openxmlformats.org/drawingml/2006/main">
            <a:r>
              <a:t>dataset:11200:3 | 한국관광 데이터랩 · 서울특별시 성동구 관광소비 추이_외지인 | https://datalab.visitkorea.or.kr/</a:t>
            </a:r>
          </a:p>
          <a:p xmlns:a="http://schemas.openxmlformats.org/drawingml/2006/main">
            <a:r>
              <a:t>dataset:11200:4 | 한국관광 데이터랩 · 서울특별시 성동구 숙박방문자 비율 추이 (이동통신 기반 외지인) | https://datalab.visitkorea.or.kr/</a:t>
            </a:r>
          </a:p>
          <a:p xmlns:a="http://schemas.openxmlformats.org/drawingml/2006/main">
            <a:r>
              <a:t>dataset:11200:5 | 한국관광 데이터랩 · 서울특별시 성동구 평균 숙박일 (이동통신 기반 외지인) | https://datalab.visitkorea.or.kr/</a:t>
            </a:r>
          </a:p>
          <a:p xmlns:a="http://schemas.openxmlformats.org/drawingml/2006/main">
            <a:r>
              <a:t>dataset:11200:6 | 한국관광 데이터랩 · 서울특별시 성동구 내비게이션 목적지 유형별 검색량 | https://datalab.visitkorea.or.kr/</a:t>
            </a:r>
          </a:p>
          <a:p xmlns:a="http://schemas.openxmlformats.org/drawingml/2006/main">
            <a:r>
              <a:t>dataset:11200:7 | 한국관광 데이터랩 · 서울특별시 성동구 SNS 언급량 | https://datalab.visitkorea.or.kr/</a:t>
            </a:r>
          </a:p>
          <a:p xmlns:a="http://schemas.openxmlformats.org/drawingml/2006/main">
            <a:r>
              <a:t>datalab:0ea2e7ff8811:517c835e3039 | 한국관광 데이터랩 공식 다운로드 · 서울특별시_성동구/숙박_체류시간/2025_01_12.zip | https://datalab.visitkorea.or.kr/</a:t>
            </a:r>
          </a:p>
          <a:p xmlns:a="http://schemas.openxmlformats.org/drawingml/2006/main">
            <a:r>
              <a:t>datalab:3a79405535b3:68f41f6aa9c6 | 한국관광 데이터랩 공식 다운로드 · 서울특별시_성동구/관광소비/2025_01_12.zip | https://datalab.visitkorea.or.kr/</a:t>
            </a:r>
          </a:p>
          <a:p xmlns:a="http://schemas.openxmlformats.org/drawingml/2006/main">
            <a:r>
              <a:t>datalab:6217474023e5:2e717447925f | 한국관광 데이터랩 공식 다운로드 · 서울특별시_성동구/숙박_체류시간/2026_01_06.zip | https://datalab.visitkorea.or.kr/</a:t>
            </a:r>
          </a:p>
          <a:p xmlns:a="http://schemas.openxmlformats.org/drawingml/2006/main">
            <a:r>
              <a:t>datalab:62312101c8d0:9c44bd532366 | 한국관광 데이터랩 공식 다운로드 · 서울특별시_성동구/방문자/2025_01_12.zip | https://datalab.visitkorea.or.kr/</a:t>
            </a:r>
          </a:p>
          <a:p xmlns:a="http://schemas.openxmlformats.org/drawingml/2006/main">
            <a:r>
              <a:t>datalab:7ddda0420208:c68bf7b028b0 | 한국관광 데이터랩 공식 다운로드 · 서울특별시_성동구/관광소비/2026_01_06.zip | https://datalab.visitkorea.or.kr/</a:t>
            </a:r>
          </a:p>
          <a:p xmlns:a="http://schemas.openxmlformats.org/drawingml/2006/main">
            <a:r>
              <a:t>datalab:9369271c7419:76a9b6ea89d8 | 한국관광 데이터랩 공식 다운로드 · 서울특별시_성동구/방문자/2026_01_06.zip | https://datalab.visitkorea.or.kr/</a:t>
            </a:r>
          </a:p>
          <a:p xmlns:a="http://schemas.openxmlformats.org/drawingml/2006/main">
            <a:r>
              <a:t>team-bigdata:23ea68053684:6bfbcf8aabf6 | 한국관광 데이터랩 전국 빅데이터 다운로드 · 이동통신/내국인/지역별 방문자수/20260820140607__202601-202606_데이터랩_다운로드.zip | https://datalab.visitkorea.or.kr/</a:t>
            </a:r>
          </a:p>
          <a:p xmlns:a="http://schemas.openxmlformats.org/drawingml/2006/main">
            <a:r>
              <a:t>team-bigdata:98d4ae590d9a:3be52dd54323 | 한국관광 데이터랩 전국 빅데이터 다운로드 · 이동통신/외국인/20260820141710_전국_202601-202606_데이터랩_다운로드.zip | https://datalab.visitkorea.or.kr/</a:t>
            </a:r>
          </a:p>
          <a:p xmlns:a="http://schemas.openxmlformats.org/drawingml/2006/main">
            <a:r>
              <a:t>team-bigdata:367cd0294ec4:873930d645e5 | 한국관광 데이터랩 전국 빅데이터 다운로드 · 신용카드/내국인/지역별 관광지출액/20260820140046__202601-202606_데이터랩_다운로드.zip | https://datalab.visitkorea.or.kr/</a:t>
            </a:r>
          </a:p>
          <a:p xmlns:a="http://schemas.openxmlformats.org/drawingml/2006/main">
            <a:r>
              <a:t>team-bigdata:553a0dad4bb4:5a31355dffe8 | 한국관광 데이터랩 전국 빅데이터 다운로드 · 신용카드/외국인/지역별 관광지출액/20260820140355__202601-202606_데이터랩_다운로드.zip | https://datalab.visitkorea.or.kr/</a:t>
            </a:r>
          </a:p>
          <a:p xmlns:a="http://schemas.openxmlformats.org/drawingml/2006/main">
            <a:r>
              <a:t>team-bigdata:a53dbe1c21df:77a052de41d5 | 한국관광 데이터랩 전국 빅데이터 다운로드 · 네비게이션/지역별 검색건수/20260820195507__202601-202606_데이터랩_다운로드.zip | https://datalab.visitkorea.or.kr/</a:t>
            </a:r>
          </a:p>
          <a:p xmlns:a="http://schemas.openxmlformats.org/drawingml/2006/main">
            <a:r>
              <a:t>team-bigdata:823a38d1d61c:5385261d02e5 | 한국관광 데이터랩 전국 빅데이터 다운로드 · 이동통신/내국인/지역별 방문자수/20260820140614__202501-202512_데이터랩_다운로드.zip | https://datalab.visitkorea.or.kr/</a:t>
            </a:r>
          </a:p>
          <a:p xmlns:a="http://schemas.openxmlformats.org/drawingml/2006/main">
            <a:r>
              <a:t>team-bigdata:2723bdb0d589:1666a34058ed | 한국관광 데이터랩 전국 빅데이터 다운로드 · 이동통신/외국인/20260820141649_전국_202501-202512_데이터랩_다운로드.zip | https://datalab.visitkorea.or.kr/</a:t>
            </a:r>
          </a:p>
          <a:p xmlns:a="http://schemas.openxmlformats.org/drawingml/2006/main">
            <a:r>
              <a:t>team-bigdata:83177a234971:c02cb7972e0f | 한국관광 데이터랩 전국 빅데이터 다운로드 · 신용카드/내국인/지역별 관광지출액/20260820135957__202501-202512_데이터랩_다운로드.zip | https://datalab.visitkorea.or.kr/</a:t>
            </a:r>
          </a:p>
          <a:p xmlns:a="http://schemas.openxmlformats.org/drawingml/2006/main">
            <a:r>
              <a:t>team-bigdata:58ded7732251:589c76395cbc | 한국관광 데이터랩 전국 빅데이터 다운로드 · 신용카드/외국인/지역별 관광지출액/20260820140409__202501-202512_데이터랩_다운로드.zip | https://datalab.visitkorea.or.kr/</a:t>
            </a:r>
          </a:p>
          <a:p xmlns:a="http://schemas.openxmlformats.org/drawingml/2006/main">
            <a:r>
              <a:t>team-bigdata:e28c947cb52f:bb4cb344a6ba | 한국관광 데이터랩 전국 빅데이터 다운로드 · 네비게이션/지역별 검색건수/20260820132007__202501-202512_데이터랩_다운로드.zip | https://datalab.visitkorea.or.kr/</a:t>
            </a:r>
          </a:p>
          <a:p xmlns:a="http://schemas.openxmlformats.org/drawingml/2006/main">
            <a:r>
              <a:t>team-bigdata:8815bbb11a39:1a5988f5f8ec | 한국관광 데이터랩 전국 빅데이터 다운로드 · 이동통신/내국인/지역별 방문자수/20260820140624__202401-202412_데이터랩_다운로드.zip | https://datalab.visitkorea.or.kr/</a:t>
            </a:r>
          </a:p>
          <a:p xmlns:a="http://schemas.openxmlformats.org/drawingml/2006/main">
            <a:r>
              <a:t>team-bigdata:19fd67fbb73d:afa4f0f54a2f | 한국관광 데이터랩 전국 빅데이터 다운로드 · 이동통신/외국인/20260820141639_전국_202401-202412_데이터랩_다운로드.zip | https://datalab.visitkorea.or.kr/</a:t>
            </a:r>
          </a:p>
          <a:p xmlns:a="http://schemas.openxmlformats.org/drawingml/2006/main">
            <a:r>
              <a:t>regional-status:300d117a9148:9b5e59efa799 | 한국관광 데이터랩 지역별 관광 현황 · 서울특별시 성동구 · 인기관광지 | https://datalab.visitkorea.or.kr/</a:t>
            </a:r>
          </a:p>
          <a:p xmlns:a="http://schemas.openxmlformats.org/drawingml/2006/main">
            <a:r>
              <a:t>regional-status:e1f4d12a3396:706443b7ba17 | 한국관광 데이터랩 지역별 관광 현황 · 서울특별시 성동구 · 유입유출 | https://datalab.visitkorea.or.kr/</a:t>
            </a:r>
          </a:p>
          <a:p xmlns:a="http://schemas.openxmlformats.org/drawingml/2006/main">
            <a:r>
              <a:t>regional-status:f05693fd34a7:ae929e215d91 | 한국관광 데이터랩 지역별 관광 현황 · 서울특별시 성동구 · 지역집중률 | https://datalab.visitkorea.or.kr/</a:t>
            </a:r>
          </a:p>
          <a:p xmlns:a="http://schemas.openxmlformats.org/drawingml/2006/main">
            <a:r>
              <a:t>ml:11200:regional-demand-v3.1:202606 | 지역 관광수요 ML 전망 · 공식 관측값 아님 | URL 미기록</a:t>
            </a:r>
          </a:p>
          <a:p xmlns:a="http://schemas.openxmlformats.org/drawingml/2006/main">
            <a:r>
              <a:t>tour-api:2901229 | 가조쿠 | https://apis.data.go.kr/B551011/KorService2</a:t>
            </a:r>
          </a:p>
          <a:p xmlns:a="http://schemas.openxmlformats.org/drawingml/2006/main">
            <a:r>
              <a:t>tour-api:2895161 | 계월 | https://apis.data.go.kr/B551011/KorService2</a:t>
            </a:r>
          </a:p>
          <a:p xmlns:a="http://schemas.openxmlformats.org/drawingml/2006/main">
            <a:r>
              <a:t>tour-api:2901359 | 계자람 | https://apis.data.go.kr/B551011/KorService2</a:t>
            </a:r>
          </a:p>
          <a:p xmlns:a="http://schemas.openxmlformats.org/drawingml/2006/main">
            <a:r>
              <a:t>tour-api:2895211 | 구욱희씨 | https://apis.data.go.kr/B551011/KorService2</a:t>
            </a:r>
          </a:p>
          <a:p xmlns:a="http://schemas.openxmlformats.org/drawingml/2006/main">
            <a:r>
              <a:t>tour-api:2895236 | 구펠 | https://apis.data.go.kr/B551011/KorService2</a:t>
            </a:r>
          </a:p>
          <a:p xmlns:a="http://schemas.openxmlformats.org/drawingml/2006/main">
            <a:r>
              <a:t>tour-api:2898994 | 그라데이션커피 | https://apis.data.go.kr/B551011/KorService2</a:t>
            </a:r>
          </a:p>
          <a:p xmlns:a="http://schemas.openxmlformats.org/drawingml/2006/main">
            <a:r>
              <a:t>tour-api:2894873 | 그린랩 | https://apis.data.go.kr/B551011/KorService2</a:t>
            </a:r>
          </a:p>
          <a:p xmlns:a="http://schemas.openxmlformats.org/drawingml/2006/main">
            <a:r>
              <a:t>tour-api:2743748 | 금남시장 | https://apis.data.go.kr/B551011/KorService2</a:t>
            </a:r>
          </a:p>
          <a:p xmlns:a="http://schemas.openxmlformats.org/drawingml/2006/main">
            <a:r>
              <a:t>tour-api:2901568 | 기후 | https://apis.data.go.kr/B551011/KorService2</a:t>
            </a:r>
          </a:p>
          <a:p xmlns:a="http://schemas.openxmlformats.org/drawingml/2006/main">
            <a:r>
              <a:t>tour-api:2894842 | 꾸아 성수점 | https://apis.data.go.kr/B551011/KorService2</a:t>
            </a:r>
          </a:p>
          <a:p xmlns:a="http://schemas.openxmlformats.org/drawingml/2006/main">
            <a:r>
              <a:t>tour-api:2843520 | 난포 | https://apis.data.go.kr/B551011/KorService2</a:t>
            </a:r>
          </a:p>
          <a:p xmlns:a="http://schemas.openxmlformats.org/drawingml/2006/main">
            <a:r>
              <a:t>tour-api:2894810 | 누메로도스 | https://apis.data.go.kr/B551011/KorService2</a:t>
            </a:r>
          </a:p>
          <a:p xmlns:a="http://schemas.openxmlformats.org/drawingml/2006/main">
            <a:r>
              <a:t>tour-api:2894795 | 누메로뜨레쓰 | https://apis.data.go.kr/B551011/KorService2</a:t>
            </a:r>
          </a:p>
          <a:p xmlns:a="http://schemas.openxmlformats.org/drawingml/2006/main">
            <a:r>
              <a:t>tour-api:2894763 | 니드스윗 | https://apis.data.go.kr/B551011/KorService2</a:t>
            </a:r>
          </a:p>
          <a:p xmlns:a="http://schemas.openxmlformats.org/drawingml/2006/main">
            <a:r>
              <a:t>tour-api:2894747 | 단일서울 | https://apis.data.go.kr/B551011/KorService2</a:t>
            </a:r>
          </a:p>
          <a:p xmlns:a="http://schemas.openxmlformats.org/drawingml/2006/main">
            <a:r>
              <a:t>tour-api:2894854 | 대돈집 | https://apis.data.go.kr/B551011/KorService2</a:t>
            </a:r>
          </a:p>
          <a:p xmlns:a="http://schemas.openxmlformats.org/drawingml/2006/main">
            <a:r>
              <a:t>tour-api:2899012 | 대흥정육식당 | https://apis.data.go.kr/B551011/KorService2</a:t>
            </a:r>
          </a:p>
          <a:p xmlns:a="http://schemas.openxmlformats.org/drawingml/2006/main">
            <a:r>
              <a:t>tour-api:2753089 | 더서울라이티움 | https://apis.data.go.kr/B551011/KorService2</a:t>
            </a:r>
          </a:p>
          <a:p xmlns:a="http://schemas.openxmlformats.org/drawingml/2006/main">
            <a:r>
              <a:t>tour-api:736766 | 더페이지갤러리 | https://apis.data.go.kr/B551011/KorService2</a:t>
            </a:r>
          </a:p>
          <a:p xmlns:a="http://schemas.openxmlformats.org/drawingml/2006/main">
            <a:r>
              <a:t>tour-api:2845040 | 땅코참숯구이 본점 | https://apis.data.go.kr/B551011/KorService2</a:t>
            </a:r>
          </a:p>
          <a:p xmlns:a="http://schemas.openxmlformats.org/drawingml/2006/main">
            <a:r>
              <a:t>reference:kto:2026:local-airport | 요즘, 한국관광 2호 - 지방공항 연계 지역관광 활성화 방안 | PDF 44쪽, PDF 43쪽, PDF 36쪽, PDF 40쪽, PDF 41쪽, PDF 41쪽, PDF 44쪽, PDF 43쪽, PDF 43쪽 | https://datalab.visitkorea.or.kr/site/portal/ex/bbs/View.do?bcIdx=311068&amp;cbIdx=1135&amp;pageIndex=1</a:t>
            </a:r>
          </a:p>
          <a:p xmlns:a="http://schemas.openxmlformats.org/drawingml/2006/main">
            <a:r>
              <a:t>web:11200:1 | 2026 서울국제정원박람회 &lt; 행사·공연 정보 &lt; 축제·관광 &lt; 미래한강본부, 한강공원 | https://hangang.seoul.go.kr/www/eventMng/detail.do?evntSn=378&amp;mid=538&amp;srchType=list</a:t>
            </a:r>
          </a:p>
          <a:p xmlns:a="http://schemas.openxmlformats.org/drawingml/2006/main">
            <a:r>
              <a:t>web:11200:2 | 개막 20일차 250만명 넘은 서울국제정원박람회… 성수 상권 매출 30% 급증 &gt; 보도자료 | 서울특별시 | https://www.seoul.go.kr/news/news_report.do?nttNo=458311</a:t>
            </a:r>
          </a:p>
          <a:p xmlns:a="http://schemas.openxmlformats.org/drawingml/2006/main">
            <a:r>
              <a:t>web:11200:3 | 서울숲-성수 커넥트 투어 | 2026 서울국제정원박람회 | https://gov.seoul.go.kr/festa/garden/y2026/program/garden-culture-program/commentary-program?article=42926</a:t>
            </a:r>
          </a:p>
          <a:p xmlns:a="http://schemas.openxmlformats.org/drawingml/2006/main">
            <a:r>
              <a:t>web:11200:4 | 2026 서울축제지도 - 가을편 &lt; 공지사항(상세) &lt; 새소식 | 서울문화포털 | https://culture.seoul.go.kr/culture/bbs/B0000000/view.do?menuNo=200050&amp;nttId=16465</a:t>
            </a:r>
          </a:p>
          <a:p xmlns:a="http://schemas.openxmlformats.org/drawingml/2006/main">
            <a:r>
              <a:t>web:11200:5 | 오시는 길 | 2026 서울국제정원박람회 | https://www.seoul.go.kr/festa/garden/y2026/introduce/location?pc=1</a:t>
            </a:r>
          </a:p>
          <a:p xmlns:a="http://schemas.openxmlformats.org/drawingml/2006/main">
            <a:r>
              <a:t>web:11200:6 | (석간) 제11차 도시건축공동위원회 개최결과 &gt; 보도자료 | 서울특별시 | https://www.seoul.go.kr/news/news_report.do?nttNo=460823&amp;tr_code=snews</a:t>
            </a:r>
          </a:p>
          <a:p xmlns:a="http://schemas.openxmlformats.org/drawingml/2006/main">
            <a:r>
              <a:t>web:11200:7 | 2026 서울국제정원박람회 &lt; 행사·공연 정보 &lt; 축제·관광 &lt; 미래한강본부, 한강공원 | https://hangang.seoul.go.kr/www/eventMng/detail.do?evntSn=378&amp;mid=538&amp;srchType=list</a:t>
            </a:r>
          </a:p>
          <a:p xmlns:a="http://schemas.openxmlformats.org/drawingml/2006/main">
            <a:r>
              <a:t>case:jeonju_night_budget_2026 | 전주시 2026년도 관광산업과 세출예산 사업명세서 | https://jeonju.go.kr/resource/www/images/download/budget/2026/2026_31_2.pdf</a:t>
            </a:r>
          </a:p>
          <a:p xmlns:a="http://schemas.openxmlformats.org/drawingml/2006/main">
            <a:r>
              <a:t>case:gangjin_half_price_2024 | 강진 반값여행 지역경제 효과 소개 | https://jnfarm.jeonnam.go.kr/board/FARM_BOARD_008/boardView.do?bdId=BD_00000000000011721&amp;menuCd=farm004002</a:t>
            </a:r>
          </a:p>
          <a:p xmlns:a="http://schemas.openxmlformats.org/drawingml/2006/main">
            <a:r>
              <a:t>case:digital_tourism_resident_2024 | 2024년 6월 여행가는 달 추진 보도자료 | https://mcst.go.kr/servlets/eduport/front/upload/UplDownloadFile?pFileName=%280514%29%EB%AC%B8%EC%B2%B4%EB%B6%80%EB%B3%B4%EB%8F%84%EC%9E%90%EB%A3%8C-6%EC%9B%94_%EC%97%AC%ED%96%89%EA%B0%80%EB%8A%94_%EB%8B%AC_%EC%B6%94%EC%A7%84.pdf&amp;pPath=0302000000&amp;pRealName=20240514083202149235802932_PRESS20240514083202456506.pdf</a:t>
            </a:r>
          </a:p>
          <a:p xmlns:a="http://schemas.openxmlformats.org/drawingml/2006/main">
            <a:r>
              <a:t>case:kto_stay_discount_2022 | 2022 대한민국 숙박대전 경제파급효과 공개자료 | https://kto.visitkorea.or.kr/upload/flexer/upload/ktobiz/20220928/b623b5f9-3ec0-11ed-9832-ddf31964842e.hwp.files/Sections1.html</a:t>
            </a:r>
          </a:p>
          <a:p xmlns:a="http://schemas.openxmlformats.org/drawingml/2006/main">
            <a:r>
              <a:t>case:night_festival_2025 | 2025 대한민국 밤밤페스타 개최 도시 및 일정 | https://korean.visitkorea.or.kr/detail/rem_detail.do?cotid=f9c636b2-dd7c-4f09-af3d-6af43b33d371</a:t>
            </a:r>
          </a:p>
          <a:p xmlns:a="http://schemas.openxmlformats.org/drawingml/2006/main">
            <a:r>
              <a:t>case:night_tourism_cities_2024 | 2024년도 정부업무평가 관광분야 성과자료 | https://www.evaluation.go.kr/upload2/atch/eval/20250429095846463.pdf</a:t>
            </a:r>
          </a:p>
          <a:p xmlns:a="http://schemas.openxmlformats.org/drawingml/2006/main">
            <a:r>
              <a:t>[/Sources]</a:t>
            </a:r>
          </a:p>
          <a:p xmlns:a="http://schemas.openxmlformats.org/drawingml/2006/main">
            <a:r>
              <a:t>[Saved narrative]</a:t>
            </a:r>
          </a:p>
          <a:p xmlns:a="http://schemas.openxmlformats.org/drawingml/2006/main">
            <a:r>
              <a:t>[</a:t>
            </a:r>
          </a:p>
          <a:p xmlns:a="http://schemas.openxmlformats.org/drawingml/2006/main">
            <a:r>
              <a:t>  {</a:t>
            </a:r>
          </a:p>
          <a:p xmlns:a="http://schemas.openxmlformats.org/drawingml/2006/main">
            <a:r>
              <a:t>    "kpi": "환급 후 재사용률(분자: 환급 후 성동구 내 적격 재결제액 합계 / 분모: 지급한 환급액 합계). 기준기간: 운영 전 4주. 측정주기: 매주. 수집방법: 신청·승인·이용·결제 원장 집계. 비교집단: 동일 기간 내 미참여 권역 또는 순차 도입 미운영 집단. 성공기준: 기준선 확인 후 착수 전 확정.",</a:t>
            </a:r>
          </a:p>
          <a:p xmlns:a="http://schemas.openxmlformats.org/drawingml/2006/main">
            <a:r>
              <a:t>    "title": "성동구 지역상품권 환급 프로그램",</a:t>
            </a:r>
          </a:p>
          <a:p xmlns:a="http://schemas.openxmlformats.org/drawingml/2006/main">
            <a:r>
              <a:t>    "budget": "지역상품권 환급액 = (외지인 관광객의 지역 내 소비액 × 20%) + (지역상품권 발행 비용: 1,000원/장). 단가 및 정확한 환급 대상 규모는 시범 운영 전 확정 필요.",</a:t>
            </a:r>
          </a:p>
          <a:p xmlns:a="http://schemas.openxmlformats.org/drawingml/2006/main">
            <a:r>
              <a:t>    "evidence": "case:gangjin_half_price_2024, dataset:11200:1, dataset:11200:3",</a:t>
            </a:r>
          </a:p>
          <a:p xmlns:a="http://schemas.openxmlformats.org/drawingml/2006/main">
            <a:r>
              <a:t>    "priority": 1,</a:t>
            </a:r>
          </a:p>
          <a:p xmlns:a="http://schemas.openxmlformats.org/drawingml/2006/main">
            <a:r>
              <a:t>    "solution": "성동구를 방문한 외지인 관광객이 지정된 지역 내 상점에서 일정 금액 이상 소비 시, 소비액의 일부를 성동구 지역상품권으로 즉시 또는 사후 환급하여 해당 상품권이 다시 성동구 내에서 사용되도록 선순환 구조를 구축함.",</a:t>
            </a:r>
          </a:p>
          <a:p xmlns:a="http://schemas.openxmlformats.org/drawingml/2006/main">
            <a:r>
              <a:t>    "timeframe": "2026-09 ~ 2026-11, 3개월",</a:t>
            </a:r>
          </a:p>
          <a:p xmlns:a="http://schemas.openxmlformats.org/drawingml/2006/main">
            <a:r>
              <a:t>    "expected_effect": "운영 목표 가정: 외지인 관광객의 지역 내 소비액이 10% 증가하거나, 지역상품권 사용액이 5% 증가하는 것을 목표로 함. (ML 전망은 탐색적이며 사업 효과를 확정하지 않음)",</a:t>
            </a:r>
          </a:p>
          <a:p xmlns:a="http://schemas.openxmlformats.org/drawingml/2006/main">
            <a:r>
              <a:t>    "problem_to_solve": "낮은 숙박 비율과 당일치기 위주의 소비 패턴을 개선하여 외지인 관광객의 지역 내 체류 시간 및 총 소비액을 증대함.",</a:t>
            </a:r>
          </a:p>
          <a:p xmlns:a="http://schemas.openxmlformats.org/drawingml/2006/main">
            <a:r>
              <a:t>    "comparison_analysis": "강진군 반값여행 사례(case:gangjin_half_price_2024)는 여행자 지출 일부를 지역상품권으로 환급하여 재사용을 유도하는 모델임. 성동구는 이를 적용하되, 성수동 등 특정 권역의 상점 특성과 지역상품권 사용처를 조정하여 운영함.",</a:t>
            </a:r>
          </a:p>
          <a:p xmlns:a="http://schemas.openxmlformats.org/drawingml/2006/main">
            <a:r>
              <a:t>    "implementation_steps": [</a:t>
            </a:r>
          </a:p>
          <a:p xmlns:a="http://schemas.openxmlformats.org/drawingml/2006/main">
            <a:r>
              <a:t>      {</a:t>
            </a:r>
          </a:p>
          <a:p xmlns:a="http://schemas.openxmlformats.org/drawingml/2006/main">
            <a:r>
              <a:t>        "step": 1,</a:t>
            </a:r>
          </a:p>
          <a:p xmlns:a="http://schemas.openxmlformats.org/drawingml/2006/main">
            <a:r>
              <a:t>        "task": "관광기획팀이 참여 상점 모집 및 환급 기준(최소 결제액 등) 수립을 진행하고, 참여 업체 명단 및 운영 지침(안)을 확보함. 모집 미달 시 참여 규모 축소 검토.",</a:t>
            </a:r>
          </a:p>
          <a:p xmlns:a="http://schemas.openxmlformats.org/drawingml/2006/main">
            <a:r>
              <a:t>        "schedule": "2026-09",</a:t>
            </a:r>
          </a:p>
          <a:p xmlns:a="http://schemas.openxmlformats.org/drawingml/2006/main">
            <a:r>
              <a:t>        "deliverable": "참여 업체 명단 및 운영 지침(안)"</a:t>
            </a:r>
          </a:p>
          <a:p xmlns:a="http://schemas.openxmlformats.org/drawingml/2006/main">
            <a:r>
              <a:t>      },</a:t>
            </a:r>
          </a:p>
          <a:p xmlns:a="http://schemas.openxmlformats.org/drawingml/2006/main">
            <a:r>
              <a:t>      {</a:t>
            </a:r>
          </a:p>
          <a:p xmlns:a="http://schemas.openxmlformats.org/drawingml/2006/main">
            <a:r>
              <a:t>        "step": 2,</a:t>
            </a:r>
          </a:p>
          <a:p xmlns:a="http://schemas.openxmlformats.org/drawingml/2006/main">
            <a:r>
              <a:t>        "task": "운영지원팀이 영수증 인증 방식 및 중복 수혜 방지 프로세스를 점검하고, 지출 증빙 및 환급 시스템의 기술적 작동 여부를 확인함.",</a:t>
            </a:r>
          </a:p>
          <a:p xmlns:a="http://schemas.openxmlformats.org/drawingml/2006/main">
            <a:r>
              <a:t>        "schedule": "2026-09",</a:t>
            </a:r>
          </a:p>
          <a:p xmlns:a="http://schemas.openxmlformats.org/drawingml/2006/main">
            <a:r>
              <a:t>        "deliverable": "영수증 인증 및 중복 방지 프로세스 확정서"</a:t>
            </a:r>
          </a:p>
          <a:p xmlns:a="http://schemas.openxmlformats.org/drawingml/2006/main">
            <a:r>
              <a:t>      },</a:t>
            </a:r>
          </a:p>
          <a:p xmlns:a="http://schemas.openxmlformats.org/drawingml/2006/main">
            <a:r>
              <a:t>      {</a:t>
            </a:r>
          </a:p>
          <a:p xmlns:a="http://schemas.openxmlformats.org/drawingml/2006/main">
            <a:r>
              <a:t>        "step": 3,</a:t>
            </a:r>
          </a:p>
          <a:p xmlns:a="http://schemas.openxmlformats.org/drawingml/2006/main">
            <a:r>
              <a:t>        "task": "홍보팀이 환급 신청 및 지급 원장(신청·승인·결제 데이터)을 관리하며, 프로그램 시범 운영과 함께 온·오프라인 홍보를 수행함.",</a:t>
            </a:r>
          </a:p>
          <a:p xmlns:a="http://schemas.openxmlformats.org/drawingml/2006/main">
            <a:r>
              <a:t>        "schedule": "2026-10",</a:t>
            </a:r>
          </a:p>
          <a:p xmlns:a="http://schemas.openxmlformats.org/drawingml/2006/main">
            <a:r>
              <a:t>        "deliverable": "환급 신청 및 지급 원장"</a:t>
            </a:r>
          </a:p>
          <a:p xmlns:a="http://schemas.openxmlformats.org/drawingml/2006/main">
            <a:r>
              <a:t>      },</a:t>
            </a:r>
          </a:p>
          <a:p xmlns:a="http://schemas.openxmlformats.org/drawingml/2006/main">
            <a:r>
              <a:t>      {</a:t>
            </a:r>
          </a:p>
          <a:p xmlns:a="http://schemas.openxmlformats.org/drawingml/2006/main">
            <a:r>
              <a:t>        "step": 4,</a:t>
            </a:r>
          </a:p>
          <a:p xmlns:a="http://schemas.openxmlformats.org/drawingml/2006/main">
            <a:r>
              <a:t>        "task": "현장점검팀이 상점별 이용 현황 및 불편 사항을 수집하고, 참여 업체 피드백을 바탕으로 운영 방식을 모니터링함.",</a:t>
            </a:r>
          </a:p>
          <a:p xmlns:a="http://schemas.openxmlformats.org/drawingml/2006/main">
            <a:r>
              <a:t>        "schedule": "2026-10",</a:t>
            </a:r>
          </a:p>
          <a:p xmlns:a="http://schemas.openxmlformats.org/drawingml/2006/main">
            <a:r>
              <a:t>        "deliverable": "상점별 이용 현황 및 불편 사항 보고서"</a:t>
            </a:r>
          </a:p>
          <a:p xmlns:a="http://schemas.openxmlformats.org/drawingml/2006/main">
            <a:r>
              <a:t>      },</a:t>
            </a:r>
          </a:p>
          <a:p xmlns:a="http://schemas.openxmlformats.org/drawingml/2006/main">
            <a:r>
              <a:t>      {</a:t>
            </a:r>
          </a:p>
          <a:p xmlns:a="http://schemas.openxmlformats.org/drawingml/2006/main">
            <a:r>
              <a:t>        "step": 5,</a:t>
            </a:r>
          </a:p>
          <a:p xmlns:a="http://schemas.openxmlformats.org/drawingml/2006/main">
            <a:r>
              <a:t>        "task": "데이터분석팀이 소비 증대 및 상품권 재사용률을 분석하고, 신청·승인·결제 원장을 기반으로 최종 성과 데이터를 집계함.",</a:t>
            </a:r>
          </a:p>
          <a:p xmlns:a="http://schemas.openxmlformats.org/drawingml/2006/main">
            <a:r>
              <a:t>        "schedule": "2026-11",</a:t>
            </a:r>
          </a:p>
          <a:p xmlns:a="http://schemas.openxmlformats.org/drawingml/2006/main">
            <a:r>
              <a:t>        "deliverable": "소비 증대 및 상품권 재사용률 분석 결과 보고서"</a:t>
            </a:r>
          </a:p>
          <a:p xmlns:a="http://schemas.openxmlformats.org/drawingml/2006/main">
            <a:r>
              <a:t>      }</a:t>
            </a:r>
          </a:p>
          <a:p xmlns:a="http://schemas.openxmlformats.org/drawingml/2006/main">
            <a:r>
              <a:t>    ],</a:t>
            </a:r>
          </a:p>
          <a:p xmlns:a="http://schemas.openxmlformats.org/drawingml/2006/main">
            <a:r>
              <a:t>    "visual_asset_source_ids": []</a:t>
            </a:r>
          </a:p>
          <a:p xmlns:a="http://schemas.openxmlformats.org/drawingml/2006/main">
            <a:r>
              <a:t>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관측값·저장 예측·계획 목표는 별개입니다. 문서용 참고 견적이며 원 보고서의 검수 결과를 변경하지 않습니다.</a:t>
            </a:r>
          </a:p>
          <a:p>
            <a:r>
              <a:t>[Sources]</a:t>
            </a:r>
          </a:p>
          <a:p>
            <a:r>
              <a:t>dataset:11200:1 | 한국관광 데이터랩 · 서울특별시 성동구 순 방문자 수 및 숙박 비율 (이동통신 기반 외지인) | https://datalab.visitkorea.or.kr/</a:t>
            </a:r>
          </a:p>
          <a:p>
            <a:r>
              <a:t>dataset:11200:2 | 한국관광 데이터랩 · 서울특별시 성동구 월간 순 방문자 수 (이동통신 기반 외지인) | https://datalab.visitkorea.or.kr/</a:t>
            </a:r>
          </a:p>
          <a:p>
            <a:r>
              <a:t>dataset:11200:3 | 한국관광 데이터랩 · 서울특별시 성동구 관광소비 추이_외지인 | https://datalab.visitkorea.or.kr/</a:t>
            </a:r>
          </a:p>
          <a:p>
            <a:r>
              <a:t>dataset:11200:4 | 한국관광 데이터랩 · 서울특별시 성동구 숙박방문자 비율 추이 (이동통신 기반 외지인) | https://datalab.visitkorea.or.kr/</a:t>
            </a:r>
          </a:p>
          <a:p>
            <a:r>
              <a:t>dataset:11200:5 | 한국관광 데이터랩 · 서울특별시 성동구 평균 숙박일 (이동통신 기반 외지인) | https://datalab.visitkorea.or.kr/</a:t>
            </a:r>
          </a:p>
          <a:p>
            <a:r>
              <a:t>dataset:11200:6 | 한국관광 데이터랩 · 서울특별시 성동구 내비게이션 목적지 유형별 검색량 | https://datalab.visitkorea.or.kr/</a:t>
            </a:r>
          </a:p>
          <a:p>
            <a:r>
              <a:t>dataset:11200:7 | 한국관광 데이터랩 · 서울특별시 성동구 SNS 언급량 | https://datalab.visitkorea.or.kr/</a:t>
            </a:r>
          </a:p>
          <a:p>
            <a:r>
              <a:t>datalab:0ea2e7ff8811:517c835e3039 | 한국관광 데이터랩 공식 다운로드 · 서울특별시_성동구/숙박_체류시간/2025_01_12.zip | https://datalab.visitkorea.or.kr/</a:t>
            </a:r>
          </a:p>
          <a:p>
            <a:r>
              <a:t>datalab:3a79405535b3:68f41f6aa9c6 | 한국관광 데이터랩 공식 다운로드 · 서울특별시_성동구/관광소비/2025_01_12.zip | https://datalab.visitkorea.or.kr/</a:t>
            </a:r>
          </a:p>
          <a:p>
            <a:r>
              <a:t>datalab:6217474023e5:2e717447925f | 한국관광 데이터랩 공식 다운로드 · 서울특별시_성동구/숙박_체류시간/2026_01_06.zip | https://datalab.visitkorea.or.kr/</a:t>
            </a:r>
          </a:p>
          <a:p>
            <a:r>
              <a:t>datalab:62312101c8d0:9c44bd532366 | 한국관광 데이터랩 공식 다운로드 · 서울특별시_성동구/방문자/2025_01_12.zip | https://datalab.visitkorea.or.kr/</a:t>
            </a:r>
          </a:p>
          <a:p>
            <a:r>
              <a:t>datalab:7ddda0420208:c68bf7b028b0 | 한국관광 데이터랩 공식 다운로드 · 서울특별시_성동구/관광소비/2026_01_06.zip | https://datalab.visitkorea.or.kr/</a:t>
            </a:r>
          </a:p>
          <a:p>
            <a:r>
              <a:t>datalab:9369271c7419:76a9b6ea89d8 | 한국관광 데이터랩 공식 다운로드 · 서울특별시_성동구/방문자/2026_01_06.zip | https://datalab.visitkorea.or.kr/</a:t>
            </a:r>
          </a:p>
          <a:p>
            <a:r>
              <a:t>team-bigdata:23ea68053684:6bfbcf8aabf6 | 한국관광 데이터랩 전국 빅데이터 다운로드 · 이동통신/내국인/지역별 방문자수/20260820140607__202601-202606_데이터랩_다운로드.zip | https://datalab.visitkorea.or.kr/</a:t>
            </a:r>
          </a:p>
          <a:p>
            <a:r>
              <a:t>team-bigdata:98d4ae590d9a:3be52dd54323 | 한국관광 데이터랩 전국 빅데이터 다운로드 · 이동통신/외국인/20260820141710_전국_202601-202606_데이터랩_다운로드.zip | https://datalab.visitkorea.or.kr/</a:t>
            </a:r>
          </a:p>
          <a:p>
            <a:r>
              <a:t>team-bigdata:367cd0294ec4:873930d645e5 | 한국관광 데이터랩 전국 빅데이터 다운로드 · 신용카드/내국인/지역별 관광지출액/20260820140046__202601-202606_데이터랩_다운로드.zip | https://datalab.visitkorea.or.kr/</a:t>
            </a:r>
          </a:p>
          <a:p>
            <a:r>
              <a:t>team-bigdata:553a0dad4bb4:5a31355dffe8 | 한국관광 데이터랩 전국 빅데이터 다운로드 · 신용카드/외국인/지역별 관광지출액/20260820140355__202601-202606_데이터랩_다운로드.zip | https://datalab.visitkorea.or.kr/</a:t>
            </a:r>
          </a:p>
          <a:p>
            <a:r>
              <a:t>team-bigdata:a53dbe1c21df:77a052de41d5 | 한국관광 데이터랩 전국 빅데이터 다운로드 · 네비게이션/지역별 검색건수/20260820195507__202601-202606_데이터랩_다운로드.zip | https://datalab.visitkorea.or.kr/</a:t>
            </a:r>
          </a:p>
          <a:p>
            <a:r>
              <a:t>team-bigdata:823a38d1d61c:5385261d02e5 | 한국관광 데이터랩 전국 빅데이터 다운로드 · 이동통신/내국인/지역별 방문자수/20260820140614__202501-202512_데이터랩_다운로드.zip | https://datalab.visitkorea.or.kr/</a:t>
            </a:r>
          </a:p>
          <a:p>
            <a:r>
              <a:t>team-bigdata:2723bdb0d589:1666a34058ed | 한국관광 데이터랩 전국 빅데이터 다운로드 · 이동통신/외국인/20260820141649_전국_202501-202512_데이터랩_다운로드.zip | https://datalab.visitkorea.or.kr/</a:t>
            </a:r>
          </a:p>
          <a:p>
            <a:r>
              <a:t>team-bigdata:83177a234971:c02cb7972e0f | 한국관광 데이터랩 전국 빅데이터 다운로드 · 신용카드/내국인/지역별 관광지출액/20260820135957__202501-202512_데이터랩_다운로드.zip | https://datalab.visitkorea.or.kr/</a:t>
            </a:r>
          </a:p>
          <a:p>
            <a:r>
              <a:t>team-bigdata:58ded7732251:589c76395cbc | 한국관광 데이터랩 전국 빅데이터 다운로드 · 신용카드/외국인/지역별 관광지출액/20260820140409__202501-202512_데이터랩_다운로드.zip | https://datalab.visitkorea.or.kr/</a:t>
            </a:r>
          </a:p>
          <a:p>
            <a:r>
              <a:t>team-bigdata:e28c947cb52f:bb4cb344a6ba | 한국관광 데이터랩 전국 빅데이터 다운로드 · 네비게이션/지역별 검색건수/20260820132007__202501-202512_데이터랩_다운로드.zip | https://datalab.visitkorea.or.kr/</a:t>
            </a:r>
          </a:p>
          <a:p>
            <a:r>
              <a:t>team-bigdata:8815bbb11a39:1a5988f5f8ec | 한국관광 데이터랩 전국 빅데이터 다운로드 · 이동통신/내국인/지역별 방문자수/20260820140624__202401-202412_데이터랩_다운로드.zip | https://datalab.visitkorea.or.kr/</a:t>
            </a:r>
          </a:p>
          <a:p>
            <a:r>
              <a:t>team-bigdata:19fd67fbb73d:afa4f0f54a2f | 한국관광 데이터랩 전국 빅데이터 다운로드 · 이동통신/외국인/20260820141639_전국_202401-202412_데이터랩_다운로드.zip | https://datalab.visitkorea.or.kr/</a:t>
            </a:r>
          </a:p>
          <a:p>
            <a:r>
              <a:t>regional-status:300d117a9148:9b5e59efa799 | 한국관광 데이터랩 지역별 관광 현황 · 서울특별시 성동구 · 인기관광지 | https://datalab.visitkorea.or.kr/</a:t>
            </a:r>
          </a:p>
          <a:p>
            <a:r>
              <a:t>regional-status:e1f4d12a3396:706443b7ba17 | 한국관광 데이터랩 지역별 관광 현황 · 서울특별시 성동구 · 유입유출 | https://datalab.visitkorea.or.kr/</a:t>
            </a:r>
          </a:p>
          <a:p>
            <a:r>
              <a:t>regional-status:f05693fd34a7:ae929e215d91 | 한국관광 데이터랩 지역별 관광 현황 · 서울특별시 성동구 · 지역집중률 | https://datalab.visitkorea.or.kr/</a:t>
            </a:r>
          </a:p>
          <a:p>
            <a:r>
              <a:t>ml:11200:regional-demand-v3.1:202606 | 지역 관광수요 ML 전망 · 공식 관측값 아님 | URL 미기록</a:t>
            </a:r>
          </a:p>
          <a:p>
            <a:r>
              <a:t>tour-api:2901229 | 가조쿠 | https://apis.data.go.kr/B551011/KorService2</a:t>
            </a:r>
          </a:p>
          <a:p>
            <a:r>
              <a:t>tour-api:2895161 | 계월 | https://apis.data.go.kr/B551011/KorService2</a:t>
            </a:r>
          </a:p>
          <a:p>
            <a:r>
              <a:t>tour-api:2901359 | 계자람 | https://apis.data.go.kr/B551011/KorService2</a:t>
            </a:r>
          </a:p>
          <a:p>
            <a:r>
              <a:t>tour-api:2895211 | 구욱희씨 | https://apis.data.go.kr/B551011/KorService2</a:t>
            </a:r>
          </a:p>
          <a:p>
            <a:r>
              <a:t>tour-api:2895236 | 구펠 | https://apis.data.go.kr/B551011/KorService2</a:t>
            </a:r>
          </a:p>
          <a:p>
            <a:r>
              <a:t>tour-api:2898994 | 그라데이션커피 | https://apis.data.go.kr/B551011/KorService2</a:t>
            </a:r>
          </a:p>
          <a:p>
            <a:r>
              <a:t>tour-api:2894873 | 그린랩 | https://apis.data.go.kr/B551011/KorService2</a:t>
            </a:r>
          </a:p>
          <a:p>
            <a:r>
              <a:t>tour-api:2743748 | 금남시장 | https://apis.data.go.kr/B551011/KorService2</a:t>
            </a:r>
          </a:p>
          <a:p>
            <a:r>
              <a:t>tour-api:2901568 | 기후 | https://apis.data.go.kr/B551011/KorService2</a:t>
            </a:r>
          </a:p>
          <a:p>
            <a:r>
              <a:t>tour-api:2894842 | 꾸아 성수점 | https://apis.data.go.kr/B551011/KorService2</a:t>
            </a:r>
          </a:p>
          <a:p>
            <a:r>
              <a:t>tour-api:2843520 | 난포 | https://apis.data.go.kr/B551011/KorService2</a:t>
            </a:r>
          </a:p>
          <a:p>
            <a:r>
              <a:t>tour-api:2894810 | 누메로도스 | https://apis.data.go.kr/B551011/KorService2</a:t>
            </a:r>
          </a:p>
          <a:p>
            <a:r>
              <a:t>tour-api:2894795 | 누메로뜨레쓰 | https://apis.data.go.kr/B551011/KorService2</a:t>
            </a:r>
          </a:p>
          <a:p>
            <a:r>
              <a:t>tour-api:2894763 | 니드스윗 | https://apis.data.go.kr/B551011/KorService2</a:t>
            </a:r>
          </a:p>
          <a:p>
            <a:r>
              <a:t>tour-api:2894747 | 단일서울 | https://apis.data.go.kr/B551011/KorService2</a:t>
            </a:r>
          </a:p>
          <a:p>
            <a:r>
              <a:t>tour-api:2894854 | 대돈집 | https://apis.data.go.kr/B551011/KorService2</a:t>
            </a:r>
          </a:p>
          <a:p>
            <a:r>
              <a:t>tour-api:2899012 | 대흥정육식당 | https://apis.data.go.kr/B551011/KorService2</a:t>
            </a:r>
          </a:p>
          <a:p>
            <a:r>
              <a:t>tour-api:2753089 | 더서울라이티움 | https://apis.data.go.kr/B551011/KorService2</a:t>
            </a:r>
          </a:p>
          <a:p>
            <a:r>
              <a:t>tour-api:736766 | 더페이지갤러리 | https://apis.data.go.kr/B551011/KorService2</a:t>
            </a:r>
          </a:p>
          <a:p>
            <a:r>
              <a:t>tour-api:2845040 | 땅코참숯구이 본점 | https://apis.data.go.kr/B551011/KorService2</a:t>
            </a:r>
          </a:p>
          <a:p>
            <a:r>
              <a:t>reference:kto:2026:local-airport | 요즘, 한국관광 2호 - 지방공항 연계 지역관광 활성화 방안 | PDF 44쪽, PDF 43쪽, PDF 36쪽, PDF 40쪽, PDF 41쪽, PDF 41쪽, PDF 44쪽, PDF 43쪽, PDF 43쪽 | https://datalab.visitkorea.or.kr/site/portal/ex/bbs/View.do?bcIdx=311068&amp;cbIdx=1135&amp;pageIndex=1</a:t>
            </a:r>
          </a:p>
          <a:p>
            <a:r>
              <a:t>web:11200:1 | 2026 서울국제정원박람회 &lt; 행사·공연 정보 &lt; 축제·관광 &lt; 미래한강본부, 한강공원 | https://hangang.seoul.go.kr/www/eventMng/detail.do?evntSn=378&amp;mid=538&amp;srchType=list</a:t>
            </a:r>
          </a:p>
          <a:p>
            <a:r>
              <a:t>web:11200:2 | 개막 20일차 250만명 넘은 서울국제정원박람회… 성수 상권 매출 30% 급증 &gt; 보도자료 | 서울특별시 | https://www.seoul.go.kr/news/news_report.do?nttNo=458311</a:t>
            </a:r>
          </a:p>
          <a:p>
            <a:r>
              <a:t>web:11200:3 | 서울숲-성수 커넥트 투어 | 2026 서울국제정원박람회 | https://gov.seoul.go.kr/festa/garden/y2026/program/garden-culture-program/commentary-program?article=42926</a:t>
            </a:r>
          </a:p>
          <a:p>
            <a:r>
              <a:t>web:11200:4 | 2026 서울축제지도 - 가을편 &lt; 공지사항(상세) &lt; 새소식 | 서울문화포털 | https://culture.seoul.go.kr/culture/bbs/B0000000/view.do?menuNo=200050&amp;nttId=16465</a:t>
            </a:r>
          </a:p>
          <a:p>
            <a:r>
              <a:t>web:11200:5 | 오시는 길 | 2026 서울국제정원박람회 | https://www.seoul.go.kr/festa/garden/y2026/introduce/location?pc=1</a:t>
            </a:r>
          </a:p>
          <a:p>
            <a:r>
              <a:t>web:11200:6 | (석간) 제11차 도시건축공동위원회 개최결과 &gt; 보도자료 | 서울특별시 | https://www.seoul.go.kr/news/news_report.do?nttNo=460823&amp;tr_code=snews</a:t>
            </a:r>
          </a:p>
          <a:p>
            <a:r>
              <a:t>web:11200:7 | 2026 서울국제정원박람회 &lt; 행사·공연 정보 &lt; 축제·관광 &lt; 미래한강본부, 한강공원 | https://hangang.seoul.go.kr/www/eventMng/detail.do?evntSn=378&amp;mid=538&amp;srchType=list</a:t>
            </a:r>
          </a:p>
          <a:p>
            <a:r>
              <a:t>case:jeonju_night_budget_2026 | 전주시 2026년도 관광산업과 세출예산 사업명세서 | https://jeonju.go.kr/resource/www/images/download/budget/2026/2026_31_2.pdf</a:t>
            </a:r>
          </a:p>
          <a:p>
            <a:r>
              <a:t>case:gangjin_half_price_2024 | 강진 반값여행 지역경제 효과 소개 | https://jnfarm.jeonnam.go.kr/board/FARM_BOARD_008/boardView.do?bdId=BD_00000000000011721&amp;menuCd=farm004002</a:t>
            </a:r>
          </a:p>
          <a:p>
            <a:r>
              <a:t>case:digital_tourism_resident_2024 | 2024년 6월 여행가는 달 추진 보도자료 | https://mcst.go.kr/servlets/eduport/front/upload/UplDownloadFile?pFileName=%280514%29%EB%AC%B8%EC%B2%B4%EB%B6%80%EB%B3%B4%EB%8F%84%EC%9E%90%EB%A3%8C-6%EC%9B%94_%EC%97%AC%ED%96%89%EA%B0%80%EB%8A%94_%EB%8B%AC_%EC%B6%94%EC%A7%84.pdf&amp;pPath=0302000000&amp;pRealName=20240514083202149235802932_PRESS20240514083202456506.pdf</a:t>
            </a:r>
          </a:p>
          <a:p>
            <a:r>
              <a:t>case:kto_stay_discount_2022 | 2022 대한민국 숙박대전 경제파급효과 공개자료 | https://kto.visitkorea.or.kr/upload/flexer/upload/ktobiz/20220928/b623b5f9-3ec0-11ed-9832-ddf31964842e.hwp.files/Sections1.html</a:t>
            </a:r>
          </a:p>
          <a:p>
            <a:r>
              <a:t>case:night_festival_2025 | 2025 대한민국 밤밤페스타 개최 도시 및 일정 | https://korean.visitkorea.or.kr/detail/rem_detail.do?cotid=f9c636b2-dd7c-4f09-af3d-6af43b33d371</a:t>
            </a:r>
          </a:p>
          <a:p>
            <a:r>
              <a:t>case:night_tourism_cities_2024 | 2024년도 정부업무평가 관광분야 성과자료 | https://www.evaluation.go.kr/upload2/atch/eval/20250429095846463.pdf</a:t>
            </a:r>
          </a:p>
          <a:p>
            <a:r>
              <a:t>[/Sources]</a:t>
            </a:r>
          </a:p>
          <a:p>
            <a:r>
              <a:t>[Calculation audit]</a:t>
            </a:r>
          </a:p>
          <a:p>
            <a:r>
              <a:t>{</a:t>
            </a:r>
          </a:p>
          <a:p>
            <a:r>
              <a:t>  "source_inventory": [</a:t>
            </a:r>
          </a:p>
          <a:p>
            <a:r>
              <a:t>    {</a:t>
            </a:r>
          </a:p>
          <a:p>
            <a:r>
              <a:t>      "title": "한국관광 데이터랩 · 서울특별시 성동구 순 방문자 수 및 숙박 비율 (이동통신 기반 외지인)",</a:t>
            </a:r>
          </a:p>
          <a:p>
            <a:r>
              <a:t>      "summary": "월간 순 방문자 수: 6,687,696명 (관측 기준월: 2026-06)",</a:t>
            </a:r>
          </a:p>
          <a:p>
            <a:r>
              <a:t>      "source_id": "dataset:11200:1",</a:t>
            </a:r>
          </a:p>
          <a:p>
            <a:r>
              <a:t>      "source_url": "https://datalab.visitkorea.or.kr/",</a:t>
            </a:r>
          </a:p>
          <a:p>
            <a:r>
              <a:t>      "source_type": "dataset",</a:t>
            </a:r>
          </a:p>
          <a:p>
            <a:r>
              <a:t>      "observation_period": "2026-06",</a:t>
            </a:r>
          </a:p>
          <a:p>
            <a:r>
              <a:t>      "published_or_updated_at": "2026-06"</a:t>
            </a:r>
          </a:p>
          <a:p>
            <a:r>
              <a:t>    },</a:t>
            </a:r>
          </a:p>
          <a:p>
            <a:r>
              <a:t>    {</a:t>
            </a:r>
          </a:p>
          <a:p>
            <a:r>
              <a:t>      "title": "한국관광 데이터랩 · 서울특별시 성동구 월간 순 방문자 수 (이동통신 기반 외지인)",</a:t>
            </a:r>
          </a:p>
          <a:p>
            <a:r>
              <a:t>      "summary": "전년동월 외지인 방문자 증감률: 10.2% (관측 기준월: 2026-06)",</a:t>
            </a:r>
          </a:p>
          <a:p>
            <a:r>
              <a:t>      "source_id": "dataset:11200:2",</a:t>
            </a:r>
          </a:p>
          <a:p>
            <a:r>
              <a:t>      "source_url": "https://datalab.visitkorea.or.kr/",</a:t>
            </a:r>
          </a:p>
          <a:p>
            <a:r>
              <a:t>      "source_type": "dataset",</a:t>
            </a:r>
          </a:p>
          <a:p>
            <a:r>
              <a:t>      "observation_period": "2026-06",</a:t>
            </a:r>
          </a:p>
          <a:p>
            <a:r>
              <a:t>      "published_or_updated_at": "2026-06"</a:t>
            </a:r>
          </a:p>
          <a:p>
            <a:r>
              <a:t>    },</a:t>
            </a:r>
          </a:p>
          <a:p>
            <a:r>
              <a:t>    {</a:t>
            </a:r>
          </a:p>
          <a:p>
            <a:r>
              <a:t>      "title": "한국관광 데이터랩 · 서울특별시 성동구 관광소비 추이_외지인",</a:t>
            </a:r>
          </a:p>
          <a:p>
            <a:r>
              <a:t>      "summary": "월간 외지인 관광소비 총액: 93,151,315,000원 (관측 기준월: 2026-06)",</a:t>
            </a:r>
          </a:p>
          <a:p>
            <a:r>
              <a:t>      "source_id": "dataset:11200:3",</a:t>
            </a:r>
          </a:p>
          <a:p>
            <a:r>
              <a:t>      "source_url": "https://datalab.visitkorea.or.kr/",</a:t>
            </a:r>
          </a:p>
          <a:p>
            <a:r>
              <a:t>      "source_type": "dataset",</a:t>
            </a:r>
          </a:p>
          <a:p>
            <a:r>
              <a:t>      "observation_period": "2026-06",</a:t>
            </a:r>
          </a:p>
          <a:p>
            <a:r>
              <a:t>      "published_or_updated_at": "2026-06"</a:t>
            </a:r>
          </a:p>
          <a:p>
            <a:r>
              <a:t>    },</a:t>
            </a:r>
          </a:p>
          <a:p>
            <a:r>
              <a:t>    {</a:t>
            </a:r>
          </a:p>
          <a:p>
            <a:r>
              <a:t>      "title": "한국관광 데이터랩 · 서울특별시 성동구 숙박방문자 비율 추이 (이동통신 기반 외지인)",</a:t>
            </a:r>
          </a:p>
          <a:p>
            <a:r>
              <a:t>      "summary": "외지인 숙박 방문 비율: 3.7% (관측 기준월: 2026-06)",</a:t>
            </a:r>
          </a:p>
          <a:p>
            <a:r>
              <a:t>      "source_id": "dataset:11200:4",</a:t>
            </a:r>
          </a:p>
          <a:p>
            <a:r>
              <a:t>      "source_url": "https://datalab.visitkorea.or.kr/",</a:t>
            </a:r>
          </a:p>
          <a:p>
            <a:r>
              <a:t>      "source_type": "dataset",</a:t>
            </a:r>
          </a:p>
          <a:p>
            <a:r>
              <a:t>      "observation_period": "2026-06",</a:t>
            </a:r>
          </a:p>
          <a:p>
            <a:r>
              <a:t>      "published_or_updated_at": "2026-06"</a:t>
            </a:r>
          </a:p>
          <a:p>
            <a:r>
              <a:t>    },</a:t>
            </a:r>
          </a:p>
          <a:p>
            <a:r>
              <a:t>    {</a:t>
            </a:r>
          </a:p>
          <a:p>
            <a:r>
              <a:t>      "title": "한국관광 데이터랩 · 서울특별시 성동구 평균 숙박일 (이동통신 기반 외지인)",</a:t>
            </a:r>
          </a:p>
          <a:p>
            <a:r>
              <a:t>      "summary": "외지인 평균 숙박일수: 3.03일 (관측 기준월: 2026-06)",</a:t>
            </a:r>
          </a:p>
          <a:p>
            <a:r>
              <a:t>      "source_id": "dataset:11200:5",</a:t>
            </a:r>
          </a:p>
          <a:p>
            <a:r>
              <a:t>      "source_url": "https://datalab.visitkorea.or.kr/",</a:t>
            </a:r>
          </a:p>
          <a:p>
            <a:r>
              <a:t>      "source_type": "dataset",</a:t>
            </a:r>
          </a:p>
          <a:p>
            <a:r>
              <a:t>      "observation_period": "2026-06",</a:t>
            </a:r>
          </a:p>
          <a:p>
            <a:r>
              <a:t>      "published_or_updated_at": "2026-06"</a:t>
            </a:r>
          </a:p>
          <a:p>
            <a:r>
              <a:t>    },</a:t>
            </a:r>
          </a:p>
          <a:p>
            <a:r>
              <a:t>    {</a:t>
            </a:r>
          </a:p>
          <a:p>
            <a:r>
              <a:t>      "title": "한국관광 데이터랩 · 서울특별시 성동구 내비게이션 목적지 유형별 검색량",</a:t>
            </a:r>
          </a:p>
          <a:p>
            <a:r>
              <a:t>      "summary": "내비게이션 목적지 검색량: 89,198건 (관측 기준월: 2026-06)",</a:t>
            </a:r>
          </a:p>
          <a:p>
            <a:r>
              <a:t>      "source_id": "dataset:11200:6",</a:t>
            </a:r>
          </a:p>
          <a:p>
            <a:r>
              <a:t>      "source_url": "https://datalab.visitkorea.or.kr/",</a:t>
            </a:r>
          </a:p>
          <a:p>
            <a:r>
              <a:t>      "source_type": "dataset",</a:t>
            </a:r>
          </a:p>
          <a:p>
            <a:r>
              <a:t>      "observation_period": "2026-06",</a:t>
            </a:r>
          </a:p>
          <a:p>
            <a:r>
              <a:t>      "published_or_updated_at": "2026-06"</a:t>
            </a:r>
          </a:p>
          <a:p>
            <a:r>
              <a:t>    },</a:t>
            </a:r>
          </a:p>
          <a:p>
            <a:r>
              <a:t>    {</a:t>
            </a:r>
          </a:p>
          <a:p>
            <a:r>
              <a:t>      "title": "한국관광 데이터랩 · 서울특별시 성동구 SNS 언급량",</a:t>
            </a:r>
          </a:p>
          <a:p>
            <a:r>
              <a:t>      "summary": "SNS 언급량: 71,233건 (관측 기준월: 2026-06)",</a:t>
            </a:r>
          </a:p>
          <a:p>
            <a:r>
              <a:t>      "source_id": "dataset:11200:7",</a:t>
            </a:r>
          </a:p>
          <a:p>
            <a:r>
              <a:t>      "source_url": "https://datalab.visitkorea.or.kr/",</a:t>
            </a:r>
          </a:p>
          <a:p>
            <a:r>
              <a:t>      "source_type": "dataset",</a:t>
            </a:r>
          </a:p>
          <a:p>
            <a:r>
              <a:t>      "observation_period": "2026-06",</a:t>
            </a:r>
          </a:p>
          <a:p>
            <a:r>
              <a:t>      "published_or_updated_at": "2026-06"</a:t>
            </a:r>
          </a:p>
          <a:p>
            <a:r>
              <a:t>    },</a:t>
            </a:r>
          </a:p>
          <a:p>
            <a:r>
              <a:t>    {</a:t>
            </a:r>
          </a:p>
          <a:p>
            <a:r>
              <a:t>      "title": "한국관광 데이터랩 공식 다운로드 · 서울특별시_성동구/숙박_체류시간/2025_01_12.zip",</a:t>
            </a:r>
          </a:p>
          <a:p>
            <a:r>
              <a:t>      "summary": "전국 비교 기준 기간: 2025-07 ~ 2026-06",</a:t>
            </a:r>
          </a:p>
          <a:p>
            <a:r>
              <a:t>      "source_id": "datalab:0ea2e7ff8811:517c835e3039",</a:t>
            </a:r>
          </a:p>
          <a:p>
            <a:r>
              <a:t>      "source_url": "https://datalab.visitkorea.or.kr/",</a:t>
            </a:r>
          </a:p>
          <a:p>
            <a:r>
              <a:t>      "source_type": "nationwide_dataset",</a:t>
            </a:r>
          </a:p>
          <a:p>
            <a:r>
              <a:t>      "observation_period": "2025-07 ~ 2026-06",</a:t>
            </a:r>
          </a:p>
          <a:p>
            <a:r>
              <a:t>      "published_or_updated_at": "2024-07 ~ 2025-06"</a:t>
            </a:r>
          </a:p>
          <a:p>
            <a:r>
              <a:t>    },</a:t>
            </a:r>
          </a:p>
          <a:p>
            <a:r>
              <a:t>    {</a:t>
            </a:r>
          </a:p>
          <a:p>
            <a:r>
              <a:t>      "title": "한국관광 데이터랩 공식 다운로드 · 서울특별시_성동구/관광소비/2025_01_12.zip",</a:t>
            </a:r>
          </a:p>
          <a:p>
            <a:r>
              <a:t>      "summary": "전국 비교 기준 기간: 2025-07 ~ 2026-06",</a:t>
            </a:r>
          </a:p>
          <a:p>
            <a:r>
              <a:t>      "source_id": "datalab:3a79405535b3:68f41f6aa9c6",</a:t>
            </a:r>
          </a:p>
          <a:p>
            <a:r>
              <a:t>      "source_url": "https://datalab.visitkorea.or.kr/",</a:t>
            </a:r>
          </a:p>
          <a:p>
            <a:r>
              <a:t>      "source_type": "nationwide_dataset",</a:t>
            </a:r>
          </a:p>
          <a:p>
            <a:r>
              <a:t>      "observation_period": "2025-07 ~ 2026-06",</a:t>
            </a:r>
          </a:p>
          <a:p>
            <a:r>
              <a:t>      "published_or_updated_at": "2024-07 ~ 2025-06"</a:t>
            </a:r>
          </a:p>
          <a:p>
            <a:r>
              <a:t>    },</a:t>
            </a:r>
          </a:p>
          <a:p>
            <a:r>
              <a:t>    {</a:t>
            </a:r>
          </a:p>
          <a:p>
            <a:r>
              <a:t>      "title": "한국관광 데이터랩 공식 다운로드 · 서울특별시_성동구/숙박_체류시간/2026_01_06.zip",</a:t>
            </a:r>
          </a:p>
          <a:p>
            <a:r>
              <a:t>      "summary": "전국 비교 기준 기간: 2025-07 ~ 2026-06",</a:t>
            </a:r>
          </a:p>
          <a:p>
            <a:r>
              <a:t>      "source_id": "datalab:6217474023e5:2e717447925f",</a:t>
            </a:r>
          </a:p>
          <a:p>
            <a:r>
              <a:t>      "source_url": "https://datalab.visitkorea.or.kr/",</a:t>
            </a:r>
          </a:p>
          <a:p>
            <a:r>
              <a:t>      "source_type": "nationwide_dataset",</a:t>
            </a:r>
          </a:p>
          <a:p>
            <a:r>
              <a:t>      "observation_period": "2025-07 ~ 2026-06",</a:t>
            </a:r>
          </a:p>
          <a:p>
            <a:r>
              <a:t>      "published_or_updated_at": "2024-07 ~ 2025-06"</a:t>
            </a:r>
          </a:p>
          <a:p>
            <a:r>
              <a:t>    },</a:t>
            </a:r>
          </a:p>
          <a:p>
            <a:r>
              <a:t>    {</a:t>
            </a:r>
          </a:p>
          <a:p>
            <a:r>
              <a:t>      "title": "한국관광 데이터랩 공식 다운로드 · 서울특별시_성동구/방문자/2025_01_12.zip",</a:t>
            </a:r>
          </a:p>
          <a:p>
            <a:r>
              <a:t>      "summary": "전국 비교 기준 기간: 2025-07 ~ 2026-06",</a:t>
            </a:r>
          </a:p>
          <a:p>
            <a:r>
              <a:t>      "source_id": "datalab:62312101c8d0:9c44bd532366",</a:t>
            </a:r>
          </a:p>
          <a:p>
            <a:r>
              <a:t>      "source_url": "https://datalab.visitkorea.or.kr/",</a:t>
            </a:r>
          </a:p>
          <a:p>
            <a:r>
              <a:t>      "source_type": "nationwide_dataset",</a:t>
            </a:r>
          </a:p>
          <a:p>
            <a:r>
              <a:t>      "observation_period": "2025-07 ~ 2026-06",</a:t>
            </a:r>
          </a:p>
          <a:p>
            <a:r>
              <a:t>      "published_or_updated_at": "2024-07 ~ 2025-06"</a:t>
            </a:r>
          </a:p>
          <a:p>
            <a:r>
              <a:t>    },</a:t>
            </a:r>
          </a:p>
          <a:p>
            <a:r>
              <a:t>    {</a:t>
            </a:r>
          </a:p>
          <a:p>
            <a:r>
              <a:t>      "title": "한국관광 데이터랩 공식 다운로드 · 서울특별시_성동구/관광소비/2026_01_06.zip",</a:t>
            </a:r>
          </a:p>
          <a:p>
            <a:r>
              <a:t>      "summary": "전국 비교 기준 기간: 2025-07 ~ 2026-06",</a:t>
            </a:r>
          </a:p>
          <a:p>
            <a:r>
              <a:t>      "source_id": "datalab:7ddda0420208:c68bf7b028b0",</a:t>
            </a:r>
          </a:p>
          <a:p>
            <a:r>
              <a:t>      "source_url": "https://datalab.visitkorea.or.kr/",</a:t>
            </a:r>
          </a:p>
          <a:p>
            <a:r>
              <a:t>      "source_type": "nationwide_dataset",</a:t>
            </a:r>
          </a:p>
          <a:p>
            <a:r>
              <a:t>      "observation_period": "2025-07 ~ 2026-06",</a:t>
            </a:r>
          </a:p>
          <a:p>
            <a:r>
              <a:t>      "published_or_updated_at": "2024-07 ~ 2025-06"</a:t>
            </a:r>
          </a:p>
          <a:p>
            <a:r>
              <a:t>    },</a:t>
            </a:r>
          </a:p>
          <a:p>
            <a:r>
              <a:t>    {</a:t>
            </a:r>
          </a:p>
          <a:p>
            <a:r>
              <a:t>      "title": "한국관광 데이터랩 공식 다운로드 · 서울특별시_성동구/방문자/2026_01_06.zip",</a:t>
            </a:r>
          </a:p>
          <a:p>
            <a:r>
              <a:t>      "summary": "전국 비교 기준 기간: 2025-07 ~ 2026-06",</a:t>
            </a:r>
          </a:p>
          <a:p>
            <a:r>
              <a:t>      "source_id": "datalab:9369271c7419:76a9b6ea89d8",</a:t>
            </a:r>
          </a:p>
          <a:p>
            <a:r>
              <a:t>      "source_url": "https://datalab.visitkorea.or.kr/",</a:t>
            </a:r>
          </a:p>
          <a:p>
            <a:r>
              <a:t>      "source_type": "nationwide_dataset",</a:t>
            </a:r>
          </a:p>
          <a:p>
            <a:r>
              <a:t>      "observation_period": "2025-07 ~ 2026-06",</a:t>
            </a:r>
          </a:p>
          <a:p>
            <a:r>
              <a:t>      "published_or_updated_at": "2024-07 ~ 2025-06"</a:t>
            </a:r>
          </a:p>
          <a:p>
            <a:r>
              <a:t>    },</a:t>
            </a:r>
          </a:p>
          <a:p>
            <a:r>
              <a:t>    {</a:t>
            </a:r>
          </a:p>
          <a:p>
            <a:r>
              <a:t>      "title": "한국관광 데이터랩 전국 빅데이터 다운로드 · 이동통신/내국인/지역별 방문자수/20260820140607__202601-202606_데이터랩_다운로드.zip",</a:t>
            </a:r>
          </a:p>
          <a:p>
            <a:r>
              <a:t>      "summary": "시군구 기간합계·비중 또는 전국 월별 추이. 지역 월별 ML·정책 효과가 아닌 보조 근거.",</a:t>
            </a:r>
          </a:p>
          <a:p>
            <a:r>
              <a:t>      "source_id": "team-bigdata:23ea68053684:6bfbcf8aabf6",</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이동통신/외국인/20260820141710_전국_202601-202606_데이터랩_다운로드.zip",</a:t>
            </a:r>
          </a:p>
          <a:p>
            <a:r>
              <a:t>      "summary": "시군구 기간합계·비중 또는 전국 월별 추이. 지역 월별 ML·정책 효과가 아닌 보조 근거.",</a:t>
            </a:r>
          </a:p>
          <a:p>
            <a:r>
              <a:t>      "source_id": "team-bigdata:98d4ae590d9a:3be52dd54323",</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신용카드/내국인/지역별 관광지출액/20260820140046__202601-202606_데이터랩_다운로드.zip",</a:t>
            </a:r>
          </a:p>
          <a:p>
            <a:r>
              <a:t>      "summary": "시군구 기간합계·비중 또는 전국 월별 추이. 지역 월별 ML·정책 효과가 아닌 보조 근거.",</a:t>
            </a:r>
          </a:p>
          <a:p>
            <a:r>
              <a:t>      "source_id": "team-bigdata:367cd0294ec4:873930d645e5",</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신용카드/외국인/지역별 관광지출액/20260820140355__202601-202606_데이터랩_다운로드.zip",</a:t>
            </a:r>
          </a:p>
          <a:p>
            <a:r>
              <a:t>      "summary": "시군구 기간합계·비중 또는 전국 월별 추이. 지역 월별 ML·정책 효과가 아닌 보조 근거.",</a:t>
            </a:r>
          </a:p>
          <a:p>
            <a:r>
              <a:t>      "source_id": "team-bigdata:553a0dad4bb4:5a31355dffe8",</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네비게이션/지역별 검색건수/20260820195507__202601-202606_데이터랩_다운로드.zip",</a:t>
            </a:r>
          </a:p>
          <a:p>
            <a:r>
              <a:t>      "summary": "시군구 기간합계·비중 또는 전국 월별 추이. 지역 월별 ML·정책 효과가 아닌 보조 근거.",</a:t>
            </a:r>
          </a:p>
          <a:p>
            <a:r>
              <a:t>      "source_id": "team-bigdata:a53dbe1c21df:77a052de41d5",</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이동통신/내국인/지역별 방문자수/20260820140614__202501-202512_데이터랩_다운로드.zip",</a:t>
            </a:r>
          </a:p>
          <a:p>
            <a:r>
              <a:t>      "summary": "시군구 기간합계·비중 또는 전국 월별 추이. 지역 월별 ML·정책 효과가 아닌 보조 근거.",</a:t>
            </a:r>
          </a:p>
          <a:p>
            <a:r>
              <a:t>      "source_id": "team-bigdata:823a38d1d61c:5385261d02e5",</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이동통신/외국인/20260820141649_전국_202501-202512_데이터랩_다운로드.zip",</a:t>
            </a:r>
          </a:p>
          <a:p>
            <a:r>
              <a:t>      "summary": "시군구 기간합계·비중 또는 전국 월별 추이. 지역 월별 ML·정책 효과가 아닌 보조 근거.",</a:t>
            </a:r>
          </a:p>
          <a:p>
            <a:r>
              <a:t>      "source_id": "team-bigdata:2723bdb0d589:1666a34058ed",</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신용카드/내국인/지역별 관광지출액/20260820135957__202501-202512_데이터랩_다운로드.zip",</a:t>
            </a:r>
          </a:p>
          <a:p>
            <a:r>
              <a:t>      "summary": "시군구 기간합계·비중 또는 전국 월별 추이. 지역 월별 ML·정책 효과가 아닌 보조 근거.",</a:t>
            </a:r>
          </a:p>
          <a:p>
            <a:r>
              <a:t>      "source_id": "team-bigdata:83177a234971:c02cb7972e0f",</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신용카드/외국인/지역별 관광지출액/20260820140409__202501-202512_데이터랩_다운로드.zip",</a:t>
            </a:r>
          </a:p>
          <a:p>
            <a:r>
              <a:t>      "summary": "시군구 기간합계·비중 또는 전국 월별 추이. 지역 월별 ML·정책 효과가 아닌 보조 근거.",</a:t>
            </a:r>
          </a:p>
          <a:p>
            <a:r>
              <a:t>      "source_id": "team-bigdata:58ded7732251:589c76395cbc",</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네비게이션/지역별 검색건수/20260820132007__202501-202512_데이터랩_다운로드.zip",</a:t>
            </a:r>
          </a:p>
          <a:p>
            <a:r>
              <a:t>      "summary": "시군구 기간합계·비중 또는 전국 월별 추이. 지역 월별 ML·정책 효과가 아닌 보조 근거.",</a:t>
            </a:r>
          </a:p>
          <a:p>
            <a:r>
              <a:t>      "source_id": "team-bigdata:e28c947cb52f:bb4cb344a6ba",</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이동통신/내국인/지역별 방문자수/20260820140624__202401-202412_데이터랩_다운로드.zip",</a:t>
            </a:r>
          </a:p>
          <a:p>
            <a:r>
              <a:t>      "summary": "시군구 기간합계·비중 또는 전국 월별 추이. 지역 월별 ML·정책 효과가 아닌 보조 근거.",</a:t>
            </a:r>
          </a:p>
          <a:p>
            <a:r>
              <a:t>      "source_id": "team-bigdata:8815bbb11a39:1a5988f5f8ec",</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이동통신/외국인/20260820141639_전국_202401-202412_데이터랩_다운로드.zip",</a:t>
            </a:r>
          </a:p>
          <a:p>
            <a:r>
              <a:t>      "summary": "시군구 기간합계·비중 또는 전국 월별 추이. 지역 월별 ML·정책 효과가 아닌 보조 근거.",</a:t>
            </a:r>
          </a:p>
          <a:p>
            <a:r>
              <a:t>      "source_id": "team-bigdata:19fd67fbb73d:afa4f0f54a2f",</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지역별 관광 현황 · 서울특별시 성동구 · 인기관광지",</a:t>
            </a:r>
          </a:p>
          <a:p>
            <a:r>
              <a:t>      "summary": "관측 기간: 2025-07 ~ 2026-06. 유입·유출·인기장소 또는 30일 집중 운영 신호.",</a:t>
            </a:r>
          </a:p>
          <a:p>
            <a:r>
              <a:t>      "source_id": "regional-status:300d117a9148:9b5e59efa799",</a:t>
            </a:r>
          </a:p>
          <a:p>
            <a:r>
              <a:t>      "source_url": "https://datalab.visitkorea.or.kr/",</a:t>
            </a:r>
          </a:p>
          <a:p>
            <a:r>
              <a:t>      "source_type": "regional_tourism_status",</a:t>
            </a:r>
          </a:p>
          <a:p>
            <a:r>
              <a:t>      "observation_period": "2025-07 ~ 2026-06",</a:t>
            </a:r>
          </a:p>
          <a:p>
            <a:r>
              <a:t>      "published_or_updated_at": ""</a:t>
            </a:r>
          </a:p>
          <a:p>
            <a:r>
              <a:t>    },</a:t>
            </a:r>
          </a:p>
          <a:p>
            <a:r>
              <a:t>    {</a:t>
            </a:r>
          </a:p>
          <a:p>
            <a:r>
              <a:t>      "title": "한국관광 데이터랩 지역별 관광 현황 · 서울특별시 성동구 · 유입유출",</a:t>
            </a:r>
          </a:p>
          <a:p>
            <a:r>
              <a:t>      "summary": "관측 기간: 2025-07 ~ 2026-06. 유입·유출·인기장소 또는 30일 집중 운영 신호.",</a:t>
            </a:r>
          </a:p>
          <a:p>
            <a:r>
              <a:t>      "source_id": "regional-status:e1f4d12a3396:706443b7ba17",</a:t>
            </a:r>
          </a:p>
          <a:p>
            <a:r>
              <a:t>      "source_url": "https://datalab.visitkorea.or.kr/",</a:t>
            </a:r>
          </a:p>
          <a:p>
            <a:r>
              <a:t>      "source_type": "regional_tourism_status",</a:t>
            </a:r>
          </a:p>
          <a:p>
            <a:r>
              <a:t>      "observation_period": "2025-07 ~ 2026-06",</a:t>
            </a:r>
          </a:p>
          <a:p>
            <a:r>
              <a:t>      "published_or_updated_at": ""</a:t>
            </a:r>
          </a:p>
          <a:p>
            <a:r>
              <a:t>    },</a:t>
            </a:r>
          </a:p>
          <a:p>
            <a:r>
              <a:t>    {</a:t>
            </a:r>
          </a:p>
          <a:p>
            <a:r>
              <a:t>      "title": "한국관광 데이터랩 지역별 관광 현황 · 서울특별시 성동구 · 지역집중률",</a:t>
            </a:r>
          </a:p>
          <a:p>
            <a:r>
              <a:t>      "summary": "관측 기간: 2025-07 ~ 2026-06. 유입·유출·인기장소 또는 30일 집중 운영 신호.",</a:t>
            </a:r>
          </a:p>
          <a:p>
            <a:r>
              <a:t>      "source_id": "regional-status:f05693fd34a7:ae929e215d91",</a:t>
            </a:r>
          </a:p>
          <a:p>
            <a:r>
              <a:t>      "source_url": "https://datalab.visitkorea.or.kr/",</a:t>
            </a:r>
          </a:p>
          <a:p>
            <a:r>
              <a:t>      "source_type": "regional_tourism_status",</a:t>
            </a:r>
          </a:p>
          <a:p>
            <a:r>
              <a:t>      "observation_period": "2025-07 ~ 2026-06",</a:t>
            </a:r>
          </a:p>
          <a:p>
            <a:r>
              <a:t>      "published_or_updated_at": ""</a:t>
            </a:r>
          </a:p>
          <a:p>
            <a:r>
              <a:t>    },</a:t>
            </a:r>
          </a:p>
          <a:p>
            <a:r>
              <a:t>    {</a:t>
            </a:r>
          </a:p>
          <a:p>
            <a:r>
              <a:t>      "title": "지역 관광수요 ML 전망 · 공식 관측값 아님",</a:t>
            </a:r>
          </a:p>
          <a:p>
            <a:r>
              <a:t>      "summary": "학습 202401~202606 · 모델 regional-demand-v3.1 · 자연 추세 예측",</a:t>
            </a:r>
          </a:p>
          <a:p>
            <a:r>
              <a:t>      "source_id": "ml:11200:regional-demand-v3.1:202606",</a:t>
            </a:r>
          </a:p>
          <a:p>
            <a:r>
              <a:t>      "source_url": "",</a:t>
            </a:r>
          </a:p>
          <a:p>
            <a:r>
              <a:t>      "source_type": "model_forecast",</a:t>
            </a:r>
          </a:p>
          <a:p>
            <a:r>
              <a:t>      "model_version": "regional-demand-v3.1",</a:t>
            </a:r>
          </a:p>
          <a:p>
            <a:r>
              <a:t>      "data_fingerprint": "c47c92e05a4d54565864c2c7d1091d0c4f29ba1e6f45559f77d766e9c92e6d24"</a:t>
            </a:r>
          </a:p>
          <a:p>
            <a:r>
              <a:t>    },</a:t>
            </a:r>
          </a:p>
          <a:p>
            <a:r>
              <a:t>    {</a:t>
            </a:r>
          </a:p>
          <a:p>
            <a:r>
              <a:t>      "title": "가조쿠",</a:t>
            </a:r>
          </a:p>
          <a:p>
            <a:r>
              <a:t>      "address": "서울특별시 성동구 연무장길 31-2 (성수동2가)",</a:t>
            </a:r>
          </a:p>
          <a:p>
            <a:r>
              <a:t>      "summary": "한국관광공사 국문관광정보 API가 반환한 선택 지역 관광자원",</a:t>
            </a:r>
          </a:p>
          <a:p>
            <a:r>
              <a:t>      "image_url": "http://tong.visitkorea.or.kr/cms/resource/12/2901212_image2_1.jpg",</a:t>
            </a:r>
          </a:p>
          <a:p>
            <a:r>
              <a:t>      "source_id": "tour-api:2901229",</a:t>
            </a:r>
          </a:p>
          <a:p>
            <a:r>
              <a:t>      "content_id": "2901229",</a:t>
            </a:r>
          </a:p>
          <a:p>
            <a:r>
              <a:t>      "source_url": "https://apis.data.go.kr/B551011/KorService2",</a:t>
            </a:r>
          </a:p>
          <a:p>
            <a:r>
              <a:t>      "source_type": "open_api",</a:t>
            </a:r>
          </a:p>
          <a:p>
            <a:r>
              <a:t>      "content_type_id": "39"</a:t>
            </a:r>
          </a:p>
          <a:p>
            <a:r>
              <a:t>    },</a:t>
            </a:r>
          </a:p>
          <a:p>
            <a:r>
              <a:t>    {</a:t>
            </a:r>
          </a:p>
          <a:p>
            <a:r>
              <a:t>      "title": "계월",</a:t>
            </a:r>
          </a:p>
          <a:p>
            <a:r>
              <a:t>      "address": "서울특별시 성동구 성덕정3길 8 (성수동1가)",</a:t>
            </a:r>
          </a:p>
          <a:p>
            <a:r>
              <a:t>      "summary": "한국관광공사 국문관광정보 API가 반환한 선택 지역 관광자원",</a:t>
            </a:r>
          </a:p>
          <a:p>
            <a:r>
              <a:t>      "image_url": "http://tong.visitkorea.or.kr/cms/resource/44/2895144_image2_1.JPG",</a:t>
            </a:r>
          </a:p>
          <a:p>
            <a:r>
              <a:t>      "source_id": "tour-api:2895161",</a:t>
            </a:r>
          </a:p>
          <a:p>
            <a:r>
              <a:t>      "content_id": "2895161",</a:t>
            </a:r>
          </a:p>
          <a:p>
            <a:r>
              <a:t>      "source_url": "https://apis.data.go.kr/B551011/KorService2",</a:t>
            </a:r>
          </a:p>
          <a:p>
            <a:r>
              <a:t>      "source_type": "open_api",</a:t>
            </a:r>
          </a:p>
          <a:p>
            <a:r>
              <a:t>      "content_type_id": "39"</a:t>
            </a:r>
          </a:p>
          <a:p>
            <a:r>
              <a:t>    },</a:t>
            </a:r>
          </a:p>
          <a:p>
            <a:r>
              <a:t>    {</a:t>
            </a:r>
          </a:p>
          <a:p>
            <a:r>
              <a:t>      "title": "계자람",</a:t>
            </a:r>
          </a:p>
          <a:p>
            <a:r>
              <a:t>      "address": "서울특별시 성동구 성덕정17길 5 (성수동2가)",</a:t>
            </a:r>
          </a:p>
          <a:p>
            <a:r>
              <a:t>      "summary": "한국관광공사 국문관광정보 API가 반환한 선택 지역 관광자원",</a:t>
            </a:r>
          </a:p>
          <a:p>
            <a:r>
              <a:t>      "image_url": "http://tong.visitkorea.or.kr/cms/resource/51/2901351_image2_1.jpg",</a:t>
            </a:r>
          </a:p>
          <a:p>
            <a:r>
              <a:t>      "source_id": "tour-api:2901359",</a:t>
            </a:r>
          </a:p>
          <a:p>
            <a:r>
              <a:t>      "content_id": "2901359",</a:t>
            </a:r>
          </a:p>
          <a:p>
            <a:r>
              <a:t>      "source_url": "https://apis.data.go.kr/B551011/KorService2",</a:t>
            </a:r>
          </a:p>
          <a:p>
            <a:r>
              <a:t>      "source_type": "open_api",</a:t>
            </a:r>
          </a:p>
          <a:p>
            <a:r>
              <a:t>      "content_type_id": "39"</a:t>
            </a:r>
          </a:p>
          <a:p>
            <a:r>
              <a:t>    },</a:t>
            </a:r>
          </a:p>
          <a:p>
            <a:r>
              <a:t>    {</a:t>
            </a:r>
          </a:p>
          <a:p>
            <a:r>
              <a:t>      "title": "구욱희씨",</a:t>
            </a:r>
          </a:p>
          <a:p>
            <a:r>
              <a:t>      "address": "서울특별시 성동구 서울숲4길 12-22",</a:t>
            </a:r>
          </a:p>
          <a:p>
            <a:r>
              <a:t>      "summary": "한국관광공사 국문관광정보 API가 반환한 선택 지역 관광자원",</a:t>
            </a:r>
          </a:p>
          <a:p>
            <a:r>
              <a:t>      "image_url": "http://tong.visitkorea.or.kr/cms/resource/08/2895208_image2_1.jpg",</a:t>
            </a:r>
          </a:p>
          <a:p>
            <a:r>
              <a:t>      "source_id": "tour-api:2895211",</a:t>
            </a:r>
          </a:p>
          <a:p>
            <a:r>
              <a:t>      "content_id": "2895211",</a:t>
            </a:r>
          </a:p>
          <a:p>
            <a:r>
              <a:t>      "source_url": "https://apis.data.go.kr/B551011/KorService2",</a:t>
            </a:r>
          </a:p>
          <a:p>
            <a:r>
              <a:t>      "source_type": "open_api",</a:t>
            </a:r>
          </a:p>
          <a:p>
            <a:r>
              <a:t>      "content_type_id": "39"</a:t>
            </a:r>
          </a:p>
          <a:p>
            <a:r>
              <a:t>    },</a:t>
            </a:r>
          </a:p>
          <a:p>
            <a:r>
              <a:t>    {</a:t>
            </a:r>
          </a:p>
          <a:p>
            <a:r>
              <a:t>      "title": "구펠",</a:t>
            </a:r>
          </a:p>
          <a:p>
            <a:r>
              <a:t>      "address": "서울특별시 성동구 왕십리로14길 30-1 (성수동1가)",</a:t>
            </a:r>
          </a:p>
          <a:p>
            <a:r>
              <a:t>      "summary": "한국관광공사 국문관광정보 API가 반환한 선택 지역 관광자원",</a:t>
            </a:r>
          </a:p>
          <a:p>
            <a:r>
              <a:t>      "image_url": "http://tong.visitkorea.or.kr/cms/resource/26/2895226_image2_1.jpg",</a:t>
            </a:r>
          </a:p>
          <a:p>
            <a:r>
              <a:t>      "source_id": "tour-api:2895236",</a:t>
            </a:r>
          </a:p>
          <a:p>
            <a:r>
              <a:t>      "content_id": "2895236",</a:t>
            </a:r>
          </a:p>
          <a:p>
            <a:r>
              <a:t>      "source_url": "https://apis.data.go.kr/B551011/KorService2",</a:t>
            </a:r>
          </a:p>
          <a:p>
            <a:r>
              <a:t>      "source_type": "open_api",</a:t>
            </a:r>
          </a:p>
          <a:p>
            <a:r>
              <a:t>      "content_type_id": "39"</a:t>
            </a:r>
          </a:p>
          <a:p>
            <a:r>
              <a:t>    },</a:t>
            </a:r>
          </a:p>
          <a:p>
            <a:r>
              <a:t>    {</a:t>
            </a:r>
          </a:p>
          <a:p>
            <a:r>
              <a:t>      "title": "그라데이션커피",</a:t>
            </a:r>
          </a:p>
          <a:p>
            <a:r>
              <a:t>      "address": "서울특별시 성동구 상원12길 24-1 (성수동1가)",</a:t>
            </a:r>
          </a:p>
          <a:p>
            <a:r>
              <a:t>      "summary": "한국관광공사 국문관광정보 API가 반환한 선택 지역 관광자원",</a:t>
            </a:r>
          </a:p>
          <a:p>
            <a:r>
              <a:t>      "image_url": "http://tong.visitkorea.or.kr/cms/resource/82/2898982_image2_1.jpg",</a:t>
            </a:r>
          </a:p>
          <a:p>
            <a:r>
              <a:t>      "source_id": "tour-api:2898994",</a:t>
            </a:r>
          </a:p>
          <a:p>
            <a:r>
              <a:t>      "content_id": "2898994",</a:t>
            </a:r>
          </a:p>
          <a:p>
            <a:r>
              <a:t>      "source_url": "https://apis.data.go.kr/B551011/KorService2",</a:t>
            </a:r>
          </a:p>
          <a:p>
            <a:r>
              <a:t>      "source_type": "open_api",</a:t>
            </a:r>
          </a:p>
          <a:p>
            <a:r>
              <a:t>      "content_type_id": "39"</a:t>
            </a:r>
          </a:p>
          <a:p>
            <a:r>
              <a:t>    },</a:t>
            </a:r>
          </a:p>
          <a:p>
            <a:r>
              <a:t>    {</a:t>
            </a:r>
          </a:p>
          <a:p>
            <a:r>
              <a:t>      "title": "그린랩",</a:t>
            </a:r>
          </a:p>
          <a:p>
            <a:r>
              <a:t>      "address": "서울특별시 성동구 서울숲2길 18-11",</a:t>
            </a:r>
          </a:p>
          <a:p>
            <a:r>
              <a:t>      "summary": "한국관광공사 국문관광정보 API가 반환한 선택 지역 관광자원",</a:t>
            </a:r>
          </a:p>
          <a:p>
            <a:r>
              <a:t>      "image_url": "http://tong.visitkorea.or.kr/cms/resource/64/2894864_image2_1.JPG",</a:t>
            </a:r>
          </a:p>
          <a:p>
            <a:r>
              <a:t>      "source_id": "tour-api:2894873",</a:t>
            </a:r>
          </a:p>
          <a:p>
            <a:r>
              <a:t>      "content_id": "2894873",</a:t>
            </a:r>
          </a:p>
          <a:p>
            <a:r>
              <a:t>      "source_url": "https://apis.data.go.kr/B551011/KorService2",</a:t>
            </a:r>
          </a:p>
          <a:p>
            <a:r>
              <a:t>      "source_type": "open_api",</a:t>
            </a:r>
          </a:p>
          <a:p>
            <a:r>
              <a:t>      "content_type_id": "39"</a:t>
            </a:r>
          </a:p>
          <a:p>
            <a:r>
              <a:t>    },</a:t>
            </a:r>
          </a:p>
          <a:p>
            <a:r>
              <a:t>    {</a:t>
            </a:r>
          </a:p>
          <a:p>
            <a:r>
              <a:t>      "title": "금남시장",</a:t>
            </a:r>
          </a:p>
          <a:p>
            <a:r>
              <a:t>      "address": "서울특별시 성동구 독서당로 303-7 (금호동3가)",</a:t>
            </a:r>
          </a:p>
          <a:p>
            <a:r>
              <a:t>      "summary": "한국관광공사 국문관광정보 API가 반환한 선택 지역 관광자원",</a:t>
            </a:r>
          </a:p>
          <a:p>
            <a:r>
              <a:t>      "image_url": "http://tong.visitkorea.or.kr/cms/resource/59/3414159_image2_1.jpg",</a:t>
            </a:r>
          </a:p>
          <a:p>
            <a:r>
              <a:t>      "source_id": "tour-api:2743748",</a:t>
            </a:r>
          </a:p>
          <a:p>
            <a:r>
              <a:t>      "content_id": "2743748",</a:t>
            </a:r>
          </a:p>
          <a:p>
            <a:r>
              <a:t>      "source_url": "https://apis.data.go.kr/B551011/KorService2",</a:t>
            </a:r>
          </a:p>
          <a:p>
            <a:r>
              <a:t>      "source_type": "open_api",</a:t>
            </a:r>
          </a:p>
          <a:p>
            <a:r>
              <a:t>      "content_type_id": "38"</a:t>
            </a:r>
          </a:p>
          <a:p>
            <a:r>
              <a:t>    },</a:t>
            </a:r>
          </a:p>
          <a:p>
            <a:r>
              <a:t>    {</a:t>
            </a:r>
          </a:p>
          <a:p>
            <a:r>
              <a:t>      "title": "기후",</a:t>
            </a:r>
          </a:p>
          <a:p>
            <a:r>
              <a:t>      "address": "서울특별시 성동구 성수이로 66 서울숲 드림타워",</a:t>
            </a:r>
          </a:p>
          <a:p>
            <a:r>
              <a:t>      "summary": "한국관광공사 국문관광정보 API가 반환한 선택 지역 관광자원",</a:t>
            </a:r>
          </a:p>
          <a:p>
            <a:r>
              <a:t>      "image_url": "http://tong.visitkorea.or.kr/cms/resource/59/2901559_image2_1.jpg",</a:t>
            </a:r>
          </a:p>
          <a:p>
            <a:r>
              <a:t>      "source_id": "tour-api:2901568",</a:t>
            </a:r>
          </a:p>
          <a:p>
            <a:r>
              <a:t>      "content_id": "2901568",</a:t>
            </a:r>
          </a:p>
          <a:p>
            <a:r>
              <a:t>      "source_url": "https://apis.data.go.kr/B551011/KorService2",</a:t>
            </a:r>
          </a:p>
          <a:p>
            <a:r>
              <a:t>      "source_type": "open_api",</a:t>
            </a:r>
          </a:p>
          <a:p>
            <a:r>
              <a:t>      "content_type_id": "39"</a:t>
            </a:r>
          </a:p>
          <a:p>
            <a:r>
              <a:t>    },</a:t>
            </a:r>
          </a:p>
          <a:p>
            <a:r>
              <a:t>    {</a:t>
            </a:r>
          </a:p>
          <a:p>
            <a:r>
              <a:t>      "title": "꾸아 성수점",</a:t>
            </a:r>
          </a:p>
          <a:p>
            <a:r>
              <a:t>      "address": "서울특별시 성동구 왕십리로 94-2 (성수동1가)",</a:t>
            </a:r>
          </a:p>
          <a:p>
            <a:r>
              <a:t>      "summary": "한국관광공사 국문관광정보 API가 반환한 선택 지역 관광자원",</a:t>
            </a:r>
          </a:p>
          <a:p>
            <a:r>
              <a:t>      "image_url": "http://tong.visitkorea.or.kr/cms/resource/17/2894817_image2_1.jpg",</a:t>
            </a:r>
          </a:p>
          <a:p>
            <a:r>
              <a:t>      "source_id": "tour-api:2894842",</a:t>
            </a:r>
          </a:p>
          <a:p>
            <a:r>
              <a:t>      "content_id": "2894842",</a:t>
            </a:r>
          </a:p>
          <a:p>
            <a:r>
              <a:t>      "source_url": "https://apis.data.go.kr/B551011/KorService2",</a:t>
            </a:r>
          </a:p>
          <a:p>
            <a:r>
              <a:t>      "source_type": "open_api",</a:t>
            </a:r>
          </a:p>
          <a:p>
            <a:r>
              <a:t>      "content_type_id": "39"</a:t>
            </a:r>
          </a:p>
          <a:p>
            <a:r>
              <a:t>    },</a:t>
            </a:r>
          </a:p>
          <a:p>
            <a:r>
              <a:t>    {</a:t>
            </a:r>
          </a:p>
          <a:p>
            <a:r>
              <a:t>      "title": "난포",</a:t>
            </a:r>
          </a:p>
          <a:p>
            <a:r>
              <a:t>      "address": "서울특별시 성동구 서울숲4길 18-8 (성수동1가)",</a:t>
            </a:r>
          </a:p>
          <a:p>
            <a:r>
              <a:t>      "summary": "한국관광공사 국문관광정보 API가 반환한 선택 지역 관광자원",</a:t>
            </a:r>
          </a:p>
          <a:p>
            <a:r>
              <a:t>      "image_url": "http://tong.visitkorea.or.kr/cms/resource/15/2843515_image2_1.jpg",</a:t>
            </a:r>
          </a:p>
          <a:p>
            <a:r>
              <a:t>      "source_id": "tour-api:2843520",</a:t>
            </a:r>
          </a:p>
          <a:p>
            <a:r>
              <a:t>      "content_id": "2843520",</a:t>
            </a:r>
          </a:p>
          <a:p>
            <a:r>
              <a:t>      "source_url": "https://apis.data.go.kr/B551011/KorService2",</a:t>
            </a:r>
          </a:p>
          <a:p>
            <a:r>
              <a:t>      "source_type": "open_api",</a:t>
            </a:r>
          </a:p>
          <a:p>
            <a:r>
              <a:t>      "content_type_id": "39"</a:t>
            </a:r>
          </a:p>
          <a:p>
            <a:r>
              <a:t>    },</a:t>
            </a:r>
          </a:p>
          <a:p>
            <a:r>
              <a:t>    {</a:t>
            </a:r>
          </a:p>
          <a:p>
            <a:r>
              <a:t>      "title": "누메로도스",</a:t>
            </a:r>
          </a:p>
          <a:p>
            <a:r>
              <a:t>      "address": "서울특별시 성동구 상원1길 35-9 (성수동1가)",</a:t>
            </a:r>
          </a:p>
          <a:p>
            <a:r>
              <a:t>      "summary": "한국관광공사 국문관광정보 API가 반환한 선택 지역 관광자원",</a:t>
            </a:r>
          </a:p>
          <a:p>
            <a:r>
              <a:t>      "image_url": "http://tong.visitkorea.or.kr/cms/resource/99/2894799_image2_1.jpg",</a:t>
            </a:r>
          </a:p>
          <a:p>
            <a:r>
              <a:t>      "source_id": "tour-api:2894810",</a:t>
            </a:r>
          </a:p>
          <a:p>
            <a:r>
              <a:t>      "content_id": "2894810",</a:t>
            </a:r>
          </a:p>
          <a:p>
            <a:r>
              <a:t>      "source_url": "https://apis.data.go.kr/B551011/KorService2",</a:t>
            </a:r>
          </a:p>
          <a:p>
            <a:r>
              <a:t>      "source_type": "open_api",</a:t>
            </a:r>
          </a:p>
          <a:p>
            <a:r>
              <a:t>      "content_type_id": "39"</a:t>
            </a:r>
          </a:p>
          <a:p>
            <a:r>
              <a:t>    },</a:t>
            </a:r>
          </a:p>
          <a:p>
            <a:r>
              <a:t>    {</a:t>
            </a:r>
          </a:p>
          <a:p>
            <a:r>
              <a:t>      "title": "누메로뜨레쓰",</a:t>
            </a:r>
          </a:p>
          <a:p>
            <a:r>
              <a:t>      "address": "서울특별시 성동구 성수일로 21 (성수동1가)",</a:t>
            </a:r>
          </a:p>
          <a:p>
            <a:r>
              <a:t>      "summary": "한국관광공사 국문관광정보 API가 반환한 선택 지역 관광자원",</a:t>
            </a:r>
          </a:p>
          <a:p>
            <a:r>
              <a:t>      "image_url": "http://tong.visitkorea.or.kr/cms/resource/76/2894776_image2_1.jpg",</a:t>
            </a:r>
          </a:p>
          <a:p>
            <a:r>
              <a:t>      "source_id": "tour-api:2894795",</a:t>
            </a:r>
          </a:p>
          <a:p>
            <a:r>
              <a:t>      "content_id": "2894795",</a:t>
            </a:r>
          </a:p>
          <a:p>
            <a:r>
              <a:t>      "source_url": "https://apis.data.go.kr/B551011/KorService2",</a:t>
            </a:r>
          </a:p>
          <a:p>
            <a:r>
              <a:t>      "source_type": "open_api",</a:t>
            </a:r>
          </a:p>
          <a:p>
            <a:r>
              <a:t>      "content_type_id": "39"</a:t>
            </a:r>
          </a:p>
          <a:p>
            <a:r>
              <a:t>    },</a:t>
            </a:r>
          </a:p>
          <a:p>
            <a:r>
              <a:t>    {</a:t>
            </a:r>
          </a:p>
          <a:p>
            <a:r>
              <a:t>      "title": "니드스윗",</a:t>
            </a:r>
          </a:p>
          <a:p>
            <a:r>
              <a:t>      "address": "서울특별시 성동구 아차산로1길 9",</a:t>
            </a:r>
          </a:p>
          <a:p>
            <a:r>
              <a:t>      "summary": "한국관광공사 국문관광정보 API가 반환한 선택 지역 관광자원",</a:t>
            </a:r>
          </a:p>
          <a:p>
            <a:r>
              <a:t>      "image_url": "http://tong.visitkorea.or.kr/cms/resource/55/2894755_image2_1.jpg",</a:t>
            </a:r>
          </a:p>
          <a:p>
            <a:r>
              <a:t>      "source_id": "tour-api:2894763",</a:t>
            </a:r>
          </a:p>
          <a:p>
            <a:r>
              <a:t>      "content_id": "2894763",</a:t>
            </a:r>
          </a:p>
          <a:p>
            <a:r>
              <a:t>      "source_url": "https://apis.data.go.kr/B551011/KorService2",</a:t>
            </a:r>
          </a:p>
          <a:p>
            <a:r>
              <a:t>      "source_type": "open_api",</a:t>
            </a:r>
          </a:p>
          <a:p>
            <a:r>
              <a:t>      "content_type_id": "39"</a:t>
            </a:r>
          </a:p>
          <a:p>
            <a:r>
              <a:t>    },</a:t>
            </a:r>
          </a:p>
          <a:p>
            <a:r>
              <a:t>    {</a:t>
            </a:r>
          </a:p>
          <a:p>
            <a:r>
              <a:t>      "title": "단일서울",</a:t>
            </a:r>
          </a:p>
          <a:p>
            <a:r>
              <a:t>      "address": "서울특별시 성동구 왕십리로 66-33 (성수동1가)",</a:t>
            </a:r>
          </a:p>
          <a:p>
            <a:r>
              <a:t>      "summary": "한국관광공사 국문관광정보 API가 반환한 선택 지역 관광자원",</a:t>
            </a:r>
          </a:p>
          <a:p>
            <a:r>
              <a:t>      "image_url": "http://tong.visitkorea.or.kr/cms/resource/34/2894734_image2_1.jpg",</a:t>
            </a:r>
          </a:p>
          <a:p>
            <a:r>
              <a:t>      "source_id": "tour-api:2894747",</a:t>
            </a:r>
          </a:p>
          <a:p>
            <a:r>
              <a:t>      "content_id": "2894747",</a:t>
            </a:r>
          </a:p>
          <a:p>
            <a:r>
              <a:t>      "source_url": "https://apis.data.go.kr/B551011/KorService2",</a:t>
            </a:r>
          </a:p>
          <a:p>
            <a:r>
              <a:t>      "source_type": "open_api",</a:t>
            </a:r>
          </a:p>
          <a:p>
            <a:r>
              <a:t>      "content_type_id": "39"</a:t>
            </a:r>
          </a:p>
          <a:p>
            <a:r>
              <a:t>    },</a:t>
            </a:r>
          </a:p>
          <a:p>
            <a:r>
              <a:t>    {</a:t>
            </a:r>
          </a:p>
          <a:p>
            <a:r>
              <a:t>      "title": "대돈집",</a:t>
            </a:r>
          </a:p>
          <a:p>
            <a:r>
              <a:t>      "address": "서울특별시 성동구 왕십리로14길 18 뚝섬영재어린이집",</a:t>
            </a:r>
          </a:p>
          <a:p>
            <a:r>
              <a:t>      "summary": "한국관광공사 국문관광정보 API가 반환한 선택 지역 관광자원",</a:t>
            </a:r>
          </a:p>
          <a:p>
            <a:r>
              <a:t>      "image_url": "http://tong.visitkorea.or.kr/cms/resource/33/2894833_image2_1.jpg",</a:t>
            </a:r>
          </a:p>
          <a:p>
            <a:r>
              <a:t>      "source_id": "tour-api:2894854",</a:t>
            </a:r>
          </a:p>
          <a:p>
            <a:r>
              <a:t>      "content_id": "2894854",</a:t>
            </a:r>
          </a:p>
          <a:p>
            <a:r>
              <a:t>      "source_url": "https://apis.data.go.kr/B551011/KorService2",</a:t>
            </a:r>
          </a:p>
          <a:p>
            <a:r>
              <a:t>      "source_type": "open_api",</a:t>
            </a:r>
          </a:p>
          <a:p>
            <a:r>
              <a:t>      "content_type_id": "39"</a:t>
            </a:r>
          </a:p>
          <a:p>
            <a:r>
              <a:t>    },</a:t>
            </a:r>
          </a:p>
          <a:p>
            <a:r>
              <a:t>    {</a:t>
            </a:r>
          </a:p>
          <a:p>
            <a:r>
              <a:t>      "title": "대흥정육식당",</a:t>
            </a:r>
          </a:p>
          <a:p>
            <a:r>
              <a:t>      "address": "서울특별시 성동구 왕십리로 16 (성수동1가, 트리마제)",</a:t>
            </a:r>
          </a:p>
          <a:p>
            <a:r>
              <a:t>      "summary": "한국관광공사 국문관광정보 API가 반환한 선택 지역 관광자원",</a:t>
            </a:r>
          </a:p>
          <a:p>
            <a:r>
              <a:t>      "image_url": "http://tong.visitkorea.or.kr/cms/resource/97/2898997_image2_1.jpg",</a:t>
            </a:r>
          </a:p>
          <a:p>
            <a:r>
              <a:t>      "source_id": "tour-api:2899012",</a:t>
            </a:r>
          </a:p>
          <a:p>
            <a:r>
              <a:t>      "content_id": "2899012",</a:t>
            </a:r>
          </a:p>
          <a:p>
            <a:r>
              <a:t>      "source_url": "https://apis.data.go.kr/B551011/KorService2",</a:t>
            </a:r>
          </a:p>
          <a:p>
            <a:r>
              <a:t>      "source_type": "open_api",</a:t>
            </a:r>
          </a:p>
          <a:p>
            <a:r>
              <a:t>      "content_type_id": "39"</a:t>
            </a:r>
          </a:p>
          <a:p>
            <a:r>
              <a:t>    },</a:t>
            </a:r>
          </a:p>
          <a:p>
            <a:r>
              <a:t>    {</a:t>
            </a:r>
          </a:p>
          <a:p>
            <a:r>
              <a:t>      "title": "더서울라이티움",</a:t>
            </a:r>
          </a:p>
          <a:p>
            <a:r>
              <a:t>      "address": "서울특별시 성동구 서울숲2길 32-14 (성수동1가, 갤러리아 포레)",</a:t>
            </a:r>
          </a:p>
          <a:p>
            <a:r>
              <a:t>      "summary": "한국관광공사 국문관광정보 API가 반환한 선택 지역 관광자원",</a:t>
            </a:r>
          </a:p>
          <a:p>
            <a:r>
              <a:t>      "image_url": "http://tong.visitkorea.or.kr/cms/resource/37/3401437_image2_1.JPG",</a:t>
            </a:r>
          </a:p>
          <a:p>
            <a:r>
              <a:t>      "source_id": "tour-api:2753089",</a:t>
            </a:r>
          </a:p>
          <a:p>
            <a:r>
              <a:t>      "content_id": "2753089",</a:t>
            </a:r>
          </a:p>
          <a:p>
            <a:r>
              <a:t>      "source_url": "https://apis.data.go.kr/B551011/KorService2",</a:t>
            </a:r>
          </a:p>
          <a:p>
            <a:r>
              <a:t>      "source_type": "open_api",</a:t>
            </a:r>
          </a:p>
          <a:p>
            <a:r>
              <a:t>      "content_type_id": "14"</a:t>
            </a:r>
          </a:p>
          <a:p>
            <a:r>
              <a:t>    },</a:t>
            </a:r>
          </a:p>
          <a:p>
            <a:r>
              <a:t>    {</a:t>
            </a:r>
          </a:p>
          <a:p>
            <a:r>
              <a:t>      "title": "더페이지갤러리",</a:t>
            </a:r>
          </a:p>
          <a:p>
            <a:r>
              <a:t>      "address": "서울특별시 성동구 서울숲2길 32-14 (성수동1가, 갤러리아 포레)",</a:t>
            </a:r>
          </a:p>
          <a:p>
            <a:r>
              <a:t>      "summary": "한국관광공사 국문관광정보 API가 반환한 선택 지역 관광자원",</a:t>
            </a:r>
          </a:p>
          <a:p>
            <a:r>
              <a:t>      "image_url": "http://tong.visitkorea.or.kr/cms/resource/89/2368189_image2_1.JPG",</a:t>
            </a:r>
          </a:p>
          <a:p>
            <a:r>
              <a:t>      "source_id": "tour-api:736766",</a:t>
            </a:r>
          </a:p>
          <a:p>
            <a:r>
              <a:t>      "content_id": "736766",</a:t>
            </a:r>
          </a:p>
          <a:p>
            <a:r>
              <a:t>      "source_url": "https://apis.data.go.kr/B551011/KorService2",</a:t>
            </a:r>
          </a:p>
          <a:p>
            <a:r>
              <a:t>      "source_type": "open_api",</a:t>
            </a:r>
          </a:p>
          <a:p>
            <a:r>
              <a:t>      "content_type_id": "14"</a:t>
            </a:r>
          </a:p>
          <a:p>
            <a:r>
              <a:t>    },</a:t>
            </a:r>
          </a:p>
          <a:p>
            <a:r>
              <a:t>    {</a:t>
            </a:r>
          </a:p>
          <a:p>
            <a:r>
              <a:t>      "title": "땅코참숯구이 본점",</a:t>
            </a:r>
          </a:p>
          <a:p>
            <a:r>
              <a:t>      "address": "서울특별시 성동구 행당로17길 26 (행당동)",</a:t>
            </a:r>
          </a:p>
          <a:p>
            <a:r>
              <a:t>      "summary": "한국관광공사 국문관광정보 API가 반환한 선택 지역 관광자원",</a:t>
            </a:r>
          </a:p>
          <a:p>
            <a:r>
              <a:t>      "image_url": "http://tong.visitkorea.or.kr/cms/resource/23/2845023_image2_1.jpg",</a:t>
            </a:r>
          </a:p>
          <a:p>
            <a:r>
              <a:t>      "source_id": "tour-api:2845040",</a:t>
            </a:r>
          </a:p>
          <a:p>
            <a:r>
              <a:t>      "content_id": "2845040",</a:t>
            </a:r>
          </a:p>
          <a:p>
            <a:r>
              <a:t>      "source_url": "https://apis.data.go.kr/B551011/KorService2",</a:t>
            </a:r>
          </a:p>
          <a:p>
            <a:r>
              <a:t>      "source_type": "open_api",</a:t>
            </a:r>
          </a:p>
          <a:p>
            <a:r>
              <a:t>      "content_type_id": "39"</a:t>
            </a:r>
          </a:p>
          <a:p>
            <a:r>
              <a:t>    },</a:t>
            </a:r>
          </a:p>
          <a:p>
            <a:r>
              <a:t>    {</a:t>
            </a:r>
          </a:p>
          <a:p>
            <a:r>
              <a:t>      "title": "요즘, 한국관광 2호 - 지방공항 연계 지역관광 활성화 방안",</a:t>
            </a:r>
          </a:p>
          <a:p>
            <a:r>
              <a:t>      "summary": "44제 2장 지방공항 연계 지역관광 활성화 방안 요즘, 한국관광 한국관광공사는 본래의 기능인 해외 홍보마케팅을 통한 인지 형성, 지역 관광생태계 육성, 관광사업 추진을 여정 단계에 맞춰 재배치해야 한다. 해외지사와 국내지사를 연결한 중점지사제를 '관문-연계도시' 단위로 운영하고, 글로벌 OTA 와 현지 여행사가 실제 상품을 만들 수 있도록 상품화 모듈과 전세·임시편 유치를 고도화하며, 선상 마케팅처럼 항공사 기내·LCC 채널을 활용한 권역 홍보를 확대할 수 있어야 할 것이다. 특히 성과지표를 입국자 수와 공급석 중심에서 '입국객의 권역 내 첫 숙박률이나, 1인당 권역 내 소비, 지방 이동 비중' 중심으로 전환하고, 통신·카드 데이터에 소셜 담론 데이터를 결합한 공항-권역 대시보드를 상시 운영해 데이터 기반 성과관리를 지속적으로 보여주는 데이터 기반의 지방공항 중심 관광권 상황실을 구축하여야 한다. 지방자치단체와 한국공항공사는 공항에서 지역 상권까지 이어지는 현장 수용태세를 보다 면밀히 고려하는 정책과 사업이 필요하다. 공항 접근 교통과 안내·결제, 다국어 환경, 터미널과 도심·거점 관광지를 잇는 셔틀, 권역 내 숙박과 야간 콘텐츠는 지자체의 실행력이 좌우하는 영역이다. 공항 소재 지자체 단위 협의를 넘어 청주는 대전·세종·충남, 대구는 경북과 함께 상품·교통·마케팅 예산을 묶는 관광권 협의체를 구성하고, 중장기적으로는 일본의 광역연계 DMO처럼 권역 단위의 상설 조직과 재원으로 발전시켜야 한다. 민관협력은 이 체계를 지속 가능하게 만드는 가장 중요한 동인이라 할 수 있다. 항공사·LCC에는 신규 노선의 초기 리스크를 지방정부·공사와 분담하는 노선 개발 협약과 기내 권역 홍보를, 글로벌 OTA·현지 여행사에는 권역 루트 상품의",</a:t>
            </a:r>
          </a:p>
          <a:p>
            <a:r>
              <a:t>      "chunk_id": "reference:kto:2026:local-airport:page:044:chunk:01",</a:t>
            </a:r>
          </a:p>
          <a:p>
            <a:r>
              <a:t>      "source_id": "reference:kto:2026:local-airport",</a:t>
            </a:r>
          </a:p>
          <a:p>
            <a:r>
              <a:t>      "source_url": "https://datalab.visitkorea.or.kr/site/portal/ex/bbs/View.do?bcIdx=311068&amp;cbIdx=1135&amp;pageIndex=1",</a:t>
            </a:r>
          </a:p>
          <a:p>
            <a:r>
              <a:t>      "case_region": "",</a:t>
            </a:r>
          </a:p>
          <a:p>
            <a:r>
              <a:t>      "region_code": "ALL",</a:t>
            </a:r>
          </a:p>
          <a:p>
            <a:r>
              <a:t>      "region_name": "전국 공통",</a:t>
            </a:r>
          </a:p>
          <a:p>
            <a:r>
              <a:t>      "source_note": "지방공항·연계 지역에 관한 자료입니다. 다른 시군구의 사업 효과·예산을 보장하는 근거로 사용하지 않습니다.",</a:t>
            </a:r>
          </a:p>
          <a:p>
            <a:r>
              <a:t>      "source_type": "rag",</a:t>
            </a:r>
          </a:p>
          <a:p>
            <a:r>
              <a:t>      "intervention": "",</a:t>
            </a:r>
          </a:p>
          <a:p>
            <a:r>
              <a:t>      "document_type": "policy",</a:t>
            </a:r>
          </a:p>
          <a:p>
            <a:r>
              <a:t>      "matched_terms": [</a:t>
            </a:r>
          </a:p>
          <a:p>
            <a:r>
              <a:t>        "결제",</a:t>
            </a:r>
          </a:p>
          <a:p>
            <a:r>
              <a:t>        "관광사업",</a:t>
            </a:r>
          </a:p>
          <a:p>
            <a:r>
              <a:t>        "상권",</a:t>
            </a:r>
          </a:p>
          <a:p>
            <a:r>
              <a:t>        "성과",</a:t>
            </a:r>
          </a:p>
          <a:p>
            <a:r>
              <a:t>        "소비",</a:t>
            </a:r>
          </a:p>
          <a:p>
            <a:r>
              <a:t>        "수와",</a:t>
            </a:r>
          </a:p>
          <a:p>
            <a:r>
              <a:t>        "숙박",</a:t>
            </a:r>
          </a:p>
          <a:p>
            <a:r>
              <a:t>        "실제",</a:t>
            </a:r>
          </a:p>
          <a:p>
            <a:r>
              <a:t>        "연결한",</a:t>
            </a:r>
          </a:p>
          <a:p>
            <a:r>
              <a:t>        "연계",</a:t>
            </a:r>
          </a:p>
          <a:p>
            <a:r>
              <a:t>        "예산",</a:t>
            </a:r>
          </a:p>
          <a:p>
            <a:r>
              <a:t>        "운영",</a:t>
            </a:r>
          </a:p>
          <a:p>
            <a:r>
              <a:t>        "이어지는",</a:t>
            </a:r>
          </a:p>
          <a:p>
            <a:r>
              <a:t>        "전환",</a:t>
            </a:r>
          </a:p>
          <a:p>
            <a:r>
              <a:t>        "중심으로",</a:t>
            </a:r>
          </a:p>
          <a:p>
            <a:r>
              <a:t>        "지역",</a:t>
            </a:r>
          </a:p>
          <a:p>
            <a:r>
              <a:t>        "체류",</a:t>
            </a:r>
          </a:p>
          <a:p>
            <a:r>
              <a:t>        "함께",</a:t>
            </a:r>
          </a:p>
          <a:p>
            <a:r>
              <a:t>        "현장",</a:t>
            </a:r>
          </a:p>
          <a:p>
            <a:r>
              <a:t>        "협약"</a:t>
            </a:r>
          </a:p>
          <a:p>
            <a:r>
              <a:t>      ],</a:t>
            </a:r>
          </a:p>
          <a:p>
            <a:r>
              <a:t>      "page_references": "PDF 44쪽, PDF 43쪽, PDF 36쪽, PDF 40쪽, PDF 41쪽, PDF 41쪽, PDF 44쪽, PDF 43쪽, PDF 43쪽",</a:t>
            </a:r>
          </a:p>
          <a:p>
            <a:r>
              <a:t>      "parent_source_id": "reference:kto:2026:local-airport",</a:t>
            </a:r>
          </a:p>
          <a:p>
            <a:r>
              <a:t>      "retrieval_method": "local_curated_chunk",</a:t>
            </a:r>
          </a:p>
          <a:p>
            <a:r>
              <a:t>      "evidence_strength": "medium",</a:t>
            </a:r>
          </a:p>
          <a:p>
            <a:r>
              <a:t>      "published_or_updated_at": "2026-08",</a:t>
            </a:r>
          </a:p>
          <a:p>
            <a:r>
              <a:t>      "chunk_ids": [</a:t>
            </a:r>
          </a:p>
          <a:p>
            <a:r>
              <a:t>        "reference:kto:2026:local-airport:page:036:chunk:01",</a:t>
            </a:r>
          </a:p>
          <a:p>
            <a:r>
              <a:t>        "reference:kto:2026:local-airport:page:040:chunk:02",</a:t>
            </a:r>
          </a:p>
          <a:p>
            <a:r>
              <a:t>        "reference:kto:2026:local-airport:page:041:chunk:01",</a:t>
            </a:r>
          </a:p>
          <a:p>
            <a:r>
              <a:t>        "reference:kto:2026:local-airport:page:041:chunk:02",</a:t>
            </a:r>
          </a:p>
          <a:p>
            <a:r>
              <a:t>        "reference:kto:2026:local-airport:page:043:chunk:01",</a:t>
            </a:r>
          </a:p>
          <a:p>
            <a:r>
              <a:t>        "reference:kto:2026:local-airport:page:043:chunk:02",</a:t>
            </a:r>
          </a:p>
          <a:p>
            <a:r>
              <a:t>        "reference:kto:2026:local-airport:page:043:chunk:03",</a:t>
            </a:r>
          </a:p>
          <a:p>
            <a:r>
              <a:t>        "reference:kto:2026:local-airport:page:044:chunk:01",</a:t>
            </a:r>
          </a:p>
          <a:p>
            <a:r>
              <a:t>        "reference:kto:2026:local-airport:page:044:chunk:02"</a:t>
            </a:r>
          </a:p>
          <a:p>
            <a:r>
              <a:t>      ],</a:t>
            </a:r>
          </a:p>
          <a:p>
            <a:r>
              <a:t>      "source_chunk_count": 9</a:t>
            </a:r>
          </a:p>
          <a:p>
            <a:r>
              <a:t>    },</a:t>
            </a:r>
          </a:p>
          <a:p>
            <a:r>
              <a:t>    {</a:t>
            </a:r>
          </a:p>
          <a:p>
            <a:r>
              <a:t>      "title": "2026 서울국제정원박람회 &lt; 행사·공연 정보 &lt; 축제·관광 &lt; 미래한강본부, 한강공원",</a:t>
            </a:r>
          </a:p>
          <a:p>
            <a:r>
              <a:t>      "summary": "2026 서울국제정원박람회는 2026년 5월 1일부터 10월 27일까지 서울숲과 성수 일대에서 운영되며, 서울숲·한강·성수동·뚝섬대정원을 연결하는 구성을 공식적으로 제시한다. 따라서 9~10월에는 별도 거점 조성보다 이 행사 구역과 충돌하지 않는 보행 안내, 체류 동선, 상권 연결을 우선 검토할 수 있다.",</a:t>
            </a:r>
          </a:p>
          <a:p>
            <a:r>
              <a:t>      "source_id": "web:11200:1",</a:t>
            </a:r>
          </a:p>
          <a:p>
            <a:r>
              <a:t>      "source_url": "https://hangang.seoul.go.kr/www/eventMng/detail.do?evntSn=378&amp;mid=538&amp;srchType=list",</a:t>
            </a:r>
          </a:p>
          <a:p>
            <a:r>
              <a:t>      "source_type": "official_web",</a:t>
            </a:r>
          </a:p>
          <a:p>
            <a:r>
              <a:t>      "why_relevant": "사업기간 2026-09-01~2026-11-30 중 9~10월이 기존 대형 행사 운영기간과 겹친다. 기존 행사와 같은 장소에서 별도 프로그램을 신설할 경우 공간·안전·운영주체 조정이 필요하므로, 보완형 운영안이 중복 위험이 낮다.",</a:t>
            </a:r>
          </a:p>
          <a:p>
            <a:r>
              <a:t>      "published_or_updated_at": "수정 2026-08-18"</a:t>
            </a:r>
          </a:p>
          <a:p>
            <a:r>
              <a:t>    },</a:t>
            </a:r>
          </a:p>
          <a:p>
            <a:r>
              <a:t>    {</a:t>
            </a:r>
          </a:p>
          <a:p>
            <a:r>
              <a:t>      "title": "개막 20일차 250만명 넘은 서울국제정원박람회… 성수 상권 매출 30% 급증 &gt; 보도자료 | 서울특별시",</a:t>
            </a:r>
          </a:p>
          <a:p>
            <a:r>
              <a:t>      "summary": "서울시는 2026 서울국제정원박람회에서 서울숲의 휴게시설을 보완해 좌석을 확충하고, 정원마켓과 3개 푸드트럭 존을 운영했다고 밝혔다. 같은 자료는 주말·주요 이벤트일에 방문객 수와 체류시간이 함께 늘었다는 분석 결과를 제시한다.",</a:t>
            </a:r>
          </a:p>
          <a:p>
            <a:r>
              <a:t>      "source_id": "web:11200:2",</a:t>
            </a:r>
          </a:p>
          <a:p>
            <a:r>
              <a:t>      "source_url": "https://www.seoul.go.kr/news/news_report.do?nttNo=458311",</a:t>
            </a:r>
          </a:p>
          <a:p>
            <a:r>
              <a:t>      "source_type": "official_web",</a:t>
            </a:r>
          </a:p>
          <a:p>
            <a:r>
              <a:t>      "why_relevant": "체류 개선 후보 중 ‘휴식 좌석·먹거리·이벤트 동선’을 결합하는 방식에 공식 현장운영 사례가 있다. 다만 이 결과는 2026 정원박람회 기간의 분석이므로, 가을 성수 사업에도 동일한 효과가 난다고 일반화하지 않고 운영조건 검토 사례로만 사용해야 한다.",</a:t>
            </a:r>
          </a:p>
          <a:p>
            <a:r>
              <a:t>      "published_or_updated_at": "등록·수정 2026-05-20"</a:t>
            </a:r>
          </a:p>
          <a:p>
            <a:r>
              <a:t>    },</a:t>
            </a:r>
          </a:p>
          <a:p>
            <a:r>
              <a:t>    {</a:t>
            </a:r>
          </a:p>
          <a:p>
            <a:r>
              <a:t>      "title": "서울숲-성수 커넥트 투어 | 2026 서울국제정원박람회",</a:t>
            </a:r>
          </a:p>
          <a:p>
            <a:r>
              <a:t>      "summary": "서울숲-성수 커넥트 투어는 성수근린공원에서 출발해 성수부터 서울숲까지 연결하는 무료 프로그램으로, 매주 화·목 13:00~14:30에 회차당 15명 내외 사전접수 방식으로 안내되었다.",</a:t>
            </a:r>
          </a:p>
          <a:p>
            <a:r>
              <a:t>      "source_id": "web:11200:3",</a:t>
            </a:r>
          </a:p>
          <a:p>
            <a:r>
              <a:t>      "source_url": "https://gov.seoul.go.kr/festa/garden/y2026/program/garden-culture-program/commentary-program?article=42926",</a:t>
            </a:r>
          </a:p>
          <a:p>
            <a:r>
              <a:t>      "source_type": "official_web",</a:t>
            </a:r>
          </a:p>
          <a:p>
            <a:r>
              <a:t>      "why_relevant": "‘공원 방문 후 성수 상권으로 이동’시키는 해설·도보 연결 방식이 실제로 운영된 공식 사례다. 권고안에서는 이 방식을 그대로 복제하기보다, 가을 행사일 및 야간 수요에 맞는 회차·집결지·예약방식으로 전환 가능한지 주최 측과 확인하는 참고사례로 활용한다.",</a:t>
            </a:r>
          </a:p>
          <a:p>
            <a:r>
              <a:t>      "published_or_updated_at": "페이지 확인일 기준 2026-09"</a:t>
            </a:r>
          </a:p>
          <a:p>
            <a:r>
              <a:t>    },</a:t>
            </a:r>
          </a:p>
          <a:p>
            <a:r>
              <a:t>    {</a:t>
            </a:r>
          </a:p>
          <a:p>
            <a:r>
              <a:t>      "title": "2026 서울축제지도 - 가을편 &lt; 공지사항(상세) &lt; 새소식 | 서울문화포털",</a:t>
            </a:r>
          </a:p>
          <a:p>
            <a:r>
              <a:t>      "summary": "크리에이티브X성수는 2026년 10월 5일부터 10월 11일까지 성수동 서울숲·언더스탠드 에비뉴 등에서 예정되어 있으며, 페어·문화 콘퍼런스·토크쇼·전시·공예 프리마켓·패션쇼·음악공연을 포함하는 글로벌 문화창조산업축제로 안내되어 있다.",</a:t>
            </a:r>
          </a:p>
          <a:p>
            <a:r>
              <a:t>      "source_id": "web:11200:4",</a:t>
            </a:r>
          </a:p>
          <a:p>
            <a:r>
              <a:t>      "source_url": "https://culture.seoul.go.kr/culture/bbs/B0000000/view.do?menuNo=200050&amp;nttId=16465",</a:t>
            </a:r>
          </a:p>
          <a:p>
            <a:r>
              <a:t>      "source_type": "official_web",</a:t>
            </a:r>
          </a:p>
          <a:p>
            <a:r>
              <a:t>      "why_relevant": "10월 운영의 집중 구간으로 삼을 수 있는 확정 행사다. 다만 해당 축제의 프로그램·부스·방문객을 성동구 사업이 사용할 수 있는지, 공동홍보·쿠폰·스탬프·동선안내가 가능한지는 공식 문서만으로 확인되지 않았으므로 별도 협의가 필요하다.",</a:t>
            </a:r>
          </a:p>
          <a:p>
            <a:r>
              <a:t>      "published_or_updated_at": "등록 2026-08-31"</a:t>
            </a:r>
          </a:p>
          <a:p>
            <a:r>
              <a:t>    },</a:t>
            </a:r>
          </a:p>
          <a:p>
            <a:r>
              <a:t>    {</a:t>
            </a:r>
          </a:p>
          <a:p>
            <a:r>
              <a:t>      "title": "오시는 길 | 2026 서울국제정원박람회",</a:t>
            </a:r>
          </a:p>
          <a:p>
            <a:r>
              <a:t>      "summary": "서울숲은 수인분당선 서울숲역 3·4·5번 출구에서 도보 2분, 2호선 뚝섬역 7·8번 출구에서 도보 11분으로 안내되어 있다. 서울숲 주차장과 뚝섬유수지 공영주차장은 모두 24시간 운영으로 제시되어 있으며, 행사 안내는 친환경 행사를 위해 대중교통 이용을 권장한다.",</a:t>
            </a:r>
          </a:p>
          <a:p>
            <a:r>
              <a:t>      "source_id": "web:11200:5",</a:t>
            </a:r>
          </a:p>
          <a:p>
            <a:r>
              <a:t>      "source_url": "https://www.seoul.go.kr/festa/garden/y2026/introduce/location?pc=1",</a:t>
            </a:r>
          </a:p>
          <a:p>
            <a:r>
              <a:t>      "source_type": "official_web",</a:t>
            </a:r>
          </a:p>
          <a:p>
            <a:r>
              <a:t>      "why_relevant": "권고안의 운영권역은 대중교통 도착지에서 공원·성수 상권까지의 마지막 보행 연결을 명확히 안내하는 데 초점을 둘 수 있다. 승용차 유입 확대를 핵심 방식으로 삼기보다는 지하철·버스·보행 중심으로 설계하는 것이 공식 안내와 부합한다.",</a:t>
            </a:r>
          </a:p>
          <a:p>
            <a:r>
              <a:t>      "published_or_updated_at": "2026년 행사 안내 페이지"</a:t>
            </a:r>
          </a:p>
          <a:p>
            <a:r>
              <a:t>    },</a:t>
            </a:r>
          </a:p>
          <a:p>
            <a:r>
              <a:t>    {</a:t>
            </a:r>
          </a:p>
          <a:p>
            <a:r>
              <a:t>      "title": "(석간) 제11차 도시건축공동위원회 개최결과 &gt; 보도자료 | 서울특별시",</a:t>
            </a:r>
          </a:p>
          <a:p>
            <a:r>
              <a:t>      "summary": "서울시는 성수 준공업지역 지구단위계획에서 성수역-연무장길 가로변의 지역 특화경관을 유도하고, 지하철 2호선 연접부 개방형녹지 및 서울숲·뚝섬으로 이어지는 보행 네트워크를 조성하는 방향을 제시했다. 연무장길에는 제한적 차량출입 불허구간과 주차기준 완화를 통해 사람 중심의 걷기 좋은 거리로 재편하는 방향도 포함됐다.",</a:t>
            </a:r>
          </a:p>
          <a:p>
            <a:r>
              <a:t>      "source_id": "web:11200:6",</a:t>
            </a:r>
          </a:p>
          <a:p>
            <a:r>
              <a:t>      "source_url": "https://www.seoul.go.kr/news/news_report.do?nttNo=460823&amp;tr_code=snews",</a:t>
            </a:r>
          </a:p>
          <a:p>
            <a:r>
              <a:t>      "source_type": "official_web",</a:t>
            </a:r>
          </a:p>
          <a:p>
            <a:r>
              <a:t>      "why_relevant": "중기적으로 성수역-연무장길-서울숲 보행축은 체류 연결 사업의 대상권역 후보가 될 수 있다. 그러나 이는 도시계획 방향이며 2026년 가을에 모든 물리적 시설이 완공·운영된다는 뜻은 아니므로, 실제 공사·통행·행사 가능 구간은 현장과 관계부서에 확인해야 한다.",</a:t>
            </a:r>
          </a:p>
          <a:p>
            <a:r>
              <a:t>      "published_or_updated_at": "등록 2026-07-01"</a:t>
            </a:r>
          </a:p>
          <a:p>
            <a:r>
              <a:t>    },</a:t>
            </a:r>
          </a:p>
          <a:p>
            <a:r>
              <a:t>    {</a:t>
            </a:r>
          </a:p>
          <a:p>
            <a:r>
              <a:t>      "title": "2026 서울국제정원박람회 &lt; 행사·공연 정보 &lt; 축제·관광 &lt; 미래한강본부, 한강공원",</a:t>
            </a:r>
          </a:p>
          <a:p>
            <a:r>
              <a:t>      "summary": "서울국제정원박람회 공식 안내에는 서울숲 선착장 추가 운항과 야간 운항 증편이 소개되어 있다.",</a:t>
            </a:r>
          </a:p>
          <a:p>
            <a:r>
              <a:t>      "source_id": "web:11200:7",</a:t>
            </a:r>
          </a:p>
          <a:p>
            <a:r>
              <a:t>      "source_url": "https://hangang.seoul.go.kr/www/eventMng/detail.do?evntSn=378&amp;mid=538&amp;srchType=list",</a:t>
            </a:r>
          </a:p>
          <a:p>
            <a:r>
              <a:t>      "source_type": "official_web",</a:t>
            </a:r>
          </a:p>
          <a:p>
            <a:r>
              <a:t>      "why_relevant": "9~10월 주말 또는 야간 프로그램을 검토할 때 한강 수상교통을 보조 접근수단 후보로 검토할 근거가 된다. 다만 11월까지의 실제 운항일·막차·결항 기준은 이 자료에 확정적으로 제시되지 않아, 사업 홍보문구에 포함하기 전 운영기관 확인이 필요하다.",</a:t>
            </a:r>
          </a:p>
          <a:p>
            <a:r>
              <a:t>      "published_or_updated_at": "수정 2026-08-18"</a:t>
            </a:r>
          </a:p>
          <a:p>
            <a:r>
              <a:t>    },</a:t>
            </a:r>
          </a:p>
          <a:p>
            <a:r>
              <a:t>    {</a:t>
            </a:r>
          </a:p>
          <a:p>
            <a:r>
              <a:t>      "title": "전주시 2026년도 관광산업과 세출예산 사업명세서",</a:t>
            </a:r>
          </a:p>
          <a:p>
            <a:r>
              <a:t>      "summary": "전북특별자치도 전주시 · 야간관광 특화도시 예산 편성 · 예산서이므로 방문·소비 성과는 확인되지 않음",</a:t>
            </a:r>
          </a:p>
          <a:p>
            <a:r>
              <a:t>      "source_id": "case:jeonju_night_budget_2026",</a:t>
            </a:r>
          </a:p>
          <a:p>
            <a:r>
              <a:t>      "source_url": "https://jeonju.go.kr/resource/www/images/download/budget/2026/2026_31_2.pdf",</a:t>
            </a:r>
          </a:p>
          <a:p>
            <a:r>
              <a:t>      "case_region": "전북특별자치도 전주시",</a:t>
            </a:r>
          </a:p>
          <a:p>
            <a:r>
              <a:t>      "source_type": "benchmark_case",</a:t>
            </a:r>
          </a:p>
          <a:p>
            <a:r>
              <a:t>      "intervention": "야간관광 특화도시 예산 편성",</a:t>
            </a:r>
          </a:p>
          <a:p>
            <a:r>
              <a:t>      "document_type": "case_study_budget",</a:t>
            </a:r>
          </a:p>
          <a:p>
            <a:r>
              <a:t>      "observed_result": "예산서이므로 방문·소비 성과는 확인되지 않음",</a:t>
            </a:r>
          </a:p>
          <a:p>
            <a:r>
              <a:t>      "operating_model": "사무관리, 행사운영, 연구용역, 민간경상보조 등으로 사업비를 항목별 편성",</a:t>
            </a:r>
          </a:p>
          <a:p>
            <a:r>
              <a:t>      "retrieval_method": "curated_registry",</a:t>
            </a:r>
          </a:p>
          <a:p>
            <a:r>
              <a:t>      "evidence_strength": "high",</a:t>
            </a:r>
          </a:p>
          <a:p>
            <a:r>
              <a:t>      "retrieval_context": {</a:t>
            </a:r>
          </a:p>
          <a:p>
            <a:r>
              <a:t>        "scope": "cross_province",</a:t>
            </a:r>
          </a:p>
          <a:p>
            <a:r>
              <a:t>        "peer_region_code": null</a:t>
            </a:r>
          </a:p>
          <a:p>
            <a:r>
              <a:t>      },</a:t>
            </a:r>
          </a:p>
          <a:p>
            <a:r>
              <a:t>      "measurement_period": "2026년 예산",</a:t>
            </a:r>
          </a:p>
          <a:p>
            <a:r>
              <a:t>      "transfer_conditions": [</a:t>
            </a:r>
          </a:p>
          <a:p>
            <a:r>
              <a:t>        "국비·도비·시비 분담 가능성 검토",</a:t>
            </a:r>
          </a:p>
          <a:p>
            <a:r>
              <a:t>        "행사비와 상설운영비를 분리 산정",</a:t>
            </a:r>
          </a:p>
          <a:p>
            <a:r>
              <a:t>        "성과평가 비용을 별도 항목으로 확보"</a:t>
            </a:r>
          </a:p>
          <a:p>
            <a:r>
              <a:t>      ],</a:t>
            </a:r>
          </a:p>
          <a:p>
            <a:r>
              <a:t>      "published_or_updated_at": "2026",</a:t>
            </a:r>
          </a:p>
          <a:p>
            <a:r>
              <a:t>      "quantitative_result_approved": null</a:t>
            </a:r>
          </a:p>
          <a:p>
            <a:r>
              <a:t>    },</a:t>
            </a:r>
          </a:p>
          <a:p>
            <a:r>
              <a:t>    {</a:t>
            </a:r>
          </a:p>
          <a:p>
            <a:r>
              <a:t>      "title": "강진 반값여행 지역경제 효과 소개",</a:t>
            </a:r>
          </a:p>
          <a:p>
            <a:r>
              <a:t>      "summary": "전라남도 강진군 · 반값여행 지역환급 · 상품권 결제 변화에 관한 소개 자료는 있으나, 사업 참여자 범위·정확한 비교 기간·원자료를 확인하지 못해 성과 수치 인용을 보류한다.",</a:t>
            </a:r>
          </a:p>
          <a:p>
            <a:r>
              <a:t>      "source_id": "case:gangjin_half_price_2024",</a:t>
            </a:r>
          </a:p>
          <a:p>
            <a:r>
              <a:t>      "source_url": "https://jnfarm.jeonnam.go.kr/board/FARM_BOARD_008/boardView.do?bdId=BD_00000000000011721&amp;menuCd=farm004002",</a:t>
            </a:r>
          </a:p>
          <a:p>
            <a:r>
              <a:t>      "case_region": "전라남도 강진군",</a:t>
            </a:r>
          </a:p>
          <a:p>
            <a:r>
              <a:t>      "source_type": "benchmark_case",</a:t>
            </a:r>
          </a:p>
          <a:p>
            <a:r>
              <a:t>      "intervention": "반값여행 지역환급",</a:t>
            </a:r>
          </a:p>
          <a:p>
            <a:r>
              <a:t>      "document_type": "case_study",</a:t>
            </a:r>
          </a:p>
          <a:p>
            <a:r>
              <a:t>      "observed_result": "상품권 결제 변화에 관한 소개 자료는 있으나, 사업 참여자 범위·정확한 비교 기간·원자료를 확인하지 못해 성과 수치 인용을 보류한다.",</a:t>
            </a:r>
          </a:p>
          <a:p>
            <a:r>
              <a:t>      "operating_model": "여행자가 지역에서 지출한 비용의 일부를 지역상품권으로 돌려받게 하여 혜택이 다시 지역 상점에서 사용되도록 설계",</a:t>
            </a:r>
          </a:p>
          <a:p>
            <a:r>
              <a:t>      "retrieval_method": "curated_registry",</a:t>
            </a:r>
          </a:p>
          <a:p>
            <a:r>
              <a:t>      "evidence_strength": "low",</a:t>
            </a:r>
          </a:p>
          <a:p>
            <a:r>
              <a:t>      "retrieval_context": {</a:t>
            </a:r>
          </a:p>
          <a:p>
            <a:r>
              <a:t>        "scope": "cross_province",</a:t>
            </a:r>
          </a:p>
          <a:p>
            <a:r>
              <a:t>        "peer_region_code": null</a:t>
            </a:r>
          </a:p>
          <a:p>
            <a:r>
              <a:t>      },</a:t>
            </a:r>
          </a:p>
          <a:p>
            <a:r>
              <a:t>      "measurement_period": "게시일과 사업 측정기간은 다르며, 비교기간과 집계범위 원자료 확인 필요",</a:t>
            </a:r>
          </a:p>
          <a:p>
            <a:r>
              <a:t>      "transfer_conditions": [</a:t>
            </a:r>
          </a:p>
          <a:p>
            <a:r>
              <a:t>        "지역상품권 사용처와 관광업체 참여 기준 필요",</a:t>
            </a:r>
          </a:p>
          <a:p>
            <a:r>
              <a:t>        "여행 지출 증빙과 중복수혜 방지 절차 필요",</a:t>
            </a:r>
          </a:p>
          <a:p>
            <a:r>
              <a:t>        "지원금보다 추가 지역소비가 큰지 사후 측정 필요"</a:t>
            </a:r>
          </a:p>
          <a:p>
            <a:r>
              <a:t>      ],</a:t>
            </a:r>
          </a:p>
          <a:p>
            <a:r>
              <a:t>      "published_or_updated_at": "2025-01-02",</a:t>
            </a:r>
          </a:p>
          <a:p>
            <a:r>
              <a:t>      "quantitative_result_approved": false</a:t>
            </a:r>
          </a:p>
          <a:p>
            <a:r>
              <a:t>    },</a:t>
            </a:r>
          </a:p>
          <a:p>
            <a:r>
              <a:t>    {</a:t>
            </a:r>
          </a:p>
          <a:p>
            <a:r>
              <a:t>      "title": "2024년 6월 여행가는 달 추진 보도자료",</a:t>
            </a:r>
          </a:p>
          <a:p>
            <a:r>
              <a:t>      "summary": "전국 인구감소지역 34곳 · 디지털 관광주민증과 교통·숙박·상점 할인 결합 · 2024년 34개 지역 약 800개 관광업체에 혜택 구조를 적용",</a:t>
            </a:r>
          </a:p>
          <a:p>
            <a:r>
              <a:t>      "source_id": "case:digital_tourism_resident_2024",</a:t>
            </a:r>
          </a:p>
          <a:p>
            <a:r>
              <a:t>      "source_url": "https://mcst.go.kr/servlets/eduport/front/upload/UplDownloadFile?pFileName=%280514%29%EB%AC%B8%EC%B2%B4%EB%B6%80%EB%B3%B4%EB%8F%84%EC%9E%90%EB%A3%8C-6%EC%9B%94_%EC%97%AC%ED%96%89%EA%B0%80%EB%8A%94_%EB%8B%AC_%EC%B6%94%EC%A7%84.pdf&amp;pPath=0302000000&amp;pRealName=20240514083202149235802932_PRESS20240514083202456506.pdf",</a:t>
            </a:r>
          </a:p>
          <a:p>
            <a:r>
              <a:t>      "case_region": "전국 인구감소지역 34곳",</a:t>
            </a:r>
          </a:p>
          <a:p>
            <a:r>
              <a:t>      "source_type": "benchmark_case",</a:t>
            </a:r>
          </a:p>
          <a:p>
            <a:r>
              <a:t>      "intervention": "디지털 관광주민증과 교통·숙박·상점 할인 결합",</a:t>
            </a:r>
          </a:p>
          <a:p>
            <a:r>
              <a:t>      "document_type": "case_study",</a:t>
            </a:r>
          </a:p>
          <a:p>
            <a:r>
              <a:t>      "observed_result": "2024년 34개 지역 약 800개 관광업체에 혜택 구조를 적용",</a:t>
            </a:r>
          </a:p>
          <a:p>
            <a:r>
              <a:t>      "operating_model": "디지털 관광주민증 참여업체 현장 인증과 숙박·식음·관람·체험 할인, 특정 시간대 KTX 할인과 방문 후 교통 할인권을 결합",</a:t>
            </a:r>
          </a:p>
          <a:p>
            <a:r>
              <a:t>      "retrieval_method": "curated_registry",</a:t>
            </a:r>
          </a:p>
          <a:p>
            <a:r>
              <a:t>      "evidence_strength": "medium",</a:t>
            </a:r>
          </a:p>
          <a:p>
            <a:r>
              <a:t>      "retrieval_context": {</a:t>
            </a:r>
          </a:p>
          <a:p>
            <a:r>
              <a:t>        "scope": "national_or_unresolved",</a:t>
            </a:r>
          </a:p>
          <a:p>
            <a:r>
              <a:t>        "peer_region_code": null</a:t>
            </a:r>
          </a:p>
          <a:p>
            <a:r>
              <a:t>      },</a:t>
            </a:r>
          </a:p>
          <a:p>
            <a:r>
              <a:t>      "measurement_period": "2024년 6월 운영 계획",</a:t>
            </a:r>
          </a:p>
          <a:p>
            <a:r>
              <a:t>      "transfer_conditions": [</a:t>
            </a:r>
          </a:p>
          <a:p>
            <a:r>
              <a:t>        "지역 내 참여업체 수와 혜택 매력도 확보",</a:t>
            </a:r>
          </a:p>
          <a:p>
            <a:r>
              <a:t>        "QR 또는 위치인증과 실제 사용기록 수집",</a:t>
            </a:r>
          </a:p>
          <a:p>
            <a:r>
              <a:t>        "교통 할인 제공기관과 협약 필요"</a:t>
            </a:r>
          </a:p>
          <a:p>
            <a:r>
              <a:t>      ],</a:t>
            </a:r>
          </a:p>
          <a:p>
            <a:r>
              <a:t>      "published_or_updated_at": "2024-05-14",</a:t>
            </a:r>
          </a:p>
          <a:p>
            <a:r>
              <a:t>      "quantitative_result_approved": null</a:t>
            </a:r>
          </a:p>
          <a:p>
            <a:r>
              <a:t>    },</a:t>
            </a:r>
          </a:p>
          <a:p>
            <a:r>
              <a:t>    {</a:t>
            </a:r>
          </a:p>
          <a:p>
            <a:r>
              <a:t>      "title": "2022 대한민국 숙박대전 경제파급효과 공개자료",</a:t>
            </a:r>
          </a:p>
          <a:p>
            <a:r>
              <a:t>      "summary": "전국 숙박할인쿠폰 지원사업 · 온라인 예약 채널 숙박할인쿠폰 · 한국관광공사 자료는 약 104만 명이 할인혜택을 이용했고 서울·제주를 제외한 지역 사용 비율이 76%였다고 소개함",</a:t>
            </a:r>
          </a:p>
          <a:p>
            <a:r>
              <a:t>      "source_id": "case:kto_stay_discount_2022",</a:t>
            </a:r>
          </a:p>
          <a:p>
            <a:r>
              <a:t>      "source_url": "https://kto.visitkorea.or.kr/upload/flexer/upload/ktobiz/20220928/b623b5f9-3ec0-11ed-9832-ddf31964842e.hwp.files/Sections1.html",</a:t>
            </a:r>
          </a:p>
          <a:p>
            <a:r>
              <a:t>      "case_region": "전국 숙박할인쿠폰 지원사업",</a:t>
            </a:r>
          </a:p>
          <a:p>
            <a:r>
              <a:t>      "source_type": "benchmark_case",</a:t>
            </a:r>
          </a:p>
          <a:p>
            <a:r>
              <a:t>      "intervention": "온라인 예약 채널 숙박할인쿠폰",</a:t>
            </a:r>
          </a:p>
          <a:p>
            <a:r>
              <a:t>      "document_type": "case_study",</a:t>
            </a:r>
          </a:p>
          <a:p>
            <a:r>
              <a:t>      "observed_result": "한국관광공사 자료는 약 104만 명이 할인혜택을 이용했고 서울·제주를 제외한 지역 사용 비율이 76%였다고 소개함",</a:t>
            </a:r>
          </a:p>
          <a:p>
            <a:r>
              <a:t>      "operating_model": "온라인 여행사 예약 단계에서 할인쿠폰을 제공하고, 지역 숙소에서 사용할 수 있도록 참여 채널과 기간을 통합 운영",</a:t>
            </a:r>
          </a:p>
          <a:p>
            <a:r>
              <a:t>      "retrieval_method": "curated_registry",</a:t>
            </a:r>
          </a:p>
          <a:p>
            <a:r>
              <a:t>      "evidence_strength": "medium",</a:t>
            </a:r>
          </a:p>
          <a:p>
            <a:r>
              <a:t>      "retrieval_context": {</a:t>
            </a:r>
          </a:p>
          <a:p>
            <a:r>
              <a:t>        "scope": "national_or_unresolved",</a:t>
            </a:r>
          </a:p>
          <a:p>
            <a:r>
              <a:t>        "peer_region_code": null</a:t>
            </a:r>
          </a:p>
          <a:p>
            <a:r>
              <a:t>      },</a:t>
            </a:r>
          </a:p>
          <a:p>
            <a:r>
              <a:t>      "measurement_period": "2022년 사업 종료 후 한국관광공사 공개 자료",</a:t>
            </a:r>
          </a:p>
          <a:p>
            <a:r>
              <a:t>      "transfer_conditions": [</a:t>
            </a:r>
          </a:p>
          <a:p>
            <a:r>
              <a:t>        "참여 숙소·예약 채널·쿠폰 조건을 사전에 확정",</a:t>
            </a:r>
          </a:p>
          <a:p>
            <a:r>
              <a:t>        "주말과 성수기 쏠림을 막을 사용 가능일 설계",</a:t>
            </a:r>
          </a:p>
          <a:p>
            <a:r>
              <a:t>        "쿠폰 발급량이 아니라 실제 숙박 완료·지역소비를 함께 측정"</a:t>
            </a:r>
          </a:p>
          <a:p>
            <a:r>
              <a:t>      ],</a:t>
            </a:r>
          </a:p>
          <a:p>
            <a:r>
              <a:t>      "published_or_updated_at": "2022-09-28",</a:t>
            </a:r>
          </a:p>
          <a:p>
            <a:r>
              <a:t>      "quantitative_result_approved": null</a:t>
            </a:r>
          </a:p>
          <a:p>
            <a:r>
              <a:t>    },</a:t>
            </a:r>
          </a:p>
          <a:p>
            <a:r>
              <a:t>    {</a:t>
            </a:r>
          </a:p>
          <a:p>
            <a:r>
              <a:t>      "title": "2025 대한민국 밤밤페스타 개최 도시 및 일정",</a:t>
            </a:r>
          </a:p>
          <a:p>
            <a:r>
              <a:t>      "summary": "야간관광 특화도시 10곳 · 도시별 야간 콘텐츠를 순회형 축제로 묶는 운영 · 공식 여행기사는 개최 도시·장소·운영 시간과 콘텐츠만 제시하며 방문·소비 성과 수치는 제시하지 않음",</a:t>
            </a:r>
          </a:p>
          <a:p>
            <a:r>
              <a:t>      "source_id": "case:night_festival_2025",</a:t>
            </a:r>
          </a:p>
          <a:p>
            <a:r>
              <a:t>      "source_url": "https://korean.visitkorea.or.kr/detail/rem_detail.do?cotid=f9c636b2-dd7c-4f09-af3d-6af43b33d371",</a:t>
            </a:r>
          </a:p>
          <a:p>
            <a:r>
              <a:t>      "case_region": "야간관광 특화도시 10곳",</a:t>
            </a:r>
          </a:p>
          <a:p>
            <a:r>
              <a:t>      "source_type": "benchmark_case",</a:t>
            </a:r>
          </a:p>
          <a:p>
            <a:r>
              <a:t>      "intervention": "도시별 야간 콘텐츠를 순회형 축제로 묶는 운영",</a:t>
            </a:r>
          </a:p>
          <a:p>
            <a:r>
              <a:t>      "document_type": "case_study",</a:t>
            </a:r>
          </a:p>
          <a:p>
            <a:r>
              <a:t>      "observed_result": "공식 여행기사는 개최 도시·장소·운영 시간과 콘텐츠만 제시하며 방문·소비 성과 수치는 제시하지 않음",</a:t>
            </a:r>
          </a:p>
          <a:p>
            <a:r>
              <a:t>      "operating_model": "10개 야간관광 특화도시의 대표 장소와 시간대를 연결하고, 공연·체험·지역 디저트·판매상품 등 도시별 콘텐츠를 순회 일정으로 운영",</a:t>
            </a:r>
          </a:p>
          <a:p>
            <a:r>
              <a:t>      "retrieval_method": "curated_registry",</a:t>
            </a:r>
          </a:p>
          <a:p>
            <a:r>
              <a:t>      "evidence_strength": "medium",</a:t>
            </a:r>
          </a:p>
          <a:p>
            <a:r>
              <a:t>      "retrieval_context": {</a:t>
            </a:r>
          </a:p>
          <a:p>
            <a:r>
              <a:t>        "scope": "national_or_unresolved",</a:t>
            </a:r>
          </a:p>
          <a:p>
            <a:r>
              <a:t>        "peer_region_code": null</a:t>
            </a:r>
          </a:p>
          <a:p>
            <a:r>
              <a:t>      },</a:t>
            </a:r>
          </a:p>
          <a:p>
            <a:r>
              <a:t>      "measurement_period": "2025년 행사 일정",</a:t>
            </a:r>
          </a:p>
          <a:p>
            <a:r>
              <a:t>      "transfer_conditions": [</a:t>
            </a:r>
          </a:p>
          <a:p>
            <a:r>
              <a:t>        "야간에도 이용 가능한 교통·안전·식음 운영을 함께 설계",</a:t>
            </a:r>
          </a:p>
          <a:p>
            <a:r>
              <a:t>        "하나의 행사보다 지역별 대표 콘텐츠와 상점 참여를 연결",</a:t>
            </a:r>
          </a:p>
          <a:p>
            <a:r>
              <a:t>        "행사일과 비행사일을 분리해 방문·결제·숙박 변화를 측정"</a:t>
            </a:r>
          </a:p>
          <a:p>
            <a:r>
              <a:t>      ],</a:t>
            </a:r>
          </a:p>
          <a:p>
            <a:r>
              <a:t>      "published_or_updated_at": "2025",</a:t>
            </a:r>
          </a:p>
          <a:p>
            <a:r>
              <a:t>      "quantitative_result_approved": null</a:t>
            </a:r>
          </a:p>
          <a:p>
            <a:r>
              <a:t>    },</a:t>
            </a:r>
          </a:p>
          <a:p>
            <a:r>
              <a:t>    {</a:t>
            </a:r>
          </a:p>
          <a:p>
            <a:r>
              <a:t>      "title": "2024년도 정부업무평가 관광분야 성과자료",</a:t>
            </a:r>
          </a:p>
          <a:p>
            <a:r>
              <a:t>      "summary": "야간관광 특화도시 10곳 · 상설 야간 콘텐츠와 경관·교통·안전 운영 · 정부업무평가 자료는 특화도시 10곳 방문객이 2023년 같은 기간보다 3% 증가했다고 기록",</a:t>
            </a:r>
          </a:p>
          <a:p>
            <a:r>
              <a:t>      "source_id": "case:night_tourism_cities_2024",</a:t>
            </a:r>
          </a:p>
          <a:p>
            <a:r>
              <a:t>      "source_url": "https://www.evaluation.go.kr/upload2/atch/eval/20250429095846463.pdf",</a:t>
            </a:r>
          </a:p>
          <a:p>
            <a:r>
              <a:t>      "case_region": "야간관광 특화도시 10곳",</a:t>
            </a:r>
          </a:p>
          <a:p>
            <a:r>
              <a:t>      "source_type": "benchmark_case",</a:t>
            </a:r>
          </a:p>
          <a:p>
            <a:r>
              <a:t>      "intervention": "상설 야간 콘텐츠와 경관·교통·안전 운영",</a:t>
            </a:r>
          </a:p>
          <a:p>
            <a:r>
              <a:t>      "document_type": "case_study",</a:t>
            </a:r>
          </a:p>
          <a:p>
            <a:r>
              <a:t>      "observed_result": "정부업무평가 자료는 특화도시 10곳 방문객이 2023년 같은 기간보다 3% 증가했다고 기록",</a:t>
            </a:r>
          </a:p>
          <a:p>
            <a:r>
              <a:t>      "operating_model": "지역 스토리를 반영한 야간 프로그램을 상설·행사형으로 운영하고 야간 경관, 이동, 식음, 안전 여건을 함께 구성",</a:t>
            </a:r>
          </a:p>
          <a:p>
            <a:r>
              <a:t>      "retrieval_method": "curated_registry",</a:t>
            </a:r>
          </a:p>
          <a:p>
            <a:r>
              <a:t>      "evidence_strength": "medium",</a:t>
            </a:r>
          </a:p>
          <a:p>
            <a:r>
              <a:t>      "retrieval_context": {</a:t>
            </a:r>
          </a:p>
          <a:p>
            <a:r>
              <a:t>        "scope": "national_or_unresolved",</a:t>
            </a:r>
          </a:p>
          <a:p>
            <a:r>
              <a:t>        "peer_region_code": null</a:t>
            </a:r>
          </a:p>
          <a:p>
            <a:r>
              <a:t>      },</a:t>
            </a:r>
          </a:p>
          <a:p>
            <a:r>
              <a:t>      "measurement_period": "2023년 동기 대비 2024년 사업 평가 기간",</a:t>
            </a:r>
          </a:p>
          <a:p>
            <a:r>
              <a:t>      "transfer_conditions": [</a:t>
            </a:r>
          </a:p>
          <a:p>
            <a:r>
              <a:t>        "야간에 실제 이용 가능한 식음·교통·안전 운영 필요",</a:t>
            </a:r>
          </a:p>
          <a:p>
            <a:r>
              <a:t>        "일회성 행사보다 상설 운영일 확보",</a:t>
            </a:r>
          </a:p>
          <a:p>
            <a:r>
              <a:t>        "숙박 또는 야간 결제 데이터로 성과 측정"</a:t>
            </a:r>
          </a:p>
          <a:p>
            <a:r>
              <a:t>      ],</a:t>
            </a:r>
          </a:p>
          <a:p>
            <a:r>
              <a:t>      "published_or_updated_at": "2025-04-29",</a:t>
            </a:r>
          </a:p>
          <a:p>
            <a:r>
              <a:t>      "quantitative_result_approved": null</a:t>
            </a:r>
          </a:p>
          <a:p>
            <a:r>
              <a:t>    }</a:t>
            </a:r>
          </a:p>
          <a:p>
            <a:r>
              <a:t>  ],</a:t>
            </a:r>
          </a:p>
          <a:p>
            <a:r>
              <a:t>  "selected_forecast": {</a:t>
            </a:r>
          </a:p>
          <a:p>
            <a:r>
              <a:t>    "rows": [</a:t>
            </a:r>
          </a:p>
          <a:p>
            <a:r>
              <a:t>      {</a:t>
            </a:r>
          </a:p>
          <a:p>
            <a:r>
              <a:t>        "month": "202609",</a:t>
            </a:r>
          </a:p>
          <a:p>
            <a:r>
              <a:t>        "visitors": 6638883.0,</a:t>
            </a:r>
          </a:p>
          <a:p>
            <a:r>
              <a:t>        "is_forecast": true,</a:t>
            </a:r>
          </a:p>
          <a:p>
            <a:r>
              <a:t>        "spending_krw": 102905513747.0,</a:t>
            </a:r>
          </a:p>
          <a:p>
            <a:r>
              <a:t>        "stay_minutes": 729.0,</a:t>
            </a:r>
          </a:p>
          <a:p>
            <a:r>
              <a:t>        "lodging_nights": 2.95,</a:t>
            </a:r>
          </a:p>
          <a:p>
            <a:r>
              <a:t>        "lodging_rate_pct": 3.8,</a:t>
            </a:r>
          </a:p>
          <a:p>
            <a:r>
              <a:t>        "lodging_searches": 2301,</a:t>
            </a:r>
          </a:p>
          <a:p>
            <a:r>
              <a:t>        "navigation_searches": 108724,</a:t>
            </a:r>
          </a:p>
          <a:p>
            <a:r>
              <a:t>        "visitor_yoy_percent": -0.24,</a:t>
            </a:r>
          </a:p>
          <a:p>
            <a:r>
              <a:t>        "spending_yoy_percent": 9.25,</a:t>
            </a:r>
          </a:p>
          <a:p>
            <a:r>
              <a:t>        "metric_changes_percent": {</a:t>
            </a:r>
          </a:p>
          <a:p>
            <a:r>
              <a:t>          "stay_minutes": 0.0,</a:t>
            </a:r>
          </a:p>
          <a:p>
            <a:r>
              <a:t>          "lodging_nights": -1.01,</a:t>
            </a:r>
          </a:p>
          <a:p>
            <a:r>
              <a:t>          "lodging_rate_pct": 0.0,</a:t>
            </a:r>
          </a:p>
          <a:p>
            <a:r>
              <a:t>          "lodging_searches": 5.41,</a:t>
            </a:r>
          </a:p>
          <a:p>
            <a:r>
              <a:t>          "navigation_searches": 0.0</a:t>
            </a:r>
          </a:p>
          <a:p>
            <a:r>
              <a:t>        },</a:t>
            </a:r>
          </a:p>
          <a:p>
            <a:r>
              <a:t>        "previous_year_visitors": 6654997,</a:t>
            </a:r>
          </a:p>
          <a:p>
            <a:r>
              <a:t>        "previous_year_spending_krw": 94192832000,</a:t>
            </a:r>
          </a:p>
          <a:p>
            <a:r>
              <a:t>        "previous_year_stay_minutes": 729.0,</a:t>
            </a:r>
          </a:p>
          <a:p>
            <a:r>
              <a:t>        "previous_year_lodging_nights": 2.98,</a:t>
            </a:r>
          </a:p>
          <a:p>
            <a:r>
              <a:t>        "previous_year_lodging_rate_pct": 3.8,</a:t>
            </a:r>
          </a:p>
          <a:p>
            <a:r>
              <a:t>        "previous_year_lodging_searches": 2183,</a:t>
            </a:r>
          </a:p>
          <a:p>
            <a:r>
              <a:t>        "previous_year_navigation_searches": 108724</a:t>
            </a:r>
          </a:p>
          <a:p>
            <a:r>
              <a:t>      },</a:t>
            </a:r>
          </a:p>
          <a:p>
            <a:r>
              <a:t>      {</a:t>
            </a:r>
          </a:p>
          <a:p>
            <a:r>
              <a:t>        "month": "202610",</a:t>
            </a:r>
          </a:p>
          <a:p>
            <a:r>
              <a:t>        "visitors": 6570358.0,</a:t>
            </a:r>
          </a:p>
          <a:p>
            <a:r>
              <a:t>        "is_forecast": true,</a:t>
            </a:r>
          </a:p>
          <a:p>
            <a:r>
              <a:t>        "spending_krw": 103404579597.0,</a:t>
            </a:r>
          </a:p>
          <a:p>
            <a:r>
              <a:t>        "stay_minutes": 726.0,</a:t>
            </a:r>
          </a:p>
          <a:p>
            <a:r>
              <a:t>        "lodging_nights": 2.92,</a:t>
            </a:r>
          </a:p>
          <a:p>
            <a:r>
              <a:t>        "lodging_rate_pct": 4.5,</a:t>
            </a:r>
          </a:p>
          <a:p>
            <a:r>
              <a:t>        "lodging_searches": 2786,</a:t>
            </a:r>
          </a:p>
          <a:p>
            <a:r>
              <a:t>        "navigation_searches": 176420,</a:t>
            </a:r>
          </a:p>
          <a:p>
            <a:r>
              <a:t>        "visitor_yoy_percent": 6.49,</a:t>
            </a:r>
          </a:p>
          <a:p>
            <a:r>
              <a:t>        "spending_yoy_percent": 6.54,</a:t>
            </a:r>
          </a:p>
          <a:p>
            <a:r>
              <a:t>        "metric_changes_percent": {</a:t>
            </a:r>
          </a:p>
          <a:p>
            <a:r>
              <a:t>          "stay_minutes": 0.0,</a:t>
            </a:r>
          </a:p>
          <a:p>
            <a:r>
              <a:t>          "lodging_nights": -0.68,</a:t>
            </a:r>
          </a:p>
          <a:p>
            <a:r>
              <a:t>          "lodging_rate_pct": 0.0,</a:t>
            </a:r>
          </a:p>
          <a:p>
            <a:r>
              <a:t>          "lodging_searches": -23.0,</a:t>
            </a:r>
          </a:p>
          <a:p>
            <a:r>
              <a:t>          "navigation_searches": 0.0</a:t>
            </a:r>
          </a:p>
          <a:p>
            <a:r>
              <a:t>        },</a:t>
            </a:r>
          </a:p>
          <a:p>
            <a:r>
              <a:t>        "previous_year_visitors": 6170192,</a:t>
            </a:r>
          </a:p>
          <a:p>
            <a:r>
              <a:t>        "previous_year_spending_krw": 97053863000,</a:t>
            </a:r>
          </a:p>
          <a:p>
            <a:r>
              <a:t>        "previous_year_stay_minutes": 726.0,</a:t>
            </a:r>
          </a:p>
          <a:p>
            <a:r>
              <a:t>        "previous_year_lodging_nights": 2.94,</a:t>
            </a:r>
          </a:p>
          <a:p>
            <a:r>
              <a:t>        "previous_year_lodging_rate_pct": 4.5,</a:t>
            </a:r>
          </a:p>
          <a:p>
            <a:r>
              <a:t>        "previous_year_lodging_searches": 3618,</a:t>
            </a:r>
          </a:p>
          <a:p>
            <a:r>
              <a:t>        "previous_year_navigation_searches": 176420</a:t>
            </a:r>
          </a:p>
          <a:p>
            <a:r>
              <a:t>      },</a:t>
            </a:r>
          </a:p>
          <a:p>
            <a:r>
              <a:t>      {</a:t>
            </a:r>
          </a:p>
          <a:p>
            <a:r>
              <a:t>        "month": "202611",</a:t>
            </a:r>
          </a:p>
          <a:p>
            <a:r>
              <a:t>        "visitors": 6585928.0,</a:t>
            </a:r>
          </a:p>
          <a:p>
            <a:r>
              <a:t>        "is_forecast": true,</a:t>
            </a:r>
          </a:p>
          <a:p>
            <a:r>
              <a:t>        "spending_krw": 107117698458.0,</a:t>
            </a:r>
          </a:p>
          <a:p>
            <a:r>
              <a:t>        "stay_minutes": 600.0,</a:t>
            </a:r>
          </a:p>
          <a:p>
            <a:r>
              <a:t>        "lodging_nights": 2.91,</a:t>
            </a:r>
          </a:p>
          <a:p>
            <a:r>
              <a:t>        "lodging_rate_pct": 3.6,</a:t>
            </a:r>
          </a:p>
          <a:p>
            <a:r>
              <a:t>        "lodging_searches": 2335,</a:t>
            </a:r>
          </a:p>
          <a:p>
            <a:r>
              <a:t>        "navigation_searches": 115407,</a:t>
            </a:r>
          </a:p>
          <a:p>
            <a:r>
              <a:t>        "visitor_yoy_percent": -0.86,</a:t>
            </a:r>
          </a:p>
          <a:p>
            <a:r>
              <a:t>        "spending_yoy_percent": 5.78,</a:t>
            </a:r>
          </a:p>
          <a:p>
            <a:r>
              <a:t>        "metric_changes_percent": {</a:t>
            </a:r>
          </a:p>
          <a:p>
            <a:r>
              <a:t>          "stay_minutes": 0.0,</a:t>
            </a:r>
          </a:p>
          <a:p>
            <a:r>
              <a:t>          "lodging_nights": 0.69,</a:t>
            </a:r>
          </a:p>
          <a:p>
            <a:r>
              <a:t>          "lodging_rate_pct": 0.0,</a:t>
            </a:r>
          </a:p>
          <a:p>
            <a:r>
              <a:t>          "lodging_searches": -7.71,</a:t>
            </a:r>
          </a:p>
          <a:p>
            <a:r>
              <a:t>          "navigation_searches": 0.0</a:t>
            </a:r>
          </a:p>
          <a:p>
            <a:r>
              <a:t>        },</a:t>
            </a:r>
          </a:p>
          <a:p>
            <a:r>
              <a:t>        "previous_year_visitors": 6643276,</a:t>
            </a:r>
          </a:p>
          <a:p>
            <a:r>
              <a:t>        "previous_year_spending_krw": 101267996000,</a:t>
            </a:r>
          </a:p>
          <a:p>
            <a:r>
              <a:t>        "previous_year_stay_minutes": 600.0,</a:t>
            </a:r>
          </a:p>
          <a:p>
            <a:r>
              <a:t>        "previous_year_lodging_nights": 2.89,</a:t>
            </a:r>
          </a:p>
          <a:p>
            <a:r>
              <a:t>        "previous_year_lodging_rate_pct": 3.6,</a:t>
            </a:r>
          </a:p>
          <a:p>
            <a:r>
              <a:t>        "previous_year_lodging_searches": 2530,</a:t>
            </a:r>
          </a:p>
          <a:p>
            <a:r>
              <a:t>        "previous_year_navigation_searches": 115407</a:t>
            </a:r>
          </a:p>
          <a:p>
            <a:r>
              <a:t>      }</a:t>
            </a:r>
          </a:p>
          <a:p>
            <a:r>
              <a:t>    ],</a:t>
            </a:r>
          </a:p>
          <a:p>
            <a:r>
              <a:t>    "period": "202609~202611",</a:t>
            </a:r>
          </a:p>
          <a:p>
            <a:r>
              <a:t>    "complete": true,</a:t>
            </a:r>
          </a:p>
          <a:p>
            <a:r>
              <a:t>    "notes": [</a:t>
            </a:r>
          </a:p>
          <a:p>
            <a:r>
              <a:t>      "3개월 초과 예측 거리는 재귀 검증 범위 밖의 탐색 전망입니다."</a:t>
            </a:r>
          </a:p>
          <a:p>
            <a:r>
              <a:t>    ],</a:t>
            </a:r>
          </a:p>
          <a:p>
            <a:r>
              <a:t>    "selection_basis": "strategy_timeframe",</a:t>
            </a:r>
          </a:p>
          <a:p>
            <a:r>
              <a:t>    "requested_period": "202609~202611"</a:t>
            </a:r>
          </a:p>
          <a:p>
            <a:r>
              <a:t>  },</a:t>
            </a:r>
          </a:p>
          <a:p>
            <a:r>
              <a:t>  "all_ml_forecasts": [</a:t>
            </a:r>
          </a:p>
          <a:p>
            <a:r>
              <a:t>    {</a:t>
            </a:r>
          </a:p>
          <a:p>
            <a:r>
              <a:t>      "month": "202607",</a:t>
            </a:r>
          </a:p>
          <a:p>
            <a:r>
              <a:t>      "visitors": 6551545,</a:t>
            </a:r>
          </a:p>
          <a:p>
            <a:r>
              <a:t>      "is_forecast": true,</a:t>
            </a:r>
          </a:p>
          <a:p>
            <a:r>
              <a:t>      "spending_krw": 99619891149,</a:t>
            </a:r>
          </a:p>
          <a:p>
            <a:r>
              <a:t>      "stay_minutes": 715.0,</a:t>
            </a:r>
          </a:p>
          <a:p>
            <a:r>
              <a:t>      "lodging_nights": 2.92,</a:t>
            </a:r>
          </a:p>
          <a:p>
            <a:r>
              <a:t>      "lodging_rate_pct": 3.9,</a:t>
            </a:r>
          </a:p>
          <a:p>
            <a:r>
              <a:t>      "lodging_searches": 2427,</a:t>
            </a:r>
          </a:p>
          <a:p>
            <a:r>
              <a:t>      "navigation_searches": 110530,</a:t>
            </a:r>
          </a:p>
          <a:p>
            <a:r>
              <a:t>      "visitor_yoy_percent": 8.42,</a:t>
            </a:r>
          </a:p>
          <a:p>
            <a:r>
              <a:t>      "spending_yoy_percent": 7.8,</a:t>
            </a:r>
          </a:p>
          <a:p>
            <a:r>
              <a:t>      "metric_changes_percent": {</a:t>
            </a:r>
          </a:p>
          <a:p>
            <a:r>
              <a:t>        "stay_minutes": 0.0,</a:t>
            </a:r>
          </a:p>
          <a:p>
            <a:r>
              <a:t>        "lodging_nights": -1.02,</a:t>
            </a:r>
          </a:p>
          <a:p>
            <a:r>
              <a:t>        "lodging_rate_pct": 0.0,</a:t>
            </a:r>
          </a:p>
          <a:p>
            <a:r>
              <a:t>        "lodging_searches": -12.98,</a:t>
            </a:r>
          </a:p>
          <a:p>
            <a:r>
              <a:t>        "navigation_searches": 0.0</a:t>
            </a:r>
          </a:p>
          <a:p>
            <a:r>
              <a:t>      },</a:t>
            </a:r>
          </a:p>
          <a:p>
            <a:r>
              <a:t>      "previous_year_visitors": 6042778,</a:t>
            </a:r>
          </a:p>
          <a:p>
            <a:r>
              <a:t>      "previous_year_spending_krw": 92415108000,</a:t>
            </a:r>
          </a:p>
          <a:p>
            <a:r>
              <a:t>      "previous_year_stay_minutes": 715.0,</a:t>
            </a:r>
          </a:p>
          <a:p>
            <a:r>
              <a:t>      "previous_year_lodging_nights": 2.95,</a:t>
            </a:r>
          </a:p>
          <a:p>
            <a:r>
              <a:t>      "previous_year_lodging_rate_pct": 3.9,</a:t>
            </a:r>
          </a:p>
          <a:p>
            <a:r>
              <a:t>      "previous_year_lodging_searches": 2789,</a:t>
            </a:r>
          </a:p>
          <a:p>
            <a:r>
              <a:t>      "previous_year_navigation_searches": 110530</a:t>
            </a:r>
          </a:p>
          <a:p>
            <a:r>
              <a:t>    },</a:t>
            </a:r>
          </a:p>
          <a:p>
            <a:r>
              <a:t>    {</a:t>
            </a:r>
          </a:p>
          <a:p>
            <a:r>
              <a:t>      "month": "202608",</a:t>
            </a:r>
          </a:p>
          <a:p>
            <a:r>
              <a:t>      "visitors": 6392576,</a:t>
            </a:r>
          </a:p>
          <a:p>
            <a:r>
              <a:t>      "is_forecast": true,</a:t>
            </a:r>
          </a:p>
          <a:p>
            <a:r>
              <a:t>      "spending_krw": 100649180510,</a:t>
            </a:r>
          </a:p>
          <a:p>
            <a:r>
              <a:t>      "stay_minutes": 727.0,</a:t>
            </a:r>
          </a:p>
          <a:p>
            <a:r>
              <a:t>      "lodging_nights": 2.93,</a:t>
            </a:r>
          </a:p>
          <a:p>
            <a:r>
              <a:t>      "lodging_rate_pct": 4.3,</a:t>
            </a:r>
          </a:p>
          <a:p>
            <a:r>
              <a:t>      "lodging_searches": 2345,</a:t>
            </a:r>
          </a:p>
          <a:p>
            <a:r>
              <a:t>      "navigation_searches": 116553,</a:t>
            </a:r>
          </a:p>
          <a:p>
            <a:r>
              <a:t>      "visitor_yoy_percent": 7.88,</a:t>
            </a:r>
          </a:p>
          <a:p>
            <a:r>
              <a:t>      "spending_yoy_percent": 6.05,</a:t>
            </a:r>
          </a:p>
          <a:p>
            <a:r>
              <a:t>      "metric_changes_percent": {</a:t>
            </a:r>
          </a:p>
          <a:p>
            <a:r>
              <a:t>        "stay_minutes": 0.0,</a:t>
            </a:r>
          </a:p>
          <a:p>
            <a:r>
              <a:t>        "lodging_nights": 0.69,</a:t>
            </a:r>
          </a:p>
          <a:p>
            <a:r>
              <a:t>        "lodging_rate_pct": 0.0,</a:t>
            </a:r>
          </a:p>
          <a:p>
            <a:r>
              <a:t>        "lodging_searches": -4.64,</a:t>
            </a:r>
          </a:p>
          <a:p>
            <a:r>
              <a:t>        "navigation_searches": 0.0</a:t>
            </a:r>
          </a:p>
          <a:p>
            <a:r>
              <a:t>      },</a:t>
            </a:r>
          </a:p>
          <a:p>
            <a:r>
              <a:t>      "previous_year_visitors": 5925815,</a:t>
            </a:r>
          </a:p>
          <a:p>
            <a:r>
              <a:t>      "previous_year_spending_krw": 94907804000,</a:t>
            </a:r>
          </a:p>
          <a:p>
            <a:r>
              <a:t>      "previous_year_stay_minutes": 727.0,</a:t>
            </a:r>
          </a:p>
          <a:p>
            <a:r>
              <a:t>      "previous_year_lodging_nights": 2.91,</a:t>
            </a:r>
          </a:p>
          <a:p>
            <a:r>
              <a:t>      "previous_year_lodging_rate_pct": 4.3,</a:t>
            </a:r>
          </a:p>
          <a:p>
            <a:r>
              <a:t>      "previous_year_lodging_searches": 2459,</a:t>
            </a:r>
          </a:p>
          <a:p>
            <a:r>
              <a:t>      "previous_year_navigation_searches": 116553</a:t>
            </a:r>
          </a:p>
          <a:p>
            <a:r>
              <a:t>    },</a:t>
            </a:r>
          </a:p>
          <a:p>
            <a:r>
              <a:t>    {</a:t>
            </a:r>
          </a:p>
          <a:p>
            <a:r>
              <a:t>      "month": "202609",</a:t>
            </a:r>
          </a:p>
          <a:p>
            <a:r>
              <a:t>      "visitors": 6638883,</a:t>
            </a:r>
          </a:p>
          <a:p>
            <a:r>
              <a:t>      "is_forecast": true,</a:t>
            </a:r>
          </a:p>
          <a:p>
            <a:r>
              <a:t>      "spending_krw": 102905513747,</a:t>
            </a:r>
          </a:p>
          <a:p>
            <a:r>
              <a:t>      "stay_minutes": 729.0,</a:t>
            </a:r>
          </a:p>
          <a:p>
            <a:r>
              <a:t>      "lodging_nights": 2.95,</a:t>
            </a:r>
          </a:p>
          <a:p>
            <a:r>
              <a:t>      "lodging_rate_pct": 3.8,</a:t>
            </a:r>
          </a:p>
          <a:p>
            <a:r>
              <a:t>      "lodging_searches": 2301,</a:t>
            </a:r>
          </a:p>
          <a:p>
            <a:r>
              <a:t>      "navigation_searches": 108724,</a:t>
            </a:r>
          </a:p>
          <a:p>
            <a:r>
              <a:t>      "visitor_yoy_percent": -0.24,</a:t>
            </a:r>
          </a:p>
          <a:p>
            <a:r>
              <a:t>      "spending_yoy_percent": 9.25,</a:t>
            </a:r>
          </a:p>
          <a:p>
            <a:r>
              <a:t>      "metric_changes_percent": {</a:t>
            </a:r>
          </a:p>
          <a:p>
            <a:r>
              <a:t>        "stay_minutes": 0.0,</a:t>
            </a:r>
          </a:p>
          <a:p>
            <a:r>
              <a:t>        "lodging_nights": -1.01,</a:t>
            </a:r>
          </a:p>
          <a:p>
            <a:r>
              <a:t>        "lodging_rate_pct": 0.0,</a:t>
            </a:r>
          </a:p>
          <a:p>
            <a:r>
              <a:t>        "lodging_searches": 5.41,</a:t>
            </a:r>
          </a:p>
          <a:p>
            <a:r>
              <a:t>        "navigation_searches": 0.0</a:t>
            </a:r>
          </a:p>
          <a:p>
            <a:r>
              <a:t>      },</a:t>
            </a:r>
          </a:p>
          <a:p>
            <a:r>
              <a:t>      "previous_year_visitors": 6654997,</a:t>
            </a:r>
          </a:p>
          <a:p>
            <a:r>
              <a:t>      "previous_year_spending_krw": 94192832000,</a:t>
            </a:r>
          </a:p>
          <a:p>
            <a:r>
              <a:t>      "previous_year_stay_minutes": 729.0,</a:t>
            </a:r>
          </a:p>
          <a:p>
            <a:r>
              <a:t>      "previous_year_lodging_nights": 2.98,</a:t>
            </a:r>
          </a:p>
          <a:p>
            <a:r>
              <a:t>      "previous_year_lodging_rate_pct": 3.8,</a:t>
            </a:r>
          </a:p>
          <a:p>
            <a:r>
              <a:t>      "previous_year_lodging_searches": 2183,</a:t>
            </a:r>
          </a:p>
          <a:p>
            <a:r>
              <a:t>      "previous_year_navigation_searches": 108724</a:t>
            </a:r>
          </a:p>
          <a:p>
            <a:r>
              <a:t>    },</a:t>
            </a:r>
          </a:p>
          <a:p>
            <a:r>
              <a:t>    {</a:t>
            </a:r>
          </a:p>
          <a:p>
            <a:r>
              <a:t>      "month": "202610",</a:t>
            </a:r>
          </a:p>
          <a:p>
            <a:r>
              <a:t>      "visitors": 6570358,</a:t>
            </a:r>
          </a:p>
          <a:p>
            <a:r>
              <a:t>      "is_forecast": true,</a:t>
            </a:r>
          </a:p>
          <a:p>
            <a:r>
              <a:t>      "spending_krw": 103404579597,</a:t>
            </a:r>
          </a:p>
          <a:p>
            <a:r>
              <a:t>      "stay_minutes": 726.0,</a:t>
            </a:r>
          </a:p>
          <a:p>
            <a:r>
              <a:t>      "lodging_nights": 2.92,</a:t>
            </a:r>
          </a:p>
          <a:p>
            <a:r>
              <a:t>      "lodging_rate_pct": 4.5,</a:t>
            </a:r>
          </a:p>
          <a:p>
            <a:r>
              <a:t>      "lodging_searches": 2786,</a:t>
            </a:r>
          </a:p>
          <a:p>
            <a:r>
              <a:t>      "navigation_searches": 176420,</a:t>
            </a:r>
          </a:p>
          <a:p>
            <a:r>
              <a:t>      "visitor_yoy_percent": 6.49,</a:t>
            </a:r>
          </a:p>
          <a:p>
            <a:r>
              <a:t>      "spending_yoy_percent": 6.54,</a:t>
            </a:r>
          </a:p>
          <a:p>
            <a:r>
              <a:t>      "metric_changes_percent": {</a:t>
            </a:r>
          </a:p>
          <a:p>
            <a:r>
              <a:t>        "stay_minutes": 0.0,</a:t>
            </a:r>
          </a:p>
          <a:p>
            <a:r>
              <a:t>        "lodging_nights": -0.68,</a:t>
            </a:r>
          </a:p>
          <a:p>
            <a:r>
              <a:t>        "lodging_rate_pct": 0.0,</a:t>
            </a:r>
          </a:p>
          <a:p>
            <a:r>
              <a:t>        "lodging_searches": -23.0,</a:t>
            </a:r>
          </a:p>
          <a:p>
            <a:r>
              <a:t>        "navigation_searches": 0.0</a:t>
            </a:r>
          </a:p>
          <a:p>
            <a:r>
              <a:t>      },</a:t>
            </a:r>
          </a:p>
          <a:p>
            <a:r>
              <a:t>      "previous_year_visitors": 6170192,</a:t>
            </a:r>
          </a:p>
          <a:p>
            <a:r>
              <a:t>      "previous_year_spending_krw": 97053863000,</a:t>
            </a:r>
          </a:p>
          <a:p>
            <a:r>
              <a:t>      "previous_year_stay_minutes": 726.0,</a:t>
            </a:r>
          </a:p>
          <a:p>
            <a:r>
              <a:t>      "previous_year_lodging_nights": 2.94,</a:t>
            </a:r>
          </a:p>
          <a:p>
            <a:r>
              <a:t>      "previous_year_lodging_rate_pct": 4.5,</a:t>
            </a:r>
          </a:p>
          <a:p>
            <a:r>
              <a:t>      "previous_year_lodging_searches": 3618,</a:t>
            </a:r>
          </a:p>
          <a:p>
            <a:r>
              <a:t>      "previous_year_navigation_searches": 176420</a:t>
            </a:r>
          </a:p>
          <a:p>
            <a:r>
              <a:t>    },</a:t>
            </a:r>
          </a:p>
          <a:p>
            <a:r>
              <a:t>    {</a:t>
            </a:r>
          </a:p>
          <a:p>
            <a:r>
              <a:t>      "month": "202611",</a:t>
            </a:r>
          </a:p>
          <a:p>
            <a:r>
              <a:t>      "visitors": 6585928,</a:t>
            </a:r>
          </a:p>
          <a:p>
            <a:r>
              <a:t>      "is_forecast": true,</a:t>
            </a:r>
          </a:p>
          <a:p>
            <a:r>
              <a:t>      "spending_krw": 107117698458,</a:t>
            </a:r>
          </a:p>
          <a:p>
            <a:r>
              <a:t>      "stay_minutes": 600.0,</a:t>
            </a:r>
          </a:p>
          <a:p>
            <a:r>
              <a:t>      "lodging_nights": 2.91,</a:t>
            </a:r>
          </a:p>
          <a:p>
            <a:r>
              <a:t>      "lodging_rate_pct": 3.6,</a:t>
            </a:r>
          </a:p>
          <a:p>
            <a:r>
              <a:t>      "lodging_searches": 2335,</a:t>
            </a:r>
          </a:p>
          <a:p>
            <a:r>
              <a:t>      "navigation_searches": 115407,</a:t>
            </a:r>
          </a:p>
          <a:p>
            <a:r>
              <a:t>      "visitor_yoy_percent": -0.86,</a:t>
            </a:r>
          </a:p>
          <a:p>
            <a:r>
              <a:t>      "spending_yoy_percent": 5.78,</a:t>
            </a:r>
          </a:p>
          <a:p>
            <a:r>
              <a:t>      "metric_changes_percent": {</a:t>
            </a:r>
          </a:p>
          <a:p>
            <a:r>
              <a:t>        "stay_minutes": 0.0,</a:t>
            </a:r>
          </a:p>
          <a:p>
            <a:r>
              <a:t>        "lodging_nights": 0.69,</a:t>
            </a:r>
          </a:p>
          <a:p>
            <a:r>
              <a:t>        "lodging_rate_pct": 0.0,</a:t>
            </a:r>
          </a:p>
          <a:p>
            <a:r>
              <a:t>        "lodging_searches": -7.71,</a:t>
            </a:r>
          </a:p>
          <a:p>
            <a:r>
              <a:t>        "navigation_searches": 0.0</a:t>
            </a:r>
          </a:p>
          <a:p>
            <a:r>
              <a:t>      },</a:t>
            </a:r>
          </a:p>
          <a:p>
            <a:r>
              <a:t>      "previous_year_visitors": 6643276,</a:t>
            </a:r>
          </a:p>
          <a:p>
            <a:r>
              <a:t>      "previous_year_spending_krw": 101267996000,</a:t>
            </a:r>
          </a:p>
          <a:p>
            <a:r>
              <a:t>      "previous_year_stay_minutes": 600.0,</a:t>
            </a:r>
          </a:p>
          <a:p>
            <a:r>
              <a:t>      "previous_year_lodging_nights": 2.89,</a:t>
            </a:r>
          </a:p>
          <a:p>
            <a:r>
              <a:t>      "previous_year_lodging_rate_pct": 3.6,</a:t>
            </a:r>
          </a:p>
          <a:p>
            <a:r>
              <a:t>      "previous_year_lodging_searches": 2530,</a:t>
            </a:r>
          </a:p>
          <a:p>
            <a:r>
              <a:t>      "previous_year_navigation_searches": 115407</a:t>
            </a:r>
          </a:p>
          <a:p>
            <a:r>
              <a:t>    }</a:t>
            </a:r>
          </a:p>
          <a:p>
            <a:r>
              <a:t>  ],</a:t>
            </a:r>
          </a:p>
          <a:p>
            <a:r>
              <a:t>  "evaluation": {</a:t>
            </a:r>
          </a:p>
          <a:p>
            <a:r>
              <a:t>    "metrics": {</a:t>
            </a:r>
          </a:p>
          <a:p>
            <a:r>
              <a:t>      "visitors": {</a:t>
            </a:r>
          </a:p>
          <a:p>
            <a:r>
              <a:t>        "test_mae": 512302.72,</a:t>
            </a:r>
          </a:p>
          <a:p>
            <a:r>
              <a:t>        "recursive_mae": {</a:t>
            </a:r>
          </a:p>
          <a:p>
            <a:r>
              <a:t>          "1": {</a:t>
            </a:r>
          </a:p>
          <a:p>
            <a:r>
              <a:t>            "baseline": 505115.0,</a:t>
            </a:r>
          </a:p>
          <a:p>
            <a:r>
              <a:t>            "selected": 637542.5,</a:t>
            </a:r>
          </a:p>
          <a:p>
            <a:r>
              <a:t>            "sample_count": 2</a:t>
            </a:r>
          </a:p>
          <a:p>
            <a:r>
              <a:t>          },</a:t>
            </a:r>
          </a:p>
          <a:p>
            <a:r>
              <a:t>          "2": {</a:t>
            </a:r>
          </a:p>
          <a:p>
            <a:r>
              <a:t>            "baseline": 350616.5,</a:t>
            </a:r>
          </a:p>
          <a:p>
            <a:r>
              <a:t>            "selected": 385661.0,</a:t>
            </a:r>
          </a:p>
          <a:p>
            <a:r>
              <a:t>            "sample_count": 2</a:t>
            </a:r>
          </a:p>
          <a:p>
            <a:r>
              <a:t>          },</a:t>
            </a:r>
          </a:p>
          <a:p>
            <a:r>
              <a:t>          "3": {</a:t>
            </a:r>
          </a:p>
          <a:p>
            <a:r>
              <a:t>            "baseline": 508390.5,</a:t>
            </a:r>
          </a:p>
          <a:p>
            <a:r>
              <a:t>            "selected": 376970.5,</a:t>
            </a:r>
          </a:p>
          <a:p>
            <a:r>
              <a:t>            "sample_count": 2</a:t>
            </a:r>
          </a:p>
          <a:p>
            <a:r>
              <a:t>          }</a:t>
            </a:r>
          </a:p>
          <a:p>
            <a:r>
              <a:t>        },</a:t>
            </a:r>
          </a:p>
          <a:p>
            <a:r>
              <a:t>        "selected_model": "RandomForestRegressor",</a:t>
            </a:r>
          </a:p>
          <a:p>
            <a:r>
              <a:t>        "baseline_test_mae": 506752.75,</a:t>
            </a:r>
          </a:p>
          <a:p>
            <a:r>
              <a:t>        "model_reliability": "below_baseline_on_test",</a:t>
            </a:r>
          </a:p>
          <a:p>
            <a:r>
              <a:t>        "beats_baseline_on_test": false,</a:t>
            </a:r>
          </a:p>
          <a:p>
            <a:r>
              <a:t>        "recursive_horizons_worse_than_baseline": [</a:t>
            </a:r>
          </a:p>
          <a:p>
            <a:r>
              <a:t>          "1",</a:t>
            </a:r>
          </a:p>
          <a:p>
            <a:r>
              <a:t>          "2"</a:t>
            </a:r>
          </a:p>
          <a:p>
            <a:r>
              <a:t>        ]</a:t>
            </a:r>
          </a:p>
          <a:p>
            <a:r>
              <a:t>      },</a:t>
            </a:r>
          </a:p>
          <a:p>
            <a:r>
              <a:t>      "spending_krw": {</a:t>
            </a:r>
          </a:p>
          <a:p>
            <a:r>
              <a:t>        "test_mae": 5905429236.35,</a:t>
            </a:r>
          </a:p>
          <a:p>
            <a:r>
              <a:t>        "recursive_mae": {</a:t>
            </a:r>
          </a:p>
          <a:p>
            <a:r>
              <a:t>          "1": {</a:t>
            </a:r>
          </a:p>
          <a:p>
            <a:r>
              <a:t>            "baseline": 3857228000.0,</a:t>
            </a:r>
          </a:p>
          <a:p>
            <a:r>
              <a:t>            "selected": 3675260054.5,</a:t>
            </a:r>
          </a:p>
          <a:p>
            <a:r>
              <a:t>            "sample_count": 2</a:t>
            </a:r>
          </a:p>
          <a:p>
            <a:r>
              <a:t>          },</a:t>
            </a:r>
          </a:p>
          <a:p>
            <a:r>
              <a:t>          "2": {</a:t>
            </a:r>
          </a:p>
          <a:p>
            <a:r>
              <a:t>            "baseline": 5016656500.0,</a:t>
            </a:r>
          </a:p>
          <a:p>
            <a:r>
              <a:t>            "selected": 2276015570.0,</a:t>
            </a:r>
          </a:p>
          <a:p>
            <a:r>
              <a:t>            "sample_count": 2</a:t>
            </a:r>
          </a:p>
          <a:p>
            <a:r>
              <a:t>          },</a:t>
            </a:r>
          </a:p>
          <a:p>
            <a:r>
              <a:t>          "3": {</a:t>
            </a:r>
          </a:p>
          <a:p>
            <a:r>
              <a:t>            "baseline": 3931632500.0,</a:t>
            </a:r>
          </a:p>
          <a:p>
            <a:r>
              <a:t>            "selected": 7285373763.0,</a:t>
            </a:r>
          </a:p>
          <a:p>
            <a:r>
              <a:t>            "sample_count": 2</a:t>
            </a:r>
          </a:p>
          <a:p>
            <a:r>
              <a:t>          }</a:t>
            </a:r>
          </a:p>
          <a:p>
            <a:r>
              <a:t>        },</a:t>
            </a:r>
          </a:p>
          <a:p>
            <a:r>
              <a:t>        "selected_model": "LinearRegression",</a:t>
            </a:r>
          </a:p>
          <a:p>
            <a:r>
              <a:t>        "baseline_test_mae": 3894430250.0,</a:t>
            </a:r>
          </a:p>
          <a:p>
            <a:r>
              <a:t>        "model_reliability": "below_baseline_on_test",</a:t>
            </a:r>
          </a:p>
          <a:p>
            <a:r>
              <a:t>        "beats_baseline_on_test": false,</a:t>
            </a:r>
          </a:p>
          <a:p>
            <a:r>
              <a:t>        "recursive_horizons_worse_than_baseline": [</a:t>
            </a:r>
          </a:p>
          <a:p>
            <a:r>
              <a:t>          "3"</a:t>
            </a:r>
          </a:p>
          <a:p>
            <a:r>
              <a:t>        ]</a:t>
            </a:r>
          </a:p>
          <a:p>
            <a:r>
              <a:t>      },</a:t>
            </a:r>
          </a:p>
          <a:p>
            <a:r>
              <a:t>      "stay_minutes": {</a:t>
            </a:r>
          </a:p>
          <a:p>
            <a:r>
              <a:t>        "test_mae": 81.25,</a:t>
            </a:r>
          </a:p>
          <a:p>
            <a:r>
              <a:t>        "recursive_mae": {</a:t>
            </a:r>
          </a:p>
          <a:p>
            <a:r>
              <a:t>          "1": {</a:t>
            </a:r>
          </a:p>
          <a:p>
            <a:r>
              <a:t>            "baseline": 15.0,</a:t>
            </a:r>
          </a:p>
          <a:p>
            <a:r>
              <a:t>            "selected": 15.0,</a:t>
            </a:r>
          </a:p>
          <a:p>
            <a:r>
              <a:t>            "sample_count": 2</a:t>
            </a:r>
          </a:p>
          <a:p>
            <a:r>
              <a:t>          },</a:t>
            </a:r>
          </a:p>
          <a:p>
            <a:r>
              <a:t>          "2": {</a:t>
            </a:r>
          </a:p>
          <a:p>
            <a:r>
              <a:t>            "baseline": 148.0,</a:t>
            </a:r>
          </a:p>
          <a:p>
            <a:r>
              <a:t>            "selected": 148.0,</a:t>
            </a:r>
          </a:p>
          <a:p>
            <a:r>
              <a:t>            "sample_count": 2</a:t>
            </a:r>
          </a:p>
          <a:p>
            <a:r>
              <a:t>          },</a:t>
            </a:r>
          </a:p>
          <a:p>
            <a:r>
              <a:t>          "3": {</a:t>
            </a:r>
          </a:p>
          <a:p>
            <a:r>
              <a:t>            "baseline": 147.5,</a:t>
            </a:r>
          </a:p>
          <a:p>
            <a:r>
              <a:t>            "selected": 147.5,</a:t>
            </a:r>
          </a:p>
          <a:p>
            <a:r>
              <a:t>            "sample_count": 2</a:t>
            </a:r>
          </a:p>
          <a:p>
            <a:r>
              <a:t>          }</a:t>
            </a:r>
          </a:p>
          <a:p>
            <a:r>
              <a:t>        },</a:t>
            </a:r>
          </a:p>
          <a:p>
            <a:r>
              <a:t>        "selected_model": "seasonal_naive_previous_year_same_month",</a:t>
            </a:r>
          </a:p>
          <a:p>
            <a:r>
              <a:t>        "baseline_test_mae": 81.25,</a:t>
            </a:r>
          </a:p>
          <a:p>
            <a:r>
              <a:t>        "model_reliability": "seasonal_baseline",</a:t>
            </a:r>
          </a:p>
          <a:p>
            <a:r>
              <a:t>        "beats_baseline_on_test": false,</a:t>
            </a:r>
          </a:p>
          <a:p>
            <a:r>
              <a:t>        "recursive_horizons_worse_than_baseline": []</a:t>
            </a:r>
          </a:p>
          <a:p>
            <a:r>
              <a:t>      },</a:t>
            </a:r>
          </a:p>
          <a:p>
            <a:r>
              <a:t>      "lodging_nights": {</a:t>
            </a:r>
          </a:p>
          <a:p>
            <a:r>
              <a:t>        "test_mae": 0.1,</a:t>
            </a:r>
          </a:p>
          <a:p>
            <a:r>
              <a:t>        "recursive_mae": {</a:t>
            </a:r>
          </a:p>
          <a:p>
            <a:r>
              <a:t>          "1": {</a:t>
            </a:r>
          </a:p>
          <a:p>
            <a:r>
              <a:t>            "baseline": 0.07,</a:t>
            </a:r>
          </a:p>
          <a:p>
            <a:r>
              <a:t>            "selected": 0.1,</a:t>
            </a:r>
          </a:p>
          <a:p>
            <a:r>
              <a:t>            "sample_count": 2</a:t>
            </a:r>
          </a:p>
          <a:p>
            <a:r>
              <a:t>          },</a:t>
            </a:r>
          </a:p>
          <a:p>
            <a:r>
              <a:t>          "2": {</a:t>
            </a:r>
          </a:p>
          <a:p>
            <a:r>
              <a:t>            "baseline": 0.11,</a:t>
            </a:r>
          </a:p>
          <a:p>
            <a:r>
              <a:t>            "selected": 0.16,</a:t>
            </a:r>
          </a:p>
          <a:p>
            <a:r>
              <a:t>            "sample_count": 2</a:t>
            </a:r>
          </a:p>
          <a:p>
            <a:r>
              <a:t>          },</a:t>
            </a:r>
          </a:p>
          <a:p>
            <a:r>
              <a:t>          "3": {</a:t>
            </a:r>
          </a:p>
          <a:p>
            <a:r>
              <a:t>            "baseline": 0.15,</a:t>
            </a:r>
          </a:p>
          <a:p>
            <a:r>
              <a:t>            "selected": 0.17,</a:t>
            </a:r>
          </a:p>
          <a:p>
            <a:r>
              <a:t>            "sample_count": 2</a:t>
            </a:r>
          </a:p>
          <a:p>
            <a:r>
              <a:t>          }</a:t>
            </a:r>
          </a:p>
          <a:p>
            <a:r>
              <a:t>        },</a:t>
            </a:r>
          </a:p>
          <a:p>
            <a:r>
              <a:t>        "selected_model": "LinearRegression",</a:t>
            </a:r>
          </a:p>
          <a:p>
            <a:r>
              <a:t>        "baseline_test_mae": 0.11,</a:t>
            </a:r>
          </a:p>
          <a:p>
            <a:r>
              <a:t>        "model_reliability": "mixed_recursive_performance",</a:t>
            </a:r>
          </a:p>
          <a:p>
            <a:r>
              <a:t>        "beats_baseline_on_test": true,</a:t>
            </a:r>
          </a:p>
          <a:p>
            <a:r>
              <a:t>        "recursive_horizons_worse_than_baseline": [</a:t>
            </a:r>
          </a:p>
          <a:p>
            <a:r>
              <a:t>          "1",</a:t>
            </a:r>
          </a:p>
          <a:p>
            <a:r>
              <a:t>          "2",</a:t>
            </a:r>
          </a:p>
          <a:p>
            <a:r>
              <a:t>          "3"</a:t>
            </a:r>
          </a:p>
          <a:p>
            <a:r>
              <a:t>        ]</a:t>
            </a:r>
          </a:p>
          <a:p>
            <a:r>
              <a:t>      },</a:t>
            </a:r>
          </a:p>
          <a:p>
            <a:r>
              <a:t>      "lodging_rate_pct": {</a:t>
            </a:r>
          </a:p>
          <a:p>
            <a:r>
              <a:t>        "test_mae": 0.32,</a:t>
            </a:r>
          </a:p>
          <a:p>
            <a:r>
              <a:t>        "recursive_mae": {</a:t>
            </a:r>
          </a:p>
          <a:p>
            <a:r>
              <a:t>          "1": {</a:t>
            </a:r>
          </a:p>
          <a:p>
            <a:r>
              <a:t>            "baseline": 0.3,</a:t>
            </a:r>
          </a:p>
          <a:p>
            <a:r>
              <a:t>            "selected": 0.3,</a:t>
            </a:r>
          </a:p>
          <a:p>
            <a:r>
              <a:t>            "sample_count": 2</a:t>
            </a:r>
          </a:p>
          <a:p>
            <a:r>
              <a:t>          },</a:t>
            </a:r>
          </a:p>
          <a:p>
            <a:r>
              <a:t>          "2": {</a:t>
            </a:r>
          </a:p>
          <a:p>
            <a:r>
              <a:t>            "baseline": 0.4,</a:t>
            </a:r>
          </a:p>
          <a:p>
            <a:r>
              <a:t>            "selected": 0.4,</a:t>
            </a:r>
          </a:p>
          <a:p>
            <a:r>
              <a:t>            "sample_count": 2</a:t>
            </a:r>
          </a:p>
          <a:p>
            <a:r>
              <a:t>          },</a:t>
            </a:r>
          </a:p>
          <a:p>
            <a:r>
              <a:t>          "3": {</a:t>
            </a:r>
          </a:p>
          <a:p>
            <a:r>
              <a:t>            "baseline": 0.35,</a:t>
            </a:r>
          </a:p>
          <a:p>
            <a:r>
              <a:t>            "selected": 0.35,</a:t>
            </a:r>
          </a:p>
          <a:p>
            <a:r>
              <a:t>            "sample_count": 2</a:t>
            </a:r>
          </a:p>
          <a:p>
            <a:r>
              <a:t>          }</a:t>
            </a:r>
          </a:p>
          <a:p>
            <a:r>
              <a:t>        },</a:t>
            </a:r>
          </a:p>
          <a:p>
            <a:r>
              <a:t>        "selected_model": "seasonal_naive_previous_year_same_month",</a:t>
            </a:r>
          </a:p>
          <a:p>
            <a:r>
              <a:t>        "baseline_test_mae": 0.32,</a:t>
            </a:r>
          </a:p>
          <a:p>
            <a:r>
              <a:t>        "model_reliability": "seasonal_baseline",</a:t>
            </a:r>
          </a:p>
          <a:p>
            <a:r>
              <a:t>        "beats_baseline_on_test": false,</a:t>
            </a:r>
          </a:p>
          <a:p>
            <a:r>
              <a:t>        "recursive_horizons_worse_than_baseline": []</a:t>
            </a:r>
          </a:p>
          <a:p>
            <a:r>
              <a:t>      },</a:t>
            </a:r>
          </a:p>
          <a:p>
            <a:r>
              <a:t>      "lodging_searches": {</a:t>
            </a:r>
          </a:p>
          <a:p>
            <a:r>
              <a:t>        "test_mae": 141.88,</a:t>
            </a:r>
          </a:p>
          <a:p>
            <a:r>
              <a:t>        "recursive_mae": {</a:t>
            </a:r>
          </a:p>
          <a:p>
            <a:r>
              <a:t>          "1": {</a:t>
            </a:r>
          </a:p>
          <a:p>
            <a:r>
              <a:t>            "baseline": 239.0,</a:t>
            </a:r>
          </a:p>
          <a:p>
            <a:r>
              <a:t>            "selected": 78.5,</a:t>
            </a:r>
          </a:p>
          <a:p>
            <a:r>
              <a:t>            "sample_count": 2</a:t>
            </a:r>
          </a:p>
          <a:p>
            <a:r>
              <a:t>          },</a:t>
            </a:r>
          </a:p>
          <a:p>
            <a:r>
              <a:t>          "2": {</a:t>
            </a:r>
          </a:p>
          <a:p>
            <a:r>
              <a:t>            "baseline": 215.5,</a:t>
            </a:r>
          </a:p>
          <a:p>
            <a:r>
              <a:t>            "selected": 71.5,</a:t>
            </a:r>
          </a:p>
          <a:p>
            <a:r>
              <a:t>            "sample_count": 2</a:t>
            </a:r>
          </a:p>
          <a:p>
            <a:r>
              <a:t>          },</a:t>
            </a:r>
          </a:p>
          <a:p>
            <a:r>
              <a:t>          "3": {</a:t>
            </a:r>
          </a:p>
          <a:p>
            <a:r>
              <a:t>            "baseline": 282.5,</a:t>
            </a:r>
          </a:p>
          <a:p>
            <a:r>
              <a:t>            "selected": 143.0,</a:t>
            </a:r>
          </a:p>
          <a:p>
            <a:r>
              <a:t>            "sample_count": 2</a:t>
            </a:r>
          </a:p>
          <a:p>
            <a:r>
              <a:t>          }</a:t>
            </a:r>
          </a:p>
          <a:p>
            <a:r>
              <a:t>        },</a:t>
            </a:r>
          </a:p>
          <a:p>
            <a:r>
              <a:t>        "selected_model": "RandomForestRegressor",</a:t>
            </a:r>
          </a:p>
          <a:p>
            <a:r>
              <a:t>        "baseline_test_mae": 260.75,</a:t>
            </a:r>
          </a:p>
          <a:p>
            <a:r>
              <a:t>        "model_reliability": "limited_backtest_support",</a:t>
            </a:r>
          </a:p>
          <a:p>
            <a:r>
              <a:t>        "beats_baseline_on_test": true,</a:t>
            </a:r>
          </a:p>
          <a:p>
            <a:r>
              <a:t>        "recursive_horizons_worse_than_baseline": []</a:t>
            </a:r>
          </a:p>
          <a:p>
            <a:r>
              <a:t>      },</a:t>
            </a:r>
          </a:p>
          <a:p>
            <a:r>
              <a:t>      "navigation_searches": {</a:t>
            </a:r>
          </a:p>
          <a:p>
            <a:r>
              <a:t>        "test_mae": 18943.5,</a:t>
            </a:r>
          </a:p>
          <a:p>
            <a:r>
              <a:t>        "recursive_mae": {</a:t>
            </a:r>
          </a:p>
          <a:p>
            <a:r>
              <a:t>          "1": {</a:t>
            </a:r>
          </a:p>
          <a:p>
            <a:r>
              <a:t>            "baseline": 21342.5,</a:t>
            </a:r>
          </a:p>
          <a:p>
            <a:r>
              <a:t>            "selected": 21342.5,</a:t>
            </a:r>
          </a:p>
          <a:p>
            <a:r>
              <a:t>            "sample_count": 2</a:t>
            </a:r>
          </a:p>
          <a:p>
            <a:r>
              <a:t>          },</a:t>
            </a:r>
          </a:p>
          <a:p>
            <a:r>
              <a:t>          "2": {</a:t>
            </a:r>
          </a:p>
          <a:p>
            <a:r>
              <a:t>            "baseline": 18933.0,</a:t>
            </a:r>
          </a:p>
          <a:p>
            <a:r>
              <a:t>            "selected": 18933.0,</a:t>
            </a:r>
          </a:p>
          <a:p>
            <a:r>
              <a:t>            "sample_count": 2</a:t>
            </a:r>
          </a:p>
          <a:p>
            <a:r>
              <a:t>          },</a:t>
            </a:r>
          </a:p>
          <a:p>
            <a:r>
              <a:t>          "3": {</a:t>
            </a:r>
          </a:p>
          <a:p>
            <a:r>
              <a:t>            "baseline": 16544.5,</a:t>
            </a:r>
          </a:p>
          <a:p>
            <a:r>
              <a:t>            "selected": 16544.5,</a:t>
            </a:r>
          </a:p>
          <a:p>
            <a:r>
              <a:t>            "sample_count": 2</a:t>
            </a:r>
          </a:p>
          <a:p>
            <a:r>
              <a:t>          }</a:t>
            </a:r>
          </a:p>
          <a:p>
            <a:r>
              <a:t>        },</a:t>
            </a:r>
          </a:p>
          <a:p>
            <a:r>
              <a:t>        "selected_model": "seasonal_naive_previous_year_same_month",</a:t>
            </a:r>
          </a:p>
          <a:p>
            <a:r>
              <a:t>        "baseline_test_mae": 18943.5,</a:t>
            </a:r>
          </a:p>
          <a:p>
            <a:r>
              <a:t>        "model_reliability": "seasonal_baseline",</a:t>
            </a:r>
          </a:p>
          <a:p>
            <a:r>
              <a:t>        "beats_baseline_on_test": false,</a:t>
            </a:r>
          </a:p>
          <a:p>
            <a:r>
              <a:t>        "recursive_horizons_worse_than_baseline": []</a:t>
            </a:r>
          </a:p>
          <a:p>
            <a:r>
              <a:t>      }</a:t>
            </a:r>
          </a:p>
          <a:p>
            <a:r>
              <a:t>    },</a:t>
            </a:r>
          </a:p>
          <a:p>
            <a:r>
              <a:t>    "test_period": "202603~202606",</a:t>
            </a:r>
          </a:p>
          <a:p>
            <a:r>
              <a:t>    "selection_basis": "validation_mae_only",</a:t>
            </a:r>
          </a:p>
          <a:p>
            <a:r>
              <a:t>    "validation_period": "202512~202602",</a:t>
            </a:r>
          </a:p>
          <a:p>
            <a:r>
              <a:t>    "longer_horizon_status": "exploratory_not_recursively_backtested",</a:t>
            </a:r>
          </a:p>
          <a:p>
            <a:r>
              <a:t>    "forecast_horizon_months": 5,</a:t>
            </a:r>
          </a:p>
          <a:p>
            <a:r>
              <a:t>    "recursive_backtest_horizon_months": [</a:t>
            </a:r>
          </a:p>
          <a:p>
            <a:r>
              <a:t>      1,</a:t>
            </a:r>
          </a:p>
          <a:p>
            <a:r>
              <a:t>      2,</a:t>
            </a:r>
          </a:p>
          <a:p>
            <a:r>
              <a:t>      3</a:t>
            </a:r>
          </a:p>
          <a:p>
            <a:r>
              <a:t>    ]</a:t>
            </a:r>
          </a:p>
          <a:p>
            <a:r>
              <a:t>  },</a:t>
            </a:r>
          </a:p>
          <a:p>
            <a:r>
              <a:t>  "execution_scenario": {</a:t>
            </a:r>
          </a:p>
          <a:p>
            <a:r>
              <a:t>    "visitor_target_pct": 20.0,</a:t>
            </a:r>
          </a:p>
          <a:p>
            <a:r>
              <a:t>    "spending_target_pct": 20.0</a:t>
            </a:r>
          </a:p>
          <a:p>
            <a:r>
              <a:t>  },</a:t>
            </a:r>
          </a:p>
          <a:p>
            <a:r>
              <a:t>  "reference_estimate": {</a:t>
            </a:r>
          </a:p>
          <a:p>
            <a:r>
              <a:t>    "status": "saved_report_budget",</a:t>
            </a:r>
          </a:p>
          <a:p>
            <a:r>
              <a:t>    "total_label": "총액 미확정",</a:t>
            </a:r>
          </a:p>
          <a:p>
            <a:r>
              <a:t>    "rows": [</a:t>
            </a:r>
          </a:p>
          <a:p>
            <a:r>
              <a:t>      [</a:t>
            </a:r>
          </a:p>
          <a:p>
            <a:r>
              <a:t>        "산정 내역 1",</a:t>
            </a:r>
          </a:p>
          <a:p>
            <a:r>
              <a:t>        "지역상품권 환급액 = (외지인 관광객의 지역 내 소비액 × 20%) + (지역상품권 발행 비용: 1,000원/장). 단가 및 정확한 환급 대상 규모는 시범 운영 전 확정 필요.",</a:t>
            </a:r>
          </a:p>
          <a:p>
            <a:r>
              <a:t>        "본문 기준"</a:t>
            </a:r>
          </a:p>
          <a:p>
            <a:r>
              <a:t>      ]</a:t>
            </a:r>
          </a:p>
          <a:p>
            <a:r>
              <a:t>    ],</a:t>
            </a:r>
          </a:p>
          <a:p>
            <a:r>
              <a:t>    "original_text": "지역상품권 환급액 = (외지인 관광객의 지역 내 소비액 × 20%) + (지역상품권 발행 비용: 1,000원/장). 단가 및 정확한 환급 대상 규모는 시범 운영 전 확정 필요.",</a:t>
            </a:r>
          </a:p>
          <a:p>
            <a:r>
              <a:t>    "sources": [],</a:t>
            </a:r>
          </a:p>
          <a:p>
            <a:r>
              <a:t>    "note": "저장 기획안의 예산 산정 내용을 그대로 표시합니다. 확정 견적이 아니며 계약 전 수량·단가·세금과 합계를 확인합니다."</a:t>
            </a:r>
          </a:p>
          <a:p>
            <a:r>
              <a:t>  }</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a:r>
          </a:p>
          <a:p xmlns:a="http://schemas.openxmlformats.org/drawingml/2006/main">
            <a:r>
              <a:t>  "method": "operation-document-v1",</a:t>
            </a:r>
          </a:p>
          <a:p xmlns:a="http://schemas.openxmlformats.org/drawingml/2006/main">
            <a:r>
              <a:t>  "sources": [</a:t>
            </a:r>
          </a:p>
          <a:p xmlns:a="http://schemas.openxmlformats.org/drawingml/2006/main">
            <a:r>
              <a:t>    {</a:t>
            </a:r>
          </a:p>
          <a:p xmlns:a="http://schemas.openxmlformats.org/drawingml/2006/main">
            <a:r>
              <a:t>      "title": "강진 반값여행 지역경제 효과 소개",</a:t>
            </a:r>
          </a:p>
          <a:p xmlns:a="http://schemas.openxmlformats.org/drawingml/2006/main">
            <a:r>
              <a:t>      "summary": "전라남도 강진군 · 반값여행 지역환급 · 상품권 결제 변화에 관한 소개 자료는 있으나, 사업 참여자 범위·정확한 비교 기간·원자료를 확인하지 못해 성과 수치 인용을 보류한다.",</a:t>
            </a:r>
          </a:p>
          <a:p xmlns:a="http://schemas.openxmlformats.org/drawingml/2006/main">
            <a:r>
              <a:t>      "source_id": "case:gangjin_half_price_2024",</a:t>
            </a:r>
          </a:p>
          <a:p xmlns:a="http://schemas.openxmlformats.org/drawingml/2006/main">
            <a:r>
              <a:t>      "source_url": "https://jnfarm.jeonnam.go.kr/board/FARM_BOARD_008/boardView.do?bdId=BD_00000000000011721&amp;menuCd=farm004002",</a:t>
            </a:r>
          </a:p>
          <a:p xmlns:a="http://schemas.openxmlformats.org/drawingml/2006/main">
            <a:r>
              <a:t>      "case_region": "전라남도 강진군",</a:t>
            </a:r>
          </a:p>
          <a:p xmlns:a="http://schemas.openxmlformats.org/drawingml/2006/main">
            <a:r>
              <a:t>      "source_type": "benchmark_case",</a:t>
            </a:r>
          </a:p>
          <a:p xmlns:a="http://schemas.openxmlformats.org/drawingml/2006/main">
            <a:r>
              <a:t>      "intervention": "반값여행 지역환급",</a:t>
            </a:r>
          </a:p>
          <a:p xmlns:a="http://schemas.openxmlformats.org/drawingml/2006/main">
            <a:r>
              <a:t>      "document_type": "case_study",</a:t>
            </a:r>
          </a:p>
          <a:p xmlns:a="http://schemas.openxmlformats.org/drawingml/2006/main">
            <a:r>
              <a:t>      "observed_result": "상품권 결제 변화에 관한 소개 자료는 있으나, 사업 참여자 범위·정확한 비교 기간·원자료를 확인하지 못해 성과 수치 인용을 보류한다.",</a:t>
            </a:r>
          </a:p>
          <a:p xmlns:a="http://schemas.openxmlformats.org/drawingml/2006/main">
            <a:r>
              <a:t>      "operating_model": "여행자가 지역에서 지출한 비용의 일부를 지역상품권으로 돌려받게 하여 혜택이 다시 지역 상점에서 사용되도록 설계",</a:t>
            </a:r>
          </a:p>
          <a:p xmlns:a="http://schemas.openxmlformats.org/drawingml/2006/main">
            <a:r>
              <a:t>      "retrieval_method": "curated_registry",</a:t>
            </a:r>
          </a:p>
          <a:p xmlns:a="http://schemas.openxmlformats.org/drawingml/2006/main">
            <a:r>
              <a:t>      "evidence_strength": "low",</a:t>
            </a:r>
          </a:p>
          <a:p xmlns:a="http://schemas.openxmlformats.org/drawingml/2006/main">
            <a:r>
              <a:t>      "retrieval_context": {</a:t>
            </a:r>
          </a:p>
          <a:p xmlns:a="http://schemas.openxmlformats.org/drawingml/2006/main">
            <a:r>
              <a:t>        "scope": "cross_province",</a:t>
            </a:r>
          </a:p>
          <a:p xmlns:a="http://schemas.openxmlformats.org/drawingml/2006/main">
            <a:r>
              <a:t>        "peer_region_code": null</a:t>
            </a:r>
          </a:p>
          <a:p xmlns:a="http://schemas.openxmlformats.org/drawingml/2006/main">
            <a:r>
              <a:t>      },</a:t>
            </a:r>
          </a:p>
          <a:p xmlns:a="http://schemas.openxmlformats.org/drawingml/2006/main">
            <a:r>
              <a:t>      "measurement_period": "게시일과 사업 측정기간은 다르며, 비교기간과 집계범위 원자료 확인 필요",</a:t>
            </a:r>
          </a:p>
          <a:p xmlns:a="http://schemas.openxmlformats.org/drawingml/2006/main">
            <a:r>
              <a:t>      "transfer_conditions": [</a:t>
            </a:r>
          </a:p>
          <a:p xmlns:a="http://schemas.openxmlformats.org/drawingml/2006/main">
            <a:r>
              <a:t>        "지역상품권 사용처와 관광업체 참여 기준 필요",</a:t>
            </a:r>
          </a:p>
          <a:p xmlns:a="http://schemas.openxmlformats.org/drawingml/2006/main">
            <a:r>
              <a:t>        "여행 지출 증빙과 중복수혜 방지 절차 필요",</a:t>
            </a:r>
          </a:p>
          <a:p xmlns:a="http://schemas.openxmlformats.org/drawingml/2006/main">
            <a:r>
              <a:t>        "지원금보다 추가 지역소비가 큰지 사후 측정 필요"</a:t>
            </a:r>
          </a:p>
          <a:p xmlns:a="http://schemas.openxmlformats.org/drawingml/2006/main">
            <a:r>
              <a:t>      ],</a:t>
            </a:r>
          </a:p>
          <a:p xmlns:a="http://schemas.openxmlformats.org/drawingml/2006/main">
            <a:r>
              <a:t>      "published_or_updated_at": "2025-01-02",</a:t>
            </a:r>
          </a:p>
          <a:p xmlns:a="http://schemas.openxmlformats.org/drawingml/2006/main">
            <a:r>
              <a:t>      "quantitative_result_approved": false</a:t>
            </a:r>
          </a:p>
          <a:p xmlns:a="http://schemas.openxmlformats.org/drawingml/2006/main">
            <a:r>
              <a:t>    },</a:t>
            </a:r>
          </a:p>
          <a:p xmlns:a="http://schemas.openxmlformats.org/drawingml/2006/main">
            <a:r>
              <a:t>    {</a:t>
            </a:r>
          </a:p>
          <a:p xmlns:a="http://schemas.openxmlformats.org/drawingml/2006/main">
            <a:r>
              <a:t>      "title": "2024년 6월 여행가는 달 추진 보도자료",</a:t>
            </a:r>
          </a:p>
          <a:p xmlns:a="http://schemas.openxmlformats.org/drawingml/2006/main">
            <a:r>
              <a:t>      "summary": "전국 인구감소지역 34곳 · 디지털 관광주민증과 교통·숙박·상점 할인 결합 · 2024년 34개 지역 약 800개 관광업체에 혜택 구조를 적용",</a:t>
            </a:r>
          </a:p>
          <a:p xmlns:a="http://schemas.openxmlformats.org/drawingml/2006/main">
            <a:r>
              <a:t>      "source_id": "case:digital_tourism_resident_2024",</a:t>
            </a:r>
          </a:p>
          <a:p xmlns:a="http://schemas.openxmlformats.org/drawingml/2006/main">
            <a:r>
              <a:t>      "source_url": "https://mcst.go.kr/servlets/eduport/front/upload/UplDownloadFile?pFileName=%280514%29%EB%AC%B8%EC%B2%B4%EB%B6%80%EB%B3%B4%EB%8F%84%EC%9E%90%EB%A3%8C-6%EC%9B%94_%EC%97%AC%ED%96%89%EA%B0%80%EB%8A%94_%EB%8B%AC_%EC%B6%94%EC%A7%84.pdf&amp;pPath=0302000000&amp;pRealName=20240514083202149235802932_PRESS20240514083202456506.pdf",</a:t>
            </a:r>
          </a:p>
          <a:p xmlns:a="http://schemas.openxmlformats.org/drawingml/2006/main">
            <a:r>
              <a:t>      "case_region": "전국 인구감소지역 34곳",</a:t>
            </a:r>
          </a:p>
          <a:p xmlns:a="http://schemas.openxmlformats.org/drawingml/2006/main">
            <a:r>
              <a:t>      "source_type": "benchmark_case",</a:t>
            </a:r>
          </a:p>
          <a:p xmlns:a="http://schemas.openxmlformats.org/drawingml/2006/main">
            <a:r>
              <a:t>      "intervention": "디지털 관광주민증과 교통·숙박·상점 할인 결합",</a:t>
            </a:r>
          </a:p>
          <a:p xmlns:a="http://schemas.openxmlformats.org/drawingml/2006/main">
            <a:r>
              <a:t>      "document_type": "case_study",</a:t>
            </a:r>
          </a:p>
          <a:p xmlns:a="http://schemas.openxmlformats.org/drawingml/2006/main">
            <a:r>
              <a:t>      "observed_result": "2024년 34개 지역 약 800개 관광업체에 혜택 구조를 적용",</a:t>
            </a:r>
          </a:p>
          <a:p xmlns:a="http://schemas.openxmlformats.org/drawingml/2006/main">
            <a:r>
              <a:t>      "operating_model": "디지털 관광주민증 참여업체 현장 인증과 숙박·식음·관람·체험 할인, 특정 시간대 KTX 할인과 방문 후 교통 할인권을 결합",</a:t>
            </a:r>
          </a:p>
          <a:p xmlns:a="http://schemas.openxmlformats.org/drawingml/2006/main">
            <a:r>
              <a:t>      "retrieval_method": "curated_registry",</a:t>
            </a:r>
          </a:p>
          <a:p xmlns:a="http://schemas.openxmlformats.org/drawingml/2006/main">
            <a:r>
              <a:t>      "evidence_strength": "medium",</a:t>
            </a:r>
          </a:p>
          <a:p xmlns:a="http://schemas.openxmlformats.org/drawingml/2006/main">
            <a:r>
              <a:t>      "retrieval_context": {</a:t>
            </a:r>
          </a:p>
          <a:p xmlns:a="http://schemas.openxmlformats.org/drawingml/2006/main">
            <a:r>
              <a:t>        "scope": "national_or_unresolved",</a:t>
            </a:r>
          </a:p>
          <a:p xmlns:a="http://schemas.openxmlformats.org/drawingml/2006/main">
            <a:r>
              <a:t>        "peer_region_code": null</a:t>
            </a:r>
          </a:p>
          <a:p xmlns:a="http://schemas.openxmlformats.org/drawingml/2006/main">
            <a:r>
              <a:t>      },</a:t>
            </a:r>
          </a:p>
          <a:p xmlns:a="http://schemas.openxmlformats.org/drawingml/2006/main">
            <a:r>
              <a:t>      "measurement_period": "2024년 6월 운영 계획",</a:t>
            </a:r>
          </a:p>
          <a:p xmlns:a="http://schemas.openxmlformats.org/drawingml/2006/main">
            <a:r>
              <a:t>      "transfer_conditions": [</a:t>
            </a:r>
          </a:p>
          <a:p xmlns:a="http://schemas.openxmlformats.org/drawingml/2006/main">
            <a:r>
              <a:t>        "지역 내 참여업체 수와 혜택 매력도 확보",</a:t>
            </a:r>
          </a:p>
          <a:p xmlns:a="http://schemas.openxmlformats.org/drawingml/2006/main">
            <a:r>
              <a:t>        "QR 또는 위치인증과 실제 사용기록 수집",</a:t>
            </a:r>
          </a:p>
          <a:p xmlns:a="http://schemas.openxmlformats.org/drawingml/2006/main">
            <a:r>
              <a:t>        "교통 할인 제공기관과 협약 필요"</a:t>
            </a:r>
          </a:p>
          <a:p xmlns:a="http://schemas.openxmlformats.org/drawingml/2006/main">
            <a:r>
              <a:t>      ],</a:t>
            </a:r>
          </a:p>
          <a:p xmlns:a="http://schemas.openxmlformats.org/drawingml/2006/main">
            <a:r>
              <a:t>      "published_or_updated_at": "2024-05-14",</a:t>
            </a:r>
          </a:p>
          <a:p xmlns:a="http://schemas.openxmlformats.org/drawingml/2006/main">
            <a:r>
              <a:t>      "quantitative_result_approved": null</a:t>
            </a:r>
          </a:p>
          <a:p xmlns:a="http://schemas.openxmlformats.org/drawingml/2006/main">
            <a:r>
              <a:t>    },</a:t>
            </a:r>
          </a:p>
          <a:p xmlns:a="http://schemas.openxmlformats.org/drawingml/2006/main">
            <a:r>
              <a:t>    {</a:t>
            </a:r>
          </a:p>
          <a:p xmlns:a="http://schemas.openxmlformats.org/drawingml/2006/main">
            <a:r>
              <a:t>      "title": "2022 대한민국 숙박대전 경제파급효과 공개자료",</a:t>
            </a:r>
          </a:p>
          <a:p xmlns:a="http://schemas.openxmlformats.org/drawingml/2006/main">
            <a:r>
              <a:t>      "summary": "전국 숙박할인쿠폰 지원사업 · 온라인 예약 채널 숙박할인쿠폰 · 한국관광공사 자료는 약 104만 명이 할인혜택을 이용했고 서울·제주를 제외한 지역 사용 비율이 76%였다고 소개함",</a:t>
            </a:r>
          </a:p>
          <a:p xmlns:a="http://schemas.openxmlformats.org/drawingml/2006/main">
            <a:r>
              <a:t>      "source_id": "case:kto_stay_discount_2022",</a:t>
            </a:r>
          </a:p>
          <a:p xmlns:a="http://schemas.openxmlformats.org/drawingml/2006/main">
            <a:r>
              <a:t>      "source_url": "https://kto.visitkorea.or.kr/upload/flexer/upload/ktobiz/20220928/b623b5f9-3ec0-11ed-9832-ddf31964842e.hwp.files/Sections1.html",</a:t>
            </a:r>
          </a:p>
          <a:p xmlns:a="http://schemas.openxmlformats.org/drawingml/2006/main">
            <a:r>
              <a:t>      "case_region": "전국 숙박할인쿠폰 지원사업",</a:t>
            </a:r>
          </a:p>
          <a:p xmlns:a="http://schemas.openxmlformats.org/drawingml/2006/main">
            <a:r>
              <a:t>      "source_type": "benchmark_case",</a:t>
            </a:r>
          </a:p>
          <a:p xmlns:a="http://schemas.openxmlformats.org/drawingml/2006/main">
            <a:r>
              <a:t>      "intervention": "온라인 예약 채널 숙박할인쿠폰",</a:t>
            </a:r>
          </a:p>
          <a:p xmlns:a="http://schemas.openxmlformats.org/drawingml/2006/main">
            <a:r>
              <a:t>      "document_type": "case_study",</a:t>
            </a:r>
          </a:p>
          <a:p xmlns:a="http://schemas.openxmlformats.org/drawingml/2006/main">
            <a:r>
              <a:t>      "observed_result": "한국관광공사 자료는 약 104만 명이 할인혜택을 이용했고 서울·제주를 제외한 지역 사용 비율이 76%였다고 소개함",</a:t>
            </a:r>
          </a:p>
          <a:p xmlns:a="http://schemas.openxmlformats.org/drawingml/2006/main">
            <a:r>
              <a:t>      "operating_model": "온라인 여행사 예약 단계에서 할인쿠폰을 제공하고, 지역 숙소에서 사용할 수 있도록 참여 채널과 기간을 통합 운영",</a:t>
            </a:r>
          </a:p>
          <a:p xmlns:a="http://schemas.openxmlformats.org/drawingml/2006/main">
            <a:r>
              <a:t>      "retrieval_method": "curated_registry",</a:t>
            </a:r>
          </a:p>
          <a:p xmlns:a="http://schemas.openxmlformats.org/drawingml/2006/main">
            <a:r>
              <a:t>      "evidence_strength": "medium",</a:t>
            </a:r>
          </a:p>
          <a:p xmlns:a="http://schemas.openxmlformats.org/drawingml/2006/main">
            <a:r>
              <a:t>      "retrieval_context": {</a:t>
            </a:r>
          </a:p>
          <a:p xmlns:a="http://schemas.openxmlformats.org/drawingml/2006/main">
            <a:r>
              <a:t>        "scope": "national_or_unresolved",</a:t>
            </a:r>
          </a:p>
          <a:p xmlns:a="http://schemas.openxmlformats.org/drawingml/2006/main">
            <a:r>
              <a:t>        "peer_region_code": null</a:t>
            </a:r>
          </a:p>
          <a:p xmlns:a="http://schemas.openxmlformats.org/drawingml/2006/main">
            <a:r>
              <a:t>      },</a:t>
            </a:r>
          </a:p>
          <a:p xmlns:a="http://schemas.openxmlformats.org/drawingml/2006/main">
            <a:r>
              <a:t>      "measurement_period": "2022년 사업 종료 후 한국관광공사 공개 자료",</a:t>
            </a:r>
          </a:p>
          <a:p xmlns:a="http://schemas.openxmlformats.org/drawingml/2006/main">
            <a:r>
              <a:t>      "transfer_conditions": [</a:t>
            </a:r>
          </a:p>
          <a:p xmlns:a="http://schemas.openxmlformats.org/drawingml/2006/main">
            <a:r>
              <a:t>        "참여 숙소·예약 채널·쿠폰 조건을 사전에 확정",</a:t>
            </a:r>
          </a:p>
          <a:p xmlns:a="http://schemas.openxmlformats.org/drawingml/2006/main">
            <a:r>
              <a:t>        "주말과 성수기 쏠림을 막을 사용 가능일 설계",</a:t>
            </a:r>
          </a:p>
          <a:p xmlns:a="http://schemas.openxmlformats.org/drawingml/2006/main">
            <a:r>
              <a:t>        "쿠폰 발급량이 아니라 실제 숙박 완료·지역소비를 함께 측정"</a:t>
            </a:r>
          </a:p>
          <a:p xmlns:a="http://schemas.openxmlformats.org/drawingml/2006/main">
            <a:r>
              <a:t>      ],</a:t>
            </a:r>
          </a:p>
          <a:p xmlns:a="http://schemas.openxmlformats.org/drawingml/2006/main">
            <a:r>
              <a:t>      "published_or_updated_at": "2022-09-28",</a:t>
            </a:r>
          </a:p>
          <a:p xmlns:a="http://schemas.openxmlformats.org/drawingml/2006/main">
            <a:r>
              <a:t>      "quantitative_result_approved": null</a:t>
            </a:r>
          </a:p>
          <a:p xmlns:a="http://schemas.openxmlformats.org/drawingml/2006/main">
            <a:r>
              <a:t>    }</a:t>
            </a:r>
          </a:p>
          <a:p xmlns:a="http://schemas.openxmlformats.org/drawingml/2006/main">
            <a:r>
              <a:t>  ],</a:t>
            </a:r>
          </a:p>
          <a:p xmlns:a="http://schemas.openxmlformats.org/drawingml/2006/main">
            <a:r>
              <a:t>  "images": [</a:t>
            </a:r>
          </a:p>
          <a:p xmlns:a="http://schemas.openxmlformats.org/drawingml/2006/main">
            <a:r>
              <a:t>    {</a:t>
            </a:r>
          </a:p>
          <a:p xmlns:a="http://schemas.openxmlformats.org/drawingml/2006/main">
            <a:r>
              <a:t>      "filename": "gangjin_official.jpg",</a:t>
            </a:r>
          </a:p>
          <a:p xmlns:a="http://schemas.openxmlformats.org/drawingml/2006/main">
            <a:r>
              <a:t>      "caption": "강진군 · 반값여행 공식 홍보물",</a:t>
            </a:r>
          </a:p>
          <a:p xmlns:a="http://schemas.openxmlformats.org/drawingml/2006/main">
            <a:r>
              <a:t>      "credit": "강진 반값여행 공식 홈페이지",</a:t>
            </a:r>
          </a:p>
          <a:p xmlns:a="http://schemas.openxmlformats.org/drawingml/2006/main">
            <a:r>
              <a:t>      "page_url": "https://www.gangjintour.com/",</a:t>
            </a:r>
          </a:p>
          <a:p xmlns:a="http://schemas.openxmlformats.org/drawingml/2006/main">
            <a:r>
              <a:t>      "image_url": "https://gangjintour.com/skin_hub/SKIN006/assets/img/gjimg.jpg",</a:t>
            </a:r>
          </a:p>
          <a:p xmlns:a="http://schemas.openxmlformats.org/drawingml/2006/main">
            <a:r>
              <a:t>      "match_kind": "exact_case",</a:t>
            </a:r>
          </a:p>
          <a:p xmlns:a="http://schemas.openxmlformats.org/drawingml/2006/main">
            <a:r>
              <a:t>      "retrieved_at": "2026-09-10"</a:t>
            </a:r>
          </a:p>
          <a:p xmlns:a="http://schemas.openxmlformats.org/drawingml/2006/main">
            <a:r>
              <a:t>    },</a:t>
            </a:r>
          </a:p>
          <a:p xmlns:a="http://schemas.openxmlformats.org/drawingml/2006/main">
            <a:r>
              <a:t>    {</a:t>
            </a:r>
          </a:p>
          <a:p xmlns:a="http://schemas.openxmlformats.org/drawingml/2006/main">
            <a:r>
              <a:t>      "filename": "digital_official.jpg",</a:t>
            </a:r>
          </a:p>
          <a:p xmlns:a="http://schemas.openxmlformats.org/drawingml/2006/main">
            <a:r>
              <a:t>      "caption": "전국 · 디지털 관광주민증 홍보물",</a:t>
            </a:r>
          </a:p>
          <a:p xmlns:a="http://schemas.openxmlformats.org/drawingml/2006/main">
            <a:r>
              <a:t>      "credit": "대한민국 정책브리핑 (2025)",</a:t>
            </a:r>
          </a:p>
          <a:p xmlns:a="http://schemas.openxmlformats.org/drawingml/2006/main">
            <a:r>
              <a:t>      "page_url": "https://www.korea.kr/news/policyNewsView.do?newsId=148947084",</a:t>
            </a:r>
          </a:p>
          <a:p xmlns:a="http://schemas.openxmlformats.org/drawingml/2006/main">
            <a:r>
              <a:t>      "image_url": "https://www.korea.kr/newsWeb/resources/attaches/2025.08/05/0805-1.jpg",</a:t>
            </a:r>
          </a:p>
          <a:p xmlns:a="http://schemas.openxmlformats.org/drawingml/2006/main">
            <a:r>
              <a:t>      "match_kind": "exact_case",</a:t>
            </a:r>
          </a:p>
          <a:p xmlns:a="http://schemas.openxmlformats.org/drawingml/2006/main">
            <a:r>
              <a:t>      "retrieved_at": "2026-09-10"</a:t>
            </a:r>
          </a:p>
          <a:p xmlns:a="http://schemas.openxmlformats.org/drawingml/2006/main">
            <a:r>
              <a:t>    },</a:t>
            </a:r>
          </a:p>
          <a:p xmlns:a="http://schemas.openxmlformats.org/drawingml/2006/main">
            <a:r>
              <a:t>    {</a:t>
            </a:r>
          </a:p>
          <a:p xmlns:a="http://schemas.openxmlformats.org/drawingml/2006/main">
            <a:r>
              <a:t>      "filename": "incheon_official.jpg",</a:t>
            </a:r>
          </a:p>
          <a:p xmlns:a="http://schemas.openxmlformats.org/drawingml/2006/main">
            <a:r>
              <a:t>      "caption": "유사 사업 참고 · 인천 섬 · 로컬체험 여행 소개 사진",</a:t>
            </a:r>
          </a:p>
          <a:p xmlns:a="http://schemas.openxmlformats.org/drawingml/2006/main">
            <a:r>
              <a:t>      "credit": "인천광역시 섬포털",</a:t>
            </a:r>
          </a:p>
          <a:p xmlns:a="http://schemas.openxmlformats.org/drawingml/2006/main">
            <a:r>
              <a:t>      "page_url": "https://isum.incheon.go.kr/theme/themeContent.do?key=2407020018",</a:t>
            </a:r>
          </a:p>
          <a:p xmlns:a="http://schemas.openxmlformats.org/drawingml/2006/main">
            <a:r>
              <a:t>      "image_url": "https://isum.incheon.go.kr/resource/www/images/sub/theme_local.jpg",</a:t>
            </a:r>
          </a:p>
          <a:p xmlns:a="http://schemas.openxmlformats.org/drawingml/2006/main">
            <a:r>
              <a:t>      "match_kind": "similar_operation",</a:t>
            </a:r>
          </a:p>
          <a:p xmlns:a="http://schemas.openxmlformats.org/drawingml/2006/main">
            <a:r>
              <a:t>      "retrieved_at": "2026-09-10"</a:t>
            </a:r>
          </a:p>
          <a:p xmlns:a="http://schemas.openxmlformats.org/drawingml/2006/main">
            <a:r>
              <a:t>    }</a:t>
            </a:r>
          </a:p>
          <a:p xmlns:a="http://schemas.openxmlformats.org/drawingml/2006/main">
            <a:r>
              <a:t>  ],</a:t>
            </a:r>
          </a:p>
          <a:p xmlns:a="http://schemas.openxmlformats.org/drawingml/2006/main">
            <a:r>
              <a:t>  "image_policy": "Official web assets; exact case or clearly labelled similar operation / general tourism reference. No generated fallback."</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proposal_layout_v9.execution_groups / execution_copy → 4개 단계. 일정은 저장 implementation_steps, 업무 설명은 환급형/일반형 코드 템플릿.</a:t>
            </a:r>
          </a:p>
          <a:p xmlns:a="http://schemas.openxmlformats.org/drawingml/2006/main">
            <a:r>
              <a:t>[{"step": 1, "task": "관광기획팀이 참여 상점 모집 및 환급 기준(최소 결제액 등) 수립을 진행하고, 참여 업체 명단 및 운영 지침(안)을 확보함. 모집 미달 시 참여 규모 축소 검토.", "schedule": "2026-09", "deliverable": "참여 업체 명단 및 운영 지침(안)"}, {"step": 2, "task": "운영지원팀이 영수증 인증 방식 및 중복 수혜 방지 프로세스를 점검하고, 지출 증빙 및 환급 시스템의 기술적 작동 여부를 확인함.", "schedule": "2026-09", "deliverable": "영수증 인증 및 중복 방지 프로세스 확정서"}, {"step": 3, "task": "홍보팀이 환급 신청 및 지급 원장(신청·승인·결제 데이터)을 관리하며, 프로그램 시범 운영과 함께 온·오프라인 홍보를 수행함.", "schedule": "2026-10", "deliverable": "환급 신청 및 지급 원장"}, {"step": 4, "task": "현장점검팀이 상점별 이용 현황 및 불편 사항을 수집하고, 참여 업체 피드백을 바탕으로 운영 방식을 모니터링함.", "schedule": "2026-10", "deliverable": "상점별 이용 현황 및 불편 사항 보고서"}, {"step": 5, "task": "데이터분석팀이 소비 증대 및 상품권 재사용률을 분석하고, 신청·승인·결제 원장을 기반으로 최종 성과 데이터를 집계함.", "schedule": "2026-11", "deliverable": "소비 증대 및 상품권 재사용률 분석 결과 보고서"}]</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관측값·저장 예측·계획 목표는 별개입니다. 문서용 참고 견적이며 원 보고서의 검수 결과를 변경하지 않습니다. 목표율 입력 시 최종 월의 자연추세와 목표를 비교합니다. 미입력 시 견적에 기반한 별도 참여 목표만 제안합니다.</a:t>
            </a:r>
          </a:p>
          <a:p>
            <a:r>
              <a:t>[Sources]</a:t>
            </a:r>
          </a:p>
          <a:p>
            <a:r>
              <a:t>dataset:11200:1 | 한국관광 데이터랩 · 서울특별시 성동구 순 방문자 수 및 숙박 비율 (이동통신 기반 외지인) | https://datalab.visitkorea.or.kr/</a:t>
            </a:r>
          </a:p>
          <a:p>
            <a:r>
              <a:t>dataset:11200:2 | 한국관광 데이터랩 · 서울특별시 성동구 월간 순 방문자 수 (이동통신 기반 외지인) | https://datalab.visitkorea.or.kr/</a:t>
            </a:r>
          </a:p>
          <a:p>
            <a:r>
              <a:t>dataset:11200:3 | 한국관광 데이터랩 · 서울특별시 성동구 관광소비 추이_외지인 | https://datalab.visitkorea.or.kr/</a:t>
            </a:r>
          </a:p>
          <a:p>
            <a:r>
              <a:t>dataset:11200:4 | 한국관광 데이터랩 · 서울특별시 성동구 숙박방문자 비율 추이 (이동통신 기반 외지인) | https://datalab.visitkorea.or.kr/</a:t>
            </a:r>
          </a:p>
          <a:p>
            <a:r>
              <a:t>dataset:11200:5 | 한국관광 데이터랩 · 서울특별시 성동구 평균 숙박일 (이동통신 기반 외지인) | https://datalab.visitkorea.or.kr/</a:t>
            </a:r>
          </a:p>
          <a:p>
            <a:r>
              <a:t>dataset:11200:6 | 한국관광 데이터랩 · 서울특별시 성동구 내비게이션 목적지 유형별 검색량 | https://datalab.visitkorea.or.kr/</a:t>
            </a:r>
          </a:p>
          <a:p>
            <a:r>
              <a:t>dataset:11200:7 | 한국관광 데이터랩 · 서울특별시 성동구 SNS 언급량 | https://datalab.visitkorea.or.kr/</a:t>
            </a:r>
          </a:p>
          <a:p>
            <a:r>
              <a:t>datalab:0ea2e7ff8811:517c835e3039 | 한국관광 데이터랩 공식 다운로드 · 서울특별시_성동구/숙박_체류시간/2025_01_12.zip | https://datalab.visitkorea.or.kr/</a:t>
            </a:r>
          </a:p>
          <a:p>
            <a:r>
              <a:t>datalab:3a79405535b3:68f41f6aa9c6 | 한국관광 데이터랩 공식 다운로드 · 서울특별시_성동구/관광소비/2025_01_12.zip | https://datalab.visitkorea.or.kr/</a:t>
            </a:r>
          </a:p>
          <a:p>
            <a:r>
              <a:t>datalab:6217474023e5:2e717447925f | 한국관광 데이터랩 공식 다운로드 · 서울특별시_성동구/숙박_체류시간/2026_01_06.zip | https://datalab.visitkorea.or.kr/</a:t>
            </a:r>
          </a:p>
          <a:p>
            <a:r>
              <a:t>datalab:62312101c8d0:9c44bd532366 | 한국관광 데이터랩 공식 다운로드 · 서울특별시_성동구/방문자/2025_01_12.zip | https://datalab.visitkorea.or.kr/</a:t>
            </a:r>
          </a:p>
          <a:p>
            <a:r>
              <a:t>datalab:7ddda0420208:c68bf7b028b0 | 한국관광 데이터랩 공식 다운로드 · 서울특별시_성동구/관광소비/2026_01_06.zip | https://datalab.visitkorea.or.kr/</a:t>
            </a:r>
          </a:p>
          <a:p>
            <a:r>
              <a:t>datalab:9369271c7419:76a9b6ea89d8 | 한국관광 데이터랩 공식 다운로드 · 서울특별시_성동구/방문자/2026_01_06.zip | https://datalab.visitkorea.or.kr/</a:t>
            </a:r>
          </a:p>
          <a:p>
            <a:r>
              <a:t>team-bigdata:23ea68053684:6bfbcf8aabf6 | 한국관광 데이터랩 전국 빅데이터 다운로드 · 이동통신/내국인/지역별 방문자수/20260820140607__202601-202606_데이터랩_다운로드.zip | https://datalab.visitkorea.or.kr/</a:t>
            </a:r>
          </a:p>
          <a:p>
            <a:r>
              <a:t>team-bigdata:98d4ae590d9a:3be52dd54323 | 한국관광 데이터랩 전국 빅데이터 다운로드 · 이동통신/외국인/20260820141710_전국_202601-202606_데이터랩_다운로드.zip | https://datalab.visitkorea.or.kr/</a:t>
            </a:r>
          </a:p>
          <a:p>
            <a:r>
              <a:t>team-bigdata:367cd0294ec4:873930d645e5 | 한국관광 데이터랩 전국 빅데이터 다운로드 · 신용카드/내국인/지역별 관광지출액/20260820140046__202601-202606_데이터랩_다운로드.zip | https://datalab.visitkorea.or.kr/</a:t>
            </a:r>
          </a:p>
          <a:p>
            <a:r>
              <a:t>team-bigdata:553a0dad4bb4:5a31355dffe8 | 한국관광 데이터랩 전국 빅데이터 다운로드 · 신용카드/외국인/지역별 관광지출액/20260820140355__202601-202606_데이터랩_다운로드.zip | https://datalab.visitkorea.or.kr/</a:t>
            </a:r>
          </a:p>
          <a:p>
            <a:r>
              <a:t>team-bigdata:a53dbe1c21df:77a052de41d5 | 한국관광 데이터랩 전국 빅데이터 다운로드 · 네비게이션/지역별 검색건수/20260820195507__202601-202606_데이터랩_다운로드.zip | https://datalab.visitkorea.or.kr/</a:t>
            </a:r>
          </a:p>
          <a:p>
            <a:r>
              <a:t>team-bigdata:823a38d1d61c:5385261d02e5 | 한국관광 데이터랩 전국 빅데이터 다운로드 · 이동통신/내국인/지역별 방문자수/20260820140614__202501-202512_데이터랩_다운로드.zip | https://datalab.visitkorea.or.kr/</a:t>
            </a:r>
          </a:p>
          <a:p>
            <a:r>
              <a:t>team-bigdata:2723bdb0d589:1666a34058ed | 한국관광 데이터랩 전국 빅데이터 다운로드 · 이동통신/외국인/20260820141649_전국_202501-202512_데이터랩_다운로드.zip | https://datalab.visitkorea.or.kr/</a:t>
            </a:r>
          </a:p>
          <a:p>
            <a:r>
              <a:t>team-bigdata:83177a234971:c02cb7972e0f | 한국관광 데이터랩 전국 빅데이터 다운로드 · 신용카드/내국인/지역별 관광지출액/20260820135957__202501-202512_데이터랩_다운로드.zip | https://datalab.visitkorea.or.kr/</a:t>
            </a:r>
          </a:p>
          <a:p>
            <a:r>
              <a:t>team-bigdata:58ded7732251:589c76395cbc | 한국관광 데이터랩 전국 빅데이터 다운로드 · 신용카드/외국인/지역별 관광지출액/20260820140409__202501-202512_데이터랩_다운로드.zip | https://datalab.visitkorea.or.kr/</a:t>
            </a:r>
          </a:p>
          <a:p>
            <a:r>
              <a:t>team-bigdata:e28c947cb52f:bb4cb344a6ba | 한국관광 데이터랩 전국 빅데이터 다운로드 · 네비게이션/지역별 검색건수/20260820132007__202501-202512_데이터랩_다운로드.zip | https://datalab.visitkorea.or.kr/</a:t>
            </a:r>
          </a:p>
          <a:p>
            <a:r>
              <a:t>team-bigdata:8815bbb11a39:1a5988f5f8ec | 한국관광 데이터랩 전국 빅데이터 다운로드 · 이동통신/내국인/지역별 방문자수/20260820140624__202401-202412_데이터랩_다운로드.zip | https://datalab.visitkorea.or.kr/</a:t>
            </a:r>
          </a:p>
          <a:p>
            <a:r>
              <a:t>team-bigdata:19fd67fbb73d:afa4f0f54a2f | 한국관광 데이터랩 전국 빅데이터 다운로드 · 이동통신/외국인/20260820141639_전국_202401-202412_데이터랩_다운로드.zip | https://datalab.visitkorea.or.kr/</a:t>
            </a:r>
          </a:p>
          <a:p>
            <a:r>
              <a:t>regional-status:300d117a9148:9b5e59efa799 | 한국관광 데이터랩 지역별 관광 현황 · 서울특별시 성동구 · 인기관광지 | https://datalab.visitkorea.or.kr/</a:t>
            </a:r>
          </a:p>
          <a:p>
            <a:r>
              <a:t>regional-status:e1f4d12a3396:706443b7ba17 | 한국관광 데이터랩 지역별 관광 현황 · 서울특별시 성동구 · 유입유출 | https://datalab.visitkorea.or.kr/</a:t>
            </a:r>
          </a:p>
          <a:p>
            <a:r>
              <a:t>regional-status:f05693fd34a7:ae929e215d91 | 한국관광 데이터랩 지역별 관광 현황 · 서울특별시 성동구 · 지역집중률 | https://datalab.visitkorea.or.kr/</a:t>
            </a:r>
          </a:p>
          <a:p>
            <a:r>
              <a:t>ml:11200:regional-demand-v3.1:202606 | 지역 관광수요 ML 전망 · 공식 관측값 아님 | URL 미기록</a:t>
            </a:r>
          </a:p>
          <a:p>
            <a:r>
              <a:t>tour-api:2901229 | 가조쿠 | https://apis.data.go.kr/B551011/KorService2</a:t>
            </a:r>
          </a:p>
          <a:p>
            <a:r>
              <a:t>tour-api:2895161 | 계월 | https://apis.data.go.kr/B551011/KorService2</a:t>
            </a:r>
          </a:p>
          <a:p>
            <a:r>
              <a:t>tour-api:2901359 | 계자람 | https://apis.data.go.kr/B551011/KorService2</a:t>
            </a:r>
          </a:p>
          <a:p>
            <a:r>
              <a:t>tour-api:2895211 | 구욱희씨 | https://apis.data.go.kr/B551011/KorService2</a:t>
            </a:r>
          </a:p>
          <a:p>
            <a:r>
              <a:t>tour-api:2895236 | 구펠 | https://apis.data.go.kr/B551011/KorService2</a:t>
            </a:r>
          </a:p>
          <a:p>
            <a:r>
              <a:t>tour-api:2898994 | 그라데이션커피 | https://apis.data.go.kr/B551011/KorService2</a:t>
            </a:r>
          </a:p>
          <a:p>
            <a:r>
              <a:t>tour-api:2894873 | 그린랩 | https://apis.data.go.kr/B551011/KorService2</a:t>
            </a:r>
          </a:p>
          <a:p>
            <a:r>
              <a:t>tour-api:2743748 | 금남시장 | https://apis.data.go.kr/B551011/KorService2</a:t>
            </a:r>
          </a:p>
          <a:p>
            <a:r>
              <a:t>tour-api:2901568 | 기후 | https://apis.data.go.kr/B551011/KorService2</a:t>
            </a:r>
          </a:p>
          <a:p>
            <a:r>
              <a:t>tour-api:2894842 | 꾸아 성수점 | https://apis.data.go.kr/B551011/KorService2</a:t>
            </a:r>
          </a:p>
          <a:p>
            <a:r>
              <a:t>tour-api:2843520 | 난포 | https://apis.data.go.kr/B551011/KorService2</a:t>
            </a:r>
          </a:p>
          <a:p>
            <a:r>
              <a:t>tour-api:2894810 | 누메로도스 | https://apis.data.go.kr/B551011/KorService2</a:t>
            </a:r>
          </a:p>
          <a:p>
            <a:r>
              <a:t>tour-api:2894795 | 누메로뜨레쓰 | https://apis.data.go.kr/B551011/KorService2</a:t>
            </a:r>
          </a:p>
          <a:p>
            <a:r>
              <a:t>tour-api:2894763 | 니드스윗 | https://apis.data.go.kr/B551011/KorService2</a:t>
            </a:r>
          </a:p>
          <a:p>
            <a:r>
              <a:t>tour-api:2894747 | 단일서울 | https://apis.data.go.kr/B551011/KorService2</a:t>
            </a:r>
          </a:p>
          <a:p>
            <a:r>
              <a:t>tour-api:2894854 | 대돈집 | https://apis.data.go.kr/B551011/KorService2</a:t>
            </a:r>
          </a:p>
          <a:p>
            <a:r>
              <a:t>tour-api:2899012 | 대흥정육식당 | https://apis.data.go.kr/B551011/KorService2</a:t>
            </a:r>
          </a:p>
          <a:p>
            <a:r>
              <a:t>tour-api:2753089 | 더서울라이티움 | https://apis.data.go.kr/B551011/KorService2</a:t>
            </a:r>
          </a:p>
          <a:p>
            <a:r>
              <a:t>tour-api:736766 | 더페이지갤러리 | https://apis.data.go.kr/B551011/KorService2</a:t>
            </a:r>
          </a:p>
          <a:p>
            <a:r>
              <a:t>tour-api:2845040 | 땅코참숯구이 본점 | https://apis.data.go.kr/B551011/KorService2</a:t>
            </a:r>
          </a:p>
          <a:p>
            <a:r>
              <a:t>reference:kto:2026:local-airport | 요즘, 한국관광 2호 - 지방공항 연계 지역관광 활성화 방안 | PDF 44쪽, PDF 43쪽, PDF 36쪽, PDF 40쪽, PDF 41쪽, PDF 41쪽, PDF 44쪽, PDF 43쪽, PDF 43쪽 | https://datalab.visitkorea.or.kr/site/portal/ex/bbs/View.do?bcIdx=311068&amp;cbIdx=1135&amp;pageIndex=1</a:t>
            </a:r>
          </a:p>
          <a:p>
            <a:r>
              <a:t>web:11200:1 | 2026 서울국제정원박람회 &lt; 행사·공연 정보 &lt; 축제·관광 &lt; 미래한강본부, 한강공원 | https://hangang.seoul.go.kr/www/eventMng/detail.do?evntSn=378&amp;mid=538&amp;srchType=list</a:t>
            </a:r>
          </a:p>
          <a:p>
            <a:r>
              <a:t>web:11200:2 | 개막 20일차 250만명 넘은 서울국제정원박람회… 성수 상권 매출 30% 급증 &gt; 보도자료 | 서울특별시 | https://www.seoul.go.kr/news/news_report.do?nttNo=458311</a:t>
            </a:r>
          </a:p>
          <a:p>
            <a:r>
              <a:t>web:11200:3 | 서울숲-성수 커넥트 투어 | 2026 서울국제정원박람회 | https://gov.seoul.go.kr/festa/garden/y2026/program/garden-culture-program/commentary-program?article=42926</a:t>
            </a:r>
          </a:p>
          <a:p>
            <a:r>
              <a:t>web:11200:4 | 2026 서울축제지도 - 가을편 &lt; 공지사항(상세) &lt; 새소식 | 서울문화포털 | https://culture.seoul.go.kr/culture/bbs/B0000000/view.do?menuNo=200050&amp;nttId=16465</a:t>
            </a:r>
          </a:p>
          <a:p>
            <a:r>
              <a:t>web:11200:5 | 오시는 길 | 2026 서울국제정원박람회 | https://www.seoul.go.kr/festa/garden/y2026/introduce/location?pc=1</a:t>
            </a:r>
          </a:p>
          <a:p>
            <a:r>
              <a:t>web:11200:6 | (석간) 제11차 도시건축공동위원회 개최결과 &gt; 보도자료 | 서울특별시 | https://www.seoul.go.kr/news/news_report.do?nttNo=460823&amp;tr_code=snews</a:t>
            </a:r>
          </a:p>
          <a:p>
            <a:r>
              <a:t>web:11200:7 | 2026 서울국제정원박람회 &lt; 행사·공연 정보 &lt; 축제·관광 &lt; 미래한강본부, 한강공원 | https://hangang.seoul.go.kr/www/eventMng/detail.do?evntSn=378&amp;mid=538&amp;srchType=list</a:t>
            </a:r>
          </a:p>
          <a:p>
            <a:r>
              <a:t>case:jeonju_night_budget_2026 | 전주시 2026년도 관광산업과 세출예산 사업명세서 | https://jeonju.go.kr/resource/www/images/download/budget/2026/2026_31_2.pdf</a:t>
            </a:r>
          </a:p>
          <a:p>
            <a:r>
              <a:t>case:gangjin_half_price_2024 | 강진 반값여행 지역경제 효과 소개 | https://jnfarm.jeonnam.go.kr/board/FARM_BOARD_008/boardView.do?bdId=BD_00000000000011721&amp;menuCd=farm004002</a:t>
            </a:r>
          </a:p>
          <a:p>
            <a:r>
              <a:t>case:digital_tourism_resident_2024 | 2024년 6월 여행가는 달 추진 보도자료 | https://mcst.go.kr/servlets/eduport/front/upload/UplDownloadFile?pFileName=%280514%29%EB%AC%B8%EC%B2%B4%EB%B6%80%EB%B3%B4%EB%8F%84%EC%9E%90%EB%A3%8C-6%EC%9B%94_%EC%97%AC%ED%96%89%EA%B0%80%EB%8A%94_%EB%8B%AC_%EC%B6%94%EC%A7%84.pdf&amp;pPath=0302000000&amp;pRealName=20240514083202149235802932_PRESS20240514083202456506.pdf</a:t>
            </a:r>
          </a:p>
          <a:p>
            <a:r>
              <a:t>case:kto_stay_discount_2022 | 2022 대한민국 숙박대전 경제파급효과 공개자료 | https://kto.visitkorea.or.kr/upload/flexer/upload/ktobiz/20220928/b623b5f9-3ec0-11ed-9832-ddf31964842e.hwp.files/Sections1.html</a:t>
            </a:r>
          </a:p>
          <a:p>
            <a:r>
              <a:t>case:night_festival_2025 | 2025 대한민국 밤밤페스타 개최 도시 및 일정 | https://korean.visitkorea.or.kr/detail/rem_detail.do?cotid=f9c636b2-dd7c-4f09-af3d-6af43b33d371</a:t>
            </a:r>
          </a:p>
          <a:p>
            <a:r>
              <a:t>case:night_tourism_cities_2024 | 2024년도 정부업무평가 관광분야 성과자료 | https://www.evaluation.go.kr/upload2/atch/eval/20250429095846463.pdf</a:t>
            </a:r>
          </a:p>
          <a:p>
            <a:r>
              <a:t>[/Sources]</a:t>
            </a:r>
          </a:p>
          <a:p>
            <a:r>
              <a:t>[Calculation audit]</a:t>
            </a:r>
          </a:p>
          <a:p>
            <a:r>
              <a:t>{</a:t>
            </a:r>
          </a:p>
          <a:p>
            <a:r>
              <a:t>  "source_inventory": [</a:t>
            </a:r>
          </a:p>
          <a:p>
            <a:r>
              <a:t>    {</a:t>
            </a:r>
          </a:p>
          <a:p>
            <a:r>
              <a:t>      "title": "한국관광 데이터랩 · 서울특별시 성동구 순 방문자 수 및 숙박 비율 (이동통신 기반 외지인)",</a:t>
            </a:r>
          </a:p>
          <a:p>
            <a:r>
              <a:t>      "summary": "월간 순 방문자 수: 6,687,696명 (관측 기준월: 2026-06)",</a:t>
            </a:r>
          </a:p>
          <a:p>
            <a:r>
              <a:t>      "source_id": "dataset:11200:1",</a:t>
            </a:r>
          </a:p>
          <a:p>
            <a:r>
              <a:t>      "source_url": "https://datalab.visitkorea.or.kr/",</a:t>
            </a:r>
          </a:p>
          <a:p>
            <a:r>
              <a:t>      "source_type": "dataset",</a:t>
            </a:r>
          </a:p>
          <a:p>
            <a:r>
              <a:t>      "observation_period": "2026-06",</a:t>
            </a:r>
          </a:p>
          <a:p>
            <a:r>
              <a:t>      "published_or_updated_at": "2026-06"</a:t>
            </a:r>
          </a:p>
          <a:p>
            <a:r>
              <a:t>    },</a:t>
            </a:r>
          </a:p>
          <a:p>
            <a:r>
              <a:t>    {</a:t>
            </a:r>
          </a:p>
          <a:p>
            <a:r>
              <a:t>      "title": "한국관광 데이터랩 · 서울특별시 성동구 월간 순 방문자 수 (이동통신 기반 외지인)",</a:t>
            </a:r>
          </a:p>
          <a:p>
            <a:r>
              <a:t>      "summary": "전년동월 외지인 방문자 증감률: 10.2% (관측 기준월: 2026-06)",</a:t>
            </a:r>
          </a:p>
          <a:p>
            <a:r>
              <a:t>      "source_id": "dataset:11200:2",</a:t>
            </a:r>
          </a:p>
          <a:p>
            <a:r>
              <a:t>      "source_url": "https://datalab.visitkorea.or.kr/",</a:t>
            </a:r>
          </a:p>
          <a:p>
            <a:r>
              <a:t>      "source_type": "dataset",</a:t>
            </a:r>
          </a:p>
          <a:p>
            <a:r>
              <a:t>      "observation_period": "2026-06",</a:t>
            </a:r>
          </a:p>
          <a:p>
            <a:r>
              <a:t>      "published_or_updated_at": "2026-06"</a:t>
            </a:r>
          </a:p>
          <a:p>
            <a:r>
              <a:t>    },</a:t>
            </a:r>
          </a:p>
          <a:p>
            <a:r>
              <a:t>    {</a:t>
            </a:r>
          </a:p>
          <a:p>
            <a:r>
              <a:t>      "title": "한국관광 데이터랩 · 서울특별시 성동구 관광소비 추이_외지인",</a:t>
            </a:r>
          </a:p>
          <a:p>
            <a:r>
              <a:t>      "summary": "월간 외지인 관광소비 총액: 93,151,315,000원 (관측 기준월: 2026-06)",</a:t>
            </a:r>
          </a:p>
          <a:p>
            <a:r>
              <a:t>      "source_id": "dataset:11200:3",</a:t>
            </a:r>
          </a:p>
          <a:p>
            <a:r>
              <a:t>      "source_url": "https://datalab.visitkorea.or.kr/",</a:t>
            </a:r>
          </a:p>
          <a:p>
            <a:r>
              <a:t>      "source_type": "dataset",</a:t>
            </a:r>
          </a:p>
          <a:p>
            <a:r>
              <a:t>      "observation_period": "2026-06",</a:t>
            </a:r>
          </a:p>
          <a:p>
            <a:r>
              <a:t>      "published_or_updated_at": "2026-06"</a:t>
            </a:r>
          </a:p>
          <a:p>
            <a:r>
              <a:t>    },</a:t>
            </a:r>
          </a:p>
          <a:p>
            <a:r>
              <a:t>    {</a:t>
            </a:r>
          </a:p>
          <a:p>
            <a:r>
              <a:t>      "title": "한국관광 데이터랩 · 서울특별시 성동구 숙박방문자 비율 추이 (이동통신 기반 외지인)",</a:t>
            </a:r>
          </a:p>
          <a:p>
            <a:r>
              <a:t>      "summary": "외지인 숙박 방문 비율: 3.7% (관측 기준월: 2026-06)",</a:t>
            </a:r>
          </a:p>
          <a:p>
            <a:r>
              <a:t>      "source_id": "dataset:11200:4",</a:t>
            </a:r>
          </a:p>
          <a:p>
            <a:r>
              <a:t>      "source_url": "https://datalab.visitkorea.or.kr/",</a:t>
            </a:r>
          </a:p>
          <a:p>
            <a:r>
              <a:t>      "source_type": "dataset",</a:t>
            </a:r>
          </a:p>
          <a:p>
            <a:r>
              <a:t>      "observation_period": "2026-06",</a:t>
            </a:r>
          </a:p>
          <a:p>
            <a:r>
              <a:t>      "published_or_updated_at": "2026-06"</a:t>
            </a:r>
          </a:p>
          <a:p>
            <a:r>
              <a:t>    },</a:t>
            </a:r>
          </a:p>
          <a:p>
            <a:r>
              <a:t>    {</a:t>
            </a:r>
          </a:p>
          <a:p>
            <a:r>
              <a:t>      "title": "한국관광 데이터랩 · 서울특별시 성동구 평균 숙박일 (이동통신 기반 외지인)",</a:t>
            </a:r>
          </a:p>
          <a:p>
            <a:r>
              <a:t>      "summary": "외지인 평균 숙박일수: 3.03일 (관측 기준월: 2026-06)",</a:t>
            </a:r>
          </a:p>
          <a:p>
            <a:r>
              <a:t>      "source_id": "dataset:11200:5",</a:t>
            </a:r>
          </a:p>
          <a:p>
            <a:r>
              <a:t>      "source_url": "https://datalab.visitkorea.or.kr/",</a:t>
            </a:r>
          </a:p>
          <a:p>
            <a:r>
              <a:t>      "source_type": "dataset",</a:t>
            </a:r>
          </a:p>
          <a:p>
            <a:r>
              <a:t>      "observation_period": "2026-06",</a:t>
            </a:r>
          </a:p>
          <a:p>
            <a:r>
              <a:t>      "published_or_updated_at": "2026-06"</a:t>
            </a:r>
          </a:p>
          <a:p>
            <a:r>
              <a:t>    },</a:t>
            </a:r>
          </a:p>
          <a:p>
            <a:r>
              <a:t>    {</a:t>
            </a:r>
          </a:p>
          <a:p>
            <a:r>
              <a:t>      "title": "한국관광 데이터랩 · 서울특별시 성동구 내비게이션 목적지 유형별 검색량",</a:t>
            </a:r>
          </a:p>
          <a:p>
            <a:r>
              <a:t>      "summary": "내비게이션 목적지 검색량: 89,198건 (관측 기준월: 2026-06)",</a:t>
            </a:r>
          </a:p>
          <a:p>
            <a:r>
              <a:t>      "source_id": "dataset:11200:6",</a:t>
            </a:r>
          </a:p>
          <a:p>
            <a:r>
              <a:t>      "source_url": "https://datalab.visitkorea.or.kr/",</a:t>
            </a:r>
          </a:p>
          <a:p>
            <a:r>
              <a:t>      "source_type": "dataset",</a:t>
            </a:r>
          </a:p>
          <a:p>
            <a:r>
              <a:t>      "observation_period": "2026-06",</a:t>
            </a:r>
          </a:p>
          <a:p>
            <a:r>
              <a:t>      "published_or_updated_at": "2026-06"</a:t>
            </a:r>
          </a:p>
          <a:p>
            <a:r>
              <a:t>    },</a:t>
            </a:r>
          </a:p>
          <a:p>
            <a:r>
              <a:t>    {</a:t>
            </a:r>
          </a:p>
          <a:p>
            <a:r>
              <a:t>      "title": "한국관광 데이터랩 · 서울특별시 성동구 SNS 언급량",</a:t>
            </a:r>
          </a:p>
          <a:p>
            <a:r>
              <a:t>      "summary": "SNS 언급량: 71,233건 (관측 기준월: 2026-06)",</a:t>
            </a:r>
          </a:p>
          <a:p>
            <a:r>
              <a:t>      "source_id": "dataset:11200:7",</a:t>
            </a:r>
          </a:p>
          <a:p>
            <a:r>
              <a:t>      "source_url": "https://datalab.visitkorea.or.kr/",</a:t>
            </a:r>
          </a:p>
          <a:p>
            <a:r>
              <a:t>      "source_type": "dataset",</a:t>
            </a:r>
          </a:p>
          <a:p>
            <a:r>
              <a:t>      "observation_period": "2026-06",</a:t>
            </a:r>
          </a:p>
          <a:p>
            <a:r>
              <a:t>      "published_or_updated_at": "2026-06"</a:t>
            </a:r>
          </a:p>
          <a:p>
            <a:r>
              <a:t>    },</a:t>
            </a:r>
          </a:p>
          <a:p>
            <a:r>
              <a:t>    {</a:t>
            </a:r>
          </a:p>
          <a:p>
            <a:r>
              <a:t>      "title": "한국관광 데이터랩 공식 다운로드 · 서울특별시_성동구/숙박_체류시간/2025_01_12.zip",</a:t>
            </a:r>
          </a:p>
          <a:p>
            <a:r>
              <a:t>      "summary": "전국 비교 기준 기간: 2025-07 ~ 2026-06",</a:t>
            </a:r>
          </a:p>
          <a:p>
            <a:r>
              <a:t>      "source_id": "datalab:0ea2e7ff8811:517c835e3039",</a:t>
            </a:r>
          </a:p>
          <a:p>
            <a:r>
              <a:t>      "source_url": "https://datalab.visitkorea.or.kr/",</a:t>
            </a:r>
          </a:p>
          <a:p>
            <a:r>
              <a:t>      "source_type": "nationwide_dataset",</a:t>
            </a:r>
          </a:p>
          <a:p>
            <a:r>
              <a:t>      "observation_period": "2025-07 ~ 2026-06",</a:t>
            </a:r>
          </a:p>
          <a:p>
            <a:r>
              <a:t>      "published_or_updated_at": "2024-07 ~ 2025-06"</a:t>
            </a:r>
          </a:p>
          <a:p>
            <a:r>
              <a:t>    },</a:t>
            </a:r>
          </a:p>
          <a:p>
            <a:r>
              <a:t>    {</a:t>
            </a:r>
          </a:p>
          <a:p>
            <a:r>
              <a:t>      "title": "한국관광 데이터랩 공식 다운로드 · 서울특별시_성동구/관광소비/2025_01_12.zip",</a:t>
            </a:r>
          </a:p>
          <a:p>
            <a:r>
              <a:t>      "summary": "전국 비교 기준 기간: 2025-07 ~ 2026-06",</a:t>
            </a:r>
          </a:p>
          <a:p>
            <a:r>
              <a:t>      "source_id": "datalab:3a79405535b3:68f41f6aa9c6",</a:t>
            </a:r>
          </a:p>
          <a:p>
            <a:r>
              <a:t>      "source_url": "https://datalab.visitkorea.or.kr/",</a:t>
            </a:r>
          </a:p>
          <a:p>
            <a:r>
              <a:t>      "source_type": "nationwide_dataset",</a:t>
            </a:r>
          </a:p>
          <a:p>
            <a:r>
              <a:t>      "observation_period": "2025-07 ~ 2026-06",</a:t>
            </a:r>
          </a:p>
          <a:p>
            <a:r>
              <a:t>      "published_or_updated_at": "2024-07 ~ 2025-06"</a:t>
            </a:r>
          </a:p>
          <a:p>
            <a:r>
              <a:t>    },</a:t>
            </a:r>
          </a:p>
          <a:p>
            <a:r>
              <a:t>    {</a:t>
            </a:r>
          </a:p>
          <a:p>
            <a:r>
              <a:t>      "title": "한국관광 데이터랩 공식 다운로드 · 서울특별시_성동구/숙박_체류시간/2026_01_06.zip",</a:t>
            </a:r>
          </a:p>
          <a:p>
            <a:r>
              <a:t>      "summary": "전국 비교 기준 기간: 2025-07 ~ 2026-06",</a:t>
            </a:r>
          </a:p>
          <a:p>
            <a:r>
              <a:t>      "source_id": "datalab:6217474023e5:2e717447925f",</a:t>
            </a:r>
          </a:p>
          <a:p>
            <a:r>
              <a:t>      "source_url": "https://datalab.visitkorea.or.kr/",</a:t>
            </a:r>
          </a:p>
          <a:p>
            <a:r>
              <a:t>      "source_type": "nationwide_dataset",</a:t>
            </a:r>
          </a:p>
          <a:p>
            <a:r>
              <a:t>      "observation_period": "2025-07 ~ 2026-06",</a:t>
            </a:r>
          </a:p>
          <a:p>
            <a:r>
              <a:t>      "published_or_updated_at": "2024-07 ~ 2025-06"</a:t>
            </a:r>
          </a:p>
          <a:p>
            <a:r>
              <a:t>    },</a:t>
            </a:r>
          </a:p>
          <a:p>
            <a:r>
              <a:t>    {</a:t>
            </a:r>
          </a:p>
          <a:p>
            <a:r>
              <a:t>      "title": "한국관광 데이터랩 공식 다운로드 · 서울특별시_성동구/방문자/2025_01_12.zip",</a:t>
            </a:r>
          </a:p>
          <a:p>
            <a:r>
              <a:t>      "summary": "전국 비교 기준 기간: 2025-07 ~ 2026-06",</a:t>
            </a:r>
          </a:p>
          <a:p>
            <a:r>
              <a:t>      "source_id": "datalab:62312101c8d0:9c44bd532366",</a:t>
            </a:r>
          </a:p>
          <a:p>
            <a:r>
              <a:t>      "source_url": "https://datalab.visitkorea.or.kr/",</a:t>
            </a:r>
          </a:p>
          <a:p>
            <a:r>
              <a:t>      "source_type": "nationwide_dataset",</a:t>
            </a:r>
          </a:p>
          <a:p>
            <a:r>
              <a:t>      "observation_period": "2025-07 ~ 2026-06",</a:t>
            </a:r>
          </a:p>
          <a:p>
            <a:r>
              <a:t>      "published_or_updated_at": "2024-07 ~ 2025-06"</a:t>
            </a:r>
          </a:p>
          <a:p>
            <a:r>
              <a:t>    },</a:t>
            </a:r>
          </a:p>
          <a:p>
            <a:r>
              <a:t>    {</a:t>
            </a:r>
          </a:p>
          <a:p>
            <a:r>
              <a:t>      "title": "한국관광 데이터랩 공식 다운로드 · 서울특별시_성동구/관광소비/2026_01_06.zip",</a:t>
            </a:r>
          </a:p>
          <a:p>
            <a:r>
              <a:t>      "summary": "전국 비교 기준 기간: 2025-07 ~ 2026-06",</a:t>
            </a:r>
          </a:p>
          <a:p>
            <a:r>
              <a:t>      "source_id": "datalab:7ddda0420208:c68bf7b028b0",</a:t>
            </a:r>
          </a:p>
          <a:p>
            <a:r>
              <a:t>      "source_url": "https://datalab.visitkorea.or.kr/",</a:t>
            </a:r>
          </a:p>
          <a:p>
            <a:r>
              <a:t>      "source_type": "nationwide_dataset",</a:t>
            </a:r>
          </a:p>
          <a:p>
            <a:r>
              <a:t>      "observation_period": "2025-07 ~ 2026-06",</a:t>
            </a:r>
          </a:p>
          <a:p>
            <a:r>
              <a:t>      "published_or_updated_at": "2024-07 ~ 2025-06"</a:t>
            </a:r>
          </a:p>
          <a:p>
            <a:r>
              <a:t>    },</a:t>
            </a:r>
          </a:p>
          <a:p>
            <a:r>
              <a:t>    {</a:t>
            </a:r>
          </a:p>
          <a:p>
            <a:r>
              <a:t>      "title": "한국관광 데이터랩 공식 다운로드 · 서울특별시_성동구/방문자/2026_01_06.zip",</a:t>
            </a:r>
          </a:p>
          <a:p>
            <a:r>
              <a:t>      "summary": "전국 비교 기준 기간: 2025-07 ~ 2026-06",</a:t>
            </a:r>
          </a:p>
          <a:p>
            <a:r>
              <a:t>      "source_id": "datalab:9369271c7419:76a9b6ea89d8",</a:t>
            </a:r>
          </a:p>
          <a:p>
            <a:r>
              <a:t>      "source_url": "https://datalab.visitkorea.or.kr/",</a:t>
            </a:r>
          </a:p>
          <a:p>
            <a:r>
              <a:t>      "source_type": "nationwide_dataset",</a:t>
            </a:r>
          </a:p>
          <a:p>
            <a:r>
              <a:t>      "observation_period": "2025-07 ~ 2026-06",</a:t>
            </a:r>
          </a:p>
          <a:p>
            <a:r>
              <a:t>      "published_or_updated_at": "2024-07 ~ 2025-06"</a:t>
            </a:r>
          </a:p>
          <a:p>
            <a:r>
              <a:t>    },</a:t>
            </a:r>
          </a:p>
          <a:p>
            <a:r>
              <a:t>    {</a:t>
            </a:r>
          </a:p>
          <a:p>
            <a:r>
              <a:t>      "title": "한국관광 데이터랩 전국 빅데이터 다운로드 · 이동통신/내국인/지역별 방문자수/20260820140607__202601-202606_데이터랩_다운로드.zip",</a:t>
            </a:r>
          </a:p>
          <a:p>
            <a:r>
              <a:t>      "summary": "시군구 기간합계·비중 또는 전국 월별 추이. 지역 월별 ML·정책 효과가 아닌 보조 근거.",</a:t>
            </a:r>
          </a:p>
          <a:p>
            <a:r>
              <a:t>      "source_id": "team-bigdata:23ea68053684:6bfbcf8aabf6",</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이동통신/외국인/20260820141710_전국_202601-202606_데이터랩_다운로드.zip",</a:t>
            </a:r>
          </a:p>
          <a:p>
            <a:r>
              <a:t>      "summary": "시군구 기간합계·비중 또는 전국 월별 추이. 지역 월별 ML·정책 효과가 아닌 보조 근거.",</a:t>
            </a:r>
          </a:p>
          <a:p>
            <a:r>
              <a:t>      "source_id": "team-bigdata:98d4ae590d9a:3be52dd54323",</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신용카드/내국인/지역별 관광지출액/20260820140046__202601-202606_데이터랩_다운로드.zip",</a:t>
            </a:r>
          </a:p>
          <a:p>
            <a:r>
              <a:t>      "summary": "시군구 기간합계·비중 또는 전국 월별 추이. 지역 월별 ML·정책 효과가 아닌 보조 근거.",</a:t>
            </a:r>
          </a:p>
          <a:p>
            <a:r>
              <a:t>      "source_id": "team-bigdata:367cd0294ec4:873930d645e5",</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신용카드/외국인/지역별 관광지출액/20260820140355__202601-202606_데이터랩_다운로드.zip",</a:t>
            </a:r>
          </a:p>
          <a:p>
            <a:r>
              <a:t>      "summary": "시군구 기간합계·비중 또는 전국 월별 추이. 지역 월별 ML·정책 효과가 아닌 보조 근거.",</a:t>
            </a:r>
          </a:p>
          <a:p>
            <a:r>
              <a:t>      "source_id": "team-bigdata:553a0dad4bb4:5a31355dffe8",</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네비게이션/지역별 검색건수/20260820195507__202601-202606_데이터랩_다운로드.zip",</a:t>
            </a:r>
          </a:p>
          <a:p>
            <a:r>
              <a:t>      "summary": "시군구 기간합계·비중 또는 전국 월별 추이. 지역 월별 ML·정책 효과가 아닌 보조 근거.",</a:t>
            </a:r>
          </a:p>
          <a:p>
            <a:r>
              <a:t>      "source_id": "team-bigdata:a53dbe1c21df:77a052de41d5",</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이동통신/내국인/지역별 방문자수/20260820140614__202501-202512_데이터랩_다운로드.zip",</a:t>
            </a:r>
          </a:p>
          <a:p>
            <a:r>
              <a:t>      "summary": "시군구 기간합계·비중 또는 전국 월별 추이. 지역 월별 ML·정책 효과가 아닌 보조 근거.",</a:t>
            </a:r>
          </a:p>
          <a:p>
            <a:r>
              <a:t>      "source_id": "team-bigdata:823a38d1d61c:5385261d02e5",</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이동통신/외국인/20260820141649_전국_202501-202512_데이터랩_다운로드.zip",</a:t>
            </a:r>
          </a:p>
          <a:p>
            <a:r>
              <a:t>      "summary": "시군구 기간합계·비중 또는 전국 월별 추이. 지역 월별 ML·정책 효과가 아닌 보조 근거.",</a:t>
            </a:r>
          </a:p>
          <a:p>
            <a:r>
              <a:t>      "source_id": "team-bigdata:2723bdb0d589:1666a34058ed",</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신용카드/내국인/지역별 관광지출액/20260820135957__202501-202512_데이터랩_다운로드.zip",</a:t>
            </a:r>
          </a:p>
          <a:p>
            <a:r>
              <a:t>      "summary": "시군구 기간합계·비중 또는 전국 월별 추이. 지역 월별 ML·정책 효과가 아닌 보조 근거.",</a:t>
            </a:r>
          </a:p>
          <a:p>
            <a:r>
              <a:t>      "source_id": "team-bigdata:83177a234971:c02cb7972e0f",</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신용카드/외국인/지역별 관광지출액/20260820140409__202501-202512_데이터랩_다운로드.zip",</a:t>
            </a:r>
          </a:p>
          <a:p>
            <a:r>
              <a:t>      "summary": "시군구 기간합계·비중 또는 전국 월별 추이. 지역 월별 ML·정책 효과가 아닌 보조 근거.",</a:t>
            </a:r>
          </a:p>
          <a:p>
            <a:r>
              <a:t>      "source_id": "team-bigdata:58ded7732251:589c76395cbc",</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네비게이션/지역별 검색건수/20260820132007__202501-202512_데이터랩_다운로드.zip",</a:t>
            </a:r>
          </a:p>
          <a:p>
            <a:r>
              <a:t>      "summary": "시군구 기간합계·비중 또는 전국 월별 추이. 지역 월별 ML·정책 효과가 아닌 보조 근거.",</a:t>
            </a:r>
          </a:p>
          <a:p>
            <a:r>
              <a:t>      "source_id": "team-bigdata:e28c947cb52f:bb4cb344a6ba",</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이동통신/내국인/지역별 방문자수/20260820140624__202401-202412_데이터랩_다운로드.zip",</a:t>
            </a:r>
          </a:p>
          <a:p>
            <a:r>
              <a:t>      "summary": "시군구 기간합계·비중 또는 전국 월별 추이. 지역 월별 ML·정책 효과가 아닌 보조 근거.",</a:t>
            </a:r>
          </a:p>
          <a:p>
            <a:r>
              <a:t>      "source_id": "team-bigdata:8815bbb11a39:1a5988f5f8ec",</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이동통신/외국인/20260820141639_전국_202401-202412_데이터랩_다운로드.zip",</a:t>
            </a:r>
          </a:p>
          <a:p>
            <a:r>
              <a:t>      "summary": "시군구 기간합계·비중 또는 전국 월별 추이. 지역 월별 ML·정책 효과가 아닌 보조 근거.",</a:t>
            </a:r>
          </a:p>
          <a:p>
            <a:r>
              <a:t>      "source_id": "team-bigdata:19fd67fbb73d:afa4f0f54a2f",</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지역별 관광 현황 · 서울특별시 성동구 · 인기관광지",</a:t>
            </a:r>
          </a:p>
          <a:p>
            <a:r>
              <a:t>      "summary": "관측 기간: 2025-07 ~ 2026-06. 유입·유출·인기장소 또는 30일 집중 운영 신호.",</a:t>
            </a:r>
          </a:p>
          <a:p>
            <a:r>
              <a:t>      "source_id": "regional-status:300d117a9148:9b5e59efa799",</a:t>
            </a:r>
          </a:p>
          <a:p>
            <a:r>
              <a:t>      "source_url": "https://datalab.visitkorea.or.kr/",</a:t>
            </a:r>
          </a:p>
          <a:p>
            <a:r>
              <a:t>      "source_type": "regional_tourism_status",</a:t>
            </a:r>
          </a:p>
          <a:p>
            <a:r>
              <a:t>      "observation_period": "2025-07 ~ 2026-06",</a:t>
            </a:r>
          </a:p>
          <a:p>
            <a:r>
              <a:t>      "published_or_updated_at": ""</a:t>
            </a:r>
          </a:p>
          <a:p>
            <a:r>
              <a:t>    },</a:t>
            </a:r>
          </a:p>
          <a:p>
            <a:r>
              <a:t>    {</a:t>
            </a:r>
          </a:p>
          <a:p>
            <a:r>
              <a:t>      "title": "한국관광 데이터랩 지역별 관광 현황 · 서울특별시 성동구 · 유입유출",</a:t>
            </a:r>
          </a:p>
          <a:p>
            <a:r>
              <a:t>      "summary": "관측 기간: 2025-07 ~ 2026-06. 유입·유출·인기장소 또는 30일 집중 운영 신호.",</a:t>
            </a:r>
          </a:p>
          <a:p>
            <a:r>
              <a:t>      "source_id": "regional-status:e1f4d12a3396:706443b7ba17",</a:t>
            </a:r>
          </a:p>
          <a:p>
            <a:r>
              <a:t>      "source_url": "https://datalab.visitkorea.or.kr/",</a:t>
            </a:r>
          </a:p>
          <a:p>
            <a:r>
              <a:t>      "source_type": "regional_tourism_status",</a:t>
            </a:r>
          </a:p>
          <a:p>
            <a:r>
              <a:t>      "observation_period": "2025-07 ~ 2026-06",</a:t>
            </a:r>
          </a:p>
          <a:p>
            <a:r>
              <a:t>      "published_or_updated_at": ""</a:t>
            </a:r>
          </a:p>
          <a:p>
            <a:r>
              <a:t>    },</a:t>
            </a:r>
          </a:p>
          <a:p>
            <a:r>
              <a:t>    {</a:t>
            </a:r>
          </a:p>
          <a:p>
            <a:r>
              <a:t>      "title": "한국관광 데이터랩 지역별 관광 현황 · 서울특별시 성동구 · 지역집중률",</a:t>
            </a:r>
          </a:p>
          <a:p>
            <a:r>
              <a:t>      "summary": "관측 기간: 2025-07 ~ 2026-06. 유입·유출·인기장소 또는 30일 집중 운영 신호.",</a:t>
            </a:r>
          </a:p>
          <a:p>
            <a:r>
              <a:t>      "source_id": "regional-status:f05693fd34a7:ae929e215d91",</a:t>
            </a:r>
          </a:p>
          <a:p>
            <a:r>
              <a:t>      "source_url": "https://datalab.visitkorea.or.kr/",</a:t>
            </a:r>
          </a:p>
          <a:p>
            <a:r>
              <a:t>      "source_type": "regional_tourism_status",</a:t>
            </a:r>
          </a:p>
          <a:p>
            <a:r>
              <a:t>      "observation_period": "2025-07 ~ 2026-06",</a:t>
            </a:r>
          </a:p>
          <a:p>
            <a:r>
              <a:t>      "published_or_updated_at": ""</a:t>
            </a:r>
          </a:p>
          <a:p>
            <a:r>
              <a:t>    },</a:t>
            </a:r>
          </a:p>
          <a:p>
            <a:r>
              <a:t>    {</a:t>
            </a:r>
          </a:p>
          <a:p>
            <a:r>
              <a:t>      "title": "지역 관광수요 ML 전망 · 공식 관측값 아님",</a:t>
            </a:r>
          </a:p>
          <a:p>
            <a:r>
              <a:t>      "summary": "학습 202401~202606 · 모델 regional-demand-v3.1 · 자연 추세 예측",</a:t>
            </a:r>
          </a:p>
          <a:p>
            <a:r>
              <a:t>      "source_id": "ml:11200:regional-demand-v3.1:202606",</a:t>
            </a:r>
          </a:p>
          <a:p>
            <a:r>
              <a:t>      "source_url": "",</a:t>
            </a:r>
          </a:p>
          <a:p>
            <a:r>
              <a:t>      "source_type": "model_forecast",</a:t>
            </a:r>
          </a:p>
          <a:p>
            <a:r>
              <a:t>      "model_version": "regional-demand-v3.1",</a:t>
            </a:r>
          </a:p>
          <a:p>
            <a:r>
              <a:t>      "data_fingerprint": "c47c92e05a4d54565864c2c7d1091d0c4f29ba1e6f45559f77d766e9c92e6d24"</a:t>
            </a:r>
          </a:p>
          <a:p>
            <a:r>
              <a:t>    },</a:t>
            </a:r>
          </a:p>
          <a:p>
            <a:r>
              <a:t>    {</a:t>
            </a:r>
          </a:p>
          <a:p>
            <a:r>
              <a:t>      "title": "가조쿠",</a:t>
            </a:r>
          </a:p>
          <a:p>
            <a:r>
              <a:t>      "address": "서울특별시 성동구 연무장길 31-2 (성수동2가)",</a:t>
            </a:r>
          </a:p>
          <a:p>
            <a:r>
              <a:t>      "summary": "한국관광공사 국문관광정보 API가 반환한 선택 지역 관광자원",</a:t>
            </a:r>
          </a:p>
          <a:p>
            <a:r>
              <a:t>      "image_url": "http://tong.visitkorea.or.kr/cms/resource/12/2901212_image2_1.jpg",</a:t>
            </a:r>
          </a:p>
          <a:p>
            <a:r>
              <a:t>      "source_id": "tour-api:2901229",</a:t>
            </a:r>
          </a:p>
          <a:p>
            <a:r>
              <a:t>      "content_id": "2901229",</a:t>
            </a:r>
          </a:p>
          <a:p>
            <a:r>
              <a:t>      "source_url": "https://apis.data.go.kr/B551011/KorService2",</a:t>
            </a:r>
          </a:p>
          <a:p>
            <a:r>
              <a:t>      "source_type": "open_api",</a:t>
            </a:r>
          </a:p>
          <a:p>
            <a:r>
              <a:t>      "content_type_id": "39"</a:t>
            </a:r>
          </a:p>
          <a:p>
            <a:r>
              <a:t>    },</a:t>
            </a:r>
          </a:p>
          <a:p>
            <a:r>
              <a:t>    {</a:t>
            </a:r>
          </a:p>
          <a:p>
            <a:r>
              <a:t>      "title": "계월",</a:t>
            </a:r>
          </a:p>
          <a:p>
            <a:r>
              <a:t>      "address": "서울특별시 성동구 성덕정3길 8 (성수동1가)",</a:t>
            </a:r>
          </a:p>
          <a:p>
            <a:r>
              <a:t>      "summary": "한국관광공사 국문관광정보 API가 반환한 선택 지역 관광자원",</a:t>
            </a:r>
          </a:p>
          <a:p>
            <a:r>
              <a:t>      "image_url": "http://tong.visitkorea.or.kr/cms/resource/44/2895144_image2_1.JPG",</a:t>
            </a:r>
          </a:p>
          <a:p>
            <a:r>
              <a:t>      "source_id": "tour-api:2895161",</a:t>
            </a:r>
          </a:p>
          <a:p>
            <a:r>
              <a:t>      "content_id": "2895161",</a:t>
            </a:r>
          </a:p>
          <a:p>
            <a:r>
              <a:t>      "source_url": "https://apis.data.go.kr/B551011/KorService2",</a:t>
            </a:r>
          </a:p>
          <a:p>
            <a:r>
              <a:t>      "source_type": "open_api",</a:t>
            </a:r>
          </a:p>
          <a:p>
            <a:r>
              <a:t>      "content_type_id": "39"</a:t>
            </a:r>
          </a:p>
          <a:p>
            <a:r>
              <a:t>    },</a:t>
            </a:r>
          </a:p>
          <a:p>
            <a:r>
              <a:t>    {</a:t>
            </a:r>
          </a:p>
          <a:p>
            <a:r>
              <a:t>      "title": "계자람",</a:t>
            </a:r>
          </a:p>
          <a:p>
            <a:r>
              <a:t>      "address": "서울특별시 성동구 성덕정17길 5 (성수동2가)",</a:t>
            </a:r>
          </a:p>
          <a:p>
            <a:r>
              <a:t>      "summary": "한국관광공사 국문관광정보 API가 반환한 선택 지역 관광자원",</a:t>
            </a:r>
          </a:p>
          <a:p>
            <a:r>
              <a:t>      "image_url": "http://tong.visitkorea.or.kr/cms/resource/51/2901351_image2_1.jpg",</a:t>
            </a:r>
          </a:p>
          <a:p>
            <a:r>
              <a:t>      "source_id": "tour-api:2901359",</a:t>
            </a:r>
          </a:p>
          <a:p>
            <a:r>
              <a:t>      "content_id": "2901359",</a:t>
            </a:r>
          </a:p>
          <a:p>
            <a:r>
              <a:t>      "source_url": "https://apis.data.go.kr/B551011/KorService2",</a:t>
            </a:r>
          </a:p>
          <a:p>
            <a:r>
              <a:t>      "source_type": "open_api",</a:t>
            </a:r>
          </a:p>
          <a:p>
            <a:r>
              <a:t>      "content_type_id": "39"</a:t>
            </a:r>
          </a:p>
          <a:p>
            <a:r>
              <a:t>    },</a:t>
            </a:r>
          </a:p>
          <a:p>
            <a:r>
              <a:t>    {</a:t>
            </a:r>
          </a:p>
          <a:p>
            <a:r>
              <a:t>      "title": "구욱희씨",</a:t>
            </a:r>
          </a:p>
          <a:p>
            <a:r>
              <a:t>      "address": "서울특별시 성동구 서울숲4길 12-22",</a:t>
            </a:r>
          </a:p>
          <a:p>
            <a:r>
              <a:t>      "summary": "한국관광공사 국문관광정보 API가 반환한 선택 지역 관광자원",</a:t>
            </a:r>
          </a:p>
          <a:p>
            <a:r>
              <a:t>      "image_url": "http://tong.visitkorea.or.kr/cms/resource/08/2895208_image2_1.jpg",</a:t>
            </a:r>
          </a:p>
          <a:p>
            <a:r>
              <a:t>      "source_id": "tour-api:2895211",</a:t>
            </a:r>
          </a:p>
          <a:p>
            <a:r>
              <a:t>      "content_id": "2895211",</a:t>
            </a:r>
          </a:p>
          <a:p>
            <a:r>
              <a:t>      "source_url": "https://apis.data.go.kr/B551011/KorService2",</a:t>
            </a:r>
          </a:p>
          <a:p>
            <a:r>
              <a:t>      "source_type": "open_api",</a:t>
            </a:r>
          </a:p>
          <a:p>
            <a:r>
              <a:t>      "content_type_id": "39"</a:t>
            </a:r>
          </a:p>
          <a:p>
            <a:r>
              <a:t>    },</a:t>
            </a:r>
          </a:p>
          <a:p>
            <a:r>
              <a:t>    {</a:t>
            </a:r>
          </a:p>
          <a:p>
            <a:r>
              <a:t>      "title": "구펠",</a:t>
            </a:r>
          </a:p>
          <a:p>
            <a:r>
              <a:t>      "address": "서울특별시 성동구 왕십리로14길 30-1 (성수동1가)",</a:t>
            </a:r>
          </a:p>
          <a:p>
            <a:r>
              <a:t>      "summary": "한국관광공사 국문관광정보 API가 반환한 선택 지역 관광자원",</a:t>
            </a:r>
          </a:p>
          <a:p>
            <a:r>
              <a:t>      "image_url": "http://tong.visitkorea.or.kr/cms/resource/26/2895226_image2_1.jpg",</a:t>
            </a:r>
          </a:p>
          <a:p>
            <a:r>
              <a:t>      "source_id": "tour-api:2895236",</a:t>
            </a:r>
          </a:p>
          <a:p>
            <a:r>
              <a:t>      "content_id": "2895236",</a:t>
            </a:r>
          </a:p>
          <a:p>
            <a:r>
              <a:t>      "source_url": "https://apis.data.go.kr/B551011/KorService2",</a:t>
            </a:r>
          </a:p>
          <a:p>
            <a:r>
              <a:t>      "source_type": "open_api",</a:t>
            </a:r>
          </a:p>
          <a:p>
            <a:r>
              <a:t>      "content_type_id": "39"</a:t>
            </a:r>
          </a:p>
          <a:p>
            <a:r>
              <a:t>    },</a:t>
            </a:r>
          </a:p>
          <a:p>
            <a:r>
              <a:t>    {</a:t>
            </a:r>
          </a:p>
          <a:p>
            <a:r>
              <a:t>      "title": "그라데이션커피",</a:t>
            </a:r>
          </a:p>
          <a:p>
            <a:r>
              <a:t>      "address": "서울특별시 성동구 상원12길 24-1 (성수동1가)",</a:t>
            </a:r>
          </a:p>
          <a:p>
            <a:r>
              <a:t>      "summary": "한국관광공사 국문관광정보 API가 반환한 선택 지역 관광자원",</a:t>
            </a:r>
          </a:p>
          <a:p>
            <a:r>
              <a:t>      "image_url": "http://tong.visitkorea.or.kr/cms/resource/82/2898982_image2_1.jpg",</a:t>
            </a:r>
          </a:p>
          <a:p>
            <a:r>
              <a:t>      "source_id": "tour-api:2898994",</a:t>
            </a:r>
          </a:p>
          <a:p>
            <a:r>
              <a:t>      "content_id": "2898994",</a:t>
            </a:r>
          </a:p>
          <a:p>
            <a:r>
              <a:t>      "source_url": "https://apis.data.go.kr/B551011/KorService2",</a:t>
            </a:r>
          </a:p>
          <a:p>
            <a:r>
              <a:t>      "source_type": "open_api",</a:t>
            </a:r>
          </a:p>
          <a:p>
            <a:r>
              <a:t>      "content_type_id": "39"</a:t>
            </a:r>
          </a:p>
          <a:p>
            <a:r>
              <a:t>    },</a:t>
            </a:r>
          </a:p>
          <a:p>
            <a:r>
              <a:t>    {</a:t>
            </a:r>
          </a:p>
          <a:p>
            <a:r>
              <a:t>      "title": "그린랩",</a:t>
            </a:r>
          </a:p>
          <a:p>
            <a:r>
              <a:t>      "address": "서울특별시 성동구 서울숲2길 18-11",</a:t>
            </a:r>
          </a:p>
          <a:p>
            <a:r>
              <a:t>      "summary": "한국관광공사 국문관광정보 API가 반환한 선택 지역 관광자원",</a:t>
            </a:r>
          </a:p>
          <a:p>
            <a:r>
              <a:t>      "image_url": "http://tong.visitkorea.or.kr/cms/resource/64/2894864_image2_1.JPG",</a:t>
            </a:r>
          </a:p>
          <a:p>
            <a:r>
              <a:t>      "source_id": "tour-api:2894873",</a:t>
            </a:r>
          </a:p>
          <a:p>
            <a:r>
              <a:t>      "content_id": "2894873",</a:t>
            </a:r>
          </a:p>
          <a:p>
            <a:r>
              <a:t>      "source_url": "https://apis.data.go.kr/B551011/KorService2",</a:t>
            </a:r>
          </a:p>
          <a:p>
            <a:r>
              <a:t>      "source_type": "open_api",</a:t>
            </a:r>
          </a:p>
          <a:p>
            <a:r>
              <a:t>      "content_type_id": "39"</a:t>
            </a:r>
          </a:p>
          <a:p>
            <a:r>
              <a:t>    },</a:t>
            </a:r>
          </a:p>
          <a:p>
            <a:r>
              <a:t>    {</a:t>
            </a:r>
          </a:p>
          <a:p>
            <a:r>
              <a:t>      "title": "금남시장",</a:t>
            </a:r>
          </a:p>
          <a:p>
            <a:r>
              <a:t>      "address": "서울특별시 성동구 독서당로 303-7 (금호동3가)",</a:t>
            </a:r>
          </a:p>
          <a:p>
            <a:r>
              <a:t>      "summary": "한국관광공사 국문관광정보 API가 반환한 선택 지역 관광자원",</a:t>
            </a:r>
          </a:p>
          <a:p>
            <a:r>
              <a:t>      "image_url": "http://tong.visitkorea.or.kr/cms/resource/59/3414159_image2_1.jpg",</a:t>
            </a:r>
          </a:p>
          <a:p>
            <a:r>
              <a:t>      "source_id": "tour-api:2743748",</a:t>
            </a:r>
          </a:p>
          <a:p>
            <a:r>
              <a:t>      "content_id": "2743748",</a:t>
            </a:r>
          </a:p>
          <a:p>
            <a:r>
              <a:t>      "source_url": "https://apis.data.go.kr/B551011/KorService2",</a:t>
            </a:r>
          </a:p>
          <a:p>
            <a:r>
              <a:t>      "source_type": "open_api",</a:t>
            </a:r>
          </a:p>
          <a:p>
            <a:r>
              <a:t>      "content_type_id": "38"</a:t>
            </a:r>
          </a:p>
          <a:p>
            <a:r>
              <a:t>    },</a:t>
            </a:r>
          </a:p>
          <a:p>
            <a:r>
              <a:t>    {</a:t>
            </a:r>
          </a:p>
          <a:p>
            <a:r>
              <a:t>      "title": "기후",</a:t>
            </a:r>
          </a:p>
          <a:p>
            <a:r>
              <a:t>      "address": "서울특별시 성동구 성수이로 66 서울숲 드림타워",</a:t>
            </a:r>
          </a:p>
          <a:p>
            <a:r>
              <a:t>      "summary": "한국관광공사 국문관광정보 API가 반환한 선택 지역 관광자원",</a:t>
            </a:r>
          </a:p>
          <a:p>
            <a:r>
              <a:t>      "image_url": "http://tong.visitkorea.or.kr/cms/resource/59/2901559_image2_1.jpg",</a:t>
            </a:r>
          </a:p>
          <a:p>
            <a:r>
              <a:t>      "source_id": "tour-api:2901568",</a:t>
            </a:r>
          </a:p>
          <a:p>
            <a:r>
              <a:t>      "content_id": "2901568",</a:t>
            </a:r>
          </a:p>
          <a:p>
            <a:r>
              <a:t>      "source_url": "https://apis.data.go.kr/B551011/KorService2",</a:t>
            </a:r>
          </a:p>
          <a:p>
            <a:r>
              <a:t>      "source_type": "open_api",</a:t>
            </a:r>
          </a:p>
          <a:p>
            <a:r>
              <a:t>      "content_type_id": "39"</a:t>
            </a:r>
          </a:p>
          <a:p>
            <a:r>
              <a:t>    },</a:t>
            </a:r>
          </a:p>
          <a:p>
            <a:r>
              <a:t>    {</a:t>
            </a:r>
          </a:p>
          <a:p>
            <a:r>
              <a:t>      "title": "꾸아 성수점",</a:t>
            </a:r>
          </a:p>
          <a:p>
            <a:r>
              <a:t>      "address": "서울특별시 성동구 왕십리로 94-2 (성수동1가)",</a:t>
            </a:r>
          </a:p>
          <a:p>
            <a:r>
              <a:t>      "summary": "한국관광공사 국문관광정보 API가 반환한 선택 지역 관광자원",</a:t>
            </a:r>
          </a:p>
          <a:p>
            <a:r>
              <a:t>      "image_url": "http://tong.visitkorea.or.kr/cms/resource/17/2894817_image2_1.jpg",</a:t>
            </a:r>
          </a:p>
          <a:p>
            <a:r>
              <a:t>      "source_id": "tour-api:2894842",</a:t>
            </a:r>
          </a:p>
          <a:p>
            <a:r>
              <a:t>      "content_id": "2894842",</a:t>
            </a:r>
          </a:p>
          <a:p>
            <a:r>
              <a:t>      "source_url": "https://apis.data.go.kr/B551011/KorService2",</a:t>
            </a:r>
          </a:p>
          <a:p>
            <a:r>
              <a:t>      "source_type": "open_api",</a:t>
            </a:r>
          </a:p>
          <a:p>
            <a:r>
              <a:t>      "content_type_id": "39"</a:t>
            </a:r>
          </a:p>
          <a:p>
            <a:r>
              <a:t>    },</a:t>
            </a:r>
          </a:p>
          <a:p>
            <a:r>
              <a:t>    {</a:t>
            </a:r>
          </a:p>
          <a:p>
            <a:r>
              <a:t>      "title": "난포",</a:t>
            </a:r>
          </a:p>
          <a:p>
            <a:r>
              <a:t>      "address": "서울특별시 성동구 서울숲4길 18-8 (성수동1가)",</a:t>
            </a:r>
          </a:p>
          <a:p>
            <a:r>
              <a:t>      "summary": "한국관광공사 국문관광정보 API가 반환한 선택 지역 관광자원",</a:t>
            </a:r>
          </a:p>
          <a:p>
            <a:r>
              <a:t>      "image_url": "http://tong.visitkorea.or.kr/cms/resource/15/2843515_image2_1.jpg",</a:t>
            </a:r>
          </a:p>
          <a:p>
            <a:r>
              <a:t>      "source_id": "tour-api:2843520",</a:t>
            </a:r>
          </a:p>
          <a:p>
            <a:r>
              <a:t>      "content_id": "2843520",</a:t>
            </a:r>
          </a:p>
          <a:p>
            <a:r>
              <a:t>      "source_url": "https://apis.data.go.kr/B551011/KorService2",</a:t>
            </a:r>
          </a:p>
          <a:p>
            <a:r>
              <a:t>      "source_type": "open_api",</a:t>
            </a:r>
          </a:p>
          <a:p>
            <a:r>
              <a:t>      "content_type_id": "39"</a:t>
            </a:r>
          </a:p>
          <a:p>
            <a:r>
              <a:t>    },</a:t>
            </a:r>
          </a:p>
          <a:p>
            <a:r>
              <a:t>    {</a:t>
            </a:r>
          </a:p>
          <a:p>
            <a:r>
              <a:t>      "title": "누메로도스",</a:t>
            </a:r>
          </a:p>
          <a:p>
            <a:r>
              <a:t>      "address": "서울특별시 성동구 상원1길 35-9 (성수동1가)",</a:t>
            </a:r>
          </a:p>
          <a:p>
            <a:r>
              <a:t>      "summary": "한국관광공사 국문관광정보 API가 반환한 선택 지역 관광자원",</a:t>
            </a:r>
          </a:p>
          <a:p>
            <a:r>
              <a:t>      "image_url": "http://tong.visitkorea.or.kr/cms/resource/99/2894799_image2_1.jpg",</a:t>
            </a:r>
          </a:p>
          <a:p>
            <a:r>
              <a:t>      "source_id": "tour-api:2894810",</a:t>
            </a:r>
          </a:p>
          <a:p>
            <a:r>
              <a:t>      "content_id": "2894810",</a:t>
            </a:r>
          </a:p>
          <a:p>
            <a:r>
              <a:t>      "source_url": "https://apis.data.go.kr/B551011/KorService2",</a:t>
            </a:r>
          </a:p>
          <a:p>
            <a:r>
              <a:t>      "source_type": "open_api",</a:t>
            </a:r>
          </a:p>
          <a:p>
            <a:r>
              <a:t>      "content_type_id": "39"</a:t>
            </a:r>
          </a:p>
          <a:p>
            <a:r>
              <a:t>    },</a:t>
            </a:r>
          </a:p>
          <a:p>
            <a:r>
              <a:t>    {</a:t>
            </a:r>
          </a:p>
          <a:p>
            <a:r>
              <a:t>      "title": "누메로뜨레쓰",</a:t>
            </a:r>
          </a:p>
          <a:p>
            <a:r>
              <a:t>      "address": "서울특별시 성동구 성수일로 21 (성수동1가)",</a:t>
            </a:r>
          </a:p>
          <a:p>
            <a:r>
              <a:t>      "summary": "한국관광공사 국문관광정보 API가 반환한 선택 지역 관광자원",</a:t>
            </a:r>
          </a:p>
          <a:p>
            <a:r>
              <a:t>      "image_url": "http://tong.visitkorea.or.kr/cms/resource/76/2894776_image2_1.jpg",</a:t>
            </a:r>
          </a:p>
          <a:p>
            <a:r>
              <a:t>      "source_id": "tour-api:2894795",</a:t>
            </a:r>
          </a:p>
          <a:p>
            <a:r>
              <a:t>      "content_id": "2894795",</a:t>
            </a:r>
          </a:p>
          <a:p>
            <a:r>
              <a:t>      "source_url": "https://apis.data.go.kr/B551011/KorService2",</a:t>
            </a:r>
          </a:p>
          <a:p>
            <a:r>
              <a:t>      "source_type": "open_api",</a:t>
            </a:r>
          </a:p>
          <a:p>
            <a:r>
              <a:t>      "content_type_id": "39"</a:t>
            </a:r>
          </a:p>
          <a:p>
            <a:r>
              <a:t>    },</a:t>
            </a:r>
          </a:p>
          <a:p>
            <a:r>
              <a:t>    {</a:t>
            </a:r>
          </a:p>
          <a:p>
            <a:r>
              <a:t>      "title": "니드스윗",</a:t>
            </a:r>
          </a:p>
          <a:p>
            <a:r>
              <a:t>      "address": "서울특별시 성동구 아차산로1길 9",</a:t>
            </a:r>
          </a:p>
          <a:p>
            <a:r>
              <a:t>      "summary": "한국관광공사 국문관광정보 API가 반환한 선택 지역 관광자원",</a:t>
            </a:r>
          </a:p>
          <a:p>
            <a:r>
              <a:t>      "image_url": "http://tong.visitkorea.or.kr/cms/resource/55/2894755_image2_1.jpg",</a:t>
            </a:r>
          </a:p>
          <a:p>
            <a:r>
              <a:t>      "source_id": "tour-api:2894763",</a:t>
            </a:r>
          </a:p>
          <a:p>
            <a:r>
              <a:t>      "content_id": "2894763",</a:t>
            </a:r>
          </a:p>
          <a:p>
            <a:r>
              <a:t>      "source_url": "https://apis.data.go.kr/B551011/KorService2",</a:t>
            </a:r>
          </a:p>
          <a:p>
            <a:r>
              <a:t>      "source_type": "open_api",</a:t>
            </a:r>
          </a:p>
          <a:p>
            <a:r>
              <a:t>      "content_type_id": "39"</a:t>
            </a:r>
          </a:p>
          <a:p>
            <a:r>
              <a:t>    },</a:t>
            </a:r>
          </a:p>
          <a:p>
            <a:r>
              <a:t>    {</a:t>
            </a:r>
          </a:p>
          <a:p>
            <a:r>
              <a:t>      "title": "단일서울",</a:t>
            </a:r>
          </a:p>
          <a:p>
            <a:r>
              <a:t>      "address": "서울특별시 성동구 왕십리로 66-33 (성수동1가)",</a:t>
            </a:r>
          </a:p>
          <a:p>
            <a:r>
              <a:t>      "summary": "한국관광공사 국문관광정보 API가 반환한 선택 지역 관광자원",</a:t>
            </a:r>
          </a:p>
          <a:p>
            <a:r>
              <a:t>      "image_url": "http://tong.visitkorea.or.kr/cms/resource/34/2894734_image2_1.jpg",</a:t>
            </a:r>
          </a:p>
          <a:p>
            <a:r>
              <a:t>      "source_id": "tour-api:2894747",</a:t>
            </a:r>
          </a:p>
          <a:p>
            <a:r>
              <a:t>      "content_id": "2894747",</a:t>
            </a:r>
          </a:p>
          <a:p>
            <a:r>
              <a:t>      "source_url": "https://apis.data.go.kr/B551011/KorService2",</a:t>
            </a:r>
          </a:p>
          <a:p>
            <a:r>
              <a:t>      "source_type": "open_api",</a:t>
            </a:r>
          </a:p>
          <a:p>
            <a:r>
              <a:t>      "content_type_id": "39"</a:t>
            </a:r>
          </a:p>
          <a:p>
            <a:r>
              <a:t>    },</a:t>
            </a:r>
          </a:p>
          <a:p>
            <a:r>
              <a:t>    {</a:t>
            </a:r>
          </a:p>
          <a:p>
            <a:r>
              <a:t>      "title": "대돈집",</a:t>
            </a:r>
          </a:p>
          <a:p>
            <a:r>
              <a:t>      "address": "서울특별시 성동구 왕십리로14길 18 뚝섬영재어린이집",</a:t>
            </a:r>
          </a:p>
          <a:p>
            <a:r>
              <a:t>      "summary": "한국관광공사 국문관광정보 API가 반환한 선택 지역 관광자원",</a:t>
            </a:r>
          </a:p>
          <a:p>
            <a:r>
              <a:t>      "image_url": "http://tong.visitkorea.or.kr/cms/resource/33/2894833_image2_1.jpg",</a:t>
            </a:r>
          </a:p>
          <a:p>
            <a:r>
              <a:t>      "source_id": "tour-api:2894854",</a:t>
            </a:r>
          </a:p>
          <a:p>
            <a:r>
              <a:t>      "content_id": "2894854",</a:t>
            </a:r>
          </a:p>
          <a:p>
            <a:r>
              <a:t>      "source_url": "https://apis.data.go.kr/B551011/KorService2",</a:t>
            </a:r>
          </a:p>
          <a:p>
            <a:r>
              <a:t>      "source_type": "open_api",</a:t>
            </a:r>
          </a:p>
          <a:p>
            <a:r>
              <a:t>      "content_type_id": "39"</a:t>
            </a:r>
          </a:p>
          <a:p>
            <a:r>
              <a:t>    },</a:t>
            </a:r>
          </a:p>
          <a:p>
            <a:r>
              <a:t>    {</a:t>
            </a:r>
          </a:p>
          <a:p>
            <a:r>
              <a:t>      "title": "대흥정육식당",</a:t>
            </a:r>
          </a:p>
          <a:p>
            <a:r>
              <a:t>      "address": "서울특별시 성동구 왕십리로 16 (성수동1가, 트리마제)",</a:t>
            </a:r>
          </a:p>
          <a:p>
            <a:r>
              <a:t>      "summary": "한국관광공사 국문관광정보 API가 반환한 선택 지역 관광자원",</a:t>
            </a:r>
          </a:p>
          <a:p>
            <a:r>
              <a:t>      "image_url": "http://tong.visitkorea.or.kr/cms/resource/97/2898997_image2_1.jpg",</a:t>
            </a:r>
          </a:p>
          <a:p>
            <a:r>
              <a:t>      "source_id": "tour-api:2899012",</a:t>
            </a:r>
          </a:p>
          <a:p>
            <a:r>
              <a:t>      "content_id": "2899012",</a:t>
            </a:r>
          </a:p>
          <a:p>
            <a:r>
              <a:t>      "source_url": "https://apis.data.go.kr/B551011/KorService2",</a:t>
            </a:r>
          </a:p>
          <a:p>
            <a:r>
              <a:t>      "source_type": "open_api",</a:t>
            </a:r>
          </a:p>
          <a:p>
            <a:r>
              <a:t>      "content_type_id": "39"</a:t>
            </a:r>
          </a:p>
          <a:p>
            <a:r>
              <a:t>    },</a:t>
            </a:r>
          </a:p>
          <a:p>
            <a:r>
              <a:t>    {</a:t>
            </a:r>
          </a:p>
          <a:p>
            <a:r>
              <a:t>      "title": "더서울라이티움",</a:t>
            </a:r>
          </a:p>
          <a:p>
            <a:r>
              <a:t>      "address": "서울특별시 성동구 서울숲2길 32-14 (성수동1가, 갤러리아 포레)",</a:t>
            </a:r>
          </a:p>
          <a:p>
            <a:r>
              <a:t>      "summary": "한국관광공사 국문관광정보 API가 반환한 선택 지역 관광자원",</a:t>
            </a:r>
          </a:p>
          <a:p>
            <a:r>
              <a:t>      "image_url": "http://tong.visitkorea.or.kr/cms/resource/37/3401437_image2_1.JPG",</a:t>
            </a:r>
          </a:p>
          <a:p>
            <a:r>
              <a:t>      "source_id": "tour-api:2753089",</a:t>
            </a:r>
          </a:p>
          <a:p>
            <a:r>
              <a:t>      "content_id": "2753089",</a:t>
            </a:r>
          </a:p>
          <a:p>
            <a:r>
              <a:t>      "source_url": "https://apis.data.go.kr/B551011/KorService2",</a:t>
            </a:r>
          </a:p>
          <a:p>
            <a:r>
              <a:t>      "source_type": "open_api",</a:t>
            </a:r>
          </a:p>
          <a:p>
            <a:r>
              <a:t>      "content_type_id": "14"</a:t>
            </a:r>
          </a:p>
          <a:p>
            <a:r>
              <a:t>    },</a:t>
            </a:r>
          </a:p>
          <a:p>
            <a:r>
              <a:t>    {</a:t>
            </a:r>
          </a:p>
          <a:p>
            <a:r>
              <a:t>      "title": "더페이지갤러리",</a:t>
            </a:r>
          </a:p>
          <a:p>
            <a:r>
              <a:t>      "address": "서울특별시 성동구 서울숲2길 32-14 (성수동1가, 갤러리아 포레)",</a:t>
            </a:r>
          </a:p>
          <a:p>
            <a:r>
              <a:t>      "summary": "한국관광공사 국문관광정보 API가 반환한 선택 지역 관광자원",</a:t>
            </a:r>
          </a:p>
          <a:p>
            <a:r>
              <a:t>      "image_url": "http://tong.visitkorea.or.kr/cms/resource/89/2368189_image2_1.JPG",</a:t>
            </a:r>
          </a:p>
          <a:p>
            <a:r>
              <a:t>      "source_id": "tour-api:736766",</a:t>
            </a:r>
          </a:p>
          <a:p>
            <a:r>
              <a:t>      "content_id": "736766",</a:t>
            </a:r>
          </a:p>
          <a:p>
            <a:r>
              <a:t>      "source_url": "https://apis.data.go.kr/B551011/KorService2",</a:t>
            </a:r>
          </a:p>
          <a:p>
            <a:r>
              <a:t>      "source_type": "open_api",</a:t>
            </a:r>
          </a:p>
          <a:p>
            <a:r>
              <a:t>      "content_type_id": "14"</a:t>
            </a:r>
          </a:p>
          <a:p>
            <a:r>
              <a:t>    },</a:t>
            </a:r>
          </a:p>
          <a:p>
            <a:r>
              <a:t>    {</a:t>
            </a:r>
          </a:p>
          <a:p>
            <a:r>
              <a:t>      "title": "땅코참숯구이 본점",</a:t>
            </a:r>
          </a:p>
          <a:p>
            <a:r>
              <a:t>      "address": "서울특별시 성동구 행당로17길 26 (행당동)",</a:t>
            </a:r>
          </a:p>
          <a:p>
            <a:r>
              <a:t>      "summary": "한국관광공사 국문관광정보 API가 반환한 선택 지역 관광자원",</a:t>
            </a:r>
          </a:p>
          <a:p>
            <a:r>
              <a:t>      "image_url": "http://tong.visitkorea.or.kr/cms/resource/23/2845023_image2_1.jpg",</a:t>
            </a:r>
          </a:p>
          <a:p>
            <a:r>
              <a:t>      "source_id": "tour-api:2845040",</a:t>
            </a:r>
          </a:p>
          <a:p>
            <a:r>
              <a:t>      "content_id": "2845040",</a:t>
            </a:r>
          </a:p>
          <a:p>
            <a:r>
              <a:t>      "source_url": "https://apis.data.go.kr/B551011/KorService2",</a:t>
            </a:r>
          </a:p>
          <a:p>
            <a:r>
              <a:t>      "source_type": "open_api",</a:t>
            </a:r>
          </a:p>
          <a:p>
            <a:r>
              <a:t>      "content_type_id": "39"</a:t>
            </a:r>
          </a:p>
          <a:p>
            <a:r>
              <a:t>    },</a:t>
            </a:r>
          </a:p>
          <a:p>
            <a:r>
              <a:t>    {</a:t>
            </a:r>
          </a:p>
          <a:p>
            <a:r>
              <a:t>      "title": "요즘, 한국관광 2호 - 지방공항 연계 지역관광 활성화 방안",</a:t>
            </a:r>
          </a:p>
          <a:p>
            <a:r>
              <a:t>      "summary": "44제 2장 지방공항 연계 지역관광 활성화 방안 요즘, 한국관광 한국관광공사는 본래의 기능인 해외 홍보마케팅을 통한 인지 형성, 지역 관광생태계 육성, 관광사업 추진을 여정 단계에 맞춰 재배치해야 한다. 해외지사와 국내지사를 연결한 중점지사제를 '관문-연계도시' 단위로 운영하고, 글로벌 OTA 와 현지 여행사가 실제 상품을 만들 수 있도록 상품화 모듈과 전세·임시편 유치를 고도화하며, 선상 마케팅처럼 항공사 기내·LCC 채널을 활용한 권역 홍보를 확대할 수 있어야 할 것이다. 특히 성과지표를 입국자 수와 공급석 중심에서 '입국객의 권역 내 첫 숙박률이나, 1인당 권역 내 소비, 지방 이동 비중' 중심으로 전환하고, 통신·카드 데이터에 소셜 담론 데이터를 결합한 공항-권역 대시보드를 상시 운영해 데이터 기반 성과관리를 지속적으로 보여주는 데이터 기반의 지방공항 중심 관광권 상황실을 구축하여야 한다. 지방자치단체와 한국공항공사는 공항에서 지역 상권까지 이어지는 현장 수용태세를 보다 면밀히 고려하는 정책과 사업이 필요하다. 공항 접근 교통과 안내·결제, 다국어 환경, 터미널과 도심·거점 관광지를 잇는 셔틀, 권역 내 숙박과 야간 콘텐츠는 지자체의 실행력이 좌우하는 영역이다. 공항 소재 지자체 단위 협의를 넘어 청주는 대전·세종·충남, 대구는 경북과 함께 상품·교통·마케팅 예산을 묶는 관광권 협의체를 구성하고, 중장기적으로는 일본의 광역연계 DMO처럼 권역 단위의 상설 조직과 재원으로 발전시켜야 한다. 민관협력은 이 체계를 지속 가능하게 만드는 가장 중요한 동인이라 할 수 있다. 항공사·LCC에는 신규 노선의 초기 리스크를 지방정부·공사와 분담하는 노선 개발 협약과 기내 권역 홍보를, 글로벌 OTA·현지 여행사에는 권역 루트 상품의",</a:t>
            </a:r>
          </a:p>
          <a:p>
            <a:r>
              <a:t>      "chunk_id": "reference:kto:2026:local-airport:page:044:chunk:01",</a:t>
            </a:r>
          </a:p>
          <a:p>
            <a:r>
              <a:t>      "source_id": "reference:kto:2026:local-airport",</a:t>
            </a:r>
          </a:p>
          <a:p>
            <a:r>
              <a:t>      "source_url": "https://datalab.visitkorea.or.kr/site/portal/ex/bbs/View.do?bcIdx=311068&amp;cbIdx=1135&amp;pageIndex=1",</a:t>
            </a:r>
          </a:p>
          <a:p>
            <a:r>
              <a:t>      "case_region": "",</a:t>
            </a:r>
          </a:p>
          <a:p>
            <a:r>
              <a:t>      "region_code": "ALL",</a:t>
            </a:r>
          </a:p>
          <a:p>
            <a:r>
              <a:t>      "region_name": "전국 공통",</a:t>
            </a:r>
          </a:p>
          <a:p>
            <a:r>
              <a:t>      "source_note": "지방공항·연계 지역에 관한 자료입니다. 다른 시군구의 사업 효과·예산을 보장하는 근거로 사용하지 않습니다.",</a:t>
            </a:r>
          </a:p>
          <a:p>
            <a:r>
              <a:t>      "source_type": "rag",</a:t>
            </a:r>
          </a:p>
          <a:p>
            <a:r>
              <a:t>      "intervention": "",</a:t>
            </a:r>
          </a:p>
          <a:p>
            <a:r>
              <a:t>      "document_type": "policy",</a:t>
            </a:r>
          </a:p>
          <a:p>
            <a:r>
              <a:t>      "matched_terms": [</a:t>
            </a:r>
          </a:p>
          <a:p>
            <a:r>
              <a:t>        "결제",</a:t>
            </a:r>
          </a:p>
          <a:p>
            <a:r>
              <a:t>        "관광사업",</a:t>
            </a:r>
          </a:p>
          <a:p>
            <a:r>
              <a:t>        "상권",</a:t>
            </a:r>
          </a:p>
          <a:p>
            <a:r>
              <a:t>        "성과",</a:t>
            </a:r>
          </a:p>
          <a:p>
            <a:r>
              <a:t>        "소비",</a:t>
            </a:r>
          </a:p>
          <a:p>
            <a:r>
              <a:t>        "수와",</a:t>
            </a:r>
          </a:p>
          <a:p>
            <a:r>
              <a:t>        "숙박",</a:t>
            </a:r>
          </a:p>
          <a:p>
            <a:r>
              <a:t>        "실제",</a:t>
            </a:r>
          </a:p>
          <a:p>
            <a:r>
              <a:t>        "연결한",</a:t>
            </a:r>
          </a:p>
          <a:p>
            <a:r>
              <a:t>        "연계",</a:t>
            </a:r>
          </a:p>
          <a:p>
            <a:r>
              <a:t>        "예산",</a:t>
            </a:r>
          </a:p>
          <a:p>
            <a:r>
              <a:t>        "운영",</a:t>
            </a:r>
          </a:p>
          <a:p>
            <a:r>
              <a:t>        "이어지는",</a:t>
            </a:r>
          </a:p>
          <a:p>
            <a:r>
              <a:t>        "전환",</a:t>
            </a:r>
          </a:p>
          <a:p>
            <a:r>
              <a:t>        "중심으로",</a:t>
            </a:r>
          </a:p>
          <a:p>
            <a:r>
              <a:t>        "지역",</a:t>
            </a:r>
          </a:p>
          <a:p>
            <a:r>
              <a:t>        "체류",</a:t>
            </a:r>
          </a:p>
          <a:p>
            <a:r>
              <a:t>        "함께",</a:t>
            </a:r>
          </a:p>
          <a:p>
            <a:r>
              <a:t>        "현장",</a:t>
            </a:r>
          </a:p>
          <a:p>
            <a:r>
              <a:t>        "협약"</a:t>
            </a:r>
          </a:p>
          <a:p>
            <a:r>
              <a:t>      ],</a:t>
            </a:r>
          </a:p>
          <a:p>
            <a:r>
              <a:t>      "page_references": "PDF 44쪽, PDF 43쪽, PDF 36쪽, PDF 40쪽, PDF 41쪽, PDF 41쪽, PDF 44쪽, PDF 43쪽, PDF 43쪽",</a:t>
            </a:r>
          </a:p>
          <a:p>
            <a:r>
              <a:t>      "parent_source_id": "reference:kto:2026:local-airport",</a:t>
            </a:r>
          </a:p>
          <a:p>
            <a:r>
              <a:t>      "retrieval_method": "local_curated_chunk",</a:t>
            </a:r>
          </a:p>
          <a:p>
            <a:r>
              <a:t>      "evidence_strength": "medium",</a:t>
            </a:r>
          </a:p>
          <a:p>
            <a:r>
              <a:t>      "published_or_updated_at": "2026-08",</a:t>
            </a:r>
          </a:p>
          <a:p>
            <a:r>
              <a:t>      "chunk_ids": [</a:t>
            </a:r>
          </a:p>
          <a:p>
            <a:r>
              <a:t>        "reference:kto:2026:local-airport:page:036:chunk:01",</a:t>
            </a:r>
          </a:p>
          <a:p>
            <a:r>
              <a:t>        "reference:kto:2026:local-airport:page:040:chunk:02",</a:t>
            </a:r>
          </a:p>
          <a:p>
            <a:r>
              <a:t>        "reference:kto:2026:local-airport:page:041:chunk:01",</a:t>
            </a:r>
          </a:p>
          <a:p>
            <a:r>
              <a:t>        "reference:kto:2026:local-airport:page:041:chunk:02",</a:t>
            </a:r>
          </a:p>
          <a:p>
            <a:r>
              <a:t>        "reference:kto:2026:local-airport:page:043:chunk:01",</a:t>
            </a:r>
          </a:p>
          <a:p>
            <a:r>
              <a:t>        "reference:kto:2026:local-airport:page:043:chunk:02",</a:t>
            </a:r>
          </a:p>
          <a:p>
            <a:r>
              <a:t>        "reference:kto:2026:local-airport:page:043:chunk:03",</a:t>
            </a:r>
          </a:p>
          <a:p>
            <a:r>
              <a:t>        "reference:kto:2026:local-airport:page:044:chunk:01",</a:t>
            </a:r>
          </a:p>
          <a:p>
            <a:r>
              <a:t>        "reference:kto:2026:local-airport:page:044:chunk:02"</a:t>
            </a:r>
          </a:p>
          <a:p>
            <a:r>
              <a:t>      ],</a:t>
            </a:r>
          </a:p>
          <a:p>
            <a:r>
              <a:t>      "source_chunk_count": 9</a:t>
            </a:r>
          </a:p>
          <a:p>
            <a:r>
              <a:t>    },</a:t>
            </a:r>
          </a:p>
          <a:p>
            <a:r>
              <a:t>    {</a:t>
            </a:r>
          </a:p>
          <a:p>
            <a:r>
              <a:t>      "title": "2026 서울국제정원박람회 &lt; 행사·공연 정보 &lt; 축제·관광 &lt; 미래한강본부, 한강공원",</a:t>
            </a:r>
          </a:p>
          <a:p>
            <a:r>
              <a:t>      "summary": "2026 서울국제정원박람회는 2026년 5월 1일부터 10월 27일까지 서울숲과 성수 일대에서 운영되며, 서울숲·한강·성수동·뚝섬대정원을 연결하는 구성을 공식적으로 제시한다. 따라서 9~10월에는 별도 거점 조성보다 이 행사 구역과 충돌하지 않는 보행 안내, 체류 동선, 상권 연결을 우선 검토할 수 있다.",</a:t>
            </a:r>
          </a:p>
          <a:p>
            <a:r>
              <a:t>      "source_id": "web:11200:1",</a:t>
            </a:r>
          </a:p>
          <a:p>
            <a:r>
              <a:t>      "source_url": "https://hangang.seoul.go.kr/www/eventMng/detail.do?evntSn=378&amp;mid=538&amp;srchType=list",</a:t>
            </a:r>
          </a:p>
          <a:p>
            <a:r>
              <a:t>      "source_type": "official_web",</a:t>
            </a:r>
          </a:p>
          <a:p>
            <a:r>
              <a:t>      "why_relevant": "사업기간 2026-09-01~2026-11-30 중 9~10월이 기존 대형 행사 운영기간과 겹친다. 기존 행사와 같은 장소에서 별도 프로그램을 신설할 경우 공간·안전·운영주체 조정이 필요하므로, 보완형 운영안이 중복 위험이 낮다.",</a:t>
            </a:r>
          </a:p>
          <a:p>
            <a:r>
              <a:t>      "published_or_updated_at": "수정 2026-08-18"</a:t>
            </a:r>
          </a:p>
          <a:p>
            <a:r>
              <a:t>    },</a:t>
            </a:r>
          </a:p>
          <a:p>
            <a:r>
              <a:t>    {</a:t>
            </a:r>
          </a:p>
          <a:p>
            <a:r>
              <a:t>      "title": "개막 20일차 250만명 넘은 서울국제정원박람회… 성수 상권 매출 30% 급증 &gt; 보도자료 | 서울특별시",</a:t>
            </a:r>
          </a:p>
          <a:p>
            <a:r>
              <a:t>      "summary": "서울시는 2026 서울국제정원박람회에서 서울숲의 휴게시설을 보완해 좌석을 확충하고, 정원마켓과 3개 푸드트럭 존을 운영했다고 밝혔다. 같은 자료는 주말·주요 이벤트일에 방문객 수와 체류시간이 함께 늘었다는 분석 결과를 제시한다.",</a:t>
            </a:r>
          </a:p>
          <a:p>
            <a:r>
              <a:t>      "source_id": "web:11200:2",</a:t>
            </a:r>
          </a:p>
          <a:p>
            <a:r>
              <a:t>      "source_url": "https://www.seoul.go.kr/news/news_report.do?nttNo=458311",</a:t>
            </a:r>
          </a:p>
          <a:p>
            <a:r>
              <a:t>      "source_type": "official_web",</a:t>
            </a:r>
          </a:p>
          <a:p>
            <a:r>
              <a:t>      "why_relevant": "체류 개선 후보 중 ‘휴식 좌석·먹거리·이벤트 동선’을 결합하는 방식에 공식 현장운영 사례가 있다. 다만 이 결과는 2026 정원박람회 기간의 분석이므로, 가을 성수 사업에도 동일한 효과가 난다고 일반화하지 않고 운영조건 검토 사례로만 사용해야 한다.",</a:t>
            </a:r>
          </a:p>
          <a:p>
            <a:r>
              <a:t>      "published_or_updated_at": "등록·수정 2026-05-20"</a:t>
            </a:r>
          </a:p>
          <a:p>
            <a:r>
              <a:t>    },</a:t>
            </a:r>
          </a:p>
          <a:p>
            <a:r>
              <a:t>    {</a:t>
            </a:r>
          </a:p>
          <a:p>
            <a:r>
              <a:t>      "title": "서울숲-성수 커넥트 투어 | 2026 서울국제정원박람회",</a:t>
            </a:r>
          </a:p>
          <a:p>
            <a:r>
              <a:t>      "summary": "서울숲-성수 커넥트 투어는 성수근린공원에서 출발해 성수부터 서울숲까지 연결하는 무료 프로그램으로, 매주 화·목 13:00~14:30에 회차당 15명 내외 사전접수 방식으로 안내되었다.",</a:t>
            </a:r>
          </a:p>
          <a:p>
            <a:r>
              <a:t>      "source_id": "web:11200:3",</a:t>
            </a:r>
          </a:p>
          <a:p>
            <a:r>
              <a:t>      "source_url": "https://gov.seoul.go.kr/festa/garden/y2026/program/garden-culture-program/commentary-program?article=42926",</a:t>
            </a:r>
          </a:p>
          <a:p>
            <a:r>
              <a:t>      "source_type": "official_web",</a:t>
            </a:r>
          </a:p>
          <a:p>
            <a:r>
              <a:t>      "why_relevant": "‘공원 방문 후 성수 상권으로 이동’시키는 해설·도보 연결 방식이 실제로 운영된 공식 사례다. 권고안에서는 이 방식을 그대로 복제하기보다, 가을 행사일 및 야간 수요에 맞는 회차·집결지·예약방식으로 전환 가능한지 주최 측과 확인하는 참고사례로 활용한다.",</a:t>
            </a:r>
          </a:p>
          <a:p>
            <a:r>
              <a:t>      "published_or_updated_at": "페이지 확인일 기준 2026-09"</a:t>
            </a:r>
          </a:p>
          <a:p>
            <a:r>
              <a:t>    },</a:t>
            </a:r>
          </a:p>
          <a:p>
            <a:r>
              <a:t>    {</a:t>
            </a:r>
          </a:p>
          <a:p>
            <a:r>
              <a:t>      "title": "2026 서울축제지도 - 가을편 &lt; 공지사항(상세) &lt; 새소식 | 서울문화포털",</a:t>
            </a:r>
          </a:p>
          <a:p>
            <a:r>
              <a:t>      "summary": "크리에이티브X성수는 2026년 10월 5일부터 10월 11일까지 성수동 서울숲·언더스탠드 에비뉴 등에서 예정되어 있으며, 페어·문화 콘퍼런스·토크쇼·전시·공예 프리마켓·패션쇼·음악공연을 포함하는 글로벌 문화창조산업축제로 안내되어 있다.",</a:t>
            </a:r>
          </a:p>
          <a:p>
            <a:r>
              <a:t>      "source_id": "web:11200:4",</a:t>
            </a:r>
          </a:p>
          <a:p>
            <a:r>
              <a:t>      "source_url": "https://culture.seoul.go.kr/culture/bbs/B0000000/view.do?menuNo=200050&amp;nttId=16465",</a:t>
            </a:r>
          </a:p>
          <a:p>
            <a:r>
              <a:t>      "source_type": "official_web",</a:t>
            </a:r>
          </a:p>
          <a:p>
            <a:r>
              <a:t>      "why_relevant": "10월 운영의 집중 구간으로 삼을 수 있는 확정 행사다. 다만 해당 축제의 프로그램·부스·방문객을 성동구 사업이 사용할 수 있는지, 공동홍보·쿠폰·스탬프·동선안내가 가능한지는 공식 문서만으로 확인되지 않았으므로 별도 협의가 필요하다.",</a:t>
            </a:r>
          </a:p>
          <a:p>
            <a:r>
              <a:t>      "published_or_updated_at": "등록 2026-08-31"</a:t>
            </a:r>
          </a:p>
          <a:p>
            <a:r>
              <a:t>    },</a:t>
            </a:r>
          </a:p>
          <a:p>
            <a:r>
              <a:t>    {</a:t>
            </a:r>
          </a:p>
          <a:p>
            <a:r>
              <a:t>      "title": "오시는 길 | 2026 서울국제정원박람회",</a:t>
            </a:r>
          </a:p>
          <a:p>
            <a:r>
              <a:t>      "summary": "서울숲은 수인분당선 서울숲역 3·4·5번 출구에서 도보 2분, 2호선 뚝섬역 7·8번 출구에서 도보 11분으로 안내되어 있다. 서울숲 주차장과 뚝섬유수지 공영주차장은 모두 24시간 운영으로 제시되어 있으며, 행사 안내는 친환경 행사를 위해 대중교통 이용을 권장한다.",</a:t>
            </a:r>
          </a:p>
          <a:p>
            <a:r>
              <a:t>      "source_id": "web:11200:5",</a:t>
            </a:r>
          </a:p>
          <a:p>
            <a:r>
              <a:t>      "source_url": "https://www.seoul.go.kr/festa/garden/y2026/introduce/location?pc=1",</a:t>
            </a:r>
          </a:p>
          <a:p>
            <a:r>
              <a:t>      "source_type": "official_web",</a:t>
            </a:r>
          </a:p>
          <a:p>
            <a:r>
              <a:t>      "why_relevant": "권고안의 운영권역은 대중교통 도착지에서 공원·성수 상권까지의 마지막 보행 연결을 명확히 안내하는 데 초점을 둘 수 있다. 승용차 유입 확대를 핵심 방식으로 삼기보다는 지하철·버스·보행 중심으로 설계하는 것이 공식 안내와 부합한다.",</a:t>
            </a:r>
          </a:p>
          <a:p>
            <a:r>
              <a:t>      "published_or_updated_at": "2026년 행사 안내 페이지"</a:t>
            </a:r>
          </a:p>
          <a:p>
            <a:r>
              <a:t>    },</a:t>
            </a:r>
          </a:p>
          <a:p>
            <a:r>
              <a:t>    {</a:t>
            </a:r>
          </a:p>
          <a:p>
            <a:r>
              <a:t>      "title": "(석간) 제11차 도시건축공동위원회 개최결과 &gt; 보도자료 | 서울특별시",</a:t>
            </a:r>
          </a:p>
          <a:p>
            <a:r>
              <a:t>      "summary": "서울시는 성수 준공업지역 지구단위계획에서 성수역-연무장길 가로변의 지역 특화경관을 유도하고, 지하철 2호선 연접부 개방형녹지 및 서울숲·뚝섬으로 이어지는 보행 네트워크를 조성하는 방향을 제시했다. 연무장길에는 제한적 차량출입 불허구간과 주차기준 완화를 통해 사람 중심의 걷기 좋은 거리로 재편하는 방향도 포함됐다.",</a:t>
            </a:r>
          </a:p>
          <a:p>
            <a:r>
              <a:t>      "source_id": "web:11200:6",</a:t>
            </a:r>
          </a:p>
          <a:p>
            <a:r>
              <a:t>      "source_url": "https://www.seoul.go.kr/news/news_report.do?nttNo=460823&amp;tr_code=snews",</a:t>
            </a:r>
          </a:p>
          <a:p>
            <a:r>
              <a:t>      "source_type": "official_web",</a:t>
            </a:r>
          </a:p>
          <a:p>
            <a:r>
              <a:t>      "why_relevant": "중기적으로 성수역-연무장길-서울숲 보행축은 체류 연결 사업의 대상권역 후보가 될 수 있다. 그러나 이는 도시계획 방향이며 2026년 가을에 모든 물리적 시설이 완공·운영된다는 뜻은 아니므로, 실제 공사·통행·행사 가능 구간은 현장과 관계부서에 확인해야 한다.",</a:t>
            </a:r>
          </a:p>
          <a:p>
            <a:r>
              <a:t>      "published_or_updated_at": "등록 2026-07-01"</a:t>
            </a:r>
          </a:p>
          <a:p>
            <a:r>
              <a:t>    },</a:t>
            </a:r>
          </a:p>
          <a:p>
            <a:r>
              <a:t>    {</a:t>
            </a:r>
          </a:p>
          <a:p>
            <a:r>
              <a:t>      "title": "2026 서울국제정원박람회 &lt; 행사·공연 정보 &lt; 축제·관광 &lt; 미래한강본부, 한강공원",</a:t>
            </a:r>
          </a:p>
          <a:p>
            <a:r>
              <a:t>      "summary": "서울국제정원박람회 공식 안내에는 서울숲 선착장 추가 운항과 야간 운항 증편이 소개되어 있다.",</a:t>
            </a:r>
          </a:p>
          <a:p>
            <a:r>
              <a:t>      "source_id": "web:11200:7",</a:t>
            </a:r>
          </a:p>
          <a:p>
            <a:r>
              <a:t>      "source_url": "https://hangang.seoul.go.kr/www/eventMng/detail.do?evntSn=378&amp;mid=538&amp;srchType=list",</a:t>
            </a:r>
          </a:p>
          <a:p>
            <a:r>
              <a:t>      "source_type": "official_web",</a:t>
            </a:r>
          </a:p>
          <a:p>
            <a:r>
              <a:t>      "why_relevant": "9~10월 주말 또는 야간 프로그램을 검토할 때 한강 수상교통을 보조 접근수단 후보로 검토할 근거가 된다. 다만 11월까지의 실제 운항일·막차·결항 기준은 이 자료에 확정적으로 제시되지 않아, 사업 홍보문구에 포함하기 전 운영기관 확인이 필요하다.",</a:t>
            </a:r>
          </a:p>
          <a:p>
            <a:r>
              <a:t>      "published_or_updated_at": "수정 2026-08-18"</a:t>
            </a:r>
          </a:p>
          <a:p>
            <a:r>
              <a:t>    },</a:t>
            </a:r>
          </a:p>
          <a:p>
            <a:r>
              <a:t>    {</a:t>
            </a:r>
          </a:p>
          <a:p>
            <a:r>
              <a:t>      "title": "전주시 2026년도 관광산업과 세출예산 사업명세서",</a:t>
            </a:r>
          </a:p>
          <a:p>
            <a:r>
              <a:t>      "summary": "전북특별자치도 전주시 · 야간관광 특화도시 예산 편성 · 예산서이므로 방문·소비 성과는 확인되지 않음",</a:t>
            </a:r>
          </a:p>
          <a:p>
            <a:r>
              <a:t>      "source_id": "case:jeonju_night_budget_2026",</a:t>
            </a:r>
          </a:p>
          <a:p>
            <a:r>
              <a:t>      "source_url": "https://jeonju.go.kr/resource/www/images/download/budget/2026/2026_31_2.pdf",</a:t>
            </a:r>
          </a:p>
          <a:p>
            <a:r>
              <a:t>      "case_region": "전북특별자치도 전주시",</a:t>
            </a:r>
          </a:p>
          <a:p>
            <a:r>
              <a:t>      "source_type": "benchmark_case",</a:t>
            </a:r>
          </a:p>
          <a:p>
            <a:r>
              <a:t>      "intervention": "야간관광 특화도시 예산 편성",</a:t>
            </a:r>
          </a:p>
          <a:p>
            <a:r>
              <a:t>      "document_type": "case_study_budget",</a:t>
            </a:r>
          </a:p>
          <a:p>
            <a:r>
              <a:t>      "observed_result": "예산서이므로 방문·소비 성과는 확인되지 않음",</a:t>
            </a:r>
          </a:p>
          <a:p>
            <a:r>
              <a:t>      "operating_model": "사무관리, 행사운영, 연구용역, 민간경상보조 등으로 사업비를 항목별 편성",</a:t>
            </a:r>
          </a:p>
          <a:p>
            <a:r>
              <a:t>      "retrieval_method": "curated_registry",</a:t>
            </a:r>
          </a:p>
          <a:p>
            <a:r>
              <a:t>      "evidence_strength": "high",</a:t>
            </a:r>
          </a:p>
          <a:p>
            <a:r>
              <a:t>      "retrieval_context": {</a:t>
            </a:r>
          </a:p>
          <a:p>
            <a:r>
              <a:t>        "scope": "cross_province",</a:t>
            </a:r>
          </a:p>
          <a:p>
            <a:r>
              <a:t>        "peer_region_code": null</a:t>
            </a:r>
          </a:p>
          <a:p>
            <a:r>
              <a:t>      },</a:t>
            </a:r>
          </a:p>
          <a:p>
            <a:r>
              <a:t>      "measurement_period": "2026년 예산",</a:t>
            </a:r>
          </a:p>
          <a:p>
            <a:r>
              <a:t>      "transfer_conditions": [</a:t>
            </a:r>
          </a:p>
          <a:p>
            <a:r>
              <a:t>        "국비·도비·시비 분담 가능성 검토",</a:t>
            </a:r>
          </a:p>
          <a:p>
            <a:r>
              <a:t>        "행사비와 상설운영비를 분리 산정",</a:t>
            </a:r>
          </a:p>
          <a:p>
            <a:r>
              <a:t>        "성과평가 비용을 별도 항목으로 확보"</a:t>
            </a:r>
          </a:p>
          <a:p>
            <a:r>
              <a:t>      ],</a:t>
            </a:r>
          </a:p>
          <a:p>
            <a:r>
              <a:t>      "published_or_updated_at": "2026",</a:t>
            </a:r>
          </a:p>
          <a:p>
            <a:r>
              <a:t>      "quantitative_result_approved": null</a:t>
            </a:r>
          </a:p>
          <a:p>
            <a:r>
              <a:t>    },</a:t>
            </a:r>
          </a:p>
          <a:p>
            <a:r>
              <a:t>    {</a:t>
            </a:r>
          </a:p>
          <a:p>
            <a:r>
              <a:t>      "title": "강진 반값여행 지역경제 효과 소개",</a:t>
            </a:r>
          </a:p>
          <a:p>
            <a:r>
              <a:t>      "summary": "전라남도 강진군 · 반값여행 지역환급 · 상품권 결제 변화에 관한 소개 자료는 있으나, 사업 참여자 범위·정확한 비교 기간·원자료를 확인하지 못해 성과 수치 인용을 보류한다.",</a:t>
            </a:r>
          </a:p>
          <a:p>
            <a:r>
              <a:t>      "source_id": "case:gangjin_half_price_2024",</a:t>
            </a:r>
          </a:p>
          <a:p>
            <a:r>
              <a:t>      "source_url": "https://jnfarm.jeonnam.go.kr/board/FARM_BOARD_008/boardView.do?bdId=BD_00000000000011721&amp;menuCd=farm004002",</a:t>
            </a:r>
          </a:p>
          <a:p>
            <a:r>
              <a:t>      "case_region": "전라남도 강진군",</a:t>
            </a:r>
          </a:p>
          <a:p>
            <a:r>
              <a:t>      "source_type": "benchmark_case",</a:t>
            </a:r>
          </a:p>
          <a:p>
            <a:r>
              <a:t>      "intervention": "반값여행 지역환급",</a:t>
            </a:r>
          </a:p>
          <a:p>
            <a:r>
              <a:t>      "document_type": "case_study",</a:t>
            </a:r>
          </a:p>
          <a:p>
            <a:r>
              <a:t>      "observed_result": "상품권 결제 변화에 관한 소개 자료는 있으나, 사업 참여자 범위·정확한 비교 기간·원자료를 확인하지 못해 성과 수치 인용을 보류한다.",</a:t>
            </a:r>
          </a:p>
          <a:p>
            <a:r>
              <a:t>      "operating_model": "여행자가 지역에서 지출한 비용의 일부를 지역상품권으로 돌려받게 하여 혜택이 다시 지역 상점에서 사용되도록 설계",</a:t>
            </a:r>
          </a:p>
          <a:p>
            <a:r>
              <a:t>      "retrieval_method": "curated_registry",</a:t>
            </a:r>
          </a:p>
          <a:p>
            <a:r>
              <a:t>      "evidence_strength": "low",</a:t>
            </a:r>
          </a:p>
          <a:p>
            <a:r>
              <a:t>      "retrieval_context": {</a:t>
            </a:r>
          </a:p>
          <a:p>
            <a:r>
              <a:t>        "scope": "cross_province",</a:t>
            </a:r>
          </a:p>
          <a:p>
            <a:r>
              <a:t>        "peer_region_code": null</a:t>
            </a:r>
          </a:p>
          <a:p>
            <a:r>
              <a:t>      },</a:t>
            </a:r>
          </a:p>
          <a:p>
            <a:r>
              <a:t>      "measurement_period": "게시일과 사업 측정기간은 다르며, 비교기간과 집계범위 원자료 확인 필요",</a:t>
            </a:r>
          </a:p>
          <a:p>
            <a:r>
              <a:t>      "transfer_conditions": [</a:t>
            </a:r>
          </a:p>
          <a:p>
            <a:r>
              <a:t>        "지역상품권 사용처와 관광업체 참여 기준 필요",</a:t>
            </a:r>
          </a:p>
          <a:p>
            <a:r>
              <a:t>        "여행 지출 증빙과 중복수혜 방지 절차 필요",</a:t>
            </a:r>
          </a:p>
          <a:p>
            <a:r>
              <a:t>        "지원금보다 추가 지역소비가 큰지 사후 측정 필요"</a:t>
            </a:r>
          </a:p>
          <a:p>
            <a:r>
              <a:t>      ],</a:t>
            </a:r>
          </a:p>
          <a:p>
            <a:r>
              <a:t>      "published_or_updated_at": "2025-01-02",</a:t>
            </a:r>
          </a:p>
          <a:p>
            <a:r>
              <a:t>      "quantitative_result_approved": false</a:t>
            </a:r>
          </a:p>
          <a:p>
            <a:r>
              <a:t>    },</a:t>
            </a:r>
          </a:p>
          <a:p>
            <a:r>
              <a:t>    {</a:t>
            </a:r>
          </a:p>
          <a:p>
            <a:r>
              <a:t>      "title": "2024년 6월 여행가는 달 추진 보도자료",</a:t>
            </a:r>
          </a:p>
          <a:p>
            <a:r>
              <a:t>      "summary": "전국 인구감소지역 34곳 · 디지털 관광주민증과 교통·숙박·상점 할인 결합 · 2024년 34개 지역 약 800개 관광업체에 혜택 구조를 적용",</a:t>
            </a:r>
          </a:p>
          <a:p>
            <a:r>
              <a:t>      "source_id": "case:digital_tourism_resident_2024",</a:t>
            </a:r>
          </a:p>
          <a:p>
            <a:r>
              <a:t>      "source_url": "https://mcst.go.kr/servlets/eduport/front/upload/UplDownloadFile?pFileName=%280514%29%EB%AC%B8%EC%B2%B4%EB%B6%80%EB%B3%B4%EB%8F%84%EC%9E%90%EB%A3%8C-6%EC%9B%94_%EC%97%AC%ED%96%89%EA%B0%80%EB%8A%94_%EB%8B%AC_%EC%B6%94%EC%A7%84.pdf&amp;pPath=0302000000&amp;pRealName=20240514083202149235802932_PRESS20240514083202456506.pdf",</a:t>
            </a:r>
          </a:p>
          <a:p>
            <a:r>
              <a:t>      "case_region": "전국 인구감소지역 34곳",</a:t>
            </a:r>
          </a:p>
          <a:p>
            <a:r>
              <a:t>      "source_type": "benchmark_case",</a:t>
            </a:r>
          </a:p>
          <a:p>
            <a:r>
              <a:t>      "intervention": "디지털 관광주민증과 교통·숙박·상점 할인 결합",</a:t>
            </a:r>
          </a:p>
          <a:p>
            <a:r>
              <a:t>      "document_type": "case_study",</a:t>
            </a:r>
          </a:p>
          <a:p>
            <a:r>
              <a:t>      "observed_result": "2024년 34개 지역 약 800개 관광업체에 혜택 구조를 적용",</a:t>
            </a:r>
          </a:p>
          <a:p>
            <a:r>
              <a:t>      "operating_model": "디지털 관광주민증 참여업체 현장 인증과 숙박·식음·관람·체험 할인, 특정 시간대 KTX 할인과 방문 후 교통 할인권을 결합",</a:t>
            </a:r>
          </a:p>
          <a:p>
            <a:r>
              <a:t>      "retrieval_method": "curated_registry",</a:t>
            </a:r>
          </a:p>
          <a:p>
            <a:r>
              <a:t>      "evidence_strength": "medium",</a:t>
            </a:r>
          </a:p>
          <a:p>
            <a:r>
              <a:t>      "retrieval_context": {</a:t>
            </a:r>
          </a:p>
          <a:p>
            <a:r>
              <a:t>        "scope": "national_or_unresolved",</a:t>
            </a:r>
          </a:p>
          <a:p>
            <a:r>
              <a:t>        "peer_region_code": null</a:t>
            </a:r>
          </a:p>
          <a:p>
            <a:r>
              <a:t>      },</a:t>
            </a:r>
          </a:p>
          <a:p>
            <a:r>
              <a:t>      "measurement_period": "2024년 6월 운영 계획",</a:t>
            </a:r>
          </a:p>
          <a:p>
            <a:r>
              <a:t>      "transfer_conditions": [</a:t>
            </a:r>
          </a:p>
          <a:p>
            <a:r>
              <a:t>        "지역 내 참여업체 수와 혜택 매력도 확보",</a:t>
            </a:r>
          </a:p>
          <a:p>
            <a:r>
              <a:t>        "QR 또는 위치인증과 실제 사용기록 수집",</a:t>
            </a:r>
          </a:p>
          <a:p>
            <a:r>
              <a:t>        "교통 할인 제공기관과 협약 필요"</a:t>
            </a:r>
          </a:p>
          <a:p>
            <a:r>
              <a:t>      ],</a:t>
            </a:r>
          </a:p>
          <a:p>
            <a:r>
              <a:t>      "published_or_updated_at": "2024-05-14",</a:t>
            </a:r>
          </a:p>
          <a:p>
            <a:r>
              <a:t>      "quantitative_result_approved": null</a:t>
            </a:r>
          </a:p>
          <a:p>
            <a:r>
              <a:t>    },</a:t>
            </a:r>
          </a:p>
          <a:p>
            <a:r>
              <a:t>    {</a:t>
            </a:r>
          </a:p>
          <a:p>
            <a:r>
              <a:t>      "title": "2022 대한민국 숙박대전 경제파급효과 공개자료",</a:t>
            </a:r>
          </a:p>
          <a:p>
            <a:r>
              <a:t>      "summary": "전국 숙박할인쿠폰 지원사업 · 온라인 예약 채널 숙박할인쿠폰 · 한국관광공사 자료는 약 104만 명이 할인혜택을 이용했고 서울·제주를 제외한 지역 사용 비율이 76%였다고 소개함",</a:t>
            </a:r>
          </a:p>
          <a:p>
            <a:r>
              <a:t>      "source_id": "case:kto_stay_discount_2022",</a:t>
            </a:r>
          </a:p>
          <a:p>
            <a:r>
              <a:t>      "source_url": "https://kto.visitkorea.or.kr/upload/flexer/upload/ktobiz/20220928/b623b5f9-3ec0-11ed-9832-ddf31964842e.hwp.files/Sections1.html",</a:t>
            </a:r>
          </a:p>
          <a:p>
            <a:r>
              <a:t>      "case_region": "전국 숙박할인쿠폰 지원사업",</a:t>
            </a:r>
          </a:p>
          <a:p>
            <a:r>
              <a:t>      "source_type": "benchmark_case",</a:t>
            </a:r>
          </a:p>
          <a:p>
            <a:r>
              <a:t>      "intervention": "온라인 예약 채널 숙박할인쿠폰",</a:t>
            </a:r>
          </a:p>
          <a:p>
            <a:r>
              <a:t>      "document_type": "case_study",</a:t>
            </a:r>
          </a:p>
          <a:p>
            <a:r>
              <a:t>      "observed_result": "한국관광공사 자료는 약 104만 명이 할인혜택을 이용했고 서울·제주를 제외한 지역 사용 비율이 76%였다고 소개함",</a:t>
            </a:r>
          </a:p>
          <a:p>
            <a:r>
              <a:t>      "operating_model": "온라인 여행사 예약 단계에서 할인쿠폰을 제공하고, 지역 숙소에서 사용할 수 있도록 참여 채널과 기간을 통합 운영",</a:t>
            </a:r>
          </a:p>
          <a:p>
            <a:r>
              <a:t>      "retrieval_method": "curated_registry",</a:t>
            </a:r>
          </a:p>
          <a:p>
            <a:r>
              <a:t>      "evidence_strength": "medium",</a:t>
            </a:r>
          </a:p>
          <a:p>
            <a:r>
              <a:t>      "retrieval_context": {</a:t>
            </a:r>
          </a:p>
          <a:p>
            <a:r>
              <a:t>        "scope": "national_or_unresolved",</a:t>
            </a:r>
          </a:p>
          <a:p>
            <a:r>
              <a:t>        "peer_region_code": null</a:t>
            </a:r>
          </a:p>
          <a:p>
            <a:r>
              <a:t>      },</a:t>
            </a:r>
          </a:p>
          <a:p>
            <a:r>
              <a:t>      "measurement_period": "2022년 사업 종료 후 한국관광공사 공개 자료",</a:t>
            </a:r>
          </a:p>
          <a:p>
            <a:r>
              <a:t>      "transfer_conditions": [</a:t>
            </a:r>
          </a:p>
          <a:p>
            <a:r>
              <a:t>        "참여 숙소·예약 채널·쿠폰 조건을 사전에 확정",</a:t>
            </a:r>
          </a:p>
          <a:p>
            <a:r>
              <a:t>        "주말과 성수기 쏠림을 막을 사용 가능일 설계",</a:t>
            </a:r>
          </a:p>
          <a:p>
            <a:r>
              <a:t>        "쿠폰 발급량이 아니라 실제 숙박 완료·지역소비를 함께 측정"</a:t>
            </a:r>
          </a:p>
          <a:p>
            <a:r>
              <a:t>      ],</a:t>
            </a:r>
          </a:p>
          <a:p>
            <a:r>
              <a:t>      "published_or_updated_at": "2022-09-28",</a:t>
            </a:r>
          </a:p>
          <a:p>
            <a:r>
              <a:t>      "quantitative_result_approved": null</a:t>
            </a:r>
          </a:p>
          <a:p>
            <a:r>
              <a:t>    },</a:t>
            </a:r>
          </a:p>
          <a:p>
            <a:r>
              <a:t>    {</a:t>
            </a:r>
          </a:p>
          <a:p>
            <a:r>
              <a:t>      "title": "2025 대한민국 밤밤페스타 개최 도시 및 일정",</a:t>
            </a:r>
          </a:p>
          <a:p>
            <a:r>
              <a:t>      "summary": "야간관광 특화도시 10곳 · 도시별 야간 콘텐츠를 순회형 축제로 묶는 운영 · 공식 여행기사는 개최 도시·장소·운영 시간과 콘텐츠만 제시하며 방문·소비 성과 수치는 제시하지 않음",</a:t>
            </a:r>
          </a:p>
          <a:p>
            <a:r>
              <a:t>      "source_id": "case:night_festival_2025",</a:t>
            </a:r>
          </a:p>
          <a:p>
            <a:r>
              <a:t>      "source_url": "https://korean.visitkorea.or.kr/detail/rem_detail.do?cotid=f9c636b2-dd7c-4f09-af3d-6af43b33d371",</a:t>
            </a:r>
          </a:p>
          <a:p>
            <a:r>
              <a:t>      "case_region": "야간관광 특화도시 10곳",</a:t>
            </a:r>
          </a:p>
          <a:p>
            <a:r>
              <a:t>      "source_type": "benchmark_case",</a:t>
            </a:r>
          </a:p>
          <a:p>
            <a:r>
              <a:t>      "intervention": "도시별 야간 콘텐츠를 순회형 축제로 묶는 운영",</a:t>
            </a:r>
          </a:p>
          <a:p>
            <a:r>
              <a:t>      "document_type": "case_study",</a:t>
            </a:r>
          </a:p>
          <a:p>
            <a:r>
              <a:t>      "observed_result": "공식 여행기사는 개최 도시·장소·운영 시간과 콘텐츠만 제시하며 방문·소비 성과 수치는 제시하지 않음",</a:t>
            </a:r>
          </a:p>
          <a:p>
            <a:r>
              <a:t>      "operating_model": "10개 야간관광 특화도시의 대표 장소와 시간대를 연결하고, 공연·체험·지역 디저트·판매상품 등 도시별 콘텐츠를 순회 일정으로 운영",</a:t>
            </a:r>
          </a:p>
          <a:p>
            <a:r>
              <a:t>      "retrieval_method": "curated_registry",</a:t>
            </a:r>
          </a:p>
          <a:p>
            <a:r>
              <a:t>      "evidence_strength": "medium",</a:t>
            </a:r>
          </a:p>
          <a:p>
            <a:r>
              <a:t>      "retrieval_context": {</a:t>
            </a:r>
          </a:p>
          <a:p>
            <a:r>
              <a:t>        "scope": "national_or_unresolved",</a:t>
            </a:r>
          </a:p>
          <a:p>
            <a:r>
              <a:t>        "peer_region_code": null</a:t>
            </a:r>
          </a:p>
          <a:p>
            <a:r>
              <a:t>      },</a:t>
            </a:r>
          </a:p>
          <a:p>
            <a:r>
              <a:t>      "measurement_period": "2025년 행사 일정",</a:t>
            </a:r>
          </a:p>
          <a:p>
            <a:r>
              <a:t>      "transfer_conditions": [</a:t>
            </a:r>
          </a:p>
          <a:p>
            <a:r>
              <a:t>        "야간에도 이용 가능한 교통·안전·식음 운영을 함께 설계",</a:t>
            </a:r>
          </a:p>
          <a:p>
            <a:r>
              <a:t>        "하나의 행사보다 지역별 대표 콘텐츠와 상점 참여를 연결",</a:t>
            </a:r>
          </a:p>
          <a:p>
            <a:r>
              <a:t>        "행사일과 비행사일을 분리해 방문·결제·숙박 변화를 측정"</a:t>
            </a:r>
          </a:p>
          <a:p>
            <a:r>
              <a:t>      ],</a:t>
            </a:r>
          </a:p>
          <a:p>
            <a:r>
              <a:t>      "published_or_updated_at": "2025",</a:t>
            </a:r>
          </a:p>
          <a:p>
            <a:r>
              <a:t>      "quantitative_result_approved": null</a:t>
            </a:r>
          </a:p>
          <a:p>
            <a:r>
              <a:t>    },</a:t>
            </a:r>
          </a:p>
          <a:p>
            <a:r>
              <a:t>    {</a:t>
            </a:r>
          </a:p>
          <a:p>
            <a:r>
              <a:t>      "title": "2024년도 정부업무평가 관광분야 성과자료",</a:t>
            </a:r>
          </a:p>
          <a:p>
            <a:r>
              <a:t>      "summary": "야간관광 특화도시 10곳 · 상설 야간 콘텐츠와 경관·교통·안전 운영 · 정부업무평가 자료는 특화도시 10곳 방문객이 2023년 같은 기간보다 3% 증가했다고 기록",</a:t>
            </a:r>
          </a:p>
          <a:p>
            <a:r>
              <a:t>      "source_id": "case:night_tourism_cities_2024",</a:t>
            </a:r>
          </a:p>
          <a:p>
            <a:r>
              <a:t>      "source_url": "https://www.evaluation.go.kr/upload2/atch/eval/20250429095846463.pdf",</a:t>
            </a:r>
          </a:p>
          <a:p>
            <a:r>
              <a:t>      "case_region": "야간관광 특화도시 10곳",</a:t>
            </a:r>
          </a:p>
          <a:p>
            <a:r>
              <a:t>      "source_type": "benchmark_case",</a:t>
            </a:r>
          </a:p>
          <a:p>
            <a:r>
              <a:t>      "intervention": "상설 야간 콘텐츠와 경관·교통·안전 운영",</a:t>
            </a:r>
          </a:p>
          <a:p>
            <a:r>
              <a:t>      "document_type": "case_study",</a:t>
            </a:r>
          </a:p>
          <a:p>
            <a:r>
              <a:t>      "observed_result": "정부업무평가 자료는 특화도시 10곳 방문객이 2023년 같은 기간보다 3% 증가했다고 기록",</a:t>
            </a:r>
          </a:p>
          <a:p>
            <a:r>
              <a:t>      "operating_model": "지역 스토리를 반영한 야간 프로그램을 상설·행사형으로 운영하고 야간 경관, 이동, 식음, 안전 여건을 함께 구성",</a:t>
            </a:r>
          </a:p>
          <a:p>
            <a:r>
              <a:t>      "retrieval_method": "curated_registry",</a:t>
            </a:r>
          </a:p>
          <a:p>
            <a:r>
              <a:t>      "evidence_strength": "medium",</a:t>
            </a:r>
          </a:p>
          <a:p>
            <a:r>
              <a:t>      "retrieval_context": {</a:t>
            </a:r>
          </a:p>
          <a:p>
            <a:r>
              <a:t>        "scope": "national_or_unresolved",</a:t>
            </a:r>
          </a:p>
          <a:p>
            <a:r>
              <a:t>        "peer_region_code": null</a:t>
            </a:r>
          </a:p>
          <a:p>
            <a:r>
              <a:t>      },</a:t>
            </a:r>
          </a:p>
          <a:p>
            <a:r>
              <a:t>      "measurement_period": "2023년 동기 대비 2024년 사업 평가 기간",</a:t>
            </a:r>
          </a:p>
          <a:p>
            <a:r>
              <a:t>      "transfer_conditions": [</a:t>
            </a:r>
          </a:p>
          <a:p>
            <a:r>
              <a:t>        "야간에 실제 이용 가능한 식음·교통·안전 운영 필요",</a:t>
            </a:r>
          </a:p>
          <a:p>
            <a:r>
              <a:t>        "일회성 행사보다 상설 운영일 확보",</a:t>
            </a:r>
          </a:p>
          <a:p>
            <a:r>
              <a:t>        "숙박 또는 야간 결제 데이터로 성과 측정"</a:t>
            </a:r>
          </a:p>
          <a:p>
            <a:r>
              <a:t>      ],</a:t>
            </a:r>
          </a:p>
          <a:p>
            <a:r>
              <a:t>      "published_or_updated_at": "2025-04-29",</a:t>
            </a:r>
          </a:p>
          <a:p>
            <a:r>
              <a:t>      "quantitative_result_approved": null</a:t>
            </a:r>
          </a:p>
          <a:p>
            <a:r>
              <a:t>    }</a:t>
            </a:r>
          </a:p>
          <a:p>
            <a:r>
              <a:t>  ],</a:t>
            </a:r>
          </a:p>
          <a:p>
            <a:r>
              <a:t>  "selected_forecast": {</a:t>
            </a:r>
          </a:p>
          <a:p>
            <a:r>
              <a:t>    "rows": [</a:t>
            </a:r>
          </a:p>
          <a:p>
            <a:r>
              <a:t>      {</a:t>
            </a:r>
          </a:p>
          <a:p>
            <a:r>
              <a:t>        "month": "202609",</a:t>
            </a:r>
          </a:p>
          <a:p>
            <a:r>
              <a:t>        "visitors": 6638883.0,</a:t>
            </a:r>
          </a:p>
          <a:p>
            <a:r>
              <a:t>        "is_forecast": true,</a:t>
            </a:r>
          </a:p>
          <a:p>
            <a:r>
              <a:t>        "spending_krw": 102905513747.0,</a:t>
            </a:r>
          </a:p>
          <a:p>
            <a:r>
              <a:t>        "stay_minutes": 729.0,</a:t>
            </a:r>
          </a:p>
          <a:p>
            <a:r>
              <a:t>        "lodging_nights": 2.95,</a:t>
            </a:r>
          </a:p>
          <a:p>
            <a:r>
              <a:t>        "lodging_rate_pct": 3.8,</a:t>
            </a:r>
          </a:p>
          <a:p>
            <a:r>
              <a:t>        "lodging_searches": 2301,</a:t>
            </a:r>
          </a:p>
          <a:p>
            <a:r>
              <a:t>        "navigation_searches": 108724,</a:t>
            </a:r>
          </a:p>
          <a:p>
            <a:r>
              <a:t>        "visitor_yoy_percent": -0.24,</a:t>
            </a:r>
          </a:p>
          <a:p>
            <a:r>
              <a:t>        "spending_yoy_percent": 9.25,</a:t>
            </a:r>
          </a:p>
          <a:p>
            <a:r>
              <a:t>        "metric_changes_percent": {</a:t>
            </a:r>
          </a:p>
          <a:p>
            <a:r>
              <a:t>          "stay_minutes": 0.0,</a:t>
            </a:r>
          </a:p>
          <a:p>
            <a:r>
              <a:t>          "lodging_nights": -1.01,</a:t>
            </a:r>
          </a:p>
          <a:p>
            <a:r>
              <a:t>          "lodging_rate_pct": 0.0,</a:t>
            </a:r>
          </a:p>
          <a:p>
            <a:r>
              <a:t>          "lodging_searches": 5.41,</a:t>
            </a:r>
          </a:p>
          <a:p>
            <a:r>
              <a:t>          "navigation_searches": 0.0</a:t>
            </a:r>
          </a:p>
          <a:p>
            <a:r>
              <a:t>        },</a:t>
            </a:r>
          </a:p>
          <a:p>
            <a:r>
              <a:t>        "previous_year_visitors": 6654997,</a:t>
            </a:r>
          </a:p>
          <a:p>
            <a:r>
              <a:t>        "previous_year_spending_krw": 94192832000,</a:t>
            </a:r>
          </a:p>
          <a:p>
            <a:r>
              <a:t>        "previous_year_stay_minutes": 729.0,</a:t>
            </a:r>
          </a:p>
          <a:p>
            <a:r>
              <a:t>        "previous_year_lodging_nights": 2.98,</a:t>
            </a:r>
          </a:p>
          <a:p>
            <a:r>
              <a:t>        "previous_year_lodging_rate_pct": 3.8,</a:t>
            </a:r>
          </a:p>
          <a:p>
            <a:r>
              <a:t>        "previous_year_lodging_searches": 2183,</a:t>
            </a:r>
          </a:p>
          <a:p>
            <a:r>
              <a:t>        "previous_year_navigation_searches": 108724</a:t>
            </a:r>
          </a:p>
          <a:p>
            <a:r>
              <a:t>      },</a:t>
            </a:r>
          </a:p>
          <a:p>
            <a:r>
              <a:t>      {</a:t>
            </a:r>
          </a:p>
          <a:p>
            <a:r>
              <a:t>        "month": "202610",</a:t>
            </a:r>
          </a:p>
          <a:p>
            <a:r>
              <a:t>        "visitors": 6570358.0,</a:t>
            </a:r>
          </a:p>
          <a:p>
            <a:r>
              <a:t>        "is_forecast": true,</a:t>
            </a:r>
          </a:p>
          <a:p>
            <a:r>
              <a:t>        "spending_krw": 103404579597.0,</a:t>
            </a:r>
          </a:p>
          <a:p>
            <a:r>
              <a:t>        "stay_minutes": 726.0,</a:t>
            </a:r>
          </a:p>
          <a:p>
            <a:r>
              <a:t>        "lodging_nights": 2.92,</a:t>
            </a:r>
          </a:p>
          <a:p>
            <a:r>
              <a:t>        "lodging_rate_pct": 4.5,</a:t>
            </a:r>
          </a:p>
          <a:p>
            <a:r>
              <a:t>        "lodging_searches": 2786,</a:t>
            </a:r>
          </a:p>
          <a:p>
            <a:r>
              <a:t>        "navigation_searches": 176420,</a:t>
            </a:r>
          </a:p>
          <a:p>
            <a:r>
              <a:t>        "visitor_yoy_percent": 6.49,</a:t>
            </a:r>
          </a:p>
          <a:p>
            <a:r>
              <a:t>        "spending_yoy_percent": 6.54,</a:t>
            </a:r>
          </a:p>
          <a:p>
            <a:r>
              <a:t>        "metric_changes_percent": {</a:t>
            </a:r>
          </a:p>
          <a:p>
            <a:r>
              <a:t>          "stay_minutes": 0.0,</a:t>
            </a:r>
          </a:p>
          <a:p>
            <a:r>
              <a:t>          "lodging_nights": -0.68,</a:t>
            </a:r>
          </a:p>
          <a:p>
            <a:r>
              <a:t>          "lodging_rate_pct": 0.0,</a:t>
            </a:r>
          </a:p>
          <a:p>
            <a:r>
              <a:t>          "lodging_searches": -23.0,</a:t>
            </a:r>
          </a:p>
          <a:p>
            <a:r>
              <a:t>          "navigation_searches": 0.0</a:t>
            </a:r>
          </a:p>
          <a:p>
            <a:r>
              <a:t>        },</a:t>
            </a:r>
          </a:p>
          <a:p>
            <a:r>
              <a:t>        "previous_year_visitors": 6170192,</a:t>
            </a:r>
          </a:p>
          <a:p>
            <a:r>
              <a:t>        "previous_year_spending_krw": 97053863000,</a:t>
            </a:r>
          </a:p>
          <a:p>
            <a:r>
              <a:t>        "previous_year_stay_minutes": 726.0,</a:t>
            </a:r>
          </a:p>
          <a:p>
            <a:r>
              <a:t>        "previous_year_lodging_nights": 2.94,</a:t>
            </a:r>
          </a:p>
          <a:p>
            <a:r>
              <a:t>        "previous_year_lodging_rate_pct": 4.5,</a:t>
            </a:r>
          </a:p>
          <a:p>
            <a:r>
              <a:t>        "previous_year_lodging_searches": 3618,</a:t>
            </a:r>
          </a:p>
          <a:p>
            <a:r>
              <a:t>        "previous_year_navigation_searches": 176420</a:t>
            </a:r>
          </a:p>
          <a:p>
            <a:r>
              <a:t>      },</a:t>
            </a:r>
          </a:p>
          <a:p>
            <a:r>
              <a:t>      {</a:t>
            </a:r>
          </a:p>
          <a:p>
            <a:r>
              <a:t>        "month": "202611",</a:t>
            </a:r>
          </a:p>
          <a:p>
            <a:r>
              <a:t>        "visitors": 6585928.0,</a:t>
            </a:r>
          </a:p>
          <a:p>
            <a:r>
              <a:t>        "is_forecast": true,</a:t>
            </a:r>
          </a:p>
          <a:p>
            <a:r>
              <a:t>        "spending_krw": 107117698458.0,</a:t>
            </a:r>
          </a:p>
          <a:p>
            <a:r>
              <a:t>        "stay_minutes": 600.0,</a:t>
            </a:r>
          </a:p>
          <a:p>
            <a:r>
              <a:t>        "lodging_nights": 2.91,</a:t>
            </a:r>
          </a:p>
          <a:p>
            <a:r>
              <a:t>        "lodging_rate_pct": 3.6,</a:t>
            </a:r>
          </a:p>
          <a:p>
            <a:r>
              <a:t>        "lodging_searches": 2335,</a:t>
            </a:r>
          </a:p>
          <a:p>
            <a:r>
              <a:t>        "navigation_searches": 115407,</a:t>
            </a:r>
          </a:p>
          <a:p>
            <a:r>
              <a:t>        "visitor_yoy_percent": -0.86,</a:t>
            </a:r>
          </a:p>
          <a:p>
            <a:r>
              <a:t>        "spending_yoy_percent": 5.78,</a:t>
            </a:r>
          </a:p>
          <a:p>
            <a:r>
              <a:t>        "metric_changes_percent": {</a:t>
            </a:r>
          </a:p>
          <a:p>
            <a:r>
              <a:t>          "stay_minutes": 0.0,</a:t>
            </a:r>
          </a:p>
          <a:p>
            <a:r>
              <a:t>          "lodging_nights": 0.69,</a:t>
            </a:r>
          </a:p>
          <a:p>
            <a:r>
              <a:t>          "lodging_rate_pct": 0.0,</a:t>
            </a:r>
          </a:p>
          <a:p>
            <a:r>
              <a:t>          "lodging_searches": -7.71,</a:t>
            </a:r>
          </a:p>
          <a:p>
            <a:r>
              <a:t>          "navigation_searches": 0.0</a:t>
            </a:r>
          </a:p>
          <a:p>
            <a:r>
              <a:t>        },</a:t>
            </a:r>
          </a:p>
          <a:p>
            <a:r>
              <a:t>        "previous_year_visitors": 6643276,</a:t>
            </a:r>
          </a:p>
          <a:p>
            <a:r>
              <a:t>        "previous_year_spending_krw": 101267996000,</a:t>
            </a:r>
          </a:p>
          <a:p>
            <a:r>
              <a:t>        "previous_year_stay_minutes": 600.0,</a:t>
            </a:r>
          </a:p>
          <a:p>
            <a:r>
              <a:t>        "previous_year_lodging_nights": 2.89,</a:t>
            </a:r>
          </a:p>
          <a:p>
            <a:r>
              <a:t>        "previous_year_lodging_rate_pct": 3.6,</a:t>
            </a:r>
          </a:p>
          <a:p>
            <a:r>
              <a:t>        "previous_year_lodging_searches": 2530,</a:t>
            </a:r>
          </a:p>
          <a:p>
            <a:r>
              <a:t>        "previous_year_navigation_searches": 115407</a:t>
            </a:r>
          </a:p>
          <a:p>
            <a:r>
              <a:t>      }</a:t>
            </a:r>
          </a:p>
          <a:p>
            <a:r>
              <a:t>    ],</a:t>
            </a:r>
          </a:p>
          <a:p>
            <a:r>
              <a:t>    "period": "202609~202611",</a:t>
            </a:r>
          </a:p>
          <a:p>
            <a:r>
              <a:t>    "complete": true,</a:t>
            </a:r>
          </a:p>
          <a:p>
            <a:r>
              <a:t>    "notes": [</a:t>
            </a:r>
          </a:p>
          <a:p>
            <a:r>
              <a:t>      "3개월 초과 예측 거리는 재귀 검증 범위 밖의 탐색 전망입니다."</a:t>
            </a:r>
          </a:p>
          <a:p>
            <a:r>
              <a:t>    ],</a:t>
            </a:r>
          </a:p>
          <a:p>
            <a:r>
              <a:t>    "selection_basis": "strategy_timeframe",</a:t>
            </a:r>
          </a:p>
          <a:p>
            <a:r>
              <a:t>    "requested_period": "202609~202611"</a:t>
            </a:r>
          </a:p>
          <a:p>
            <a:r>
              <a:t>  },</a:t>
            </a:r>
          </a:p>
          <a:p>
            <a:r>
              <a:t>  "all_ml_forecasts": [</a:t>
            </a:r>
          </a:p>
          <a:p>
            <a:r>
              <a:t>    {</a:t>
            </a:r>
          </a:p>
          <a:p>
            <a:r>
              <a:t>      "month": "202607",</a:t>
            </a:r>
          </a:p>
          <a:p>
            <a:r>
              <a:t>      "visitors": 6551545,</a:t>
            </a:r>
          </a:p>
          <a:p>
            <a:r>
              <a:t>      "is_forecast": true,</a:t>
            </a:r>
          </a:p>
          <a:p>
            <a:r>
              <a:t>      "spending_krw": 99619891149,</a:t>
            </a:r>
          </a:p>
          <a:p>
            <a:r>
              <a:t>      "stay_minutes": 715.0,</a:t>
            </a:r>
          </a:p>
          <a:p>
            <a:r>
              <a:t>      "lodging_nights": 2.92,</a:t>
            </a:r>
          </a:p>
          <a:p>
            <a:r>
              <a:t>      "lodging_rate_pct": 3.9,</a:t>
            </a:r>
          </a:p>
          <a:p>
            <a:r>
              <a:t>      "lodging_searches": 2427,</a:t>
            </a:r>
          </a:p>
          <a:p>
            <a:r>
              <a:t>      "navigation_searches": 110530,</a:t>
            </a:r>
          </a:p>
          <a:p>
            <a:r>
              <a:t>      "visitor_yoy_percent": 8.42,</a:t>
            </a:r>
          </a:p>
          <a:p>
            <a:r>
              <a:t>      "spending_yoy_percent": 7.8,</a:t>
            </a:r>
          </a:p>
          <a:p>
            <a:r>
              <a:t>      "metric_changes_percent": {</a:t>
            </a:r>
          </a:p>
          <a:p>
            <a:r>
              <a:t>        "stay_minutes": 0.0,</a:t>
            </a:r>
          </a:p>
          <a:p>
            <a:r>
              <a:t>        "lodging_nights": -1.02,</a:t>
            </a:r>
          </a:p>
          <a:p>
            <a:r>
              <a:t>        "lodging_rate_pct": 0.0,</a:t>
            </a:r>
          </a:p>
          <a:p>
            <a:r>
              <a:t>        "lodging_searches": -12.98,</a:t>
            </a:r>
          </a:p>
          <a:p>
            <a:r>
              <a:t>        "navigation_searches": 0.0</a:t>
            </a:r>
          </a:p>
          <a:p>
            <a:r>
              <a:t>      },</a:t>
            </a:r>
          </a:p>
          <a:p>
            <a:r>
              <a:t>      "previous_year_visitors": 6042778,</a:t>
            </a:r>
          </a:p>
          <a:p>
            <a:r>
              <a:t>      "previous_year_spending_krw": 92415108000,</a:t>
            </a:r>
          </a:p>
          <a:p>
            <a:r>
              <a:t>      "previous_year_stay_minutes": 715.0,</a:t>
            </a:r>
          </a:p>
          <a:p>
            <a:r>
              <a:t>      "previous_year_lodging_nights": 2.95,</a:t>
            </a:r>
          </a:p>
          <a:p>
            <a:r>
              <a:t>      "previous_year_lodging_rate_pct": 3.9,</a:t>
            </a:r>
          </a:p>
          <a:p>
            <a:r>
              <a:t>      "previous_year_lodging_searches": 2789,</a:t>
            </a:r>
          </a:p>
          <a:p>
            <a:r>
              <a:t>      "previous_year_navigation_searches": 110530</a:t>
            </a:r>
          </a:p>
          <a:p>
            <a:r>
              <a:t>    },</a:t>
            </a:r>
          </a:p>
          <a:p>
            <a:r>
              <a:t>    {</a:t>
            </a:r>
          </a:p>
          <a:p>
            <a:r>
              <a:t>      "month": "202608",</a:t>
            </a:r>
          </a:p>
          <a:p>
            <a:r>
              <a:t>      "visitors": 6392576,</a:t>
            </a:r>
          </a:p>
          <a:p>
            <a:r>
              <a:t>      "is_forecast": true,</a:t>
            </a:r>
          </a:p>
          <a:p>
            <a:r>
              <a:t>      "spending_krw": 100649180510,</a:t>
            </a:r>
          </a:p>
          <a:p>
            <a:r>
              <a:t>      "stay_minutes": 727.0,</a:t>
            </a:r>
          </a:p>
          <a:p>
            <a:r>
              <a:t>      "lodging_nights": 2.93,</a:t>
            </a:r>
          </a:p>
          <a:p>
            <a:r>
              <a:t>      "lodging_rate_pct": 4.3,</a:t>
            </a:r>
          </a:p>
          <a:p>
            <a:r>
              <a:t>      "lodging_searches": 2345,</a:t>
            </a:r>
          </a:p>
          <a:p>
            <a:r>
              <a:t>      "navigation_searches": 116553,</a:t>
            </a:r>
          </a:p>
          <a:p>
            <a:r>
              <a:t>      "visitor_yoy_percent": 7.88,</a:t>
            </a:r>
          </a:p>
          <a:p>
            <a:r>
              <a:t>      "spending_yoy_percent": 6.05,</a:t>
            </a:r>
          </a:p>
          <a:p>
            <a:r>
              <a:t>      "metric_changes_percent": {</a:t>
            </a:r>
          </a:p>
          <a:p>
            <a:r>
              <a:t>        "stay_minutes": 0.0,</a:t>
            </a:r>
          </a:p>
          <a:p>
            <a:r>
              <a:t>        "lodging_nights": 0.69,</a:t>
            </a:r>
          </a:p>
          <a:p>
            <a:r>
              <a:t>        "lodging_rate_pct": 0.0,</a:t>
            </a:r>
          </a:p>
          <a:p>
            <a:r>
              <a:t>        "lodging_searches": -4.64,</a:t>
            </a:r>
          </a:p>
          <a:p>
            <a:r>
              <a:t>        "navigation_searches": 0.0</a:t>
            </a:r>
          </a:p>
          <a:p>
            <a:r>
              <a:t>      },</a:t>
            </a:r>
          </a:p>
          <a:p>
            <a:r>
              <a:t>      "previous_year_visitors": 5925815,</a:t>
            </a:r>
          </a:p>
          <a:p>
            <a:r>
              <a:t>      "previous_year_spending_krw": 94907804000,</a:t>
            </a:r>
          </a:p>
          <a:p>
            <a:r>
              <a:t>      "previous_year_stay_minutes": 727.0,</a:t>
            </a:r>
          </a:p>
          <a:p>
            <a:r>
              <a:t>      "previous_year_lodging_nights": 2.91,</a:t>
            </a:r>
          </a:p>
          <a:p>
            <a:r>
              <a:t>      "previous_year_lodging_rate_pct": 4.3,</a:t>
            </a:r>
          </a:p>
          <a:p>
            <a:r>
              <a:t>      "previous_year_lodging_searches": 2459,</a:t>
            </a:r>
          </a:p>
          <a:p>
            <a:r>
              <a:t>      "previous_year_navigation_searches": 116553</a:t>
            </a:r>
          </a:p>
          <a:p>
            <a:r>
              <a:t>    },</a:t>
            </a:r>
          </a:p>
          <a:p>
            <a:r>
              <a:t>    {</a:t>
            </a:r>
          </a:p>
          <a:p>
            <a:r>
              <a:t>      "month": "202609",</a:t>
            </a:r>
          </a:p>
          <a:p>
            <a:r>
              <a:t>      "visitors": 6638883,</a:t>
            </a:r>
          </a:p>
          <a:p>
            <a:r>
              <a:t>      "is_forecast": true,</a:t>
            </a:r>
          </a:p>
          <a:p>
            <a:r>
              <a:t>      "spending_krw": 102905513747,</a:t>
            </a:r>
          </a:p>
          <a:p>
            <a:r>
              <a:t>      "stay_minutes": 729.0,</a:t>
            </a:r>
          </a:p>
          <a:p>
            <a:r>
              <a:t>      "lodging_nights": 2.95,</a:t>
            </a:r>
          </a:p>
          <a:p>
            <a:r>
              <a:t>      "lodging_rate_pct": 3.8,</a:t>
            </a:r>
          </a:p>
          <a:p>
            <a:r>
              <a:t>      "lodging_searches": 2301,</a:t>
            </a:r>
          </a:p>
          <a:p>
            <a:r>
              <a:t>      "navigation_searches": 108724,</a:t>
            </a:r>
          </a:p>
          <a:p>
            <a:r>
              <a:t>      "visitor_yoy_percent": -0.24,</a:t>
            </a:r>
          </a:p>
          <a:p>
            <a:r>
              <a:t>      "spending_yoy_percent": 9.25,</a:t>
            </a:r>
          </a:p>
          <a:p>
            <a:r>
              <a:t>      "metric_changes_percent": {</a:t>
            </a:r>
          </a:p>
          <a:p>
            <a:r>
              <a:t>        "stay_minutes": 0.0,</a:t>
            </a:r>
          </a:p>
          <a:p>
            <a:r>
              <a:t>        "lodging_nights": -1.01,</a:t>
            </a:r>
          </a:p>
          <a:p>
            <a:r>
              <a:t>        "lodging_rate_pct": 0.0,</a:t>
            </a:r>
          </a:p>
          <a:p>
            <a:r>
              <a:t>        "lodging_searches": 5.41,</a:t>
            </a:r>
          </a:p>
          <a:p>
            <a:r>
              <a:t>        "navigation_searches": 0.0</a:t>
            </a:r>
          </a:p>
          <a:p>
            <a:r>
              <a:t>      },</a:t>
            </a:r>
          </a:p>
          <a:p>
            <a:r>
              <a:t>      "previous_year_visitors": 6654997,</a:t>
            </a:r>
          </a:p>
          <a:p>
            <a:r>
              <a:t>      "previous_year_spending_krw": 94192832000,</a:t>
            </a:r>
          </a:p>
          <a:p>
            <a:r>
              <a:t>      "previous_year_stay_minutes": 729.0,</a:t>
            </a:r>
          </a:p>
          <a:p>
            <a:r>
              <a:t>      "previous_year_lodging_nights": 2.98,</a:t>
            </a:r>
          </a:p>
          <a:p>
            <a:r>
              <a:t>      "previous_year_lodging_rate_pct": 3.8,</a:t>
            </a:r>
          </a:p>
          <a:p>
            <a:r>
              <a:t>      "previous_year_lodging_searches": 2183,</a:t>
            </a:r>
          </a:p>
          <a:p>
            <a:r>
              <a:t>      "previous_year_navigation_searches": 108724</a:t>
            </a:r>
          </a:p>
          <a:p>
            <a:r>
              <a:t>    },</a:t>
            </a:r>
          </a:p>
          <a:p>
            <a:r>
              <a:t>    {</a:t>
            </a:r>
          </a:p>
          <a:p>
            <a:r>
              <a:t>      "month": "202610",</a:t>
            </a:r>
          </a:p>
          <a:p>
            <a:r>
              <a:t>      "visitors": 6570358,</a:t>
            </a:r>
          </a:p>
          <a:p>
            <a:r>
              <a:t>      "is_forecast": true,</a:t>
            </a:r>
          </a:p>
          <a:p>
            <a:r>
              <a:t>      "spending_krw": 103404579597,</a:t>
            </a:r>
          </a:p>
          <a:p>
            <a:r>
              <a:t>      "stay_minutes": 726.0,</a:t>
            </a:r>
          </a:p>
          <a:p>
            <a:r>
              <a:t>      "lodging_nights": 2.92,</a:t>
            </a:r>
          </a:p>
          <a:p>
            <a:r>
              <a:t>      "lodging_rate_pct": 4.5,</a:t>
            </a:r>
          </a:p>
          <a:p>
            <a:r>
              <a:t>      "lodging_searches": 2786,</a:t>
            </a:r>
          </a:p>
          <a:p>
            <a:r>
              <a:t>      "navigation_searches": 176420,</a:t>
            </a:r>
          </a:p>
          <a:p>
            <a:r>
              <a:t>      "visitor_yoy_percent": 6.49,</a:t>
            </a:r>
          </a:p>
          <a:p>
            <a:r>
              <a:t>      "spending_yoy_percent": 6.54,</a:t>
            </a:r>
          </a:p>
          <a:p>
            <a:r>
              <a:t>      "metric_changes_percent": {</a:t>
            </a:r>
          </a:p>
          <a:p>
            <a:r>
              <a:t>        "stay_minutes": 0.0,</a:t>
            </a:r>
          </a:p>
          <a:p>
            <a:r>
              <a:t>        "lodging_nights": -0.68,</a:t>
            </a:r>
          </a:p>
          <a:p>
            <a:r>
              <a:t>        "lodging_rate_pct": 0.0,</a:t>
            </a:r>
          </a:p>
          <a:p>
            <a:r>
              <a:t>        "lodging_searches": -23.0,</a:t>
            </a:r>
          </a:p>
          <a:p>
            <a:r>
              <a:t>        "navigation_searches": 0.0</a:t>
            </a:r>
          </a:p>
          <a:p>
            <a:r>
              <a:t>      },</a:t>
            </a:r>
          </a:p>
          <a:p>
            <a:r>
              <a:t>      "previous_year_visitors": 6170192,</a:t>
            </a:r>
          </a:p>
          <a:p>
            <a:r>
              <a:t>      "previous_year_spending_krw": 97053863000,</a:t>
            </a:r>
          </a:p>
          <a:p>
            <a:r>
              <a:t>      "previous_year_stay_minutes": 726.0,</a:t>
            </a:r>
          </a:p>
          <a:p>
            <a:r>
              <a:t>      "previous_year_lodging_nights": 2.94,</a:t>
            </a:r>
          </a:p>
          <a:p>
            <a:r>
              <a:t>      "previous_year_lodging_rate_pct": 4.5,</a:t>
            </a:r>
          </a:p>
          <a:p>
            <a:r>
              <a:t>      "previous_year_lodging_searches": 3618,</a:t>
            </a:r>
          </a:p>
          <a:p>
            <a:r>
              <a:t>      "previous_year_navigation_searches": 176420</a:t>
            </a:r>
          </a:p>
          <a:p>
            <a:r>
              <a:t>    },</a:t>
            </a:r>
          </a:p>
          <a:p>
            <a:r>
              <a:t>    {</a:t>
            </a:r>
          </a:p>
          <a:p>
            <a:r>
              <a:t>      "month": "202611",</a:t>
            </a:r>
          </a:p>
          <a:p>
            <a:r>
              <a:t>      "visitors": 6585928,</a:t>
            </a:r>
          </a:p>
          <a:p>
            <a:r>
              <a:t>      "is_forecast": true,</a:t>
            </a:r>
          </a:p>
          <a:p>
            <a:r>
              <a:t>      "spending_krw": 107117698458,</a:t>
            </a:r>
          </a:p>
          <a:p>
            <a:r>
              <a:t>      "stay_minutes": 600.0,</a:t>
            </a:r>
          </a:p>
          <a:p>
            <a:r>
              <a:t>      "lodging_nights": 2.91,</a:t>
            </a:r>
          </a:p>
          <a:p>
            <a:r>
              <a:t>      "lodging_rate_pct": 3.6,</a:t>
            </a:r>
          </a:p>
          <a:p>
            <a:r>
              <a:t>      "lodging_searches": 2335,</a:t>
            </a:r>
          </a:p>
          <a:p>
            <a:r>
              <a:t>      "navigation_searches": 115407,</a:t>
            </a:r>
          </a:p>
          <a:p>
            <a:r>
              <a:t>      "visitor_yoy_percent": -0.86,</a:t>
            </a:r>
          </a:p>
          <a:p>
            <a:r>
              <a:t>      "spending_yoy_percent": 5.78,</a:t>
            </a:r>
          </a:p>
          <a:p>
            <a:r>
              <a:t>      "metric_changes_percent": {</a:t>
            </a:r>
          </a:p>
          <a:p>
            <a:r>
              <a:t>        "stay_minutes": 0.0,</a:t>
            </a:r>
          </a:p>
          <a:p>
            <a:r>
              <a:t>        "lodging_nights": 0.69,</a:t>
            </a:r>
          </a:p>
          <a:p>
            <a:r>
              <a:t>        "lodging_rate_pct": 0.0,</a:t>
            </a:r>
          </a:p>
          <a:p>
            <a:r>
              <a:t>        "lodging_searches": -7.71,</a:t>
            </a:r>
          </a:p>
          <a:p>
            <a:r>
              <a:t>        "navigation_searches": 0.0</a:t>
            </a:r>
          </a:p>
          <a:p>
            <a:r>
              <a:t>      },</a:t>
            </a:r>
          </a:p>
          <a:p>
            <a:r>
              <a:t>      "previous_year_visitors": 6643276,</a:t>
            </a:r>
          </a:p>
          <a:p>
            <a:r>
              <a:t>      "previous_year_spending_krw": 101267996000,</a:t>
            </a:r>
          </a:p>
          <a:p>
            <a:r>
              <a:t>      "previous_year_stay_minutes": 600.0,</a:t>
            </a:r>
          </a:p>
          <a:p>
            <a:r>
              <a:t>      "previous_year_lodging_nights": 2.89,</a:t>
            </a:r>
          </a:p>
          <a:p>
            <a:r>
              <a:t>      "previous_year_lodging_rate_pct": 3.6,</a:t>
            </a:r>
          </a:p>
          <a:p>
            <a:r>
              <a:t>      "previous_year_lodging_searches": 2530,</a:t>
            </a:r>
          </a:p>
          <a:p>
            <a:r>
              <a:t>      "previous_year_navigation_searches": 115407</a:t>
            </a:r>
          </a:p>
          <a:p>
            <a:r>
              <a:t>    }</a:t>
            </a:r>
          </a:p>
          <a:p>
            <a:r>
              <a:t>  ],</a:t>
            </a:r>
          </a:p>
          <a:p>
            <a:r>
              <a:t>  "evaluation": {</a:t>
            </a:r>
          </a:p>
          <a:p>
            <a:r>
              <a:t>    "metrics": {</a:t>
            </a:r>
          </a:p>
          <a:p>
            <a:r>
              <a:t>      "visitors": {</a:t>
            </a:r>
          </a:p>
          <a:p>
            <a:r>
              <a:t>        "test_mae": 512302.72,</a:t>
            </a:r>
          </a:p>
          <a:p>
            <a:r>
              <a:t>        "recursive_mae": {</a:t>
            </a:r>
          </a:p>
          <a:p>
            <a:r>
              <a:t>          "1": {</a:t>
            </a:r>
          </a:p>
          <a:p>
            <a:r>
              <a:t>            "baseline": 505115.0,</a:t>
            </a:r>
          </a:p>
          <a:p>
            <a:r>
              <a:t>            "selected": 637542.5,</a:t>
            </a:r>
          </a:p>
          <a:p>
            <a:r>
              <a:t>            "sample_count": 2</a:t>
            </a:r>
          </a:p>
          <a:p>
            <a:r>
              <a:t>          },</a:t>
            </a:r>
          </a:p>
          <a:p>
            <a:r>
              <a:t>          "2": {</a:t>
            </a:r>
          </a:p>
          <a:p>
            <a:r>
              <a:t>            "baseline": 350616.5,</a:t>
            </a:r>
          </a:p>
          <a:p>
            <a:r>
              <a:t>            "selected": 385661.0,</a:t>
            </a:r>
          </a:p>
          <a:p>
            <a:r>
              <a:t>            "sample_count": 2</a:t>
            </a:r>
          </a:p>
          <a:p>
            <a:r>
              <a:t>          },</a:t>
            </a:r>
          </a:p>
          <a:p>
            <a:r>
              <a:t>          "3": {</a:t>
            </a:r>
          </a:p>
          <a:p>
            <a:r>
              <a:t>            "baseline": 508390.5,</a:t>
            </a:r>
          </a:p>
          <a:p>
            <a:r>
              <a:t>            "selected": 376970.5,</a:t>
            </a:r>
          </a:p>
          <a:p>
            <a:r>
              <a:t>            "sample_count": 2</a:t>
            </a:r>
          </a:p>
          <a:p>
            <a:r>
              <a:t>          }</a:t>
            </a:r>
          </a:p>
          <a:p>
            <a:r>
              <a:t>        },</a:t>
            </a:r>
          </a:p>
          <a:p>
            <a:r>
              <a:t>        "selected_model": "RandomForestRegressor",</a:t>
            </a:r>
          </a:p>
          <a:p>
            <a:r>
              <a:t>        "baseline_test_mae": 506752.75,</a:t>
            </a:r>
          </a:p>
          <a:p>
            <a:r>
              <a:t>        "model_reliability": "below_baseline_on_test",</a:t>
            </a:r>
          </a:p>
          <a:p>
            <a:r>
              <a:t>        "beats_baseline_on_test": false,</a:t>
            </a:r>
          </a:p>
          <a:p>
            <a:r>
              <a:t>        "recursive_horizons_worse_than_baseline": [</a:t>
            </a:r>
          </a:p>
          <a:p>
            <a:r>
              <a:t>          "1",</a:t>
            </a:r>
          </a:p>
          <a:p>
            <a:r>
              <a:t>          "2"</a:t>
            </a:r>
          </a:p>
          <a:p>
            <a:r>
              <a:t>        ]</a:t>
            </a:r>
          </a:p>
          <a:p>
            <a:r>
              <a:t>      },</a:t>
            </a:r>
          </a:p>
          <a:p>
            <a:r>
              <a:t>      "spending_krw": {</a:t>
            </a:r>
          </a:p>
          <a:p>
            <a:r>
              <a:t>        "test_mae": 5905429236.35,</a:t>
            </a:r>
          </a:p>
          <a:p>
            <a:r>
              <a:t>        "recursive_mae": {</a:t>
            </a:r>
          </a:p>
          <a:p>
            <a:r>
              <a:t>          "1": {</a:t>
            </a:r>
          </a:p>
          <a:p>
            <a:r>
              <a:t>            "baseline": 3857228000.0,</a:t>
            </a:r>
          </a:p>
          <a:p>
            <a:r>
              <a:t>            "selected": 3675260054.5,</a:t>
            </a:r>
          </a:p>
          <a:p>
            <a:r>
              <a:t>            "sample_count": 2</a:t>
            </a:r>
          </a:p>
          <a:p>
            <a:r>
              <a:t>          },</a:t>
            </a:r>
          </a:p>
          <a:p>
            <a:r>
              <a:t>          "2": {</a:t>
            </a:r>
          </a:p>
          <a:p>
            <a:r>
              <a:t>            "baseline": 5016656500.0,</a:t>
            </a:r>
          </a:p>
          <a:p>
            <a:r>
              <a:t>            "selected": 2276015570.0,</a:t>
            </a:r>
          </a:p>
          <a:p>
            <a:r>
              <a:t>            "sample_count": 2</a:t>
            </a:r>
          </a:p>
          <a:p>
            <a:r>
              <a:t>          },</a:t>
            </a:r>
          </a:p>
          <a:p>
            <a:r>
              <a:t>          "3": {</a:t>
            </a:r>
          </a:p>
          <a:p>
            <a:r>
              <a:t>            "baseline": 3931632500.0,</a:t>
            </a:r>
          </a:p>
          <a:p>
            <a:r>
              <a:t>            "selected": 7285373763.0,</a:t>
            </a:r>
          </a:p>
          <a:p>
            <a:r>
              <a:t>            "sample_count": 2</a:t>
            </a:r>
          </a:p>
          <a:p>
            <a:r>
              <a:t>          }</a:t>
            </a:r>
          </a:p>
          <a:p>
            <a:r>
              <a:t>        },</a:t>
            </a:r>
          </a:p>
          <a:p>
            <a:r>
              <a:t>        "selected_model": "LinearRegression",</a:t>
            </a:r>
          </a:p>
          <a:p>
            <a:r>
              <a:t>        "baseline_test_mae": 3894430250.0,</a:t>
            </a:r>
          </a:p>
          <a:p>
            <a:r>
              <a:t>        "model_reliability": "below_baseline_on_test",</a:t>
            </a:r>
          </a:p>
          <a:p>
            <a:r>
              <a:t>        "beats_baseline_on_test": false,</a:t>
            </a:r>
          </a:p>
          <a:p>
            <a:r>
              <a:t>        "recursive_horizons_worse_than_baseline": [</a:t>
            </a:r>
          </a:p>
          <a:p>
            <a:r>
              <a:t>          "3"</a:t>
            </a:r>
          </a:p>
          <a:p>
            <a:r>
              <a:t>        ]</a:t>
            </a:r>
          </a:p>
          <a:p>
            <a:r>
              <a:t>      },</a:t>
            </a:r>
          </a:p>
          <a:p>
            <a:r>
              <a:t>      "stay_minutes": {</a:t>
            </a:r>
          </a:p>
          <a:p>
            <a:r>
              <a:t>        "test_mae": 81.25,</a:t>
            </a:r>
          </a:p>
          <a:p>
            <a:r>
              <a:t>        "recursive_mae": {</a:t>
            </a:r>
          </a:p>
          <a:p>
            <a:r>
              <a:t>          "1": {</a:t>
            </a:r>
          </a:p>
          <a:p>
            <a:r>
              <a:t>            "baseline": 15.0,</a:t>
            </a:r>
          </a:p>
          <a:p>
            <a:r>
              <a:t>            "selected": 15.0,</a:t>
            </a:r>
          </a:p>
          <a:p>
            <a:r>
              <a:t>            "sample_count": 2</a:t>
            </a:r>
          </a:p>
          <a:p>
            <a:r>
              <a:t>          },</a:t>
            </a:r>
          </a:p>
          <a:p>
            <a:r>
              <a:t>          "2": {</a:t>
            </a:r>
          </a:p>
          <a:p>
            <a:r>
              <a:t>            "baseline": 148.0,</a:t>
            </a:r>
          </a:p>
          <a:p>
            <a:r>
              <a:t>            "selected": 148.0,</a:t>
            </a:r>
          </a:p>
          <a:p>
            <a:r>
              <a:t>            "sample_count": 2</a:t>
            </a:r>
          </a:p>
          <a:p>
            <a:r>
              <a:t>          },</a:t>
            </a:r>
          </a:p>
          <a:p>
            <a:r>
              <a:t>          "3": {</a:t>
            </a:r>
          </a:p>
          <a:p>
            <a:r>
              <a:t>            "baseline": 147.5,</a:t>
            </a:r>
          </a:p>
          <a:p>
            <a:r>
              <a:t>            "selected": 147.5,</a:t>
            </a:r>
          </a:p>
          <a:p>
            <a:r>
              <a:t>            "sample_count": 2</a:t>
            </a:r>
          </a:p>
          <a:p>
            <a:r>
              <a:t>          }</a:t>
            </a:r>
          </a:p>
          <a:p>
            <a:r>
              <a:t>        },</a:t>
            </a:r>
          </a:p>
          <a:p>
            <a:r>
              <a:t>        "selected_model": "seasonal_naive_previous_year_same_month",</a:t>
            </a:r>
          </a:p>
          <a:p>
            <a:r>
              <a:t>        "baseline_test_mae": 81.25,</a:t>
            </a:r>
          </a:p>
          <a:p>
            <a:r>
              <a:t>        "model_reliability": "seasonal_baseline",</a:t>
            </a:r>
          </a:p>
          <a:p>
            <a:r>
              <a:t>        "beats_baseline_on_test": false,</a:t>
            </a:r>
          </a:p>
          <a:p>
            <a:r>
              <a:t>        "recursive_horizons_worse_than_baseline": []</a:t>
            </a:r>
          </a:p>
          <a:p>
            <a:r>
              <a:t>      },</a:t>
            </a:r>
          </a:p>
          <a:p>
            <a:r>
              <a:t>      "lodging_nights": {</a:t>
            </a:r>
          </a:p>
          <a:p>
            <a:r>
              <a:t>        "test_mae": 0.1,</a:t>
            </a:r>
          </a:p>
          <a:p>
            <a:r>
              <a:t>        "recursive_mae": {</a:t>
            </a:r>
          </a:p>
          <a:p>
            <a:r>
              <a:t>          "1": {</a:t>
            </a:r>
          </a:p>
          <a:p>
            <a:r>
              <a:t>            "baseline": 0.07,</a:t>
            </a:r>
          </a:p>
          <a:p>
            <a:r>
              <a:t>            "selected": 0.1,</a:t>
            </a:r>
          </a:p>
          <a:p>
            <a:r>
              <a:t>            "sample_count": 2</a:t>
            </a:r>
          </a:p>
          <a:p>
            <a:r>
              <a:t>          },</a:t>
            </a:r>
          </a:p>
          <a:p>
            <a:r>
              <a:t>          "2": {</a:t>
            </a:r>
          </a:p>
          <a:p>
            <a:r>
              <a:t>            "baseline": 0.11,</a:t>
            </a:r>
          </a:p>
          <a:p>
            <a:r>
              <a:t>            "selected": 0.16,</a:t>
            </a:r>
          </a:p>
          <a:p>
            <a:r>
              <a:t>            "sample_count": 2</a:t>
            </a:r>
          </a:p>
          <a:p>
            <a:r>
              <a:t>          },</a:t>
            </a:r>
          </a:p>
          <a:p>
            <a:r>
              <a:t>          "3": {</a:t>
            </a:r>
          </a:p>
          <a:p>
            <a:r>
              <a:t>            "baseline": 0.15,</a:t>
            </a:r>
          </a:p>
          <a:p>
            <a:r>
              <a:t>            "selected": 0.17,</a:t>
            </a:r>
          </a:p>
          <a:p>
            <a:r>
              <a:t>            "sample_count": 2</a:t>
            </a:r>
          </a:p>
          <a:p>
            <a:r>
              <a:t>          }</a:t>
            </a:r>
          </a:p>
          <a:p>
            <a:r>
              <a:t>        },</a:t>
            </a:r>
          </a:p>
          <a:p>
            <a:r>
              <a:t>        "selected_model": "LinearRegression",</a:t>
            </a:r>
          </a:p>
          <a:p>
            <a:r>
              <a:t>        "baseline_test_mae": 0.11,</a:t>
            </a:r>
          </a:p>
          <a:p>
            <a:r>
              <a:t>        "model_reliability": "mixed_recursive_performance",</a:t>
            </a:r>
          </a:p>
          <a:p>
            <a:r>
              <a:t>        "beats_baseline_on_test": true,</a:t>
            </a:r>
          </a:p>
          <a:p>
            <a:r>
              <a:t>        "recursive_horizons_worse_than_baseline": [</a:t>
            </a:r>
          </a:p>
          <a:p>
            <a:r>
              <a:t>          "1",</a:t>
            </a:r>
          </a:p>
          <a:p>
            <a:r>
              <a:t>          "2",</a:t>
            </a:r>
          </a:p>
          <a:p>
            <a:r>
              <a:t>          "3"</a:t>
            </a:r>
          </a:p>
          <a:p>
            <a:r>
              <a:t>        ]</a:t>
            </a:r>
          </a:p>
          <a:p>
            <a:r>
              <a:t>      },</a:t>
            </a:r>
          </a:p>
          <a:p>
            <a:r>
              <a:t>      "lodging_rate_pct": {</a:t>
            </a:r>
          </a:p>
          <a:p>
            <a:r>
              <a:t>        "test_mae": 0.32,</a:t>
            </a:r>
          </a:p>
          <a:p>
            <a:r>
              <a:t>        "recursive_mae": {</a:t>
            </a:r>
          </a:p>
          <a:p>
            <a:r>
              <a:t>          "1": {</a:t>
            </a:r>
          </a:p>
          <a:p>
            <a:r>
              <a:t>            "baseline": 0.3,</a:t>
            </a:r>
          </a:p>
          <a:p>
            <a:r>
              <a:t>            "selected": 0.3,</a:t>
            </a:r>
          </a:p>
          <a:p>
            <a:r>
              <a:t>            "sample_count": 2</a:t>
            </a:r>
          </a:p>
          <a:p>
            <a:r>
              <a:t>          },</a:t>
            </a:r>
          </a:p>
          <a:p>
            <a:r>
              <a:t>          "2": {</a:t>
            </a:r>
          </a:p>
          <a:p>
            <a:r>
              <a:t>            "baseline": 0.4,</a:t>
            </a:r>
          </a:p>
          <a:p>
            <a:r>
              <a:t>            "selected": 0.4,</a:t>
            </a:r>
          </a:p>
          <a:p>
            <a:r>
              <a:t>            "sample_count": 2</a:t>
            </a:r>
          </a:p>
          <a:p>
            <a:r>
              <a:t>          },</a:t>
            </a:r>
          </a:p>
          <a:p>
            <a:r>
              <a:t>          "3": {</a:t>
            </a:r>
          </a:p>
          <a:p>
            <a:r>
              <a:t>            "baseline": 0.35,</a:t>
            </a:r>
          </a:p>
          <a:p>
            <a:r>
              <a:t>            "selected": 0.35,</a:t>
            </a:r>
          </a:p>
          <a:p>
            <a:r>
              <a:t>            "sample_count": 2</a:t>
            </a:r>
          </a:p>
          <a:p>
            <a:r>
              <a:t>          }</a:t>
            </a:r>
          </a:p>
          <a:p>
            <a:r>
              <a:t>        },</a:t>
            </a:r>
          </a:p>
          <a:p>
            <a:r>
              <a:t>        "selected_model": "seasonal_naive_previous_year_same_month",</a:t>
            </a:r>
          </a:p>
          <a:p>
            <a:r>
              <a:t>        "baseline_test_mae": 0.32,</a:t>
            </a:r>
          </a:p>
          <a:p>
            <a:r>
              <a:t>        "model_reliability": "seasonal_baseline",</a:t>
            </a:r>
          </a:p>
          <a:p>
            <a:r>
              <a:t>        "beats_baseline_on_test": false,</a:t>
            </a:r>
          </a:p>
          <a:p>
            <a:r>
              <a:t>        "recursive_horizons_worse_than_baseline": []</a:t>
            </a:r>
          </a:p>
          <a:p>
            <a:r>
              <a:t>      },</a:t>
            </a:r>
          </a:p>
          <a:p>
            <a:r>
              <a:t>      "lodging_searches": {</a:t>
            </a:r>
          </a:p>
          <a:p>
            <a:r>
              <a:t>        "test_mae": 141.88,</a:t>
            </a:r>
          </a:p>
          <a:p>
            <a:r>
              <a:t>        "recursive_mae": {</a:t>
            </a:r>
          </a:p>
          <a:p>
            <a:r>
              <a:t>          "1": {</a:t>
            </a:r>
          </a:p>
          <a:p>
            <a:r>
              <a:t>            "baseline": 239.0,</a:t>
            </a:r>
          </a:p>
          <a:p>
            <a:r>
              <a:t>            "selected": 78.5,</a:t>
            </a:r>
          </a:p>
          <a:p>
            <a:r>
              <a:t>            "sample_count": 2</a:t>
            </a:r>
          </a:p>
          <a:p>
            <a:r>
              <a:t>          },</a:t>
            </a:r>
          </a:p>
          <a:p>
            <a:r>
              <a:t>          "2": {</a:t>
            </a:r>
          </a:p>
          <a:p>
            <a:r>
              <a:t>            "baseline": 215.5,</a:t>
            </a:r>
          </a:p>
          <a:p>
            <a:r>
              <a:t>            "selected": 71.5,</a:t>
            </a:r>
          </a:p>
          <a:p>
            <a:r>
              <a:t>            "sample_count": 2</a:t>
            </a:r>
          </a:p>
          <a:p>
            <a:r>
              <a:t>          },</a:t>
            </a:r>
          </a:p>
          <a:p>
            <a:r>
              <a:t>          "3": {</a:t>
            </a:r>
          </a:p>
          <a:p>
            <a:r>
              <a:t>            "baseline": 282.5,</a:t>
            </a:r>
          </a:p>
          <a:p>
            <a:r>
              <a:t>            "selected": 143.0,</a:t>
            </a:r>
          </a:p>
          <a:p>
            <a:r>
              <a:t>            "sample_count": 2</a:t>
            </a:r>
          </a:p>
          <a:p>
            <a:r>
              <a:t>          }</a:t>
            </a:r>
          </a:p>
          <a:p>
            <a:r>
              <a:t>        },</a:t>
            </a:r>
          </a:p>
          <a:p>
            <a:r>
              <a:t>        "selected_model": "RandomForestRegressor",</a:t>
            </a:r>
          </a:p>
          <a:p>
            <a:r>
              <a:t>        "baseline_test_mae": 260.75,</a:t>
            </a:r>
          </a:p>
          <a:p>
            <a:r>
              <a:t>        "model_reliability": "limited_backtest_support",</a:t>
            </a:r>
          </a:p>
          <a:p>
            <a:r>
              <a:t>        "beats_baseline_on_test": true,</a:t>
            </a:r>
          </a:p>
          <a:p>
            <a:r>
              <a:t>        "recursive_horizons_worse_than_baseline": []</a:t>
            </a:r>
          </a:p>
          <a:p>
            <a:r>
              <a:t>      },</a:t>
            </a:r>
          </a:p>
          <a:p>
            <a:r>
              <a:t>      "navigation_searches": {</a:t>
            </a:r>
          </a:p>
          <a:p>
            <a:r>
              <a:t>        "test_mae": 18943.5,</a:t>
            </a:r>
          </a:p>
          <a:p>
            <a:r>
              <a:t>        "recursive_mae": {</a:t>
            </a:r>
          </a:p>
          <a:p>
            <a:r>
              <a:t>          "1": {</a:t>
            </a:r>
          </a:p>
          <a:p>
            <a:r>
              <a:t>            "baseline": 21342.5,</a:t>
            </a:r>
          </a:p>
          <a:p>
            <a:r>
              <a:t>            "selected": 21342.5,</a:t>
            </a:r>
          </a:p>
          <a:p>
            <a:r>
              <a:t>            "sample_count": 2</a:t>
            </a:r>
          </a:p>
          <a:p>
            <a:r>
              <a:t>          },</a:t>
            </a:r>
          </a:p>
          <a:p>
            <a:r>
              <a:t>          "2": {</a:t>
            </a:r>
          </a:p>
          <a:p>
            <a:r>
              <a:t>            "baseline": 18933.0,</a:t>
            </a:r>
          </a:p>
          <a:p>
            <a:r>
              <a:t>            "selected": 18933.0,</a:t>
            </a:r>
          </a:p>
          <a:p>
            <a:r>
              <a:t>            "sample_count": 2</a:t>
            </a:r>
          </a:p>
          <a:p>
            <a:r>
              <a:t>          },</a:t>
            </a:r>
          </a:p>
          <a:p>
            <a:r>
              <a:t>          "3": {</a:t>
            </a:r>
          </a:p>
          <a:p>
            <a:r>
              <a:t>            "baseline": 16544.5,</a:t>
            </a:r>
          </a:p>
          <a:p>
            <a:r>
              <a:t>            "selected": 16544.5,</a:t>
            </a:r>
          </a:p>
          <a:p>
            <a:r>
              <a:t>            "sample_count": 2</a:t>
            </a:r>
          </a:p>
          <a:p>
            <a:r>
              <a:t>          }</a:t>
            </a:r>
          </a:p>
          <a:p>
            <a:r>
              <a:t>        },</a:t>
            </a:r>
          </a:p>
          <a:p>
            <a:r>
              <a:t>        "selected_model": "seasonal_naive_previous_year_same_month",</a:t>
            </a:r>
          </a:p>
          <a:p>
            <a:r>
              <a:t>        "baseline_test_mae": 18943.5,</a:t>
            </a:r>
          </a:p>
          <a:p>
            <a:r>
              <a:t>        "model_reliability": "seasonal_baseline",</a:t>
            </a:r>
          </a:p>
          <a:p>
            <a:r>
              <a:t>        "beats_baseline_on_test": false,</a:t>
            </a:r>
          </a:p>
          <a:p>
            <a:r>
              <a:t>        "recursive_horizons_worse_than_baseline": []</a:t>
            </a:r>
          </a:p>
          <a:p>
            <a:r>
              <a:t>      }</a:t>
            </a:r>
          </a:p>
          <a:p>
            <a:r>
              <a:t>    },</a:t>
            </a:r>
          </a:p>
          <a:p>
            <a:r>
              <a:t>    "test_period": "202603~202606",</a:t>
            </a:r>
          </a:p>
          <a:p>
            <a:r>
              <a:t>    "selection_basis": "validation_mae_only",</a:t>
            </a:r>
          </a:p>
          <a:p>
            <a:r>
              <a:t>    "validation_period": "202512~202602",</a:t>
            </a:r>
          </a:p>
          <a:p>
            <a:r>
              <a:t>    "longer_horizon_status": "exploratory_not_recursively_backtested",</a:t>
            </a:r>
          </a:p>
          <a:p>
            <a:r>
              <a:t>    "forecast_horizon_months": 5,</a:t>
            </a:r>
          </a:p>
          <a:p>
            <a:r>
              <a:t>    "recursive_backtest_horizon_months": [</a:t>
            </a:r>
          </a:p>
          <a:p>
            <a:r>
              <a:t>      1,</a:t>
            </a:r>
          </a:p>
          <a:p>
            <a:r>
              <a:t>      2,</a:t>
            </a:r>
          </a:p>
          <a:p>
            <a:r>
              <a:t>      3</a:t>
            </a:r>
          </a:p>
          <a:p>
            <a:r>
              <a:t>    ]</a:t>
            </a:r>
          </a:p>
          <a:p>
            <a:r>
              <a:t>  },</a:t>
            </a:r>
          </a:p>
          <a:p>
            <a:r>
              <a:t>  "execution_scenario": {</a:t>
            </a:r>
          </a:p>
          <a:p>
            <a:r>
              <a:t>    "visitor_target_pct": 20.0,</a:t>
            </a:r>
          </a:p>
          <a:p>
            <a:r>
              <a:t>    "spending_target_pct": 20.0</a:t>
            </a:r>
          </a:p>
          <a:p>
            <a:r>
              <a:t>  },</a:t>
            </a:r>
          </a:p>
          <a:p>
            <a:r>
              <a:t>  "reference_estimate": {</a:t>
            </a:r>
          </a:p>
          <a:p>
            <a:r>
              <a:t>    "status": "saved_report_budget",</a:t>
            </a:r>
          </a:p>
          <a:p>
            <a:r>
              <a:t>    "total_label": "총액 미확정",</a:t>
            </a:r>
          </a:p>
          <a:p>
            <a:r>
              <a:t>    "rows": [</a:t>
            </a:r>
          </a:p>
          <a:p>
            <a:r>
              <a:t>      [</a:t>
            </a:r>
          </a:p>
          <a:p>
            <a:r>
              <a:t>        "산정 내역 1",</a:t>
            </a:r>
          </a:p>
          <a:p>
            <a:r>
              <a:t>        "지역상품권 환급액 = (외지인 관광객의 지역 내 소비액 × 20%) + (지역상품권 발행 비용: 1,000원/장). 단가 및 정확한 환급 대상 규모는 시범 운영 전 확정 필요.",</a:t>
            </a:r>
          </a:p>
          <a:p>
            <a:r>
              <a:t>        "본문 기준"</a:t>
            </a:r>
          </a:p>
          <a:p>
            <a:r>
              <a:t>      ]</a:t>
            </a:r>
          </a:p>
          <a:p>
            <a:r>
              <a:t>    ],</a:t>
            </a:r>
          </a:p>
          <a:p>
            <a:r>
              <a:t>    "original_text": "지역상품권 환급액 = (외지인 관광객의 지역 내 소비액 × 20%) + (지역상품권 발행 비용: 1,000원/장). 단가 및 정확한 환급 대상 규모는 시범 운영 전 확정 필요.",</a:t>
            </a:r>
          </a:p>
          <a:p>
            <a:r>
              <a:t>    "sources": [],</a:t>
            </a:r>
          </a:p>
          <a:p>
            <a:r>
              <a:t>    "note": "저장 기획안의 예산 산정 내용을 그대로 표시합니다. 확정 견적이 아니며 계약 전 수량·단가·세금과 합계를 확인합니다."</a:t>
            </a:r>
          </a:p>
          <a:p>
            <a:r>
              <a:t>  }</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강진군의회 2024-11-20 시정연설: 10월 말 관광객 약 248만 명, 전년 대비 25% 증가. 전년 규모 역산: 248만÷1.25≈198.4만 명, 차이≈49.6만 명. 역산값은 별도 관측 원자료가 아니다. 반값여행과 축제의 동시기 실적이며 사업 단독 효과·ML 대비 증가율은 아니다. 서울특별시 성동구은 최종월 방문 +20%를 도전 목표로 제안한다(25% × 80%). 80%는 전면 적용 대신 단계 운영을 고려한 계획 가정이며 인구 보정·통계 추정 계수가 아니다. 기본 소비 목표는 월별 소비/방문 비율을 추가 방문 수에 적용한 계획 가정이며 강진 소비 실적으로 계산한 값이 아니다. 현재 조정된 목표는 방문 +20%, 소비 +20%이다. 방문 수가 0보다 큰 월은 ML 소비액÷ML 방문 수를 추가 방문 수에 곱한다. 같은 월의 두 증가율은 같으며, 이 비율은 실제 1인당 소비액이 아니다.</a:t>
            </a:r>
          </a:p>
          <a:p>
            <a:r>
              <a:t>https://clik.nanet.go.kr/minutes/viewer.do?DOCID=CLIKC3524169218564260&amp;collection=minutes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proposal_evidence.build_reference_estimate; idea_proposal.scale_estimate.</a:t>
            </a:r>
          </a:p>
          <a:p>
            <a:r>
              <a:t>{</a:t>
            </a:r>
          </a:p>
          <a:p>
            <a:r>
              <a:t>  "version": "reference-estimate-v2",</a:t>
            </a:r>
          </a:p>
          <a:p>
            <a:r>
              <a:t>  "scale_basis": "사업기간 추가 방문 목표 2,635,826명 × 시범 담당 비중 1% → 26,359건(올림). 1%는 직접 운영할 참여량 배분 가정이며 전환율 예측이 아닙니다.",</a:t>
            </a:r>
          </a:p>
          <a:p>
            <a:r>
              <a:t>  "additional_visitors_target": 2635825.5333333313,</a:t>
            </a:r>
          </a:p>
          <a:p>
            <a:r>
              <a:t>  "pilot_share_pct": 1,</a:t>
            </a:r>
          </a:p>
          <a:p>
            <a:r>
              <a:t>  "status": "planning_assumption_not_quote",</a:t>
            </a:r>
          </a:p>
          <a:p>
            <a:r>
              <a:t>  "months": 3,</a:t>
            </a:r>
          </a:p>
          <a:p>
            <a:r>
              <a:t>  "refund": true,</a:t>
            </a:r>
          </a:p>
          <a:p>
            <a:r>
              <a:t>  "quantity": 26359,</a:t>
            </a:r>
          </a:p>
          <a:p>
            <a:r>
              <a:t>  "unit_krw": 50000,</a:t>
            </a:r>
          </a:p>
          <a:p>
            <a:r>
              <a:t>  "redemption_target_pct": 80,</a:t>
            </a:r>
          </a:p>
          <a:p>
            <a:r>
              <a:t>  "redemption_count": 21087,</a:t>
            </a:r>
          </a:p>
          <a:p>
            <a:r>
              <a:t>  "qualifying_spend_krw": 2635900000,</a:t>
            </a:r>
          </a:p>
          <a:p>
            <a:r>
              <a:t>  "subtotal_krw": 1492200000,</a:t>
            </a:r>
          </a:p>
          <a:p>
            <a:r>
              <a:t>  "reserve_krw": 149220000,</a:t>
            </a:r>
          </a:p>
          <a:p>
            <a:r>
              <a:t>  "total_krw": 1641420000,</a:t>
            </a:r>
          </a:p>
          <a:p>
            <a:r>
              <a:t>  "within_hard_budget": true,</a:t>
            </a:r>
          </a:p>
          <a:p>
            <a:r>
              <a:t>  "items": [</a:t>
            </a:r>
          </a:p>
          <a:p>
            <a:r>
              <a:t>    {</a:t>
            </a:r>
          </a:p>
          <a:p>
            <a:r>
              <a:t>      "name": "여행비 환급 지원",</a:t>
            </a:r>
          </a:p>
          <a:p>
            <a:r>
              <a:t>      "basis": "26,359건 × 50,000원",</a:t>
            </a:r>
          </a:p>
          <a:p>
            <a:r>
              <a:t>      "amount": 1317950000</a:t>
            </a:r>
          </a:p>
          <a:p>
            <a:r>
              <a:t>    },</a:t>
            </a:r>
          </a:p>
          <a:p>
            <a:r>
              <a:t>    {</a:t>
            </a:r>
          </a:p>
          <a:p>
            <a:r>
              <a:t>      "name": "현장 운영·정산",</a:t>
            </a:r>
          </a:p>
          <a:p>
            <a:r>
              <a:t>      "basis": "max(월 20인일 × 3, 26,359건 ÷ 25건/인일 올림) = 1055인일 × 150,000원",</a:t>
            </a:r>
          </a:p>
          <a:p>
            <a:r>
              <a:t>      "amount": 158250000</a:t>
            </a:r>
          </a:p>
          <a:p>
            <a:r>
              <a:t>    },</a:t>
            </a:r>
          </a:p>
          <a:p>
            <a:r>
              <a:t>    {</a:t>
            </a:r>
          </a:p>
          <a:p>
            <a:r>
              <a:t>      "name": "신청·증빙 시스템",</a:t>
            </a:r>
          </a:p>
          <a:p>
            <a:r>
              <a:t>      "basis": "기존 시스템 설정 1식 × 800만원",</a:t>
            </a:r>
          </a:p>
          <a:p>
            <a:r>
              <a:t>      "amount": 8000000</a:t>
            </a:r>
          </a:p>
          <a:p>
            <a:r>
              <a:t>    },</a:t>
            </a:r>
          </a:p>
          <a:p>
            <a:r>
              <a:t>    {</a:t>
            </a:r>
          </a:p>
          <a:p>
            <a:r>
              <a:t>      "name": "홍보·참여처 안내",</a:t>
            </a:r>
          </a:p>
          <a:p>
            <a:r>
              <a:t>      "basis": "콘텐츠·안내물 1식 × 500만원",</a:t>
            </a:r>
          </a:p>
          <a:p>
            <a:r>
              <a:t>      "amount": 5000000</a:t>
            </a:r>
          </a:p>
          <a:p>
            <a:r>
              <a:t>    },</a:t>
            </a:r>
          </a:p>
          <a:p>
            <a:r>
              <a:t>    {</a:t>
            </a:r>
          </a:p>
          <a:p>
            <a:r>
              <a:t>      "name": "성과 집계·검토",</a:t>
            </a:r>
          </a:p>
          <a:p>
            <a:r>
              <a:t>      "basis": "자료 정리·평가 1식 × 300만원",</a:t>
            </a:r>
          </a:p>
          <a:p>
            <a:r>
              <a:t>      "amount": 3000000</a:t>
            </a:r>
          </a:p>
          <a:p>
            <a:r>
              <a:t>    },</a:t>
            </a:r>
          </a:p>
          <a:p>
            <a:r>
              <a:t>    {</a:t>
            </a:r>
          </a:p>
          <a:p>
            <a:r>
              <a:t>      "name": "예비비",</a:t>
            </a:r>
          </a:p>
          <a:p>
            <a:r>
              <a:t>      "basis": "직접비 149,220만원 × 10%",</a:t>
            </a:r>
          </a:p>
          <a:p>
            <a:r>
              <a:t>      "amount": 149220000</a:t>
            </a:r>
          </a:p>
          <a:p>
            <a:r>
              <a:t>    }</a:t>
            </a:r>
          </a:p>
          <a:p>
            <a:r>
              <a:t>  ],</a:t>
            </a:r>
          </a:p>
          <a:p>
            <a:r>
              <a:t>  "sources": [</a:t>
            </a:r>
          </a:p>
          <a:p>
            <a:r>
              <a:t>    {</a:t>
            </a:r>
          </a:p>
          <a:p>
            <a:r>
              <a:t>      "source_id": "estimate:gangjin-refund-rules:20260905",</a:t>
            </a:r>
          </a:p>
          <a:p>
            <a:r>
              <a:t>      "source_type": "budget_reference",</a:t>
            </a:r>
          </a:p>
          <a:p>
            <a:r>
              <a:t>      "title": "강진군 반값여행 공식 신청·정산 조건",</a:t>
            </a:r>
          </a:p>
          <a:p>
            <a:r>
              <a:t>      "source_url": "https://www.gangjintour.com/advance/advance_req.html",</a:t>
            </a:r>
          </a:p>
          <a:p>
            <a:r>
              <a:t>      "summary": "일반 관광객 여행비 50% 상품권 환급. 개인 최대 10만원·팀 최대 20만원. 원주 효과나 공급업체 단가의 근거는 아님.",</a:t>
            </a:r>
          </a:p>
          <a:p>
            <a:r>
              <a:t>      "accessed_at": "2026-09-05"</a:t>
            </a:r>
          </a:p>
          <a:p>
            <a:r>
              <a:t>    }</a:t>
            </a:r>
          </a:p>
          <a:p>
            <a:r>
              <a:t>  ],</a:t>
            </a:r>
          </a:p>
          <a:p>
            <a:r>
              <a:t>  "assumptions": [</a:t>
            </a:r>
          </a:p>
          <a:p>
            <a:r>
              <a:t>    "전 항목은 기획용 가정 단가이며 확정 견적·공식 표준단가가 아닙니다.",</a:t>
            </a:r>
          </a:p>
          <a:p>
            <a:r>
              <a:t>    "인력 15만원/인일은 현장 용역 예산 가정입니다. 근로계약 임금 산정값이 아닙니다.",</a:t>
            </a:r>
          </a:p>
          <a:p>
            <a:r>
              <a:t>    "시스템은 기존 신청·정산 수단의 설정·운영 범위입니다. 신규 앱·키오스크 구축비는 제외합니다.",</a:t>
            </a:r>
          </a:p>
          <a:p>
            <a:r>
              <a:t>    "용역비는 세금 포함 예산 한도로 가정합니다. 환급금 과세·수수료·계약조건은 착수 전 확인합니다.",</a:t>
            </a:r>
          </a:p>
          <a:p>
            <a:r>
              <a:t>    "지원 건수·평균 지원액·80% 후속 사용 목표는 운영 제안이며 관측값 또는 ML 산출값이 아닙니다."</a:t>
            </a:r>
          </a:p>
          <a:p>
            <a:r>
              <a:t>  ]</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관측값·저장 예측·계획 목표는 별개입니다. 문서용 참고 견적이며 원 보고서의 검수 결과를 변경하지 않습니다.</a:t>
            </a:r>
          </a:p>
          <a:p xmlns:a="http://schemas.openxmlformats.org/drawingml/2006/main">
            <a:r>
              <a:t>[Sources]</a:t>
            </a:r>
          </a:p>
          <a:p xmlns:a="http://schemas.openxmlformats.org/drawingml/2006/main">
            <a:r>
              <a:t>dataset:11200:1 | 한국관광 데이터랩 · 서울특별시 성동구 순 방문자 수 및 숙박 비율 (이동통신 기반 외지인) | https://datalab.visitkorea.or.kr/</a:t>
            </a:r>
          </a:p>
          <a:p xmlns:a="http://schemas.openxmlformats.org/drawingml/2006/main">
            <a:r>
              <a:t>dataset:11200:2 | 한국관광 데이터랩 · 서울특별시 성동구 월간 순 방문자 수 (이동통신 기반 외지인) | https://datalab.visitkorea.or.kr/</a:t>
            </a:r>
          </a:p>
          <a:p xmlns:a="http://schemas.openxmlformats.org/drawingml/2006/main">
            <a:r>
              <a:t>dataset:11200:3 | 한국관광 데이터랩 · 서울특별시 성동구 관광소비 추이_외지인 | https://datalab.visitkorea.or.kr/</a:t>
            </a:r>
          </a:p>
          <a:p xmlns:a="http://schemas.openxmlformats.org/drawingml/2006/main">
            <a:r>
              <a:t>dataset:11200:4 | 한국관광 데이터랩 · 서울특별시 성동구 숙박방문자 비율 추이 (이동통신 기반 외지인) | https://datalab.visitkorea.or.kr/</a:t>
            </a:r>
          </a:p>
          <a:p xmlns:a="http://schemas.openxmlformats.org/drawingml/2006/main">
            <a:r>
              <a:t>dataset:11200:5 | 한국관광 데이터랩 · 서울특별시 성동구 평균 숙박일 (이동통신 기반 외지인) | https://datalab.visitkorea.or.kr/</a:t>
            </a:r>
          </a:p>
          <a:p xmlns:a="http://schemas.openxmlformats.org/drawingml/2006/main">
            <a:r>
              <a:t>dataset:11200:6 | 한국관광 데이터랩 · 서울특별시 성동구 내비게이션 목적지 유형별 검색량 | https://datalab.visitkorea.or.kr/</a:t>
            </a:r>
          </a:p>
          <a:p xmlns:a="http://schemas.openxmlformats.org/drawingml/2006/main">
            <a:r>
              <a:t>dataset:11200:7 | 한국관광 데이터랩 · 서울특별시 성동구 SNS 언급량 | https://datalab.visitkorea.or.kr/</a:t>
            </a:r>
          </a:p>
          <a:p xmlns:a="http://schemas.openxmlformats.org/drawingml/2006/main">
            <a:r>
              <a:t>datalab:0ea2e7ff8811:517c835e3039 | 한국관광 데이터랩 공식 다운로드 · 서울특별시_성동구/숙박_체류시간/2025_01_12.zip | https://datalab.visitkorea.or.kr/</a:t>
            </a:r>
          </a:p>
          <a:p xmlns:a="http://schemas.openxmlformats.org/drawingml/2006/main">
            <a:r>
              <a:t>datalab:3a79405535b3:68f41f6aa9c6 | 한국관광 데이터랩 공식 다운로드 · 서울특별시_성동구/관광소비/2025_01_12.zip | https://datalab.visitkorea.or.kr/</a:t>
            </a:r>
          </a:p>
          <a:p xmlns:a="http://schemas.openxmlformats.org/drawingml/2006/main">
            <a:r>
              <a:t>datalab:6217474023e5:2e717447925f | 한국관광 데이터랩 공식 다운로드 · 서울특별시_성동구/숙박_체류시간/2026_01_06.zip | https://datalab.visitkorea.or.kr/</a:t>
            </a:r>
          </a:p>
          <a:p xmlns:a="http://schemas.openxmlformats.org/drawingml/2006/main">
            <a:r>
              <a:t>datalab:62312101c8d0:9c44bd532366 | 한국관광 데이터랩 공식 다운로드 · 서울특별시_성동구/방문자/2025_01_12.zip | https://datalab.visitkorea.or.kr/</a:t>
            </a:r>
          </a:p>
          <a:p xmlns:a="http://schemas.openxmlformats.org/drawingml/2006/main">
            <a:r>
              <a:t>datalab:7ddda0420208:c68bf7b028b0 | 한국관광 데이터랩 공식 다운로드 · 서울특별시_성동구/관광소비/2026_01_06.zip | https://datalab.visitkorea.or.kr/</a:t>
            </a:r>
          </a:p>
          <a:p xmlns:a="http://schemas.openxmlformats.org/drawingml/2006/main">
            <a:r>
              <a:t>datalab:9369271c7419:76a9b6ea89d8 | 한국관광 데이터랩 공식 다운로드 · 서울특별시_성동구/방문자/2026_01_06.zip | https://datalab.visitkorea.or.kr/</a:t>
            </a:r>
          </a:p>
          <a:p xmlns:a="http://schemas.openxmlformats.org/drawingml/2006/main">
            <a:r>
              <a:t>team-bigdata:23ea68053684:6bfbcf8aabf6 | 한국관광 데이터랩 전국 빅데이터 다운로드 · 이동통신/내국인/지역별 방문자수/20260820140607__202601-202606_데이터랩_다운로드.zip | https://datalab.visitkorea.or.kr/</a:t>
            </a:r>
          </a:p>
          <a:p xmlns:a="http://schemas.openxmlformats.org/drawingml/2006/main">
            <a:r>
              <a:t>team-bigdata:98d4ae590d9a:3be52dd54323 | 한국관광 데이터랩 전국 빅데이터 다운로드 · 이동통신/외국인/20260820141710_전국_202601-202606_데이터랩_다운로드.zip | https://datalab.visitkorea.or.kr/</a:t>
            </a:r>
          </a:p>
          <a:p xmlns:a="http://schemas.openxmlformats.org/drawingml/2006/main">
            <a:r>
              <a:t>team-bigdata:367cd0294ec4:873930d645e5 | 한국관광 데이터랩 전국 빅데이터 다운로드 · 신용카드/내국인/지역별 관광지출액/20260820140046__202601-202606_데이터랩_다운로드.zip | https://datalab.visitkorea.or.kr/</a:t>
            </a:r>
          </a:p>
          <a:p xmlns:a="http://schemas.openxmlformats.org/drawingml/2006/main">
            <a:r>
              <a:t>team-bigdata:553a0dad4bb4:5a31355dffe8 | 한국관광 데이터랩 전국 빅데이터 다운로드 · 신용카드/외국인/지역별 관광지출액/20260820140355__202601-202606_데이터랩_다운로드.zip | https://datalab.visitkorea.or.kr/</a:t>
            </a:r>
          </a:p>
          <a:p xmlns:a="http://schemas.openxmlformats.org/drawingml/2006/main">
            <a:r>
              <a:t>team-bigdata:a53dbe1c21df:77a052de41d5 | 한국관광 데이터랩 전국 빅데이터 다운로드 · 네비게이션/지역별 검색건수/20260820195507__202601-202606_데이터랩_다운로드.zip | https://datalab.visitkorea.or.kr/</a:t>
            </a:r>
          </a:p>
          <a:p xmlns:a="http://schemas.openxmlformats.org/drawingml/2006/main">
            <a:r>
              <a:t>team-bigdata:823a38d1d61c:5385261d02e5 | 한국관광 데이터랩 전국 빅데이터 다운로드 · 이동통신/내국인/지역별 방문자수/20260820140614__202501-202512_데이터랩_다운로드.zip | https://datalab.visitkorea.or.kr/</a:t>
            </a:r>
          </a:p>
          <a:p xmlns:a="http://schemas.openxmlformats.org/drawingml/2006/main">
            <a:r>
              <a:t>team-bigdata:2723bdb0d589:1666a34058ed | 한국관광 데이터랩 전국 빅데이터 다운로드 · 이동통신/외국인/20260820141649_전국_202501-202512_데이터랩_다운로드.zip | https://datalab.visitkorea.or.kr/</a:t>
            </a:r>
          </a:p>
          <a:p xmlns:a="http://schemas.openxmlformats.org/drawingml/2006/main">
            <a:r>
              <a:t>team-bigdata:83177a234971:c02cb7972e0f | 한국관광 데이터랩 전국 빅데이터 다운로드 · 신용카드/내국인/지역별 관광지출액/20260820135957__202501-202512_데이터랩_다운로드.zip | https://datalab.visitkorea.or.kr/</a:t>
            </a:r>
          </a:p>
          <a:p xmlns:a="http://schemas.openxmlformats.org/drawingml/2006/main">
            <a:r>
              <a:t>team-bigdata:58ded7732251:589c76395cbc | 한국관광 데이터랩 전국 빅데이터 다운로드 · 신용카드/외국인/지역별 관광지출액/20260820140409__202501-202512_데이터랩_다운로드.zip | https://datalab.visitkorea.or.kr/</a:t>
            </a:r>
          </a:p>
          <a:p xmlns:a="http://schemas.openxmlformats.org/drawingml/2006/main">
            <a:r>
              <a:t>team-bigdata:e28c947cb52f:bb4cb344a6ba | 한국관광 데이터랩 전국 빅데이터 다운로드 · 네비게이션/지역별 검색건수/20260820132007__202501-202512_데이터랩_다운로드.zip | https://datalab.visitkorea.or.kr/</a:t>
            </a:r>
          </a:p>
          <a:p xmlns:a="http://schemas.openxmlformats.org/drawingml/2006/main">
            <a:r>
              <a:t>team-bigdata:8815bbb11a39:1a5988f5f8ec | 한국관광 데이터랩 전국 빅데이터 다운로드 · 이동통신/내국인/지역별 방문자수/20260820140624__202401-202412_데이터랩_다운로드.zip | https://datalab.visitkorea.or.kr/</a:t>
            </a:r>
          </a:p>
          <a:p xmlns:a="http://schemas.openxmlformats.org/drawingml/2006/main">
            <a:r>
              <a:t>team-bigdata:19fd67fbb73d:afa4f0f54a2f | 한국관광 데이터랩 전국 빅데이터 다운로드 · 이동통신/외국인/20260820141639_전국_202401-202412_데이터랩_다운로드.zip | https://datalab.visitkorea.or.kr/</a:t>
            </a:r>
          </a:p>
          <a:p xmlns:a="http://schemas.openxmlformats.org/drawingml/2006/main">
            <a:r>
              <a:t>regional-status:300d117a9148:9b5e59efa799 | 한국관광 데이터랩 지역별 관광 현황 · 서울특별시 성동구 · 인기관광지 | https://datalab.visitkorea.or.kr/</a:t>
            </a:r>
          </a:p>
          <a:p xmlns:a="http://schemas.openxmlformats.org/drawingml/2006/main">
            <a:r>
              <a:t>regional-status:e1f4d12a3396:706443b7ba17 | 한국관광 데이터랩 지역별 관광 현황 · 서울특별시 성동구 · 유입유출 | https://datalab.visitkorea.or.kr/</a:t>
            </a:r>
          </a:p>
          <a:p xmlns:a="http://schemas.openxmlformats.org/drawingml/2006/main">
            <a:r>
              <a:t>regional-status:f05693fd34a7:ae929e215d91 | 한국관광 데이터랩 지역별 관광 현황 · 서울특별시 성동구 · 지역집중률 | https://datalab.visitkorea.or.kr/</a:t>
            </a:r>
          </a:p>
          <a:p xmlns:a="http://schemas.openxmlformats.org/drawingml/2006/main">
            <a:r>
              <a:t>ml:11200:regional-demand-v3.1:202606 | 지역 관광수요 ML 전망 · 공식 관측값 아님 | URL 미기록</a:t>
            </a:r>
          </a:p>
          <a:p xmlns:a="http://schemas.openxmlformats.org/drawingml/2006/main">
            <a:r>
              <a:t>tour-api:2901229 | 가조쿠 | https://apis.data.go.kr/B551011/KorService2</a:t>
            </a:r>
          </a:p>
          <a:p xmlns:a="http://schemas.openxmlformats.org/drawingml/2006/main">
            <a:r>
              <a:t>tour-api:2895161 | 계월 | https://apis.data.go.kr/B551011/KorService2</a:t>
            </a:r>
          </a:p>
          <a:p xmlns:a="http://schemas.openxmlformats.org/drawingml/2006/main">
            <a:r>
              <a:t>tour-api:2901359 | 계자람 | https://apis.data.go.kr/B551011/KorService2</a:t>
            </a:r>
          </a:p>
          <a:p xmlns:a="http://schemas.openxmlformats.org/drawingml/2006/main">
            <a:r>
              <a:t>tour-api:2895211 | 구욱희씨 | https://apis.data.go.kr/B551011/KorService2</a:t>
            </a:r>
          </a:p>
          <a:p xmlns:a="http://schemas.openxmlformats.org/drawingml/2006/main">
            <a:r>
              <a:t>tour-api:2895236 | 구펠 | https://apis.data.go.kr/B551011/KorService2</a:t>
            </a:r>
          </a:p>
          <a:p xmlns:a="http://schemas.openxmlformats.org/drawingml/2006/main">
            <a:r>
              <a:t>tour-api:2898994 | 그라데이션커피 | https://apis.data.go.kr/B551011/KorService2</a:t>
            </a:r>
          </a:p>
          <a:p xmlns:a="http://schemas.openxmlformats.org/drawingml/2006/main">
            <a:r>
              <a:t>tour-api:2894873 | 그린랩 | https://apis.data.go.kr/B551011/KorService2</a:t>
            </a:r>
          </a:p>
          <a:p xmlns:a="http://schemas.openxmlformats.org/drawingml/2006/main">
            <a:r>
              <a:t>tour-api:2743748 | 금남시장 | https://apis.data.go.kr/B551011/KorService2</a:t>
            </a:r>
          </a:p>
          <a:p xmlns:a="http://schemas.openxmlformats.org/drawingml/2006/main">
            <a:r>
              <a:t>tour-api:2901568 | 기후 | https://apis.data.go.kr/B551011/KorService2</a:t>
            </a:r>
          </a:p>
          <a:p xmlns:a="http://schemas.openxmlformats.org/drawingml/2006/main">
            <a:r>
              <a:t>tour-api:2894842 | 꾸아 성수점 | https://apis.data.go.kr/B551011/KorService2</a:t>
            </a:r>
          </a:p>
          <a:p xmlns:a="http://schemas.openxmlformats.org/drawingml/2006/main">
            <a:r>
              <a:t>tour-api:2843520 | 난포 | https://apis.data.go.kr/B551011/KorService2</a:t>
            </a:r>
          </a:p>
          <a:p xmlns:a="http://schemas.openxmlformats.org/drawingml/2006/main">
            <a:r>
              <a:t>tour-api:2894810 | 누메로도스 | https://apis.data.go.kr/B551011/KorService2</a:t>
            </a:r>
          </a:p>
          <a:p xmlns:a="http://schemas.openxmlformats.org/drawingml/2006/main">
            <a:r>
              <a:t>tour-api:2894795 | 누메로뜨레쓰 | https://apis.data.go.kr/B551011/KorService2</a:t>
            </a:r>
          </a:p>
          <a:p xmlns:a="http://schemas.openxmlformats.org/drawingml/2006/main">
            <a:r>
              <a:t>tour-api:2894763 | 니드스윗 | https://apis.data.go.kr/B551011/KorService2</a:t>
            </a:r>
          </a:p>
          <a:p xmlns:a="http://schemas.openxmlformats.org/drawingml/2006/main">
            <a:r>
              <a:t>tour-api:2894747 | 단일서울 | https://apis.data.go.kr/B551011/KorService2</a:t>
            </a:r>
          </a:p>
          <a:p xmlns:a="http://schemas.openxmlformats.org/drawingml/2006/main">
            <a:r>
              <a:t>tour-api:2894854 | 대돈집 | https://apis.data.go.kr/B551011/KorService2</a:t>
            </a:r>
          </a:p>
          <a:p xmlns:a="http://schemas.openxmlformats.org/drawingml/2006/main">
            <a:r>
              <a:t>tour-api:2899012 | 대흥정육식당 | https://apis.data.go.kr/B551011/KorService2</a:t>
            </a:r>
          </a:p>
          <a:p xmlns:a="http://schemas.openxmlformats.org/drawingml/2006/main">
            <a:r>
              <a:t>tour-api:2753089 | 더서울라이티움 | https://apis.data.go.kr/B551011/KorService2</a:t>
            </a:r>
          </a:p>
          <a:p xmlns:a="http://schemas.openxmlformats.org/drawingml/2006/main">
            <a:r>
              <a:t>tour-api:736766 | 더페이지갤러리 | https://apis.data.go.kr/B551011/KorService2</a:t>
            </a:r>
          </a:p>
          <a:p xmlns:a="http://schemas.openxmlformats.org/drawingml/2006/main">
            <a:r>
              <a:t>tour-api:2845040 | 땅코참숯구이 본점 | https://apis.data.go.kr/B551011/KorService2</a:t>
            </a:r>
          </a:p>
          <a:p xmlns:a="http://schemas.openxmlformats.org/drawingml/2006/main">
            <a:r>
              <a:t>reference:kto:2026:local-airport | 요즘, 한국관광 2호 - 지방공항 연계 지역관광 활성화 방안 | PDF 44쪽, PDF 43쪽, PDF 36쪽, PDF 40쪽, PDF 41쪽, PDF 41쪽, PDF 44쪽, PDF 43쪽, PDF 43쪽 | https://datalab.visitkorea.or.kr/site/portal/ex/bbs/View.do?bcIdx=311068&amp;cbIdx=1135&amp;pageIndex=1</a:t>
            </a:r>
          </a:p>
          <a:p xmlns:a="http://schemas.openxmlformats.org/drawingml/2006/main">
            <a:r>
              <a:t>web:11200:1 | 2026 서울국제정원박람회 &lt; 행사·공연 정보 &lt; 축제·관광 &lt; 미래한강본부, 한강공원 | https://hangang.seoul.go.kr/www/eventMng/detail.do?evntSn=378&amp;mid=538&amp;srchType=list</a:t>
            </a:r>
          </a:p>
          <a:p xmlns:a="http://schemas.openxmlformats.org/drawingml/2006/main">
            <a:r>
              <a:t>web:11200:2 | 개막 20일차 250만명 넘은 서울국제정원박람회… 성수 상권 매출 30% 급증 &gt; 보도자료 | 서울특별시 | https://www.seoul.go.kr/news/news_report.do?nttNo=458311</a:t>
            </a:r>
          </a:p>
          <a:p xmlns:a="http://schemas.openxmlformats.org/drawingml/2006/main">
            <a:r>
              <a:t>web:11200:3 | 서울숲-성수 커넥트 투어 | 2026 서울국제정원박람회 | https://gov.seoul.go.kr/festa/garden/y2026/program/garden-culture-program/commentary-program?article=42926</a:t>
            </a:r>
          </a:p>
          <a:p xmlns:a="http://schemas.openxmlformats.org/drawingml/2006/main">
            <a:r>
              <a:t>web:11200:4 | 2026 서울축제지도 - 가을편 &lt; 공지사항(상세) &lt; 새소식 | 서울문화포털 | https://culture.seoul.go.kr/culture/bbs/B0000000/view.do?menuNo=200050&amp;nttId=16465</a:t>
            </a:r>
          </a:p>
          <a:p xmlns:a="http://schemas.openxmlformats.org/drawingml/2006/main">
            <a:r>
              <a:t>web:11200:5 | 오시는 길 | 2026 서울국제정원박람회 | https://www.seoul.go.kr/festa/garden/y2026/introduce/location?pc=1</a:t>
            </a:r>
          </a:p>
          <a:p xmlns:a="http://schemas.openxmlformats.org/drawingml/2006/main">
            <a:r>
              <a:t>web:11200:6 | (석간) 제11차 도시건축공동위원회 개최결과 &gt; 보도자료 | 서울특별시 | https://www.seoul.go.kr/news/news_report.do?nttNo=460823&amp;tr_code=snews</a:t>
            </a:r>
          </a:p>
          <a:p xmlns:a="http://schemas.openxmlformats.org/drawingml/2006/main">
            <a:r>
              <a:t>web:11200:7 | 2026 서울국제정원박람회 &lt; 행사·공연 정보 &lt; 축제·관광 &lt; 미래한강본부, 한강공원 | https://hangang.seoul.go.kr/www/eventMng/detail.do?evntSn=378&amp;mid=538&amp;srchType=list</a:t>
            </a:r>
          </a:p>
          <a:p xmlns:a="http://schemas.openxmlformats.org/drawingml/2006/main">
            <a:r>
              <a:t>case:jeonju_night_budget_2026 | 전주시 2026년도 관광산업과 세출예산 사업명세서 | https://jeonju.go.kr/resource/www/images/download/budget/2026/2026_31_2.pdf</a:t>
            </a:r>
          </a:p>
          <a:p xmlns:a="http://schemas.openxmlformats.org/drawingml/2006/main">
            <a:r>
              <a:t>case:gangjin_half_price_2024 | 강진 반값여행 지역경제 효과 소개 | https://jnfarm.jeonnam.go.kr/board/FARM_BOARD_008/boardView.do?bdId=BD_00000000000011721&amp;menuCd=farm004002</a:t>
            </a:r>
          </a:p>
          <a:p xmlns:a="http://schemas.openxmlformats.org/drawingml/2006/main">
            <a:r>
              <a:t>case:digital_tourism_resident_2024 | 2024년 6월 여행가는 달 추진 보도자료 | https://mcst.go.kr/servlets/eduport/front/upload/UplDownloadFile?pFileName=%280514%29%EB%AC%B8%EC%B2%B4%EB%B6%80%EB%B3%B4%EB%8F%84%EC%9E%90%EB%A3%8C-6%EC%9B%94_%EC%97%AC%ED%96%89%EA%B0%80%EB%8A%94_%EB%8B%AC_%EC%B6%94%EC%A7%84.pdf&amp;pPath=0302000000&amp;pRealName=20240514083202149235802932_PRESS20240514083202456506.pdf</a:t>
            </a:r>
          </a:p>
          <a:p xmlns:a="http://schemas.openxmlformats.org/drawingml/2006/main">
            <a:r>
              <a:t>case:kto_stay_discount_2022 | 2022 대한민국 숙박대전 경제파급효과 공개자료 | https://kto.visitkorea.or.kr/upload/flexer/upload/ktobiz/20220928/b623b5f9-3ec0-11ed-9832-ddf31964842e.hwp.files/Sections1.html</a:t>
            </a:r>
          </a:p>
          <a:p xmlns:a="http://schemas.openxmlformats.org/drawingml/2006/main">
            <a:r>
              <a:t>case:night_festival_2025 | 2025 대한민국 밤밤페스타 개최 도시 및 일정 | https://korean.visitkorea.or.kr/detail/rem_detail.do?cotid=f9c636b2-dd7c-4f09-af3d-6af43b33d371</a:t>
            </a:r>
          </a:p>
          <a:p xmlns:a="http://schemas.openxmlformats.org/drawingml/2006/main">
            <a:r>
              <a:t>case:night_tourism_cities_2024 | 2024년도 정부업무평가 관광분야 성과자료 | https://www.evaluation.go.kr/upload2/atch/eval/20250429095846463.pdf</a:t>
            </a:r>
          </a:p>
          <a:p xmlns:a="http://schemas.openxmlformats.org/drawingml/2006/main">
            <a:r>
              <a:t>[/Sources]</a:t>
            </a:r>
          </a:p>
          <a:p xmlns:a="http://schemas.openxmlformats.org/drawingml/2006/main">
            <a:r>
              <a:t>[Calculation audit]</a:t>
            </a:r>
          </a:p>
          <a:p xmlns:a="http://schemas.openxmlformats.org/drawingml/2006/main">
            <a:r>
              <a:t>{</a:t>
            </a:r>
          </a:p>
          <a:p xmlns:a="http://schemas.openxmlformats.org/drawingml/2006/main">
            <a:r>
              <a:t>  "source_inventory": [</a:t>
            </a:r>
          </a:p>
          <a:p xmlns:a="http://schemas.openxmlformats.org/drawingml/2006/main">
            <a:r>
              <a:t>    {</a:t>
            </a:r>
          </a:p>
          <a:p xmlns:a="http://schemas.openxmlformats.org/drawingml/2006/main">
            <a:r>
              <a:t>      "title": "한국관광 데이터랩 · 서울특별시 성동구 순 방문자 수 및 숙박 비율 (이동통신 기반 외지인)",</a:t>
            </a:r>
          </a:p>
          <a:p xmlns:a="http://schemas.openxmlformats.org/drawingml/2006/main">
            <a:r>
              <a:t>      "summary": "월간 순 방문자 수: 6,687,696명 (관측 기준월: 2026-06)",</a:t>
            </a:r>
          </a:p>
          <a:p xmlns:a="http://schemas.openxmlformats.org/drawingml/2006/main">
            <a:r>
              <a:t>      "source_id": "dataset:11200:1",</a:t>
            </a:r>
          </a:p>
          <a:p xmlns:a="http://schemas.openxmlformats.org/drawingml/2006/main">
            <a:r>
              <a:t>      "source_url": "https://datalab.visitkorea.or.kr/",</a:t>
            </a:r>
          </a:p>
          <a:p xmlns:a="http://schemas.openxmlformats.org/drawingml/2006/main">
            <a:r>
              <a:t>      "source_type": "dataset",</a:t>
            </a:r>
          </a:p>
          <a:p xmlns:a="http://schemas.openxmlformats.org/drawingml/2006/main">
            <a:r>
              <a:t>      "observation_period": "2026-06",</a:t>
            </a:r>
          </a:p>
          <a:p xmlns:a="http://schemas.openxmlformats.org/drawingml/2006/main">
            <a:r>
              <a:t>      "published_or_updated_at": "2026-06"</a:t>
            </a:r>
          </a:p>
          <a:p xmlns:a="http://schemas.openxmlformats.org/drawingml/2006/main">
            <a:r>
              <a:t>    },</a:t>
            </a:r>
          </a:p>
          <a:p xmlns:a="http://schemas.openxmlformats.org/drawingml/2006/main">
            <a:r>
              <a:t>    {</a:t>
            </a:r>
          </a:p>
          <a:p xmlns:a="http://schemas.openxmlformats.org/drawingml/2006/main">
            <a:r>
              <a:t>      "title": "한국관광 데이터랩 · 서울특별시 성동구 월간 순 방문자 수 (이동통신 기반 외지인)",</a:t>
            </a:r>
          </a:p>
          <a:p xmlns:a="http://schemas.openxmlformats.org/drawingml/2006/main">
            <a:r>
              <a:t>      "summary": "전년동월 외지인 방문자 증감률: 10.2% (관측 기준월: 2026-06)",</a:t>
            </a:r>
          </a:p>
          <a:p xmlns:a="http://schemas.openxmlformats.org/drawingml/2006/main">
            <a:r>
              <a:t>      "source_id": "dataset:11200:2",</a:t>
            </a:r>
          </a:p>
          <a:p xmlns:a="http://schemas.openxmlformats.org/drawingml/2006/main">
            <a:r>
              <a:t>      "source_url": "https://datalab.visitkorea.or.kr/",</a:t>
            </a:r>
          </a:p>
          <a:p xmlns:a="http://schemas.openxmlformats.org/drawingml/2006/main">
            <a:r>
              <a:t>      "source_type": "dataset",</a:t>
            </a:r>
          </a:p>
          <a:p xmlns:a="http://schemas.openxmlformats.org/drawingml/2006/main">
            <a:r>
              <a:t>      "observation_period": "2026-06",</a:t>
            </a:r>
          </a:p>
          <a:p xmlns:a="http://schemas.openxmlformats.org/drawingml/2006/main">
            <a:r>
              <a:t>      "published_or_updated_at": "2026-06"</a:t>
            </a:r>
          </a:p>
          <a:p xmlns:a="http://schemas.openxmlformats.org/drawingml/2006/main">
            <a:r>
              <a:t>    },</a:t>
            </a:r>
          </a:p>
          <a:p xmlns:a="http://schemas.openxmlformats.org/drawingml/2006/main">
            <a:r>
              <a:t>    {</a:t>
            </a:r>
          </a:p>
          <a:p xmlns:a="http://schemas.openxmlformats.org/drawingml/2006/main">
            <a:r>
              <a:t>      "title": "한국관광 데이터랩 · 서울특별시 성동구 관광소비 추이_외지인",</a:t>
            </a:r>
          </a:p>
          <a:p xmlns:a="http://schemas.openxmlformats.org/drawingml/2006/main">
            <a:r>
              <a:t>      "summary": "월간 외지인 관광소비 총액: 93,151,315,000원 (관측 기준월: 2026-06)",</a:t>
            </a:r>
          </a:p>
          <a:p xmlns:a="http://schemas.openxmlformats.org/drawingml/2006/main">
            <a:r>
              <a:t>      "source_id": "dataset:11200:3",</a:t>
            </a:r>
          </a:p>
          <a:p xmlns:a="http://schemas.openxmlformats.org/drawingml/2006/main">
            <a:r>
              <a:t>      "source_url": "https://datalab.visitkorea.or.kr/",</a:t>
            </a:r>
          </a:p>
          <a:p xmlns:a="http://schemas.openxmlformats.org/drawingml/2006/main">
            <a:r>
              <a:t>      "source_type": "dataset",</a:t>
            </a:r>
          </a:p>
          <a:p xmlns:a="http://schemas.openxmlformats.org/drawingml/2006/main">
            <a:r>
              <a:t>      "observation_period": "2026-06",</a:t>
            </a:r>
          </a:p>
          <a:p xmlns:a="http://schemas.openxmlformats.org/drawingml/2006/main">
            <a:r>
              <a:t>      "published_or_updated_at": "2026-06"</a:t>
            </a:r>
          </a:p>
          <a:p xmlns:a="http://schemas.openxmlformats.org/drawingml/2006/main">
            <a:r>
              <a:t>    },</a:t>
            </a:r>
          </a:p>
          <a:p xmlns:a="http://schemas.openxmlformats.org/drawingml/2006/main">
            <a:r>
              <a:t>    {</a:t>
            </a:r>
          </a:p>
          <a:p xmlns:a="http://schemas.openxmlformats.org/drawingml/2006/main">
            <a:r>
              <a:t>      "title": "한국관광 데이터랩 · 서울특별시 성동구 숙박방문자 비율 추이 (이동통신 기반 외지인)",</a:t>
            </a:r>
          </a:p>
          <a:p xmlns:a="http://schemas.openxmlformats.org/drawingml/2006/main">
            <a:r>
              <a:t>      "summary": "외지인 숙박 방문 비율: 3.7% (관측 기준월: 2026-06)",</a:t>
            </a:r>
          </a:p>
          <a:p xmlns:a="http://schemas.openxmlformats.org/drawingml/2006/main">
            <a:r>
              <a:t>      "source_id": "dataset:11200:4",</a:t>
            </a:r>
          </a:p>
          <a:p xmlns:a="http://schemas.openxmlformats.org/drawingml/2006/main">
            <a:r>
              <a:t>      "source_url": "https://datalab.visitkorea.or.kr/",</a:t>
            </a:r>
          </a:p>
          <a:p xmlns:a="http://schemas.openxmlformats.org/drawingml/2006/main">
            <a:r>
              <a:t>      "source_type": "dataset",</a:t>
            </a:r>
          </a:p>
          <a:p xmlns:a="http://schemas.openxmlformats.org/drawingml/2006/main">
            <a:r>
              <a:t>      "observation_period": "2026-06",</a:t>
            </a:r>
          </a:p>
          <a:p xmlns:a="http://schemas.openxmlformats.org/drawingml/2006/main">
            <a:r>
              <a:t>      "published_or_updated_at": "2026-06"</a:t>
            </a:r>
          </a:p>
          <a:p xmlns:a="http://schemas.openxmlformats.org/drawingml/2006/main">
            <a:r>
              <a:t>    },</a:t>
            </a:r>
          </a:p>
          <a:p xmlns:a="http://schemas.openxmlformats.org/drawingml/2006/main">
            <a:r>
              <a:t>    {</a:t>
            </a:r>
          </a:p>
          <a:p xmlns:a="http://schemas.openxmlformats.org/drawingml/2006/main">
            <a:r>
              <a:t>      "title": "한국관광 데이터랩 · 서울특별시 성동구 평균 숙박일 (이동통신 기반 외지인)",</a:t>
            </a:r>
          </a:p>
          <a:p xmlns:a="http://schemas.openxmlformats.org/drawingml/2006/main">
            <a:r>
              <a:t>      "summary": "외지인 평균 숙박일수: 3.03일 (관측 기준월: 2026-06)",</a:t>
            </a:r>
          </a:p>
          <a:p xmlns:a="http://schemas.openxmlformats.org/drawingml/2006/main">
            <a:r>
              <a:t>      "source_id": "dataset:11200:5",</a:t>
            </a:r>
          </a:p>
          <a:p xmlns:a="http://schemas.openxmlformats.org/drawingml/2006/main">
            <a:r>
              <a:t>      "source_url": "https://datalab.visitkorea.or.kr/",</a:t>
            </a:r>
          </a:p>
          <a:p xmlns:a="http://schemas.openxmlformats.org/drawingml/2006/main">
            <a:r>
              <a:t>      "source_type": "dataset",</a:t>
            </a:r>
          </a:p>
          <a:p xmlns:a="http://schemas.openxmlformats.org/drawingml/2006/main">
            <a:r>
              <a:t>      "observation_period": "2026-06",</a:t>
            </a:r>
          </a:p>
          <a:p xmlns:a="http://schemas.openxmlformats.org/drawingml/2006/main">
            <a:r>
              <a:t>      "published_or_updated_at": "2026-06"</a:t>
            </a:r>
          </a:p>
          <a:p xmlns:a="http://schemas.openxmlformats.org/drawingml/2006/main">
            <a:r>
              <a:t>    },</a:t>
            </a:r>
          </a:p>
          <a:p xmlns:a="http://schemas.openxmlformats.org/drawingml/2006/main">
            <a:r>
              <a:t>    {</a:t>
            </a:r>
          </a:p>
          <a:p xmlns:a="http://schemas.openxmlformats.org/drawingml/2006/main">
            <a:r>
              <a:t>      "title": "한국관광 데이터랩 · 서울특별시 성동구 내비게이션 목적지 유형별 검색량",</a:t>
            </a:r>
          </a:p>
          <a:p xmlns:a="http://schemas.openxmlformats.org/drawingml/2006/main">
            <a:r>
              <a:t>      "summary": "내비게이션 목적지 검색량: 89,198건 (관측 기준월: 2026-06)",</a:t>
            </a:r>
          </a:p>
          <a:p xmlns:a="http://schemas.openxmlformats.org/drawingml/2006/main">
            <a:r>
              <a:t>      "source_id": "dataset:11200:6",</a:t>
            </a:r>
          </a:p>
          <a:p xmlns:a="http://schemas.openxmlformats.org/drawingml/2006/main">
            <a:r>
              <a:t>      "source_url": "https://datalab.visitkorea.or.kr/",</a:t>
            </a:r>
          </a:p>
          <a:p xmlns:a="http://schemas.openxmlformats.org/drawingml/2006/main">
            <a:r>
              <a:t>      "source_type": "dataset",</a:t>
            </a:r>
          </a:p>
          <a:p xmlns:a="http://schemas.openxmlformats.org/drawingml/2006/main">
            <a:r>
              <a:t>      "observation_period": "2026-06",</a:t>
            </a:r>
          </a:p>
          <a:p xmlns:a="http://schemas.openxmlformats.org/drawingml/2006/main">
            <a:r>
              <a:t>      "published_or_updated_at": "2026-06"</a:t>
            </a:r>
          </a:p>
          <a:p xmlns:a="http://schemas.openxmlformats.org/drawingml/2006/main">
            <a:r>
              <a:t>    },</a:t>
            </a:r>
          </a:p>
          <a:p xmlns:a="http://schemas.openxmlformats.org/drawingml/2006/main">
            <a:r>
              <a:t>    {</a:t>
            </a:r>
          </a:p>
          <a:p xmlns:a="http://schemas.openxmlformats.org/drawingml/2006/main">
            <a:r>
              <a:t>      "title": "한국관광 데이터랩 · 서울특별시 성동구 SNS 언급량",</a:t>
            </a:r>
          </a:p>
          <a:p xmlns:a="http://schemas.openxmlformats.org/drawingml/2006/main">
            <a:r>
              <a:t>      "summary": "SNS 언급량: 71,233건 (관측 기준월: 2026-06)",</a:t>
            </a:r>
          </a:p>
          <a:p xmlns:a="http://schemas.openxmlformats.org/drawingml/2006/main">
            <a:r>
              <a:t>      "source_id": "dataset:11200:7",</a:t>
            </a:r>
          </a:p>
          <a:p xmlns:a="http://schemas.openxmlformats.org/drawingml/2006/main">
            <a:r>
              <a:t>      "source_url": "https://datalab.visitkorea.or.kr/",</a:t>
            </a:r>
          </a:p>
          <a:p xmlns:a="http://schemas.openxmlformats.org/drawingml/2006/main">
            <a:r>
              <a:t>      "source_type": "dataset",</a:t>
            </a:r>
          </a:p>
          <a:p xmlns:a="http://schemas.openxmlformats.org/drawingml/2006/main">
            <a:r>
              <a:t>      "observation_period": "2026-06",</a:t>
            </a:r>
          </a:p>
          <a:p xmlns:a="http://schemas.openxmlformats.org/drawingml/2006/main">
            <a:r>
              <a:t>      "published_or_updated_at": "2026-06"</a:t>
            </a:r>
          </a:p>
          <a:p xmlns:a="http://schemas.openxmlformats.org/drawingml/2006/main">
            <a:r>
              <a:t>    },</a:t>
            </a:r>
          </a:p>
          <a:p xmlns:a="http://schemas.openxmlformats.org/drawingml/2006/main">
            <a:r>
              <a:t>    {</a:t>
            </a:r>
          </a:p>
          <a:p xmlns:a="http://schemas.openxmlformats.org/drawingml/2006/main">
            <a:r>
              <a:t>      "title": "한국관광 데이터랩 공식 다운로드 · 서울특별시_성동구/숙박_체류시간/2025_01_12.zip",</a:t>
            </a:r>
          </a:p>
          <a:p xmlns:a="http://schemas.openxmlformats.org/drawingml/2006/main">
            <a:r>
              <a:t>      "summary": "전국 비교 기준 기간: 2025-07 ~ 2026-06",</a:t>
            </a:r>
          </a:p>
          <a:p xmlns:a="http://schemas.openxmlformats.org/drawingml/2006/main">
            <a:r>
              <a:t>      "source_id": "datalab:0ea2e7ff8811:517c835e3039",</a:t>
            </a:r>
          </a:p>
          <a:p xmlns:a="http://schemas.openxmlformats.org/drawingml/2006/main">
            <a:r>
              <a:t>      "source_url": "https://datalab.visitkorea.or.kr/",</a:t>
            </a:r>
          </a:p>
          <a:p xmlns:a="http://schemas.openxmlformats.org/drawingml/2006/main">
            <a:r>
              <a:t>      "source_type": "nationwide_dataset",</a:t>
            </a:r>
          </a:p>
          <a:p xmlns:a="http://schemas.openxmlformats.org/drawingml/2006/main">
            <a:r>
              <a:t>      "observation_period": "2025-07 ~ 2026-06",</a:t>
            </a:r>
          </a:p>
          <a:p xmlns:a="http://schemas.openxmlformats.org/drawingml/2006/main">
            <a:r>
              <a:t>      "published_or_updated_at": "2024-07 ~ 2025-06"</a:t>
            </a:r>
          </a:p>
          <a:p xmlns:a="http://schemas.openxmlformats.org/drawingml/2006/main">
            <a:r>
              <a:t>    },</a:t>
            </a:r>
          </a:p>
          <a:p xmlns:a="http://schemas.openxmlformats.org/drawingml/2006/main">
            <a:r>
              <a:t>    {</a:t>
            </a:r>
          </a:p>
          <a:p xmlns:a="http://schemas.openxmlformats.org/drawingml/2006/main">
            <a:r>
              <a:t>      "title": "한국관광 데이터랩 공식 다운로드 · 서울특별시_성동구/관광소비/2025_01_12.zip",</a:t>
            </a:r>
          </a:p>
          <a:p xmlns:a="http://schemas.openxmlformats.org/drawingml/2006/main">
            <a:r>
              <a:t>      "summary": "전국 비교 기준 기간: 2025-07 ~ 2026-06",</a:t>
            </a:r>
          </a:p>
          <a:p xmlns:a="http://schemas.openxmlformats.org/drawingml/2006/main">
            <a:r>
              <a:t>      "source_id": "datalab:3a79405535b3:68f41f6aa9c6",</a:t>
            </a:r>
          </a:p>
          <a:p xmlns:a="http://schemas.openxmlformats.org/drawingml/2006/main">
            <a:r>
              <a:t>      "source_url": "https://datalab.visitkorea.or.kr/",</a:t>
            </a:r>
          </a:p>
          <a:p xmlns:a="http://schemas.openxmlformats.org/drawingml/2006/main">
            <a:r>
              <a:t>      "source_type": "nationwide_dataset",</a:t>
            </a:r>
          </a:p>
          <a:p xmlns:a="http://schemas.openxmlformats.org/drawingml/2006/main">
            <a:r>
              <a:t>      "observation_period": "2025-07 ~ 2026-06",</a:t>
            </a:r>
          </a:p>
          <a:p xmlns:a="http://schemas.openxmlformats.org/drawingml/2006/main">
            <a:r>
              <a:t>      "published_or_updated_at": "2024-07 ~ 2025-06"</a:t>
            </a:r>
          </a:p>
          <a:p xmlns:a="http://schemas.openxmlformats.org/drawingml/2006/main">
            <a:r>
              <a:t>    },</a:t>
            </a:r>
          </a:p>
          <a:p xmlns:a="http://schemas.openxmlformats.org/drawingml/2006/main">
            <a:r>
              <a:t>    {</a:t>
            </a:r>
          </a:p>
          <a:p xmlns:a="http://schemas.openxmlformats.org/drawingml/2006/main">
            <a:r>
              <a:t>      "title": "한국관광 데이터랩 공식 다운로드 · 서울특별시_성동구/숙박_체류시간/2026_01_06.zip",</a:t>
            </a:r>
          </a:p>
          <a:p xmlns:a="http://schemas.openxmlformats.org/drawingml/2006/main">
            <a:r>
              <a:t>      "summary": "전국 비교 기준 기간: 2025-07 ~ 2026-06",</a:t>
            </a:r>
          </a:p>
          <a:p xmlns:a="http://schemas.openxmlformats.org/drawingml/2006/main">
            <a:r>
              <a:t>      "source_id": "datalab:6217474023e5:2e717447925f",</a:t>
            </a:r>
          </a:p>
          <a:p xmlns:a="http://schemas.openxmlformats.org/drawingml/2006/main">
            <a:r>
              <a:t>      "source_url": "https://datalab.visitkorea.or.kr/",</a:t>
            </a:r>
          </a:p>
          <a:p xmlns:a="http://schemas.openxmlformats.org/drawingml/2006/main">
            <a:r>
              <a:t>      "source_type": "nationwide_dataset",</a:t>
            </a:r>
          </a:p>
          <a:p xmlns:a="http://schemas.openxmlformats.org/drawingml/2006/main">
            <a:r>
              <a:t>      "observation_period": "2025-07 ~ 2026-06",</a:t>
            </a:r>
          </a:p>
          <a:p xmlns:a="http://schemas.openxmlformats.org/drawingml/2006/main">
            <a:r>
              <a:t>      "published_or_updated_at": "2024-07 ~ 2025-06"</a:t>
            </a:r>
          </a:p>
          <a:p xmlns:a="http://schemas.openxmlformats.org/drawingml/2006/main">
            <a:r>
              <a:t>    },</a:t>
            </a:r>
          </a:p>
          <a:p xmlns:a="http://schemas.openxmlformats.org/drawingml/2006/main">
            <a:r>
              <a:t>    {</a:t>
            </a:r>
          </a:p>
          <a:p xmlns:a="http://schemas.openxmlformats.org/drawingml/2006/main">
            <a:r>
              <a:t>      "title": "한국관광 데이터랩 공식 다운로드 · 서울특별시_성동구/방문자/2025_01_12.zip",</a:t>
            </a:r>
          </a:p>
          <a:p xmlns:a="http://schemas.openxmlformats.org/drawingml/2006/main">
            <a:r>
              <a:t>      "summary": "전국 비교 기준 기간: 2025-07 ~ 2026-06",</a:t>
            </a:r>
          </a:p>
          <a:p xmlns:a="http://schemas.openxmlformats.org/drawingml/2006/main">
            <a:r>
              <a:t>      "source_id": "datalab:62312101c8d0:9c44bd532366",</a:t>
            </a:r>
          </a:p>
          <a:p xmlns:a="http://schemas.openxmlformats.org/drawingml/2006/main">
            <a:r>
              <a:t>      "source_url": "https://datalab.visitkorea.or.kr/",</a:t>
            </a:r>
          </a:p>
          <a:p xmlns:a="http://schemas.openxmlformats.org/drawingml/2006/main">
            <a:r>
              <a:t>      "source_type": "nationwide_dataset",</a:t>
            </a:r>
          </a:p>
          <a:p xmlns:a="http://schemas.openxmlformats.org/drawingml/2006/main">
            <a:r>
              <a:t>      "observation_period": "2025-07 ~ 2026-06",</a:t>
            </a:r>
          </a:p>
          <a:p xmlns:a="http://schemas.openxmlformats.org/drawingml/2006/main">
            <a:r>
              <a:t>      "published_or_updated_at": "2024-07 ~ 2025-06"</a:t>
            </a:r>
          </a:p>
          <a:p xmlns:a="http://schemas.openxmlformats.org/drawingml/2006/main">
            <a:r>
              <a:t>    },</a:t>
            </a:r>
          </a:p>
          <a:p xmlns:a="http://schemas.openxmlformats.org/drawingml/2006/main">
            <a:r>
              <a:t>    {</a:t>
            </a:r>
          </a:p>
          <a:p xmlns:a="http://schemas.openxmlformats.org/drawingml/2006/main">
            <a:r>
              <a:t>      "title": "한국관광 데이터랩 공식 다운로드 · 서울특별시_성동구/관광소비/2026_01_06.zip",</a:t>
            </a:r>
          </a:p>
          <a:p xmlns:a="http://schemas.openxmlformats.org/drawingml/2006/main">
            <a:r>
              <a:t>      "summary": "전국 비교 기준 기간: 2025-07 ~ 2026-06",</a:t>
            </a:r>
          </a:p>
          <a:p xmlns:a="http://schemas.openxmlformats.org/drawingml/2006/main">
            <a:r>
              <a:t>      "source_id": "datalab:7ddda0420208:c68bf7b028b0",</a:t>
            </a:r>
          </a:p>
          <a:p xmlns:a="http://schemas.openxmlformats.org/drawingml/2006/main">
            <a:r>
              <a:t>      "source_url": "https://datalab.visitkorea.or.kr/",</a:t>
            </a:r>
          </a:p>
          <a:p xmlns:a="http://schemas.openxmlformats.org/drawingml/2006/main">
            <a:r>
              <a:t>      "source_type": "nationwide_dataset",</a:t>
            </a:r>
          </a:p>
          <a:p xmlns:a="http://schemas.openxmlformats.org/drawingml/2006/main">
            <a:r>
              <a:t>      "observation_period": "2025-07 ~ 2026-06",</a:t>
            </a:r>
          </a:p>
          <a:p xmlns:a="http://schemas.openxmlformats.org/drawingml/2006/main">
            <a:r>
              <a:t>      "published_or_updated_at": "2024-07 ~ 2025-06"</a:t>
            </a:r>
          </a:p>
          <a:p xmlns:a="http://schemas.openxmlformats.org/drawingml/2006/main">
            <a:r>
              <a:t>    },</a:t>
            </a:r>
          </a:p>
          <a:p xmlns:a="http://schemas.openxmlformats.org/drawingml/2006/main">
            <a:r>
              <a:t>    {</a:t>
            </a:r>
          </a:p>
          <a:p xmlns:a="http://schemas.openxmlformats.org/drawingml/2006/main">
            <a:r>
              <a:t>      "title": "한국관광 데이터랩 공식 다운로드 · 서울특별시_성동구/방문자/2026_01_06.zip",</a:t>
            </a:r>
          </a:p>
          <a:p xmlns:a="http://schemas.openxmlformats.org/drawingml/2006/main">
            <a:r>
              <a:t>      "summary": "전국 비교 기준 기간: 2025-07 ~ 2026-06",</a:t>
            </a:r>
          </a:p>
          <a:p xmlns:a="http://schemas.openxmlformats.org/drawingml/2006/main">
            <a:r>
              <a:t>      "source_id": "datalab:9369271c7419:76a9b6ea89d8",</a:t>
            </a:r>
          </a:p>
          <a:p xmlns:a="http://schemas.openxmlformats.org/drawingml/2006/main">
            <a:r>
              <a:t>      "source_url": "https://datalab.visitkorea.or.kr/",</a:t>
            </a:r>
          </a:p>
          <a:p xmlns:a="http://schemas.openxmlformats.org/drawingml/2006/main">
            <a:r>
              <a:t>      "source_type": "nationwide_dataset",</a:t>
            </a:r>
          </a:p>
          <a:p xmlns:a="http://schemas.openxmlformats.org/drawingml/2006/main">
            <a:r>
              <a:t>      "observation_period": "2025-07 ~ 2026-06",</a:t>
            </a:r>
          </a:p>
          <a:p xmlns:a="http://schemas.openxmlformats.org/drawingml/2006/main">
            <a:r>
              <a:t>      "published_or_updated_at": "2024-07 ~ 2025-06"</a:t>
            </a:r>
          </a:p>
          <a:p xmlns:a="http://schemas.openxmlformats.org/drawingml/2006/main">
            <a:r>
              <a:t>    },</a:t>
            </a:r>
          </a:p>
          <a:p xmlns:a="http://schemas.openxmlformats.org/drawingml/2006/main">
            <a:r>
              <a:t>    {</a:t>
            </a:r>
          </a:p>
          <a:p xmlns:a="http://schemas.openxmlformats.org/drawingml/2006/main">
            <a:r>
              <a:t>      "title": "한국관광 데이터랩 전국 빅데이터 다운로드 · 이동통신/내국인/지역별 방문자수/20260820140607__202601-202606_데이터랩_다운로드.zip",</a:t>
            </a:r>
          </a:p>
          <a:p xmlns:a="http://schemas.openxmlformats.org/drawingml/2006/main">
            <a:r>
              <a:t>      "summary": "시군구 기간합계·비중 또는 전국 월별 추이. 지역 월별 ML·정책 효과가 아닌 보조 근거.",</a:t>
            </a:r>
          </a:p>
          <a:p xmlns:a="http://schemas.openxmlformats.org/drawingml/2006/main">
            <a:r>
              <a:t>      "source_id": "team-bigdata:23ea68053684:6bfbcf8aabf6",</a:t>
            </a:r>
          </a:p>
          <a:p xmlns:a="http://schemas.openxmlformats.org/drawingml/2006/main">
            <a:r>
              <a:t>      "source_url": "https://datalab.visitkorea.or.kr/",</a:t>
            </a:r>
          </a:p>
          <a:p xmlns:a="http://schemas.openxmlformats.org/drawingml/2006/main">
            <a:r>
              <a:t>      "source_type": "nationwide_bigdata_dataset",</a:t>
            </a:r>
          </a:p>
          <a:p xmlns:a="http://schemas.openxmlformats.org/drawingml/2006/main">
            <a:r>
              <a:t>      "observation_period": "2026-01 ~ 2026-06",</a:t>
            </a:r>
          </a:p>
          <a:p xmlns:a="http://schemas.openxmlformats.org/drawingml/2006/main">
            <a:r>
              <a:t>      "source_review_status": "needs_exact_download_url",</a:t>
            </a:r>
          </a:p>
          <a:p xmlns:a="http://schemas.openxmlformats.org/drawingml/2006/main">
            <a:r>
              <a:t>      "published_or_updated_at": ""</a:t>
            </a:r>
          </a:p>
          <a:p xmlns:a="http://schemas.openxmlformats.org/drawingml/2006/main">
            <a:r>
              <a:t>    },</a:t>
            </a:r>
          </a:p>
          <a:p xmlns:a="http://schemas.openxmlformats.org/drawingml/2006/main">
            <a:r>
              <a:t>    {</a:t>
            </a:r>
          </a:p>
          <a:p xmlns:a="http://schemas.openxmlformats.org/drawingml/2006/main">
            <a:r>
              <a:t>      "title": "한국관광 데이터랩 전국 빅데이터 다운로드 · 이동통신/외국인/20260820141710_전국_202601-202606_데이터랩_다운로드.zip",</a:t>
            </a:r>
          </a:p>
          <a:p xmlns:a="http://schemas.openxmlformats.org/drawingml/2006/main">
            <a:r>
              <a:t>      "summary": "시군구 기간합계·비중 또는 전국 월별 추이. 지역 월별 ML·정책 효과가 아닌 보조 근거.",</a:t>
            </a:r>
          </a:p>
          <a:p xmlns:a="http://schemas.openxmlformats.org/drawingml/2006/main">
            <a:r>
              <a:t>      "source_id": "team-bigdata:98d4ae590d9a:3be52dd54323",</a:t>
            </a:r>
          </a:p>
          <a:p xmlns:a="http://schemas.openxmlformats.org/drawingml/2006/main">
            <a:r>
              <a:t>      "source_url": "https://datalab.visitkorea.or.kr/",</a:t>
            </a:r>
          </a:p>
          <a:p xmlns:a="http://schemas.openxmlformats.org/drawingml/2006/main">
            <a:r>
              <a:t>      "source_type": "nationwide_bigdata_dataset",</a:t>
            </a:r>
          </a:p>
          <a:p xmlns:a="http://schemas.openxmlformats.org/drawingml/2006/main">
            <a:r>
              <a:t>      "observation_period": "2026-01 ~ 2026-06",</a:t>
            </a:r>
          </a:p>
          <a:p xmlns:a="http://schemas.openxmlformats.org/drawingml/2006/main">
            <a:r>
              <a:t>      "source_review_status": "needs_exact_download_url",</a:t>
            </a:r>
          </a:p>
          <a:p xmlns:a="http://schemas.openxmlformats.org/drawingml/2006/main">
            <a:r>
              <a:t>      "published_or_updated_at": ""</a:t>
            </a:r>
          </a:p>
          <a:p xmlns:a="http://schemas.openxmlformats.org/drawingml/2006/main">
            <a:r>
              <a:t>    },</a:t>
            </a:r>
          </a:p>
          <a:p xmlns:a="http://schemas.openxmlformats.org/drawingml/2006/main">
            <a:r>
              <a:t>    {</a:t>
            </a:r>
          </a:p>
          <a:p xmlns:a="http://schemas.openxmlformats.org/drawingml/2006/main">
            <a:r>
              <a:t>      "title": "한국관광 데이터랩 전국 빅데이터 다운로드 · 신용카드/내국인/지역별 관광지출액/20260820140046__202601-202606_데이터랩_다운로드.zip",</a:t>
            </a:r>
          </a:p>
          <a:p xmlns:a="http://schemas.openxmlformats.org/drawingml/2006/main">
            <a:r>
              <a:t>      "summary": "시군구 기간합계·비중 또는 전국 월별 추이. 지역 월별 ML·정책 효과가 아닌 보조 근거.",</a:t>
            </a:r>
          </a:p>
          <a:p xmlns:a="http://schemas.openxmlformats.org/drawingml/2006/main">
            <a:r>
              <a:t>      "source_id": "team-bigdata:367cd0294ec4:873930d645e5",</a:t>
            </a:r>
          </a:p>
          <a:p xmlns:a="http://schemas.openxmlformats.org/drawingml/2006/main">
            <a:r>
              <a:t>      "source_url": "https://datalab.visitkorea.or.kr/",</a:t>
            </a:r>
          </a:p>
          <a:p xmlns:a="http://schemas.openxmlformats.org/drawingml/2006/main">
            <a:r>
              <a:t>      "source_type": "nationwide_bigdata_dataset",</a:t>
            </a:r>
          </a:p>
          <a:p xmlns:a="http://schemas.openxmlformats.org/drawingml/2006/main">
            <a:r>
              <a:t>      "observation_period": "2026-01 ~ 2026-06",</a:t>
            </a:r>
          </a:p>
          <a:p xmlns:a="http://schemas.openxmlformats.org/drawingml/2006/main">
            <a:r>
              <a:t>      "source_review_status": "needs_exact_download_url",</a:t>
            </a:r>
          </a:p>
          <a:p xmlns:a="http://schemas.openxmlformats.org/drawingml/2006/main">
            <a:r>
              <a:t>      "published_or_updated_at": ""</a:t>
            </a:r>
          </a:p>
          <a:p xmlns:a="http://schemas.openxmlformats.org/drawingml/2006/main">
            <a:r>
              <a:t>    },</a:t>
            </a:r>
          </a:p>
          <a:p xmlns:a="http://schemas.openxmlformats.org/drawingml/2006/main">
            <a:r>
              <a:t>    {</a:t>
            </a:r>
          </a:p>
          <a:p xmlns:a="http://schemas.openxmlformats.org/drawingml/2006/main">
            <a:r>
              <a:t>      "title": "한국관광 데이터랩 전국 빅데이터 다운로드 · 신용카드/외국인/지역별 관광지출액/20260820140355__202601-202606_데이터랩_다운로드.zip",</a:t>
            </a:r>
          </a:p>
          <a:p xmlns:a="http://schemas.openxmlformats.org/drawingml/2006/main">
            <a:r>
              <a:t>      "summary": "시군구 기간합계·비중 또는 전국 월별 추이. 지역 월별 ML·정책 효과가 아닌 보조 근거.",</a:t>
            </a:r>
          </a:p>
          <a:p xmlns:a="http://schemas.openxmlformats.org/drawingml/2006/main">
            <a:r>
              <a:t>      "source_id": "team-bigdata:553a0dad4bb4:5a31355dffe8",</a:t>
            </a:r>
          </a:p>
          <a:p xmlns:a="http://schemas.openxmlformats.org/drawingml/2006/main">
            <a:r>
              <a:t>      "source_url": "https://datalab.visitkorea.or.kr/",</a:t>
            </a:r>
          </a:p>
          <a:p xmlns:a="http://schemas.openxmlformats.org/drawingml/2006/main">
            <a:r>
              <a:t>      "source_type": "nationwide_bigdata_dataset",</a:t>
            </a:r>
          </a:p>
          <a:p xmlns:a="http://schemas.openxmlformats.org/drawingml/2006/main">
            <a:r>
              <a:t>      "observation_period": "2026-01 ~ 2026-06",</a:t>
            </a:r>
          </a:p>
          <a:p xmlns:a="http://schemas.openxmlformats.org/drawingml/2006/main">
            <a:r>
              <a:t>      "source_review_status": "needs_exact_download_url",</a:t>
            </a:r>
          </a:p>
          <a:p xmlns:a="http://schemas.openxmlformats.org/drawingml/2006/main">
            <a:r>
              <a:t>      "published_or_updated_at": ""</a:t>
            </a:r>
          </a:p>
          <a:p xmlns:a="http://schemas.openxmlformats.org/drawingml/2006/main">
            <a:r>
              <a:t>    },</a:t>
            </a:r>
          </a:p>
          <a:p xmlns:a="http://schemas.openxmlformats.org/drawingml/2006/main">
            <a:r>
              <a:t>    {</a:t>
            </a:r>
          </a:p>
          <a:p xmlns:a="http://schemas.openxmlformats.org/drawingml/2006/main">
            <a:r>
              <a:t>      "title": "한국관광 데이터랩 전국 빅데이터 다운로드 · 네비게이션/지역별 검색건수/20260820195507__202601-202606_데이터랩_다운로드.zip",</a:t>
            </a:r>
          </a:p>
          <a:p xmlns:a="http://schemas.openxmlformats.org/drawingml/2006/main">
            <a:r>
              <a:t>      "summary": "시군구 기간합계·비중 또는 전국 월별 추이. 지역 월별 ML·정책 효과가 아닌 보조 근거.",</a:t>
            </a:r>
          </a:p>
          <a:p xmlns:a="http://schemas.openxmlformats.org/drawingml/2006/main">
            <a:r>
              <a:t>      "source_id": "team-bigdata:a53dbe1c21df:77a052de41d5",</a:t>
            </a:r>
          </a:p>
          <a:p xmlns:a="http://schemas.openxmlformats.org/drawingml/2006/main">
            <a:r>
              <a:t>      "source_url": "https://datalab.visitkorea.or.kr/",</a:t>
            </a:r>
          </a:p>
          <a:p xmlns:a="http://schemas.openxmlformats.org/drawingml/2006/main">
            <a:r>
              <a:t>      "source_type": "nationwide_bigdata_dataset",</a:t>
            </a:r>
          </a:p>
          <a:p xmlns:a="http://schemas.openxmlformats.org/drawingml/2006/main">
            <a:r>
              <a:t>      "observation_period": "2026-01 ~ 2026-06",</a:t>
            </a:r>
          </a:p>
          <a:p xmlns:a="http://schemas.openxmlformats.org/drawingml/2006/main">
            <a:r>
              <a:t>      "source_review_status": "needs_exact_download_url",</a:t>
            </a:r>
          </a:p>
          <a:p xmlns:a="http://schemas.openxmlformats.org/drawingml/2006/main">
            <a:r>
              <a:t>      "published_or_updated_at": ""</a:t>
            </a:r>
          </a:p>
          <a:p xmlns:a="http://schemas.openxmlformats.org/drawingml/2006/main">
            <a:r>
              <a:t>    },</a:t>
            </a:r>
          </a:p>
          <a:p xmlns:a="http://schemas.openxmlformats.org/drawingml/2006/main">
            <a:r>
              <a:t>    {</a:t>
            </a:r>
          </a:p>
          <a:p xmlns:a="http://schemas.openxmlformats.org/drawingml/2006/main">
            <a:r>
              <a:t>      "title": "한국관광 데이터랩 전국 빅데이터 다운로드 · 이동통신/내국인/지역별 방문자수/20260820140614__202501-202512_데이터랩_다운로드.zip",</a:t>
            </a:r>
          </a:p>
          <a:p xmlns:a="http://schemas.openxmlformats.org/drawingml/2006/main">
            <a:r>
              <a:t>      "summary": "시군구 기간합계·비중 또는 전국 월별 추이. 지역 월별 ML·정책 효과가 아닌 보조 근거.",</a:t>
            </a:r>
          </a:p>
          <a:p xmlns:a="http://schemas.openxmlformats.org/drawingml/2006/main">
            <a:r>
              <a:t>      "source_id": "team-bigdata:823a38d1d61c:5385261d02e5",</a:t>
            </a:r>
          </a:p>
          <a:p xmlns:a="http://schemas.openxmlformats.org/drawingml/2006/main">
            <a:r>
              <a:t>      "source_url": "https://datalab.visitkorea.or.kr/",</a:t>
            </a:r>
          </a:p>
          <a:p xmlns:a="http://schemas.openxmlformats.org/drawingml/2006/main">
            <a:r>
              <a:t>      "source_type": "nationwide_bigdata_dataset",</a:t>
            </a:r>
          </a:p>
          <a:p xmlns:a="http://schemas.openxmlformats.org/drawingml/2006/main">
            <a:r>
              <a:t>      "observation_period": "2026-01 ~ 2026-06",</a:t>
            </a:r>
          </a:p>
          <a:p xmlns:a="http://schemas.openxmlformats.org/drawingml/2006/main">
            <a:r>
              <a:t>      "source_review_status": "needs_exact_download_url",</a:t>
            </a:r>
          </a:p>
          <a:p xmlns:a="http://schemas.openxmlformats.org/drawingml/2006/main">
            <a:r>
              <a:t>      "published_or_updated_at": ""</a:t>
            </a:r>
          </a:p>
          <a:p xmlns:a="http://schemas.openxmlformats.org/drawingml/2006/main">
            <a:r>
              <a:t>    },</a:t>
            </a:r>
          </a:p>
          <a:p xmlns:a="http://schemas.openxmlformats.org/drawingml/2006/main">
            <a:r>
              <a:t>    {</a:t>
            </a:r>
          </a:p>
          <a:p xmlns:a="http://schemas.openxmlformats.org/drawingml/2006/main">
            <a:r>
              <a:t>      "title": "한국관광 데이터랩 전국 빅데이터 다운로드 · 이동통신/외국인/20260820141649_전국_202501-202512_데이터랩_다운로드.zip",</a:t>
            </a:r>
          </a:p>
          <a:p xmlns:a="http://schemas.openxmlformats.org/drawingml/2006/main">
            <a:r>
              <a:t>      "summary": "시군구 기간합계·비중 또는 전국 월별 추이. 지역 월별 ML·정책 효과가 아닌 보조 근거.",</a:t>
            </a:r>
          </a:p>
          <a:p xmlns:a="http://schemas.openxmlformats.org/drawingml/2006/main">
            <a:r>
              <a:t>      "source_id": "team-bigdata:2723bdb0d589:1666a34058ed",</a:t>
            </a:r>
          </a:p>
          <a:p xmlns:a="http://schemas.openxmlformats.org/drawingml/2006/main">
            <a:r>
              <a:t>      "source_url": "https://datalab.visitkorea.or.kr/",</a:t>
            </a:r>
          </a:p>
          <a:p xmlns:a="http://schemas.openxmlformats.org/drawingml/2006/main">
            <a:r>
              <a:t>      "source_type": "nationwide_bigdata_dataset",</a:t>
            </a:r>
          </a:p>
          <a:p xmlns:a="http://schemas.openxmlformats.org/drawingml/2006/main">
            <a:r>
              <a:t>      "observation_period": "2026-01 ~ 2026-06",</a:t>
            </a:r>
          </a:p>
          <a:p xmlns:a="http://schemas.openxmlformats.org/drawingml/2006/main">
            <a:r>
              <a:t>      "source_review_status": "needs_exact_download_url",</a:t>
            </a:r>
          </a:p>
          <a:p xmlns:a="http://schemas.openxmlformats.org/drawingml/2006/main">
            <a:r>
              <a:t>      "published_or_updated_at": ""</a:t>
            </a:r>
          </a:p>
          <a:p xmlns:a="http://schemas.openxmlformats.org/drawingml/2006/main">
            <a:r>
              <a:t>    },</a:t>
            </a:r>
          </a:p>
          <a:p xmlns:a="http://schemas.openxmlformats.org/drawingml/2006/main">
            <a:r>
              <a:t>    {</a:t>
            </a:r>
          </a:p>
          <a:p xmlns:a="http://schemas.openxmlformats.org/drawingml/2006/main">
            <a:r>
              <a:t>      "title": "한국관광 데이터랩 전국 빅데이터 다운로드 · 신용카드/내국인/지역별 관광지출액/20260820135957__202501-202512_데이터랩_다운로드.zip",</a:t>
            </a:r>
          </a:p>
          <a:p xmlns:a="http://schemas.openxmlformats.org/drawingml/2006/main">
            <a:r>
              <a:t>      "summary": "시군구 기간합계·비중 또는 전국 월별 추이. 지역 월별 ML·정책 효과가 아닌 보조 근거.",</a:t>
            </a:r>
          </a:p>
          <a:p xmlns:a="http://schemas.openxmlformats.org/drawingml/2006/main">
            <a:r>
              <a:t>      "source_id": "team-bigdata:83177a234971:c02cb7972e0f",</a:t>
            </a:r>
          </a:p>
          <a:p xmlns:a="http://schemas.openxmlformats.org/drawingml/2006/main">
            <a:r>
              <a:t>      "source_url": "https://datalab.visitkorea.or.kr/",</a:t>
            </a:r>
          </a:p>
          <a:p xmlns:a="http://schemas.openxmlformats.org/drawingml/2006/main">
            <a:r>
              <a:t>      "source_type": "nationwide_bigdata_dataset",</a:t>
            </a:r>
          </a:p>
          <a:p xmlns:a="http://schemas.openxmlformats.org/drawingml/2006/main">
            <a:r>
              <a:t>      "observation_period": "2026-01 ~ 2026-06",</a:t>
            </a:r>
          </a:p>
          <a:p xmlns:a="http://schemas.openxmlformats.org/drawingml/2006/main">
            <a:r>
              <a:t>      "source_review_status": "needs_exact_download_url",</a:t>
            </a:r>
          </a:p>
          <a:p xmlns:a="http://schemas.openxmlformats.org/drawingml/2006/main">
            <a:r>
              <a:t>      "published_or_updated_at": ""</a:t>
            </a:r>
          </a:p>
          <a:p xmlns:a="http://schemas.openxmlformats.org/drawingml/2006/main">
            <a:r>
              <a:t>    },</a:t>
            </a:r>
          </a:p>
          <a:p xmlns:a="http://schemas.openxmlformats.org/drawingml/2006/main">
            <a:r>
              <a:t>    {</a:t>
            </a:r>
          </a:p>
          <a:p xmlns:a="http://schemas.openxmlformats.org/drawingml/2006/main">
            <a:r>
              <a:t>      "title": "한국관광 데이터랩 전국 빅데이터 다운로드 · 신용카드/외국인/지역별 관광지출액/20260820140409__202501-202512_데이터랩_다운로드.zip",</a:t>
            </a:r>
          </a:p>
          <a:p xmlns:a="http://schemas.openxmlformats.org/drawingml/2006/main">
            <a:r>
              <a:t>      "summary": "시군구 기간합계·비중 또는 전국 월별 추이. 지역 월별 ML·정책 효과가 아닌 보조 근거.",</a:t>
            </a:r>
          </a:p>
          <a:p xmlns:a="http://schemas.openxmlformats.org/drawingml/2006/main">
            <a:r>
              <a:t>      "source_id": "team-bigdata:58ded7732251:589c76395cbc",</a:t>
            </a:r>
          </a:p>
          <a:p xmlns:a="http://schemas.openxmlformats.org/drawingml/2006/main">
            <a:r>
              <a:t>      "source_url": "https://datalab.visitkorea.or.kr/",</a:t>
            </a:r>
          </a:p>
          <a:p xmlns:a="http://schemas.openxmlformats.org/drawingml/2006/main">
            <a:r>
              <a:t>      "source_type": "nationwide_bigdata_dataset",</a:t>
            </a:r>
          </a:p>
          <a:p xmlns:a="http://schemas.openxmlformats.org/drawingml/2006/main">
            <a:r>
              <a:t>      "observation_period": "2026-01 ~ 2026-06",</a:t>
            </a:r>
          </a:p>
          <a:p xmlns:a="http://schemas.openxmlformats.org/drawingml/2006/main">
            <a:r>
              <a:t>      "source_review_status": "needs_exact_download_url",</a:t>
            </a:r>
          </a:p>
          <a:p xmlns:a="http://schemas.openxmlformats.org/drawingml/2006/main">
            <a:r>
              <a:t>      "published_or_updated_at": ""</a:t>
            </a:r>
          </a:p>
          <a:p xmlns:a="http://schemas.openxmlformats.org/drawingml/2006/main">
            <a:r>
              <a:t>    },</a:t>
            </a:r>
          </a:p>
          <a:p xmlns:a="http://schemas.openxmlformats.org/drawingml/2006/main">
            <a:r>
              <a:t>    {</a:t>
            </a:r>
          </a:p>
          <a:p xmlns:a="http://schemas.openxmlformats.org/drawingml/2006/main">
            <a:r>
              <a:t>      "title": "한국관광 데이터랩 전국 빅데이터 다운로드 · 네비게이션/지역별 검색건수/20260820132007__202501-202512_데이터랩_다운로드.zip",</a:t>
            </a:r>
          </a:p>
          <a:p xmlns:a="http://schemas.openxmlformats.org/drawingml/2006/main">
            <a:r>
              <a:t>      "summary": "시군구 기간합계·비중 또는 전국 월별 추이. 지역 월별 ML·정책 효과가 아닌 보조 근거.",</a:t>
            </a:r>
          </a:p>
          <a:p xmlns:a="http://schemas.openxmlformats.org/drawingml/2006/main">
            <a:r>
              <a:t>      "source_id": "team-bigdata:e28c947cb52f:bb4cb344a6ba",</a:t>
            </a:r>
          </a:p>
          <a:p xmlns:a="http://schemas.openxmlformats.org/drawingml/2006/main">
            <a:r>
              <a:t>      "source_url": "https://datalab.visitkorea.or.kr/",</a:t>
            </a:r>
          </a:p>
          <a:p xmlns:a="http://schemas.openxmlformats.org/drawingml/2006/main">
            <a:r>
              <a:t>      "source_type": "nationwide_bigdata_dataset",</a:t>
            </a:r>
          </a:p>
          <a:p xmlns:a="http://schemas.openxmlformats.org/drawingml/2006/main">
            <a:r>
              <a:t>      "observation_period": "2026-01 ~ 2026-06",</a:t>
            </a:r>
          </a:p>
          <a:p xmlns:a="http://schemas.openxmlformats.org/drawingml/2006/main">
            <a:r>
              <a:t>      "source_review_status": "needs_exact_download_url",</a:t>
            </a:r>
          </a:p>
          <a:p xmlns:a="http://schemas.openxmlformats.org/drawingml/2006/main">
            <a:r>
              <a:t>      "published_or_updated_at": ""</a:t>
            </a:r>
          </a:p>
          <a:p xmlns:a="http://schemas.openxmlformats.org/drawingml/2006/main">
            <a:r>
              <a:t>    },</a:t>
            </a:r>
          </a:p>
          <a:p xmlns:a="http://schemas.openxmlformats.org/drawingml/2006/main">
            <a:r>
              <a:t>    {</a:t>
            </a:r>
          </a:p>
          <a:p xmlns:a="http://schemas.openxmlformats.org/drawingml/2006/main">
            <a:r>
              <a:t>      "title": "한국관광 데이터랩 전국 빅데이터 다운로드 · 이동통신/내국인/지역별 방문자수/20260820140624__202401-202412_데이터랩_다운로드.zip",</a:t>
            </a:r>
          </a:p>
          <a:p xmlns:a="http://schemas.openxmlformats.org/drawingml/2006/main">
            <a:r>
              <a:t>      "summary": "시군구 기간합계·비중 또는 전국 월별 추이. 지역 월별 ML·정책 효과가 아닌 보조 근거.",</a:t>
            </a:r>
          </a:p>
          <a:p xmlns:a="http://schemas.openxmlformats.org/drawingml/2006/main">
            <a:r>
              <a:t>      "source_id": "team-bigdata:8815bbb11a39:1a5988f5f8ec",</a:t>
            </a:r>
          </a:p>
          <a:p xmlns:a="http://schemas.openxmlformats.org/drawingml/2006/main">
            <a:r>
              <a:t>      "source_url": "https://datalab.visitkorea.or.kr/",</a:t>
            </a:r>
          </a:p>
          <a:p xmlns:a="http://schemas.openxmlformats.org/drawingml/2006/main">
            <a:r>
              <a:t>      "source_type": "nationwide_bigdata_dataset",</a:t>
            </a:r>
          </a:p>
          <a:p xmlns:a="http://schemas.openxmlformats.org/drawingml/2006/main">
            <a:r>
              <a:t>      "observation_period": "2026-01 ~ 2026-06",</a:t>
            </a:r>
          </a:p>
          <a:p xmlns:a="http://schemas.openxmlformats.org/drawingml/2006/main">
            <a:r>
              <a:t>      "source_review_status": "needs_exact_download_url",</a:t>
            </a:r>
          </a:p>
          <a:p xmlns:a="http://schemas.openxmlformats.org/drawingml/2006/main">
            <a:r>
              <a:t>      "published_or_updated_at": ""</a:t>
            </a:r>
          </a:p>
          <a:p xmlns:a="http://schemas.openxmlformats.org/drawingml/2006/main">
            <a:r>
              <a:t>    },</a:t>
            </a:r>
          </a:p>
          <a:p xmlns:a="http://schemas.openxmlformats.org/drawingml/2006/main">
            <a:r>
              <a:t>    {</a:t>
            </a:r>
          </a:p>
          <a:p xmlns:a="http://schemas.openxmlformats.org/drawingml/2006/main">
            <a:r>
              <a:t>      "title": "한국관광 데이터랩 전국 빅데이터 다운로드 · 이동통신/외국인/20260820141639_전국_202401-202412_데이터랩_다운로드.zip",</a:t>
            </a:r>
          </a:p>
          <a:p xmlns:a="http://schemas.openxmlformats.org/drawingml/2006/main">
            <a:r>
              <a:t>      "summary": "시군구 기간합계·비중 또는 전국 월별 추이. 지역 월별 ML·정책 효과가 아닌 보조 근거.",</a:t>
            </a:r>
          </a:p>
          <a:p xmlns:a="http://schemas.openxmlformats.org/drawingml/2006/main">
            <a:r>
              <a:t>      "source_id": "team-bigdata:19fd67fbb73d:afa4f0f54a2f",</a:t>
            </a:r>
          </a:p>
          <a:p xmlns:a="http://schemas.openxmlformats.org/drawingml/2006/main">
            <a:r>
              <a:t>      "source_url": "https://datalab.visitkorea.or.kr/",</a:t>
            </a:r>
          </a:p>
          <a:p xmlns:a="http://schemas.openxmlformats.org/drawingml/2006/main">
            <a:r>
              <a:t>      "source_type": "nationwide_bigdata_dataset",</a:t>
            </a:r>
          </a:p>
          <a:p xmlns:a="http://schemas.openxmlformats.org/drawingml/2006/main">
            <a:r>
              <a:t>      "observation_period": "2026-01 ~ 2026-06",</a:t>
            </a:r>
          </a:p>
          <a:p xmlns:a="http://schemas.openxmlformats.org/drawingml/2006/main">
            <a:r>
              <a:t>      "source_review_status": "needs_exact_download_url",</a:t>
            </a:r>
          </a:p>
          <a:p xmlns:a="http://schemas.openxmlformats.org/drawingml/2006/main">
            <a:r>
              <a:t>      "published_or_updated_at": ""</a:t>
            </a:r>
          </a:p>
          <a:p xmlns:a="http://schemas.openxmlformats.org/drawingml/2006/main">
            <a:r>
              <a:t>    },</a:t>
            </a:r>
          </a:p>
          <a:p xmlns:a="http://schemas.openxmlformats.org/drawingml/2006/main">
            <a:r>
              <a:t>    {</a:t>
            </a:r>
          </a:p>
          <a:p xmlns:a="http://schemas.openxmlformats.org/drawingml/2006/main">
            <a:r>
              <a:t>      "title": "한국관광 데이터랩 지역별 관광 현황 · 서울특별시 성동구 · 인기관광지",</a:t>
            </a:r>
          </a:p>
          <a:p xmlns:a="http://schemas.openxmlformats.org/drawingml/2006/main">
            <a:r>
              <a:t>      "summary": "관측 기간: 2025-07 ~ 2026-06. 유입·유출·인기장소 또는 30일 집중 운영 신호.",</a:t>
            </a:r>
          </a:p>
          <a:p xmlns:a="http://schemas.openxmlformats.org/drawingml/2006/main">
            <a:r>
              <a:t>      "source_id": "regional-status:300d117a9148:9b5e59efa799",</a:t>
            </a:r>
          </a:p>
          <a:p xmlns:a="http://schemas.openxmlformats.org/drawingml/2006/main">
            <a:r>
              <a:t>      "source_url": "https://datalab.visitkorea.or.kr/",</a:t>
            </a:r>
          </a:p>
          <a:p xmlns:a="http://schemas.openxmlformats.org/drawingml/2006/main">
            <a:r>
              <a:t>      "source_type": "regional_tourism_status",</a:t>
            </a:r>
          </a:p>
          <a:p xmlns:a="http://schemas.openxmlformats.org/drawingml/2006/main">
            <a:r>
              <a:t>      "observation_period": "2025-07 ~ 2026-06",</a:t>
            </a:r>
          </a:p>
          <a:p xmlns:a="http://schemas.openxmlformats.org/drawingml/2006/main">
            <a:r>
              <a:t>      "published_or_updated_at": ""</a:t>
            </a:r>
          </a:p>
          <a:p xmlns:a="http://schemas.openxmlformats.org/drawingml/2006/main">
            <a:r>
              <a:t>    },</a:t>
            </a:r>
          </a:p>
          <a:p xmlns:a="http://schemas.openxmlformats.org/drawingml/2006/main">
            <a:r>
              <a:t>    {</a:t>
            </a:r>
          </a:p>
          <a:p xmlns:a="http://schemas.openxmlformats.org/drawingml/2006/main">
            <a:r>
              <a:t>      "title": "한국관광 데이터랩 지역별 관광 현황 · 서울특별시 성동구 · 유입유출",</a:t>
            </a:r>
          </a:p>
          <a:p xmlns:a="http://schemas.openxmlformats.org/drawingml/2006/main">
            <a:r>
              <a:t>      "summary": "관측 기간: 2025-07 ~ 2026-06. 유입·유출·인기장소 또는 30일 집중 운영 신호.",</a:t>
            </a:r>
          </a:p>
          <a:p xmlns:a="http://schemas.openxmlformats.org/drawingml/2006/main">
            <a:r>
              <a:t>      "source_id": "regional-status:e1f4d12a3396:706443b7ba17",</a:t>
            </a:r>
          </a:p>
          <a:p xmlns:a="http://schemas.openxmlformats.org/drawingml/2006/main">
            <a:r>
              <a:t>      "source_url": "https://datalab.visitkorea.or.kr/",</a:t>
            </a:r>
          </a:p>
          <a:p xmlns:a="http://schemas.openxmlformats.org/drawingml/2006/main">
            <a:r>
              <a:t>      "source_type": "regional_tourism_status",</a:t>
            </a:r>
          </a:p>
          <a:p xmlns:a="http://schemas.openxmlformats.org/drawingml/2006/main">
            <a:r>
              <a:t>      "observation_period": "2025-07 ~ 2026-06",</a:t>
            </a:r>
          </a:p>
          <a:p xmlns:a="http://schemas.openxmlformats.org/drawingml/2006/main">
            <a:r>
              <a:t>      "published_or_updated_at": ""</a:t>
            </a:r>
          </a:p>
          <a:p xmlns:a="http://schemas.openxmlformats.org/drawingml/2006/main">
            <a:r>
              <a:t>    },</a:t>
            </a:r>
          </a:p>
          <a:p xmlns:a="http://schemas.openxmlformats.org/drawingml/2006/main">
            <a:r>
              <a:t>    {</a:t>
            </a:r>
          </a:p>
          <a:p xmlns:a="http://schemas.openxmlformats.org/drawingml/2006/main">
            <a:r>
              <a:t>      "title": "한국관광 데이터랩 지역별 관광 현황 · 서울특별시 성동구 · 지역집중률",</a:t>
            </a:r>
          </a:p>
          <a:p xmlns:a="http://schemas.openxmlformats.org/drawingml/2006/main">
            <a:r>
              <a:t>      "summary": "관측 기간: 2025-07 ~ 2026-06. 유입·유출·인기장소 또는 30일 집중 운영 신호.",</a:t>
            </a:r>
          </a:p>
          <a:p xmlns:a="http://schemas.openxmlformats.org/drawingml/2006/main">
            <a:r>
              <a:t>      "source_id": "regional-status:f05693fd34a7:ae929e215d91",</a:t>
            </a:r>
          </a:p>
          <a:p xmlns:a="http://schemas.openxmlformats.org/drawingml/2006/main">
            <a:r>
              <a:t>      "source_url": "https://datalab.visitkorea.or.kr/",</a:t>
            </a:r>
          </a:p>
          <a:p xmlns:a="http://schemas.openxmlformats.org/drawingml/2006/main">
            <a:r>
              <a:t>      "source_type": "regional_tourism_status",</a:t>
            </a:r>
          </a:p>
          <a:p xmlns:a="http://schemas.openxmlformats.org/drawingml/2006/main">
            <a:r>
              <a:t>      "observation_period": "2025-07 ~ 2026-06",</a:t>
            </a:r>
          </a:p>
          <a:p xmlns:a="http://schemas.openxmlformats.org/drawingml/2006/main">
            <a:r>
              <a:t>      "published_or_updated_at": ""</a:t>
            </a:r>
          </a:p>
          <a:p xmlns:a="http://schemas.openxmlformats.org/drawingml/2006/main">
            <a:r>
              <a:t>    },</a:t>
            </a:r>
          </a:p>
          <a:p xmlns:a="http://schemas.openxmlformats.org/drawingml/2006/main">
            <a:r>
              <a:t>    {</a:t>
            </a:r>
          </a:p>
          <a:p xmlns:a="http://schemas.openxmlformats.org/drawingml/2006/main">
            <a:r>
              <a:t>      "title": "지역 관광수요 ML 전망 · 공식 관측값 아님",</a:t>
            </a:r>
          </a:p>
          <a:p xmlns:a="http://schemas.openxmlformats.org/drawingml/2006/main">
            <a:r>
              <a:t>      "summary": "학습 202401~202606 · 모델 regional-demand-v3.1 · 자연 추세 예측",</a:t>
            </a:r>
          </a:p>
          <a:p xmlns:a="http://schemas.openxmlformats.org/drawingml/2006/main">
            <a:r>
              <a:t>      "source_id": "ml:11200:regional-demand-v3.1:202606",</a:t>
            </a:r>
          </a:p>
          <a:p xmlns:a="http://schemas.openxmlformats.org/drawingml/2006/main">
            <a:r>
              <a:t>      "source_url": "",</a:t>
            </a:r>
          </a:p>
          <a:p xmlns:a="http://schemas.openxmlformats.org/drawingml/2006/main">
            <a:r>
              <a:t>      "source_type": "model_forecast",</a:t>
            </a:r>
          </a:p>
          <a:p xmlns:a="http://schemas.openxmlformats.org/drawingml/2006/main">
            <a:r>
              <a:t>      "model_version": "regional-demand-v3.1",</a:t>
            </a:r>
          </a:p>
          <a:p xmlns:a="http://schemas.openxmlformats.org/drawingml/2006/main">
            <a:r>
              <a:t>      "data_fingerprint": "c47c92e05a4d54565864c2c7d1091d0c4f29ba1e6f45559f77d766e9c92e6d24"</a:t>
            </a:r>
          </a:p>
          <a:p xmlns:a="http://schemas.openxmlformats.org/drawingml/2006/main">
            <a:r>
              <a:t>    },</a:t>
            </a:r>
          </a:p>
          <a:p xmlns:a="http://schemas.openxmlformats.org/drawingml/2006/main">
            <a:r>
              <a:t>    {</a:t>
            </a:r>
          </a:p>
          <a:p xmlns:a="http://schemas.openxmlformats.org/drawingml/2006/main">
            <a:r>
              <a:t>      "title": "가조쿠",</a:t>
            </a:r>
          </a:p>
          <a:p xmlns:a="http://schemas.openxmlformats.org/drawingml/2006/main">
            <a:r>
              <a:t>      "address": "서울특별시 성동구 연무장길 31-2 (성수동2가)",</a:t>
            </a:r>
          </a:p>
          <a:p xmlns:a="http://schemas.openxmlformats.org/drawingml/2006/main">
            <a:r>
              <a:t>      "summary": "한국관광공사 국문관광정보 API가 반환한 선택 지역 관광자원",</a:t>
            </a:r>
          </a:p>
          <a:p xmlns:a="http://schemas.openxmlformats.org/drawingml/2006/main">
            <a:r>
              <a:t>      "image_url": "http://tong.visitkorea.or.kr/cms/resource/12/2901212_image2_1.jpg",</a:t>
            </a:r>
          </a:p>
          <a:p xmlns:a="http://schemas.openxmlformats.org/drawingml/2006/main">
            <a:r>
              <a:t>      "source_id": "tour-api:2901229",</a:t>
            </a:r>
          </a:p>
          <a:p xmlns:a="http://schemas.openxmlformats.org/drawingml/2006/main">
            <a:r>
              <a:t>      "content_id": "2901229",</a:t>
            </a:r>
          </a:p>
          <a:p xmlns:a="http://schemas.openxmlformats.org/drawingml/2006/main">
            <a:r>
              <a:t>      "source_url": "https://apis.data.go.kr/B551011/KorService2",</a:t>
            </a:r>
          </a:p>
          <a:p xmlns:a="http://schemas.openxmlformats.org/drawingml/2006/main">
            <a:r>
              <a:t>      "source_type": "open_api",</a:t>
            </a:r>
          </a:p>
          <a:p xmlns:a="http://schemas.openxmlformats.org/drawingml/2006/main">
            <a:r>
              <a:t>      "content_type_id": "39"</a:t>
            </a:r>
          </a:p>
          <a:p xmlns:a="http://schemas.openxmlformats.org/drawingml/2006/main">
            <a:r>
              <a:t>    },</a:t>
            </a:r>
          </a:p>
          <a:p xmlns:a="http://schemas.openxmlformats.org/drawingml/2006/main">
            <a:r>
              <a:t>    {</a:t>
            </a:r>
          </a:p>
          <a:p xmlns:a="http://schemas.openxmlformats.org/drawingml/2006/main">
            <a:r>
              <a:t>      "title": "계월",</a:t>
            </a:r>
          </a:p>
          <a:p xmlns:a="http://schemas.openxmlformats.org/drawingml/2006/main">
            <a:r>
              <a:t>      "address": "서울특별시 성동구 성덕정3길 8 (성수동1가)",</a:t>
            </a:r>
          </a:p>
          <a:p xmlns:a="http://schemas.openxmlformats.org/drawingml/2006/main">
            <a:r>
              <a:t>      "summary": "한국관광공사 국문관광정보 API가 반환한 선택 지역 관광자원",</a:t>
            </a:r>
          </a:p>
          <a:p xmlns:a="http://schemas.openxmlformats.org/drawingml/2006/main">
            <a:r>
              <a:t>      "image_url": "http://tong.visitkorea.or.kr/cms/resource/44/2895144_image2_1.JPG",</a:t>
            </a:r>
          </a:p>
          <a:p xmlns:a="http://schemas.openxmlformats.org/drawingml/2006/main">
            <a:r>
              <a:t>      "source_id": "tour-api:2895161",</a:t>
            </a:r>
          </a:p>
          <a:p xmlns:a="http://schemas.openxmlformats.org/drawingml/2006/main">
            <a:r>
              <a:t>      "content_id": "2895161",</a:t>
            </a:r>
          </a:p>
          <a:p xmlns:a="http://schemas.openxmlformats.org/drawingml/2006/main">
            <a:r>
              <a:t>      "source_url": "https://apis.data.go.kr/B551011/KorService2",</a:t>
            </a:r>
          </a:p>
          <a:p xmlns:a="http://schemas.openxmlformats.org/drawingml/2006/main">
            <a:r>
              <a:t>      "source_type": "open_api",</a:t>
            </a:r>
          </a:p>
          <a:p xmlns:a="http://schemas.openxmlformats.org/drawingml/2006/main">
            <a:r>
              <a:t>      "content_type_id": "39"</a:t>
            </a:r>
          </a:p>
          <a:p xmlns:a="http://schemas.openxmlformats.org/drawingml/2006/main">
            <a:r>
              <a:t>    },</a:t>
            </a:r>
          </a:p>
          <a:p xmlns:a="http://schemas.openxmlformats.org/drawingml/2006/main">
            <a:r>
              <a:t>    {</a:t>
            </a:r>
          </a:p>
          <a:p xmlns:a="http://schemas.openxmlformats.org/drawingml/2006/main">
            <a:r>
              <a:t>      "title": "계자람",</a:t>
            </a:r>
          </a:p>
          <a:p xmlns:a="http://schemas.openxmlformats.org/drawingml/2006/main">
            <a:r>
              <a:t>      "address": "서울특별시 성동구 성덕정17길 5 (성수동2가)",</a:t>
            </a:r>
          </a:p>
          <a:p xmlns:a="http://schemas.openxmlformats.org/drawingml/2006/main">
            <a:r>
              <a:t>      "summary": "한국관광공사 국문관광정보 API가 반환한 선택 지역 관광자원",</a:t>
            </a:r>
          </a:p>
          <a:p xmlns:a="http://schemas.openxmlformats.org/drawingml/2006/main">
            <a:r>
              <a:t>      "image_url": "http://tong.visitkorea.or.kr/cms/resource/51/2901351_image2_1.jpg",</a:t>
            </a:r>
          </a:p>
          <a:p xmlns:a="http://schemas.openxmlformats.org/drawingml/2006/main">
            <a:r>
              <a:t>      "source_id": "tour-api:2901359",</a:t>
            </a:r>
          </a:p>
          <a:p xmlns:a="http://schemas.openxmlformats.org/drawingml/2006/main">
            <a:r>
              <a:t>      "content_id": "2901359",</a:t>
            </a:r>
          </a:p>
          <a:p xmlns:a="http://schemas.openxmlformats.org/drawingml/2006/main">
            <a:r>
              <a:t>      "source_url": "https://apis.data.go.kr/B551011/KorService2",</a:t>
            </a:r>
          </a:p>
          <a:p xmlns:a="http://schemas.openxmlformats.org/drawingml/2006/main">
            <a:r>
              <a:t>      "source_type": "open_api",</a:t>
            </a:r>
          </a:p>
          <a:p xmlns:a="http://schemas.openxmlformats.org/drawingml/2006/main">
            <a:r>
              <a:t>      "content_type_id": "39"</a:t>
            </a:r>
          </a:p>
          <a:p xmlns:a="http://schemas.openxmlformats.org/drawingml/2006/main">
            <a:r>
              <a:t>    },</a:t>
            </a:r>
          </a:p>
          <a:p xmlns:a="http://schemas.openxmlformats.org/drawingml/2006/main">
            <a:r>
              <a:t>    {</a:t>
            </a:r>
          </a:p>
          <a:p xmlns:a="http://schemas.openxmlformats.org/drawingml/2006/main">
            <a:r>
              <a:t>      "title": "구욱희씨",</a:t>
            </a:r>
          </a:p>
          <a:p xmlns:a="http://schemas.openxmlformats.org/drawingml/2006/main">
            <a:r>
              <a:t>      "address": "서울특별시 성동구 서울숲4길 12-22",</a:t>
            </a:r>
          </a:p>
          <a:p xmlns:a="http://schemas.openxmlformats.org/drawingml/2006/main">
            <a:r>
              <a:t>      "summary": "한국관광공사 국문관광정보 API가 반환한 선택 지역 관광자원",</a:t>
            </a:r>
          </a:p>
          <a:p xmlns:a="http://schemas.openxmlformats.org/drawingml/2006/main">
            <a:r>
              <a:t>      "image_url": "http://tong.visitkorea.or.kr/cms/resource/08/2895208_image2_1.jpg",</a:t>
            </a:r>
          </a:p>
          <a:p xmlns:a="http://schemas.openxmlformats.org/drawingml/2006/main">
            <a:r>
              <a:t>      "source_id": "tour-api:2895211",</a:t>
            </a:r>
          </a:p>
          <a:p xmlns:a="http://schemas.openxmlformats.org/drawingml/2006/main">
            <a:r>
              <a:t>      "content_id": "2895211",</a:t>
            </a:r>
          </a:p>
          <a:p xmlns:a="http://schemas.openxmlformats.org/drawingml/2006/main">
            <a:r>
              <a:t>      "source_url": "https://apis.data.go.kr/B551011/KorService2",</a:t>
            </a:r>
          </a:p>
          <a:p xmlns:a="http://schemas.openxmlformats.org/drawingml/2006/main">
            <a:r>
              <a:t>      "source_type": "open_api",</a:t>
            </a:r>
          </a:p>
          <a:p xmlns:a="http://schemas.openxmlformats.org/drawingml/2006/main">
            <a:r>
              <a:t>      "content_type_id": "39"</a:t>
            </a:r>
          </a:p>
          <a:p xmlns:a="http://schemas.openxmlformats.org/drawingml/2006/main">
            <a:r>
              <a:t>    },</a:t>
            </a:r>
          </a:p>
          <a:p xmlns:a="http://schemas.openxmlformats.org/drawingml/2006/main">
            <a:r>
              <a:t>    {</a:t>
            </a:r>
          </a:p>
          <a:p xmlns:a="http://schemas.openxmlformats.org/drawingml/2006/main">
            <a:r>
              <a:t>      "title": "구펠",</a:t>
            </a:r>
          </a:p>
          <a:p xmlns:a="http://schemas.openxmlformats.org/drawingml/2006/main">
            <a:r>
              <a:t>      "address": "서울특별시 성동구 왕십리로14길 30-1 (성수동1가)",</a:t>
            </a:r>
          </a:p>
          <a:p xmlns:a="http://schemas.openxmlformats.org/drawingml/2006/main">
            <a:r>
              <a:t>      "summary": "한국관광공사 국문관광정보 API가 반환한 선택 지역 관광자원",</a:t>
            </a:r>
          </a:p>
          <a:p xmlns:a="http://schemas.openxmlformats.org/drawingml/2006/main">
            <a:r>
              <a:t>      "image_url": "http://tong.visitkorea.or.kr/cms/resource/26/2895226_image2_1.jpg",</a:t>
            </a:r>
          </a:p>
          <a:p xmlns:a="http://schemas.openxmlformats.org/drawingml/2006/main">
            <a:r>
              <a:t>      "source_id": "tour-api:2895236",</a:t>
            </a:r>
          </a:p>
          <a:p xmlns:a="http://schemas.openxmlformats.org/drawingml/2006/main">
            <a:r>
              <a:t>      "content_id": "2895236",</a:t>
            </a:r>
          </a:p>
          <a:p xmlns:a="http://schemas.openxmlformats.org/drawingml/2006/main">
            <a:r>
              <a:t>      "source_url": "https://apis.data.go.kr/B551011/KorService2",</a:t>
            </a:r>
          </a:p>
          <a:p xmlns:a="http://schemas.openxmlformats.org/drawingml/2006/main">
            <a:r>
              <a:t>      "source_type": "open_api",</a:t>
            </a:r>
          </a:p>
          <a:p xmlns:a="http://schemas.openxmlformats.org/drawingml/2006/main">
            <a:r>
              <a:t>      "content_type_id": "39"</a:t>
            </a:r>
          </a:p>
          <a:p xmlns:a="http://schemas.openxmlformats.org/drawingml/2006/main">
            <a:r>
              <a:t>    },</a:t>
            </a:r>
          </a:p>
          <a:p xmlns:a="http://schemas.openxmlformats.org/drawingml/2006/main">
            <a:r>
              <a:t>    {</a:t>
            </a:r>
          </a:p>
          <a:p xmlns:a="http://schemas.openxmlformats.org/drawingml/2006/main">
            <a:r>
              <a:t>      "title": "그라데이션커피",</a:t>
            </a:r>
          </a:p>
          <a:p xmlns:a="http://schemas.openxmlformats.org/drawingml/2006/main">
            <a:r>
              <a:t>      "address": "서울특별시 성동구 상원12길 24-1 (성수동1가)",</a:t>
            </a:r>
          </a:p>
          <a:p xmlns:a="http://schemas.openxmlformats.org/drawingml/2006/main">
            <a:r>
              <a:t>      "summary": "한국관광공사 국문관광정보 API가 반환한 선택 지역 관광자원",</a:t>
            </a:r>
          </a:p>
          <a:p xmlns:a="http://schemas.openxmlformats.org/drawingml/2006/main">
            <a:r>
              <a:t>      "image_url": "http://tong.visitkorea.or.kr/cms/resource/82/2898982_image2_1.jpg",</a:t>
            </a:r>
          </a:p>
          <a:p xmlns:a="http://schemas.openxmlformats.org/drawingml/2006/main">
            <a:r>
              <a:t>      "source_id": "tour-api:2898994",</a:t>
            </a:r>
          </a:p>
          <a:p xmlns:a="http://schemas.openxmlformats.org/drawingml/2006/main">
            <a:r>
              <a:t>      "content_id": "2898994",</a:t>
            </a:r>
          </a:p>
          <a:p xmlns:a="http://schemas.openxmlformats.org/drawingml/2006/main">
            <a:r>
              <a:t>      "source_url": "https://apis.data.go.kr/B551011/KorService2",</a:t>
            </a:r>
          </a:p>
          <a:p xmlns:a="http://schemas.openxmlformats.org/drawingml/2006/main">
            <a:r>
              <a:t>      "source_type": "open_api",</a:t>
            </a:r>
          </a:p>
          <a:p xmlns:a="http://schemas.openxmlformats.org/drawingml/2006/main">
            <a:r>
              <a:t>      "content_type_id": "39"</a:t>
            </a:r>
          </a:p>
          <a:p xmlns:a="http://schemas.openxmlformats.org/drawingml/2006/main">
            <a:r>
              <a:t>    },</a:t>
            </a:r>
          </a:p>
          <a:p xmlns:a="http://schemas.openxmlformats.org/drawingml/2006/main">
            <a:r>
              <a:t>    {</a:t>
            </a:r>
          </a:p>
          <a:p xmlns:a="http://schemas.openxmlformats.org/drawingml/2006/main">
            <a:r>
              <a:t>      "title": "그린랩",</a:t>
            </a:r>
          </a:p>
          <a:p xmlns:a="http://schemas.openxmlformats.org/drawingml/2006/main">
            <a:r>
              <a:t>      "address": "서울특별시 성동구 서울숲2길 18-11",</a:t>
            </a:r>
          </a:p>
          <a:p xmlns:a="http://schemas.openxmlformats.org/drawingml/2006/main">
            <a:r>
              <a:t>      "summary": "한국관광공사 국문관광정보 API가 반환한 선택 지역 관광자원",</a:t>
            </a:r>
          </a:p>
          <a:p xmlns:a="http://schemas.openxmlformats.org/drawingml/2006/main">
            <a:r>
              <a:t>      "image_url": "http://tong.visitkorea.or.kr/cms/resource/64/2894864_image2_1.JPG",</a:t>
            </a:r>
          </a:p>
          <a:p xmlns:a="http://schemas.openxmlformats.org/drawingml/2006/main">
            <a:r>
              <a:t>      "source_id": "tour-api:2894873",</a:t>
            </a:r>
          </a:p>
          <a:p xmlns:a="http://schemas.openxmlformats.org/drawingml/2006/main">
            <a:r>
              <a:t>      "content_id": "2894873",</a:t>
            </a:r>
          </a:p>
          <a:p xmlns:a="http://schemas.openxmlformats.org/drawingml/2006/main">
            <a:r>
              <a:t>      "source_url": "https://apis.data.go.kr/B551011/KorService2",</a:t>
            </a:r>
          </a:p>
          <a:p xmlns:a="http://schemas.openxmlformats.org/drawingml/2006/main">
            <a:r>
              <a:t>      "source_type": "open_api",</a:t>
            </a:r>
          </a:p>
          <a:p xmlns:a="http://schemas.openxmlformats.org/drawingml/2006/main">
            <a:r>
              <a:t>      "content_type_id": "39"</a:t>
            </a:r>
          </a:p>
          <a:p xmlns:a="http://schemas.openxmlformats.org/drawingml/2006/main">
            <a:r>
              <a:t>    },</a:t>
            </a:r>
          </a:p>
          <a:p xmlns:a="http://schemas.openxmlformats.org/drawingml/2006/main">
            <a:r>
              <a:t>    {</a:t>
            </a:r>
          </a:p>
          <a:p xmlns:a="http://schemas.openxmlformats.org/drawingml/2006/main">
            <a:r>
              <a:t>      "title": "금남시장",</a:t>
            </a:r>
          </a:p>
          <a:p xmlns:a="http://schemas.openxmlformats.org/drawingml/2006/main">
            <a:r>
              <a:t>      "address": "서울특별시 성동구 독서당로 303-7 (금호동3가)",</a:t>
            </a:r>
          </a:p>
          <a:p xmlns:a="http://schemas.openxmlformats.org/drawingml/2006/main">
            <a:r>
              <a:t>      "summary": "한국관광공사 국문관광정보 API가 반환한 선택 지역 관광자원",</a:t>
            </a:r>
          </a:p>
          <a:p xmlns:a="http://schemas.openxmlformats.org/drawingml/2006/main">
            <a:r>
              <a:t>      "image_url": "http://tong.visitkorea.or.kr/cms/resource/59/3414159_image2_1.jpg",</a:t>
            </a:r>
          </a:p>
          <a:p xmlns:a="http://schemas.openxmlformats.org/drawingml/2006/main">
            <a:r>
              <a:t>      "source_id": "tour-api:2743748",</a:t>
            </a:r>
          </a:p>
          <a:p xmlns:a="http://schemas.openxmlformats.org/drawingml/2006/main">
            <a:r>
              <a:t>      "content_id": "2743748",</a:t>
            </a:r>
          </a:p>
          <a:p xmlns:a="http://schemas.openxmlformats.org/drawingml/2006/main">
            <a:r>
              <a:t>      "source_url": "https://apis.data.go.kr/B551011/KorService2",</a:t>
            </a:r>
          </a:p>
          <a:p xmlns:a="http://schemas.openxmlformats.org/drawingml/2006/main">
            <a:r>
              <a:t>      "source_type": "open_api",</a:t>
            </a:r>
          </a:p>
          <a:p xmlns:a="http://schemas.openxmlformats.org/drawingml/2006/main">
            <a:r>
              <a:t>      "content_type_id": "38"</a:t>
            </a:r>
          </a:p>
          <a:p xmlns:a="http://schemas.openxmlformats.org/drawingml/2006/main">
            <a:r>
              <a:t>    },</a:t>
            </a:r>
          </a:p>
          <a:p xmlns:a="http://schemas.openxmlformats.org/drawingml/2006/main">
            <a:r>
              <a:t>    {</a:t>
            </a:r>
          </a:p>
          <a:p xmlns:a="http://schemas.openxmlformats.org/drawingml/2006/main">
            <a:r>
              <a:t>      "title": "기후",</a:t>
            </a:r>
          </a:p>
          <a:p xmlns:a="http://schemas.openxmlformats.org/drawingml/2006/main">
            <a:r>
              <a:t>      "address": "서울특별시 성동구 성수이로 66 서울숲 드림타워",</a:t>
            </a:r>
          </a:p>
          <a:p xmlns:a="http://schemas.openxmlformats.org/drawingml/2006/main">
            <a:r>
              <a:t>      "summary": "한국관광공사 국문관광정보 API가 반환한 선택 지역 관광자원",</a:t>
            </a:r>
          </a:p>
          <a:p xmlns:a="http://schemas.openxmlformats.org/drawingml/2006/main">
            <a:r>
              <a:t>      "image_url": "http://tong.visitkorea.or.kr/cms/resource/59/2901559_image2_1.jpg",</a:t>
            </a:r>
          </a:p>
          <a:p xmlns:a="http://schemas.openxmlformats.org/drawingml/2006/main">
            <a:r>
              <a:t>      "source_id": "tour-api:2901568",</a:t>
            </a:r>
          </a:p>
          <a:p xmlns:a="http://schemas.openxmlformats.org/drawingml/2006/main">
            <a:r>
              <a:t>      "content_id": "2901568",</a:t>
            </a:r>
          </a:p>
          <a:p xmlns:a="http://schemas.openxmlformats.org/drawingml/2006/main">
            <a:r>
              <a:t>      "source_url": "https://apis.data.go.kr/B551011/KorService2",</a:t>
            </a:r>
          </a:p>
          <a:p xmlns:a="http://schemas.openxmlformats.org/drawingml/2006/main">
            <a:r>
              <a:t>      "source_type": "open_api",</a:t>
            </a:r>
          </a:p>
          <a:p xmlns:a="http://schemas.openxmlformats.org/drawingml/2006/main">
            <a:r>
              <a:t>      "content_type_id": "39"</a:t>
            </a:r>
          </a:p>
          <a:p xmlns:a="http://schemas.openxmlformats.org/drawingml/2006/main">
            <a:r>
              <a:t>    },</a:t>
            </a:r>
          </a:p>
          <a:p xmlns:a="http://schemas.openxmlformats.org/drawingml/2006/main">
            <a:r>
              <a:t>    {</a:t>
            </a:r>
          </a:p>
          <a:p xmlns:a="http://schemas.openxmlformats.org/drawingml/2006/main">
            <a:r>
              <a:t>      "title": "꾸아 성수점",</a:t>
            </a:r>
          </a:p>
          <a:p xmlns:a="http://schemas.openxmlformats.org/drawingml/2006/main">
            <a:r>
              <a:t>      "address": "서울특별시 성동구 왕십리로 94-2 (성수동1가)",</a:t>
            </a:r>
          </a:p>
          <a:p xmlns:a="http://schemas.openxmlformats.org/drawingml/2006/main">
            <a:r>
              <a:t>      "summary": "한국관광공사 국문관광정보 API가 반환한 선택 지역 관광자원",</a:t>
            </a:r>
          </a:p>
          <a:p xmlns:a="http://schemas.openxmlformats.org/drawingml/2006/main">
            <a:r>
              <a:t>      "image_url": "http://tong.visitkorea.or.kr/cms/resource/17/2894817_image2_1.jpg",</a:t>
            </a:r>
          </a:p>
          <a:p xmlns:a="http://schemas.openxmlformats.org/drawingml/2006/main">
            <a:r>
              <a:t>      "source_id": "tour-api:2894842",</a:t>
            </a:r>
          </a:p>
          <a:p xmlns:a="http://schemas.openxmlformats.org/drawingml/2006/main">
            <a:r>
              <a:t>      "content_id": "2894842",</a:t>
            </a:r>
          </a:p>
          <a:p xmlns:a="http://schemas.openxmlformats.org/drawingml/2006/main">
            <a:r>
              <a:t>      "source_url": "https://apis.data.go.kr/B551011/KorService2",</a:t>
            </a:r>
          </a:p>
          <a:p xmlns:a="http://schemas.openxmlformats.org/drawingml/2006/main">
            <a:r>
              <a:t>      "source_type": "open_api",</a:t>
            </a:r>
          </a:p>
          <a:p xmlns:a="http://schemas.openxmlformats.org/drawingml/2006/main">
            <a:r>
              <a:t>      "content_type_id": "39"</a:t>
            </a:r>
          </a:p>
          <a:p xmlns:a="http://schemas.openxmlformats.org/drawingml/2006/main">
            <a:r>
              <a:t>    },</a:t>
            </a:r>
          </a:p>
          <a:p xmlns:a="http://schemas.openxmlformats.org/drawingml/2006/main">
            <a:r>
              <a:t>    {</a:t>
            </a:r>
          </a:p>
          <a:p xmlns:a="http://schemas.openxmlformats.org/drawingml/2006/main">
            <a:r>
              <a:t>      "title": "난포",</a:t>
            </a:r>
          </a:p>
          <a:p xmlns:a="http://schemas.openxmlformats.org/drawingml/2006/main">
            <a:r>
              <a:t>      "address": "서울특별시 성동구 서울숲4길 18-8 (성수동1가)",</a:t>
            </a:r>
          </a:p>
          <a:p xmlns:a="http://schemas.openxmlformats.org/drawingml/2006/main">
            <a:r>
              <a:t>      "summary": "한국관광공사 국문관광정보 API가 반환한 선택 지역 관광자원",</a:t>
            </a:r>
          </a:p>
          <a:p xmlns:a="http://schemas.openxmlformats.org/drawingml/2006/main">
            <a:r>
              <a:t>      "image_url": "http://tong.visitkorea.or.kr/cms/resource/15/2843515_image2_1.jpg",</a:t>
            </a:r>
          </a:p>
          <a:p xmlns:a="http://schemas.openxmlformats.org/drawingml/2006/main">
            <a:r>
              <a:t>      "source_id": "tour-api:2843520",</a:t>
            </a:r>
          </a:p>
          <a:p xmlns:a="http://schemas.openxmlformats.org/drawingml/2006/main">
            <a:r>
              <a:t>      "content_id": "2843520",</a:t>
            </a:r>
          </a:p>
          <a:p xmlns:a="http://schemas.openxmlformats.org/drawingml/2006/main">
            <a:r>
              <a:t>      "source_url": "https://apis.data.go.kr/B551011/KorService2",</a:t>
            </a:r>
          </a:p>
          <a:p xmlns:a="http://schemas.openxmlformats.org/drawingml/2006/main">
            <a:r>
              <a:t>      "source_type": "open_api",</a:t>
            </a:r>
          </a:p>
          <a:p xmlns:a="http://schemas.openxmlformats.org/drawingml/2006/main">
            <a:r>
              <a:t>      "content_type_id": "39"</a:t>
            </a:r>
          </a:p>
          <a:p xmlns:a="http://schemas.openxmlformats.org/drawingml/2006/main">
            <a:r>
              <a:t>    },</a:t>
            </a:r>
          </a:p>
          <a:p xmlns:a="http://schemas.openxmlformats.org/drawingml/2006/main">
            <a:r>
              <a:t>    {</a:t>
            </a:r>
          </a:p>
          <a:p xmlns:a="http://schemas.openxmlformats.org/drawingml/2006/main">
            <a:r>
              <a:t>      "title": "누메로도스",</a:t>
            </a:r>
          </a:p>
          <a:p xmlns:a="http://schemas.openxmlformats.org/drawingml/2006/main">
            <a:r>
              <a:t>      "address": "서울특별시 성동구 상원1길 35-9 (성수동1가)",</a:t>
            </a:r>
          </a:p>
          <a:p xmlns:a="http://schemas.openxmlformats.org/drawingml/2006/main">
            <a:r>
              <a:t>      "summary": "한국관광공사 국문관광정보 API가 반환한 선택 지역 관광자원",</a:t>
            </a:r>
          </a:p>
          <a:p xmlns:a="http://schemas.openxmlformats.org/drawingml/2006/main">
            <a:r>
              <a:t>      "image_url": "http://tong.visitkorea.or.kr/cms/resource/99/2894799_image2_1.jpg",</a:t>
            </a:r>
          </a:p>
          <a:p xmlns:a="http://schemas.openxmlformats.org/drawingml/2006/main">
            <a:r>
              <a:t>      "source_id": "tour-api:2894810",</a:t>
            </a:r>
          </a:p>
          <a:p xmlns:a="http://schemas.openxmlformats.org/drawingml/2006/main">
            <a:r>
              <a:t>      "content_id": "2894810",</a:t>
            </a:r>
          </a:p>
          <a:p xmlns:a="http://schemas.openxmlformats.org/drawingml/2006/main">
            <a:r>
              <a:t>      "source_url": "https://apis.data.go.kr/B551011/KorService2",</a:t>
            </a:r>
          </a:p>
          <a:p xmlns:a="http://schemas.openxmlformats.org/drawingml/2006/main">
            <a:r>
              <a:t>      "source_type": "open_api",</a:t>
            </a:r>
          </a:p>
          <a:p xmlns:a="http://schemas.openxmlformats.org/drawingml/2006/main">
            <a:r>
              <a:t>      "content_type_id": "39"</a:t>
            </a:r>
          </a:p>
          <a:p xmlns:a="http://schemas.openxmlformats.org/drawingml/2006/main">
            <a:r>
              <a:t>    },</a:t>
            </a:r>
          </a:p>
          <a:p xmlns:a="http://schemas.openxmlformats.org/drawingml/2006/main">
            <a:r>
              <a:t>    {</a:t>
            </a:r>
          </a:p>
          <a:p xmlns:a="http://schemas.openxmlformats.org/drawingml/2006/main">
            <a:r>
              <a:t>      "title": "누메로뜨레쓰",</a:t>
            </a:r>
          </a:p>
          <a:p xmlns:a="http://schemas.openxmlformats.org/drawingml/2006/main">
            <a:r>
              <a:t>      "address": "서울특별시 성동구 성수일로 21 (성수동1가)",</a:t>
            </a:r>
          </a:p>
          <a:p xmlns:a="http://schemas.openxmlformats.org/drawingml/2006/main">
            <a:r>
              <a:t>      "summary": "한국관광공사 국문관광정보 API가 반환한 선택 지역 관광자원",</a:t>
            </a:r>
          </a:p>
          <a:p xmlns:a="http://schemas.openxmlformats.org/drawingml/2006/main">
            <a:r>
              <a:t>      "image_url": "http://tong.visitkorea.or.kr/cms/resource/76/2894776_image2_1.jpg",</a:t>
            </a:r>
          </a:p>
          <a:p xmlns:a="http://schemas.openxmlformats.org/drawingml/2006/main">
            <a:r>
              <a:t>      "source_id": "tour-api:2894795",</a:t>
            </a:r>
          </a:p>
          <a:p xmlns:a="http://schemas.openxmlformats.org/drawingml/2006/main">
            <a:r>
              <a:t>      "content_id": "2894795",</a:t>
            </a:r>
          </a:p>
          <a:p xmlns:a="http://schemas.openxmlformats.org/drawingml/2006/main">
            <a:r>
              <a:t>      "source_url": "https://apis.data.go.kr/B551011/KorService2",</a:t>
            </a:r>
          </a:p>
          <a:p xmlns:a="http://schemas.openxmlformats.org/drawingml/2006/main">
            <a:r>
              <a:t>      "source_type": "open_api",</a:t>
            </a:r>
          </a:p>
          <a:p xmlns:a="http://schemas.openxmlformats.org/drawingml/2006/main">
            <a:r>
              <a:t>      "content_type_id": "39"</a:t>
            </a:r>
          </a:p>
          <a:p xmlns:a="http://schemas.openxmlformats.org/drawingml/2006/main">
            <a:r>
              <a:t>    },</a:t>
            </a:r>
          </a:p>
          <a:p xmlns:a="http://schemas.openxmlformats.org/drawingml/2006/main">
            <a:r>
              <a:t>    {</a:t>
            </a:r>
          </a:p>
          <a:p xmlns:a="http://schemas.openxmlformats.org/drawingml/2006/main">
            <a:r>
              <a:t>      "title": "니드스윗",</a:t>
            </a:r>
          </a:p>
          <a:p xmlns:a="http://schemas.openxmlformats.org/drawingml/2006/main">
            <a:r>
              <a:t>      "address": "서울특별시 성동구 아차산로1길 9",</a:t>
            </a:r>
          </a:p>
          <a:p xmlns:a="http://schemas.openxmlformats.org/drawingml/2006/main">
            <a:r>
              <a:t>      "summary": "한국관광공사 국문관광정보 API가 반환한 선택 지역 관광자원",</a:t>
            </a:r>
          </a:p>
          <a:p xmlns:a="http://schemas.openxmlformats.org/drawingml/2006/main">
            <a:r>
              <a:t>      "image_url": "http://tong.visitkorea.or.kr/cms/resource/55/2894755_image2_1.jpg",</a:t>
            </a:r>
          </a:p>
          <a:p xmlns:a="http://schemas.openxmlformats.org/drawingml/2006/main">
            <a:r>
              <a:t>      "source_id": "tour-api:2894763",</a:t>
            </a:r>
          </a:p>
          <a:p xmlns:a="http://schemas.openxmlformats.org/drawingml/2006/main">
            <a:r>
              <a:t>      "content_id": "2894763",</a:t>
            </a:r>
          </a:p>
          <a:p xmlns:a="http://schemas.openxmlformats.org/drawingml/2006/main">
            <a:r>
              <a:t>      "source_url": "https://apis.data.go.kr/B551011/KorService2",</a:t>
            </a:r>
          </a:p>
          <a:p xmlns:a="http://schemas.openxmlformats.org/drawingml/2006/main">
            <a:r>
              <a:t>      "source_type": "open_api",</a:t>
            </a:r>
          </a:p>
          <a:p xmlns:a="http://schemas.openxmlformats.org/drawingml/2006/main">
            <a:r>
              <a:t>      "content_type_id": "39"</a:t>
            </a:r>
          </a:p>
          <a:p xmlns:a="http://schemas.openxmlformats.org/drawingml/2006/main">
            <a:r>
              <a:t>    },</a:t>
            </a:r>
          </a:p>
          <a:p xmlns:a="http://schemas.openxmlformats.org/drawingml/2006/main">
            <a:r>
              <a:t>    {</a:t>
            </a:r>
          </a:p>
          <a:p xmlns:a="http://schemas.openxmlformats.org/drawingml/2006/main">
            <a:r>
              <a:t>      "title": "단일서울",</a:t>
            </a:r>
          </a:p>
          <a:p xmlns:a="http://schemas.openxmlformats.org/drawingml/2006/main">
            <a:r>
              <a:t>      "address": "서울특별시 성동구 왕십리로 66-33 (성수동1가)",</a:t>
            </a:r>
          </a:p>
          <a:p xmlns:a="http://schemas.openxmlformats.org/drawingml/2006/main">
            <a:r>
              <a:t>      "summary": "한국관광공사 국문관광정보 API가 반환한 선택 지역 관광자원",</a:t>
            </a:r>
          </a:p>
          <a:p xmlns:a="http://schemas.openxmlformats.org/drawingml/2006/main">
            <a:r>
              <a:t>      "image_url": "http://tong.visitkorea.or.kr/cms/resource/34/2894734_image2_1.jpg",</a:t>
            </a:r>
          </a:p>
          <a:p xmlns:a="http://schemas.openxmlformats.org/drawingml/2006/main">
            <a:r>
              <a:t>      "source_id": "tour-api:2894747",</a:t>
            </a:r>
          </a:p>
          <a:p xmlns:a="http://schemas.openxmlformats.org/drawingml/2006/main">
            <a:r>
              <a:t>      "content_id": "2894747",</a:t>
            </a:r>
          </a:p>
          <a:p xmlns:a="http://schemas.openxmlformats.org/drawingml/2006/main">
            <a:r>
              <a:t>      "source_url": "https://apis.data.go.kr/B551011/KorService2",</a:t>
            </a:r>
          </a:p>
          <a:p xmlns:a="http://schemas.openxmlformats.org/drawingml/2006/main">
            <a:r>
              <a:t>      "source_type": "open_api",</a:t>
            </a:r>
          </a:p>
          <a:p xmlns:a="http://schemas.openxmlformats.org/drawingml/2006/main">
            <a:r>
              <a:t>      "content_type_id": "39"</a:t>
            </a:r>
          </a:p>
          <a:p xmlns:a="http://schemas.openxmlformats.org/drawingml/2006/main">
            <a:r>
              <a:t>    },</a:t>
            </a:r>
          </a:p>
          <a:p xmlns:a="http://schemas.openxmlformats.org/drawingml/2006/main">
            <a:r>
              <a:t>    {</a:t>
            </a:r>
          </a:p>
          <a:p xmlns:a="http://schemas.openxmlformats.org/drawingml/2006/main">
            <a:r>
              <a:t>      "title": "대돈집",</a:t>
            </a:r>
          </a:p>
          <a:p xmlns:a="http://schemas.openxmlformats.org/drawingml/2006/main">
            <a:r>
              <a:t>      "address": "서울특별시 성동구 왕십리로14길 18 뚝섬영재어린이집",</a:t>
            </a:r>
          </a:p>
          <a:p xmlns:a="http://schemas.openxmlformats.org/drawingml/2006/main">
            <a:r>
              <a:t>      "summary": "한국관광공사 국문관광정보 API가 반환한 선택 지역 관광자원",</a:t>
            </a:r>
          </a:p>
          <a:p xmlns:a="http://schemas.openxmlformats.org/drawingml/2006/main">
            <a:r>
              <a:t>      "image_url": "http://tong.visitkorea.or.kr/cms/resource/33/2894833_image2_1.jpg",</a:t>
            </a:r>
          </a:p>
          <a:p xmlns:a="http://schemas.openxmlformats.org/drawingml/2006/main">
            <a:r>
              <a:t>      "source_id": "tour-api:2894854",</a:t>
            </a:r>
          </a:p>
          <a:p xmlns:a="http://schemas.openxmlformats.org/drawingml/2006/main">
            <a:r>
              <a:t>      "content_id": "2894854",</a:t>
            </a:r>
          </a:p>
          <a:p xmlns:a="http://schemas.openxmlformats.org/drawingml/2006/main">
            <a:r>
              <a:t>      "source_url": "https://apis.data.go.kr/B551011/KorService2",</a:t>
            </a:r>
          </a:p>
          <a:p xmlns:a="http://schemas.openxmlformats.org/drawingml/2006/main">
            <a:r>
              <a:t>      "source_type": "open_api",</a:t>
            </a:r>
          </a:p>
          <a:p xmlns:a="http://schemas.openxmlformats.org/drawingml/2006/main">
            <a:r>
              <a:t>      "content_type_id": "39"</a:t>
            </a:r>
          </a:p>
          <a:p xmlns:a="http://schemas.openxmlformats.org/drawingml/2006/main">
            <a:r>
              <a:t>    },</a:t>
            </a:r>
          </a:p>
          <a:p xmlns:a="http://schemas.openxmlformats.org/drawingml/2006/main">
            <a:r>
              <a:t>    {</a:t>
            </a:r>
          </a:p>
          <a:p xmlns:a="http://schemas.openxmlformats.org/drawingml/2006/main">
            <a:r>
              <a:t>      "title": "대흥정육식당",</a:t>
            </a:r>
          </a:p>
          <a:p xmlns:a="http://schemas.openxmlformats.org/drawingml/2006/main">
            <a:r>
              <a:t>      "address": "서울특별시 성동구 왕십리로 16 (성수동1가, 트리마제)",</a:t>
            </a:r>
          </a:p>
          <a:p xmlns:a="http://schemas.openxmlformats.org/drawingml/2006/main">
            <a:r>
              <a:t>      "summary": "한국관광공사 국문관광정보 API가 반환한 선택 지역 관광자원",</a:t>
            </a:r>
          </a:p>
          <a:p xmlns:a="http://schemas.openxmlformats.org/drawingml/2006/main">
            <a:r>
              <a:t>      "image_url": "http://tong.visitkorea.or.kr/cms/resource/97/2898997_image2_1.jpg",</a:t>
            </a:r>
          </a:p>
          <a:p xmlns:a="http://schemas.openxmlformats.org/drawingml/2006/main">
            <a:r>
              <a:t>      "source_id": "tour-api:2899012",</a:t>
            </a:r>
          </a:p>
          <a:p xmlns:a="http://schemas.openxmlformats.org/drawingml/2006/main">
            <a:r>
              <a:t>      "content_id": "2899012",</a:t>
            </a:r>
          </a:p>
          <a:p xmlns:a="http://schemas.openxmlformats.org/drawingml/2006/main">
            <a:r>
              <a:t>      "source_url": "https://apis.data.go.kr/B551011/KorService2",</a:t>
            </a:r>
          </a:p>
          <a:p xmlns:a="http://schemas.openxmlformats.org/drawingml/2006/main">
            <a:r>
              <a:t>      "source_type": "open_api",</a:t>
            </a:r>
          </a:p>
          <a:p xmlns:a="http://schemas.openxmlformats.org/drawingml/2006/main">
            <a:r>
              <a:t>      "content_type_id": "39"</a:t>
            </a:r>
          </a:p>
          <a:p xmlns:a="http://schemas.openxmlformats.org/drawingml/2006/main">
            <a:r>
              <a:t>    },</a:t>
            </a:r>
          </a:p>
          <a:p xmlns:a="http://schemas.openxmlformats.org/drawingml/2006/main">
            <a:r>
              <a:t>    {</a:t>
            </a:r>
          </a:p>
          <a:p xmlns:a="http://schemas.openxmlformats.org/drawingml/2006/main">
            <a:r>
              <a:t>      "title": "더서울라이티움",</a:t>
            </a:r>
          </a:p>
          <a:p xmlns:a="http://schemas.openxmlformats.org/drawingml/2006/main">
            <a:r>
              <a:t>      "address": "서울특별시 성동구 서울숲2길 32-14 (성수동1가, 갤러리아 포레)",</a:t>
            </a:r>
          </a:p>
          <a:p xmlns:a="http://schemas.openxmlformats.org/drawingml/2006/main">
            <a:r>
              <a:t>      "summary": "한국관광공사 국문관광정보 API가 반환한 선택 지역 관광자원",</a:t>
            </a:r>
          </a:p>
          <a:p xmlns:a="http://schemas.openxmlformats.org/drawingml/2006/main">
            <a:r>
              <a:t>      "image_url": "http://tong.visitkorea.or.kr/cms/resource/37/3401437_image2_1.JPG",</a:t>
            </a:r>
          </a:p>
          <a:p xmlns:a="http://schemas.openxmlformats.org/drawingml/2006/main">
            <a:r>
              <a:t>      "source_id": "tour-api:2753089",</a:t>
            </a:r>
          </a:p>
          <a:p xmlns:a="http://schemas.openxmlformats.org/drawingml/2006/main">
            <a:r>
              <a:t>      "content_id": "2753089",</a:t>
            </a:r>
          </a:p>
          <a:p xmlns:a="http://schemas.openxmlformats.org/drawingml/2006/main">
            <a:r>
              <a:t>      "source_url": "https://apis.data.go.kr/B551011/KorService2",</a:t>
            </a:r>
          </a:p>
          <a:p xmlns:a="http://schemas.openxmlformats.org/drawingml/2006/main">
            <a:r>
              <a:t>      "source_type": "open_api",</a:t>
            </a:r>
          </a:p>
          <a:p xmlns:a="http://schemas.openxmlformats.org/drawingml/2006/main">
            <a:r>
              <a:t>      "content_type_id": "14"</a:t>
            </a:r>
          </a:p>
          <a:p xmlns:a="http://schemas.openxmlformats.org/drawingml/2006/main">
            <a:r>
              <a:t>    },</a:t>
            </a:r>
          </a:p>
          <a:p xmlns:a="http://schemas.openxmlformats.org/drawingml/2006/main">
            <a:r>
              <a:t>    {</a:t>
            </a:r>
          </a:p>
          <a:p xmlns:a="http://schemas.openxmlformats.org/drawingml/2006/main">
            <a:r>
              <a:t>      "title": "더페이지갤러리",</a:t>
            </a:r>
          </a:p>
          <a:p xmlns:a="http://schemas.openxmlformats.org/drawingml/2006/main">
            <a:r>
              <a:t>      "address": "서울특별시 성동구 서울숲2길 32-14 (성수동1가, 갤러리아 포레)",</a:t>
            </a:r>
          </a:p>
          <a:p xmlns:a="http://schemas.openxmlformats.org/drawingml/2006/main">
            <a:r>
              <a:t>      "summary": "한국관광공사 국문관광정보 API가 반환한 선택 지역 관광자원",</a:t>
            </a:r>
          </a:p>
          <a:p xmlns:a="http://schemas.openxmlformats.org/drawingml/2006/main">
            <a:r>
              <a:t>      "image_url": "http://tong.visitkorea.or.kr/cms/resource/89/2368189_image2_1.JPG",</a:t>
            </a:r>
          </a:p>
          <a:p xmlns:a="http://schemas.openxmlformats.org/drawingml/2006/main">
            <a:r>
              <a:t>      "source_id": "tour-api:736766",</a:t>
            </a:r>
          </a:p>
          <a:p xmlns:a="http://schemas.openxmlformats.org/drawingml/2006/main">
            <a:r>
              <a:t>      "content_id": "736766",</a:t>
            </a:r>
          </a:p>
          <a:p xmlns:a="http://schemas.openxmlformats.org/drawingml/2006/main">
            <a:r>
              <a:t>      "source_url": "https://apis.data.go.kr/B551011/KorService2",</a:t>
            </a:r>
          </a:p>
          <a:p xmlns:a="http://schemas.openxmlformats.org/drawingml/2006/main">
            <a:r>
              <a:t>      "source_type": "open_api",</a:t>
            </a:r>
          </a:p>
          <a:p xmlns:a="http://schemas.openxmlformats.org/drawingml/2006/main">
            <a:r>
              <a:t>      "content_type_id": "14"</a:t>
            </a:r>
          </a:p>
          <a:p xmlns:a="http://schemas.openxmlformats.org/drawingml/2006/main">
            <a:r>
              <a:t>    },</a:t>
            </a:r>
          </a:p>
          <a:p xmlns:a="http://schemas.openxmlformats.org/drawingml/2006/main">
            <a:r>
              <a:t>    {</a:t>
            </a:r>
          </a:p>
          <a:p xmlns:a="http://schemas.openxmlformats.org/drawingml/2006/main">
            <a:r>
              <a:t>      "title": "땅코참숯구이 본점",</a:t>
            </a:r>
          </a:p>
          <a:p xmlns:a="http://schemas.openxmlformats.org/drawingml/2006/main">
            <a:r>
              <a:t>      "address": "서울특별시 성동구 행당로17길 26 (행당동)",</a:t>
            </a:r>
          </a:p>
          <a:p xmlns:a="http://schemas.openxmlformats.org/drawingml/2006/main">
            <a:r>
              <a:t>      "summary": "한국관광공사 국문관광정보 API가 반환한 선택 지역 관광자원",</a:t>
            </a:r>
          </a:p>
          <a:p xmlns:a="http://schemas.openxmlformats.org/drawingml/2006/main">
            <a:r>
              <a:t>      "image_url": "http://tong.visitkorea.or.kr/cms/resource/23/2845023_image2_1.jpg",</a:t>
            </a:r>
          </a:p>
          <a:p xmlns:a="http://schemas.openxmlformats.org/drawingml/2006/main">
            <a:r>
              <a:t>      "source_id": "tour-api:2845040",</a:t>
            </a:r>
          </a:p>
          <a:p xmlns:a="http://schemas.openxmlformats.org/drawingml/2006/main">
            <a:r>
              <a:t>      "content_id": "2845040",</a:t>
            </a:r>
          </a:p>
          <a:p xmlns:a="http://schemas.openxmlformats.org/drawingml/2006/main">
            <a:r>
              <a:t>      "source_url": "https://apis.data.go.kr/B551011/KorService2",</a:t>
            </a:r>
          </a:p>
          <a:p xmlns:a="http://schemas.openxmlformats.org/drawingml/2006/main">
            <a:r>
              <a:t>      "source_type": "open_api",</a:t>
            </a:r>
          </a:p>
          <a:p xmlns:a="http://schemas.openxmlformats.org/drawingml/2006/main">
            <a:r>
              <a:t>      "content_type_id": "39"</a:t>
            </a:r>
          </a:p>
          <a:p xmlns:a="http://schemas.openxmlformats.org/drawingml/2006/main">
            <a:r>
              <a:t>    },</a:t>
            </a:r>
          </a:p>
          <a:p xmlns:a="http://schemas.openxmlformats.org/drawingml/2006/main">
            <a:r>
              <a:t>    {</a:t>
            </a:r>
          </a:p>
          <a:p xmlns:a="http://schemas.openxmlformats.org/drawingml/2006/main">
            <a:r>
              <a:t>      "title": "요즘, 한국관광 2호 - 지방공항 연계 지역관광 활성화 방안",</a:t>
            </a:r>
          </a:p>
          <a:p xmlns:a="http://schemas.openxmlformats.org/drawingml/2006/main">
            <a:r>
              <a:t>      "summary": "44제 2장 지방공항 연계 지역관광 활성화 방안 요즘, 한국관광 한국관광공사는 본래의 기능인 해외 홍보마케팅을 통한 인지 형성, 지역 관광생태계 육성, 관광사업 추진을 여정 단계에 맞춰 재배치해야 한다. 해외지사와 국내지사를 연결한 중점지사제를 '관문-연계도시' 단위로 운영하고, 글로벌 OTA 와 현지 여행사가 실제 상품을 만들 수 있도록 상품화 모듈과 전세·임시편 유치를 고도화하며, 선상 마케팅처럼 항공사 기내·LCC 채널을 활용한 권역 홍보를 확대할 수 있어야 할 것이다. 특히 성과지표를 입국자 수와 공급석 중심에서 '입국객의 권역 내 첫 숙박률이나, 1인당 권역 내 소비, 지방 이동 비중' 중심으로 전환하고, 통신·카드 데이터에 소셜 담론 데이터를 결합한 공항-권역 대시보드를 상시 운영해 데이터 기반 성과관리를 지속적으로 보여주는 데이터 기반의 지방공항 중심 관광권 상황실을 구축하여야 한다. 지방자치단체와 한국공항공사는 공항에서 지역 상권까지 이어지는 현장 수용태세를 보다 면밀히 고려하는 정책과 사업이 필요하다. 공항 접근 교통과 안내·결제, 다국어 환경, 터미널과 도심·거점 관광지를 잇는 셔틀, 권역 내 숙박과 야간 콘텐츠는 지자체의 실행력이 좌우하는 영역이다. 공항 소재 지자체 단위 협의를 넘어 청주는 대전·세종·충남, 대구는 경북과 함께 상품·교통·마케팅 예산을 묶는 관광권 협의체를 구성하고, 중장기적으로는 일본의 광역연계 DMO처럼 권역 단위의 상설 조직과 재원으로 발전시켜야 한다. 민관협력은 이 체계를 지속 가능하게 만드는 가장 중요한 동인이라 할 수 있다. 항공사·LCC에는 신규 노선의 초기 리스크를 지방정부·공사와 분담하는 노선 개발 협약과 기내 권역 홍보를, 글로벌 OTA·현지 여행사에는 권역 루트 상품의",</a:t>
            </a:r>
          </a:p>
          <a:p xmlns:a="http://schemas.openxmlformats.org/drawingml/2006/main">
            <a:r>
              <a:t>      "chunk_id": "reference:kto:2026:local-airport:page:044:chunk:01",</a:t>
            </a:r>
          </a:p>
          <a:p xmlns:a="http://schemas.openxmlformats.org/drawingml/2006/main">
            <a:r>
              <a:t>      "source_id": "reference:kto:2026:local-airport",</a:t>
            </a:r>
          </a:p>
          <a:p xmlns:a="http://schemas.openxmlformats.org/drawingml/2006/main">
            <a:r>
              <a:t>      "source_url": "https://datalab.visitkorea.or.kr/site/portal/ex/bbs/View.do?bcIdx=311068&amp;cbIdx=1135&amp;pageIndex=1",</a:t>
            </a:r>
          </a:p>
          <a:p xmlns:a="http://schemas.openxmlformats.org/drawingml/2006/main">
            <a:r>
              <a:t>      "case_region": "",</a:t>
            </a:r>
          </a:p>
          <a:p xmlns:a="http://schemas.openxmlformats.org/drawingml/2006/main">
            <a:r>
              <a:t>      "region_code": "ALL",</a:t>
            </a:r>
          </a:p>
          <a:p xmlns:a="http://schemas.openxmlformats.org/drawingml/2006/main">
            <a:r>
              <a:t>      "region_name": "전국 공통",</a:t>
            </a:r>
          </a:p>
          <a:p xmlns:a="http://schemas.openxmlformats.org/drawingml/2006/main">
            <a:r>
              <a:t>      "source_note": "지방공항·연계 지역에 관한 자료입니다. 다른 시군구의 사업 효과·예산을 보장하는 근거로 사용하지 않습니다.",</a:t>
            </a:r>
          </a:p>
          <a:p xmlns:a="http://schemas.openxmlformats.org/drawingml/2006/main">
            <a:r>
              <a:t>      "source_type": "rag",</a:t>
            </a:r>
          </a:p>
          <a:p xmlns:a="http://schemas.openxmlformats.org/drawingml/2006/main">
            <a:r>
              <a:t>      "intervention": "",</a:t>
            </a:r>
          </a:p>
          <a:p xmlns:a="http://schemas.openxmlformats.org/drawingml/2006/main">
            <a:r>
              <a:t>      "document_type": "policy",</a:t>
            </a:r>
          </a:p>
          <a:p xmlns:a="http://schemas.openxmlformats.org/drawingml/2006/main">
            <a:r>
              <a:t>      "matched_terms": [</a:t>
            </a:r>
          </a:p>
          <a:p xmlns:a="http://schemas.openxmlformats.org/drawingml/2006/main">
            <a:r>
              <a:t>        "결제",</a:t>
            </a:r>
          </a:p>
          <a:p xmlns:a="http://schemas.openxmlformats.org/drawingml/2006/main">
            <a:r>
              <a:t>        "관광사업",</a:t>
            </a:r>
          </a:p>
          <a:p xmlns:a="http://schemas.openxmlformats.org/drawingml/2006/main">
            <a:r>
              <a:t>        "상권",</a:t>
            </a:r>
          </a:p>
          <a:p xmlns:a="http://schemas.openxmlformats.org/drawingml/2006/main">
            <a:r>
              <a:t>        "성과",</a:t>
            </a:r>
          </a:p>
          <a:p xmlns:a="http://schemas.openxmlformats.org/drawingml/2006/main">
            <a:r>
              <a:t>        "소비",</a:t>
            </a:r>
          </a:p>
          <a:p xmlns:a="http://schemas.openxmlformats.org/drawingml/2006/main">
            <a:r>
              <a:t>        "수와",</a:t>
            </a:r>
          </a:p>
          <a:p xmlns:a="http://schemas.openxmlformats.org/drawingml/2006/main">
            <a:r>
              <a:t>        "숙박",</a:t>
            </a:r>
          </a:p>
          <a:p xmlns:a="http://schemas.openxmlformats.org/drawingml/2006/main">
            <a:r>
              <a:t>        "실제",</a:t>
            </a:r>
          </a:p>
          <a:p xmlns:a="http://schemas.openxmlformats.org/drawingml/2006/main">
            <a:r>
              <a:t>        "연결한",</a:t>
            </a:r>
          </a:p>
          <a:p xmlns:a="http://schemas.openxmlformats.org/drawingml/2006/main">
            <a:r>
              <a:t>        "연계",</a:t>
            </a:r>
          </a:p>
          <a:p xmlns:a="http://schemas.openxmlformats.org/drawingml/2006/main">
            <a:r>
              <a:t>        "예산",</a:t>
            </a:r>
          </a:p>
          <a:p xmlns:a="http://schemas.openxmlformats.org/drawingml/2006/main">
            <a:r>
              <a:t>        "운영",</a:t>
            </a:r>
          </a:p>
          <a:p xmlns:a="http://schemas.openxmlformats.org/drawingml/2006/main">
            <a:r>
              <a:t>        "이어지는",</a:t>
            </a:r>
          </a:p>
          <a:p xmlns:a="http://schemas.openxmlformats.org/drawingml/2006/main">
            <a:r>
              <a:t>        "전환",</a:t>
            </a:r>
          </a:p>
          <a:p xmlns:a="http://schemas.openxmlformats.org/drawingml/2006/main">
            <a:r>
              <a:t>        "중심으로",</a:t>
            </a:r>
          </a:p>
          <a:p xmlns:a="http://schemas.openxmlformats.org/drawingml/2006/main">
            <a:r>
              <a:t>        "지역",</a:t>
            </a:r>
          </a:p>
          <a:p xmlns:a="http://schemas.openxmlformats.org/drawingml/2006/main">
            <a:r>
              <a:t>        "체류",</a:t>
            </a:r>
          </a:p>
          <a:p xmlns:a="http://schemas.openxmlformats.org/drawingml/2006/main">
            <a:r>
              <a:t>        "함께",</a:t>
            </a:r>
          </a:p>
          <a:p xmlns:a="http://schemas.openxmlformats.org/drawingml/2006/main">
            <a:r>
              <a:t>        "현장",</a:t>
            </a:r>
          </a:p>
          <a:p xmlns:a="http://schemas.openxmlformats.org/drawingml/2006/main">
            <a:r>
              <a:t>        "협약"</a:t>
            </a:r>
          </a:p>
          <a:p xmlns:a="http://schemas.openxmlformats.org/drawingml/2006/main">
            <a:r>
              <a:t>      ],</a:t>
            </a:r>
          </a:p>
          <a:p xmlns:a="http://schemas.openxmlformats.org/drawingml/2006/main">
            <a:r>
              <a:t>      "page_references": "PDF 44쪽, PDF 43쪽, PDF 36쪽, PDF 40쪽, PDF 41쪽, PDF 41쪽, PDF 44쪽, PDF 43쪽, PDF 43쪽",</a:t>
            </a:r>
          </a:p>
          <a:p xmlns:a="http://schemas.openxmlformats.org/drawingml/2006/main">
            <a:r>
              <a:t>      "parent_source_id": "reference:kto:2026:local-airport",</a:t>
            </a:r>
          </a:p>
          <a:p xmlns:a="http://schemas.openxmlformats.org/drawingml/2006/main">
            <a:r>
              <a:t>      "retrieval_method": "local_curated_chunk",</a:t>
            </a:r>
          </a:p>
          <a:p xmlns:a="http://schemas.openxmlformats.org/drawingml/2006/main">
            <a:r>
              <a:t>      "evidence_strength": "medium",</a:t>
            </a:r>
          </a:p>
          <a:p xmlns:a="http://schemas.openxmlformats.org/drawingml/2006/main">
            <a:r>
              <a:t>      "published_or_updated_at": "2026-08",</a:t>
            </a:r>
          </a:p>
          <a:p xmlns:a="http://schemas.openxmlformats.org/drawingml/2006/main">
            <a:r>
              <a:t>      "chunk_ids": [</a:t>
            </a:r>
          </a:p>
          <a:p xmlns:a="http://schemas.openxmlformats.org/drawingml/2006/main">
            <a:r>
              <a:t>        "reference:kto:2026:local-airport:page:036:chunk:01",</a:t>
            </a:r>
          </a:p>
          <a:p xmlns:a="http://schemas.openxmlformats.org/drawingml/2006/main">
            <a:r>
              <a:t>        "reference:kto:2026:local-airport:page:040:chunk:02",</a:t>
            </a:r>
          </a:p>
          <a:p xmlns:a="http://schemas.openxmlformats.org/drawingml/2006/main">
            <a:r>
              <a:t>        "reference:kto:2026:local-airport:page:041:chunk:01",</a:t>
            </a:r>
          </a:p>
          <a:p xmlns:a="http://schemas.openxmlformats.org/drawingml/2006/main">
            <a:r>
              <a:t>        "reference:kto:2026:local-airport:page:041:chunk:02",</a:t>
            </a:r>
          </a:p>
          <a:p xmlns:a="http://schemas.openxmlformats.org/drawingml/2006/main">
            <a:r>
              <a:t>        "reference:kto:2026:local-airport:page:043:chunk:01",</a:t>
            </a:r>
          </a:p>
          <a:p xmlns:a="http://schemas.openxmlformats.org/drawingml/2006/main">
            <a:r>
              <a:t>        "reference:kto:2026:local-airport:page:043:chunk:02",</a:t>
            </a:r>
          </a:p>
          <a:p xmlns:a="http://schemas.openxmlformats.org/drawingml/2006/main">
            <a:r>
              <a:t>        "reference:kto:2026:local-airport:page:043:chunk:03",</a:t>
            </a:r>
          </a:p>
          <a:p xmlns:a="http://schemas.openxmlformats.org/drawingml/2006/main">
            <a:r>
              <a:t>        "reference:kto:2026:local-airport:page:044:chunk:01",</a:t>
            </a:r>
          </a:p>
          <a:p xmlns:a="http://schemas.openxmlformats.org/drawingml/2006/main">
            <a:r>
              <a:t>        "reference:kto:2026:local-airport:page:044:chunk:02"</a:t>
            </a:r>
          </a:p>
          <a:p xmlns:a="http://schemas.openxmlformats.org/drawingml/2006/main">
            <a:r>
              <a:t>      ],</a:t>
            </a:r>
          </a:p>
          <a:p xmlns:a="http://schemas.openxmlformats.org/drawingml/2006/main">
            <a:r>
              <a:t>      "source_chunk_count": 9</a:t>
            </a:r>
          </a:p>
          <a:p xmlns:a="http://schemas.openxmlformats.org/drawingml/2006/main">
            <a:r>
              <a:t>    },</a:t>
            </a:r>
          </a:p>
          <a:p xmlns:a="http://schemas.openxmlformats.org/drawingml/2006/main">
            <a:r>
              <a:t>    {</a:t>
            </a:r>
          </a:p>
          <a:p xmlns:a="http://schemas.openxmlformats.org/drawingml/2006/main">
            <a:r>
              <a:t>      "title": "2026 서울국제정원박람회 &lt; 행사·공연 정보 &lt; 축제·관광 &lt; 미래한강본부, 한강공원",</a:t>
            </a:r>
          </a:p>
          <a:p xmlns:a="http://schemas.openxmlformats.org/drawingml/2006/main">
            <a:r>
              <a:t>      "summary": "2026 서울국제정원박람회는 2026년 5월 1일부터 10월 27일까지 서울숲과 성수 일대에서 운영되며, 서울숲·한강·성수동·뚝섬대정원을 연결하는 구성을 공식적으로 제시한다. 따라서 9~10월에는 별도 거점 조성보다 이 행사 구역과 충돌하지 않는 보행 안내, 체류 동선, 상권 연결을 우선 검토할 수 있다.",</a:t>
            </a:r>
          </a:p>
          <a:p xmlns:a="http://schemas.openxmlformats.org/drawingml/2006/main">
            <a:r>
              <a:t>      "source_id": "web:11200:1",</a:t>
            </a:r>
          </a:p>
          <a:p xmlns:a="http://schemas.openxmlformats.org/drawingml/2006/main">
            <a:r>
              <a:t>      "source_url": "https://hangang.seoul.go.kr/www/eventMng/detail.do?evntSn=378&amp;mid=538&amp;srchType=list",</a:t>
            </a:r>
          </a:p>
          <a:p xmlns:a="http://schemas.openxmlformats.org/drawingml/2006/main">
            <a:r>
              <a:t>      "source_type": "official_web",</a:t>
            </a:r>
          </a:p>
          <a:p xmlns:a="http://schemas.openxmlformats.org/drawingml/2006/main">
            <a:r>
              <a:t>      "why_relevant": "사업기간 2026-09-01~2026-11-30 중 9~10월이 기존 대형 행사 운영기간과 겹친다. 기존 행사와 같은 장소에서 별도 프로그램을 신설할 경우 공간·안전·운영주체 조정이 필요하므로, 보완형 운영안이 중복 위험이 낮다.",</a:t>
            </a:r>
          </a:p>
          <a:p xmlns:a="http://schemas.openxmlformats.org/drawingml/2006/main">
            <a:r>
              <a:t>      "published_or_updated_at": "수정 2026-08-18"</a:t>
            </a:r>
          </a:p>
          <a:p xmlns:a="http://schemas.openxmlformats.org/drawingml/2006/main">
            <a:r>
              <a:t>    },</a:t>
            </a:r>
          </a:p>
          <a:p xmlns:a="http://schemas.openxmlformats.org/drawingml/2006/main">
            <a:r>
              <a:t>    {</a:t>
            </a:r>
          </a:p>
          <a:p xmlns:a="http://schemas.openxmlformats.org/drawingml/2006/main">
            <a:r>
              <a:t>      "title": "개막 20일차 250만명 넘은 서울국제정원박람회… 성수 상권 매출 30% 급증 &gt; 보도자료 | 서울특별시",</a:t>
            </a:r>
          </a:p>
          <a:p xmlns:a="http://schemas.openxmlformats.org/drawingml/2006/main">
            <a:r>
              <a:t>      "summary": "서울시는 2026 서울국제정원박람회에서 서울숲의 휴게시설을 보완해 좌석을 확충하고, 정원마켓과 3개 푸드트럭 존을 운영했다고 밝혔다. 같은 자료는 주말·주요 이벤트일에 방문객 수와 체류시간이 함께 늘었다는 분석 결과를 제시한다.",</a:t>
            </a:r>
          </a:p>
          <a:p xmlns:a="http://schemas.openxmlformats.org/drawingml/2006/main">
            <a:r>
              <a:t>      "source_id": "web:11200:2",</a:t>
            </a:r>
          </a:p>
          <a:p xmlns:a="http://schemas.openxmlformats.org/drawingml/2006/main">
            <a:r>
              <a:t>      "source_url": "https://www.seoul.go.kr/news/news_report.do?nttNo=458311",</a:t>
            </a:r>
          </a:p>
          <a:p xmlns:a="http://schemas.openxmlformats.org/drawingml/2006/main">
            <a:r>
              <a:t>      "source_type": "official_web",</a:t>
            </a:r>
          </a:p>
          <a:p xmlns:a="http://schemas.openxmlformats.org/drawingml/2006/main">
            <a:r>
              <a:t>      "why_relevant": "체류 개선 후보 중 ‘휴식 좌석·먹거리·이벤트 동선’을 결합하는 방식에 공식 현장운영 사례가 있다. 다만 이 결과는 2026 정원박람회 기간의 분석이므로, 가을 성수 사업에도 동일한 효과가 난다고 일반화하지 않고 운영조건 검토 사례로만 사용해야 한다.",</a:t>
            </a:r>
          </a:p>
          <a:p xmlns:a="http://schemas.openxmlformats.org/drawingml/2006/main">
            <a:r>
              <a:t>      "published_or_updated_at": "등록·수정 2026-05-20"</a:t>
            </a:r>
          </a:p>
          <a:p xmlns:a="http://schemas.openxmlformats.org/drawingml/2006/main">
            <a:r>
              <a:t>    },</a:t>
            </a:r>
          </a:p>
          <a:p xmlns:a="http://schemas.openxmlformats.org/drawingml/2006/main">
            <a:r>
              <a:t>    {</a:t>
            </a:r>
          </a:p>
          <a:p xmlns:a="http://schemas.openxmlformats.org/drawingml/2006/main">
            <a:r>
              <a:t>      "title": "서울숲-성수 커넥트 투어 | 2026 서울국제정원박람회",</a:t>
            </a:r>
          </a:p>
          <a:p xmlns:a="http://schemas.openxmlformats.org/drawingml/2006/main">
            <a:r>
              <a:t>      "summary": "서울숲-성수 커넥트 투어는 성수근린공원에서 출발해 성수부터 서울숲까지 연결하는 무료 프로그램으로, 매주 화·목 13:00~14:30에 회차당 15명 내외 사전접수 방식으로 안내되었다.",</a:t>
            </a:r>
          </a:p>
          <a:p xmlns:a="http://schemas.openxmlformats.org/drawingml/2006/main">
            <a:r>
              <a:t>      "source_id": "web:11200:3",</a:t>
            </a:r>
          </a:p>
          <a:p xmlns:a="http://schemas.openxmlformats.org/drawingml/2006/main">
            <a:r>
              <a:t>      "source_url": "https://gov.seoul.go.kr/festa/garden/y2026/program/garden-culture-program/commentary-program?article=42926",</a:t>
            </a:r>
          </a:p>
          <a:p xmlns:a="http://schemas.openxmlformats.org/drawingml/2006/main">
            <a:r>
              <a:t>      "source_type": "official_web",</a:t>
            </a:r>
          </a:p>
          <a:p xmlns:a="http://schemas.openxmlformats.org/drawingml/2006/main">
            <a:r>
              <a:t>      "why_relevant": "‘공원 방문 후 성수 상권으로 이동’시키는 해설·도보 연결 방식이 실제로 운영된 공식 사례다. 권고안에서는 이 방식을 그대로 복제하기보다, 가을 행사일 및 야간 수요에 맞는 회차·집결지·예약방식으로 전환 가능한지 주최 측과 확인하는 참고사례로 활용한다.",</a:t>
            </a:r>
          </a:p>
          <a:p xmlns:a="http://schemas.openxmlformats.org/drawingml/2006/main">
            <a:r>
              <a:t>      "published_or_updated_at": "페이지 확인일 기준 2026-09"</a:t>
            </a:r>
          </a:p>
          <a:p xmlns:a="http://schemas.openxmlformats.org/drawingml/2006/main">
            <a:r>
              <a:t>    },</a:t>
            </a:r>
          </a:p>
          <a:p xmlns:a="http://schemas.openxmlformats.org/drawingml/2006/main">
            <a:r>
              <a:t>    {</a:t>
            </a:r>
          </a:p>
          <a:p xmlns:a="http://schemas.openxmlformats.org/drawingml/2006/main">
            <a:r>
              <a:t>      "title": "2026 서울축제지도 - 가을편 &lt; 공지사항(상세) &lt; 새소식 | 서울문화포털",</a:t>
            </a:r>
          </a:p>
          <a:p xmlns:a="http://schemas.openxmlformats.org/drawingml/2006/main">
            <a:r>
              <a:t>      "summary": "크리에이티브X성수는 2026년 10월 5일부터 10월 11일까지 성수동 서울숲·언더스탠드 에비뉴 등에서 예정되어 있으며, 페어·문화 콘퍼런스·토크쇼·전시·공예 프리마켓·패션쇼·음악공연을 포함하는 글로벌 문화창조산업축제로 안내되어 있다.",</a:t>
            </a:r>
          </a:p>
          <a:p xmlns:a="http://schemas.openxmlformats.org/drawingml/2006/main">
            <a:r>
              <a:t>      "source_id": "web:11200:4",</a:t>
            </a:r>
          </a:p>
          <a:p xmlns:a="http://schemas.openxmlformats.org/drawingml/2006/main">
            <a:r>
              <a:t>      "source_url": "https://culture.seoul.go.kr/culture/bbs/B0000000/view.do?menuNo=200050&amp;nttId=16465",</a:t>
            </a:r>
          </a:p>
          <a:p xmlns:a="http://schemas.openxmlformats.org/drawingml/2006/main">
            <a:r>
              <a:t>      "source_type": "official_web",</a:t>
            </a:r>
          </a:p>
          <a:p xmlns:a="http://schemas.openxmlformats.org/drawingml/2006/main">
            <a:r>
              <a:t>      "why_relevant": "10월 운영의 집중 구간으로 삼을 수 있는 확정 행사다. 다만 해당 축제의 프로그램·부스·방문객을 성동구 사업이 사용할 수 있는지, 공동홍보·쿠폰·스탬프·동선안내가 가능한지는 공식 문서만으로 확인되지 않았으므로 별도 협의가 필요하다.",</a:t>
            </a:r>
          </a:p>
          <a:p xmlns:a="http://schemas.openxmlformats.org/drawingml/2006/main">
            <a:r>
              <a:t>      "published_or_updated_at": "등록 2026-08-31"</a:t>
            </a:r>
          </a:p>
          <a:p xmlns:a="http://schemas.openxmlformats.org/drawingml/2006/main">
            <a:r>
              <a:t>    },</a:t>
            </a:r>
          </a:p>
          <a:p xmlns:a="http://schemas.openxmlformats.org/drawingml/2006/main">
            <a:r>
              <a:t>    {</a:t>
            </a:r>
          </a:p>
          <a:p xmlns:a="http://schemas.openxmlformats.org/drawingml/2006/main">
            <a:r>
              <a:t>      "title": "오시는 길 | 2026 서울국제정원박람회",</a:t>
            </a:r>
          </a:p>
          <a:p xmlns:a="http://schemas.openxmlformats.org/drawingml/2006/main">
            <a:r>
              <a:t>      "summary": "서울숲은 수인분당선 서울숲역 3·4·5번 출구에서 도보 2분, 2호선 뚝섬역 7·8번 출구에서 도보 11분으로 안내되어 있다. 서울숲 주차장과 뚝섬유수지 공영주차장은 모두 24시간 운영으로 제시되어 있으며, 행사 안내는 친환경 행사를 위해 대중교통 이용을 권장한다.",</a:t>
            </a:r>
          </a:p>
          <a:p xmlns:a="http://schemas.openxmlformats.org/drawingml/2006/main">
            <a:r>
              <a:t>      "source_id": "web:11200:5",</a:t>
            </a:r>
          </a:p>
          <a:p xmlns:a="http://schemas.openxmlformats.org/drawingml/2006/main">
            <a:r>
              <a:t>      "source_url": "https://www.seoul.go.kr/festa/garden/y2026/introduce/location?pc=1",</a:t>
            </a:r>
          </a:p>
          <a:p xmlns:a="http://schemas.openxmlformats.org/drawingml/2006/main">
            <a:r>
              <a:t>      "source_type": "official_web",</a:t>
            </a:r>
          </a:p>
          <a:p xmlns:a="http://schemas.openxmlformats.org/drawingml/2006/main">
            <a:r>
              <a:t>      "why_relevant": "권고안의 운영권역은 대중교통 도착지에서 공원·성수 상권까지의 마지막 보행 연결을 명확히 안내하는 데 초점을 둘 수 있다. 승용차 유입 확대를 핵심 방식으로 삼기보다는 지하철·버스·보행 중심으로 설계하는 것이 공식 안내와 부합한다.",</a:t>
            </a:r>
          </a:p>
          <a:p xmlns:a="http://schemas.openxmlformats.org/drawingml/2006/main">
            <a:r>
              <a:t>      "published_or_updated_at": "2026년 행사 안내 페이지"</a:t>
            </a:r>
          </a:p>
          <a:p xmlns:a="http://schemas.openxmlformats.org/drawingml/2006/main">
            <a:r>
              <a:t>    },</a:t>
            </a:r>
          </a:p>
          <a:p xmlns:a="http://schemas.openxmlformats.org/drawingml/2006/main">
            <a:r>
              <a:t>    {</a:t>
            </a:r>
          </a:p>
          <a:p xmlns:a="http://schemas.openxmlformats.org/drawingml/2006/main">
            <a:r>
              <a:t>      "title": "(석간) 제11차 도시건축공동위원회 개최결과 &gt; 보도자료 | 서울특별시",</a:t>
            </a:r>
          </a:p>
          <a:p xmlns:a="http://schemas.openxmlformats.org/drawingml/2006/main">
            <a:r>
              <a:t>      "summary": "서울시는 성수 준공업지역 지구단위계획에서 성수역-연무장길 가로변의 지역 특화경관을 유도하고, 지하철 2호선 연접부 개방형녹지 및 서울숲·뚝섬으로 이어지는 보행 네트워크를 조성하는 방향을 제시했다. 연무장길에는 제한적 차량출입 불허구간과 주차기준 완화를 통해 사람 중심의 걷기 좋은 거리로 재편하는 방향도 포함됐다.",</a:t>
            </a:r>
          </a:p>
          <a:p xmlns:a="http://schemas.openxmlformats.org/drawingml/2006/main">
            <a:r>
              <a:t>      "source_id": "web:11200:6",</a:t>
            </a:r>
          </a:p>
          <a:p xmlns:a="http://schemas.openxmlformats.org/drawingml/2006/main">
            <a:r>
              <a:t>      "source_url": "https://www.seoul.go.kr/news/news_report.do?nttNo=460823&amp;tr_code=snews",</a:t>
            </a:r>
          </a:p>
          <a:p xmlns:a="http://schemas.openxmlformats.org/drawingml/2006/main">
            <a:r>
              <a:t>      "source_type": "official_web",</a:t>
            </a:r>
          </a:p>
          <a:p xmlns:a="http://schemas.openxmlformats.org/drawingml/2006/main">
            <a:r>
              <a:t>      "why_relevant": "중기적으로 성수역-연무장길-서울숲 보행축은 체류 연결 사업의 대상권역 후보가 될 수 있다. 그러나 이는 도시계획 방향이며 2026년 가을에 모든 물리적 시설이 완공·운영된다는 뜻은 아니므로, 실제 공사·통행·행사 가능 구간은 현장과 관계부서에 확인해야 한다.",</a:t>
            </a:r>
          </a:p>
          <a:p xmlns:a="http://schemas.openxmlformats.org/drawingml/2006/main">
            <a:r>
              <a:t>      "published_or_updated_at": "등록 2026-07-01"</a:t>
            </a:r>
          </a:p>
          <a:p xmlns:a="http://schemas.openxmlformats.org/drawingml/2006/main">
            <a:r>
              <a:t>    },</a:t>
            </a:r>
          </a:p>
          <a:p xmlns:a="http://schemas.openxmlformats.org/drawingml/2006/main">
            <a:r>
              <a:t>    {</a:t>
            </a:r>
          </a:p>
          <a:p xmlns:a="http://schemas.openxmlformats.org/drawingml/2006/main">
            <a:r>
              <a:t>      "title": "2026 서울국제정원박람회 &lt; 행사·공연 정보 &lt; 축제·관광 &lt; 미래한강본부, 한강공원",</a:t>
            </a:r>
          </a:p>
          <a:p xmlns:a="http://schemas.openxmlformats.org/drawingml/2006/main">
            <a:r>
              <a:t>      "summary": "서울국제정원박람회 공식 안내에는 서울숲 선착장 추가 운항과 야간 운항 증편이 소개되어 있다.",</a:t>
            </a:r>
          </a:p>
          <a:p xmlns:a="http://schemas.openxmlformats.org/drawingml/2006/main">
            <a:r>
              <a:t>      "source_id": "web:11200:7",</a:t>
            </a:r>
          </a:p>
          <a:p xmlns:a="http://schemas.openxmlformats.org/drawingml/2006/main">
            <a:r>
              <a:t>      "source_url": "https://hangang.seoul.go.kr/www/eventMng/detail.do?evntSn=378&amp;mid=538&amp;srchType=list",</a:t>
            </a:r>
          </a:p>
          <a:p xmlns:a="http://schemas.openxmlformats.org/drawingml/2006/main">
            <a:r>
              <a:t>      "source_type": "official_web",</a:t>
            </a:r>
          </a:p>
          <a:p xmlns:a="http://schemas.openxmlformats.org/drawingml/2006/main">
            <a:r>
              <a:t>      "why_relevant": "9~10월 주말 또는 야간 프로그램을 검토할 때 한강 수상교통을 보조 접근수단 후보로 검토할 근거가 된다. 다만 11월까지의 실제 운항일·막차·결항 기준은 이 자료에 확정적으로 제시되지 않아, 사업 홍보문구에 포함하기 전 운영기관 확인이 필요하다.",</a:t>
            </a:r>
          </a:p>
          <a:p xmlns:a="http://schemas.openxmlformats.org/drawingml/2006/main">
            <a:r>
              <a:t>      "published_or_updated_at": "수정 2026-08-18"</a:t>
            </a:r>
          </a:p>
          <a:p xmlns:a="http://schemas.openxmlformats.org/drawingml/2006/main">
            <a:r>
              <a:t>    },</a:t>
            </a:r>
          </a:p>
          <a:p xmlns:a="http://schemas.openxmlformats.org/drawingml/2006/main">
            <a:r>
              <a:t>    {</a:t>
            </a:r>
          </a:p>
          <a:p xmlns:a="http://schemas.openxmlformats.org/drawingml/2006/main">
            <a:r>
              <a:t>      "title": "전주시 2026년도 관광산업과 세출예산 사업명세서",</a:t>
            </a:r>
          </a:p>
          <a:p xmlns:a="http://schemas.openxmlformats.org/drawingml/2006/main">
            <a:r>
              <a:t>      "summary": "전북특별자치도 전주시 · 야간관광 특화도시 예산 편성 · 예산서이므로 방문·소비 성과는 확인되지 않음",</a:t>
            </a:r>
          </a:p>
          <a:p xmlns:a="http://schemas.openxmlformats.org/drawingml/2006/main">
            <a:r>
              <a:t>      "source_id": "case:jeonju_night_budget_2026",</a:t>
            </a:r>
          </a:p>
          <a:p xmlns:a="http://schemas.openxmlformats.org/drawingml/2006/main">
            <a:r>
              <a:t>      "source_url": "https://jeonju.go.kr/resource/www/images/download/budget/2026/2026_31_2.pdf",</a:t>
            </a:r>
          </a:p>
          <a:p xmlns:a="http://schemas.openxmlformats.org/drawingml/2006/main">
            <a:r>
              <a:t>      "case_region": "전북특별자치도 전주시",</a:t>
            </a:r>
          </a:p>
          <a:p xmlns:a="http://schemas.openxmlformats.org/drawingml/2006/main">
            <a:r>
              <a:t>      "source_type": "benchmark_case",</a:t>
            </a:r>
          </a:p>
          <a:p xmlns:a="http://schemas.openxmlformats.org/drawingml/2006/main">
            <a:r>
              <a:t>      "intervention": "야간관광 특화도시 예산 편성",</a:t>
            </a:r>
          </a:p>
          <a:p xmlns:a="http://schemas.openxmlformats.org/drawingml/2006/main">
            <a:r>
              <a:t>      "document_type": "case_study_budget",</a:t>
            </a:r>
          </a:p>
          <a:p xmlns:a="http://schemas.openxmlformats.org/drawingml/2006/main">
            <a:r>
              <a:t>      "observed_result": "예산서이므로 방문·소비 성과는 확인되지 않음",</a:t>
            </a:r>
          </a:p>
          <a:p xmlns:a="http://schemas.openxmlformats.org/drawingml/2006/main">
            <a:r>
              <a:t>      "operating_model": "사무관리, 행사운영, 연구용역, 민간경상보조 등으로 사업비를 항목별 편성",</a:t>
            </a:r>
          </a:p>
          <a:p xmlns:a="http://schemas.openxmlformats.org/drawingml/2006/main">
            <a:r>
              <a:t>      "retrieval_method": "curated_registry",</a:t>
            </a:r>
          </a:p>
          <a:p xmlns:a="http://schemas.openxmlformats.org/drawingml/2006/main">
            <a:r>
              <a:t>      "evidence_strength": "high",</a:t>
            </a:r>
          </a:p>
          <a:p xmlns:a="http://schemas.openxmlformats.org/drawingml/2006/main">
            <a:r>
              <a:t>      "retrieval_context": {</a:t>
            </a:r>
          </a:p>
          <a:p xmlns:a="http://schemas.openxmlformats.org/drawingml/2006/main">
            <a:r>
              <a:t>        "scope": "cross_province",</a:t>
            </a:r>
          </a:p>
          <a:p xmlns:a="http://schemas.openxmlformats.org/drawingml/2006/main">
            <a:r>
              <a:t>        "peer_region_code": null</a:t>
            </a:r>
          </a:p>
          <a:p xmlns:a="http://schemas.openxmlformats.org/drawingml/2006/main">
            <a:r>
              <a:t>      },</a:t>
            </a:r>
          </a:p>
          <a:p xmlns:a="http://schemas.openxmlformats.org/drawingml/2006/main">
            <a:r>
              <a:t>      "measurement_period": "2026년 예산",</a:t>
            </a:r>
          </a:p>
          <a:p xmlns:a="http://schemas.openxmlformats.org/drawingml/2006/main">
            <a:r>
              <a:t>      "transfer_conditions": [</a:t>
            </a:r>
          </a:p>
          <a:p xmlns:a="http://schemas.openxmlformats.org/drawingml/2006/main">
            <a:r>
              <a:t>        "국비·도비·시비 분담 가능성 검토",</a:t>
            </a:r>
          </a:p>
          <a:p xmlns:a="http://schemas.openxmlformats.org/drawingml/2006/main">
            <a:r>
              <a:t>        "행사비와 상설운영비를 분리 산정",</a:t>
            </a:r>
          </a:p>
          <a:p xmlns:a="http://schemas.openxmlformats.org/drawingml/2006/main">
            <a:r>
              <a:t>        "성과평가 비용을 별도 항목으로 확보"</a:t>
            </a:r>
          </a:p>
          <a:p xmlns:a="http://schemas.openxmlformats.org/drawingml/2006/main">
            <a:r>
              <a:t>      ],</a:t>
            </a:r>
          </a:p>
          <a:p xmlns:a="http://schemas.openxmlformats.org/drawingml/2006/main">
            <a:r>
              <a:t>      "published_or_updated_at": "2026",</a:t>
            </a:r>
          </a:p>
          <a:p xmlns:a="http://schemas.openxmlformats.org/drawingml/2006/main">
            <a:r>
              <a:t>      "quantitative_result_approved": null</a:t>
            </a:r>
          </a:p>
          <a:p xmlns:a="http://schemas.openxmlformats.org/drawingml/2006/main">
            <a:r>
              <a:t>    },</a:t>
            </a:r>
          </a:p>
          <a:p xmlns:a="http://schemas.openxmlformats.org/drawingml/2006/main">
            <a:r>
              <a:t>    {</a:t>
            </a:r>
          </a:p>
          <a:p xmlns:a="http://schemas.openxmlformats.org/drawingml/2006/main">
            <a:r>
              <a:t>      "title": "강진 반값여행 지역경제 효과 소개",</a:t>
            </a:r>
          </a:p>
          <a:p xmlns:a="http://schemas.openxmlformats.org/drawingml/2006/main">
            <a:r>
              <a:t>      "summary": "전라남도 강진군 · 반값여행 지역환급 · 상품권 결제 변화에 관한 소개 자료는 있으나, 사업 참여자 범위·정확한 비교 기간·원자료를 확인하지 못해 성과 수치 인용을 보류한다.",</a:t>
            </a:r>
          </a:p>
          <a:p xmlns:a="http://schemas.openxmlformats.org/drawingml/2006/main">
            <a:r>
              <a:t>      "source_id": "case:gangjin_half_price_2024",</a:t>
            </a:r>
          </a:p>
          <a:p xmlns:a="http://schemas.openxmlformats.org/drawingml/2006/main">
            <a:r>
              <a:t>      "source_url": "https://jnfarm.jeonnam.go.kr/board/FARM_BOARD_008/boardView.do?bdId=BD_00000000000011721&amp;menuCd=farm004002",</a:t>
            </a:r>
          </a:p>
          <a:p xmlns:a="http://schemas.openxmlformats.org/drawingml/2006/main">
            <a:r>
              <a:t>      "case_region": "전라남도 강진군",</a:t>
            </a:r>
          </a:p>
          <a:p xmlns:a="http://schemas.openxmlformats.org/drawingml/2006/main">
            <a:r>
              <a:t>      "source_type": "benchmark_case",</a:t>
            </a:r>
          </a:p>
          <a:p xmlns:a="http://schemas.openxmlformats.org/drawingml/2006/main">
            <a:r>
              <a:t>      "intervention": "반값여행 지역환급",</a:t>
            </a:r>
          </a:p>
          <a:p xmlns:a="http://schemas.openxmlformats.org/drawingml/2006/main">
            <a:r>
              <a:t>      "document_type": "case_study",</a:t>
            </a:r>
          </a:p>
          <a:p xmlns:a="http://schemas.openxmlformats.org/drawingml/2006/main">
            <a:r>
              <a:t>      "observed_result": "상품권 결제 변화에 관한 소개 자료는 있으나, 사업 참여자 범위·정확한 비교 기간·원자료를 확인하지 못해 성과 수치 인용을 보류한다.",</a:t>
            </a:r>
          </a:p>
          <a:p xmlns:a="http://schemas.openxmlformats.org/drawingml/2006/main">
            <a:r>
              <a:t>      "operating_model": "여행자가 지역에서 지출한 비용의 일부를 지역상품권으로 돌려받게 하여 혜택이 다시 지역 상점에서 사용되도록 설계",</a:t>
            </a:r>
          </a:p>
          <a:p xmlns:a="http://schemas.openxmlformats.org/drawingml/2006/main">
            <a:r>
              <a:t>      "retrieval_method": "curated_registry",</a:t>
            </a:r>
          </a:p>
          <a:p xmlns:a="http://schemas.openxmlformats.org/drawingml/2006/main">
            <a:r>
              <a:t>      "evidence_strength": "low",</a:t>
            </a:r>
          </a:p>
          <a:p xmlns:a="http://schemas.openxmlformats.org/drawingml/2006/main">
            <a:r>
              <a:t>      "retrieval_context": {</a:t>
            </a:r>
          </a:p>
          <a:p xmlns:a="http://schemas.openxmlformats.org/drawingml/2006/main">
            <a:r>
              <a:t>        "scope": "cross_province",</a:t>
            </a:r>
          </a:p>
          <a:p xmlns:a="http://schemas.openxmlformats.org/drawingml/2006/main">
            <a:r>
              <a:t>        "peer_region_code": null</a:t>
            </a:r>
          </a:p>
          <a:p xmlns:a="http://schemas.openxmlformats.org/drawingml/2006/main">
            <a:r>
              <a:t>      },</a:t>
            </a:r>
          </a:p>
          <a:p xmlns:a="http://schemas.openxmlformats.org/drawingml/2006/main">
            <a:r>
              <a:t>      "measurement_period": "게시일과 사업 측정기간은 다르며, 비교기간과 집계범위 원자료 확인 필요",</a:t>
            </a:r>
          </a:p>
          <a:p xmlns:a="http://schemas.openxmlformats.org/drawingml/2006/main">
            <a:r>
              <a:t>      "transfer_conditions": [</a:t>
            </a:r>
          </a:p>
          <a:p xmlns:a="http://schemas.openxmlformats.org/drawingml/2006/main">
            <a:r>
              <a:t>        "지역상품권 사용처와 관광업체 참여 기준 필요",</a:t>
            </a:r>
          </a:p>
          <a:p xmlns:a="http://schemas.openxmlformats.org/drawingml/2006/main">
            <a:r>
              <a:t>        "여행 지출 증빙과 중복수혜 방지 절차 필요",</a:t>
            </a:r>
          </a:p>
          <a:p xmlns:a="http://schemas.openxmlformats.org/drawingml/2006/main">
            <a:r>
              <a:t>        "지원금보다 추가 지역소비가 큰지 사후 측정 필요"</a:t>
            </a:r>
          </a:p>
          <a:p xmlns:a="http://schemas.openxmlformats.org/drawingml/2006/main">
            <a:r>
              <a:t>      ],</a:t>
            </a:r>
          </a:p>
          <a:p xmlns:a="http://schemas.openxmlformats.org/drawingml/2006/main">
            <a:r>
              <a:t>      "published_or_updated_at": "2025-01-02",</a:t>
            </a:r>
          </a:p>
          <a:p xmlns:a="http://schemas.openxmlformats.org/drawingml/2006/main">
            <a:r>
              <a:t>      "quantitative_result_approved": false</a:t>
            </a:r>
          </a:p>
          <a:p xmlns:a="http://schemas.openxmlformats.org/drawingml/2006/main">
            <a:r>
              <a:t>    },</a:t>
            </a:r>
          </a:p>
          <a:p xmlns:a="http://schemas.openxmlformats.org/drawingml/2006/main">
            <a:r>
              <a:t>    {</a:t>
            </a:r>
          </a:p>
          <a:p xmlns:a="http://schemas.openxmlformats.org/drawingml/2006/main">
            <a:r>
              <a:t>      "title": "2024년 6월 여행가는 달 추진 보도자료",</a:t>
            </a:r>
          </a:p>
          <a:p xmlns:a="http://schemas.openxmlformats.org/drawingml/2006/main">
            <a:r>
              <a:t>      "summary": "전국 인구감소지역 34곳 · 디지털 관광주민증과 교통·숙박·상점 할인 결합 · 2024년 34개 지역 약 800개 관광업체에 혜택 구조를 적용",</a:t>
            </a:r>
          </a:p>
          <a:p xmlns:a="http://schemas.openxmlformats.org/drawingml/2006/main">
            <a:r>
              <a:t>      "source_id": "case:digital_tourism_resident_2024",</a:t>
            </a:r>
          </a:p>
          <a:p xmlns:a="http://schemas.openxmlformats.org/drawingml/2006/main">
            <a:r>
              <a:t>      "source_url": "https://mcst.go.kr/servlets/eduport/front/upload/UplDownloadFile?pFileName=%280514%29%EB%AC%B8%EC%B2%B4%EB%B6%80%EB%B3%B4%EB%8F%84%EC%9E%90%EB%A3%8C-6%EC%9B%94_%EC%97%AC%ED%96%89%EA%B0%80%EB%8A%94_%EB%8B%AC_%EC%B6%94%EC%A7%84.pdf&amp;pPath=0302000000&amp;pRealName=20240514083202149235802932_PRESS20240514083202456506.pdf",</a:t>
            </a:r>
          </a:p>
          <a:p xmlns:a="http://schemas.openxmlformats.org/drawingml/2006/main">
            <a:r>
              <a:t>      "case_region": "전국 인구감소지역 34곳",</a:t>
            </a:r>
          </a:p>
          <a:p xmlns:a="http://schemas.openxmlformats.org/drawingml/2006/main">
            <a:r>
              <a:t>      "source_type": "benchmark_case",</a:t>
            </a:r>
          </a:p>
          <a:p xmlns:a="http://schemas.openxmlformats.org/drawingml/2006/main">
            <a:r>
              <a:t>      "intervention": "디지털 관광주민증과 교통·숙박·상점 할인 결합",</a:t>
            </a:r>
          </a:p>
          <a:p xmlns:a="http://schemas.openxmlformats.org/drawingml/2006/main">
            <a:r>
              <a:t>      "document_type": "case_study",</a:t>
            </a:r>
          </a:p>
          <a:p xmlns:a="http://schemas.openxmlformats.org/drawingml/2006/main">
            <a:r>
              <a:t>      "observed_result": "2024년 34개 지역 약 800개 관광업체에 혜택 구조를 적용",</a:t>
            </a:r>
          </a:p>
          <a:p xmlns:a="http://schemas.openxmlformats.org/drawingml/2006/main">
            <a:r>
              <a:t>      "operating_model": "디지털 관광주민증 참여업체 현장 인증과 숙박·식음·관람·체험 할인, 특정 시간대 KTX 할인과 방문 후 교통 할인권을 결합",</a:t>
            </a:r>
          </a:p>
          <a:p xmlns:a="http://schemas.openxmlformats.org/drawingml/2006/main">
            <a:r>
              <a:t>      "retrieval_method": "curated_registry",</a:t>
            </a:r>
          </a:p>
          <a:p xmlns:a="http://schemas.openxmlformats.org/drawingml/2006/main">
            <a:r>
              <a:t>      "evidence_strength": "medium",</a:t>
            </a:r>
          </a:p>
          <a:p xmlns:a="http://schemas.openxmlformats.org/drawingml/2006/main">
            <a:r>
              <a:t>      "retrieval_context": {</a:t>
            </a:r>
          </a:p>
          <a:p xmlns:a="http://schemas.openxmlformats.org/drawingml/2006/main">
            <a:r>
              <a:t>        "scope": "national_or_unresolved",</a:t>
            </a:r>
          </a:p>
          <a:p xmlns:a="http://schemas.openxmlformats.org/drawingml/2006/main">
            <a:r>
              <a:t>        "peer_region_code": null</a:t>
            </a:r>
          </a:p>
          <a:p xmlns:a="http://schemas.openxmlformats.org/drawingml/2006/main">
            <a:r>
              <a:t>      },</a:t>
            </a:r>
          </a:p>
          <a:p xmlns:a="http://schemas.openxmlformats.org/drawingml/2006/main">
            <a:r>
              <a:t>      "measurement_period": "2024년 6월 운영 계획",</a:t>
            </a:r>
          </a:p>
          <a:p xmlns:a="http://schemas.openxmlformats.org/drawingml/2006/main">
            <a:r>
              <a:t>      "transfer_conditions": [</a:t>
            </a:r>
          </a:p>
          <a:p xmlns:a="http://schemas.openxmlformats.org/drawingml/2006/main">
            <a:r>
              <a:t>        "지역 내 참여업체 수와 혜택 매력도 확보",</a:t>
            </a:r>
          </a:p>
          <a:p xmlns:a="http://schemas.openxmlformats.org/drawingml/2006/main">
            <a:r>
              <a:t>        "QR 또는 위치인증과 실제 사용기록 수집",</a:t>
            </a:r>
          </a:p>
          <a:p xmlns:a="http://schemas.openxmlformats.org/drawingml/2006/main">
            <a:r>
              <a:t>        "교통 할인 제공기관과 협약 필요"</a:t>
            </a:r>
          </a:p>
          <a:p xmlns:a="http://schemas.openxmlformats.org/drawingml/2006/main">
            <a:r>
              <a:t>      ],</a:t>
            </a:r>
          </a:p>
          <a:p xmlns:a="http://schemas.openxmlformats.org/drawingml/2006/main">
            <a:r>
              <a:t>      "published_or_updated_at": "2024-05-14",</a:t>
            </a:r>
          </a:p>
          <a:p xmlns:a="http://schemas.openxmlformats.org/drawingml/2006/main">
            <a:r>
              <a:t>      "quantitative_result_approved": null</a:t>
            </a:r>
          </a:p>
          <a:p xmlns:a="http://schemas.openxmlformats.org/drawingml/2006/main">
            <a:r>
              <a:t>    },</a:t>
            </a:r>
          </a:p>
          <a:p xmlns:a="http://schemas.openxmlformats.org/drawingml/2006/main">
            <a:r>
              <a:t>    {</a:t>
            </a:r>
          </a:p>
          <a:p xmlns:a="http://schemas.openxmlformats.org/drawingml/2006/main">
            <a:r>
              <a:t>      "title": "2022 대한민국 숙박대전 경제파급효과 공개자료",</a:t>
            </a:r>
          </a:p>
          <a:p xmlns:a="http://schemas.openxmlformats.org/drawingml/2006/main">
            <a:r>
              <a:t>      "summary": "전국 숙박할인쿠폰 지원사업 · 온라인 예약 채널 숙박할인쿠폰 · 한국관광공사 자료는 약 104만 명이 할인혜택을 이용했고 서울·제주를 제외한 지역 사용 비율이 76%였다고 소개함",</a:t>
            </a:r>
          </a:p>
          <a:p xmlns:a="http://schemas.openxmlformats.org/drawingml/2006/main">
            <a:r>
              <a:t>      "source_id": "case:kto_stay_discount_2022",</a:t>
            </a:r>
          </a:p>
          <a:p xmlns:a="http://schemas.openxmlformats.org/drawingml/2006/main">
            <a:r>
              <a:t>      "source_url": "https://kto.visitkorea.or.kr/upload/flexer/upload/ktobiz/20220928/b623b5f9-3ec0-11ed-9832-ddf31964842e.hwp.files/Sections1.html",</a:t>
            </a:r>
          </a:p>
          <a:p xmlns:a="http://schemas.openxmlformats.org/drawingml/2006/main">
            <a:r>
              <a:t>      "case_region": "전국 숙박할인쿠폰 지원사업",</a:t>
            </a:r>
          </a:p>
          <a:p xmlns:a="http://schemas.openxmlformats.org/drawingml/2006/main">
            <a:r>
              <a:t>      "source_type": "benchmark_case",</a:t>
            </a:r>
          </a:p>
          <a:p xmlns:a="http://schemas.openxmlformats.org/drawingml/2006/main">
            <a:r>
              <a:t>      "intervention": "온라인 예약 채널 숙박할인쿠폰",</a:t>
            </a:r>
          </a:p>
          <a:p xmlns:a="http://schemas.openxmlformats.org/drawingml/2006/main">
            <a:r>
              <a:t>      "document_type": "case_study",</a:t>
            </a:r>
          </a:p>
          <a:p xmlns:a="http://schemas.openxmlformats.org/drawingml/2006/main">
            <a:r>
              <a:t>      "observed_result": "한국관광공사 자료는 약 104만 명이 할인혜택을 이용했고 서울·제주를 제외한 지역 사용 비율이 76%였다고 소개함",</a:t>
            </a:r>
          </a:p>
          <a:p xmlns:a="http://schemas.openxmlformats.org/drawingml/2006/main">
            <a:r>
              <a:t>      "operating_model": "온라인 여행사 예약 단계에서 할인쿠폰을 제공하고, 지역 숙소에서 사용할 수 있도록 참여 채널과 기간을 통합 운영",</a:t>
            </a:r>
          </a:p>
          <a:p xmlns:a="http://schemas.openxmlformats.org/drawingml/2006/main">
            <a:r>
              <a:t>      "retrieval_method": "curated_registry",</a:t>
            </a:r>
          </a:p>
          <a:p xmlns:a="http://schemas.openxmlformats.org/drawingml/2006/main">
            <a:r>
              <a:t>      "evidence_strength": "medium",</a:t>
            </a:r>
          </a:p>
          <a:p xmlns:a="http://schemas.openxmlformats.org/drawingml/2006/main">
            <a:r>
              <a:t>      "retrieval_context": {</a:t>
            </a:r>
          </a:p>
          <a:p xmlns:a="http://schemas.openxmlformats.org/drawingml/2006/main">
            <a:r>
              <a:t>        "scope": "national_or_unresolved",</a:t>
            </a:r>
          </a:p>
          <a:p xmlns:a="http://schemas.openxmlformats.org/drawingml/2006/main">
            <a:r>
              <a:t>        "peer_region_code": null</a:t>
            </a:r>
          </a:p>
          <a:p xmlns:a="http://schemas.openxmlformats.org/drawingml/2006/main">
            <a:r>
              <a:t>      },</a:t>
            </a:r>
          </a:p>
          <a:p xmlns:a="http://schemas.openxmlformats.org/drawingml/2006/main">
            <a:r>
              <a:t>      "measurement_period": "2022년 사업 종료 후 한국관광공사 공개 자료",</a:t>
            </a:r>
          </a:p>
          <a:p xmlns:a="http://schemas.openxmlformats.org/drawingml/2006/main">
            <a:r>
              <a:t>      "transfer_conditions": [</a:t>
            </a:r>
          </a:p>
          <a:p xmlns:a="http://schemas.openxmlformats.org/drawingml/2006/main">
            <a:r>
              <a:t>        "참여 숙소·예약 채널·쿠폰 조건을 사전에 확정",</a:t>
            </a:r>
          </a:p>
          <a:p xmlns:a="http://schemas.openxmlformats.org/drawingml/2006/main">
            <a:r>
              <a:t>        "주말과 성수기 쏠림을 막을 사용 가능일 설계",</a:t>
            </a:r>
          </a:p>
          <a:p xmlns:a="http://schemas.openxmlformats.org/drawingml/2006/main">
            <a:r>
              <a:t>        "쿠폰 발급량이 아니라 실제 숙박 완료·지역소비를 함께 측정"</a:t>
            </a:r>
          </a:p>
          <a:p xmlns:a="http://schemas.openxmlformats.org/drawingml/2006/main">
            <a:r>
              <a:t>      ],</a:t>
            </a:r>
          </a:p>
          <a:p xmlns:a="http://schemas.openxmlformats.org/drawingml/2006/main">
            <a:r>
              <a:t>      "published_or_updated_at": "2022-09-28",</a:t>
            </a:r>
          </a:p>
          <a:p xmlns:a="http://schemas.openxmlformats.org/drawingml/2006/main">
            <a:r>
              <a:t>      "quantitative_result_approved": null</a:t>
            </a:r>
          </a:p>
          <a:p xmlns:a="http://schemas.openxmlformats.org/drawingml/2006/main">
            <a:r>
              <a:t>    },</a:t>
            </a:r>
          </a:p>
          <a:p xmlns:a="http://schemas.openxmlformats.org/drawingml/2006/main">
            <a:r>
              <a:t>    {</a:t>
            </a:r>
          </a:p>
          <a:p xmlns:a="http://schemas.openxmlformats.org/drawingml/2006/main">
            <a:r>
              <a:t>      "title": "2025 대한민국 밤밤페스타 개최 도시 및 일정",</a:t>
            </a:r>
          </a:p>
          <a:p xmlns:a="http://schemas.openxmlformats.org/drawingml/2006/main">
            <a:r>
              <a:t>      "summary": "야간관광 특화도시 10곳 · 도시별 야간 콘텐츠를 순회형 축제로 묶는 운영 · 공식 여행기사는 개최 도시·장소·운영 시간과 콘텐츠만 제시하며 방문·소비 성과 수치는 제시하지 않음",</a:t>
            </a:r>
          </a:p>
          <a:p xmlns:a="http://schemas.openxmlformats.org/drawingml/2006/main">
            <a:r>
              <a:t>      "source_id": "case:night_festival_2025",</a:t>
            </a:r>
          </a:p>
          <a:p xmlns:a="http://schemas.openxmlformats.org/drawingml/2006/main">
            <a:r>
              <a:t>      "source_url": "https://korean.visitkorea.or.kr/detail/rem_detail.do?cotid=f9c636b2-dd7c-4f09-af3d-6af43b33d371",</a:t>
            </a:r>
          </a:p>
          <a:p xmlns:a="http://schemas.openxmlformats.org/drawingml/2006/main">
            <a:r>
              <a:t>      "case_region": "야간관광 특화도시 10곳",</a:t>
            </a:r>
          </a:p>
          <a:p xmlns:a="http://schemas.openxmlformats.org/drawingml/2006/main">
            <a:r>
              <a:t>      "source_type": "benchmark_case",</a:t>
            </a:r>
          </a:p>
          <a:p xmlns:a="http://schemas.openxmlformats.org/drawingml/2006/main">
            <a:r>
              <a:t>      "intervention": "도시별 야간 콘텐츠를 순회형 축제로 묶는 운영",</a:t>
            </a:r>
          </a:p>
          <a:p xmlns:a="http://schemas.openxmlformats.org/drawingml/2006/main">
            <a:r>
              <a:t>      "document_type": "case_study",</a:t>
            </a:r>
          </a:p>
          <a:p xmlns:a="http://schemas.openxmlformats.org/drawingml/2006/main">
            <a:r>
              <a:t>      "observed_result": "공식 여행기사는 개최 도시·장소·운영 시간과 콘텐츠만 제시하며 방문·소비 성과 수치는 제시하지 않음",</a:t>
            </a:r>
          </a:p>
          <a:p xmlns:a="http://schemas.openxmlformats.org/drawingml/2006/main">
            <a:r>
              <a:t>      "operating_model": "10개 야간관광 특화도시의 대표 장소와 시간대를 연결하고, 공연·체험·지역 디저트·판매상품 등 도시별 콘텐츠를 순회 일정으로 운영",</a:t>
            </a:r>
          </a:p>
          <a:p xmlns:a="http://schemas.openxmlformats.org/drawingml/2006/main">
            <a:r>
              <a:t>      "retrieval_method": "curated_registry",</a:t>
            </a:r>
          </a:p>
          <a:p xmlns:a="http://schemas.openxmlformats.org/drawingml/2006/main">
            <a:r>
              <a:t>      "evidence_strength": "medium",</a:t>
            </a:r>
          </a:p>
          <a:p xmlns:a="http://schemas.openxmlformats.org/drawingml/2006/main">
            <a:r>
              <a:t>      "retrieval_context": {</a:t>
            </a:r>
          </a:p>
          <a:p xmlns:a="http://schemas.openxmlformats.org/drawingml/2006/main">
            <a:r>
              <a:t>        "scope": "national_or_unresolved",</a:t>
            </a:r>
          </a:p>
          <a:p xmlns:a="http://schemas.openxmlformats.org/drawingml/2006/main">
            <a:r>
              <a:t>        "peer_region_code": null</a:t>
            </a:r>
          </a:p>
          <a:p xmlns:a="http://schemas.openxmlformats.org/drawingml/2006/main">
            <a:r>
              <a:t>      },</a:t>
            </a:r>
          </a:p>
          <a:p xmlns:a="http://schemas.openxmlformats.org/drawingml/2006/main">
            <a:r>
              <a:t>      "measurement_period": "2025년 행사 일정",</a:t>
            </a:r>
          </a:p>
          <a:p xmlns:a="http://schemas.openxmlformats.org/drawingml/2006/main">
            <a:r>
              <a:t>      "transfer_conditions": [</a:t>
            </a:r>
          </a:p>
          <a:p xmlns:a="http://schemas.openxmlformats.org/drawingml/2006/main">
            <a:r>
              <a:t>        "야간에도 이용 가능한 교통·안전·식음 운영을 함께 설계",</a:t>
            </a:r>
          </a:p>
          <a:p xmlns:a="http://schemas.openxmlformats.org/drawingml/2006/main">
            <a:r>
              <a:t>        "하나의 행사보다 지역별 대표 콘텐츠와 상점 참여를 연결",</a:t>
            </a:r>
          </a:p>
          <a:p xmlns:a="http://schemas.openxmlformats.org/drawingml/2006/main">
            <a:r>
              <a:t>        "행사일과 비행사일을 분리해 방문·결제·숙박 변화를 측정"</a:t>
            </a:r>
          </a:p>
          <a:p xmlns:a="http://schemas.openxmlformats.org/drawingml/2006/main">
            <a:r>
              <a:t>      ],</a:t>
            </a:r>
          </a:p>
          <a:p xmlns:a="http://schemas.openxmlformats.org/drawingml/2006/main">
            <a:r>
              <a:t>      "published_or_updated_at": "2025",</a:t>
            </a:r>
          </a:p>
          <a:p xmlns:a="http://schemas.openxmlformats.org/drawingml/2006/main">
            <a:r>
              <a:t>      "quantitative_result_approved": null</a:t>
            </a:r>
          </a:p>
          <a:p xmlns:a="http://schemas.openxmlformats.org/drawingml/2006/main">
            <a:r>
              <a:t>    },</a:t>
            </a:r>
          </a:p>
          <a:p xmlns:a="http://schemas.openxmlformats.org/drawingml/2006/main">
            <a:r>
              <a:t>    {</a:t>
            </a:r>
          </a:p>
          <a:p xmlns:a="http://schemas.openxmlformats.org/drawingml/2006/main">
            <a:r>
              <a:t>      "title": "2024년도 정부업무평가 관광분야 성과자료",</a:t>
            </a:r>
          </a:p>
          <a:p xmlns:a="http://schemas.openxmlformats.org/drawingml/2006/main">
            <a:r>
              <a:t>      "summary": "야간관광 특화도시 10곳 · 상설 야간 콘텐츠와 경관·교통·안전 운영 · 정부업무평가 자료는 특화도시 10곳 방문객이 2023년 같은 기간보다 3% 증가했다고 기록",</a:t>
            </a:r>
          </a:p>
          <a:p xmlns:a="http://schemas.openxmlformats.org/drawingml/2006/main">
            <a:r>
              <a:t>      "source_id": "case:night_tourism_cities_2024",</a:t>
            </a:r>
          </a:p>
          <a:p xmlns:a="http://schemas.openxmlformats.org/drawingml/2006/main">
            <a:r>
              <a:t>      "source_url": "https://www.evaluation.go.kr/upload2/atch/eval/20250429095846463.pdf",</a:t>
            </a:r>
          </a:p>
          <a:p xmlns:a="http://schemas.openxmlformats.org/drawingml/2006/main">
            <a:r>
              <a:t>      "case_region": "야간관광 특화도시 10곳",</a:t>
            </a:r>
          </a:p>
          <a:p xmlns:a="http://schemas.openxmlformats.org/drawingml/2006/main">
            <a:r>
              <a:t>      "source_type": "benchmark_case",</a:t>
            </a:r>
          </a:p>
          <a:p xmlns:a="http://schemas.openxmlformats.org/drawingml/2006/main">
            <a:r>
              <a:t>      "intervention": "상설 야간 콘텐츠와 경관·교통·안전 운영",</a:t>
            </a:r>
          </a:p>
          <a:p xmlns:a="http://schemas.openxmlformats.org/drawingml/2006/main">
            <a:r>
              <a:t>      "document_type": "case_study",</a:t>
            </a:r>
          </a:p>
          <a:p xmlns:a="http://schemas.openxmlformats.org/drawingml/2006/main">
            <a:r>
              <a:t>      "observed_result": "정부업무평가 자료는 특화도시 10곳 방문객이 2023년 같은 기간보다 3% 증가했다고 기록",</a:t>
            </a:r>
          </a:p>
          <a:p xmlns:a="http://schemas.openxmlformats.org/drawingml/2006/main">
            <a:r>
              <a:t>      "operating_model": "지역 스토리를 반영한 야간 프로그램을 상설·행사형으로 운영하고 야간 경관, 이동, 식음, 안전 여건을 함께 구성",</a:t>
            </a:r>
          </a:p>
          <a:p xmlns:a="http://schemas.openxmlformats.org/drawingml/2006/main">
            <a:r>
              <a:t>      "retrieval_method": "curated_registry",</a:t>
            </a:r>
          </a:p>
          <a:p xmlns:a="http://schemas.openxmlformats.org/drawingml/2006/main">
            <a:r>
              <a:t>      "evidence_strength": "medium",</a:t>
            </a:r>
          </a:p>
          <a:p xmlns:a="http://schemas.openxmlformats.org/drawingml/2006/main">
            <a:r>
              <a:t>      "retrieval_context": {</a:t>
            </a:r>
          </a:p>
          <a:p xmlns:a="http://schemas.openxmlformats.org/drawingml/2006/main">
            <a:r>
              <a:t>        "scope": "national_or_unresolved",</a:t>
            </a:r>
          </a:p>
          <a:p xmlns:a="http://schemas.openxmlformats.org/drawingml/2006/main">
            <a:r>
              <a:t>        "peer_region_code": null</a:t>
            </a:r>
          </a:p>
          <a:p xmlns:a="http://schemas.openxmlformats.org/drawingml/2006/main">
            <a:r>
              <a:t>      },</a:t>
            </a:r>
          </a:p>
          <a:p xmlns:a="http://schemas.openxmlformats.org/drawingml/2006/main">
            <a:r>
              <a:t>      "measurement_period": "2023년 동기 대비 2024년 사업 평가 기간",</a:t>
            </a:r>
          </a:p>
          <a:p xmlns:a="http://schemas.openxmlformats.org/drawingml/2006/main">
            <a:r>
              <a:t>      "transfer_conditions": [</a:t>
            </a:r>
          </a:p>
          <a:p xmlns:a="http://schemas.openxmlformats.org/drawingml/2006/main">
            <a:r>
              <a:t>        "야간에 실제 이용 가능한 식음·교통·안전 운영 필요",</a:t>
            </a:r>
          </a:p>
          <a:p xmlns:a="http://schemas.openxmlformats.org/drawingml/2006/main">
            <a:r>
              <a:t>        "일회성 행사보다 상설 운영일 확보",</a:t>
            </a:r>
          </a:p>
          <a:p xmlns:a="http://schemas.openxmlformats.org/drawingml/2006/main">
            <a:r>
              <a:t>        "숙박 또는 야간 결제 데이터로 성과 측정"</a:t>
            </a:r>
          </a:p>
          <a:p xmlns:a="http://schemas.openxmlformats.org/drawingml/2006/main">
            <a:r>
              <a:t>      ],</a:t>
            </a:r>
          </a:p>
          <a:p xmlns:a="http://schemas.openxmlformats.org/drawingml/2006/main">
            <a:r>
              <a:t>      "published_or_updated_at": "2025-04-29",</a:t>
            </a:r>
          </a:p>
          <a:p xmlns:a="http://schemas.openxmlformats.org/drawingml/2006/main">
            <a:r>
              <a:t>      "quantitative_result_approved": null</a:t>
            </a:r>
          </a:p>
          <a:p xmlns:a="http://schemas.openxmlformats.org/drawingml/2006/main">
            <a:r>
              <a:t>    }</a:t>
            </a:r>
          </a:p>
          <a:p xmlns:a="http://schemas.openxmlformats.org/drawingml/2006/main">
            <a:r>
              <a:t>  ],</a:t>
            </a:r>
          </a:p>
          <a:p xmlns:a="http://schemas.openxmlformats.org/drawingml/2006/main">
            <a:r>
              <a:t>  "selected_forecast": {</a:t>
            </a:r>
          </a:p>
          <a:p xmlns:a="http://schemas.openxmlformats.org/drawingml/2006/main">
            <a:r>
              <a:t>    "rows": [</a:t>
            </a:r>
          </a:p>
          <a:p xmlns:a="http://schemas.openxmlformats.org/drawingml/2006/main">
            <a:r>
              <a:t>      {</a:t>
            </a:r>
          </a:p>
          <a:p xmlns:a="http://schemas.openxmlformats.org/drawingml/2006/main">
            <a:r>
              <a:t>        "month": "202609",</a:t>
            </a:r>
          </a:p>
          <a:p xmlns:a="http://schemas.openxmlformats.org/drawingml/2006/main">
            <a:r>
              <a:t>        "visitors": 6638883.0,</a:t>
            </a:r>
          </a:p>
          <a:p xmlns:a="http://schemas.openxmlformats.org/drawingml/2006/main">
            <a:r>
              <a:t>        "is_forecast": true,</a:t>
            </a:r>
          </a:p>
          <a:p xmlns:a="http://schemas.openxmlformats.org/drawingml/2006/main">
            <a:r>
              <a:t>        "spending_krw": 102905513747.0,</a:t>
            </a:r>
          </a:p>
          <a:p xmlns:a="http://schemas.openxmlformats.org/drawingml/2006/main">
            <a:r>
              <a:t>        "stay_minutes": 729.0,</a:t>
            </a:r>
          </a:p>
          <a:p xmlns:a="http://schemas.openxmlformats.org/drawingml/2006/main">
            <a:r>
              <a:t>        "lodging_nights": 2.95,</a:t>
            </a:r>
          </a:p>
          <a:p xmlns:a="http://schemas.openxmlformats.org/drawingml/2006/main">
            <a:r>
              <a:t>        "lodging_rate_pct": 3.8,</a:t>
            </a:r>
          </a:p>
          <a:p xmlns:a="http://schemas.openxmlformats.org/drawingml/2006/main">
            <a:r>
              <a:t>        "lodging_searches": 2301,</a:t>
            </a:r>
          </a:p>
          <a:p xmlns:a="http://schemas.openxmlformats.org/drawingml/2006/main">
            <a:r>
              <a:t>        "navigation_searches": 108724,</a:t>
            </a:r>
          </a:p>
          <a:p xmlns:a="http://schemas.openxmlformats.org/drawingml/2006/main">
            <a:r>
              <a:t>        "visitor_yoy_percent": -0.24,</a:t>
            </a:r>
          </a:p>
          <a:p xmlns:a="http://schemas.openxmlformats.org/drawingml/2006/main">
            <a:r>
              <a:t>        "spending_yoy_percent": 9.25,</a:t>
            </a:r>
          </a:p>
          <a:p xmlns:a="http://schemas.openxmlformats.org/drawingml/2006/main">
            <a:r>
              <a:t>        "metric_changes_percent": {</a:t>
            </a:r>
          </a:p>
          <a:p xmlns:a="http://schemas.openxmlformats.org/drawingml/2006/main">
            <a:r>
              <a:t>          "stay_minutes": 0.0,</a:t>
            </a:r>
          </a:p>
          <a:p xmlns:a="http://schemas.openxmlformats.org/drawingml/2006/main">
            <a:r>
              <a:t>          "lodging_nights": -1.01,</a:t>
            </a:r>
          </a:p>
          <a:p xmlns:a="http://schemas.openxmlformats.org/drawingml/2006/main">
            <a:r>
              <a:t>          "lodging_rate_pct": 0.0,</a:t>
            </a:r>
          </a:p>
          <a:p xmlns:a="http://schemas.openxmlformats.org/drawingml/2006/main">
            <a:r>
              <a:t>          "lodging_searches": 5.41,</a:t>
            </a:r>
          </a:p>
          <a:p xmlns:a="http://schemas.openxmlformats.org/drawingml/2006/main">
            <a:r>
              <a:t>          "navigation_searches": 0.0</a:t>
            </a:r>
          </a:p>
          <a:p xmlns:a="http://schemas.openxmlformats.org/drawingml/2006/main">
            <a:r>
              <a:t>        },</a:t>
            </a:r>
          </a:p>
          <a:p xmlns:a="http://schemas.openxmlformats.org/drawingml/2006/main">
            <a:r>
              <a:t>        "previous_year_visitors": 6654997,</a:t>
            </a:r>
          </a:p>
          <a:p xmlns:a="http://schemas.openxmlformats.org/drawingml/2006/main">
            <a:r>
              <a:t>        "previous_year_spending_krw": 94192832000,</a:t>
            </a:r>
          </a:p>
          <a:p xmlns:a="http://schemas.openxmlformats.org/drawingml/2006/main">
            <a:r>
              <a:t>        "previous_year_stay_minutes": 729.0,</a:t>
            </a:r>
          </a:p>
          <a:p xmlns:a="http://schemas.openxmlformats.org/drawingml/2006/main">
            <a:r>
              <a:t>        "previous_year_lodging_nights": 2.98,</a:t>
            </a:r>
          </a:p>
          <a:p xmlns:a="http://schemas.openxmlformats.org/drawingml/2006/main">
            <a:r>
              <a:t>        "previous_year_lodging_rate_pct": 3.8,</a:t>
            </a:r>
          </a:p>
          <a:p xmlns:a="http://schemas.openxmlformats.org/drawingml/2006/main">
            <a:r>
              <a:t>        "previous_year_lodging_searches": 2183,</a:t>
            </a:r>
          </a:p>
          <a:p xmlns:a="http://schemas.openxmlformats.org/drawingml/2006/main">
            <a:r>
              <a:t>        "previous_year_navigation_searches": 108724</a:t>
            </a:r>
          </a:p>
          <a:p xmlns:a="http://schemas.openxmlformats.org/drawingml/2006/main">
            <a:r>
              <a:t>      },</a:t>
            </a:r>
          </a:p>
          <a:p xmlns:a="http://schemas.openxmlformats.org/drawingml/2006/main">
            <a:r>
              <a:t>      {</a:t>
            </a:r>
          </a:p>
          <a:p xmlns:a="http://schemas.openxmlformats.org/drawingml/2006/main">
            <a:r>
              <a:t>        "month": "202610",</a:t>
            </a:r>
          </a:p>
          <a:p xmlns:a="http://schemas.openxmlformats.org/drawingml/2006/main">
            <a:r>
              <a:t>        "visitors": 6570358.0,</a:t>
            </a:r>
          </a:p>
          <a:p xmlns:a="http://schemas.openxmlformats.org/drawingml/2006/main">
            <a:r>
              <a:t>        "is_forecast": true,</a:t>
            </a:r>
          </a:p>
          <a:p xmlns:a="http://schemas.openxmlformats.org/drawingml/2006/main">
            <a:r>
              <a:t>        "spending_krw": 103404579597.0,</a:t>
            </a:r>
          </a:p>
          <a:p xmlns:a="http://schemas.openxmlformats.org/drawingml/2006/main">
            <a:r>
              <a:t>        "stay_minutes": 726.0,</a:t>
            </a:r>
          </a:p>
          <a:p xmlns:a="http://schemas.openxmlformats.org/drawingml/2006/main">
            <a:r>
              <a:t>        "lodging_nights": 2.92,</a:t>
            </a:r>
          </a:p>
          <a:p xmlns:a="http://schemas.openxmlformats.org/drawingml/2006/main">
            <a:r>
              <a:t>        "lodging_rate_pct": 4.5,</a:t>
            </a:r>
          </a:p>
          <a:p xmlns:a="http://schemas.openxmlformats.org/drawingml/2006/main">
            <a:r>
              <a:t>        "lodging_searches": 2786,</a:t>
            </a:r>
          </a:p>
          <a:p xmlns:a="http://schemas.openxmlformats.org/drawingml/2006/main">
            <a:r>
              <a:t>        "navigation_searches": 176420,</a:t>
            </a:r>
          </a:p>
          <a:p xmlns:a="http://schemas.openxmlformats.org/drawingml/2006/main">
            <a:r>
              <a:t>        "visitor_yoy_percent": 6.49,</a:t>
            </a:r>
          </a:p>
          <a:p xmlns:a="http://schemas.openxmlformats.org/drawingml/2006/main">
            <a:r>
              <a:t>        "spending_yoy_percent": 6.54,</a:t>
            </a:r>
          </a:p>
          <a:p xmlns:a="http://schemas.openxmlformats.org/drawingml/2006/main">
            <a:r>
              <a:t>        "metric_changes_percent": {</a:t>
            </a:r>
          </a:p>
          <a:p xmlns:a="http://schemas.openxmlformats.org/drawingml/2006/main">
            <a:r>
              <a:t>          "stay_minutes": 0.0,</a:t>
            </a:r>
          </a:p>
          <a:p xmlns:a="http://schemas.openxmlformats.org/drawingml/2006/main">
            <a:r>
              <a:t>          "lodging_nights": -0.68,</a:t>
            </a:r>
          </a:p>
          <a:p xmlns:a="http://schemas.openxmlformats.org/drawingml/2006/main">
            <a:r>
              <a:t>          "lodging_rate_pct": 0.0,</a:t>
            </a:r>
          </a:p>
          <a:p xmlns:a="http://schemas.openxmlformats.org/drawingml/2006/main">
            <a:r>
              <a:t>          "lodging_searches": -23.0,</a:t>
            </a:r>
          </a:p>
          <a:p xmlns:a="http://schemas.openxmlformats.org/drawingml/2006/main">
            <a:r>
              <a:t>          "navigation_searches": 0.0</a:t>
            </a:r>
          </a:p>
          <a:p xmlns:a="http://schemas.openxmlformats.org/drawingml/2006/main">
            <a:r>
              <a:t>        },</a:t>
            </a:r>
          </a:p>
          <a:p xmlns:a="http://schemas.openxmlformats.org/drawingml/2006/main">
            <a:r>
              <a:t>        "previous_year_visitors": 6170192,</a:t>
            </a:r>
          </a:p>
          <a:p xmlns:a="http://schemas.openxmlformats.org/drawingml/2006/main">
            <a:r>
              <a:t>        "previous_year_spending_krw": 97053863000,</a:t>
            </a:r>
          </a:p>
          <a:p xmlns:a="http://schemas.openxmlformats.org/drawingml/2006/main">
            <a:r>
              <a:t>        "previous_year_stay_minutes": 726.0,</a:t>
            </a:r>
          </a:p>
          <a:p xmlns:a="http://schemas.openxmlformats.org/drawingml/2006/main">
            <a:r>
              <a:t>        "previous_year_lodging_nights": 2.94,</a:t>
            </a:r>
          </a:p>
          <a:p xmlns:a="http://schemas.openxmlformats.org/drawingml/2006/main">
            <a:r>
              <a:t>        "previous_year_lodging_rate_pct": 4.5,</a:t>
            </a:r>
          </a:p>
          <a:p xmlns:a="http://schemas.openxmlformats.org/drawingml/2006/main">
            <a:r>
              <a:t>        "previous_year_lodging_searches": 3618,</a:t>
            </a:r>
          </a:p>
          <a:p xmlns:a="http://schemas.openxmlformats.org/drawingml/2006/main">
            <a:r>
              <a:t>        "previous_year_navigation_searches": 176420</a:t>
            </a:r>
          </a:p>
          <a:p xmlns:a="http://schemas.openxmlformats.org/drawingml/2006/main">
            <a:r>
              <a:t>      },</a:t>
            </a:r>
          </a:p>
          <a:p xmlns:a="http://schemas.openxmlformats.org/drawingml/2006/main">
            <a:r>
              <a:t>      {</a:t>
            </a:r>
          </a:p>
          <a:p xmlns:a="http://schemas.openxmlformats.org/drawingml/2006/main">
            <a:r>
              <a:t>        "month": "202611",</a:t>
            </a:r>
          </a:p>
          <a:p xmlns:a="http://schemas.openxmlformats.org/drawingml/2006/main">
            <a:r>
              <a:t>        "visitors": 6585928.0,</a:t>
            </a:r>
          </a:p>
          <a:p xmlns:a="http://schemas.openxmlformats.org/drawingml/2006/main">
            <a:r>
              <a:t>        "is_forecast": true,</a:t>
            </a:r>
          </a:p>
          <a:p xmlns:a="http://schemas.openxmlformats.org/drawingml/2006/main">
            <a:r>
              <a:t>        "spending_krw": 107117698458.0,</a:t>
            </a:r>
          </a:p>
          <a:p xmlns:a="http://schemas.openxmlformats.org/drawingml/2006/main">
            <a:r>
              <a:t>        "stay_minutes": 600.0,</a:t>
            </a:r>
          </a:p>
          <a:p xmlns:a="http://schemas.openxmlformats.org/drawingml/2006/main">
            <a:r>
              <a:t>        "lodging_nights": 2.91,</a:t>
            </a:r>
          </a:p>
          <a:p xmlns:a="http://schemas.openxmlformats.org/drawingml/2006/main">
            <a:r>
              <a:t>        "lodging_rate_pct": 3.6,</a:t>
            </a:r>
          </a:p>
          <a:p xmlns:a="http://schemas.openxmlformats.org/drawingml/2006/main">
            <a:r>
              <a:t>        "lodging_searches": 2335,</a:t>
            </a:r>
          </a:p>
          <a:p xmlns:a="http://schemas.openxmlformats.org/drawingml/2006/main">
            <a:r>
              <a:t>        "navigation_searches": 115407,</a:t>
            </a:r>
          </a:p>
          <a:p xmlns:a="http://schemas.openxmlformats.org/drawingml/2006/main">
            <a:r>
              <a:t>        "visitor_yoy_percent": -0.86,</a:t>
            </a:r>
          </a:p>
          <a:p xmlns:a="http://schemas.openxmlformats.org/drawingml/2006/main">
            <a:r>
              <a:t>        "spending_yoy_percent": 5.78,</a:t>
            </a:r>
          </a:p>
          <a:p xmlns:a="http://schemas.openxmlformats.org/drawingml/2006/main">
            <a:r>
              <a:t>        "metric_changes_percent": {</a:t>
            </a:r>
          </a:p>
          <a:p xmlns:a="http://schemas.openxmlformats.org/drawingml/2006/main">
            <a:r>
              <a:t>          "stay_minutes": 0.0,</a:t>
            </a:r>
          </a:p>
          <a:p xmlns:a="http://schemas.openxmlformats.org/drawingml/2006/main">
            <a:r>
              <a:t>          "lodging_nights": 0.69,</a:t>
            </a:r>
          </a:p>
          <a:p xmlns:a="http://schemas.openxmlformats.org/drawingml/2006/main">
            <a:r>
              <a:t>          "lodging_rate_pct": 0.0,</a:t>
            </a:r>
          </a:p>
          <a:p xmlns:a="http://schemas.openxmlformats.org/drawingml/2006/main">
            <a:r>
              <a:t>          "lodging_searches": -7.71,</a:t>
            </a:r>
          </a:p>
          <a:p xmlns:a="http://schemas.openxmlformats.org/drawingml/2006/main">
            <a:r>
              <a:t>          "navigation_searches": 0.0</a:t>
            </a:r>
          </a:p>
          <a:p xmlns:a="http://schemas.openxmlformats.org/drawingml/2006/main">
            <a:r>
              <a:t>        },</a:t>
            </a:r>
          </a:p>
          <a:p xmlns:a="http://schemas.openxmlformats.org/drawingml/2006/main">
            <a:r>
              <a:t>        "previous_year_visitors": 6643276,</a:t>
            </a:r>
          </a:p>
          <a:p xmlns:a="http://schemas.openxmlformats.org/drawingml/2006/main">
            <a:r>
              <a:t>        "previous_year_spending_krw": 101267996000,</a:t>
            </a:r>
          </a:p>
          <a:p xmlns:a="http://schemas.openxmlformats.org/drawingml/2006/main">
            <a:r>
              <a:t>        "previous_year_stay_minutes": 600.0,</a:t>
            </a:r>
          </a:p>
          <a:p xmlns:a="http://schemas.openxmlformats.org/drawingml/2006/main">
            <a:r>
              <a:t>        "previous_year_lodging_nights": 2.89,</a:t>
            </a:r>
          </a:p>
          <a:p xmlns:a="http://schemas.openxmlformats.org/drawingml/2006/main">
            <a:r>
              <a:t>        "previous_year_lodging_rate_pct": 3.6,</a:t>
            </a:r>
          </a:p>
          <a:p xmlns:a="http://schemas.openxmlformats.org/drawingml/2006/main">
            <a:r>
              <a:t>        "previous_year_lodging_searches": 2530,</a:t>
            </a:r>
          </a:p>
          <a:p xmlns:a="http://schemas.openxmlformats.org/drawingml/2006/main">
            <a:r>
              <a:t>        "previous_year_navigation_searches": 115407</a:t>
            </a:r>
          </a:p>
          <a:p xmlns:a="http://schemas.openxmlformats.org/drawingml/2006/main">
            <a:r>
              <a:t>      }</a:t>
            </a:r>
          </a:p>
          <a:p xmlns:a="http://schemas.openxmlformats.org/drawingml/2006/main">
            <a:r>
              <a:t>    ],</a:t>
            </a:r>
          </a:p>
          <a:p xmlns:a="http://schemas.openxmlformats.org/drawingml/2006/main">
            <a:r>
              <a:t>    "period": "202609~202611",</a:t>
            </a:r>
          </a:p>
          <a:p xmlns:a="http://schemas.openxmlformats.org/drawingml/2006/main">
            <a:r>
              <a:t>    "complete": true,</a:t>
            </a:r>
          </a:p>
          <a:p xmlns:a="http://schemas.openxmlformats.org/drawingml/2006/main">
            <a:r>
              <a:t>    "notes": [</a:t>
            </a:r>
          </a:p>
          <a:p xmlns:a="http://schemas.openxmlformats.org/drawingml/2006/main">
            <a:r>
              <a:t>      "3개월 초과 예측 거리는 재귀 검증 범위 밖의 탐색 전망입니다."</a:t>
            </a:r>
          </a:p>
          <a:p xmlns:a="http://schemas.openxmlformats.org/drawingml/2006/main">
            <a:r>
              <a:t>    ],</a:t>
            </a:r>
          </a:p>
          <a:p xmlns:a="http://schemas.openxmlformats.org/drawingml/2006/main">
            <a:r>
              <a:t>    "selection_basis": "strategy_timeframe",</a:t>
            </a:r>
          </a:p>
          <a:p xmlns:a="http://schemas.openxmlformats.org/drawingml/2006/main">
            <a:r>
              <a:t>    "requested_period": "202609~202611"</a:t>
            </a:r>
          </a:p>
          <a:p xmlns:a="http://schemas.openxmlformats.org/drawingml/2006/main">
            <a:r>
              <a:t>  },</a:t>
            </a:r>
          </a:p>
          <a:p xmlns:a="http://schemas.openxmlformats.org/drawingml/2006/main">
            <a:r>
              <a:t>  "all_ml_forecasts": [</a:t>
            </a:r>
          </a:p>
          <a:p xmlns:a="http://schemas.openxmlformats.org/drawingml/2006/main">
            <a:r>
              <a:t>    {</a:t>
            </a:r>
          </a:p>
          <a:p xmlns:a="http://schemas.openxmlformats.org/drawingml/2006/main">
            <a:r>
              <a:t>      "month": "202607",</a:t>
            </a:r>
          </a:p>
          <a:p xmlns:a="http://schemas.openxmlformats.org/drawingml/2006/main">
            <a:r>
              <a:t>      "visitors": 6551545,</a:t>
            </a:r>
          </a:p>
          <a:p xmlns:a="http://schemas.openxmlformats.org/drawingml/2006/main">
            <a:r>
              <a:t>      "is_forecast": true,</a:t>
            </a:r>
          </a:p>
          <a:p xmlns:a="http://schemas.openxmlformats.org/drawingml/2006/main">
            <a:r>
              <a:t>      "spending_krw": 99619891149,</a:t>
            </a:r>
          </a:p>
          <a:p xmlns:a="http://schemas.openxmlformats.org/drawingml/2006/main">
            <a:r>
              <a:t>      "stay_minutes": 715.0,</a:t>
            </a:r>
          </a:p>
          <a:p xmlns:a="http://schemas.openxmlformats.org/drawingml/2006/main">
            <a:r>
              <a:t>      "lodging_nights": 2.92,</a:t>
            </a:r>
          </a:p>
          <a:p xmlns:a="http://schemas.openxmlformats.org/drawingml/2006/main">
            <a:r>
              <a:t>      "lodging_rate_pct": 3.9,</a:t>
            </a:r>
          </a:p>
          <a:p xmlns:a="http://schemas.openxmlformats.org/drawingml/2006/main">
            <a:r>
              <a:t>      "lodging_searches": 2427,</a:t>
            </a:r>
          </a:p>
          <a:p xmlns:a="http://schemas.openxmlformats.org/drawingml/2006/main">
            <a:r>
              <a:t>      "navigation_searches": 110530,</a:t>
            </a:r>
          </a:p>
          <a:p xmlns:a="http://schemas.openxmlformats.org/drawingml/2006/main">
            <a:r>
              <a:t>      "visitor_yoy_percent": 8.42,</a:t>
            </a:r>
          </a:p>
          <a:p xmlns:a="http://schemas.openxmlformats.org/drawingml/2006/main">
            <a:r>
              <a:t>      "spending_yoy_percent": 7.8,</a:t>
            </a:r>
          </a:p>
          <a:p xmlns:a="http://schemas.openxmlformats.org/drawingml/2006/main">
            <a:r>
              <a:t>      "metric_changes_percent": {</a:t>
            </a:r>
          </a:p>
          <a:p xmlns:a="http://schemas.openxmlformats.org/drawingml/2006/main">
            <a:r>
              <a:t>        "stay_minutes": 0.0,</a:t>
            </a:r>
          </a:p>
          <a:p xmlns:a="http://schemas.openxmlformats.org/drawingml/2006/main">
            <a:r>
              <a:t>        "lodging_nights": -1.02,</a:t>
            </a:r>
          </a:p>
          <a:p xmlns:a="http://schemas.openxmlformats.org/drawingml/2006/main">
            <a:r>
              <a:t>        "lodging_rate_pct": 0.0,</a:t>
            </a:r>
          </a:p>
          <a:p xmlns:a="http://schemas.openxmlformats.org/drawingml/2006/main">
            <a:r>
              <a:t>        "lodging_searches": -12.98,</a:t>
            </a:r>
          </a:p>
          <a:p xmlns:a="http://schemas.openxmlformats.org/drawingml/2006/main">
            <a:r>
              <a:t>        "navigation_searches": 0.0</a:t>
            </a:r>
          </a:p>
          <a:p xmlns:a="http://schemas.openxmlformats.org/drawingml/2006/main">
            <a:r>
              <a:t>      },</a:t>
            </a:r>
          </a:p>
          <a:p xmlns:a="http://schemas.openxmlformats.org/drawingml/2006/main">
            <a:r>
              <a:t>      "previous_year_visitors": 6042778,</a:t>
            </a:r>
          </a:p>
          <a:p xmlns:a="http://schemas.openxmlformats.org/drawingml/2006/main">
            <a:r>
              <a:t>      "previous_year_spending_krw": 92415108000,</a:t>
            </a:r>
          </a:p>
          <a:p xmlns:a="http://schemas.openxmlformats.org/drawingml/2006/main">
            <a:r>
              <a:t>      "previous_year_stay_minutes": 715.0,</a:t>
            </a:r>
          </a:p>
          <a:p xmlns:a="http://schemas.openxmlformats.org/drawingml/2006/main">
            <a:r>
              <a:t>      "previous_year_lodging_nights": 2.95,</a:t>
            </a:r>
          </a:p>
          <a:p xmlns:a="http://schemas.openxmlformats.org/drawingml/2006/main">
            <a:r>
              <a:t>      "previous_year_lodging_rate_pct": 3.9,</a:t>
            </a:r>
          </a:p>
          <a:p xmlns:a="http://schemas.openxmlformats.org/drawingml/2006/main">
            <a:r>
              <a:t>      "previous_year_lodging_searches": 2789,</a:t>
            </a:r>
          </a:p>
          <a:p xmlns:a="http://schemas.openxmlformats.org/drawingml/2006/main">
            <a:r>
              <a:t>      "previous_year_navigation_searches": 110530</a:t>
            </a:r>
          </a:p>
          <a:p xmlns:a="http://schemas.openxmlformats.org/drawingml/2006/main">
            <a:r>
              <a:t>    },</a:t>
            </a:r>
          </a:p>
          <a:p xmlns:a="http://schemas.openxmlformats.org/drawingml/2006/main">
            <a:r>
              <a:t>    {</a:t>
            </a:r>
          </a:p>
          <a:p xmlns:a="http://schemas.openxmlformats.org/drawingml/2006/main">
            <a:r>
              <a:t>      "month": "202608",</a:t>
            </a:r>
          </a:p>
          <a:p xmlns:a="http://schemas.openxmlformats.org/drawingml/2006/main">
            <a:r>
              <a:t>      "visitors": 6392576,</a:t>
            </a:r>
          </a:p>
          <a:p xmlns:a="http://schemas.openxmlformats.org/drawingml/2006/main">
            <a:r>
              <a:t>      "is_forecast": true,</a:t>
            </a:r>
          </a:p>
          <a:p xmlns:a="http://schemas.openxmlformats.org/drawingml/2006/main">
            <a:r>
              <a:t>      "spending_krw": 100649180510,</a:t>
            </a:r>
          </a:p>
          <a:p xmlns:a="http://schemas.openxmlformats.org/drawingml/2006/main">
            <a:r>
              <a:t>      "stay_minutes": 727.0,</a:t>
            </a:r>
          </a:p>
          <a:p xmlns:a="http://schemas.openxmlformats.org/drawingml/2006/main">
            <a:r>
              <a:t>      "lodging_nights": 2.93,</a:t>
            </a:r>
          </a:p>
          <a:p xmlns:a="http://schemas.openxmlformats.org/drawingml/2006/main">
            <a:r>
              <a:t>      "lodging_rate_pct": 4.3,</a:t>
            </a:r>
          </a:p>
          <a:p xmlns:a="http://schemas.openxmlformats.org/drawingml/2006/main">
            <a:r>
              <a:t>      "lodging_searches": 2345,</a:t>
            </a:r>
          </a:p>
          <a:p xmlns:a="http://schemas.openxmlformats.org/drawingml/2006/main">
            <a:r>
              <a:t>      "navigation_searches": 116553,</a:t>
            </a:r>
          </a:p>
          <a:p xmlns:a="http://schemas.openxmlformats.org/drawingml/2006/main">
            <a:r>
              <a:t>      "visitor_yoy_percent": 7.88,</a:t>
            </a:r>
          </a:p>
          <a:p xmlns:a="http://schemas.openxmlformats.org/drawingml/2006/main">
            <a:r>
              <a:t>      "spending_yoy_percent": 6.05,</a:t>
            </a:r>
          </a:p>
          <a:p xmlns:a="http://schemas.openxmlformats.org/drawingml/2006/main">
            <a:r>
              <a:t>      "metric_changes_percent": {</a:t>
            </a:r>
          </a:p>
          <a:p xmlns:a="http://schemas.openxmlformats.org/drawingml/2006/main">
            <a:r>
              <a:t>        "stay_minutes": 0.0,</a:t>
            </a:r>
          </a:p>
          <a:p xmlns:a="http://schemas.openxmlformats.org/drawingml/2006/main">
            <a:r>
              <a:t>        "lodging_nights": 0.69,</a:t>
            </a:r>
          </a:p>
          <a:p xmlns:a="http://schemas.openxmlformats.org/drawingml/2006/main">
            <a:r>
              <a:t>        "lodging_rate_pct": 0.0,</a:t>
            </a:r>
          </a:p>
          <a:p xmlns:a="http://schemas.openxmlformats.org/drawingml/2006/main">
            <a:r>
              <a:t>        "lodging_searches": -4.64,</a:t>
            </a:r>
          </a:p>
          <a:p xmlns:a="http://schemas.openxmlformats.org/drawingml/2006/main">
            <a:r>
              <a:t>        "navigation_searches": 0.0</a:t>
            </a:r>
          </a:p>
          <a:p xmlns:a="http://schemas.openxmlformats.org/drawingml/2006/main">
            <a:r>
              <a:t>      },</a:t>
            </a:r>
          </a:p>
          <a:p xmlns:a="http://schemas.openxmlformats.org/drawingml/2006/main">
            <a:r>
              <a:t>      "previous_year_visitors": 5925815,</a:t>
            </a:r>
          </a:p>
          <a:p xmlns:a="http://schemas.openxmlformats.org/drawingml/2006/main">
            <a:r>
              <a:t>      "previous_year_spending_krw": 94907804000,</a:t>
            </a:r>
          </a:p>
          <a:p xmlns:a="http://schemas.openxmlformats.org/drawingml/2006/main">
            <a:r>
              <a:t>      "previous_year_stay_minutes": 727.0,</a:t>
            </a:r>
          </a:p>
          <a:p xmlns:a="http://schemas.openxmlformats.org/drawingml/2006/main">
            <a:r>
              <a:t>      "previous_year_lodging_nights": 2.91,</a:t>
            </a:r>
          </a:p>
          <a:p xmlns:a="http://schemas.openxmlformats.org/drawingml/2006/main">
            <a:r>
              <a:t>      "previous_year_lodging_rate_pct": 4.3,</a:t>
            </a:r>
          </a:p>
          <a:p xmlns:a="http://schemas.openxmlformats.org/drawingml/2006/main">
            <a:r>
              <a:t>      "previous_year_lodging_searches": 2459,</a:t>
            </a:r>
          </a:p>
          <a:p xmlns:a="http://schemas.openxmlformats.org/drawingml/2006/main">
            <a:r>
              <a:t>      "previous_year_navigation_searches": 116553</a:t>
            </a:r>
          </a:p>
          <a:p xmlns:a="http://schemas.openxmlformats.org/drawingml/2006/main">
            <a:r>
              <a:t>    },</a:t>
            </a:r>
          </a:p>
          <a:p xmlns:a="http://schemas.openxmlformats.org/drawingml/2006/main">
            <a:r>
              <a:t>    {</a:t>
            </a:r>
          </a:p>
          <a:p xmlns:a="http://schemas.openxmlformats.org/drawingml/2006/main">
            <a:r>
              <a:t>      "month": "202609",</a:t>
            </a:r>
          </a:p>
          <a:p xmlns:a="http://schemas.openxmlformats.org/drawingml/2006/main">
            <a:r>
              <a:t>      "visitors": 6638883,</a:t>
            </a:r>
          </a:p>
          <a:p xmlns:a="http://schemas.openxmlformats.org/drawingml/2006/main">
            <a:r>
              <a:t>      "is_forecast": true,</a:t>
            </a:r>
          </a:p>
          <a:p xmlns:a="http://schemas.openxmlformats.org/drawingml/2006/main">
            <a:r>
              <a:t>      "spending_krw": 102905513747,</a:t>
            </a:r>
          </a:p>
          <a:p xmlns:a="http://schemas.openxmlformats.org/drawingml/2006/main">
            <a:r>
              <a:t>      "stay_minutes": 729.0,</a:t>
            </a:r>
          </a:p>
          <a:p xmlns:a="http://schemas.openxmlformats.org/drawingml/2006/main">
            <a:r>
              <a:t>      "lodging_nights": 2.95,</a:t>
            </a:r>
          </a:p>
          <a:p xmlns:a="http://schemas.openxmlformats.org/drawingml/2006/main">
            <a:r>
              <a:t>      "lodging_rate_pct": 3.8,</a:t>
            </a:r>
          </a:p>
          <a:p xmlns:a="http://schemas.openxmlformats.org/drawingml/2006/main">
            <a:r>
              <a:t>      "lodging_searches": 2301,</a:t>
            </a:r>
          </a:p>
          <a:p xmlns:a="http://schemas.openxmlformats.org/drawingml/2006/main">
            <a:r>
              <a:t>      "navigation_searches": 108724,</a:t>
            </a:r>
          </a:p>
          <a:p xmlns:a="http://schemas.openxmlformats.org/drawingml/2006/main">
            <a:r>
              <a:t>      "visitor_yoy_percent": -0.24,</a:t>
            </a:r>
          </a:p>
          <a:p xmlns:a="http://schemas.openxmlformats.org/drawingml/2006/main">
            <a:r>
              <a:t>      "spending_yoy_percent": 9.25,</a:t>
            </a:r>
          </a:p>
          <a:p xmlns:a="http://schemas.openxmlformats.org/drawingml/2006/main">
            <a:r>
              <a:t>      "metric_changes_percent": {</a:t>
            </a:r>
          </a:p>
          <a:p xmlns:a="http://schemas.openxmlformats.org/drawingml/2006/main">
            <a:r>
              <a:t>        "stay_minutes": 0.0,</a:t>
            </a:r>
          </a:p>
          <a:p xmlns:a="http://schemas.openxmlformats.org/drawingml/2006/main">
            <a:r>
              <a:t>        "lodging_nights": -1.01,</a:t>
            </a:r>
          </a:p>
          <a:p xmlns:a="http://schemas.openxmlformats.org/drawingml/2006/main">
            <a:r>
              <a:t>        "lodging_rate_pct": 0.0,</a:t>
            </a:r>
          </a:p>
          <a:p xmlns:a="http://schemas.openxmlformats.org/drawingml/2006/main">
            <a:r>
              <a:t>        "lodging_searches": 5.41,</a:t>
            </a:r>
          </a:p>
          <a:p xmlns:a="http://schemas.openxmlformats.org/drawingml/2006/main">
            <a:r>
              <a:t>        "navigation_searches": 0.0</a:t>
            </a:r>
          </a:p>
          <a:p xmlns:a="http://schemas.openxmlformats.org/drawingml/2006/main">
            <a:r>
              <a:t>      },</a:t>
            </a:r>
          </a:p>
          <a:p xmlns:a="http://schemas.openxmlformats.org/drawingml/2006/main">
            <a:r>
              <a:t>      "previous_year_visitors": 6654997,</a:t>
            </a:r>
          </a:p>
          <a:p xmlns:a="http://schemas.openxmlformats.org/drawingml/2006/main">
            <a:r>
              <a:t>      "previous_year_spending_krw": 94192832000,</a:t>
            </a:r>
          </a:p>
          <a:p xmlns:a="http://schemas.openxmlformats.org/drawingml/2006/main">
            <a:r>
              <a:t>      "previous_year_stay_minutes": 729.0,</a:t>
            </a:r>
          </a:p>
          <a:p xmlns:a="http://schemas.openxmlformats.org/drawingml/2006/main">
            <a:r>
              <a:t>      "previous_year_lodging_nights": 2.98,</a:t>
            </a:r>
          </a:p>
          <a:p xmlns:a="http://schemas.openxmlformats.org/drawingml/2006/main">
            <a:r>
              <a:t>      "previous_year_lodging_rate_pct": 3.8,</a:t>
            </a:r>
          </a:p>
          <a:p xmlns:a="http://schemas.openxmlformats.org/drawingml/2006/main">
            <a:r>
              <a:t>      "previous_year_lodging_searches": 2183,</a:t>
            </a:r>
          </a:p>
          <a:p xmlns:a="http://schemas.openxmlformats.org/drawingml/2006/main">
            <a:r>
              <a:t>      "previous_year_navigation_searches": 108724</a:t>
            </a:r>
          </a:p>
          <a:p xmlns:a="http://schemas.openxmlformats.org/drawingml/2006/main">
            <a:r>
              <a:t>    },</a:t>
            </a:r>
          </a:p>
          <a:p xmlns:a="http://schemas.openxmlformats.org/drawingml/2006/main">
            <a:r>
              <a:t>    {</a:t>
            </a:r>
          </a:p>
          <a:p xmlns:a="http://schemas.openxmlformats.org/drawingml/2006/main">
            <a:r>
              <a:t>      "month": "202610",</a:t>
            </a:r>
          </a:p>
          <a:p xmlns:a="http://schemas.openxmlformats.org/drawingml/2006/main">
            <a:r>
              <a:t>      "visitors": 6570358,</a:t>
            </a:r>
          </a:p>
          <a:p xmlns:a="http://schemas.openxmlformats.org/drawingml/2006/main">
            <a:r>
              <a:t>      "is_forecast": true,</a:t>
            </a:r>
          </a:p>
          <a:p xmlns:a="http://schemas.openxmlformats.org/drawingml/2006/main">
            <a:r>
              <a:t>      "spending_krw": 103404579597,</a:t>
            </a:r>
          </a:p>
          <a:p xmlns:a="http://schemas.openxmlformats.org/drawingml/2006/main">
            <a:r>
              <a:t>      "stay_minutes": 726.0,</a:t>
            </a:r>
          </a:p>
          <a:p xmlns:a="http://schemas.openxmlformats.org/drawingml/2006/main">
            <a:r>
              <a:t>      "lodging_nights": 2.92,</a:t>
            </a:r>
          </a:p>
          <a:p xmlns:a="http://schemas.openxmlformats.org/drawingml/2006/main">
            <a:r>
              <a:t>      "lodging_rate_pct": 4.5,</a:t>
            </a:r>
          </a:p>
          <a:p xmlns:a="http://schemas.openxmlformats.org/drawingml/2006/main">
            <a:r>
              <a:t>      "lodging_searches": 2786,</a:t>
            </a:r>
          </a:p>
          <a:p xmlns:a="http://schemas.openxmlformats.org/drawingml/2006/main">
            <a:r>
              <a:t>      "navigation_searches": 176420,</a:t>
            </a:r>
          </a:p>
          <a:p xmlns:a="http://schemas.openxmlformats.org/drawingml/2006/main">
            <a:r>
              <a:t>      "visitor_yoy_percent": 6.49,</a:t>
            </a:r>
          </a:p>
          <a:p xmlns:a="http://schemas.openxmlformats.org/drawingml/2006/main">
            <a:r>
              <a:t>      "spending_yoy_percent": 6.54,</a:t>
            </a:r>
          </a:p>
          <a:p xmlns:a="http://schemas.openxmlformats.org/drawingml/2006/main">
            <a:r>
              <a:t>      "metric_changes_percent": {</a:t>
            </a:r>
          </a:p>
          <a:p xmlns:a="http://schemas.openxmlformats.org/drawingml/2006/main">
            <a:r>
              <a:t>        "stay_minutes": 0.0,</a:t>
            </a:r>
          </a:p>
          <a:p xmlns:a="http://schemas.openxmlformats.org/drawingml/2006/main">
            <a:r>
              <a:t>        "lodging_nights": -0.68,</a:t>
            </a:r>
          </a:p>
          <a:p xmlns:a="http://schemas.openxmlformats.org/drawingml/2006/main">
            <a:r>
              <a:t>        "lodging_rate_pct": 0.0,</a:t>
            </a:r>
          </a:p>
          <a:p xmlns:a="http://schemas.openxmlformats.org/drawingml/2006/main">
            <a:r>
              <a:t>        "lodging_searches": -23.0,</a:t>
            </a:r>
          </a:p>
          <a:p xmlns:a="http://schemas.openxmlformats.org/drawingml/2006/main">
            <a:r>
              <a:t>        "navigation_searches": 0.0</a:t>
            </a:r>
          </a:p>
          <a:p xmlns:a="http://schemas.openxmlformats.org/drawingml/2006/main">
            <a:r>
              <a:t>      },</a:t>
            </a:r>
          </a:p>
          <a:p xmlns:a="http://schemas.openxmlformats.org/drawingml/2006/main">
            <a:r>
              <a:t>      "previous_year_visitors": 6170192,</a:t>
            </a:r>
          </a:p>
          <a:p xmlns:a="http://schemas.openxmlformats.org/drawingml/2006/main">
            <a:r>
              <a:t>      "previous_year_spending_krw": 97053863000,</a:t>
            </a:r>
          </a:p>
          <a:p xmlns:a="http://schemas.openxmlformats.org/drawingml/2006/main">
            <a:r>
              <a:t>      "previous_year_stay_minutes": 726.0,</a:t>
            </a:r>
          </a:p>
          <a:p xmlns:a="http://schemas.openxmlformats.org/drawingml/2006/main">
            <a:r>
              <a:t>      "previous_year_lodging_nights": 2.94,</a:t>
            </a:r>
          </a:p>
          <a:p xmlns:a="http://schemas.openxmlformats.org/drawingml/2006/main">
            <a:r>
              <a:t>      "previous_year_lodging_rate_pct": 4.5,</a:t>
            </a:r>
          </a:p>
          <a:p xmlns:a="http://schemas.openxmlformats.org/drawingml/2006/main">
            <a:r>
              <a:t>      "previous_year_lodging_searches": 3618,</a:t>
            </a:r>
          </a:p>
          <a:p xmlns:a="http://schemas.openxmlformats.org/drawingml/2006/main">
            <a:r>
              <a:t>      "previous_year_navigation_searches": 176420</a:t>
            </a:r>
          </a:p>
          <a:p xmlns:a="http://schemas.openxmlformats.org/drawingml/2006/main">
            <a:r>
              <a:t>    },</a:t>
            </a:r>
          </a:p>
          <a:p xmlns:a="http://schemas.openxmlformats.org/drawingml/2006/main">
            <a:r>
              <a:t>    {</a:t>
            </a:r>
          </a:p>
          <a:p xmlns:a="http://schemas.openxmlformats.org/drawingml/2006/main">
            <a:r>
              <a:t>      "month": "202611",</a:t>
            </a:r>
          </a:p>
          <a:p xmlns:a="http://schemas.openxmlformats.org/drawingml/2006/main">
            <a:r>
              <a:t>      "visitors": 6585928,</a:t>
            </a:r>
          </a:p>
          <a:p xmlns:a="http://schemas.openxmlformats.org/drawingml/2006/main">
            <a:r>
              <a:t>      "is_forecast": true,</a:t>
            </a:r>
          </a:p>
          <a:p xmlns:a="http://schemas.openxmlformats.org/drawingml/2006/main">
            <a:r>
              <a:t>      "spending_krw": 107117698458,</a:t>
            </a:r>
          </a:p>
          <a:p xmlns:a="http://schemas.openxmlformats.org/drawingml/2006/main">
            <a:r>
              <a:t>      "stay_minutes": 600.0,</a:t>
            </a:r>
          </a:p>
          <a:p xmlns:a="http://schemas.openxmlformats.org/drawingml/2006/main">
            <a:r>
              <a:t>      "lodging_nights": 2.91,</a:t>
            </a:r>
          </a:p>
          <a:p xmlns:a="http://schemas.openxmlformats.org/drawingml/2006/main">
            <a:r>
              <a:t>      "lodging_rate_pct": 3.6,</a:t>
            </a:r>
          </a:p>
          <a:p xmlns:a="http://schemas.openxmlformats.org/drawingml/2006/main">
            <a:r>
              <a:t>      "lodging_searches": 2335,</a:t>
            </a:r>
          </a:p>
          <a:p xmlns:a="http://schemas.openxmlformats.org/drawingml/2006/main">
            <a:r>
              <a:t>      "navigation_searches": 115407,</a:t>
            </a:r>
          </a:p>
          <a:p xmlns:a="http://schemas.openxmlformats.org/drawingml/2006/main">
            <a:r>
              <a:t>      "visitor_yoy_percent": -0.86,</a:t>
            </a:r>
          </a:p>
          <a:p xmlns:a="http://schemas.openxmlformats.org/drawingml/2006/main">
            <a:r>
              <a:t>      "spending_yoy_percent": 5.78,</a:t>
            </a:r>
          </a:p>
          <a:p xmlns:a="http://schemas.openxmlformats.org/drawingml/2006/main">
            <a:r>
              <a:t>      "metric_changes_percent": {</a:t>
            </a:r>
          </a:p>
          <a:p xmlns:a="http://schemas.openxmlformats.org/drawingml/2006/main">
            <a:r>
              <a:t>        "stay_minutes": 0.0,</a:t>
            </a:r>
          </a:p>
          <a:p xmlns:a="http://schemas.openxmlformats.org/drawingml/2006/main">
            <a:r>
              <a:t>        "lodging_nights": 0.69,</a:t>
            </a:r>
          </a:p>
          <a:p xmlns:a="http://schemas.openxmlformats.org/drawingml/2006/main">
            <a:r>
              <a:t>        "lodging_rate_pct": 0.0,</a:t>
            </a:r>
          </a:p>
          <a:p xmlns:a="http://schemas.openxmlformats.org/drawingml/2006/main">
            <a:r>
              <a:t>        "lodging_searches": -7.71,</a:t>
            </a:r>
          </a:p>
          <a:p xmlns:a="http://schemas.openxmlformats.org/drawingml/2006/main">
            <a:r>
              <a:t>        "navigation_searches": 0.0</a:t>
            </a:r>
          </a:p>
          <a:p xmlns:a="http://schemas.openxmlformats.org/drawingml/2006/main">
            <a:r>
              <a:t>      },</a:t>
            </a:r>
          </a:p>
          <a:p xmlns:a="http://schemas.openxmlformats.org/drawingml/2006/main">
            <a:r>
              <a:t>      "previous_year_visitors": 6643276,</a:t>
            </a:r>
          </a:p>
          <a:p xmlns:a="http://schemas.openxmlformats.org/drawingml/2006/main">
            <a:r>
              <a:t>      "previous_year_spending_krw": 101267996000,</a:t>
            </a:r>
          </a:p>
          <a:p xmlns:a="http://schemas.openxmlformats.org/drawingml/2006/main">
            <a:r>
              <a:t>      "previous_year_stay_minutes": 600.0,</a:t>
            </a:r>
          </a:p>
          <a:p xmlns:a="http://schemas.openxmlformats.org/drawingml/2006/main">
            <a:r>
              <a:t>      "previous_year_lodging_nights": 2.89,</a:t>
            </a:r>
          </a:p>
          <a:p xmlns:a="http://schemas.openxmlformats.org/drawingml/2006/main">
            <a:r>
              <a:t>      "previous_year_lodging_rate_pct": 3.6,</a:t>
            </a:r>
          </a:p>
          <a:p xmlns:a="http://schemas.openxmlformats.org/drawingml/2006/main">
            <a:r>
              <a:t>      "previous_year_lodging_searches": 2530,</a:t>
            </a:r>
          </a:p>
          <a:p xmlns:a="http://schemas.openxmlformats.org/drawingml/2006/main">
            <a:r>
              <a:t>      "previous_year_navigation_searches": 115407</a:t>
            </a:r>
          </a:p>
          <a:p xmlns:a="http://schemas.openxmlformats.org/drawingml/2006/main">
            <a:r>
              <a:t>    }</a:t>
            </a:r>
          </a:p>
          <a:p xmlns:a="http://schemas.openxmlformats.org/drawingml/2006/main">
            <a:r>
              <a:t>  ],</a:t>
            </a:r>
          </a:p>
          <a:p xmlns:a="http://schemas.openxmlformats.org/drawingml/2006/main">
            <a:r>
              <a:t>  "evaluation": {</a:t>
            </a:r>
          </a:p>
          <a:p xmlns:a="http://schemas.openxmlformats.org/drawingml/2006/main">
            <a:r>
              <a:t>    "metrics": {</a:t>
            </a:r>
          </a:p>
          <a:p xmlns:a="http://schemas.openxmlformats.org/drawingml/2006/main">
            <a:r>
              <a:t>      "visitors": {</a:t>
            </a:r>
          </a:p>
          <a:p xmlns:a="http://schemas.openxmlformats.org/drawingml/2006/main">
            <a:r>
              <a:t>        "test_mae": 512302.72,</a:t>
            </a:r>
          </a:p>
          <a:p xmlns:a="http://schemas.openxmlformats.org/drawingml/2006/main">
            <a:r>
              <a:t>        "recursive_mae": {</a:t>
            </a:r>
          </a:p>
          <a:p xmlns:a="http://schemas.openxmlformats.org/drawingml/2006/main">
            <a:r>
              <a:t>          "1": {</a:t>
            </a:r>
          </a:p>
          <a:p xmlns:a="http://schemas.openxmlformats.org/drawingml/2006/main">
            <a:r>
              <a:t>            "baseline": 505115.0,</a:t>
            </a:r>
          </a:p>
          <a:p xmlns:a="http://schemas.openxmlformats.org/drawingml/2006/main">
            <a:r>
              <a:t>            "selected": 637542.5,</a:t>
            </a:r>
          </a:p>
          <a:p xmlns:a="http://schemas.openxmlformats.org/drawingml/2006/main">
            <a:r>
              <a:t>            "sample_count": 2</a:t>
            </a:r>
          </a:p>
          <a:p xmlns:a="http://schemas.openxmlformats.org/drawingml/2006/main">
            <a:r>
              <a:t>          },</a:t>
            </a:r>
          </a:p>
          <a:p xmlns:a="http://schemas.openxmlformats.org/drawingml/2006/main">
            <a:r>
              <a:t>          "2": {</a:t>
            </a:r>
          </a:p>
          <a:p xmlns:a="http://schemas.openxmlformats.org/drawingml/2006/main">
            <a:r>
              <a:t>            "baseline": 350616.5,</a:t>
            </a:r>
          </a:p>
          <a:p xmlns:a="http://schemas.openxmlformats.org/drawingml/2006/main">
            <a:r>
              <a:t>            "selected": 385661.0,</a:t>
            </a:r>
          </a:p>
          <a:p xmlns:a="http://schemas.openxmlformats.org/drawingml/2006/main">
            <a:r>
              <a:t>            "sample_count": 2</a:t>
            </a:r>
          </a:p>
          <a:p xmlns:a="http://schemas.openxmlformats.org/drawingml/2006/main">
            <a:r>
              <a:t>          },</a:t>
            </a:r>
          </a:p>
          <a:p xmlns:a="http://schemas.openxmlformats.org/drawingml/2006/main">
            <a:r>
              <a:t>          "3": {</a:t>
            </a:r>
          </a:p>
          <a:p xmlns:a="http://schemas.openxmlformats.org/drawingml/2006/main">
            <a:r>
              <a:t>            "baseline": 508390.5,</a:t>
            </a:r>
          </a:p>
          <a:p xmlns:a="http://schemas.openxmlformats.org/drawingml/2006/main">
            <a:r>
              <a:t>            "selected": 376970.5,</a:t>
            </a:r>
          </a:p>
          <a:p xmlns:a="http://schemas.openxmlformats.org/drawingml/2006/main">
            <a:r>
              <a:t>            "sample_count": 2</a:t>
            </a:r>
          </a:p>
          <a:p xmlns:a="http://schemas.openxmlformats.org/drawingml/2006/main">
            <a:r>
              <a:t>          }</a:t>
            </a:r>
          </a:p>
          <a:p xmlns:a="http://schemas.openxmlformats.org/drawingml/2006/main">
            <a:r>
              <a:t>        },</a:t>
            </a:r>
          </a:p>
          <a:p xmlns:a="http://schemas.openxmlformats.org/drawingml/2006/main">
            <a:r>
              <a:t>        "selected_model": "RandomForestRegressor",</a:t>
            </a:r>
          </a:p>
          <a:p xmlns:a="http://schemas.openxmlformats.org/drawingml/2006/main">
            <a:r>
              <a:t>        "baseline_test_mae": 506752.75,</a:t>
            </a:r>
          </a:p>
          <a:p xmlns:a="http://schemas.openxmlformats.org/drawingml/2006/main">
            <a:r>
              <a:t>        "model_reliability": "below_baseline_on_test",</a:t>
            </a:r>
          </a:p>
          <a:p xmlns:a="http://schemas.openxmlformats.org/drawingml/2006/main">
            <a:r>
              <a:t>        "beats_baseline_on_test": false,</a:t>
            </a:r>
          </a:p>
          <a:p xmlns:a="http://schemas.openxmlformats.org/drawingml/2006/main">
            <a:r>
              <a:t>        "recursive_horizons_worse_than_baseline": [</a:t>
            </a:r>
          </a:p>
          <a:p xmlns:a="http://schemas.openxmlformats.org/drawingml/2006/main">
            <a:r>
              <a:t>          "1",</a:t>
            </a:r>
          </a:p>
          <a:p xmlns:a="http://schemas.openxmlformats.org/drawingml/2006/main">
            <a:r>
              <a:t>          "2"</a:t>
            </a:r>
          </a:p>
          <a:p xmlns:a="http://schemas.openxmlformats.org/drawingml/2006/main">
            <a:r>
              <a:t>        ]</a:t>
            </a:r>
          </a:p>
          <a:p xmlns:a="http://schemas.openxmlformats.org/drawingml/2006/main">
            <a:r>
              <a:t>      },</a:t>
            </a:r>
          </a:p>
          <a:p xmlns:a="http://schemas.openxmlformats.org/drawingml/2006/main">
            <a:r>
              <a:t>      "spending_krw": {</a:t>
            </a:r>
          </a:p>
          <a:p xmlns:a="http://schemas.openxmlformats.org/drawingml/2006/main">
            <a:r>
              <a:t>        "test_mae": 5905429236.35,</a:t>
            </a:r>
          </a:p>
          <a:p xmlns:a="http://schemas.openxmlformats.org/drawingml/2006/main">
            <a:r>
              <a:t>        "recursive_mae": {</a:t>
            </a:r>
          </a:p>
          <a:p xmlns:a="http://schemas.openxmlformats.org/drawingml/2006/main">
            <a:r>
              <a:t>          "1": {</a:t>
            </a:r>
          </a:p>
          <a:p xmlns:a="http://schemas.openxmlformats.org/drawingml/2006/main">
            <a:r>
              <a:t>            "baseline": 3857228000.0,</a:t>
            </a:r>
          </a:p>
          <a:p xmlns:a="http://schemas.openxmlformats.org/drawingml/2006/main">
            <a:r>
              <a:t>            "selected": 3675260054.5,</a:t>
            </a:r>
          </a:p>
          <a:p xmlns:a="http://schemas.openxmlformats.org/drawingml/2006/main">
            <a:r>
              <a:t>            "sample_count": 2</a:t>
            </a:r>
          </a:p>
          <a:p xmlns:a="http://schemas.openxmlformats.org/drawingml/2006/main">
            <a:r>
              <a:t>          },</a:t>
            </a:r>
          </a:p>
          <a:p xmlns:a="http://schemas.openxmlformats.org/drawingml/2006/main">
            <a:r>
              <a:t>          "2": {</a:t>
            </a:r>
          </a:p>
          <a:p xmlns:a="http://schemas.openxmlformats.org/drawingml/2006/main">
            <a:r>
              <a:t>            "baseline": 5016656500.0,</a:t>
            </a:r>
          </a:p>
          <a:p xmlns:a="http://schemas.openxmlformats.org/drawingml/2006/main">
            <a:r>
              <a:t>            "selected": 2276015570.0,</a:t>
            </a:r>
          </a:p>
          <a:p xmlns:a="http://schemas.openxmlformats.org/drawingml/2006/main">
            <a:r>
              <a:t>            "sample_count": 2</a:t>
            </a:r>
          </a:p>
          <a:p xmlns:a="http://schemas.openxmlformats.org/drawingml/2006/main">
            <a:r>
              <a:t>          },</a:t>
            </a:r>
          </a:p>
          <a:p xmlns:a="http://schemas.openxmlformats.org/drawingml/2006/main">
            <a:r>
              <a:t>          "3": {</a:t>
            </a:r>
          </a:p>
          <a:p xmlns:a="http://schemas.openxmlformats.org/drawingml/2006/main">
            <a:r>
              <a:t>            "baseline": 3931632500.0,</a:t>
            </a:r>
          </a:p>
          <a:p xmlns:a="http://schemas.openxmlformats.org/drawingml/2006/main">
            <a:r>
              <a:t>            "selected": 7285373763.0,</a:t>
            </a:r>
          </a:p>
          <a:p xmlns:a="http://schemas.openxmlformats.org/drawingml/2006/main">
            <a:r>
              <a:t>            "sample_count": 2</a:t>
            </a:r>
          </a:p>
          <a:p xmlns:a="http://schemas.openxmlformats.org/drawingml/2006/main">
            <a:r>
              <a:t>          }</a:t>
            </a:r>
          </a:p>
          <a:p xmlns:a="http://schemas.openxmlformats.org/drawingml/2006/main">
            <a:r>
              <a:t>        },</a:t>
            </a:r>
          </a:p>
          <a:p xmlns:a="http://schemas.openxmlformats.org/drawingml/2006/main">
            <a:r>
              <a:t>        "selected_model": "LinearRegression",</a:t>
            </a:r>
          </a:p>
          <a:p xmlns:a="http://schemas.openxmlformats.org/drawingml/2006/main">
            <a:r>
              <a:t>        "baseline_test_mae": 3894430250.0,</a:t>
            </a:r>
          </a:p>
          <a:p xmlns:a="http://schemas.openxmlformats.org/drawingml/2006/main">
            <a:r>
              <a:t>        "model_reliability": "below_baseline_on_test",</a:t>
            </a:r>
          </a:p>
          <a:p xmlns:a="http://schemas.openxmlformats.org/drawingml/2006/main">
            <a:r>
              <a:t>        "beats_baseline_on_test": false,</a:t>
            </a:r>
          </a:p>
          <a:p xmlns:a="http://schemas.openxmlformats.org/drawingml/2006/main">
            <a:r>
              <a:t>        "recursive_horizons_worse_than_baseline": [</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"stay_minutes": {</a:t>
            </a:r>
          </a:p>
          <a:p xmlns:a="http://schemas.openxmlformats.org/drawingml/2006/main">
            <a:r>
              <a:t>        "test_mae": 81.25,</a:t>
            </a:r>
          </a:p>
          <a:p xmlns:a="http://schemas.openxmlformats.org/drawingml/2006/main">
            <a:r>
              <a:t>        "recursive_mae": {</a:t>
            </a:r>
          </a:p>
          <a:p xmlns:a="http://schemas.openxmlformats.org/drawingml/2006/main">
            <a:r>
              <a:t>          "1": {</a:t>
            </a:r>
          </a:p>
          <a:p xmlns:a="http://schemas.openxmlformats.org/drawingml/2006/main">
            <a:r>
              <a:t>            "baseline": 15.0,</a:t>
            </a:r>
          </a:p>
          <a:p xmlns:a="http://schemas.openxmlformats.org/drawingml/2006/main">
            <a:r>
              <a:t>            "selected": 15.0,</a:t>
            </a:r>
          </a:p>
          <a:p xmlns:a="http://schemas.openxmlformats.org/drawingml/2006/main">
            <a:r>
              <a:t>            "sample_count": 2</a:t>
            </a:r>
          </a:p>
          <a:p xmlns:a="http://schemas.openxmlformats.org/drawingml/2006/main">
            <a:r>
              <a:t>          },</a:t>
            </a:r>
          </a:p>
          <a:p xmlns:a="http://schemas.openxmlformats.org/drawingml/2006/main">
            <a:r>
              <a:t>          "2": {</a:t>
            </a:r>
          </a:p>
          <a:p xmlns:a="http://schemas.openxmlformats.org/drawingml/2006/main">
            <a:r>
              <a:t>            "baseline": 148.0,</a:t>
            </a:r>
          </a:p>
          <a:p xmlns:a="http://schemas.openxmlformats.org/drawingml/2006/main">
            <a:r>
              <a:t>            "selected": 148.0,</a:t>
            </a:r>
          </a:p>
          <a:p xmlns:a="http://schemas.openxmlformats.org/drawingml/2006/main">
            <a:r>
              <a:t>            "sample_count": 2</a:t>
            </a:r>
          </a:p>
          <a:p xmlns:a="http://schemas.openxmlformats.org/drawingml/2006/main">
            <a:r>
              <a:t>          },</a:t>
            </a:r>
          </a:p>
          <a:p xmlns:a="http://schemas.openxmlformats.org/drawingml/2006/main">
            <a:r>
              <a:t>          "3": {</a:t>
            </a:r>
          </a:p>
          <a:p xmlns:a="http://schemas.openxmlformats.org/drawingml/2006/main">
            <a:r>
              <a:t>            "baseline": 147.5,</a:t>
            </a:r>
          </a:p>
          <a:p xmlns:a="http://schemas.openxmlformats.org/drawingml/2006/main">
            <a:r>
              <a:t>            "selected": 147.5,</a:t>
            </a:r>
          </a:p>
          <a:p xmlns:a="http://schemas.openxmlformats.org/drawingml/2006/main">
            <a:r>
              <a:t>            "sample_count": 2</a:t>
            </a:r>
          </a:p>
          <a:p xmlns:a="http://schemas.openxmlformats.org/drawingml/2006/main">
            <a:r>
              <a:t>          }</a:t>
            </a:r>
          </a:p>
          <a:p xmlns:a="http://schemas.openxmlformats.org/drawingml/2006/main">
            <a:r>
              <a:t>        },</a:t>
            </a:r>
          </a:p>
          <a:p xmlns:a="http://schemas.openxmlformats.org/drawingml/2006/main">
            <a:r>
              <a:t>        "selected_model": "seasonal_naive_previous_year_same_month",</a:t>
            </a:r>
          </a:p>
          <a:p xmlns:a="http://schemas.openxmlformats.org/drawingml/2006/main">
            <a:r>
              <a:t>        "baseline_test_mae": 81.25,</a:t>
            </a:r>
          </a:p>
          <a:p xmlns:a="http://schemas.openxmlformats.org/drawingml/2006/main">
            <a:r>
              <a:t>        "model_reliability": "seasonal_baseline",</a:t>
            </a:r>
          </a:p>
          <a:p xmlns:a="http://schemas.openxmlformats.org/drawingml/2006/main">
            <a:r>
              <a:t>        "beats_baseline_on_test": false,</a:t>
            </a:r>
          </a:p>
          <a:p xmlns:a="http://schemas.openxmlformats.org/drawingml/2006/main">
            <a:r>
              <a:t>        "recursive_horizons_worse_than_baseline": []</a:t>
            </a:r>
          </a:p>
          <a:p xmlns:a="http://schemas.openxmlformats.org/drawingml/2006/main">
            <a:r>
              <a:t>      },</a:t>
            </a:r>
          </a:p>
          <a:p xmlns:a="http://schemas.openxmlformats.org/drawingml/2006/main">
            <a:r>
              <a:t>      "lodging_nights": {</a:t>
            </a:r>
          </a:p>
          <a:p xmlns:a="http://schemas.openxmlformats.org/drawingml/2006/main">
            <a:r>
              <a:t>        "test_mae": 0.1,</a:t>
            </a:r>
          </a:p>
          <a:p xmlns:a="http://schemas.openxmlformats.org/drawingml/2006/main">
            <a:r>
              <a:t>        "recursive_mae": {</a:t>
            </a:r>
          </a:p>
          <a:p xmlns:a="http://schemas.openxmlformats.org/drawingml/2006/main">
            <a:r>
              <a:t>          "1": {</a:t>
            </a:r>
          </a:p>
          <a:p xmlns:a="http://schemas.openxmlformats.org/drawingml/2006/main">
            <a:r>
              <a:t>            "baseline": 0.07,</a:t>
            </a:r>
          </a:p>
          <a:p xmlns:a="http://schemas.openxmlformats.org/drawingml/2006/main">
            <a:r>
              <a:t>            "selected": 0.1,</a:t>
            </a:r>
          </a:p>
          <a:p xmlns:a="http://schemas.openxmlformats.org/drawingml/2006/main">
            <a:r>
              <a:t>            "sample_count": 2</a:t>
            </a:r>
          </a:p>
          <a:p xmlns:a="http://schemas.openxmlformats.org/drawingml/2006/main">
            <a:r>
              <a:t>          },</a:t>
            </a:r>
          </a:p>
          <a:p xmlns:a="http://schemas.openxmlformats.org/drawingml/2006/main">
            <a:r>
              <a:t>          "2": {</a:t>
            </a:r>
          </a:p>
          <a:p xmlns:a="http://schemas.openxmlformats.org/drawingml/2006/main">
            <a:r>
              <a:t>            "baseline": 0.11,</a:t>
            </a:r>
          </a:p>
          <a:p xmlns:a="http://schemas.openxmlformats.org/drawingml/2006/main">
            <a:r>
              <a:t>            "selected": 0.16,</a:t>
            </a:r>
          </a:p>
          <a:p xmlns:a="http://schemas.openxmlformats.org/drawingml/2006/main">
            <a:r>
              <a:t>            "sample_count": 2</a:t>
            </a:r>
          </a:p>
          <a:p xmlns:a="http://schemas.openxmlformats.org/drawingml/2006/main">
            <a:r>
              <a:t>          },</a:t>
            </a:r>
          </a:p>
          <a:p xmlns:a="http://schemas.openxmlformats.org/drawingml/2006/main">
            <a:r>
              <a:t>          "3": {</a:t>
            </a:r>
          </a:p>
          <a:p xmlns:a="http://schemas.openxmlformats.org/drawingml/2006/main">
            <a:r>
              <a:t>            "baseline": 0.15,</a:t>
            </a:r>
          </a:p>
          <a:p xmlns:a="http://schemas.openxmlformats.org/drawingml/2006/main">
            <a:r>
              <a:t>            "selected": 0.17,</a:t>
            </a:r>
          </a:p>
          <a:p xmlns:a="http://schemas.openxmlformats.org/drawingml/2006/main">
            <a:r>
              <a:t>            "sample_count": 2</a:t>
            </a:r>
          </a:p>
          <a:p xmlns:a="http://schemas.openxmlformats.org/drawingml/2006/main">
            <a:r>
              <a:t>          }</a:t>
            </a:r>
          </a:p>
          <a:p xmlns:a="http://schemas.openxmlformats.org/drawingml/2006/main">
            <a:r>
              <a:t>        },</a:t>
            </a:r>
          </a:p>
          <a:p xmlns:a="http://schemas.openxmlformats.org/drawingml/2006/main">
            <a:r>
              <a:t>        "selected_model": "LinearRegression",</a:t>
            </a:r>
          </a:p>
          <a:p xmlns:a="http://schemas.openxmlformats.org/drawingml/2006/main">
            <a:r>
              <a:t>        "baseline_test_mae": 0.11,</a:t>
            </a:r>
          </a:p>
          <a:p xmlns:a="http://schemas.openxmlformats.org/drawingml/2006/main">
            <a:r>
              <a:t>        "model_reliability": "mixed_recursive_performance",</a:t>
            </a:r>
          </a:p>
          <a:p xmlns:a="http://schemas.openxmlformats.org/drawingml/2006/main">
            <a:r>
              <a:t>        "beats_baseline_on_test": true,</a:t>
            </a:r>
          </a:p>
          <a:p xmlns:a="http://schemas.openxmlformats.org/drawingml/2006/main">
            <a:r>
              <a:t>        "recursive_horizons_worse_than_baseline": [</a:t>
            </a:r>
          </a:p>
          <a:p xmlns:a="http://schemas.openxmlformats.org/drawingml/2006/main">
            <a:r>
              <a:t>          "1",</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"lodging_rate_pct": {</a:t>
            </a:r>
          </a:p>
          <a:p xmlns:a="http://schemas.openxmlformats.org/drawingml/2006/main">
            <a:r>
              <a:t>        "test_mae": 0.32,</a:t>
            </a:r>
          </a:p>
          <a:p xmlns:a="http://schemas.openxmlformats.org/drawingml/2006/main">
            <a:r>
              <a:t>        "recursive_mae": {</a:t>
            </a:r>
          </a:p>
          <a:p xmlns:a="http://schemas.openxmlformats.org/drawingml/2006/main">
            <a:r>
              <a:t>          "1": {</a:t>
            </a:r>
          </a:p>
          <a:p xmlns:a="http://schemas.openxmlformats.org/drawingml/2006/main">
            <a:r>
              <a:t>            "baseline": 0.3,</a:t>
            </a:r>
          </a:p>
          <a:p xmlns:a="http://schemas.openxmlformats.org/drawingml/2006/main">
            <a:r>
              <a:t>            "selected": 0.3,</a:t>
            </a:r>
          </a:p>
          <a:p xmlns:a="http://schemas.openxmlformats.org/drawingml/2006/main">
            <a:r>
              <a:t>            "sample_count": 2</a:t>
            </a:r>
          </a:p>
          <a:p xmlns:a="http://schemas.openxmlformats.org/drawingml/2006/main">
            <a:r>
              <a:t>          },</a:t>
            </a:r>
          </a:p>
          <a:p xmlns:a="http://schemas.openxmlformats.org/drawingml/2006/main">
            <a:r>
              <a:t>          "2": {</a:t>
            </a:r>
          </a:p>
          <a:p xmlns:a="http://schemas.openxmlformats.org/drawingml/2006/main">
            <a:r>
              <a:t>            "baseline": 0.4,</a:t>
            </a:r>
          </a:p>
          <a:p xmlns:a="http://schemas.openxmlformats.org/drawingml/2006/main">
            <a:r>
              <a:t>            "selected": 0.4,</a:t>
            </a:r>
          </a:p>
          <a:p xmlns:a="http://schemas.openxmlformats.org/drawingml/2006/main">
            <a:r>
              <a:t>            "sample_count": 2</a:t>
            </a:r>
          </a:p>
          <a:p xmlns:a="http://schemas.openxmlformats.org/drawingml/2006/main">
            <a:r>
              <a:t>          },</a:t>
            </a:r>
          </a:p>
          <a:p xmlns:a="http://schemas.openxmlformats.org/drawingml/2006/main">
            <a:r>
              <a:t>          "3": {</a:t>
            </a:r>
          </a:p>
          <a:p xmlns:a="http://schemas.openxmlformats.org/drawingml/2006/main">
            <a:r>
              <a:t>            "baseline": 0.35,</a:t>
            </a:r>
          </a:p>
          <a:p xmlns:a="http://schemas.openxmlformats.org/drawingml/2006/main">
            <a:r>
              <a:t>            "selected": 0.35,</a:t>
            </a:r>
          </a:p>
          <a:p xmlns:a="http://schemas.openxmlformats.org/drawingml/2006/main">
            <a:r>
              <a:t>            "sample_count": 2</a:t>
            </a:r>
          </a:p>
          <a:p xmlns:a="http://schemas.openxmlformats.org/drawingml/2006/main">
            <a:r>
              <a:t>          }</a:t>
            </a:r>
          </a:p>
          <a:p xmlns:a="http://schemas.openxmlformats.org/drawingml/2006/main">
            <a:r>
              <a:t>        },</a:t>
            </a:r>
          </a:p>
          <a:p xmlns:a="http://schemas.openxmlformats.org/drawingml/2006/main">
            <a:r>
              <a:t>        "selected_model": "seasonal_naive_previous_year_same_month",</a:t>
            </a:r>
          </a:p>
          <a:p xmlns:a="http://schemas.openxmlformats.org/drawingml/2006/main">
            <a:r>
              <a:t>        "baseline_test_mae": 0.32,</a:t>
            </a:r>
          </a:p>
          <a:p xmlns:a="http://schemas.openxmlformats.org/drawingml/2006/main">
            <a:r>
              <a:t>        "model_reliability": "seasonal_baseline",</a:t>
            </a:r>
          </a:p>
          <a:p xmlns:a="http://schemas.openxmlformats.org/drawingml/2006/main">
            <a:r>
              <a:t>        "beats_baseline_on_test": false,</a:t>
            </a:r>
          </a:p>
          <a:p xmlns:a="http://schemas.openxmlformats.org/drawingml/2006/main">
            <a:r>
              <a:t>        "recursive_horizons_worse_than_baseline": []</a:t>
            </a:r>
          </a:p>
          <a:p xmlns:a="http://schemas.openxmlformats.org/drawingml/2006/main">
            <a:r>
              <a:t>      },</a:t>
            </a:r>
          </a:p>
          <a:p xmlns:a="http://schemas.openxmlformats.org/drawingml/2006/main">
            <a:r>
              <a:t>      "lodging_searches": {</a:t>
            </a:r>
          </a:p>
          <a:p xmlns:a="http://schemas.openxmlformats.org/drawingml/2006/main">
            <a:r>
              <a:t>        "test_mae": 141.88,</a:t>
            </a:r>
          </a:p>
          <a:p xmlns:a="http://schemas.openxmlformats.org/drawingml/2006/main">
            <a:r>
              <a:t>        "recursive_mae": {</a:t>
            </a:r>
          </a:p>
          <a:p xmlns:a="http://schemas.openxmlformats.org/drawingml/2006/main">
            <a:r>
              <a:t>          "1": {</a:t>
            </a:r>
          </a:p>
          <a:p xmlns:a="http://schemas.openxmlformats.org/drawingml/2006/main">
            <a:r>
              <a:t>            "baseline": 239.0,</a:t>
            </a:r>
          </a:p>
          <a:p xmlns:a="http://schemas.openxmlformats.org/drawingml/2006/main">
            <a:r>
              <a:t>            "selected": 78.5,</a:t>
            </a:r>
          </a:p>
          <a:p xmlns:a="http://schemas.openxmlformats.org/drawingml/2006/main">
            <a:r>
              <a:t>            "sample_count": 2</a:t>
            </a:r>
          </a:p>
          <a:p xmlns:a="http://schemas.openxmlformats.org/drawingml/2006/main">
            <a:r>
              <a:t>          },</a:t>
            </a:r>
          </a:p>
          <a:p xmlns:a="http://schemas.openxmlformats.org/drawingml/2006/main">
            <a:r>
              <a:t>          "2": {</a:t>
            </a:r>
          </a:p>
          <a:p xmlns:a="http://schemas.openxmlformats.org/drawingml/2006/main">
            <a:r>
              <a:t>            "baseline": 215.5,</a:t>
            </a:r>
          </a:p>
          <a:p xmlns:a="http://schemas.openxmlformats.org/drawingml/2006/main">
            <a:r>
              <a:t>            "selected": 71.5,</a:t>
            </a:r>
          </a:p>
          <a:p xmlns:a="http://schemas.openxmlformats.org/drawingml/2006/main">
            <a:r>
              <a:t>            "sample_count": 2</a:t>
            </a:r>
          </a:p>
          <a:p xmlns:a="http://schemas.openxmlformats.org/drawingml/2006/main">
            <a:r>
              <a:t>          },</a:t>
            </a:r>
          </a:p>
          <a:p xmlns:a="http://schemas.openxmlformats.org/drawingml/2006/main">
            <a:r>
              <a:t>          "3": {</a:t>
            </a:r>
          </a:p>
          <a:p xmlns:a="http://schemas.openxmlformats.org/drawingml/2006/main">
            <a:r>
              <a:t>            "baseline": 282.5,</a:t>
            </a:r>
          </a:p>
          <a:p xmlns:a="http://schemas.openxmlformats.org/drawingml/2006/main">
            <a:r>
              <a:t>            "selected": 143.0,</a:t>
            </a:r>
          </a:p>
          <a:p xmlns:a="http://schemas.openxmlformats.org/drawingml/2006/main">
            <a:r>
              <a:t>            "sample_count": 2</a:t>
            </a:r>
          </a:p>
          <a:p xmlns:a="http://schemas.openxmlformats.org/drawingml/2006/main">
            <a:r>
              <a:t>          }</a:t>
            </a:r>
          </a:p>
          <a:p xmlns:a="http://schemas.openxmlformats.org/drawingml/2006/main">
            <a:r>
              <a:t>        },</a:t>
            </a:r>
          </a:p>
          <a:p xmlns:a="http://schemas.openxmlformats.org/drawingml/2006/main">
            <a:r>
              <a:t>        "selected_model": "RandomForestRegressor",</a:t>
            </a:r>
          </a:p>
          <a:p xmlns:a="http://schemas.openxmlformats.org/drawingml/2006/main">
            <a:r>
              <a:t>        "baseline_test_mae": 260.75,</a:t>
            </a:r>
          </a:p>
          <a:p xmlns:a="http://schemas.openxmlformats.org/drawingml/2006/main">
            <a:r>
              <a:t>        "model_reliability": "limited_backtest_support",</a:t>
            </a:r>
          </a:p>
          <a:p xmlns:a="http://schemas.openxmlformats.org/drawingml/2006/main">
            <a:r>
              <a:t>        "beats_baseline_on_test": true,</a:t>
            </a:r>
          </a:p>
          <a:p xmlns:a="http://schemas.openxmlformats.org/drawingml/2006/main">
            <a:r>
              <a:t>        "recursive_horizons_worse_than_baseline": []</a:t>
            </a:r>
          </a:p>
          <a:p xmlns:a="http://schemas.openxmlformats.org/drawingml/2006/main">
            <a:r>
              <a:t>      },</a:t>
            </a:r>
          </a:p>
          <a:p xmlns:a="http://schemas.openxmlformats.org/drawingml/2006/main">
            <a:r>
              <a:t>      "navigation_searches": {</a:t>
            </a:r>
          </a:p>
          <a:p xmlns:a="http://schemas.openxmlformats.org/drawingml/2006/main">
            <a:r>
              <a:t>        "test_mae": 18943.5,</a:t>
            </a:r>
          </a:p>
          <a:p xmlns:a="http://schemas.openxmlformats.org/drawingml/2006/main">
            <a:r>
              <a:t>        "recursive_mae": {</a:t>
            </a:r>
          </a:p>
          <a:p xmlns:a="http://schemas.openxmlformats.org/drawingml/2006/main">
            <a:r>
              <a:t>          "1": {</a:t>
            </a:r>
          </a:p>
          <a:p xmlns:a="http://schemas.openxmlformats.org/drawingml/2006/main">
            <a:r>
              <a:t>            "baseline": 21342.5,</a:t>
            </a:r>
          </a:p>
          <a:p xmlns:a="http://schemas.openxmlformats.org/drawingml/2006/main">
            <a:r>
              <a:t>            "selected": 21342.5,</a:t>
            </a:r>
          </a:p>
          <a:p xmlns:a="http://schemas.openxmlformats.org/drawingml/2006/main">
            <a:r>
              <a:t>            "sample_count": 2</a:t>
            </a:r>
          </a:p>
          <a:p xmlns:a="http://schemas.openxmlformats.org/drawingml/2006/main">
            <a:r>
              <a:t>          },</a:t>
            </a:r>
          </a:p>
          <a:p xmlns:a="http://schemas.openxmlformats.org/drawingml/2006/main">
            <a:r>
              <a:t>          "2": {</a:t>
            </a:r>
          </a:p>
          <a:p xmlns:a="http://schemas.openxmlformats.org/drawingml/2006/main">
            <a:r>
              <a:t>            "baseline": 18933.0,</a:t>
            </a:r>
          </a:p>
          <a:p xmlns:a="http://schemas.openxmlformats.org/drawingml/2006/main">
            <a:r>
              <a:t>            "selected": 18933.0,</a:t>
            </a:r>
          </a:p>
          <a:p xmlns:a="http://schemas.openxmlformats.org/drawingml/2006/main">
            <a:r>
              <a:t>            "sample_count": 2</a:t>
            </a:r>
          </a:p>
          <a:p xmlns:a="http://schemas.openxmlformats.org/drawingml/2006/main">
            <a:r>
              <a:t>          },</a:t>
            </a:r>
          </a:p>
          <a:p xmlns:a="http://schemas.openxmlformats.org/drawingml/2006/main">
            <a:r>
              <a:t>          "3": {</a:t>
            </a:r>
          </a:p>
          <a:p xmlns:a="http://schemas.openxmlformats.org/drawingml/2006/main">
            <a:r>
              <a:t>            "baseline": 16544.5,</a:t>
            </a:r>
          </a:p>
          <a:p xmlns:a="http://schemas.openxmlformats.org/drawingml/2006/main">
            <a:r>
              <a:t>            "selected": 16544.5,</a:t>
            </a:r>
          </a:p>
          <a:p xmlns:a="http://schemas.openxmlformats.org/drawingml/2006/main">
            <a:r>
              <a:t>            "sample_count": 2</a:t>
            </a:r>
          </a:p>
          <a:p xmlns:a="http://schemas.openxmlformats.org/drawingml/2006/main">
            <a:r>
              <a:t>          }</a:t>
            </a:r>
          </a:p>
          <a:p xmlns:a="http://schemas.openxmlformats.org/drawingml/2006/main">
            <a:r>
              <a:t>        },</a:t>
            </a:r>
          </a:p>
          <a:p xmlns:a="http://schemas.openxmlformats.org/drawingml/2006/main">
            <a:r>
              <a:t>        "selected_model": "seasonal_naive_previous_year_same_month",</a:t>
            </a:r>
          </a:p>
          <a:p xmlns:a="http://schemas.openxmlformats.org/drawingml/2006/main">
            <a:r>
              <a:t>        "baseline_test_mae": 18943.5,</a:t>
            </a:r>
          </a:p>
          <a:p xmlns:a="http://schemas.openxmlformats.org/drawingml/2006/main">
            <a:r>
              <a:t>        "model_reliability": "seasonal_baseline",</a:t>
            </a:r>
          </a:p>
          <a:p xmlns:a="http://schemas.openxmlformats.org/drawingml/2006/main">
            <a:r>
              <a:t>        "beats_baseline_on_test": false,</a:t>
            </a:r>
          </a:p>
          <a:p xmlns:a="http://schemas.openxmlformats.org/drawingml/2006/main">
            <a:r>
              <a:t>        "recursive_horizons_worse_than_baseline": []</a:t>
            </a:r>
          </a:p>
          <a:p xmlns:a="http://schemas.openxmlformats.org/drawingml/2006/main">
            <a:r>
              <a:t>      }</a:t>
            </a:r>
          </a:p>
          <a:p xmlns:a="http://schemas.openxmlformats.org/drawingml/2006/main">
            <a:r>
              <a:t>    },</a:t>
            </a:r>
          </a:p>
          <a:p xmlns:a="http://schemas.openxmlformats.org/drawingml/2006/main">
            <a:r>
              <a:t>    "test_period": "202603~202606",</a:t>
            </a:r>
          </a:p>
          <a:p xmlns:a="http://schemas.openxmlformats.org/drawingml/2006/main">
            <a:r>
              <a:t>    "selection_basis": "validation_mae_only",</a:t>
            </a:r>
          </a:p>
          <a:p xmlns:a="http://schemas.openxmlformats.org/drawingml/2006/main">
            <a:r>
              <a:t>    "validation_period": "202512~202602",</a:t>
            </a:r>
          </a:p>
          <a:p xmlns:a="http://schemas.openxmlformats.org/drawingml/2006/main">
            <a:r>
              <a:t>    "longer_horizon_status": "exploratory_not_recursively_backtested",</a:t>
            </a:r>
          </a:p>
          <a:p xmlns:a="http://schemas.openxmlformats.org/drawingml/2006/main">
            <a:r>
              <a:t>    "forecast_horizon_months": 5,</a:t>
            </a:r>
          </a:p>
          <a:p xmlns:a="http://schemas.openxmlformats.org/drawingml/2006/main">
            <a:r>
              <a:t>    "recursive_backtest_horizon_months": [</a:t>
            </a:r>
          </a:p>
          <a:p xmlns:a="http://schemas.openxmlformats.org/drawingml/2006/main">
            <a:r>
              <a:t>      1,</a:t>
            </a:r>
          </a:p>
          <a:p xmlns:a="http://schemas.openxmlformats.org/drawingml/2006/main">
            <a:r>
              <a:t>      2,</a:t>
            </a:r>
          </a:p>
          <a:p xmlns:a="http://schemas.openxmlformats.org/drawingml/2006/main">
            <a:r>
              <a:t>      3</a:t>
            </a:r>
          </a:p>
          <a:p xmlns:a="http://schemas.openxmlformats.org/drawingml/2006/main">
            <a:r>
              <a:t>    ]</a:t>
            </a:r>
          </a:p>
          <a:p xmlns:a="http://schemas.openxmlformats.org/drawingml/2006/main">
            <a:r>
              <a:t>  },</a:t>
            </a:r>
          </a:p>
          <a:p xmlns:a="http://schemas.openxmlformats.org/drawingml/2006/main">
            <a:r>
              <a:t>  "execution_scenario": {</a:t>
            </a:r>
          </a:p>
          <a:p xmlns:a="http://schemas.openxmlformats.org/drawingml/2006/main">
            <a:r>
              <a:t>    "visitor_target_pct": 20.0,</a:t>
            </a:r>
          </a:p>
          <a:p xmlns:a="http://schemas.openxmlformats.org/drawingml/2006/main">
            <a:r>
              <a:t>    "spending_target_pct": 20.0</a:t>
            </a:r>
          </a:p>
          <a:p xmlns:a="http://schemas.openxmlformats.org/drawingml/2006/main">
            <a:r>
              <a:t>  },</a:t>
            </a:r>
          </a:p>
          <a:p xmlns:a="http://schemas.openxmlformats.org/drawingml/2006/main">
            <a:r>
              <a:t>  "reference_estimate": {</a:t>
            </a:r>
          </a:p>
          <a:p xmlns:a="http://schemas.openxmlformats.org/drawingml/2006/main">
            <a:r>
              <a:t>    "status": "saved_report_budget",</a:t>
            </a:r>
          </a:p>
          <a:p xmlns:a="http://schemas.openxmlformats.org/drawingml/2006/main">
            <a:r>
              <a:t>    "total_label": "총액 미확정",</a:t>
            </a:r>
          </a:p>
          <a:p xmlns:a="http://schemas.openxmlformats.org/drawingml/2006/main">
            <a:r>
              <a:t>    "rows": [</a:t>
            </a:r>
          </a:p>
          <a:p xmlns:a="http://schemas.openxmlformats.org/drawingml/2006/main">
            <a:r>
              <a:t>      [</a:t>
            </a:r>
          </a:p>
          <a:p xmlns:a="http://schemas.openxmlformats.org/drawingml/2006/main">
            <a:r>
              <a:t>        "산정 내역 1",</a:t>
            </a:r>
          </a:p>
          <a:p xmlns:a="http://schemas.openxmlformats.org/drawingml/2006/main">
            <a:r>
              <a:t>        "지역상품권 환급액 = (외지인 관광객의 지역 내 소비액 × 20%) + (지역상품권 발행 비용: 1,000원/장). 단가 및 정확한 환급 대상 규모는 시범 운영 전 확정 필요.",</a:t>
            </a:r>
          </a:p>
          <a:p xmlns:a="http://schemas.openxmlformats.org/drawingml/2006/main">
            <a:r>
              <a:t>        "본문 기준"</a:t>
            </a:r>
          </a:p>
          <a:p xmlns:a="http://schemas.openxmlformats.org/drawingml/2006/main">
            <a:r>
              <a:t>      ]</a:t>
            </a:r>
          </a:p>
          <a:p xmlns:a="http://schemas.openxmlformats.org/drawingml/2006/main">
            <a:r>
              <a:t>    ],</a:t>
            </a:r>
          </a:p>
          <a:p xmlns:a="http://schemas.openxmlformats.org/drawingml/2006/main">
            <a:r>
              <a:t>    "original_text": "지역상품권 환급액 = (외지인 관광객의 지역 내 소비액 × 20%) + (지역상품권 발행 비용: 1,000원/장). 단가 및 정확한 환급 대상 규모는 시범 운영 전 확정 필요.",</a:t>
            </a:r>
          </a:p>
          <a:p xmlns:a="http://schemas.openxmlformats.org/drawingml/2006/main">
            <a:r>
              <a:t>    "sources": [],</a:t>
            </a:r>
          </a:p>
          <a:p xmlns:a="http://schemas.openxmlformats.org/drawingml/2006/main">
            <a:r>
              <a:t>    "note": "저장 기획안의 예산 산정 내용을 그대로 표시합니다. 확정 견적이 아니며 계약 전 수량·단가·세금과 합계를 확인합니다."</a:t>
            </a:r>
          </a:p>
          <a:p xmlns:a="http://schemas.openxmlformats.org/drawingml/2006/main">
            <a:r>
              <a:t>  }</a:t>
            </a:r>
          </a:p>
          <a:p xmlns:a="http://schemas.openxmlformats.org/drawingml/2006/main">
            <a:r>
              <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관측값·저장 예측·계획 목표는 별개입니다. 문서용 참고 견적이며 원 보고서의 검수 결과를 변경하지 않습니다.</a:t>
            </a:r>
          </a:p>
          <a:p>
            <a:r>
              <a:t>[Sources]</a:t>
            </a:r>
          </a:p>
          <a:p>
            <a:r>
              <a:t>dataset:11200:1 | 한국관광 데이터랩 · 서울특별시 성동구 순 방문자 수 및 숙박 비율 (이동통신 기반 외지인) | https://datalab.visitkorea.or.kr/</a:t>
            </a:r>
          </a:p>
          <a:p>
            <a:r>
              <a:t>dataset:11200:2 | 한국관광 데이터랩 · 서울특별시 성동구 월간 순 방문자 수 (이동통신 기반 외지인) | https://datalab.visitkorea.or.kr/</a:t>
            </a:r>
          </a:p>
          <a:p>
            <a:r>
              <a:t>dataset:11200:3 | 한국관광 데이터랩 · 서울특별시 성동구 관광소비 추이_외지인 | https://datalab.visitkorea.or.kr/</a:t>
            </a:r>
          </a:p>
          <a:p>
            <a:r>
              <a:t>dataset:11200:4 | 한국관광 데이터랩 · 서울특별시 성동구 숙박방문자 비율 추이 (이동통신 기반 외지인) | https://datalab.visitkorea.or.kr/</a:t>
            </a:r>
          </a:p>
          <a:p>
            <a:r>
              <a:t>dataset:11200:5 | 한국관광 데이터랩 · 서울특별시 성동구 평균 숙박일 (이동통신 기반 외지인) | https://datalab.visitkorea.or.kr/</a:t>
            </a:r>
          </a:p>
          <a:p>
            <a:r>
              <a:t>dataset:11200:6 | 한국관광 데이터랩 · 서울특별시 성동구 내비게이션 목적지 유형별 검색량 | https://datalab.visitkorea.or.kr/</a:t>
            </a:r>
          </a:p>
          <a:p>
            <a:r>
              <a:t>dataset:11200:7 | 한국관광 데이터랩 · 서울특별시 성동구 SNS 언급량 | https://datalab.visitkorea.or.kr/</a:t>
            </a:r>
          </a:p>
          <a:p>
            <a:r>
              <a:t>datalab:0ea2e7ff8811:517c835e3039 | 한국관광 데이터랩 공식 다운로드 · 서울특별시_성동구/숙박_체류시간/2025_01_12.zip | https://datalab.visitkorea.or.kr/</a:t>
            </a:r>
          </a:p>
          <a:p>
            <a:r>
              <a:t>datalab:3a79405535b3:68f41f6aa9c6 | 한국관광 데이터랩 공식 다운로드 · 서울특별시_성동구/관광소비/2025_01_12.zip | https://datalab.visitkorea.or.kr/</a:t>
            </a:r>
          </a:p>
          <a:p>
            <a:r>
              <a:t>datalab:6217474023e5:2e717447925f | 한국관광 데이터랩 공식 다운로드 · 서울특별시_성동구/숙박_체류시간/2026_01_06.zip | https://datalab.visitkorea.or.kr/</a:t>
            </a:r>
          </a:p>
          <a:p>
            <a:r>
              <a:t>datalab:62312101c8d0:9c44bd532366 | 한국관광 데이터랩 공식 다운로드 · 서울특별시_성동구/방문자/2025_01_12.zip | https://datalab.visitkorea.or.kr/</a:t>
            </a:r>
          </a:p>
          <a:p>
            <a:r>
              <a:t>datalab:7ddda0420208:c68bf7b028b0 | 한국관광 데이터랩 공식 다운로드 · 서울특별시_성동구/관광소비/2026_01_06.zip | https://datalab.visitkorea.or.kr/</a:t>
            </a:r>
          </a:p>
          <a:p>
            <a:r>
              <a:t>datalab:9369271c7419:76a9b6ea89d8 | 한국관광 데이터랩 공식 다운로드 · 서울특별시_성동구/방문자/2026_01_06.zip | https://datalab.visitkorea.or.kr/</a:t>
            </a:r>
          </a:p>
          <a:p>
            <a:r>
              <a:t>team-bigdata:23ea68053684:6bfbcf8aabf6 | 한국관광 데이터랩 전국 빅데이터 다운로드 · 이동통신/내국인/지역별 방문자수/20260820140607__202601-202606_데이터랩_다운로드.zip | https://datalab.visitkorea.or.kr/</a:t>
            </a:r>
          </a:p>
          <a:p>
            <a:r>
              <a:t>team-bigdata:98d4ae590d9a:3be52dd54323 | 한국관광 데이터랩 전국 빅데이터 다운로드 · 이동통신/외국인/20260820141710_전국_202601-202606_데이터랩_다운로드.zip | https://datalab.visitkorea.or.kr/</a:t>
            </a:r>
          </a:p>
          <a:p>
            <a:r>
              <a:t>team-bigdata:367cd0294ec4:873930d645e5 | 한국관광 데이터랩 전국 빅데이터 다운로드 · 신용카드/내국인/지역별 관광지출액/20260820140046__202601-202606_데이터랩_다운로드.zip | https://datalab.visitkorea.or.kr/</a:t>
            </a:r>
          </a:p>
          <a:p>
            <a:r>
              <a:t>team-bigdata:553a0dad4bb4:5a31355dffe8 | 한국관광 데이터랩 전국 빅데이터 다운로드 · 신용카드/외국인/지역별 관광지출액/20260820140355__202601-202606_데이터랩_다운로드.zip | https://datalab.visitkorea.or.kr/</a:t>
            </a:r>
          </a:p>
          <a:p>
            <a:r>
              <a:t>team-bigdata:a53dbe1c21df:77a052de41d5 | 한국관광 데이터랩 전국 빅데이터 다운로드 · 네비게이션/지역별 검색건수/20260820195507__202601-202606_데이터랩_다운로드.zip | https://datalab.visitkorea.or.kr/</a:t>
            </a:r>
          </a:p>
          <a:p>
            <a:r>
              <a:t>team-bigdata:823a38d1d61c:5385261d02e5 | 한국관광 데이터랩 전국 빅데이터 다운로드 · 이동통신/내국인/지역별 방문자수/20260820140614__202501-202512_데이터랩_다운로드.zip | https://datalab.visitkorea.or.kr/</a:t>
            </a:r>
          </a:p>
          <a:p>
            <a:r>
              <a:t>team-bigdata:2723bdb0d589:1666a34058ed | 한국관광 데이터랩 전국 빅데이터 다운로드 · 이동통신/외국인/20260820141649_전국_202501-202512_데이터랩_다운로드.zip | https://datalab.visitkorea.or.kr/</a:t>
            </a:r>
          </a:p>
          <a:p>
            <a:r>
              <a:t>team-bigdata:83177a234971:c02cb7972e0f | 한국관광 데이터랩 전국 빅데이터 다운로드 · 신용카드/내국인/지역별 관광지출액/20260820135957__202501-202512_데이터랩_다운로드.zip | https://datalab.visitkorea.or.kr/</a:t>
            </a:r>
          </a:p>
          <a:p>
            <a:r>
              <a:t>team-bigdata:58ded7732251:589c76395cbc | 한국관광 데이터랩 전국 빅데이터 다운로드 · 신용카드/외국인/지역별 관광지출액/20260820140409__202501-202512_데이터랩_다운로드.zip | https://datalab.visitkorea.or.kr/</a:t>
            </a:r>
          </a:p>
          <a:p>
            <a:r>
              <a:t>team-bigdata:e28c947cb52f:bb4cb344a6ba | 한국관광 데이터랩 전국 빅데이터 다운로드 · 네비게이션/지역별 검색건수/20260820132007__202501-202512_데이터랩_다운로드.zip | https://datalab.visitkorea.or.kr/</a:t>
            </a:r>
          </a:p>
          <a:p>
            <a:r>
              <a:t>team-bigdata:8815bbb11a39:1a5988f5f8ec | 한국관광 데이터랩 전국 빅데이터 다운로드 · 이동통신/내국인/지역별 방문자수/20260820140624__202401-202412_데이터랩_다운로드.zip | https://datalab.visitkorea.or.kr/</a:t>
            </a:r>
          </a:p>
          <a:p>
            <a:r>
              <a:t>team-bigdata:19fd67fbb73d:afa4f0f54a2f | 한국관광 데이터랩 전국 빅데이터 다운로드 · 이동통신/외국인/20260820141639_전국_202401-202412_데이터랩_다운로드.zip | https://datalab.visitkorea.or.kr/</a:t>
            </a:r>
          </a:p>
          <a:p>
            <a:r>
              <a:t>regional-status:300d117a9148:9b5e59efa799 | 한국관광 데이터랩 지역별 관광 현황 · 서울특별시 성동구 · 인기관광지 | https://datalab.visitkorea.or.kr/</a:t>
            </a:r>
          </a:p>
          <a:p>
            <a:r>
              <a:t>regional-status:e1f4d12a3396:706443b7ba17 | 한국관광 데이터랩 지역별 관광 현황 · 서울특별시 성동구 · 유입유출 | https://datalab.visitkorea.or.kr/</a:t>
            </a:r>
          </a:p>
          <a:p>
            <a:r>
              <a:t>regional-status:f05693fd34a7:ae929e215d91 | 한국관광 데이터랩 지역별 관광 현황 · 서울특별시 성동구 · 지역집중률 | https://datalab.visitkorea.or.kr/</a:t>
            </a:r>
          </a:p>
          <a:p>
            <a:r>
              <a:t>ml:11200:regional-demand-v3.1:202606 | 지역 관광수요 ML 전망 · 공식 관측값 아님 | URL 미기록</a:t>
            </a:r>
          </a:p>
          <a:p>
            <a:r>
              <a:t>tour-api:2901229 | 가조쿠 | https://apis.data.go.kr/B551011/KorService2</a:t>
            </a:r>
          </a:p>
          <a:p>
            <a:r>
              <a:t>tour-api:2895161 | 계월 | https://apis.data.go.kr/B551011/KorService2</a:t>
            </a:r>
          </a:p>
          <a:p>
            <a:r>
              <a:t>tour-api:2901359 | 계자람 | https://apis.data.go.kr/B551011/KorService2</a:t>
            </a:r>
          </a:p>
          <a:p>
            <a:r>
              <a:t>tour-api:2895211 | 구욱희씨 | https://apis.data.go.kr/B551011/KorService2</a:t>
            </a:r>
          </a:p>
          <a:p>
            <a:r>
              <a:t>tour-api:2895236 | 구펠 | https://apis.data.go.kr/B551011/KorService2</a:t>
            </a:r>
          </a:p>
          <a:p>
            <a:r>
              <a:t>tour-api:2898994 | 그라데이션커피 | https://apis.data.go.kr/B551011/KorService2</a:t>
            </a:r>
          </a:p>
          <a:p>
            <a:r>
              <a:t>tour-api:2894873 | 그린랩 | https://apis.data.go.kr/B551011/KorService2</a:t>
            </a:r>
          </a:p>
          <a:p>
            <a:r>
              <a:t>tour-api:2743748 | 금남시장 | https://apis.data.go.kr/B551011/KorService2</a:t>
            </a:r>
          </a:p>
          <a:p>
            <a:r>
              <a:t>tour-api:2901568 | 기후 | https://apis.data.go.kr/B551011/KorService2</a:t>
            </a:r>
          </a:p>
          <a:p>
            <a:r>
              <a:t>tour-api:2894842 | 꾸아 성수점 | https://apis.data.go.kr/B551011/KorService2</a:t>
            </a:r>
          </a:p>
          <a:p>
            <a:r>
              <a:t>tour-api:2843520 | 난포 | https://apis.data.go.kr/B551011/KorService2</a:t>
            </a:r>
          </a:p>
          <a:p>
            <a:r>
              <a:t>tour-api:2894810 | 누메로도스 | https://apis.data.go.kr/B551011/KorService2</a:t>
            </a:r>
          </a:p>
          <a:p>
            <a:r>
              <a:t>tour-api:2894795 | 누메로뜨레쓰 | https://apis.data.go.kr/B551011/KorService2</a:t>
            </a:r>
          </a:p>
          <a:p>
            <a:r>
              <a:t>tour-api:2894763 | 니드스윗 | https://apis.data.go.kr/B551011/KorService2</a:t>
            </a:r>
          </a:p>
          <a:p>
            <a:r>
              <a:t>tour-api:2894747 | 단일서울 | https://apis.data.go.kr/B551011/KorService2</a:t>
            </a:r>
          </a:p>
          <a:p>
            <a:r>
              <a:t>tour-api:2894854 | 대돈집 | https://apis.data.go.kr/B551011/KorService2</a:t>
            </a:r>
          </a:p>
          <a:p>
            <a:r>
              <a:t>tour-api:2899012 | 대흥정육식당 | https://apis.data.go.kr/B551011/KorService2</a:t>
            </a:r>
          </a:p>
          <a:p>
            <a:r>
              <a:t>tour-api:2753089 | 더서울라이티움 | https://apis.data.go.kr/B551011/KorService2</a:t>
            </a:r>
          </a:p>
          <a:p>
            <a:r>
              <a:t>tour-api:736766 | 더페이지갤러리 | https://apis.data.go.kr/B551011/KorService2</a:t>
            </a:r>
          </a:p>
          <a:p>
            <a:r>
              <a:t>tour-api:2845040 | 땅코참숯구이 본점 | https://apis.data.go.kr/B551011/KorService2</a:t>
            </a:r>
          </a:p>
          <a:p>
            <a:r>
              <a:t>reference:kto:2026:local-airport | 요즘, 한국관광 2호 - 지방공항 연계 지역관광 활성화 방안 | PDF 44쪽, PDF 43쪽, PDF 36쪽, PDF 40쪽, PDF 41쪽, PDF 41쪽, PDF 44쪽, PDF 43쪽, PDF 43쪽 | https://datalab.visitkorea.or.kr/site/portal/ex/bbs/View.do?bcIdx=311068&amp;cbIdx=1135&amp;pageIndex=1</a:t>
            </a:r>
          </a:p>
          <a:p>
            <a:r>
              <a:t>web:11200:1 | 2026 서울국제정원박람회 &lt; 행사·공연 정보 &lt; 축제·관광 &lt; 미래한강본부, 한강공원 | https://hangang.seoul.go.kr/www/eventMng/detail.do?evntSn=378&amp;mid=538&amp;srchType=list</a:t>
            </a:r>
          </a:p>
          <a:p>
            <a:r>
              <a:t>web:11200:2 | 개막 20일차 250만명 넘은 서울국제정원박람회… 성수 상권 매출 30% 급증 &gt; 보도자료 | 서울특별시 | https://www.seoul.go.kr/news/news_report.do?nttNo=458311</a:t>
            </a:r>
          </a:p>
          <a:p>
            <a:r>
              <a:t>web:11200:3 | 서울숲-성수 커넥트 투어 | 2026 서울국제정원박람회 | https://gov.seoul.go.kr/festa/garden/y2026/program/garden-culture-program/commentary-program?article=42926</a:t>
            </a:r>
          </a:p>
          <a:p>
            <a:r>
              <a:t>web:11200:4 | 2026 서울축제지도 - 가을편 &lt; 공지사항(상세) &lt; 새소식 | 서울문화포털 | https://culture.seoul.go.kr/culture/bbs/B0000000/view.do?menuNo=200050&amp;nttId=16465</a:t>
            </a:r>
          </a:p>
          <a:p>
            <a:r>
              <a:t>web:11200:5 | 오시는 길 | 2026 서울국제정원박람회 | https://www.seoul.go.kr/festa/garden/y2026/introduce/location?pc=1</a:t>
            </a:r>
          </a:p>
          <a:p>
            <a:r>
              <a:t>web:11200:6 | (석간) 제11차 도시건축공동위원회 개최결과 &gt; 보도자료 | 서울특별시 | https://www.seoul.go.kr/news/news_report.do?nttNo=460823&amp;tr_code=snews</a:t>
            </a:r>
          </a:p>
          <a:p>
            <a:r>
              <a:t>web:11200:7 | 2026 서울국제정원박람회 &lt; 행사·공연 정보 &lt; 축제·관광 &lt; 미래한강본부, 한강공원 | https://hangang.seoul.go.kr/www/eventMng/detail.do?evntSn=378&amp;mid=538&amp;srchType=list</a:t>
            </a:r>
          </a:p>
          <a:p>
            <a:r>
              <a:t>case:jeonju_night_budget_2026 | 전주시 2026년도 관광산업과 세출예산 사업명세서 | https://jeonju.go.kr/resource/www/images/download/budget/2026/2026_31_2.pdf</a:t>
            </a:r>
          </a:p>
          <a:p>
            <a:r>
              <a:t>case:gangjin_half_price_2024 | 강진 반값여행 지역경제 효과 소개 | https://jnfarm.jeonnam.go.kr/board/FARM_BOARD_008/boardView.do?bdId=BD_00000000000011721&amp;menuCd=farm004002</a:t>
            </a:r>
          </a:p>
          <a:p>
            <a:r>
              <a:t>case:digital_tourism_resident_2024 | 2024년 6월 여행가는 달 추진 보도자료 | https://mcst.go.kr/servlets/eduport/front/upload/UplDownloadFile?pFileName=%280514%29%EB%AC%B8%EC%B2%B4%EB%B6%80%EB%B3%B4%EB%8F%84%EC%9E%90%EB%A3%8C-6%EC%9B%94_%EC%97%AC%ED%96%89%EA%B0%80%EB%8A%94_%EB%8B%AC_%EC%B6%94%EC%A7%84.pdf&amp;pPath=0302000000&amp;pRealName=20240514083202149235802932_PRESS20240514083202456506.pdf</a:t>
            </a:r>
          </a:p>
          <a:p>
            <a:r>
              <a:t>case:kto_stay_discount_2022 | 2022 대한민국 숙박대전 경제파급효과 공개자료 | https://kto.visitkorea.or.kr/upload/flexer/upload/ktobiz/20220928/b623b5f9-3ec0-11ed-9832-ddf31964842e.hwp.files/Sections1.html</a:t>
            </a:r>
          </a:p>
          <a:p>
            <a:r>
              <a:t>case:night_festival_2025 | 2025 대한민국 밤밤페스타 개최 도시 및 일정 | https://korean.visitkorea.or.kr/detail/rem_detail.do?cotid=f9c636b2-dd7c-4f09-af3d-6af43b33d371</a:t>
            </a:r>
          </a:p>
          <a:p>
            <a:r>
              <a:t>case:night_tourism_cities_2024 | 2024년도 정부업무평가 관광분야 성과자료 | https://www.evaluation.go.kr/upload2/atch/eval/20250429095846463.pdf</a:t>
            </a:r>
          </a:p>
          <a:p>
            <a:r>
              <a:t>[/Sources]</a:t>
            </a:r>
          </a:p>
          <a:p>
            <a:r>
              <a:t>[Calculation audit]</a:t>
            </a:r>
          </a:p>
          <a:p>
            <a:r>
              <a:t>{</a:t>
            </a:r>
          </a:p>
          <a:p>
            <a:r>
              <a:t>  "source_inventory": [</a:t>
            </a:r>
          </a:p>
          <a:p>
            <a:r>
              <a:t>    {</a:t>
            </a:r>
          </a:p>
          <a:p>
            <a:r>
              <a:t>      "title": "한국관광 데이터랩 · 서울특별시 성동구 순 방문자 수 및 숙박 비율 (이동통신 기반 외지인)",</a:t>
            </a:r>
          </a:p>
          <a:p>
            <a:r>
              <a:t>      "summary": "월간 순 방문자 수: 6,687,696명 (관측 기준월: 2026-06)",</a:t>
            </a:r>
          </a:p>
          <a:p>
            <a:r>
              <a:t>      "source_id": "dataset:11200:1",</a:t>
            </a:r>
          </a:p>
          <a:p>
            <a:r>
              <a:t>      "source_url": "https://datalab.visitkorea.or.kr/",</a:t>
            </a:r>
          </a:p>
          <a:p>
            <a:r>
              <a:t>      "source_type": "dataset",</a:t>
            </a:r>
          </a:p>
          <a:p>
            <a:r>
              <a:t>      "observation_period": "2026-06",</a:t>
            </a:r>
          </a:p>
          <a:p>
            <a:r>
              <a:t>      "published_or_updated_at": "2026-06"</a:t>
            </a:r>
          </a:p>
          <a:p>
            <a:r>
              <a:t>    },</a:t>
            </a:r>
          </a:p>
          <a:p>
            <a:r>
              <a:t>    {</a:t>
            </a:r>
          </a:p>
          <a:p>
            <a:r>
              <a:t>      "title": "한국관광 데이터랩 · 서울특별시 성동구 월간 순 방문자 수 (이동통신 기반 외지인)",</a:t>
            </a:r>
          </a:p>
          <a:p>
            <a:r>
              <a:t>      "summary": "전년동월 외지인 방문자 증감률: 10.2% (관측 기준월: 2026-06)",</a:t>
            </a:r>
          </a:p>
          <a:p>
            <a:r>
              <a:t>      "source_id": "dataset:11200:2",</a:t>
            </a:r>
          </a:p>
          <a:p>
            <a:r>
              <a:t>      "source_url": "https://datalab.visitkorea.or.kr/",</a:t>
            </a:r>
          </a:p>
          <a:p>
            <a:r>
              <a:t>      "source_type": "dataset",</a:t>
            </a:r>
          </a:p>
          <a:p>
            <a:r>
              <a:t>      "observation_period": "2026-06",</a:t>
            </a:r>
          </a:p>
          <a:p>
            <a:r>
              <a:t>      "published_or_updated_at": "2026-06"</a:t>
            </a:r>
          </a:p>
          <a:p>
            <a:r>
              <a:t>    },</a:t>
            </a:r>
          </a:p>
          <a:p>
            <a:r>
              <a:t>    {</a:t>
            </a:r>
          </a:p>
          <a:p>
            <a:r>
              <a:t>      "title": "한국관광 데이터랩 · 서울특별시 성동구 관광소비 추이_외지인",</a:t>
            </a:r>
          </a:p>
          <a:p>
            <a:r>
              <a:t>      "summary": "월간 외지인 관광소비 총액: 93,151,315,000원 (관측 기준월: 2026-06)",</a:t>
            </a:r>
          </a:p>
          <a:p>
            <a:r>
              <a:t>      "source_id": "dataset:11200:3",</a:t>
            </a:r>
          </a:p>
          <a:p>
            <a:r>
              <a:t>      "source_url": "https://datalab.visitkorea.or.kr/",</a:t>
            </a:r>
          </a:p>
          <a:p>
            <a:r>
              <a:t>      "source_type": "dataset",</a:t>
            </a:r>
          </a:p>
          <a:p>
            <a:r>
              <a:t>      "observation_period": "2026-06",</a:t>
            </a:r>
          </a:p>
          <a:p>
            <a:r>
              <a:t>      "published_or_updated_at": "2026-06"</a:t>
            </a:r>
          </a:p>
          <a:p>
            <a:r>
              <a:t>    },</a:t>
            </a:r>
          </a:p>
          <a:p>
            <a:r>
              <a:t>    {</a:t>
            </a:r>
          </a:p>
          <a:p>
            <a:r>
              <a:t>      "title": "한국관광 데이터랩 · 서울특별시 성동구 숙박방문자 비율 추이 (이동통신 기반 외지인)",</a:t>
            </a:r>
          </a:p>
          <a:p>
            <a:r>
              <a:t>      "summary": "외지인 숙박 방문 비율: 3.7% (관측 기준월: 2026-06)",</a:t>
            </a:r>
          </a:p>
          <a:p>
            <a:r>
              <a:t>      "source_id": "dataset:11200:4",</a:t>
            </a:r>
          </a:p>
          <a:p>
            <a:r>
              <a:t>      "source_url": "https://datalab.visitkorea.or.kr/",</a:t>
            </a:r>
          </a:p>
          <a:p>
            <a:r>
              <a:t>      "source_type": "dataset",</a:t>
            </a:r>
          </a:p>
          <a:p>
            <a:r>
              <a:t>      "observation_period": "2026-06",</a:t>
            </a:r>
          </a:p>
          <a:p>
            <a:r>
              <a:t>      "published_or_updated_at": "2026-06"</a:t>
            </a:r>
          </a:p>
          <a:p>
            <a:r>
              <a:t>    },</a:t>
            </a:r>
          </a:p>
          <a:p>
            <a:r>
              <a:t>    {</a:t>
            </a:r>
          </a:p>
          <a:p>
            <a:r>
              <a:t>      "title": "한국관광 데이터랩 · 서울특별시 성동구 평균 숙박일 (이동통신 기반 외지인)",</a:t>
            </a:r>
          </a:p>
          <a:p>
            <a:r>
              <a:t>      "summary": "외지인 평균 숙박일수: 3.03일 (관측 기준월: 2026-06)",</a:t>
            </a:r>
          </a:p>
          <a:p>
            <a:r>
              <a:t>      "source_id": "dataset:11200:5",</a:t>
            </a:r>
          </a:p>
          <a:p>
            <a:r>
              <a:t>      "source_url": "https://datalab.visitkorea.or.kr/",</a:t>
            </a:r>
          </a:p>
          <a:p>
            <a:r>
              <a:t>      "source_type": "dataset",</a:t>
            </a:r>
          </a:p>
          <a:p>
            <a:r>
              <a:t>      "observation_period": "2026-06",</a:t>
            </a:r>
          </a:p>
          <a:p>
            <a:r>
              <a:t>      "published_or_updated_at": "2026-06"</a:t>
            </a:r>
          </a:p>
          <a:p>
            <a:r>
              <a:t>    },</a:t>
            </a:r>
          </a:p>
          <a:p>
            <a:r>
              <a:t>    {</a:t>
            </a:r>
          </a:p>
          <a:p>
            <a:r>
              <a:t>      "title": "한국관광 데이터랩 · 서울특별시 성동구 내비게이션 목적지 유형별 검색량",</a:t>
            </a:r>
          </a:p>
          <a:p>
            <a:r>
              <a:t>      "summary": "내비게이션 목적지 검색량: 89,198건 (관측 기준월: 2026-06)",</a:t>
            </a:r>
          </a:p>
          <a:p>
            <a:r>
              <a:t>      "source_id": "dataset:11200:6",</a:t>
            </a:r>
          </a:p>
          <a:p>
            <a:r>
              <a:t>      "source_url": "https://datalab.visitkorea.or.kr/",</a:t>
            </a:r>
          </a:p>
          <a:p>
            <a:r>
              <a:t>      "source_type": "dataset",</a:t>
            </a:r>
          </a:p>
          <a:p>
            <a:r>
              <a:t>      "observation_period": "2026-06",</a:t>
            </a:r>
          </a:p>
          <a:p>
            <a:r>
              <a:t>      "published_or_updated_at": "2026-06"</a:t>
            </a:r>
          </a:p>
          <a:p>
            <a:r>
              <a:t>    },</a:t>
            </a:r>
          </a:p>
          <a:p>
            <a:r>
              <a:t>    {</a:t>
            </a:r>
          </a:p>
          <a:p>
            <a:r>
              <a:t>      "title": "한국관광 데이터랩 · 서울특별시 성동구 SNS 언급량",</a:t>
            </a:r>
          </a:p>
          <a:p>
            <a:r>
              <a:t>      "summary": "SNS 언급량: 71,233건 (관측 기준월: 2026-06)",</a:t>
            </a:r>
          </a:p>
          <a:p>
            <a:r>
              <a:t>      "source_id": "dataset:11200:7",</a:t>
            </a:r>
          </a:p>
          <a:p>
            <a:r>
              <a:t>      "source_url": "https://datalab.visitkorea.or.kr/",</a:t>
            </a:r>
          </a:p>
          <a:p>
            <a:r>
              <a:t>      "source_type": "dataset",</a:t>
            </a:r>
          </a:p>
          <a:p>
            <a:r>
              <a:t>      "observation_period": "2026-06",</a:t>
            </a:r>
          </a:p>
          <a:p>
            <a:r>
              <a:t>      "published_or_updated_at": "2026-06"</a:t>
            </a:r>
          </a:p>
          <a:p>
            <a:r>
              <a:t>    },</a:t>
            </a:r>
          </a:p>
          <a:p>
            <a:r>
              <a:t>    {</a:t>
            </a:r>
          </a:p>
          <a:p>
            <a:r>
              <a:t>      "title": "한국관광 데이터랩 공식 다운로드 · 서울특별시_성동구/숙박_체류시간/2025_01_12.zip",</a:t>
            </a:r>
          </a:p>
          <a:p>
            <a:r>
              <a:t>      "summary": "전국 비교 기준 기간: 2025-07 ~ 2026-06",</a:t>
            </a:r>
          </a:p>
          <a:p>
            <a:r>
              <a:t>      "source_id": "datalab:0ea2e7ff8811:517c835e3039",</a:t>
            </a:r>
          </a:p>
          <a:p>
            <a:r>
              <a:t>      "source_url": "https://datalab.visitkorea.or.kr/",</a:t>
            </a:r>
          </a:p>
          <a:p>
            <a:r>
              <a:t>      "source_type": "nationwide_dataset",</a:t>
            </a:r>
          </a:p>
          <a:p>
            <a:r>
              <a:t>      "observation_period": "2025-07 ~ 2026-06",</a:t>
            </a:r>
          </a:p>
          <a:p>
            <a:r>
              <a:t>      "published_or_updated_at": "2024-07 ~ 2025-06"</a:t>
            </a:r>
          </a:p>
          <a:p>
            <a:r>
              <a:t>    },</a:t>
            </a:r>
          </a:p>
          <a:p>
            <a:r>
              <a:t>    {</a:t>
            </a:r>
          </a:p>
          <a:p>
            <a:r>
              <a:t>      "title": "한국관광 데이터랩 공식 다운로드 · 서울특별시_성동구/관광소비/2025_01_12.zip",</a:t>
            </a:r>
          </a:p>
          <a:p>
            <a:r>
              <a:t>      "summary": "전국 비교 기준 기간: 2025-07 ~ 2026-06",</a:t>
            </a:r>
          </a:p>
          <a:p>
            <a:r>
              <a:t>      "source_id": "datalab:3a79405535b3:68f41f6aa9c6",</a:t>
            </a:r>
          </a:p>
          <a:p>
            <a:r>
              <a:t>      "source_url": "https://datalab.visitkorea.or.kr/",</a:t>
            </a:r>
          </a:p>
          <a:p>
            <a:r>
              <a:t>      "source_type": "nationwide_dataset",</a:t>
            </a:r>
          </a:p>
          <a:p>
            <a:r>
              <a:t>      "observation_period": "2025-07 ~ 2026-06",</a:t>
            </a:r>
          </a:p>
          <a:p>
            <a:r>
              <a:t>      "published_or_updated_at": "2024-07 ~ 2025-06"</a:t>
            </a:r>
          </a:p>
          <a:p>
            <a:r>
              <a:t>    },</a:t>
            </a:r>
          </a:p>
          <a:p>
            <a:r>
              <a:t>    {</a:t>
            </a:r>
          </a:p>
          <a:p>
            <a:r>
              <a:t>      "title": "한국관광 데이터랩 공식 다운로드 · 서울특별시_성동구/숙박_체류시간/2026_01_06.zip",</a:t>
            </a:r>
          </a:p>
          <a:p>
            <a:r>
              <a:t>      "summary": "전국 비교 기준 기간: 2025-07 ~ 2026-06",</a:t>
            </a:r>
          </a:p>
          <a:p>
            <a:r>
              <a:t>      "source_id": "datalab:6217474023e5:2e717447925f",</a:t>
            </a:r>
          </a:p>
          <a:p>
            <a:r>
              <a:t>      "source_url": "https://datalab.visitkorea.or.kr/",</a:t>
            </a:r>
          </a:p>
          <a:p>
            <a:r>
              <a:t>      "source_type": "nationwide_dataset",</a:t>
            </a:r>
          </a:p>
          <a:p>
            <a:r>
              <a:t>      "observation_period": "2025-07 ~ 2026-06",</a:t>
            </a:r>
          </a:p>
          <a:p>
            <a:r>
              <a:t>      "published_or_updated_at": "2024-07 ~ 2025-06"</a:t>
            </a:r>
          </a:p>
          <a:p>
            <a:r>
              <a:t>    },</a:t>
            </a:r>
          </a:p>
          <a:p>
            <a:r>
              <a:t>    {</a:t>
            </a:r>
          </a:p>
          <a:p>
            <a:r>
              <a:t>      "title": "한국관광 데이터랩 공식 다운로드 · 서울특별시_성동구/방문자/2025_01_12.zip",</a:t>
            </a:r>
          </a:p>
          <a:p>
            <a:r>
              <a:t>      "summary": "전국 비교 기준 기간: 2025-07 ~ 2026-06",</a:t>
            </a:r>
          </a:p>
          <a:p>
            <a:r>
              <a:t>      "source_id": "datalab:62312101c8d0:9c44bd532366",</a:t>
            </a:r>
          </a:p>
          <a:p>
            <a:r>
              <a:t>      "source_url": "https://datalab.visitkorea.or.kr/",</a:t>
            </a:r>
          </a:p>
          <a:p>
            <a:r>
              <a:t>      "source_type": "nationwide_dataset",</a:t>
            </a:r>
          </a:p>
          <a:p>
            <a:r>
              <a:t>      "observation_period": "2025-07 ~ 2026-06",</a:t>
            </a:r>
          </a:p>
          <a:p>
            <a:r>
              <a:t>      "published_or_updated_at": "2024-07 ~ 2025-06"</a:t>
            </a:r>
          </a:p>
          <a:p>
            <a:r>
              <a:t>    },</a:t>
            </a:r>
          </a:p>
          <a:p>
            <a:r>
              <a:t>    {</a:t>
            </a:r>
          </a:p>
          <a:p>
            <a:r>
              <a:t>      "title": "한국관광 데이터랩 공식 다운로드 · 서울특별시_성동구/관광소비/2026_01_06.zip",</a:t>
            </a:r>
          </a:p>
          <a:p>
            <a:r>
              <a:t>      "summary": "전국 비교 기준 기간: 2025-07 ~ 2026-06",</a:t>
            </a:r>
          </a:p>
          <a:p>
            <a:r>
              <a:t>      "source_id": "datalab:7ddda0420208:c68bf7b028b0",</a:t>
            </a:r>
          </a:p>
          <a:p>
            <a:r>
              <a:t>      "source_url": "https://datalab.visitkorea.or.kr/",</a:t>
            </a:r>
          </a:p>
          <a:p>
            <a:r>
              <a:t>      "source_type": "nationwide_dataset",</a:t>
            </a:r>
          </a:p>
          <a:p>
            <a:r>
              <a:t>      "observation_period": "2025-07 ~ 2026-06",</a:t>
            </a:r>
          </a:p>
          <a:p>
            <a:r>
              <a:t>      "published_or_updated_at": "2024-07 ~ 2025-06"</a:t>
            </a:r>
          </a:p>
          <a:p>
            <a:r>
              <a:t>    },</a:t>
            </a:r>
          </a:p>
          <a:p>
            <a:r>
              <a:t>    {</a:t>
            </a:r>
          </a:p>
          <a:p>
            <a:r>
              <a:t>      "title": "한국관광 데이터랩 공식 다운로드 · 서울특별시_성동구/방문자/2026_01_06.zip",</a:t>
            </a:r>
          </a:p>
          <a:p>
            <a:r>
              <a:t>      "summary": "전국 비교 기준 기간: 2025-07 ~ 2026-06",</a:t>
            </a:r>
          </a:p>
          <a:p>
            <a:r>
              <a:t>      "source_id": "datalab:9369271c7419:76a9b6ea89d8",</a:t>
            </a:r>
          </a:p>
          <a:p>
            <a:r>
              <a:t>      "source_url": "https://datalab.visitkorea.or.kr/",</a:t>
            </a:r>
          </a:p>
          <a:p>
            <a:r>
              <a:t>      "source_type": "nationwide_dataset",</a:t>
            </a:r>
          </a:p>
          <a:p>
            <a:r>
              <a:t>      "observation_period": "2025-07 ~ 2026-06",</a:t>
            </a:r>
          </a:p>
          <a:p>
            <a:r>
              <a:t>      "published_or_updated_at": "2024-07 ~ 2025-06"</a:t>
            </a:r>
          </a:p>
          <a:p>
            <a:r>
              <a:t>    },</a:t>
            </a:r>
          </a:p>
          <a:p>
            <a:r>
              <a:t>    {</a:t>
            </a:r>
          </a:p>
          <a:p>
            <a:r>
              <a:t>      "title": "한국관광 데이터랩 전국 빅데이터 다운로드 · 이동통신/내국인/지역별 방문자수/20260820140607__202601-202606_데이터랩_다운로드.zip",</a:t>
            </a:r>
          </a:p>
          <a:p>
            <a:r>
              <a:t>      "summary": "시군구 기간합계·비중 또는 전국 월별 추이. 지역 월별 ML·정책 효과가 아닌 보조 근거.",</a:t>
            </a:r>
          </a:p>
          <a:p>
            <a:r>
              <a:t>      "source_id": "team-bigdata:23ea68053684:6bfbcf8aabf6",</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이동통신/외국인/20260820141710_전국_202601-202606_데이터랩_다운로드.zip",</a:t>
            </a:r>
          </a:p>
          <a:p>
            <a:r>
              <a:t>      "summary": "시군구 기간합계·비중 또는 전국 월별 추이. 지역 월별 ML·정책 효과가 아닌 보조 근거.",</a:t>
            </a:r>
          </a:p>
          <a:p>
            <a:r>
              <a:t>      "source_id": "team-bigdata:98d4ae590d9a:3be52dd54323",</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신용카드/내국인/지역별 관광지출액/20260820140046__202601-202606_데이터랩_다운로드.zip",</a:t>
            </a:r>
          </a:p>
          <a:p>
            <a:r>
              <a:t>      "summary": "시군구 기간합계·비중 또는 전국 월별 추이. 지역 월별 ML·정책 효과가 아닌 보조 근거.",</a:t>
            </a:r>
          </a:p>
          <a:p>
            <a:r>
              <a:t>      "source_id": "team-bigdata:367cd0294ec4:873930d645e5",</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신용카드/외국인/지역별 관광지출액/20260820140355__202601-202606_데이터랩_다운로드.zip",</a:t>
            </a:r>
          </a:p>
          <a:p>
            <a:r>
              <a:t>      "summary": "시군구 기간합계·비중 또는 전국 월별 추이. 지역 월별 ML·정책 효과가 아닌 보조 근거.",</a:t>
            </a:r>
          </a:p>
          <a:p>
            <a:r>
              <a:t>      "source_id": "team-bigdata:553a0dad4bb4:5a31355dffe8",</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네비게이션/지역별 검색건수/20260820195507__202601-202606_데이터랩_다운로드.zip",</a:t>
            </a:r>
          </a:p>
          <a:p>
            <a:r>
              <a:t>      "summary": "시군구 기간합계·비중 또는 전국 월별 추이. 지역 월별 ML·정책 효과가 아닌 보조 근거.",</a:t>
            </a:r>
          </a:p>
          <a:p>
            <a:r>
              <a:t>      "source_id": "team-bigdata:a53dbe1c21df:77a052de41d5",</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이동통신/내국인/지역별 방문자수/20260820140614__202501-202512_데이터랩_다운로드.zip",</a:t>
            </a:r>
          </a:p>
          <a:p>
            <a:r>
              <a:t>      "summary": "시군구 기간합계·비중 또는 전국 월별 추이. 지역 월별 ML·정책 효과가 아닌 보조 근거.",</a:t>
            </a:r>
          </a:p>
          <a:p>
            <a:r>
              <a:t>      "source_id": "team-bigdata:823a38d1d61c:5385261d02e5",</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이동통신/외국인/20260820141649_전국_202501-202512_데이터랩_다운로드.zip",</a:t>
            </a:r>
          </a:p>
          <a:p>
            <a:r>
              <a:t>      "summary": "시군구 기간합계·비중 또는 전국 월별 추이. 지역 월별 ML·정책 효과가 아닌 보조 근거.",</a:t>
            </a:r>
          </a:p>
          <a:p>
            <a:r>
              <a:t>      "source_id": "team-bigdata:2723bdb0d589:1666a34058ed",</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신용카드/내국인/지역별 관광지출액/20260820135957__202501-202512_데이터랩_다운로드.zip",</a:t>
            </a:r>
          </a:p>
          <a:p>
            <a:r>
              <a:t>      "summary": "시군구 기간합계·비중 또는 전국 월별 추이. 지역 월별 ML·정책 효과가 아닌 보조 근거.",</a:t>
            </a:r>
          </a:p>
          <a:p>
            <a:r>
              <a:t>      "source_id": "team-bigdata:83177a234971:c02cb7972e0f",</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신용카드/외국인/지역별 관광지출액/20260820140409__202501-202512_데이터랩_다운로드.zip",</a:t>
            </a:r>
          </a:p>
          <a:p>
            <a:r>
              <a:t>      "summary": "시군구 기간합계·비중 또는 전국 월별 추이. 지역 월별 ML·정책 효과가 아닌 보조 근거.",</a:t>
            </a:r>
          </a:p>
          <a:p>
            <a:r>
              <a:t>      "source_id": "team-bigdata:58ded7732251:589c76395cbc",</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네비게이션/지역별 검색건수/20260820132007__202501-202512_데이터랩_다운로드.zip",</a:t>
            </a:r>
          </a:p>
          <a:p>
            <a:r>
              <a:t>      "summary": "시군구 기간합계·비중 또는 전국 월별 추이. 지역 월별 ML·정책 효과가 아닌 보조 근거.",</a:t>
            </a:r>
          </a:p>
          <a:p>
            <a:r>
              <a:t>      "source_id": "team-bigdata:e28c947cb52f:bb4cb344a6ba",</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이동통신/내국인/지역별 방문자수/20260820140624__202401-202412_데이터랩_다운로드.zip",</a:t>
            </a:r>
          </a:p>
          <a:p>
            <a:r>
              <a:t>      "summary": "시군구 기간합계·비중 또는 전국 월별 추이. 지역 월별 ML·정책 효과가 아닌 보조 근거.",</a:t>
            </a:r>
          </a:p>
          <a:p>
            <a:r>
              <a:t>      "source_id": "team-bigdata:8815bbb11a39:1a5988f5f8ec",</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이동통신/외국인/20260820141639_전국_202401-202412_데이터랩_다운로드.zip",</a:t>
            </a:r>
          </a:p>
          <a:p>
            <a:r>
              <a:t>      "summary": "시군구 기간합계·비중 또는 전국 월별 추이. 지역 월별 ML·정책 효과가 아닌 보조 근거.",</a:t>
            </a:r>
          </a:p>
          <a:p>
            <a:r>
              <a:t>      "source_id": "team-bigdata:19fd67fbb73d:afa4f0f54a2f",</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지역별 관광 현황 · 서울특별시 성동구 · 인기관광지",</a:t>
            </a:r>
          </a:p>
          <a:p>
            <a:r>
              <a:t>      "summary": "관측 기간: 2025-07 ~ 2026-06. 유입·유출·인기장소 또는 30일 집중 운영 신호.",</a:t>
            </a:r>
          </a:p>
          <a:p>
            <a:r>
              <a:t>      "source_id": "regional-status:300d117a9148:9b5e59efa799",</a:t>
            </a:r>
          </a:p>
          <a:p>
            <a:r>
              <a:t>      "source_url": "https://datalab.visitkorea.or.kr/",</a:t>
            </a:r>
          </a:p>
          <a:p>
            <a:r>
              <a:t>      "source_type": "regional_tourism_status",</a:t>
            </a:r>
          </a:p>
          <a:p>
            <a:r>
              <a:t>      "observation_period": "2025-07 ~ 2026-06",</a:t>
            </a:r>
          </a:p>
          <a:p>
            <a:r>
              <a:t>      "published_or_updated_at": ""</a:t>
            </a:r>
          </a:p>
          <a:p>
            <a:r>
              <a:t>    },</a:t>
            </a:r>
          </a:p>
          <a:p>
            <a:r>
              <a:t>    {</a:t>
            </a:r>
          </a:p>
          <a:p>
            <a:r>
              <a:t>      "title": "한국관광 데이터랩 지역별 관광 현황 · 서울특별시 성동구 · 유입유출",</a:t>
            </a:r>
          </a:p>
          <a:p>
            <a:r>
              <a:t>      "summary": "관측 기간: 2025-07 ~ 2026-06. 유입·유출·인기장소 또는 30일 집중 운영 신호.",</a:t>
            </a:r>
          </a:p>
          <a:p>
            <a:r>
              <a:t>      "source_id": "regional-status:e1f4d12a3396:706443b7ba17",</a:t>
            </a:r>
          </a:p>
          <a:p>
            <a:r>
              <a:t>      "source_url": "https://datalab.visitkorea.or.kr/",</a:t>
            </a:r>
          </a:p>
          <a:p>
            <a:r>
              <a:t>      "source_type": "regional_tourism_status",</a:t>
            </a:r>
          </a:p>
          <a:p>
            <a:r>
              <a:t>      "observation_period": "2025-07 ~ 2026-06",</a:t>
            </a:r>
          </a:p>
          <a:p>
            <a:r>
              <a:t>      "published_or_updated_at": ""</a:t>
            </a:r>
          </a:p>
          <a:p>
            <a:r>
              <a:t>    },</a:t>
            </a:r>
          </a:p>
          <a:p>
            <a:r>
              <a:t>    {</a:t>
            </a:r>
          </a:p>
          <a:p>
            <a:r>
              <a:t>      "title": "한국관광 데이터랩 지역별 관광 현황 · 서울특별시 성동구 · 지역집중률",</a:t>
            </a:r>
          </a:p>
          <a:p>
            <a:r>
              <a:t>      "summary": "관측 기간: 2025-07 ~ 2026-06. 유입·유출·인기장소 또는 30일 집중 운영 신호.",</a:t>
            </a:r>
          </a:p>
          <a:p>
            <a:r>
              <a:t>      "source_id": "regional-status:f05693fd34a7:ae929e215d91",</a:t>
            </a:r>
          </a:p>
          <a:p>
            <a:r>
              <a:t>      "source_url": "https://datalab.visitkorea.or.kr/",</a:t>
            </a:r>
          </a:p>
          <a:p>
            <a:r>
              <a:t>      "source_type": "regional_tourism_status",</a:t>
            </a:r>
          </a:p>
          <a:p>
            <a:r>
              <a:t>      "observation_period": "2025-07 ~ 2026-06",</a:t>
            </a:r>
          </a:p>
          <a:p>
            <a:r>
              <a:t>      "published_or_updated_at": ""</a:t>
            </a:r>
          </a:p>
          <a:p>
            <a:r>
              <a:t>    },</a:t>
            </a:r>
          </a:p>
          <a:p>
            <a:r>
              <a:t>    {</a:t>
            </a:r>
          </a:p>
          <a:p>
            <a:r>
              <a:t>      "title": "지역 관광수요 ML 전망 · 공식 관측값 아님",</a:t>
            </a:r>
          </a:p>
          <a:p>
            <a:r>
              <a:t>      "summary": "학습 202401~202606 · 모델 regional-demand-v3.1 · 자연 추세 예측",</a:t>
            </a:r>
          </a:p>
          <a:p>
            <a:r>
              <a:t>      "source_id": "ml:11200:regional-demand-v3.1:202606",</a:t>
            </a:r>
          </a:p>
          <a:p>
            <a:r>
              <a:t>      "source_url": "",</a:t>
            </a:r>
          </a:p>
          <a:p>
            <a:r>
              <a:t>      "source_type": "model_forecast",</a:t>
            </a:r>
          </a:p>
          <a:p>
            <a:r>
              <a:t>      "model_version": "regional-demand-v3.1",</a:t>
            </a:r>
          </a:p>
          <a:p>
            <a:r>
              <a:t>      "data_fingerprint": "c47c92e05a4d54565864c2c7d1091d0c4f29ba1e6f45559f77d766e9c92e6d24"</a:t>
            </a:r>
          </a:p>
          <a:p>
            <a:r>
              <a:t>    },</a:t>
            </a:r>
          </a:p>
          <a:p>
            <a:r>
              <a:t>    {</a:t>
            </a:r>
          </a:p>
          <a:p>
            <a:r>
              <a:t>      "title": "가조쿠",</a:t>
            </a:r>
          </a:p>
          <a:p>
            <a:r>
              <a:t>      "address": "서울특별시 성동구 연무장길 31-2 (성수동2가)",</a:t>
            </a:r>
          </a:p>
          <a:p>
            <a:r>
              <a:t>      "summary": "한국관광공사 국문관광정보 API가 반환한 선택 지역 관광자원",</a:t>
            </a:r>
          </a:p>
          <a:p>
            <a:r>
              <a:t>      "image_url": "http://tong.visitkorea.or.kr/cms/resource/12/2901212_image2_1.jpg",</a:t>
            </a:r>
          </a:p>
          <a:p>
            <a:r>
              <a:t>      "source_id": "tour-api:2901229",</a:t>
            </a:r>
          </a:p>
          <a:p>
            <a:r>
              <a:t>      "content_id": "2901229",</a:t>
            </a:r>
          </a:p>
          <a:p>
            <a:r>
              <a:t>      "source_url": "https://apis.data.go.kr/B551011/KorService2",</a:t>
            </a:r>
          </a:p>
          <a:p>
            <a:r>
              <a:t>      "source_type": "open_api",</a:t>
            </a:r>
          </a:p>
          <a:p>
            <a:r>
              <a:t>      "content_type_id": "39"</a:t>
            </a:r>
          </a:p>
          <a:p>
            <a:r>
              <a:t>    },</a:t>
            </a:r>
          </a:p>
          <a:p>
            <a:r>
              <a:t>    {</a:t>
            </a:r>
          </a:p>
          <a:p>
            <a:r>
              <a:t>      "title": "계월",</a:t>
            </a:r>
          </a:p>
          <a:p>
            <a:r>
              <a:t>      "address": "서울특별시 성동구 성덕정3길 8 (성수동1가)",</a:t>
            </a:r>
          </a:p>
          <a:p>
            <a:r>
              <a:t>      "summary": "한국관광공사 국문관광정보 API가 반환한 선택 지역 관광자원",</a:t>
            </a:r>
          </a:p>
          <a:p>
            <a:r>
              <a:t>      "image_url": "http://tong.visitkorea.or.kr/cms/resource/44/2895144_image2_1.JPG",</a:t>
            </a:r>
          </a:p>
          <a:p>
            <a:r>
              <a:t>      "source_id": "tour-api:2895161",</a:t>
            </a:r>
          </a:p>
          <a:p>
            <a:r>
              <a:t>      "content_id": "2895161",</a:t>
            </a:r>
          </a:p>
          <a:p>
            <a:r>
              <a:t>      "source_url": "https://apis.data.go.kr/B551011/KorService2",</a:t>
            </a:r>
          </a:p>
          <a:p>
            <a:r>
              <a:t>      "source_type": "open_api",</a:t>
            </a:r>
          </a:p>
          <a:p>
            <a:r>
              <a:t>      "content_type_id": "39"</a:t>
            </a:r>
          </a:p>
          <a:p>
            <a:r>
              <a:t>    },</a:t>
            </a:r>
          </a:p>
          <a:p>
            <a:r>
              <a:t>    {</a:t>
            </a:r>
          </a:p>
          <a:p>
            <a:r>
              <a:t>      "title": "계자람",</a:t>
            </a:r>
          </a:p>
          <a:p>
            <a:r>
              <a:t>      "address": "서울특별시 성동구 성덕정17길 5 (성수동2가)",</a:t>
            </a:r>
          </a:p>
          <a:p>
            <a:r>
              <a:t>      "summary": "한국관광공사 국문관광정보 API가 반환한 선택 지역 관광자원",</a:t>
            </a:r>
          </a:p>
          <a:p>
            <a:r>
              <a:t>      "image_url": "http://tong.visitkorea.or.kr/cms/resource/51/2901351_image2_1.jpg",</a:t>
            </a:r>
          </a:p>
          <a:p>
            <a:r>
              <a:t>      "source_id": "tour-api:2901359",</a:t>
            </a:r>
          </a:p>
          <a:p>
            <a:r>
              <a:t>      "content_id": "2901359",</a:t>
            </a:r>
          </a:p>
          <a:p>
            <a:r>
              <a:t>      "source_url": "https://apis.data.go.kr/B551011/KorService2",</a:t>
            </a:r>
          </a:p>
          <a:p>
            <a:r>
              <a:t>      "source_type": "open_api",</a:t>
            </a:r>
          </a:p>
          <a:p>
            <a:r>
              <a:t>      "content_type_id": "39"</a:t>
            </a:r>
          </a:p>
          <a:p>
            <a:r>
              <a:t>    },</a:t>
            </a:r>
          </a:p>
          <a:p>
            <a:r>
              <a:t>    {</a:t>
            </a:r>
          </a:p>
          <a:p>
            <a:r>
              <a:t>      "title": "구욱희씨",</a:t>
            </a:r>
          </a:p>
          <a:p>
            <a:r>
              <a:t>      "address": "서울특별시 성동구 서울숲4길 12-22",</a:t>
            </a:r>
          </a:p>
          <a:p>
            <a:r>
              <a:t>      "summary": "한국관광공사 국문관광정보 API가 반환한 선택 지역 관광자원",</a:t>
            </a:r>
          </a:p>
          <a:p>
            <a:r>
              <a:t>      "image_url": "http://tong.visitkorea.or.kr/cms/resource/08/2895208_image2_1.jpg",</a:t>
            </a:r>
          </a:p>
          <a:p>
            <a:r>
              <a:t>      "source_id": "tour-api:2895211",</a:t>
            </a:r>
          </a:p>
          <a:p>
            <a:r>
              <a:t>      "content_id": "2895211",</a:t>
            </a:r>
          </a:p>
          <a:p>
            <a:r>
              <a:t>      "source_url": "https://apis.data.go.kr/B551011/KorService2",</a:t>
            </a:r>
          </a:p>
          <a:p>
            <a:r>
              <a:t>      "source_type": "open_api",</a:t>
            </a:r>
          </a:p>
          <a:p>
            <a:r>
              <a:t>      "content_type_id": "39"</a:t>
            </a:r>
          </a:p>
          <a:p>
            <a:r>
              <a:t>    },</a:t>
            </a:r>
          </a:p>
          <a:p>
            <a:r>
              <a:t>    {</a:t>
            </a:r>
          </a:p>
          <a:p>
            <a:r>
              <a:t>      "title": "구펠",</a:t>
            </a:r>
          </a:p>
          <a:p>
            <a:r>
              <a:t>      "address": "서울특별시 성동구 왕십리로14길 30-1 (성수동1가)",</a:t>
            </a:r>
          </a:p>
          <a:p>
            <a:r>
              <a:t>      "summary": "한국관광공사 국문관광정보 API가 반환한 선택 지역 관광자원",</a:t>
            </a:r>
          </a:p>
          <a:p>
            <a:r>
              <a:t>      "image_url": "http://tong.visitkorea.or.kr/cms/resource/26/2895226_image2_1.jpg",</a:t>
            </a:r>
          </a:p>
          <a:p>
            <a:r>
              <a:t>      "source_id": "tour-api:2895236",</a:t>
            </a:r>
          </a:p>
          <a:p>
            <a:r>
              <a:t>      "content_id": "2895236",</a:t>
            </a:r>
          </a:p>
          <a:p>
            <a:r>
              <a:t>      "source_url": "https://apis.data.go.kr/B551011/KorService2",</a:t>
            </a:r>
          </a:p>
          <a:p>
            <a:r>
              <a:t>      "source_type": "open_api",</a:t>
            </a:r>
          </a:p>
          <a:p>
            <a:r>
              <a:t>      "content_type_id": "39"</a:t>
            </a:r>
          </a:p>
          <a:p>
            <a:r>
              <a:t>    },</a:t>
            </a:r>
          </a:p>
          <a:p>
            <a:r>
              <a:t>    {</a:t>
            </a:r>
          </a:p>
          <a:p>
            <a:r>
              <a:t>      "title": "그라데이션커피",</a:t>
            </a:r>
          </a:p>
          <a:p>
            <a:r>
              <a:t>      "address": "서울특별시 성동구 상원12길 24-1 (성수동1가)",</a:t>
            </a:r>
          </a:p>
          <a:p>
            <a:r>
              <a:t>      "summary": "한국관광공사 국문관광정보 API가 반환한 선택 지역 관광자원",</a:t>
            </a:r>
          </a:p>
          <a:p>
            <a:r>
              <a:t>      "image_url": "http://tong.visitkorea.or.kr/cms/resource/82/2898982_image2_1.jpg",</a:t>
            </a:r>
          </a:p>
          <a:p>
            <a:r>
              <a:t>      "source_id": "tour-api:2898994",</a:t>
            </a:r>
          </a:p>
          <a:p>
            <a:r>
              <a:t>      "content_id": "2898994",</a:t>
            </a:r>
          </a:p>
          <a:p>
            <a:r>
              <a:t>      "source_url": "https://apis.data.go.kr/B551011/KorService2",</a:t>
            </a:r>
          </a:p>
          <a:p>
            <a:r>
              <a:t>      "source_type": "open_api",</a:t>
            </a:r>
          </a:p>
          <a:p>
            <a:r>
              <a:t>      "content_type_id": "39"</a:t>
            </a:r>
          </a:p>
          <a:p>
            <a:r>
              <a:t>    },</a:t>
            </a:r>
          </a:p>
          <a:p>
            <a:r>
              <a:t>    {</a:t>
            </a:r>
          </a:p>
          <a:p>
            <a:r>
              <a:t>      "title": "그린랩",</a:t>
            </a:r>
          </a:p>
          <a:p>
            <a:r>
              <a:t>      "address": "서울특별시 성동구 서울숲2길 18-11",</a:t>
            </a:r>
          </a:p>
          <a:p>
            <a:r>
              <a:t>      "summary": "한국관광공사 국문관광정보 API가 반환한 선택 지역 관광자원",</a:t>
            </a:r>
          </a:p>
          <a:p>
            <a:r>
              <a:t>      "image_url": "http://tong.visitkorea.or.kr/cms/resource/64/2894864_image2_1.JPG",</a:t>
            </a:r>
          </a:p>
          <a:p>
            <a:r>
              <a:t>      "source_id": "tour-api:2894873",</a:t>
            </a:r>
          </a:p>
          <a:p>
            <a:r>
              <a:t>      "content_id": "2894873",</a:t>
            </a:r>
          </a:p>
          <a:p>
            <a:r>
              <a:t>      "source_url": "https://apis.data.go.kr/B551011/KorService2",</a:t>
            </a:r>
          </a:p>
          <a:p>
            <a:r>
              <a:t>      "source_type": "open_api",</a:t>
            </a:r>
          </a:p>
          <a:p>
            <a:r>
              <a:t>      "content_type_id": "39"</a:t>
            </a:r>
          </a:p>
          <a:p>
            <a:r>
              <a:t>    },</a:t>
            </a:r>
          </a:p>
          <a:p>
            <a:r>
              <a:t>    {</a:t>
            </a:r>
          </a:p>
          <a:p>
            <a:r>
              <a:t>      "title": "금남시장",</a:t>
            </a:r>
          </a:p>
          <a:p>
            <a:r>
              <a:t>      "address": "서울특별시 성동구 독서당로 303-7 (금호동3가)",</a:t>
            </a:r>
          </a:p>
          <a:p>
            <a:r>
              <a:t>      "summary": "한국관광공사 국문관광정보 API가 반환한 선택 지역 관광자원",</a:t>
            </a:r>
          </a:p>
          <a:p>
            <a:r>
              <a:t>      "image_url": "http://tong.visitkorea.or.kr/cms/resource/59/3414159_image2_1.jpg",</a:t>
            </a:r>
          </a:p>
          <a:p>
            <a:r>
              <a:t>      "source_id": "tour-api:2743748",</a:t>
            </a:r>
          </a:p>
          <a:p>
            <a:r>
              <a:t>      "content_id": "2743748",</a:t>
            </a:r>
          </a:p>
          <a:p>
            <a:r>
              <a:t>      "source_url": "https://apis.data.go.kr/B551011/KorService2",</a:t>
            </a:r>
          </a:p>
          <a:p>
            <a:r>
              <a:t>      "source_type": "open_api",</a:t>
            </a:r>
          </a:p>
          <a:p>
            <a:r>
              <a:t>      "content_type_id": "38"</a:t>
            </a:r>
          </a:p>
          <a:p>
            <a:r>
              <a:t>    },</a:t>
            </a:r>
          </a:p>
          <a:p>
            <a:r>
              <a:t>    {</a:t>
            </a:r>
          </a:p>
          <a:p>
            <a:r>
              <a:t>      "title": "기후",</a:t>
            </a:r>
          </a:p>
          <a:p>
            <a:r>
              <a:t>      "address": "서울특별시 성동구 성수이로 66 서울숲 드림타워",</a:t>
            </a:r>
          </a:p>
          <a:p>
            <a:r>
              <a:t>      "summary": "한국관광공사 국문관광정보 API가 반환한 선택 지역 관광자원",</a:t>
            </a:r>
          </a:p>
          <a:p>
            <a:r>
              <a:t>      "image_url": "http://tong.visitkorea.or.kr/cms/resource/59/2901559_image2_1.jpg",</a:t>
            </a:r>
          </a:p>
          <a:p>
            <a:r>
              <a:t>      "source_id": "tour-api:2901568",</a:t>
            </a:r>
          </a:p>
          <a:p>
            <a:r>
              <a:t>      "content_id": "2901568",</a:t>
            </a:r>
          </a:p>
          <a:p>
            <a:r>
              <a:t>      "source_url": "https://apis.data.go.kr/B551011/KorService2",</a:t>
            </a:r>
          </a:p>
          <a:p>
            <a:r>
              <a:t>      "source_type": "open_api",</a:t>
            </a:r>
          </a:p>
          <a:p>
            <a:r>
              <a:t>      "content_type_id": "39"</a:t>
            </a:r>
          </a:p>
          <a:p>
            <a:r>
              <a:t>    },</a:t>
            </a:r>
          </a:p>
          <a:p>
            <a:r>
              <a:t>    {</a:t>
            </a:r>
          </a:p>
          <a:p>
            <a:r>
              <a:t>      "title": "꾸아 성수점",</a:t>
            </a:r>
          </a:p>
          <a:p>
            <a:r>
              <a:t>      "address": "서울특별시 성동구 왕십리로 94-2 (성수동1가)",</a:t>
            </a:r>
          </a:p>
          <a:p>
            <a:r>
              <a:t>      "summary": "한국관광공사 국문관광정보 API가 반환한 선택 지역 관광자원",</a:t>
            </a:r>
          </a:p>
          <a:p>
            <a:r>
              <a:t>      "image_url": "http://tong.visitkorea.or.kr/cms/resource/17/2894817_image2_1.jpg",</a:t>
            </a:r>
          </a:p>
          <a:p>
            <a:r>
              <a:t>      "source_id": "tour-api:2894842",</a:t>
            </a:r>
          </a:p>
          <a:p>
            <a:r>
              <a:t>      "content_id": "2894842",</a:t>
            </a:r>
          </a:p>
          <a:p>
            <a:r>
              <a:t>      "source_url": "https://apis.data.go.kr/B551011/KorService2",</a:t>
            </a:r>
          </a:p>
          <a:p>
            <a:r>
              <a:t>      "source_type": "open_api",</a:t>
            </a:r>
          </a:p>
          <a:p>
            <a:r>
              <a:t>      "content_type_id": "39"</a:t>
            </a:r>
          </a:p>
          <a:p>
            <a:r>
              <a:t>    },</a:t>
            </a:r>
          </a:p>
          <a:p>
            <a:r>
              <a:t>    {</a:t>
            </a:r>
          </a:p>
          <a:p>
            <a:r>
              <a:t>      "title": "난포",</a:t>
            </a:r>
          </a:p>
          <a:p>
            <a:r>
              <a:t>      "address": "서울특별시 성동구 서울숲4길 18-8 (성수동1가)",</a:t>
            </a:r>
          </a:p>
          <a:p>
            <a:r>
              <a:t>      "summary": "한국관광공사 국문관광정보 API가 반환한 선택 지역 관광자원",</a:t>
            </a:r>
          </a:p>
          <a:p>
            <a:r>
              <a:t>      "image_url": "http://tong.visitkorea.or.kr/cms/resource/15/2843515_image2_1.jpg",</a:t>
            </a:r>
          </a:p>
          <a:p>
            <a:r>
              <a:t>      "source_id": "tour-api:2843520",</a:t>
            </a:r>
          </a:p>
          <a:p>
            <a:r>
              <a:t>      "content_id": "2843520",</a:t>
            </a:r>
          </a:p>
          <a:p>
            <a:r>
              <a:t>      "source_url": "https://apis.data.go.kr/B551011/KorService2",</a:t>
            </a:r>
          </a:p>
          <a:p>
            <a:r>
              <a:t>      "source_type": "open_api",</a:t>
            </a:r>
          </a:p>
          <a:p>
            <a:r>
              <a:t>      "content_type_id": "39"</a:t>
            </a:r>
          </a:p>
          <a:p>
            <a:r>
              <a:t>    },</a:t>
            </a:r>
          </a:p>
          <a:p>
            <a:r>
              <a:t>    {</a:t>
            </a:r>
          </a:p>
          <a:p>
            <a:r>
              <a:t>      "title": "누메로도스",</a:t>
            </a:r>
          </a:p>
          <a:p>
            <a:r>
              <a:t>      "address": "서울특별시 성동구 상원1길 35-9 (성수동1가)",</a:t>
            </a:r>
          </a:p>
          <a:p>
            <a:r>
              <a:t>      "summary": "한국관광공사 국문관광정보 API가 반환한 선택 지역 관광자원",</a:t>
            </a:r>
          </a:p>
          <a:p>
            <a:r>
              <a:t>      "image_url": "http://tong.visitkorea.or.kr/cms/resource/99/2894799_image2_1.jpg",</a:t>
            </a:r>
          </a:p>
          <a:p>
            <a:r>
              <a:t>      "source_id": "tour-api:2894810",</a:t>
            </a:r>
          </a:p>
          <a:p>
            <a:r>
              <a:t>      "content_id": "2894810",</a:t>
            </a:r>
          </a:p>
          <a:p>
            <a:r>
              <a:t>      "source_url": "https://apis.data.go.kr/B551011/KorService2",</a:t>
            </a:r>
          </a:p>
          <a:p>
            <a:r>
              <a:t>      "source_type": "open_api",</a:t>
            </a:r>
          </a:p>
          <a:p>
            <a:r>
              <a:t>      "content_type_id": "39"</a:t>
            </a:r>
          </a:p>
          <a:p>
            <a:r>
              <a:t>    },</a:t>
            </a:r>
          </a:p>
          <a:p>
            <a:r>
              <a:t>    {</a:t>
            </a:r>
          </a:p>
          <a:p>
            <a:r>
              <a:t>      "title": "누메로뜨레쓰",</a:t>
            </a:r>
          </a:p>
          <a:p>
            <a:r>
              <a:t>      "address": "서울특별시 성동구 성수일로 21 (성수동1가)",</a:t>
            </a:r>
          </a:p>
          <a:p>
            <a:r>
              <a:t>      "summary": "한국관광공사 국문관광정보 API가 반환한 선택 지역 관광자원",</a:t>
            </a:r>
          </a:p>
          <a:p>
            <a:r>
              <a:t>      "image_url": "http://tong.visitkorea.or.kr/cms/resource/76/2894776_image2_1.jpg",</a:t>
            </a:r>
          </a:p>
          <a:p>
            <a:r>
              <a:t>      "source_id": "tour-api:2894795",</a:t>
            </a:r>
          </a:p>
          <a:p>
            <a:r>
              <a:t>      "content_id": "2894795",</a:t>
            </a:r>
          </a:p>
          <a:p>
            <a:r>
              <a:t>      "source_url": "https://apis.data.go.kr/B551011/KorService2",</a:t>
            </a:r>
          </a:p>
          <a:p>
            <a:r>
              <a:t>      "source_type": "open_api",</a:t>
            </a:r>
          </a:p>
          <a:p>
            <a:r>
              <a:t>      "content_type_id": "39"</a:t>
            </a:r>
          </a:p>
          <a:p>
            <a:r>
              <a:t>    },</a:t>
            </a:r>
          </a:p>
          <a:p>
            <a:r>
              <a:t>    {</a:t>
            </a:r>
          </a:p>
          <a:p>
            <a:r>
              <a:t>      "title": "니드스윗",</a:t>
            </a:r>
          </a:p>
          <a:p>
            <a:r>
              <a:t>      "address": "서울특별시 성동구 아차산로1길 9",</a:t>
            </a:r>
          </a:p>
          <a:p>
            <a:r>
              <a:t>      "summary": "한국관광공사 국문관광정보 API가 반환한 선택 지역 관광자원",</a:t>
            </a:r>
          </a:p>
          <a:p>
            <a:r>
              <a:t>      "image_url": "http://tong.visitkorea.or.kr/cms/resource/55/2894755_image2_1.jpg",</a:t>
            </a:r>
          </a:p>
          <a:p>
            <a:r>
              <a:t>      "source_id": "tour-api:2894763",</a:t>
            </a:r>
          </a:p>
          <a:p>
            <a:r>
              <a:t>      "content_id": "2894763",</a:t>
            </a:r>
          </a:p>
          <a:p>
            <a:r>
              <a:t>      "source_url": "https://apis.data.go.kr/B551011/KorService2",</a:t>
            </a:r>
          </a:p>
          <a:p>
            <a:r>
              <a:t>      "source_type": "open_api",</a:t>
            </a:r>
          </a:p>
          <a:p>
            <a:r>
              <a:t>      "content_type_id": "39"</a:t>
            </a:r>
          </a:p>
          <a:p>
            <a:r>
              <a:t>    },</a:t>
            </a:r>
          </a:p>
          <a:p>
            <a:r>
              <a:t>    {</a:t>
            </a:r>
          </a:p>
          <a:p>
            <a:r>
              <a:t>      "title": "단일서울",</a:t>
            </a:r>
          </a:p>
          <a:p>
            <a:r>
              <a:t>      "address": "서울특별시 성동구 왕십리로 66-33 (성수동1가)",</a:t>
            </a:r>
          </a:p>
          <a:p>
            <a:r>
              <a:t>      "summary": "한국관광공사 국문관광정보 API가 반환한 선택 지역 관광자원",</a:t>
            </a:r>
          </a:p>
          <a:p>
            <a:r>
              <a:t>      "image_url": "http://tong.visitkorea.or.kr/cms/resource/34/2894734_image2_1.jpg",</a:t>
            </a:r>
          </a:p>
          <a:p>
            <a:r>
              <a:t>      "source_id": "tour-api:2894747",</a:t>
            </a:r>
          </a:p>
          <a:p>
            <a:r>
              <a:t>      "content_id": "2894747",</a:t>
            </a:r>
          </a:p>
          <a:p>
            <a:r>
              <a:t>      "source_url": "https://apis.data.go.kr/B551011/KorService2",</a:t>
            </a:r>
          </a:p>
          <a:p>
            <a:r>
              <a:t>      "source_type": "open_api",</a:t>
            </a:r>
          </a:p>
          <a:p>
            <a:r>
              <a:t>      "content_type_id": "39"</a:t>
            </a:r>
          </a:p>
          <a:p>
            <a:r>
              <a:t>    },</a:t>
            </a:r>
          </a:p>
          <a:p>
            <a:r>
              <a:t>    {</a:t>
            </a:r>
          </a:p>
          <a:p>
            <a:r>
              <a:t>      "title": "대돈집",</a:t>
            </a:r>
          </a:p>
          <a:p>
            <a:r>
              <a:t>      "address": "서울특별시 성동구 왕십리로14길 18 뚝섬영재어린이집",</a:t>
            </a:r>
          </a:p>
          <a:p>
            <a:r>
              <a:t>      "summary": "한국관광공사 국문관광정보 API가 반환한 선택 지역 관광자원",</a:t>
            </a:r>
          </a:p>
          <a:p>
            <a:r>
              <a:t>      "image_url": "http://tong.visitkorea.or.kr/cms/resource/33/2894833_image2_1.jpg",</a:t>
            </a:r>
          </a:p>
          <a:p>
            <a:r>
              <a:t>      "source_id": "tour-api:2894854",</a:t>
            </a:r>
          </a:p>
          <a:p>
            <a:r>
              <a:t>      "content_id": "2894854",</a:t>
            </a:r>
          </a:p>
          <a:p>
            <a:r>
              <a:t>      "source_url": "https://apis.data.go.kr/B551011/KorService2",</a:t>
            </a:r>
          </a:p>
          <a:p>
            <a:r>
              <a:t>      "source_type": "open_api",</a:t>
            </a:r>
          </a:p>
          <a:p>
            <a:r>
              <a:t>      "content_type_id": "39"</a:t>
            </a:r>
          </a:p>
          <a:p>
            <a:r>
              <a:t>    },</a:t>
            </a:r>
          </a:p>
          <a:p>
            <a:r>
              <a:t>    {</a:t>
            </a:r>
          </a:p>
          <a:p>
            <a:r>
              <a:t>      "title": "대흥정육식당",</a:t>
            </a:r>
          </a:p>
          <a:p>
            <a:r>
              <a:t>      "address": "서울특별시 성동구 왕십리로 16 (성수동1가, 트리마제)",</a:t>
            </a:r>
          </a:p>
          <a:p>
            <a:r>
              <a:t>      "summary": "한국관광공사 국문관광정보 API가 반환한 선택 지역 관광자원",</a:t>
            </a:r>
          </a:p>
          <a:p>
            <a:r>
              <a:t>      "image_url": "http://tong.visitkorea.or.kr/cms/resource/97/2898997_image2_1.jpg",</a:t>
            </a:r>
          </a:p>
          <a:p>
            <a:r>
              <a:t>      "source_id": "tour-api:2899012",</a:t>
            </a:r>
          </a:p>
          <a:p>
            <a:r>
              <a:t>      "content_id": "2899012",</a:t>
            </a:r>
          </a:p>
          <a:p>
            <a:r>
              <a:t>      "source_url": "https://apis.data.go.kr/B551011/KorService2",</a:t>
            </a:r>
          </a:p>
          <a:p>
            <a:r>
              <a:t>      "source_type": "open_api",</a:t>
            </a:r>
          </a:p>
          <a:p>
            <a:r>
              <a:t>      "content_type_id": "39"</a:t>
            </a:r>
          </a:p>
          <a:p>
            <a:r>
              <a:t>    },</a:t>
            </a:r>
          </a:p>
          <a:p>
            <a:r>
              <a:t>    {</a:t>
            </a:r>
          </a:p>
          <a:p>
            <a:r>
              <a:t>      "title": "더서울라이티움",</a:t>
            </a:r>
          </a:p>
          <a:p>
            <a:r>
              <a:t>      "address": "서울특별시 성동구 서울숲2길 32-14 (성수동1가, 갤러리아 포레)",</a:t>
            </a:r>
          </a:p>
          <a:p>
            <a:r>
              <a:t>      "summary": "한국관광공사 국문관광정보 API가 반환한 선택 지역 관광자원",</a:t>
            </a:r>
          </a:p>
          <a:p>
            <a:r>
              <a:t>      "image_url": "http://tong.visitkorea.or.kr/cms/resource/37/3401437_image2_1.JPG",</a:t>
            </a:r>
          </a:p>
          <a:p>
            <a:r>
              <a:t>      "source_id": "tour-api:2753089",</a:t>
            </a:r>
          </a:p>
          <a:p>
            <a:r>
              <a:t>      "content_id": "2753089",</a:t>
            </a:r>
          </a:p>
          <a:p>
            <a:r>
              <a:t>      "source_url": "https://apis.data.go.kr/B551011/KorService2",</a:t>
            </a:r>
          </a:p>
          <a:p>
            <a:r>
              <a:t>      "source_type": "open_api",</a:t>
            </a:r>
          </a:p>
          <a:p>
            <a:r>
              <a:t>      "content_type_id": "14"</a:t>
            </a:r>
          </a:p>
          <a:p>
            <a:r>
              <a:t>    },</a:t>
            </a:r>
          </a:p>
          <a:p>
            <a:r>
              <a:t>    {</a:t>
            </a:r>
          </a:p>
          <a:p>
            <a:r>
              <a:t>      "title": "더페이지갤러리",</a:t>
            </a:r>
          </a:p>
          <a:p>
            <a:r>
              <a:t>      "address": "서울특별시 성동구 서울숲2길 32-14 (성수동1가, 갤러리아 포레)",</a:t>
            </a:r>
          </a:p>
          <a:p>
            <a:r>
              <a:t>      "summary": "한국관광공사 국문관광정보 API가 반환한 선택 지역 관광자원",</a:t>
            </a:r>
          </a:p>
          <a:p>
            <a:r>
              <a:t>      "image_url": "http://tong.visitkorea.or.kr/cms/resource/89/2368189_image2_1.JPG",</a:t>
            </a:r>
          </a:p>
          <a:p>
            <a:r>
              <a:t>      "source_id": "tour-api:736766",</a:t>
            </a:r>
          </a:p>
          <a:p>
            <a:r>
              <a:t>      "content_id": "736766",</a:t>
            </a:r>
          </a:p>
          <a:p>
            <a:r>
              <a:t>      "source_url": "https://apis.data.go.kr/B551011/KorService2",</a:t>
            </a:r>
          </a:p>
          <a:p>
            <a:r>
              <a:t>      "source_type": "open_api",</a:t>
            </a:r>
          </a:p>
          <a:p>
            <a:r>
              <a:t>      "content_type_id": "14"</a:t>
            </a:r>
          </a:p>
          <a:p>
            <a:r>
              <a:t>    },</a:t>
            </a:r>
          </a:p>
          <a:p>
            <a:r>
              <a:t>    {</a:t>
            </a:r>
          </a:p>
          <a:p>
            <a:r>
              <a:t>      "title": "땅코참숯구이 본점",</a:t>
            </a:r>
          </a:p>
          <a:p>
            <a:r>
              <a:t>      "address": "서울특별시 성동구 행당로17길 26 (행당동)",</a:t>
            </a:r>
          </a:p>
          <a:p>
            <a:r>
              <a:t>      "summary": "한국관광공사 국문관광정보 API가 반환한 선택 지역 관광자원",</a:t>
            </a:r>
          </a:p>
          <a:p>
            <a:r>
              <a:t>      "image_url": "http://tong.visitkorea.or.kr/cms/resource/23/2845023_image2_1.jpg",</a:t>
            </a:r>
          </a:p>
          <a:p>
            <a:r>
              <a:t>      "source_id": "tour-api:2845040",</a:t>
            </a:r>
          </a:p>
          <a:p>
            <a:r>
              <a:t>      "content_id": "2845040",</a:t>
            </a:r>
          </a:p>
          <a:p>
            <a:r>
              <a:t>      "source_url": "https://apis.data.go.kr/B551011/KorService2",</a:t>
            </a:r>
          </a:p>
          <a:p>
            <a:r>
              <a:t>      "source_type": "open_api",</a:t>
            </a:r>
          </a:p>
          <a:p>
            <a:r>
              <a:t>      "content_type_id": "39"</a:t>
            </a:r>
          </a:p>
          <a:p>
            <a:r>
              <a:t>    },</a:t>
            </a:r>
          </a:p>
          <a:p>
            <a:r>
              <a:t>    {</a:t>
            </a:r>
          </a:p>
          <a:p>
            <a:r>
              <a:t>      "title": "요즘, 한국관광 2호 - 지방공항 연계 지역관광 활성화 방안",</a:t>
            </a:r>
          </a:p>
          <a:p>
            <a:r>
              <a:t>      "summary": "44제 2장 지방공항 연계 지역관광 활성화 방안 요즘, 한국관광 한국관광공사는 본래의 기능인 해외 홍보마케팅을 통한 인지 형성, 지역 관광생태계 육성, 관광사업 추진을 여정 단계에 맞춰 재배치해야 한다. 해외지사와 국내지사를 연결한 중점지사제를 '관문-연계도시' 단위로 운영하고, 글로벌 OTA 와 현지 여행사가 실제 상품을 만들 수 있도록 상품화 모듈과 전세·임시편 유치를 고도화하며, 선상 마케팅처럼 항공사 기내·LCC 채널을 활용한 권역 홍보를 확대할 수 있어야 할 것이다. 특히 성과지표를 입국자 수와 공급석 중심에서 '입국객의 권역 내 첫 숙박률이나, 1인당 권역 내 소비, 지방 이동 비중' 중심으로 전환하고, 통신·카드 데이터에 소셜 담론 데이터를 결합한 공항-권역 대시보드를 상시 운영해 데이터 기반 성과관리를 지속적으로 보여주는 데이터 기반의 지방공항 중심 관광권 상황실을 구축하여야 한다. 지방자치단체와 한국공항공사는 공항에서 지역 상권까지 이어지는 현장 수용태세를 보다 면밀히 고려하는 정책과 사업이 필요하다. 공항 접근 교통과 안내·결제, 다국어 환경, 터미널과 도심·거점 관광지를 잇는 셔틀, 권역 내 숙박과 야간 콘텐츠는 지자체의 실행력이 좌우하는 영역이다. 공항 소재 지자체 단위 협의를 넘어 청주는 대전·세종·충남, 대구는 경북과 함께 상품·교통·마케팅 예산을 묶는 관광권 협의체를 구성하고, 중장기적으로는 일본의 광역연계 DMO처럼 권역 단위의 상설 조직과 재원으로 발전시켜야 한다. 민관협력은 이 체계를 지속 가능하게 만드는 가장 중요한 동인이라 할 수 있다. 항공사·LCC에는 신규 노선의 초기 리스크를 지방정부·공사와 분담하는 노선 개발 협약과 기내 권역 홍보를, 글로벌 OTA·현지 여행사에는 권역 루트 상품의",</a:t>
            </a:r>
          </a:p>
          <a:p>
            <a:r>
              <a:t>      "chunk_id": "reference:kto:2026:local-airport:page:044:chunk:01",</a:t>
            </a:r>
          </a:p>
          <a:p>
            <a:r>
              <a:t>      "source_id": "reference:kto:2026:local-airport",</a:t>
            </a:r>
          </a:p>
          <a:p>
            <a:r>
              <a:t>      "source_url": "https://datalab.visitkorea.or.kr/site/portal/ex/bbs/View.do?bcIdx=311068&amp;cbIdx=1135&amp;pageIndex=1",</a:t>
            </a:r>
          </a:p>
          <a:p>
            <a:r>
              <a:t>      "case_region": "",</a:t>
            </a:r>
          </a:p>
          <a:p>
            <a:r>
              <a:t>      "region_code": "ALL",</a:t>
            </a:r>
          </a:p>
          <a:p>
            <a:r>
              <a:t>      "region_name": "전국 공통",</a:t>
            </a:r>
          </a:p>
          <a:p>
            <a:r>
              <a:t>      "source_note": "지방공항·연계 지역에 관한 자료입니다. 다른 시군구의 사업 효과·예산을 보장하는 근거로 사용하지 않습니다.",</a:t>
            </a:r>
          </a:p>
          <a:p>
            <a:r>
              <a:t>      "source_type": "rag",</a:t>
            </a:r>
          </a:p>
          <a:p>
            <a:r>
              <a:t>      "intervention": "",</a:t>
            </a:r>
          </a:p>
          <a:p>
            <a:r>
              <a:t>      "document_type": "policy",</a:t>
            </a:r>
          </a:p>
          <a:p>
            <a:r>
              <a:t>      "matched_terms": [</a:t>
            </a:r>
          </a:p>
          <a:p>
            <a:r>
              <a:t>        "결제",</a:t>
            </a:r>
          </a:p>
          <a:p>
            <a:r>
              <a:t>        "관광사업",</a:t>
            </a:r>
          </a:p>
          <a:p>
            <a:r>
              <a:t>        "상권",</a:t>
            </a:r>
          </a:p>
          <a:p>
            <a:r>
              <a:t>        "성과",</a:t>
            </a:r>
          </a:p>
          <a:p>
            <a:r>
              <a:t>        "소비",</a:t>
            </a:r>
          </a:p>
          <a:p>
            <a:r>
              <a:t>        "수와",</a:t>
            </a:r>
          </a:p>
          <a:p>
            <a:r>
              <a:t>        "숙박",</a:t>
            </a:r>
          </a:p>
          <a:p>
            <a:r>
              <a:t>        "실제",</a:t>
            </a:r>
          </a:p>
          <a:p>
            <a:r>
              <a:t>        "연결한",</a:t>
            </a:r>
          </a:p>
          <a:p>
            <a:r>
              <a:t>        "연계",</a:t>
            </a:r>
          </a:p>
          <a:p>
            <a:r>
              <a:t>        "예산",</a:t>
            </a:r>
          </a:p>
          <a:p>
            <a:r>
              <a:t>        "운영",</a:t>
            </a:r>
          </a:p>
          <a:p>
            <a:r>
              <a:t>        "이어지는",</a:t>
            </a:r>
          </a:p>
          <a:p>
            <a:r>
              <a:t>        "전환",</a:t>
            </a:r>
          </a:p>
          <a:p>
            <a:r>
              <a:t>        "중심으로",</a:t>
            </a:r>
          </a:p>
          <a:p>
            <a:r>
              <a:t>        "지역",</a:t>
            </a:r>
          </a:p>
          <a:p>
            <a:r>
              <a:t>        "체류",</a:t>
            </a:r>
          </a:p>
          <a:p>
            <a:r>
              <a:t>        "함께",</a:t>
            </a:r>
          </a:p>
          <a:p>
            <a:r>
              <a:t>        "현장",</a:t>
            </a:r>
          </a:p>
          <a:p>
            <a:r>
              <a:t>        "협약"</a:t>
            </a:r>
          </a:p>
          <a:p>
            <a:r>
              <a:t>      ],</a:t>
            </a:r>
          </a:p>
          <a:p>
            <a:r>
              <a:t>      "page_references": "PDF 44쪽, PDF 43쪽, PDF 36쪽, PDF 40쪽, PDF 41쪽, PDF 41쪽, PDF 44쪽, PDF 43쪽, PDF 43쪽",</a:t>
            </a:r>
          </a:p>
          <a:p>
            <a:r>
              <a:t>      "parent_source_id": "reference:kto:2026:local-airport",</a:t>
            </a:r>
          </a:p>
          <a:p>
            <a:r>
              <a:t>      "retrieval_method": "local_curated_chunk",</a:t>
            </a:r>
          </a:p>
          <a:p>
            <a:r>
              <a:t>      "evidence_strength": "medium",</a:t>
            </a:r>
          </a:p>
          <a:p>
            <a:r>
              <a:t>      "published_or_updated_at": "2026-08",</a:t>
            </a:r>
          </a:p>
          <a:p>
            <a:r>
              <a:t>      "chunk_ids": [</a:t>
            </a:r>
          </a:p>
          <a:p>
            <a:r>
              <a:t>        "reference:kto:2026:local-airport:page:036:chunk:01",</a:t>
            </a:r>
          </a:p>
          <a:p>
            <a:r>
              <a:t>        "reference:kto:2026:local-airport:page:040:chunk:02",</a:t>
            </a:r>
          </a:p>
          <a:p>
            <a:r>
              <a:t>        "reference:kto:2026:local-airport:page:041:chunk:01",</a:t>
            </a:r>
          </a:p>
          <a:p>
            <a:r>
              <a:t>        "reference:kto:2026:local-airport:page:041:chunk:02",</a:t>
            </a:r>
          </a:p>
          <a:p>
            <a:r>
              <a:t>        "reference:kto:2026:local-airport:page:043:chunk:01",</a:t>
            </a:r>
          </a:p>
          <a:p>
            <a:r>
              <a:t>        "reference:kto:2026:local-airport:page:043:chunk:02",</a:t>
            </a:r>
          </a:p>
          <a:p>
            <a:r>
              <a:t>        "reference:kto:2026:local-airport:page:043:chunk:03",</a:t>
            </a:r>
          </a:p>
          <a:p>
            <a:r>
              <a:t>        "reference:kto:2026:local-airport:page:044:chunk:01",</a:t>
            </a:r>
          </a:p>
          <a:p>
            <a:r>
              <a:t>        "reference:kto:2026:local-airport:page:044:chunk:02"</a:t>
            </a:r>
          </a:p>
          <a:p>
            <a:r>
              <a:t>      ],</a:t>
            </a:r>
          </a:p>
          <a:p>
            <a:r>
              <a:t>      "source_chunk_count": 9</a:t>
            </a:r>
          </a:p>
          <a:p>
            <a:r>
              <a:t>    },</a:t>
            </a:r>
          </a:p>
          <a:p>
            <a:r>
              <a:t>    {</a:t>
            </a:r>
          </a:p>
          <a:p>
            <a:r>
              <a:t>      "title": "2026 서울국제정원박람회 &lt; 행사·공연 정보 &lt; 축제·관광 &lt; 미래한강본부, 한강공원",</a:t>
            </a:r>
          </a:p>
          <a:p>
            <a:r>
              <a:t>      "summary": "2026 서울국제정원박람회는 2026년 5월 1일부터 10월 27일까지 서울숲과 성수 일대에서 운영되며, 서울숲·한강·성수동·뚝섬대정원을 연결하는 구성을 공식적으로 제시한다. 따라서 9~10월에는 별도 거점 조성보다 이 행사 구역과 충돌하지 않는 보행 안내, 체류 동선, 상권 연결을 우선 검토할 수 있다.",</a:t>
            </a:r>
          </a:p>
          <a:p>
            <a:r>
              <a:t>      "source_id": "web:11200:1",</a:t>
            </a:r>
          </a:p>
          <a:p>
            <a:r>
              <a:t>      "source_url": "https://hangang.seoul.go.kr/www/eventMng/detail.do?evntSn=378&amp;mid=538&amp;srchType=list",</a:t>
            </a:r>
          </a:p>
          <a:p>
            <a:r>
              <a:t>      "source_type": "official_web",</a:t>
            </a:r>
          </a:p>
          <a:p>
            <a:r>
              <a:t>      "why_relevant": "사업기간 2026-09-01~2026-11-30 중 9~10월이 기존 대형 행사 운영기간과 겹친다. 기존 행사와 같은 장소에서 별도 프로그램을 신설할 경우 공간·안전·운영주체 조정이 필요하므로, 보완형 운영안이 중복 위험이 낮다.",</a:t>
            </a:r>
          </a:p>
          <a:p>
            <a:r>
              <a:t>      "published_or_updated_at": "수정 2026-08-18"</a:t>
            </a:r>
          </a:p>
          <a:p>
            <a:r>
              <a:t>    },</a:t>
            </a:r>
          </a:p>
          <a:p>
            <a:r>
              <a:t>    {</a:t>
            </a:r>
          </a:p>
          <a:p>
            <a:r>
              <a:t>      "title": "개막 20일차 250만명 넘은 서울국제정원박람회… 성수 상권 매출 30% 급증 &gt; 보도자료 | 서울특별시",</a:t>
            </a:r>
          </a:p>
          <a:p>
            <a:r>
              <a:t>      "summary": "서울시는 2026 서울국제정원박람회에서 서울숲의 휴게시설을 보완해 좌석을 확충하고, 정원마켓과 3개 푸드트럭 존을 운영했다고 밝혔다. 같은 자료는 주말·주요 이벤트일에 방문객 수와 체류시간이 함께 늘었다는 분석 결과를 제시한다.",</a:t>
            </a:r>
          </a:p>
          <a:p>
            <a:r>
              <a:t>      "source_id": "web:11200:2",</a:t>
            </a:r>
          </a:p>
          <a:p>
            <a:r>
              <a:t>      "source_url": "https://www.seoul.go.kr/news/news_report.do?nttNo=458311",</a:t>
            </a:r>
          </a:p>
          <a:p>
            <a:r>
              <a:t>      "source_type": "official_web",</a:t>
            </a:r>
          </a:p>
          <a:p>
            <a:r>
              <a:t>      "why_relevant": "체류 개선 후보 중 ‘휴식 좌석·먹거리·이벤트 동선’을 결합하는 방식에 공식 현장운영 사례가 있다. 다만 이 결과는 2026 정원박람회 기간의 분석이므로, 가을 성수 사업에도 동일한 효과가 난다고 일반화하지 않고 운영조건 검토 사례로만 사용해야 한다.",</a:t>
            </a:r>
          </a:p>
          <a:p>
            <a:r>
              <a:t>      "published_or_updated_at": "등록·수정 2026-05-20"</a:t>
            </a:r>
          </a:p>
          <a:p>
            <a:r>
              <a:t>    },</a:t>
            </a:r>
          </a:p>
          <a:p>
            <a:r>
              <a:t>    {</a:t>
            </a:r>
          </a:p>
          <a:p>
            <a:r>
              <a:t>      "title": "서울숲-성수 커넥트 투어 | 2026 서울국제정원박람회",</a:t>
            </a:r>
          </a:p>
          <a:p>
            <a:r>
              <a:t>      "summary": "서울숲-성수 커넥트 투어는 성수근린공원에서 출발해 성수부터 서울숲까지 연결하는 무료 프로그램으로, 매주 화·목 13:00~14:30에 회차당 15명 내외 사전접수 방식으로 안내되었다.",</a:t>
            </a:r>
          </a:p>
          <a:p>
            <a:r>
              <a:t>      "source_id": "web:11200:3",</a:t>
            </a:r>
          </a:p>
          <a:p>
            <a:r>
              <a:t>      "source_url": "https://gov.seoul.go.kr/festa/garden/y2026/program/garden-culture-program/commentary-program?article=42926",</a:t>
            </a:r>
          </a:p>
          <a:p>
            <a:r>
              <a:t>      "source_type": "official_web",</a:t>
            </a:r>
          </a:p>
          <a:p>
            <a:r>
              <a:t>      "why_relevant": "‘공원 방문 후 성수 상권으로 이동’시키는 해설·도보 연결 방식이 실제로 운영된 공식 사례다. 권고안에서는 이 방식을 그대로 복제하기보다, 가을 행사일 및 야간 수요에 맞는 회차·집결지·예약방식으로 전환 가능한지 주최 측과 확인하는 참고사례로 활용한다.",</a:t>
            </a:r>
          </a:p>
          <a:p>
            <a:r>
              <a:t>      "published_or_updated_at": "페이지 확인일 기준 2026-09"</a:t>
            </a:r>
          </a:p>
          <a:p>
            <a:r>
              <a:t>    },</a:t>
            </a:r>
          </a:p>
          <a:p>
            <a:r>
              <a:t>    {</a:t>
            </a:r>
          </a:p>
          <a:p>
            <a:r>
              <a:t>      "title": "2026 서울축제지도 - 가을편 &lt; 공지사항(상세) &lt; 새소식 | 서울문화포털",</a:t>
            </a:r>
          </a:p>
          <a:p>
            <a:r>
              <a:t>      "summary": "크리에이티브X성수는 2026년 10월 5일부터 10월 11일까지 성수동 서울숲·언더스탠드 에비뉴 등에서 예정되어 있으며, 페어·문화 콘퍼런스·토크쇼·전시·공예 프리마켓·패션쇼·음악공연을 포함하는 글로벌 문화창조산업축제로 안내되어 있다.",</a:t>
            </a:r>
          </a:p>
          <a:p>
            <a:r>
              <a:t>      "source_id": "web:11200:4",</a:t>
            </a:r>
          </a:p>
          <a:p>
            <a:r>
              <a:t>      "source_url": "https://culture.seoul.go.kr/culture/bbs/B0000000/view.do?menuNo=200050&amp;nttId=16465",</a:t>
            </a:r>
          </a:p>
          <a:p>
            <a:r>
              <a:t>      "source_type": "official_web",</a:t>
            </a:r>
          </a:p>
          <a:p>
            <a:r>
              <a:t>      "why_relevant": "10월 운영의 집중 구간으로 삼을 수 있는 확정 행사다. 다만 해당 축제의 프로그램·부스·방문객을 성동구 사업이 사용할 수 있는지, 공동홍보·쿠폰·스탬프·동선안내가 가능한지는 공식 문서만으로 확인되지 않았으므로 별도 협의가 필요하다.",</a:t>
            </a:r>
          </a:p>
          <a:p>
            <a:r>
              <a:t>      "published_or_updated_at": "등록 2026-08-31"</a:t>
            </a:r>
          </a:p>
          <a:p>
            <a:r>
              <a:t>    },</a:t>
            </a:r>
          </a:p>
          <a:p>
            <a:r>
              <a:t>    {</a:t>
            </a:r>
          </a:p>
          <a:p>
            <a:r>
              <a:t>      "title": "오시는 길 | 2026 서울국제정원박람회",</a:t>
            </a:r>
          </a:p>
          <a:p>
            <a:r>
              <a:t>      "summary": "서울숲은 수인분당선 서울숲역 3·4·5번 출구에서 도보 2분, 2호선 뚝섬역 7·8번 출구에서 도보 11분으로 안내되어 있다. 서울숲 주차장과 뚝섬유수지 공영주차장은 모두 24시간 운영으로 제시되어 있으며, 행사 안내는 친환경 행사를 위해 대중교통 이용을 권장한다.",</a:t>
            </a:r>
          </a:p>
          <a:p>
            <a:r>
              <a:t>      "source_id": "web:11200:5",</a:t>
            </a:r>
          </a:p>
          <a:p>
            <a:r>
              <a:t>      "source_url": "https://www.seoul.go.kr/festa/garden/y2026/introduce/location?pc=1",</a:t>
            </a:r>
          </a:p>
          <a:p>
            <a:r>
              <a:t>      "source_type": "official_web",</a:t>
            </a:r>
          </a:p>
          <a:p>
            <a:r>
              <a:t>      "why_relevant": "권고안의 운영권역은 대중교통 도착지에서 공원·성수 상권까지의 마지막 보행 연결을 명확히 안내하는 데 초점을 둘 수 있다. 승용차 유입 확대를 핵심 방식으로 삼기보다는 지하철·버스·보행 중심으로 설계하는 것이 공식 안내와 부합한다.",</a:t>
            </a:r>
          </a:p>
          <a:p>
            <a:r>
              <a:t>      "published_or_updated_at": "2026년 행사 안내 페이지"</a:t>
            </a:r>
          </a:p>
          <a:p>
            <a:r>
              <a:t>    },</a:t>
            </a:r>
          </a:p>
          <a:p>
            <a:r>
              <a:t>    {</a:t>
            </a:r>
          </a:p>
          <a:p>
            <a:r>
              <a:t>      "title": "(석간) 제11차 도시건축공동위원회 개최결과 &gt; 보도자료 | 서울특별시",</a:t>
            </a:r>
          </a:p>
          <a:p>
            <a:r>
              <a:t>      "summary": "서울시는 성수 준공업지역 지구단위계획에서 성수역-연무장길 가로변의 지역 특화경관을 유도하고, 지하철 2호선 연접부 개방형녹지 및 서울숲·뚝섬으로 이어지는 보행 네트워크를 조성하는 방향을 제시했다. 연무장길에는 제한적 차량출입 불허구간과 주차기준 완화를 통해 사람 중심의 걷기 좋은 거리로 재편하는 방향도 포함됐다.",</a:t>
            </a:r>
          </a:p>
          <a:p>
            <a:r>
              <a:t>      "source_id": "web:11200:6",</a:t>
            </a:r>
          </a:p>
          <a:p>
            <a:r>
              <a:t>      "source_url": "https://www.seoul.go.kr/news/news_report.do?nttNo=460823&amp;tr_code=snews",</a:t>
            </a:r>
          </a:p>
          <a:p>
            <a:r>
              <a:t>      "source_type": "official_web",</a:t>
            </a:r>
          </a:p>
          <a:p>
            <a:r>
              <a:t>      "why_relevant": "중기적으로 성수역-연무장길-서울숲 보행축은 체류 연결 사업의 대상권역 후보가 될 수 있다. 그러나 이는 도시계획 방향이며 2026년 가을에 모든 물리적 시설이 완공·운영된다는 뜻은 아니므로, 실제 공사·통행·행사 가능 구간은 현장과 관계부서에 확인해야 한다.",</a:t>
            </a:r>
          </a:p>
          <a:p>
            <a:r>
              <a:t>      "published_or_updated_at": "등록 2026-07-01"</a:t>
            </a:r>
          </a:p>
          <a:p>
            <a:r>
              <a:t>    },</a:t>
            </a:r>
          </a:p>
          <a:p>
            <a:r>
              <a:t>    {</a:t>
            </a:r>
          </a:p>
          <a:p>
            <a:r>
              <a:t>      "title": "2026 서울국제정원박람회 &lt; 행사·공연 정보 &lt; 축제·관광 &lt; 미래한강본부, 한강공원",</a:t>
            </a:r>
          </a:p>
          <a:p>
            <a:r>
              <a:t>      "summary": "서울국제정원박람회 공식 안내에는 서울숲 선착장 추가 운항과 야간 운항 증편이 소개되어 있다.",</a:t>
            </a:r>
          </a:p>
          <a:p>
            <a:r>
              <a:t>      "source_id": "web:11200:7",</a:t>
            </a:r>
          </a:p>
          <a:p>
            <a:r>
              <a:t>      "source_url": "https://hangang.seoul.go.kr/www/eventMng/detail.do?evntSn=378&amp;mid=538&amp;srchType=list",</a:t>
            </a:r>
          </a:p>
          <a:p>
            <a:r>
              <a:t>      "source_type": "official_web",</a:t>
            </a:r>
          </a:p>
          <a:p>
            <a:r>
              <a:t>      "why_relevant": "9~10월 주말 또는 야간 프로그램을 검토할 때 한강 수상교통을 보조 접근수단 후보로 검토할 근거가 된다. 다만 11월까지의 실제 운항일·막차·결항 기준은 이 자료에 확정적으로 제시되지 않아, 사업 홍보문구에 포함하기 전 운영기관 확인이 필요하다.",</a:t>
            </a:r>
          </a:p>
          <a:p>
            <a:r>
              <a:t>      "published_or_updated_at": "수정 2026-08-18"</a:t>
            </a:r>
          </a:p>
          <a:p>
            <a:r>
              <a:t>    },</a:t>
            </a:r>
          </a:p>
          <a:p>
            <a:r>
              <a:t>    {</a:t>
            </a:r>
          </a:p>
          <a:p>
            <a:r>
              <a:t>      "title": "전주시 2026년도 관광산업과 세출예산 사업명세서",</a:t>
            </a:r>
          </a:p>
          <a:p>
            <a:r>
              <a:t>      "summary": "전북특별자치도 전주시 · 야간관광 특화도시 예산 편성 · 예산서이므로 방문·소비 성과는 확인되지 않음",</a:t>
            </a:r>
          </a:p>
          <a:p>
            <a:r>
              <a:t>      "source_id": "case:jeonju_night_budget_2026",</a:t>
            </a:r>
          </a:p>
          <a:p>
            <a:r>
              <a:t>      "source_url": "https://jeonju.go.kr/resource/www/images/download/budget/2026/2026_31_2.pdf",</a:t>
            </a:r>
          </a:p>
          <a:p>
            <a:r>
              <a:t>      "case_region": "전북특별자치도 전주시",</a:t>
            </a:r>
          </a:p>
          <a:p>
            <a:r>
              <a:t>      "source_type": "benchmark_case",</a:t>
            </a:r>
          </a:p>
          <a:p>
            <a:r>
              <a:t>      "intervention": "야간관광 특화도시 예산 편성",</a:t>
            </a:r>
          </a:p>
          <a:p>
            <a:r>
              <a:t>      "document_type": "case_study_budget",</a:t>
            </a:r>
          </a:p>
          <a:p>
            <a:r>
              <a:t>      "observed_result": "예산서이므로 방문·소비 성과는 확인되지 않음",</a:t>
            </a:r>
          </a:p>
          <a:p>
            <a:r>
              <a:t>      "operating_model": "사무관리, 행사운영, 연구용역, 민간경상보조 등으로 사업비를 항목별 편성",</a:t>
            </a:r>
          </a:p>
          <a:p>
            <a:r>
              <a:t>      "retrieval_method": "curated_registry",</a:t>
            </a:r>
          </a:p>
          <a:p>
            <a:r>
              <a:t>      "evidence_strength": "high",</a:t>
            </a:r>
          </a:p>
          <a:p>
            <a:r>
              <a:t>      "retrieval_context": {</a:t>
            </a:r>
          </a:p>
          <a:p>
            <a:r>
              <a:t>        "scope": "cross_province",</a:t>
            </a:r>
          </a:p>
          <a:p>
            <a:r>
              <a:t>        "peer_region_code": null</a:t>
            </a:r>
          </a:p>
          <a:p>
            <a:r>
              <a:t>      },</a:t>
            </a:r>
          </a:p>
          <a:p>
            <a:r>
              <a:t>      "measurement_period": "2026년 예산",</a:t>
            </a:r>
          </a:p>
          <a:p>
            <a:r>
              <a:t>      "transfer_conditions": [</a:t>
            </a:r>
          </a:p>
          <a:p>
            <a:r>
              <a:t>        "국비·도비·시비 분담 가능성 검토",</a:t>
            </a:r>
          </a:p>
          <a:p>
            <a:r>
              <a:t>        "행사비와 상설운영비를 분리 산정",</a:t>
            </a:r>
          </a:p>
          <a:p>
            <a:r>
              <a:t>        "성과평가 비용을 별도 항목으로 확보"</a:t>
            </a:r>
          </a:p>
          <a:p>
            <a:r>
              <a:t>      ],</a:t>
            </a:r>
          </a:p>
          <a:p>
            <a:r>
              <a:t>      "published_or_updated_at": "2026",</a:t>
            </a:r>
          </a:p>
          <a:p>
            <a:r>
              <a:t>      "quantitative_result_approved": null</a:t>
            </a:r>
          </a:p>
          <a:p>
            <a:r>
              <a:t>    },</a:t>
            </a:r>
          </a:p>
          <a:p>
            <a:r>
              <a:t>    {</a:t>
            </a:r>
          </a:p>
          <a:p>
            <a:r>
              <a:t>      "title": "강진 반값여행 지역경제 효과 소개",</a:t>
            </a:r>
          </a:p>
          <a:p>
            <a:r>
              <a:t>      "summary": "전라남도 강진군 · 반값여행 지역환급 · 상품권 결제 변화에 관한 소개 자료는 있으나, 사업 참여자 범위·정확한 비교 기간·원자료를 확인하지 못해 성과 수치 인용을 보류한다.",</a:t>
            </a:r>
          </a:p>
          <a:p>
            <a:r>
              <a:t>      "source_id": "case:gangjin_half_price_2024",</a:t>
            </a:r>
          </a:p>
          <a:p>
            <a:r>
              <a:t>      "source_url": "https://jnfarm.jeonnam.go.kr/board/FARM_BOARD_008/boardView.do?bdId=BD_00000000000011721&amp;menuCd=farm004002",</a:t>
            </a:r>
          </a:p>
          <a:p>
            <a:r>
              <a:t>      "case_region": "전라남도 강진군",</a:t>
            </a:r>
          </a:p>
          <a:p>
            <a:r>
              <a:t>      "source_type": "benchmark_case",</a:t>
            </a:r>
          </a:p>
          <a:p>
            <a:r>
              <a:t>      "intervention": "반값여행 지역환급",</a:t>
            </a:r>
          </a:p>
          <a:p>
            <a:r>
              <a:t>      "document_type": "case_study",</a:t>
            </a:r>
          </a:p>
          <a:p>
            <a:r>
              <a:t>      "observed_result": "상품권 결제 변화에 관한 소개 자료는 있으나, 사업 참여자 범위·정확한 비교 기간·원자료를 확인하지 못해 성과 수치 인용을 보류한다.",</a:t>
            </a:r>
          </a:p>
          <a:p>
            <a:r>
              <a:t>      "operating_model": "여행자가 지역에서 지출한 비용의 일부를 지역상품권으로 돌려받게 하여 혜택이 다시 지역 상점에서 사용되도록 설계",</a:t>
            </a:r>
          </a:p>
          <a:p>
            <a:r>
              <a:t>      "retrieval_method": "curated_registry",</a:t>
            </a:r>
          </a:p>
          <a:p>
            <a:r>
              <a:t>      "evidence_strength": "low",</a:t>
            </a:r>
          </a:p>
          <a:p>
            <a:r>
              <a:t>      "retrieval_context": {</a:t>
            </a:r>
          </a:p>
          <a:p>
            <a:r>
              <a:t>        "scope": "cross_province",</a:t>
            </a:r>
          </a:p>
          <a:p>
            <a:r>
              <a:t>        "peer_region_code": null</a:t>
            </a:r>
          </a:p>
          <a:p>
            <a:r>
              <a:t>      },</a:t>
            </a:r>
          </a:p>
          <a:p>
            <a:r>
              <a:t>      "measurement_period": "게시일과 사업 측정기간은 다르며, 비교기간과 집계범위 원자료 확인 필요",</a:t>
            </a:r>
          </a:p>
          <a:p>
            <a:r>
              <a:t>      "transfer_conditions": [</a:t>
            </a:r>
          </a:p>
          <a:p>
            <a:r>
              <a:t>        "지역상품권 사용처와 관광업체 참여 기준 필요",</a:t>
            </a:r>
          </a:p>
          <a:p>
            <a:r>
              <a:t>        "여행 지출 증빙과 중복수혜 방지 절차 필요",</a:t>
            </a:r>
          </a:p>
          <a:p>
            <a:r>
              <a:t>        "지원금보다 추가 지역소비가 큰지 사후 측정 필요"</a:t>
            </a:r>
          </a:p>
          <a:p>
            <a:r>
              <a:t>      ],</a:t>
            </a:r>
          </a:p>
          <a:p>
            <a:r>
              <a:t>      "published_or_updated_at": "2025-01-02",</a:t>
            </a:r>
          </a:p>
          <a:p>
            <a:r>
              <a:t>      "quantitative_result_approved": false</a:t>
            </a:r>
          </a:p>
          <a:p>
            <a:r>
              <a:t>    },</a:t>
            </a:r>
          </a:p>
          <a:p>
            <a:r>
              <a:t>    {</a:t>
            </a:r>
          </a:p>
          <a:p>
            <a:r>
              <a:t>      "title": "2024년 6월 여행가는 달 추진 보도자료",</a:t>
            </a:r>
          </a:p>
          <a:p>
            <a:r>
              <a:t>      "summary": "전국 인구감소지역 34곳 · 디지털 관광주민증과 교통·숙박·상점 할인 결합 · 2024년 34개 지역 약 800개 관광업체에 혜택 구조를 적용",</a:t>
            </a:r>
          </a:p>
          <a:p>
            <a:r>
              <a:t>      "source_id": "case:digital_tourism_resident_2024",</a:t>
            </a:r>
          </a:p>
          <a:p>
            <a:r>
              <a:t>      "source_url": "https://mcst.go.kr/servlets/eduport/front/upload/UplDownloadFile?pFileName=%280514%29%EB%AC%B8%EC%B2%B4%EB%B6%80%EB%B3%B4%EB%8F%84%EC%9E%90%EB%A3%8C-6%EC%9B%94_%EC%97%AC%ED%96%89%EA%B0%80%EB%8A%94_%EB%8B%AC_%EC%B6%94%EC%A7%84.pdf&amp;pPath=0302000000&amp;pRealName=20240514083202149235802932_PRESS20240514083202456506.pdf",</a:t>
            </a:r>
          </a:p>
          <a:p>
            <a:r>
              <a:t>      "case_region": "전국 인구감소지역 34곳",</a:t>
            </a:r>
          </a:p>
          <a:p>
            <a:r>
              <a:t>      "source_type": "benchmark_case",</a:t>
            </a:r>
          </a:p>
          <a:p>
            <a:r>
              <a:t>      "intervention": "디지털 관광주민증과 교통·숙박·상점 할인 결합",</a:t>
            </a:r>
          </a:p>
          <a:p>
            <a:r>
              <a:t>      "document_type": "case_study",</a:t>
            </a:r>
          </a:p>
          <a:p>
            <a:r>
              <a:t>      "observed_result": "2024년 34개 지역 약 800개 관광업체에 혜택 구조를 적용",</a:t>
            </a:r>
          </a:p>
          <a:p>
            <a:r>
              <a:t>      "operating_model": "디지털 관광주민증 참여업체 현장 인증과 숙박·식음·관람·체험 할인, 특정 시간대 KTX 할인과 방문 후 교통 할인권을 결합",</a:t>
            </a:r>
          </a:p>
          <a:p>
            <a:r>
              <a:t>      "retrieval_method": "curated_registry",</a:t>
            </a:r>
          </a:p>
          <a:p>
            <a:r>
              <a:t>      "evidence_strength": "medium",</a:t>
            </a:r>
          </a:p>
          <a:p>
            <a:r>
              <a:t>      "retrieval_context": {</a:t>
            </a:r>
          </a:p>
          <a:p>
            <a:r>
              <a:t>        "scope": "national_or_unresolved",</a:t>
            </a:r>
          </a:p>
          <a:p>
            <a:r>
              <a:t>        "peer_region_code": null</a:t>
            </a:r>
          </a:p>
          <a:p>
            <a:r>
              <a:t>      },</a:t>
            </a:r>
          </a:p>
          <a:p>
            <a:r>
              <a:t>      "measurement_period": "2024년 6월 운영 계획",</a:t>
            </a:r>
          </a:p>
          <a:p>
            <a:r>
              <a:t>      "transfer_conditions": [</a:t>
            </a:r>
          </a:p>
          <a:p>
            <a:r>
              <a:t>        "지역 내 참여업체 수와 혜택 매력도 확보",</a:t>
            </a:r>
          </a:p>
          <a:p>
            <a:r>
              <a:t>        "QR 또는 위치인증과 실제 사용기록 수집",</a:t>
            </a:r>
          </a:p>
          <a:p>
            <a:r>
              <a:t>        "교통 할인 제공기관과 협약 필요"</a:t>
            </a:r>
          </a:p>
          <a:p>
            <a:r>
              <a:t>      ],</a:t>
            </a:r>
          </a:p>
          <a:p>
            <a:r>
              <a:t>      "published_or_updated_at": "2024-05-14",</a:t>
            </a:r>
          </a:p>
          <a:p>
            <a:r>
              <a:t>      "quantitative_result_approved": null</a:t>
            </a:r>
          </a:p>
          <a:p>
            <a:r>
              <a:t>    },</a:t>
            </a:r>
          </a:p>
          <a:p>
            <a:r>
              <a:t>    {</a:t>
            </a:r>
          </a:p>
          <a:p>
            <a:r>
              <a:t>      "title": "2022 대한민국 숙박대전 경제파급효과 공개자료",</a:t>
            </a:r>
          </a:p>
          <a:p>
            <a:r>
              <a:t>      "summary": "전국 숙박할인쿠폰 지원사업 · 온라인 예약 채널 숙박할인쿠폰 · 한국관광공사 자료는 약 104만 명이 할인혜택을 이용했고 서울·제주를 제외한 지역 사용 비율이 76%였다고 소개함",</a:t>
            </a:r>
          </a:p>
          <a:p>
            <a:r>
              <a:t>      "source_id": "case:kto_stay_discount_2022",</a:t>
            </a:r>
          </a:p>
          <a:p>
            <a:r>
              <a:t>      "source_url": "https://kto.visitkorea.or.kr/upload/flexer/upload/ktobiz/20220928/b623b5f9-3ec0-11ed-9832-ddf31964842e.hwp.files/Sections1.html",</a:t>
            </a:r>
          </a:p>
          <a:p>
            <a:r>
              <a:t>      "case_region": "전국 숙박할인쿠폰 지원사업",</a:t>
            </a:r>
          </a:p>
          <a:p>
            <a:r>
              <a:t>      "source_type": "benchmark_case",</a:t>
            </a:r>
          </a:p>
          <a:p>
            <a:r>
              <a:t>      "intervention": "온라인 예약 채널 숙박할인쿠폰",</a:t>
            </a:r>
          </a:p>
          <a:p>
            <a:r>
              <a:t>      "document_type": "case_study",</a:t>
            </a:r>
          </a:p>
          <a:p>
            <a:r>
              <a:t>      "observed_result": "한국관광공사 자료는 약 104만 명이 할인혜택을 이용했고 서울·제주를 제외한 지역 사용 비율이 76%였다고 소개함",</a:t>
            </a:r>
          </a:p>
          <a:p>
            <a:r>
              <a:t>      "operating_model": "온라인 여행사 예약 단계에서 할인쿠폰을 제공하고, 지역 숙소에서 사용할 수 있도록 참여 채널과 기간을 통합 운영",</a:t>
            </a:r>
          </a:p>
          <a:p>
            <a:r>
              <a:t>      "retrieval_method": "curated_registry",</a:t>
            </a:r>
          </a:p>
          <a:p>
            <a:r>
              <a:t>      "evidence_strength": "medium",</a:t>
            </a:r>
          </a:p>
          <a:p>
            <a:r>
              <a:t>      "retrieval_context": {</a:t>
            </a:r>
          </a:p>
          <a:p>
            <a:r>
              <a:t>        "scope": "national_or_unresolved",</a:t>
            </a:r>
          </a:p>
          <a:p>
            <a:r>
              <a:t>        "peer_region_code": null</a:t>
            </a:r>
          </a:p>
          <a:p>
            <a:r>
              <a:t>      },</a:t>
            </a:r>
          </a:p>
          <a:p>
            <a:r>
              <a:t>      "measurement_period": "2022년 사업 종료 후 한국관광공사 공개 자료",</a:t>
            </a:r>
          </a:p>
          <a:p>
            <a:r>
              <a:t>      "transfer_conditions": [</a:t>
            </a:r>
          </a:p>
          <a:p>
            <a:r>
              <a:t>        "참여 숙소·예약 채널·쿠폰 조건을 사전에 확정",</a:t>
            </a:r>
          </a:p>
          <a:p>
            <a:r>
              <a:t>        "주말과 성수기 쏠림을 막을 사용 가능일 설계",</a:t>
            </a:r>
          </a:p>
          <a:p>
            <a:r>
              <a:t>        "쿠폰 발급량이 아니라 실제 숙박 완료·지역소비를 함께 측정"</a:t>
            </a:r>
          </a:p>
          <a:p>
            <a:r>
              <a:t>      ],</a:t>
            </a:r>
          </a:p>
          <a:p>
            <a:r>
              <a:t>      "published_or_updated_at": "2022-09-28",</a:t>
            </a:r>
          </a:p>
          <a:p>
            <a:r>
              <a:t>      "quantitative_result_approved": null</a:t>
            </a:r>
          </a:p>
          <a:p>
            <a:r>
              <a:t>    },</a:t>
            </a:r>
          </a:p>
          <a:p>
            <a:r>
              <a:t>    {</a:t>
            </a:r>
          </a:p>
          <a:p>
            <a:r>
              <a:t>      "title": "2025 대한민국 밤밤페스타 개최 도시 및 일정",</a:t>
            </a:r>
          </a:p>
          <a:p>
            <a:r>
              <a:t>      "summary": "야간관광 특화도시 10곳 · 도시별 야간 콘텐츠를 순회형 축제로 묶는 운영 · 공식 여행기사는 개최 도시·장소·운영 시간과 콘텐츠만 제시하며 방문·소비 성과 수치는 제시하지 않음",</a:t>
            </a:r>
          </a:p>
          <a:p>
            <a:r>
              <a:t>      "source_id": "case:night_festival_2025",</a:t>
            </a:r>
          </a:p>
          <a:p>
            <a:r>
              <a:t>      "source_url": "https://korean.visitkorea.or.kr/detail/rem_detail.do?cotid=f9c636b2-dd7c-4f09-af3d-6af43b33d371",</a:t>
            </a:r>
          </a:p>
          <a:p>
            <a:r>
              <a:t>      "case_region": "야간관광 특화도시 10곳",</a:t>
            </a:r>
          </a:p>
          <a:p>
            <a:r>
              <a:t>      "source_type": "benchmark_case",</a:t>
            </a:r>
          </a:p>
          <a:p>
            <a:r>
              <a:t>      "intervention": "도시별 야간 콘텐츠를 순회형 축제로 묶는 운영",</a:t>
            </a:r>
          </a:p>
          <a:p>
            <a:r>
              <a:t>      "document_type": "case_study",</a:t>
            </a:r>
          </a:p>
          <a:p>
            <a:r>
              <a:t>      "observed_result": "공식 여행기사는 개최 도시·장소·운영 시간과 콘텐츠만 제시하며 방문·소비 성과 수치는 제시하지 않음",</a:t>
            </a:r>
          </a:p>
          <a:p>
            <a:r>
              <a:t>      "operating_model": "10개 야간관광 특화도시의 대표 장소와 시간대를 연결하고, 공연·체험·지역 디저트·판매상품 등 도시별 콘텐츠를 순회 일정으로 운영",</a:t>
            </a:r>
          </a:p>
          <a:p>
            <a:r>
              <a:t>      "retrieval_method": "curated_registry",</a:t>
            </a:r>
          </a:p>
          <a:p>
            <a:r>
              <a:t>      "evidence_strength": "medium",</a:t>
            </a:r>
          </a:p>
          <a:p>
            <a:r>
              <a:t>      "retrieval_context": {</a:t>
            </a:r>
          </a:p>
          <a:p>
            <a:r>
              <a:t>        "scope": "national_or_unresolved",</a:t>
            </a:r>
          </a:p>
          <a:p>
            <a:r>
              <a:t>        "peer_region_code": null</a:t>
            </a:r>
          </a:p>
          <a:p>
            <a:r>
              <a:t>      },</a:t>
            </a:r>
          </a:p>
          <a:p>
            <a:r>
              <a:t>      "measurement_period": "2025년 행사 일정",</a:t>
            </a:r>
          </a:p>
          <a:p>
            <a:r>
              <a:t>      "transfer_conditions": [</a:t>
            </a:r>
          </a:p>
          <a:p>
            <a:r>
              <a:t>        "야간에도 이용 가능한 교통·안전·식음 운영을 함께 설계",</a:t>
            </a:r>
          </a:p>
          <a:p>
            <a:r>
              <a:t>        "하나의 행사보다 지역별 대표 콘텐츠와 상점 참여를 연결",</a:t>
            </a:r>
          </a:p>
          <a:p>
            <a:r>
              <a:t>        "행사일과 비행사일을 분리해 방문·결제·숙박 변화를 측정"</a:t>
            </a:r>
          </a:p>
          <a:p>
            <a:r>
              <a:t>      ],</a:t>
            </a:r>
          </a:p>
          <a:p>
            <a:r>
              <a:t>      "published_or_updated_at": "2025",</a:t>
            </a:r>
          </a:p>
          <a:p>
            <a:r>
              <a:t>      "quantitative_result_approved": null</a:t>
            </a:r>
          </a:p>
          <a:p>
            <a:r>
              <a:t>    },</a:t>
            </a:r>
          </a:p>
          <a:p>
            <a:r>
              <a:t>    {</a:t>
            </a:r>
          </a:p>
          <a:p>
            <a:r>
              <a:t>      "title": "2024년도 정부업무평가 관광분야 성과자료",</a:t>
            </a:r>
          </a:p>
          <a:p>
            <a:r>
              <a:t>      "summary": "야간관광 특화도시 10곳 · 상설 야간 콘텐츠와 경관·교통·안전 운영 · 정부업무평가 자료는 특화도시 10곳 방문객이 2023년 같은 기간보다 3% 증가했다고 기록",</a:t>
            </a:r>
          </a:p>
          <a:p>
            <a:r>
              <a:t>      "source_id": "case:night_tourism_cities_2024",</a:t>
            </a:r>
          </a:p>
          <a:p>
            <a:r>
              <a:t>      "source_url": "https://www.evaluation.go.kr/upload2/atch/eval/20250429095846463.pdf",</a:t>
            </a:r>
          </a:p>
          <a:p>
            <a:r>
              <a:t>      "case_region": "야간관광 특화도시 10곳",</a:t>
            </a:r>
          </a:p>
          <a:p>
            <a:r>
              <a:t>      "source_type": "benchmark_case",</a:t>
            </a:r>
          </a:p>
          <a:p>
            <a:r>
              <a:t>      "intervention": "상설 야간 콘텐츠와 경관·교통·안전 운영",</a:t>
            </a:r>
          </a:p>
          <a:p>
            <a:r>
              <a:t>      "document_type": "case_study",</a:t>
            </a:r>
          </a:p>
          <a:p>
            <a:r>
              <a:t>      "observed_result": "정부업무평가 자료는 특화도시 10곳 방문객이 2023년 같은 기간보다 3% 증가했다고 기록",</a:t>
            </a:r>
          </a:p>
          <a:p>
            <a:r>
              <a:t>      "operating_model": "지역 스토리를 반영한 야간 프로그램을 상설·행사형으로 운영하고 야간 경관, 이동, 식음, 안전 여건을 함께 구성",</a:t>
            </a:r>
          </a:p>
          <a:p>
            <a:r>
              <a:t>      "retrieval_method": "curated_registry",</a:t>
            </a:r>
          </a:p>
          <a:p>
            <a:r>
              <a:t>      "evidence_strength": "medium",</a:t>
            </a:r>
          </a:p>
          <a:p>
            <a:r>
              <a:t>      "retrieval_context": {</a:t>
            </a:r>
          </a:p>
          <a:p>
            <a:r>
              <a:t>        "scope": "national_or_unresolved",</a:t>
            </a:r>
          </a:p>
          <a:p>
            <a:r>
              <a:t>        "peer_region_code": null</a:t>
            </a:r>
          </a:p>
          <a:p>
            <a:r>
              <a:t>      },</a:t>
            </a:r>
          </a:p>
          <a:p>
            <a:r>
              <a:t>      "measurement_period": "2023년 동기 대비 2024년 사업 평가 기간",</a:t>
            </a:r>
          </a:p>
          <a:p>
            <a:r>
              <a:t>      "transfer_conditions": [</a:t>
            </a:r>
          </a:p>
          <a:p>
            <a:r>
              <a:t>        "야간에 실제 이용 가능한 식음·교통·안전 운영 필요",</a:t>
            </a:r>
          </a:p>
          <a:p>
            <a:r>
              <a:t>        "일회성 행사보다 상설 운영일 확보",</a:t>
            </a:r>
          </a:p>
          <a:p>
            <a:r>
              <a:t>        "숙박 또는 야간 결제 데이터로 성과 측정"</a:t>
            </a:r>
          </a:p>
          <a:p>
            <a:r>
              <a:t>      ],</a:t>
            </a:r>
          </a:p>
          <a:p>
            <a:r>
              <a:t>      "published_or_updated_at": "2025-04-29",</a:t>
            </a:r>
          </a:p>
          <a:p>
            <a:r>
              <a:t>      "quantitative_result_approved": null</a:t>
            </a:r>
          </a:p>
          <a:p>
            <a:r>
              <a:t>    }</a:t>
            </a:r>
          </a:p>
          <a:p>
            <a:r>
              <a:t>  ],</a:t>
            </a:r>
          </a:p>
          <a:p>
            <a:r>
              <a:t>  "selected_forecast": {</a:t>
            </a:r>
          </a:p>
          <a:p>
            <a:r>
              <a:t>    "rows": [</a:t>
            </a:r>
          </a:p>
          <a:p>
            <a:r>
              <a:t>      {</a:t>
            </a:r>
          </a:p>
          <a:p>
            <a:r>
              <a:t>        "month": "202609",</a:t>
            </a:r>
          </a:p>
          <a:p>
            <a:r>
              <a:t>        "visitors": 6638883.0,</a:t>
            </a:r>
          </a:p>
          <a:p>
            <a:r>
              <a:t>        "is_forecast": true,</a:t>
            </a:r>
          </a:p>
          <a:p>
            <a:r>
              <a:t>        "spending_krw": 102905513747.0,</a:t>
            </a:r>
          </a:p>
          <a:p>
            <a:r>
              <a:t>        "stay_minutes": 729.0,</a:t>
            </a:r>
          </a:p>
          <a:p>
            <a:r>
              <a:t>        "lodging_nights": 2.95,</a:t>
            </a:r>
          </a:p>
          <a:p>
            <a:r>
              <a:t>        "lodging_rate_pct": 3.8,</a:t>
            </a:r>
          </a:p>
          <a:p>
            <a:r>
              <a:t>        "lodging_searches": 2301,</a:t>
            </a:r>
          </a:p>
          <a:p>
            <a:r>
              <a:t>        "navigation_searches": 108724,</a:t>
            </a:r>
          </a:p>
          <a:p>
            <a:r>
              <a:t>        "visitor_yoy_percent": -0.24,</a:t>
            </a:r>
          </a:p>
          <a:p>
            <a:r>
              <a:t>        "spending_yoy_percent": 9.25,</a:t>
            </a:r>
          </a:p>
          <a:p>
            <a:r>
              <a:t>        "metric_changes_percent": {</a:t>
            </a:r>
          </a:p>
          <a:p>
            <a:r>
              <a:t>          "stay_minutes": 0.0,</a:t>
            </a:r>
          </a:p>
          <a:p>
            <a:r>
              <a:t>          "lodging_nights": -1.01,</a:t>
            </a:r>
          </a:p>
          <a:p>
            <a:r>
              <a:t>          "lodging_rate_pct": 0.0,</a:t>
            </a:r>
          </a:p>
          <a:p>
            <a:r>
              <a:t>          "lodging_searches": 5.41,</a:t>
            </a:r>
          </a:p>
          <a:p>
            <a:r>
              <a:t>          "navigation_searches": 0.0</a:t>
            </a:r>
          </a:p>
          <a:p>
            <a:r>
              <a:t>        },</a:t>
            </a:r>
          </a:p>
          <a:p>
            <a:r>
              <a:t>        "previous_year_visitors": 6654997,</a:t>
            </a:r>
          </a:p>
          <a:p>
            <a:r>
              <a:t>        "previous_year_spending_krw": 94192832000,</a:t>
            </a:r>
          </a:p>
          <a:p>
            <a:r>
              <a:t>        "previous_year_stay_minutes": 729.0,</a:t>
            </a:r>
          </a:p>
          <a:p>
            <a:r>
              <a:t>        "previous_year_lodging_nights": 2.98,</a:t>
            </a:r>
          </a:p>
          <a:p>
            <a:r>
              <a:t>        "previous_year_lodging_rate_pct": 3.8,</a:t>
            </a:r>
          </a:p>
          <a:p>
            <a:r>
              <a:t>        "previous_year_lodging_searches": 2183,</a:t>
            </a:r>
          </a:p>
          <a:p>
            <a:r>
              <a:t>        "previous_year_navigation_searches": 108724</a:t>
            </a:r>
          </a:p>
          <a:p>
            <a:r>
              <a:t>      },</a:t>
            </a:r>
          </a:p>
          <a:p>
            <a:r>
              <a:t>      {</a:t>
            </a:r>
          </a:p>
          <a:p>
            <a:r>
              <a:t>        "month": "202610",</a:t>
            </a:r>
          </a:p>
          <a:p>
            <a:r>
              <a:t>        "visitors": 6570358.0,</a:t>
            </a:r>
          </a:p>
          <a:p>
            <a:r>
              <a:t>        "is_forecast": true,</a:t>
            </a:r>
          </a:p>
          <a:p>
            <a:r>
              <a:t>        "spending_krw": 103404579597.0,</a:t>
            </a:r>
          </a:p>
          <a:p>
            <a:r>
              <a:t>        "stay_minutes": 726.0,</a:t>
            </a:r>
          </a:p>
          <a:p>
            <a:r>
              <a:t>        "lodging_nights": 2.92,</a:t>
            </a:r>
          </a:p>
          <a:p>
            <a:r>
              <a:t>        "lodging_rate_pct": 4.5,</a:t>
            </a:r>
          </a:p>
          <a:p>
            <a:r>
              <a:t>        "lodging_searches": 2786,</a:t>
            </a:r>
          </a:p>
          <a:p>
            <a:r>
              <a:t>        "navigation_searches": 176420,</a:t>
            </a:r>
          </a:p>
          <a:p>
            <a:r>
              <a:t>        "visitor_yoy_percent": 6.49,</a:t>
            </a:r>
          </a:p>
          <a:p>
            <a:r>
              <a:t>        "spending_yoy_percent": 6.54,</a:t>
            </a:r>
          </a:p>
          <a:p>
            <a:r>
              <a:t>        "metric_changes_percent": {</a:t>
            </a:r>
          </a:p>
          <a:p>
            <a:r>
              <a:t>          "stay_minutes": 0.0,</a:t>
            </a:r>
          </a:p>
          <a:p>
            <a:r>
              <a:t>          "lodging_nights": -0.68,</a:t>
            </a:r>
          </a:p>
          <a:p>
            <a:r>
              <a:t>          "lodging_rate_pct": 0.0,</a:t>
            </a:r>
          </a:p>
          <a:p>
            <a:r>
              <a:t>          "lodging_searches": -23.0,</a:t>
            </a:r>
          </a:p>
          <a:p>
            <a:r>
              <a:t>          "navigation_searches": 0.0</a:t>
            </a:r>
          </a:p>
          <a:p>
            <a:r>
              <a:t>        },</a:t>
            </a:r>
          </a:p>
          <a:p>
            <a:r>
              <a:t>        "previous_year_visitors": 6170192,</a:t>
            </a:r>
          </a:p>
          <a:p>
            <a:r>
              <a:t>        "previous_year_spending_krw": 97053863000,</a:t>
            </a:r>
          </a:p>
          <a:p>
            <a:r>
              <a:t>        "previous_year_stay_minutes": 726.0,</a:t>
            </a:r>
          </a:p>
          <a:p>
            <a:r>
              <a:t>        "previous_year_lodging_nights": 2.94,</a:t>
            </a:r>
          </a:p>
          <a:p>
            <a:r>
              <a:t>        "previous_year_lodging_rate_pct": 4.5,</a:t>
            </a:r>
          </a:p>
          <a:p>
            <a:r>
              <a:t>        "previous_year_lodging_searches": 3618,</a:t>
            </a:r>
          </a:p>
          <a:p>
            <a:r>
              <a:t>        "previous_year_navigation_searches": 176420</a:t>
            </a:r>
          </a:p>
          <a:p>
            <a:r>
              <a:t>      },</a:t>
            </a:r>
          </a:p>
          <a:p>
            <a:r>
              <a:t>      {</a:t>
            </a:r>
          </a:p>
          <a:p>
            <a:r>
              <a:t>        "month": "202611",</a:t>
            </a:r>
          </a:p>
          <a:p>
            <a:r>
              <a:t>        "visitors": 6585928.0,</a:t>
            </a:r>
          </a:p>
          <a:p>
            <a:r>
              <a:t>        "is_forecast": true,</a:t>
            </a:r>
          </a:p>
          <a:p>
            <a:r>
              <a:t>        "spending_krw": 107117698458.0,</a:t>
            </a:r>
          </a:p>
          <a:p>
            <a:r>
              <a:t>        "stay_minutes": 600.0,</a:t>
            </a:r>
          </a:p>
          <a:p>
            <a:r>
              <a:t>        "lodging_nights": 2.91,</a:t>
            </a:r>
          </a:p>
          <a:p>
            <a:r>
              <a:t>        "lodging_rate_pct": 3.6,</a:t>
            </a:r>
          </a:p>
          <a:p>
            <a:r>
              <a:t>        "lodging_searches": 2335,</a:t>
            </a:r>
          </a:p>
          <a:p>
            <a:r>
              <a:t>        "navigation_searches": 115407,</a:t>
            </a:r>
          </a:p>
          <a:p>
            <a:r>
              <a:t>        "visitor_yoy_percent": -0.86,</a:t>
            </a:r>
          </a:p>
          <a:p>
            <a:r>
              <a:t>        "spending_yoy_percent": 5.78,</a:t>
            </a:r>
          </a:p>
          <a:p>
            <a:r>
              <a:t>        "metric_changes_percent": {</a:t>
            </a:r>
          </a:p>
          <a:p>
            <a:r>
              <a:t>          "stay_minutes": 0.0,</a:t>
            </a:r>
          </a:p>
          <a:p>
            <a:r>
              <a:t>          "lodging_nights": 0.69,</a:t>
            </a:r>
          </a:p>
          <a:p>
            <a:r>
              <a:t>          "lodging_rate_pct": 0.0,</a:t>
            </a:r>
          </a:p>
          <a:p>
            <a:r>
              <a:t>          "lodging_searches": -7.71,</a:t>
            </a:r>
          </a:p>
          <a:p>
            <a:r>
              <a:t>          "navigation_searches": 0.0</a:t>
            </a:r>
          </a:p>
          <a:p>
            <a:r>
              <a:t>        },</a:t>
            </a:r>
          </a:p>
          <a:p>
            <a:r>
              <a:t>        "previous_year_visitors": 6643276,</a:t>
            </a:r>
          </a:p>
          <a:p>
            <a:r>
              <a:t>        "previous_year_spending_krw": 101267996000,</a:t>
            </a:r>
          </a:p>
          <a:p>
            <a:r>
              <a:t>        "previous_year_stay_minutes": 600.0,</a:t>
            </a:r>
          </a:p>
          <a:p>
            <a:r>
              <a:t>        "previous_year_lodging_nights": 2.89,</a:t>
            </a:r>
          </a:p>
          <a:p>
            <a:r>
              <a:t>        "previous_year_lodging_rate_pct": 3.6,</a:t>
            </a:r>
          </a:p>
          <a:p>
            <a:r>
              <a:t>        "previous_year_lodging_searches": 2530,</a:t>
            </a:r>
          </a:p>
          <a:p>
            <a:r>
              <a:t>        "previous_year_navigation_searches": 115407</a:t>
            </a:r>
          </a:p>
          <a:p>
            <a:r>
              <a:t>      }</a:t>
            </a:r>
          </a:p>
          <a:p>
            <a:r>
              <a:t>    ],</a:t>
            </a:r>
          </a:p>
          <a:p>
            <a:r>
              <a:t>    "period": "202609~202611",</a:t>
            </a:r>
          </a:p>
          <a:p>
            <a:r>
              <a:t>    "complete": true,</a:t>
            </a:r>
          </a:p>
          <a:p>
            <a:r>
              <a:t>    "notes": [</a:t>
            </a:r>
          </a:p>
          <a:p>
            <a:r>
              <a:t>      "3개월 초과 예측 거리는 재귀 검증 범위 밖의 탐색 전망입니다."</a:t>
            </a:r>
          </a:p>
          <a:p>
            <a:r>
              <a:t>    ],</a:t>
            </a:r>
          </a:p>
          <a:p>
            <a:r>
              <a:t>    "selection_basis": "strategy_timeframe",</a:t>
            </a:r>
          </a:p>
          <a:p>
            <a:r>
              <a:t>    "requested_period": "202609~202611"</a:t>
            </a:r>
          </a:p>
          <a:p>
            <a:r>
              <a:t>  },</a:t>
            </a:r>
          </a:p>
          <a:p>
            <a:r>
              <a:t>  "all_ml_forecasts": [</a:t>
            </a:r>
          </a:p>
          <a:p>
            <a:r>
              <a:t>    {</a:t>
            </a:r>
          </a:p>
          <a:p>
            <a:r>
              <a:t>      "month": "202607",</a:t>
            </a:r>
          </a:p>
          <a:p>
            <a:r>
              <a:t>      "visitors": 6551545,</a:t>
            </a:r>
          </a:p>
          <a:p>
            <a:r>
              <a:t>      "is_forecast": true,</a:t>
            </a:r>
          </a:p>
          <a:p>
            <a:r>
              <a:t>      "spending_krw": 99619891149,</a:t>
            </a:r>
          </a:p>
          <a:p>
            <a:r>
              <a:t>      "stay_minutes": 715.0,</a:t>
            </a:r>
          </a:p>
          <a:p>
            <a:r>
              <a:t>      "lodging_nights": 2.92,</a:t>
            </a:r>
          </a:p>
          <a:p>
            <a:r>
              <a:t>      "lodging_rate_pct": 3.9,</a:t>
            </a:r>
          </a:p>
          <a:p>
            <a:r>
              <a:t>      "lodging_searches": 2427,</a:t>
            </a:r>
          </a:p>
          <a:p>
            <a:r>
              <a:t>      "navigation_searches": 110530,</a:t>
            </a:r>
          </a:p>
          <a:p>
            <a:r>
              <a:t>      "visitor_yoy_percent": 8.42,</a:t>
            </a:r>
          </a:p>
          <a:p>
            <a:r>
              <a:t>      "spending_yoy_percent": 7.8,</a:t>
            </a:r>
          </a:p>
          <a:p>
            <a:r>
              <a:t>      "metric_changes_percent": {</a:t>
            </a:r>
          </a:p>
          <a:p>
            <a:r>
              <a:t>        "stay_minutes": 0.0,</a:t>
            </a:r>
          </a:p>
          <a:p>
            <a:r>
              <a:t>        "lodging_nights": -1.02,</a:t>
            </a:r>
          </a:p>
          <a:p>
            <a:r>
              <a:t>        "lodging_rate_pct": 0.0,</a:t>
            </a:r>
          </a:p>
          <a:p>
            <a:r>
              <a:t>        "lodging_searches": -12.98,</a:t>
            </a:r>
          </a:p>
          <a:p>
            <a:r>
              <a:t>        "navigation_searches": 0.0</a:t>
            </a:r>
          </a:p>
          <a:p>
            <a:r>
              <a:t>      },</a:t>
            </a:r>
          </a:p>
          <a:p>
            <a:r>
              <a:t>      "previous_year_visitors": 6042778,</a:t>
            </a:r>
          </a:p>
          <a:p>
            <a:r>
              <a:t>      "previous_year_spending_krw": 92415108000,</a:t>
            </a:r>
          </a:p>
          <a:p>
            <a:r>
              <a:t>      "previous_year_stay_minutes": 715.0,</a:t>
            </a:r>
          </a:p>
          <a:p>
            <a:r>
              <a:t>      "previous_year_lodging_nights": 2.95,</a:t>
            </a:r>
          </a:p>
          <a:p>
            <a:r>
              <a:t>      "previous_year_lodging_rate_pct": 3.9,</a:t>
            </a:r>
          </a:p>
          <a:p>
            <a:r>
              <a:t>      "previous_year_lodging_searches": 2789,</a:t>
            </a:r>
          </a:p>
          <a:p>
            <a:r>
              <a:t>      "previous_year_navigation_searches": 110530</a:t>
            </a:r>
          </a:p>
          <a:p>
            <a:r>
              <a:t>    },</a:t>
            </a:r>
          </a:p>
          <a:p>
            <a:r>
              <a:t>    {</a:t>
            </a:r>
          </a:p>
          <a:p>
            <a:r>
              <a:t>      "month": "202608",</a:t>
            </a:r>
          </a:p>
          <a:p>
            <a:r>
              <a:t>      "visitors": 6392576,</a:t>
            </a:r>
          </a:p>
          <a:p>
            <a:r>
              <a:t>      "is_forecast": true,</a:t>
            </a:r>
          </a:p>
          <a:p>
            <a:r>
              <a:t>      "spending_krw": 100649180510,</a:t>
            </a:r>
          </a:p>
          <a:p>
            <a:r>
              <a:t>      "stay_minutes": 727.0,</a:t>
            </a:r>
          </a:p>
          <a:p>
            <a:r>
              <a:t>      "lodging_nights": 2.93,</a:t>
            </a:r>
          </a:p>
          <a:p>
            <a:r>
              <a:t>      "lodging_rate_pct": 4.3,</a:t>
            </a:r>
          </a:p>
          <a:p>
            <a:r>
              <a:t>      "lodging_searches": 2345,</a:t>
            </a:r>
          </a:p>
          <a:p>
            <a:r>
              <a:t>      "navigation_searches": 116553,</a:t>
            </a:r>
          </a:p>
          <a:p>
            <a:r>
              <a:t>      "visitor_yoy_percent": 7.88,</a:t>
            </a:r>
          </a:p>
          <a:p>
            <a:r>
              <a:t>      "spending_yoy_percent": 6.05,</a:t>
            </a:r>
          </a:p>
          <a:p>
            <a:r>
              <a:t>      "metric_changes_percent": {</a:t>
            </a:r>
          </a:p>
          <a:p>
            <a:r>
              <a:t>        "stay_minutes": 0.0,</a:t>
            </a:r>
          </a:p>
          <a:p>
            <a:r>
              <a:t>        "lodging_nights": 0.69,</a:t>
            </a:r>
          </a:p>
          <a:p>
            <a:r>
              <a:t>        "lodging_rate_pct": 0.0,</a:t>
            </a:r>
          </a:p>
          <a:p>
            <a:r>
              <a:t>        "lodging_searches": -4.64,</a:t>
            </a:r>
          </a:p>
          <a:p>
            <a:r>
              <a:t>        "navigation_searches": 0.0</a:t>
            </a:r>
          </a:p>
          <a:p>
            <a:r>
              <a:t>      },</a:t>
            </a:r>
          </a:p>
          <a:p>
            <a:r>
              <a:t>      "previous_year_visitors": 5925815,</a:t>
            </a:r>
          </a:p>
          <a:p>
            <a:r>
              <a:t>      "previous_year_spending_krw": 94907804000,</a:t>
            </a:r>
          </a:p>
          <a:p>
            <a:r>
              <a:t>      "previous_year_stay_minutes": 727.0,</a:t>
            </a:r>
          </a:p>
          <a:p>
            <a:r>
              <a:t>      "previous_year_lodging_nights": 2.91,</a:t>
            </a:r>
          </a:p>
          <a:p>
            <a:r>
              <a:t>      "previous_year_lodging_rate_pct": 4.3,</a:t>
            </a:r>
          </a:p>
          <a:p>
            <a:r>
              <a:t>      "previous_year_lodging_searches": 2459,</a:t>
            </a:r>
          </a:p>
          <a:p>
            <a:r>
              <a:t>      "previous_year_navigation_searches": 116553</a:t>
            </a:r>
          </a:p>
          <a:p>
            <a:r>
              <a:t>    },</a:t>
            </a:r>
          </a:p>
          <a:p>
            <a:r>
              <a:t>    {</a:t>
            </a:r>
          </a:p>
          <a:p>
            <a:r>
              <a:t>      "month": "202609",</a:t>
            </a:r>
          </a:p>
          <a:p>
            <a:r>
              <a:t>      "visitors": 6638883,</a:t>
            </a:r>
          </a:p>
          <a:p>
            <a:r>
              <a:t>      "is_forecast": true,</a:t>
            </a:r>
          </a:p>
          <a:p>
            <a:r>
              <a:t>      "spending_krw": 102905513747,</a:t>
            </a:r>
          </a:p>
          <a:p>
            <a:r>
              <a:t>      "stay_minutes": 729.0,</a:t>
            </a:r>
          </a:p>
          <a:p>
            <a:r>
              <a:t>      "lodging_nights": 2.95,</a:t>
            </a:r>
          </a:p>
          <a:p>
            <a:r>
              <a:t>      "lodging_rate_pct": 3.8,</a:t>
            </a:r>
          </a:p>
          <a:p>
            <a:r>
              <a:t>      "lodging_searches": 2301,</a:t>
            </a:r>
          </a:p>
          <a:p>
            <a:r>
              <a:t>      "navigation_searches": 108724,</a:t>
            </a:r>
          </a:p>
          <a:p>
            <a:r>
              <a:t>      "visitor_yoy_percent": -0.24,</a:t>
            </a:r>
          </a:p>
          <a:p>
            <a:r>
              <a:t>      "spending_yoy_percent": 9.25,</a:t>
            </a:r>
          </a:p>
          <a:p>
            <a:r>
              <a:t>      "metric_changes_percent": {</a:t>
            </a:r>
          </a:p>
          <a:p>
            <a:r>
              <a:t>        "stay_minutes": 0.0,</a:t>
            </a:r>
          </a:p>
          <a:p>
            <a:r>
              <a:t>        "lodging_nights": -1.01,</a:t>
            </a:r>
          </a:p>
          <a:p>
            <a:r>
              <a:t>        "lodging_rate_pct": 0.0,</a:t>
            </a:r>
          </a:p>
          <a:p>
            <a:r>
              <a:t>        "lodging_searches": 5.41,</a:t>
            </a:r>
          </a:p>
          <a:p>
            <a:r>
              <a:t>        "navigation_searches": 0.0</a:t>
            </a:r>
          </a:p>
          <a:p>
            <a:r>
              <a:t>      },</a:t>
            </a:r>
          </a:p>
          <a:p>
            <a:r>
              <a:t>      "previous_year_visitors": 6654997,</a:t>
            </a:r>
          </a:p>
          <a:p>
            <a:r>
              <a:t>      "previous_year_spending_krw": 94192832000,</a:t>
            </a:r>
          </a:p>
          <a:p>
            <a:r>
              <a:t>      "previous_year_stay_minutes": 729.0,</a:t>
            </a:r>
          </a:p>
          <a:p>
            <a:r>
              <a:t>      "previous_year_lodging_nights": 2.98,</a:t>
            </a:r>
          </a:p>
          <a:p>
            <a:r>
              <a:t>      "previous_year_lodging_rate_pct": 3.8,</a:t>
            </a:r>
          </a:p>
          <a:p>
            <a:r>
              <a:t>      "previous_year_lodging_searches": 2183,</a:t>
            </a:r>
          </a:p>
          <a:p>
            <a:r>
              <a:t>      "previous_year_navigation_searches": 108724</a:t>
            </a:r>
          </a:p>
          <a:p>
            <a:r>
              <a:t>    },</a:t>
            </a:r>
          </a:p>
          <a:p>
            <a:r>
              <a:t>    {</a:t>
            </a:r>
          </a:p>
          <a:p>
            <a:r>
              <a:t>      "month": "202610",</a:t>
            </a:r>
          </a:p>
          <a:p>
            <a:r>
              <a:t>      "visitors": 6570358,</a:t>
            </a:r>
          </a:p>
          <a:p>
            <a:r>
              <a:t>      "is_forecast": true,</a:t>
            </a:r>
          </a:p>
          <a:p>
            <a:r>
              <a:t>      "spending_krw": 103404579597,</a:t>
            </a:r>
          </a:p>
          <a:p>
            <a:r>
              <a:t>      "stay_minutes": 726.0,</a:t>
            </a:r>
          </a:p>
          <a:p>
            <a:r>
              <a:t>      "lodging_nights": 2.92,</a:t>
            </a:r>
          </a:p>
          <a:p>
            <a:r>
              <a:t>      "lodging_rate_pct": 4.5,</a:t>
            </a:r>
          </a:p>
          <a:p>
            <a:r>
              <a:t>      "lodging_searches": 2786,</a:t>
            </a:r>
          </a:p>
          <a:p>
            <a:r>
              <a:t>      "navigation_searches": 176420,</a:t>
            </a:r>
          </a:p>
          <a:p>
            <a:r>
              <a:t>      "visitor_yoy_percent": 6.49,</a:t>
            </a:r>
          </a:p>
          <a:p>
            <a:r>
              <a:t>      "spending_yoy_percent": 6.54,</a:t>
            </a:r>
          </a:p>
          <a:p>
            <a:r>
              <a:t>      "metric_changes_percent": {</a:t>
            </a:r>
          </a:p>
          <a:p>
            <a:r>
              <a:t>        "stay_minutes": 0.0,</a:t>
            </a:r>
          </a:p>
          <a:p>
            <a:r>
              <a:t>        "lodging_nights": -0.68,</a:t>
            </a:r>
          </a:p>
          <a:p>
            <a:r>
              <a:t>        "lodging_rate_pct": 0.0,</a:t>
            </a:r>
          </a:p>
          <a:p>
            <a:r>
              <a:t>        "lodging_searches": -23.0,</a:t>
            </a:r>
          </a:p>
          <a:p>
            <a:r>
              <a:t>        "navigation_searches": 0.0</a:t>
            </a:r>
          </a:p>
          <a:p>
            <a:r>
              <a:t>      },</a:t>
            </a:r>
          </a:p>
          <a:p>
            <a:r>
              <a:t>      "previous_year_visitors": 6170192,</a:t>
            </a:r>
          </a:p>
          <a:p>
            <a:r>
              <a:t>      "previous_year_spending_krw": 97053863000,</a:t>
            </a:r>
          </a:p>
          <a:p>
            <a:r>
              <a:t>      "previous_year_stay_minutes": 726.0,</a:t>
            </a:r>
          </a:p>
          <a:p>
            <a:r>
              <a:t>      "previous_year_lodging_nights": 2.94,</a:t>
            </a:r>
          </a:p>
          <a:p>
            <a:r>
              <a:t>      "previous_year_lodging_rate_pct": 4.5,</a:t>
            </a:r>
          </a:p>
          <a:p>
            <a:r>
              <a:t>      "previous_year_lodging_searches": 3618,</a:t>
            </a:r>
          </a:p>
          <a:p>
            <a:r>
              <a:t>      "previous_year_navigation_searches": 176420</a:t>
            </a:r>
          </a:p>
          <a:p>
            <a:r>
              <a:t>    },</a:t>
            </a:r>
          </a:p>
          <a:p>
            <a:r>
              <a:t>    {</a:t>
            </a:r>
          </a:p>
          <a:p>
            <a:r>
              <a:t>      "month": "202611",</a:t>
            </a:r>
          </a:p>
          <a:p>
            <a:r>
              <a:t>      "visitors": 6585928,</a:t>
            </a:r>
          </a:p>
          <a:p>
            <a:r>
              <a:t>      "is_forecast": true,</a:t>
            </a:r>
          </a:p>
          <a:p>
            <a:r>
              <a:t>      "spending_krw": 107117698458,</a:t>
            </a:r>
          </a:p>
          <a:p>
            <a:r>
              <a:t>      "stay_minutes": 600.0,</a:t>
            </a:r>
          </a:p>
          <a:p>
            <a:r>
              <a:t>      "lodging_nights": 2.91,</a:t>
            </a:r>
          </a:p>
          <a:p>
            <a:r>
              <a:t>      "lodging_rate_pct": 3.6,</a:t>
            </a:r>
          </a:p>
          <a:p>
            <a:r>
              <a:t>      "lodging_searches": 2335,</a:t>
            </a:r>
          </a:p>
          <a:p>
            <a:r>
              <a:t>      "navigation_searches": 115407,</a:t>
            </a:r>
          </a:p>
          <a:p>
            <a:r>
              <a:t>      "visitor_yoy_percent": -0.86,</a:t>
            </a:r>
          </a:p>
          <a:p>
            <a:r>
              <a:t>      "spending_yoy_percent": 5.78,</a:t>
            </a:r>
          </a:p>
          <a:p>
            <a:r>
              <a:t>      "metric_changes_percent": {</a:t>
            </a:r>
          </a:p>
          <a:p>
            <a:r>
              <a:t>        "stay_minutes": 0.0,</a:t>
            </a:r>
          </a:p>
          <a:p>
            <a:r>
              <a:t>        "lodging_nights": 0.69,</a:t>
            </a:r>
          </a:p>
          <a:p>
            <a:r>
              <a:t>        "lodging_rate_pct": 0.0,</a:t>
            </a:r>
          </a:p>
          <a:p>
            <a:r>
              <a:t>        "lodging_searches": -7.71,</a:t>
            </a:r>
          </a:p>
          <a:p>
            <a:r>
              <a:t>        "navigation_searches": 0.0</a:t>
            </a:r>
          </a:p>
          <a:p>
            <a:r>
              <a:t>      },</a:t>
            </a:r>
          </a:p>
          <a:p>
            <a:r>
              <a:t>      "previous_year_visitors": 6643276,</a:t>
            </a:r>
          </a:p>
          <a:p>
            <a:r>
              <a:t>      "previous_year_spending_krw": 101267996000,</a:t>
            </a:r>
          </a:p>
          <a:p>
            <a:r>
              <a:t>      "previous_year_stay_minutes": 600.0,</a:t>
            </a:r>
          </a:p>
          <a:p>
            <a:r>
              <a:t>      "previous_year_lodging_nights": 2.89,</a:t>
            </a:r>
          </a:p>
          <a:p>
            <a:r>
              <a:t>      "previous_year_lodging_rate_pct": 3.6,</a:t>
            </a:r>
          </a:p>
          <a:p>
            <a:r>
              <a:t>      "previous_year_lodging_searches": 2530,</a:t>
            </a:r>
          </a:p>
          <a:p>
            <a:r>
              <a:t>      "previous_year_navigation_searches": 115407</a:t>
            </a:r>
          </a:p>
          <a:p>
            <a:r>
              <a:t>    }</a:t>
            </a:r>
          </a:p>
          <a:p>
            <a:r>
              <a:t>  ],</a:t>
            </a:r>
          </a:p>
          <a:p>
            <a:r>
              <a:t>  "evaluation": {</a:t>
            </a:r>
          </a:p>
          <a:p>
            <a:r>
              <a:t>    "metrics": {</a:t>
            </a:r>
          </a:p>
          <a:p>
            <a:r>
              <a:t>      "visitors": {</a:t>
            </a:r>
          </a:p>
          <a:p>
            <a:r>
              <a:t>        "test_mae": 512302.72,</a:t>
            </a:r>
          </a:p>
          <a:p>
            <a:r>
              <a:t>        "recursive_mae": {</a:t>
            </a:r>
          </a:p>
          <a:p>
            <a:r>
              <a:t>          "1": {</a:t>
            </a:r>
          </a:p>
          <a:p>
            <a:r>
              <a:t>            "baseline": 505115.0,</a:t>
            </a:r>
          </a:p>
          <a:p>
            <a:r>
              <a:t>            "selected": 637542.5,</a:t>
            </a:r>
          </a:p>
          <a:p>
            <a:r>
              <a:t>            "sample_count": 2</a:t>
            </a:r>
          </a:p>
          <a:p>
            <a:r>
              <a:t>          },</a:t>
            </a:r>
          </a:p>
          <a:p>
            <a:r>
              <a:t>          "2": {</a:t>
            </a:r>
          </a:p>
          <a:p>
            <a:r>
              <a:t>            "baseline": 350616.5,</a:t>
            </a:r>
          </a:p>
          <a:p>
            <a:r>
              <a:t>            "selected": 385661.0,</a:t>
            </a:r>
          </a:p>
          <a:p>
            <a:r>
              <a:t>            "sample_count": 2</a:t>
            </a:r>
          </a:p>
          <a:p>
            <a:r>
              <a:t>          },</a:t>
            </a:r>
          </a:p>
          <a:p>
            <a:r>
              <a:t>          "3": {</a:t>
            </a:r>
          </a:p>
          <a:p>
            <a:r>
              <a:t>            "baseline": 508390.5,</a:t>
            </a:r>
          </a:p>
          <a:p>
            <a:r>
              <a:t>            "selected": 376970.5,</a:t>
            </a:r>
          </a:p>
          <a:p>
            <a:r>
              <a:t>            "sample_count": 2</a:t>
            </a:r>
          </a:p>
          <a:p>
            <a:r>
              <a:t>          }</a:t>
            </a:r>
          </a:p>
          <a:p>
            <a:r>
              <a:t>        },</a:t>
            </a:r>
          </a:p>
          <a:p>
            <a:r>
              <a:t>        "selected_model": "RandomForestRegressor",</a:t>
            </a:r>
          </a:p>
          <a:p>
            <a:r>
              <a:t>        "baseline_test_mae": 506752.75,</a:t>
            </a:r>
          </a:p>
          <a:p>
            <a:r>
              <a:t>        "model_reliability": "below_baseline_on_test",</a:t>
            </a:r>
          </a:p>
          <a:p>
            <a:r>
              <a:t>        "beats_baseline_on_test": false,</a:t>
            </a:r>
          </a:p>
          <a:p>
            <a:r>
              <a:t>        "recursive_horizons_worse_than_baseline": [</a:t>
            </a:r>
          </a:p>
          <a:p>
            <a:r>
              <a:t>          "1",</a:t>
            </a:r>
          </a:p>
          <a:p>
            <a:r>
              <a:t>          "2"</a:t>
            </a:r>
          </a:p>
          <a:p>
            <a:r>
              <a:t>        ]</a:t>
            </a:r>
          </a:p>
          <a:p>
            <a:r>
              <a:t>      },</a:t>
            </a:r>
          </a:p>
          <a:p>
            <a:r>
              <a:t>      "spending_krw": {</a:t>
            </a:r>
          </a:p>
          <a:p>
            <a:r>
              <a:t>        "test_mae": 5905429236.35,</a:t>
            </a:r>
          </a:p>
          <a:p>
            <a:r>
              <a:t>        "recursive_mae": {</a:t>
            </a:r>
          </a:p>
          <a:p>
            <a:r>
              <a:t>          "1": {</a:t>
            </a:r>
          </a:p>
          <a:p>
            <a:r>
              <a:t>            "baseline": 3857228000.0,</a:t>
            </a:r>
          </a:p>
          <a:p>
            <a:r>
              <a:t>            "selected": 3675260054.5,</a:t>
            </a:r>
          </a:p>
          <a:p>
            <a:r>
              <a:t>            "sample_count": 2</a:t>
            </a:r>
          </a:p>
          <a:p>
            <a:r>
              <a:t>          },</a:t>
            </a:r>
          </a:p>
          <a:p>
            <a:r>
              <a:t>          "2": {</a:t>
            </a:r>
          </a:p>
          <a:p>
            <a:r>
              <a:t>            "baseline": 5016656500.0,</a:t>
            </a:r>
          </a:p>
          <a:p>
            <a:r>
              <a:t>            "selected": 2276015570.0,</a:t>
            </a:r>
          </a:p>
          <a:p>
            <a:r>
              <a:t>            "sample_count": 2</a:t>
            </a:r>
          </a:p>
          <a:p>
            <a:r>
              <a:t>          },</a:t>
            </a:r>
          </a:p>
          <a:p>
            <a:r>
              <a:t>          "3": {</a:t>
            </a:r>
          </a:p>
          <a:p>
            <a:r>
              <a:t>            "baseline": 3931632500.0,</a:t>
            </a:r>
          </a:p>
          <a:p>
            <a:r>
              <a:t>            "selected": 7285373763.0,</a:t>
            </a:r>
          </a:p>
          <a:p>
            <a:r>
              <a:t>            "sample_count": 2</a:t>
            </a:r>
          </a:p>
          <a:p>
            <a:r>
              <a:t>          }</a:t>
            </a:r>
          </a:p>
          <a:p>
            <a:r>
              <a:t>        },</a:t>
            </a:r>
          </a:p>
          <a:p>
            <a:r>
              <a:t>        "selected_model": "LinearRegression",</a:t>
            </a:r>
          </a:p>
          <a:p>
            <a:r>
              <a:t>        "baseline_test_mae": 3894430250.0,</a:t>
            </a:r>
          </a:p>
          <a:p>
            <a:r>
              <a:t>        "model_reliability": "below_baseline_on_test",</a:t>
            </a:r>
          </a:p>
          <a:p>
            <a:r>
              <a:t>        "beats_baseline_on_test": false,</a:t>
            </a:r>
          </a:p>
          <a:p>
            <a:r>
              <a:t>        "recursive_horizons_worse_than_baseline": [</a:t>
            </a:r>
          </a:p>
          <a:p>
            <a:r>
              <a:t>          "3"</a:t>
            </a:r>
          </a:p>
          <a:p>
            <a:r>
              <a:t>        ]</a:t>
            </a:r>
          </a:p>
          <a:p>
            <a:r>
              <a:t>      },</a:t>
            </a:r>
          </a:p>
          <a:p>
            <a:r>
              <a:t>      "stay_minutes": {</a:t>
            </a:r>
          </a:p>
          <a:p>
            <a:r>
              <a:t>        "test_mae": 81.25,</a:t>
            </a:r>
          </a:p>
          <a:p>
            <a:r>
              <a:t>        "recursive_mae": {</a:t>
            </a:r>
          </a:p>
          <a:p>
            <a:r>
              <a:t>          "1": {</a:t>
            </a:r>
          </a:p>
          <a:p>
            <a:r>
              <a:t>            "baseline": 15.0,</a:t>
            </a:r>
          </a:p>
          <a:p>
            <a:r>
              <a:t>            "selected": 15.0,</a:t>
            </a:r>
          </a:p>
          <a:p>
            <a:r>
              <a:t>            "sample_count": 2</a:t>
            </a:r>
          </a:p>
          <a:p>
            <a:r>
              <a:t>          },</a:t>
            </a:r>
          </a:p>
          <a:p>
            <a:r>
              <a:t>          "2": {</a:t>
            </a:r>
          </a:p>
          <a:p>
            <a:r>
              <a:t>            "baseline": 148.0,</a:t>
            </a:r>
          </a:p>
          <a:p>
            <a:r>
              <a:t>            "selected": 148.0,</a:t>
            </a:r>
          </a:p>
          <a:p>
            <a:r>
              <a:t>            "sample_count": 2</a:t>
            </a:r>
          </a:p>
          <a:p>
            <a:r>
              <a:t>          },</a:t>
            </a:r>
          </a:p>
          <a:p>
            <a:r>
              <a:t>          "3": {</a:t>
            </a:r>
          </a:p>
          <a:p>
            <a:r>
              <a:t>            "baseline": 147.5,</a:t>
            </a:r>
          </a:p>
          <a:p>
            <a:r>
              <a:t>            "selected": 147.5,</a:t>
            </a:r>
          </a:p>
          <a:p>
            <a:r>
              <a:t>            "sample_count": 2</a:t>
            </a:r>
          </a:p>
          <a:p>
            <a:r>
              <a:t>          }</a:t>
            </a:r>
          </a:p>
          <a:p>
            <a:r>
              <a:t>        },</a:t>
            </a:r>
          </a:p>
          <a:p>
            <a:r>
              <a:t>        "selected_model": "seasonal_naive_previous_year_same_month",</a:t>
            </a:r>
          </a:p>
          <a:p>
            <a:r>
              <a:t>        "baseline_test_mae": 81.25,</a:t>
            </a:r>
          </a:p>
          <a:p>
            <a:r>
              <a:t>        "model_reliability": "seasonal_baseline",</a:t>
            </a:r>
          </a:p>
          <a:p>
            <a:r>
              <a:t>        "beats_baseline_on_test": false,</a:t>
            </a:r>
          </a:p>
          <a:p>
            <a:r>
              <a:t>        "recursive_horizons_worse_than_baseline": []</a:t>
            </a:r>
          </a:p>
          <a:p>
            <a:r>
              <a:t>      },</a:t>
            </a:r>
          </a:p>
          <a:p>
            <a:r>
              <a:t>      "lodging_nights": {</a:t>
            </a:r>
          </a:p>
          <a:p>
            <a:r>
              <a:t>        "test_mae": 0.1,</a:t>
            </a:r>
          </a:p>
          <a:p>
            <a:r>
              <a:t>        "recursive_mae": {</a:t>
            </a:r>
          </a:p>
          <a:p>
            <a:r>
              <a:t>          "1": {</a:t>
            </a:r>
          </a:p>
          <a:p>
            <a:r>
              <a:t>            "baseline": 0.07,</a:t>
            </a:r>
          </a:p>
          <a:p>
            <a:r>
              <a:t>            "selected": 0.1,</a:t>
            </a:r>
          </a:p>
          <a:p>
            <a:r>
              <a:t>            "sample_count": 2</a:t>
            </a:r>
          </a:p>
          <a:p>
            <a:r>
              <a:t>          },</a:t>
            </a:r>
          </a:p>
          <a:p>
            <a:r>
              <a:t>          "2": {</a:t>
            </a:r>
          </a:p>
          <a:p>
            <a:r>
              <a:t>            "baseline": 0.11,</a:t>
            </a:r>
          </a:p>
          <a:p>
            <a:r>
              <a:t>            "selected": 0.16,</a:t>
            </a:r>
          </a:p>
          <a:p>
            <a:r>
              <a:t>            "sample_count": 2</a:t>
            </a:r>
          </a:p>
          <a:p>
            <a:r>
              <a:t>          },</a:t>
            </a:r>
          </a:p>
          <a:p>
            <a:r>
              <a:t>          "3": {</a:t>
            </a:r>
          </a:p>
          <a:p>
            <a:r>
              <a:t>            "baseline": 0.15,</a:t>
            </a:r>
          </a:p>
          <a:p>
            <a:r>
              <a:t>            "selected": 0.17,</a:t>
            </a:r>
          </a:p>
          <a:p>
            <a:r>
              <a:t>            "sample_count": 2</a:t>
            </a:r>
          </a:p>
          <a:p>
            <a:r>
              <a:t>          }</a:t>
            </a:r>
          </a:p>
          <a:p>
            <a:r>
              <a:t>        },</a:t>
            </a:r>
          </a:p>
          <a:p>
            <a:r>
              <a:t>        "selected_model": "LinearRegression",</a:t>
            </a:r>
          </a:p>
          <a:p>
            <a:r>
              <a:t>        "baseline_test_mae": 0.11,</a:t>
            </a:r>
          </a:p>
          <a:p>
            <a:r>
              <a:t>        "model_reliability": "mixed_recursive_performance",</a:t>
            </a:r>
          </a:p>
          <a:p>
            <a:r>
              <a:t>        "beats_baseline_on_test": true,</a:t>
            </a:r>
          </a:p>
          <a:p>
            <a:r>
              <a:t>        "recursive_horizons_worse_than_baseline": [</a:t>
            </a:r>
          </a:p>
          <a:p>
            <a:r>
              <a:t>          "1",</a:t>
            </a:r>
          </a:p>
          <a:p>
            <a:r>
              <a:t>          "2",</a:t>
            </a:r>
          </a:p>
          <a:p>
            <a:r>
              <a:t>          "3"</a:t>
            </a:r>
          </a:p>
          <a:p>
            <a:r>
              <a:t>        ]</a:t>
            </a:r>
          </a:p>
          <a:p>
            <a:r>
              <a:t>      },</a:t>
            </a:r>
          </a:p>
          <a:p>
            <a:r>
              <a:t>      "lodging_rate_pct": {</a:t>
            </a:r>
          </a:p>
          <a:p>
            <a:r>
              <a:t>        "test_mae": 0.32,</a:t>
            </a:r>
          </a:p>
          <a:p>
            <a:r>
              <a:t>        "recursive_mae": {</a:t>
            </a:r>
          </a:p>
          <a:p>
            <a:r>
              <a:t>          "1": {</a:t>
            </a:r>
          </a:p>
          <a:p>
            <a:r>
              <a:t>            "baseline": 0.3,</a:t>
            </a:r>
          </a:p>
          <a:p>
            <a:r>
              <a:t>            "selected": 0.3,</a:t>
            </a:r>
          </a:p>
          <a:p>
            <a:r>
              <a:t>            "sample_count": 2</a:t>
            </a:r>
          </a:p>
          <a:p>
            <a:r>
              <a:t>          },</a:t>
            </a:r>
          </a:p>
          <a:p>
            <a:r>
              <a:t>          "2": {</a:t>
            </a:r>
          </a:p>
          <a:p>
            <a:r>
              <a:t>            "baseline": 0.4,</a:t>
            </a:r>
          </a:p>
          <a:p>
            <a:r>
              <a:t>            "selected": 0.4,</a:t>
            </a:r>
          </a:p>
          <a:p>
            <a:r>
              <a:t>            "sample_count": 2</a:t>
            </a:r>
          </a:p>
          <a:p>
            <a:r>
              <a:t>          },</a:t>
            </a:r>
          </a:p>
          <a:p>
            <a:r>
              <a:t>          "3": {</a:t>
            </a:r>
          </a:p>
          <a:p>
            <a:r>
              <a:t>            "baseline": 0.35,</a:t>
            </a:r>
          </a:p>
          <a:p>
            <a:r>
              <a:t>            "selected": 0.35,</a:t>
            </a:r>
          </a:p>
          <a:p>
            <a:r>
              <a:t>            "sample_count": 2</a:t>
            </a:r>
          </a:p>
          <a:p>
            <a:r>
              <a:t>          }</a:t>
            </a:r>
          </a:p>
          <a:p>
            <a:r>
              <a:t>        },</a:t>
            </a:r>
          </a:p>
          <a:p>
            <a:r>
              <a:t>        "selected_model": "seasonal_naive_previous_year_same_month",</a:t>
            </a:r>
          </a:p>
          <a:p>
            <a:r>
              <a:t>        "baseline_test_mae": 0.32,</a:t>
            </a:r>
          </a:p>
          <a:p>
            <a:r>
              <a:t>        "model_reliability": "seasonal_baseline",</a:t>
            </a:r>
          </a:p>
          <a:p>
            <a:r>
              <a:t>        "beats_baseline_on_test": false,</a:t>
            </a:r>
          </a:p>
          <a:p>
            <a:r>
              <a:t>        "recursive_horizons_worse_than_baseline": []</a:t>
            </a:r>
          </a:p>
          <a:p>
            <a:r>
              <a:t>      },</a:t>
            </a:r>
          </a:p>
          <a:p>
            <a:r>
              <a:t>      "lodging_searches": {</a:t>
            </a:r>
          </a:p>
          <a:p>
            <a:r>
              <a:t>        "test_mae": 141.88,</a:t>
            </a:r>
          </a:p>
          <a:p>
            <a:r>
              <a:t>        "recursive_mae": {</a:t>
            </a:r>
          </a:p>
          <a:p>
            <a:r>
              <a:t>          "1": {</a:t>
            </a:r>
          </a:p>
          <a:p>
            <a:r>
              <a:t>            "baseline": 239.0,</a:t>
            </a:r>
          </a:p>
          <a:p>
            <a:r>
              <a:t>            "selected": 78.5,</a:t>
            </a:r>
          </a:p>
          <a:p>
            <a:r>
              <a:t>            "sample_count": 2</a:t>
            </a:r>
          </a:p>
          <a:p>
            <a:r>
              <a:t>          },</a:t>
            </a:r>
          </a:p>
          <a:p>
            <a:r>
              <a:t>          "2": {</a:t>
            </a:r>
          </a:p>
          <a:p>
            <a:r>
              <a:t>            "baseline": 215.5,</a:t>
            </a:r>
          </a:p>
          <a:p>
            <a:r>
              <a:t>            "selected": 71.5,</a:t>
            </a:r>
          </a:p>
          <a:p>
            <a:r>
              <a:t>            "sample_count": 2</a:t>
            </a:r>
          </a:p>
          <a:p>
            <a:r>
              <a:t>          },</a:t>
            </a:r>
          </a:p>
          <a:p>
            <a:r>
              <a:t>          "3": {</a:t>
            </a:r>
          </a:p>
          <a:p>
            <a:r>
              <a:t>            "baseline": 282.5,</a:t>
            </a:r>
          </a:p>
          <a:p>
            <a:r>
              <a:t>            "selected": 143.0,</a:t>
            </a:r>
          </a:p>
          <a:p>
            <a:r>
              <a:t>            "sample_count": 2</a:t>
            </a:r>
          </a:p>
          <a:p>
            <a:r>
              <a:t>          }</a:t>
            </a:r>
          </a:p>
          <a:p>
            <a:r>
              <a:t>        },</a:t>
            </a:r>
          </a:p>
          <a:p>
            <a:r>
              <a:t>        "selected_model": "RandomForestRegressor",</a:t>
            </a:r>
          </a:p>
          <a:p>
            <a:r>
              <a:t>        "baseline_test_mae": 260.75,</a:t>
            </a:r>
          </a:p>
          <a:p>
            <a:r>
              <a:t>        "model_reliability": "limited_backtest_support",</a:t>
            </a:r>
          </a:p>
          <a:p>
            <a:r>
              <a:t>        "beats_baseline_on_test": true,</a:t>
            </a:r>
          </a:p>
          <a:p>
            <a:r>
              <a:t>        "recursive_horizons_worse_than_baseline": []</a:t>
            </a:r>
          </a:p>
          <a:p>
            <a:r>
              <a:t>      },</a:t>
            </a:r>
          </a:p>
          <a:p>
            <a:r>
              <a:t>      "navigation_searches": {</a:t>
            </a:r>
          </a:p>
          <a:p>
            <a:r>
              <a:t>        "test_mae": 18943.5,</a:t>
            </a:r>
          </a:p>
          <a:p>
            <a:r>
              <a:t>        "recursive_mae": {</a:t>
            </a:r>
          </a:p>
          <a:p>
            <a:r>
              <a:t>          "1": {</a:t>
            </a:r>
          </a:p>
          <a:p>
            <a:r>
              <a:t>            "baseline": 21342.5,</a:t>
            </a:r>
          </a:p>
          <a:p>
            <a:r>
              <a:t>            "selected": 21342.5,</a:t>
            </a:r>
          </a:p>
          <a:p>
            <a:r>
              <a:t>            "sample_count": 2</a:t>
            </a:r>
          </a:p>
          <a:p>
            <a:r>
              <a:t>          },</a:t>
            </a:r>
          </a:p>
          <a:p>
            <a:r>
              <a:t>          "2": {</a:t>
            </a:r>
          </a:p>
          <a:p>
            <a:r>
              <a:t>            "baseline": 18933.0,</a:t>
            </a:r>
          </a:p>
          <a:p>
            <a:r>
              <a:t>            "selected": 18933.0,</a:t>
            </a:r>
          </a:p>
          <a:p>
            <a:r>
              <a:t>            "sample_count": 2</a:t>
            </a:r>
          </a:p>
          <a:p>
            <a:r>
              <a:t>          },</a:t>
            </a:r>
          </a:p>
          <a:p>
            <a:r>
              <a:t>          "3": {</a:t>
            </a:r>
          </a:p>
          <a:p>
            <a:r>
              <a:t>            "baseline": 16544.5,</a:t>
            </a:r>
          </a:p>
          <a:p>
            <a:r>
              <a:t>            "selected": 16544.5,</a:t>
            </a:r>
          </a:p>
          <a:p>
            <a:r>
              <a:t>            "sample_count": 2</a:t>
            </a:r>
          </a:p>
          <a:p>
            <a:r>
              <a:t>          }</a:t>
            </a:r>
          </a:p>
          <a:p>
            <a:r>
              <a:t>        },</a:t>
            </a:r>
          </a:p>
          <a:p>
            <a:r>
              <a:t>        "selected_model": "seasonal_naive_previous_year_same_month",</a:t>
            </a:r>
          </a:p>
          <a:p>
            <a:r>
              <a:t>        "baseline_test_mae": 18943.5,</a:t>
            </a:r>
          </a:p>
          <a:p>
            <a:r>
              <a:t>        "model_reliability": "seasonal_baseline",</a:t>
            </a:r>
          </a:p>
          <a:p>
            <a:r>
              <a:t>        "beats_baseline_on_test": false,</a:t>
            </a:r>
          </a:p>
          <a:p>
            <a:r>
              <a:t>        "recursive_horizons_worse_than_baseline": []</a:t>
            </a:r>
          </a:p>
          <a:p>
            <a:r>
              <a:t>      }</a:t>
            </a:r>
          </a:p>
          <a:p>
            <a:r>
              <a:t>    },</a:t>
            </a:r>
          </a:p>
          <a:p>
            <a:r>
              <a:t>    "test_period": "202603~202606",</a:t>
            </a:r>
          </a:p>
          <a:p>
            <a:r>
              <a:t>    "selection_basis": "validation_mae_only",</a:t>
            </a:r>
          </a:p>
          <a:p>
            <a:r>
              <a:t>    "validation_period": "202512~202602",</a:t>
            </a:r>
          </a:p>
          <a:p>
            <a:r>
              <a:t>    "longer_horizon_status": "exploratory_not_recursively_backtested",</a:t>
            </a:r>
          </a:p>
          <a:p>
            <a:r>
              <a:t>    "forecast_horizon_months": 5,</a:t>
            </a:r>
          </a:p>
          <a:p>
            <a:r>
              <a:t>    "recursive_backtest_horizon_months": [</a:t>
            </a:r>
          </a:p>
          <a:p>
            <a:r>
              <a:t>      1,</a:t>
            </a:r>
          </a:p>
          <a:p>
            <a:r>
              <a:t>      2,</a:t>
            </a:r>
          </a:p>
          <a:p>
            <a:r>
              <a:t>      3</a:t>
            </a:r>
          </a:p>
          <a:p>
            <a:r>
              <a:t>    ]</a:t>
            </a:r>
          </a:p>
          <a:p>
            <a:r>
              <a:t>  },</a:t>
            </a:r>
          </a:p>
          <a:p>
            <a:r>
              <a:t>  "execution_scenario": {</a:t>
            </a:r>
          </a:p>
          <a:p>
            <a:r>
              <a:t>    "visitor_target_pct": 20.0,</a:t>
            </a:r>
          </a:p>
          <a:p>
            <a:r>
              <a:t>    "spending_target_pct": 20.0</a:t>
            </a:r>
          </a:p>
          <a:p>
            <a:r>
              <a:t>  },</a:t>
            </a:r>
          </a:p>
          <a:p>
            <a:r>
              <a:t>  "reference_estimate": {</a:t>
            </a:r>
          </a:p>
          <a:p>
            <a:r>
              <a:t>    "status": "saved_report_budget",</a:t>
            </a:r>
          </a:p>
          <a:p>
            <a:r>
              <a:t>    "total_label": "총액 미확정",</a:t>
            </a:r>
          </a:p>
          <a:p>
            <a:r>
              <a:t>    "rows": [</a:t>
            </a:r>
          </a:p>
          <a:p>
            <a:r>
              <a:t>      [</a:t>
            </a:r>
          </a:p>
          <a:p>
            <a:r>
              <a:t>        "산정 내역 1",</a:t>
            </a:r>
          </a:p>
          <a:p>
            <a:r>
              <a:t>        "지역상품권 환급액 = (외지인 관광객의 지역 내 소비액 × 20%) + (지역상품권 발행 비용: 1,000원/장). 단가 및 정확한 환급 대상 규모는 시범 운영 전 확정 필요.",</a:t>
            </a:r>
          </a:p>
          <a:p>
            <a:r>
              <a:t>        "본문 기준"</a:t>
            </a:r>
          </a:p>
          <a:p>
            <a:r>
              <a:t>      ]</a:t>
            </a:r>
          </a:p>
          <a:p>
            <a:r>
              <a:t>    ],</a:t>
            </a:r>
          </a:p>
          <a:p>
            <a:r>
              <a:t>    "original_text": "지역상품권 환급액 = (외지인 관광객의 지역 내 소비액 × 20%) + (지역상품권 발행 비용: 1,000원/장). 단가 및 정확한 환급 대상 규모는 시범 운영 전 확정 필요.",</a:t>
            </a:r>
          </a:p>
          <a:p>
            <a:r>
              <a:t>    "sources": [],</a:t>
            </a:r>
          </a:p>
          <a:p>
            <a:r>
              <a:t>    "note": "저장 기획안의 예산 산정 내용을 그대로 표시합니다. 확정 견적이 아니며 계약 전 수량·단가·세금과 합계를 확인합니다."</a:t>
            </a:r>
          </a:p>
          <a:p>
            <a:r>
              <a:t>  }</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관측값·저장 예측·계획 목표는 별개입니다. 문서용 참고 견적이며 원 보고서의 검수 결과를 변경하지 않습니다.</a:t>
            </a:r>
          </a:p>
          <a:p>
            <a:r>
              <a:t>[Sources]</a:t>
            </a:r>
          </a:p>
          <a:p>
            <a:r>
              <a:t>dataset:11200:1 | 한국관광 데이터랩 · 서울특별시 성동구 순 방문자 수 및 숙박 비율 (이동통신 기반 외지인) | https://datalab.visitkorea.or.kr/</a:t>
            </a:r>
          </a:p>
          <a:p>
            <a:r>
              <a:t>dataset:11200:2 | 한국관광 데이터랩 · 서울특별시 성동구 월간 순 방문자 수 (이동통신 기반 외지인) | https://datalab.visitkorea.or.kr/</a:t>
            </a:r>
          </a:p>
          <a:p>
            <a:r>
              <a:t>dataset:11200:3 | 한국관광 데이터랩 · 서울특별시 성동구 관광소비 추이_외지인 | https://datalab.visitkorea.or.kr/</a:t>
            </a:r>
          </a:p>
          <a:p>
            <a:r>
              <a:t>dataset:11200:4 | 한국관광 데이터랩 · 서울특별시 성동구 숙박방문자 비율 추이 (이동통신 기반 외지인) | https://datalab.visitkorea.or.kr/</a:t>
            </a:r>
          </a:p>
          <a:p>
            <a:r>
              <a:t>dataset:11200:5 | 한국관광 데이터랩 · 서울특별시 성동구 평균 숙박일 (이동통신 기반 외지인) | https://datalab.visitkorea.or.kr/</a:t>
            </a:r>
          </a:p>
          <a:p>
            <a:r>
              <a:t>dataset:11200:6 | 한국관광 데이터랩 · 서울특별시 성동구 내비게이션 목적지 유형별 검색량 | https://datalab.visitkorea.or.kr/</a:t>
            </a:r>
          </a:p>
          <a:p>
            <a:r>
              <a:t>dataset:11200:7 | 한국관광 데이터랩 · 서울특별시 성동구 SNS 언급량 | https://datalab.visitkorea.or.kr/</a:t>
            </a:r>
          </a:p>
          <a:p>
            <a:r>
              <a:t>datalab:0ea2e7ff8811:517c835e3039 | 한국관광 데이터랩 공식 다운로드 · 서울특별시_성동구/숙박_체류시간/2025_01_12.zip | https://datalab.visitkorea.or.kr/</a:t>
            </a:r>
          </a:p>
          <a:p>
            <a:r>
              <a:t>datalab:3a79405535b3:68f41f6aa9c6 | 한국관광 데이터랩 공식 다운로드 · 서울특별시_성동구/관광소비/2025_01_12.zip | https://datalab.visitkorea.or.kr/</a:t>
            </a:r>
          </a:p>
          <a:p>
            <a:r>
              <a:t>datalab:6217474023e5:2e717447925f | 한국관광 데이터랩 공식 다운로드 · 서울특별시_성동구/숙박_체류시간/2026_01_06.zip | https://datalab.visitkorea.or.kr/</a:t>
            </a:r>
          </a:p>
          <a:p>
            <a:r>
              <a:t>datalab:62312101c8d0:9c44bd532366 | 한국관광 데이터랩 공식 다운로드 · 서울특별시_성동구/방문자/2025_01_12.zip | https://datalab.visitkorea.or.kr/</a:t>
            </a:r>
          </a:p>
          <a:p>
            <a:r>
              <a:t>datalab:7ddda0420208:c68bf7b028b0 | 한국관광 데이터랩 공식 다운로드 · 서울특별시_성동구/관광소비/2026_01_06.zip | https://datalab.visitkorea.or.kr/</a:t>
            </a:r>
          </a:p>
          <a:p>
            <a:r>
              <a:t>datalab:9369271c7419:76a9b6ea89d8 | 한국관광 데이터랩 공식 다운로드 · 서울특별시_성동구/방문자/2026_01_06.zip | https://datalab.visitkorea.or.kr/</a:t>
            </a:r>
          </a:p>
          <a:p>
            <a:r>
              <a:t>team-bigdata:23ea68053684:6bfbcf8aabf6 | 한국관광 데이터랩 전국 빅데이터 다운로드 · 이동통신/내국인/지역별 방문자수/20260820140607__202601-202606_데이터랩_다운로드.zip | https://datalab.visitkorea.or.kr/</a:t>
            </a:r>
          </a:p>
          <a:p>
            <a:r>
              <a:t>team-bigdata:98d4ae590d9a:3be52dd54323 | 한국관광 데이터랩 전국 빅데이터 다운로드 · 이동통신/외국인/20260820141710_전국_202601-202606_데이터랩_다운로드.zip | https://datalab.visitkorea.or.kr/</a:t>
            </a:r>
          </a:p>
          <a:p>
            <a:r>
              <a:t>team-bigdata:367cd0294ec4:873930d645e5 | 한국관광 데이터랩 전국 빅데이터 다운로드 · 신용카드/내국인/지역별 관광지출액/20260820140046__202601-202606_데이터랩_다운로드.zip | https://datalab.visitkorea.or.kr/</a:t>
            </a:r>
          </a:p>
          <a:p>
            <a:r>
              <a:t>team-bigdata:553a0dad4bb4:5a31355dffe8 | 한국관광 데이터랩 전국 빅데이터 다운로드 · 신용카드/외국인/지역별 관광지출액/20260820140355__202601-202606_데이터랩_다운로드.zip | https://datalab.visitkorea.or.kr/</a:t>
            </a:r>
          </a:p>
          <a:p>
            <a:r>
              <a:t>team-bigdata:a53dbe1c21df:77a052de41d5 | 한국관광 데이터랩 전국 빅데이터 다운로드 · 네비게이션/지역별 검색건수/20260820195507__202601-202606_데이터랩_다운로드.zip | https://datalab.visitkorea.or.kr/</a:t>
            </a:r>
          </a:p>
          <a:p>
            <a:r>
              <a:t>team-bigdata:823a38d1d61c:5385261d02e5 | 한국관광 데이터랩 전국 빅데이터 다운로드 · 이동통신/내국인/지역별 방문자수/20260820140614__202501-202512_데이터랩_다운로드.zip | https://datalab.visitkorea.or.kr/</a:t>
            </a:r>
          </a:p>
          <a:p>
            <a:r>
              <a:t>team-bigdata:2723bdb0d589:1666a34058ed | 한국관광 데이터랩 전국 빅데이터 다운로드 · 이동통신/외국인/20260820141649_전국_202501-202512_데이터랩_다운로드.zip | https://datalab.visitkorea.or.kr/</a:t>
            </a:r>
          </a:p>
          <a:p>
            <a:r>
              <a:t>team-bigdata:83177a234971:c02cb7972e0f | 한국관광 데이터랩 전국 빅데이터 다운로드 · 신용카드/내국인/지역별 관광지출액/20260820135957__202501-202512_데이터랩_다운로드.zip | https://datalab.visitkorea.or.kr/</a:t>
            </a:r>
          </a:p>
          <a:p>
            <a:r>
              <a:t>team-bigdata:58ded7732251:589c76395cbc | 한국관광 데이터랩 전국 빅데이터 다운로드 · 신용카드/외국인/지역별 관광지출액/20260820140409__202501-202512_데이터랩_다운로드.zip | https://datalab.visitkorea.or.kr/</a:t>
            </a:r>
          </a:p>
          <a:p>
            <a:r>
              <a:t>team-bigdata:e28c947cb52f:bb4cb344a6ba | 한국관광 데이터랩 전국 빅데이터 다운로드 · 네비게이션/지역별 검색건수/20260820132007__202501-202512_데이터랩_다운로드.zip | https://datalab.visitkorea.or.kr/</a:t>
            </a:r>
          </a:p>
          <a:p>
            <a:r>
              <a:t>team-bigdata:8815bbb11a39:1a5988f5f8ec | 한국관광 데이터랩 전국 빅데이터 다운로드 · 이동통신/내국인/지역별 방문자수/20260820140624__202401-202412_데이터랩_다운로드.zip | https://datalab.visitkorea.or.kr/</a:t>
            </a:r>
          </a:p>
          <a:p>
            <a:r>
              <a:t>team-bigdata:19fd67fbb73d:afa4f0f54a2f | 한국관광 데이터랩 전국 빅데이터 다운로드 · 이동통신/외국인/20260820141639_전국_202401-202412_데이터랩_다운로드.zip | https://datalab.visitkorea.or.kr/</a:t>
            </a:r>
          </a:p>
          <a:p>
            <a:r>
              <a:t>regional-status:300d117a9148:9b5e59efa799 | 한국관광 데이터랩 지역별 관광 현황 · 서울특별시 성동구 · 인기관광지 | https://datalab.visitkorea.or.kr/</a:t>
            </a:r>
          </a:p>
          <a:p>
            <a:r>
              <a:t>regional-status:e1f4d12a3396:706443b7ba17 | 한국관광 데이터랩 지역별 관광 현황 · 서울특별시 성동구 · 유입유출 | https://datalab.visitkorea.or.kr/</a:t>
            </a:r>
          </a:p>
          <a:p>
            <a:r>
              <a:t>regional-status:f05693fd34a7:ae929e215d91 | 한국관광 데이터랩 지역별 관광 현황 · 서울특별시 성동구 · 지역집중률 | https://datalab.visitkorea.or.kr/</a:t>
            </a:r>
          </a:p>
          <a:p>
            <a:r>
              <a:t>ml:11200:regional-demand-v3.1:202606 | 지역 관광수요 ML 전망 · 공식 관측값 아님 | URL 미기록</a:t>
            </a:r>
          </a:p>
          <a:p>
            <a:r>
              <a:t>tour-api:2901229 | 가조쿠 | https://apis.data.go.kr/B551011/KorService2</a:t>
            </a:r>
          </a:p>
          <a:p>
            <a:r>
              <a:t>tour-api:2895161 | 계월 | https://apis.data.go.kr/B551011/KorService2</a:t>
            </a:r>
          </a:p>
          <a:p>
            <a:r>
              <a:t>tour-api:2901359 | 계자람 | https://apis.data.go.kr/B551011/KorService2</a:t>
            </a:r>
          </a:p>
          <a:p>
            <a:r>
              <a:t>tour-api:2895211 | 구욱희씨 | https://apis.data.go.kr/B551011/KorService2</a:t>
            </a:r>
          </a:p>
          <a:p>
            <a:r>
              <a:t>tour-api:2895236 | 구펠 | https://apis.data.go.kr/B551011/KorService2</a:t>
            </a:r>
          </a:p>
          <a:p>
            <a:r>
              <a:t>tour-api:2898994 | 그라데이션커피 | https://apis.data.go.kr/B551011/KorService2</a:t>
            </a:r>
          </a:p>
          <a:p>
            <a:r>
              <a:t>tour-api:2894873 | 그린랩 | https://apis.data.go.kr/B551011/KorService2</a:t>
            </a:r>
          </a:p>
          <a:p>
            <a:r>
              <a:t>tour-api:2743748 | 금남시장 | https://apis.data.go.kr/B551011/KorService2</a:t>
            </a:r>
          </a:p>
          <a:p>
            <a:r>
              <a:t>tour-api:2901568 | 기후 | https://apis.data.go.kr/B551011/KorService2</a:t>
            </a:r>
          </a:p>
          <a:p>
            <a:r>
              <a:t>tour-api:2894842 | 꾸아 성수점 | https://apis.data.go.kr/B551011/KorService2</a:t>
            </a:r>
          </a:p>
          <a:p>
            <a:r>
              <a:t>tour-api:2843520 | 난포 | https://apis.data.go.kr/B551011/KorService2</a:t>
            </a:r>
          </a:p>
          <a:p>
            <a:r>
              <a:t>tour-api:2894810 | 누메로도스 | https://apis.data.go.kr/B551011/KorService2</a:t>
            </a:r>
          </a:p>
          <a:p>
            <a:r>
              <a:t>tour-api:2894795 | 누메로뜨레쓰 | https://apis.data.go.kr/B551011/KorService2</a:t>
            </a:r>
          </a:p>
          <a:p>
            <a:r>
              <a:t>tour-api:2894763 | 니드스윗 | https://apis.data.go.kr/B551011/KorService2</a:t>
            </a:r>
          </a:p>
          <a:p>
            <a:r>
              <a:t>tour-api:2894747 | 단일서울 | https://apis.data.go.kr/B551011/KorService2</a:t>
            </a:r>
          </a:p>
          <a:p>
            <a:r>
              <a:t>tour-api:2894854 | 대돈집 | https://apis.data.go.kr/B551011/KorService2</a:t>
            </a:r>
          </a:p>
          <a:p>
            <a:r>
              <a:t>tour-api:2899012 | 대흥정육식당 | https://apis.data.go.kr/B551011/KorService2</a:t>
            </a:r>
          </a:p>
          <a:p>
            <a:r>
              <a:t>tour-api:2753089 | 더서울라이티움 | https://apis.data.go.kr/B551011/KorService2</a:t>
            </a:r>
          </a:p>
          <a:p>
            <a:r>
              <a:t>tour-api:736766 | 더페이지갤러리 | https://apis.data.go.kr/B551011/KorService2</a:t>
            </a:r>
          </a:p>
          <a:p>
            <a:r>
              <a:t>tour-api:2845040 | 땅코참숯구이 본점 | https://apis.data.go.kr/B551011/KorService2</a:t>
            </a:r>
          </a:p>
          <a:p>
            <a:r>
              <a:t>reference:kto:2026:local-airport | 요즘, 한국관광 2호 - 지방공항 연계 지역관광 활성화 방안 | PDF 44쪽, PDF 43쪽, PDF 36쪽, PDF 40쪽, PDF 41쪽, PDF 41쪽, PDF 44쪽, PDF 43쪽, PDF 43쪽 | https://datalab.visitkorea.or.kr/site/portal/ex/bbs/View.do?bcIdx=311068&amp;cbIdx=1135&amp;pageIndex=1</a:t>
            </a:r>
          </a:p>
          <a:p>
            <a:r>
              <a:t>web:11200:1 | 2026 서울국제정원박람회 &lt; 행사·공연 정보 &lt; 축제·관광 &lt; 미래한강본부, 한강공원 | https://hangang.seoul.go.kr/www/eventMng/detail.do?evntSn=378&amp;mid=538&amp;srchType=list</a:t>
            </a:r>
          </a:p>
          <a:p>
            <a:r>
              <a:t>web:11200:2 | 개막 20일차 250만명 넘은 서울국제정원박람회… 성수 상권 매출 30% 급증 &gt; 보도자료 | 서울특별시 | https://www.seoul.go.kr/news/news_report.do?nttNo=458311</a:t>
            </a:r>
          </a:p>
          <a:p>
            <a:r>
              <a:t>web:11200:3 | 서울숲-성수 커넥트 투어 | 2026 서울국제정원박람회 | https://gov.seoul.go.kr/festa/garden/y2026/program/garden-culture-program/commentary-program?article=42926</a:t>
            </a:r>
          </a:p>
          <a:p>
            <a:r>
              <a:t>web:11200:4 | 2026 서울축제지도 - 가을편 &lt; 공지사항(상세) &lt; 새소식 | 서울문화포털 | https://culture.seoul.go.kr/culture/bbs/B0000000/view.do?menuNo=200050&amp;nttId=16465</a:t>
            </a:r>
          </a:p>
          <a:p>
            <a:r>
              <a:t>web:11200:5 | 오시는 길 | 2026 서울국제정원박람회 | https://www.seoul.go.kr/festa/garden/y2026/introduce/location?pc=1</a:t>
            </a:r>
          </a:p>
          <a:p>
            <a:r>
              <a:t>web:11200:6 | (석간) 제11차 도시건축공동위원회 개최결과 &gt; 보도자료 | 서울특별시 | https://www.seoul.go.kr/news/news_report.do?nttNo=460823&amp;tr_code=snews</a:t>
            </a:r>
          </a:p>
          <a:p>
            <a:r>
              <a:t>web:11200:7 | 2026 서울국제정원박람회 &lt; 행사·공연 정보 &lt; 축제·관광 &lt; 미래한강본부, 한강공원 | https://hangang.seoul.go.kr/www/eventMng/detail.do?evntSn=378&amp;mid=538&amp;srchType=list</a:t>
            </a:r>
          </a:p>
          <a:p>
            <a:r>
              <a:t>case:jeonju_night_budget_2026 | 전주시 2026년도 관광산업과 세출예산 사업명세서 | https://jeonju.go.kr/resource/www/images/download/budget/2026/2026_31_2.pdf</a:t>
            </a:r>
          </a:p>
          <a:p>
            <a:r>
              <a:t>case:gangjin_half_price_2024 | 강진 반값여행 지역경제 효과 소개 | https://jnfarm.jeonnam.go.kr/board/FARM_BOARD_008/boardView.do?bdId=BD_00000000000011721&amp;menuCd=farm004002</a:t>
            </a:r>
          </a:p>
          <a:p>
            <a:r>
              <a:t>case:digital_tourism_resident_2024 | 2024년 6월 여행가는 달 추진 보도자료 | https://mcst.go.kr/servlets/eduport/front/upload/UplDownloadFile?pFileName=%280514%29%EB%AC%B8%EC%B2%B4%EB%B6%80%EB%B3%B4%EB%8F%84%EC%9E%90%EB%A3%8C-6%EC%9B%94_%EC%97%AC%ED%96%89%EA%B0%80%EB%8A%94_%EB%8B%AC_%EC%B6%94%EC%A7%84.pdf&amp;pPath=0302000000&amp;pRealName=20240514083202149235802932_PRESS20240514083202456506.pdf</a:t>
            </a:r>
          </a:p>
          <a:p>
            <a:r>
              <a:t>case:kto_stay_discount_2022 | 2022 대한민국 숙박대전 경제파급효과 공개자료 | https://kto.visitkorea.or.kr/upload/flexer/upload/ktobiz/20220928/b623b5f9-3ec0-11ed-9832-ddf31964842e.hwp.files/Sections1.html</a:t>
            </a:r>
          </a:p>
          <a:p>
            <a:r>
              <a:t>case:night_festival_2025 | 2025 대한민국 밤밤페스타 개최 도시 및 일정 | https://korean.visitkorea.or.kr/detail/rem_detail.do?cotid=f9c636b2-dd7c-4f09-af3d-6af43b33d371</a:t>
            </a:r>
          </a:p>
          <a:p>
            <a:r>
              <a:t>case:night_tourism_cities_2024 | 2024년도 정부업무평가 관광분야 성과자료 | https://www.evaluation.go.kr/upload2/atch/eval/20250429095846463.pdf</a:t>
            </a:r>
          </a:p>
          <a:p>
            <a:r>
              <a:t>[/Sources]</a:t>
            </a:r>
          </a:p>
          <a:p>
            <a:r>
              <a:t>[Calculation audit]</a:t>
            </a:r>
          </a:p>
          <a:p>
            <a:r>
              <a:t>{</a:t>
            </a:r>
          </a:p>
          <a:p>
            <a:r>
              <a:t>  "source_inventory": [</a:t>
            </a:r>
          </a:p>
          <a:p>
            <a:r>
              <a:t>    {</a:t>
            </a:r>
          </a:p>
          <a:p>
            <a:r>
              <a:t>      "title": "한국관광 데이터랩 · 서울특별시 성동구 순 방문자 수 및 숙박 비율 (이동통신 기반 외지인)",</a:t>
            </a:r>
          </a:p>
          <a:p>
            <a:r>
              <a:t>      "summary": "월간 순 방문자 수: 6,687,696명 (관측 기준월: 2026-06)",</a:t>
            </a:r>
          </a:p>
          <a:p>
            <a:r>
              <a:t>      "source_id": "dataset:11200:1",</a:t>
            </a:r>
          </a:p>
          <a:p>
            <a:r>
              <a:t>      "source_url": "https://datalab.visitkorea.or.kr/",</a:t>
            </a:r>
          </a:p>
          <a:p>
            <a:r>
              <a:t>      "source_type": "dataset",</a:t>
            </a:r>
          </a:p>
          <a:p>
            <a:r>
              <a:t>      "observation_period": "2026-06",</a:t>
            </a:r>
          </a:p>
          <a:p>
            <a:r>
              <a:t>      "published_or_updated_at": "2026-06"</a:t>
            </a:r>
          </a:p>
          <a:p>
            <a:r>
              <a:t>    },</a:t>
            </a:r>
          </a:p>
          <a:p>
            <a:r>
              <a:t>    {</a:t>
            </a:r>
          </a:p>
          <a:p>
            <a:r>
              <a:t>      "title": "한국관광 데이터랩 · 서울특별시 성동구 월간 순 방문자 수 (이동통신 기반 외지인)",</a:t>
            </a:r>
          </a:p>
          <a:p>
            <a:r>
              <a:t>      "summary": "전년동월 외지인 방문자 증감률: 10.2% (관측 기준월: 2026-06)",</a:t>
            </a:r>
          </a:p>
          <a:p>
            <a:r>
              <a:t>      "source_id": "dataset:11200:2",</a:t>
            </a:r>
          </a:p>
          <a:p>
            <a:r>
              <a:t>      "source_url": "https://datalab.visitkorea.or.kr/",</a:t>
            </a:r>
          </a:p>
          <a:p>
            <a:r>
              <a:t>      "source_type": "dataset",</a:t>
            </a:r>
          </a:p>
          <a:p>
            <a:r>
              <a:t>      "observation_period": "2026-06",</a:t>
            </a:r>
          </a:p>
          <a:p>
            <a:r>
              <a:t>      "published_or_updated_at": "2026-06"</a:t>
            </a:r>
          </a:p>
          <a:p>
            <a:r>
              <a:t>    },</a:t>
            </a:r>
          </a:p>
          <a:p>
            <a:r>
              <a:t>    {</a:t>
            </a:r>
          </a:p>
          <a:p>
            <a:r>
              <a:t>      "title": "한국관광 데이터랩 · 서울특별시 성동구 관광소비 추이_외지인",</a:t>
            </a:r>
          </a:p>
          <a:p>
            <a:r>
              <a:t>      "summary": "월간 외지인 관광소비 총액: 93,151,315,000원 (관측 기준월: 2026-06)",</a:t>
            </a:r>
          </a:p>
          <a:p>
            <a:r>
              <a:t>      "source_id": "dataset:11200:3",</a:t>
            </a:r>
          </a:p>
          <a:p>
            <a:r>
              <a:t>      "source_url": "https://datalab.visitkorea.or.kr/",</a:t>
            </a:r>
          </a:p>
          <a:p>
            <a:r>
              <a:t>      "source_type": "dataset",</a:t>
            </a:r>
          </a:p>
          <a:p>
            <a:r>
              <a:t>      "observation_period": "2026-06",</a:t>
            </a:r>
          </a:p>
          <a:p>
            <a:r>
              <a:t>      "published_or_updated_at": "2026-06"</a:t>
            </a:r>
          </a:p>
          <a:p>
            <a:r>
              <a:t>    },</a:t>
            </a:r>
          </a:p>
          <a:p>
            <a:r>
              <a:t>    {</a:t>
            </a:r>
          </a:p>
          <a:p>
            <a:r>
              <a:t>      "title": "한국관광 데이터랩 · 서울특별시 성동구 숙박방문자 비율 추이 (이동통신 기반 외지인)",</a:t>
            </a:r>
          </a:p>
          <a:p>
            <a:r>
              <a:t>      "summary": "외지인 숙박 방문 비율: 3.7% (관측 기준월: 2026-06)",</a:t>
            </a:r>
          </a:p>
          <a:p>
            <a:r>
              <a:t>      "source_id": "dataset:11200:4",</a:t>
            </a:r>
          </a:p>
          <a:p>
            <a:r>
              <a:t>      "source_url": "https://datalab.visitkorea.or.kr/",</a:t>
            </a:r>
          </a:p>
          <a:p>
            <a:r>
              <a:t>      "source_type": "dataset",</a:t>
            </a:r>
          </a:p>
          <a:p>
            <a:r>
              <a:t>      "observation_period": "2026-06",</a:t>
            </a:r>
          </a:p>
          <a:p>
            <a:r>
              <a:t>      "published_or_updated_at": "2026-06"</a:t>
            </a:r>
          </a:p>
          <a:p>
            <a:r>
              <a:t>    },</a:t>
            </a:r>
          </a:p>
          <a:p>
            <a:r>
              <a:t>    {</a:t>
            </a:r>
          </a:p>
          <a:p>
            <a:r>
              <a:t>      "title": "한국관광 데이터랩 · 서울특별시 성동구 평균 숙박일 (이동통신 기반 외지인)",</a:t>
            </a:r>
          </a:p>
          <a:p>
            <a:r>
              <a:t>      "summary": "외지인 평균 숙박일수: 3.03일 (관측 기준월: 2026-06)",</a:t>
            </a:r>
          </a:p>
          <a:p>
            <a:r>
              <a:t>      "source_id": "dataset:11200:5",</a:t>
            </a:r>
          </a:p>
          <a:p>
            <a:r>
              <a:t>      "source_url": "https://datalab.visitkorea.or.kr/",</a:t>
            </a:r>
          </a:p>
          <a:p>
            <a:r>
              <a:t>      "source_type": "dataset",</a:t>
            </a:r>
          </a:p>
          <a:p>
            <a:r>
              <a:t>      "observation_period": "2026-06",</a:t>
            </a:r>
          </a:p>
          <a:p>
            <a:r>
              <a:t>      "published_or_updated_at": "2026-06"</a:t>
            </a:r>
          </a:p>
          <a:p>
            <a:r>
              <a:t>    },</a:t>
            </a:r>
          </a:p>
          <a:p>
            <a:r>
              <a:t>    {</a:t>
            </a:r>
          </a:p>
          <a:p>
            <a:r>
              <a:t>      "title": "한국관광 데이터랩 · 서울특별시 성동구 내비게이션 목적지 유형별 검색량",</a:t>
            </a:r>
          </a:p>
          <a:p>
            <a:r>
              <a:t>      "summary": "내비게이션 목적지 검색량: 89,198건 (관측 기준월: 2026-06)",</a:t>
            </a:r>
          </a:p>
          <a:p>
            <a:r>
              <a:t>      "source_id": "dataset:11200:6",</a:t>
            </a:r>
          </a:p>
          <a:p>
            <a:r>
              <a:t>      "source_url": "https://datalab.visitkorea.or.kr/",</a:t>
            </a:r>
          </a:p>
          <a:p>
            <a:r>
              <a:t>      "source_type": "dataset",</a:t>
            </a:r>
          </a:p>
          <a:p>
            <a:r>
              <a:t>      "observation_period": "2026-06",</a:t>
            </a:r>
          </a:p>
          <a:p>
            <a:r>
              <a:t>      "published_or_updated_at": "2026-06"</a:t>
            </a:r>
          </a:p>
          <a:p>
            <a:r>
              <a:t>    },</a:t>
            </a:r>
          </a:p>
          <a:p>
            <a:r>
              <a:t>    {</a:t>
            </a:r>
          </a:p>
          <a:p>
            <a:r>
              <a:t>      "title": "한국관광 데이터랩 · 서울특별시 성동구 SNS 언급량",</a:t>
            </a:r>
          </a:p>
          <a:p>
            <a:r>
              <a:t>      "summary": "SNS 언급량: 71,233건 (관측 기준월: 2026-06)",</a:t>
            </a:r>
          </a:p>
          <a:p>
            <a:r>
              <a:t>      "source_id": "dataset:11200:7",</a:t>
            </a:r>
          </a:p>
          <a:p>
            <a:r>
              <a:t>      "source_url": "https://datalab.visitkorea.or.kr/",</a:t>
            </a:r>
          </a:p>
          <a:p>
            <a:r>
              <a:t>      "source_type": "dataset",</a:t>
            </a:r>
          </a:p>
          <a:p>
            <a:r>
              <a:t>      "observation_period": "2026-06",</a:t>
            </a:r>
          </a:p>
          <a:p>
            <a:r>
              <a:t>      "published_or_updated_at": "2026-06"</a:t>
            </a:r>
          </a:p>
          <a:p>
            <a:r>
              <a:t>    },</a:t>
            </a:r>
          </a:p>
          <a:p>
            <a:r>
              <a:t>    {</a:t>
            </a:r>
          </a:p>
          <a:p>
            <a:r>
              <a:t>      "title": "한국관광 데이터랩 공식 다운로드 · 서울특별시_성동구/숙박_체류시간/2025_01_12.zip",</a:t>
            </a:r>
          </a:p>
          <a:p>
            <a:r>
              <a:t>      "summary": "전국 비교 기준 기간: 2025-07 ~ 2026-06",</a:t>
            </a:r>
          </a:p>
          <a:p>
            <a:r>
              <a:t>      "source_id": "datalab:0ea2e7ff8811:517c835e3039",</a:t>
            </a:r>
          </a:p>
          <a:p>
            <a:r>
              <a:t>      "source_url": "https://datalab.visitkorea.or.kr/",</a:t>
            </a:r>
          </a:p>
          <a:p>
            <a:r>
              <a:t>      "source_type": "nationwide_dataset",</a:t>
            </a:r>
          </a:p>
          <a:p>
            <a:r>
              <a:t>      "observation_period": "2025-07 ~ 2026-06",</a:t>
            </a:r>
          </a:p>
          <a:p>
            <a:r>
              <a:t>      "published_or_updated_at": "2024-07 ~ 2025-06"</a:t>
            </a:r>
          </a:p>
          <a:p>
            <a:r>
              <a:t>    },</a:t>
            </a:r>
          </a:p>
          <a:p>
            <a:r>
              <a:t>    {</a:t>
            </a:r>
          </a:p>
          <a:p>
            <a:r>
              <a:t>      "title": "한국관광 데이터랩 공식 다운로드 · 서울특별시_성동구/관광소비/2025_01_12.zip",</a:t>
            </a:r>
          </a:p>
          <a:p>
            <a:r>
              <a:t>      "summary": "전국 비교 기준 기간: 2025-07 ~ 2026-06",</a:t>
            </a:r>
          </a:p>
          <a:p>
            <a:r>
              <a:t>      "source_id": "datalab:3a79405535b3:68f41f6aa9c6",</a:t>
            </a:r>
          </a:p>
          <a:p>
            <a:r>
              <a:t>      "source_url": "https://datalab.visitkorea.or.kr/",</a:t>
            </a:r>
          </a:p>
          <a:p>
            <a:r>
              <a:t>      "source_type": "nationwide_dataset",</a:t>
            </a:r>
          </a:p>
          <a:p>
            <a:r>
              <a:t>      "observation_period": "2025-07 ~ 2026-06",</a:t>
            </a:r>
          </a:p>
          <a:p>
            <a:r>
              <a:t>      "published_or_updated_at": "2024-07 ~ 2025-06"</a:t>
            </a:r>
          </a:p>
          <a:p>
            <a:r>
              <a:t>    },</a:t>
            </a:r>
          </a:p>
          <a:p>
            <a:r>
              <a:t>    {</a:t>
            </a:r>
          </a:p>
          <a:p>
            <a:r>
              <a:t>      "title": "한국관광 데이터랩 공식 다운로드 · 서울특별시_성동구/숙박_체류시간/2026_01_06.zip",</a:t>
            </a:r>
          </a:p>
          <a:p>
            <a:r>
              <a:t>      "summary": "전국 비교 기준 기간: 2025-07 ~ 2026-06",</a:t>
            </a:r>
          </a:p>
          <a:p>
            <a:r>
              <a:t>      "source_id": "datalab:6217474023e5:2e717447925f",</a:t>
            </a:r>
          </a:p>
          <a:p>
            <a:r>
              <a:t>      "source_url": "https://datalab.visitkorea.or.kr/",</a:t>
            </a:r>
          </a:p>
          <a:p>
            <a:r>
              <a:t>      "source_type": "nationwide_dataset",</a:t>
            </a:r>
          </a:p>
          <a:p>
            <a:r>
              <a:t>      "observation_period": "2025-07 ~ 2026-06",</a:t>
            </a:r>
          </a:p>
          <a:p>
            <a:r>
              <a:t>      "published_or_updated_at": "2024-07 ~ 2025-06"</a:t>
            </a:r>
          </a:p>
          <a:p>
            <a:r>
              <a:t>    },</a:t>
            </a:r>
          </a:p>
          <a:p>
            <a:r>
              <a:t>    {</a:t>
            </a:r>
          </a:p>
          <a:p>
            <a:r>
              <a:t>      "title": "한국관광 데이터랩 공식 다운로드 · 서울특별시_성동구/방문자/2025_01_12.zip",</a:t>
            </a:r>
          </a:p>
          <a:p>
            <a:r>
              <a:t>      "summary": "전국 비교 기준 기간: 2025-07 ~ 2026-06",</a:t>
            </a:r>
          </a:p>
          <a:p>
            <a:r>
              <a:t>      "source_id": "datalab:62312101c8d0:9c44bd532366",</a:t>
            </a:r>
          </a:p>
          <a:p>
            <a:r>
              <a:t>      "source_url": "https://datalab.visitkorea.or.kr/",</a:t>
            </a:r>
          </a:p>
          <a:p>
            <a:r>
              <a:t>      "source_type": "nationwide_dataset",</a:t>
            </a:r>
          </a:p>
          <a:p>
            <a:r>
              <a:t>      "observation_period": "2025-07 ~ 2026-06",</a:t>
            </a:r>
          </a:p>
          <a:p>
            <a:r>
              <a:t>      "published_or_updated_at": "2024-07 ~ 2025-06"</a:t>
            </a:r>
          </a:p>
          <a:p>
            <a:r>
              <a:t>    },</a:t>
            </a:r>
          </a:p>
          <a:p>
            <a:r>
              <a:t>    {</a:t>
            </a:r>
          </a:p>
          <a:p>
            <a:r>
              <a:t>      "title": "한국관광 데이터랩 공식 다운로드 · 서울특별시_성동구/관광소비/2026_01_06.zip",</a:t>
            </a:r>
          </a:p>
          <a:p>
            <a:r>
              <a:t>      "summary": "전국 비교 기준 기간: 2025-07 ~ 2026-06",</a:t>
            </a:r>
          </a:p>
          <a:p>
            <a:r>
              <a:t>      "source_id": "datalab:7ddda0420208:c68bf7b028b0",</a:t>
            </a:r>
          </a:p>
          <a:p>
            <a:r>
              <a:t>      "source_url": "https://datalab.visitkorea.or.kr/",</a:t>
            </a:r>
          </a:p>
          <a:p>
            <a:r>
              <a:t>      "source_type": "nationwide_dataset",</a:t>
            </a:r>
          </a:p>
          <a:p>
            <a:r>
              <a:t>      "observation_period": "2025-07 ~ 2026-06",</a:t>
            </a:r>
          </a:p>
          <a:p>
            <a:r>
              <a:t>      "published_or_updated_at": "2024-07 ~ 2025-06"</a:t>
            </a:r>
          </a:p>
          <a:p>
            <a:r>
              <a:t>    },</a:t>
            </a:r>
          </a:p>
          <a:p>
            <a:r>
              <a:t>    {</a:t>
            </a:r>
          </a:p>
          <a:p>
            <a:r>
              <a:t>      "title": "한국관광 데이터랩 공식 다운로드 · 서울특별시_성동구/방문자/2026_01_06.zip",</a:t>
            </a:r>
          </a:p>
          <a:p>
            <a:r>
              <a:t>      "summary": "전국 비교 기준 기간: 2025-07 ~ 2026-06",</a:t>
            </a:r>
          </a:p>
          <a:p>
            <a:r>
              <a:t>      "source_id": "datalab:9369271c7419:76a9b6ea89d8",</a:t>
            </a:r>
          </a:p>
          <a:p>
            <a:r>
              <a:t>      "source_url": "https://datalab.visitkorea.or.kr/",</a:t>
            </a:r>
          </a:p>
          <a:p>
            <a:r>
              <a:t>      "source_type": "nationwide_dataset",</a:t>
            </a:r>
          </a:p>
          <a:p>
            <a:r>
              <a:t>      "observation_period": "2025-07 ~ 2026-06",</a:t>
            </a:r>
          </a:p>
          <a:p>
            <a:r>
              <a:t>      "published_or_updated_at": "2024-07 ~ 2025-06"</a:t>
            </a:r>
          </a:p>
          <a:p>
            <a:r>
              <a:t>    },</a:t>
            </a:r>
          </a:p>
          <a:p>
            <a:r>
              <a:t>    {</a:t>
            </a:r>
          </a:p>
          <a:p>
            <a:r>
              <a:t>      "title": "한국관광 데이터랩 전국 빅데이터 다운로드 · 이동통신/내국인/지역별 방문자수/20260820140607__202601-202606_데이터랩_다운로드.zip",</a:t>
            </a:r>
          </a:p>
          <a:p>
            <a:r>
              <a:t>      "summary": "시군구 기간합계·비중 또는 전국 월별 추이. 지역 월별 ML·정책 효과가 아닌 보조 근거.",</a:t>
            </a:r>
          </a:p>
          <a:p>
            <a:r>
              <a:t>      "source_id": "team-bigdata:23ea68053684:6bfbcf8aabf6",</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이동통신/외국인/20260820141710_전국_202601-202606_데이터랩_다운로드.zip",</a:t>
            </a:r>
          </a:p>
          <a:p>
            <a:r>
              <a:t>      "summary": "시군구 기간합계·비중 또는 전국 월별 추이. 지역 월별 ML·정책 효과가 아닌 보조 근거.",</a:t>
            </a:r>
          </a:p>
          <a:p>
            <a:r>
              <a:t>      "source_id": "team-bigdata:98d4ae590d9a:3be52dd54323",</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신용카드/내국인/지역별 관광지출액/20260820140046__202601-202606_데이터랩_다운로드.zip",</a:t>
            </a:r>
          </a:p>
          <a:p>
            <a:r>
              <a:t>      "summary": "시군구 기간합계·비중 또는 전국 월별 추이. 지역 월별 ML·정책 효과가 아닌 보조 근거.",</a:t>
            </a:r>
          </a:p>
          <a:p>
            <a:r>
              <a:t>      "source_id": "team-bigdata:367cd0294ec4:873930d645e5",</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신용카드/외국인/지역별 관광지출액/20260820140355__202601-202606_데이터랩_다운로드.zip",</a:t>
            </a:r>
          </a:p>
          <a:p>
            <a:r>
              <a:t>      "summary": "시군구 기간합계·비중 또는 전국 월별 추이. 지역 월별 ML·정책 효과가 아닌 보조 근거.",</a:t>
            </a:r>
          </a:p>
          <a:p>
            <a:r>
              <a:t>      "source_id": "team-bigdata:553a0dad4bb4:5a31355dffe8",</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네비게이션/지역별 검색건수/20260820195507__202601-202606_데이터랩_다운로드.zip",</a:t>
            </a:r>
          </a:p>
          <a:p>
            <a:r>
              <a:t>      "summary": "시군구 기간합계·비중 또는 전국 월별 추이. 지역 월별 ML·정책 효과가 아닌 보조 근거.",</a:t>
            </a:r>
          </a:p>
          <a:p>
            <a:r>
              <a:t>      "source_id": "team-bigdata:a53dbe1c21df:77a052de41d5",</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이동통신/내국인/지역별 방문자수/20260820140614__202501-202512_데이터랩_다운로드.zip",</a:t>
            </a:r>
          </a:p>
          <a:p>
            <a:r>
              <a:t>      "summary": "시군구 기간합계·비중 또는 전국 월별 추이. 지역 월별 ML·정책 효과가 아닌 보조 근거.",</a:t>
            </a:r>
          </a:p>
          <a:p>
            <a:r>
              <a:t>      "source_id": "team-bigdata:823a38d1d61c:5385261d02e5",</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이동통신/외국인/20260820141649_전국_202501-202512_데이터랩_다운로드.zip",</a:t>
            </a:r>
          </a:p>
          <a:p>
            <a:r>
              <a:t>      "summary": "시군구 기간합계·비중 또는 전국 월별 추이. 지역 월별 ML·정책 효과가 아닌 보조 근거.",</a:t>
            </a:r>
          </a:p>
          <a:p>
            <a:r>
              <a:t>      "source_id": "team-bigdata:2723bdb0d589:1666a34058ed",</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신용카드/내국인/지역별 관광지출액/20260820135957__202501-202512_데이터랩_다운로드.zip",</a:t>
            </a:r>
          </a:p>
          <a:p>
            <a:r>
              <a:t>      "summary": "시군구 기간합계·비중 또는 전국 월별 추이. 지역 월별 ML·정책 효과가 아닌 보조 근거.",</a:t>
            </a:r>
          </a:p>
          <a:p>
            <a:r>
              <a:t>      "source_id": "team-bigdata:83177a234971:c02cb7972e0f",</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신용카드/외국인/지역별 관광지출액/20260820140409__202501-202512_데이터랩_다운로드.zip",</a:t>
            </a:r>
          </a:p>
          <a:p>
            <a:r>
              <a:t>      "summary": "시군구 기간합계·비중 또는 전국 월별 추이. 지역 월별 ML·정책 효과가 아닌 보조 근거.",</a:t>
            </a:r>
          </a:p>
          <a:p>
            <a:r>
              <a:t>      "source_id": "team-bigdata:58ded7732251:589c76395cbc",</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네비게이션/지역별 검색건수/20260820132007__202501-202512_데이터랩_다운로드.zip",</a:t>
            </a:r>
          </a:p>
          <a:p>
            <a:r>
              <a:t>      "summary": "시군구 기간합계·비중 또는 전국 월별 추이. 지역 월별 ML·정책 효과가 아닌 보조 근거.",</a:t>
            </a:r>
          </a:p>
          <a:p>
            <a:r>
              <a:t>      "source_id": "team-bigdata:e28c947cb52f:bb4cb344a6ba",</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이동통신/내국인/지역별 방문자수/20260820140624__202401-202412_데이터랩_다운로드.zip",</a:t>
            </a:r>
          </a:p>
          <a:p>
            <a:r>
              <a:t>      "summary": "시군구 기간합계·비중 또는 전국 월별 추이. 지역 월별 ML·정책 효과가 아닌 보조 근거.",</a:t>
            </a:r>
          </a:p>
          <a:p>
            <a:r>
              <a:t>      "source_id": "team-bigdata:8815bbb11a39:1a5988f5f8ec",</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전국 빅데이터 다운로드 · 이동통신/외국인/20260820141639_전국_202401-202412_데이터랩_다운로드.zip",</a:t>
            </a:r>
          </a:p>
          <a:p>
            <a:r>
              <a:t>      "summary": "시군구 기간합계·비중 또는 전국 월별 추이. 지역 월별 ML·정책 효과가 아닌 보조 근거.",</a:t>
            </a:r>
          </a:p>
          <a:p>
            <a:r>
              <a:t>      "source_id": "team-bigdata:19fd67fbb73d:afa4f0f54a2f",</a:t>
            </a:r>
          </a:p>
          <a:p>
            <a:r>
              <a:t>      "source_url": "https://datalab.visitkorea.or.kr/",</a:t>
            </a:r>
          </a:p>
          <a:p>
            <a:r>
              <a:t>      "source_type": "nationwide_bigdata_dataset",</a:t>
            </a:r>
          </a:p>
          <a:p>
            <a:r>
              <a:t>      "observation_period": "2026-01 ~ 2026-06",</a:t>
            </a:r>
          </a:p>
          <a:p>
            <a:r>
              <a:t>      "source_review_status": "needs_exact_download_url",</a:t>
            </a:r>
          </a:p>
          <a:p>
            <a:r>
              <a:t>      "published_or_updated_at": ""</a:t>
            </a:r>
          </a:p>
          <a:p>
            <a:r>
              <a:t>    },</a:t>
            </a:r>
          </a:p>
          <a:p>
            <a:r>
              <a:t>    {</a:t>
            </a:r>
          </a:p>
          <a:p>
            <a:r>
              <a:t>      "title": "한국관광 데이터랩 지역별 관광 현황 · 서울특별시 성동구 · 인기관광지",</a:t>
            </a:r>
          </a:p>
          <a:p>
            <a:r>
              <a:t>      "summary": "관측 기간: 2025-07 ~ 2026-06. 유입·유출·인기장소 또는 30일 집중 운영 신호.",</a:t>
            </a:r>
          </a:p>
          <a:p>
            <a:r>
              <a:t>      "source_id": "regional-status:300d117a9148:9b5e59efa799",</a:t>
            </a:r>
          </a:p>
          <a:p>
            <a:r>
              <a:t>      "source_url": "https://datalab.visitkorea.or.kr/",</a:t>
            </a:r>
          </a:p>
          <a:p>
            <a:r>
              <a:t>      "source_type": "regional_tourism_status",</a:t>
            </a:r>
          </a:p>
          <a:p>
            <a:r>
              <a:t>      "observation_period": "2025-07 ~ 2026-06",</a:t>
            </a:r>
          </a:p>
          <a:p>
            <a:r>
              <a:t>      "published_or_updated_at": ""</a:t>
            </a:r>
          </a:p>
          <a:p>
            <a:r>
              <a:t>    },</a:t>
            </a:r>
          </a:p>
          <a:p>
            <a:r>
              <a:t>    {</a:t>
            </a:r>
          </a:p>
          <a:p>
            <a:r>
              <a:t>      "title": "한국관광 데이터랩 지역별 관광 현황 · 서울특별시 성동구 · 유입유출",</a:t>
            </a:r>
          </a:p>
          <a:p>
            <a:r>
              <a:t>      "summary": "관측 기간: 2025-07 ~ 2026-06. 유입·유출·인기장소 또는 30일 집중 운영 신호.",</a:t>
            </a:r>
          </a:p>
          <a:p>
            <a:r>
              <a:t>      "source_id": "regional-status:e1f4d12a3396:706443b7ba17",</a:t>
            </a:r>
          </a:p>
          <a:p>
            <a:r>
              <a:t>      "source_url": "https://datalab.visitkorea.or.kr/",</a:t>
            </a:r>
          </a:p>
          <a:p>
            <a:r>
              <a:t>      "source_type": "regional_tourism_status",</a:t>
            </a:r>
          </a:p>
          <a:p>
            <a:r>
              <a:t>      "observation_period": "2025-07 ~ 2026-06",</a:t>
            </a:r>
          </a:p>
          <a:p>
            <a:r>
              <a:t>      "published_or_updated_at": ""</a:t>
            </a:r>
          </a:p>
          <a:p>
            <a:r>
              <a:t>    },</a:t>
            </a:r>
          </a:p>
          <a:p>
            <a:r>
              <a:t>    {</a:t>
            </a:r>
          </a:p>
          <a:p>
            <a:r>
              <a:t>      "title": "한국관광 데이터랩 지역별 관광 현황 · 서울특별시 성동구 · 지역집중률",</a:t>
            </a:r>
          </a:p>
          <a:p>
            <a:r>
              <a:t>      "summary": "관측 기간: 2025-07 ~ 2026-06. 유입·유출·인기장소 또는 30일 집중 운영 신호.",</a:t>
            </a:r>
          </a:p>
          <a:p>
            <a:r>
              <a:t>      "source_id": "regional-status:f05693fd34a7:ae929e215d91",</a:t>
            </a:r>
          </a:p>
          <a:p>
            <a:r>
              <a:t>      "source_url": "https://datalab.visitkorea.or.kr/",</a:t>
            </a:r>
          </a:p>
          <a:p>
            <a:r>
              <a:t>      "source_type": "regional_tourism_status",</a:t>
            </a:r>
          </a:p>
          <a:p>
            <a:r>
              <a:t>      "observation_period": "2025-07 ~ 2026-06",</a:t>
            </a:r>
          </a:p>
          <a:p>
            <a:r>
              <a:t>      "published_or_updated_at": ""</a:t>
            </a:r>
          </a:p>
          <a:p>
            <a:r>
              <a:t>    },</a:t>
            </a:r>
          </a:p>
          <a:p>
            <a:r>
              <a:t>    {</a:t>
            </a:r>
          </a:p>
          <a:p>
            <a:r>
              <a:t>      "title": "지역 관광수요 ML 전망 · 공식 관측값 아님",</a:t>
            </a:r>
          </a:p>
          <a:p>
            <a:r>
              <a:t>      "summary": "학습 202401~202606 · 모델 regional-demand-v3.1 · 자연 추세 예측",</a:t>
            </a:r>
          </a:p>
          <a:p>
            <a:r>
              <a:t>      "source_id": "ml:11200:regional-demand-v3.1:202606",</a:t>
            </a:r>
          </a:p>
          <a:p>
            <a:r>
              <a:t>      "source_url": "",</a:t>
            </a:r>
          </a:p>
          <a:p>
            <a:r>
              <a:t>      "source_type": "model_forecast",</a:t>
            </a:r>
          </a:p>
          <a:p>
            <a:r>
              <a:t>      "model_version": "regional-demand-v3.1",</a:t>
            </a:r>
          </a:p>
          <a:p>
            <a:r>
              <a:t>      "data_fingerprint": "c47c92e05a4d54565864c2c7d1091d0c4f29ba1e6f45559f77d766e9c92e6d24"</a:t>
            </a:r>
          </a:p>
          <a:p>
            <a:r>
              <a:t>    },</a:t>
            </a:r>
          </a:p>
          <a:p>
            <a:r>
              <a:t>    {</a:t>
            </a:r>
          </a:p>
          <a:p>
            <a:r>
              <a:t>      "title": "가조쿠",</a:t>
            </a:r>
          </a:p>
          <a:p>
            <a:r>
              <a:t>      "address": "서울특별시 성동구 연무장길 31-2 (성수동2가)",</a:t>
            </a:r>
          </a:p>
          <a:p>
            <a:r>
              <a:t>      "summary": "한국관광공사 국문관광정보 API가 반환한 선택 지역 관광자원",</a:t>
            </a:r>
          </a:p>
          <a:p>
            <a:r>
              <a:t>      "image_url": "http://tong.visitkorea.or.kr/cms/resource/12/2901212_image2_1.jpg",</a:t>
            </a:r>
          </a:p>
          <a:p>
            <a:r>
              <a:t>      "source_id": "tour-api:2901229",</a:t>
            </a:r>
          </a:p>
          <a:p>
            <a:r>
              <a:t>      "content_id": "2901229",</a:t>
            </a:r>
          </a:p>
          <a:p>
            <a:r>
              <a:t>      "source_url": "https://apis.data.go.kr/B551011/KorService2",</a:t>
            </a:r>
          </a:p>
          <a:p>
            <a:r>
              <a:t>      "source_type": "open_api",</a:t>
            </a:r>
          </a:p>
          <a:p>
            <a:r>
              <a:t>      "content_type_id": "39"</a:t>
            </a:r>
          </a:p>
          <a:p>
            <a:r>
              <a:t>    },</a:t>
            </a:r>
          </a:p>
          <a:p>
            <a:r>
              <a:t>    {</a:t>
            </a:r>
          </a:p>
          <a:p>
            <a:r>
              <a:t>      "title": "계월",</a:t>
            </a:r>
          </a:p>
          <a:p>
            <a:r>
              <a:t>      "address": "서울특별시 성동구 성덕정3길 8 (성수동1가)",</a:t>
            </a:r>
          </a:p>
          <a:p>
            <a:r>
              <a:t>      "summary": "한국관광공사 국문관광정보 API가 반환한 선택 지역 관광자원",</a:t>
            </a:r>
          </a:p>
          <a:p>
            <a:r>
              <a:t>      "image_url": "http://tong.visitkorea.or.kr/cms/resource/44/2895144_image2_1.JPG",</a:t>
            </a:r>
          </a:p>
          <a:p>
            <a:r>
              <a:t>      "source_id": "tour-api:2895161",</a:t>
            </a:r>
          </a:p>
          <a:p>
            <a:r>
              <a:t>      "content_id": "2895161",</a:t>
            </a:r>
          </a:p>
          <a:p>
            <a:r>
              <a:t>      "source_url": "https://apis.data.go.kr/B551011/KorService2",</a:t>
            </a:r>
          </a:p>
          <a:p>
            <a:r>
              <a:t>      "source_type": "open_api",</a:t>
            </a:r>
          </a:p>
          <a:p>
            <a:r>
              <a:t>      "content_type_id": "39"</a:t>
            </a:r>
          </a:p>
          <a:p>
            <a:r>
              <a:t>    },</a:t>
            </a:r>
          </a:p>
          <a:p>
            <a:r>
              <a:t>    {</a:t>
            </a:r>
          </a:p>
          <a:p>
            <a:r>
              <a:t>      "title": "계자람",</a:t>
            </a:r>
          </a:p>
          <a:p>
            <a:r>
              <a:t>      "address": "서울특별시 성동구 성덕정17길 5 (성수동2가)",</a:t>
            </a:r>
          </a:p>
          <a:p>
            <a:r>
              <a:t>      "summary": "한국관광공사 국문관광정보 API가 반환한 선택 지역 관광자원",</a:t>
            </a:r>
          </a:p>
          <a:p>
            <a:r>
              <a:t>      "image_url": "http://tong.visitkorea.or.kr/cms/resource/51/2901351_image2_1.jpg",</a:t>
            </a:r>
          </a:p>
          <a:p>
            <a:r>
              <a:t>      "source_id": "tour-api:2901359",</a:t>
            </a:r>
          </a:p>
          <a:p>
            <a:r>
              <a:t>      "content_id": "2901359",</a:t>
            </a:r>
          </a:p>
          <a:p>
            <a:r>
              <a:t>      "source_url": "https://apis.data.go.kr/B551011/KorService2",</a:t>
            </a:r>
          </a:p>
          <a:p>
            <a:r>
              <a:t>      "source_type": "open_api",</a:t>
            </a:r>
          </a:p>
          <a:p>
            <a:r>
              <a:t>      "content_type_id": "39"</a:t>
            </a:r>
          </a:p>
          <a:p>
            <a:r>
              <a:t>    },</a:t>
            </a:r>
          </a:p>
          <a:p>
            <a:r>
              <a:t>    {</a:t>
            </a:r>
          </a:p>
          <a:p>
            <a:r>
              <a:t>      "title": "구욱희씨",</a:t>
            </a:r>
          </a:p>
          <a:p>
            <a:r>
              <a:t>      "address": "서울특별시 성동구 서울숲4길 12-22",</a:t>
            </a:r>
          </a:p>
          <a:p>
            <a:r>
              <a:t>      "summary": "한국관광공사 국문관광정보 API가 반환한 선택 지역 관광자원",</a:t>
            </a:r>
          </a:p>
          <a:p>
            <a:r>
              <a:t>      "image_url": "http://tong.visitkorea.or.kr/cms/resource/08/2895208_image2_1.jpg",</a:t>
            </a:r>
          </a:p>
          <a:p>
            <a:r>
              <a:t>      "source_id": "tour-api:2895211",</a:t>
            </a:r>
          </a:p>
          <a:p>
            <a:r>
              <a:t>      "content_id": "2895211",</a:t>
            </a:r>
          </a:p>
          <a:p>
            <a:r>
              <a:t>      "source_url": "https://apis.data.go.kr/B551011/KorService2",</a:t>
            </a:r>
          </a:p>
          <a:p>
            <a:r>
              <a:t>      "source_type": "open_api",</a:t>
            </a:r>
          </a:p>
          <a:p>
            <a:r>
              <a:t>      "content_type_id": "39"</a:t>
            </a:r>
          </a:p>
          <a:p>
            <a:r>
              <a:t>    },</a:t>
            </a:r>
          </a:p>
          <a:p>
            <a:r>
              <a:t>    {</a:t>
            </a:r>
          </a:p>
          <a:p>
            <a:r>
              <a:t>      "title": "구펠",</a:t>
            </a:r>
          </a:p>
          <a:p>
            <a:r>
              <a:t>      "address": "서울특별시 성동구 왕십리로14길 30-1 (성수동1가)",</a:t>
            </a:r>
          </a:p>
          <a:p>
            <a:r>
              <a:t>      "summary": "한국관광공사 국문관광정보 API가 반환한 선택 지역 관광자원",</a:t>
            </a:r>
          </a:p>
          <a:p>
            <a:r>
              <a:t>      "image_url": "http://tong.visitkorea.or.kr/cms/resource/26/2895226_image2_1.jpg",</a:t>
            </a:r>
          </a:p>
          <a:p>
            <a:r>
              <a:t>      "source_id": "tour-api:2895236",</a:t>
            </a:r>
          </a:p>
          <a:p>
            <a:r>
              <a:t>      "content_id": "2895236",</a:t>
            </a:r>
          </a:p>
          <a:p>
            <a:r>
              <a:t>      "source_url": "https://apis.data.go.kr/B551011/KorService2",</a:t>
            </a:r>
          </a:p>
          <a:p>
            <a:r>
              <a:t>      "source_type": "open_api",</a:t>
            </a:r>
          </a:p>
          <a:p>
            <a:r>
              <a:t>      "content_type_id": "39"</a:t>
            </a:r>
          </a:p>
          <a:p>
            <a:r>
              <a:t>    },</a:t>
            </a:r>
          </a:p>
          <a:p>
            <a:r>
              <a:t>    {</a:t>
            </a:r>
          </a:p>
          <a:p>
            <a:r>
              <a:t>      "title": "그라데이션커피",</a:t>
            </a:r>
          </a:p>
          <a:p>
            <a:r>
              <a:t>      "address": "서울특별시 성동구 상원12길 24-1 (성수동1가)",</a:t>
            </a:r>
          </a:p>
          <a:p>
            <a:r>
              <a:t>      "summary": "한국관광공사 국문관광정보 API가 반환한 선택 지역 관광자원",</a:t>
            </a:r>
          </a:p>
          <a:p>
            <a:r>
              <a:t>      "image_url": "http://tong.visitkorea.or.kr/cms/resource/82/2898982_image2_1.jpg",</a:t>
            </a:r>
          </a:p>
          <a:p>
            <a:r>
              <a:t>      "source_id": "tour-api:2898994",</a:t>
            </a:r>
          </a:p>
          <a:p>
            <a:r>
              <a:t>      "content_id": "2898994",</a:t>
            </a:r>
          </a:p>
          <a:p>
            <a:r>
              <a:t>      "source_url": "https://apis.data.go.kr/B551011/KorService2",</a:t>
            </a:r>
          </a:p>
          <a:p>
            <a:r>
              <a:t>      "source_type": "open_api",</a:t>
            </a:r>
          </a:p>
          <a:p>
            <a:r>
              <a:t>      "content_type_id": "39"</a:t>
            </a:r>
          </a:p>
          <a:p>
            <a:r>
              <a:t>    },</a:t>
            </a:r>
          </a:p>
          <a:p>
            <a:r>
              <a:t>    {</a:t>
            </a:r>
          </a:p>
          <a:p>
            <a:r>
              <a:t>      "title": "그린랩",</a:t>
            </a:r>
          </a:p>
          <a:p>
            <a:r>
              <a:t>      "address": "서울특별시 성동구 서울숲2길 18-11",</a:t>
            </a:r>
          </a:p>
          <a:p>
            <a:r>
              <a:t>      "summary": "한국관광공사 국문관광정보 API가 반환한 선택 지역 관광자원",</a:t>
            </a:r>
          </a:p>
          <a:p>
            <a:r>
              <a:t>      "image_url": "http://tong.visitkorea.or.kr/cms/resource/64/2894864_image2_1.JPG",</a:t>
            </a:r>
          </a:p>
          <a:p>
            <a:r>
              <a:t>      "source_id": "tour-api:2894873",</a:t>
            </a:r>
          </a:p>
          <a:p>
            <a:r>
              <a:t>      "content_id": "2894873",</a:t>
            </a:r>
          </a:p>
          <a:p>
            <a:r>
              <a:t>      "source_url": "https://apis.data.go.kr/B551011/KorService2",</a:t>
            </a:r>
          </a:p>
          <a:p>
            <a:r>
              <a:t>      "source_type": "open_api",</a:t>
            </a:r>
          </a:p>
          <a:p>
            <a:r>
              <a:t>      "content_type_id": "39"</a:t>
            </a:r>
          </a:p>
          <a:p>
            <a:r>
              <a:t>    },</a:t>
            </a:r>
          </a:p>
          <a:p>
            <a:r>
              <a:t>    {</a:t>
            </a:r>
          </a:p>
          <a:p>
            <a:r>
              <a:t>      "title": "금남시장",</a:t>
            </a:r>
          </a:p>
          <a:p>
            <a:r>
              <a:t>      "address": "서울특별시 성동구 독서당로 303-7 (금호동3가)",</a:t>
            </a:r>
          </a:p>
          <a:p>
            <a:r>
              <a:t>      "summary": "한국관광공사 국문관광정보 API가 반환한 선택 지역 관광자원",</a:t>
            </a:r>
          </a:p>
          <a:p>
            <a:r>
              <a:t>      "image_url": "http://tong.visitkorea.or.kr/cms/resource/59/3414159_image2_1.jpg",</a:t>
            </a:r>
          </a:p>
          <a:p>
            <a:r>
              <a:t>      "source_id": "tour-api:2743748",</a:t>
            </a:r>
          </a:p>
          <a:p>
            <a:r>
              <a:t>      "content_id": "2743748",</a:t>
            </a:r>
          </a:p>
          <a:p>
            <a:r>
              <a:t>      "source_url": "https://apis.data.go.kr/B551011/KorService2",</a:t>
            </a:r>
          </a:p>
          <a:p>
            <a:r>
              <a:t>      "source_type": "open_api",</a:t>
            </a:r>
          </a:p>
          <a:p>
            <a:r>
              <a:t>      "content_type_id": "38"</a:t>
            </a:r>
          </a:p>
          <a:p>
            <a:r>
              <a:t>    },</a:t>
            </a:r>
          </a:p>
          <a:p>
            <a:r>
              <a:t>    {</a:t>
            </a:r>
          </a:p>
          <a:p>
            <a:r>
              <a:t>      "title": "기후",</a:t>
            </a:r>
          </a:p>
          <a:p>
            <a:r>
              <a:t>      "address": "서울특별시 성동구 성수이로 66 서울숲 드림타워",</a:t>
            </a:r>
          </a:p>
          <a:p>
            <a:r>
              <a:t>      "summary": "한국관광공사 국문관광정보 API가 반환한 선택 지역 관광자원",</a:t>
            </a:r>
          </a:p>
          <a:p>
            <a:r>
              <a:t>      "image_url": "http://tong.visitkorea.or.kr/cms/resource/59/2901559_image2_1.jpg",</a:t>
            </a:r>
          </a:p>
          <a:p>
            <a:r>
              <a:t>      "source_id": "tour-api:2901568",</a:t>
            </a:r>
          </a:p>
          <a:p>
            <a:r>
              <a:t>      "content_id": "2901568",</a:t>
            </a:r>
          </a:p>
          <a:p>
            <a:r>
              <a:t>      "source_url": "https://apis.data.go.kr/B551011/KorService2",</a:t>
            </a:r>
          </a:p>
          <a:p>
            <a:r>
              <a:t>      "source_type": "open_api",</a:t>
            </a:r>
          </a:p>
          <a:p>
            <a:r>
              <a:t>      "content_type_id": "39"</a:t>
            </a:r>
          </a:p>
          <a:p>
            <a:r>
              <a:t>    },</a:t>
            </a:r>
          </a:p>
          <a:p>
            <a:r>
              <a:t>    {</a:t>
            </a:r>
          </a:p>
          <a:p>
            <a:r>
              <a:t>      "title": "꾸아 성수점",</a:t>
            </a:r>
          </a:p>
          <a:p>
            <a:r>
              <a:t>      "address": "서울특별시 성동구 왕십리로 94-2 (성수동1가)",</a:t>
            </a:r>
          </a:p>
          <a:p>
            <a:r>
              <a:t>      "summary": "한국관광공사 국문관광정보 API가 반환한 선택 지역 관광자원",</a:t>
            </a:r>
          </a:p>
          <a:p>
            <a:r>
              <a:t>      "image_url": "http://tong.visitkorea.or.kr/cms/resource/17/2894817_image2_1.jpg",</a:t>
            </a:r>
          </a:p>
          <a:p>
            <a:r>
              <a:t>      "source_id": "tour-api:2894842",</a:t>
            </a:r>
          </a:p>
          <a:p>
            <a:r>
              <a:t>      "content_id": "2894842",</a:t>
            </a:r>
          </a:p>
          <a:p>
            <a:r>
              <a:t>      "source_url": "https://apis.data.go.kr/B551011/KorService2",</a:t>
            </a:r>
          </a:p>
          <a:p>
            <a:r>
              <a:t>      "source_type": "open_api",</a:t>
            </a:r>
          </a:p>
          <a:p>
            <a:r>
              <a:t>      "content_type_id": "39"</a:t>
            </a:r>
          </a:p>
          <a:p>
            <a:r>
              <a:t>    },</a:t>
            </a:r>
          </a:p>
          <a:p>
            <a:r>
              <a:t>    {</a:t>
            </a:r>
          </a:p>
          <a:p>
            <a:r>
              <a:t>      "title": "난포",</a:t>
            </a:r>
          </a:p>
          <a:p>
            <a:r>
              <a:t>      "address": "서울특별시 성동구 서울숲4길 18-8 (성수동1가)",</a:t>
            </a:r>
          </a:p>
          <a:p>
            <a:r>
              <a:t>      "summary": "한국관광공사 국문관광정보 API가 반환한 선택 지역 관광자원",</a:t>
            </a:r>
          </a:p>
          <a:p>
            <a:r>
              <a:t>      "image_url": "http://tong.visitkorea.or.kr/cms/resource/15/2843515_image2_1.jpg",</a:t>
            </a:r>
          </a:p>
          <a:p>
            <a:r>
              <a:t>      "source_id": "tour-api:2843520",</a:t>
            </a:r>
          </a:p>
          <a:p>
            <a:r>
              <a:t>      "content_id": "2843520",</a:t>
            </a:r>
          </a:p>
          <a:p>
            <a:r>
              <a:t>      "source_url": "https://apis.data.go.kr/B551011/KorService2",</a:t>
            </a:r>
          </a:p>
          <a:p>
            <a:r>
              <a:t>      "source_type": "open_api",</a:t>
            </a:r>
          </a:p>
          <a:p>
            <a:r>
              <a:t>      "content_type_id": "39"</a:t>
            </a:r>
          </a:p>
          <a:p>
            <a:r>
              <a:t>    },</a:t>
            </a:r>
          </a:p>
          <a:p>
            <a:r>
              <a:t>    {</a:t>
            </a:r>
          </a:p>
          <a:p>
            <a:r>
              <a:t>      "title": "누메로도스",</a:t>
            </a:r>
          </a:p>
          <a:p>
            <a:r>
              <a:t>      "address": "서울특별시 성동구 상원1길 35-9 (성수동1가)",</a:t>
            </a:r>
          </a:p>
          <a:p>
            <a:r>
              <a:t>      "summary": "한국관광공사 국문관광정보 API가 반환한 선택 지역 관광자원",</a:t>
            </a:r>
          </a:p>
          <a:p>
            <a:r>
              <a:t>      "image_url": "http://tong.visitkorea.or.kr/cms/resource/99/2894799_image2_1.jpg",</a:t>
            </a:r>
          </a:p>
          <a:p>
            <a:r>
              <a:t>      "source_id": "tour-api:2894810",</a:t>
            </a:r>
          </a:p>
          <a:p>
            <a:r>
              <a:t>      "content_id": "2894810",</a:t>
            </a:r>
          </a:p>
          <a:p>
            <a:r>
              <a:t>      "source_url": "https://apis.data.go.kr/B551011/KorService2",</a:t>
            </a:r>
          </a:p>
          <a:p>
            <a:r>
              <a:t>      "source_type": "open_api",</a:t>
            </a:r>
          </a:p>
          <a:p>
            <a:r>
              <a:t>      "content_type_id": "39"</a:t>
            </a:r>
          </a:p>
          <a:p>
            <a:r>
              <a:t>    },</a:t>
            </a:r>
          </a:p>
          <a:p>
            <a:r>
              <a:t>    {</a:t>
            </a:r>
          </a:p>
          <a:p>
            <a:r>
              <a:t>      "title": "누메로뜨레쓰",</a:t>
            </a:r>
          </a:p>
          <a:p>
            <a:r>
              <a:t>      "address": "서울특별시 성동구 성수일로 21 (성수동1가)",</a:t>
            </a:r>
          </a:p>
          <a:p>
            <a:r>
              <a:t>      "summary": "한국관광공사 국문관광정보 API가 반환한 선택 지역 관광자원",</a:t>
            </a:r>
          </a:p>
          <a:p>
            <a:r>
              <a:t>      "image_url": "http://tong.visitkorea.or.kr/cms/resource/76/2894776_image2_1.jpg",</a:t>
            </a:r>
          </a:p>
          <a:p>
            <a:r>
              <a:t>      "source_id": "tour-api:2894795",</a:t>
            </a:r>
          </a:p>
          <a:p>
            <a:r>
              <a:t>      "content_id": "2894795",</a:t>
            </a:r>
          </a:p>
          <a:p>
            <a:r>
              <a:t>      "source_url": "https://apis.data.go.kr/B551011/KorService2",</a:t>
            </a:r>
          </a:p>
          <a:p>
            <a:r>
              <a:t>      "source_type": "open_api",</a:t>
            </a:r>
          </a:p>
          <a:p>
            <a:r>
              <a:t>      "content_type_id": "39"</a:t>
            </a:r>
          </a:p>
          <a:p>
            <a:r>
              <a:t>    },</a:t>
            </a:r>
          </a:p>
          <a:p>
            <a:r>
              <a:t>    {</a:t>
            </a:r>
          </a:p>
          <a:p>
            <a:r>
              <a:t>      "title": "니드스윗",</a:t>
            </a:r>
          </a:p>
          <a:p>
            <a:r>
              <a:t>      "address": "서울특별시 성동구 아차산로1길 9",</a:t>
            </a:r>
          </a:p>
          <a:p>
            <a:r>
              <a:t>      "summary": "한국관광공사 국문관광정보 API가 반환한 선택 지역 관광자원",</a:t>
            </a:r>
          </a:p>
          <a:p>
            <a:r>
              <a:t>      "image_url": "http://tong.visitkorea.or.kr/cms/resource/55/2894755_image2_1.jpg",</a:t>
            </a:r>
          </a:p>
          <a:p>
            <a:r>
              <a:t>      "source_id": "tour-api:2894763",</a:t>
            </a:r>
          </a:p>
          <a:p>
            <a:r>
              <a:t>      "content_id": "2894763",</a:t>
            </a:r>
          </a:p>
          <a:p>
            <a:r>
              <a:t>      "source_url": "https://apis.data.go.kr/B551011/KorService2",</a:t>
            </a:r>
          </a:p>
          <a:p>
            <a:r>
              <a:t>      "source_type": "open_api",</a:t>
            </a:r>
          </a:p>
          <a:p>
            <a:r>
              <a:t>      "content_type_id": "39"</a:t>
            </a:r>
          </a:p>
          <a:p>
            <a:r>
              <a:t>    },</a:t>
            </a:r>
          </a:p>
          <a:p>
            <a:r>
              <a:t>    {</a:t>
            </a:r>
          </a:p>
          <a:p>
            <a:r>
              <a:t>      "title": "단일서울",</a:t>
            </a:r>
          </a:p>
          <a:p>
            <a:r>
              <a:t>      "address": "서울특별시 성동구 왕십리로 66-33 (성수동1가)",</a:t>
            </a:r>
          </a:p>
          <a:p>
            <a:r>
              <a:t>      "summary": "한국관광공사 국문관광정보 API가 반환한 선택 지역 관광자원",</a:t>
            </a:r>
          </a:p>
          <a:p>
            <a:r>
              <a:t>      "image_url": "http://tong.visitkorea.or.kr/cms/resource/34/2894734_image2_1.jpg",</a:t>
            </a:r>
          </a:p>
          <a:p>
            <a:r>
              <a:t>      "source_id": "tour-api:2894747",</a:t>
            </a:r>
          </a:p>
          <a:p>
            <a:r>
              <a:t>      "content_id": "2894747",</a:t>
            </a:r>
          </a:p>
          <a:p>
            <a:r>
              <a:t>      "source_url": "https://apis.data.go.kr/B551011/KorService2",</a:t>
            </a:r>
          </a:p>
          <a:p>
            <a:r>
              <a:t>      "source_type": "open_api",</a:t>
            </a:r>
          </a:p>
          <a:p>
            <a:r>
              <a:t>      "content_type_id": "39"</a:t>
            </a:r>
          </a:p>
          <a:p>
            <a:r>
              <a:t>    },</a:t>
            </a:r>
          </a:p>
          <a:p>
            <a:r>
              <a:t>    {</a:t>
            </a:r>
          </a:p>
          <a:p>
            <a:r>
              <a:t>      "title": "대돈집",</a:t>
            </a:r>
          </a:p>
          <a:p>
            <a:r>
              <a:t>      "address": "서울특별시 성동구 왕십리로14길 18 뚝섬영재어린이집",</a:t>
            </a:r>
          </a:p>
          <a:p>
            <a:r>
              <a:t>      "summary": "한국관광공사 국문관광정보 API가 반환한 선택 지역 관광자원",</a:t>
            </a:r>
          </a:p>
          <a:p>
            <a:r>
              <a:t>      "image_url": "http://tong.visitkorea.or.kr/cms/resource/33/2894833_image2_1.jpg",</a:t>
            </a:r>
          </a:p>
          <a:p>
            <a:r>
              <a:t>      "source_id": "tour-api:2894854",</a:t>
            </a:r>
          </a:p>
          <a:p>
            <a:r>
              <a:t>      "content_id": "2894854",</a:t>
            </a:r>
          </a:p>
          <a:p>
            <a:r>
              <a:t>      "source_url": "https://apis.data.go.kr/B551011/KorService2",</a:t>
            </a:r>
          </a:p>
          <a:p>
            <a:r>
              <a:t>      "source_type": "open_api",</a:t>
            </a:r>
          </a:p>
          <a:p>
            <a:r>
              <a:t>      "content_type_id": "39"</a:t>
            </a:r>
          </a:p>
          <a:p>
            <a:r>
              <a:t>    },</a:t>
            </a:r>
          </a:p>
          <a:p>
            <a:r>
              <a:t>    {</a:t>
            </a:r>
          </a:p>
          <a:p>
            <a:r>
              <a:t>      "title": "대흥정육식당",</a:t>
            </a:r>
          </a:p>
          <a:p>
            <a:r>
              <a:t>      "address": "서울특별시 성동구 왕십리로 16 (성수동1가, 트리마제)",</a:t>
            </a:r>
          </a:p>
          <a:p>
            <a:r>
              <a:t>      "summary": "한국관광공사 국문관광정보 API가 반환한 선택 지역 관광자원",</a:t>
            </a:r>
          </a:p>
          <a:p>
            <a:r>
              <a:t>      "image_url": "http://tong.visitkorea.or.kr/cms/resource/97/2898997_image2_1.jpg",</a:t>
            </a:r>
          </a:p>
          <a:p>
            <a:r>
              <a:t>      "source_id": "tour-api:2899012",</a:t>
            </a:r>
          </a:p>
          <a:p>
            <a:r>
              <a:t>      "content_id": "2899012",</a:t>
            </a:r>
          </a:p>
          <a:p>
            <a:r>
              <a:t>      "source_url": "https://apis.data.go.kr/B551011/KorService2",</a:t>
            </a:r>
          </a:p>
          <a:p>
            <a:r>
              <a:t>      "source_type": "open_api",</a:t>
            </a:r>
          </a:p>
          <a:p>
            <a:r>
              <a:t>      "content_type_id": "39"</a:t>
            </a:r>
          </a:p>
          <a:p>
            <a:r>
              <a:t>    },</a:t>
            </a:r>
          </a:p>
          <a:p>
            <a:r>
              <a:t>    {</a:t>
            </a:r>
          </a:p>
          <a:p>
            <a:r>
              <a:t>      "title": "더서울라이티움",</a:t>
            </a:r>
          </a:p>
          <a:p>
            <a:r>
              <a:t>      "address": "서울특별시 성동구 서울숲2길 32-14 (성수동1가, 갤러리아 포레)",</a:t>
            </a:r>
          </a:p>
          <a:p>
            <a:r>
              <a:t>      "summary": "한국관광공사 국문관광정보 API가 반환한 선택 지역 관광자원",</a:t>
            </a:r>
          </a:p>
          <a:p>
            <a:r>
              <a:t>      "image_url": "http://tong.visitkorea.or.kr/cms/resource/37/3401437_image2_1.JPG",</a:t>
            </a:r>
          </a:p>
          <a:p>
            <a:r>
              <a:t>      "source_id": "tour-api:2753089",</a:t>
            </a:r>
          </a:p>
          <a:p>
            <a:r>
              <a:t>      "content_id": "2753089",</a:t>
            </a:r>
          </a:p>
          <a:p>
            <a:r>
              <a:t>      "source_url": "https://apis.data.go.kr/B551011/KorService2",</a:t>
            </a:r>
          </a:p>
          <a:p>
            <a:r>
              <a:t>      "source_type": "open_api",</a:t>
            </a:r>
          </a:p>
          <a:p>
            <a:r>
              <a:t>      "content_type_id": "14"</a:t>
            </a:r>
          </a:p>
          <a:p>
            <a:r>
              <a:t>    },</a:t>
            </a:r>
          </a:p>
          <a:p>
            <a:r>
              <a:t>    {</a:t>
            </a:r>
          </a:p>
          <a:p>
            <a:r>
              <a:t>      "title": "더페이지갤러리",</a:t>
            </a:r>
          </a:p>
          <a:p>
            <a:r>
              <a:t>      "address": "서울특별시 성동구 서울숲2길 32-14 (성수동1가, 갤러리아 포레)",</a:t>
            </a:r>
          </a:p>
          <a:p>
            <a:r>
              <a:t>      "summary": "한국관광공사 국문관광정보 API가 반환한 선택 지역 관광자원",</a:t>
            </a:r>
          </a:p>
          <a:p>
            <a:r>
              <a:t>      "image_url": "http://tong.visitkorea.or.kr/cms/resource/89/2368189_image2_1.JPG",</a:t>
            </a:r>
          </a:p>
          <a:p>
            <a:r>
              <a:t>      "source_id": "tour-api:736766",</a:t>
            </a:r>
          </a:p>
          <a:p>
            <a:r>
              <a:t>      "content_id": "736766",</a:t>
            </a:r>
          </a:p>
          <a:p>
            <a:r>
              <a:t>      "source_url": "https://apis.data.go.kr/B551011/KorService2",</a:t>
            </a:r>
          </a:p>
          <a:p>
            <a:r>
              <a:t>      "source_type": "open_api",</a:t>
            </a:r>
          </a:p>
          <a:p>
            <a:r>
              <a:t>      "content_type_id": "14"</a:t>
            </a:r>
          </a:p>
          <a:p>
            <a:r>
              <a:t>    },</a:t>
            </a:r>
          </a:p>
          <a:p>
            <a:r>
              <a:t>    {</a:t>
            </a:r>
          </a:p>
          <a:p>
            <a:r>
              <a:t>      "title": "땅코참숯구이 본점",</a:t>
            </a:r>
          </a:p>
          <a:p>
            <a:r>
              <a:t>      "address": "서울특별시 성동구 행당로17길 26 (행당동)",</a:t>
            </a:r>
          </a:p>
          <a:p>
            <a:r>
              <a:t>      "summary": "한국관광공사 국문관광정보 API가 반환한 선택 지역 관광자원",</a:t>
            </a:r>
          </a:p>
          <a:p>
            <a:r>
              <a:t>      "image_url": "http://tong.visitkorea.or.kr/cms/resource/23/2845023_image2_1.jpg",</a:t>
            </a:r>
          </a:p>
          <a:p>
            <a:r>
              <a:t>      "source_id": "tour-api:2845040",</a:t>
            </a:r>
          </a:p>
          <a:p>
            <a:r>
              <a:t>      "content_id": "2845040",</a:t>
            </a:r>
          </a:p>
          <a:p>
            <a:r>
              <a:t>      "source_url": "https://apis.data.go.kr/B551011/KorService2",</a:t>
            </a:r>
          </a:p>
          <a:p>
            <a:r>
              <a:t>      "source_type": "open_api",</a:t>
            </a:r>
          </a:p>
          <a:p>
            <a:r>
              <a:t>      "content_type_id": "39"</a:t>
            </a:r>
          </a:p>
          <a:p>
            <a:r>
              <a:t>    },</a:t>
            </a:r>
          </a:p>
          <a:p>
            <a:r>
              <a:t>    {</a:t>
            </a:r>
          </a:p>
          <a:p>
            <a:r>
              <a:t>      "title": "요즘, 한국관광 2호 - 지방공항 연계 지역관광 활성화 방안",</a:t>
            </a:r>
          </a:p>
          <a:p>
            <a:r>
              <a:t>      "summary": "44제 2장 지방공항 연계 지역관광 활성화 방안 요즘, 한국관광 한국관광공사는 본래의 기능인 해외 홍보마케팅을 통한 인지 형성, 지역 관광생태계 육성, 관광사업 추진을 여정 단계에 맞춰 재배치해야 한다. 해외지사와 국내지사를 연결한 중점지사제를 '관문-연계도시' 단위로 운영하고, 글로벌 OTA 와 현지 여행사가 실제 상품을 만들 수 있도록 상품화 모듈과 전세·임시편 유치를 고도화하며, 선상 마케팅처럼 항공사 기내·LCC 채널을 활용한 권역 홍보를 확대할 수 있어야 할 것이다. 특히 성과지표를 입국자 수와 공급석 중심에서 '입국객의 권역 내 첫 숙박률이나, 1인당 권역 내 소비, 지방 이동 비중' 중심으로 전환하고, 통신·카드 데이터에 소셜 담론 데이터를 결합한 공항-권역 대시보드를 상시 운영해 데이터 기반 성과관리를 지속적으로 보여주는 데이터 기반의 지방공항 중심 관광권 상황실을 구축하여야 한다. 지방자치단체와 한국공항공사는 공항에서 지역 상권까지 이어지는 현장 수용태세를 보다 면밀히 고려하는 정책과 사업이 필요하다. 공항 접근 교통과 안내·결제, 다국어 환경, 터미널과 도심·거점 관광지를 잇는 셔틀, 권역 내 숙박과 야간 콘텐츠는 지자체의 실행력이 좌우하는 영역이다. 공항 소재 지자체 단위 협의를 넘어 청주는 대전·세종·충남, 대구는 경북과 함께 상품·교통·마케팅 예산을 묶는 관광권 협의체를 구성하고, 중장기적으로는 일본의 광역연계 DMO처럼 권역 단위의 상설 조직과 재원으로 발전시켜야 한다. 민관협력은 이 체계를 지속 가능하게 만드는 가장 중요한 동인이라 할 수 있다. 항공사·LCC에는 신규 노선의 초기 리스크를 지방정부·공사와 분담하는 노선 개발 협약과 기내 권역 홍보를, 글로벌 OTA·현지 여행사에는 권역 루트 상품의",</a:t>
            </a:r>
          </a:p>
          <a:p>
            <a:r>
              <a:t>      "chunk_id": "reference:kto:2026:local-airport:page:044:chunk:01",</a:t>
            </a:r>
          </a:p>
          <a:p>
            <a:r>
              <a:t>      "source_id": "reference:kto:2026:local-airport",</a:t>
            </a:r>
          </a:p>
          <a:p>
            <a:r>
              <a:t>      "source_url": "https://datalab.visitkorea.or.kr/site/portal/ex/bbs/View.do?bcIdx=311068&amp;cbIdx=1135&amp;pageIndex=1",</a:t>
            </a:r>
          </a:p>
          <a:p>
            <a:r>
              <a:t>      "case_region": "",</a:t>
            </a:r>
          </a:p>
          <a:p>
            <a:r>
              <a:t>      "region_code": "ALL",</a:t>
            </a:r>
          </a:p>
          <a:p>
            <a:r>
              <a:t>      "region_name": "전국 공통",</a:t>
            </a:r>
          </a:p>
          <a:p>
            <a:r>
              <a:t>      "source_note": "지방공항·연계 지역에 관한 자료입니다. 다른 시군구의 사업 효과·예산을 보장하는 근거로 사용하지 않습니다.",</a:t>
            </a:r>
          </a:p>
          <a:p>
            <a:r>
              <a:t>      "source_type": "rag",</a:t>
            </a:r>
          </a:p>
          <a:p>
            <a:r>
              <a:t>      "intervention": "",</a:t>
            </a:r>
          </a:p>
          <a:p>
            <a:r>
              <a:t>      "document_type": "policy",</a:t>
            </a:r>
          </a:p>
          <a:p>
            <a:r>
              <a:t>      "matched_terms": [</a:t>
            </a:r>
          </a:p>
          <a:p>
            <a:r>
              <a:t>        "결제",</a:t>
            </a:r>
          </a:p>
          <a:p>
            <a:r>
              <a:t>        "관광사업",</a:t>
            </a:r>
          </a:p>
          <a:p>
            <a:r>
              <a:t>        "상권",</a:t>
            </a:r>
          </a:p>
          <a:p>
            <a:r>
              <a:t>        "성과",</a:t>
            </a:r>
          </a:p>
          <a:p>
            <a:r>
              <a:t>        "소비",</a:t>
            </a:r>
          </a:p>
          <a:p>
            <a:r>
              <a:t>        "수와",</a:t>
            </a:r>
          </a:p>
          <a:p>
            <a:r>
              <a:t>        "숙박",</a:t>
            </a:r>
          </a:p>
          <a:p>
            <a:r>
              <a:t>        "실제",</a:t>
            </a:r>
          </a:p>
          <a:p>
            <a:r>
              <a:t>        "연결한",</a:t>
            </a:r>
          </a:p>
          <a:p>
            <a:r>
              <a:t>        "연계",</a:t>
            </a:r>
          </a:p>
          <a:p>
            <a:r>
              <a:t>        "예산",</a:t>
            </a:r>
          </a:p>
          <a:p>
            <a:r>
              <a:t>        "운영",</a:t>
            </a:r>
          </a:p>
          <a:p>
            <a:r>
              <a:t>        "이어지는",</a:t>
            </a:r>
          </a:p>
          <a:p>
            <a:r>
              <a:t>        "전환",</a:t>
            </a:r>
          </a:p>
          <a:p>
            <a:r>
              <a:t>        "중심으로",</a:t>
            </a:r>
          </a:p>
          <a:p>
            <a:r>
              <a:t>        "지역",</a:t>
            </a:r>
          </a:p>
          <a:p>
            <a:r>
              <a:t>        "체류",</a:t>
            </a:r>
          </a:p>
          <a:p>
            <a:r>
              <a:t>        "함께",</a:t>
            </a:r>
          </a:p>
          <a:p>
            <a:r>
              <a:t>        "현장",</a:t>
            </a:r>
          </a:p>
          <a:p>
            <a:r>
              <a:t>        "협약"</a:t>
            </a:r>
          </a:p>
          <a:p>
            <a:r>
              <a:t>      ],</a:t>
            </a:r>
          </a:p>
          <a:p>
            <a:r>
              <a:t>      "page_references": "PDF 44쪽, PDF 43쪽, PDF 36쪽, PDF 40쪽, PDF 41쪽, PDF 41쪽, PDF 44쪽, PDF 43쪽, PDF 43쪽",</a:t>
            </a:r>
          </a:p>
          <a:p>
            <a:r>
              <a:t>      "parent_source_id": "reference:kto:2026:local-airport",</a:t>
            </a:r>
          </a:p>
          <a:p>
            <a:r>
              <a:t>      "retrieval_method": "local_curated_chunk",</a:t>
            </a:r>
          </a:p>
          <a:p>
            <a:r>
              <a:t>      "evidence_strength": "medium",</a:t>
            </a:r>
          </a:p>
          <a:p>
            <a:r>
              <a:t>      "published_or_updated_at": "2026-08",</a:t>
            </a:r>
          </a:p>
          <a:p>
            <a:r>
              <a:t>      "chunk_ids": [</a:t>
            </a:r>
          </a:p>
          <a:p>
            <a:r>
              <a:t>        "reference:kto:2026:local-airport:page:036:chunk:01",</a:t>
            </a:r>
          </a:p>
          <a:p>
            <a:r>
              <a:t>        "reference:kto:2026:local-airport:page:040:chunk:02",</a:t>
            </a:r>
          </a:p>
          <a:p>
            <a:r>
              <a:t>        "reference:kto:2026:local-airport:page:041:chunk:01",</a:t>
            </a:r>
          </a:p>
          <a:p>
            <a:r>
              <a:t>        "reference:kto:2026:local-airport:page:041:chunk:02",</a:t>
            </a:r>
          </a:p>
          <a:p>
            <a:r>
              <a:t>        "reference:kto:2026:local-airport:page:043:chunk:01",</a:t>
            </a:r>
          </a:p>
          <a:p>
            <a:r>
              <a:t>        "reference:kto:2026:local-airport:page:043:chunk:02",</a:t>
            </a:r>
          </a:p>
          <a:p>
            <a:r>
              <a:t>        "reference:kto:2026:local-airport:page:043:chunk:03",</a:t>
            </a:r>
          </a:p>
          <a:p>
            <a:r>
              <a:t>        "reference:kto:2026:local-airport:page:044:chunk:01",</a:t>
            </a:r>
          </a:p>
          <a:p>
            <a:r>
              <a:t>        "reference:kto:2026:local-airport:page:044:chunk:02"</a:t>
            </a:r>
          </a:p>
          <a:p>
            <a:r>
              <a:t>      ],</a:t>
            </a:r>
          </a:p>
          <a:p>
            <a:r>
              <a:t>      "source_chunk_count": 9</a:t>
            </a:r>
          </a:p>
          <a:p>
            <a:r>
              <a:t>    },</a:t>
            </a:r>
          </a:p>
          <a:p>
            <a:r>
              <a:t>    {</a:t>
            </a:r>
          </a:p>
          <a:p>
            <a:r>
              <a:t>      "title": "2026 서울국제정원박람회 &lt; 행사·공연 정보 &lt; 축제·관광 &lt; 미래한강본부, 한강공원",</a:t>
            </a:r>
          </a:p>
          <a:p>
            <a:r>
              <a:t>      "summary": "2026 서울국제정원박람회는 2026년 5월 1일부터 10월 27일까지 서울숲과 성수 일대에서 운영되며, 서울숲·한강·성수동·뚝섬대정원을 연결하는 구성을 공식적으로 제시한다. 따라서 9~10월에는 별도 거점 조성보다 이 행사 구역과 충돌하지 않는 보행 안내, 체류 동선, 상권 연결을 우선 검토할 수 있다.",</a:t>
            </a:r>
          </a:p>
          <a:p>
            <a:r>
              <a:t>      "source_id": "web:11200:1",</a:t>
            </a:r>
          </a:p>
          <a:p>
            <a:r>
              <a:t>      "source_url": "https://hangang.seoul.go.kr/www/eventMng/detail.do?evntSn=378&amp;mid=538&amp;srchType=list",</a:t>
            </a:r>
          </a:p>
          <a:p>
            <a:r>
              <a:t>      "source_type": "official_web",</a:t>
            </a:r>
          </a:p>
          <a:p>
            <a:r>
              <a:t>      "why_relevant": "사업기간 2026-09-01~2026-11-30 중 9~10월이 기존 대형 행사 운영기간과 겹친다. 기존 행사와 같은 장소에서 별도 프로그램을 신설할 경우 공간·안전·운영주체 조정이 필요하므로, 보완형 운영안이 중복 위험이 낮다.",</a:t>
            </a:r>
          </a:p>
          <a:p>
            <a:r>
              <a:t>      "published_or_updated_at": "수정 2026-08-18"</a:t>
            </a:r>
          </a:p>
          <a:p>
            <a:r>
              <a:t>    },</a:t>
            </a:r>
          </a:p>
          <a:p>
            <a:r>
              <a:t>    {</a:t>
            </a:r>
          </a:p>
          <a:p>
            <a:r>
              <a:t>      "title": "개막 20일차 250만명 넘은 서울국제정원박람회… 성수 상권 매출 30% 급증 &gt; 보도자료 | 서울특별시",</a:t>
            </a:r>
          </a:p>
          <a:p>
            <a:r>
              <a:t>      "summary": "서울시는 2026 서울국제정원박람회에서 서울숲의 휴게시설을 보완해 좌석을 확충하고, 정원마켓과 3개 푸드트럭 존을 운영했다고 밝혔다. 같은 자료는 주말·주요 이벤트일에 방문객 수와 체류시간이 함께 늘었다는 분석 결과를 제시한다.",</a:t>
            </a:r>
          </a:p>
          <a:p>
            <a:r>
              <a:t>      "source_id": "web:11200:2",</a:t>
            </a:r>
          </a:p>
          <a:p>
            <a:r>
              <a:t>      "source_url": "https://www.seoul.go.kr/news/news_report.do?nttNo=458311",</a:t>
            </a:r>
          </a:p>
          <a:p>
            <a:r>
              <a:t>      "source_type": "official_web",</a:t>
            </a:r>
          </a:p>
          <a:p>
            <a:r>
              <a:t>      "why_relevant": "체류 개선 후보 중 ‘휴식 좌석·먹거리·이벤트 동선’을 결합하는 방식에 공식 현장운영 사례가 있다. 다만 이 결과는 2026 정원박람회 기간의 분석이므로, 가을 성수 사업에도 동일한 효과가 난다고 일반화하지 않고 운영조건 검토 사례로만 사용해야 한다.",</a:t>
            </a:r>
          </a:p>
          <a:p>
            <a:r>
              <a:t>      "published_or_updated_at": "등록·수정 2026-05-20"</a:t>
            </a:r>
          </a:p>
          <a:p>
            <a:r>
              <a:t>    },</a:t>
            </a:r>
          </a:p>
          <a:p>
            <a:r>
              <a:t>    {</a:t>
            </a:r>
          </a:p>
          <a:p>
            <a:r>
              <a:t>      "title": "서울숲-성수 커넥트 투어 | 2026 서울국제정원박람회",</a:t>
            </a:r>
          </a:p>
          <a:p>
            <a:r>
              <a:t>      "summary": "서울숲-성수 커넥트 투어는 성수근린공원에서 출발해 성수부터 서울숲까지 연결하는 무료 프로그램으로, 매주 화·목 13:00~14:30에 회차당 15명 내외 사전접수 방식으로 안내되었다.",</a:t>
            </a:r>
          </a:p>
          <a:p>
            <a:r>
              <a:t>      "source_id": "web:11200:3",</a:t>
            </a:r>
          </a:p>
          <a:p>
            <a:r>
              <a:t>      "source_url": "https://gov.seoul.go.kr/festa/garden/y2026/program/garden-culture-program/commentary-program?article=42926",</a:t>
            </a:r>
          </a:p>
          <a:p>
            <a:r>
              <a:t>      "source_type": "official_web",</a:t>
            </a:r>
          </a:p>
          <a:p>
            <a:r>
              <a:t>      "why_relevant": "‘공원 방문 후 성수 상권으로 이동’시키는 해설·도보 연결 방식이 실제로 운영된 공식 사례다. 권고안에서는 이 방식을 그대로 복제하기보다, 가을 행사일 및 야간 수요에 맞는 회차·집결지·예약방식으로 전환 가능한지 주최 측과 확인하는 참고사례로 활용한다.",</a:t>
            </a:r>
          </a:p>
          <a:p>
            <a:r>
              <a:t>      "published_or_updated_at": "페이지 확인일 기준 2026-09"</a:t>
            </a:r>
          </a:p>
          <a:p>
            <a:r>
              <a:t>    },</a:t>
            </a:r>
          </a:p>
          <a:p>
            <a:r>
              <a:t>    {</a:t>
            </a:r>
          </a:p>
          <a:p>
            <a:r>
              <a:t>      "title": "2026 서울축제지도 - 가을편 &lt; 공지사항(상세) &lt; 새소식 | 서울문화포털",</a:t>
            </a:r>
          </a:p>
          <a:p>
            <a:r>
              <a:t>      "summary": "크리에이티브X성수는 2026년 10월 5일부터 10월 11일까지 성수동 서울숲·언더스탠드 에비뉴 등에서 예정되어 있으며, 페어·문화 콘퍼런스·토크쇼·전시·공예 프리마켓·패션쇼·음악공연을 포함하는 글로벌 문화창조산업축제로 안내되어 있다.",</a:t>
            </a:r>
          </a:p>
          <a:p>
            <a:r>
              <a:t>      "source_id": "web:11200:4",</a:t>
            </a:r>
          </a:p>
          <a:p>
            <a:r>
              <a:t>      "source_url": "https://culture.seoul.go.kr/culture/bbs/B0000000/view.do?menuNo=200050&amp;nttId=16465",</a:t>
            </a:r>
          </a:p>
          <a:p>
            <a:r>
              <a:t>      "source_type": "official_web",</a:t>
            </a:r>
          </a:p>
          <a:p>
            <a:r>
              <a:t>      "why_relevant": "10월 운영의 집중 구간으로 삼을 수 있는 확정 행사다. 다만 해당 축제의 프로그램·부스·방문객을 성동구 사업이 사용할 수 있는지, 공동홍보·쿠폰·스탬프·동선안내가 가능한지는 공식 문서만으로 확인되지 않았으므로 별도 협의가 필요하다.",</a:t>
            </a:r>
          </a:p>
          <a:p>
            <a:r>
              <a:t>      "published_or_updated_at": "등록 2026-08-31"</a:t>
            </a:r>
          </a:p>
          <a:p>
            <a:r>
              <a:t>    },</a:t>
            </a:r>
          </a:p>
          <a:p>
            <a:r>
              <a:t>    {</a:t>
            </a:r>
          </a:p>
          <a:p>
            <a:r>
              <a:t>      "title": "오시는 길 | 2026 서울국제정원박람회",</a:t>
            </a:r>
          </a:p>
          <a:p>
            <a:r>
              <a:t>      "summary": "서울숲은 수인분당선 서울숲역 3·4·5번 출구에서 도보 2분, 2호선 뚝섬역 7·8번 출구에서 도보 11분으로 안내되어 있다. 서울숲 주차장과 뚝섬유수지 공영주차장은 모두 24시간 운영으로 제시되어 있으며, 행사 안내는 친환경 행사를 위해 대중교통 이용을 권장한다.",</a:t>
            </a:r>
          </a:p>
          <a:p>
            <a:r>
              <a:t>      "source_id": "web:11200:5",</a:t>
            </a:r>
          </a:p>
          <a:p>
            <a:r>
              <a:t>      "source_url": "https://www.seoul.go.kr/festa/garden/y2026/introduce/location?pc=1",</a:t>
            </a:r>
          </a:p>
          <a:p>
            <a:r>
              <a:t>      "source_type": "official_web",</a:t>
            </a:r>
          </a:p>
          <a:p>
            <a:r>
              <a:t>      "why_relevant": "권고안의 운영권역은 대중교통 도착지에서 공원·성수 상권까지의 마지막 보행 연결을 명확히 안내하는 데 초점을 둘 수 있다. 승용차 유입 확대를 핵심 방식으로 삼기보다는 지하철·버스·보행 중심으로 설계하는 것이 공식 안내와 부합한다.",</a:t>
            </a:r>
          </a:p>
          <a:p>
            <a:r>
              <a:t>      "published_or_updated_at": "2026년 행사 안내 페이지"</a:t>
            </a:r>
          </a:p>
          <a:p>
            <a:r>
              <a:t>    },</a:t>
            </a:r>
          </a:p>
          <a:p>
            <a:r>
              <a:t>    {</a:t>
            </a:r>
          </a:p>
          <a:p>
            <a:r>
              <a:t>      "title": "(석간) 제11차 도시건축공동위원회 개최결과 &gt; 보도자료 | 서울특별시",</a:t>
            </a:r>
          </a:p>
          <a:p>
            <a:r>
              <a:t>      "summary": "서울시는 성수 준공업지역 지구단위계획에서 성수역-연무장길 가로변의 지역 특화경관을 유도하고, 지하철 2호선 연접부 개방형녹지 및 서울숲·뚝섬으로 이어지는 보행 네트워크를 조성하는 방향을 제시했다. 연무장길에는 제한적 차량출입 불허구간과 주차기준 완화를 통해 사람 중심의 걷기 좋은 거리로 재편하는 방향도 포함됐다.",</a:t>
            </a:r>
          </a:p>
          <a:p>
            <a:r>
              <a:t>      "source_id": "web:11200:6",</a:t>
            </a:r>
          </a:p>
          <a:p>
            <a:r>
              <a:t>      "source_url": "https://www.seoul.go.kr/news/news_report.do?nttNo=460823&amp;tr_code=snews",</a:t>
            </a:r>
          </a:p>
          <a:p>
            <a:r>
              <a:t>      "source_type": "official_web",</a:t>
            </a:r>
          </a:p>
          <a:p>
            <a:r>
              <a:t>      "why_relevant": "중기적으로 성수역-연무장길-서울숲 보행축은 체류 연결 사업의 대상권역 후보가 될 수 있다. 그러나 이는 도시계획 방향이며 2026년 가을에 모든 물리적 시설이 완공·운영된다는 뜻은 아니므로, 실제 공사·통행·행사 가능 구간은 현장과 관계부서에 확인해야 한다.",</a:t>
            </a:r>
          </a:p>
          <a:p>
            <a:r>
              <a:t>      "published_or_updated_at": "등록 2026-07-01"</a:t>
            </a:r>
          </a:p>
          <a:p>
            <a:r>
              <a:t>    },</a:t>
            </a:r>
          </a:p>
          <a:p>
            <a:r>
              <a:t>    {</a:t>
            </a:r>
          </a:p>
          <a:p>
            <a:r>
              <a:t>      "title": "2026 서울국제정원박람회 &lt; 행사·공연 정보 &lt; 축제·관광 &lt; 미래한강본부, 한강공원",</a:t>
            </a:r>
          </a:p>
          <a:p>
            <a:r>
              <a:t>      "summary": "서울국제정원박람회 공식 안내에는 서울숲 선착장 추가 운항과 야간 운항 증편이 소개되어 있다.",</a:t>
            </a:r>
          </a:p>
          <a:p>
            <a:r>
              <a:t>      "source_id": "web:11200:7",</a:t>
            </a:r>
          </a:p>
          <a:p>
            <a:r>
              <a:t>      "source_url": "https://hangang.seoul.go.kr/www/eventMng/detail.do?evntSn=378&amp;mid=538&amp;srchType=list",</a:t>
            </a:r>
          </a:p>
          <a:p>
            <a:r>
              <a:t>      "source_type": "official_web",</a:t>
            </a:r>
          </a:p>
          <a:p>
            <a:r>
              <a:t>      "why_relevant": "9~10월 주말 또는 야간 프로그램을 검토할 때 한강 수상교통을 보조 접근수단 후보로 검토할 근거가 된다. 다만 11월까지의 실제 운항일·막차·결항 기준은 이 자료에 확정적으로 제시되지 않아, 사업 홍보문구에 포함하기 전 운영기관 확인이 필요하다.",</a:t>
            </a:r>
          </a:p>
          <a:p>
            <a:r>
              <a:t>      "published_or_updated_at": "수정 2026-08-18"</a:t>
            </a:r>
          </a:p>
          <a:p>
            <a:r>
              <a:t>    },</a:t>
            </a:r>
          </a:p>
          <a:p>
            <a:r>
              <a:t>    {</a:t>
            </a:r>
          </a:p>
          <a:p>
            <a:r>
              <a:t>      "title": "전주시 2026년도 관광산업과 세출예산 사업명세서",</a:t>
            </a:r>
          </a:p>
          <a:p>
            <a:r>
              <a:t>      "summary": "전북특별자치도 전주시 · 야간관광 특화도시 예산 편성 · 예산서이므로 방문·소비 성과는 확인되지 않음",</a:t>
            </a:r>
          </a:p>
          <a:p>
            <a:r>
              <a:t>      "source_id": "case:jeonju_night_budget_2026",</a:t>
            </a:r>
          </a:p>
          <a:p>
            <a:r>
              <a:t>      "source_url": "https://jeonju.go.kr/resource/www/images/download/budget/2026/2026_31_2.pdf",</a:t>
            </a:r>
          </a:p>
          <a:p>
            <a:r>
              <a:t>      "case_region": "전북특별자치도 전주시",</a:t>
            </a:r>
          </a:p>
          <a:p>
            <a:r>
              <a:t>      "source_type": "benchmark_case",</a:t>
            </a:r>
          </a:p>
          <a:p>
            <a:r>
              <a:t>      "intervention": "야간관광 특화도시 예산 편성",</a:t>
            </a:r>
          </a:p>
          <a:p>
            <a:r>
              <a:t>      "document_type": "case_study_budget",</a:t>
            </a:r>
          </a:p>
          <a:p>
            <a:r>
              <a:t>      "observed_result": "예산서이므로 방문·소비 성과는 확인되지 않음",</a:t>
            </a:r>
          </a:p>
          <a:p>
            <a:r>
              <a:t>      "operating_model": "사무관리, 행사운영, 연구용역, 민간경상보조 등으로 사업비를 항목별 편성",</a:t>
            </a:r>
          </a:p>
          <a:p>
            <a:r>
              <a:t>      "retrieval_method": "curated_registry",</a:t>
            </a:r>
          </a:p>
          <a:p>
            <a:r>
              <a:t>      "evidence_strength": "high",</a:t>
            </a:r>
          </a:p>
          <a:p>
            <a:r>
              <a:t>      "retrieval_context": {</a:t>
            </a:r>
          </a:p>
          <a:p>
            <a:r>
              <a:t>        "scope": "cross_province",</a:t>
            </a:r>
          </a:p>
          <a:p>
            <a:r>
              <a:t>        "peer_region_code": null</a:t>
            </a:r>
          </a:p>
          <a:p>
            <a:r>
              <a:t>      },</a:t>
            </a:r>
          </a:p>
          <a:p>
            <a:r>
              <a:t>      "measurement_period": "2026년 예산",</a:t>
            </a:r>
          </a:p>
          <a:p>
            <a:r>
              <a:t>      "transfer_conditions": [</a:t>
            </a:r>
          </a:p>
          <a:p>
            <a:r>
              <a:t>        "국비·도비·시비 분담 가능성 검토",</a:t>
            </a:r>
          </a:p>
          <a:p>
            <a:r>
              <a:t>        "행사비와 상설운영비를 분리 산정",</a:t>
            </a:r>
          </a:p>
          <a:p>
            <a:r>
              <a:t>        "성과평가 비용을 별도 항목으로 확보"</a:t>
            </a:r>
          </a:p>
          <a:p>
            <a:r>
              <a:t>      ],</a:t>
            </a:r>
          </a:p>
          <a:p>
            <a:r>
              <a:t>      "published_or_updated_at": "2026",</a:t>
            </a:r>
          </a:p>
          <a:p>
            <a:r>
              <a:t>      "quantitative_result_approved": null</a:t>
            </a:r>
          </a:p>
          <a:p>
            <a:r>
              <a:t>    },</a:t>
            </a:r>
          </a:p>
          <a:p>
            <a:r>
              <a:t>    {</a:t>
            </a:r>
          </a:p>
          <a:p>
            <a:r>
              <a:t>      "title": "강진 반값여행 지역경제 효과 소개",</a:t>
            </a:r>
          </a:p>
          <a:p>
            <a:r>
              <a:t>      "summary": "전라남도 강진군 · 반값여행 지역환급 · 상품권 결제 변화에 관한 소개 자료는 있으나, 사업 참여자 범위·정확한 비교 기간·원자료를 확인하지 못해 성과 수치 인용을 보류한다.",</a:t>
            </a:r>
          </a:p>
          <a:p>
            <a:r>
              <a:t>      "source_id": "case:gangjin_half_price_2024",</a:t>
            </a:r>
          </a:p>
          <a:p>
            <a:r>
              <a:t>      "source_url": "https://jnfarm.jeonnam.go.kr/board/FARM_BOARD_008/boardView.do?bdId=BD_00000000000011721&amp;menuCd=farm004002",</a:t>
            </a:r>
          </a:p>
          <a:p>
            <a:r>
              <a:t>      "case_region": "전라남도 강진군",</a:t>
            </a:r>
          </a:p>
          <a:p>
            <a:r>
              <a:t>      "source_type": "benchmark_case",</a:t>
            </a:r>
          </a:p>
          <a:p>
            <a:r>
              <a:t>      "intervention": "반값여행 지역환급",</a:t>
            </a:r>
          </a:p>
          <a:p>
            <a:r>
              <a:t>      "document_type": "case_study",</a:t>
            </a:r>
          </a:p>
          <a:p>
            <a:r>
              <a:t>      "observed_result": "상품권 결제 변화에 관한 소개 자료는 있으나, 사업 참여자 범위·정확한 비교 기간·원자료를 확인하지 못해 성과 수치 인용을 보류한다.",</a:t>
            </a:r>
          </a:p>
          <a:p>
            <a:r>
              <a:t>      "operating_model": "여행자가 지역에서 지출한 비용의 일부를 지역상품권으로 돌려받게 하여 혜택이 다시 지역 상점에서 사용되도록 설계",</a:t>
            </a:r>
          </a:p>
          <a:p>
            <a:r>
              <a:t>      "retrieval_method": "curated_registry",</a:t>
            </a:r>
          </a:p>
          <a:p>
            <a:r>
              <a:t>      "evidence_strength": "low",</a:t>
            </a:r>
          </a:p>
          <a:p>
            <a:r>
              <a:t>      "retrieval_context": {</a:t>
            </a:r>
          </a:p>
          <a:p>
            <a:r>
              <a:t>        "scope": "cross_province",</a:t>
            </a:r>
          </a:p>
          <a:p>
            <a:r>
              <a:t>        "peer_region_code": null</a:t>
            </a:r>
          </a:p>
          <a:p>
            <a:r>
              <a:t>      },</a:t>
            </a:r>
          </a:p>
          <a:p>
            <a:r>
              <a:t>      "measurement_period": "게시일과 사업 측정기간은 다르며, 비교기간과 집계범위 원자료 확인 필요",</a:t>
            </a:r>
          </a:p>
          <a:p>
            <a:r>
              <a:t>      "transfer_conditions": [</a:t>
            </a:r>
          </a:p>
          <a:p>
            <a:r>
              <a:t>        "지역상품권 사용처와 관광업체 참여 기준 필요",</a:t>
            </a:r>
          </a:p>
          <a:p>
            <a:r>
              <a:t>        "여행 지출 증빙과 중복수혜 방지 절차 필요",</a:t>
            </a:r>
          </a:p>
          <a:p>
            <a:r>
              <a:t>        "지원금보다 추가 지역소비가 큰지 사후 측정 필요"</a:t>
            </a:r>
          </a:p>
          <a:p>
            <a:r>
              <a:t>      ],</a:t>
            </a:r>
          </a:p>
          <a:p>
            <a:r>
              <a:t>      "published_or_updated_at": "2025-01-02",</a:t>
            </a:r>
          </a:p>
          <a:p>
            <a:r>
              <a:t>      "quantitative_result_approved": false</a:t>
            </a:r>
          </a:p>
          <a:p>
            <a:r>
              <a:t>    },</a:t>
            </a:r>
          </a:p>
          <a:p>
            <a:r>
              <a:t>    {</a:t>
            </a:r>
          </a:p>
          <a:p>
            <a:r>
              <a:t>      "title": "2024년 6월 여행가는 달 추진 보도자료",</a:t>
            </a:r>
          </a:p>
          <a:p>
            <a:r>
              <a:t>      "summary": "전국 인구감소지역 34곳 · 디지털 관광주민증과 교통·숙박·상점 할인 결합 · 2024년 34개 지역 약 800개 관광업체에 혜택 구조를 적용",</a:t>
            </a:r>
          </a:p>
          <a:p>
            <a:r>
              <a:t>      "source_id": "case:digital_tourism_resident_2024",</a:t>
            </a:r>
          </a:p>
          <a:p>
            <a:r>
              <a:t>      "source_url": "https://mcst.go.kr/servlets/eduport/front/upload/UplDownloadFile?pFileName=%280514%29%EB%AC%B8%EC%B2%B4%EB%B6%80%EB%B3%B4%EB%8F%84%EC%9E%90%EB%A3%8C-6%EC%9B%94_%EC%97%AC%ED%96%89%EA%B0%80%EB%8A%94_%EB%8B%AC_%EC%B6%94%EC%A7%84.pdf&amp;pPath=0302000000&amp;pRealName=20240514083202149235802932_PRESS20240514083202456506.pdf",</a:t>
            </a:r>
          </a:p>
          <a:p>
            <a:r>
              <a:t>      "case_region": "전국 인구감소지역 34곳",</a:t>
            </a:r>
          </a:p>
          <a:p>
            <a:r>
              <a:t>      "source_type": "benchmark_case",</a:t>
            </a:r>
          </a:p>
          <a:p>
            <a:r>
              <a:t>      "intervention": "디지털 관광주민증과 교통·숙박·상점 할인 결합",</a:t>
            </a:r>
          </a:p>
          <a:p>
            <a:r>
              <a:t>      "document_type": "case_study",</a:t>
            </a:r>
          </a:p>
          <a:p>
            <a:r>
              <a:t>      "observed_result": "2024년 34개 지역 약 800개 관광업체에 혜택 구조를 적용",</a:t>
            </a:r>
          </a:p>
          <a:p>
            <a:r>
              <a:t>      "operating_model": "디지털 관광주민증 참여업체 현장 인증과 숙박·식음·관람·체험 할인, 특정 시간대 KTX 할인과 방문 후 교통 할인권을 결합",</a:t>
            </a:r>
          </a:p>
          <a:p>
            <a:r>
              <a:t>      "retrieval_method": "curated_registry",</a:t>
            </a:r>
          </a:p>
          <a:p>
            <a:r>
              <a:t>      "evidence_strength": "medium",</a:t>
            </a:r>
          </a:p>
          <a:p>
            <a:r>
              <a:t>      "retrieval_context": {</a:t>
            </a:r>
          </a:p>
          <a:p>
            <a:r>
              <a:t>        "scope": "national_or_unresolved",</a:t>
            </a:r>
          </a:p>
          <a:p>
            <a:r>
              <a:t>        "peer_region_code": null</a:t>
            </a:r>
          </a:p>
          <a:p>
            <a:r>
              <a:t>      },</a:t>
            </a:r>
          </a:p>
          <a:p>
            <a:r>
              <a:t>      "measurement_period": "2024년 6월 운영 계획",</a:t>
            </a:r>
          </a:p>
          <a:p>
            <a:r>
              <a:t>      "transfer_conditions": [</a:t>
            </a:r>
          </a:p>
          <a:p>
            <a:r>
              <a:t>        "지역 내 참여업체 수와 혜택 매력도 확보",</a:t>
            </a:r>
          </a:p>
          <a:p>
            <a:r>
              <a:t>        "QR 또는 위치인증과 실제 사용기록 수집",</a:t>
            </a:r>
          </a:p>
          <a:p>
            <a:r>
              <a:t>        "교통 할인 제공기관과 협약 필요"</a:t>
            </a:r>
          </a:p>
          <a:p>
            <a:r>
              <a:t>      ],</a:t>
            </a:r>
          </a:p>
          <a:p>
            <a:r>
              <a:t>      "published_or_updated_at": "2024-05-14",</a:t>
            </a:r>
          </a:p>
          <a:p>
            <a:r>
              <a:t>      "quantitative_result_approved": null</a:t>
            </a:r>
          </a:p>
          <a:p>
            <a:r>
              <a:t>    },</a:t>
            </a:r>
          </a:p>
          <a:p>
            <a:r>
              <a:t>    {</a:t>
            </a:r>
          </a:p>
          <a:p>
            <a:r>
              <a:t>      "title": "2022 대한민국 숙박대전 경제파급효과 공개자료",</a:t>
            </a:r>
          </a:p>
          <a:p>
            <a:r>
              <a:t>      "summary": "전국 숙박할인쿠폰 지원사업 · 온라인 예약 채널 숙박할인쿠폰 · 한국관광공사 자료는 약 104만 명이 할인혜택을 이용했고 서울·제주를 제외한 지역 사용 비율이 76%였다고 소개함",</a:t>
            </a:r>
          </a:p>
          <a:p>
            <a:r>
              <a:t>      "source_id": "case:kto_stay_discount_2022",</a:t>
            </a:r>
          </a:p>
          <a:p>
            <a:r>
              <a:t>      "source_url": "https://kto.visitkorea.or.kr/upload/flexer/upload/ktobiz/20220928/b623b5f9-3ec0-11ed-9832-ddf31964842e.hwp.files/Sections1.html",</a:t>
            </a:r>
          </a:p>
          <a:p>
            <a:r>
              <a:t>      "case_region": "전국 숙박할인쿠폰 지원사업",</a:t>
            </a:r>
          </a:p>
          <a:p>
            <a:r>
              <a:t>      "source_type": "benchmark_case",</a:t>
            </a:r>
          </a:p>
          <a:p>
            <a:r>
              <a:t>      "intervention": "온라인 예약 채널 숙박할인쿠폰",</a:t>
            </a:r>
          </a:p>
          <a:p>
            <a:r>
              <a:t>      "document_type": "case_study",</a:t>
            </a:r>
          </a:p>
          <a:p>
            <a:r>
              <a:t>      "observed_result": "한국관광공사 자료는 약 104만 명이 할인혜택을 이용했고 서울·제주를 제외한 지역 사용 비율이 76%였다고 소개함",</a:t>
            </a:r>
          </a:p>
          <a:p>
            <a:r>
              <a:t>      "operating_model": "온라인 여행사 예약 단계에서 할인쿠폰을 제공하고, 지역 숙소에서 사용할 수 있도록 참여 채널과 기간을 통합 운영",</a:t>
            </a:r>
          </a:p>
          <a:p>
            <a:r>
              <a:t>      "retrieval_method": "curated_registry",</a:t>
            </a:r>
          </a:p>
          <a:p>
            <a:r>
              <a:t>      "evidence_strength": "medium",</a:t>
            </a:r>
          </a:p>
          <a:p>
            <a:r>
              <a:t>      "retrieval_context": {</a:t>
            </a:r>
          </a:p>
          <a:p>
            <a:r>
              <a:t>        "scope": "national_or_unresolved",</a:t>
            </a:r>
          </a:p>
          <a:p>
            <a:r>
              <a:t>        "peer_region_code": null</a:t>
            </a:r>
          </a:p>
          <a:p>
            <a:r>
              <a:t>      },</a:t>
            </a:r>
          </a:p>
          <a:p>
            <a:r>
              <a:t>      "measurement_period": "2022년 사업 종료 후 한국관광공사 공개 자료",</a:t>
            </a:r>
          </a:p>
          <a:p>
            <a:r>
              <a:t>      "transfer_conditions": [</a:t>
            </a:r>
          </a:p>
          <a:p>
            <a:r>
              <a:t>        "참여 숙소·예약 채널·쿠폰 조건을 사전에 확정",</a:t>
            </a:r>
          </a:p>
          <a:p>
            <a:r>
              <a:t>        "주말과 성수기 쏠림을 막을 사용 가능일 설계",</a:t>
            </a:r>
          </a:p>
          <a:p>
            <a:r>
              <a:t>        "쿠폰 발급량이 아니라 실제 숙박 완료·지역소비를 함께 측정"</a:t>
            </a:r>
          </a:p>
          <a:p>
            <a:r>
              <a:t>      ],</a:t>
            </a:r>
          </a:p>
          <a:p>
            <a:r>
              <a:t>      "published_or_updated_at": "2022-09-28",</a:t>
            </a:r>
          </a:p>
          <a:p>
            <a:r>
              <a:t>      "quantitative_result_approved": null</a:t>
            </a:r>
          </a:p>
          <a:p>
            <a:r>
              <a:t>    },</a:t>
            </a:r>
          </a:p>
          <a:p>
            <a:r>
              <a:t>    {</a:t>
            </a:r>
          </a:p>
          <a:p>
            <a:r>
              <a:t>      "title": "2025 대한민국 밤밤페스타 개최 도시 및 일정",</a:t>
            </a:r>
          </a:p>
          <a:p>
            <a:r>
              <a:t>      "summary": "야간관광 특화도시 10곳 · 도시별 야간 콘텐츠를 순회형 축제로 묶는 운영 · 공식 여행기사는 개최 도시·장소·운영 시간과 콘텐츠만 제시하며 방문·소비 성과 수치는 제시하지 않음",</a:t>
            </a:r>
          </a:p>
          <a:p>
            <a:r>
              <a:t>      "source_id": "case:night_festival_2025",</a:t>
            </a:r>
          </a:p>
          <a:p>
            <a:r>
              <a:t>      "source_url": "https://korean.visitkorea.or.kr/detail/rem_detail.do?cotid=f9c636b2-dd7c-4f09-af3d-6af43b33d371",</a:t>
            </a:r>
          </a:p>
          <a:p>
            <a:r>
              <a:t>      "case_region": "야간관광 특화도시 10곳",</a:t>
            </a:r>
          </a:p>
          <a:p>
            <a:r>
              <a:t>      "source_type": "benchmark_case",</a:t>
            </a:r>
          </a:p>
          <a:p>
            <a:r>
              <a:t>      "intervention": "도시별 야간 콘텐츠를 순회형 축제로 묶는 운영",</a:t>
            </a:r>
          </a:p>
          <a:p>
            <a:r>
              <a:t>      "document_type": "case_study",</a:t>
            </a:r>
          </a:p>
          <a:p>
            <a:r>
              <a:t>      "observed_result": "공식 여행기사는 개최 도시·장소·운영 시간과 콘텐츠만 제시하며 방문·소비 성과 수치는 제시하지 않음",</a:t>
            </a:r>
          </a:p>
          <a:p>
            <a:r>
              <a:t>      "operating_model": "10개 야간관광 특화도시의 대표 장소와 시간대를 연결하고, 공연·체험·지역 디저트·판매상품 등 도시별 콘텐츠를 순회 일정으로 운영",</a:t>
            </a:r>
          </a:p>
          <a:p>
            <a:r>
              <a:t>      "retrieval_method": "curated_registry",</a:t>
            </a:r>
          </a:p>
          <a:p>
            <a:r>
              <a:t>      "evidence_strength": "medium",</a:t>
            </a:r>
          </a:p>
          <a:p>
            <a:r>
              <a:t>      "retrieval_context": {</a:t>
            </a:r>
          </a:p>
          <a:p>
            <a:r>
              <a:t>        "scope": "national_or_unresolved",</a:t>
            </a:r>
          </a:p>
          <a:p>
            <a:r>
              <a:t>        "peer_region_code": null</a:t>
            </a:r>
          </a:p>
          <a:p>
            <a:r>
              <a:t>      },</a:t>
            </a:r>
          </a:p>
          <a:p>
            <a:r>
              <a:t>      "measurement_period": "2025년 행사 일정",</a:t>
            </a:r>
          </a:p>
          <a:p>
            <a:r>
              <a:t>      "transfer_conditions": [</a:t>
            </a:r>
          </a:p>
          <a:p>
            <a:r>
              <a:t>        "야간에도 이용 가능한 교통·안전·식음 운영을 함께 설계",</a:t>
            </a:r>
          </a:p>
          <a:p>
            <a:r>
              <a:t>        "하나의 행사보다 지역별 대표 콘텐츠와 상점 참여를 연결",</a:t>
            </a:r>
          </a:p>
          <a:p>
            <a:r>
              <a:t>        "행사일과 비행사일을 분리해 방문·결제·숙박 변화를 측정"</a:t>
            </a:r>
          </a:p>
          <a:p>
            <a:r>
              <a:t>      ],</a:t>
            </a:r>
          </a:p>
          <a:p>
            <a:r>
              <a:t>      "published_or_updated_at": "2025",</a:t>
            </a:r>
          </a:p>
          <a:p>
            <a:r>
              <a:t>      "quantitative_result_approved": null</a:t>
            </a:r>
          </a:p>
          <a:p>
            <a:r>
              <a:t>    },</a:t>
            </a:r>
          </a:p>
          <a:p>
            <a:r>
              <a:t>    {</a:t>
            </a:r>
          </a:p>
          <a:p>
            <a:r>
              <a:t>      "title": "2024년도 정부업무평가 관광분야 성과자료",</a:t>
            </a:r>
          </a:p>
          <a:p>
            <a:r>
              <a:t>      "summary": "야간관광 특화도시 10곳 · 상설 야간 콘텐츠와 경관·교통·안전 운영 · 정부업무평가 자료는 특화도시 10곳 방문객이 2023년 같은 기간보다 3% 증가했다고 기록",</a:t>
            </a:r>
          </a:p>
          <a:p>
            <a:r>
              <a:t>      "source_id": "case:night_tourism_cities_2024",</a:t>
            </a:r>
          </a:p>
          <a:p>
            <a:r>
              <a:t>      "source_url": "https://www.evaluation.go.kr/upload2/atch/eval/20250429095846463.pdf",</a:t>
            </a:r>
          </a:p>
          <a:p>
            <a:r>
              <a:t>      "case_region": "야간관광 특화도시 10곳",</a:t>
            </a:r>
          </a:p>
          <a:p>
            <a:r>
              <a:t>      "source_type": "benchmark_case",</a:t>
            </a:r>
          </a:p>
          <a:p>
            <a:r>
              <a:t>      "intervention": "상설 야간 콘텐츠와 경관·교통·안전 운영",</a:t>
            </a:r>
          </a:p>
          <a:p>
            <a:r>
              <a:t>      "document_type": "case_study",</a:t>
            </a:r>
          </a:p>
          <a:p>
            <a:r>
              <a:t>      "observed_result": "정부업무평가 자료는 특화도시 10곳 방문객이 2023년 같은 기간보다 3% 증가했다고 기록",</a:t>
            </a:r>
          </a:p>
          <a:p>
            <a:r>
              <a:t>      "operating_model": "지역 스토리를 반영한 야간 프로그램을 상설·행사형으로 운영하고 야간 경관, 이동, 식음, 안전 여건을 함께 구성",</a:t>
            </a:r>
          </a:p>
          <a:p>
            <a:r>
              <a:t>      "retrieval_method": "curated_registry",</a:t>
            </a:r>
          </a:p>
          <a:p>
            <a:r>
              <a:t>      "evidence_strength": "medium",</a:t>
            </a:r>
          </a:p>
          <a:p>
            <a:r>
              <a:t>      "retrieval_context": {</a:t>
            </a:r>
          </a:p>
          <a:p>
            <a:r>
              <a:t>        "scope": "national_or_unresolved",</a:t>
            </a:r>
          </a:p>
          <a:p>
            <a:r>
              <a:t>        "peer_region_code": null</a:t>
            </a:r>
          </a:p>
          <a:p>
            <a:r>
              <a:t>      },</a:t>
            </a:r>
          </a:p>
          <a:p>
            <a:r>
              <a:t>      "measurement_period": "2023년 동기 대비 2024년 사업 평가 기간",</a:t>
            </a:r>
          </a:p>
          <a:p>
            <a:r>
              <a:t>      "transfer_conditions": [</a:t>
            </a:r>
          </a:p>
          <a:p>
            <a:r>
              <a:t>        "야간에 실제 이용 가능한 식음·교통·안전 운영 필요",</a:t>
            </a:r>
          </a:p>
          <a:p>
            <a:r>
              <a:t>        "일회성 행사보다 상설 운영일 확보",</a:t>
            </a:r>
          </a:p>
          <a:p>
            <a:r>
              <a:t>        "숙박 또는 야간 결제 데이터로 성과 측정"</a:t>
            </a:r>
          </a:p>
          <a:p>
            <a:r>
              <a:t>      ],</a:t>
            </a:r>
          </a:p>
          <a:p>
            <a:r>
              <a:t>      "published_or_updated_at": "2025-04-29",</a:t>
            </a:r>
          </a:p>
          <a:p>
            <a:r>
              <a:t>      "quantitative_result_approved": null</a:t>
            </a:r>
          </a:p>
          <a:p>
            <a:r>
              <a:t>    }</a:t>
            </a:r>
          </a:p>
          <a:p>
            <a:r>
              <a:t>  ],</a:t>
            </a:r>
          </a:p>
          <a:p>
            <a:r>
              <a:t>  "selected_forecast": {</a:t>
            </a:r>
          </a:p>
          <a:p>
            <a:r>
              <a:t>    "rows": [</a:t>
            </a:r>
          </a:p>
          <a:p>
            <a:r>
              <a:t>      {</a:t>
            </a:r>
          </a:p>
          <a:p>
            <a:r>
              <a:t>        "month": "202609",</a:t>
            </a:r>
          </a:p>
          <a:p>
            <a:r>
              <a:t>        "visitors": 6638883.0,</a:t>
            </a:r>
          </a:p>
          <a:p>
            <a:r>
              <a:t>        "is_forecast": true,</a:t>
            </a:r>
          </a:p>
          <a:p>
            <a:r>
              <a:t>        "spending_krw": 102905513747.0,</a:t>
            </a:r>
          </a:p>
          <a:p>
            <a:r>
              <a:t>        "stay_minutes": 729.0,</a:t>
            </a:r>
          </a:p>
          <a:p>
            <a:r>
              <a:t>        "lodging_nights": 2.95,</a:t>
            </a:r>
          </a:p>
          <a:p>
            <a:r>
              <a:t>        "lodging_rate_pct": 3.8,</a:t>
            </a:r>
          </a:p>
          <a:p>
            <a:r>
              <a:t>        "lodging_searches": 2301,</a:t>
            </a:r>
          </a:p>
          <a:p>
            <a:r>
              <a:t>        "navigation_searches": 108724,</a:t>
            </a:r>
          </a:p>
          <a:p>
            <a:r>
              <a:t>        "visitor_yoy_percent": -0.24,</a:t>
            </a:r>
          </a:p>
          <a:p>
            <a:r>
              <a:t>        "spending_yoy_percent": 9.25,</a:t>
            </a:r>
          </a:p>
          <a:p>
            <a:r>
              <a:t>        "metric_changes_percent": {</a:t>
            </a:r>
          </a:p>
          <a:p>
            <a:r>
              <a:t>          "stay_minutes": 0.0,</a:t>
            </a:r>
          </a:p>
          <a:p>
            <a:r>
              <a:t>          "lodging_nights": -1.01,</a:t>
            </a:r>
          </a:p>
          <a:p>
            <a:r>
              <a:t>          "lodging_rate_pct": 0.0,</a:t>
            </a:r>
          </a:p>
          <a:p>
            <a:r>
              <a:t>          "lodging_searches": 5.41,</a:t>
            </a:r>
          </a:p>
          <a:p>
            <a:r>
              <a:t>          "navigation_searches": 0.0</a:t>
            </a:r>
          </a:p>
          <a:p>
            <a:r>
              <a:t>        },</a:t>
            </a:r>
          </a:p>
          <a:p>
            <a:r>
              <a:t>        "previous_year_visitors": 6654997,</a:t>
            </a:r>
          </a:p>
          <a:p>
            <a:r>
              <a:t>        "previous_year_spending_krw": 94192832000,</a:t>
            </a:r>
          </a:p>
          <a:p>
            <a:r>
              <a:t>        "previous_year_stay_minutes": 729.0,</a:t>
            </a:r>
          </a:p>
          <a:p>
            <a:r>
              <a:t>        "previous_year_lodging_nights": 2.98,</a:t>
            </a:r>
          </a:p>
          <a:p>
            <a:r>
              <a:t>        "previous_year_lodging_rate_pct": 3.8,</a:t>
            </a:r>
          </a:p>
          <a:p>
            <a:r>
              <a:t>        "previous_year_lodging_searches": 2183,</a:t>
            </a:r>
          </a:p>
          <a:p>
            <a:r>
              <a:t>        "previous_year_navigation_searches": 108724</a:t>
            </a:r>
          </a:p>
          <a:p>
            <a:r>
              <a:t>      },</a:t>
            </a:r>
          </a:p>
          <a:p>
            <a:r>
              <a:t>      {</a:t>
            </a:r>
          </a:p>
          <a:p>
            <a:r>
              <a:t>        "month": "202610",</a:t>
            </a:r>
          </a:p>
          <a:p>
            <a:r>
              <a:t>        "visitors": 6570358.0,</a:t>
            </a:r>
          </a:p>
          <a:p>
            <a:r>
              <a:t>        "is_forecast": true,</a:t>
            </a:r>
          </a:p>
          <a:p>
            <a:r>
              <a:t>        "spending_krw": 103404579597.0,</a:t>
            </a:r>
          </a:p>
          <a:p>
            <a:r>
              <a:t>        "stay_minutes": 726.0,</a:t>
            </a:r>
          </a:p>
          <a:p>
            <a:r>
              <a:t>        "lodging_nights": 2.92,</a:t>
            </a:r>
          </a:p>
          <a:p>
            <a:r>
              <a:t>        "lodging_rate_pct": 4.5,</a:t>
            </a:r>
          </a:p>
          <a:p>
            <a:r>
              <a:t>        "lodging_searches": 2786,</a:t>
            </a:r>
          </a:p>
          <a:p>
            <a:r>
              <a:t>        "navigation_searches": 176420,</a:t>
            </a:r>
          </a:p>
          <a:p>
            <a:r>
              <a:t>        "visitor_yoy_percent": 6.49,</a:t>
            </a:r>
          </a:p>
          <a:p>
            <a:r>
              <a:t>        "spending_yoy_percent": 6.54,</a:t>
            </a:r>
          </a:p>
          <a:p>
            <a:r>
              <a:t>        "metric_changes_percent": {</a:t>
            </a:r>
          </a:p>
          <a:p>
            <a:r>
              <a:t>          "stay_minutes": 0.0,</a:t>
            </a:r>
          </a:p>
          <a:p>
            <a:r>
              <a:t>          "lodging_nights": -0.68,</a:t>
            </a:r>
          </a:p>
          <a:p>
            <a:r>
              <a:t>          "lodging_rate_pct": 0.0,</a:t>
            </a:r>
          </a:p>
          <a:p>
            <a:r>
              <a:t>          "lodging_searches": -23.0,</a:t>
            </a:r>
          </a:p>
          <a:p>
            <a:r>
              <a:t>          "navigation_searches": 0.0</a:t>
            </a:r>
          </a:p>
          <a:p>
            <a:r>
              <a:t>        },</a:t>
            </a:r>
          </a:p>
          <a:p>
            <a:r>
              <a:t>        "previous_year_visitors": 6170192,</a:t>
            </a:r>
          </a:p>
          <a:p>
            <a:r>
              <a:t>        "previous_year_spending_krw": 97053863000,</a:t>
            </a:r>
          </a:p>
          <a:p>
            <a:r>
              <a:t>        "previous_year_stay_minutes": 726.0,</a:t>
            </a:r>
          </a:p>
          <a:p>
            <a:r>
              <a:t>        "previous_year_lodging_nights": 2.94,</a:t>
            </a:r>
          </a:p>
          <a:p>
            <a:r>
              <a:t>        "previous_year_lodging_rate_pct": 4.5,</a:t>
            </a:r>
          </a:p>
          <a:p>
            <a:r>
              <a:t>        "previous_year_lodging_searches": 3618,</a:t>
            </a:r>
          </a:p>
          <a:p>
            <a:r>
              <a:t>        "previous_year_navigation_searches": 176420</a:t>
            </a:r>
          </a:p>
          <a:p>
            <a:r>
              <a:t>      },</a:t>
            </a:r>
          </a:p>
          <a:p>
            <a:r>
              <a:t>      {</a:t>
            </a:r>
          </a:p>
          <a:p>
            <a:r>
              <a:t>        "month": "202611",</a:t>
            </a:r>
          </a:p>
          <a:p>
            <a:r>
              <a:t>        "visitors": 6585928.0,</a:t>
            </a:r>
          </a:p>
          <a:p>
            <a:r>
              <a:t>        "is_forecast": true,</a:t>
            </a:r>
          </a:p>
          <a:p>
            <a:r>
              <a:t>        "spending_krw": 107117698458.0,</a:t>
            </a:r>
          </a:p>
          <a:p>
            <a:r>
              <a:t>        "stay_minutes": 600.0,</a:t>
            </a:r>
          </a:p>
          <a:p>
            <a:r>
              <a:t>        "lodging_nights": 2.91,</a:t>
            </a:r>
          </a:p>
          <a:p>
            <a:r>
              <a:t>        "lodging_rate_pct": 3.6,</a:t>
            </a:r>
          </a:p>
          <a:p>
            <a:r>
              <a:t>        "lodging_searches": 2335,</a:t>
            </a:r>
          </a:p>
          <a:p>
            <a:r>
              <a:t>        "navigation_searches": 115407,</a:t>
            </a:r>
          </a:p>
          <a:p>
            <a:r>
              <a:t>        "visitor_yoy_percent": -0.86,</a:t>
            </a:r>
          </a:p>
          <a:p>
            <a:r>
              <a:t>        "spending_yoy_percent": 5.78,</a:t>
            </a:r>
          </a:p>
          <a:p>
            <a:r>
              <a:t>        "metric_changes_percent": {</a:t>
            </a:r>
          </a:p>
          <a:p>
            <a:r>
              <a:t>          "stay_minutes": 0.0,</a:t>
            </a:r>
          </a:p>
          <a:p>
            <a:r>
              <a:t>          "lodging_nights": 0.69,</a:t>
            </a:r>
          </a:p>
          <a:p>
            <a:r>
              <a:t>          "lodging_rate_pct": 0.0,</a:t>
            </a:r>
          </a:p>
          <a:p>
            <a:r>
              <a:t>          "lodging_searches": -7.71,</a:t>
            </a:r>
          </a:p>
          <a:p>
            <a:r>
              <a:t>          "navigation_searches": 0.0</a:t>
            </a:r>
          </a:p>
          <a:p>
            <a:r>
              <a:t>        },</a:t>
            </a:r>
          </a:p>
          <a:p>
            <a:r>
              <a:t>        "previous_year_visitors": 6643276,</a:t>
            </a:r>
          </a:p>
          <a:p>
            <a:r>
              <a:t>        "previous_year_spending_krw": 101267996000,</a:t>
            </a:r>
          </a:p>
          <a:p>
            <a:r>
              <a:t>        "previous_year_stay_minutes": 600.0,</a:t>
            </a:r>
          </a:p>
          <a:p>
            <a:r>
              <a:t>        "previous_year_lodging_nights": 2.89,</a:t>
            </a:r>
          </a:p>
          <a:p>
            <a:r>
              <a:t>        "previous_year_lodging_rate_pct": 3.6,</a:t>
            </a:r>
          </a:p>
          <a:p>
            <a:r>
              <a:t>        "previous_year_lodging_searches": 2530,</a:t>
            </a:r>
          </a:p>
          <a:p>
            <a:r>
              <a:t>        "previous_year_navigation_searches": 115407</a:t>
            </a:r>
          </a:p>
          <a:p>
            <a:r>
              <a:t>      }</a:t>
            </a:r>
          </a:p>
          <a:p>
            <a:r>
              <a:t>    ],</a:t>
            </a:r>
          </a:p>
          <a:p>
            <a:r>
              <a:t>    "period": "202609~202611",</a:t>
            </a:r>
          </a:p>
          <a:p>
            <a:r>
              <a:t>    "complete": true,</a:t>
            </a:r>
          </a:p>
          <a:p>
            <a:r>
              <a:t>    "notes": [</a:t>
            </a:r>
          </a:p>
          <a:p>
            <a:r>
              <a:t>      "3개월 초과 예측 거리는 재귀 검증 범위 밖의 탐색 전망입니다."</a:t>
            </a:r>
          </a:p>
          <a:p>
            <a:r>
              <a:t>    ],</a:t>
            </a:r>
          </a:p>
          <a:p>
            <a:r>
              <a:t>    "selection_basis": "strategy_timeframe",</a:t>
            </a:r>
          </a:p>
          <a:p>
            <a:r>
              <a:t>    "requested_period": "202609~202611"</a:t>
            </a:r>
          </a:p>
          <a:p>
            <a:r>
              <a:t>  },</a:t>
            </a:r>
          </a:p>
          <a:p>
            <a:r>
              <a:t>  "all_ml_forecasts": [</a:t>
            </a:r>
          </a:p>
          <a:p>
            <a:r>
              <a:t>    {</a:t>
            </a:r>
          </a:p>
          <a:p>
            <a:r>
              <a:t>      "month": "202607",</a:t>
            </a:r>
          </a:p>
          <a:p>
            <a:r>
              <a:t>      "visitors": 6551545,</a:t>
            </a:r>
          </a:p>
          <a:p>
            <a:r>
              <a:t>      "is_forecast": true,</a:t>
            </a:r>
          </a:p>
          <a:p>
            <a:r>
              <a:t>      "spending_krw": 99619891149,</a:t>
            </a:r>
          </a:p>
          <a:p>
            <a:r>
              <a:t>      "stay_minutes": 715.0,</a:t>
            </a:r>
          </a:p>
          <a:p>
            <a:r>
              <a:t>      "lodging_nights": 2.92,</a:t>
            </a:r>
          </a:p>
          <a:p>
            <a:r>
              <a:t>      "lodging_rate_pct": 3.9,</a:t>
            </a:r>
          </a:p>
          <a:p>
            <a:r>
              <a:t>      "lodging_searches": 2427,</a:t>
            </a:r>
          </a:p>
          <a:p>
            <a:r>
              <a:t>      "navigation_searches": 110530,</a:t>
            </a:r>
          </a:p>
          <a:p>
            <a:r>
              <a:t>      "visitor_yoy_percent": 8.42,</a:t>
            </a:r>
          </a:p>
          <a:p>
            <a:r>
              <a:t>      "spending_yoy_percent": 7.8,</a:t>
            </a:r>
          </a:p>
          <a:p>
            <a:r>
              <a:t>      "metric_changes_percent": {</a:t>
            </a:r>
          </a:p>
          <a:p>
            <a:r>
              <a:t>        "stay_minutes": 0.0,</a:t>
            </a:r>
          </a:p>
          <a:p>
            <a:r>
              <a:t>        "lodging_nights": -1.02,</a:t>
            </a:r>
          </a:p>
          <a:p>
            <a:r>
              <a:t>        "lodging_rate_pct": 0.0,</a:t>
            </a:r>
          </a:p>
          <a:p>
            <a:r>
              <a:t>        "lodging_searches": -12.98,</a:t>
            </a:r>
          </a:p>
          <a:p>
            <a:r>
              <a:t>        "navigation_searches": 0.0</a:t>
            </a:r>
          </a:p>
          <a:p>
            <a:r>
              <a:t>      },</a:t>
            </a:r>
          </a:p>
          <a:p>
            <a:r>
              <a:t>      "previous_year_visitors": 6042778,</a:t>
            </a:r>
          </a:p>
          <a:p>
            <a:r>
              <a:t>      "previous_year_spending_krw": 92415108000,</a:t>
            </a:r>
          </a:p>
          <a:p>
            <a:r>
              <a:t>      "previous_year_stay_minutes": 715.0,</a:t>
            </a:r>
          </a:p>
          <a:p>
            <a:r>
              <a:t>      "previous_year_lodging_nights": 2.95,</a:t>
            </a:r>
          </a:p>
          <a:p>
            <a:r>
              <a:t>      "previous_year_lodging_rate_pct": 3.9,</a:t>
            </a:r>
          </a:p>
          <a:p>
            <a:r>
              <a:t>      "previous_year_lodging_searches": 2789,</a:t>
            </a:r>
          </a:p>
          <a:p>
            <a:r>
              <a:t>      "previous_year_navigation_searches": 110530</a:t>
            </a:r>
          </a:p>
          <a:p>
            <a:r>
              <a:t>    },</a:t>
            </a:r>
          </a:p>
          <a:p>
            <a:r>
              <a:t>    {</a:t>
            </a:r>
          </a:p>
          <a:p>
            <a:r>
              <a:t>      "month": "202608",</a:t>
            </a:r>
          </a:p>
          <a:p>
            <a:r>
              <a:t>      "visitors": 6392576,</a:t>
            </a:r>
          </a:p>
          <a:p>
            <a:r>
              <a:t>      "is_forecast": true,</a:t>
            </a:r>
          </a:p>
          <a:p>
            <a:r>
              <a:t>      "spending_krw": 100649180510,</a:t>
            </a:r>
          </a:p>
          <a:p>
            <a:r>
              <a:t>      "stay_minutes": 727.0,</a:t>
            </a:r>
          </a:p>
          <a:p>
            <a:r>
              <a:t>      "lodging_nights": 2.93,</a:t>
            </a:r>
          </a:p>
          <a:p>
            <a:r>
              <a:t>      "lodging_rate_pct": 4.3,</a:t>
            </a:r>
          </a:p>
          <a:p>
            <a:r>
              <a:t>      "lodging_searches": 2345,</a:t>
            </a:r>
          </a:p>
          <a:p>
            <a:r>
              <a:t>      "navigation_searches": 116553,</a:t>
            </a:r>
          </a:p>
          <a:p>
            <a:r>
              <a:t>      "visitor_yoy_percent": 7.88,</a:t>
            </a:r>
          </a:p>
          <a:p>
            <a:r>
              <a:t>      "spending_yoy_percent": 6.05,</a:t>
            </a:r>
          </a:p>
          <a:p>
            <a:r>
              <a:t>      "metric_changes_percent": {</a:t>
            </a:r>
          </a:p>
          <a:p>
            <a:r>
              <a:t>        "stay_minutes": 0.0,</a:t>
            </a:r>
          </a:p>
          <a:p>
            <a:r>
              <a:t>        "lodging_nights": 0.69,</a:t>
            </a:r>
          </a:p>
          <a:p>
            <a:r>
              <a:t>        "lodging_rate_pct": 0.0,</a:t>
            </a:r>
          </a:p>
          <a:p>
            <a:r>
              <a:t>        "lodging_searches": -4.64,</a:t>
            </a:r>
          </a:p>
          <a:p>
            <a:r>
              <a:t>        "navigation_searches": 0.0</a:t>
            </a:r>
          </a:p>
          <a:p>
            <a:r>
              <a:t>      },</a:t>
            </a:r>
          </a:p>
          <a:p>
            <a:r>
              <a:t>      "previous_year_visitors": 5925815,</a:t>
            </a:r>
          </a:p>
          <a:p>
            <a:r>
              <a:t>      "previous_year_spending_krw": 94907804000,</a:t>
            </a:r>
          </a:p>
          <a:p>
            <a:r>
              <a:t>      "previous_year_stay_minutes": 727.0,</a:t>
            </a:r>
          </a:p>
          <a:p>
            <a:r>
              <a:t>      "previous_year_lodging_nights": 2.91,</a:t>
            </a:r>
          </a:p>
          <a:p>
            <a:r>
              <a:t>      "previous_year_lodging_rate_pct": 4.3,</a:t>
            </a:r>
          </a:p>
          <a:p>
            <a:r>
              <a:t>      "previous_year_lodging_searches": 2459,</a:t>
            </a:r>
          </a:p>
          <a:p>
            <a:r>
              <a:t>      "previous_year_navigation_searches": 116553</a:t>
            </a:r>
          </a:p>
          <a:p>
            <a:r>
              <a:t>    },</a:t>
            </a:r>
          </a:p>
          <a:p>
            <a:r>
              <a:t>    {</a:t>
            </a:r>
          </a:p>
          <a:p>
            <a:r>
              <a:t>      "month": "202609",</a:t>
            </a:r>
          </a:p>
          <a:p>
            <a:r>
              <a:t>      "visitors": 6638883,</a:t>
            </a:r>
          </a:p>
          <a:p>
            <a:r>
              <a:t>      "is_forecast": true,</a:t>
            </a:r>
          </a:p>
          <a:p>
            <a:r>
              <a:t>      "spending_krw": 102905513747,</a:t>
            </a:r>
          </a:p>
          <a:p>
            <a:r>
              <a:t>      "stay_minutes": 729.0,</a:t>
            </a:r>
          </a:p>
          <a:p>
            <a:r>
              <a:t>      "lodging_nights": 2.95,</a:t>
            </a:r>
          </a:p>
          <a:p>
            <a:r>
              <a:t>      "lodging_rate_pct": 3.8,</a:t>
            </a:r>
          </a:p>
          <a:p>
            <a:r>
              <a:t>      "lodging_searches": 2301,</a:t>
            </a:r>
          </a:p>
          <a:p>
            <a:r>
              <a:t>      "navigation_searches": 108724,</a:t>
            </a:r>
          </a:p>
          <a:p>
            <a:r>
              <a:t>      "visitor_yoy_percent": -0.24,</a:t>
            </a:r>
          </a:p>
          <a:p>
            <a:r>
              <a:t>      "spending_yoy_percent": 9.25,</a:t>
            </a:r>
          </a:p>
          <a:p>
            <a:r>
              <a:t>      "metric_changes_percent": {</a:t>
            </a:r>
          </a:p>
          <a:p>
            <a:r>
              <a:t>        "stay_minutes": 0.0,</a:t>
            </a:r>
          </a:p>
          <a:p>
            <a:r>
              <a:t>        "lodging_nights": -1.01,</a:t>
            </a:r>
          </a:p>
          <a:p>
            <a:r>
              <a:t>        "lodging_rate_pct": 0.0,</a:t>
            </a:r>
          </a:p>
          <a:p>
            <a:r>
              <a:t>        "lodging_searches": 5.41,</a:t>
            </a:r>
          </a:p>
          <a:p>
            <a:r>
              <a:t>        "navigation_searches": 0.0</a:t>
            </a:r>
          </a:p>
          <a:p>
            <a:r>
              <a:t>      },</a:t>
            </a:r>
          </a:p>
          <a:p>
            <a:r>
              <a:t>      "previous_year_visitors": 6654997,</a:t>
            </a:r>
          </a:p>
          <a:p>
            <a:r>
              <a:t>      "previous_year_spending_krw": 94192832000,</a:t>
            </a:r>
          </a:p>
          <a:p>
            <a:r>
              <a:t>      "previous_year_stay_minutes": 729.0,</a:t>
            </a:r>
          </a:p>
          <a:p>
            <a:r>
              <a:t>      "previous_year_lodging_nights": 2.98,</a:t>
            </a:r>
          </a:p>
          <a:p>
            <a:r>
              <a:t>      "previous_year_lodging_rate_pct": 3.8,</a:t>
            </a:r>
          </a:p>
          <a:p>
            <a:r>
              <a:t>      "previous_year_lodging_searches": 2183,</a:t>
            </a:r>
          </a:p>
          <a:p>
            <a:r>
              <a:t>      "previous_year_navigation_searches": 108724</a:t>
            </a:r>
          </a:p>
          <a:p>
            <a:r>
              <a:t>    },</a:t>
            </a:r>
          </a:p>
          <a:p>
            <a:r>
              <a:t>    {</a:t>
            </a:r>
          </a:p>
          <a:p>
            <a:r>
              <a:t>      "month": "202610",</a:t>
            </a:r>
          </a:p>
          <a:p>
            <a:r>
              <a:t>      "visitors": 6570358,</a:t>
            </a:r>
          </a:p>
          <a:p>
            <a:r>
              <a:t>      "is_forecast": true,</a:t>
            </a:r>
          </a:p>
          <a:p>
            <a:r>
              <a:t>      "spending_krw": 103404579597,</a:t>
            </a:r>
          </a:p>
          <a:p>
            <a:r>
              <a:t>      "stay_minutes": 726.0,</a:t>
            </a:r>
          </a:p>
          <a:p>
            <a:r>
              <a:t>      "lodging_nights": 2.92,</a:t>
            </a:r>
          </a:p>
          <a:p>
            <a:r>
              <a:t>      "lodging_rate_pct": 4.5,</a:t>
            </a:r>
          </a:p>
          <a:p>
            <a:r>
              <a:t>      "lodging_searches": 2786,</a:t>
            </a:r>
          </a:p>
          <a:p>
            <a:r>
              <a:t>      "navigation_searches": 176420,</a:t>
            </a:r>
          </a:p>
          <a:p>
            <a:r>
              <a:t>      "visitor_yoy_percent": 6.49,</a:t>
            </a:r>
          </a:p>
          <a:p>
            <a:r>
              <a:t>      "spending_yoy_percent": 6.54,</a:t>
            </a:r>
          </a:p>
          <a:p>
            <a:r>
              <a:t>      "metric_changes_percent": {</a:t>
            </a:r>
          </a:p>
          <a:p>
            <a:r>
              <a:t>        "stay_minutes": 0.0,</a:t>
            </a:r>
          </a:p>
          <a:p>
            <a:r>
              <a:t>        "lodging_nights": -0.68,</a:t>
            </a:r>
          </a:p>
          <a:p>
            <a:r>
              <a:t>        "lodging_rate_pct": 0.0,</a:t>
            </a:r>
          </a:p>
          <a:p>
            <a:r>
              <a:t>        "lodging_searches": -23.0,</a:t>
            </a:r>
          </a:p>
          <a:p>
            <a:r>
              <a:t>        "navigation_searches": 0.0</a:t>
            </a:r>
          </a:p>
          <a:p>
            <a:r>
              <a:t>      },</a:t>
            </a:r>
          </a:p>
          <a:p>
            <a:r>
              <a:t>      "previous_year_visitors": 6170192,</a:t>
            </a:r>
          </a:p>
          <a:p>
            <a:r>
              <a:t>      "previous_year_spending_krw": 97053863000,</a:t>
            </a:r>
          </a:p>
          <a:p>
            <a:r>
              <a:t>      "previous_year_stay_minutes": 726.0,</a:t>
            </a:r>
          </a:p>
          <a:p>
            <a:r>
              <a:t>      "previous_year_lodging_nights": 2.94,</a:t>
            </a:r>
          </a:p>
          <a:p>
            <a:r>
              <a:t>      "previous_year_lodging_rate_pct": 4.5,</a:t>
            </a:r>
          </a:p>
          <a:p>
            <a:r>
              <a:t>      "previous_year_lodging_searches": 3618,</a:t>
            </a:r>
          </a:p>
          <a:p>
            <a:r>
              <a:t>      "previous_year_navigation_searches": 176420</a:t>
            </a:r>
          </a:p>
          <a:p>
            <a:r>
              <a:t>    },</a:t>
            </a:r>
          </a:p>
          <a:p>
            <a:r>
              <a:t>    {</a:t>
            </a:r>
          </a:p>
          <a:p>
            <a:r>
              <a:t>      "month": "202611",</a:t>
            </a:r>
          </a:p>
          <a:p>
            <a:r>
              <a:t>      "visitors": 6585928,</a:t>
            </a:r>
          </a:p>
          <a:p>
            <a:r>
              <a:t>      "is_forecast": true,</a:t>
            </a:r>
          </a:p>
          <a:p>
            <a:r>
              <a:t>      "spending_krw": 107117698458,</a:t>
            </a:r>
          </a:p>
          <a:p>
            <a:r>
              <a:t>      "stay_minutes": 600.0,</a:t>
            </a:r>
          </a:p>
          <a:p>
            <a:r>
              <a:t>      "lodging_nights": 2.91,</a:t>
            </a:r>
          </a:p>
          <a:p>
            <a:r>
              <a:t>      "lodging_rate_pct": 3.6,</a:t>
            </a:r>
          </a:p>
          <a:p>
            <a:r>
              <a:t>      "lodging_searches": 2335,</a:t>
            </a:r>
          </a:p>
          <a:p>
            <a:r>
              <a:t>      "navigation_searches": 115407,</a:t>
            </a:r>
          </a:p>
          <a:p>
            <a:r>
              <a:t>      "visitor_yoy_percent": -0.86,</a:t>
            </a:r>
          </a:p>
          <a:p>
            <a:r>
              <a:t>      "spending_yoy_percent": 5.78,</a:t>
            </a:r>
          </a:p>
          <a:p>
            <a:r>
              <a:t>      "metric_changes_percent": {</a:t>
            </a:r>
          </a:p>
          <a:p>
            <a:r>
              <a:t>        "stay_minutes": 0.0,</a:t>
            </a:r>
          </a:p>
          <a:p>
            <a:r>
              <a:t>        "lodging_nights": 0.69,</a:t>
            </a:r>
          </a:p>
          <a:p>
            <a:r>
              <a:t>        "lodging_rate_pct": 0.0,</a:t>
            </a:r>
          </a:p>
          <a:p>
            <a:r>
              <a:t>        "lodging_searches": -7.71,</a:t>
            </a:r>
          </a:p>
          <a:p>
            <a:r>
              <a:t>        "navigation_searches": 0.0</a:t>
            </a:r>
          </a:p>
          <a:p>
            <a:r>
              <a:t>      },</a:t>
            </a:r>
          </a:p>
          <a:p>
            <a:r>
              <a:t>      "previous_year_visitors": 6643276,</a:t>
            </a:r>
          </a:p>
          <a:p>
            <a:r>
              <a:t>      "previous_year_spending_krw": 101267996000,</a:t>
            </a:r>
          </a:p>
          <a:p>
            <a:r>
              <a:t>      "previous_year_stay_minutes": 600.0,</a:t>
            </a:r>
          </a:p>
          <a:p>
            <a:r>
              <a:t>      "previous_year_lodging_nights": 2.89,</a:t>
            </a:r>
          </a:p>
          <a:p>
            <a:r>
              <a:t>      "previous_year_lodging_rate_pct": 3.6,</a:t>
            </a:r>
          </a:p>
          <a:p>
            <a:r>
              <a:t>      "previous_year_lodging_searches": 2530,</a:t>
            </a:r>
          </a:p>
          <a:p>
            <a:r>
              <a:t>      "previous_year_navigation_searches": 115407</a:t>
            </a:r>
          </a:p>
          <a:p>
            <a:r>
              <a:t>    }</a:t>
            </a:r>
          </a:p>
          <a:p>
            <a:r>
              <a:t>  ],</a:t>
            </a:r>
          </a:p>
          <a:p>
            <a:r>
              <a:t>  "evaluation": {</a:t>
            </a:r>
          </a:p>
          <a:p>
            <a:r>
              <a:t>    "metrics": {</a:t>
            </a:r>
          </a:p>
          <a:p>
            <a:r>
              <a:t>      "visitors": {</a:t>
            </a:r>
          </a:p>
          <a:p>
            <a:r>
              <a:t>        "test_mae": 512302.72,</a:t>
            </a:r>
          </a:p>
          <a:p>
            <a:r>
              <a:t>        "recursive_mae": {</a:t>
            </a:r>
          </a:p>
          <a:p>
            <a:r>
              <a:t>          "1": {</a:t>
            </a:r>
          </a:p>
          <a:p>
            <a:r>
              <a:t>            "baseline": 505115.0,</a:t>
            </a:r>
          </a:p>
          <a:p>
            <a:r>
              <a:t>            "selected": 637542.5,</a:t>
            </a:r>
          </a:p>
          <a:p>
            <a:r>
              <a:t>            "sample_count": 2</a:t>
            </a:r>
          </a:p>
          <a:p>
            <a:r>
              <a:t>          },</a:t>
            </a:r>
          </a:p>
          <a:p>
            <a:r>
              <a:t>          "2": {</a:t>
            </a:r>
          </a:p>
          <a:p>
            <a:r>
              <a:t>            "baseline": 350616.5,</a:t>
            </a:r>
          </a:p>
          <a:p>
            <a:r>
              <a:t>            "selected": 385661.0,</a:t>
            </a:r>
          </a:p>
          <a:p>
            <a:r>
              <a:t>            "sample_count": 2</a:t>
            </a:r>
          </a:p>
          <a:p>
            <a:r>
              <a:t>          },</a:t>
            </a:r>
          </a:p>
          <a:p>
            <a:r>
              <a:t>          "3": {</a:t>
            </a:r>
          </a:p>
          <a:p>
            <a:r>
              <a:t>            "baseline": 508390.5,</a:t>
            </a:r>
          </a:p>
          <a:p>
            <a:r>
              <a:t>            "selected": 376970.5,</a:t>
            </a:r>
          </a:p>
          <a:p>
            <a:r>
              <a:t>            "sample_count": 2</a:t>
            </a:r>
          </a:p>
          <a:p>
            <a:r>
              <a:t>          }</a:t>
            </a:r>
          </a:p>
          <a:p>
            <a:r>
              <a:t>        },</a:t>
            </a:r>
          </a:p>
          <a:p>
            <a:r>
              <a:t>        "selected_model": "RandomForestRegressor",</a:t>
            </a:r>
          </a:p>
          <a:p>
            <a:r>
              <a:t>        "baseline_test_mae": 506752.75,</a:t>
            </a:r>
          </a:p>
          <a:p>
            <a:r>
              <a:t>        "model_reliability": "below_baseline_on_test",</a:t>
            </a:r>
          </a:p>
          <a:p>
            <a:r>
              <a:t>        "beats_baseline_on_test": false,</a:t>
            </a:r>
          </a:p>
          <a:p>
            <a:r>
              <a:t>        "recursive_horizons_worse_than_baseline": [</a:t>
            </a:r>
          </a:p>
          <a:p>
            <a:r>
              <a:t>          "1",</a:t>
            </a:r>
          </a:p>
          <a:p>
            <a:r>
              <a:t>          "2"</a:t>
            </a:r>
          </a:p>
          <a:p>
            <a:r>
              <a:t>        ]</a:t>
            </a:r>
          </a:p>
          <a:p>
            <a:r>
              <a:t>      },</a:t>
            </a:r>
          </a:p>
          <a:p>
            <a:r>
              <a:t>      "spending_krw": {</a:t>
            </a:r>
          </a:p>
          <a:p>
            <a:r>
              <a:t>        "test_mae": 5905429236.35,</a:t>
            </a:r>
          </a:p>
          <a:p>
            <a:r>
              <a:t>        "recursive_mae": {</a:t>
            </a:r>
          </a:p>
          <a:p>
            <a:r>
              <a:t>          "1": {</a:t>
            </a:r>
          </a:p>
          <a:p>
            <a:r>
              <a:t>            "baseline": 3857228000.0,</a:t>
            </a:r>
          </a:p>
          <a:p>
            <a:r>
              <a:t>            "selected": 3675260054.5,</a:t>
            </a:r>
          </a:p>
          <a:p>
            <a:r>
              <a:t>            "sample_count": 2</a:t>
            </a:r>
          </a:p>
          <a:p>
            <a:r>
              <a:t>          },</a:t>
            </a:r>
          </a:p>
          <a:p>
            <a:r>
              <a:t>          "2": {</a:t>
            </a:r>
          </a:p>
          <a:p>
            <a:r>
              <a:t>            "baseline": 5016656500.0,</a:t>
            </a:r>
          </a:p>
          <a:p>
            <a:r>
              <a:t>            "selected": 2276015570.0,</a:t>
            </a:r>
          </a:p>
          <a:p>
            <a:r>
              <a:t>            "sample_count": 2</a:t>
            </a:r>
          </a:p>
          <a:p>
            <a:r>
              <a:t>          },</a:t>
            </a:r>
          </a:p>
          <a:p>
            <a:r>
              <a:t>          "3": {</a:t>
            </a:r>
          </a:p>
          <a:p>
            <a:r>
              <a:t>            "baseline": 3931632500.0,</a:t>
            </a:r>
          </a:p>
          <a:p>
            <a:r>
              <a:t>            "selected": 7285373763.0,</a:t>
            </a:r>
          </a:p>
          <a:p>
            <a:r>
              <a:t>            "sample_count": 2</a:t>
            </a:r>
          </a:p>
          <a:p>
            <a:r>
              <a:t>          }</a:t>
            </a:r>
          </a:p>
          <a:p>
            <a:r>
              <a:t>        },</a:t>
            </a:r>
          </a:p>
          <a:p>
            <a:r>
              <a:t>        "selected_model": "LinearRegression",</a:t>
            </a:r>
          </a:p>
          <a:p>
            <a:r>
              <a:t>        "baseline_test_mae": 3894430250.0,</a:t>
            </a:r>
          </a:p>
          <a:p>
            <a:r>
              <a:t>        "model_reliability": "below_baseline_on_test",</a:t>
            </a:r>
          </a:p>
          <a:p>
            <a:r>
              <a:t>        "beats_baseline_on_test": false,</a:t>
            </a:r>
          </a:p>
          <a:p>
            <a:r>
              <a:t>        "recursive_horizons_worse_than_baseline": [</a:t>
            </a:r>
          </a:p>
          <a:p>
            <a:r>
              <a:t>          "3"</a:t>
            </a:r>
          </a:p>
          <a:p>
            <a:r>
              <a:t>        ]</a:t>
            </a:r>
          </a:p>
          <a:p>
            <a:r>
              <a:t>      },</a:t>
            </a:r>
          </a:p>
          <a:p>
            <a:r>
              <a:t>      "stay_minutes": {</a:t>
            </a:r>
          </a:p>
          <a:p>
            <a:r>
              <a:t>        "test_mae": 81.25,</a:t>
            </a:r>
          </a:p>
          <a:p>
            <a:r>
              <a:t>        "recursive_mae": {</a:t>
            </a:r>
          </a:p>
          <a:p>
            <a:r>
              <a:t>          "1": {</a:t>
            </a:r>
          </a:p>
          <a:p>
            <a:r>
              <a:t>            "baseline": 15.0,</a:t>
            </a:r>
          </a:p>
          <a:p>
            <a:r>
              <a:t>            "selected": 15.0,</a:t>
            </a:r>
          </a:p>
          <a:p>
            <a:r>
              <a:t>            "sample_count": 2</a:t>
            </a:r>
          </a:p>
          <a:p>
            <a:r>
              <a:t>          },</a:t>
            </a:r>
          </a:p>
          <a:p>
            <a:r>
              <a:t>          "2": {</a:t>
            </a:r>
          </a:p>
          <a:p>
            <a:r>
              <a:t>            "baseline": 148.0,</a:t>
            </a:r>
          </a:p>
          <a:p>
            <a:r>
              <a:t>            "selected": 148.0,</a:t>
            </a:r>
          </a:p>
          <a:p>
            <a:r>
              <a:t>            "sample_count": 2</a:t>
            </a:r>
          </a:p>
          <a:p>
            <a:r>
              <a:t>          },</a:t>
            </a:r>
          </a:p>
          <a:p>
            <a:r>
              <a:t>          "3": {</a:t>
            </a:r>
          </a:p>
          <a:p>
            <a:r>
              <a:t>            "baseline": 147.5,</a:t>
            </a:r>
          </a:p>
          <a:p>
            <a:r>
              <a:t>            "selected": 147.5,</a:t>
            </a:r>
          </a:p>
          <a:p>
            <a:r>
              <a:t>            "sample_count": 2</a:t>
            </a:r>
          </a:p>
          <a:p>
            <a:r>
              <a:t>          }</a:t>
            </a:r>
          </a:p>
          <a:p>
            <a:r>
              <a:t>        },</a:t>
            </a:r>
          </a:p>
          <a:p>
            <a:r>
              <a:t>        "selected_model": "seasonal_naive_previous_year_same_month",</a:t>
            </a:r>
          </a:p>
          <a:p>
            <a:r>
              <a:t>        "baseline_test_mae": 81.25,</a:t>
            </a:r>
          </a:p>
          <a:p>
            <a:r>
              <a:t>        "model_reliability": "seasonal_baseline",</a:t>
            </a:r>
          </a:p>
          <a:p>
            <a:r>
              <a:t>        "beats_baseline_on_test": false,</a:t>
            </a:r>
          </a:p>
          <a:p>
            <a:r>
              <a:t>        "recursive_horizons_worse_than_baseline": []</a:t>
            </a:r>
          </a:p>
          <a:p>
            <a:r>
              <a:t>      },</a:t>
            </a:r>
          </a:p>
          <a:p>
            <a:r>
              <a:t>      "lodging_nights": {</a:t>
            </a:r>
          </a:p>
          <a:p>
            <a:r>
              <a:t>        "test_mae": 0.1,</a:t>
            </a:r>
          </a:p>
          <a:p>
            <a:r>
              <a:t>        "recursive_mae": {</a:t>
            </a:r>
          </a:p>
          <a:p>
            <a:r>
              <a:t>          "1": {</a:t>
            </a:r>
          </a:p>
          <a:p>
            <a:r>
              <a:t>            "baseline": 0.07,</a:t>
            </a:r>
          </a:p>
          <a:p>
            <a:r>
              <a:t>            "selected": 0.1,</a:t>
            </a:r>
          </a:p>
          <a:p>
            <a:r>
              <a:t>            "sample_count": 2</a:t>
            </a:r>
          </a:p>
          <a:p>
            <a:r>
              <a:t>          },</a:t>
            </a:r>
          </a:p>
          <a:p>
            <a:r>
              <a:t>          "2": {</a:t>
            </a:r>
          </a:p>
          <a:p>
            <a:r>
              <a:t>            "baseline": 0.11,</a:t>
            </a:r>
          </a:p>
          <a:p>
            <a:r>
              <a:t>            "selected": 0.16,</a:t>
            </a:r>
          </a:p>
          <a:p>
            <a:r>
              <a:t>            "sample_count": 2</a:t>
            </a:r>
          </a:p>
          <a:p>
            <a:r>
              <a:t>          },</a:t>
            </a:r>
          </a:p>
          <a:p>
            <a:r>
              <a:t>          "3": {</a:t>
            </a:r>
          </a:p>
          <a:p>
            <a:r>
              <a:t>            "baseline": 0.15,</a:t>
            </a:r>
          </a:p>
          <a:p>
            <a:r>
              <a:t>            "selected": 0.17,</a:t>
            </a:r>
          </a:p>
          <a:p>
            <a:r>
              <a:t>            "sample_count": 2</a:t>
            </a:r>
          </a:p>
          <a:p>
            <a:r>
              <a:t>          }</a:t>
            </a:r>
          </a:p>
          <a:p>
            <a:r>
              <a:t>        },</a:t>
            </a:r>
          </a:p>
          <a:p>
            <a:r>
              <a:t>        "selected_model": "LinearRegression",</a:t>
            </a:r>
          </a:p>
          <a:p>
            <a:r>
              <a:t>        "baseline_test_mae": 0.11,</a:t>
            </a:r>
          </a:p>
          <a:p>
            <a:r>
              <a:t>        "model_reliability": "mixed_recursive_performance",</a:t>
            </a:r>
          </a:p>
          <a:p>
            <a:r>
              <a:t>        "beats_baseline_on_test": true,</a:t>
            </a:r>
          </a:p>
          <a:p>
            <a:r>
              <a:t>        "recursive_horizons_worse_than_baseline": [</a:t>
            </a:r>
          </a:p>
          <a:p>
            <a:r>
              <a:t>          "1",</a:t>
            </a:r>
          </a:p>
          <a:p>
            <a:r>
              <a:t>          "2",</a:t>
            </a:r>
          </a:p>
          <a:p>
            <a:r>
              <a:t>          "3"</a:t>
            </a:r>
          </a:p>
          <a:p>
            <a:r>
              <a:t>        ]</a:t>
            </a:r>
          </a:p>
          <a:p>
            <a:r>
              <a:t>      },</a:t>
            </a:r>
          </a:p>
          <a:p>
            <a:r>
              <a:t>      "lodging_rate_pct": {</a:t>
            </a:r>
          </a:p>
          <a:p>
            <a:r>
              <a:t>        "test_mae": 0.32,</a:t>
            </a:r>
          </a:p>
          <a:p>
            <a:r>
              <a:t>        "recursive_mae": {</a:t>
            </a:r>
          </a:p>
          <a:p>
            <a:r>
              <a:t>          "1": {</a:t>
            </a:r>
          </a:p>
          <a:p>
            <a:r>
              <a:t>            "baseline": 0.3,</a:t>
            </a:r>
          </a:p>
          <a:p>
            <a:r>
              <a:t>            "selected": 0.3,</a:t>
            </a:r>
          </a:p>
          <a:p>
            <a:r>
              <a:t>            "sample_count": 2</a:t>
            </a:r>
          </a:p>
          <a:p>
            <a:r>
              <a:t>          },</a:t>
            </a:r>
          </a:p>
          <a:p>
            <a:r>
              <a:t>          "2": {</a:t>
            </a:r>
          </a:p>
          <a:p>
            <a:r>
              <a:t>            "baseline": 0.4,</a:t>
            </a:r>
          </a:p>
          <a:p>
            <a:r>
              <a:t>            "selected": 0.4,</a:t>
            </a:r>
          </a:p>
          <a:p>
            <a:r>
              <a:t>            "sample_count": 2</a:t>
            </a:r>
          </a:p>
          <a:p>
            <a:r>
              <a:t>          },</a:t>
            </a:r>
          </a:p>
          <a:p>
            <a:r>
              <a:t>          "3": {</a:t>
            </a:r>
          </a:p>
          <a:p>
            <a:r>
              <a:t>            "baseline": 0.35,</a:t>
            </a:r>
          </a:p>
          <a:p>
            <a:r>
              <a:t>            "selected": 0.35,</a:t>
            </a:r>
          </a:p>
          <a:p>
            <a:r>
              <a:t>            "sample_count": 2</a:t>
            </a:r>
          </a:p>
          <a:p>
            <a:r>
              <a:t>          }</a:t>
            </a:r>
          </a:p>
          <a:p>
            <a:r>
              <a:t>        },</a:t>
            </a:r>
          </a:p>
          <a:p>
            <a:r>
              <a:t>        "selected_model": "seasonal_naive_previous_year_same_month",</a:t>
            </a:r>
          </a:p>
          <a:p>
            <a:r>
              <a:t>        "baseline_test_mae": 0.32,</a:t>
            </a:r>
          </a:p>
          <a:p>
            <a:r>
              <a:t>        "model_reliability": "seasonal_baseline",</a:t>
            </a:r>
          </a:p>
          <a:p>
            <a:r>
              <a:t>        "beats_baseline_on_test": false,</a:t>
            </a:r>
          </a:p>
          <a:p>
            <a:r>
              <a:t>        "recursive_horizons_worse_than_baseline": []</a:t>
            </a:r>
          </a:p>
          <a:p>
            <a:r>
              <a:t>      },</a:t>
            </a:r>
          </a:p>
          <a:p>
            <a:r>
              <a:t>      "lodging_searches": {</a:t>
            </a:r>
          </a:p>
          <a:p>
            <a:r>
              <a:t>        "test_mae": 141.88,</a:t>
            </a:r>
          </a:p>
          <a:p>
            <a:r>
              <a:t>        "recursive_mae": {</a:t>
            </a:r>
          </a:p>
          <a:p>
            <a:r>
              <a:t>          "1": {</a:t>
            </a:r>
          </a:p>
          <a:p>
            <a:r>
              <a:t>            "baseline": 239.0,</a:t>
            </a:r>
          </a:p>
          <a:p>
            <a:r>
              <a:t>            "selected": 78.5,</a:t>
            </a:r>
          </a:p>
          <a:p>
            <a:r>
              <a:t>            "sample_count": 2</a:t>
            </a:r>
          </a:p>
          <a:p>
            <a:r>
              <a:t>          },</a:t>
            </a:r>
          </a:p>
          <a:p>
            <a:r>
              <a:t>          "2": {</a:t>
            </a:r>
          </a:p>
          <a:p>
            <a:r>
              <a:t>            "baseline": 215.5,</a:t>
            </a:r>
          </a:p>
          <a:p>
            <a:r>
              <a:t>            "selected": 71.5,</a:t>
            </a:r>
          </a:p>
          <a:p>
            <a:r>
              <a:t>            "sample_count": 2</a:t>
            </a:r>
          </a:p>
          <a:p>
            <a:r>
              <a:t>          },</a:t>
            </a:r>
          </a:p>
          <a:p>
            <a:r>
              <a:t>          "3": {</a:t>
            </a:r>
          </a:p>
          <a:p>
            <a:r>
              <a:t>            "baseline": 282.5,</a:t>
            </a:r>
          </a:p>
          <a:p>
            <a:r>
              <a:t>            "selected": 143.0,</a:t>
            </a:r>
          </a:p>
          <a:p>
            <a:r>
              <a:t>            "sample_count": 2</a:t>
            </a:r>
          </a:p>
          <a:p>
            <a:r>
              <a:t>          }</a:t>
            </a:r>
          </a:p>
          <a:p>
            <a:r>
              <a:t>        },</a:t>
            </a:r>
          </a:p>
          <a:p>
            <a:r>
              <a:t>        "selected_model": "RandomForestRegressor",</a:t>
            </a:r>
          </a:p>
          <a:p>
            <a:r>
              <a:t>        "baseline_test_mae": 260.75,</a:t>
            </a:r>
          </a:p>
          <a:p>
            <a:r>
              <a:t>        "model_reliability": "limited_backtest_support",</a:t>
            </a:r>
          </a:p>
          <a:p>
            <a:r>
              <a:t>        "beats_baseline_on_test": true,</a:t>
            </a:r>
          </a:p>
          <a:p>
            <a:r>
              <a:t>        "recursive_horizons_worse_than_baseline": []</a:t>
            </a:r>
          </a:p>
          <a:p>
            <a:r>
              <a:t>      },</a:t>
            </a:r>
          </a:p>
          <a:p>
            <a:r>
              <a:t>      "navigation_searches": {</a:t>
            </a:r>
          </a:p>
          <a:p>
            <a:r>
              <a:t>        "test_mae": 18943.5,</a:t>
            </a:r>
          </a:p>
          <a:p>
            <a:r>
              <a:t>        "recursive_mae": {</a:t>
            </a:r>
          </a:p>
          <a:p>
            <a:r>
              <a:t>          "1": {</a:t>
            </a:r>
          </a:p>
          <a:p>
            <a:r>
              <a:t>            "baseline": 21342.5,</a:t>
            </a:r>
          </a:p>
          <a:p>
            <a:r>
              <a:t>            "selected": 21342.5,</a:t>
            </a:r>
          </a:p>
          <a:p>
            <a:r>
              <a:t>            "sample_count": 2</a:t>
            </a:r>
          </a:p>
          <a:p>
            <a:r>
              <a:t>          },</a:t>
            </a:r>
          </a:p>
          <a:p>
            <a:r>
              <a:t>          "2": {</a:t>
            </a:r>
          </a:p>
          <a:p>
            <a:r>
              <a:t>            "baseline": 18933.0,</a:t>
            </a:r>
          </a:p>
          <a:p>
            <a:r>
              <a:t>            "selected": 18933.0,</a:t>
            </a:r>
          </a:p>
          <a:p>
            <a:r>
              <a:t>            "sample_count": 2</a:t>
            </a:r>
          </a:p>
          <a:p>
            <a:r>
              <a:t>          },</a:t>
            </a:r>
          </a:p>
          <a:p>
            <a:r>
              <a:t>          "3": {</a:t>
            </a:r>
          </a:p>
          <a:p>
            <a:r>
              <a:t>            "baseline": 16544.5,</a:t>
            </a:r>
          </a:p>
          <a:p>
            <a:r>
              <a:t>            "selected": 16544.5,</a:t>
            </a:r>
          </a:p>
          <a:p>
            <a:r>
              <a:t>            "sample_count": 2</a:t>
            </a:r>
          </a:p>
          <a:p>
            <a:r>
              <a:t>          }</a:t>
            </a:r>
          </a:p>
          <a:p>
            <a:r>
              <a:t>        },</a:t>
            </a:r>
          </a:p>
          <a:p>
            <a:r>
              <a:t>        "selected_model": "seasonal_naive_previous_year_same_month",</a:t>
            </a:r>
          </a:p>
          <a:p>
            <a:r>
              <a:t>        "baseline_test_mae": 18943.5,</a:t>
            </a:r>
          </a:p>
          <a:p>
            <a:r>
              <a:t>        "model_reliability": "seasonal_baseline",</a:t>
            </a:r>
          </a:p>
          <a:p>
            <a:r>
              <a:t>        "beats_baseline_on_test": false,</a:t>
            </a:r>
          </a:p>
          <a:p>
            <a:r>
              <a:t>        "recursive_horizons_worse_than_baseline": []</a:t>
            </a:r>
          </a:p>
          <a:p>
            <a:r>
              <a:t>      }</a:t>
            </a:r>
          </a:p>
          <a:p>
            <a:r>
              <a:t>    },</a:t>
            </a:r>
          </a:p>
          <a:p>
            <a:r>
              <a:t>    "test_period": "202603~202606",</a:t>
            </a:r>
          </a:p>
          <a:p>
            <a:r>
              <a:t>    "selection_basis": "validation_mae_only",</a:t>
            </a:r>
          </a:p>
          <a:p>
            <a:r>
              <a:t>    "validation_period": "202512~202602",</a:t>
            </a:r>
          </a:p>
          <a:p>
            <a:r>
              <a:t>    "longer_horizon_status": "exploratory_not_recursively_backtested",</a:t>
            </a:r>
          </a:p>
          <a:p>
            <a:r>
              <a:t>    "forecast_horizon_months": 5,</a:t>
            </a:r>
          </a:p>
          <a:p>
            <a:r>
              <a:t>    "recursive_backtest_horizon_months": [</a:t>
            </a:r>
          </a:p>
          <a:p>
            <a:r>
              <a:t>      1,</a:t>
            </a:r>
          </a:p>
          <a:p>
            <a:r>
              <a:t>      2,</a:t>
            </a:r>
          </a:p>
          <a:p>
            <a:r>
              <a:t>      3</a:t>
            </a:r>
          </a:p>
          <a:p>
            <a:r>
              <a:t>    ]</a:t>
            </a:r>
          </a:p>
          <a:p>
            <a:r>
              <a:t>  },</a:t>
            </a:r>
          </a:p>
          <a:p>
            <a:r>
              <a:t>  "execution_scenario": {</a:t>
            </a:r>
          </a:p>
          <a:p>
            <a:r>
              <a:t>    "visitor_target_pct": 20.0,</a:t>
            </a:r>
          </a:p>
          <a:p>
            <a:r>
              <a:t>    "spending_target_pct": 20.0</a:t>
            </a:r>
          </a:p>
          <a:p>
            <a:r>
              <a:t>  },</a:t>
            </a:r>
          </a:p>
          <a:p>
            <a:r>
              <a:t>  "reference_estimate": {</a:t>
            </a:r>
          </a:p>
          <a:p>
            <a:r>
              <a:t>    "status": "saved_report_budget",</a:t>
            </a:r>
          </a:p>
          <a:p>
            <a:r>
              <a:t>    "total_label": "총액 미확정",</a:t>
            </a:r>
          </a:p>
          <a:p>
            <a:r>
              <a:t>    "rows": [</a:t>
            </a:r>
          </a:p>
          <a:p>
            <a:r>
              <a:t>      [</a:t>
            </a:r>
          </a:p>
          <a:p>
            <a:r>
              <a:t>        "산정 내역 1",</a:t>
            </a:r>
          </a:p>
          <a:p>
            <a:r>
              <a:t>        "지역상품권 환급액 = (외지인 관광객의 지역 내 소비액 × 20%) + (지역상품권 발행 비용: 1,000원/장). 단가 및 정확한 환급 대상 규모는 시범 운영 전 확정 필요.",</a:t>
            </a:r>
          </a:p>
          <a:p>
            <a:r>
              <a:t>        "본문 기준"</a:t>
            </a:r>
          </a:p>
          <a:p>
            <a:r>
              <a:t>      ]</a:t>
            </a:r>
          </a:p>
          <a:p>
            <a:r>
              <a:t>    ],</a:t>
            </a:r>
          </a:p>
          <a:p>
            <a:r>
              <a:t>    "original_text": "지역상품권 환급액 = (외지인 관광객의 지역 내 소비액 × 20%) + (지역상품권 발행 비용: 1,000원/장). 단가 및 정확한 환급 대상 규모는 시범 운영 전 확정 필요.",</a:t>
            </a:r>
          </a:p>
          <a:p>
            <a:r>
              <a:t>    "sources": [],</a:t>
            </a:r>
          </a:p>
          <a:p>
            <a:r>
              <a:t>    "note": "저장 기획안의 예산 산정 내용을 그대로 표시합니다. 확정 견적이 아니며 계약 전 수량·단가·세금과 합계를 확인합니다."</a:t>
            </a:r>
          </a:p>
          <a:p>
            <a:r>
              <a:t>  }</a:t>
            </a:r>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"method": "operation-document-v1",</a:t>
            </a:r>
          </a:p>
          <a:p>
            <a:r>
              <a:t>  "selected_source": {</a:t>
            </a:r>
          </a:p>
          <a:p>
            <a:r>
              <a:t>    "title": "강진 반값여행 지역경제 효과 소개",</a:t>
            </a:r>
          </a:p>
          <a:p>
            <a:r>
              <a:t>    "summary": "전라남도 강진군 · 반값여행 지역환급 · 상품권 결제 변화에 관한 소개 자료는 있으나, 사업 참여자 범위·정확한 비교 기간·원자료를 확인하지 못해 성과 수치 인용을 보류한다.",</a:t>
            </a:r>
          </a:p>
          <a:p>
            <a:r>
              <a:t>    "source_id": "case:gangjin_half_price_2024",</a:t>
            </a:r>
          </a:p>
          <a:p>
            <a:r>
              <a:t>    "source_url": "https://jnfarm.jeonnam.go.kr/board/FARM_BOARD_008/boardView.do?bdId=BD_00000000000011721&amp;menuCd=farm004002",</a:t>
            </a:r>
          </a:p>
          <a:p>
            <a:r>
              <a:t>    "case_region": "전라남도 강진군",</a:t>
            </a:r>
          </a:p>
          <a:p>
            <a:r>
              <a:t>    "source_type": "benchmark_case",</a:t>
            </a:r>
          </a:p>
          <a:p>
            <a:r>
              <a:t>    "intervention": "반값여행 지역환급",</a:t>
            </a:r>
          </a:p>
          <a:p>
            <a:r>
              <a:t>    "document_type": "case_study",</a:t>
            </a:r>
          </a:p>
          <a:p>
            <a:r>
              <a:t>    "observed_result": "상품권 결제 변화에 관한 소개 자료는 있으나, 사업 참여자 범위·정확한 비교 기간·원자료를 확인하지 못해 성과 수치 인용을 보류한다.",</a:t>
            </a:r>
          </a:p>
          <a:p>
            <a:r>
              <a:t>    "operating_model": "여행자가 지역에서 지출한 비용의 일부를 지역상품권으로 돌려받게 하여 혜택이 다시 지역 상점에서 사용되도록 설계",</a:t>
            </a:r>
          </a:p>
          <a:p>
            <a:r>
              <a:t>    "retrieval_method": "curated_registry",</a:t>
            </a:r>
          </a:p>
          <a:p>
            <a:r>
              <a:t>    "evidence_strength": "low",</a:t>
            </a:r>
          </a:p>
          <a:p>
            <a:r>
              <a:t>    "retrieval_context": {</a:t>
            </a:r>
          </a:p>
          <a:p>
            <a:r>
              <a:t>      "scope": "cross_province",</a:t>
            </a:r>
          </a:p>
          <a:p>
            <a:r>
              <a:t>      "peer_region_code": null</a:t>
            </a:r>
          </a:p>
          <a:p>
            <a:r>
              <a:t>    },</a:t>
            </a:r>
          </a:p>
          <a:p>
            <a:r>
              <a:t>    "measurement_period": "게시일과 사업 측정기간은 다르며, 비교기간과 집계범위 원자료 확인 필요",</a:t>
            </a:r>
          </a:p>
          <a:p>
            <a:r>
              <a:t>    "transfer_conditions": [</a:t>
            </a:r>
          </a:p>
          <a:p>
            <a:r>
              <a:t>      "지역상품권 사용처와 관광업체 참여 기준 필요",</a:t>
            </a:r>
          </a:p>
          <a:p>
            <a:r>
              <a:t>      "여행 지출 증빙과 중복수혜 방지 절차 필요",</a:t>
            </a:r>
          </a:p>
          <a:p>
            <a:r>
              <a:t>      "지원금보다 추가 지역소비가 큰지 사후 측정 필요"</a:t>
            </a:r>
          </a:p>
          <a:p>
            <a:r>
              <a:t>    ],</a:t>
            </a:r>
          </a:p>
          <a:p>
            <a:r>
              <a:t>    "published_or_updated_at": "2025-01-02",</a:t>
            </a:r>
          </a:p>
          <a:p>
            <a:r>
              <a:t>    "quantitative_result_approved": false</a:t>
            </a:r>
          </a:p>
          <a:p>
            <a:r>
              <a:t>  },</a:t>
            </a:r>
          </a:p>
          <a:p>
            <a:r>
              <a:t>  "observed_findings": [</a:t>
            </a:r>
          </a:p>
          <a:p>
            <a:r>
              <a:t>    {</a:t>
            </a:r>
          </a:p>
          <a:p>
            <a:r>
              <a:t>      "value": "6,687,696명",</a:t>
            </a:r>
          </a:p>
          <a:p>
            <a:r>
              <a:t>      "metric": "월간 순 방문자 수",</a:t>
            </a:r>
          </a:p>
          <a:p>
            <a:r>
              <a:t>      "source": "dataset:11200:1",</a:t>
            </a:r>
          </a:p>
          <a:p>
            <a:r>
              <a:t>      "interpretation": "2026-06 기준 외지인 방문 규모는 크나, 숙박 방문 비율은 3.7%로 낮아 체류 시간 연장이 필요함."</a:t>
            </a:r>
          </a:p>
          <a:p>
            <a:r>
              <a:t>    },</a:t>
            </a:r>
          </a:p>
          <a:p>
            <a:r>
              <a:t>    {</a:t>
            </a:r>
          </a:p>
          <a:p>
            <a:r>
              <a:t>      "value": "93,151,315,000원",</a:t>
            </a:r>
          </a:p>
          <a:p>
            <a:r>
              <a:t>      "metric": "외지인 관광소비 총액",</a:t>
            </a:r>
          </a:p>
          <a:p>
            <a:r>
              <a:t>      "source": "dataset:11200:3",</a:t>
            </a:r>
          </a:p>
          <a:p>
            <a:r>
              <a:t>      "interpretation": "2026-06 기준 소비 규모는 상당하나, 숙박업 비중(0.1%)이 매우 낮아 체류형 소비 유도가 핵심 과제임."</a:t>
            </a:r>
          </a:p>
          <a:p>
            <a:r>
              <a:t>    },</a:t>
            </a:r>
          </a:p>
          <a:p>
            <a:r>
              <a:t>    {</a:t>
            </a:r>
          </a:p>
          <a:p>
            <a:r>
              <a:t>      "value": "3.03일",</a:t>
            </a:r>
          </a:p>
          <a:p>
            <a:r>
              <a:t>      "metric": "외지인 평균 숙박일수",</a:t>
            </a:r>
          </a:p>
          <a:p>
            <a:r>
              <a:t>      "source": "dataset:11200:5",</a:t>
            </a:r>
          </a:p>
          <a:p>
            <a:r>
              <a:t>      "interpretation": "평균 체류 기간은 확보되어 있으나, 숙박 방문 비율이 낮아 당일치기 위주의 소비 패턴을 보임."</a:t>
            </a:r>
          </a:p>
          <a:p>
            <a:r>
              <a:t>    }</a:t>
            </a:r>
          </a:p>
          <a:p>
            <a:r>
              <a:t>  ],</a:t>
            </a:r>
          </a:p>
          <a:p>
            <a:r>
              <a:t>  "interpretation": "7개 예측값으로 학습한 추천 모델 없음. 관측 지표는 지역 설계 입력이고 공식 운영 문서가 사례 연결 기준."</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c3a5f6510e4e49ba"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32212eb627044e2" Type="http://schemas.openxmlformats.org/officeDocument/2006/relationships/slideLayout" Target="../slideLayouts/slideLayout1.xml"/><Relationship Id="Rc23d06999bd7418f"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32212eb627044e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23aa0b3f3fe84ab1" Type="http://schemas.openxmlformats.org/officeDocument/2006/relationships/notesSlide" Target="../notesSlides/notesSlide1.xml"/><Relationship Id="Rfe2d442cc9394c75"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a91e1cfda5554f8e" Type="http://schemas.openxmlformats.org/officeDocument/2006/relationships/notesSlide" Target="../notesSlides/notesSlide2.xml"/><Relationship Id="Rcfdb7c120e7d4793"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40bfe741e78644e3" Type="http://schemas.openxmlformats.org/officeDocument/2006/relationships/slideLayout" Target="../slideLayouts/slideLayout1.xml"/><Relationship Id="R9925e0cf7f4b4a11" Type="http://schemas.openxmlformats.org/officeDocument/2006/relationships/notesSlide" Target="../notesSlides/notesSlide3.xml"/><Relationship Id="Re0802ea4bb724ca1" Type="http://schemas.openxmlformats.org/officeDocument/2006/relationships/image" Target="../media/image.png"/></Relationships>
</file>

<file path=ppt/slides/_rels/slide4.xml.rels><?xml version='1.0' encoding='UTF-8' standalone='yes'?>
<Relationships xmlns="http://schemas.openxmlformats.org/package/2006/relationships"><Relationship Id="R4f2ce5977e6c41d3" Type="http://schemas.openxmlformats.org/officeDocument/2006/relationships/slideLayout" Target="../slideLayouts/slideLayout1.xml"/><Relationship Id="Reab760d5cc7545a2" Type="http://schemas.openxmlformats.org/officeDocument/2006/relationships/notesSlide" Target="../notesSlides/notesSlide4.xml"/><Relationship Id="rId3" Type="http://schemas.openxmlformats.org/officeDocument/2006/relationships/chart" Target="../charts/chart1.xml"/><Relationship Id="rId4" Type="http://schemas.openxmlformats.org/officeDocument/2006/relationships/chart" Target="../charts/chart2.xml"/></Relationships>
</file>

<file path=ppt/slides/_rels/slide6.xml.rels><?xml version='1.0' encoding='UTF-8' standalone='yes'?>
<Relationships xmlns="http://schemas.openxmlformats.org/package/2006/relationships"><Relationship Id="R08a1a66771e34c37" Type="http://schemas.openxmlformats.org/officeDocument/2006/relationships/chart" Target="charts/chart3.xml"/><Relationship Id="R92c25c991d43491c" Type="http://schemas.openxmlformats.org/officeDocument/2006/relationships/slideLayout" Target="../slideLayouts/slideLayout1.xml"/><Relationship Id="Rf95ef34647d642a0" Type="http://schemas.openxmlformats.org/officeDocument/2006/relationships/notesSlide" Target="../notesSlides/notesSlide6.xml"/><Relationship Id="rId4" Type="http://schemas.openxmlformats.org/officeDocument/2006/relationships/image" Target="../media/image1.jpg"/><Relationship Id="rId5" Type="http://schemas.openxmlformats.org/officeDocument/2006/relationships/hyperlink" Target="https://www.gangjintour.com/" TargetMode="External"/><Relationship Id="rId6" Type="http://schemas.openxmlformats.org/officeDocument/2006/relationships/hyperlink" Target="https://jnfarm.jeonnam.go.kr/board/FARM_BOARD_008/boardView.do?bdId=BD_00000000000011721&amp;menuCd=farm004002" TargetMode="External"/><Relationship Id="rId7" Type="http://schemas.openxmlformats.org/officeDocument/2006/relationships/image" Target="../media/image2.jpg"/><Relationship Id="rId8" Type="http://schemas.openxmlformats.org/officeDocument/2006/relationships/hyperlink" Target="https://www.korea.kr/news/policyNewsView.do?newsId=148947084" TargetMode="External"/><Relationship Id="rId9" Type="http://schemas.openxmlformats.org/officeDocument/2006/relationships/hyperlink" Target="https://mcst.go.kr/servlets/eduport/front/upload/UplDownloadFile?pFileName=%280514%29%EB%AC%B8%EC%B2%B4%EB%B6%80%EB%B3%B4%EB%8F%84%EC%9E%90%EB%A3%8C-6%EC%9B%94_%EC%97%AC%ED%96%89%EA%B0%80%EB%8A%94_%EB%8B%AC_%EC%B6%94%EC%A7%84.pdf&amp;pPath=0302000000&amp;pRealName=20240514083202149235802932_PRESS20240514083202456506.pdf" TargetMode="External"/><Relationship Id="rId10" Type="http://schemas.openxmlformats.org/officeDocument/2006/relationships/image" Target="../media/image3.jpg"/><Relationship Id="rId11" Type="http://schemas.openxmlformats.org/officeDocument/2006/relationships/hyperlink" Target="https://isum.incheon.go.kr/theme/themeContent.do?key=2407020018" TargetMode="External"/><Relationship Id="rId12" Type="http://schemas.openxmlformats.org/officeDocument/2006/relationships/hyperlink" Target="https://kto.visitkorea.or.kr/upload/flexer/upload/ktobiz/20220928/b623b5f9-3ec0-11ed-9832-ddf31964842e.hwp.files/Sections1.html" TargetMode="External"/></Relationships>
</file>

<file path=ppt/slides/_rels/slide7.xml.rels><?xml version='1.0' encoding='UTF-8' standalone='yes'?>
<Relationships xmlns="http://schemas.openxmlformats.org/package/2006/relationships"><Relationship Id="R41faa7af3ee946e3" Type="http://schemas.openxmlformats.org/officeDocument/2006/relationships/notesSlide" Target="../notesSlides/notesSlide7.xml"/><Relationship Id="Rdd777a48420b4e2a"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1be757d81be54559"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3a927cda51254bd6"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clik.nanet.go.kr/minutes/viewer.do?DOCID=CLIKC3524169218564260&amp;collection=minutes" TargetMode="External"/><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304ac80f13724322" Type="http://schemas.openxmlformats.org/officeDocument/2006/relationships/slideLayout" Target="../slideLayouts/slideLayout1.xml"/><Relationship Id="rId2" Type="http://schemas.openxmlformats.org/officeDocument/2006/relationships/hyperlink" Target="https://datalab.visitkorea.or.kr/" TargetMode="External"/><Relationship Id="rId3"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3ae7c5de0f064511" Type="http://schemas.openxmlformats.org/officeDocument/2006/relationships/slideLayout" Target="../slideLayouts/slideLayout1.xml"/><Relationship Id="R9f79db7a81fa4a2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datalab.visitkorea.or.kr/" TargetMode="External"/><Relationship Id="rId3" Type="http://schemas.openxmlformats.org/officeDocument/2006/relationships/hyperlink" Target="https://datalab.visitkorea.or.kr/site/portal/ex/bbs/View.do?bcIdx=311068&amp;cbIdx=1135&amp;pageIndex=1" TargetMode="External"/><Relationship Id="rId4" Type="http://schemas.openxmlformats.org/officeDocument/2006/relationships/hyperlink" Target="https://hangang.seoul.go.kr/www/eventMng/detail.do?evntSn=378&amp;mid=538&amp;srchType=list" TargetMode="External"/><Relationship Id="rId5" Type="http://schemas.openxmlformats.org/officeDocument/2006/relationships/hyperlink" Target="https://www.seoul.go.kr/news/news_report.do?nttNo=458311" TargetMode="External"/><Relationship Id="rId6" Type="http://schemas.openxmlformats.org/officeDocument/2006/relationships/hyperlink" Target="https://gov.seoul.go.kr/festa/garden/y2026/program/garden-culture-program/commentary-program?article=42926" TargetMode="Externa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culture.seoul.go.kr/culture/bbs/B0000000/view.do?menuNo=200050&amp;nttId=16465" TargetMode="External"/><Relationship Id="rId3" Type="http://schemas.openxmlformats.org/officeDocument/2006/relationships/hyperlink" Target="https://www.seoul.go.kr/festa/garden/y2026/introduce/location?pc=1" TargetMode="External"/><Relationship Id="rId4" Type="http://schemas.openxmlformats.org/officeDocument/2006/relationships/hyperlink" Target="https://www.seoul.go.kr/news/news_report.do?nttNo=460823&amp;tr_code=snews" TargetMode="External"/><Relationship Id="rId5" Type="http://schemas.openxmlformats.org/officeDocument/2006/relationships/hyperlink" Target="https://hangang.seoul.go.kr/www/eventMng/detail.do?evntSn=378&amp;mid=538&amp;srchType=list" TargetMode="External"/><Relationship Id="rId6" Type="http://schemas.openxmlformats.org/officeDocument/2006/relationships/hyperlink" Target="https://jeonju.go.kr/resource/www/images/download/budget/2026/2026_31_2.pdf" TargetMode="External"/><Relationship Id="rId7" Type="http://schemas.openxmlformats.org/officeDocument/2006/relationships/hyperlink" Target="https://jnfarm.jeonnam.go.kr/board/FARM_BOARD_008/boardView.do?bdId=BD_00000000000011721&amp;menuCd=farm004002" TargetMode="External"/><Relationship Id="rId8" Type="http://schemas.openxmlformats.org/officeDocument/2006/relationships/hyperlink" Target="https://mcst.go.kr/servlets/eduport/front/upload/UplDownloadFile?pFileName=%280514%29%EB%AC%B8%EC%B2%B4%EB%B6%80%EB%B3%B4%EB%8F%84%EC%9E%90%EB%A3%8C-6%EC%9B%94_%EC%97%AC%ED%96%89%EA%B0%80%EB%8A%94_%EB%8B%AC_%EC%B6%94%EC%A7%84.pdf&amp;pPath=0302000000&amp;pRealName=20240514083202149235802932_PRESS20240514083202456506.pdf" TargetMode="External"/><Relationship Id="rId9" Type="http://schemas.openxmlformats.org/officeDocument/2006/relationships/hyperlink" Target="https://kto.visitkorea.or.kr/upload/flexer/upload/ktobiz/20220928/b623b5f9-3ec0-11ed-9832-ddf31964842e.hwp.files/Sections1.html" TargetMode="External"/><Relationship Id="rId10" Type="http://schemas.openxmlformats.org/officeDocument/2006/relationships/hyperlink" Target="https://korean.visitkorea.or.kr/detail/rem_detail.do?cotid=f9c636b2-dd7c-4f09-af3d-6af43b33d371" TargetMode="External"/><Relationship Id="rId11" Type="http://schemas.openxmlformats.org/officeDocument/2006/relationships/hyperlink" Target="https://www.evaluation.go.kr/upload2/atch/eval/20250429095846463.pdf" TargetMode="External"/><Relationship Id="rId12" Type="http://schemas.openxmlformats.org/officeDocument/2006/relationships/hyperlink" Target="https://apis.data.go.kr/B551011/KorService2" TargetMode="External"/><Relationship Id="rId1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jnfarm.jeonnam.go.kr/board/FARM_BOARD_008/boardView.do?bdId=BD_00000000000011721&amp;menuCd=farm004002" TargetMode="External"/><Relationship Id="rId3" Type="http://schemas.openxmlformats.org/officeDocument/2006/relationships/notesSlide" Target="../notesSlides/notesSlide15.xml"/></Relationships>
</file>

<file path=ppt/slides/charts/chart3.xml><?xml version="1.0" encoding="utf-8"?>
<c:chartSpace xmlns:c="http://schemas.openxmlformats.org/drawingml/2006/chart">
  <c:lang val="en-US"/>
  <c:chart>
    <c:plotArea>
      <c:barChart>
        <c:barDir val="bar"/>
        <c:grouping val="clustered"/>
        <c:varyColors val="0"/>
        <c:ser>
          <c:idx val="0"/>
          <c:order val="0"/>
          <c:tx>
            <c:v>방문 지수</c:v>
          </c:tx>
          <c:spPr>
            <a:solidFill xmlns:a="http://schemas.openxmlformats.org/drawingml/2006/main">
              <a:srgbClr val="004EA2"/>
            </a:solidFill>
          </c:spPr>
          <c:dPt>
            <c:idx val="0"/>
            <c:invertIfNegative val="0"/>
            <c:spPr>
              <a:solidFill xmlns:a="http://schemas.openxmlformats.org/drawingml/2006/main">
                <a:srgbClr val="BFD0E3"/>
              </a:solidFill>
            </c:spPr>
          </c:dPt>
          <c:dPt>
            <c:idx val="1"/>
            <c:invertIfNegative val="0"/>
            <c:spPr>
              <a:solidFill xmlns:a="http://schemas.openxmlformats.org/drawingml/2006/main">
                <a:srgbClr val="004EA2"/>
              </a:solidFill>
            </c:spPr>
          </c:dPt>
          <c:cat>
            <c:strLit>
              <c:ptCount val="2"/>
              <c:pt idx="0">
                <c:v>전년</c:v>
              </c:pt>
              <c:pt idx="1">
                <c:v>현재</c:v>
              </c:pt>
            </c:strLit>
          </c:cat>
          <c:val>
            <c:numLit>
              <c:formatCode>General</c:formatCode>
              <c:ptCount val="2"/>
              <c:pt idx="0">
                <c:v>100</c:v>
              </c:pt>
              <c:pt idx="1">
                <c:v>91.7</c:v>
              </c:pt>
            </c:numLit>
          </c:val>
        </c:ser>
        <c:dLbls>
          <c:txPr>
            <a:bodyPr xmlns:a="http://schemas.openxmlformats.org/drawingml/2006/main" anchorCtr="1"/>
            <a:lstStyle xmlns:a="http://schemas.openxmlformats.org/drawingml/2006/main"/>
            <a:p xmlns:a="http://schemas.openxmlformats.org/drawingml/2006/main">
              <a:pPr>
                <a:defRPr sz="1200" b="1">
                  <a:solidFill>
                    <a:srgbClr val="FFFFFF"/>
                  </a:solidFill>
                </a:defRPr>
              </a:pPr>
            </a:p>
          </c:txPr>
          <c:dLblPos val="inEnd"/>
          <c:showLegendKey val="0"/>
          <c:showVal val="1"/>
          <c:showCatName val="0"/>
          <c:showSerName val="0"/>
          <c:showPercent val="0"/>
          <c:showBubbleSize val="0"/>
          <c:showLeaderLines val="0"/>
        </c:dLbls>
        <c:gapWidth val="42"/>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72768"/>
      </c:catAx>
      <c:valAx>
        <c:axId val="48672768"/>
        <c:scaling>
          <c:orientation val="minMax"/>
        </c:scaling>
        <c:delete val="1"/>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50112"/>
        <c:crossBetween val="between"/>
      </c:valAx>
      <c:spPr>
        <a:solidFill xmlns:a="http://schemas.openxmlformats.org/drawingml/2006/main">
          <a:srgbClr val="FFFFFF"/>
        </a:solidFill>
      </c:spPr>
    </c:plotArea>
    <c:plotVisOnly val="1"/>
  </c:chart>
  <c:spPr>
    <a:solidFill xmlns:a="http://schemas.openxmlformats.org/drawingml/2006/main">
      <a:srgbClr val="FFFFFF"/>
    </a:solidFill>
  </c:spPr>
</c:chartSpace>
</file>

<file path=ppt/slides/slide1.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21" name="background-wordmark">
            <a:extLst xmlns:a="http://schemas.openxmlformats.org/drawingml/2006/main">
              <a:ext uri="{FF2B5EF4-FFF2-40B4-BE49-F238E27FC236}">
                <a16:creationId xmlns:a16="http://schemas.microsoft.com/office/drawing/2014/main" id="{77FB509F-5920-492C-9117-3338D34B0670}"/>
              </a:ext>
            </a:extLst>
          </p:cNvPr>
          <p:cNvSpPr>
            <a:spLocks xmlns:a="http://schemas.openxmlformats.org/drawingml/2006/main" noGrp="1"/>
          </p:cNvSpPr>
          <p:nvPr/>
        </p:nvSpPr>
        <p:spPr>
          <a:xfrm xmlns:a="http://schemas.openxmlformats.org/drawingml/2006/main">
            <a:off x="-552450" y="2857500"/>
            <a:ext cx="16383000" cy="2952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86111" lnSpcReduction="10000"/>
          </a:bodyPr>
          <a:lstStyle xmlns:a="http://schemas.openxmlformats.org/drawingml/2006/main"/>
          <a:p xmlns:a="http://schemas.openxmlformats.org/drawingml/2006/main">
            <a:pPr algn="ctr" eaLnBrk="0">
              <a:buNone/>
              <a:defRPr sz="22500" b="1" i="0">
                <a:solidFill>
                  <a:srgbClr val="E7EDF4"/>
                </a:solidFill>
                <a:latin typeface="Noto Sans KR"/>
                <a:ea typeface="Noto Sans KR"/>
                <a:cs typeface="Noto Sans KR"/>
              </a:defRPr>
            </a:pPr>
            <a:r>
              <a:rPr sz="22500" b="1" i="0">
                <a:solidFill>
                  <a:srgbClr val="E7EDF4"/>
                </a:solidFill>
                <a:latin typeface="Noto Sans KR"/>
                <a:ea typeface="Noto Sans KR"/>
                <a:cs typeface="Noto Sans KR"/>
              </a:rPr>
              <a:t>TOURISM AI</a:t>
            </a:r>
          </a:p>
        </p:txBody>
      </p:sp>
      <p:sp>
        <p:nvSpPr>
          <p:cNvPr id="2" name="center-top-vertical">
            <a:extLst xmlns:a="http://schemas.openxmlformats.org/drawingml/2006/main">
              <a:ext uri="{FF2B5EF4-FFF2-40B4-BE49-F238E27FC236}">
                <a16:creationId xmlns:a16="http://schemas.microsoft.com/office/drawing/2014/main" id="{B1DEDF35-13EE-406A-AC8E-214EDD2F24AC}"/>
              </a:ext>
            </a:extLst>
          </p:cNvPr>
          <p:cNvSpPr>
            <a:spLocks xmlns:a="http://schemas.openxmlformats.org/drawingml/2006/main" noGrp="1"/>
          </p:cNvSpPr>
          <p:nvPr/>
        </p:nvSpPr>
        <p:spPr>
          <a:xfrm xmlns:a="http://schemas.openxmlformats.org/drawingml/2006/main">
            <a:off x="7620000" y="895350"/>
            <a:ext cx="0" cy="1257300"/>
          </a:xfrm>
          <a:prstGeom xmlns:a="http://schemas.openxmlformats.org/drawingml/2006/main" prst="line">
            <a:avLst/>
          </a:prstGeom>
          <a:noFill xmlns:a="http://schemas.openxmlformats.org/drawingml/2006/main"/>
          <a:ln xmlns:a="http://schemas.openxmlformats.org/drawingml/2006/main" w="28575">
            <a:solidFill>
              <a:srgbClr val="004EA2"/>
            </a:solidFill>
            <a:prstDash val="solid"/>
          </a:ln>
        </p:spPr>
        <p:txBody>
          <a:bodyPr xmlns:a="http://schemas.openxmlformats.org/drawingml/2006/main"/>
          <a:lstStyle xmlns:a="http://schemas.openxmlformats.org/drawingml/2006/main"/>
          <a:p xmlns:a="http://schemas.openxmlformats.org/drawingml/2006/main">
            <a:endParaRPr/>
          </a:p>
        </p:txBody>
      </p:sp>
      <p:sp>
        <p:nvSpPr>
          <p:cNvPr id="3" name="center-bottom-vertical">
            <a:extLst xmlns:a="http://schemas.openxmlformats.org/drawingml/2006/main">
              <a:ext uri="{FF2B5EF4-FFF2-40B4-BE49-F238E27FC236}">
                <a16:creationId xmlns:a16="http://schemas.microsoft.com/office/drawing/2014/main" id="{D3C6583A-243C-4B40-B28E-68DDCD8248EA}"/>
              </a:ext>
            </a:extLst>
          </p:cNvPr>
          <p:cNvSpPr>
            <a:spLocks xmlns:a="http://schemas.openxmlformats.org/drawingml/2006/main" noGrp="1"/>
          </p:cNvSpPr>
          <p:nvPr/>
        </p:nvSpPr>
        <p:spPr>
          <a:xfrm xmlns:a="http://schemas.openxmlformats.org/drawingml/2006/main">
            <a:off x="7620000" y="6410325"/>
            <a:ext cx="0" cy="1247775"/>
          </a:xfrm>
          <a:prstGeom xmlns:a="http://schemas.openxmlformats.org/drawingml/2006/main" prst="line">
            <a:avLst/>
          </a:prstGeom>
          <a:noFill xmlns:a="http://schemas.openxmlformats.org/drawingml/2006/main"/>
          <a:ln xmlns:a="http://schemas.openxmlformats.org/drawingml/2006/main" w="28575">
            <a:solidFill>
              <a:srgbClr val="004EA2"/>
            </a:solidFill>
            <a:prstDash val="solid"/>
          </a:ln>
        </p:spPr>
        <p:txBody>
          <a:bodyPr xmlns:a="http://schemas.openxmlformats.org/drawingml/2006/main"/>
          <a:lstStyle xmlns:a="http://schemas.openxmlformats.org/drawingml/2006/main"/>
          <a:p xmlns:a="http://schemas.openxmlformats.org/drawingml/2006/main">
            <a:endParaRPr/>
          </a:p>
        </p:txBody>
      </p:sp>
      <p:sp>
        <p:nvSpPr>
          <p:cNvPr id="4" name="title-panel">
            <a:extLst xmlns:a="http://schemas.openxmlformats.org/drawingml/2006/main">
              <a:ext uri="{FF2B5EF4-FFF2-40B4-BE49-F238E27FC236}">
                <a16:creationId xmlns:a16="http://schemas.microsoft.com/office/drawing/2014/main" id="{EE1DECE5-AA5E-4E34-834B-AD62B1CB03F9}"/>
              </a:ext>
            </a:extLst>
          </p:cNvPr>
          <p:cNvSpPr>
            <a:spLocks xmlns:a="http://schemas.openxmlformats.org/drawingml/2006/main" noGrp="1"/>
          </p:cNvSpPr>
          <p:nvPr/>
        </p:nvSpPr>
        <p:spPr>
          <a:xfrm xmlns:a="http://schemas.openxmlformats.org/drawingml/2006/main">
            <a:off x="3495675" y="2114550"/>
            <a:ext cx="8267700" cy="42957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5" name="title-panel-top">
            <a:extLst xmlns:a="http://schemas.openxmlformats.org/drawingml/2006/main">
              <a:ext uri="{FF2B5EF4-FFF2-40B4-BE49-F238E27FC236}">
                <a16:creationId xmlns:a16="http://schemas.microsoft.com/office/drawing/2014/main" id="{6C123102-52FB-43EB-A3A5-744861F98965}"/>
              </a:ext>
            </a:extLst>
          </p:cNvPr>
          <p:cNvSpPr>
            <a:spLocks xmlns:a="http://schemas.openxmlformats.org/drawingml/2006/main" noGrp="1"/>
          </p:cNvSpPr>
          <p:nvPr/>
        </p:nvSpPr>
        <p:spPr>
          <a:xfrm xmlns:a="http://schemas.openxmlformats.org/drawingml/2006/main">
            <a:off x="3495675" y="2114550"/>
            <a:ext cx="8267700" cy="0"/>
          </a:xfrm>
          <a:prstGeom xmlns:a="http://schemas.openxmlformats.org/drawingml/2006/main" prst="line">
            <a:avLst/>
          </a:prstGeom>
          <a:noFill xmlns:a="http://schemas.openxmlformats.org/drawingml/2006/main"/>
          <a:ln xmlns:a="http://schemas.openxmlformats.org/drawingml/2006/main" w="38100">
            <a:solidFill>
              <a:srgbClr val="004EA2"/>
            </a:solidFill>
            <a:prstDash val="solid"/>
          </a:ln>
        </p:spPr>
        <p:txBody>
          <a:bodyPr xmlns:a="http://schemas.openxmlformats.org/drawingml/2006/main"/>
          <a:lstStyle xmlns:a="http://schemas.openxmlformats.org/drawingml/2006/main"/>
          <a:p xmlns:a="http://schemas.openxmlformats.org/drawingml/2006/main">
            <a:endParaRPr/>
          </a:p>
        </p:txBody>
      </p:sp>
      <p:sp>
        <p:nvSpPr>
          <p:cNvPr id="6" name="security-label">
            <a:extLst xmlns:a="http://schemas.openxmlformats.org/drawingml/2006/main">
              <a:ext uri="{FF2B5EF4-FFF2-40B4-BE49-F238E27FC236}">
                <a16:creationId xmlns:a16="http://schemas.microsoft.com/office/drawing/2014/main" id="{EA7BB441-19DF-412D-93DE-6B5F825D6027}"/>
              </a:ext>
            </a:extLst>
          </p:cNvPr>
          <p:cNvSpPr>
            <a:spLocks xmlns:a="http://schemas.openxmlformats.org/drawingml/2006/main" noGrp="1"/>
          </p:cNvSpPr>
          <p:nvPr/>
        </p:nvSpPr>
        <p:spPr>
          <a:xfrm xmlns:a="http://schemas.openxmlformats.org/drawingml/2006/main">
            <a:off x="5829300" y="2943225"/>
            <a:ext cx="404812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eaLnBrk="0">
              <a:buNone/>
              <a:defRPr sz="1200" b="1" i="0">
                <a:solidFill>
                  <a:srgbClr val="59636E"/>
                </a:solidFill>
                <a:latin typeface="Noto Sans KR"/>
                <a:ea typeface="Noto Sans KR"/>
                <a:cs typeface="Noto Sans KR"/>
              </a:defRPr>
            </a:pPr>
            <a:r>
              <a:rPr sz="1350" b="0" i="0">
                <a:solidFill>
                  <a:srgbClr val="59636E"/>
                </a:solidFill>
                <a:latin typeface="Noto Sans KR"/>
                <a:ea typeface="Noto Sans KR"/>
                <a:cs typeface="Noto Sans KR"/>
              </a:rPr>
              <a:t>관광사업 아이디어 제안</a:t>
            </a:r>
          </a:p>
        </p:txBody>
      </p:sp>
      <p:sp>
        <p:nvSpPr>
          <p:cNvPr id="7" name="cover-title-line1">
            <a:extLst xmlns:a="http://schemas.openxmlformats.org/drawingml/2006/main">
              <a:ext uri="{FF2B5EF4-FFF2-40B4-BE49-F238E27FC236}">
                <a16:creationId xmlns:a16="http://schemas.microsoft.com/office/drawing/2014/main" id="{4D06E463-555F-4ED7-A555-6F2BBA28E48F}"/>
              </a:ext>
            </a:extLst>
          </p:cNvPr>
          <p:cNvSpPr>
            <a:spLocks xmlns:a="http://schemas.openxmlformats.org/drawingml/2006/main" noGrp="1"/>
          </p:cNvSpPr>
          <p:nvPr/>
        </p:nvSpPr>
        <p:spPr>
          <a:xfrm xmlns:a="http://schemas.openxmlformats.org/drawingml/2006/main">
            <a:off x="4267200" y="3638550"/>
            <a:ext cx="673417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eaLnBrk="0">
              <a:buNone/>
              <a:defRPr sz="3525" b="1" i="0">
                <a:solidFill>
                  <a:srgbClr val="1B1F23"/>
                </a:solidFill>
                <a:latin typeface="Noto Sans KR"/>
                <a:ea typeface="Noto Sans KR"/>
                <a:cs typeface="Noto Sans KR"/>
              </a:defRPr>
            </a:pPr>
            <a:r>
              <a:rPr sz="3525" b="1" i="0">
                <a:solidFill>
                  <a:srgbClr val="1B1F23"/>
                </a:solidFill>
                <a:latin typeface="Noto Sans KR"/>
                <a:ea typeface="Noto Sans KR"/>
                <a:cs typeface="Noto Sans KR"/>
              </a:rPr>
              <a:t>성동구 지역상품권 환급 프로그램</a:t>
            </a:r>
          </a:p>
        </p:txBody>
      </p:sp>
      <p:sp>
        <p:nvSpPr>
          <p:cNvPr id="8" name="cover-title-line2">
            <a:extLst xmlns:a="http://schemas.openxmlformats.org/drawingml/2006/main">
              <a:ext uri="{FF2B5EF4-FFF2-40B4-BE49-F238E27FC236}">
                <a16:creationId xmlns:a16="http://schemas.microsoft.com/office/drawing/2014/main" id="{055E2330-B51B-4A73-961A-2CE79A60AD37}"/>
              </a:ext>
            </a:extLst>
          </p:cNvPr>
          <p:cNvSpPr>
            <a:spLocks xmlns:a="http://schemas.openxmlformats.org/drawingml/2006/main" noGrp="1"/>
          </p:cNvSpPr>
          <p:nvPr/>
        </p:nvSpPr>
        <p:spPr>
          <a:xfrm xmlns:a="http://schemas.openxmlformats.org/drawingml/2006/main">
            <a:off x="4181475" y="4410075"/>
            <a:ext cx="6924675"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eaLnBrk="0">
              <a:buNone/>
              <a:defRPr sz="2625" b="1">
                <a:solidFill>
                  <a:srgbClr val="1B1F23"/>
                </a:solidFill>
                <a:latin typeface="Noto Sans KR"/>
                <a:ea typeface="Noto Sans KR"/>
                <a:cs typeface="Noto Sans KR"/>
              </a:defRPr>
            </a:pPr>
            <a:r>
              <a:rPr sz="2625" b="1">
                <a:solidFill>
                  <a:srgbClr val="1B1F23"/>
                </a:solidFill>
                <a:latin typeface="Noto Sans KR"/>
                <a:ea typeface="Noto Sans KR"/>
                <a:cs typeface="Noto Sans KR"/>
              </a:rPr>
              <a:t>실행 기획안</a:t>
            </a:r>
          </a:p>
        </p:txBody>
      </p:sp>
      <p:sp>
        <p:nvSpPr>
          <p:cNvPr id="9" name="date-rule-left">
            <a:extLst xmlns:a="http://schemas.openxmlformats.org/drawingml/2006/main">
              <a:ext uri="{FF2B5EF4-FFF2-40B4-BE49-F238E27FC236}">
                <a16:creationId xmlns:a16="http://schemas.microsoft.com/office/drawing/2014/main" id="{ADF95A54-AD3A-46B3-8204-A4A4C1780876}"/>
              </a:ext>
            </a:extLst>
          </p:cNvPr>
          <p:cNvSpPr>
            <a:spLocks xmlns:a="http://schemas.openxmlformats.org/drawingml/2006/main" noGrp="1"/>
          </p:cNvSpPr>
          <p:nvPr/>
        </p:nvSpPr>
        <p:spPr>
          <a:xfrm xmlns:a="http://schemas.openxmlformats.org/drawingml/2006/main">
            <a:off x="6115050" y="5514975"/>
            <a:ext cx="466725" cy="0"/>
          </a:xfrm>
          <a:prstGeom xmlns:a="http://schemas.openxmlformats.org/drawingml/2006/main" prst="line">
            <a:avLst/>
          </a:prstGeom>
          <a:noFill xmlns:a="http://schemas.openxmlformats.org/drawingml/2006/main"/>
          <a:ln xmlns:a="http://schemas.openxmlformats.org/drawingml/2006/main" w="19050">
            <a:solidFill>
              <a:srgbClr val="00C1D4"/>
            </a:solidFill>
            <a:prstDash val="solid"/>
          </a:ln>
        </p:spPr>
        <p:txBody>
          <a:bodyPr xmlns:a="http://schemas.openxmlformats.org/drawingml/2006/main"/>
          <a:lstStyle xmlns:a="http://schemas.openxmlformats.org/drawingml/2006/main"/>
          <a:p xmlns:a="http://schemas.openxmlformats.org/drawingml/2006/main">
            <a:endParaRPr/>
          </a:p>
        </p:txBody>
      </p:sp>
      <p:sp>
        <p:nvSpPr>
          <p:cNvPr id="10" name="cover-date">
            <a:extLst xmlns:a="http://schemas.openxmlformats.org/drawingml/2006/main">
              <a:ext uri="{FF2B5EF4-FFF2-40B4-BE49-F238E27FC236}">
                <a16:creationId xmlns:a16="http://schemas.microsoft.com/office/drawing/2014/main" id="{D9CF49F9-166E-4877-8903-09E88A51BFD0}"/>
              </a:ext>
            </a:extLst>
          </p:cNvPr>
          <p:cNvSpPr>
            <a:spLocks xmlns:a="http://schemas.openxmlformats.org/drawingml/2006/main" noGrp="1"/>
          </p:cNvSpPr>
          <p:nvPr/>
        </p:nvSpPr>
        <p:spPr>
          <a:xfrm xmlns:a="http://schemas.openxmlformats.org/drawingml/2006/main">
            <a:off x="6343650" y="5334000"/>
            <a:ext cx="30670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eaLnBrk="0">
              <a:buNone/>
              <a:defRPr sz="1350" b="0" i="0">
                <a:solidFill>
                  <a:srgbClr val="1B1F23"/>
                </a:solidFill>
                <a:latin typeface="Noto Sans KR"/>
                <a:ea typeface="Noto Sans KR"/>
                <a:cs typeface="Noto Sans KR"/>
              </a:defRPr>
            </a:pPr>
            <a:r>
              <a:rPr sz="1650" b="0" i="0">
                <a:solidFill>
                  <a:srgbClr val="1B1F23"/>
                </a:solidFill>
                <a:latin typeface="Noto Sans KR"/>
                <a:ea typeface="Noto Sans KR"/>
                <a:cs typeface="Noto Sans KR"/>
              </a:rPr>
              <a:t>사업기간 2026.09 ~ 2026.11</a:t>
            </a:r>
          </a:p>
        </p:txBody>
      </p:sp>
      <p:sp>
        <p:nvSpPr>
          <p:cNvPr id="11" name="date-rule-right">
            <a:extLst xmlns:a="http://schemas.openxmlformats.org/drawingml/2006/main">
              <a:ext uri="{FF2B5EF4-FFF2-40B4-BE49-F238E27FC236}">
                <a16:creationId xmlns:a16="http://schemas.microsoft.com/office/drawing/2014/main" id="{D63894DC-8857-4AFB-9D30-D40A61F1C100}"/>
              </a:ext>
            </a:extLst>
          </p:cNvPr>
          <p:cNvSpPr>
            <a:spLocks xmlns:a="http://schemas.openxmlformats.org/drawingml/2006/main" noGrp="1"/>
          </p:cNvSpPr>
          <p:nvPr/>
        </p:nvSpPr>
        <p:spPr>
          <a:xfrm xmlns:a="http://schemas.openxmlformats.org/drawingml/2006/main">
            <a:off x="9534525" y="5514975"/>
            <a:ext cx="466725" cy="0"/>
          </a:xfrm>
          <a:prstGeom xmlns:a="http://schemas.openxmlformats.org/drawingml/2006/main" prst="line">
            <a:avLst/>
          </a:prstGeom>
          <a:noFill xmlns:a="http://schemas.openxmlformats.org/drawingml/2006/main"/>
          <a:ln xmlns:a="http://schemas.openxmlformats.org/drawingml/2006/main" w="19050">
            <a:solidFill>
              <a:srgbClr val="00C1D4"/>
            </a:solidFill>
            <a:prstDash val="solid"/>
          </a:ln>
        </p:spPr>
        <p:txBody>
          <a:bodyPr xmlns:a="http://schemas.openxmlformats.org/drawingml/2006/main"/>
          <a:lstStyle xmlns:a="http://schemas.openxmlformats.org/drawingml/2006/main"/>
          <a:p xmlns:a="http://schemas.openxmlformats.org/drawingml/2006/main">
            <a:endParaRPr/>
          </a:p>
        </p:txBody>
      </p:sp>
      <p:sp>
        <p:nvSpPr>
          <p:cNvPr id="12" name="org-title">
            <a:extLst xmlns:a="http://schemas.openxmlformats.org/drawingml/2006/main">
              <a:ext uri="{FF2B5EF4-FFF2-40B4-BE49-F238E27FC236}">
                <a16:creationId xmlns:a16="http://schemas.microsoft.com/office/drawing/2014/main" id="{BFAE34B7-AC7B-4526-88A3-D8CECFF061B0}"/>
              </a:ext>
            </a:extLst>
          </p:cNvPr>
          <p:cNvSpPr>
            <a:spLocks xmlns:a="http://schemas.openxmlformats.org/drawingml/2006/main" noGrp="1"/>
          </p:cNvSpPr>
          <p:nvPr/>
        </p:nvSpPr>
        <p:spPr>
          <a:xfrm xmlns:a="http://schemas.openxmlformats.org/drawingml/2006/main">
            <a:off x="11858625" y="1009650"/>
            <a:ext cx="238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eaLnBrk="0">
              <a:buNone/>
              <a:defRPr sz="1350" b="1" i="0">
                <a:solidFill>
                  <a:srgbClr val="004EA2"/>
                </a:solidFill>
                <a:latin typeface="Noto Sans KR"/>
                <a:ea typeface="Noto Sans KR"/>
                <a:cs typeface="Noto Sans KR"/>
              </a:defRPr>
            </a:pPr>
            <a:r>
              <a:rPr sz="1500" b="1" i="0">
                <a:solidFill>
                  <a:srgbClr val="004EA2"/>
                </a:solidFill>
                <a:latin typeface="Noto Sans KR"/>
                <a:ea typeface="Noto Sans KR"/>
                <a:cs typeface="Noto Sans KR"/>
              </a:rPr>
              <a:t>서울특별시 성동구</a:t>
            </a:r>
          </a:p>
        </p:txBody>
      </p:sp>
      <p:sp>
        <p:nvSpPr>
          <p:cNvPr id="13" name="org-orange-rule">
            <a:extLst xmlns:a="http://schemas.openxmlformats.org/drawingml/2006/main">
              <a:ext uri="{FF2B5EF4-FFF2-40B4-BE49-F238E27FC236}">
                <a16:creationId xmlns:a16="http://schemas.microsoft.com/office/drawing/2014/main" id="{284EC6E3-1D8E-4934-8C5E-B43BDD643630}"/>
              </a:ext>
            </a:extLst>
          </p:cNvPr>
          <p:cNvSpPr>
            <a:spLocks xmlns:a="http://schemas.openxmlformats.org/drawingml/2006/main" noGrp="1"/>
          </p:cNvSpPr>
          <p:nvPr/>
        </p:nvSpPr>
        <p:spPr>
          <a:xfrm xmlns:a="http://schemas.openxmlformats.org/drawingml/2006/main">
            <a:off x="13592175" y="1390650"/>
            <a:ext cx="647700" cy="0"/>
          </a:xfrm>
          <a:prstGeom xmlns:a="http://schemas.openxmlformats.org/drawingml/2006/main" prst="line">
            <a:avLst/>
          </a:prstGeom>
          <a:noFill xmlns:a="http://schemas.openxmlformats.org/drawingml/2006/main"/>
          <a:ln xmlns:a="http://schemas.openxmlformats.org/drawingml/2006/main" w="19050">
            <a:solidFill>
              <a:srgbClr val="FF6B00"/>
            </a:solidFill>
            <a:prstDash val="solid"/>
          </a:ln>
        </p:spPr>
        <p:txBody>
          <a:bodyPr xmlns:a="http://schemas.openxmlformats.org/drawingml/2006/main"/>
          <a:lstStyle xmlns:a="http://schemas.openxmlformats.org/drawingml/2006/main"/>
          <a:p xmlns:a="http://schemas.openxmlformats.org/drawingml/2006/main">
            <a:endParaRPr/>
          </a:p>
        </p:txBody>
      </p:sp>
      <p:sp>
        <p:nvSpPr>
          <p:cNvPr id="14" name="org-owner">
            <a:extLst xmlns:a="http://schemas.openxmlformats.org/drawingml/2006/main">
              <a:ext uri="{FF2B5EF4-FFF2-40B4-BE49-F238E27FC236}">
                <a16:creationId xmlns:a16="http://schemas.microsoft.com/office/drawing/2014/main" id="{2CD7CFDD-25BB-432C-BC3B-756F92EB8CFB}"/>
              </a:ext>
            </a:extLst>
          </p:cNvPr>
          <p:cNvSpPr>
            <a:spLocks xmlns:a="http://schemas.openxmlformats.org/drawingml/2006/main" noGrp="1"/>
          </p:cNvSpPr>
          <p:nvPr/>
        </p:nvSpPr>
        <p:spPr>
          <a:xfrm xmlns:a="http://schemas.openxmlformats.org/drawingml/2006/main">
            <a:off x="12334875" y="1581150"/>
            <a:ext cx="1905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57150" tIns="38100" rIns="57150" bIns="38100" anchor="t">
            <a:noAutofit/>
          </a:bodyPr>
          <a:lstStyle xmlns:a="http://schemas.openxmlformats.org/drawingml/2006/main"/>
          <a:p xmlns:a="http://schemas.openxmlformats.org/drawingml/2006/main">
            <a:pPr algn="r" eaLnBrk="0">
              <a:lnSpc>
                <a:spcPts val="1687"/>
              </a:lnSpc>
              <a:spcBef>
                <a:spcPts val="0"/>
              </a:spcBef>
              <a:spcAft>
                <a:spcPts val="0"/>
              </a:spcAft>
              <a:buNone/>
              <a:defRPr sz="1050" b="0" i="0">
                <a:solidFill>
                  <a:srgbClr val="59636E"/>
                </a:solidFill>
                <a:latin typeface="Noto Sans KR"/>
                <a:ea typeface="Noto Sans KR"/>
                <a:cs typeface="Noto Sans KR"/>
              </a:defRPr>
            </a:pPr>
            <a:r>
              <a:rPr sz="1350" b="0">
                <a:solidFill>
                  <a:srgbClr val="59636E"/>
                </a:solidFill>
                <a:latin typeface="Noto Sans KR"/>
              </a:rPr>
              <a:t>관광 전략 검토용</a:t>
            </a:r>
          </a:p>
        </p:txBody>
      </p:sp>
      <p:sp>
        <p:nvSpPr>
          <p:cNvPr id="15" name="report-number">
            <a:extLst xmlns:a="http://schemas.openxmlformats.org/drawingml/2006/main">
              <a:ext uri="{FF2B5EF4-FFF2-40B4-BE49-F238E27FC236}">
                <a16:creationId xmlns:a16="http://schemas.microsoft.com/office/drawing/2014/main" id="{91C450AB-B31C-4B87-BDB0-6281DFDBCBBA}"/>
              </a:ext>
            </a:extLst>
          </p:cNvPr>
          <p:cNvSpPr>
            <a:spLocks xmlns:a="http://schemas.openxmlformats.org/drawingml/2006/main" noGrp="1"/>
          </p:cNvSpPr>
          <p:nvPr/>
        </p:nvSpPr>
        <p:spPr>
          <a:xfrm xmlns:a="http://schemas.openxmlformats.org/drawingml/2006/main">
            <a:off x="1047750" y="6315075"/>
            <a:ext cx="3514725"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eaLnBrk="0">
              <a:buNone/>
              <a:defRPr sz="1050" b="1" i="0">
                <a:solidFill>
                  <a:srgbClr val="00B7C9"/>
                </a:solidFill>
                <a:latin typeface="Noto Sans KR"/>
                <a:ea typeface="Noto Sans KR"/>
                <a:cs typeface="Noto Sans KR"/>
              </a:defRPr>
            </a:pPr>
            <a:r>
              <a:rPr sz="1200" b="1" i="0">
                <a:solidFill>
                  <a:srgbClr val="00B7C9"/>
                </a:solidFill>
                <a:latin typeface="Noto Sans KR"/>
                <a:ea typeface="Noto Sans KR"/>
                <a:cs typeface="Noto Sans KR"/>
              </a:rPr>
              <a:t>보고서 출력일 2026-09-10</a:t>
            </a:r>
          </a:p>
        </p:txBody>
      </p:sp>
      <p:sp>
        <p:nvSpPr>
          <p:cNvPr id="16" name="report-topic">
            <a:extLst xmlns:a="http://schemas.openxmlformats.org/drawingml/2006/main">
              <a:ext uri="{FF2B5EF4-FFF2-40B4-BE49-F238E27FC236}">
                <a16:creationId xmlns:a16="http://schemas.microsoft.com/office/drawing/2014/main" id="{79974288-A39D-407D-8F48-874FFA4095C1}"/>
              </a:ext>
            </a:extLst>
          </p:cNvPr>
          <p:cNvSpPr>
            <a:spLocks xmlns:a="http://schemas.openxmlformats.org/drawingml/2006/main" noGrp="1"/>
          </p:cNvSpPr>
          <p:nvPr/>
        </p:nvSpPr>
        <p:spPr>
          <a:xfrm xmlns:a="http://schemas.openxmlformats.org/drawingml/2006/main">
            <a:off x="1047750" y="6724650"/>
            <a:ext cx="3514725"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57150" tIns="38100" rIns="57150" bIns="38100" anchor="t">
            <a:noAutofit/>
          </a:bodyPr>
          <a:lstStyle xmlns:a="http://schemas.openxmlformats.org/drawingml/2006/main"/>
          <a:p xmlns:a="http://schemas.openxmlformats.org/drawingml/2006/main">
            <a:pPr algn="l" eaLnBrk="0">
              <a:lnSpc>
                <a:spcPts val="2625"/>
              </a:lnSpc>
              <a:spcBef>
                <a:spcPts val="0"/>
              </a:spcBef>
              <a:spcAft>
                <a:spcPts val="0"/>
              </a:spcAft>
              <a:buNone/>
              <a:defRPr sz="2325" b="1" i="0">
                <a:solidFill>
                  <a:srgbClr val="004EA2"/>
                </a:solidFill>
                <a:latin typeface="Noto Sans KR"/>
                <a:ea typeface="Noto Sans KR"/>
                <a:cs typeface="Noto Sans KR"/>
              </a:defRPr>
            </a:pPr>
            <a:r>
              <a:rPr sz="2100" b="1">
                <a:solidFill>
                  <a:srgbClr val="004EA2"/>
                </a:solidFill>
                <a:latin typeface="Noto Sans KR"/>
              </a:rPr>
              <a:t>성동구 관광 활성화 실행안</a:t>
            </a:r>
          </a:p>
        </p:txBody>
      </p:sp>
      <p:sp>
        <p:nvSpPr>
          <p:cNvPr id="17" name="corner-tl-h">
            <a:extLst xmlns:a="http://schemas.openxmlformats.org/drawingml/2006/main">
              <a:ext uri="{FF2B5EF4-FFF2-40B4-BE49-F238E27FC236}">
                <a16:creationId xmlns:a16="http://schemas.microsoft.com/office/drawing/2014/main" id="{85098CA2-D674-4C13-AAED-97DC2B1668DD}"/>
              </a:ext>
            </a:extLst>
          </p:cNvPr>
          <p:cNvSpPr>
            <a:spLocks xmlns:a="http://schemas.openxmlformats.org/drawingml/2006/main" noGrp="1"/>
          </p:cNvSpPr>
          <p:nvPr/>
        </p:nvSpPr>
        <p:spPr>
          <a:xfrm xmlns:a="http://schemas.openxmlformats.org/drawingml/2006/main">
            <a:off x="647700" y="619125"/>
            <a:ext cx="295275" cy="0"/>
          </a:xfrm>
          <a:prstGeom xmlns:a="http://schemas.openxmlformats.org/drawingml/2006/main" prst="line">
            <a:avLst/>
          </a:prstGeom>
          <a:noFill xmlns:a="http://schemas.openxmlformats.org/drawingml/2006/main"/>
          <a:ln xmlns:a="http://schemas.openxmlformats.org/drawingml/2006/main" w="19050">
            <a:solidFill>
              <a:srgbClr val="00C1D4"/>
            </a:solidFill>
            <a:prstDash val="solid"/>
          </a:ln>
        </p:spPr>
        <p:txBody>
          <a:bodyPr xmlns:a="http://schemas.openxmlformats.org/drawingml/2006/main"/>
          <a:lstStyle xmlns:a="http://schemas.openxmlformats.org/drawingml/2006/main"/>
          <a:p xmlns:a="http://schemas.openxmlformats.org/drawingml/2006/main">
            <a:endParaRPr/>
          </a:p>
        </p:txBody>
      </p:sp>
      <p:sp>
        <p:nvSpPr>
          <p:cNvPr id="18" name="corner-tl-v">
            <a:extLst xmlns:a="http://schemas.openxmlformats.org/drawingml/2006/main">
              <a:ext uri="{FF2B5EF4-FFF2-40B4-BE49-F238E27FC236}">
                <a16:creationId xmlns:a16="http://schemas.microsoft.com/office/drawing/2014/main" id="{30186634-254F-4224-B08F-40BB6E5B3F86}"/>
              </a:ext>
            </a:extLst>
          </p:cNvPr>
          <p:cNvSpPr>
            <a:spLocks xmlns:a="http://schemas.openxmlformats.org/drawingml/2006/main" noGrp="1"/>
          </p:cNvSpPr>
          <p:nvPr/>
        </p:nvSpPr>
        <p:spPr>
          <a:xfrm xmlns:a="http://schemas.openxmlformats.org/drawingml/2006/main">
            <a:off x="647700" y="619125"/>
            <a:ext cx="0" cy="295275"/>
          </a:xfrm>
          <a:prstGeom xmlns:a="http://schemas.openxmlformats.org/drawingml/2006/main" prst="line">
            <a:avLst/>
          </a:prstGeom>
          <a:noFill xmlns:a="http://schemas.openxmlformats.org/drawingml/2006/main"/>
          <a:ln xmlns:a="http://schemas.openxmlformats.org/drawingml/2006/main" w="19050">
            <a:solidFill>
              <a:srgbClr val="00C1D4"/>
            </a:solidFill>
            <a:prstDash val="solid"/>
          </a:ln>
        </p:spPr>
        <p:txBody>
          <a:bodyPr xmlns:a="http://schemas.openxmlformats.org/drawingml/2006/main"/>
          <a:lstStyle xmlns:a="http://schemas.openxmlformats.org/drawingml/2006/main"/>
          <a:p xmlns:a="http://schemas.openxmlformats.org/drawingml/2006/main">
            <a:endParaRPr/>
          </a:p>
        </p:txBody>
      </p:sp>
      <p:sp>
        <p:nvSpPr>
          <p:cNvPr id="19" name="corner-br-h">
            <a:extLst xmlns:a="http://schemas.openxmlformats.org/drawingml/2006/main">
              <a:ext uri="{FF2B5EF4-FFF2-40B4-BE49-F238E27FC236}">
                <a16:creationId xmlns:a16="http://schemas.microsoft.com/office/drawing/2014/main" id="{95077333-21E3-42BF-9CBB-698C3BEE5E88}"/>
              </a:ext>
            </a:extLst>
          </p:cNvPr>
          <p:cNvSpPr>
            <a:spLocks xmlns:a="http://schemas.openxmlformats.org/drawingml/2006/main" noGrp="1"/>
          </p:cNvSpPr>
          <p:nvPr/>
        </p:nvSpPr>
        <p:spPr>
          <a:xfrm xmlns:a="http://schemas.openxmlformats.org/drawingml/2006/main">
            <a:off x="14582775" y="7943850"/>
            <a:ext cx="295275" cy="0"/>
          </a:xfrm>
          <a:prstGeom xmlns:a="http://schemas.openxmlformats.org/drawingml/2006/main" prst="line">
            <a:avLst/>
          </a:prstGeom>
          <a:noFill xmlns:a="http://schemas.openxmlformats.org/drawingml/2006/main"/>
          <a:ln xmlns:a="http://schemas.openxmlformats.org/drawingml/2006/main" w="19050">
            <a:solidFill>
              <a:srgbClr val="00C1D4"/>
            </a:solidFill>
            <a:prstDash val="solid"/>
          </a:ln>
        </p:spPr>
        <p:txBody>
          <a:bodyPr xmlns:a="http://schemas.openxmlformats.org/drawingml/2006/main"/>
          <a:lstStyle xmlns:a="http://schemas.openxmlformats.org/drawingml/2006/main"/>
          <a:p xmlns:a="http://schemas.openxmlformats.org/drawingml/2006/main">
            <a:endParaRPr/>
          </a:p>
        </p:txBody>
      </p:sp>
      <p:sp>
        <p:nvSpPr>
          <p:cNvPr id="20" name="corner-br-v">
            <a:extLst xmlns:a="http://schemas.openxmlformats.org/drawingml/2006/main">
              <a:ext uri="{FF2B5EF4-FFF2-40B4-BE49-F238E27FC236}">
                <a16:creationId xmlns:a16="http://schemas.microsoft.com/office/drawing/2014/main" id="{81015BD6-64EA-4BC0-A2BD-BDDA9641DC61}"/>
              </a:ext>
            </a:extLst>
          </p:cNvPr>
          <p:cNvSpPr>
            <a:spLocks xmlns:a="http://schemas.openxmlformats.org/drawingml/2006/main" noGrp="1"/>
          </p:cNvSpPr>
          <p:nvPr/>
        </p:nvSpPr>
        <p:spPr>
          <a:xfrm xmlns:a="http://schemas.openxmlformats.org/drawingml/2006/main">
            <a:off x="14878050" y="7648575"/>
            <a:ext cx="0" cy="295275"/>
          </a:xfrm>
          <a:prstGeom xmlns:a="http://schemas.openxmlformats.org/drawingml/2006/main" prst="line">
            <a:avLst/>
          </a:prstGeom>
          <a:noFill xmlns:a="http://schemas.openxmlformats.org/drawingml/2006/main"/>
          <a:ln xmlns:a="http://schemas.openxmlformats.org/drawingml/2006/main" w="19050">
            <a:solidFill>
              <a:srgbClr val="00C1D4"/>
            </a:solidFill>
            <a:prstDash val="solid"/>
          </a:ln>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65541183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9" name="top-brand">
            <a:extLst xmlns:a="http://schemas.openxmlformats.org/drawingml/2006/main">
              <a:ext uri="{FF2B5EF4-FFF2-40B4-BE49-F238E27FC236}">
                <a16:creationId xmlns:a16="http://schemas.microsoft.com/office/drawing/2014/main" id="{BC511F59-C000-4ABE-8C07-978065167F95}"/>
              </a:ext>
            </a:extLst>
          </p:cNvPr>
          <p:cNvSpPr>
            <a:spLocks xmlns:a="http://schemas.openxmlformats.org/drawingml/2006/main" noGrp="1"/>
          </p:cNvSpPr>
          <p:nvPr/>
        </p:nvSpPr>
        <p:spPr>
          <a:xfrm xmlns:a="http://schemas.openxmlformats.org/drawingml/2006/main">
            <a:off x="857250" y="333375"/>
            <a:ext cx="5238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l" eaLnBrk="0">
              <a:buNone/>
              <a:defRPr sz="1200" b="1" i="0">
                <a:solidFill>
                  <a:srgbClr val="004EA2"/>
                </a:solidFill>
                <a:latin typeface="Noto Sans KR"/>
                <a:ea typeface="Noto Sans KR"/>
                <a:cs typeface="Noto Sans KR"/>
              </a:defRPr>
            </a:pPr>
            <a:r>
              <a:rPr sz="1425" b="1" i="0">
                <a:solidFill>
                  <a:srgbClr val="004EA2"/>
                </a:solidFill>
                <a:latin typeface="Noto Sans KR"/>
                <a:ea typeface="Noto Sans KR"/>
                <a:cs typeface="Noto Sans KR"/>
              </a:rPr>
              <a:t>서울특별시 성동구 관광 전략기획안</a:t>
            </a:r>
          </a:p>
        </p:txBody>
      </p:sp>
      <p:sp>
        <p:nvSpPr>
          <p:cNvPr id="2" name="top-date">
            <a:extLst xmlns:a="http://schemas.openxmlformats.org/drawingml/2006/main">
              <a:ext uri="{FF2B5EF4-FFF2-40B4-BE49-F238E27FC236}">
                <a16:creationId xmlns:a16="http://schemas.microsoft.com/office/drawing/2014/main" id="{B2EA0AA8-9451-4577-B2DB-64FEA4AE440C}"/>
              </a:ext>
            </a:extLst>
          </p:cNvPr>
          <p:cNvSpPr>
            <a:spLocks xmlns:a="http://schemas.openxmlformats.org/drawingml/2006/main" noGrp="1"/>
          </p:cNvSpPr>
          <p:nvPr/>
        </p:nvSpPr>
        <p:spPr>
          <a:xfrm xmlns:a="http://schemas.openxmlformats.org/drawingml/2006/main">
            <a:off x="13049250" y="323850"/>
            <a:ext cx="1619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eaLnBrk="0">
              <a:buNone/>
              <a:defRPr sz="1200" b="1" i="0">
                <a:solidFill>
                  <a:srgbClr val="59636E"/>
                </a:solidFill>
                <a:latin typeface="Noto Sans KR"/>
                <a:ea typeface="Noto Sans KR"/>
                <a:cs typeface="Noto Sans KR"/>
              </a:defRPr>
            </a:pPr>
            <a:r>
              <a:rPr sz="1388" b="1" i="0">
                <a:solidFill>
                  <a:srgbClr val="59636E"/>
                </a:solidFill>
                <a:latin typeface="Noto Sans KR"/>
                <a:ea typeface="Noto Sans KR"/>
                <a:cs typeface="Noto Sans KR"/>
              </a:rPr>
              <a:t>2026. 09. 10</a:t>
            </a:r>
          </a:p>
        </p:txBody>
      </p:sp>
      <p:sp>
        <p:nvSpPr>
          <p:cNvPr id="3" name="top-rule">
            <a:extLst xmlns:a="http://schemas.openxmlformats.org/drawingml/2006/main">
              <a:ext uri="{FF2B5EF4-FFF2-40B4-BE49-F238E27FC236}">
                <a16:creationId xmlns:a16="http://schemas.microsoft.com/office/drawing/2014/main" id="{578AD546-B3C6-4345-964E-CA38D80C5C3B}"/>
              </a:ext>
            </a:extLst>
          </p:cNvPr>
          <p:cNvSpPr>
            <a:spLocks xmlns:a="http://schemas.openxmlformats.org/drawingml/2006/main" noGrp="1"/>
          </p:cNvSpPr>
          <p:nvPr/>
        </p:nvSpPr>
        <p:spPr>
          <a:xfrm xmlns:a="http://schemas.openxmlformats.org/drawingml/2006/main">
            <a:off x="28575" y="981075"/>
            <a:ext cx="15182850" cy="0"/>
          </a:xfrm>
          <a:prstGeom xmlns:a="http://schemas.openxmlformats.org/drawingml/2006/main" prst="line">
            <a:avLst/>
          </a:prstGeom>
          <a:noFill xmlns:a="http://schemas.openxmlformats.org/drawingml/2006/main"/>
          <a:ln xmlns:a="http://schemas.openxmlformats.org/drawingml/2006/main" w="9525">
            <a:solidFill>
              <a:srgbClr val="E5EAF0"/>
            </a:solidFill>
            <a:prstDash val="solid"/>
          </a:ln>
        </p:spPr>
        <p:txBody>
          <a:bodyPr xmlns:a="http://schemas.openxmlformats.org/drawingml/2006/main"/>
          <a:lstStyle xmlns:a="http://schemas.openxmlformats.org/drawingml/2006/main"/>
          <a:p xmlns:a="http://schemas.openxmlformats.org/drawingml/2006/main">
            <a:endParaRPr/>
          </a:p>
        </p:txBody>
      </p:sp>
      <p:sp>
        <p:nvSpPr>
          <p:cNvPr id="4" name="contents-rail">
            <a:extLst xmlns:a="http://schemas.openxmlformats.org/drawingml/2006/main">
              <a:ext uri="{FF2B5EF4-FFF2-40B4-BE49-F238E27FC236}">
                <a16:creationId xmlns:a16="http://schemas.microsoft.com/office/drawing/2014/main" id="{7FA9108D-F5FC-4EF8-882D-8BF062FDC348}"/>
              </a:ext>
            </a:extLst>
          </p:cNvPr>
          <p:cNvSpPr>
            <a:spLocks xmlns:a="http://schemas.openxmlformats.org/drawingml/2006/main" noGrp="1"/>
          </p:cNvSpPr>
          <p:nvPr/>
        </p:nvSpPr>
        <p:spPr>
          <a:xfrm xmlns:a="http://schemas.openxmlformats.org/drawingml/2006/main">
            <a:off x="28575" y="981075"/>
            <a:ext cx="4810125" cy="7591425"/>
          </a:xfrm>
          <a:prstGeom xmlns:a="http://schemas.openxmlformats.org/drawingml/2006/main" prst="rect">
            <a:avLst/>
          </a:prstGeom>
          <a:solidFill xmlns:a="http://schemas.openxmlformats.org/drawingml/2006/main">
            <a:srgbClr val="004EA2"/>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5" name="contents-vertical">
            <a:extLst xmlns:a="http://schemas.openxmlformats.org/drawingml/2006/main">
              <a:ext uri="{FF2B5EF4-FFF2-40B4-BE49-F238E27FC236}">
                <a16:creationId xmlns:a16="http://schemas.microsoft.com/office/drawing/2014/main" id="{8A649E8C-B469-49E6-9B71-2587FA310B95}"/>
              </a:ext>
            </a:extLst>
          </p:cNvPr>
          <p:cNvSpPr>
            <a:spLocks xmlns:a="http://schemas.openxmlformats.org/drawingml/2006/main" noGrp="1"/>
          </p:cNvSpPr>
          <p:nvPr/>
        </p:nvSpPr>
        <p:spPr>
          <a:xfrm xmlns:a="http://schemas.openxmlformats.org/drawingml/2006/main" rot="-5400000">
            <a:off x="-866775" y="4162425"/>
            <a:ext cx="67627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91667" lnSpcReduction="10000"/>
          </a:bodyPr>
          <a:lstStyle xmlns:a="http://schemas.openxmlformats.org/drawingml/2006/main"/>
          <a:p xmlns:a="http://schemas.openxmlformats.org/drawingml/2006/main">
            <a:pPr algn="ctr" eaLnBrk="0">
              <a:buNone/>
              <a:defRPr sz="7500" b="1" i="0">
                <a:solidFill>
                  <a:srgbClr val="2B6CB2"/>
                </a:solidFill>
                <a:latin typeface="Noto Sans KR"/>
                <a:ea typeface="Noto Sans KR"/>
                <a:cs typeface="Noto Sans KR"/>
              </a:defRPr>
            </a:pPr>
            <a:r>
              <a:rPr sz="7500" b="1" i="0">
                <a:solidFill>
                  <a:srgbClr val="2B6CB2"/>
                </a:solidFill>
                <a:latin typeface="Noto Sans KR"/>
                <a:ea typeface="Noto Sans KR"/>
                <a:cs typeface="Noto Sans KR"/>
              </a:rPr>
              <a:t>CONTENTS</a:t>
            </a:r>
          </a:p>
        </p:txBody>
      </p:sp>
      <p:sp>
        <p:nvSpPr>
          <p:cNvPr id="6" name="contents-en">
            <a:extLst xmlns:a="http://schemas.openxmlformats.org/drawingml/2006/main">
              <a:ext uri="{FF2B5EF4-FFF2-40B4-BE49-F238E27FC236}">
                <a16:creationId xmlns:a16="http://schemas.microsoft.com/office/drawing/2014/main" id="{A4545508-3408-4837-8886-DBD8CE263FDE}"/>
              </a:ext>
            </a:extLst>
          </p:cNvPr>
          <p:cNvSpPr>
            <a:spLocks xmlns:a="http://schemas.openxmlformats.org/drawingml/2006/main" noGrp="1"/>
          </p:cNvSpPr>
          <p:nvPr/>
        </p:nvSpPr>
        <p:spPr>
          <a:xfrm xmlns:a="http://schemas.openxmlformats.org/drawingml/2006/main">
            <a:off x="419100" y="4019550"/>
            <a:ext cx="4000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eaLnBrk="0">
              <a:buNone/>
              <a:defRPr sz="1725" b="1" i="0">
                <a:solidFill>
                  <a:srgbClr val="00C1D4"/>
                </a:solidFill>
                <a:latin typeface="Noto Sans KR"/>
                <a:ea typeface="Noto Sans KR"/>
                <a:cs typeface="Noto Sans KR"/>
              </a:defRPr>
            </a:pPr>
            <a:r>
              <a:rPr sz="1725" b="1" i="0">
                <a:solidFill>
                  <a:srgbClr val="00B7C9"/>
                </a:solidFill>
                <a:latin typeface="Noto Sans KR"/>
                <a:ea typeface="Noto Sans KR"/>
                <a:cs typeface="Noto Sans KR"/>
              </a:rPr>
              <a:t>TABLE OF CONTENTS</a:t>
            </a:r>
          </a:p>
        </p:txBody>
      </p:sp>
      <p:sp>
        <p:nvSpPr>
          <p:cNvPr id="7" name="contents-ko">
            <a:extLst xmlns:a="http://schemas.openxmlformats.org/drawingml/2006/main">
              <a:ext uri="{FF2B5EF4-FFF2-40B4-BE49-F238E27FC236}">
                <a16:creationId xmlns:a16="http://schemas.microsoft.com/office/drawing/2014/main" id="{99A460E5-8765-444E-944E-1A8069ABC357}"/>
              </a:ext>
            </a:extLst>
          </p:cNvPr>
          <p:cNvSpPr>
            <a:spLocks xmlns:a="http://schemas.openxmlformats.org/drawingml/2006/main" noGrp="1"/>
          </p:cNvSpPr>
          <p:nvPr/>
        </p:nvSpPr>
        <p:spPr>
          <a:xfrm xmlns:a="http://schemas.openxmlformats.org/drawingml/2006/main">
            <a:off x="1257300" y="4600575"/>
            <a:ext cx="23812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eaLnBrk="0">
              <a:buNone/>
              <a:defRPr sz="2925" b="1" i="0">
                <a:solidFill>
                  <a:srgbClr val="FFFFFF"/>
                </a:solidFill>
                <a:latin typeface="Noto Sans KR"/>
                <a:ea typeface="Noto Sans KR"/>
                <a:cs typeface="Noto Sans KR"/>
              </a:defRPr>
            </a:pPr>
            <a:r>
              <a:rPr sz="2925" b="1" i="0">
                <a:solidFill>
                  <a:srgbClr val="FFFFFF"/>
                </a:solidFill>
                <a:latin typeface="Noto Sans KR"/>
                <a:ea typeface="Noto Sans KR"/>
                <a:cs typeface="Noto Sans KR"/>
              </a:rPr>
              <a:t>목차 안내</a:t>
            </a:r>
          </a:p>
        </p:txBody>
      </p:sp>
      <p:sp>
        <p:nvSpPr>
          <p:cNvPr id="8" name="contents-orange">
            <a:extLst xmlns:a="http://schemas.openxmlformats.org/drawingml/2006/main">
              <a:ext uri="{FF2B5EF4-FFF2-40B4-BE49-F238E27FC236}">
                <a16:creationId xmlns:a16="http://schemas.microsoft.com/office/drawing/2014/main" id="{D5323B82-A54D-47BA-8350-BCD7E58DB666}"/>
              </a:ext>
            </a:extLst>
          </p:cNvPr>
          <p:cNvSpPr>
            <a:spLocks xmlns:a="http://schemas.openxmlformats.org/drawingml/2006/main" noGrp="1"/>
          </p:cNvSpPr>
          <p:nvPr/>
        </p:nvSpPr>
        <p:spPr>
          <a:xfrm xmlns:a="http://schemas.openxmlformats.org/drawingml/2006/main">
            <a:off x="2057400" y="5381625"/>
            <a:ext cx="704850" cy="0"/>
          </a:xfrm>
          <a:prstGeom xmlns:a="http://schemas.openxmlformats.org/drawingml/2006/main" prst="line">
            <a:avLst/>
          </a:prstGeom>
          <a:noFill xmlns:a="http://schemas.openxmlformats.org/drawingml/2006/main"/>
          <a:ln xmlns:a="http://schemas.openxmlformats.org/drawingml/2006/main" w="38100">
            <a:solidFill>
              <a:srgbClr val="FF6B00"/>
            </a:solidFill>
            <a:prstDash val="solid"/>
          </a:ln>
        </p:spPr>
        <p:txBody>
          <a:bodyPr xmlns:a="http://schemas.openxmlformats.org/drawingml/2006/main"/>
          <a:lstStyle xmlns:a="http://schemas.openxmlformats.org/drawingml/2006/main"/>
          <a:p xmlns:a="http://schemas.openxmlformats.org/drawingml/2006/main">
            <a:endParaRPr/>
          </a:p>
        </p:txBody>
      </p:sp>
      <p:sp xmlns:a="http://schemas.openxmlformats.org/drawingml/2006/main">
        <p:nvSpPr>
          <p:cNvPr id="40" name="toc-0-number"/>
          <p:cNvSpPr txBox="1"/>
          <p:nvPr/>
        </p:nvSpPr>
        <p:spPr>
          <a:xfrm>
            <a:off x="5353050" y="2819400"/>
            <a:ext cx="581025" cy="419100"/>
          </a:xfrm>
          <a:prstGeom prst="rect">
            <a:avLst/>
          </a:prstGeom>
          <a:noFill/>
        </p:spPr>
        <p:txBody>
          <a:bodyPr wrap="none" lIns="57150" rIns="57150" tIns="38100" bIns="38100" anchor="t">
            <a:noAutofit/>
          </a:bodyPr>
          <a:lstStyle/>
          <a:p>
            <a:pPr eaLnBrk="0">
              <a:lnSpc>
                <a:spcPts val="2343"/>
              </a:lnSpc>
              <a:spcBef>
                <a:spcPts val="0"/>
              </a:spcBef>
              <a:spcAft>
                <a:spcPts val="0"/>
              </a:spcAft>
            </a:pPr>
            <a:r>
              <a:rPr sz="1875" b="1">
                <a:solidFill>
                  <a:srgbClr val="00B7C9"/>
                </a:solidFill>
                <a:latin typeface="Noto Sans KR"/>
              </a:rPr>
              <a:t>01</a:t>
            </a:r>
          </a:p>
        </p:txBody>
      </p:sp>
      <p:sp xmlns:a="http://schemas.openxmlformats.org/drawingml/2006/main">
        <p:nvSpPr>
          <p:cNvPr id="41" name="toc-0-label"/>
          <p:cNvSpPr txBox="1"/>
          <p:nvPr/>
        </p:nvSpPr>
        <p:spPr>
          <a:xfrm>
            <a:off x="5972175" y="2867025"/>
            <a:ext cx="3952875" cy="552450"/>
          </a:xfrm>
          <a:prstGeom prst="rect">
            <a:avLst/>
          </a:prstGeom>
          <a:noFill/>
        </p:spPr>
        <p:txBody>
          <a:bodyPr wrap="none" lIns="57150" rIns="57150" tIns="38100" bIns="38100" anchor="t">
            <a:noAutofit/>
          </a:bodyPr>
          <a:lstStyle/>
          <a:p>
            <a:pPr eaLnBrk="0">
              <a:lnSpc>
                <a:spcPts val="2343"/>
              </a:lnSpc>
              <a:spcBef>
                <a:spcPts val="0"/>
              </a:spcBef>
              <a:spcAft>
                <a:spcPts val="0"/>
              </a:spcAft>
            </a:pPr>
            <a:r>
              <a:rPr sz="1875" b="1">
                <a:solidFill>
                  <a:srgbClr val="1D2227"/>
                </a:solidFill>
                <a:latin typeface="Noto Sans KR"/>
              </a:rPr>
              <a:t>프로젝트 개요</a:t>
            </a:r>
          </a:p>
        </p:txBody>
      </p:sp>
      <p:sp xmlns:a="http://schemas.openxmlformats.org/drawingml/2006/main">
        <p:nvSpPr>
          <p:cNvPr id="42" name="toc-1-number"/>
          <p:cNvSpPr txBox="1"/>
          <p:nvPr/>
        </p:nvSpPr>
        <p:spPr>
          <a:xfrm>
            <a:off x="5353050" y="3714750"/>
            <a:ext cx="581025" cy="419100"/>
          </a:xfrm>
          <a:prstGeom prst="rect">
            <a:avLst/>
          </a:prstGeom>
          <a:noFill/>
        </p:spPr>
        <p:txBody>
          <a:bodyPr wrap="none" lIns="57150" rIns="57150" tIns="38100" bIns="38100" anchor="t">
            <a:noAutofit/>
          </a:bodyPr>
          <a:lstStyle/>
          <a:p>
            <a:pPr eaLnBrk="0">
              <a:lnSpc>
                <a:spcPts val="2343"/>
              </a:lnSpc>
              <a:spcBef>
                <a:spcPts val="0"/>
              </a:spcBef>
              <a:spcAft>
                <a:spcPts val="0"/>
              </a:spcAft>
            </a:pPr>
            <a:r>
              <a:rPr sz="1875" b="1">
                <a:solidFill>
                  <a:srgbClr val="00B7C9"/>
                </a:solidFill>
                <a:latin typeface="Noto Sans KR"/>
              </a:rPr>
              <a:t>02</a:t>
            </a:r>
          </a:p>
        </p:txBody>
      </p:sp>
      <p:sp xmlns:a="http://schemas.openxmlformats.org/drawingml/2006/main">
        <p:nvSpPr>
          <p:cNvPr id="43" name="toc-1-label"/>
          <p:cNvSpPr txBox="1"/>
          <p:nvPr/>
        </p:nvSpPr>
        <p:spPr>
          <a:xfrm>
            <a:off x="5972175" y="3762375"/>
            <a:ext cx="3952875" cy="552450"/>
          </a:xfrm>
          <a:prstGeom prst="rect">
            <a:avLst/>
          </a:prstGeom>
          <a:noFill/>
        </p:spPr>
        <p:txBody>
          <a:bodyPr wrap="none" lIns="57150" rIns="57150" tIns="38100" bIns="38100" anchor="t">
            <a:noAutofit/>
          </a:bodyPr>
          <a:lstStyle/>
          <a:p>
            <a:pPr eaLnBrk="0">
              <a:lnSpc>
                <a:spcPts val="2343"/>
              </a:lnSpc>
              <a:spcBef>
                <a:spcPts val="0"/>
              </a:spcBef>
              <a:spcAft>
                <a:spcPts val="0"/>
              </a:spcAft>
            </a:pPr>
            <a:r>
              <a:rPr sz="1875" b="1">
                <a:solidFill>
                  <a:srgbClr val="1D2227"/>
                </a:solidFill>
                <a:latin typeface="Noto Sans KR"/>
              </a:rPr>
              <a:t>사업 설계와 3개월 목표</a:t>
            </a:r>
          </a:p>
        </p:txBody>
      </p:sp>
      <p:sp xmlns:a="http://schemas.openxmlformats.org/drawingml/2006/main">
        <p:nvSpPr>
          <p:cNvPr id="44" name="toc-2-number"/>
          <p:cNvSpPr txBox="1"/>
          <p:nvPr/>
        </p:nvSpPr>
        <p:spPr>
          <a:xfrm>
            <a:off x="5353050" y="4610100"/>
            <a:ext cx="581025" cy="419100"/>
          </a:xfrm>
          <a:prstGeom prst="rect">
            <a:avLst/>
          </a:prstGeom>
          <a:noFill/>
        </p:spPr>
        <p:txBody>
          <a:bodyPr wrap="none" lIns="57150" rIns="57150" tIns="38100" bIns="38100" anchor="t">
            <a:noAutofit/>
          </a:bodyPr>
          <a:lstStyle/>
          <a:p>
            <a:pPr eaLnBrk="0">
              <a:lnSpc>
                <a:spcPts val="2343"/>
              </a:lnSpc>
              <a:spcBef>
                <a:spcPts val="0"/>
              </a:spcBef>
              <a:spcAft>
                <a:spcPts val="0"/>
              </a:spcAft>
            </a:pPr>
            <a:r>
              <a:rPr sz="1875" b="1">
                <a:solidFill>
                  <a:srgbClr val="00B7C9"/>
                </a:solidFill>
                <a:latin typeface="Noto Sans KR"/>
              </a:rPr>
              <a:t>03</a:t>
            </a:r>
          </a:p>
        </p:txBody>
      </p:sp>
      <p:sp xmlns:a="http://schemas.openxmlformats.org/drawingml/2006/main">
        <p:nvSpPr>
          <p:cNvPr id="45" name="toc-2-label"/>
          <p:cNvSpPr txBox="1"/>
          <p:nvPr/>
        </p:nvSpPr>
        <p:spPr>
          <a:xfrm>
            <a:off x="5972175" y="4657725"/>
            <a:ext cx="3952875" cy="552450"/>
          </a:xfrm>
          <a:prstGeom prst="rect">
            <a:avLst/>
          </a:prstGeom>
          <a:noFill/>
        </p:spPr>
        <p:txBody>
          <a:bodyPr wrap="none" lIns="57150" rIns="57150" tIns="38100" bIns="38100" anchor="t">
            <a:noAutofit/>
          </a:bodyPr>
          <a:lstStyle/>
          <a:p>
            <a:pPr eaLnBrk="0">
              <a:lnSpc>
                <a:spcPts val="2343"/>
              </a:lnSpc>
              <a:spcBef>
                <a:spcPts val="0"/>
              </a:spcBef>
              <a:spcAft>
                <a:spcPts val="0"/>
              </a:spcAft>
            </a:pPr>
            <a:r>
              <a:rPr sz="1875" b="1">
                <a:solidFill>
                  <a:srgbClr val="1D2227"/>
                </a:solidFill>
                <a:latin typeface="Noto Sans KR"/>
              </a:rPr>
              <a:t>지역별 참고 사례</a:t>
            </a:r>
          </a:p>
        </p:txBody>
      </p:sp>
      <p:sp xmlns:a="http://schemas.openxmlformats.org/drawingml/2006/main">
        <p:nvSpPr>
          <p:cNvPr id="46" name="toc-3-number"/>
          <p:cNvSpPr txBox="1"/>
          <p:nvPr/>
        </p:nvSpPr>
        <p:spPr>
          <a:xfrm>
            <a:off x="5353050" y="5505450"/>
            <a:ext cx="581025" cy="419100"/>
          </a:xfrm>
          <a:prstGeom prst="rect">
            <a:avLst/>
          </a:prstGeom>
          <a:noFill/>
        </p:spPr>
        <p:txBody>
          <a:bodyPr wrap="none" lIns="57150" rIns="57150" tIns="38100" bIns="38100" anchor="t">
            <a:noAutofit/>
          </a:bodyPr>
          <a:lstStyle/>
          <a:p>
            <a:pPr eaLnBrk="0">
              <a:lnSpc>
                <a:spcPts val="2343"/>
              </a:lnSpc>
              <a:spcBef>
                <a:spcPts val="0"/>
              </a:spcBef>
              <a:spcAft>
                <a:spcPts val="0"/>
              </a:spcAft>
            </a:pPr>
            <a:r>
              <a:rPr sz="1875" b="1">
                <a:solidFill>
                  <a:srgbClr val="00B7C9"/>
                </a:solidFill>
                <a:latin typeface="Noto Sans KR"/>
              </a:rPr>
              <a:t>04</a:t>
            </a:r>
          </a:p>
        </p:txBody>
      </p:sp>
      <p:sp xmlns:a="http://schemas.openxmlformats.org/drawingml/2006/main">
        <p:nvSpPr>
          <p:cNvPr id="47" name="toc-3-label"/>
          <p:cNvSpPr txBox="1"/>
          <p:nvPr/>
        </p:nvSpPr>
        <p:spPr>
          <a:xfrm>
            <a:off x="5972175" y="5553075"/>
            <a:ext cx="3952875" cy="552450"/>
          </a:xfrm>
          <a:prstGeom prst="rect">
            <a:avLst/>
          </a:prstGeom>
          <a:noFill/>
        </p:spPr>
        <p:txBody>
          <a:bodyPr wrap="none" lIns="57150" rIns="57150" tIns="38100" bIns="38100" anchor="t">
            <a:noAutofit/>
          </a:bodyPr>
          <a:lstStyle/>
          <a:p>
            <a:pPr eaLnBrk="0">
              <a:lnSpc>
                <a:spcPts val="2343"/>
              </a:lnSpc>
              <a:spcBef>
                <a:spcPts val="0"/>
              </a:spcBef>
              <a:spcAft>
                <a:spcPts val="0"/>
              </a:spcAft>
            </a:pPr>
            <a:r>
              <a:rPr sz="1875" b="1">
                <a:solidFill>
                  <a:srgbClr val="1D2227"/>
                </a:solidFill>
                <a:latin typeface="Noto Sans KR"/>
              </a:rPr>
              <a:t>사례 선정과 지역 적용</a:t>
            </a:r>
          </a:p>
        </p:txBody>
      </p:sp>
      <p:sp xmlns:a="http://schemas.openxmlformats.org/drawingml/2006/main">
        <p:nvSpPr>
          <p:cNvPr id="48" name="toc-4-number"/>
          <p:cNvSpPr txBox="1"/>
          <p:nvPr/>
        </p:nvSpPr>
        <p:spPr>
          <a:xfrm>
            <a:off x="5353050" y="6400800"/>
            <a:ext cx="581025" cy="419100"/>
          </a:xfrm>
          <a:prstGeom prst="rect">
            <a:avLst/>
          </a:prstGeom>
          <a:noFill/>
        </p:spPr>
        <p:txBody>
          <a:bodyPr wrap="none" lIns="57150" rIns="57150" tIns="38100" bIns="38100" anchor="t">
            <a:noAutofit/>
          </a:bodyPr>
          <a:lstStyle/>
          <a:p>
            <a:pPr eaLnBrk="0">
              <a:lnSpc>
                <a:spcPts val="2343"/>
              </a:lnSpc>
              <a:spcBef>
                <a:spcPts val="0"/>
              </a:spcBef>
              <a:spcAft>
                <a:spcPts val="0"/>
              </a:spcAft>
            </a:pPr>
            <a:r>
              <a:rPr sz="1875" b="1">
                <a:solidFill>
                  <a:srgbClr val="00B7C9"/>
                </a:solidFill>
                <a:latin typeface="Noto Sans KR"/>
              </a:rPr>
              <a:t>05</a:t>
            </a:r>
          </a:p>
        </p:txBody>
      </p:sp>
      <p:sp xmlns:a="http://schemas.openxmlformats.org/drawingml/2006/main">
        <p:nvSpPr>
          <p:cNvPr id="49" name="toc-4-label"/>
          <p:cNvSpPr txBox="1"/>
          <p:nvPr/>
        </p:nvSpPr>
        <p:spPr>
          <a:xfrm>
            <a:off x="5972175" y="6448425"/>
            <a:ext cx="3952875" cy="552450"/>
          </a:xfrm>
          <a:prstGeom prst="rect">
            <a:avLst/>
          </a:prstGeom>
          <a:noFill/>
        </p:spPr>
        <p:txBody>
          <a:bodyPr wrap="none" lIns="57150" rIns="57150" tIns="38100" bIns="38100" anchor="t">
            <a:noAutofit/>
          </a:bodyPr>
          <a:lstStyle/>
          <a:p>
            <a:pPr eaLnBrk="0">
              <a:lnSpc>
                <a:spcPts val="2343"/>
              </a:lnSpc>
              <a:spcBef>
                <a:spcPts val="0"/>
              </a:spcBef>
              <a:spcAft>
                <a:spcPts val="0"/>
              </a:spcAft>
            </a:pPr>
            <a:r>
              <a:rPr sz="1875" b="1">
                <a:solidFill>
                  <a:srgbClr val="1D2227"/>
                </a:solidFill>
                <a:latin typeface="Noto Sans KR"/>
              </a:rPr>
              <a:t>4단계 실행 가이드 예시안</a:t>
            </a:r>
          </a:p>
        </p:txBody>
      </p:sp>
      <p:sp xmlns:a="http://schemas.openxmlformats.org/drawingml/2006/main">
        <p:nvSpPr>
          <p:cNvPr id="50" name="toc-5-number"/>
          <p:cNvSpPr txBox="1"/>
          <p:nvPr/>
        </p:nvSpPr>
        <p:spPr>
          <a:xfrm>
            <a:off x="10496550" y="2819400"/>
            <a:ext cx="581025" cy="419100"/>
          </a:xfrm>
          <a:prstGeom prst="rect">
            <a:avLst/>
          </a:prstGeom>
          <a:noFill/>
        </p:spPr>
        <p:txBody>
          <a:bodyPr wrap="none" lIns="57150" rIns="57150" tIns="38100" bIns="38100" anchor="t">
            <a:noAutofit/>
          </a:bodyPr>
          <a:lstStyle/>
          <a:p>
            <a:pPr eaLnBrk="0">
              <a:lnSpc>
                <a:spcPts val="2343"/>
              </a:lnSpc>
              <a:spcBef>
                <a:spcPts val="0"/>
              </a:spcBef>
              <a:spcAft>
                <a:spcPts val="0"/>
              </a:spcAft>
            </a:pPr>
            <a:r>
              <a:rPr sz="1875" b="1">
                <a:solidFill>
                  <a:srgbClr val="00B7C9"/>
                </a:solidFill>
                <a:latin typeface="Noto Sans KR"/>
              </a:rPr>
              <a:t>06</a:t>
            </a:r>
          </a:p>
        </p:txBody>
      </p:sp>
      <p:sp xmlns:a="http://schemas.openxmlformats.org/drawingml/2006/main">
        <p:nvSpPr>
          <p:cNvPr id="51" name="toc-5-label"/>
          <p:cNvSpPr txBox="1"/>
          <p:nvPr/>
        </p:nvSpPr>
        <p:spPr>
          <a:xfrm>
            <a:off x="11115675" y="2867025"/>
            <a:ext cx="3952875" cy="552450"/>
          </a:xfrm>
          <a:prstGeom prst="rect">
            <a:avLst/>
          </a:prstGeom>
          <a:noFill/>
        </p:spPr>
        <p:txBody>
          <a:bodyPr wrap="none" lIns="57150" rIns="57150" tIns="38100" bIns="38100" anchor="t">
            <a:noAutofit/>
          </a:bodyPr>
          <a:lstStyle/>
          <a:p>
            <a:pPr eaLnBrk="0">
              <a:lnSpc>
                <a:spcPts val="2343"/>
              </a:lnSpc>
              <a:spcBef>
                <a:spcPts val="0"/>
              </a:spcBef>
              <a:spcAft>
                <a:spcPts val="0"/>
              </a:spcAft>
            </a:pPr>
            <a:r>
              <a:rPr sz="1875" b="1">
                <a:solidFill>
                  <a:srgbClr val="1D2227"/>
                </a:solidFill>
                <a:latin typeface="Noto Sans KR"/>
              </a:rPr>
              <a:t>ML 전망과 목표 KPI</a:t>
            </a:r>
          </a:p>
        </p:txBody>
      </p:sp>
      <p:sp xmlns:a="http://schemas.openxmlformats.org/drawingml/2006/main">
        <p:nvSpPr>
          <p:cNvPr id="52" name="toc-6-number"/>
          <p:cNvSpPr txBox="1"/>
          <p:nvPr/>
        </p:nvSpPr>
        <p:spPr>
          <a:xfrm>
            <a:off x="10496550" y="3714750"/>
            <a:ext cx="581025" cy="419100"/>
          </a:xfrm>
          <a:prstGeom prst="rect">
            <a:avLst/>
          </a:prstGeom>
          <a:noFill/>
        </p:spPr>
        <p:txBody>
          <a:bodyPr wrap="none" lIns="57150" rIns="57150" tIns="38100" bIns="38100" anchor="t">
            <a:noAutofit/>
          </a:bodyPr>
          <a:lstStyle/>
          <a:p>
            <a:pPr eaLnBrk="0">
              <a:lnSpc>
                <a:spcPts val="2343"/>
              </a:lnSpc>
              <a:spcBef>
                <a:spcPts val="0"/>
              </a:spcBef>
              <a:spcAft>
                <a:spcPts val="0"/>
              </a:spcAft>
            </a:pPr>
            <a:r>
              <a:rPr sz="1875" b="1">
                <a:solidFill>
                  <a:srgbClr val="00B7C9"/>
                </a:solidFill>
                <a:latin typeface="Noto Sans KR"/>
              </a:rPr>
              <a:t>07</a:t>
            </a:r>
          </a:p>
        </p:txBody>
      </p:sp>
      <p:sp xmlns:a="http://schemas.openxmlformats.org/drawingml/2006/main">
        <p:nvSpPr>
          <p:cNvPr id="53" name="toc-6-label"/>
          <p:cNvSpPr txBox="1"/>
          <p:nvPr/>
        </p:nvSpPr>
        <p:spPr>
          <a:xfrm>
            <a:off x="11115675" y="3762375"/>
            <a:ext cx="3952875" cy="552450"/>
          </a:xfrm>
          <a:prstGeom prst="rect">
            <a:avLst/>
          </a:prstGeom>
          <a:noFill/>
        </p:spPr>
        <p:txBody>
          <a:bodyPr wrap="none" lIns="57150" rIns="57150" tIns="38100" bIns="38100" anchor="t">
            <a:noAutofit/>
          </a:bodyPr>
          <a:lstStyle/>
          <a:p>
            <a:pPr eaLnBrk="0">
              <a:lnSpc>
                <a:spcPts val="2343"/>
              </a:lnSpc>
              <a:spcBef>
                <a:spcPts val="0"/>
              </a:spcBef>
              <a:spcAft>
                <a:spcPts val="0"/>
              </a:spcAft>
            </a:pPr>
            <a:r>
              <a:rPr sz="1875" b="1">
                <a:solidFill>
                  <a:srgbClr val="1D2227"/>
                </a:solidFill>
                <a:latin typeface="Noto Sans KR"/>
              </a:rPr>
              <a:t>사례 실적과 목표 설정</a:t>
            </a:r>
          </a:p>
        </p:txBody>
      </p:sp>
      <p:sp xmlns:a="http://schemas.openxmlformats.org/drawingml/2006/main">
        <p:nvSpPr>
          <p:cNvPr id="54" name="toc-7-number"/>
          <p:cNvSpPr txBox="1"/>
          <p:nvPr/>
        </p:nvSpPr>
        <p:spPr>
          <a:xfrm>
            <a:off x="10496550" y="4610100"/>
            <a:ext cx="581025" cy="419100"/>
          </a:xfrm>
          <a:prstGeom prst="rect">
            <a:avLst/>
          </a:prstGeom>
          <a:noFill/>
        </p:spPr>
        <p:txBody>
          <a:bodyPr wrap="none" lIns="57150" rIns="57150" tIns="38100" bIns="38100" anchor="t">
            <a:noAutofit/>
          </a:bodyPr>
          <a:lstStyle/>
          <a:p>
            <a:pPr eaLnBrk="0">
              <a:lnSpc>
                <a:spcPts val="2343"/>
              </a:lnSpc>
              <a:spcBef>
                <a:spcPts val="0"/>
              </a:spcBef>
              <a:spcAft>
                <a:spcPts val="0"/>
              </a:spcAft>
            </a:pPr>
            <a:r>
              <a:rPr sz="1875" b="1">
                <a:solidFill>
                  <a:srgbClr val="00B7C9"/>
                </a:solidFill>
                <a:latin typeface="Noto Sans KR"/>
              </a:rPr>
              <a:t>08</a:t>
            </a:r>
          </a:p>
        </p:txBody>
      </p:sp>
      <p:sp xmlns:a="http://schemas.openxmlformats.org/drawingml/2006/main">
        <p:nvSpPr>
          <p:cNvPr id="55" name="toc-7-label"/>
          <p:cNvSpPr txBox="1"/>
          <p:nvPr/>
        </p:nvSpPr>
        <p:spPr>
          <a:xfrm>
            <a:off x="11115675" y="4657725"/>
            <a:ext cx="3952875" cy="552450"/>
          </a:xfrm>
          <a:prstGeom prst="rect">
            <a:avLst/>
          </a:prstGeom>
          <a:noFill/>
        </p:spPr>
        <p:txBody>
          <a:bodyPr wrap="none" lIns="57150" rIns="57150" tIns="38100" bIns="38100" anchor="t">
            <a:noAutofit/>
          </a:bodyPr>
          <a:lstStyle/>
          <a:p>
            <a:pPr eaLnBrk="0">
              <a:lnSpc>
                <a:spcPts val="2343"/>
              </a:lnSpc>
              <a:spcBef>
                <a:spcPts val="0"/>
              </a:spcBef>
              <a:spcAft>
                <a:spcPts val="0"/>
              </a:spcAft>
            </a:pPr>
            <a:r>
              <a:rPr sz="1875" b="1">
                <a:solidFill>
                  <a:srgbClr val="1D2227"/>
                </a:solidFill>
                <a:latin typeface="Noto Sans KR"/>
              </a:rPr>
              <a:t>견적 예시안</a:t>
            </a:r>
          </a:p>
        </p:txBody>
      </p:sp>
      <p:sp xmlns:a="http://schemas.openxmlformats.org/drawingml/2006/main">
        <p:nvSpPr>
          <p:cNvPr id="56" name="toc-8-number"/>
          <p:cNvSpPr txBox="1"/>
          <p:nvPr/>
        </p:nvSpPr>
        <p:spPr>
          <a:xfrm>
            <a:off x="10496550" y="5505450"/>
            <a:ext cx="581025" cy="419100"/>
          </a:xfrm>
          <a:prstGeom prst="rect">
            <a:avLst/>
          </a:prstGeom>
          <a:noFill/>
        </p:spPr>
        <p:txBody>
          <a:bodyPr wrap="none" lIns="57150" rIns="57150" tIns="38100" bIns="38100" anchor="t">
            <a:noAutofit/>
          </a:bodyPr>
          <a:lstStyle/>
          <a:p>
            <a:pPr eaLnBrk="0">
              <a:lnSpc>
                <a:spcPts val="2343"/>
              </a:lnSpc>
              <a:spcBef>
                <a:spcPts val="0"/>
              </a:spcBef>
              <a:spcAft>
                <a:spcPts val="0"/>
              </a:spcAft>
            </a:pPr>
            <a:r>
              <a:rPr sz="1875" b="1">
                <a:solidFill>
                  <a:srgbClr val="00B7C9"/>
                </a:solidFill>
                <a:latin typeface="Noto Sans KR"/>
              </a:rPr>
              <a:t>09</a:t>
            </a:r>
          </a:p>
        </p:txBody>
      </p:sp>
      <p:sp xmlns:a="http://schemas.openxmlformats.org/drawingml/2006/main">
        <p:nvSpPr>
          <p:cNvPr id="57" name="toc-8-label"/>
          <p:cNvSpPr txBox="1"/>
          <p:nvPr/>
        </p:nvSpPr>
        <p:spPr>
          <a:xfrm>
            <a:off x="11115675" y="5553075"/>
            <a:ext cx="3952875" cy="552450"/>
          </a:xfrm>
          <a:prstGeom prst="rect">
            <a:avLst/>
          </a:prstGeom>
          <a:noFill/>
        </p:spPr>
        <p:txBody>
          <a:bodyPr wrap="none" lIns="57150" rIns="57150" tIns="38100" bIns="38100" anchor="t">
            <a:noAutofit/>
          </a:bodyPr>
          <a:lstStyle/>
          <a:p>
            <a:pPr eaLnBrk="0">
              <a:lnSpc>
                <a:spcPts val="2343"/>
              </a:lnSpc>
              <a:spcBef>
                <a:spcPts val="0"/>
              </a:spcBef>
              <a:spcAft>
                <a:spcPts val="0"/>
              </a:spcAft>
            </a:pPr>
            <a:r>
              <a:rPr sz="1875" b="1">
                <a:solidFill>
                  <a:srgbClr val="1D2227"/>
                </a:solidFill>
                <a:latin typeface="Noto Sans KR"/>
              </a:rPr>
              <a:t>근거·데이터·출처</a:t>
            </a:r>
          </a:p>
        </p:txBody>
      </p:sp>
      <p:sp xmlns:a="http://schemas.openxmlformats.org/drawingml/2006/main">
        <p:nvSpPr>
          <p:cNvPr id="58" name="toc-9-number"/>
          <p:cNvSpPr txBox="1"/>
          <p:nvPr/>
        </p:nvSpPr>
        <p:spPr>
          <a:xfrm>
            <a:off x="10496550" y="6400800"/>
            <a:ext cx="581025" cy="419100"/>
          </a:xfrm>
          <a:prstGeom prst="rect">
            <a:avLst/>
          </a:prstGeom>
          <a:noFill/>
        </p:spPr>
        <p:txBody>
          <a:bodyPr wrap="none" lIns="57150" rIns="57150" tIns="38100" bIns="38100" anchor="t">
            <a:noAutofit/>
          </a:bodyPr>
          <a:lstStyle/>
          <a:p>
            <a:pPr eaLnBrk="0">
              <a:lnSpc>
                <a:spcPts val="2343"/>
              </a:lnSpc>
              <a:spcBef>
                <a:spcPts val="0"/>
              </a:spcBef>
              <a:spcAft>
                <a:spcPts val="0"/>
              </a:spcAft>
            </a:pPr>
            <a:r>
              <a:rPr sz="1875" b="1">
                <a:solidFill>
                  <a:srgbClr val="00B7C9"/>
                </a:solidFill>
                <a:latin typeface="Noto Sans KR"/>
              </a:rPr>
              <a:t>10</a:t>
            </a:r>
          </a:p>
        </p:txBody>
      </p:sp>
      <p:sp xmlns:a="http://schemas.openxmlformats.org/drawingml/2006/main">
        <p:nvSpPr>
          <p:cNvPr id="59" name="toc-9-label"/>
          <p:cNvSpPr txBox="1"/>
          <p:nvPr/>
        </p:nvSpPr>
        <p:spPr>
          <a:xfrm>
            <a:off x="11115675" y="6448425"/>
            <a:ext cx="3952875" cy="552450"/>
          </a:xfrm>
          <a:prstGeom prst="rect">
            <a:avLst/>
          </a:prstGeom>
          <a:noFill/>
        </p:spPr>
        <p:txBody>
          <a:bodyPr wrap="none" lIns="57150" rIns="57150" tIns="38100" bIns="38100" anchor="t">
            <a:noAutofit/>
          </a:bodyPr>
          <a:lstStyle/>
          <a:p>
            <a:pPr eaLnBrk="0">
              <a:lnSpc>
                <a:spcPts val="2343"/>
              </a:lnSpc>
              <a:spcBef>
                <a:spcPts val="0"/>
              </a:spcBef>
              <a:spcAft>
                <a:spcPts val="0"/>
              </a:spcAft>
            </a:pPr>
            <a:r>
              <a:rPr sz="1875" b="1">
                <a:solidFill>
                  <a:srgbClr val="1D2227"/>
                </a:solidFill>
                <a:latin typeface="Noto Sans KR"/>
              </a:rPr>
              <a:t>맺음말</a:t>
            </a:r>
          </a:p>
        </p:txBody>
      </p:sp>
    </p:spTree>
    <p:extLst>
      <p:ext uri="{BB962C8B-B14F-4D97-AF65-F5344CB8AC3E}">
        <p14:creationId xmlns:p14="http://schemas.microsoft.com/office/powerpoint/2010/main" val="70192671"/>
      </p:ext>
    </p:extLst>
  </p:cSld>
</p:sld>
</file>

<file path=ppt/slides/slide3.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pic>
        <p:nvPicPr>
          <p:cNvPr id="33" name="visitor-photo"/>
          <p:cNvPicPr>
            <a:picLocks xmlns:a="http://schemas.openxmlformats.org/drawingml/2006/main" noChangeAspect="1"/>
          </p:cNvPicPr>
          <p:nvPr/>
        </p:nvPicPr>
        <p:blipFill>
          <a:blip xmlns:r="http://schemas.openxmlformats.org/officeDocument/2006/relationships" xmlns:a="http://schemas.openxmlformats.org/drawingml/2006/main" r:embed="Re0802ea4bb724ca1"/>
          <a:srcRect xmlns:a="http://schemas.openxmlformats.org/drawingml/2006/main" l="347" t="0" r="347" b="0"/>
          <a:stretch xmlns:a="http://schemas.openxmlformats.org/drawingml/2006/main">
            <a:fillRect l="0" t="0" r="0" b="0"/>
          </a:stretch>
        </p:blipFill>
        <p:spPr>
          <a:xfrm xmlns:a="http://schemas.openxmlformats.org/drawingml/2006/main">
            <a:off x="0" y="0"/>
            <a:ext cx="4791075" cy="8572500"/>
          </a:xfrm>
          <a:prstGeom xmlns:a="http://schemas.openxmlformats.org/drawingml/2006/main" prst="rect">
            <a:avLst/>
          </a:prstGeom>
        </p:spPr>
      </p:pic>
      <p:sp>
        <p:nvSpPr>
          <p:cNvPr id="3" name="title-rule">
            <a:extLst xmlns:a="http://schemas.openxmlformats.org/drawingml/2006/main">
              <a:ext uri="{FF2B5EF4-FFF2-40B4-BE49-F238E27FC236}">
                <a16:creationId xmlns:a16="http://schemas.microsoft.com/office/drawing/2014/main" id="{7BB0242C-FDEC-4963-ABFB-596DC97C0148}"/>
              </a:ext>
            </a:extLst>
          </p:cNvPr>
          <p:cNvSpPr>
            <a:spLocks xmlns:a="http://schemas.openxmlformats.org/drawingml/2006/main" noGrp="1"/>
          </p:cNvSpPr>
          <p:nvPr/>
        </p:nvSpPr>
        <p:spPr>
          <a:xfrm xmlns:a="http://schemas.openxmlformats.org/drawingml/2006/main">
            <a:off x="4772025" y="2152650"/>
            <a:ext cx="10439400" cy="0"/>
          </a:xfrm>
          <a:prstGeom xmlns:a="http://schemas.openxmlformats.org/drawingml/2006/main" prst="line">
            <a:avLst/>
          </a:prstGeom>
          <a:noFill xmlns:a="http://schemas.openxmlformats.org/drawingml/2006/main"/>
          <a:ln xmlns:a="http://schemas.openxmlformats.org/drawingml/2006/main" w="38100">
            <a:solidFill>
              <a:srgbClr val="004EA2"/>
            </a:solidFill>
            <a:prstDash val="solid"/>
          </a:ln>
        </p:spPr>
        <p:txBody>
          <a:bodyPr xmlns:a="http://schemas.openxmlformats.org/drawingml/2006/main"/>
          <a:lstStyle xmlns:a="http://schemas.openxmlformats.org/drawingml/2006/main"/>
          <a:p xmlns:a="http://schemas.openxmlformats.org/drawingml/2006/main">
            <a:endParaRPr/>
          </a:p>
        </p:txBody>
      </p:sp>
      <p:sp>
        <p:nvSpPr>
          <p:cNvPr id="15" name="hero-source-bg">
            <a:extLst xmlns:a="http://schemas.openxmlformats.org/drawingml/2006/main">
              <a:ext uri="{FF2B5EF4-FFF2-40B4-BE49-F238E27FC236}">
                <a16:creationId xmlns:a16="http://schemas.microsoft.com/office/drawing/2014/main" id="{CDA4A852-90A1-4F7A-85C3-CC9CF369CFEA}"/>
              </a:ext>
            </a:extLst>
          </p:cNvPr>
          <p:cNvSpPr>
            <a:spLocks xmlns:a="http://schemas.openxmlformats.org/drawingml/2006/main" noGrp="1"/>
          </p:cNvSpPr>
          <p:nvPr/>
        </p:nvSpPr>
        <p:spPr>
          <a:xfrm xmlns:a="http://schemas.openxmlformats.org/drawingml/2006/main">
            <a:off x="323850" y="7867650"/>
            <a:ext cx="4143375" cy="685800"/>
          </a:xfrm>
          <a:prstGeom xmlns:a="http://schemas.openxmlformats.org/drawingml/2006/main" prst="roundRect">
            <a:avLst>
              <a:gd name="adj" fmla="val 5556"/>
            </a:avLst>
          </a:prstGeom>
          <a:solidFill xmlns:a="http://schemas.openxmlformats.org/drawingml/2006/main">
            <a:srgbClr val="0B2F5B"/>
          </a:solidFill>
          <a:ln xmlns:a="http://schemas.openxmlformats.org/drawingml/2006/main" w="9525">
            <a:solidFill>
              <a:srgbClr val="0B2F5B"/>
            </a:solidFill>
            <a:prstDash val="solid"/>
          </a:ln>
        </p:spPr>
        <p:txBody>
          <a:bodyPr xmlns:a="http://schemas.openxmlformats.org/drawingml/2006/main"/>
          <a:lstStyle xmlns:a="http://schemas.openxmlformats.org/drawingml/2006/main"/>
          <a:p xmlns:a="http://schemas.openxmlformats.org/drawingml/2006/main">
            <a:endParaRPr/>
          </a:p>
        </p:txBody>
      </p:sp>
      <p:sp>
        <p:nvSpPr>
          <p:cNvPr id="16" name="hero-source-label">
            <a:extLst xmlns:a="http://schemas.openxmlformats.org/drawingml/2006/main">
              <a:ext uri="{FF2B5EF4-FFF2-40B4-BE49-F238E27FC236}">
                <a16:creationId xmlns:a16="http://schemas.microsoft.com/office/drawing/2014/main" id="{D1920FBE-F92C-4035-AAA5-C13D7F354553}"/>
              </a:ext>
            </a:extLst>
          </p:cNvPr>
          <p:cNvSpPr>
            <a:spLocks xmlns:a="http://schemas.openxmlformats.org/drawingml/2006/main" noGrp="1"/>
          </p:cNvSpPr>
          <p:nvPr/>
        </p:nvSpPr>
        <p:spPr>
          <a:xfrm xmlns:a="http://schemas.openxmlformats.org/drawingml/2006/main">
            <a:off x="323850" y="7924800"/>
            <a:ext cx="41433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wrap="none" lIns="57150" rIns="57150" tIns="38100" bIns="38100">
            <a:noAutofit/>
          </a:bodyPr>
          <a:lstStyle xmlns:a="http://schemas.openxmlformats.org/drawingml/2006/main"/>
          <a:p xmlns:a="http://schemas.openxmlformats.org/drawingml/2006/main">
            <a:pPr algn="l" eaLnBrk="0">
              <a:lnSpc>
                <a:spcPts val="1593"/>
              </a:lnSpc>
              <a:spcBef>
                <a:spcPts val="0"/>
              </a:spcBef>
              <a:spcAft>
                <a:spcPts val="0"/>
              </a:spcAft>
              <a:buNone/>
              <a:defRPr sz="825" b="0" i="0">
                <a:solidFill>
                  <a:srgbClr val="FFFFFF"/>
                </a:solidFill>
                <a:latin typeface="Noto Sans KR"/>
                <a:ea typeface="Noto Sans KR"/>
                <a:cs typeface="Noto Sans KR"/>
              </a:defRPr>
            </a:pPr>
            <a:r>
              <a:rPr sz="1275" b="0">
                <a:solidFill>
                  <a:srgbClr val="FFFFFF"/>
                </a:solidFill>
                <a:latin typeface="Noto Sans KR"/>
              </a:rPr>
              <a:t>참고 이미지 · 실제 장소 사진 아님</a:t>
            </a:r>
          </a:p>
        </p:txBody>
      </p:sp>
      <p:sp xmlns:a="http://schemas.openxmlformats.org/drawingml/2006/main">
        <p:nvSpPr>
          <p:cNvPr id="34" name="title"/>
          <p:cNvSpPr txBox="1"/>
          <p:nvPr/>
        </p:nvSpPr>
        <p:spPr>
          <a:xfrm>
            <a:off x="5343525" y="762000"/>
            <a:ext cx="9048750" cy="1285875"/>
          </a:xfrm>
          <a:prstGeom prst="rect">
            <a:avLst/>
          </a:prstGeom>
          <a:noFill/>
        </p:spPr>
        <p:txBody>
          <a:bodyPr wrap="none" lIns="57150" rIns="57150" tIns="38100" bIns="38100" anchor="t">
            <a:noAutofit/>
          </a:bodyPr>
          <a:lstStyle/>
          <a:p>
            <a:pPr eaLnBrk="0">
              <a:lnSpc>
                <a:spcPts val="4312"/>
              </a:lnSpc>
              <a:spcBef>
                <a:spcPts val="0"/>
              </a:spcBef>
              <a:spcAft>
                <a:spcPts val="0"/>
              </a:spcAft>
            </a:pPr>
            <a:r>
              <a:rPr sz="3450" b="1">
                <a:solidFill>
                  <a:srgbClr val="004EA2"/>
                </a:solidFill>
                <a:latin typeface="Noto Sans KR"/>
              </a:rPr>
              <a:t>성동구 지역상품권 환급 프로그램</a:t>
            </a:r>
          </a:p>
        </p:txBody>
      </p:sp>
      <p:sp xmlns:a="http://schemas.openxmlformats.org/drawingml/2006/main">
        <p:nvSpPr>
          <p:cNvPr id="35" name="s3-thesis"/>
          <p:cNvSpPr txBox="1"/>
          <p:nvPr/>
        </p:nvSpPr>
        <p:spPr>
          <a:xfrm>
            <a:off x="5343525" y="2619375"/>
            <a:ext cx="8524875" cy="1809750"/>
          </a:xfrm>
          <a:prstGeom prst="rect">
            <a:avLst/>
          </a:prstGeom>
          <a:noFill/>
        </p:spPr>
        <p:txBody>
          <a:bodyPr wrap="none" lIns="57150" rIns="57150" tIns="38100" bIns="38100" anchor="t">
            <a:noAutofit/>
          </a:bodyPr>
          <a:lstStyle/>
          <a:p>
            <a:pPr eaLnBrk="0">
              <a:lnSpc>
                <a:spcPts val="3187"/>
              </a:lnSpc>
              <a:spcBef>
                <a:spcPts val="0"/>
              </a:spcBef>
              <a:spcAft>
                <a:spcPts val="0"/>
              </a:spcAft>
            </a:pPr>
            <a:r>
              <a:rPr sz="2550" b="1">
                <a:solidFill>
                  <a:srgbClr val="1D2227"/>
                </a:solidFill>
                <a:latin typeface="Noto Sans KR"/>
              </a:rPr>
              <a:t>성동구를 방문한 외지인 관광객이 지정된 지역 내 상점에서 일정</a:t>
            </a:r>
          </a:p>
          <a:p>
            <a:pPr eaLnBrk="0">
              <a:lnSpc>
                <a:spcPts val="3187"/>
              </a:lnSpc>
              <a:spcBef>
                <a:spcPts val="0"/>
              </a:spcBef>
              <a:spcAft>
                <a:spcPts val="0"/>
              </a:spcAft>
            </a:pPr>
            <a:r>
              <a:rPr sz="2550" b="1">
                <a:solidFill>
                  <a:srgbClr val="1D2227"/>
                </a:solidFill>
                <a:latin typeface="Noto Sans KR"/>
              </a:rPr>
              <a:t>금액 이상 소비 시, 소비액의 일부를 성동구 지역상품권으로 즉시</a:t>
            </a:r>
          </a:p>
          <a:p>
            <a:pPr eaLnBrk="0">
              <a:lnSpc>
                <a:spcPts val="3187"/>
              </a:lnSpc>
              <a:spcBef>
                <a:spcPts val="0"/>
              </a:spcBef>
              <a:spcAft>
                <a:spcPts val="0"/>
              </a:spcAft>
            </a:pPr>
            <a:r>
              <a:rPr sz="2550" b="1">
                <a:solidFill>
                  <a:srgbClr val="1D2227"/>
                </a:solidFill>
                <a:latin typeface="Noto Sans KR"/>
              </a:rPr>
              <a:t>또는 사후 환급하여 해당 상품권이 다시 성동구 내에서</a:t>
            </a:r>
          </a:p>
          <a:p>
            <a:pPr eaLnBrk="0">
              <a:lnSpc>
                <a:spcPts val="3187"/>
              </a:lnSpc>
              <a:spcBef>
                <a:spcPts val="0"/>
              </a:spcBef>
              <a:spcAft>
                <a:spcPts val="0"/>
              </a:spcAft>
            </a:pPr>
            <a:r>
              <a:rPr sz="2550" b="1">
                <a:solidFill>
                  <a:srgbClr val="1D2227"/>
                </a:solidFill>
                <a:latin typeface="Noto Sans KR"/>
              </a:rPr>
              <a:t>사용되도록 선순환 구조를 구축함.</a:t>
            </a:r>
          </a:p>
        </p:txBody>
      </p:sp>
      <p:sp xmlns:a="http://schemas.openxmlformats.org/drawingml/2006/main">
        <p:nvSpPr>
          <p:cNvPr id="36" name="s3-detail-label"/>
          <p:cNvSpPr txBox="1"/>
          <p:nvPr/>
        </p:nvSpPr>
        <p:spPr>
          <a:xfrm>
            <a:off x="5343525" y="4762500"/>
            <a:ext cx="8524875" cy="428625"/>
          </a:xfrm>
          <a:prstGeom prst="rect">
            <a:avLst/>
          </a:prstGeom>
          <a:noFill/>
        </p:spPr>
        <p:txBody>
          <a:bodyPr wrap="none" lIns="57150" rIns="57150" tIns="38100" bIns="38100" anchor="t">
            <a:noAutofit/>
          </a:bodyPr>
          <a:lstStyle/>
          <a:p>
            <a:pPr eaLnBrk="0">
              <a:lnSpc>
                <a:spcPts val="2437"/>
              </a:lnSpc>
              <a:spcBef>
                <a:spcPts val="0"/>
              </a:spcBef>
              <a:spcAft>
                <a:spcPts val="0"/>
              </a:spcAft>
            </a:pPr>
            <a:r>
              <a:rPr sz="1950" b="1">
                <a:solidFill>
                  <a:srgbClr val="004EA2"/>
                </a:solidFill>
                <a:latin typeface="Noto Sans KR"/>
              </a:rPr>
              <a:t>사업 대상과 운영 범위</a:t>
            </a:r>
          </a:p>
        </p:txBody>
      </p:sp>
      <p:sp xmlns:a="http://schemas.openxmlformats.org/drawingml/2006/main">
        <p:nvSpPr>
          <p:cNvPr id="37" name="s3-detail"/>
          <p:cNvSpPr txBox="1"/>
          <p:nvPr/>
        </p:nvSpPr>
        <p:spPr>
          <a:xfrm>
            <a:off x="5343525" y="5276850"/>
            <a:ext cx="8524875" cy="904875"/>
          </a:xfrm>
          <a:prstGeom prst="rect">
            <a:avLst/>
          </a:prstGeom>
          <a:noFill/>
        </p:spPr>
        <p:txBody>
          <a:bodyPr wrap="none" lIns="57150" rIns="57150" tIns="38100" bIns="38100" anchor="t">
            <a:noAutofit/>
          </a:bodyPr>
          <a:lstStyle/>
          <a:p>
            <a:pPr eaLnBrk="0">
              <a:lnSpc>
                <a:spcPts val="2437"/>
              </a:lnSpc>
              <a:spcBef>
                <a:spcPts val="0"/>
              </a:spcBef>
              <a:spcAft>
                <a:spcPts val="0"/>
              </a:spcAft>
            </a:pPr>
            <a:r>
              <a:rPr sz="1950" b="0">
                <a:solidFill>
                  <a:srgbClr val="59636E"/>
                </a:solidFill>
                <a:latin typeface="Noto Sans KR"/>
              </a:rPr>
              <a:t>2026-09 ~ 2026-11, 3개월</a:t>
            </a:r>
          </a:p>
        </p:txBody>
      </p:sp>
      <p:sp xmlns:a="http://schemas.openxmlformats.org/drawingml/2006/main">
        <p:nvSpPr>
          <p:cNvPr id="38" name="s3-operation-rule"/>
          <p:cNvSpPr/>
          <p:nvPr/>
        </p:nvSpPr>
        <p:spPr>
          <a:xfrm>
            <a:off x="5400675" y="6457950"/>
            <a:ext cx="57150" cy="1209675"/>
          </a:xfrm>
          <a:prstGeom prst="rect">
            <a:avLst/>
          </a:prstGeom>
          <a:solidFill>
            <a:srgbClr val="00B7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9" name="s3-operation"/>
          <p:cNvSpPr txBox="1"/>
          <p:nvPr/>
        </p:nvSpPr>
        <p:spPr>
          <a:xfrm>
            <a:off x="5610225" y="6505575"/>
            <a:ext cx="8096250" cy="1285875"/>
          </a:xfrm>
          <a:prstGeom prst="rect">
            <a:avLst/>
          </a:prstGeom>
          <a:noFill/>
        </p:spPr>
        <p:txBody>
          <a:bodyPr wrap="none" lIns="57150" rIns="57150" tIns="38100" bIns="38100" anchor="t">
            <a:noAutofit/>
          </a:bodyPr>
          <a:lstStyle/>
          <a:p>
            <a:pPr eaLnBrk="0">
              <a:lnSpc>
                <a:spcPts val="2343"/>
              </a:lnSpc>
              <a:spcBef>
                <a:spcPts val="0"/>
              </a:spcBef>
              <a:spcAft>
                <a:spcPts val="0"/>
              </a:spcAft>
            </a:pPr>
            <a:r>
              <a:rPr sz="1875" b="0">
                <a:solidFill>
                  <a:srgbClr val="59636E"/>
                </a:solidFill>
                <a:latin typeface="Noto Sans KR"/>
              </a:rPr>
              <a:t>지역상품권 사용처와 관광업체 참여 기준, 여행 지출 증빙과 중복수혜 방지 절차,</a:t>
            </a:r>
          </a:p>
          <a:p>
            <a:pPr eaLnBrk="0">
              <a:lnSpc>
                <a:spcPts val="2343"/>
              </a:lnSpc>
              <a:spcBef>
                <a:spcPts val="0"/>
              </a:spcBef>
              <a:spcAft>
                <a:spcPts val="0"/>
              </a:spcAft>
            </a:pPr>
            <a:r>
              <a:rPr sz="1875" b="0">
                <a:solidFill>
                  <a:srgbClr val="59636E"/>
                </a:solidFill>
                <a:latin typeface="Noto Sans KR"/>
              </a:rPr>
              <a:t>지원금보다 추가 지역소비가 큰지 사후 측정 필요.</a:t>
            </a:r>
          </a:p>
        </p:txBody>
      </p:sp>
    </p:spTree>
    <p:extLst>
      <p:ext uri="{BB962C8B-B14F-4D97-AF65-F5344CB8AC3E}">
        <p14:creationId xmlns:p14="http://schemas.microsoft.com/office/powerpoint/2010/main" val="1308887362"/>
      </p:ext>
    </p:extLst>
  </p:cSld>
</p:sld>
</file>

<file path=ppt/slides/slide4.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xmlns:a="http://schemas.openxmlformats.org/drawingml/2006/main">
        <p:nvSpPr>
          <p:cNvPr id="2" name="title"/>
          <p:cNvSpPr txBox="1"/>
          <p:nvPr/>
        </p:nvSpPr>
        <p:spPr>
          <a:xfrm>
            <a:off x="952500" y="714375"/>
            <a:ext cx="13335000" cy="809625"/>
          </a:xfrm>
          <a:prstGeom prst="rect">
            <a:avLst/>
          </a:prstGeom>
          <a:noFill/>
        </p:spPr>
        <p:txBody>
          <a:bodyPr wrap="none" lIns="57150" rIns="57150" tIns="38100" bIns="38100" anchor="t">
            <a:noAutofit/>
          </a:bodyPr>
          <a:lstStyle/>
          <a:p>
            <a:pPr eaLnBrk="0">
              <a:lnSpc>
                <a:spcPts val="4500"/>
              </a:lnSpc>
              <a:spcBef>
                <a:spcPts val="0"/>
              </a:spcBef>
              <a:spcAft>
                <a:spcPts val="0"/>
              </a:spcAft>
            </a:pPr>
            <a:r>
              <a:rPr sz="3600" b="1">
                <a:solidFill>
                  <a:srgbClr val="004EA2"/>
                </a:solidFill>
                <a:latin typeface="Noto Sans KR"/>
              </a:rPr>
              <a:t>사업 설계와 3개월 목표</a:t>
            </a:r>
          </a:p>
        </p:txBody>
      </p:sp>
      <p:sp xmlns:a="http://schemas.openxmlformats.org/drawingml/2006/main">
        <p:nvSpPr>
          <p:cNvPr id="3" name="title-rule"/>
          <p:cNvSpPr/>
          <p:nvPr/>
        </p:nvSpPr>
        <p:spPr>
          <a:xfrm>
            <a:off x="1009650" y="1724025"/>
            <a:ext cx="13220700" cy="28575"/>
          </a:xfrm>
          <a:prstGeom prst="rect">
            <a:avLst/>
          </a:prstGeom>
          <a:solidFill>
            <a:srgbClr val="004E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4" name="block-0"/>
          <p:cNvSpPr/>
          <p:nvPr/>
        </p:nvSpPr>
        <p:spPr>
          <a:xfrm>
            <a:off x="1009650" y="2057400"/>
            <a:ext cx="4267200" cy="197167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5" name="block-rail-0"/>
          <p:cNvSpPr/>
          <p:nvPr/>
        </p:nvSpPr>
        <p:spPr>
          <a:xfrm>
            <a:off x="1009650" y="2057400"/>
            <a:ext cx="57150" cy="1971675"/>
          </a:xfrm>
          <a:prstGeom prst="rect">
            <a:avLst/>
          </a:prstGeom>
          <a:solidFill>
            <a:srgbClr val="004E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6" name="block-title-0"/>
          <p:cNvSpPr txBox="1"/>
          <p:nvPr/>
        </p:nvSpPr>
        <p:spPr>
          <a:xfrm>
            <a:off x="1181100" y="2200275"/>
            <a:ext cx="3943350" cy="381000"/>
          </a:xfrm>
          <a:prstGeom prst="rect">
            <a:avLst/>
          </a:prstGeom>
          <a:noFill/>
        </p:spPr>
        <p:txBody>
          <a:bodyPr wrap="none" lIns="57150" rIns="57150" tIns="38100" bIns="38100" anchor="t">
            <a:noAutofit/>
          </a:bodyPr>
          <a:lstStyle/>
          <a:p>
            <a:pPr eaLnBrk="0">
              <a:lnSpc>
                <a:spcPts val="2343"/>
              </a:lnSpc>
              <a:spcBef>
                <a:spcPts val="0"/>
              </a:spcBef>
              <a:spcAft>
                <a:spcPts val="0"/>
              </a:spcAft>
            </a:pPr>
            <a:r>
              <a:rPr sz="1875" b="1">
                <a:solidFill>
                  <a:srgbClr val="004EA2"/>
                </a:solidFill>
                <a:latin typeface="Noto Sans KR"/>
              </a:rPr>
              <a:t>사업내용</a:t>
            </a:r>
          </a:p>
        </p:txBody>
      </p:sp>
      <p:sp xmlns:a="http://schemas.openxmlformats.org/drawingml/2006/main">
        <p:nvSpPr>
          <p:cNvPr id="7" name="block-body-0"/>
          <p:cNvSpPr txBox="1"/>
          <p:nvPr/>
        </p:nvSpPr>
        <p:spPr>
          <a:xfrm>
            <a:off x="1181100" y="2676525"/>
            <a:ext cx="3943350" cy="1257300"/>
          </a:xfrm>
          <a:prstGeom prst="rect">
            <a:avLst/>
          </a:prstGeom>
          <a:noFill/>
        </p:spPr>
        <p:txBody>
          <a:bodyPr wrap="none" lIns="57150" rIns="57150" tIns="38100" bIns="38100" anchor="t">
            <a:noAutofit/>
          </a:bodyPr>
          <a:lstStyle/>
          <a:p>
            <a:pPr eaLnBrk="0">
              <a:lnSpc>
                <a:spcPts val="1827"/>
              </a:lnSpc>
              <a:spcBef>
                <a:spcPts val="0"/>
              </a:spcBef>
              <a:spcAft>
                <a:spcPts val="0"/>
              </a:spcAft>
            </a:pPr>
            <a:r>
              <a:rPr sz="1462" b="0">
                <a:solidFill>
                  <a:srgbClr val="59636E"/>
                </a:solidFill>
                <a:latin typeface="Noto Sans KR"/>
              </a:rPr>
              <a:t>성동구를 방문한 외지인 관광객이 지정된 지역 내</a:t>
            </a:r>
          </a:p>
          <a:p>
            <a:pPr eaLnBrk="0">
              <a:lnSpc>
                <a:spcPts val="1827"/>
              </a:lnSpc>
              <a:spcBef>
                <a:spcPts val="0"/>
              </a:spcBef>
              <a:spcAft>
                <a:spcPts val="0"/>
              </a:spcAft>
            </a:pPr>
            <a:r>
              <a:rPr sz="1462" b="0">
                <a:solidFill>
                  <a:srgbClr val="59636E"/>
                </a:solidFill>
                <a:latin typeface="Noto Sans KR"/>
              </a:rPr>
              <a:t>상점에서 일정 금액 이상 소비 시, 소비액의 일부를</a:t>
            </a:r>
          </a:p>
          <a:p>
            <a:pPr eaLnBrk="0">
              <a:lnSpc>
                <a:spcPts val="1827"/>
              </a:lnSpc>
              <a:spcBef>
                <a:spcPts val="0"/>
              </a:spcBef>
              <a:spcAft>
                <a:spcPts val="0"/>
              </a:spcAft>
            </a:pPr>
            <a:r>
              <a:rPr sz="1462" b="0">
                <a:solidFill>
                  <a:srgbClr val="59636E"/>
                </a:solidFill>
                <a:latin typeface="Noto Sans KR"/>
              </a:rPr>
              <a:t>성동구 지역상품권으로 즉시 또는 사후 환급하여 해당</a:t>
            </a:r>
          </a:p>
          <a:p>
            <a:pPr eaLnBrk="0">
              <a:lnSpc>
                <a:spcPts val="1827"/>
              </a:lnSpc>
              <a:spcBef>
                <a:spcPts val="0"/>
              </a:spcBef>
              <a:spcAft>
                <a:spcPts val="0"/>
              </a:spcAft>
            </a:pPr>
            <a:r>
              <a:rPr sz="1462" b="0">
                <a:solidFill>
                  <a:srgbClr val="59636E"/>
                </a:solidFill>
                <a:latin typeface="Noto Sans KR"/>
              </a:rPr>
              <a:t>상품권이 다시 성동구 내에서 사용되도록</a:t>
            </a:r>
          </a:p>
          <a:p>
            <a:pPr eaLnBrk="0">
              <a:lnSpc>
                <a:spcPts val="1827"/>
              </a:lnSpc>
              <a:spcBef>
                <a:spcPts val="0"/>
              </a:spcBef>
              <a:spcAft>
                <a:spcPts val="0"/>
              </a:spcAft>
            </a:pPr>
            <a:r>
              <a:rPr sz="1462" b="0">
                <a:solidFill>
                  <a:srgbClr val="59636E"/>
                </a:solidFill>
                <a:latin typeface="Noto Sans KR"/>
              </a:rPr>
              <a:t>선순환 구조를 구축함.</a:t>
            </a:r>
          </a:p>
        </p:txBody>
      </p:sp>
      <p:sp xmlns:a="http://schemas.openxmlformats.org/drawingml/2006/main">
        <p:nvSpPr>
          <p:cNvPr id="8" name="block-1"/>
          <p:cNvSpPr/>
          <p:nvPr/>
        </p:nvSpPr>
        <p:spPr>
          <a:xfrm>
            <a:off x="5486400" y="2057400"/>
            <a:ext cx="4267200" cy="197167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9" name="block-rail-1"/>
          <p:cNvSpPr/>
          <p:nvPr/>
        </p:nvSpPr>
        <p:spPr>
          <a:xfrm>
            <a:off x="5486400" y="2057400"/>
            <a:ext cx="57150" cy="1971675"/>
          </a:xfrm>
          <a:prstGeom prst="rect">
            <a:avLst/>
          </a:prstGeom>
          <a:solidFill>
            <a:srgbClr val="00B7C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0" name="block-title-1"/>
          <p:cNvSpPr txBox="1"/>
          <p:nvPr/>
        </p:nvSpPr>
        <p:spPr>
          <a:xfrm>
            <a:off x="5657850" y="2200275"/>
            <a:ext cx="3943350" cy="381000"/>
          </a:xfrm>
          <a:prstGeom prst="rect">
            <a:avLst/>
          </a:prstGeom>
          <a:noFill/>
        </p:spPr>
        <p:txBody>
          <a:bodyPr wrap="none" lIns="57150" rIns="57150" tIns="38100" bIns="38100" anchor="t">
            <a:noAutofit/>
          </a:bodyPr>
          <a:lstStyle/>
          <a:p>
            <a:pPr eaLnBrk="0">
              <a:lnSpc>
                <a:spcPts val="2343"/>
              </a:lnSpc>
              <a:spcBef>
                <a:spcPts val="0"/>
              </a:spcBef>
              <a:spcAft>
                <a:spcPts val="0"/>
              </a:spcAft>
            </a:pPr>
            <a:r>
              <a:rPr sz="1875" b="1">
                <a:solidFill>
                  <a:srgbClr val="004EA2"/>
                </a:solidFill>
                <a:latin typeface="Noto Sans KR"/>
              </a:rPr>
              <a:t>사업기간</a:t>
            </a:r>
          </a:p>
        </p:txBody>
      </p:sp>
      <p:sp xmlns:a="http://schemas.openxmlformats.org/drawingml/2006/main">
        <p:nvSpPr>
          <p:cNvPr id="11" name="block-body-1"/>
          <p:cNvSpPr txBox="1"/>
          <p:nvPr/>
        </p:nvSpPr>
        <p:spPr>
          <a:xfrm>
            <a:off x="5657850" y="2676525"/>
            <a:ext cx="3943350" cy="1257300"/>
          </a:xfrm>
          <a:prstGeom prst="rect">
            <a:avLst/>
          </a:prstGeom>
          <a:noFill/>
        </p:spPr>
        <p:txBody>
          <a:bodyPr wrap="none" lIns="57150" rIns="57150" tIns="38100" bIns="38100" anchor="t">
            <a:noAutofit/>
          </a:bodyPr>
          <a:lstStyle/>
          <a:p>
            <a:pPr eaLnBrk="0">
              <a:lnSpc>
                <a:spcPts val="1827"/>
              </a:lnSpc>
              <a:spcBef>
                <a:spcPts val="0"/>
              </a:spcBef>
              <a:spcAft>
                <a:spcPts val="0"/>
              </a:spcAft>
            </a:pPr>
            <a:r>
              <a:rPr sz="1462" b="0">
                <a:solidFill>
                  <a:srgbClr val="59636E"/>
                </a:solidFill>
                <a:latin typeface="Noto Sans KR"/>
              </a:rPr>
              <a:t>2026-09 ~ 2026-11, 3개월</a:t>
            </a:r>
          </a:p>
          <a:p>
            <a:pPr eaLnBrk="0">
              <a:lnSpc>
                <a:spcPts val="1827"/>
              </a:lnSpc>
              <a:spcBef>
                <a:spcPts val="0"/>
              </a:spcBef>
              <a:spcAft>
                <a:spcPts val="0"/>
              </a:spcAft>
            </a:pPr>
            <a:r>
              <a:rPr sz="1462" b="0">
                <a:solidFill>
                  <a:srgbClr val="59636E"/>
                </a:solidFill>
                <a:latin typeface="Noto Sans KR"/>
              </a:rPr>
              <a:t>준비·협의 → 시범 운영 → 성과 확인</a:t>
            </a:r>
          </a:p>
        </p:txBody>
      </p:sp>
      <p:sp xmlns:a="http://schemas.openxmlformats.org/drawingml/2006/main">
        <p:nvSpPr>
          <p:cNvPr id="12" name="block-2"/>
          <p:cNvSpPr/>
          <p:nvPr/>
        </p:nvSpPr>
        <p:spPr>
          <a:xfrm>
            <a:off x="9963150" y="2057400"/>
            <a:ext cx="4267200" cy="1971675"/>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3" name="block-rail-2"/>
          <p:cNvSpPr/>
          <p:nvPr/>
        </p:nvSpPr>
        <p:spPr>
          <a:xfrm>
            <a:off x="9963150" y="2057400"/>
            <a:ext cx="57150" cy="1971675"/>
          </a:xfrm>
          <a:prstGeom prst="rect">
            <a:avLst/>
          </a:prstGeom>
          <a:solidFill>
            <a:srgbClr val="004E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4" name="block-title-2"/>
          <p:cNvSpPr txBox="1"/>
          <p:nvPr/>
        </p:nvSpPr>
        <p:spPr>
          <a:xfrm>
            <a:off x="10134600" y="2200275"/>
            <a:ext cx="3943350" cy="381000"/>
          </a:xfrm>
          <a:prstGeom prst="rect">
            <a:avLst/>
          </a:prstGeom>
          <a:noFill/>
        </p:spPr>
        <p:txBody>
          <a:bodyPr wrap="none" lIns="57150" rIns="57150" tIns="38100" bIns="38100" anchor="t">
            <a:noAutofit/>
          </a:bodyPr>
          <a:lstStyle/>
          <a:p>
            <a:pPr eaLnBrk="0">
              <a:lnSpc>
                <a:spcPts val="2343"/>
              </a:lnSpc>
              <a:spcBef>
                <a:spcPts val="0"/>
              </a:spcBef>
              <a:spcAft>
                <a:spcPts val="0"/>
              </a:spcAft>
            </a:pPr>
            <a:r>
              <a:rPr sz="1875" b="1">
                <a:solidFill>
                  <a:srgbClr val="004EA2"/>
                </a:solidFill>
                <a:latin typeface="Noto Sans KR"/>
              </a:rPr>
              <a:t>목표 KPI</a:t>
            </a:r>
          </a:p>
        </p:txBody>
      </p:sp>
      <p:sp xmlns:a="http://schemas.openxmlformats.org/drawingml/2006/main">
        <p:nvSpPr>
          <p:cNvPr id="15" name="block-body-2"/>
          <p:cNvSpPr txBox="1"/>
          <p:nvPr/>
        </p:nvSpPr>
        <p:spPr>
          <a:xfrm>
            <a:off x="10134600" y="2676525"/>
            <a:ext cx="3943350" cy="1257300"/>
          </a:xfrm>
          <a:prstGeom prst="rect">
            <a:avLst/>
          </a:prstGeom>
          <a:noFill/>
        </p:spPr>
        <p:txBody>
          <a:bodyPr wrap="none" lIns="57150" rIns="57150" tIns="38100" bIns="38100" anchor="t">
            <a:noAutofit/>
          </a:bodyPr>
          <a:lstStyle/>
          <a:p>
            <a:pPr eaLnBrk="0">
              <a:lnSpc>
                <a:spcPts val="1827"/>
              </a:lnSpc>
              <a:spcBef>
                <a:spcPts val="0"/>
              </a:spcBef>
              <a:spcAft>
                <a:spcPts val="0"/>
              </a:spcAft>
            </a:pPr>
            <a:r>
              <a:rPr sz="1462" b="0">
                <a:solidFill>
                  <a:srgbClr val="59636E"/>
                </a:solidFill>
                <a:latin typeface="Noto Sans KR"/>
              </a:rPr>
              <a:t>3개월 월별 합계</a:t>
            </a:r>
          </a:p>
          <a:p>
            <a:pPr eaLnBrk="0">
              <a:lnSpc>
                <a:spcPts val="1827"/>
              </a:lnSpc>
              <a:spcBef>
                <a:spcPts val="0"/>
              </a:spcBef>
              <a:spcAft>
                <a:spcPts val="0"/>
              </a:spcAft>
            </a:pPr>
            <a:r>
              <a:rPr sz="1462" b="0">
                <a:solidFill>
                  <a:srgbClr val="59636E"/>
                </a:solidFill>
                <a:latin typeface="Noto Sans KR"/>
              </a:rPr>
              <a:t>방문자 2,243만 명</a:t>
            </a:r>
          </a:p>
          <a:p>
            <a:pPr eaLnBrk="0">
              <a:lnSpc>
                <a:spcPts val="1827"/>
              </a:lnSpc>
              <a:spcBef>
                <a:spcPts val="0"/>
              </a:spcBef>
              <a:spcAft>
                <a:spcPts val="0"/>
              </a:spcAft>
            </a:pPr>
            <a:r>
              <a:rPr sz="1462" b="0">
                <a:solidFill>
                  <a:srgbClr val="59636E"/>
                </a:solidFill>
                <a:latin typeface="Noto Sans KR"/>
              </a:rPr>
              <a:t>관광소비액 3,555억 원</a:t>
            </a:r>
          </a:p>
        </p:txBody>
      </p:sp>
      <p:sp xmlns:a="http://schemas.openxmlformats.org/drawingml/2006/main">
        <p:nvSpPr>
          <p:cNvPr id="16" name="chart-panel-0"/>
          <p:cNvSpPr/>
          <p:nvPr/>
        </p:nvSpPr>
        <p:spPr>
          <a:xfrm>
            <a:off x="1009650" y="4248150"/>
            <a:ext cx="6419850" cy="333375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7" name="chart-title-0"/>
          <p:cNvSpPr txBox="1"/>
          <p:nvPr/>
        </p:nvSpPr>
        <p:spPr>
          <a:xfrm>
            <a:off x="1200150" y="4343400"/>
            <a:ext cx="6038850" cy="409575"/>
          </a:xfrm>
          <a:prstGeom prst="rect">
            <a:avLst/>
          </a:prstGeom>
          <a:noFill/>
        </p:spPr>
        <p:txBody>
          <a:bodyPr wrap="none" lIns="57150" rIns="57150" tIns="38100" bIns="38100" anchor="t">
            <a:noAutofit/>
          </a:bodyPr>
          <a:lstStyle/>
          <a:p>
            <a:pPr eaLnBrk="0" algn="ctr">
              <a:lnSpc>
                <a:spcPts val="2625"/>
              </a:lnSpc>
              <a:spcBef>
                <a:spcPts val="0"/>
              </a:spcBef>
              <a:spcAft>
                <a:spcPts val="0"/>
              </a:spcAft>
            </a:pPr>
            <a:r>
              <a:rPr sz="2100" b="1">
                <a:solidFill>
                  <a:srgbClr val="004EA2"/>
                </a:solidFill>
                <a:latin typeface="Noto Sans KR"/>
              </a:rPr>
              <a:t>관광객 방문자 수</a:t>
            </a:r>
          </a:p>
        </p:txBody>
      </p:sp>
      <p:graphicFrame xmlns:a="http://schemas.openxmlformats.org/drawingml/2006/main">
        <p:nvGraphicFramePr>
          <p:cNvPr id="18" name="comparison-chart-0"/>
          <p:cNvGraphicFramePr>
            <a:graphicFrameLocks noGrp="1"/>
          </p:cNvGraphicFramePr>
          <p:nvPr/>
        </p:nvGraphicFramePr>
        <p:xfrm>
          <a:off x="1123950" y="4857750"/>
          <a:ext cx="6191250" cy="2200275"/>
        </p:xfrm>
        <a:graphic>
          <a:graphicData uri="http://schemas.openxmlformats.org/drawingml/2006/chart">
            <c:chart xmlns:c="http://schemas.openxmlformats.org/drawingml/2006/chart" xmlns:r="http://schemas.openxmlformats.org/officeDocument/2006/relationships" r:id="rId3"/>
          </a:graphicData>
        </a:graphic>
      </p:graphicFrame>
      <p:sp xmlns:a="http://schemas.openxmlformats.org/drawingml/2006/main">
        <p:nvSpPr>
          <p:cNvPr id="19" name="comparison-chart-0-legend-line-0"/>
          <p:cNvSpPr/>
          <p:nvPr/>
        </p:nvSpPr>
        <p:spPr>
          <a:xfrm>
            <a:off x="2686050" y="7343775"/>
            <a:ext cx="238125" cy="28575"/>
          </a:xfrm>
          <a:prstGeom prst="rect">
            <a:avLst/>
          </a:prstGeom>
          <a:solidFill>
            <a:srgbClr val="004E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0" name="comparison-chart-0-legend-label-0"/>
          <p:cNvSpPr txBox="1"/>
          <p:nvPr/>
        </p:nvSpPr>
        <p:spPr>
          <a:xfrm>
            <a:off x="2971800" y="7229475"/>
            <a:ext cx="1476375" cy="285750"/>
          </a:xfrm>
          <a:prstGeom prst="rect">
            <a:avLst/>
          </a:prstGeom>
          <a:noFill/>
        </p:spPr>
        <p:txBody>
          <a:bodyPr wrap="none" lIns="57150" rIns="57150" tIns="38100" bIns="38100" anchor="t">
            <a:noAutofit/>
          </a:bodyPr>
          <a:lstStyle/>
          <a:p>
            <a:pPr eaLnBrk="0">
              <a:lnSpc>
                <a:spcPts val="1640"/>
              </a:lnSpc>
              <a:spcBef>
                <a:spcPts val="0"/>
              </a:spcBef>
              <a:spcAft>
                <a:spcPts val="0"/>
              </a:spcAft>
            </a:pPr>
            <a:r>
              <a:rPr sz="1312" b="0">
                <a:solidFill>
                  <a:srgbClr val="59636E"/>
                </a:solidFill>
                <a:latin typeface="Noto Sans KR"/>
              </a:rPr>
              <a:t>ML 기준 전망</a:t>
            </a:r>
          </a:p>
        </p:txBody>
      </p:sp>
      <p:sp xmlns:a="http://schemas.openxmlformats.org/drawingml/2006/main">
        <p:nvSpPr>
          <p:cNvPr id="21" name="comparison-chart-0-legend-line-1"/>
          <p:cNvSpPr/>
          <p:nvPr/>
        </p:nvSpPr>
        <p:spPr>
          <a:xfrm>
            <a:off x="4410075" y="7343775"/>
            <a:ext cx="238125" cy="28575"/>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2" name="comparison-chart-0-legend-label-1"/>
          <p:cNvSpPr txBox="1"/>
          <p:nvPr/>
        </p:nvSpPr>
        <p:spPr>
          <a:xfrm>
            <a:off x="4695825" y="7229475"/>
            <a:ext cx="1476375" cy="285750"/>
          </a:xfrm>
          <a:prstGeom prst="rect">
            <a:avLst/>
          </a:prstGeom>
          <a:noFill/>
        </p:spPr>
        <p:txBody>
          <a:bodyPr wrap="none" lIns="57150" rIns="57150" tIns="38100" bIns="38100" anchor="t">
            <a:noAutofit/>
          </a:bodyPr>
          <a:lstStyle/>
          <a:p>
            <a:pPr eaLnBrk="0">
              <a:lnSpc>
                <a:spcPts val="1640"/>
              </a:lnSpc>
              <a:spcBef>
                <a:spcPts val="0"/>
              </a:spcBef>
              <a:spcAft>
                <a:spcPts val="0"/>
              </a:spcAft>
            </a:pPr>
            <a:r>
              <a:rPr sz="1312" b="0">
                <a:solidFill>
                  <a:srgbClr val="59636E"/>
                </a:solidFill>
                <a:latin typeface="Noto Sans KR"/>
              </a:rPr>
              <a:t>목표 KPI</a:t>
            </a:r>
          </a:p>
        </p:txBody>
      </p:sp>
      <p:sp xmlns:a="http://schemas.openxmlformats.org/drawingml/2006/main">
        <p:nvSpPr>
          <p:cNvPr id="23" name="chart-panel-1"/>
          <p:cNvSpPr/>
          <p:nvPr/>
        </p:nvSpPr>
        <p:spPr>
          <a:xfrm>
            <a:off x="7810500" y="4248150"/>
            <a:ext cx="6419850" cy="333375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4" name="chart-title-1"/>
          <p:cNvSpPr txBox="1"/>
          <p:nvPr/>
        </p:nvSpPr>
        <p:spPr>
          <a:xfrm>
            <a:off x="8001000" y="4343400"/>
            <a:ext cx="6038850" cy="409575"/>
          </a:xfrm>
          <a:prstGeom prst="rect">
            <a:avLst/>
          </a:prstGeom>
          <a:noFill/>
        </p:spPr>
        <p:txBody>
          <a:bodyPr wrap="none" lIns="57150" rIns="57150" tIns="38100" bIns="38100" anchor="t">
            <a:noAutofit/>
          </a:bodyPr>
          <a:lstStyle/>
          <a:p>
            <a:pPr eaLnBrk="0" algn="ctr">
              <a:lnSpc>
                <a:spcPts val="2625"/>
              </a:lnSpc>
              <a:spcBef>
                <a:spcPts val="0"/>
              </a:spcBef>
              <a:spcAft>
                <a:spcPts val="0"/>
              </a:spcAft>
            </a:pPr>
            <a:r>
              <a:rPr sz="2100" b="1">
                <a:solidFill>
                  <a:srgbClr val="004EA2"/>
                </a:solidFill>
                <a:latin typeface="Noto Sans KR"/>
              </a:rPr>
              <a:t>관광소비액</a:t>
            </a:r>
          </a:p>
        </p:txBody>
      </p:sp>
      <p:graphicFrame xmlns:a="http://schemas.openxmlformats.org/drawingml/2006/main">
        <p:nvGraphicFramePr>
          <p:cNvPr id="25" name="comparison-chart-1"/>
          <p:cNvGraphicFramePr>
            <a:graphicFrameLocks noGrp="1"/>
          </p:cNvGraphicFramePr>
          <p:nvPr/>
        </p:nvGraphicFramePr>
        <p:xfrm>
          <a:off x="7924800" y="4857750"/>
          <a:ext cx="6191250" cy="2200275"/>
        </p:xfrm>
        <a:graphic>
          <a:graphicData uri="http://schemas.openxmlformats.org/drawingml/2006/chart">
            <c:chart xmlns:c="http://schemas.openxmlformats.org/drawingml/2006/chart" xmlns:r="http://schemas.openxmlformats.org/officeDocument/2006/relationships" r:id="rId4"/>
          </a:graphicData>
        </a:graphic>
      </p:graphicFrame>
      <p:sp xmlns:a="http://schemas.openxmlformats.org/drawingml/2006/main">
        <p:nvSpPr>
          <p:cNvPr id="26" name="comparison-chart-1-legend-line-0"/>
          <p:cNvSpPr/>
          <p:nvPr/>
        </p:nvSpPr>
        <p:spPr>
          <a:xfrm>
            <a:off x="9486900" y="7343775"/>
            <a:ext cx="238125" cy="28575"/>
          </a:xfrm>
          <a:prstGeom prst="rect">
            <a:avLst/>
          </a:prstGeom>
          <a:solidFill>
            <a:srgbClr val="004E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7" name="comparison-chart-1-legend-label-0"/>
          <p:cNvSpPr txBox="1"/>
          <p:nvPr/>
        </p:nvSpPr>
        <p:spPr>
          <a:xfrm>
            <a:off x="9772650" y="7229475"/>
            <a:ext cx="1476375" cy="285750"/>
          </a:xfrm>
          <a:prstGeom prst="rect">
            <a:avLst/>
          </a:prstGeom>
          <a:noFill/>
        </p:spPr>
        <p:txBody>
          <a:bodyPr wrap="none" lIns="57150" rIns="57150" tIns="38100" bIns="38100" anchor="t">
            <a:noAutofit/>
          </a:bodyPr>
          <a:lstStyle/>
          <a:p>
            <a:pPr eaLnBrk="0">
              <a:lnSpc>
                <a:spcPts val="1640"/>
              </a:lnSpc>
              <a:spcBef>
                <a:spcPts val="0"/>
              </a:spcBef>
              <a:spcAft>
                <a:spcPts val="0"/>
              </a:spcAft>
            </a:pPr>
            <a:r>
              <a:rPr sz="1312" b="0">
                <a:solidFill>
                  <a:srgbClr val="59636E"/>
                </a:solidFill>
                <a:latin typeface="Noto Sans KR"/>
              </a:rPr>
              <a:t>ML 기준 전망</a:t>
            </a:r>
          </a:p>
        </p:txBody>
      </p:sp>
      <p:sp xmlns:a="http://schemas.openxmlformats.org/drawingml/2006/main">
        <p:nvSpPr>
          <p:cNvPr id="28" name="comparison-chart-1-legend-line-1"/>
          <p:cNvSpPr/>
          <p:nvPr/>
        </p:nvSpPr>
        <p:spPr>
          <a:xfrm>
            <a:off x="11210925" y="7343775"/>
            <a:ext cx="238125" cy="28575"/>
          </a:xfrm>
          <a:prstGeom prst="rect">
            <a:avLst/>
          </a:prstGeom>
          <a:solidFill>
            <a:srgbClr val="FF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9" name="comparison-chart-1-legend-label-1"/>
          <p:cNvSpPr txBox="1"/>
          <p:nvPr/>
        </p:nvSpPr>
        <p:spPr>
          <a:xfrm>
            <a:off x="11496675" y="7229475"/>
            <a:ext cx="1476375" cy="285750"/>
          </a:xfrm>
          <a:prstGeom prst="rect">
            <a:avLst/>
          </a:prstGeom>
          <a:noFill/>
        </p:spPr>
        <p:txBody>
          <a:bodyPr wrap="none" lIns="57150" rIns="57150" tIns="38100" bIns="38100" anchor="t">
            <a:noAutofit/>
          </a:bodyPr>
          <a:lstStyle/>
          <a:p>
            <a:pPr eaLnBrk="0">
              <a:lnSpc>
                <a:spcPts val="1640"/>
              </a:lnSpc>
              <a:spcBef>
                <a:spcPts val="0"/>
              </a:spcBef>
              <a:spcAft>
                <a:spcPts val="0"/>
              </a:spcAft>
            </a:pPr>
            <a:r>
              <a:rPr sz="1312" b="0">
                <a:solidFill>
                  <a:srgbClr val="59636E"/>
                </a:solidFill>
                <a:latin typeface="Noto Sans KR"/>
              </a:rPr>
              <a:t>목표 KPI</a:t>
            </a:r>
          </a:p>
        </p:txBody>
      </p:sp>
      <p:sp xmlns:a="http://schemas.openxmlformats.org/drawingml/2006/main">
        <p:nvSpPr>
          <p:cNvPr id="30" name="comparison-note"/>
          <p:cNvSpPr txBox="1"/>
          <p:nvPr/>
        </p:nvSpPr>
        <p:spPr>
          <a:xfrm>
            <a:off x="1009650" y="7724775"/>
            <a:ext cx="13220700" cy="600075"/>
          </a:xfrm>
          <a:prstGeom prst="rect">
            <a:avLst/>
          </a:prstGeom>
          <a:noFill/>
        </p:spPr>
        <p:txBody>
          <a:bodyPr wrap="none" lIns="57150" rIns="57150" tIns="38100" bIns="38100" anchor="t">
            <a:noAutofit/>
          </a:bodyPr>
          <a:lstStyle/>
          <a:p>
            <a:pPr eaLnBrk="0">
              <a:lnSpc>
                <a:spcPts val="1875"/>
              </a:lnSpc>
              <a:spcBef>
                <a:spcPts val="0"/>
              </a:spcBef>
              <a:spcAft>
                <a:spcPts val="0"/>
              </a:spcAft>
            </a:pPr>
            <a:r>
              <a:rPr sz="1500" b="0">
                <a:solidFill>
                  <a:srgbClr val="59636E"/>
                </a:solidFill>
                <a:latin typeface="Noto Sans KR"/>
              </a:rPr>
              <a:t>ML 기준: 202401~202606 월별 지표의 1·3·12개월 전 값과 계절 정보를 저장 모델에 입력. 목표: 기준 전망 × (1 + 최종월 목표율 × 경과월/전체월).</a:t>
            </a:r>
          </a:p>
          <a:p>
            <a:pPr eaLnBrk="0">
              <a:lnSpc>
                <a:spcPts val="1875"/>
              </a:lnSpc>
              <a:spcBef>
                <a:spcPts val="0"/>
              </a:spcBef>
              <a:spcAft>
                <a:spcPts val="0"/>
              </a:spcAft>
            </a:pPr>
            <a:r>
              <a:rPr sz="1500" b="0">
                <a:solidFill>
                  <a:srgbClr val="59636E"/>
                </a:solidFill>
                <a:latin typeface="Noto Sans KR"/>
              </a:rPr>
              <a:t>목표율은 사례 실적을 참고한 계획 가정이며, 구체적인 채택 비율과 출처는 목표 설정 근거에 제시합니다.</a:t>
            </a:r>
          </a:p>
        </p:txBody>
      </p:sp>
    </p:spTree>
    <p:extLst>
      <p:ext uri="{BB962C8B-B14F-4D97-AF65-F5344CB8AC3E}">
        <p14:creationId xmlns:p14="http://schemas.microsoft.com/office/powerpoint/2010/main" val="380383987"/>
      </p:ext>
    </p:extLst>
  </p:cSld>
</p:sld>
</file>

<file path=ppt/slides/slide6.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xmlns:a="http://schemas.openxmlformats.org/drawingml/2006/main">
        <p:nvSpPr>
          <p:cNvPr id="2" name="title"/>
          <p:cNvSpPr txBox="1"/>
          <p:nvPr/>
        </p:nvSpPr>
        <p:spPr>
          <a:xfrm>
            <a:off x="952500" y="714375"/>
            <a:ext cx="13335000" cy="809625"/>
          </a:xfrm>
          <a:prstGeom prst="rect">
            <a:avLst/>
          </a:prstGeom>
          <a:noFill/>
        </p:spPr>
        <p:txBody>
          <a:bodyPr wrap="none" lIns="57150" rIns="57150" tIns="38100" bIns="38100" anchor="t">
            <a:noAutofit/>
          </a:bodyPr>
          <a:lstStyle/>
          <a:p>
            <a:pPr eaLnBrk="0">
              <a:lnSpc>
                <a:spcPts val="4500"/>
              </a:lnSpc>
              <a:spcBef>
                <a:spcPts val="0"/>
              </a:spcBef>
              <a:spcAft>
                <a:spcPts val="0"/>
              </a:spcAft>
            </a:pPr>
            <a:r>
              <a:rPr sz="3600" b="1">
                <a:solidFill>
                  <a:srgbClr val="004EA2"/>
                </a:solidFill>
                <a:latin typeface="Noto Sans KR"/>
              </a:rPr>
              <a:t>지역별 참고 사례</a:t>
            </a:r>
          </a:p>
        </p:txBody>
      </p:sp>
      <p:sp xmlns:a="http://schemas.openxmlformats.org/drawingml/2006/main">
        <p:nvSpPr>
          <p:cNvPr id="3" name="title-rule"/>
          <p:cNvSpPr/>
          <p:nvPr/>
        </p:nvSpPr>
        <p:spPr>
          <a:xfrm>
            <a:off x="1009650" y="1724025"/>
            <a:ext cx="13220700" cy="28575"/>
          </a:xfrm>
          <a:prstGeom prst="rect">
            <a:avLst/>
          </a:prstGeom>
          <a:solidFill>
            <a:srgbClr val="004E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4" name="case-intro"/>
          <p:cNvSpPr txBox="1"/>
          <p:nvPr/>
        </p:nvSpPr>
        <p:spPr>
          <a:xfrm>
            <a:off x="1009650" y="1790700"/>
            <a:ext cx="13220700" cy="447675"/>
          </a:xfrm>
          <a:prstGeom prst="rect">
            <a:avLst/>
          </a:prstGeom>
          <a:noFill/>
        </p:spPr>
        <p:txBody>
          <a:bodyPr wrap="none" lIns="57150" rIns="57150" tIns="38100" bIns="38100" anchor="t">
            <a:noAutofit/>
          </a:bodyPr>
          <a:lstStyle/>
          <a:p>
            <a:pPr eaLnBrk="0">
              <a:lnSpc>
                <a:spcPts val="2062"/>
              </a:lnSpc>
              <a:spcBef>
                <a:spcPts val="0"/>
              </a:spcBef>
              <a:spcAft>
                <a:spcPts val="0"/>
              </a:spcAft>
            </a:pPr>
            <a:r>
              <a:rPr sz="1650" b="0">
                <a:solidFill>
                  <a:srgbClr val="59636E"/>
                </a:solidFill>
                <a:latin typeface="Noto Sans KR"/>
              </a:rPr>
              <a:t>운영 방식이 맞는 공식 사례를 연결합니다. 지역 자체의 유사도 순위와는 구분합니다.</a:t>
            </a:r>
          </a:p>
        </p:txBody>
      </p:sp>
      <p:sp xmlns:a="http://schemas.openxmlformats.org/drawingml/2006/main">
        <p:nvSpPr>
          <p:cNvPr id="5" name="case-panel-0"/>
          <p:cNvSpPr/>
          <p:nvPr/>
        </p:nvSpPr>
        <p:spPr>
          <a:xfrm>
            <a:off x="1009650" y="2457450"/>
            <a:ext cx="4229100" cy="5162550"/>
          </a:xfrm>
          <a:prstGeom prst="rect">
            <a:avLst/>
          </a:prstGeom>
          <a:solidFill>
            <a:srgbClr val="E6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6" name="case-number-0"/>
          <p:cNvSpPr txBox="1"/>
          <p:nvPr/>
        </p:nvSpPr>
        <p:spPr>
          <a:xfrm>
            <a:off x="1238250" y="2638425"/>
            <a:ext cx="609600" cy="419100"/>
          </a:xfrm>
          <a:prstGeom prst="rect">
            <a:avLst/>
          </a:prstGeom>
          <a:noFill/>
        </p:spPr>
        <p:txBody>
          <a:bodyPr wrap="none" lIns="57150" rIns="57150" tIns="38100" bIns="38100" anchor="t">
            <a:noAutofit/>
          </a:bodyPr>
          <a:lstStyle/>
          <a:p>
            <a:pPr eaLnBrk="0">
              <a:lnSpc>
                <a:spcPts val="2671"/>
              </a:lnSpc>
              <a:spcBef>
                <a:spcPts val="0"/>
              </a:spcBef>
              <a:spcAft>
                <a:spcPts val="0"/>
              </a:spcAft>
            </a:pPr>
            <a:r>
              <a:rPr sz="2137" b="1">
                <a:solidFill>
                  <a:srgbClr val="00B7C9"/>
                </a:solidFill>
                <a:latin typeface="Noto Sans KR"/>
              </a:rPr>
              <a:t>01</a:t>
            </a:r>
          </a:p>
        </p:txBody>
      </p:sp>
      <p:sp xmlns:a="http://schemas.openxmlformats.org/drawingml/2006/main">
        <p:nvSpPr>
          <p:cNvPr id="7" name="case-badge-0"/>
          <p:cNvSpPr txBox="1"/>
          <p:nvPr/>
        </p:nvSpPr>
        <p:spPr>
          <a:xfrm>
            <a:off x="1952625" y="2714625"/>
            <a:ext cx="3048000" cy="314325"/>
          </a:xfrm>
          <a:prstGeom prst="rect">
            <a:avLst/>
          </a:prstGeom>
          <a:noFill/>
        </p:spPr>
        <p:txBody>
          <a:bodyPr wrap="none" lIns="57150" rIns="57150" tIns="38100" bIns="38100" anchor="t">
            <a:noAutofit/>
          </a:bodyPr>
          <a:lstStyle/>
          <a:p>
            <a:pPr eaLnBrk="0">
              <a:lnSpc>
                <a:spcPts val="1781"/>
              </a:lnSpc>
              <a:spcBef>
                <a:spcPts val="0"/>
              </a:spcBef>
              <a:spcAft>
                <a:spcPts val="0"/>
              </a:spcAft>
            </a:pPr>
            <a:r>
              <a:rPr sz="1425" b="1">
                <a:solidFill>
                  <a:srgbClr val="004EA2"/>
                </a:solidFill>
                <a:latin typeface="Noto Sans KR"/>
              </a:rPr>
              <a:t>핵심 운영 참고</a:t>
            </a:r>
          </a:p>
        </p:txBody>
      </p:sp>
      <p:sp xmlns:a="http://schemas.openxmlformats.org/drawingml/2006/main">
        <p:nvSpPr>
          <p:cNvPr id="8" name="case-title-0"/>
          <p:cNvSpPr txBox="1"/>
          <p:nvPr/>
        </p:nvSpPr>
        <p:spPr>
          <a:xfrm>
            <a:off x="1238250" y="3228975"/>
            <a:ext cx="3771900" cy="933450"/>
          </a:xfrm>
          <a:prstGeom prst="rect">
            <a:avLst/>
          </a:prstGeom>
          <a:noFill/>
        </p:spPr>
        <p:txBody>
          <a:bodyPr wrap="none" lIns="57150" rIns="57150" tIns="38100" bIns="38100" anchor="t">
            <a:noAutofit/>
          </a:bodyPr>
          <a:lstStyle/>
          <a:p>
            <a:pPr eaLnBrk="0">
              <a:lnSpc>
                <a:spcPts val="2343"/>
              </a:lnSpc>
              <a:spcBef>
                <a:spcPts val="0"/>
              </a:spcBef>
              <a:spcAft>
                <a:spcPts val="0"/>
              </a:spcAft>
            </a:pPr>
            <a:r>
              <a:rPr sz="1875" b="1">
                <a:solidFill>
                  <a:srgbClr val="1D2227"/>
                </a:solidFill>
                <a:latin typeface="Noto Sans KR"/>
              </a:rPr>
              <a:t>전라남도 강진군 ·</a:t>
            </a:r>
          </a:p>
          <a:p>
            <a:pPr eaLnBrk="0">
              <a:lnSpc>
                <a:spcPts val="2343"/>
              </a:lnSpc>
              <a:spcBef>
                <a:spcPts val="0"/>
              </a:spcBef>
              <a:spcAft>
                <a:spcPts val="0"/>
              </a:spcAft>
            </a:pPr>
            <a:r>
              <a:rPr sz="1875" b="1">
                <a:solidFill>
                  <a:srgbClr val="1D2227"/>
                </a:solidFill>
                <a:latin typeface="Noto Sans KR"/>
              </a:rPr>
              <a:t>반값여행 지역환급</a:t>
            </a:r>
          </a:p>
        </p:txBody>
      </p:sp>
      <p:sp xmlns:a="http://schemas.openxmlformats.org/drawingml/2006/main">
        <p:nvSpPr>
          <p:cNvPr id="9" name="case-body-0"/>
          <p:cNvSpPr txBox="1"/>
          <p:nvPr/>
        </p:nvSpPr>
        <p:spPr>
          <a:xfrm>
            <a:off x="1238250" y="4305300"/>
            <a:ext cx="3771900" cy="1504950"/>
          </a:xfrm>
          <a:prstGeom prst="rect">
            <a:avLst/>
          </a:prstGeom>
          <a:noFill/>
        </p:spPr>
        <p:txBody>
          <a:bodyPr wrap="none" lIns="57150" rIns="57150" tIns="38100" bIns="38100" anchor="t">
            <a:noAutofit/>
          </a:bodyPr>
          <a:lstStyle/>
          <a:p>
            <a:pPr eaLnBrk="0">
              <a:lnSpc>
                <a:spcPts val="1968"/>
              </a:lnSpc>
              <a:spcBef>
                <a:spcPts val="0"/>
              </a:spcBef>
              <a:spcAft>
                <a:spcPts val="0"/>
              </a:spcAft>
            </a:pPr>
            <a:r>
              <a:rPr sz="1575" b="0">
                <a:solidFill>
                  <a:srgbClr val="59636E"/>
                </a:solidFill>
                <a:latin typeface="Noto Sans KR"/>
              </a:rPr>
              <a:t>여행자가 지역에서 지출한 비용의 일부를</a:t>
            </a:r>
          </a:p>
          <a:p>
            <a:pPr eaLnBrk="0">
              <a:lnSpc>
                <a:spcPts val="1968"/>
              </a:lnSpc>
              <a:spcBef>
                <a:spcPts val="0"/>
              </a:spcBef>
              <a:spcAft>
                <a:spcPts val="0"/>
              </a:spcAft>
            </a:pPr>
            <a:r>
              <a:rPr sz="1575" b="0">
                <a:solidFill>
                  <a:srgbClr val="59636E"/>
                </a:solidFill>
                <a:latin typeface="Noto Sans KR"/>
              </a:rPr>
              <a:t>지역상품권으로 돌려받게 하여 혜택이</a:t>
            </a:r>
          </a:p>
          <a:p>
            <a:pPr eaLnBrk="0">
              <a:lnSpc>
                <a:spcPts val="1968"/>
              </a:lnSpc>
              <a:spcBef>
                <a:spcPts val="0"/>
              </a:spcBef>
              <a:spcAft>
                <a:spcPts val="0"/>
              </a:spcAft>
            </a:pPr>
            <a:r>
              <a:rPr sz="1575" b="0">
                <a:solidFill>
                  <a:srgbClr val="59636E"/>
                </a:solidFill>
                <a:latin typeface="Noto Sans KR"/>
              </a:rPr>
              <a:t>다시 지역 상점에서 사용되도록 설계</a:t>
            </a:r>
          </a:p>
        </p:txBody>
      </p:sp>
      <p:pic xmlns:a="http://schemas.openxmlformats.org/drawingml/2006/main" xmlns:r="http://schemas.openxmlformats.org/officeDocument/2006/relationships">
        <p:nvPicPr>
          <p:cNvPr id="10" name="case-photo-0" descr="gangjin_official.jpg"/>
          <p:cNvPicPr>
            <a:picLocks noChangeAspect="1"/>
          </p:cNvPicPr>
          <p:nvPr/>
        </p:nvPicPr>
        <p:blipFill>
          <a:blip r:embed="rId4"/>
          <a:stretch>
            <a:fillRect/>
          </a:stretch>
        </p:blipFill>
        <p:spPr>
          <a:xfrm>
            <a:off x="1518636" y="5857875"/>
            <a:ext cx="3211126" cy="1714500"/>
          </a:xfrm>
          <a:prstGeom prst="rect">
            <a:avLst/>
          </a:prstGeom>
        </p:spPr>
      </p:pic>
      <p:sp xmlns:a="http://schemas.openxmlformats.org/drawingml/2006/main">
        <p:nvSpPr>
          <p:cNvPr id="11" name="case-image-caption-0"/>
          <p:cNvSpPr txBox="1"/>
          <p:nvPr/>
        </p:nvSpPr>
        <p:spPr>
          <a:xfrm>
            <a:off x="1238250" y="7667625"/>
            <a:ext cx="3771900" cy="504825"/>
          </a:xfrm>
          <a:prstGeom prst="rect">
            <a:avLst/>
          </a:prstGeom>
          <a:noFill/>
        </p:spPr>
        <p:txBody>
          <a:bodyPr wrap="none" lIns="57150" rIns="57150" tIns="38100" bIns="38100" anchor="t">
            <a:noAutofit/>
          </a:bodyPr>
          <a:lstStyle/>
          <a:p>
            <a:pPr eaLnBrk="0">
              <a:lnSpc>
                <a:spcPts val="1500"/>
              </a:lnSpc>
              <a:spcBef>
                <a:spcPts val="0"/>
              </a:spcBef>
              <a:spcAft>
                <a:spcPts val="0"/>
              </a:spcAft>
            </a:pPr>
            <a:r>
              <a:rPr sz="1200" b="0">
                <a:solidFill>
                  <a:srgbClr val="59636E"/>
                </a:solidFill>
                <a:latin typeface="Noto Sans KR"/>
                <a:hlinkClick xmlns:ns0="http://schemas.openxmlformats.org/officeDocument/2006/relationships" ns0:id="rId5"/>
              </a:rPr>
              <a:t>강진군 · 반값여행 공식 홍보물</a:t>
            </a:r>
          </a:p>
          <a:p>
            <a:pPr eaLnBrk="0">
              <a:lnSpc>
                <a:spcPts val="1500"/>
              </a:lnSpc>
              <a:spcBef>
                <a:spcPts val="0"/>
              </a:spcBef>
              <a:spcAft>
                <a:spcPts val="0"/>
              </a:spcAft>
            </a:pPr>
            <a:r>
              <a:rPr sz="1200" b="0">
                <a:solidFill>
                  <a:srgbClr val="59636E"/>
                </a:solidFill>
                <a:latin typeface="Noto Sans KR"/>
                <a:hlinkClick xmlns:ns1="http://schemas.openxmlformats.org/officeDocument/2006/relationships" ns1:id="rId5"/>
              </a:rPr>
              <a:t>출처: 강진 반값여행 공식 홈페이지</a:t>
            </a:r>
          </a:p>
        </p:txBody>
      </p:sp>
      <p:sp xmlns:a="http://schemas.openxmlformats.org/drawingml/2006/main">
        <p:nvSpPr>
          <p:cNvPr id="12" name="case-source-0"/>
          <p:cNvSpPr txBox="1"/>
          <p:nvPr/>
        </p:nvSpPr>
        <p:spPr>
          <a:xfrm>
            <a:off x="1238250" y="8267700"/>
            <a:ext cx="3771900" cy="228600"/>
          </a:xfrm>
          <a:prstGeom prst="rect">
            <a:avLst/>
          </a:prstGeom>
          <a:noFill/>
        </p:spPr>
        <p:txBody>
          <a:bodyPr wrap="none" lIns="57150" rIns="57150" tIns="38100" bIns="38100" anchor="t">
            <a:noAutofit/>
          </a:bodyPr>
          <a:lstStyle/>
          <a:p>
            <a:pPr eaLnBrk="0">
              <a:lnSpc>
                <a:spcPts val="1171"/>
              </a:lnSpc>
              <a:spcBef>
                <a:spcPts val="0"/>
              </a:spcBef>
              <a:spcAft>
                <a:spcPts val="0"/>
              </a:spcAft>
            </a:pPr>
            <a:r>
              <a:rPr sz="937" b="0">
                <a:solidFill>
                  <a:srgbClr val="004EA2"/>
                </a:solidFill>
                <a:latin typeface="Noto Sans KR"/>
                <a:hlinkClick xmlns:ns2="http://schemas.openxmlformats.org/officeDocument/2006/relationships" ns2:id="rId6"/>
              </a:rPr>
              <a:t>사업 원문 보기 ↗</a:t>
            </a:r>
          </a:p>
        </p:txBody>
      </p:sp>
      <p:sp xmlns:a="http://schemas.openxmlformats.org/drawingml/2006/main">
        <p:nvSpPr>
          <p:cNvPr id="13" name="case-panel-1"/>
          <p:cNvSpPr/>
          <p:nvPr/>
        </p:nvSpPr>
        <p:spPr>
          <a:xfrm>
            <a:off x="5505450" y="2457450"/>
            <a:ext cx="4229100" cy="516255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4" name="case-number-1"/>
          <p:cNvSpPr txBox="1"/>
          <p:nvPr/>
        </p:nvSpPr>
        <p:spPr>
          <a:xfrm>
            <a:off x="5734050" y="2638425"/>
            <a:ext cx="609600" cy="419100"/>
          </a:xfrm>
          <a:prstGeom prst="rect">
            <a:avLst/>
          </a:prstGeom>
          <a:noFill/>
        </p:spPr>
        <p:txBody>
          <a:bodyPr wrap="none" lIns="57150" rIns="57150" tIns="38100" bIns="38100" anchor="t">
            <a:noAutofit/>
          </a:bodyPr>
          <a:lstStyle/>
          <a:p>
            <a:pPr eaLnBrk="0">
              <a:lnSpc>
                <a:spcPts val="2671"/>
              </a:lnSpc>
              <a:spcBef>
                <a:spcPts val="0"/>
              </a:spcBef>
              <a:spcAft>
                <a:spcPts val="0"/>
              </a:spcAft>
            </a:pPr>
            <a:r>
              <a:rPr sz="2137" b="1">
                <a:solidFill>
                  <a:srgbClr val="00B7C9"/>
                </a:solidFill>
                <a:latin typeface="Noto Sans KR"/>
              </a:rPr>
              <a:t>02</a:t>
            </a:r>
          </a:p>
        </p:txBody>
      </p:sp>
      <p:sp xmlns:a="http://schemas.openxmlformats.org/drawingml/2006/main">
        <p:nvSpPr>
          <p:cNvPr id="15" name="case-badge-1"/>
          <p:cNvSpPr txBox="1"/>
          <p:nvPr/>
        </p:nvSpPr>
        <p:spPr>
          <a:xfrm>
            <a:off x="6448425" y="2714625"/>
            <a:ext cx="3048000" cy="314325"/>
          </a:xfrm>
          <a:prstGeom prst="rect">
            <a:avLst/>
          </a:prstGeom>
          <a:noFill/>
        </p:spPr>
        <p:txBody>
          <a:bodyPr wrap="none" lIns="57150" rIns="57150" tIns="38100" bIns="38100" anchor="t">
            <a:noAutofit/>
          </a:bodyPr>
          <a:lstStyle/>
          <a:p>
            <a:pPr eaLnBrk="0">
              <a:lnSpc>
                <a:spcPts val="1781"/>
              </a:lnSpc>
              <a:spcBef>
                <a:spcPts val="0"/>
              </a:spcBef>
              <a:spcAft>
                <a:spcPts val="0"/>
              </a:spcAft>
            </a:pPr>
            <a:r>
              <a:rPr sz="1425" b="1">
                <a:solidFill>
                  <a:srgbClr val="004EA2"/>
                </a:solidFill>
                <a:latin typeface="Noto Sans KR"/>
              </a:rPr>
              <a:t>비교할 다른 운영 방식</a:t>
            </a:r>
          </a:p>
        </p:txBody>
      </p:sp>
      <p:sp xmlns:a="http://schemas.openxmlformats.org/drawingml/2006/main">
        <p:nvSpPr>
          <p:cNvPr id="16" name="case-title-1"/>
          <p:cNvSpPr txBox="1"/>
          <p:nvPr/>
        </p:nvSpPr>
        <p:spPr>
          <a:xfrm>
            <a:off x="5734050" y="3228975"/>
            <a:ext cx="3771900" cy="933450"/>
          </a:xfrm>
          <a:prstGeom prst="rect">
            <a:avLst/>
          </a:prstGeom>
          <a:noFill/>
        </p:spPr>
        <p:txBody>
          <a:bodyPr wrap="none" lIns="57150" rIns="57150" tIns="38100" bIns="38100" anchor="t">
            <a:noAutofit/>
          </a:bodyPr>
          <a:lstStyle/>
          <a:p>
            <a:pPr eaLnBrk="0">
              <a:lnSpc>
                <a:spcPts val="2250"/>
              </a:lnSpc>
              <a:spcBef>
                <a:spcPts val="0"/>
              </a:spcBef>
              <a:spcAft>
                <a:spcPts val="0"/>
              </a:spcAft>
            </a:pPr>
            <a:r>
              <a:rPr sz="1800" b="1">
                <a:solidFill>
                  <a:srgbClr val="1D2227"/>
                </a:solidFill>
                <a:latin typeface="Noto Sans KR"/>
              </a:rPr>
              <a:t>전국 인구감소지역 34곳 · 디지털</a:t>
            </a:r>
          </a:p>
          <a:p>
            <a:pPr eaLnBrk="0">
              <a:lnSpc>
                <a:spcPts val="2250"/>
              </a:lnSpc>
              <a:spcBef>
                <a:spcPts val="0"/>
              </a:spcBef>
              <a:spcAft>
                <a:spcPts val="0"/>
              </a:spcAft>
            </a:pPr>
            <a:r>
              <a:rPr sz="1800" b="1">
                <a:solidFill>
                  <a:srgbClr val="1D2227"/>
                </a:solidFill>
                <a:latin typeface="Noto Sans KR"/>
              </a:rPr>
              <a:t>관광주민증과 교통·숙박·상점</a:t>
            </a:r>
          </a:p>
          <a:p>
            <a:pPr eaLnBrk="0">
              <a:lnSpc>
                <a:spcPts val="2250"/>
              </a:lnSpc>
              <a:spcBef>
                <a:spcPts val="0"/>
              </a:spcBef>
              <a:spcAft>
                <a:spcPts val="0"/>
              </a:spcAft>
            </a:pPr>
            <a:r>
              <a:rPr sz="1800" b="1">
                <a:solidFill>
                  <a:srgbClr val="1D2227"/>
                </a:solidFill>
                <a:latin typeface="Noto Sans KR"/>
              </a:rPr>
              <a:t>할인 결합</a:t>
            </a:r>
          </a:p>
        </p:txBody>
      </p:sp>
      <p:sp xmlns:a="http://schemas.openxmlformats.org/drawingml/2006/main">
        <p:nvSpPr>
          <p:cNvPr id="17" name="case-body-1"/>
          <p:cNvSpPr txBox="1"/>
          <p:nvPr/>
        </p:nvSpPr>
        <p:spPr>
          <a:xfrm>
            <a:off x="5734050" y="4305300"/>
            <a:ext cx="3771900" cy="1504950"/>
          </a:xfrm>
          <a:prstGeom prst="rect">
            <a:avLst/>
          </a:prstGeom>
          <a:noFill/>
        </p:spPr>
        <p:txBody>
          <a:bodyPr wrap="none" lIns="57150" rIns="57150" tIns="38100" bIns="38100" anchor="t">
            <a:noAutofit/>
          </a:bodyPr>
          <a:lstStyle/>
          <a:p>
            <a:pPr eaLnBrk="0">
              <a:lnSpc>
                <a:spcPts val="1968"/>
              </a:lnSpc>
              <a:spcBef>
                <a:spcPts val="0"/>
              </a:spcBef>
              <a:spcAft>
                <a:spcPts val="0"/>
              </a:spcAft>
            </a:pPr>
            <a:r>
              <a:rPr sz="1575" b="0">
                <a:solidFill>
                  <a:srgbClr val="59636E"/>
                </a:solidFill>
                <a:latin typeface="Noto Sans KR"/>
              </a:rPr>
              <a:t>디지털 관광주민증 참여업체 현장 인증과</a:t>
            </a:r>
          </a:p>
          <a:p>
            <a:pPr eaLnBrk="0">
              <a:lnSpc>
                <a:spcPts val="1968"/>
              </a:lnSpc>
              <a:spcBef>
                <a:spcPts val="0"/>
              </a:spcBef>
              <a:spcAft>
                <a:spcPts val="0"/>
              </a:spcAft>
            </a:pPr>
            <a:r>
              <a:rPr sz="1575" b="0">
                <a:solidFill>
                  <a:srgbClr val="59636E"/>
                </a:solidFill>
                <a:latin typeface="Noto Sans KR"/>
              </a:rPr>
              <a:t>숙박·식음·관람·체험 할인, 특정 시간대</a:t>
            </a:r>
          </a:p>
          <a:p>
            <a:pPr eaLnBrk="0">
              <a:lnSpc>
                <a:spcPts val="1968"/>
              </a:lnSpc>
              <a:spcBef>
                <a:spcPts val="0"/>
              </a:spcBef>
              <a:spcAft>
                <a:spcPts val="0"/>
              </a:spcAft>
            </a:pPr>
            <a:r>
              <a:rPr sz="1575" b="0">
                <a:solidFill>
                  <a:srgbClr val="59636E"/>
                </a:solidFill>
                <a:latin typeface="Noto Sans KR"/>
              </a:rPr>
              <a:t>KTX 할인과 방문 후 교통 할인권을 결합</a:t>
            </a:r>
          </a:p>
        </p:txBody>
      </p:sp>
      <p:pic xmlns:a="http://schemas.openxmlformats.org/drawingml/2006/main" xmlns:r="http://schemas.openxmlformats.org/officeDocument/2006/relationships">
        <p:nvPicPr>
          <p:cNvPr id="18" name="case-photo-1" descr="digital_official.jpg"/>
          <p:cNvPicPr>
            <a:picLocks noChangeAspect="1"/>
          </p:cNvPicPr>
          <p:nvPr/>
        </p:nvPicPr>
        <p:blipFill>
          <a:blip r:embed="rId7"/>
          <a:stretch>
            <a:fillRect/>
          </a:stretch>
        </p:blipFill>
        <p:spPr>
          <a:xfrm>
            <a:off x="6934200" y="5857875"/>
            <a:ext cx="1371600" cy="1714500"/>
          </a:xfrm>
          <a:prstGeom prst="rect">
            <a:avLst/>
          </a:prstGeom>
        </p:spPr>
      </p:pic>
      <p:sp xmlns:a="http://schemas.openxmlformats.org/drawingml/2006/main">
        <p:nvSpPr>
          <p:cNvPr id="19" name="case-image-caption-1"/>
          <p:cNvSpPr txBox="1"/>
          <p:nvPr/>
        </p:nvSpPr>
        <p:spPr>
          <a:xfrm>
            <a:off x="5734050" y="7667625"/>
            <a:ext cx="3771900" cy="504825"/>
          </a:xfrm>
          <a:prstGeom prst="rect">
            <a:avLst/>
          </a:prstGeom>
          <a:noFill/>
        </p:spPr>
        <p:txBody>
          <a:bodyPr wrap="none" lIns="57150" rIns="57150" tIns="38100" bIns="38100" anchor="t">
            <a:noAutofit/>
          </a:bodyPr>
          <a:lstStyle/>
          <a:p>
            <a:pPr eaLnBrk="0">
              <a:lnSpc>
                <a:spcPts val="1500"/>
              </a:lnSpc>
              <a:spcBef>
                <a:spcPts val="0"/>
              </a:spcBef>
              <a:spcAft>
                <a:spcPts val="0"/>
              </a:spcAft>
            </a:pPr>
            <a:r>
              <a:rPr sz="1200" b="0">
                <a:solidFill>
                  <a:srgbClr val="59636E"/>
                </a:solidFill>
                <a:latin typeface="Noto Sans KR"/>
                <a:hlinkClick xmlns:ns3="http://schemas.openxmlformats.org/officeDocument/2006/relationships" ns3:id="rId8"/>
              </a:rPr>
              <a:t>전국 · 디지털 관광주민증 홍보물</a:t>
            </a:r>
          </a:p>
          <a:p>
            <a:pPr eaLnBrk="0">
              <a:lnSpc>
                <a:spcPts val="1500"/>
              </a:lnSpc>
              <a:spcBef>
                <a:spcPts val="0"/>
              </a:spcBef>
              <a:spcAft>
                <a:spcPts val="0"/>
              </a:spcAft>
            </a:pPr>
            <a:r>
              <a:rPr sz="1200" b="0">
                <a:solidFill>
                  <a:srgbClr val="59636E"/>
                </a:solidFill>
                <a:latin typeface="Noto Sans KR"/>
                <a:hlinkClick xmlns:ns4="http://schemas.openxmlformats.org/officeDocument/2006/relationships" ns4:id="rId8"/>
              </a:rPr>
              <a:t>출처: 대한민국 정책브리핑 (2025)</a:t>
            </a:r>
          </a:p>
        </p:txBody>
      </p:sp>
      <p:sp xmlns:a="http://schemas.openxmlformats.org/drawingml/2006/main">
        <p:nvSpPr>
          <p:cNvPr id="20" name="case-source-1"/>
          <p:cNvSpPr txBox="1"/>
          <p:nvPr/>
        </p:nvSpPr>
        <p:spPr>
          <a:xfrm>
            <a:off x="5734050" y="8267700"/>
            <a:ext cx="3771900" cy="228600"/>
          </a:xfrm>
          <a:prstGeom prst="rect">
            <a:avLst/>
          </a:prstGeom>
          <a:noFill/>
        </p:spPr>
        <p:txBody>
          <a:bodyPr wrap="none" lIns="57150" rIns="57150" tIns="38100" bIns="38100" anchor="t">
            <a:noAutofit/>
          </a:bodyPr>
          <a:lstStyle/>
          <a:p>
            <a:pPr eaLnBrk="0">
              <a:lnSpc>
                <a:spcPts val="1171"/>
              </a:lnSpc>
              <a:spcBef>
                <a:spcPts val="0"/>
              </a:spcBef>
              <a:spcAft>
                <a:spcPts val="0"/>
              </a:spcAft>
            </a:pPr>
            <a:r>
              <a:rPr sz="937" b="0">
                <a:solidFill>
                  <a:srgbClr val="004EA2"/>
                </a:solidFill>
                <a:latin typeface="Noto Sans KR"/>
                <a:hlinkClick xmlns:ns5="http://schemas.openxmlformats.org/officeDocument/2006/relationships" ns5:id="rId9"/>
              </a:rPr>
              <a:t>사업 원문 보기 ↗</a:t>
            </a:r>
          </a:p>
        </p:txBody>
      </p:sp>
      <p:sp xmlns:a="http://schemas.openxmlformats.org/drawingml/2006/main">
        <p:nvSpPr>
          <p:cNvPr id="21" name="case-panel-2"/>
          <p:cNvSpPr/>
          <p:nvPr/>
        </p:nvSpPr>
        <p:spPr>
          <a:xfrm>
            <a:off x="10001250" y="2457450"/>
            <a:ext cx="4229100" cy="516255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2" name="case-number-2"/>
          <p:cNvSpPr txBox="1"/>
          <p:nvPr/>
        </p:nvSpPr>
        <p:spPr>
          <a:xfrm>
            <a:off x="10229850" y="2638425"/>
            <a:ext cx="609600" cy="419100"/>
          </a:xfrm>
          <a:prstGeom prst="rect">
            <a:avLst/>
          </a:prstGeom>
          <a:noFill/>
        </p:spPr>
        <p:txBody>
          <a:bodyPr wrap="none" lIns="57150" rIns="57150" tIns="38100" bIns="38100" anchor="t">
            <a:noAutofit/>
          </a:bodyPr>
          <a:lstStyle/>
          <a:p>
            <a:pPr eaLnBrk="0">
              <a:lnSpc>
                <a:spcPts val="2671"/>
              </a:lnSpc>
              <a:spcBef>
                <a:spcPts val="0"/>
              </a:spcBef>
              <a:spcAft>
                <a:spcPts val="0"/>
              </a:spcAft>
            </a:pPr>
            <a:r>
              <a:rPr sz="2137" b="1">
                <a:solidFill>
                  <a:srgbClr val="00B7C9"/>
                </a:solidFill>
                <a:latin typeface="Noto Sans KR"/>
              </a:rPr>
              <a:t>03</a:t>
            </a:r>
          </a:p>
        </p:txBody>
      </p:sp>
      <p:sp xmlns:a="http://schemas.openxmlformats.org/drawingml/2006/main">
        <p:nvSpPr>
          <p:cNvPr id="23" name="case-badge-2"/>
          <p:cNvSpPr txBox="1"/>
          <p:nvPr/>
        </p:nvSpPr>
        <p:spPr>
          <a:xfrm>
            <a:off x="10944225" y="2714625"/>
            <a:ext cx="3048000" cy="314325"/>
          </a:xfrm>
          <a:prstGeom prst="rect">
            <a:avLst/>
          </a:prstGeom>
          <a:noFill/>
        </p:spPr>
        <p:txBody>
          <a:bodyPr wrap="none" lIns="57150" rIns="57150" tIns="38100" bIns="38100" anchor="t">
            <a:noAutofit/>
          </a:bodyPr>
          <a:lstStyle/>
          <a:p>
            <a:pPr eaLnBrk="0">
              <a:lnSpc>
                <a:spcPts val="1781"/>
              </a:lnSpc>
              <a:spcBef>
                <a:spcPts val="0"/>
              </a:spcBef>
              <a:spcAft>
                <a:spcPts val="0"/>
              </a:spcAft>
            </a:pPr>
            <a:r>
              <a:rPr sz="1425" b="1">
                <a:solidFill>
                  <a:srgbClr val="004EA2"/>
                </a:solidFill>
                <a:latin typeface="Noto Sans KR"/>
              </a:rPr>
              <a:t>비교할 다른 운영 방식</a:t>
            </a:r>
          </a:p>
        </p:txBody>
      </p:sp>
      <p:sp xmlns:a="http://schemas.openxmlformats.org/drawingml/2006/main">
        <p:nvSpPr>
          <p:cNvPr id="24" name="case-title-2"/>
          <p:cNvSpPr txBox="1"/>
          <p:nvPr/>
        </p:nvSpPr>
        <p:spPr>
          <a:xfrm>
            <a:off x="10229850" y="3228975"/>
            <a:ext cx="3771900" cy="933450"/>
          </a:xfrm>
          <a:prstGeom prst="rect">
            <a:avLst/>
          </a:prstGeom>
          <a:noFill/>
        </p:spPr>
        <p:txBody>
          <a:bodyPr wrap="none" lIns="57150" rIns="57150" tIns="38100" bIns="38100" anchor="t">
            <a:noAutofit/>
          </a:bodyPr>
          <a:lstStyle/>
          <a:p>
            <a:pPr eaLnBrk="0">
              <a:lnSpc>
                <a:spcPts val="2343"/>
              </a:lnSpc>
              <a:spcBef>
                <a:spcPts val="0"/>
              </a:spcBef>
              <a:spcAft>
                <a:spcPts val="0"/>
              </a:spcAft>
            </a:pPr>
            <a:r>
              <a:rPr sz="1875" b="1">
                <a:solidFill>
                  <a:srgbClr val="1D2227"/>
                </a:solidFill>
                <a:latin typeface="Noto Sans KR"/>
              </a:rPr>
              <a:t>전국 숙박할인쿠폰 지원사업 ·</a:t>
            </a:r>
          </a:p>
          <a:p>
            <a:pPr eaLnBrk="0">
              <a:lnSpc>
                <a:spcPts val="2343"/>
              </a:lnSpc>
              <a:spcBef>
                <a:spcPts val="0"/>
              </a:spcBef>
              <a:spcAft>
                <a:spcPts val="0"/>
              </a:spcAft>
            </a:pPr>
            <a:r>
              <a:rPr sz="1875" b="1">
                <a:solidFill>
                  <a:srgbClr val="1D2227"/>
                </a:solidFill>
                <a:latin typeface="Noto Sans KR"/>
              </a:rPr>
              <a:t>온라인 예약 채널 숙박할인쿠폰</a:t>
            </a:r>
          </a:p>
        </p:txBody>
      </p:sp>
      <p:sp xmlns:a="http://schemas.openxmlformats.org/drawingml/2006/main">
        <p:nvSpPr>
          <p:cNvPr id="25" name="case-body-2"/>
          <p:cNvSpPr txBox="1"/>
          <p:nvPr/>
        </p:nvSpPr>
        <p:spPr>
          <a:xfrm>
            <a:off x="10229850" y="4305300"/>
            <a:ext cx="3771900" cy="1504950"/>
          </a:xfrm>
          <a:prstGeom prst="rect">
            <a:avLst/>
          </a:prstGeom>
          <a:noFill/>
        </p:spPr>
        <p:txBody>
          <a:bodyPr wrap="none" lIns="57150" rIns="57150" tIns="38100" bIns="38100" anchor="t">
            <a:noAutofit/>
          </a:bodyPr>
          <a:lstStyle/>
          <a:p>
            <a:pPr eaLnBrk="0">
              <a:lnSpc>
                <a:spcPts val="1968"/>
              </a:lnSpc>
              <a:spcBef>
                <a:spcPts val="0"/>
              </a:spcBef>
              <a:spcAft>
                <a:spcPts val="0"/>
              </a:spcAft>
            </a:pPr>
            <a:r>
              <a:rPr sz="1575" b="0">
                <a:solidFill>
                  <a:srgbClr val="59636E"/>
                </a:solidFill>
                <a:latin typeface="Noto Sans KR"/>
              </a:rPr>
              <a:t>온라인 여행사 예약 단계에서 할인쿠폰을</a:t>
            </a:r>
          </a:p>
          <a:p>
            <a:pPr eaLnBrk="0">
              <a:lnSpc>
                <a:spcPts val="1968"/>
              </a:lnSpc>
              <a:spcBef>
                <a:spcPts val="0"/>
              </a:spcBef>
              <a:spcAft>
                <a:spcPts val="0"/>
              </a:spcAft>
            </a:pPr>
            <a:r>
              <a:rPr sz="1575" b="0">
                <a:solidFill>
                  <a:srgbClr val="59636E"/>
                </a:solidFill>
                <a:latin typeface="Noto Sans KR"/>
              </a:rPr>
              <a:t>제공하고, 지역 숙소에서 사용할 수</a:t>
            </a:r>
          </a:p>
          <a:p>
            <a:pPr eaLnBrk="0">
              <a:lnSpc>
                <a:spcPts val="1968"/>
              </a:lnSpc>
              <a:spcBef>
                <a:spcPts val="0"/>
              </a:spcBef>
              <a:spcAft>
                <a:spcPts val="0"/>
              </a:spcAft>
            </a:pPr>
            <a:r>
              <a:rPr sz="1575" b="0">
                <a:solidFill>
                  <a:srgbClr val="59636E"/>
                </a:solidFill>
                <a:latin typeface="Noto Sans KR"/>
              </a:rPr>
              <a:t>있도록 참여 채널과 기간을 통합 운영</a:t>
            </a:r>
          </a:p>
        </p:txBody>
      </p:sp>
      <p:pic xmlns:a="http://schemas.openxmlformats.org/drawingml/2006/main" xmlns:r="http://schemas.openxmlformats.org/officeDocument/2006/relationships">
        <p:nvPicPr>
          <p:cNvPr id="26" name="case-photo-2" descr="incheon_official.jpg"/>
          <p:cNvPicPr>
            <a:picLocks noChangeAspect="1"/>
          </p:cNvPicPr>
          <p:nvPr/>
        </p:nvPicPr>
        <p:blipFill>
          <a:blip r:embed="rId10"/>
          <a:stretch>
            <a:fillRect/>
          </a:stretch>
        </p:blipFill>
        <p:spPr>
          <a:xfrm>
            <a:off x="10590240" y="5857875"/>
            <a:ext cx="3051119" cy="1714500"/>
          </a:xfrm>
          <a:prstGeom prst="rect">
            <a:avLst/>
          </a:prstGeom>
        </p:spPr>
      </p:pic>
      <p:sp xmlns:a="http://schemas.openxmlformats.org/drawingml/2006/main">
        <p:nvSpPr>
          <p:cNvPr id="27" name="case-image-caption-2"/>
          <p:cNvSpPr txBox="1"/>
          <p:nvPr/>
        </p:nvSpPr>
        <p:spPr>
          <a:xfrm>
            <a:off x="10229850" y="7667625"/>
            <a:ext cx="3771900" cy="504825"/>
          </a:xfrm>
          <a:prstGeom prst="rect">
            <a:avLst/>
          </a:prstGeom>
          <a:noFill/>
        </p:spPr>
        <p:txBody>
          <a:bodyPr wrap="none" lIns="57150" rIns="57150" tIns="38100" bIns="38100" anchor="t">
            <a:noAutofit/>
          </a:bodyPr>
          <a:lstStyle/>
          <a:p>
            <a:pPr eaLnBrk="0">
              <a:lnSpc>
                <a:spcPts val="1500"/>
              </a:lnSpc>
              <a:spcBef>
                <a:spcPts val="0"/>
              </a:spcBef>
              <a:spcAft>
                <a:spcPts val="0"/>
              </a:spcAft>
            </a:pPr>
            <a:r>
              <a:rPr sz="1200" b="0">
                <a:solidFill>
                  <a:srgbClr val="59636E"/>
                </a:solidFill>
                <a:latin typeface="Noto Sans KR"/>
                <a:hlinkClick xmlns:ns6="http://schemas.openxmlformats.org/officeDocument/2006/relationships" ns6:id="rId11"/>
              </a:rPr>
              <a:t>유사 사업 참고 · 인천 섬 · 로컬체험 여행 소개 사진</a:t>
            </a:r>
          </a:p>
          <a:p>
            <a:pPr eaLnBrk="0">
              <a:lnSpc>
                <a:spcPts val="1500"/>
              </a:lnSpc>
              <a:spcBef>
                <a:spcPts val="0"/>
              </a:spcBef>
              <a:spcAft>
                <a:spcPts val="0"/>
              </a:spcAft>
            </a:pPr>
            <a:r>
              <a:rPr sz="1200" b="0">
                <a:solidFill>
                  <a:srgbClr val="59636E"/>
                </a:solidFill>
                <a:latin typeface="Noto Sans KR"/>
                <a:hlinkClick xmlns:ns7="http://schemas.openxmlformats.org/officeDocument/2006/relationships" ns7:id="rId11"/>
              </a:rPr>
              <a:t>출처: 인천광역시 섬포털</a:t>
            </a:r>
          </a:p>
        </p:txBody>
      </p:sp>
      <p:sp xmlns:a="http://schemas.openxmlformats.org/drawingml/2006/main">
        <p:nvSpPr>
          <p:cNvPr id="28" name="case-source-2"/>
          <p:cNvSpPr txBox="1"/>
          <p:nvPr/>
        </p:nvSpPr>
        <p:spPr>
          <a:xfrm>
            <a:off x="10229850" y="8267700"/>
            <a:ext cx="3771900" cy="228600"/>
          </a:xfrm>
          <a:prstGeom prst="rect">
            <a:avLst/>
          </a:prstGeom>
          <a:noFill/>
        </p:spPr>
        <p:txBody>
          <a:bodyPr wrap="none" lIns="57150" rIns="57150" tIns="38100" bIns="38100" anchor="t">
            <a:noAutofit/>
          </a:bodyPr>
          <a:lstStyle/>
          <a:p>
            <a:pPr eaLnBrk="0">
              <a:lnSpc>
                <a:spcPts val="1171"/>
              </a:lnSpc>
              <a:spcBef>
                <a:spcPts val="0"/>
              </a:spcBef>
              <a:spcAft>
                <a:spcPts val="0"/>
              </a:spcAft>
            </a:pPr>
            <a:r>
              <a:rPr sz="937" b="0">
                <a:solidFill>
                  <a:srgbClr val="004EA2"/>
                </a:solidFill>
                <a:latin typeface="Noto Sans KR"/>
                <a:hlinkClick xmlns:ns8="http://schemas.openxmlformats.org/officeDocument/2006/relationships" ns8:id="rId12"/>
              </a:rPr>
              <a:t>사업 원문 보기 ↗</a:t>
            </a:r>
          </a:p>
        </p:txBody>
      </p:sp>
    </p:spTree>
    <p:extLst>
      <p:ext uri="{BB962C8B-B14F-4D97-AF65-F5344CB8AC3E}">
        <p14:creationId xmlns:p14="http://schemas.microsoft.com/office/powerpoint/2010/main" val="930694367"/>
      </p:ext>
    </p:extLst>
  </p:cSld>
</p:sld>
</file>

<file path=ppt/slides/slide7.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xmlns:a="http://schemas.openxmlformats.org/drawingml/2006/main">
        <p:nvSpPr>
          <p:cNvPr id="2" name="title"/>
          <p:cNvSpPr txBox="1"/>
          <p:nvPr/>
        </p:nvSpPr>
        <p:spPr>
          <a:xfrm>
            <a:off x="952500" y="714375"/>
            <a:ext cx="13335000" cy="809625"/>
          </a:xfrm>
          <a:prstGeom prst="rect">
            <a:avLst/>
          </a:prstGeom>
          <a:noFill/>
        </p:spPr>
        <p:txBody>
          <a:bodyPr wrap="none" lIns="57150" rIns="57150" tIns="38100" bIns="38100" anchor="t">
            <a:noAutofit/>
          </a:bodyPr>
          <a:lstStyle/>
          <a:p>
            <a:pPr eaLnBrk="0">
              <a:lnSpc>
                <a:spcPts val="4500"/>
              </a:lnSpc>
              <a:spcBef>
                <a:spcPts val="0"/>
              </a:spcBef>
              <a:spcAft>
                <a:spcPts val="0"/>
              </a:spcAft>
            </a:pPr>
            <a:r>
              <a:rPr sz="3600" b="1">
                <a:solidFill>
                  <a:srgbClr val="004EA2"/>
                </a:solidFill>
                <a:latin typeface="Noto Sans KR"/>
              </a:rPr>
              <a:t>4단계 실행 가이드 예시안</a:t>
            </a:r>
          </a:p>
        </p:txBody>
      </p:sp>
      <p:sp xmlns:a="http://schemas.openxmlformats.org/drawingml/2006/main">
        <p:nvSpPr>
          <p:cNvPr id="3" name="title-rule"/>
          <p:cNvSpPr/>
          <p:nvPr/>
        </p:nvSpPr>
        <p:spPr>
          <a:xfrm>
            <a:off x="1009650" y="1724025"/>
            <a:ext cx="13220700" cy="28575"/>
          </a:xfrm>
          <a:prstGeom prst="rect">
            <a:avLst/>
          </a:prstGeom>
          <a:solidFill>
            <a:srgbClr val="004E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4" name="execution-panel-0"/>
          <p:cNvSpPr/>
          <p:nvPr/>
        </p:nvSpPr>
        <p:spPr>
          <a:xfrm>
            <a:off x="1009650" y="2095500"/>
            <a:ext cx="13220700" cy="120015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5" name="flow-node-0"/>
          <p:cNvSpPr txBox="1"/>
          <p:nvPr/>
        </p:nvSpPr>
        <p:spPr>
          <a:xfrm>
            <a:off x="1219200" y="2305050"/>
            <a:ext cx="714375" cy="485775"/>
          </a:xfrm>
          <a:prstGeom prst="rect">
            <a:avLst/>
          </a:prstGeom>
          <a:noFill/>
        </p:spPr>
        <p:txBody>
          <a:bodyPr wrap="none" lIns="57150" rIns="57150" tIns="38100" bIns="38100" anchor="t">
            <a:noAutofit/>
          </a:bodyPr>
          <a:lstStyle/>
          <a:p>
            <a:pPr eaLnBrk="0">
              <a:lnSpc>
                <a:spcPts val="3187"/>
              </a:lnSpc>
              <a:spcBef>
                <a:spcPts val="0"/>
              </a:spcBef>
              <a:spcAft>
                <a:spcPts val="0"/>
              </a:spcAft>
            </a:pPr>
            <a:r>
              <a:rPr sz="2550" b="1">
                <a:solidFill>
                  <a:srgbClr val="00B7C9"/>
                </a:solidFill>
                <a:latin typeface="Noto Sans KR"/>
              </a:rPr>
              <a:t>01</a:t>
            </a:r>
          </a:p>
        </p:txBody>
      </p:sp>
      <p:sp xmlns:a="http://schemas.openxmlformats.org/drawingml/2006/main">
        <p:nvSpPr>
          <p:cNvPr id="6" name="execution-stage-0"/>
          <p:cNvSpPr txBox="1"/>
          <p:nvPr/>
        </p:nvSpPr>
        <p:spPr>
          <a:xfrm>
            <a:off x="2209800" y="2219325"/>
            <a:ext cx="2724150" cy="390525"/>
          </a:xfrm>
          <a:prstGeom prst="rect">
            <a:avLst/>
          </a:prstGeom>
          <a:noFill/>
        </p:spPr>
        <p:txBody>
          <a:bodyPr wrap="none" lIns="57150" rIns="57150" tIns="38100" bIns="38100" anchor="t">
            <a:noAutofit/>
          </a:bodyPr>
          <a:lstStyle/>
          <a:p>
            <a:pPr eaLnBrk="0">
              <a:lnSpc>
                <a:spcPts val="2343"/>
              </a:lnSpc>
              <a:spcBef>
                <a:spcPts val="0"/>
              </a:spcBef>
              <a:spcAft>
                <a:spcPts val="0"/>
              </a:spcAft>
            </a:pPr>
            <a:r>
              <a:rPr sz="1875" b="1">
                <a:solidFill>
                  <a:srgbClr val="004EA2"/>
                </a:solidFill>
                <a:latin typeface="Noto Sans KR"/>
              </a:rPr>
              <a:t>준비와 협의</a:t>
            </a:r>
          </a:p>
        </p:txBody>
      </p:sp>
      <p:sp xmlns:a="http://schemas.openxmlformats.org/drawingml/2006/main">
        <p:nvSpPr>
          <p:cNvPr id="7" name="execution-period-0"/>
          <p:cNvSpPr txBox="1"/>
          <p:nvPr/>
        </p:nvSpPr>
        <p:spPr>
          <a:xfrm>
            <a:off x="2209800" y="2686050"/>
            <a:ext cx="2724150" cy="476250"/>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a:solidFill>
                  <a:srgbClr val="59636E"/>
                </a:solidFill>
                <a:latin typeface="Noto Sans KR"/>
              </a:rPr>
              <a:t>2026-09 · 사업 총괄</a:t>
            </a:r>
          </a:p>
        </p:txBody>
      </p:sp>
      <p:sp xmlns:a="http://schemas.openxmlformats.org/drawingml/2006/main">
        <p:nvSpPr>
          <p:cNvPr id="8" name="execution-lead-0"/>
          <p:cNvSpPr txBox="1"/>
          <p:nvPr/>
        </p:nvSpPr>
        <p:spPr>
          <a:xfrm>
            <a:off x="5314950" y="2190750"/>
            <a:ext cx="8629650" cy="352425"/>
          </a:xfrm>
          <a:prstGeom prst="rect">
            <a:avLst/>
          </a:prstGeom>
          <a:noFill/>
        </p:spPr>
        <p:txBody>
          <a:bodyPr wrap="none" lIns="57150" rIns="57150" tIns="38100" bIns="38100" anchor="t">
            <a:noAutofit/>
          </a:bodyPr>
          <a:lstStyle/>
          <a:p>
            <a:pPr eaLnBrk="0">
              <a:lnSpc>
                <a:spcPts val="2156"/>
              </a:lnSpc>
              <a:spcBef>
                <a:spcPts val="0"/>
              </a:spcBef>
              <a:spcAft>
                <a:spcPts val="0"/>
              </a:spcAft>
            </a:pPr>
            <a:r>
              <a:rPr sz="1725" b="1">
                <a:solidFill>
                  <a:srgbClr val="1D2227"/>
                </a:solidFill>
                <a:latin typeface="Noto Sans KR"/>
              </a:rPr>
              <a:t>참여 가게와 지원 기준을 먼저 정합니다.</a:t>
            </a:r>
          </a:p>
        </p:txBody>
      </p:sp>
      <p:sp xmlns:a="http://schemas.openxmlformats.org/drawingml/2006/main">
        <p:nvSpPr>
          <p:cNvPr id="9" name="execution-body-0"/>
          <p:cNvSpPr txBox="1"/>
          <p:nvPr/>
        </p:nvSpPr>
        <p:spPr>
          <a:xfrm>
            <a:off x="5314950" y="2609850"/>
            <a:ext cx="8629650" cy="609600"/>
          </a:xfrm>
          <a:prstGeom prst="rect">
            <a:avLst/>
          </a:prstGeom>
          <a:noFill/>
        </p:spPr>
        <p:txBody>
          <a:bodyPr wrap="none" lIns="57150" rIns="57150" tIns="38100" bIns="38100" anchor="t">
            <a:noAutofit/>
          </a:bodyPr>
          <a:lstStyle/>
          <a:p>
            <a:pPr eaLnBrk="0">
              <a:lnSpc>
                <a:spcPts val="1875"/>
              </a:lnSpc>
              <a:spcBef>
                <a:spcPts val="0"/>
              </a:spcBef>
              <a:spcAft>
                <a:spcPts val="0"/>
              </a:spcAft>
            </a:pPr>
            <a:r>
              <a:rPr sz="1500" b="0">
                <a:solidFill>
                  <a:srgbClr val="59636E"/>
                </a:solidFill>
                <a:latin typeface="Noto Sans KR"/>
              </a:rPr>
              <a:t>참여를 희망하는 가게에 사용 가능한 상품권과 정산 방법을 확인합니다. 지원 대상, 인정할 지출, 신청 마감일과</a:t>
            </a:r>
          </a:p>
          <a:p>
            <a:pPr eaLnBrk="0">
              <a:lnSpc>
                <a:spcPts val="1875"/>
              </a:lnSpc>
              <a:spcBef>
                <a:spcPts val="0"/>
              </a:spcBef>
              <a:spcAft>
                <a:spcPts val="0"/>
              </a:spcAft>
            </a:pPr>
            <a:r>
              <a:rPr sz="1500" b="0">
                <a:solidFill>
                  <a:srgbClr val="59636E"/>
                </a:solidFill>
                <a:latin typeface="Noto Sans KR"/>
              </a:rPr>
              <a:t>1인당 한도를 정해 같은 안내문을 배포합니다.</a:t>
            </a:r>
          </a:p>
        </p:txBody>
      </p:sp>
      <p:sp xmlns:a="http://schemas.openxmlformats.org/drawingml/2006/main">
        <p:nvSpPr>
          <p:cNvPr id="10" name="execution-panel-1"/>
          <p:cNvSpPr/>
          <p:nvPr/>
        </p:nvSpPr>
        <p:spPr>
          <a:xfrm>
            <a:off x="1009650" y="3457575"/>
            <a:ext cx="13220700" cy="120015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1" name="flow-node-1"/>
          <p:cNvSpPr txBox="1"/>
          <p:nvPr/>
        </p:nvSpPr>
        <p:spPr>
          <a:xfrm>
            <a:off x="1219200" y="3667125"/>
            <a:ext cx="714375" cy="485775"/>
          </a:xfrm>
          <a:prstGeom prst="rect">
            <a:avLst/>
          </a:prstGeom>
          <a:noFill/>
        </p:spPr>
        <p:txBody>
          <a:bodyPr wrap="none" lIns="57150" rIns="57150" tIns="38100" bIns="38100" anchor="t">
            <a:noAutofit/>
          </a:bodyPr>
          <a:lstStyle/>
          <a:p>
            <a:pPr eaLnBrk="0">
              <a:lnSpc>
                <a:spcPts val="3187"/>
              </a:lnSpc>
              <a:spcBef>
                <a:spcPts val="0"/>
              </a:spcBef>
              <a:spcAft>
                <a:spcPts val="0"/>
              </a:spcAft>
            </a:pPr>
            <a:r>
              <a:rPr sz="2550" b="1">
                <a:solidFill>
                  <a:srgbClr val="00B7C9"/>
                </a:solidFill>
                <a:latin typeface="Noto Sans KR"/>
              </a:rPr>
              <a:t>02</a:t>
            </a:r>
          </a:p>
        </p:txBody>
      </p:sp>
      <p:sp xmlns:a="http://schemas.openxmlformats.org/drawingml/2006/main">
        <p:nvSpPr>
          <p:cNvPr id="12" name="execution-stage-1"/>
          <p:cNvSpPr txBox="1"/>
          <p:nvPr/>
        </p:nvSpPr>
        <p:spPr>
          <a:xfrm>
            <a:off x="2209800" y="3581400"/>
            <a:ext cx="2724150" cy="390525"/>
          </a:xfrm>
          <a:prstGeom prst="rect">
            <a:avLst/>
          </a:prstGeom>
          <a:noFill/>
        </p:spPr>
        <p:txBody>
          <a:bodyPr wrap="none" lIns="57150" rIns="57150" tIns="38100" bIns="38100" anchor="t">
            <a:noAutofit/>
          </a:bodyPr>
          <a:lstStyle/>
          <a:p>
            <a:pPr eaLnBrk="0">
              <a:lnSpc>
                <a:spcPts val="2343"/>
              </a:lnSpc>
              <a:spcBef>
                <a:spcPts val="0"/>
              </a:spcBef>
              <a:spcAft>
                <a:spcPts val="0"/>
              </a:spcAft>
            </a:pPr>
            <a:r>
              <a:rPr sz="1875" b="1">
                <a:solidFill>
                  <a:srgbClr val="004EA2"/>
                </a:solidFill>
                <a:latin typeface="Noto Sans KR"/>
              </a:rPr>
              <a:t>운영 절차 점검</a:t>
            </a:r>
          </a:p>
        </p:txBody>
      </p:sp>
      <p:sp xmlns:a="http://schemas.openxmlformats.org/drawingml/2006/main">
        <p:nvSpPr>
          <p:cNvPr id="13" name="execution-period-1"/>
          <p:cNvSpPr txBox="1"/>
          <p:nvPr/>
        </p:nvSpPr>
        <p:spPr>
          <a:xfrm>
            <a:off x="2209800" y="4048125"/>
            <a:ext cx="2724150" cy="476250"/>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a:solidFill>
                  <a:srgbClr val="59636E"/>
                </a:solidFill>
                <a:latin typeface="Noto Sans KR"/>
              </a:rPr>
              <a:t>2026-09 · 운영·정산 담당</a:t>
            </a:r>
          </a:p>
        </p:txBody>
      </p:sp>
      <p:sp xmlns:a="http://schemas.openxmlformats.org/drawingml/2006/main">
        <p:nvSpPr>
          <p:cNvPr id="14" name="execution-lead-1"/>
          <p:cNvSpPr txBox="1"/>
          <p:nvPr/>
        </p:nvSpPr>
        <p:spPr>
          <a:xfrm>
            <a:off x="5314950" y="3552825"/>
            <a:ext cx="8629650" cy="352425"/>
          </a:xfrm>
          <a:prstGeom prst="rect">
            <a:avLst/>
          </a:prstGeom>
          <a:noFill/>
        </p:spPr>
        <p:txBody>
          <a:bodyPr wrap="none" lIns="57150" rIns="57150" tIns="38100" bIns="38100" anchor="t">
            <a:noAutofit/>
          </a:bodyPr>
          <a:lstStyle/>
          <a:p>
            <a:pPr eaLnBrk="0">
              <a:lnSpc>
                <a:spcPts val="2156"/>
              </a:lnSpc>
              <a:spcBef>
                <a:spcPts val="0"/>
              </a:spcBef>
              <a:spcAft>
                <a:spcPts val="0"/>
              </a:spcAft>
            </a:pPr>
            <a:r>
              <a:rPr sz="1725" b="1">
                <a:solidFill>
                  <a:srgbClr val="1D2227"/>
                </a:solidFill>
                <a:latin typeface="Noto Sans KR"/>
              </a:rPr>
              <a:t>신청부터 지급까지 직접 시험합니다.</a:t>
            </a:r>
          </a:p>
        </p:txBody>
      </p:sp>
      <p:sp xmlns:a="http://schemas.openxmlformats.org/drawingml/2006/main">
        <p:nvSpPr>
          <p:cNvPr id="15" name="execution-body-1"/>
          <p:cNvSpPr txBox="1"/>
          <p:nvPr/>
        </p:nvSpPr>
        <p:spPr>
          <a:xfrm>
            <a:off x="5314950" y="3971925"/>
            <a:ext cx="8629650" cy="609600"/>
          </a:xfrm>
          <a:prstGeom prst="rect">
            <a:avLst/>
          </a:prstGeom>
          <a:noFill/>
        </p:spPr>
        <p:txBody>
          <a:bodyPr wrap="none" lIns="57150" rIns="57150" tIns="38100" bIns="38100" anchor="t">
            <a:noAutofit/>
          </a:bodyPr>
          <a:lstStyle/>
          <a:p>
            <a:pPr eaLnBrk="0">
              <a:lnSpc>
                <a:spcPts val="1875"/>
              </a:lnSpc>
              <a:spcBef>
                <a:spcPts val="0"/>
              </a:spcBef>
              <a:spcAft>
                <a:spcPts val="0"/>
              </a:spcAft>
            </a:pPr>
            <a:r>
              <a:rPr sz="1500" b="0">
                <a:solidFill>
                  <a:srgbClr val="59636E"/>
                </a:solidFill>
                <a:latin typeface="Noto Sans KR"/>
              </a:rPr>
              <a:t>시험 신청서를 넣고 영수증의 날짜·가게·금액을 확인합니다. 취소 결제와 중복 신청을 걸러내고, 서류가</a:t>
            </a:r>
          </a:p>
          <a:p>
            <a:pPr eaLnBrk="0">
              <a:lnSpc>
                <a:spcPts val="1875"/>
              </a:lnSpc>
              <a:spcBef>
                <a:spcPts val="0"/>
              </a:spcBef>
              <a:spcAft>
                <a:spcPts val="0"/>
              </a:spcAft>
            </a:pPr>
            <a:r>
              <a:rPr sz="1500" b="0">
                <a:solidFill>
                  <a:srgbClr val="59636E"/>
                </a:solidFill>
                <a:latin typeface="Noto Sans KR"/>
              </a:rPr>
              <a:t>부족할 때 누구에게 보완을 요청할지도 정합니다.</a:t>
            </a:r>
          </a:p>
        </p:txBody>
      </p:sp>
      <p:sp xmlns:a="http://schemas.openxmlformats.org/drawingml/2006/main">
        <p:nvSpPr>
          <p:cNvPr id="16" name="execution-panel-2"/>
          <p:cNvSpPr/>
          <p:nvPr/>
        </p:nvSpPr>
        <p:spPr>
          <a:xfrm>
            <a:off x="1009650" y="4819650"/>
            <a:ext cx="13220700" cy="120015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7" name="flow-node-2"/>
          <p:cNvSpPr txBox="1"/>
          <p:nvPr/>
        </p:nvSpPr>
        <p:spPr>
          <a:xfrm>
            <a:off x="1219200" y="5029200"/>
            <a:ext cx="714375" cy="485775"/>
          </a:xfrm>
          <a:prstGeom prst="rect">
            <a:avLst/>
          </a:prstGeom>
          <a:noFill/>
        </p:spPr>
        <p:txBody>
          <a:bodyPr wrap="none" lIns="57150" rIns="57150" tIns="38100" bIns="38100" anchor="t">
            <a:noAutofit/>
          </a:bodyPr>
          <a:lstStyle/>
          <a:p>
            <a:pPr eaLnBrk="0">
              <a:lnSpc>
                <a:spcPts val="3187"/>
              </a:lnSpc>
              <a:spcBef>
                <a:spcPts val="0"/>
              </a:spcBef>
              <a:spcAft>
                <a:spcPts val="0"/>
              </a:spcAft>
            </a:pPr>
            <a:r>
              <a:rPr sz="2550" b="1">
                <a:solidFill>
                  <a:srgbClr val="00B7C9"/>
                </a:solidFill>
                <a:latin typeface="Noto Sans KR"/>
              </a:rPr>
              <a:t>03</a:t>
            </a:r>
          </a:p>
        </p:txBody>
      </p:sp>
      <p:sp xmlns:a="http://schemas.openxmlformats.org/drawingml/2006/main">
        <p:nvSpPr>
          <p:cNvPr id="18" name="execution-stage-2"/>
          <p:cNvSpPr txBox="1"/>
          <p:nvPr/>
        </p:nvSpPr>
        <p:spPr>
          <a:xfrm>
            <a:off x="2209800" y="4943475"/>
            <a:ext cx="2724150" cy="390525"/>
          </a:xfrm>
          <a:prstGeom prst="rect">
            <a:avLst/>
          </a:prstGeom>
          <a:noFill/>
        </p:spPr>
        <p:txBody>
          <a:bodyPr wrap="none" lIns="57150" rIns="57150" tIns="38100" bIns="38100" anchor="t">
            <a:noAutofit/>
          </a:bodyPr>
          <a:lstStyle/>
          <a:p>
            <a:pPr eaLnBrk="0">
              <a:lnSpc>
                <a:spcPts val="2343"/>
              </a:lnSpc>
              <a:spcBef>
                <a:spcPts val="0"/>
              </a:spcBef>
              <a:spcAft>
                <a:spcPts val="0"/>
              </a:spcAft>
            </a:pPr>
            <a:r>
              <a:rPr sz="1875" b="1">
                <a:solidFill>
                  <a:srgbClr val="004EA2"/>
                </a:solidFill>
                <a:latin typeface="Noto Sans KR"/>
              </a:rPr>
              <a:t>시범 운영</a:t>
            </a:r>
          </a:p>
        </p:txBody>
      </p:sp>
      <p:sp xmlns:a="http://schemas.openxmlformats.org/drawingml/2006/main">
        <p:nvSpPr>
          <p:cNvPr id="19" name="execution-period-2"/>
          <p:cNvSpPr txBox="1"/>
          <p:nvPr/>
        </p:nvSpPr>
        <p:spPr>
          <a:xfrm>
            <a:off x="2209800" y="5410200"/>
            <a:ext cx="2724150" cy="476250"/>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a:solidFill>
                  <a:srgbClr val="59636E"/>
                </a:solidFill>
                <a:latin typeface="Noto Sans KR"/>
              </a:rPr>
              <a:t>2026-10 · 현장 운영 담당</a:t>
            </a:r>
          </a:p>
        </p:txBody>
      </p:sp>
      <p:sp xmlns:a="http://schemas.openxmlformats.org/drawingml/2006/main">
        <p:nvSpPr>
          <p:cNvPr id="20" name="execution-lead-2"/>
          <p:cNvSpPr txBox="1"/>
          <p:nvPr/>
        </p:nvSpPr>
        <p:spPr>
          <a:xfrm>
            <a:off x="5314950" y="4914900"/>
            <a:ext cx="8629650" cy="352425"/>
          </a:xfrm>
          <a:prstGeom prst="rect">
            <a:avLst/>
          </a:prstGeom>
          <a:noFill/>
        </p:spPr>
        <p:txBody>
          <a:bodyPr wrap="none" lIns="57150" rIns="57150" tIns="38100" bIns="38100" anchor="t">
            <a:noAutofit/>
          </a:bodyPr>
          <a:lstStyle/>
          <a:p>
            <a:pPr eaLnBrk="0">
              <a:lnSpc>
                <a:spcPts val="2156"/>
              </a:lnSpc>
              <a:spcBef>
                <a:spcPts val="0"/>
              </a:spcBef>
              <a:spcAft>
                <a:spcPts val="0"/>
              </a:spcAft>
            </a:pPr>
            <a:r>
              <a:rPr sz="1725" b="1">
                <a:solidFill>
                  <a:srgbClr val="1D2227"/>
                </a:solidFill>
                <a:latin typeface="Noto Sans KR"/>
              </a:rPr>
              <a:t>작게 시작하고 확인된 신청부터 지급합니다.</a:t>
            </a:r>
          </a:p>
        </p:txBody>
      </p:sp>
      <p:sp xmlns:a="http://schemas.openxmlformats.org/drawingml/2006/main">
        <p:nvSpPr>
          <p:cNvPr id="21" name="execution-body-2"/>
          <p:cNvSpPr txBox="1"/>
          <p:nvPr/>
        </p:nvSpPr>
        <p:spPr>
          <a:xfrm>
            <a:off x="5314950" y="5334000"/>
            <a:ext cx="8629650" cy="609600"/>
          </a:xfrm>
          <a:prstGeom prst="rect">
            <a:avLst/>
          </a:prstGeom>
          <a:noFill/>
        </p:spPr>
        <p:txBody>
          <a:bodyPr wrap="none" lIns="57150" rIns="57150" tIns="38100" bIns="38100" anchor="t">
            <a:noAutofit/>
          </a:bodyPr>
          <a:lstStyle/>
          <a:p>
            <a:pPr eaLnBrk="0">
              <a:lnSpc>
                <a:spcPts val="1875"/>
              </a:lnSpc>
              <a:spcBef>
                <a:spcPts val="0"/>
              </a:spcBef>
              <a:spcAft>
                <a:spcPts val="0"/>
              </a:spcAft>
            </a:pPr>
            <a:r>
              <a:rPr sz="1500" b="0">
                <a:solidFill>
                  <a:srgbClr val="59636E"/>
                </a:solidFill>
                <a:latin typeface="Noto Sans KR"/>
              </a:rPr>
              <a:t>참여 가게를 한정해 먼저 운영합니다. 담당자가 지출 증빙을 확인한 뒤 정해진 기준에 따라 환급하고, 신청자에게</a:t>
            </a:r>
          </a:p>
          <a:p>
            <a:pPr eaLnBrk="0">
              <a:lnSpc>
                <a:spcPts val="1875"/>
              </a:lnSpc>
              <a:spcBef>
                <a:spcPts val="0"/>
              </a:spcBef>
              <a:spcAft>
                <a:spcPts val="0"/>
              </a:spcAft>
            </a:pPr>
            <a:r>
              <a:rPr sz="1500" b="0">
                <a:solidFill>
                  <a:srgbClr val="59636E"/>
                </a:solidFill>
                <a:latin typeface="Noto Sans KR"/>
              </a:rPr>
              <a:t>지급일과 상품권 사용 방법을 알려줍니다.</a:t>
            </a:r>
          </a:p>
        </p:txBody>
      </p:sp>
      <p:sp xmlns:a="http://schemas.openxmlformats.org/drawingml/2006/main">
        <p:nvSpPr>
          <p:cNvPr id="22" name="execution-panel-3"/>
          <p:cNvSpPr/>
          <p:nvPr/>
        </p:nvSpPr>
        <p:spPr>
          <a:xfrm>
            <a:off x="1009650" y="6181725"/>
            <a:ext cx="13220700" cy="120015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3" name="flow-node-3"/>
          <p:cNvSpPr txBox="1"/>
          <p:nvPr/>
        </p:nvSpPr>
        <p:spPr>
          <a:xfrm>
            <a:off x="1219200" y="6391275"/>
            <a:ext cx="714375" cy="485775"/>
          </a:xfrm>
          <a:prstGeom prst="rect">
            <a:avLst/>
          </a:prstGeom>
          <a:noFill/>
        </p:spPr>
        <p:txBody>
          <a:bodyPr wrap="none" lIns="57150" rIns="57150" tIns="38100" bIns="38100" anchor="t">
            <a:noAutofit/>
          </a:bodyPr>
          <a:lstStyle/>
          <a:p>
            <a:pPr eaLnBrk="0">
              <a:lnSpc>
                <a:spcPts val="3187"/>
              </a:lnSpc>
              <a:spcBef>
                <a:spcPts val="0"/>
              </a:spcBef>
              <a:spcAft>
                <a:spcPts val="0"/>
              </a:spcAft>
            </a:pPr>
            <a:r>
              <a:rPr sz="2550" b="1">
                <a:solidFill>
                  <a:srgbClr val="00B7C9"/>
                </a:solidFill>
                <a:latin typeface="Noto Sans KR"/>
              </a:rPr>
              <a:t>04</a:t>
            </a:r>
          </a:p>
        </p:txBody>
      </p:sp>
      <p:sp xmlns:a="http://schemas.openxmlformats.org/drawingml/2006/main">
        <p:nvSpPr>
          <p:cNvPr id="24" name="execution-stage-3"/>
          <p:cNvSpPr txBox="1"/>
          <p:nvPr/>
        </p:nvSpPr>
        <p:spPr>
          <a:xfrm>
            <a:off x="2209800" y="6305550"/>
            <a:ext cx="2724150" cy="390525"/>
          </a:xfrm>
          <a:prstGeom prst="rect">
            <a:avLst/>
          </a:prstGeom>
          <a:noFill/>
        </p:spPr>
        <p:txBody>
          <a:bodyPr wrap="none" lIns="57150" rIns="57150" tIns="38100" bIns="38100" anchor="t">
            <a:noAutofit/>
          </a:bodyPr>
          <a:lstStyle/>
          <a:p>
            <a:pPr eaLnBrk="0">
              <a:lnSpc>
                <a:spcPts val="2343"/>
              </a:lnSpc>
              <a:spcBef>
                <a:spcPts val="0"/>
              </a:spcBef>
              <a:spcAft>
                <a:spcPts val="0"/>
              </a:spcAft>
            </a:pPr>
            <a:r>
              <a:rPr sz="1875" b="1">
                <a:solidFill>
                  <a:srgbClr val="004EA2"/>
                </a:solidFill>
                <a:latin typeface="Noto Sans KR"/>
              </a:rPr>
              <a:t>실적 확인과 평가</a:t>
            </a:r>
          </a:p>
        </p:txBody>
      </p:sp>
      <p:sp xmlns:a="http://schemas.openxmlformats.org/drawingml/2006/main">
        <p:nvSpPr>
          <p:cNvPr id="25" name="execution-period-3"/>
          <p:cNvSpPr txBox="1"/>
          <p:nvPr/>
        </p:nvSpPr>
        <p:spPr>
          <a:xfrm>
            <a:off x="2209800" y="6772275"/>
            <a:ext cx="2724150" cy="476250"/>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a:solidFill>
                  <a:srgbClr val="59636E"/>
                </a:solidFill>
                <a:latin typeface="Noto Sans KR"/>
              </a:rPr>
              <a:t>2026-10 / 2026-11 · 사업·평가 담당</a:t>
            </a:r>
          </a:p>
        </p:txBody>
      </p:sp>
      <p:sp xmlns:a="http://schemas.openxmlformats.org/drawingml/2006/main">
        <p:nvSpPr>
          <p:cNvPr id="26" name="execution-lead-3"/>
          <p:cNvSpPr txBox="1"/>
          <p:nvPr/>
        </p:nvSpPr>
        <p:spPr>
          <a:xfrm>
            <a:off x="5314950" y="6276975"/>
            <a:ext cx="8629650" cy="352425"/>
          </a:xfrm>
          <a:prstGeom prst="rect">
            <a:avLst/>
          </a:prstGeom>
          <a:noFill/>
        </p:spPr>
        <p:txBody>
          <a:bodyPr wrap="none" lIns="57150" rIns="57150" tIns="38100" bIns="38100" anchor="t">
            <a:noAutofit/>
          </a:bodyPr>
          <a:lstStyle/>
          <a:p>
            <a:pPr eaLnBrk="0">
              <a:lnSpc>
                <a:spcPts val="2156"/>
              </a:lnSpc>
              <a:spcBef>
                <a:spcPts val="0"/>
              </a:spcBef>
              <a:spcAft>
                <a:spcPts val="0"/>
              </a:spcAft>
            </a:pPr>
            <a:r>
              <a:rPr sz="1725" b="1">
                <a:solidFill>
                  <a:srgbClr val="1D2227"/>
                </a:solidFill>
                <a:latin typeface="Noto Sans KR"/>
              </a:rPr>
              <a:t>지급 기록과 실제 사용 결과를 확인합니다.</a:t>
            </a:r>
          </a:p>
        </p:txBody>
      </p:sp>
      <p:sp xmlns:a="http://schemas.openxmlformats.org/drawingml/2006/main">
        <p:nvSpPr>
          <p:cNvPr id="27" name="execution-body-3"/>
          <p:cNvSpPr txBox="1"/>
          <p:nvPr/>
        </p:nvSpPr>
        <p:spPr>
          <a:xfrm>
            <a:off x="5314950" y="6696075"/>
            <a:ext cx="8629650" cy="609600"/>
          </a:xfrm>
          <a:prstGeom prst="rect">
            <a:avLst/>
          </a:prstGeom>
          <a:noFill/>
        </p:spPr>
        <p:txBody>
          <a:bodyPr wrap="none" lIns="57150" rIns="57150" tIns="38100" bIns="38100" anchor="t">
            <a:noAutofit/>
          </a:bodyPr>
          <a:lstStyle/>
          <a:p>
            <a:pPr eaLnBrk="0">
              <a:lnSpc>
                <a:spcPts val="1875"/>
              </a:lnSpc>
              <a:spcBef>
                <a:spcPts val="0"/>
              </a:spcBef>
              <a:spcAft>
                <a:spcPts val="0"/>
              </a:spcAft>
            </a:pPr>
            <a:r>
              <a:rPr sz="1500" b="0">
                <a:solidFill>
                  <a:srgbClr val="59636E"/>
                </a:solidFill>
                <a:latin typeface="Noto Sans KR"/>
              </a:rPr>
              <a:t>매주 신청·승인·지급 건수와 비용을 맞춰 봅니다. 상품권 사용 집계가 가능한지 운영사에 확인하고, 종료 후</a:t>
            </a:r>
          </a:p>
          <a:p>
            <a:pPr eaLnBrk="0">
              <a:lnSpc>
                <a:spcPts val="1875"/>
              </a:lnSpc>
              <a:spcBef>
                <a:spcPts val="0"/>
              </a:spcBef>
              <a:spcAft>
                <a:spcPts val="0"/>
              </a:spcAft>
            </a:pPr>
            <a:r>
              <a:rPr sz="1500" b="0">
                <a:solidFill>
                  <a:srgbClr val="59636E"/>
                </a:solidFill>
                <a:latin typeface="Noto Sans KR"/>
              </a:rPr>
              <a:t>취소를 뺀 실적을 정리합니다. 전체 관광소비 증가를 전부 사업 성과로 보지는 않습니다.</a:t>
            </a:r>
          </a:p>
        </p:txBody>
      </p:sp>
      <p:sp xmlns:a="http://schemas.openxmlformats.org/drawingml/2006/main">
        <p:nvSpPr>
          <p:cNvPr id="28" name="execution-origin"/>
          <p:cNvSpPr txBox="1"/>
          <p:nvPr/>
        </p:nvSpPr>
        <p:spPr>
          <a:xfrm>
            <a:off x="1009650" y="7829550"/>
            <a:ext cx="13220700" cy="571500"/>
          </a:xfrm>
          <a:prstGeom prst="rect">
            <a:avLst/>
          </a:prstGeom>
          <a:noFill/>
        </p:spPr>
        <p:txBody>
          <a:bodyPr wrap="none" lIns="57150" rIns="57150" tIns="38100" bIns="38100" anchor="t">
            <a:noAutofit/>
          </a:bodyPr>
          <a:lstStyle/>
          <a:p>
            <a:pPr eaLnBrk="0">
              <a:lnSpc>
                <a:spcPts val="1781"/>
              </a:lnSpc>
              <a:spcBef>
                <a:spcPts val="0"/>
              </a:spcBef>
              <a:spcAft>
                <a:spcPts val="0"/>
              </a:spcAft>
            </a:pPr>
            <a:r>
              <a:rPr sz="1425" b="0">
                <a:solidFill>
                  <a:srgbClr val="59636E"/>
                </a:solidFill>
                <a:latin typeface="Noto Sans KR"/>
              </a:rPr>
              <a:t>작성 기준: 저장된 일정 + 사업 유형별 운영 안내 함수. 공식 협약·법정 절차를 인용한 내용이 아니라 조정 가능한 실행 예시입니다.</a:t>
            </a:r>
          </a:p>
        </p:txBody>
      </p:sp>
    </p:spTree>
    <p:extLst>
      <p:ext uri="{BB962C8B-B14F-4D97-AF65-F5344CB8AC3E}">
        <p14:creationId xmlns:p14="http://schemas.microsoft.com/office/powerpoint/2010/main" val="380383987"/>
      </p:ext>
    </p:extLst>
  </p:cSld>
</p:sld>
</file>

<file path=ppt/slides/slide8.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xmlns:a="http://schemas.openxmlformats.org/drawingml/2006/main">
        <p:nvSpPr>
          <p:cNvPr id="2" name="title"/>
          <p:cNvSpPr txBox="1"/>
          <p:nvPr/>
        </p:nvSpPr>
        <p:spPr>
          <a:xfrm>
            <a:off x="952500" y="714375"/>
            <a:ext cx="13335000" cy="809625"/>
          </a:xfrm>
          <a:prstGeom prst="rect">
            <a:avLst/>
          </a:prstGeom>
          <a:noFill/>
        </p:spPr>
        <p:txBody>
          <a:bodyPr wrap="none" lIns="57150" rIns="57150" tIns="38100" bIns="38100" anchor="t">
            <a:noAutofit/>
          </a:bodyPr>
          <a:lstStyle/>
          <a:p>
            <a:pPr eaLnBrk="0">
              <a:lnSpc>
                <a:spcPts val="4500"/>
              </a:lnSpc>
              <a:spcBef>
                <a:spcPts val="0"/>
              </a:spcBef>
              <a:spcAft>
                <a:spcPts val="0"/>
              </a:spcAft>
            </a:pPr>
            <a:r>
              <a:rPr sz="3600" b="1">
                <a:solidFill>
                  <a:srgbClr val="004EA2"/>
                </a:solidFill>
                <a:latin typeface="Noto Sans KR"/>
              </a:rPr>
              <a:t>머신러닝 예측값과 목표 KPI</a:t>
            </a:r>
          </a:p>
        </p:txBody>
      </p:sp>
      <p:sp xmlns:a="http://schemas.openxmlformats.org/drawingml/2006/main">
        <p:nvSpPr>
          <p:cNvPr id="3" name="title-rule"/>
          <p:cNvSpPr/>
          <p:nvPr/>
        </p:nvSpPr>
        <p:spPr>
          <a:xfrm>
            <a:off x="1009650" y="1724025"/>
            <a:ext cx="13220700" cy="28575"/>
          </a:xfrm>
          <a:prstGeom prst="rect">
            <a:avLst/>
          </a:prstGeom>
          <a:solidFill>
            <a:srgbClr val="004E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4" name="kpi-title-0"/>
          <p:cNvSpPr txBox="1"/>
          <p:nvPr/>
        </p:nvSpPr>
        <p:spPr>
          <a:xfrm>
            <a:off x="1009650" y="2047875"/>
            <a:ext cx="8096250" cy="371475"/>
          </a:xfrm>
          <a:prstGeom prst="rect">
            <a:avLst/>
          </a:prstGeom>
          <a:noFill/>
        </p:spPr>
        <p:txBody>
          <a:bodyPr wrap="none" lIns="57150" rIns="57150" tIns="38100" bIns="38100" anchor="t">
            <a:noAutofit/>
          </a:bodyPr>
          <a:lstStyle/>
          <a:p>
            <a:pPr eaLnBrk="0">
              <a:lnSpc>
                <a:spcPts val="2296"/>
              </a:lnSpc>
              <a:spcBef>
                <a:spcPts val="0"/>
              </a:spcBef>
              <a:spcAft>
                <a:spcPts val="0"/>
              </a:spcAft>
            </a:pPr>
            <a:r>
              <a:rPr sz="1837" b="1">
                <a:solidFill>
                  <a:srgbClr val="004EA2"/>
                </a:solidFill>
                <a:latin typeface="Noto Sans KR"/>
              </a:rPr>
              <a:t>관광객 방문자 수</a:t>
            </a:r>
          </a:p>
        </p:txBody>
      </p:sp>
      <p:graphicFrame xmlns:a="http://schemas.openxmlformats.org/drawingml/2006/main">
        <p:nvGraphicFramePr>
          <p:cNvPr id="5" name="kpi-visitors-table"/>
          <p:cNvGraphicFramePr>
            <a:graphicFrameLocks noGrp="1"/>
          </p:cNvGraphicFramePr>
          <p:nvPr/>
        </p:nvGraphicFramePr>
        <p:xfrm>
          <a:off x="1009650" y="2514600"/>
          <a:ext cx="13220700" cy="2019300"/>
        </p:xfrm>
        <a:graphic>
          <a:graphicData uri="http://schemas.openxmlformats.org/drawingml/2006/table">
            <a:tbl>
              <a:tblPr firstRow="1" bandRow="1">
                <a:tableStyleId>{5C22544A-7EE6-4342-B048-85BDC9FD1C3A}</a:tableStyleId>
              </a:tblPr>
              <a:tblGrid>
                <a:gridCol w="2143125"/>
                <a:gridCol w="3333750"/>
                <a:gridCol w="3333750"/>
                <a:gridCol w="4410075"/>
              </a:tblGrid>
              <a:tr h="495300">
                <a:tc>
                  <a:txBody>
                    <a:bodyPr wrap="none"/>
                    <a:lstStyle/>
                    <a:p>
                      <a:pPr eaLnBrk="0">
                        <a:lnSpc>
                          <a:spcPct val="112000"/>
                        </a:lnSpc>
                        <a:spcBef>
                          <a:spcPts val="0"/>
                        </a:spcBef>
                        <a:spcAft>
                          <a:spcPts val="0"/>
                        </a:spcAft>
                      </a:pPr>
                      <a:r>
                        <a:rPr sz="1575" b="1">
                          <a:solidFill>
                            <a:srgbClr val="FFFFFF"/>
                          </a:solidFill>
                          <a:latin typeface="Noto Sans KR"/>
                        </a:rPr>
                        <a:t>기준월</a:t>
                      </a:r>
                    </a:p>
                  </a:txBody>
                  <a:tcPr marL="95250" marR="95250" marT="66675" marB="66675" anchor="ctr">
                    <a:solidFill>
                      <a:srgbClr val="004EA2"/>
                    </a:solidFill>
                  </a:tcPr>
                </a:tc>
                <a:tc>
                  <a:txBody>
                    <a:bodyPr wrap="none"/>
                    <a:lstStyle/>
                    <a:p>
                      <a:pPr eaLnBrk="0">
                        <a:lnSpc>
                          <a:spcPct val="112000"/>
                        </a:lnSpc>
                        <a:spcBef>
                          <a:spcPts val="0"/>
                        </a:spcBef>
                        <a:spcAft>
                          <a:spcPts val="0"/>
                        </a:spcAft>
                      </a:pPr>
                      <a:r>
                        <a:rPr sz="1575" b="1">
                          <a:solidFill>
                            <a:srgbClr val="FFFFFF"/>
                          </a:solidFill>
                          <a:latin typeface="Noto Sans KR"/>
                        </a:rPr>
                        <a:t>머신러닝 예측값</a:t>
                      </a:r>
                    </a:p>
                  </a:txBody>
                  <a:tcPr marL="95250" marR="95250" marT="66675" marB="66675" anchor="ctr">
                    <a:solidFill>
                      <a:srgbClr val="004EA2"/>
                    </a:solidFill>
                  </a:tcPr>
                </a:tc>
                <a:tc>
                  <a:txBody>
                    <a:bodyPr wrap="none"/>
                    <a:lstStyle/>
                    <a:p>
                      <a:pPr eaLnBrk="0">
                        <a:lnSpc>
                          <a:spcPct val="112000"/>
                        </a:lnSpc>
                        <a:spcBef>
                          <a:spcPts val="0"/>
                        </a:spcBef>
                        <a:spcAft>
                          <a:spcPts val="0"/>
                        </a:spcAft>
                      </a:pPr>
                      <a:r>
                        <a:rPr sz="1575" b="1">
                          <a:solidFill>
                            <a:srgbClr val="FFFFFF"/>
                          </a:solidFill>
                          <a:latin typeface="Noto Sans KR"/>
                        </a:rPr>
                        <a:t>목표 KPI</a:t>
                      </a:r>
                    </a:p>
                  </a:txBody>
                  <a:tcPr marL="95250" marR="95250" marT="66675" marB="66675" anchor="ctr">
                    <a:solidFill>
                      <a:srgbClr val="004EA2"/>
                    </a:solidFill>
                  </a:tcPr>
                </a:tc>
                <a:tc>
                  <a:txBody>
                    <a:bodyPr wrap="none"/>
                    <a:lstStyle/>
                    <a:p>
                      <a:pPr eaLnBrk="0">
                        <a:lnSpc>
                          <a:spcPct val="112000"/>
                        </a:lnSpc>
                        <a:spcBef>
                          <a:spcPts val="0"/>
                        </a:spcBef>
                        <a:spcAft>
                          <a:spcPts val="0"/>
                        </a:spcAft>
                      </a:pPr>
                      <a:r>
                        <a:rPr sz="1575" b="1">
                          <a:solidFill>
                            <a:srgbClr val="FFFFFF"/>
                          </a:solidFill>
                          <a:latin typeface="Noto Sans KR"/>
                        </a:rPr>
                        <a:t>기준 대비 증가</a:t>
                      </a:r>
                    </a:p>
                  </a:txBody>
                  <a:tcPr marL="95250" marR="95250" marT="66675" marB="66675" anchor="ctr">
                    <a:solidFill>
                      <a:srgbClr val="004EA2"/>
                    </a:solidFill>
                  </a:tcPr>
                </a:tc>
              </a:tr>
              <a:tr h="381000">
                <a:tc>
                  <a:txBody>
                    <a:bodyPr wrap="none"/>
                    <a:lstStyle/>
                    <a:p>
                      <a:pPr eaLnBrk="0">
                        <a:lnSpc>
                          <a:spcPct val="112000"/>
                        </a:lnSpc>
                        <a:spcBef>
                          <a:spcPts val="0"/>
                        </a:spcBef>
                        <a:spcAft>
                          <a:spcPts val="0"/>
                        </a:spcAft>
                      </a:pPr>
                      <a:r>
                        <a:rPr sz="1537" b="1">
                          <a:solidFill>
                            <a:srgbClr val="1D2227"/>
                          </a:solidFill>
                          <a:latin typeface="Noto Sans KR"/>
                        </a:rPr>
                        <a:t>26.09</a:t>
                      </a:r>
                    </a:p>
                  </a:txBody>
                  <a:tcPr marL="95250" marR="95250" marT="66675" marB="66675" anchor="ctr">
                    <a:solidFill>
                      <a:srgbClr val="FFFFFF"/>
                    </a:solidFill>
                  </a:tcPr>
                </a:tc>
                <a:tc>
                  <a:txBody>
                    <a:bodyPr wrap="none"/>
                    <a:lstStyle/>
                    <a:p>
                      <a:pPr eaLnBrk="0">
                        <a:lnSpc>
                          <a:spcPct val="112000"/>
                        </a:lnSpc>
                        <a:spcBef>
                          <a:spcPts val="0"/>
                        </a:spcBef>
                        <a:spcAft>
                          <a:spcPts val="0"/>
                        </a:spcAft>
                      </a:pPr>
                      <a:r>
                        <a:rPr sz="1537" b="0">
                          <a:solidFill>
                            <a:srgbClr val="1D2227"/>
                          </a:solidFill>
                          <a:latin typeface="Noto Sans KR"/>
                        </a:rPr>
                        <a:t>6,638,883명</a:t>
                      </a:r>
                    </a:p>
                  </a:txBody>
                  <a:tcPr marL="95250" marR="95250" marT="66675" marB="66675" anchor="ctr">
                    <a:solidFill>
                      <a:srgbClr val="FFFFFF"/>
                    </a:solidFill>
                  </a:tcPr>
                </a:tc>
                <a:tc>
                  <a:txBody>
                    <a:bodyPr wrap="none"/>
                    <a:lstStyle/>
                    <a:p>
                      <a:pPr eaLnBrk="0">
                        <a:lnSpc>
                          <a:spcPct val="112000"/>
                        </a:lnSpc>
                        <a:spcBef>
                          <a:spcPts val="0"/>
                        </a:spcBef>
                        <a:spcAft>
                          <a:spcPts val="0"/>
                        </a:spcAft>
                      </a:pPr>
                      <a:r>
                        <a:rPr sz="1537" b="0">
                          <a:solidFill>
                            <a:srgbClr val="1D2227"/>
                          </a:solidFill>
                          <a:latin typeface="Noto Sans KR"/>
                        </a:rPr>
                        <a:t>7,081,475명</a:t>
                      </a:r>
                    </a:p>
                  </a:txBody>
                  <a:tcPr marL="95250" marR="95250" marT="66675" marB="66675" anchor="ctr">
                    <a:solidFill>
                      <a:srgbClr val="FFFFFF"/>
                    </a:solidFill>
                  </a:tcPr>
                </a:tc>
                <a:tc>
                  <a:txBody>
                    <a:bodyPr wrap="none"/>
                    <a:lstStyle/>
                    <a:p>
                      <a:pPr eaLnBrk="0">
                        <a:lnSpc>
                          <a:spcPct val="112000"/>
                        </a:lnSpc>
                        <a:spcBef>
                          <a:spcPts val="0"/>
                        </a:spcBef>
                        <a:spcAft>
                          <a:spcPts val="0"/>
                        </a:spcAft>
                      </a:pPr>
                      <a:r>
                        <a:rPr sz="1537" b="0">
                          <a:solidFill>
                            <a:srgbClr val="1D2227"/>
                          </a:solidFill>
                          <a:latin typeface="Noto Sans KR"/>
                        </a:rPr>
                        <a:t>↑ 442,592명 · 6.67%</a:t>
                      </a:r>
                    </a:p>
                  </a:txBody>
                  <a:tcPr marL="95250" marR="95250" marT="66675" marB="66675" anchor="ctr">
                    <a:solidFill>
                      <a:srgbClr val="FFFFFF"/>
                    </a:solidFill>
                  </a:tcPr>
                </a:tc>
              </a:tr>
              <a:tr h="381000">
                <a:tc>
                  <a:txBody>
                    <a:bodyPr wrap="none"/>
                    <a:lstStyle/>
                    <a:p>
                      <a:pPr eaLnBrk="0">
                        <a:lnSpc>
                          <a:spcPct val="112000"/>
                        </a:lnSpc>
                        <a:spcBef>
                          <a:spcPts val="0"/>
                        </a:spcBef>
                        <a:spcAft>
                          <a:spcPts val="0"/>
                        </a:spcAft>
                      </a:pPr>
                      <a:r>
                        <a:rPr sz="1537" b="1">
                          <a:solidFill>
                            <a:srgbClr val="1D2227"/>
                          </a:solidFill>
                          <a:latin typeface="Noto Sans KR"/>
                        </a:rPr>
                        <a:t>26.10</a:t>
                      </a:r>
                    </a:p>
                  </a:txBody>
                  <a:tcPr marL="95250" marR="95250" marT="66675" marB="66675" anchor="ctr">
                    <a:solidFill>
                      <a:srgbClr val="EAF1F6"/>
                    </a:solidFill>
                  </a:tcPr>
                </a:tc>
                <a:tc>
                  <a:txBody>
                    <a:bodyPr wrap="none"/>
                    <a:lstStyle/>
                    <a:p>
                      <a:pPr eaLnBrk="0">
                        <a:lnSpc>
                          <a:spcPct val="112000"/>
                        </a:lnSpc>
                        <a:spcBef>
                          <a:spcPts val="0"/>
                        </a:spcBef>
                        <a:spcAft>
                          <a:spcPts val="0"/>
                        </a:spcAft>
                      </a:pPr>
                      <a:r>
                        <a:rPr sz="1537" b="0">
                          <a:solidFill>
                            <a:srgbClr val="1D2227"/>
                          </a:solidFill>
                          <a:latin typeface="Noto Sans KR"/>
                        </a:rPr>
                        <a:t>6,570,358명</a:t>
                      </a:r>
                    </a:p>
                  </a:txBody>
                  <a:tcPr marL="95250" marR="95250" marT="66675" marB="66675" anchor="ctr">
                    <a:solidFill>
                      <a:srgbClr val="EAF1F6"/>
                    </a:solidFill>
                  </a:tcPr>
                </a:tc>
                <a:tc>
                  <a:txBody>
                    <a:bodyPr wrap="none"/>
                    <a:lstStyle/>
                    <a:p>
                      <a:pPr eaLnBrk="0">
                        <a:lnSpc>
                          <a:spcPct val="112000"/>
                        </a:lnSpc>
                        <a:spcBef>
                          <a:spcPts val="0"/>
                        </a:spcBef>
                        <a:spcAft>
                          <a:spcPts val="0"/>
                        </a:spcAft>
                      </a:pPr>
                      <a:r>
                        <a:rPr sz="1537" b="0">
                          <a:solidFill>
                            <a:srgbClr val="1D2227"/>
                          </a:solidFill>
                          <a:latin typeface="Noto Sans KR"/>
                        </a:rPr>
                        <a:t>7,446,406명</a:t>
                      </a:r>
                    </a:p>
                  </a:txBody>
                  <a:tcPr marL="95250" marR="95250" marT="66675" marB="66675" anchor="ctr">
                    <a:solidFill>
                      <a:srgbClr val="EAF1F6"/>
                    </a:solidFill>
                  </a:tcPr>
                </a:tc>
                <a:tc>
                  <a:txBody>
                    <a:bodyPr wrap="none"/>
                    <a:lstStyle/>
                    <a:p>
                      <a:pPr eaLnBrk="0">
                        <a:lnSpc>
                          <a:spcPct val="112000"/>
                        </a:lnSpc>
                        <a:spcBef>
                          <a:spcPts val="0"/>
                        </a:spcBef>
                        <a:spcAft>
                          <a:spcPts val="0"/>
                        </a:spcAft>
                      </a:pPr>
                      <a:r>
                        <a:rPr sz="1537" b="0">
                          <a:solidFill>
                            <a:srgbClr val="1D2227"/>
                          </a:solidFill>
                          <a:latin typeface="Noto Sans KR"/>
                        </a:rPr>
                        <a:t>↑ 876,048명 · 13.33%</a:t>
                      </a:r>
                    </a:p>
                  </a:txBody>
                  <a:tcPr marL="95250" marR="95250" marT="66675" marB="66675" anchor="ctr">
                    <a:solidFill>
                      <a:srgbClr val="EAF1F6"/>
                    </a:solidFill>
                  </a:tcPr>
                </a:tc>
              </a:tr>
              <a:tr h="381000">
                <a:tc>
                  <a:txBody>
                    <a:bodyPr wrap="none"/>
                    <a:lstStyle/>
                    <a:p>
                      <a:pPr eaLnBrk="0">
                        <a:lnSpc>
                          <a:spcPct val="112000"/>
                        </a:lnSpc>
                        <a:spcBef>
                          <a:spcPts val="0"/>
                        </a:spcBef>
                        <a:spcAft>
                          <a:spcPts val="0"/>
                        </a:spcAft>
                      </a:pPr>
                      <a:r>
                        <a:rPr sz="1537" b="1">
                          <a:solidFill>
                            <a:srgbClr val="1D2227"/>
                          </a:solidFill>
                          <a:latin typeface="Noto Sans KR"/>
                        </a:rPr>
                        <a:t>26.11</a:t>
                      </a:r>
                    </a:p>
                  </a:txBody>
                  <a:tcPr marL="95250" marR="95250" marT="66675" marB="66675" anchor="ctr">
                    <a:solidFill>
                      <a:srgbClr val="FFFFFF"/>
                    </a:solidFill>
                  </a:tcPr>
                </a:tc>
                <a:tc>
                  <a:txBody>
                    <a:bodyPr wrap="none"/>
                    <a:lstStyle/>
                    <a:p>
                      <a:pPr eaLnBrk="0">
                        <a:lnSpc>
                          <a:spcPct val="112000"/>
                        </a:lnSpc>
                        <a:spcBef>
                          <a:spcPts val="0"/>
                        </a:spcBef>
                        <a:spcAft>
                          <a:spcPts val="0"/>
                        </a:spcAft>
                      </a:pPr>
                      <a:r>
                        <a:rPr sz="1537" b="0">
                          <a:solidFill>
                            <a:srgbClr val="1D2227"/>
                          </a:solidFill>
                          <a:latin typeface="Noto Sans KR"/>
                        </a:rPr>
                        <a:t>6,585,928명</a:t>
                      </a:r>
                    </a:p>
                  </a:txBody>
                  <a:tcPr marL="95250" marR="95250" marT="66675" marB="66675" anchor="ctr">
                    <a:solidFill>
                      <a:srgbClr val="FFFFFF"/>
                    </a:solidFill>
                  </a:tcPr>
                </a:tc>
                <a:tc>
                  <a:txBody>
                    <a:bodyPr wrap="none"/>
                    <a:lstStyle/>
                    <a:p>
                      <a:pPr eaLnBrk="0">
                        <a:lnSpc>
                          <a:spcPct val="112000"/>
                        </a:lnSpc>
                        <a:spcBef>
                          <a:spcPts val="0"/>
                        </a:spcBef>
                        <a:spcAft>
                          <a:spcPts val="0"/>
                        </a:spcAft>
                      </a:pPr>
                      <a:r>
                        <a:rPr sz="1537" b="0">
                          <a:solidFill>
                            <a:srgbClr val="1D2227"/>
                          </a:solidFill>
                          <a:latin typeface="Noto Sans KR"/>
                        </a:rPr>
                        <a:t>7,903,114명</a:t>
                      </a:r>
                    </a:p>
                  </a:txBody>
                  <a:tcPr marL="95250" marR="95250" marT="66675" marB="66675" anchor="ctr">
                    <a:solidFill>
                      <a:srgbClr val="FFFFFF"/>
                    </a:solidFill>
                  </a:tcPr>
                </a:tc>
                <a:tc>
                  <a:txBody>
                    <a:bodyPr wrap="none"/>
                    <a:lstStyle/>
                    <a:p>
                      <a:pPr eaLnBrk="0">
                        <a:lnSpc>
                          <a:spcPct val="112000"/>
                        </a:lnSpc>
                        <a:spcBef>
                          <a:spcPts val="0"/>
                        </a:spcBef>
                        <a:spcAft>
                          <a:spcPts val="0"/>
                        </a:spcAft>
                      </a:pPr>
                      <a:r>
                        <a:rPr sz="1537" b="0">
                          <a:solidFill>
                            <a:srgbClr val="1D2227"/>
                          </a:solidFill>
                          <a:latin typeface="Noto Sans KR"/>
                        </a:rPr>
                        <a:t>↑ 1,317,186명 · 20.00%</a:t>
                      </a:r>
                    </a:p>
                  </a:txBody>
                  <a:tcPr marL="95250" marR="95250" marT="66675" marB="66675" anchor="ctr">
                    <a:solidFill>
                      <a:srgbClr val="FFFFFF"/>
                    </a:solidFill>
                  </a:tcPr>
                </a:tc>
              </a:tr>
              <a:tr h="381000">
                <a:tc>
                  <a:txBody>
                    <a:bodyPr wrap="none"/>
                    <a:lstStyle/>
                    <a:p>
                      <a:pPr eaLnBrk="0">
                        <a:lnSpc>
                          <a:spcPct val="112000"/>
                        </a:lnSpc>
                        <a:spcBef>
                          <a:spcPts val="0"/>
                        </a:spcBef>
                        <a:spcAft>
                          <a:spcPts val="0"/>
                        </a:spcAft>
                      </a:pPr>
                      <a:r>
                        <a:rPr sz="1537" b="1">
                          <a:solidFill>
                            <a:srgbClr val="1D2227"/>
                          </a:solidFill>
                          <a:latin typeface="Noto Sans KR"/>
                        </a:rPr>
                        <a:t>3개월 월별 합계</a:t>
                      </a:r>
                    </a:p>
                  </a:txBody>
                  <a:tcPr marL="95250" marR="95250" marT="66675" marB="66675" anchor="ctr">
                    <a:solidFill>
                      <a:srgbClr val="EAF1F6"/>
                    </a:solidFill>
                  </a:tcPr>
                </a:tc>
                <a:tc>
                  <a:txBody>
                    <a:bodyPr wrap="none"/>
                    <a:lstStyle/>
                    <a:p>
                      <a:pPr eaLnBrk="0">
                        <a:lnSpc>
                          <a:spcPct val="112000"/>
                        </a:lnSpc>
                        <a:spcBef>
                          <a:spcPts val="0"/>
                        </a:spcBef>
                        <a:spcAft>
                          <a:spcPts val="0"/>
                        </a:spcAft>
                      </a:pPr>
                      <a:r>
                        <a:rPr sz="1537" b="0">
                          <a:solidFill>
                            <a:srgbClr val="1D2227"/>
                          </a:solidFill>
                          <a:latin typeface="Noto Sans KR"/>
                        </a:rPr>
                        <a:t>19,795,169명</a:t>
                      </a:r>
                    </a:p>
                  </a:txBody>
                  <a:tcPr marL="95250" marR="95250" marT="66675" marB="66675" anchor="ctr">
                    <a:solidFill>
                      <a:srgbClr val="EAF1F6"/>
                    </a:solidFill>
                  </a:tcPr>
                </a:tc>
                <a:tc>
                  <a:txBody>
                    <a:bodyPr wrap="none"/>
                    <a:lstStyle/>
                    <a:p>
                      <a:pPr eaLnBrk="0">
                        <a:lnSpc>
                          <a:spcPct val="112000"/>
                        </a:lnSpc>
                        <a:spcBef>
                          <a:spcPts val="0"/>
                        </a:spcBef>
                        <a:spcAft>
                          <a:spcPts val="0"/>
                        </a:spcAft>
                      </a:pPr>
                      <a:r>
                        <a:rPr sz="1537" b="0">
                          <a:solidFill>
                            <a:srgbClr val="1D2227"/>
                          </a:solidFill>
                          <a:latin typeface="Noto Sans KR"/>
                        </a:rPr>
                        <a:t>22,430,995명</a:t>
                      </a:r>
                    </a:p>
                  </a:txBody>
                  <a:tcPr marL="95250" marR="95250" marT="66675" marB="66675" anchor="ctr">
                    <a:solidFill>
                      <a:srgbClr val="EAF1F6"/>
                    </a:solidFill>
                  </a:tcPr>
                </a:tc>
                <a:tc>
                  <a:txBody>
                    <a:bodyPr wrap="none"/>
                    <a:lstStyle/>
                    <a:p>
                      <a:pPr eaLnBrk="0">
                        <a:lnSpc>
                          <a:spcPct val="112000"/>
                        </a:lnSpc>
                        <a:spcBef>
                          <a:spcPts val="0"/>
                        </a:spcBef>
                        <a:spcAft>
                          <a:spcPts val="0"/>
                        </a:spcAft>
                      </a:pPr>
                      <a:r>
                        <a:rPr sz="1537" b="0">
                          <a:solidFill>
                            <a:srgbClr val="1D2227"/>
                          </a:solidFill>
                          <a:latin typeface="Noto Sans KR"/>
                        </a:rPr>
                        <a:t>↑ 2,635,826명 · 13.32%</a:t>
                      </a:r>
                    </a:p>
                  </a:txBody>
                  <a:tcPr marL="95250" marR="95250" marT="66675" marB="66675" anchor="ctr">
                    <a:solidFill>
                      <a:srgbClr val="EAF1F6"/>
                    </a:solidFill>
                  </a:tcPr>
                </a:tc>
              </a:tr>
            </a:tbl>
          </a:graphicData>
        </a:graphic>
      </p:graphicFrame>
      <p:sp xmlns:a="http://schemas.openxmlformats.org/drawingml/2006/main">
        <p:nvSpPr>
          <p:cNvPr id="6" name="kpi-total-0"/>
          <p:cNvSpPr txBox="1"/>
          <p:nvPr/>
        </p:nvSpPr>
        <p:spPr>
          <a:xfrm>
            <a:off x="8743950" y="2047875"/>
            <a:ext cx="5486400" cy="409575"/>
          </a:xfrm>
          <a:prstGeom prst="rect">
            <a:avLst/>
          </a:prstGeom>
          <a:noFill/>
        </p:spPr>
        <p:txBody>
          <a:bodyPr wrap="none" lIns="57150" rIns="57150" tIns="38100" bIns="38100" anchor="t">
            <a:noAutofit/>
          </a:bodyPr>
          <a:lstStyle/>
          <a:p>
            <a:pPr eaLnBrk="0" algn="ctr">
              <a:lnSpc>
                <a:spcPts val="2156"/>
              </a:lnSpc>
              <a:spcBef>
                <a:spcPts val="0"/>
              </a:spcBef>
              <a:spcAft>
                <a:spcPts val="0"/>
              </a:spcAft>
            </a:pPr>
            <a:r>
              <a:rPr sz="1725" b="1">
                <a:solidFill>
                  <a:srgbClr val="FF6B00"/>
                </a:solidFill>
                <a:latin typeface="Noto Sans KR"/>
              </a:rPr>
              <a:t>3개월 목표 추가 규모 ↑ 2,635,826명</a:t>
            </a:r>
          </a:p>
        </p:txBody>
      </p:sp>
      <p:sp xmlns:a="http://schemas.openxmlformats.org/drawingml/2006/main">
        <p:nvSpPr>
          <p:cNvPr id="7" name="kpi-title-1"/>
          <p:cNvSpPr txBox="1"/>
          <p:nvPr/>
        </p:nvSpPr>
        <p:spPr>
          <a:xfrm>
            <a:off x="1009650" y="4714875"/>
            <a:ext cx="8096250" cy="371475"/>
          </a:xfrm>
          <a:prstGeom prst="rect">
            <a:avLst/>
          </a:prstGeom>
          <a:noFill/>
        </p:spPr>
        <p:txBody>
          <a:bodyPr wrap="none" lIns="57150" rIns="57150" tIns="38100" bIns="38100" anchor="t">
            <a:noAutofit/>
          </a:bodyPr>
          <a:lstStyle/>
          <a:p>
            <a:pPr eaLnBrk="0">
              <a:lnSpc>
                <a:spcPts val="2296"/>
              </a:lnSpc>
              <a:spcBef>
                <a:spcPts val="0"/>
              </a:spcBef>
              <a:spcAft>
                <a:spcPts val="0"/>
              </a:spcAft>
            </a:pPr>
            <a:r>
              <a:rPr sz="1837" b="1">
                <a:solidFill>
                  <a:srgbClr val="004EA2"/>
                </a:solidFill>
                <a:latin typeface="Noto Sans KR"/>
              </a:rPr>
              <a:t>관광소비액</a:t>
            </a:r>
          </a:p>
        </p:txBody>
      </p:sp>
      <p:graphicFrame xmlns:a="http://schemas.openxmlformats.org/drawingml/2006/main">
        <p:nvGraphicFramePr>
          <p:cNvPr id="8" name="kpi-spending-table"/>
          <p:cNvGraphicFramePr>
            <a:graphicFrameLocks noGrp="1"/>
          </p:cNvGraphicFramePr>
          <p:nvPr/>
        </p:nvGraphicFramePr>
        <p:xfrm>
          <a:off x="1009650" y="5181600"/>
          <a:ext cx="13220700" cy="2019300"/>
        </p:xfrm>
        <a:graphic>
          <a:graphicData uri="http://schemas.openxmlformats.org/drawingml/2006/table">
            <a:tbl>
              <a:tblPr firstRow="1" bandRow="1">
                <a:tableStyleId>{5C22544A-7EE6-4342-B048-85BDC9FD1C3A}</a:tableStyleId>
              </a:tblPr>
              <a:tblGrid>
                <a:gridCol w="2143125"/>
                <a:gridCol w="3333750"/>
                <a:gridCol w="3333750"/>
                <a:gridCol w="4410075"/>
              </a:tblGrid>
              <a:tr h="495300">
                <a:tc>
                  <a:txBody>
                    <a:bodyPr wrap="none"/>
                    <a:lstStyle/>
                    <a:p>
                      <a:pPr eaLnBrk="0">
                        <a:lnSpc>
                          <a:spcPct val="112000"/>
                        </a:lnSpc>
                        <a:spcBef>
                          <a:spcPts val="0"/>
                        </a:spcBef>
                        <a:spcAft>
                          <a:spcPts val="0"/>
                        </a:spcAft>
                      </a:pPr>
                      <a:r>
                        <a:rPr sz="1575" b="1">
                          <a:solidFill>
                            <a:srgbClr val="FFFFFF"/>
                          </a:solidFill>
                          <a:latin typeface="Noto Sans KR"/>
                        </a:rPr>
                        <a:t>기준월</a:t>
                      </a:r>
                    </a:p>
                  </a:txBody>
                  <a:tcPr marL="95250" marR="95250" marT="66675" marB="66675" anchor="ctr">
                    <a:solidFill>
                      <a:srgbClr val="004EA2"/>
                    </a:solidFill>
                  </a:tcPr>
                </a:tc>
                <a:tc>
                  <a:txBody>
                    <a:bodyPr wrap="none"/>
                    <a:lstStyle/>
                    <a:p>
                      <a:pPr eaLnBrk="0">
                        <a:lnSpc>
                          <a:spcPct val="112000"/>
                        </a:lnSpc>
                        <a:spcBef>
                          <a:spcPts val="0"/>
                        </a:spcBef>
                        <a:spcAft>
                          <a:spcPts val="0"/>
                        </a:spcAft>
                      </a:pPr>
                      <a:r>
                        <a:rPr sz="1575" b="1">
                          <a:solidFill>
                            <a:srgbClr val="FFFFFF"/>
                          </a:solidFill>
                          <a:latin typeface="Noto Sans KR"/>
                        </a:rPr>
                        <a:t>머신러닝 예측값</a:t>
                      </a:r>
                    </a:p>
                  </a:txBody>
                  <a:tcPr marL="95250" marR="95250" marT="66675" marB="66675" anchor="ctr">
                    <a:solidFill>
                      <a:srgbClr val="004EA2"/>
                    </a:solidFill>
                  </a:tcPr>
                </a:tc>
                <a:tc>
                  <a:txBody>
                    <a:bodyPr wrap="none"/>
                    <a:lstStyle/>
                    <a:p>
                      <a:pPr eaLnBrk="0">
                        <a:lnSpc>
                          <a:spcPct val="112000"/>
                        </a:lnSpc>
                        <a:spcBef>
                          <a:spcPts val="0"/>
                        </a:spcBef>
                        <a:spcAft>
                          <a:spcPts val="0"/>
                        </a:spcAft>
                      </a:pPr>
                      <a:r>
                        <a:rPr sz="1575" b="1">
                          <a:solidFill>
                            <a:srgbClr val="FFFFFF"/>
                          </a:solidFill>
                          <a:latin typeface="Noto Sans KR"/>
                        </a:rPr>
                        <a:t>목표 KPI</a:t>
                      </a:r>
                    </a:p>
                  </a:txBody>
                  <a:tcPr marL="95250" marR="95250" marT="66675" marB="66675" anchor="ctr">
                    <a:solidFill>
                      <a:srgbClr val="004EA2"/>
                    </a:solidFill>
                  </a:tcPr>
                </a:tc>
                <a:tc>
                  <a:txBody>
                    <a:bodyPr wrap="none"/>
                    <a:lstStyle/>
                    <a:p>
                      <a:pPr eaLnBrk="0">
                        <a:lnSpc>
                          <a:spcPct val="112000"/>
                        </a:lnSpc>
                        <a:spcBef>
                          <a:spcPts val="0"/>
                        </a:spcBef>
                        <a:spcAft>
                          <a:spcPts val="0"/>
                        </a:spcAft>
                      </a:pPr>
                      <a:r>
                        <a:rPr sz="1575" b="1">
                          <a:solidFill>
                            <a:srgbClr val="FFFFFF"/>
                          </a:solidFill>
                          <a:latin typeface="Noto Sans KR"/>
                        </a:rPr>
                        <a:t>기준 대비 증가</a:t>
                      </a:r>
                    </a:p>
                  </a:txBody>
                  <a:tcPr marL="95250" marR="95250" marT="66675" marB="66675" anchor="ctr">
                    <a:solidFill>
                      <a:srgbClr val="004EA2"/>
                    </a:solidFill>
                  </a:tcPr>
                </a:tc>
              </a:tr>
              <a:tr h="381000">
                <a:tc>
                  <a:txBody>
                    <a:bodyPr wrap="none"/>
                    <a:lstStyle/>
                    <a:p>
                      <a:pPr eaLnBrk="0">
                        <a:lnSpc>
                          <a:spcPct val="112000"/>
                        </a:lnSpc>
                        <a:spcBef>
                          <a:spcPts val="0"/>
                        </a:spcBef>
                        <a:spcAft>
                          <a:spcPts val="0"/>
                        </a:spcAft>
                      </a:pPr>
                      <a:r>
                        <a:rPr sz="1537" b="1">
                          <a:solidFill>
                            <a:srgbClr val="1D2227"/>
                          </a:solidFill>
                          <a:latin typeface="Noto Sans KR"/>
                        </a:rPr>
                        <a:t>26.09</a:t>
                      </a:r>
                    </a:p>
                  </a:txBody>
                  <a:tcPr marL="95250" marR="95250" marT="66675" marB="66675" anchor="ctr">
                    <a:solidFill>
                      <a:srgbClr val="FFFFFF"/>
                    </a:solidFill>
                  </a:tcPr>
                </a:tc>
                <a:tc>
                  <a:txBody>
                    <a:bodyPr wrap="none"/>
                    <a:lstStyle/>
                    <a:p>
                      <a:pPr eaLnBrk="0">
                        <a:lnSpc>
                          <a:spcPct val="112000"/>
                        </a:lnSpc>
                        <a:spcBef>
                          <a:spcPts val="0"/>
                        </a:spcBef>
                        <a:spcAft>
                          <a:spcPts val="0"/>
                        </a:spcAft>
                      </a:pPr>
                      <a:r>
                        <a:rPr sz="1537" b="0">
                          <a:solidFill>
                            <a:srgbClr val="1D2227"/>
                          </a:solidFill>
                          <a:latin typeface="Noto Sans KR"/>
                        </a:rPr>
                        <a:t>1,029.06억 원</a:t>
                      </a:r>
                    </a:p>
                  </a:txBody>
                  <a:tcPr marL="95250" marR="95250" marT="66675" marB="66675" anchor="ctr">
                    <a:solidFill>
                      <a:srgbClr val="FFFFFF"/>
                    </a:solidFill>
                  </a:tcPr>
                </a:tc>
                <a:tc>
                  <a:txBody>
                    <a:bodyPr wrap="none"/>
                    <a:lstStyle/>
                    <a:p>
                      <a:pPr eaLnBrk="0">
                        <a:lnSpc>
                          <a:spcPct val="112000"/>
                        </a:lnSpc>
                        <a:spcBef>
                          <a:spcPts val="0"/>
                        </a:spcBef>
                        <a:spcAft>
                          <a:spcPts val="0"/>
                        </a:spcAft>
                      </a:pPr>
                      <a:r>
                        <a:rPr sz="1537" b="0">
                          <a:solidFill>
                            <a:srgbClr val="1D2227"/>
                          </a:solidFill>
                          <a:latin typeface="Noto Sans KR"/>
                        </a:rPr>
                        <a:t>1,097.66억 원</a:t>
                      </a:r>
                    </a:p>
                  </a:txBody>
                  <a:tcPr marL="95250" marR="95250" marT="66675" marB="66675" anchor="ctr">
                    <a:solidFill>
                      <a:srgbClr val="FFFFFF"/>
                    </a:solidFill>
                  </a:tcPr>
                </a:tc>
                <a:tc>
                  <a:txBody>
                    <a:bodyPr wrap="none"/>
                    <a:lstStyle/>
                    <a:p>
                      <a:pPr eaLnBrk="0">
                        <a:lnSpc>
                          <a:spcPct val="112000"/>
                        </a:lnSpc>
                        <a:spcBef>
                          <a:spcPts val="0"/>
                        </a:spcBef>
                        <a:spcAft>
                          <a:spcPts val="0"/>
                        </a:spcAft>
                      </a:pPr>
                      <a:r>
                        <a:rPr sz="1537" b="0">
                          <a:solidFill>
                            <a:srgbClr val="1D2227"/>
                          </a:solidFill>
                          <a:latin typeface="Noto Sans KR"/>
                        </a:rPr>
                        <a:t>↑ 68.60억 원 · 6.67%</a:t>
                      </a:r>
                    </a:p>
                  </a:txBody>
                  <a:tcPr marL="95250" marR="95250" marT="66675" marB="66675" anchor="ctr">
                    <a:solidFill>
                      <a:srgbClr val="FFFFFF"/>
                    </a:solidFill>
                  </a:tcPr>
                </a:tc>
              </a:tr>
              <a:tr h="381000">
                <a:tc>
                  <a:txBody>
                    <a:bodyPr wrap="none"/>
                    <a:lstStyle/>
                    <a:p>
                      <a:pPr eaLnBrk="0">
                        <a:lnSpc>
                          <a:spcPct val="112000"/>
                        </a:lnSpc>
                        <a:spcBef>
                          <a:spcPts val="0"/>
                        </a:spcBef>
                        <a:spcAft>
                          <a:spcPts val="0"/>
                        </a:spcAft>
                      </a:pPr>
                      <a:r>
                        <a:rPr sz="1537" b="1">
                          <a:solidFill>
                            <a:srgbClr val="1D2227"/>
                          </a:solidFill>
                          <a:latin typeface="Noto Sans KR"/>
                        </a:rPr>
                        <a:t>26.10</a:t>
                      </a:r>
                    </a:p>
                  </a:txBody>
                  <a:tcPr marL="95250" marR="95250" marT="66675" marB="66675" anchor="ctr">
                    <a:solidFill>
                      <a:srgbClr val="EAF1F6"/>
                    </a:solidFill>
                  </a:tcPr>
                </a:tc>
                <a:tc>
                  <a:txBody>
                    <a:bodyPr wrap="none"/>
                    <a:lstStyle/>
                    <a:p>
                      <a:pPr eaLnBrk="0">
                        <a:lnSpc>
                          <a:spcPct val="112000"/>
                        </a:lnSpc>
                        <a:spcBef>
                          <a:spcPts val="0"/>
                        </a:spcBef>
                        <a:spcAft>
                          <a:spcPts val="0"/>
                        </a:spcAft>
                      </a:pPr>
                      <a:r>
                        <a:rPr sz="1537" b="0">
                          <a:solidFill>
                            <a:srgbClr val="1D2227"/>
                          </a:solidFill>
                          <a:latin typeface="Noto Sans KR"/>
                        </a:rPr>
                        <a:t>1,034.05억 원</a:t>
                      </a:r>
                    </a:p>
                  </a:txBody>
                  <a:tcPr marL="95250" marR="95250" marT="66675" marB="66675" anchor="ctr">
                    <a:solidFill>
                      <a:srgbClr val="EAF1F6"/>
                    </a:solidFill>
                  </a:tcPr>
                </a:tc>
                <a:tc>
                  <a:txBody>
                    <a:bodyPr wrap="none"/>
                    <a:lstStyle/>
                    <a:p>
                      <a:pPr eaLnBrk="0">
                        <a:lnSpc>
                          <a:spcPct val="112000"/>
                        </a:lnSpc>
                        <a:spcBef>
                          <a:spcPts val="0"/>
                        </a:spcBef>
                        <a:spcAft>
                          <a:spcPts val="0"/>
                        </a:spcAft>
                      </a:pPr>
                      <a:r>
                        <a:rPr sz="1537" b="0">
                          <a:solidFill>
                            <a:srgbClr val="1D2227"/>
                          </a:solidFill>
                          <a:latin typeface="Noto Sans KR"/>
                        </a:rPr>
                        <a:t>1,171.92억 원</a:t>
                      </a:r>
                    </a:p>
                  </a:txBody>
                  <a:tcPr marL="95250" marR="95250" marT="66675" marB="66675" anchor="ctr">
                    <a:solidFill>
                      <a:srgbClr val="EAF1F6"/>
                    </a:solidFill>
                  </a:tcPr>
                </a:tc>
                <a:tc>
                  <a:txBody>
                    <a:bodyPr wrap="none"/>
                    <a:lstStyle/>
                    <a:p>
                      <a:pPr eaLnBrk="0">
                        <a:lnSpc>
                          <a:spcPct val="112000"/>
                        </a:lnSpc>
                        <a:spcBef>
                          <a:spcPts val="0"/>
                        </a:spcBef>
                        <a:spcAft>
                          <a:spcPts val="0"/>
                        </a:spcAft>
                      </a:pPr>
                      <a:r>
                        <a:rPr sz="1537" b="0">
                          <a:solidFill>
                            <a:srgbClr val="1D2227"/>
                          </a:solidFill>
                          <a:latin typeface="Noto Sans KR"/>
                        </a:rPr>
                        <a:t>↑ 137.87억 원 · 13.33%</a:t>
                      </a:r>
                    </a:p>
                  </a:txBody>
                  <a:tcPr marL="95250" marR="95250" marT="66675" marB="66675" anchor="ctr">
                    <a:solidFill>
                      <a:srgbClr val="EAF1F6"/>
                    </a:solidFill>
                  </a:tcPr>
                </a:tc>
              </a:tr>
              <a:tr h="381000">
                <a:tc>
                  <a:txBody>
                    <a:bodyPr wrap="none"/>
                    <a:lstStyle/>
                    <a:p>
                      <a:pPr eaLnBrk="0">
                        <a:lnSpc>
                          <a:spcPct val="112000"/>
                        </a:lnSpc>
                        <a:spcBef>
                          <a:spcPts val="0"/>
                        </a:spcBef>
                        <a:spcAft>
                          <a:spcPts val="0"/>
                        </a:spcAft>
                      </a:pPr>
                      <a:r>
                        <a:rPr sz="1537" b="1">
                          <a:solidFill>
                            <a:srgbClr val="1D2227"/>
                          </a:solidFill>
                          <a:latin typeface="Noto Sans KR"/>
                        </a:rPr>
                        <a:t>26.11</a:t>
                      </a:r>
                    </a:p>
                  </a:txBody>
                  <a:tcPr marL="95250" marR="95250" marT="66675" marB="66675" anchor="ctr">
                    <a:solidFill>
                      <a:srgbClr val="FFFFFF"/>
                    </a:solidFill>
                  </a:tcPr>
                </a:tc>
                <a:tc>
                  <a:txBody>
                    <a:bodyPr wrap="none"/>
                    <a:lstStyle/>
                    <a:p>
                      <a:pPr eaLnBrk="0">
                        <a:lnSpc>
                          <a:spcPct val="112000"/>
                        </a:lnSpc>
                        <a:spcBef>
                          <a:spcPts val="0"/>
                        </a:spcBef>
                        <a:spcAft>
                          <a:spcPts val="0"/>
                        </a:spcAft>
                      </a:pPr>
                      <a:r>
                        <a:rPr sz="1537" b="0">
                          <a:solidFill>
                            <a:srgbClr val="1D2227"/>
                          </a:solidFill>
                          <a:latin typeface="Noto Sans KR"/>
                        </a:rPr>
                        <a:t>1,071.18억 원</a:t>
                      </a:r>
                    </a:p>
                  </a:txBody>
                  <a:tcPr marL="95250" marR="95250" marT="66675" marB="66675" anchor="ctr">
                    <a:solidFill>
                      <a:srgbClr val="FFFFFF"/>
                    </a:solidFill>
                  </a:tcPr>
                </a:tc>
                <a:tc>
                  <a:txBody>
                    <a:bodyPr wrap="none"/>
                    <a:lstStyle/>
                    <a:p>
                      <a:pPr eaLnBrk="0">
                        <a:lnSpc>
                          <a:spcPct val="112000"/>
                        </a:lnSpc>
                        <a:spcBef>
                          <a:spcPts val="0"/>
                        </a:spcBef>
                        <a:spcAft>
                          <a:spcPts val="0"/>
                        </a:spcAft>
                      </a:pPr>
                      <a:r>
                        <a:rPr sz="1537" b="0">
                          <a:solidFill>
                            <a:srgbClr val="1D2227"/>
                          </a:solidFill>
                          <a:latin typeface="Noto Sans KR"/>
                        </a:rPr>
                        <a:t>1,285.41억 원</a:t>
                      </a:r>
                    </a:p>
                  </a:txBody>
                  <a:tcPr marL="95250" marR="95250" marT="66675" marB="66675" anchor="ctr">
                    <a:solidFill>
                      <a:srgbClr val="FFFFFF"/>
                    </a:solidFill>
                  </a:tcPr>
                </a:tc>
                <a:tc>
                  <a:txBody>
                    <a:bodyPr wrap="none"/>
                    <a:lstStyle/>
                    <a:p>
                      <a:pPr eaLnBrk="0">
                        <a:lnSpc>
                          <a:spcPct val="112000"/>
                        </a:lnSpc>
                        <a:spcBef>
                          <a:spcPts val="0"/>
                        </a:spcBef>
                        <a:spcAft>
                          <a:spcPts val="0"/>
                        </a:spcAft>
                      </a:pPr>
                      <a:r>
                        <a:rPr sz="1537" b="0">
                          <a:solidFill>
                            <a:srgbClr val="1D2227"/>
                          </a:solidFill>
                          <a:latin typeface="Noto Sans KR"/>
                        </a:rPr>
                        <a:t>↑ 214.24억 원 · 20.00%</a:t>
                      </a:r>
                    </a:p>
                  </a:txBody>
                  <a:tcPr marL="95250" marR="95250" marT="66675" marB="66675" anchor="ctr">
                    <a:solidFill>
                      <a:srgbClr val="FFFFFF"/>
                    </a:solidFill>
                  </a:tcPr>
                </a:tc>
              </a:tr>
              <a:tr h="381000">
                <a:tc>
                  <a:txBody>
                    <a:bodyPr wrap="none"/>
                    <a:lstStyle/>
                    <a:p>
                      <a:pPr eaLnBrk="0">
                        <a:lnSpc>
                          <a:spcPct val="112000"/>
                        </a:lnSpc>
                        <a:spcBef>
                          <a:spcPts val="0"/>
                        </a:spcBef>
                        <a:spcAft>
                          <a:spcPts val="0"/>
                        </a:spcAft>
                      </a:pPr>
                      <a:r>
                        <a:rPr sz="1537" b="1">
                          <a:solidFill>
                            <a:srgbClr val="1D2227"/>
                          </a:solidFill>
                          <a:latin typeface="Noto Sans KR"/>
                        </a:rPr>
                        <a:t>3개월 월별 합계</a:t>
                      </a:r>
                    </a:p>
                  </a:txBody>
                  <a:tcPr marL="95250" marR="95250" marT="66675" marB="66675" anchor="ctr">
                    <a:solidFill>
                      <a:srgbClr val="EAF1F6"/>
                    </a:solidFill>
                  </a:tcPr>
                </a:tc>
                <a:tc>
                  <a:txBody>
                    <a:bodyPr wrap="none"/>
                    <a:lstStyle/>
                    <a:p>
                      <a:pPr eaLnBrk="0">
                        <a:lnSpc>
                          <a:spcPct val="112000"/>
                        </a:lnSpc>
                        <a:spcBef>
                          <a:spcPts val="0"/>
                        </a:spcBef>
                        <a:spcAft>
                          <a:spcPts val="0"/>
                        </a:spcAft>
                      </a:pPr>
                      <a:r>
                        <a:rPr sz="1537" b="0">
                          <a:solidFill>
                            <a:srgbClr val="1D2227"/>
                          </a:solidFill>
                          <a:latin typeface="Noto Sans KR"/>
                        </a:rPr>
                        <a:t>3,134.28억 원</a:t>
                      </a:r>
                    </a:p>
                  </a:txBody>
                  <a:tcPr marL="95250" marR="95250" marT="66675" marB="66675" anchor="ctr">
                    <a:solidFill>
                      <a:srgbClr val="EAF1F6"/>
                    </a:solidFill>
                  </a:tcPr>
                </a:tc>
                <a:tc>
                  <a:txBody>
                    <a:bodyPr wrap="none"/>
                    <a:lstStyle/>
                    <a:p>
                      <a:pPr eaLnBrk="0">
                        <a:lnSpc>
                          <a:spcPct val="112000"/>
                        </a:lnSpc>
                        <a:spcBef>
                          <a:spcPts val="0"/>
                        </a:spcBef>
                        <a:spcAft>
                          <a:spcPts val="0"/>
                        </a:spcAft>
                      </a:pPr>
                      <a:r>
                        <a:rPr sz="1537" b="0">
                          <a:solidFill>
                            <a:srgbClr val="1D2227"/>
                          </a:solidFill>
                          <a:latin typeface="Noto Sans KR"/>
                        </a:rPr>
                        <a:t>3,554.99억 원</a:t>
                      </a:r>
                    </a:p>
                  </a:txBody>
                  <a:tcPr marL="95250" marR="95250" marT="66675" marB="66675" anchor="ctr">
                    <a:solidFill>
                      <a:srgbClr val="EAF1F6"/>
                    </a:solidFill>
                  </a:tcPr>
                </a:tc>
                <a:tc>
                  <a:txBody>
                    <a:bodyPr wrap="none"/>
                    <a:lstStyle/>
                    <a:p>
                      <a:pPr eaLnBrk="0">
                        <a:lnSpc>
                          <a:spcPct val="112000"/>
                        </a:lnSpc>
                        <a:spcBef>
                          <a:spcPts val="0"/>
                        </a:spcBef>
                        <a:spcAft>
                          <a:spcPts val="0"/>
                        </a:spcAft>
                      </a:pPr>
                      <a:r>
                        <a:rPr sz="1537" b="0">
                          <a:solidFill>
                            <a:srgbClr val="1D2227"/>
                          </a:solidFill>
                          <a:latin typeface="Noto Sans KR"/>
                        </a:rPr>
                        <a:t>↑ 420.71억 원 · 13.42%</a:t>
                      </a:r>
                    </a:p>
                  </a:txBody>
                  <a:tcPr marL="95250" marR="95250" marT="66675" marB="66675" anchor="ctr">
                    <a:solidFill>
                      <a:srgbClr val="EAF1F6"/>
                    </a:solidFill>
                  </a:tcPr>
                </a:tc>
              </a:tr>
            </a:tbl>
          </a:graphicData>
        </a:graphic>
      </p:graphicFrame>
      <p:sp xmlns:a="http://schemas.openxmlformats.org/drawingml/2006/main">
        <p:nvSpPr>
          <p:cNvPr id="9" name="kpi-total-1"/>
          <p:cNvSpPr txBox="1"/>
          <p:nvPr/>
        </p:nvSpPr>
        <p:spPr>
          <a:xfrm>
            <a:off x="8743950" y="4714875"/>
            <a:ext cx="5486400" cy="409575"/>
          </a:xfrm>
          <a:prstGeom prst="rect">
            <a:avLst/>
          </a:prstGeom>
          <a:noFill/>
        </p:spPr>
        <p:txBody>
          <a:bodyPr wrap="none" lIns="57150" rIns="57150" tIns="38100" bIns="38100" anchor="t">
            <a:noAutofit/>
          </a:bodyPr>
          <a:lstStyle/>
          <a:p>
            <a:pPr eaLnBrk="0" algn="ctr">
              <a:lnSpc>
                <a:spcPts val="2156"/>
              </a:lnSpc>
              <a:spcBef>
                <a:spcPts val="0"/>
              </a:spcBef>
              <a:spcAft>
                <a:spcPts val="0"/>
              </a:spcAft>
            </a:pPr>
            <a:r>
              <a:rPr sz="1725" b="1">
                <a:solidFill>
                  <a:srgbClr val="FF6B00"/>
                </a:solidFill>
                <a:latin typeface="Noto Sans KR"/>
              </a:rPr>
              <a:t>3개월 목표 추가 규모 ↑ 420.71억 원</a:t>
            </a:r>
          </a:p>
        </p:txBody>
      </p:sp>
      <p:sp xmlns:a="http://schemas.openxmlformats.org/drawingml/2006/main">
        <p:nvSpPr>
          <p:cNvPr id="10" name="kpi-calculation"/>
          <p:cNvSpPr txBox="1"/>
          <p:nvPr/>
        </p:nvSpPr>
        <p:spPr>
          <a:xfrm>
            <a:off x="1009650" y="7429500"/>
            <a:ext cx="13220700" cy="1066800"/>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a:solidFill>
                  <a:srgbClr val="59636E"/>
                </a:solidFill>
                <a:latin typeface="Noto Sans KR"/>
              </a:rPr>
              <a:t>월별 소비/방문 비율 = ML 소비액 ÷ ML 방문 수 | 26.09 15,500원 · 26.10 15,738원 · 26.11 16,265원</a:t>
            </a:r>
          </a:p>
          <a:p>
            <a:pPr eaLnBrk="0">
              <a:lnSpc>
                <a:spcPts val="1687"/>
              </a:lnSpc>
              <a:spcBef>
                <a:spcPts val="0"/>
              </a:spcBef>
              <a:spcAft>
                <a:spcPts val="0"/>
              </a:spcAft>
            </a:pPr>
            <a:r>
              <a:rPr sz="1350" b="0">
                <a:solidFill>
                  <a:srgbClr val="59636E"/>
                </a:solidFill>
                <a:latin typeface="Noto Sans KR"/>
              </a:rPr>
              <a:t>목표 소비액 = ML 소비액 + (목표 방문 수 − ML 방문 수) × 해당 월 소비/방문 비율</a:t>
            </a:r>
          </a:p>
          <a:p>
            <a:pPr eaLnBrk="0">
              <a:lnSpc>
                <a:spcPts val="1687"/>
              </a:lnSpc>
              <a:spcBef>
                <a:spcPts val="0"/>
              </a:spcBef>
              <a:spcAft>
                <a:spcPts val="0"/>
              </a:spcAft>
            </a:pPr>
            <a:r>
              <a:rPr sz="1350" b="0">
                <a:solidFill>
                  <a:srgbClr val="59636E"/>
                </a:solidFill>
                <a:latin typeface="Noto Sans KR"/>
              </a:rPr>
              <a:t>월별 증가율은 방문·소비가 같습니다. 합계 증가율 = (목표 합계 ÷ ML 합계 − 1) × 100; 월별 가중치에 따라 달라집니다.</a:t>
            </a:r>
          </a:p>
          <a:p>
            <a:pPr eaLnBrk="0">
              <a:lnSpc>
                <a:spcPts val="1687"/>
              </a:lnSpc>
              <a:spcBef>
                <a:spcPts val="0"/>
              </a:spcBef>
              <a:spcAft>
                <a:spcPts val="0"/>
              </a:spcAft>
            </a:pPr>
            <a:r>
              <a:rPr sz="1350" b="0">
                <a:solidFill>
                  <a:srgbClr val="59636E"/>
                </a:solidFill>
                <a:latin typeface="Noto Sans KR"/>
              </a:rPr>
              <a:t>비율은 기획용 가정이며 실제 객단가·보장 효과가 아닙니다. 방문 합계는 월 간 중복을 포함합니다.</a:t>
            </a:r>
          </a:p>
        </p:txBody>
      </p:sp>
    </p:spTree>
    <p:extLst>
      <p:ext uri="{BB962C8B-B14F-4D97-AF65-F5344CB8AC3E}">
        <p14:creationId xmlns:p14="http://schemas.microsoft.com/office/powerpoint/2010/main" val="553742078"/>
      </p:ext>
    </p:extLst>
  </p:cSld>
</p:sld>
</file>

<file path=ppt/slides/slide9.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xmlns:a="http://schemas.openxmlformats.org/drawingml/2006/main">
        <p:nvSpPr>
          <p:cNvPr id="2" name="title"/>
          <p:cNvSpPr txBox="1"/>
          <p:nvPr/>
        </p:nvSpPr>
        <p:spPr>
          <a:xfrm>
            <a:off x="952500" y="714375"/>
            <a:ext cx="13335000" cy="809625"/>
          </a:xfrm>
          <a:prstGeom prst="rect">
            <a:avLst/>
          </a:prstGeom>
          <a:noFill/>
        </p:spPr>
        <p:txBody>
          <a:bodyPr wrap="none" lIns="57150" rIns="57150" tIns="38100" bIns="38100" anchor="t">
            <a:noAutofit/>
          </a:bodyPr>
          <a:lstStyle/>
          <a:p>
            <a:pPr eaLnBrk="0">
              <a:lnSpc>
                <a:spcPts val="4500"/>
              </a:lnSpc>
              <a:spcBef>
                <a:spcPts val="0"/>
              </a:spcBef>
              <a:spcAft>
                <a:spcPts val="0"/>
              </a:spcAft>
            </a:pPr>
            <a:r>
              <a:rPr sz="3600" b="1">
                <a:solidFill>
                  <a:srgbClr val="004EA2"/>
                </a:solidFill>
                <a:latin typeface="Noto Sans KR"/>
              </a:rPr>
              <a:t>견적 예시안</a:t>
            </a:r>
          </a:p>
        </p:txBody>
      </p:sp>
      <p:sp xmlns:a="http://schemas.openxmlformats.org/drawingml/2006/main">
        <p:nvSpPr>
          <p:cNvPr id="3" name="title-rule"/>
          <p:cNvSpPr/>
          <p:nvPr/>
        </p:nvSpPr>
        <p:spPr>
          <a:xfrm>
            <a:off x="1009650" y="1724025"/>
            <a:ext cx="13220700" cy="28575"/>
          </a:xfrm>
          <a:prstGeom prst="rect">
            <a:avLst/>
          </a:prstGeom>
          <a:solidFill>
            <a:srgbClr val="004E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4" name="estimate-label"/>
          <p:cNvSpPr txBox="1"/>
          <p:nvPr/>
        </p:nvSpPr>
        <p:spPr>
          <a:xfrm>
            <a:off x="1009650" y="1933575"/>
            <a:ext cx="8477250" cy="476250"/>
          </a:xfrm>
          <a:prstGeom prst="rect">
            <a:avLst/>
          </a:prstGeom>
          <a:noFill/>
        </p:spPr>
        <p:txBody>
          <a:bodyPr wrap="none" lIns="57150" rIns="57150" tIns="38100" bIns="38100" anchor="t">
            <a:noAutofit/>
          </a:bodyPr>
          <a:lstStyle/>
          <a:p>
            <a:pPr eaLnBrk="0">
              <a:lnSpc>
                <a:spcPts val="2718"/>
              </a:lnSpc>
              <a:spcBef>
                <a:spcPts val="0"/>
              </a:spcBef>
              <a:spcAft>
                <a:spcPts val="0"/>
              </a:spcAft>
            </a:pPr>
            <a:r>
              <a:rPr sz="2175" b="1">
                <a:solidFill>
                  <a:srgbClr val="59636E"/>
                </a:solidFill>
                <a:latin typeface="Noto Sans KR"/>
              </a:rPr>
              <a:t>운영 규모를 가정한 시범 예산</a:t>
            </a:r>
          </a:p>
        </p:txBody>
      </p:sp>
      <p:sp xmlns:a="http://schemas.openxmlformats.org/drawingml/2006/main">
        <p:nvSpPr>
          <p:cNvPr id="5" name="estimate-total"/>
          <p:cNvSpPr txBox="1"/>
          <p:nvPr/>
        </p:nvSpPr>
        <p:spPr>
          <a:xfrm>
            <a:off x="9620250" y="1876425"/>
            <a:ext cx="4610100" cy="590550"/>
          </a:xfrm>
          <a:prstGeom prst="rect">
            <a:avLst/>
          </a:prstGeom>
          <a:noFill/>
        </p:spPr>
        <p:txBody>
          <a:bodyPr wrap="none" lIns="57150" rIns="57150" tIns="38100" bIns="38100" anchor="t">
            <a:noAutofit/>
          </a:bodyPr>
          <a:lstStyle/>
          <a:p>
            <a:pPr eaLnBrk="0">
              <a:lnSpc>
                <a:spcPts val="3656"/>
              </a:lnSpc>
              <a:spcBef>
                <a:spcPts val="0"/>
              </a:spcBef>
              <a:spcAft>
                <a:spcPts val="0"/>
              </a:spcAft>
            </a:pPr>
            <a:r>
              <a:rPr sz="2925" b="1">
                <a:solidFill>
                  <a:srgbClr val="004EA2"/>
                </a:solidFill>
                <a:latin typeface="Noto Sans KR"/>
              </a:rPr>
              <a:t>총 164,142만 원</a:t>
            </a:r>
          </a:p>
        </p:txBody>
      </p:sp>
      <p:graphicFrame xmlns:a="http://schemas.openxmlformats.org/drawingml/2006/main">
        <p:nvGraphicFramePr>
          <p:cNvPr id="6" name="estimate-table"/>
          <p:cNvGraphicFramePr>
            <a:graphicFrameLocks noGrp="1"/>
          </p:cNvGraphicFramePr>
          <p:nvPr/>
        </p:nvGraphicFramePr>
        <p:xfrm>
          <a:off x="1009650" y="2771775"/>
          <a:ext cx="13220700" cy="3829050"/>
        </p:xfrm>
        <a:graphic>
          <a:graphicData uri="http://schemas.openxmlformats.org/drawingml/2006/table">
            <a:tbl>
              <a:tblPr firstRow="1" bandRow="1">
                <a:tableStyleId>{5C22544A-7EE6-4342-B048-85BDC9FD1C3A}</a:tableStyleId>
              </a:tblPr>
              <a:tblGrid>
                <a:gridCol w="2762250"/>
                <a:gridCol w="2667000"/>
                <a:gridCol w="7791450"/>
              </a:tblGrid>
              <a:tr h="495300">
                <a:tc>
                  <a:txBody>
                    <a:bodyPr wrap="none"/>
                    <a:lstStyle/>
                    <a:p>
                      <a:pPr eaLnBrk="0">
                        <a:lnSpc>
                          <a:spcPct val="112000"/>
                        </a:lnSpc>
                        <a:spcBef>
                          <a:spcPts val="0"/>
                        </a:spcBef>
                        <a:spcAft>
                          <a:spcPts val="0"/>
                        </a:spcAft>
                      </a:pPr>
                      <a:r>
                        <a:rPr sz="1575" b="1">
                          <a:solidFill>
                            <a:srgbClr val="FFFFFF"/>
                          </a:solidFill>
                          <a:latin typeface="Noto Sans KR"/>
                        </a:rPr>
                        <a:t>항목</a:t>
                      </a:r>
                    </a:p>
                  </a:txBody>
                  <a:tcPr marL="95250" marR="95250" marT="66675" marB="66675" anchor="ctr">
                    <a:solidFill>
                      <a:srgbClr val="004EA2"/>
                    </a:solidFill>
                  </a:tcPr>
                </a:tc>
                <a:tc>
                  <a:txBody>
                    <a:bodyPr wrap="none"/>
                    <a:lstStyle/>
                    <a:p>
                      <a:pPr eaLnBrk="0">
                        <a:lnSpc>
                          <a:spcPct val="112000"/>
                        </a:lnSpc>
                        <a:spcBef>
                          <a:spcPts val="0"/>
                        </a:spcBef>
                        <a:spcAft>
                          <a:spcPts val="0"/>
                        </a:spcAft>
                      </a:pPr>
                      <a:r>
                        <a:rPr sz="1575" b="1">
                          <a:solidFill>
                            <a:srgbClr val="FFFFFF"/>
                          </a:solidFill>
                          <a:latin typeface="Noto Sans KR"/>
                        </a:rPr>
                        <a:t>금액</a:t>
                      </a:r>
                    </a:p>
                  </a:txBody>
                  <a:tcPr marL="95250" marR="95250" marT="66675" marB="66675" anchor="ctr">
                    <a:solidFill>
                      <a:srgbClr val="004EA2"/>
                    </a:solidFill>
                  </a:tcPr>
                </a:tc>
                <a:tc>
                  <a:txBody>
                    <a:bodyPr wrap="none"/>
                    <a:lstStyle/>
                    <a:p>
                      <a:pPr eaLnBrk="0">
                        <a:lnSpc>
                          <a:spcPct val="112000"/>
                        </a:lnSpc>
                        <a:spcBef>
                          <a:spcPts val="0"/>
                        </a:spcBef>
                        <a:spcAft>
                          <a:spcPts val="0"/>
                        </a:spcAft>
                      </a:pPr>
                      <a:r>
                        <a:rPr sz="1575" b="1">
                          <a:solidFill>
                            <a:srgbClr val="FFFFFF"/>
                          </a:solidFill>
                          <a:latin typeface="Noto Sans KR"/>
                        </a:rPr>
                        <a:t>산출근거</a:t>
                      </a:r>
                    </a:p>
                  </a:txBody>
                  <a:tcPr marL="95250" marR="95250" marT="66675" marB="66675" anchor="ctr">
                    <a:solidFill>
                      <a:srgbClr val="16845B"/>
                    </a:solidFill>
                  </a:tcPr>
                </a:tc>
              </a:tr>
              <a:tr h="555625">
                <a:tc>
                  <a:txBody>
                    <a:bodyPr wrap="none"/>
                    <a:lstStyle/>
                    <a:p>
                      <a:pPr eaLnBrk="0">
                        <a:lnSpc>
                          <a:spcPct val="112000"/>
                        </a:lnSpc>
                        <a:spcBef>
                          <a:spcPts val="0"/>
                        </a:spcBef>
                        <a:spcAft>
                          <a:spcPts val="0"/>
                        </a:spcAft>
                      </a:pPr>
                      <a:r>
                        <a:rPr sz="1575" b="1">
                          <a:solidFill>
                            <a:srgbClr val="1D2227"/>
                          </a:solidFill>
                          <a:latin typeface="Noto Sans KR"/>
                        </a:rPr>
                        <a:t>여행비 환급 지원</a:t>
                      </a:r>
                    </a:p>
                  </a:txBody>
                  <a:tcPr marL="95250" marR="95250" marT="66675" marB="66675" anchor="ctr">
                    <a:solidFill>
                      <a:srgbClr val="FFFFFF"/>
                    </a:solidFill>
                  </a:tcPr>
                </a:tc>
                <a:tc>
                  <a:txBody>
                    <a:bodyPr wrap="none"/>
                    <a:lstStyle/>
                    <a:p>
                      <a:pPr eaLnBrk="0">
                        <a:lnSpc>
                          <a:spcPct val="112000"/>
                        </a:lnSpc>
                        <a:spcBef>
                          <a:spcPts val="0"/>
                        </a:spcBef>
                        <a:spcAft>
                          <a:spcPts val="0"/>
                        </a:spcAft>
                      </a:pPr>
                      <a:r>
                        <a:rPr sz="1575" b="0">
                          <a:solidFill>
                            <a:srgbClr val="1D2227"/>
                          </a:solidFill>
                          <a:latin typeface="Noto Sans KR"/>
                        </a:rPr>
                        <a:t>1,317,950,000원</a:t>
                      </a:r>
                    </a:p>
                  </a:txBody>
                  <a:tcPr marL="95250" marR="95250" marT="66675" marB="66675" anchor="ctr">
                    <a:solidFill>
                      <a:srgbClr val="FFFFFF"/>
                    </a:solidFill>
                  </a:tcPr>
                </a:tc>
                <a:tc>
                  <a:txBody>
                    <a:bodyPr wrap="none"/>
                    <a:lstStyle/>
                    <a:p>
                      <a:pPr eaLnBrk="0">
                        <a:lnSpc>
                          <a:spcPct val="112000"/>
                        </a:lnSpc>
                        <a:spcBef>
                          <a:spcPts val="0"/>
                        </a:spcBef>
                        <a:spcAft>
                          <a:spcPts val="0"/>
                        </a:spcAft>
                      </a:pPr>
                      <a:r>
                        <a:rPr sz="1575" b="0">
                          <a:solidFill>
                            <a:srgbClr val="1D2227"/>
                          </a:solidFill>
                          <a:latin typeface="Noto Sans KR"/>
                        </a:rPr>
                        <a:t>26,359건 × 50,000원</a:t>
                      </a:r>
                    </a:p>
                  </a:txBody>
                  <a:tcPr marL="95250" marR="95250" marT="66675" marB="66675" anchor="ctr">
                    <a:solidFill>
                      <a:srgbClr val="FFFFFF"/>
                    </a:solidFill>
                  </a:tcPr>
                </a:tc>
              </a:tr>
              <a:tr h="555625">
                <a:tc>
                  <a:txBody>
                    <a:bodyPr wrap="none"/>
                    <a:lstStyle/>
                    <a:p>
                      <a:pPr eaLnBrk="0">
                        <a:lnSpc>
                          <a:spcPct val="112000"/>
                        </a:lnSpc>
                        <a:spcBef>
                          <a:spcPts val="0"/>
                        </a:spcBef>
                        <a:spcAft>
                          <a:spcPts val="0"/>
                        </a:spcAft>
                      </a:pPr>
                      <a:r>
                        <a:rPr sz="1575" b="1">
                          <a:solidFill>
                            <a:srgbClr val="1D2227"/>
                          </a:solidFill>
                          <a:latin typeface="Noto Sans KR"/>
                        </a:rPr>
                        <a:t>현장 운영·정산</a:t>
                      </a:r>
                    </a:p>
                  </a:txBody>
                  <a:tcPr marL="95250" marR="95250" marT="66675" marB="66675" anchor="ctr">
                    <a:solidFill>
                      <a:srgbClr val="EAF1F6"/>
                    </a:solidFill>
                  </a:tcPr>
                </a:tc>
                <a:tc>
                  <a:txBody>
                    <a:bodyPr wrap="none"/>
                    <a:lstStyle/>
                    <a:p>
                      <a:pPr eaLnBrk="0">
                        <a:lnSpc>
                          <a:spcPct val="112000"/>
                        </a:lnSpc>
                        <a:spcBef>
                          <a:spcPts val="0"/>
                        </a:spcBef>
                        <a:spcAft>
                          <a:spcPts val="0"/>
                        </a:spcAft>
                      </a:pPr>
                      <a:r>
                        <a:rPr sz="1575" b="0">
                          <a:solidFill>
                            <a:srgbClr val="1D2227"/>
                          </a:solidFill>
                          <a:latin typeface="Noto Sans KR"/>
                        </a:rPr>
                        <a:t>158,250,000원</a:t>
                      </a:r>
                    </a:p>
                  </a:txBody>
                  <a:tcPr marL="95250" marR="95250" marT="66675" marB="66675" anchor="ctr">
                    <a:solidFill>
                      <a:srgbClr val="EAF1F6"/>
                    </a:solidFill>
                  </a:tcPr>
                </a:tc>
                <a:tc>
                  <a:txBody>
                    <a:bodyPr wrap="none"/>
                    <a:lstStyle/>
                    <a:p>
                      <a:pPr eaLnBrk="0">
                        <a:lnSpc>
                          <a:spcPct val="112000"/>
                        </a:lnSpc>
                        <a:spcBef>
                          <a:spcPts val="0"/>
                        </a:spcBef>
                        <a:spcAft>
                          <a:spcPts val="0"/>
                        </a:spcAft>
                      </a:pPr>
                      <a:r>
                        <a:rPr sz="1575" b="0">
                          <a:solidFill>
                            <a:srgbClr val="1D2227"/>
                          </a:solidFill>
                          <a:latin typeface="Noto Sans KR"/>
                        </a:rPr>
                        <a:t>max(월 20인일 × 3, 26,359건 ÷ 25건/인일 올림) = 1055인일 × 150,000원</a:t>
                      </a:r>
                    </a:p>
                  </a:txBody>
                  <a:tcPr marL="95250" marR="95250" marT="66675" marB="66675" anchor="ctr">
                    <a:solidFill>
                      <a:srgbClr val="EAF1F6"/>
                    </a:solidFill>
                  </a:tcPr>
                </a:tc>
              </a:tr>
              <a:tr h="555625">
                <a:tc>
                  <a:txBody>
                    <a:bodyPr wrap="none"/>
                    <a:lstStyle/>
                    <a:p>
                      <a:pPr eaLnBrk="0">
                        <a:lnSpc>
                          <a:spcPct val="112000"/>
                        </a:lnSpc>
                        <a:spcBef>
                          <a:spcPts val="0"/>
                        </a:spcBef>
                        <a:spcAft>
                          <a:spcPts val="0"/>
                        </a:spcAft>
                      </a:pPr>
                      <a:r>
                        <a:rPr sz="1575" b="1">
                          <a:solidFill>
                            <a:srgbClr val="1D2227"/>
                          </a:solidFill>
                          <a:latin typeface="Noto Sans KR"/>
                        </a:rPr>
                        <a:t>신청·증빙 시스템</a:t>
                      </a:r>
                    </a:p>
                  </a:txBody>
                  <a:tcPr marL="95250" marR="95250" marT="66675" marB="66675" anchor="ctr">
                    <a:solidFill>
                      <a:srgbClr val="FFFFFF"/>
                    </a:solidFill>
                  </a:tcPr>
                </a:tc>
                <a:tc>
                  <a:txBody>
                    <a:bodyPr wrap="none"/>
                    <a:lstStyle/>
                    <a:p>
                      <a:pPr eaLnBrk="0">
                        <a:lnSpc>
                          <a:spcPct val="112000"/>
                        </a:lnSpc>
                        <a:spcBef>
                          <a:spcPts val="0"/>
                        </a:spcBef>
                        <a:spcAft>
                          <a:spcPts val="0"/>
                        </a:spcAft>
                      </a:pPr>
                      <a:r>
                        <a:rPr sz="1575" b="0">
                          <a:solidFill>
                            <a:srgbClr val="1D2227"/>
                          </a:solidFill>
                          <a:latin typeface="Noto Sans KR"/>
                        </a:rPr>
                        <a:t>8,000,000원</a:t>
                      </a:r>
                    </a:p>
                  </a:txBody>
                  <a:tcPr marL="95250" marR="95250" marT="66675" marB="66675" anchor="ctr">
                    <a:solidFill>
                      <a:srgbClr val="FFFFFF"/>
                    </a:solidFill>
                  </a:tcPr>
                </a:tc>
                <a:tc>
                  <a:txBody>
                    <a:bodyPr wrap="none"/>
                    <a:lstStyle/>
                    <a:p>
                      <a:pPr eaLnBrk="0">
                        <a:lnSpc>
                          <a:spcPct val="112000"/>
                        </a:lnSpc>
                        <a:spcBef>
                          <a:spcPts val="0"/>
                        </a:spcBef>
                        <a:spcAft>
                          <a:spcPts val="0"/>
                        </a:spcAft>
                      </a:pPr>
                      <a:r>
                        <a:rPr sz="1575" b="0">
                          <a:solidFill>
                            <a:srgbClr val="1D2227"/>
                          </a:solidFill>
                          <a:latin typeface="Noto Sans KR"/>
                        </a:rPr>
                        <a:t>기존 시스템 설정 1식 × 800만원</a:t>
                      </a:r>
                    </a:p>
                  </a:txBody>
                  <a:tcPr marL="95250" marR="95250" marT="66675" marB="66675" anchor="ctr">
                    <a:solidFill>
                      <a:srgbClr val="FFFFFF"/>
                    </a:solidFill>
                  </a:tcPr>
                </a:tc>
              </a:tr>
              <a:tr h="555625">
                <a:tc>
                  <a:txBody>
                    <a:bodyPr wrap="none"/>
                    <a:lstStyle/>
                    <a:p>
                      <a:pPr eaLnBrk="0">
                        <a:lnSpc>
                          <a:spcPct val="112000"/>
                        </a:lnSpc>
                        <a:spcBef>
                          <a:spcPts val="0"/>
                        </a:spcBef>
                        <a:spcAft>
                          <a:spcPts val="0"/>
                        </a:spcAft>
                      </a:pPr>
                      <a:r>
                        <a:rPr sz="1575" b="1">
                          <a:solidFill>
                            <a:srgbClr val="1D2227"/>
                          </a:solidFill>
                          <a:latin typeface="Noto Sans KR"/>
                        </a:rPr>
                        <a:t>홍보·참여처 안내</a:t>
                      </a:r>
                    </a:p>
                  </a:txBody>
                  <a:tcPr marL="95250" marR="95250" marT="66675" marB="66675" anchor="ctr">
                    <a:solidFill>
                      <a:srgbClr val="EAF1F6"/>
                    </a:solidFill>
                  </a:tcPr>
                </a:tc>
                <a:tc>
                  <a:txBody>
                    <a:bodyPr wrap="none"/>
                    <a:lstStyle/>
                    <a:p>
                      <a:pPr eaLnBrk="0">
                        <a:lnSpc>
                          <a:spcPct val="112000"/>
                        </a:lnSpc>
                        <a:spcBef>
                          <a:spcPts val="0"/>
                        </a:spcBef>
                        <a:spcAft>
                          <a:spcPts val="0"/>
                        </a:spcAft>
                      </a:pPr>
                      <a:r>
                        <a:rPr sz="1575" b="0">
                          <a:solidFill>
                            <a:srgbClr val="1D2227"/>
                          </a:solidFill>
                          <a:latin typeface="Noto Sans KR"/>
                        </a:rPr>
                        <a:t>5,000,000원</a:t>
                      </a:r>
                    </a:p>
                  </a:txBody>
                  <a:tcPr marL="95250" marR="95250" marT="66675" marB="66675" anchor="ctr">
                    <a:solidFill>
                      <a:srgbClr val="EAF1F6"/>
                    </a:solidFill>
                  </a:tcPr>
                </a:tc>
                <a:tc>
                  <a:txBody>
                    <a:bodyPr wrap="none"/>
                    <a:lstStyle/>
                    <a:p>
                      <a:pPr eaLnBrk="0">
                        <a:lnSpc>
                          <a:spcPct val="112000"/>
                        </a:lnSpc>
                        <a:spcBef>
                          <a:spcPts val="0"/>
                        </a:spcBef>
                        <a:spcAft>
                          <a:spcPts val="0"/>
                        </a:spcAft>
                      </a:pPr>
                      <a:r>
                        <a:rPr sz="1575" b="0">
                          <a:solidFill>
                            <a:srgbClr val="1D2227"/>
                          </a:solidFill>
                          <a:latin typeface="Noto Sans KR"/>
                        </a:rPr>
                        <a:t>콘텐츠·안내물 1식 × 500만원</a:t>
                      </a:r>
                    </a:p>
                  </a:txBody>
                  <a:tcPr marL="95250" marR="95250" marT="66675" marB="66675" anchor="ctr">
                    <a:solidFill>
                      <a:srgbClr val="EAF1F6"/>
                    </a:solidFill>
                  </a:tcPr>
                </a:tc>
              </a:tr>
              <a:tr h="555625">
                <a:tc>
                  <a:txBody>
                    <a:bodyPr wrap="none"/>
                    <a:lstStyle/>
                    <a:p>
                      <a:pPr eaLnBrk="0">
                        <a:lnSpc>
                          <a:spcPct val="112000"/>
                        </a:lnSpc>
                        <a:spcBef>
                          <a:spcPts val="0"/>
                        </a:spcBef>
                        <a:spcAft>
                          <a:spcPts val="0"/>
                        </a:spcAft>
                      </a:pPr>
                      <a:r>
                        <a:rPr sz="1575" b="1">
                          <a:solidFill>
                            <a:srgbClr val="1D2227"/>
                          </a:solidFill>
                          <a:latin typeface="Noto Sans KR"/>
                        </a:rPr>
                        <a:t>성과 집계·검토</a:t>
                      </a:r>
                    </a:p>
                  </a:txBody>
                  <a:tcPr marL="95250" marR="95250" marT="66675" marB="66675" anchor="ctr">
                    <a:solidFill>
                      <a:srgbClr val="FFFFFF"/>
                    </a:solidFill>
                  </a:tcPr>
                </a:tc>
                <a:tc>
                  <a:txBody>
                    <a:bodyPr wrap="none"/>
                    <a:lstStyle/>
                    <a:p>
                      <a:pPr eaLnBrk="0">
                        <a:lnSpc>
                          <a:spcPct val="112000"/>
                        </a:lnSpc>
                        <a:spcBef>
                          <a:spcPts val="0"/>
                        </a:spcBef>
                        <a:spcAft>
                          <a:spcPts val="0"/>
                        </a:spcAft>
                      </a:pPr>
                      <a:r>
                        <a:rPr sz="1575" b="0">
                          <a:solidFill>
                            <a:srgbClr val="1D2227"/>
                          </a:solidFill>
                          <a:latin typeface="Noto Sans KR"/>
                        </a:rPr>
                        <a:t>3,000,000원</a:t>
                      </a:r>
                    </a:p>
                  </a:txBody>
                  <a:tcPr marL="95250" marR="95250" marT="66675" marB="66675" anchor="ctr">
                    <a:solidFill>
                      <a:srgbClr val="FFFFFF"/>
                    </a:solidFill>
                  </a:tcPr>
                </a:tc>
                <a:tc>
                  <a:txBody>
                    <a:bodyPr wrap="none"/>
                    <a:lstStyle/>
                    <a:p>
                      <a:pPr eaLnBrk="0">
                        <a:lnSpc>
                          <a:spcPct val="112000"/>
                        </a:lnSpc>
                        <a:spcBef>
                          <a:spcPts val="0"/>
                        </a:spcBef>
                        <a:spcAft>
                          <a:spcPts val="0"/>
                        </a:spcAft>
                      </a:pPr>
                      <a:r>
                        <a:rPr sz="1575" b="0">
                          <a:solidFill>
                            <a:srgbClr val="1D2227"/>
                          </a:solidFill>
                          <a:latin typeface="Noto Sans KR"/>
                        </a:rPr>
                        <a:t>자료 정리·평가 1식 × 300만원</a:t>
                      </a:r>
                    </a:p>
                  </a:txBody>
                  <a:tcPr marL="95250" marR="95250" marT="66675" marB="66675" anchor="ctr">
                    <a:solidFill>
                      <a:srgbClr val="FFFFFF"/>
                    </a:solidFill>
                  </a:tcPr>
                </a:tc>
              </a:tr>
              <a:tr h="555625">
                <a:tc>
                  <a:txBody>
                    <a:bodyPr wrap="none"/>
                    <a:lstStyle/>
                    <a:p>
                      <a:pPr eaLnBrk="0">
                        <a:lnSpc>
                          <a:spcPct val="112000"/>
                        </a:lnSpc>
                        <a:spcBef>
                          <a:spcPts val="0"/>
                        </a:spcBef>
                        <a:spcAft>
                          <a:spcPts val="0"/>
                        </a:spcAft>
                      </a:pPr>
                      <a:r>
                        <a:rPr sz="1575" b="1">
                          <a:solidFill>
                            <a:srgbClr val="1D2227"/>
                          </a:solidFill>
                          <a:latin typeface="Noto Sans KR"/>
                        </a:rPr>
                        <a:t>예비비</a:t>
                      </a:r>
                    </a:p>
                  </a:txBody>
                  <a:tcPr marL="95250" marR="95250" marT="66675" marB="66675" anchor="ctr">
                    <a:solidFill>
                      <a:srgbClr val="EAF1F6"/>
                    </a:solidFill>
                  </a:tcPr>
                </a:tc>
                <a:tc>
                  <a:txBody>
                    <a:bodyPr wrap="none"/>
                    <a:lstStyle/>
                    <a:p>
                      <a:pPr eaLnBrk="0">
                        <a:lnSpc>
                          <a:spcPct val="112000"/>
                        </a:lnSpc>
                        <a:spcBef>
                          <a:spcPts val="0"/>
                        </a:spcBef>
                        <a:spcAft>
                          <a:spcPts val="0"/>
                        </a:spcAft>
                      </a:pPr>
                      <a:r>
                        <a:rPr sz="1575" b="0">
                          <a:solidFill>
                            <a:srgbClr val="1D2227"/>
                          </a:solidFill>
                          <a:latin typeface="Noto Sans KR"/>
                        </a:rPr>
                        <a:t>149,220,000원</a:t>
                      </a:r>
                    </a:p>
                  </a:txBody>
                  <a:tcPr marL="95250" marR="95250" marT="66675" marB="66675" anchor="ctr">
                    <a:solidFill>
                      <a:srgbClr val="EAF1F6"/>
                    </a:solidFill>
                  </a:tcPr>
                </a:tc>
                <a:tc>
                  <a:txBody>
                    <a:bodyPr wrap="none"/>
                    <a:lstStyle/>
                    <a:p>
                      <a:pPr eaLnBrk="0">
                        <a:lnSpc>
                          <a:spcPct val="112000"/>
                        </a:lnSpc>
                        <a:spcBef>
                          <a:spcPts val="0"/>
                        </a:spcBef>
                        <a:spcAft>
                          <a:spcPts val="0"/>
                        </a:spcAft>
                      </a:pPr>
                      <a:r>
                        <a:rPr sz="1575" b="0">
                          <a:solidFill>
                            <a:srgbClr val="1D2227"/>
                          </a:solidFill>
                          <a:latin typeface="Noto Sans KR"/>
                        </a:rPr>
                        <a:t>직접비 149,220만원 × 10%</a:t>
                      </a:r>
                    </a:p>
                  </a:txBody>
                  <a:tcPr marL="95250" marR="95250" marT="66675" marB="66675" anchor="ctr">
                    <a:solidFill>
                      <a:srgbClr val="EAF1F6"/>
                    </a:solidFill>
                  </a:tcPr>
                </a:tc>
              </a:tr>
            </a:tbl>
          </a:graphicData>
        </a:graphic>
      </p:graphicFrame>
      <p:sp xmlns:a="http://schemas.openxmlformats.org/drawingml/2006/main">
        <p:nvSpPr>
          <p:cNvPr id="7" name="estimate-method"/>
          <p:cNvSpPr txBox="1"/>
          <p:nvPr/>
        </p:nvSpPr>
        <p:spPr>
          <a:xfrm>
            <a:off x="1009650" y="6858000"/>
            <a:ext cx="13220700" cy="1009650"/>
          </a:xfrm>
          <a:prstGeom prst="rect">
            <a:avLst/>
          </a:prstGeom>
          <a:noFill/>
        </p:spPr>
        <p:txBody>
          <a:bodyPr wrap="none" lIns="57150" rIns="57150" tIns="38100" bIns="38100" anchor="t">
            <a:noAutofit/>
          </a:bodyPr>
          <a:lstStyle/>
          <a:p>
            <a:pPr eaLnBrk="0">
              <a:lnSpc>
                <a:spcPts val="1781"/>
              </a:lnSpc>
              <a:spcBef>
                <a:spcPts val="0"/>
              </a:spcBef>
              <a:spcAft>
                <a:spcPts val="0"/>
              </a:spcAft>
            </a:pPr>
            <a:r>
              <a:rPr sz="1425" b="0">
                <a:solidFill>
                  <a:srgbClr val="59636E"/>
                </a:solidFill>
                <a:latin typeface="Noto Sans KR"/>
              </a:rPr>
              <a:t>사업기간 추가 방문 목표 2,635,826명 × 시범 담당 비중 1% → 26,359건(올림). 1%는 직접 운영할 참여량 배분 가정이며 전환율 예측이 아닙니다.</a:t>
            </a:r>
          </a:p>
          <a:p>
            <a:pPr eaLnBrk="0">
              <a:lnSpc>
                <a:spcPts val="1781"/>
              </a:lnSpc>
              <a:spcBef>
                <a:spcPts val="0"/>
              </a:spcBef>
              <a:spcAft>
                <a:spcPts val="0"/>
              </a:spcAft>
            </a:pPr>
            <a:r>
              <a:rPr sz="1425" b="0">
                <a:solidFill>
                  <a:srgbClr val="59636E"/>
                </a:solidFill>
                <a:latin typeface="Noto Sans KR"/>
              </a:rPr>
              <a:t>직접비 = 혜택 + 운영·정산 + 시스템 + 홍보 + 평가; 예비비 = 직접비 × 10%. 단가와 처리량은 기획 가정입니다.</a:t>
            </a:r>
          </a:p>
        </p:txBody>
      </p:sp>
      <p:sp xmlns:a="http://schemas.openxmlformats.org/drawingml/2006/main">
        <p:nvSpPr>
          <p:cNvPr id="8" name="estimate-note"/>
          <p:cNvSpPr txBox="1"/>
          <p:nvPr/>
        </p:nvSpPr>
        <p:spPr>
          <a:xfrm>
            <a:off x="1009650" y="8077200"/>
            <a:ext cx="13220700" cy="361950"/>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a:solidFill>
                  <a:srgbClr val="004EA2"/>
                </a:solidFill>
                <a:latin typeface="Noto Sans KR"/>
              </a:rPr>
              <a:t>예상 견적이며 실제 액수와 다를 수 있습니다. 세금 포함 여부·업무 범위·수량·단가는 계약 전에 조정합니다.</a:t>
            </a:r>
          </a:p>
        </p:txBody>
      </p:sp>
    </p:spTree>
    <p:extLst>
      <p:ext uri="{BB962C8B-B14F-4D97-AF65-F5344CB8AC3E}">
        <p14:creationId xmlns:p14="http://schemas.microsoft.com/office/powerpoint/2010/main" val="1823133345"/>
      </p:ext>
    </p:extLst>
  </p:cSld>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itle"/>
          <p:cNvSpPr txBox="1"/>
          <p:nvPr/>
        </p:nvSpPr>
        <p:spPr>
          <a:xfrm>
            <a:off x="952500" y="714375"/>
            <a:ext cx="13335000" cy="809625"/>
          </a:xfrm>
          <a:prstGeom prst="rect">
            <a:avLst/>
          </a:prstGeom>
          <a:noFill/>
        </p:spPr>
        <p:txBody>
          <a:bodyPr wrap="none" lIns="57150" rIns="57150" tIns="38100" bIns="38100" anchor="t">
            <a:noAutofit/>
          </a:bodyPr>
          <a:lstStyle/>
          <a:p>
            <a:pPr eaLnBrk="0">
              <a:lnSpc>
                <a:spcPts val="4500"/>
              </a:lnSpc>
              <a:spcBef>
                <a:spcPts val="0"/>
              </a:spcBef>
              <a:spcAft>
                <a:spcPts val="0"/>
              </a:spcAft>
            </a:pPr>
            <a:r>
              <a:rPr sz="3600" b="1">
                <a:solidFill>
                  <a:srgbClr val="004EA2"/>
                </a:solidFill>
                <a:latin typeface="Noto Sans KR"/>
              </a:rPr>
              <a:t>사례 실적과 목표 KPI 설정 근거</a:t>
            </a:r>
          </a:p>
        </p:txBody>
      </p:sp>
      <p:sp>
        <p:nvSpPr>
          <p:cNvPr id="3" name="title-rule"/>
          <p:cNvSpPr/>
          <p:nvPr/>
        </p:nvSpPr>
        <p:spPr>
          <a:xfrm>
            <a:off x="1009650" y="1724025"/>
            <a:ext cx="13220700" cy="28575"/>
          </a:xfrm>
          <a:prstGeom prst="rect">
            <a:avLst/>
          </a:prstGeom>
          <a:solidFill>
            <a:srgbClr val="004E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basis-case-title"/>
          <p:cNvSpPr txBox="1"/>
          <p:nvPr/>
        </p:nvSpPr>
        <p:spPr>
          <a:xfrm>
            <a:off x="1009650" y="1952625"/>
            <a:ext cx="13220700" cy="495300"/>
          </a:xfrm>
          <a:prstGeom prst="rect">
            <a:avLst/>
          </a:prstGeom>
          <a:noFill/>
        </p:spPr>
        <p:txBody>
          <a:bodyPr wrap="none" lIns="57150" rIns="57150" tIns="38100" bIns="38100" anchor="t">
            <a:noAutofit/>
          </a:bodyPr>
          <a:lstStyle/>
          <a:p>
            <a:pPr eaLnBrk="0">
              <a:lnSpc>
                <a:spcPts val="2812"/>
              </a:lnSpc>
              <a:spcBef>
                <a:spcPts val="0"/>
              </a:spcBef>
              <a:spcAft>
                <a:spcPts val="0"/>
              </a:spcAft>
            </a:pPr>
            <a:r>
              <a:rPr sz="2250" b="1">
                <a:solidFill>
                  <a:srgbClr val="004EA2"/>
                </a:solidFill>
                <a:latin typeface="Noto Sans KR"/>
              </a:rPr>
              <a:t>강진 반값여행과 지역축제 운영 실적</a:t>
            </a:r>
          </a:p>
        </p:txBody>
      </p:sp>
      <p:graphicFrame>
        <p:nvGraphicFramePr>
          <p:cNvPr id="5" name="case-result-table"/>
          <p:cNvGraphicFramePr>
            <a:graphicFrameLocks noGrp="1"/>
          </p:cNvGraphicFramePr>
          <p:nvPr/>
        </p:nvGraphicFramePr>
        <p:xfrm>
          <a:off x="1009650" y="2657475"/>
          <a:ext cx="13220700" cy="2343150"/>
        </p:xfrm>
        <a:graphic>
          <a:graphicData uri="http://schemas.openxmlformats.org/drawingml/2006/table">
            <a:tbl>
              <a:tblPr firstRow="1" bandRow="1">
                <a:tableStyleId>{5C22544A-7EE6-4342-B048-85BDC9FD1C3A}</a:tableStyleId>
              </a:tblPr>
              <a:tblGrid>
                <a:gridCol w="4333875"/>
                <a:gridCol w="3714750"/>
                <a:gridCol w="5172075"/>
              </a:tblGrid>
              <a:tr h="495300">
                <a:tc>
                  <a:txBody>
                    <a:bodyPr wrap="none"/>
                    <a:lstStyle/>
                    <a:p>
                      <a:pPr eaLnBrk="0">
                        <a:lnSpc>
                          <a:spcPct val="112000"/>
                        </a:lnSpc>
                        <a:spcBef>
                          <a:spcPts val="0"/>
                        </a:spcBef>
                        <a:spcAft>
                          <a:spcPts val="0"/>
                        </a:spcAft>
                      </a:pPr>
                      <a:r>
                        <a:rPr sz="1800" b="1">
                          <a:solidFill>
                            <a:srgbClr val="FFFFFF"/>
                          </a:solidFill>
                          <a:latin typeface="Noto Sans KR"/>
                        </a:rPr>
                        <a:t>비교 항목</a:t>
                      </a:r>
                    </a:p>
                  </a:txBody>
                  <a:tcPr marL="95250" marR="95250" marT="66675" marB="66675" anchor="ctr">
                    <a:solidFill>
                      <a:srgbClr val="004EA2"/>
                    </a:solidFill>
                  </a:tcPr>
                </a:tc>
                <a:tc>
                  <a:txBody>
                    <a:bodyPr wrap="none"/>
                    <a:lstStyle/>
                    <a:p>
                      <a:pPr eaLnBrk="0">
                        <a:lnSpc>
                          <a:spcPct val="112000"/>
                        </a:lnSpc>
                        <a:spcBef>
                          <a:spcPts val="0"/>
                        </a:spcBef>
                        <a:spcAft>
                          <a:spcPts val="0"/>
                        </a:spcAft>
                      </a:pPr>
                      <a:r>
                        <a:rPr sz="1800" b="1">
                          <a:solidFill>
                            <a:srgbClr val="FFFFFF"/>
                          </a:solidFill>
                          <a:latin typeface="Noto Sans KR"/>
                        </a:rPr>
                        <a:t>관광객 수</a:t>
                      </a:r>
                    </a:p>
                  </a:txBody>
                  <a:tcPr marL="95250" marR="95250" marT="66675" marB="66675" anchor="ctr">
                    <a:solidFill>
                      <a:srgbClr val="004EA2"/>
                    </a:solidFill>
                  </a:tcPr>
                </a:tc>
                <a:tc>
                  <a:txBody>
                    <a:bodyPr wrap="none"/>
                    <a:lstStyle/>
                    <a:p>
                      <a:pPr eaLnBrk="0">
                        <a:lnSpc>
                          <a:spcPct val="112000"/>
                        </a:lnSpc>
                        <a:spcBef>
                          <a:spcPts val="0"/>
                        </a:spcBef>
                        <a:spcAft>
                          <a:spcPts val="0"/>
                        </a:spcAft>
                      </a:pPr>
                      <a:r>
                        <a:rPr sz="1800" b="1">
                          <a:solidFill>
                            <a:srgbClr val="FFFFFF"/>
                          </a:solidFill>
                          <a:latin typeface="Noto Sans KR"/>
                        </a:rPr>
                        <a:t>값의 성격</a:t>
                      </a:r>
                    </a:p>
                  </a:txBody>
                  <a:tcPr marL="95250" marR="95250" marT="66675" marB="66675" anchor="ctr">
                    <a:solidFill>
                      <a:srgbClr val="004EA2"/>
                    </a:solidFill>
                  </a:tcPr>
                </a:tc>
              </a:tr>
              <a:tr h="615950">
                <a:tc>
                  <a:txBody>
                    <a:bodyPr wrap="none"/>
                    <a:lstStyle/>
                    <a:p>
                      <a:pPr eaLnBrk="0">
                        <a:lnSpc>
                          <a:spcPct val="112000"/>
                        </a:lnSpc>
                        <a:spcBef>
                          <a:spcPts val="0"/>
                        </a:spcBef>
                        <a:spcAft>
                          <a:spcPts val="0"/>
                        </a:spcAft>
                      </a:pPr>
                      <a:r>
                        <a:rPr sz="1800" b="1">
                          <a:solidFill>
                            <a:srgbClr val="1D2227"/>
                          </a:solidFill>
                          <a:latin typeface="Noto Sans KR"/>
                        </a:rPr>
                        <a:t>2023년 비교 규모</a:t>
                      </a:r>
                    </a:p>
                  </a:txBody>
                  <a:tcPr marL="95250" marR="95250" marT="66675" marB="66675" anchor="ctr">
                    <a:solidFill>
                      <a:srgbClr val="FFFFFF"/>
                    </a:solidFill>
                  </a:tcPr>
                </a:tc>
                <a:tc>
                  <a:txBody>
                    <a:bodyPr wrap="none"/>
                    <a:lstStyle/>
                    <a:p>
                      <a:pPr eaLnBrk="0">
                        <a:lnSpc>
                          <a:spcPct val="112000"/>
                        </a:lnSpc>
                        <a:spcBef>
                          <a:spcPts val="0"/>
                        </a:spcBef>
                        <a:spcAft>
                          <a:spcPts val="0"/>
                        </a:spcAft>
                      </a:pPr>
                      <a:r>
                        <a:rPr sz="1800" b="0">
                          <a:solidFill>
                            <a:srgbClr val="1D2227"/>
                          </a:solidFill>
                          <a:latin typeface="Noto Sans KR"/>
                        </a:rPr>
                        <a:t>약 198.4만 명</a:t>
                      </a:r>
                    </a:p>
                  </a:txBody>
                  <a:tcPr marL="95250" marR="95250" marT="66675" marB="66675" anchor="ctr">
                    <a:solidFill>
                      <a:srgbClr val="FFFFFF"/>
                    </a:solidFill>
                  </a:tcPr>
                </a:tc>
                <a:tc>
                  <a:txBody>
                    <a:bodyPr wrap="none"/>
                    <a:lstStyle/>
                    <a:p>
                      <a:pPr eaLnBrk="0">
                        <a:lnSpc>
                          <a:spcPct val="112000"/>
                        </a:lnSpc>
                        <a:spcBef>
                          <a:spcPts val="0"/>
                        </a:spcBef>
                        <a:spcAft>
                          <a:spcPts val="0"/>
                        </a:spcAft>
                      </a:pPr>
                      <a:r>
                        <a:rPr sz="1800" b="0">
                          <a:solidFill>
                            <a:srgbClr val="1D2227"/>
                          </a:solidFill>
                          <a:latin typeface="Noto Sans KR"/>
                        </a:rPr>
                        <a:t>248만 ÷ 1.25 역산</a:t>
                      </a:r>
                    </a:p>
                  </a:txBody>
                  <a:tcPr marL="95250" marR="95250" marT="66675" marB="66675" anchor="ctr">
                    <a:solidFill>
                      <a:srgbClr val="FFFFFF"/>
                    </a:solidFill>
                  </a:tcPr>
                </a:tc>
              </a:tr>
              <a:tr h="615950">
                <a:tc>
                  <a:txBody>
                    <a:bodyPr wrap="none"/>
                    <a:lstStyle/>
                    <a:p>
                      <a:pPr eaLnBrk="0">
                        <a:lnSpc>
                          <a:spcPct val="112000"/>
                        </a:lnSpc>
                        <a:spcBef>
                          <a:spcPts val="0"/>
                        </a:spcBef>
                        <a:spcAft>
                          <a:spcPts val="0"/>
                        </a:spcAft>
                      </a:pPr>
                      <a:r>
                        <a:rPr sz="1800" b="1">
                          <a:solidFill>
                            <a:srgbClr val="1D2227"/>
                          </a:solidFill>
                          <a:latin typeface="Noto Sans KR"/>
                        </a:rPr>
                        <a:t>2024년 10월 말 누적</a:t>
                      </a:r>
                    </a:p>
                  </a:txBody>
                  <a:tcPr marL="95250" marR="95250" marT="66675" marB="66675" anchor="ctr">
                    <a:solidFill>
                      <a:srgbClr val="EAF1F6"/>
                    </a:solidFill>
                  </a:tcPr>
                </a:tc>
                <a:tc>
                  <a:txBody>
                    <a:bodyPr wrap="none"/>
                    <a:lstStyle/>
                    <a:p>
                      <a:pPr eaLnBrk="0">
                        <a:lnSpc>
                          <a:spcPct val="112000"/>
                        </a:lnSpc>
                        <a:spcBef>
                          <a:spcPts val="0"/>
                        </a:spcBef>
                        <a:spcAft>
                          <a:spcPts val="0"/>
                        </a:spcAft>
                      </a:pPr>
                      <a:r>
                        <a:rPr sz="1800" b="0">
                          <a:solidFill>
                            <a:srgbClr val="1D2227"/>
                          </a:solidFill>
                          <a:latin typeface="Noto Sans KR"/>
                        </a:rPr>
                        <a:t>약 248만 명</a:t>
                      </a:r>
                    </a:p>
                  </a:txBody>
                  <a:tcPr marL="95250" marR="95250" marT="66675" marB="66675" anchor="ctr">
                    <a:solidFill>
                      <a:srgbClr val="EAF1F6"/>
                    </a:solidFill>
                  </a:tcPr>
                </a:tc>
                <a:tc>
                  <a:txBody>
                    <a:bodyPr wrap="none"/>
                    <a:lstStyle/>
                    <a:p>
                      <a:pPr eaLnBrk="0">
                        <a:lnSpc>
                          <a:spcPct val="112000"/>
                        </a:lnSpc>
                        <a:spcBef>
                          <a:spcPts val="0"/>
                        </a:spcBef>
                        <a:spcAft>
                          <a:spcPts val="0"/>
                        </a:spcAft>
                      </a:pPr>
                      <a:r>
                        <a:rPr sz="1800" b="0">
                          <a:solidFill>
                            <a:srgbClr val="1D2227"/>
                          </a:solidFill>
                          <a:latin typeface="Noto Sans KR"/>
                        </a:rPr>
                        <a:t>강진군의회 발표</a:t>
                      </a:r>
                    </a:p>
                  </a:txBody>
                  <a:tcPr marL="95250" marR="95250" marT="66675" marB="66675" anchor="ctr">
                    <a:solidFill>
                      <a:srgbClr val="EAF1F6"/>
                    </a:solidFill>
                  </a:tcPr>
                </a:tc>
              </a:tr>
              <a:tr h="615950">
                <a:tc>
                  <a:txBody>
                    <a:bodyPr wrap="none"/>
                    <a:lstStyle/>
                    <a:p>
                      <a:pPr eaLnBrk="0">
                        <a:lnSpc>
                          <a:spcPct val="112000"/>
                        </a:lnSpc>
                        <a:spcBef>
                          <a:spcPts val="0"/>
                        </a:spcBef>
                        <a:spcAft>
                          <a:spcPts val="0"/>
                        </a:spcAft>
                      </a:pPr>
                      <a:r>
                        <a:rPr sz="1800" b="1">
                          <a:solidFill>
                            <a:srgbClr val="1D2227"/>
                          </a:solidFill>
                          <a:latin typeface="Noto Sans KR"/>
                        </a:rPr>
                        <a:t>전년 대비 증가</a:t>
                      </a:r>
                    </a:p>
                  </a:txBody>
                  <a:tcPr marL="95250" marR="95250" marT="66675" marB="66675" anchor="ctr">
                    <a:solidFill>
                      <a:srgbClr val="FFFFFF"/>
                    </a:solidFill>
                  </a:tcPr>
                </a:tc>
                <a:tc>
                  <a:txBody>
                    <a:bodyPr wrap="none"/>
                    <a:lstStyle/>
                    <a:p>
                      <a:pPr eaLnBrk="0">
                        <a:lnSpc>
                          <a:spcPct val="112000"/>
                        </a:lnSpc>
                        <a:spcBef>
                          <a:spcPts val="0"/>
                        </a:spcBef>
                        <a:spcAft>
                          <a:spcPts val="0"/>
                        </a:spcAft>
                      </a:pPr>
                      <a:r>
                        <a:rPr sz="1800" b="0">
                          <a:solidFill>
                            <a:srgbClr val="1D2227"/>
                          </a:solidFill>
                          <a:latin typeface="Noto Sans KR"/>
                        </a:rPr>
                        <a:t>약 49.6만 명 / 25%</a:t>
                      </a:r>
                    </a:p>
                  </a:txBody>
                  <a:tcPr marL="95250" marR="95250" marT="66675" marB="66675" anchor="ctr">
                    <a:solidFill>
                      <a:srgbClr val="FFFFFF"/>
                    </a:solidFill>
                  </a:tcPr>
                </a:tc>
                <a:tc>
                  <a:txBody>
                    <a:bodyPr wrap="none"/>
                    <a:lstStyle/>
                    <a:p>
                      <a:pPr eaLnBrk="0">
                        <a:lnSpc>
                          <a:spcPct val="112000"/>
                        </a:lnSpc>
                        <a:spcBef>
                          <a:spcPts val="0"/>
                        </a:spcBef>
                        <a:spcAft>
                          <a:spcPts val="0"/>
                        </a:spcAft>
                      </a:pPr>
                      <a:r>
                        <a:rPr sz="1800" b="0">
                          <a:solidFill>
                            <a:srgbClr val="1D2227"/>
                          </a:solidFill>
                          <a:latin typeface="Noto Sans KR"/>
                        </a:rPr>
                        <a:t>발표 증가율 · 차이는 역산</a:t>
                      </a:r>
                    </a:p>
                  </a:txBody>
                  <a:tcPr marL="95250" marR="95250" marT="66675" marB="66675" anchor="ctr">
                    <a:solidFill>
                      <a:srgbClr val="FFFFFF"/>
                    </a:solidFill>
                  </a:tcPr>
                </a:tc>
              </a:tr>
            </a:tbl>
          </a:graphicData>
        </a:graphic>
      </p:graphicFrame>
      <p:sp>
        <p:nvSpPr>
          <p:cNvPr id="6" name="proposed-target"/>
          <p:cNvSpPr txBox="1"/>
          <p:nvPr/>
        </p:nvSpPr>
        <p:spPr>
          <a:xfrm>
            <a:off x="1009650" y="5305425"/>
            <a:ext cx="13220700" cy="600075"/>
          </a:xfrm>
          <a:prstGeom prst="rect">
            <a:avLst/>
          </a:prstGeom>
          <a:noFill/>
        </p:spPr>
        <p:txBody>
          <a:bodyPr wrap="none" lIns="57150" rIns="57150" tIns="38100" bIns="38100" anchor="t">
            <a:noAutofit/>
          </a:bodyPr>
          <a:lstStyle/>
          <a:p>
            <a:pPr eaLnBrk="0">
              <a:lnSpc>
                <a:spcPts val="3093"/>
              </a:lnSpc>
              <a:spcBef>
                <a:spcPts val="0"/>
              </a:spcBef>
              <a:spcAft>
                <a:spcPts val="0"/>
              </a:spcAft>
            </a:pPr>
            <a:r>
              <a:rPr sz="2475" b="1">
                <a:solidFill>
                  <a:srgbClr val="FF6B00"/>
                </a:solidFill>
                <a:latin typeface="Noto Sans KR"/>
              </a:rPr>
              <a:t>최종월 계획 목표 방문 +20% · 소비 +20%</a:t>
            </a:r>
          </a:p>
        </p:txBody>
      </p:sp>
      <p:sp>
        <p:nvSpPr>
          <p:cNvPr id="7" name="basis-method"/>
          <p:cNvSpPr txBox="1"/>
          <p:nvPr/>
        </p:nvSpPr>
        <p:spPr>
          <a:xfrm>
            <a:off x="1009650" y="6067425"/>
            <a:ext cx="13220700" cy="1666875"/>
          </a:xfrm>
          <a:prstGeom prst="rect">
            <a:avLst/>
          </a:prstGeom>
          <a:noFill/>
        </p:spPr>
        <p:txBody>
          <a:bodyPr wrap="none" lIns="57150" rIns="57150" tIns="38100" bIns="38100" anchor="t">
            <a:noAutofit/>
          </a:bodyPr>
          <a:lstStyle/>
          <a:p>
            <a:pPr eaLnBrk="0">
              <a:lnSpc>
                <a:spcPts val="1968"/>
              </a:lnSpc>
              <a:spcBef>
                <a:spcPts val="0"/>
              </a:spcBef>
              <a:spcAft>
                <a:spcPts val="0"/>
              </a:spcAft>
            </a:pPr>
            <a:r>
              <a:rPr sz="1575" b="0">
                <a:solidFill>
                  <a:srgbClr val="59636E"/>
                </a:solidFill>
                <a:latin typeface="Noto Sans KR"/>
              </a:rPr>
              <a:t>강진군의회 2024-11-20 시정연설: 10월 말 관광객 약 248만 명, 전년 대비 25% 증가. 전년 규모 역산: 248만÷1.25≈198.4만 명, 차이≈49.6만 명. 역산값은 별도</a:t>
            </a:r>
          </a:p>
          <a:p>
            <a:pPr eaLnBrk="0">
              <a:lnSpc>
                <a:spcPts val="1968"/>
              </a:lnSpc>
              <a:spcBef>
                <a:spcPts val="0"/>
              </a:spcBef>
              <a:spcAft>
                <a:spcPts val="0"/>
              </a:spcAft>
            </a:pPr>
            <a:r>
              <a:rPr sz="1575" b="0">
                <a:solidFill>
                  <a:srgbClr val="59636E"/>
                </a:solidFill>
                <a:latin typeface="Noto Sans KR"/>
              </a:rPr>
              <a:t>관측 원자료가 아니다. 반값여행과 축제의 동시기 실적이며 사업 단독 효과·ML 대비 증가율은 아니다. 서울특별시 성동구은 최종월 방문 +20%를 도전 목표로</a:t>
            </a:r>
          </a:p>
          <a:p>
            <a:pPr eaLnBrk="0">
              <a:lnSpc>
                <a:spcPts val="1968"/>
              </a:lnSpc>
              <a:spcBef>
                <a:spcPts val="0"/>
              </a:spcBef>
              <a:spcAft>
                <a:spcPts val="0"/>
              </a:spcAft>
            </a:pPr>
            <a:r>
              <a:rPr sz="1575" b="0">
                <a:solidFill>
                  <a:srgbClr val="59636E"/>
                </a:solidFill>
                <a:latin typeface="Noto Sans KR"/>
              </a:rPr>
              <a:t>제안한다(25% × 80%). 80%는 전면 적용 대신 단계 운영을 고려한 계획 가정이며 인구 보정·통계 추정 계수가 아니다. 기본 소비 목표는 월별 소비/방문 비율을</a:t>
            </a:r>
          </a:p>
          <a:p>
            <a:pPr eaLnBrk="0">
              <a:lnSpc>
                <a:spcPts val="1968"/>
              </a:lnSpc>
              <a:spcBef>
                <a:spcPts val="0"/>
              </a:spcBef>
              <a:spcAft>
                <a:spcPts val="0"/>
              </a:spcAft>
            </a:pPr>
            <a:r>
              <a:rPr sz="1575" b="0">
                <a:solidFill>
                  <a:srgbClr val="59636E"/>
                </a:solidFill>
                <a:latin typeface="Noto Sans KR"/>
              </a:rPr>
              <a:t>추가 방문 수에 적용한 계획 가정이며 강진 소비 실적으로 계산한 값이 아니다. 현재 조정된 목표는 방문 +20%, 소비 +20%이다. 방문 수가 0보다 큰 월은 ML</a:t>
            </a:r>
          </a:p>
          <a:p>
            <a:pPr eaLnBrk="0">
              <a:lnSpc>
                <a:spcPts val="1968"/>
              </a:lnSpc>
              <a:spcBef>
                <a:spcPts val="0"/>
              </a:spcBef>
              <a:spcAft>
                <a:spcPts val="0"/>
              </a:spcAft>
            </a:pPr>
            <a:r>
              <a:rPr sz="1575" b="0">
                <a:solidFill>
                  <a:srgbClr val="59636E"/>
                </a:solidFill>
                <a:latin typeface="Noto Sans KR"/>
              </a:rPr>
              <a:t>소비액÷ML 방문 수를 추가 방문 수에 곱한다. 같은 월의 두 증가율은 같으며, 이 비율은 실제 1인당 소비액이 아니다.</a:t>
            </a:r>
          </a:p>
        </p:txBody>
      </p:sp>
      <p:sp>
        <p:nvSpPr>
          <p:cNvPr id="8" name="basis-source"/>
          <p:cNvSpPr txBox="1"/>
          <p:nvPr/>
        </p:nvSpPr>
        <p:spPr>
          <a:xfrm>
            <a:off x="1009650" y="7858125"/>
            <a:ext cx="13220700" cy="400050"/>
          </a:xfrm>
          <a:prstGeom prst="rect">
            <a:avLst/>
          </a:prstGeom>
          <a:noFill/>
        </p:spPr>
        <p:txBody>
          <a:bodyPr wrap="none" lIns="57150" rIns="57150" tIns="38100" bIns="38100" anchor="t">
            <a:noAutofit/>
          </a:bodyPr>
          <a:lstStyle/>
          <a:p>
            <a:pPr eaLnBrk="0">
              <a:lnSpc>
                <a:spcPts val="1781"/>
              </a:lnSpc>
              <a:spcBef>
                <a:spcPts val="0"/>
              </a:spcBef>
              <a:spcAft>
                <a:spcPts val="0"/>
              </a:spcAft>
            </a:pPr>
            <a:r>
              <a:rPr sz="1425" b="0">
                <a:solidFill>
                  <a:srgbClr val="59636E"/>
                </a:solidFill>
                <a:latin typeface="Noto Sans KR"/>
                <a:hlinkClick r:id="rId2"/>
              </a:rPr>
              <a:t>출처: 강진군의회 제307회 본회의 시정연설, 2024.11.20</a:t>
            </a:r>
          </a:p>
        </p:txBody>
      </p:sp>
    </p:spTree>
  </p:cSld>
  <p:clrMapOvr>
    <a:masterClrMapping/>
  </p:clrMapOvr>
</p:sld>
</file>

<file path=ppt/slides/slide11.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xmlns:a="http://schemas.openxmlformats.org/drawingml/2006/main">
        <p:nvSpPr>
          <p:cNvPr id="2" name="title"/>
          <p:cNvSpPr txBox="1"/>
          <p:nvPr/>
        </p:nvSpPr>
        <p:spPr>
          <a:xfrm>
            <a:off x="952500" y="714375"/>
            <a:ext cx="13335000" cy="809625"/>
          </a:xfrm>
          <a:prstGeom prst="rect">
            <a:avLst/>
          </a:prstGeom>
          <a:noFill/>
        </p:spPr>
        <p:txBody>
          <a:bodyPr wrap="none" lIns="57150" rIns="57150" tIns="38100" bIns="38100" anchor="t">
            <a:noAutofit/>
          </a:bodyPr>
          <a:lstStyle/>
          <a:p>
            <a:pPr eaLnBrk="0">
              <a:lnSpc>
                <a:spcPts val="4500"/>
              </a:lnSpc>
              <a:spcBef>
                <a:spcPts val="0"/>
              </a:spcBef>
              <a:spcAft>
                <a:spcPts val="0"/>
              </a:spcAft>
            </a:pPr>
            <a:r>
              <a:rPr sz="3600" b="1">
                <a:solidFill>
                  <a:srgbClr val="004EA2"/>
                </a:solidFill>
                <a:latin typeface="Noto Sans KR"/>
              </a:rPr>
              <a:t>근거·데이터·출처</a:t>
            </a:r>
          </a:p>
        </p:txBody>
      </p:sp>
      <p:sp xmlns:a="http://schemas.openxmlformats.org/drawingml/2006/main">
        <p:nvSpPr>
          <p:cNvPr id="3" name="title-rule"/>
          <p:cNvSpPr/>
          <p:nvPr/>
        </p:nvSpPr>
        <p:spPr>
          <a:xfrm>
            <a:off x="1009650" y="1724025"/>
            <a:ext cx="13220700" cy="28575"/>
          </a:xfrm>
          <a:prstGeom prst="rect">
            <a:avLst/>
          </a:prstGeom>
          <a:solidFill>
            <a:srgbClr val="004E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4" name="subtitle"/>
          <p:cNvSpPr txBox="1"/>
          <p:nvPr/>
        </p:nvSpPr>
        <p:spPr>
          <a:xfrm>
            <a:off x="1009650" y="1885950"/>
            <a:ext cx="13220700" cy="619125"/>
          </a:xfrm>
          <a:prstGeom prst="rect">
            <a:avLst/>
          </a:prstGeom>
          <a:noFill/>
        </p:spPr>
        <p:txBody>
          <a:bodyPr wrap="none" lIns="57150" rIns="57150" tIns="38100" bIns="38100" anchor="t">
            <a:noAutofit/>
          </a:bodyPr>
          <a:lstStyle/>
          <a:p>
            <a:pPr eaLnBrk="0">
              <a:lnSpc>
                <a:spcPts val="1781"/>
              </a:lnSpc>
              <a:spcBef>
                <a:spcPts val="0"/>
              </a:spcBef>
              <a:spcAft>
                <a:spcPts val="0"/>
              </a:spcAft>
            </a:pPr>
            <a:r>
              <a:rPr sz="1425" b="0">
                <a:solidFill>
                  <a:srgbClr val="59636E"/>
                </a:solidFill>
                <a:latin typeface="Noto Sans KR"/>
              </a:rPr>
              <a:t>전체 자료명과 머신러닝 모델 1/3 · 파란 자료명을 누르면 원문으로 이동합니다.</a:t>
            </a:r>
          </a:p>
          <a:p>
            <a:pPr eaLnBrk="0">
              <a:lnSpc>
                <a:spcPts val="1781"/>
              </a:lnSpc>
              <a:spcBef>
                <a:spcPts val="0"/>
              </a:spcBef>
              <a:spcAft>
                <a:spcPts val="0"/>
              </a:spcAft>
            </a:pPr>
            <a:r>
              <a:rPr sz="1425" b="0">
                <a:solidFill>
                  <a:srgbClr val="59636E"/>
                </a:solidFill>
                <a:latin typeface="Noto Sans KR"/>
              </a:rPr>
              <a:t>참고 전망: 방문자·소비액 모델의 검증 오차가 전년동월 기준선보다 큽니다. 예측거리·누락 범위의 해석 주의가 필요합니다.</a:t>
            </a:r>
          </a:p>
        </p:txBody>
      </p:sp>
      <p:sp xmlns:a="http://schemas.openxmlformats.org/drawingml/2006/main">
        <p:nvSpPr>
          <p:cNvPr id="5" name="reference-0"/>
          <p:cNvSpPr txBox="1"/>
          <p:nvPr/>
        </p:nvSpPr>
        <p:spPr>
          <a:xfrm>
            <a:off x="1009650" y="2571750"/>
            <a:ext cx="4248150" cy="571500"/>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xmlns:ns0="http://schemas.openxmlformats.org/officeDocument/2006/relationships" ns0:id="rId2"/>
              </a:rPr>
              <a:t>관측 데이터 D01 순 방문자 수 및 숙박 비율 (이동통신</a:t>
            </a:r>
          </a:p>
          <a:p>
            <a:pPr eaLnBrk="0">
              <a:lnSpc>
                <a:spcPts val="1687"/>
              </a:lnSpc>
              <a:spcBef>
                <a:spcPts val="0"/>
              </a:spcBef>
              <a:spcAft>
                <a:spcPts val="0"/>
              </a:spcAft>
            </a:pPr>
            <a:r>
              <a:rPr sz="1350" b="0" u="none">
                <a:solidFill>
                  <a:srgbClr val="004EA2"/>
                </a:solidFill>
                <a:latin typeface="Noto Sans KR"/>
                <a:hlinkClick xmlns:ns1="http://schemas.openxmlformats.org/officeDocument/2006/relationships" ns1:id="rId2"/>
              </a:rPr>
              <a:t>기반 외지인) 2026-06</a:t>
            </a:r>
          </a:p>
        </p:txBody>
      </p:sp>
      <p:sp xmlns:a="http://schemas.openxmlformats.org/drawingml/2006/main">
        <p:nvSpPr>
          <p:cNvPr id="6" name="reference-1"/>
          <p:cNvSpPr txBox="1"/>
          <p:nvPr/>
        </p:nvSpPr>
        <p:spPr>
          <a:xfrm>
            <a:off x="1009650" y="3171825"/>
            <a:ext cx="4248150" cy="571500"/>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xmlns:ns2="http://schemas.openxmlformats.org/officeDocument/2006/relationships" ns2:id="rId2"/>
              </a:rPr>
              <a:t>관측 데이터 D02 월간 순 방문자 수 (이동통신</a:t>
            </a:r>
          </a:p>
          <a:p>
            <a:pPr eaLnBrk="0">
              <a:lnSpc>
                <a:spcPts val="1687"/>
              </a:lnSpc>
              <a:spcBef>
                <a:spcPts val="0"/>
              </a:spcBef>
              <a:spcAft>
                <a:spcPts val="0"/>
              </a:spcAft>
            </a:pPr>
            <a:r>
              <a:rPr sz="1350" b="0" u="none">
                <a:solidFill>
                  <a:srgbClr val="004EA2"/>
                </a:solidFill>
                <a:latin typeface="Noto Sans KR"/>
                <a:hlinkClick xmlns:ns3="http://schemas.openxmlformats.org/officeDocument/2006/relationships" ns3:id="rId2"/>
              </a:rPr>
              <a:t>기반 외지인) 2026-06</a:t>
            </a:r>
          </a:p>
        </p:txBody>
      </p:sp>
      <p:sp xmlns:a="http://schemas.openxmlformats.org/drawingml/2006/main">
        <p:nvSpPr>
          <p:cNvPr id="7" name="reference-2"/>
          <p:cNvSpPr txBox="1"/>
          <p:nvPr/>
        </p:nvSpPr>
        <p:spPr>
          <a:xfrm>
            <a:off x="1009650" y="3771900"/>
            <a:ext cx="4248150" cy="428625"/>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xmlns:ns4="http://schemas.openxmlformats.org/officeDocument/2006/relationships" ns4:id="rId2"/>
              </a:rPr>
              <a:t>관측 데이터 D03 관광소비 추이_외지인 2026-06</a:t>
            </a:r>
          </a:p>
        </p:txBody>
      </p:sp>
      <p:sp xmlns:a="http://schemas.openxmlformats.org/drawingml/2006/main">
        <p:nvSpPr>
          <p:cNvPr id="8" name="reference-3"/>
          <p:cNvSpPr txBox="1"/>
          <p:nvPr/>
        </p:nvSpPr>
        <p:spPr>
          <a:xfrm>
            <a:off x="1009650" y="4229100"/>
            <a:ext cx="4248150" cy="571500"/>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xmlns:ns5="http://schemas.openxmlformats.org/officeDocument/2006/relationships" ns5:id="rId2"/>
              </a:rPr>
              <a:t>관측 데이터 D04 숙박방문자 비율 추이 (이동통신</a:t>
            </a:r>
          </a:p>
          <a:p>
            <a:pPr eaLnBrk="0">
              <a:lnSpc>
                <a:spcPts val="1687"/>
              </a:lnSpc>
              <a:spcBef>
                <a:spcPts val="0"/>
              </a:spcBef>
              <a:spcAft>
                <a:spcPts val="0"/>
              </a:spcAft>
            </a:pPr>
            <a:r>
              <a:rPr sz="1350" b="0" u="none">
                <a:solidFill>
                  <a:srgbClr val="004EA2"/>
                </a:solidFill>
                <a:latin typeface="Noto Sans KR"/>
                <a:hlinkClick xmlns:ns6="http://schemas.openxmlformats.org/officeDocument/2006/relationships" ns6:id="rId2"/>
              </a:rPr>
              <a:t>기반 외지인) 2026-06</a:t>
            </a:r>
          </a:p>
        </p:txBody>
      </p:sp>
      <p:sp xmlns:a="http://schemas.openxmlformats.org/drawingml/2006/main">
        <p:nvSpPr>
          <p:cNvPr id="9" name="reference-4"/>
          <p:cNvSpPr txBox="1"/>
          <p:nvPr/>
        </p:nvSpPr>
        <p:spPr>
          <a:xfrm>
            <a:off x="1009650" y="4829175"/>
            <a:ext cx="4248150" cy="571500"/>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xmlns:ns7="http://schemas.openxmlformats.org/officeDocument/2006/relationships" ns7:id="rId2"/>
              </a:rPr>
              <a:t>관측 데이터 D05 평균 숙박일 (이동통신 기반</a:t>
            </a:r>
          </a:p>
          <a:p>
            <a:pPr eaLnBrk="0">
              <a:lnSpc>
                <a:spcPts val="1687"/>
              </a:lnSpc>
              <a:spcBef>
                <a:spcPts val="0"/>
              </a:spcBef>
              <a:spcAft>
                <a:spcPts val="0"/>
              </a:spcAft>
            </a:pPr>
            <a:r>
              <a:rPr sz="1350" b="0" u="none">
                <a:solidFill>
                  <a:srgbClr val="004EA2"/>
                </a:solidFill>
                <a:latin typeface="Noto Sans KR"/>
                <a:hlinkClick xmlns:ns8="http://schemas.openxmlformats.org/officeDocument/2006/relationships" ns8:id="rId2"/>
              </a:rPr>
              <a:t>외지인) 2026-06</a:t>
            </a:r>
          </a:p>
        </p:txBody>
      </p:sp>
      <p:sp xmlns:a="http://schemas.openxmlformats.org/drawingml/2006/main">
        <p:nvSpPr>
          <p:cNvPr id="10" name="reference-5"/>
          <p:cNvSpPr txBox="1"/>
          <p:nvPr/>
        </p:nvSpPr>
        <p:spPr>
          <a:xfrm>
            <a:off x="1009650" y="5429250"/>
            <a:ext cx="4248150" cy="571500"/>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xmlns:ns9="http://schemas.openxmlformats.org/officeDocument/2006/relationships" ns9:id="rId2"/>
              </a:rPr>
              <a:t>관측 데이터 D06 내비게이션 목적지 유형별</a:t>
            </a:r>
          </a:p>
          <a:p>
            <a:pPr eaLnBrk="0">
              <a:lnSpc>
                <a:spcPts val="1687"/>
              </a:lnSpc>
              <a:spcBef>
                <a:spcPts val="0"/>
              </a:spcBef>
              <a:spcAft>
                <a:spcPts val="0"/>
              </a:spcAft>
            </a:pPr>
            <a:r>
              <a:rPr sz="1350" b="0" u="none">
                <a:solidFill>
                  <a:srgbClr val="004EA2"/>
                </a:solidFill>
                <a:latin typeface="Noto Sans KR"/>
                <a:hlinkClick xmlns:ns10="http://schemas.openxmlformats.org/officeDocument/2006/relationships" ns10:id="rId2"/>
              </a:rPr>
              <a:t>검색량 2026-06</a:t>
            </a:r>
          </a:p>
        </p:txBody>
      </p:sp>
      <p:sp xmlns:a="http://schemas.openxmlformats.org/drawingml/2006/main">
        <p:nvSpPr>
          <p:cNvPr id="11" name="reference-6"/>
          <p:cNvSpPr txBox="1"/>
          <p:nvPr/>
        </p:nvSpPr>
        <p:spPr>
          <a:xfrm>
            <a:off x="1009650" y="6029325"/>
            <a:ext cx="4248150" cy="428625"/>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xmlns:ns11="http://schemas.openxmlformats.org/officeDocument/2006/relationships" ns11:id="rId2"/>
              </a:rPr>
              <a:t>관측 데이터 D07 SNS 언급량 2026-06</a:t>
            </a:r>
          </a:p>
        </p:txBody>
      </p:sp>
      <p:sp xmlns:a="http://schemas.openxmlformats.org/drawingml/2006/main">
        <p:nvSpPr>
          <p:cNvPr id="12" name="reference-7"/>
          <p:cNvSpPr txBox="1"/>
          <p:nvPr/>
        </p:nvSpPr>
        <p:spPr>
          <a:xfrm>
            <a:off x="1009650" y="6486525"/>
            <a:ext cx="4248150" cy="785812"/>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xmlns:ns12="http://schemas.openxmlformats.org/officeDocument/2006/relationships" ns12:id="rId2"/>
              </a:rPr>
              <a:t>관측 데이터 D08 한국관광 데이터랩 공식 다운로드 ·</a:t>
            </a:r>
          </a:p>
          <a:p>
            <a:pPr eaLnBrk="0">
              <a:lnSpc>
                <a:spcPts val="1687"/>
              </a:lnSpc>
              <a:spcBef>
                <a:spcPts val="0"/>
              </a:spcBef>
              <a:spcAft>
                <a:spcPts val="0"/>
              </a:spcAft>
            </a:pPr>
            <a:r>
              <a:rPr sz="1350" b="0" u="none">
                <a:solidFill>
                  <a:srgbClr val="004EA2"/>
                </a:solidFill>
                <a:latin typeface="Noto Sans KR"/>
                <a:hlinkClick xmlns:ns13="http://schemas.openxmlformats.org/officeDocument/2006/relationships" ns13:id="rId2"/>
              </a:rPr>
              <a:t>서울특별시_성동구/숙박_체류시간/2025_01_12.zip</a:t>
            </a:r>
          </a:p>
          <a:p>
            <a:pPr eaLnBrk="0">
              <a:lnSpc>
                <a:spcPts val="1687"/>
              </a:lnSpc>
              <a:spcBef>
                <a:spcPts val="0"/>
              </a:spcBef>
              <a:spcAft>
                <a:spcPts val="0"/>
              </a:spcAft>
            </a:pPr>
            <a:r>
              <a:rPr sz="1350" b="0" u="none">
                <a:solidFill>
                  <a:srgbClr val="004EA2"/>
                </a:solidFill>
                <a:latin typeface="Noto Sans KR"/>
                <a:hlinkClick xmlns:ns14="http://schemas.openxmlformats.org/officeDocument/2006/relationships" ns14:id="rId2"/>
              </a:rPr>
              <a:t>2025-07 ~ 2026-06</a:t>
            </a:r>
          </a:p>
        </p:txBody>
      </p:sp>
      <p:sp xmlns:a="http://schemas.openxmlformats.org/drawingml/2006/main">
        <p:nvSpPr>
          <p:cNvPr id="13" name="reference-8"/>
          <p:cNvSpPr txBox="1"/>
          <p:nvPr/>
        </p:nvSpPr>
        <p:spPr>
          <a:xfrm>
            <a:off x="5486400" y="2571750"/>
            <a:ext cx="4248150" cy="785812"/>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xmlns:ns15="http://schemas.openxmlformats.org/officeDocument/2006/relationships" ns15:id="rId2"/>
              </a:rPr>
              <a:t>관측 데이터 D09 한국관광 데이터랩 공식 다운로드 ·</a:t>
            </a:r>
          </a:p>
          <a:p>
            <a:pPr eaLnBrk="0">
              <a:lnSpc>
                <a:spcPts val="1687"/>
              </a:lnSpc>
              <a:spcBef>
                <a:spcPts val="0"/>
              </a:spcBef>
              <a:spcAft>
                <a:spcPts val="0"/>
              </a:spcAft>
            </a:pPr>
            <a:r>
              <a:rPr sz="1350" b="0" u="none">
                <a:solidFill>
                  <a:srgbClr val="004EA2"/>
                </a:solidFill>
                <a:latin typeface="Noto Sans KR"/>
                <a:hlinkClick xmlns:ns16="http://schemas.openxmlformats.org/officeDocument/2006/relationships" ns16:id="rId2"/>
              </a:rPr>
              <a:t>서울특별시_성동구/관광소비/2025_01_12.zip</a:t>
            </a:r>
          </a:p>
          <a:p>
            <a:pPr eaLnBrk="0">
              <a:lnSpc>
                <a:spcPts val="1687"/>
              </a:lnSpc>
              <a:spcBef>
                <a:spcPts val="0"/>
              </a:spcBef>
              <a:spcAft>
                <a:spcPts val="0"/>
              </a:spcAft>
            </a:pPr>
            <a:r>
              <a:rPr sz="1350" b="0" u="none">
                <a:solidFill>
                  <a:srgbClr val="004EA2"/>
                </a:solidFill>
                <a:latin typeface="Noto Sans KR"/>
                <a:hlinkClick xmlns:ns17="http://schemas.openxmlformats.org/officeDocument/2006/relationships" ns17:id="rId2"/>
              </a:rPr>
              <a:t>2025-07 ~ 2026-06</a:t>
            </a:r>
          </a:p>
        </p:txBody>
      </p:sp>
      <p:sp xmlns:a="http://schemas.openxmlformats.org/drawingml/2006/main">
        <p:nvSpPr>
          <p:cNvPr id="14" name="reference-9"/>
          <p:cNvSpPr txBox="1"/>
          <p:nvPr/>
        </p:nvSpPr>
        <p:spPr>
          <a:xfrm>
            <a:off x="5486400" y="3386138"/>
            <a:ext cx="4248150" cy="785812"/>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xmlns:ns18="http://schemas.openxmlformats.org/officeDocument/2006/relationships" ns18:id="rId2"/>
              </a:rPr>
              <a:t>관측 데이터 D10 한국관광 데이터랩 공식 다운로드 ·</a:t>
            </a:r>
          </a:p>
          <a:p>
            <a:pPr eaLnBrk="0">
              <a:lnSpc>
                <a:spcPts val="1687"/>
              </a:lnSpc>
              <a:spcBef>
                <a:spcPts val="0"/>
              </a:spcBef>
              <a:spcAft>
                <a:spcPts val="0"/>
              </a:spcAft>
            </a:pPr>
            <a:r>
              <a:rPr sz="1350" b="0" u="none">
                <a:solidFill>
                  <a:srgbClr val="004EA2"/>
                </a:solidFill>
                <a:latin typeface="Noto Sans KR"/>
                <a:hlinkClick xmlns:ns19="http://schemas.openxmlformats.org/officeDocument/2006/relationships" ns19:id="rId2"/>
              </a:rPr>
              <a:t>서울특별시_성동구/숙박_체류시간/2026_01_06.zip</a:t>
            </a:r>
          </a:p>
          <a:p>
            <a:pPr eaLnBrk="0">
              <a:lnSpc>
                <a:spcPts val="1687"/>
              </a:lnSpc>
              <a:spcBef>
                <a:spcPts val="0"/>
              </a:spcBef>
              <a:spcAft>
                <a:spcPts val="0"/>
              </a:spcAft>
            </a:pPr>
            <a:r>
              <a:rPr sz="1350" b="0" u="none">
                <a:solidFill>
                  <a:srgbClr val="004EA2"/>
                </a:solidFill>
                <a:latin typeface="Noto Sans KR"/>
                <a:hlinkClick xmlns:ns20="http://schemas.openxmlformats.org/officeDocument/2006/relationships" ns20:id="rId2"/>
              </a:rPr>
              <a:t>2025-07 ~ 2026-06</a:t>
            </a:r>
          </a:p>
        </p:txBody>
      </p:sp>
      <p:sp xmlns:a="http://schemas.openxmlformats.org/drawingml/2006/main">
        <p:nvSpPr>
          <p:cNvPr id="15" name="reference-10"/>
          <p:cNvSpPr txBox="1"/>
          <p:nvPr/>
        </p:nvSpPr>
        <p:spPr>
          <a:xfrm>
            <a:off x="5486400" y="4200525"/>
            <a:ext cx="4248150" cy="785812"/>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xmlns:ns21="http://schemas.openxmlformats.org/officeDocument/2006/relationships" ns21:id="rId2"/>
              </a:rPr>
              <a:t>관측 데이터 D11 한국관광 데이터랩 공식 다운로드 ·</a:t>
            </a:r>
          </a:p>
          <a:p>
            <a:pPr eaLnBrk="0">
              <a:lnSpc>
                <a:spcPts val="1687"/>
              </a:lnSpc>
              <a:spcBef>
                <a:spcPts val="0"/>
              </a:spcBef>
              <a:spcAft>
                <a:spcPts val="0"/>
              </a:spcAft>
            </a:pPr>
            <a:r>
              <a:rPr sz="1350" b="0" u="none">
                <a:solidFill>
                  <a:srgbClr val="004EA2"/>
                </a:solidFill>
                <a:latin typeface="Noto Sans KR"/>
                <a:hlinkClick xmlns:ns22="http://schemas.openxmlformats.org/officeDocument/2006/relationships" ns22:id="rId2"/>
              </a:rPr>
              <a:t>서울특별시_성동구/방문자/2025_01_12.zip</a:t>
            </a:r>
          </a:p>
          <a:p>
            <a:pPr eaLnBrk="0">
              <a:lnSpc>
                <a:spcPts val="1687"/>
              </a:lnSpc>
              <a:spcBef>
                <a:spcPts val="0"/>
              </a:spcBef>
              <a:spcAft>
                <a:spcPts val="0"/>
              </a:spcAft>
            </a:pPr>
            <a:r>
              <a:rPr sz="1350" b="0" u="none">
                <a:solidFill>
                  <a:srgbClr val="004EA2"/>
                </a:solidFill>
                <a:latin typeface="Noto Sans KR"/>
                <a:hlinkClick xmlns:ns23="http://schemas.openxmlformats.org/officeDocument/2006/relationships" ns23:id="rId2"/>
              </a:rPr>
              <a:t>2025-07 ~ 2026-06</a:t>
            </a:r>
          </a:p>
        </p:txBody>
      </p:sp>
      <p:sp xmlns:a="http://schemas.openxmlformats.org/drawingml/2006/main">
        <p:nvSpPr>
          <p:cNvPr id="16" name="reference-11"/>
          <p:cNvSpPr txBox="1"/>
          <p:nvPr/>
        </p:nvSpPr>
        <p:spPr>
          <a:xfrm>
            <a:off x="5486400" y="5014912"/>
            <a:ext cx="4248150" cy="785812"/>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xmlns:ns24="http://schemas.openxmlformats.org/officeDocument/2006/relationships" ns24:id="rId2"/>
              </a:rPr>
              <a:t>관측 데이터 D12 한국관광 데이터랩 공식 다운로드 ·</a:t>
            </a:r>
          </a:p>
          <a:p>
            <a:pPr eaLnBrk="0">
              <a:lnSpc>
                <a:spcPts val="1687"/>
              </a:lnSpc>
              <a:spcBef>
                <a:spcPts val="0"/>
              </a:spcBef>
              <a:spcAft>
                <a:spcPts val="0"/>
              </a:spcAft>
            </a:pPr>
            <a:r>
              <a:rPr sz="1350" b="0" u="none">
                <a:solidFill>
                  <a:srgbClr val="004EA2"/>
                </a:solidFill>
                <a:latin typeface="Noto Sans KR"/>
                <a:hlinkClick xmlns:ns25="http://schemas.openxmlformats.org/officeDocument/2006/relationships" ns25:id="rId2"/>
              </a:rPr>
              <a:t>서울특별시_성동구/관광소비/2026_01_06.zip</a:t>
            </a:r>
          </a:p>
          <a:p>
            <a:pPr eaLnBrk="0">
              <a:lnSpc>
                <a:spcPts val="1687"/>
              </a:lnSpc>
              <a:spcBef>
                <a:spcPts val="0"/>
              </a:spcBef>
              <a:spcAft>
                <a:spcPts val="0"/>
              </a:spcAft>
            </a:pPr>
            <a:r>
              <a:rPr sz="1350" b="0" u="none">
                <a:solidFill>
                  <a:srgbClr val="004EA2"/>
                </a:solidFill>
                <a:latin typeface="Noto Sans KR"/>
                <a:hlinkClick xmlns:ns26="http://schemas.openxmlformats.org/officeDocument/2006/relationships" ns26:id="rId2"/>
              </a:rPr>
              <a:t>2025-07 ~ 2026-06</a:t>
            </a:r>
          </a:p>
        </p:txBody>
      </p:sp>
      <p:sp xmlns:a="http://schemas.openxmlformats.org/drawingml/2006/main">
        <p:nvSpPr>
          <p:cNvPr id="17" name="reference-12"/>
          <p:cNvSpPr txBox="1"/>
          <p:nvPr/>
        </p:nvSpPr>
        <p:spPr>
          <a:xfrm>
            <a:off x="5486400" y="5829300"/>
            <a:ext cx="4248150" cy="785812"/>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xmlns:ns27="http://schemas.openxmlformats.org/officeDocument/2006/relationships" ns27:id="rId2"/>
              </a:rPr>
              <a:t>관측 데이터 D13 한국관광 데이터랩 공식 다운로드 ·</a:t>
            </a:r>
          </a:p>
          <a:p>
            <a:pPr eaLnBrk="0">
              <a:lnSpc>
                <a:spcPts val="1687"/>
              </a:lnSpc>
              <a:spcBef>
                <a:spcPts val="0"/>
              </a:spcBef>
              <a:spcAft>
                <a:spcPts val="0"/>
              </a:spcAft>
            </a:pPr>
            <a:r>
              <a:rPr sz="1350" b="0" u="none">
                <a:solidFill>
                  <a:srgbClr val="004EA2"/>
                </a:solidFill>
                <a:latin typeface="Noto Sans KR"/>
                <a:hlinkClick xmlns:ns28="http://schemas.openxmlformats.org/officeDocument/2006/relationships" ns28:id="rId2"/>
              </a:rPr>
              <a:t>서울특별시_성동구/방문자/2026_01_06.zip</a:t>
            </a:r>
          </a:p>
          <a:p>
            <a:pPr eaLnBrk="0">
              <a:lnSpc>
                <a:spcPts val="1687"/>
              </a:lnSpc>
              <a:spcBef>
                <a:spcPts val="0"/>
              </a:spcBef>
              <a:spcAft>
                <a:spcPts val="0"/>
              </a:spcAft>
            </a:pPr>
            <a:r>
              <a:rPr sz="1350" b="0" u="none">
                <a:solidFill>
                  <a:srgbClr val="004EA2"/>
                </a:solidFill>
                <a:latin typeface="Noto Sans KR"/>
                <a:hlinkClick xmlns:ns29="http://schemas.openxmlformats.org/officeDocument/2006/relationships" ns29:id="rId2"/>
              </a:rPr>
              <a:t>2025-07 ~ 2026-06</a:t>
            </a:r>
          </a:p>
        </p:txBody>
      </p:sp>
      <p:sp xmlns:a="http://schemas.openxmlformats.org/drawingml/2006/main">
        <p:nvSpPr>
          <p:cNvPr id="18" name="reference-13"/>
          <p:cNvSpPr txBox="1"/>
          <p:nvPr/>
        </p:nvSpPr>
        <p:spPr>
          <a:xfrm>
            <a:off x="5486400" y="6643688"/>
            <a:ext cx="4248150" cy="1000125"/>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xmlns:ns30="http://schemas.openxmlformats.org/officeDocument/2006/relationships" ns30:id="rId2"/>
              </a:rPr>
              <a:t>관측 데이터 D14 한국관광 데이터랩 전국 빅데이터</a:t>
            </a:r>
          </a:p>
          <a:p>
            <a:pPr eaLnBrk="0">
              <a:lnSpc>
                <a:spcPts val="1687"/>
              </a:lnSpc>
              <a:spcBef>
                <a:spcPts val="0"/>
              </a:spcBef>
              <a:spcAft>
                <a:spcPts val="0"/>
              </a:spcAft>
            </a:pPr>
            <a:r>
              <a:rPr sz="1350" b="0" u="none">
                <a:solidFill>
                  <a:srgbClr val="004EA2"/>
                </a:solidFill>
                <a:latin typeface="Noto Sans KR"/>
                <a:hlinkClick xmlns:ns31="http://schemas.openxmlformats.org/officeDocument/2006/relationships" ns31:id="rId2"/>
              </a:rPr>
              <a:t>다운로드 · 이동통신/내국인/지역별</a:t>
            </a:r>
          </a:p>
          <a:p>
            <a:pPr eaLnBrk="0">
              <a:lnSpc>
                <a:spcPts val="1687"/>
              </a:lnSpc>
              <a:spcBef>
                <a:spcPts val="0"/>
              </a:spcBef>
              <a:spcAft>
                <a:spcPts val="0"/>
              </a:spcAft>
            </a:pPr>
            <a:r>
              <a:rPr sz="1350" b="0" u="none">
                <a:solidFill>
                  <a:srgbClr val="004EA2"/>
                </a:solidFill>
                <a:latin typeface="Noto Sans KR"/>
                <a:hlinkClick xmlns:ns32="http://schemas.openxmlformats.org/officeDocument/2006/relationships" ns32:id="rId2"/>
              </a:rPr>
              <a:t>방문자수/20260820140607__202601-202606_데이터랩_</a:t>
            </a:r>
          </a:p>
          <a:p>
            <a:pPr eaLnBrk="0">
              <a:lnSpc>
                <a:spcPts val="1687"/>
              </a:lnSpc>
              <a:spcBef>
                <a:spcPts val="0"/>
              </a:spcBef>
              <a:spcAft>
                <a:spcPts val="0"/>
              </a:spcAft>
            </a:pPr>
            <a:r>
              <a:rPr sz="1350" b="0" u="none">
                <a:solidFill>
                  <a:srgbClr val="004EA2"/>
                </a:solidFill>
                <a:latin typeface="Noto Sans KR"/>
                <a:hlinkClick xmlns:ns33="http://schemas.openxmlformats.org/officeDocument/2006/relationships" ns33:id="rId2"/>
              </a:rPr>
              <a:t>다운로드.zip 2026-01 ~ 2026-06</a:t>
            </a:r>
          </a:p>
        </p:txBody>
      </p:sp>
      <p:sp xmlns:a="http://schemas.openxmlformats.org/drawingml/2006/main">
        <p:nvSpPr>
          <p:cNvPr id="19" name="reference-14"/>
          <p:cNvSpPr txBox="1"/>
          <p:nvPr/>
        </p:nvSpPr>
        <p:spPr>
          <a:xfrm>
            <a:off x="9963150" y="2571750"/>
            <a:ext cx="4248150" cy="1000125"/>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xmlns:ns34="http://schemas.openxmlformats.org/officeDocument/2006/relationships" ns34:id="rId2"/>
              </a:rPr>
              <a:t>관측 데이터 D15 한국관광 데이터랩 전국 빅데이터</a:t>
            </a:r>
          </a:p>
          <a:p>
            <a:pPr eaLnBrk="0">
              <a:lnSpc>
                <a:spcPts val="1687"/>
              </a:lnSpc>
              <a:spcBef>
                <a:spcPts val="0"/>
              </a:spcBef>
              <a:spcAft>
                <a:spcPts val="0"/>
              </a:spcAft>
            </a:pPr>
            <a:r>
              <a:rPr sz="1350" b="0" u="none">
                <a:solidFill>
                  <a:srgbClr val="004EA2"/>
                </a:solidFill>
                <a:latin typeface="Noto Sans KR"/>
                <a:hlinkClick xmlns:ns35="http://schemas.openxmlformats.org/officeDocument/2006/relationships" ns35:id="rId2"/>
              </a:rPr>
              <a:t>다운로드 ·</a:t>
            </a:r>
          </a:p>
          <a:p>
            <a:pPr eaLnBrk="0">
              <a:lnSpc>
                <a:spcPts val="1687"/>
              </a:lnSpc>
              <a:spcBef>
                <a:spcPts val="0"/>
              </a:spcBef>
              <a:spcAft>
                <a:spcPts val="0"/>
              </a:spcAft>
            </a:pPr>
            <a:r>
              <a:rPr sz="1350" b="0" u="none">
                <a:solidFill>
                  <a:srgbClr val="004EA2"/>
                </a:solidFill>
                <a:latin typeface="Noto Sans KR"/>
                <a:hlinkClick xmlns:ns36="http://schemas.openxmlformats.org/officeDocument/2006/relationships" ns36:id="rId2"/>
              </a:rPr>
              <a:t>이동통신/외국인/20260820141710_전국_202601-202606</a:t>
            </a:r>
          </a:p>
          <a:p>
            <a:pPr eaLnBrk="0">
              <a:lnSpc>
                <a:spcPts val="1687"/>
              </a:lnSpc>
              <a:spcBef>
                <a:spcPts val="0"/>
              </a:spcBef>
              <a:spcAft>
                <a:spcPts val="0"/>
              </a:spcAft>
            </a:pPr>
            <a:r>
              <a:rPr sz="1350" b="0" u="none">
                <a:solidFill>
                  <a:srgbClr val="004EA2"/>
                </a:solidFill>
                <a:latin typeface="Noto Sans KR"/>
                <a:hlinkClick xmlns:ns37="http://schemas.openxmlformats.org/officeDocument/2006/relationships" ns37:id="rId2"/>
              </a:rPr>
              <a:t>_데이터랩_다운로드.zip 2026-01 ~ 2026-06</a:t>
            </a:r>
          </a:p>
        </p:txBody>
      </p:sp>
      <p:sp xmlns:a="http://schemas.openxmlformats.org/drawingml/2006/main">
        <p:nvSpPr>
          <p:cNvPr id="20" name="reference-15"/>
          <p:cNvSpPr txBox="1"/>
          <p:nvPr/>
        </p:nvSpPr>
        <p:spPr>
          <a:xfrm>
            <a:off x="9963150" y="3600450"/>
            <a:ext cx="4248150" cy="1000125"/>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xmlns:ns38="http://schemas.openxmlformats.org/officeDocument/2006/relationships" ns38:id="rId2"/>
              </a:rPr>
              <a:t>관측 데이터 D16 한국관광 데이터랩 전국 빅데이터</a:t>
            </a:r>
          </a:p>
          <a:p>
            <a:pPr eaLnBrk="0">
              <a:lnSpc>
                <a:spcPts val="1687"/>
              </a:lnSpc>
              <a:spcBef>
                <a:spcPts val="0"/>
              </a:spcBef>
              <a:spcAft>
                <a:spcPts val="0"/>
              </a:spcAft>
            </a:pPr>
            <a:r>
              <a:rPr sz="1350" b="0" u="none">
                <a:solidFill>
                  <a:srgbClr val="004EA2"/>
                </a:solidFill>
                <a:latin typeface="Noto Sans KR"/>
                <a:hlinkClick xmlns:ns39="http://schemas.openxmlformats.org/officeDocument/2006/relationships" ns39:id="rId2"/>
              </a:rPr>
              <a:t>다운로드 · 신용카드/내국인/지역별</a:t>
            </a:r>
          </a:p>
          <a:p>
            <a:pPr eaLnBrk="0">
              <a:lnSpc>
                <a:spcPts val="1687"/>
              </a:lnSpc>
              <a:spcBef>
                <a:spcPts val="0"/>
              </a:spcBef>
              <a:spcAft>
                <a:spcPts val="0"/>
              </a:spcAft>
            </a:pPr>
            <a:r>
              <a:rPr sz="1350" b="0" u="none">
                <a:solidFill>
                  <a:srgbClr val="004EA2"/>
                </a:solidFill>
                <a:latin typeface="Noto Sans KR"/>
                <a:hlinkClick xmlns:ns40="http://schemas.openxmlformats.org/officeDocument/2006/relationships" ns40:id="rId2"/>
              </a:rPr>
              <a:t>관광지출액/20260820140046__202601-202606_데이터랩</a:t>
            </a:r>
          </a:p>
          <a:p>
            <a:pPr eaLnBrk="0">
              <a:lnSpc>
                <a:spcPts val="1687"/>
              </a:lnSpc>
              <a:spcBef>
                <a:spcPts val="0"/>
              </a:spcBef>
              <a:spcAft>
                <a:spcPts val="0"/>
              </a:spcAft>
            </a:pPr>
            <a:r>
              <a:rPr sz="1350" b="0" u="none">
                <a:solidFill>
                  <a:srgbClr val="004EA2"/>
                </a:solidFill>
                <a:latin typeface="Noto Sans KR"/>
                <a:hlinkClick xmlns:ns41="http://schemas.openxmlformats.org/officeDocument/2006/relationships" ns41:id="rId2"/>
              </a:rPr>
              <a:t>_다운로드.zip 2026-01 ~ 2026-06</a:t>
            </a:r>
          </a:p>
        </p:txBody>
      </p:sp>
      <p:sp xmlns:a="http://schemas.openxmlformats.org/drawingml/2006/main">
        <p:nvSpPr>
          <p:cNvPr id="21" name="reference-16"/>
          <p:cNvSpPr txBox="1"/>
          <p:nvPr/>
        </p:nvSpPr>
        <p:spPr>
          <a:xfrm>
            <a:off x="9963150" y="4629150"/>
            <a:ext cx="4248150" cy="1000125"/>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xmlns:ns42="http://schemas.openxmlformats.org/officeDocument/2006/relationships" ns42:id="rId2"/>
              </a:rPr>
              <a:t>관측 데이터 D17 한국관광 데이터랩 전국 빅데이터</a:t>
            </a:r>
          </a:p>
          <a:p>
            <a:pPr eaLnBrk="0">
              <a:lnSpc>
                <a:spcPts val="1687"/>
              </a:lnSpc>
              <a:spcBef>
                <a:spcPts val="0"/>
              </a:spcBef>
              <a:spcAft>
                <a:spcPts val="0"/>
              </a:spcAft>
            </a:pPr>
            <a:r>
              <a:rPr sz="1350" b="0" u="none">
                <a:solidFill>
                  <a:srgbClr val="004EA2"/>
                </a:solidFill>
                <a:latin typeface="Noto Sans KR"/>
                <a:hlinkClick xmlns:ns43="http://schemas.openxmlformats.org/officeDocument/2006/relationships" ns43:id="rId2"/>
              </a:rPr>
              <a:t>다운로드 · 신용카드/외국인/지역별</a:t>
            </a:r>
          </a:p>
          <a:p>
            <a:pPr eaLnBrk="0">
              <a:lnSpc>
                <a:spcPts val="1687"/>
              </a:lnSpc>
              <a:spcBef>
                <a:spcPts val="0"/>
              </a:spcBef>
              <a:spcAft>
                <a:spcPts val="0"/>
              </a:spcAft>
            </a:pPr>
            <a:r>
              <a:rPr sz="1350" b="0" u="none">
                <a:solidFill>
                  <a:srgbClr val="004EA2"/>
                </a:solidFill>
                <a:latin typeface="Noto Sans KR"/>
                <a:hlinkClick xmlns:ns44="http://schemas.openxmlformats.org/officeDocument/2006/relationships" ns44:id="rId2"/>
              </a:rPr>
              <a:t>관광지출액/20260820140355__202601-202606_데이터랩</a:t>
            </a:r>
          </a:p>
          <a:p>
            <a:pPr eaLnBrk="0">
              <a:lnSpc>
                <a:spcPts val="1687"/>
              </a:lnSpc>
              <a:spcBef>
                <a:spcPts val="0"/>
              </a:spcBef>
              <a:spcAft>
                <a:spcPts val="0"/>
              </a:spcAft>
            </a:pPr>
            <a:r>
              <a:rPr sz="1350" b="0" u="none">
                <a:solidFill>
                  <a:srgbClr val="004EA2"/>
                </a:solidFill>
                <a:latin typeface="Noto Sans KR"/>
                <a:hlinkClick xmlns:ns45="http://schemas.openxmlformats.org/officeDocument/2006/relationships" ns45:id="rId2"/>
              </a:rPr>
              <a:t>_다운로드.zip 2026-01 ~ 2026-06</a:t>
            </a:r>
          </a:p>
        </p:txBody>
      </p:sp>
      <p:sp xmlns:a="http://schemas.openxmlformats.org/drawingml/2006/main">
        <p:nvSpPr>
          <p:cNvPr id="22" name="reference-17"/>
          <p:cNvSpPr txBox="1"/>
          <p:nvPr/>
        </p:nvSpPr>
        <p:spPr>
          <a:xfrm>
            <a:off x="9963150" y="5657850"/>
            <a:ext cx="4248150" cy="1000125"/>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xmlns:ns46="http://schemas.openxmlformats.org/officeDocument/2006/relationships" ns46:id="rId2"/>
              </a:rPr>
              <a:t>관측 데이터 D18 한국관광 데이터랩 전국 빅데이터</a:t>
            </a:r>
          </a:p>
          <a:p>
            <a:pPr eaLnBrk="0">
              <a:lnSpc>
                <a:spcPts val="1687"/>
              </a:lnSpc>
              <a:spcBef>
                <a:spcPts val="0"/>
              </a:spcBef>
              <a:spcAft>
                <a:spcPts val="0"/>
              </a:spcAft>
            </a:pPr>
            <a:r>
              <a:rPr sz="1350" b="0" u="none">
                <a:solidFill>
                  <a:srgbClr val="004EA2"/>
                </a:solidFill>
                <a:latin typeface="Noto Sans KR"/>
                <a:hlinkClick xmlns:ns47="http://schemas.openxmlformats.org/officeDocument/2006/relationships" ns47:id="rId2"/>
              </a:rPr>
              <a:t>다운로드 · 네비게이션/지역별</a:t>
            </a:r>
          </a:p>
          <a:p>
            <a:pPr eaLnBrk="0">
              <a:lnSpc>
                <a:spcPts val="1687"/>
              </a:lnSpc>
              <a:spcBef>
                <a:spcPts val="0"/>
              </a:spcBef>
              <a:spcAft>
                <a:spcPts val="0"/>
              </a:spcAft>
            </a:pPr>
            <a:r>
              <a:rPr sz="1350" b="0" u="none">
                <a:solidFill>
                  <a:srgbClr val="004EA2"/>
                </a:solidFill>
                <a:latin typeface="Noto Sans KR"/>
                <a:hlinkClick xmlns:ns48="http://schemas.openxmlformats.org/officeDocument/2006/relationships" ns48:id="rId2"/>
              </a:rPr>
              <a:t>검색건수/20260820195507__202601-202606_데이터랩_</a:t>
            </a:r>
          </a:p>
          <a:p>
            <a:pPr eaLnBrk="0">
              <a:lnSpc>
                <a:spcPts val="1687"/>
              </a:lnSpc>
              <a:spcBef>
                <a:spcPts val="0"/>
              </a:spcBef>
              <a:spcAft>
                <a:spcPts val="0"/>
              </a:spcAft>
            </a:pPr>
            <a:r>
              <a:rPr sz="1350" b="0" u="none">
                <a:solidFill>
                  <a:srgbClr val="004EA2"/>
                </a:solidFill>
                <a:latin typeface="Noto Sans KR"/>
                <a:hlinkClick xmlns:ns49="http://schemas.openxmlformats.org/officeDocument/2006/relationships" ns49:id="rId2"/>
              </a:rPr>
              <a:t>다운로드.zip 2026-01 ~ 2026-06</a:t>
            </a:r>
          </a:p>
        </p:txBody>
      </p:sp>
      <p:sp xmlns:a="http://schemas.openxmlformats.org/drawingml/2006/main">
        <p:nvSpPr>
          <p:cNvPr id="23" name="reference-18"/>
          <p:cNvSpPr txBox="1"/>
          <p:nvPr/>
        </p:nvSpPr>
        <p:spPr>
          <a:xfrm>
            <a:off x="9963150" y="6686550"/>
            <a:ext cx="4248150" cy="1000125"/>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xmlns:ns50="http://schemas.openxmlformats.org/officeDocument/2006/relationships" ns50:id="rId2"/>
              </a:rPr>
              <a:t>관측 데이터 D19 한국관광 데이터랩 전국 빅데이터</a:t>
            </a:r>
          </a:p>
          <a:p>
            <a:pPr eaLnBrk="0">
              <a:lnSpc>
                <a:spcPts val="1687"/>
              </a:lnSpc>
              <a:spcBef>
                <a:spcPts val="0"/>
              </a:spcBef>
              <a:spcAft>
                <a:spcPts val="0"/>
              </a:spcAft>
            </a:pPr>
            <a:r>
              <a:rPr sz="1350" b="0" u="none">
                <a:solidFill>
                  <a:srgbClr val="004EA2"/>
                </a:solidFill>
                <a:latin typeface="Noto Sans KR"/>
                <a:hlinkClick xmlns:ns51="http://schemas.openxmlformats.org/officeDocument/2006/relationships" ns51:id="rId2"/>
              </a:rPr>
              <a:t>다운로드 · 이동통신/내국인/지역별</a:t>
            </a:r>
          </a:p>
          <a:p>
            <a:pPr eaLnBrk="0">
              <a:lnSpc>
                <a:spcPts val="1687"/>
              </a:lnSpc>
              <a:spcBef>
                <a:spcPts val="0"/>
              </a:spcBef>
              <a:spcAft>
                <a:spcPts val="0"/>
              </a:spcAft>
            </a:pPr>
            <a:r>
              <a:rPr sz="1350" b="0" u="none">
                <a:solidFill>
                  <a:srgbClr val="004EA2"/>
                </a:solidFill>
                <a:latin typeface="Noto Sans KR"/>
                <a:hlinkClick xmlns:ns52="http://schemas.openxmlformats.org/officeDocument/2006/relationships" ns52:id="rId2"/>
              </a:rPr>
              <a:t>방문자수/20260820140614__202501-202512_데이터랩_</a:t>
            </a:r>
          </a:p>
          <a:p>
            <a:pPr eaLnBrk="0">
              <a:lnSpc>
                <a:spcPts val="1687"/>
              </a:lnSpc>
              <a:spcBef>
                <a:spcPts val="0"/>
              </a:spcBef>
              <a:spcAft>
                <a:spcPts val="0"/>
              </a:spcAft>
            </a:pPr>
            <a:r>
              <a:rPr sz="1350" b="0" u="none">
                <a:solidFill>
                  <a:srgbClr val="004EA2"/>
                </a:solidFill>
                <a:latin typeface="Noto Sans KR"/>
                <a:hlinkClick xmlns:ns53="http://schemas.openxmlformats.org/officeDocument/2006/relationships" ns53:id="rId2"/>
              </a:rPr>
              <a:t>다운로드.zip 2026-01 ~ 2026-06</a:t>
            </a:r>
          </a:p>
        </p:txBody>
      </p:sp>
    </p:spTree>
    <p:extLst>
      <p:ext uri="{BB962C8B-B14F-4D97-AF65-F5344CB8AC3E}">
        <p14:creationId xmlns:p14="http://schemas.microsoft.com/office/powerpoint/2010/main" val="930694367"/>
      </p:ext>
    </p:extLst>
  </p:cSld>
</p:sld>
</file>

<file path=ppt/slides/slide12.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21" name="background-wordmark">
            <a:extLst xmlns:a="http://schemas.openxmlformats.org/drawingml/2006/main">
              <a:ext uri="{FF2B5EF4-FFF2-40B4-BE49-F238E27FC236}">
                <a16:creationId xmlns:a16="http://schemas.microsoft.com/office/drawing/2014/main" id="{77FB509F-5920-492C-9117-3338D34B0670}"/>
              </a:ext>
            </a:extLst>
          </p:cNvPr>
          <p:cNvSpPr>
            <a:spLocks xmlns:a="http://schemas.openxmlformats.org/drawingml/2006/main" noGrp="1"/>
          </p:cNvSpPr>
          <p:nvPr/>
        </p:nvSpPr>
        <p:spPr>
          <a:xfrm xmlns:a="http://schemas.openxmlformats.org/drawingml/2006/main">
            <a:off x="-552450" y="2857500"/>
            <a:ext cx="16383000" cy="2952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ctr">
            <a:normAutofit fontScale="86111" lnSpcReduction="10000"/>
          </a:bodyPr>
          <a:lstStyle xmlns:a="http://schemas.openxmlformats.org/drawingml/2006/main"/>
          <a:p xmlns:a="http://schemas.openxmlformats.org/drawingml/2006/main">
            <a:pPr algn="ctr" eaLnBrk="0">
              <a:buNone/>
              <a:defRPr sz="22500" b="1" i="0">
                <a:solidFill>
                  <a:srgbClr val="E7EDF4"/>
                </a:solidFill>
                <a:latin typeface="Noto Sans KR"/>
                <a:ea typeface="Noto Sans KR"/>
                <a:cs typeface="Noto Sans KR"/>
              </a:defRPr>
            </a:pPr>
            <a:r>
              <a:rPr sz="22500" b="1" i="0">
                <a:solidFill>
                  <a:srgbClr val="E7EDF4"/>
                </a:solidFill>
                <a:latin typeface="Noto Sans KR"/>
                <a:ea typeface="Noto Sans KR"/>
                <a:cs typeface="Noto Sans KR"/>
              </a:rPr>
              <a:t>TOURISM AI</a:t>
            </a:r>
          </a:p>
        </p:txBody>
      </p:sp>
      <p:sp>
        <p:nvSpPr>
          <p:cNvPr id="2" name="center-top-vertical">
            <a:extLst xmlns:a="http://schemas.openxmlformats.org/drawingml/2006/main">
              <a:ext uri="{FF2B5EF4-FFF2-40B4-BE49-F238E27FC236}">
                <a16:creationId xmlns:a16="http://schemas.microsoft.com/office/drawing/2014/main" id="{B1DEDF35-13EE-406A-AC8E-214EDD2F24AC}"/>
              </a:ext>
            </a:extLst>
          </p:cNvPr>
          <p:cNvSpPr>
            <a:spLocks xmlns:a="http://schemas.openxmlformats.org/drawingml/2006/main" noGrp="1"/>
          </p:cNvSpPr>
          <p:nvPr/>
        </p:nvSpPr>
        <p:spPr>
          <a:xfrm xmlns:a="http://schemas.openxmlformats.org/drawingml/2006/main">
            <a:off x="7620000" y="895350"/>
            <a:ext cx="0" cy="1257300"/>
          </a:xfrm>
          <a:prstGeom xmlns:a="http://schemas.openxmlformats.org/drawingml/2006/main" prst="line">
            <a:avLst/>
          </a:prstGeom>
          <a:noFill xmlns:a="http://schemas.openxmlformats.org/drawingml/2006/main"/>
          <a:ln xmlns:a="http://schemas.openxmlformats.org/drawingml/2006/main" w="28575">
            <a:solidFill>
              <a:srgbClr val="004EA2"/>
            </a:solidFill>
            <a:prstDash val="solid"/>
          </a:ln>
        </p:spPr>
        <p:txBody>
          <a:bodyPr xmlns:a="http://schemas.openxmlformats.org/drawingml/2006/main"/>
          <a:lstStyle xmlns:a="http://schemas.openxmlformats.org/drawingml/2006/main"/>
          <a:p xmlns:a="http://schemas.openxmlformats.org/drawingml/2006/main">
            <a:endParaRPr/>
          </a:p>
        </p:txBody>
      </p:sp>
      <p:sp>
        <p:nvSpPr>
          <p:cNvPr id="3" name="center-bottom-vertical">
            <a:extLst xmlns:a="http://schemas.openxmlformats.org/drawingml/2006/main">
              <a:ext uri="{FF2B5EF4-FFF2-40B4-BE49-F238E27FC236}">
                <a16:creationId xmlns:a16="http://schemas.microsoft.com/office/drawing/2014/main" id="{D3C6583A-243C-4B40-B28E-68DDCD8248EA}"/>
              </a:ext>
            </a:extLst>
          </p:cNvPr>
          <p:cNvSpPr>
            <a:spLocks xmlns:a="http://schemas.openxmlformats.org/drawingml/2006/main" noGrp="1"/>
          </p:cNvSpPr>
          <p:nvPr/>
        </p:nvSpPr>
        <p:spPr>
          <a:xfrm xmlns:a="http://schemas.openxmlformats.org/drawingml/2006/main">
            <a:off x="7620000" y="6410325"/>
            <a:ext cx="0" cy="1247775"/>
          </a:xfrm>
          <a:prstGeom xmlns:a="http://schemas.openxmlformats.org/drawingml/2006/main" prst="line">
            <a:avLst/>
          </a:prstGeom>
          <a:noFill xmlns:a="http://schemas.openxmlformats.org/drawingml/2006/main"/>
          <a:ln xmlns:a="http://schemas.openxmlformats.org/drawingml/2006/main" w="28575">
            <a:solidFill>
              <a:srgbClr val="004EA2"/>
            </a:solidFill>
            <a:prstDash val="solid"/>
          </a:ln>
        </p:spPr>
        <p:txBody>
          <a:bodyPr xmlns:a="http://schemas.openxmlformats.org/drawingml/2006/main"/>
          <a:lstStyle xmlns:a="http://schemas.openxmlformats.org/drawingml/2006/main"/>
          <a:p xmlns:a="http://schemas.openxmlformats.org/drawingml/2006/main">
            <a:endParaRPr/>
          </a:p>
        </p:txBody>
      </p:sp>
      <p:sp>
        <p:nvSpPr>
          <p:cNvPr id="4" name="title-panel">
            <a:extLst xmlns:a="http://schemas.openxmlformats.org/drawingml/2006/main">
              <a:ext uri="{FF2B5EF4-FFF2-40B4-BE49-F238E27FC236}">
                <a16:creationId xmlns:a16="http://schemas.microsoft.com/office/drawing/2014/main" id="{EE1DECE5-AA5E-4E34-834B-AD62B1CB03F9}"/>
              </a:ext>
            </a:extLst>
          </p:cNvPr>
          <p:cNvSpPr>
            <a:spLocks xmlns:a="http://schemas.openxmlformats.org/drawingml/2006/main" noGrp="1"/>
          </p:cNvSpPr>
          <p:nvPr/>
        </p:nvSpPr>
        <p:spPr>
          <a:xfrm xmlns:a="http://schemas.openxmlformats.org/drawingml/2006/main">
            <a:off x="3495675" y="2114550"/>
            <a:ext cx="8267700" cy="42957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endParaRPr/>
          </a:p>
        </p:txBody>
      </p:sp>
      <p:sp>
        <p:nvSpPr>
          <p:cNvPr id="5" name="title-panel-top">
            <a:extLst xmlns:a="http://schemas.openxmlformats.org/drawingml/2006/main">
              <a:ext uri="{FF2B5EF4-FFF2-40B4-BE49-F238E27FC236}">
                <a16:creationId xmlns:a16="http://schemas.microsoft.com/office/drawing/2014/main" id="{6C123102-52FB-43EB-A3A5-744861F98965}"/>
              </a:ext>
            </a:extLst>
          </p:cNvPr>
          <p:cNvSpPr>
            <a:spLocks xmlns:a="http://schemas.openxmlformats.org/drawingml/2006/main" noGrp="1"/>
          </p:cNvSpPr>
          <p:nvPr/>
        </p:nvSpPr>
        <p:spPr>
          <a:xfrm xmlns:a="http://schemas.openxmlformats.org/drawingml/2006/main">
            <a:off x="3495675" y="2114550"/>
            <a:ext cx="8267700" cy="0"/>
          </a:xfrm>
          <a:prstGeom xmlns:a="http://schemas.openxmlformats.org/drawingml/2006/main" prst="line">
            <a:avLst/>
          </a:prstGeom>
          <a:noFill xmlns:a="http://schemas.openxmlformats.org/drawingml/2006/main"/>
          <a:ln xmlns:a="http://schemas.openxmlformats.org/drawingml/2006/main" w="38100">
            <a:solidFill>
              <a:srgbClr val="004EA2"/>
            </a:solidFill>
            <a:prstDash val="solid"/>
          </a:ln>
        </p:spPr>
        <p:txBody>
          <a:bodyPr xmlns:a="http://schemas.openxmlformats.org/drawingml/2006/main"/>
          <a:lstStyle xmlns:a="http://schemas.openxmlformats.org/drawingml/2006/main"/>
          <a:p xmlns:a="http://schemas.openxmlformats.org/drawingml/2006/main">
            <a:endParaRPr/>
          </a:p>
        </p:txBody>
      </p:sp>
      <p:sp>
        <p:nvSpPr>
          <p:cNvPr id="7" name="cover-title-line1">
            <a:extLst xmlns:a="http://schemas.openxmlformats.org/drawingml/2006/main">
              <a:ext uri="{FF2B5EF4-FFF2-40B4-BE49-F238E27FC236}">
                <a16:creationId xmlns:a16="http://schemas.microsoft.com/office/drawing/2014/main" id="{4D06E463-555F-4ED7-A555-6F2BBA28E48F}"/>
              </a:ext>
            </a:extLst>
          </p:cNvPr>
          <p:cNvSpPr>
            <a:spLocks xmlns:a="http://schemas.openxmlformats.org/drawingml/2006/main" noGrp="1"/>
          </p:cNvSpPr>
          <p:nvPr/>
        </p:nvSpPr>
        <p:spPr>
          <a:xfrm xmlns:a="http://schemas.openxmlformats.org/drawingml/2006/main">
            <a:off x="4267200" y="3638550"/>
            <a:ext cx="6734175"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ctr" eaLnBrk="0">
              <a:buNone/>
              <a:defRPr sz="3525" b="1" i="0">
                <a:solidFill>
                  <a:srgbClr val="1B1F23"/>
                </a:solidFill>
                <a:latin typeface="Noto Sans KR"/>
                <a:ea typeface="Noto Sans KR"/>
                <a:cs typeface="Noto Sans KR"/>
              </a:defRPr>
            </a:pPr>
            <a:r>
              <a:rPr sz="4500" b="1" i="0">
                <a:solidFill>
                  <a:srgbClr val="1B1F23"/>
                </a:solidFill>
                <a:latin typeface="Noto Sans KR"/>
                <a:ea typeface="Noto Sans KR"/>
                <a:cs typeface="Noto Sans KR"/>
              </a:rPr>
              <a:t>감사합니다</a:t>
            </a:r>
          </a:p>
        </p:txBody>
      </p:sp>
      <p:sp>
        <p:nvSpPr>
          <p:cNvPr id="8" name="cover-title-line2">
            <a:extLst xmlns:a="http://schemas.openxmlformats.org/drawingml/2006/main">
              <a:ext uri="{FF2B5EF4-FFF2-40B4-BE49-F238E27FC236}">
                <a16:creationId xmlns:a16="http://schemas.microsoft.com/office/drawing/2014/main" id="{055E2330-B51B-4A73-961A-2CE79A60AD37}"/>
              </a:ext>
            </a:extLst>
          </p:cNvPr>
          <p:cNvSpPr>
            <a:spLocks xmlns:a="http://schemas.openxmlformats.org/drawingml/2006/main" noGrp="1"/>
          </p:cNvSpPr>
          <p:nvPr/>
        </p:nvSpPr>
        <p:spPr>
          <a:xfrm xmlns:a="http://schemas.openxmlformats.org/drawingml/2006/main">
            <a:off x="3952875" y="4438650"/>
            <a:ext cx="7381875"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eaLnBrk="0">
              <a:buNone/>
              <a:defRPr sz="2625" b="1">
                <a:solidFill>
                  <a:srgbClr val="1B1F23"/>
                </a:solidFill>
                <a:latin typeface="Noto Sans KR"/>
                <a:ea typeface="Noto Sans KR"/>
                <a:cs typeface="Noto Sans KR"/>
              </a:defRPr>
            </a:pPr>
            <a:r>
              <a:rPr sz="2775" b="1">
                <a:solidFill>
                  <a:srgbClr val="004EA2"/>
                </a:solidFill>
                <a:latin typeface="Noto Sans KR"/>
                <a:ea typeface="Noto Sans KR"/>
                <a:cs typeface="Noto Sans KR"/>
              </a:rPr>
              <a:t>데이터로 확인하고, 현장에서 완성합니다</a:t>
            </a:r>
          </a:p>
        </p:txBody>
      </p:sp>
      <p:sp>
        <p:nvSpPr>
          <p:cNvPr id="9" name="date-rule-left">
            <a:extLst xmlns:a="http://schemas.openxmlformats.org/drawingml/2006/main">
              <a:ext uri="{FF2B5EF4-FFF2-40B4-BE49-F238E27FC236}">
                <a16:creationId xmlns:a16="http://schemas.microsoft.com/office/drawing/2014/main" id="{ADF95A54-AD3A-46B3-8204-A4A4C1780876}"/>
              </a:ext>
            </a:extLst>
          </p:cNvPr>
          <p:cNvSpPr>
            <a:spLocks xmlns:a="http://schemas.openxmlformats.org/drawingml/2006/main" noGrp="1"/>
          </p:cNvSpPr>
          <p:nvPr/>
        </p:nvSpPr>
        <p:spPr>
          <a:xfrm xmlns:a="http://schemas.openxmlformats.org/drawingml/2006/main">
            <a:off x="4972050" y="5514975"/>
            <a:ext cx="419100" cy="0"/>
          </a:xfrm>
          <a:prstGeom xmlns:a="http://schemas.openxmlformats.org/drawingml/2006/main" prst="line">
            <a:avLst/>
          </a:prstGeom>
          <a:noFill xmlns:a="http://schemas.openxmlformats.org/drawingml/2006/main"/>
          <a:ln xmlns:a="http://schemas.openxmlformats.org/drawingml/2006/main" w="19050">
            <a:solidFill>
              <a:srgbClr val="00C1D4"/>
            </a:solidFill>
            <a:prstDash val="solid"/>
          </a:ln>
        </p:spPr>
        <p:txBody>
          <a:bodyPr xmlns:a="http://schemas.openxmlformats.org/drawingml/2006/main"/>
          <a:lstStyle xmlns:a="http://schemas.openxmlformats.org/drawingml/2006/main"/>
          <a:p xmlns:a="http://schemas.openxmlformats.org/drawingml/2006/main">
            <a:endParaRPr/>
          </a:p>
        </p:txBody>
      </p:sp>
      <p:sp>
        <p:nvSpPr>
          <p:cNvPr id="10" name="cover-date">
            <a:extLst xmlns:a="http://schemas.openxmlformats.org/drawingml/2006/main">
              <a:ext uri="{FF2B5EF4-FFF2-40B4-BE49-F238E27FC236}">
                <a16:creationId xmlns:a16="http://schemas.microsoft.com/office/drawing/2014/main" id="{D9CF49F9-166E-4877-8903-09E88A51BFD0}"/>
              </a:ext>
            </a:extLst>
          </p:cNvPr>
          <p:cNvSpPr>
            <a:spLocks xmlns:a="http://schemas.openxmlformats.org/drawingml/2006/main" noGrp="1"/>
          </p:cNvSpPr>
          <p:nvPr/>
        </p:nvSpPr>
        <p:spPr>
          <a:xfrm xmlns:a="http://schemas.openxmlformats.org/drawingml/2006/main">
            <a:off x="5524500" y="5334000"/>
            <a:ext cx="4191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noAutofit/>
          </a:bodyPr>
          <a:lstStyle xmlns:a="http://schemas.openxmlformats.org/drawingml/2006/main"/>
          <a:p xmlns:a="http://schemas.openxmlformats.org/drawingml/2006/main">
            <a:pPr algn="ctr" eaLnBrk="0">
              <a:buNone/>
              <a:defRPr sz="1350" b="0" i="0">
                <a:solidFill>
                  <a:srgbClr val="1B1F23"/>
                </a:solidFill>
                <a:latin typeface="Noto Sans KR"/>
                <a:ea typeface="Noto Sans KR"/>
                <a:cs typeface="Noto Sans KR"/>
              </a:defRPr>
            </a:pPr>
            <a:r>
              <a:rPr sz="1575" b="0" i="0">
                <a:solidFill>
                  <a:srgbClr val="1B1F23"/>
                </a:solidFill>
                <a:latin typeface="Noto Sans KR"/>
                <a:ea typeface="Noto Sans KR"/>
                <a:cs typeface="Noto Sans KR"/>
              </a:rPr>
              <a:t>지역 관광 전략기획안</a:t>
            </a:r>
          </a:p>
        </p:txBody>
      </p:sp>
      <p:sp>
        <p:nvSpPr>
          <p:cNvPr id="11" name="date-rule-right">
            <a:extLst xmlns:a="http://schemas.openxmlformats.org/drawingml/2006/main">
              <a:ext uri="{FF2B5EF4-FFF2-40B4-BE49-F238E27FC236}">
                <a16:creationId xmlns:a16="http://schemas.microsoft.com/office/drawing/2014/main" id="{D63894DC-8857-4AFB-9D30-D40A61F1C100}"/>
              </a:ext>
            </a:extLst>
          </p:cNvPr>
          <p:cNvSpPr>
            <a:spLocks xmlns:a="http://schemas.openxmlformats.org/drawingml/2006/main" noGrp="1"/>
          </p:cNvSpPr>
          <p:nvPr/>
        </p:nvSpPr>
        <p:spPr>
          <a:xfrm xmlns:a="http://schemas.openxmlformats.org/drawingml/2006/main">
            <a:off x="9848850" y="5514975"/>
            <a:ext cx="419100" cy="0"/>
          </a:xfrm>
          <a:prstGeom xmlns:a="http://schemas.openxmlformats.org/drawingml/2006/main" prst="line">
            <a:avLst/>
          </a:prstGeom>
          <a:noFill xmlns:a="http://schemas.openxmlformats.org/drawingml/2006/main"/>
          <a:ln xmlns:a="http://schemas.openxmlformats.org/drawingml/2006/main" w="19050">
            <a:solidFill>
              <a:srgbClr val="00C1D4"/>
            </a:solidFill>
            <a:prstDash val="solid"/>
          </a:ln>
        </p:spPr>
        <p:txBody>
          <a:bodyPr xmlns:a="http://schemas.openxmlformats.org/drawingml/2006/main"/>
          <a:lstStyle xmlns:a="http://schemas.openxmlformats.org/drawingml/2006/main"/>
          <a:p xmlns:a="http://schemas.openxmlformats.org/drawingml/2006/main">
            <a:endParaRPr/>
          </a:p>
        </p:txBody>
      </p:sp>
      <p:sp>
        <p:nvSpPr>
          <p:cNvPr id="12" name="org-title">
            <a:extLst xmlns:a="http://schemas.openxmlformats.org/drawingml/2006/main">
              <a:ext uri="{FF2B5EF4-FFF2-40B4-BE49-F238E27FC236}">
                <a16:creationId xmlns:a16="http://schemas.microsoft.com/office/drawing/2014/main" id="{BFAE34B7-AC7B-4526-88A3-D8CECFF061B0}"/>
              </a:ext>
            </a:extLst>
          </p:cNvPr>
          <p:cNvSpPr>
            <a:spLocks xmlns:a="http://schemas.openxmlformats.org/drawingml/2006/main" noGrp="1"/>
          </p:cNvSpPr>
          <p:nvPr/>
        </p:nvSpPr>
        <p:spPr>
          <a:xfrm xmlns:a="http://schemas.openxmlformats.org/drawingml/2006/main">
            <a:off x="11858625" y="1009650"/>
            <a:ext cx="2381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p xmlns:a="http://schemas.openxmlformats.org/drawingml/2006/main">
            <a:pPr algn="r" eaLnBrk="0">
              <a:buNone/>
              <a:defRPr sz="1350" b="1" i="0">
                <a:solidFill>
                  <a:srgbClr val="004EA2"/>
                </a:solidFill>
                <a:latin typeface="Noto Sans KR"/>
                <a:ea typeface="Noto Sans KR"/>
                <a:cs typeface="Noto Sans KR"/>
              </a:defRPr>
            </a:pPr>
            <a:r>
              <a:rPr sz="1500" b="1" i="0">
                <a:solidFill>
                  <a:srgbClr val="004EA2"/>
                </a:solidFill>
                <a:latin typeface="Noto Sans KR"/>
                <a:ea typeface="Noto Sans KR"/>
                <a:cs typeface="Noto Sans KR"/>
              </a:rPr>
              <a:t>서울특별시 성동구</a:t>
            </a:r>
          </a:p>
        </p:txBody>
      </p:sp>
      <p:sp>
        <p:nvSpPr>
          <p:cNvPr id="13" name="org-orange-rule">
            <a:extLst xmlns:a="http://schemas.openxmlformats.org/drawingml/2006/main">
              <a:ext uri="{FF2B5EF4-FFF2-40B4-BE49-F238E27FC236}">
                <a16:creationId xmlns:a16="http://schemas.microsoft.com/office/drawing/2014/main" id="{284EC6E3-1D8E-4934-8C5E-B43BDD643630}"/>
              </a:ext>
            </a:extLst>
          </p:cNvPr>
          <p:cNvSpPr>
            <a:spLocks xmlns:a="http://schemas.openxmlformats.org/drawingml/2006/main" noGrp="1"/>
          </p:cNvSpPr>
          <p:nvPr/>
        </p:nvSpPr>
        <p:spPr>
          <a:xfrm xmlns:a="http://schemas.openxmlformats.org/drawingml/2006/main">
            <a:off x="13592175" y="1390650"/>
            <a:ext cx="647700" cy="0"/>
          </a:xfrm>
          <a:prstGeom xmlns:a="http://schemas.openxmlformats.org/drawingml/2006/main" prst="line">
            <a:avLst/>
          </a:prstGeom>
          <a:noFill xmlns:a="http://schemas.openxmlformats.org/drawingml/2006/main"/>
          <a:ln xmlns:a="http://schemas.openxmlformats.org/drawingml/2006/main" w="19050">
            <a:solidFill>
              <a:srgbClr val="FF6B00"/>
            </a:solidFill>
            <a:prstDash val="solid"/>
          </a:ln>
        </p:spPr>
        <p:txBody>
          <a:bodyPr xmlns:a="http://schemas.openxmlformats.org/drawingml/2006/main"/>
          <a:lstStyle xmlns:a="http://schemas.openxmlformats.org/drawingml/2006/main"/>
          <a:p xmlns:a="http://schemas.openxmlformats.org/drawingml/2006/main">
            <a:endParaRPr/>
          </a:p>
        </p:txBody>
      </p:sp>
      <p:sp>
        <p:nvSpPr>
          <p:cNvPr id="16" name="report-topic">
            <a:extLst xmlns:a="http://schemas.openxmlformats.org/drawingml/2006/main">
              <a:ext uri="{FF2B5EF4-FFF2-40B4-BE49-F238E27FC236}">
                <a16:creationId xmlns:a16="http://schemas.microsoft.com/office/drawing/2014/main" id="{79974288-A39D-407D-8F48-874FFA4095C1}"/>
              </a:ext>
            </a:extLst>
          </p:cNvPr>
          <p:cNvSpPr>
            <a:spLocks xmlns:a="http://schemas.openxmlformats.org/drawingml/2006/main" noGrp="1"/>
          </p:cNvSpPr>
          <p:nvPr/>
        </p:nvSpPr>
        <p:spPr>
          <a:xfrm xmlns:a="http://schemas.openxmlformats.org/drawingml/2006/main">
            <a:off x="1047750" y="6724650"/>
            <a:ext cx="3514725"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57150" tIns="38100" rIns="57150" bIns="38100" anchor="t">
            <a:noAutofit/>
          </a:bodyPr>
          <a:lstStyle xmlns:a="http://schemas.openxmlformats.org/drawingml/2006/main"/>
          <a:p xmlns:a="http://schemas.openxmlformats.org/drawingml/2006/main">
            <a:pPr algn="l" eaLnBrk="0">
              <a:lnSpc>
                <a:spcPts val="2625"/>
              </a:lnSpc>
              <a:spcBef>
                <a:spcPts val="0"/>
              </a:spcBef>
              <a:spcAft>
                <a:spcPts val="0"/>
              </a:spcAft>
              <a:buNone/>
              <a:defRPr sz="2325" b="1" i="0">
                <a:solidFill>
                  <a:srgbClr val="004EA2"/>
                </a:solidFill>
                <a:latin typeface="Noto Sans KR"/>
                <a:ea typeface="Noto Sans KR"/>
                <a:cs typeface="Noto Sans KR"/>
              </a:defRPr>
            </a:pPr>
            <a:r>
              <a:rPr sz="2100" b="1">
                <a:solidFill>
                  <a:srgbClr val="004EA2"/>
                </a:solidFill>
                <a:latin typeface="Noto Sans KR"/>
              </a:rPr>
              <a:t>성동구 지역상품권</a:t>
            </a:r>
          </a:p>
          <a:p xmlns:a="http://schemas.openxmlformats.org/drawingml/2006/main">
            <a:pPr eaLnBrk="0">
              <a:lnSpc>
                <a:spcPts val="2625"/>
              </a:lnSpc>
              <a:spcBef>
                <a:spcPts val="0"/>
              </a:spcBef>
              <a:spcAft>
                <a:spcPts val="0"/>
              </a:spcAft>
            </a:pPr>
            <a:r>
              <a:rPr sz="2100" b="1">
                <a:solidFill>
                  <a:srgbClr val="004EA2"/>
                </a:solidFill>
                <a:latin typeface="Noto Sans KR"/>
              </a:rPr>
              <a:t>환급 프로그램</a:t>
            </a:r>
          </a:p>
        </p:txBody>
      </p:sp>
      <p:sp>
        <p:nvSpPr>
          <p:cNvPr id="17" name="corner-tl-h">
            <a:extLst xmlns:a="http://schemas.openxmlformats.org/drawingml/2006/main">
              <a:ext uri="{FF2B5EF4-FFF2-40B4-BE49-F238E27FC236}">
                <a16:creationId xmlns:a16="http://schemas.microsoft.com/office/drawing/2014/main" id="{85098CA2-D674-4C13-AAED-97DC2B1668DD}"/>
              </a:ext>
            </a:extLst>
          </p:cNvPr>
          <p:cNvSpPr>
            <a:spLocks xmlns:a="http://schemas.openxmlformats.org/drawingml/2006/main" noGrp="1"/>
          </p:cNvSpPr>
          <p:nvPr/>
        </p:nvSpPr>
        <p:spPr>
          <a:xfrm xmlns:a="http://schemas.openxmlformats.org/drawingml/2006/main">
            <a:off x="647700" y="619125"/>
            <a:ext cx="295275" cy="0"/>
          </a:xfrm>
          <a:prstGeom xmlns:a="http://schemas.openxmlformats.org/drawingml/2006/main" prst="line">
            <a:avLst/>
          </a:prstGeom>
          <a:noFill xmlns:a="http://schemas.openxmlformats.org/drawingml/2006/main"/>
          <a:ln xmlns:a="http://schemas.openxmlformats.org/drawingml/2006/main" w="19050">
            <a:solidFill>
              <a:srgbClr val="00C1D4"/>
            </a:solidFill>
            <a:prstDash val="solid"/>
          </a:ln>
        </p:spPr>
        <p:txBody>
          <a:bodyPr xmlns:a="http://schemas.openxmlformats.org/drawingml/2006/main"/>
          <a:lstStyle xmlns:a="http://schemas.openxmlformats.org/drawingml/2006/main"/>
          <a:p xmlns:a="http://schemas.openxmlformats.org/drawingml/2006/main">
            <a:endParaRPr/>
          </a:p>
        </p:txBody>
      </p:sp>
      <p:sp>
        <p:nvSpPr>
          <p:cNvPr id="18" name="corner-tl-v">
            <a:extLst xmlns:a="http://schemas.openxmlformats.org/drawingml/2006/main">
              <a:ext uri="{FF2B5EF4-FFF2-40B4-BE49-F238E27FC236}">
                <a16:creationId xmlns:a16="http://schemas.microsoft.com/office/drawing/2014/main" id="{30186634-254F-4224-B08F-40BB6E5B3F86}"/>
              </a:ext>
            </a:extLst>
          </p:cNvPr>
          <p:cNvSpPr>
            <a:spLocks xmlns:a="http://schemas.openxmlformats.org/drawingml/2006/main" noGrp="1"/>
          </p:cNvSpPr>
          <p:nvPr/>
        </p:nvSpPr>
        <p:spPr>
          <a:xfrm xmlns:a="http://schemas.openxmlformats.org/drawingml/2006/main">
            <a:off x="647700" y="619125"/>
            <a:ext cx="0" cy="295275"/>
          </a:xfrm>
          <a:prstGeom xmlns:a="http://schemas.openxmlformats.org/drawingml/2006/main" prst="line">
            <a:avLst/>
          </a:prstGeom>
          <a:noFill xmlns:a="http://schemas.openxmlformats.org/drawingml/2006/main"/>
          <a:ln xmlns:a="http://schemas.openxmlformats.org/drawingml/2006/main" w="19050">
            <a:solidFill>
              <a:srgbClr val="00C1D4"/>
            </a:solidFill>
            <a:prstDash val="solid"/>
          </a:ln>
        </p:spPr>
        <p:txBody>
          <a:bodyPr xmlns:a="http://schemas.openxmlformats.org/drawingml/2006/main"/>
          <a:lstStyle xmlns:a="http://schemas.openxmlformats.org/drawingml/2006/main"/>
          <a:p xmlns:a="http://schemas.openxmlformats.org/drawingml/2006/main">
            <a:endParaRPr/>
          </a:p>
        </p:txBody>
      </p:sp>
      <p:sp>
        <p:nvSpPr>
          <p:cNvPr id="19" name="corner-br-h">
            <a:extLst xmlns:a="http://schemas.openxmlformats.org/drawingml/2006/main">
              <a:ext uri="{FF2B5EF4-FFF2-40B4-BE49-F238E27FC236}">
                <a16:creationId xmlns:a16="http://schemas.microsoft.com/office/drawing/2014/main" id="{95077333-21E3-42BF-9CBB-698C3BEE5E88}"/>
              </a:ext>
            </a:extLst>
          </p:cNvPr>
          <p:cNvSpPr>
            <a:spLocks xmlns:a="http://schemas.openxmlformats.org/drawingml/2006/main" noGrp="1"/>
          </p:cNvSpPr>
          <p:nvPr/>
        </p:nvSpPr>
        <p:spPr>
          <a:xfrm xmlns:a="http://schemas.openxmlformats.org/drawingml/2006/main">
            <a:off x="14582775" y="7943850"/>
            <a:ext cx="295275" cy="0"/>
          </a:xfrm>
          <a:prstGeom xmlns:a="http://schemas.openxmlformats.org/drawingml/2006/main" prst="line">
            <a:avLst/>
          </a:prstGeom>
          <a:noFill xmlns:a="http://schemas.openxmlformats.org/drawingml/2006/main"/>
          <a:ln xmlns:a="http://schemas.openxmlformats.org/drawingml/2006/main" w="19050">
            <a:solidFill>
              <a:srgbClr val="00C1D4"/>
            </a:solidFill>
            <a:prstDash val="solid"/>
          </a:ln>
        </p:spPr>
        <p:txBody>
          <a:bodyPr xmlns:a="http://schemas.openxmlformats.org/drawingml/2006/main"/>
          <a:lstStyle xmlns:a="http://schemas.openxmlformats.org/drawingml/2006/main"/>
          <a:p xmlns:a="http://schemas.openxmlformats.org/drawingml/2006/main">
            <a:endParaRPr/>
          </a:p>
        </p:txBody>
      </p:sp>
      <p:sp>
        <p:nvSpPr>
          <p:cNvPr id="20" name="corner-br-v">
            <a:extLst xmlns:a="http://schemas.openxmlformats.org/drawingml/2006/main">
              <a:ext uri="{FF2B5EF4-FFF2-40B4-BE49-F238E27FC236}">
                <a16:creationId xmlns:a16="http://schemas.microsoft.com/office/drawing/2014/main" id="{81015BD6-64EA-4BC0-A2BD-BDDA9641DC61}"/>
              </a:ext>
            </a:extLst>
          </p:cNvPr>
          <p:cNvSpPr>
            <a:spLocks xmlns:a="http://schemas.openxmlformats.org/drawingml/2006/main" noGrp="1"/>
          </p:cNvSpPr>
          <p:nvPr/>
        </p:nvSpPr>
        <p:spPr>
          <a:xfrm xmlns:a="http://schemas.openxmlformats.org/drawingml/2006/main">
            <a:off x="14878050" y="7648575"/>
            <a:ext cx="0" cy="295275"/>
          </a:xfrm>
          <a:prstGeom xmlns:a="http://schemas.openxmlformats.org/drawingml/2006/main" prst="line">
            <a:avLst/>
          </a:prstGeom>
          <a:noFill xmlns:a="http://schemas.openxmlformats.org/drawingml/2006/main"/>
          <a:ln xmlns:a="http://schemas.openxmlformats.org/drawingml/2006/main" w="19050">
            <a:solidFill>
              <a:srgbClr val="00C1D4"/>
            </a:solidFill>
            <a:prstDash val="solid"/>
          </a:ln>
        </p:spPr>
        <p:txBody>
          <a:bodyPr xmlns:a="http://schemas.openxmlformats.org/drawingml/2006/main"/>
          <a:lstStyle xmlns:a="http://schemas.openxmlformats.org/drawingml/2006/main"/>
          <a:p xmlns:a="http://schemas.openxmlformats.org/drawingml/2006/main">
            <a:endParaRPr/>
          </a:p>
        </p:txBody>
      </p:sp>
    </p:spTree>
    <p:extLst>
      <p:ext uri="{BB962C8B-B14F-4D97-AF65-F5344CB8AC3E}">
        <p14:creationId xmlns:p14="http://schemas.microsoft.com/office/powerpoint/2010/main" val="655411831"/>
      </p:ext>
    </p:extLst>
  </p:cSld>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itle"/>
          <p:cNvSpPr txBox="1"/>
          <p:nvPr/>
        </p:nvSpPr>
        <p:spPr>
          <a:xfrm>
            <a:off x="952500" y="714375"/>
            <a:ext cx="13335000" cy="809625"/>
          </a:xfrm>
          <a:prstGeom prst="rect">
            <a:avLst/>
          </a:prstGeom>
          <a:noFill/>
        </p:spPr>
        <p:txBody>
          <a:bodyPr wrap="none" lIns="57150" rIns="57150" tIns="38100" bIns="38100" anchor="t">
            <a:noAutofit/>
          </a:bodyPr>
          <a:lstStyle/>
          <a:p>
            <a:pPr eaLnBrk="0">
              <a:lnSpc>
                <a:spcPts val="4500"/>
              </a:lnSpc>
              <a:spcBef>
                <a:spcPts val="0"/>
              </a:spcBef>
              <a:spcAft>
                <a:spcPts val="0"/>
              </a:spcAft>
            </a:pPr>
            <a:r>
              <a:rPr sz="3600" b="1">
                <a:solidFill>
                  <a:srgbClr val="004EA2"/>
                </a:solidFill>
                <a:latin typeface="Noto Sans KR"/>
              </a:rPr>
              <a:t>근거·데이터·출처</a:t>
            </a:r>
          </a:p>
        </p:txBody>
      </p:sp>
      <p:sp>
        <p:nvSpPr>
          <p:cNvPr id="3" name="title-rule"/>
          <p:cNvSpPr/>
          <p:nvPr/>
        </p:nvSpPr>
        <p:spPr>
          <a:xfrm>
            <a:off x="1009650" y="1724025"/>
            <a:ext cx="13220700" cy="28575"/>
          </a:xfrm>
          <a:prstGeom prst="rect">
            <a:avLst/>
          </a:prstGeom>
          <a:solidFill>
            <a:srgbClr val="004E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subtitle"/>
          <p:cNvSpPr txBox="1"/>
          <p:nvPr/>
        </p:nvSpPr>
        <p:spPr>
          <a:xfrm>
            <a:off x="1009650" y="1885950"/>
            <a:ext cx="13220700" cy="619125"/>
          </a:xfrm>
          <a:prstGeom prst="rect">
            <a:avLst/>
          </a:prstGeom>
          <a:noFill/>
        </p:spPr>
        <p:txBody>
          <a:bodyPr wrap="none" lIns="57150" rIns="57150" tIns="38100" bIns="38100" anchor="t">
            <a:noAutofit/>
          </a:bodyPr>
          <a:lstStyle/>
          <a:p>
            <a:pPr eaLnBrk="0">
              <a:lnSpc>
                <a:spcPts val="1781"/>
              </a:lnSpc>
              <a:spcBef>
                <a:spcPts val="0"/>
              </a:spcBef>
              <a:spcAft>
                <a:spcPts val="0"/>
              </a:spcAft>
            </a:pPr>
            <a:r>
              <a:rPr sz="1425" b="0">
                <a:solidFill>
                  <a:srgbClr val="59636E"/>
                </a:solidFill>
                <a:latin typeface="Noto Sans KR"/>
              </a:rPr>
              <a:t>전체 자료명과 머신러닝 모델 2/3 · 파란 자료명을 누르면 원문으로 이동합니다.</a:t>
            </a:r>
          </a:p>
          <a:p>
            <a:pPr eaLnBrk="0">
              <a:lnSpc>
                <a:spcPts val="1781"/>
              </a:lnSpc>
              <a:spcBef>
                <a:spcPts val="0"/>
              </a:spcBef>
              <a:spcAft>
                <a:spcPts val="0"/>
              </a:spcAft>
            </a:pPr>
            <a:r>
              <a:rPr sz="1425" b="0">
                <a:solidFill>
                  <a:srgbClr val="59636E"/>
                </a:solidFill>
                <a:latin typeface="Noto Sans KR"/>
              </a:rPr>
              <a:t>참고 전망: 방문자·소비액 모델의 검증 오차가 전년동월 기준선보다 큽니다. 예측거리·누락 범위의 해석 주의가 필요합니다.</a:t>
            </a:r>
          </a:p>
        </p:txBody>
      </p:sp>
      <p:sp>
        <p:nvSpPr>
          <p:cNvPr id="5" name="reference-0"/>
          <p:cNvSpPr txBox="1"/>
          <p:nvPr/>
        </p:nvSpPr>
        <p:spPr>
          <a:xfrm>
            <a:off x="1009650" y="2571750"/>
            <a:ext cx="4248150" cy="1000125"/>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2"/>
              </a:rPr>
              <a:t>관측 데이터 D20 한국관광 데이터랩 전국 빅데이터</a:t>
            </a:r>
          </a:p>
          <a:p>
            <a:pPr eaLnBrk="0">
              <a:lnSpc>
                <a:spcPts val="1687"/>
              </a:lnSpc>
              <a:spcBef>
                <a:spcPts val="0"/>
              </a:spcBef>
              <a:spcAft>
                <a:spcPts val="0"/>
              </a:spcAft>
            </a:pPr>
            <a:r>
              <a:rPr sz="1350" b="0" u="none">
                <a:solidFill>
                  <a:srgbClr val="004EA2"/>
                </a:solidFill>
                <a:latin typeface="Noto Sans KR"/>
                <a:hlinkClick r:id="rId2"/>
              </a:rPr>
              <a:t>다운로드 ·</a:t>
            </a:r>
          </a:p>
          <a:p>
            <a:pPr eaLnBrk="0">
              <a:lnSpc>
                <a:spcPts val="1687"/>
              </a:lnSpc>
              <a:spcBef>
                <a:spcPts val="0"/>
              </a:spcBef>
              <a:spcAft>
                <a:spcPts val="0"/>
              </a:spcAft>
            </a:pPr>
            <a:r>
              <a:rPr sz="1350" b="0" u="none">
                <a:solidFill>
                  <a:srgbClr val="004EA2"/>
                </a:solidFill>
                <a:latin typeface="Noto Sans KR"/>
                <a:hlinkClick r:id="rId2"/>
              </a:rPr>
              <a:t>이동통신/외국인/20260820141649_전국_202501-202512</a:t>
            </a:r>
          </a:p>
          <a:p>
            <a:pPr eaLnBrk="0">
              <a:lnSpc>
                <a:spcPts val="1687"/>
              </a:lnSpc>
              <a:spcBef>
                <a:spcPts val="0"/>
              </a:spcBef>
              <a:spcAft>
                <a:spcPts val="0"/>
              </a:spcAft>
            </a:pPr>
            <a:r>
              <a:rPr sz="1350" b="0" u="none">
                <a:solidFill>
                  <a:srgbClr val="004EA2"/>
                </a:solidFill>
                <a:latin typeface="Noto Sans KR"/>
                <a:hlinkClick r:id="rId2"/>
              </a:rPr>
              <a:t>_데이터랩_다운로드.zip 2026-01 ~ 2026-06</a:t>
            </a:r>
          </a:p>
        </p:txBody>
      </p:sp>
      <p:sp>
        <p:nvSpPr>
          <p:cNvPr id="6" name="reference-1"/>
          <p:cNvSpPr txBox="1"/>
          <p:nvPr/>
        </p:nvSpPr>
        <p:spPr>
          <a:xfrm>
            <a:off x="1009650" y="3600450"/>
            <a:ext cx="4248150" cy="1000125"/>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2"/>
              </a:rPr>
              <a:t>관측 데이터 D21 한국관광 데이터랩 전국 빅데이터</a:t>
            </a:r>
          </a:p>
          <a:p>
            <a:pPr eaLnBrk="0">
              <a:lnSpc>
                <a:spcPts val="1687"/>
              </a:lnSpc>
              <a:spcBef>
                <a:spcPts val="0"/>
              </a:spcBef>
              <a:spcAft>
                <a:spcPts val="0"/>
              </a:spcAft>
            </a:pPr>
            <a:r>
              <a:rPr sz="1350" b="0" u="none">
                <a:solidFill>
                  <a:srgbClr val="004EA2"/>
                </a:solidFill>
                <a:latin typeface="Noto Sans KR"/>
                <a:hlinkClick r:id="rId2"/>
              </a:rPr>
              <a:t>다운로드 · 신용카드/내국인/지역별</a:t>
            </a:r>
          </a:p>
          <a:p>
            <a:pPr eaLnBrk="0">
              <a:lnSpc>
                <a:spcPts val="1687"/>
              </a:lnSpc>
              <a:spcBef>
                <a:spcPts val="0"/>
              </a:spcBef>
              <a:spcAft>
                <a:spcPts val="0"/>
              </a:spcAft>
            </a:pPr>
            <a:r>
              <a:rPr sz="1350" b="0" u="none">
                <a:solidFill>
                  <a:srgbClr val="004EA2"/>
                </a:solidFill>
                <a:latin typeface="Noto Sans KR"/>
                <a:hlinkClick r:id="rId2"/>
              </a:rPr>
              <a:t>관광지출액/20260820135957__202501-202512_데이터랩</a:t>
            </a:r>
          </a:p>
          <a:p>
            <a:pPr eaLnBrk="0">
              <a:lnSpc>
                <a:spcPts val="1687"/>
              </a:lnSpc>
              <a:spcBef>
                <a:spcPts val="0"/>
              </a:spcBef>
              <a:spcAft>
                <a:spcPts val="0"/>
              </a:spcAft>
            </a:pPr>
            <a:r>
              <a:rPr sz="1350" b="0" u="none">
                <a:solidFill>
                  <a:srgbClr val="004EA2"/>
                </a:solidFill>
                <a:latin typeface="Noto Sans KR"/>
                <a:hlinkClick r:id="rId2"/>
              </a:rPr>
              <a:t>_다운로드.zip 2026-01 ~ 2026-06</a:t>
            </a:r>
          </a:p>
        </p:txBody>
      </p:sp>
      <p:sp>
        <p:nvSpPr>
          <p:cNvPr id="7" name="reference-2"/>
          <p:cNvSpPr txBox="1"/>
          <p:nvPr/>
        </p:nvSpPr>
        <p:spPr>
          <a:xfrm>
            <a:off x="1009650" y="4629150"/>
            <a:ext cx="4248150" cy="1000125"/>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2"/>
              </a:rPr>
              <a:t>관측 데이터 D22 한국관광 데이터랩 전국 빅데이터</a:t>
            </a:r>
          </a:p>
          <a:p>
            <a:pPr eaLnBrk="0">
              <a:lnSpc>
                <a:spcPts val="1687"/>
              </a:lnSpc>
              <a:spcBef>
                <a:spcPts val="0"/>
              </a:spcBef>
              <a:spcAft>
                <a:spcPts val="0"/>
              </a:spcAft>
            </a:pPr>
            <a:r>
              <a:rPr sz="1350" b="0" u="none">
                <a:solidFill>
                  <a:srgbClr val="004EA2"/>
                </a:solidFill>
                <a:latin typeface="Noto Sans KR"/>
                <a:hlinkClick r:id="rId2"/>
              </a:rPr>
              <a:t>다운로드 · 신용카드/외국인/지역별</a:t>
            </a:r>
          </a:p>
          <a:p>
            <a:pPr eaLnBrk="0">
              <a:lnSpc>
                <a:spcPts val="1687"/>
              </a:lnSpc>
              <a:spcBef>
                <a:spcPts val="0"/>
              </a:spcBef>
              <a:spcAft>
                <a:spcPts val="0"/>
              </a:spcAft>
            </a:pPr>
            <a:r>
              <a:rPr sz="1350" b="0" u="none">
                <a:solidFill>
                  <a:srgbClr val="004EA2"/>
                </a:solidFill>
                <a:latin typeface="Noto Sans KR"/>
                <a:hlinkClick r:id="rId2"/>
              </a:rPr>
              <a:t>관광지출액/20260820140409__202501-202512_데이터랩</a:t>
            </a:r>
          </a:p>
          <a:p>
            <a:pPr eaLnBrk="0">
              <a:lnSpc>
                <a:spcPts val="1687"/>
              </a:lnSpc>
              <a:spcBef>
                <a:spcPts val="0"/>
              </a:spcBef>
              <a:spcAft>
                <a:spcPts val="0"/>
              </a:spcAft>
            </a:pPr>
            <a:r>
              <a:rPr sz="1350" b="0" u="none">
                <a:solidFill>
                  <a:srgbClr val="004EA2"/>
                </a:solidFill>
                <a:latin typeface="Noto Sans KR"/>
                <a:hlinkClick r:id="rId2"/>
              </a:rPr>
              <a:t>_다운로드.zip 2026-01 ~ 2026-06</a:t>
            </a:r>
          </a:p>
        </p:txBody>
      </p:sp>
      <p:sp>
        <p:nvSpPr>
          <p:cNvPr id="8" name="reference-3"/>
          <p:cNvSpPr txBox="1"/>
          <p:nvPr/>
        </p:nvSpPr>
        <p:spPr>
          <a:xfrm>
            <a:off x="1009650" y="5657850"/>
            <a:ext cx="4248150" cy="1000125"/>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2"/>
              </a:rPr>
              <a:t>관측 데이터 D23 한국관광 데이터랩 전국 빅데이터</a:t>
            </a:r>
          </a:p>
          <a:p>
            <a:pPr eaLnBrk="0">
              <a:lnSpc>
                <a:spcPts val="1687"/>
              </a:lnSpc>
              <a:spcBef>
                <a:spcPts val="0"/>
              </a:spcBef>
              <a:spcAft>
                <a:spcPts val="0"/>
              </a:spcAft>
            </a:pPr>
            <a:r>
              <a:rPr sz="1350" b="0" u="none">
                <a:solidFill>
                  <a:srgbClr val="004EA2"/>
                </a:solidFill>
                <a:latin typeface="Noto Sans KR"/>
                <a:hlinkClick r:id="rId2"/>
              </a:rPr>
              <a:t>다운로드 · 네비게이션/지역별</a:t>
            </a:r>
          </a:p>
          <a:p>
            <a:pPr eaLnBrk="0">
              <a:lnSpc>
                <a:spcPts val="1687"/>
              </a:lnSpc>
              <a:spcBef>
                <a:spcPts val="0"/>
              </a:spcBef>
              <a:spcAft>
                <a:spcPts val="0"/>
              </a:spcAft>
            </a:pPr>
            <a:r>
              <a:rPr sz="1350" b="0" u="none">
                <a:solidFill>
                  <a:srgbClr val="004EA2"/>
                </a:solidFill>
                <a:latin typeface="Noto Sans KR"/>
                <a:hlinkClick r:id="rId2"/>
              </a:rPr>
              <a:t>검색건수/20260820132007__202501-202512_데이터랩_</a:t>
            </a:r>
          </a:p>
          <a:p>
            <a:pPr eaLnBrk="0">
              <a:lnSpc>
                <a:spcPts val="1687"/>
              </a:lnSpc>
              <a:spcBef>
                <a:spcPts val="0"/>
              </a:spcBef>
              <a:spcAft>
                <a:spcPts val="0"/>
              </a:spcAft>
            </a:pPr>
            <a:r>
              <a:rPr sz="1350" b="0" u="none">
                <a:solidFill>
                  <a:srgbClr val="004EA2"/>
                </a:solidFill>
                <a:latin typeface="Noto Sans KR"/>
                <a:hlinkClick r:id="rId2"/>
              </a:rPr>
              <a:t>다운로드.zip 2026-01 ~ 2026-06</a:t>
            </a:r>
          </a:p>
        </p:txBody>
      </p:sp>
      <p:sp>
        <p:nvSpPr>
          <p:cNvPr id="9" name="reference-4"/>
          <p:cNvSpPr txBox="1"/>
          <p:nvPr/>
        </p:nvSpPr>
        <p:spPr>
          <a:xfrm>
            <a:off x="1009650" y="6686550"/>
            <a:ext cx="4248150" cy="1000125"/>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2"/>
              </a:rPr>
              <a:t>관측 데이터 D24 한국관광 데이터랩 전국 빅데이터</a:t>
            </a:r>
          </a:p>
          <a:p>
            <a:pPr eaLnBrk="0">
              <a:lnSpc>
                <a:spcPts val="1687"/>
              </a:lnSpc>
              <a:spcBef>
                <a:spcPts val="0"/>
              </a:spcBef>
              <a:spcAft>
                <a:spcPts val="0"/>
              </a:spcAft>
            </a:pPr>
            <a:r>
              <a:rPr sz="1350" b="0" u="none">
                <a:solidFill>
                  <a:srgbClr val="004EA2"/>
                </a:solidFill>
                <a:latin typeface="Noto Sans KR"/>
                <a:hlinkClick r:id="rId2"/>
              </a:rPr>
              <a:t>다운로드 · 이동통신/내국인/지역별</a:t>
            </a:r>
          </a:p>
          <a:p>
            <a:pPr eaLnBrk="0">
              <a:lnSpc>
                <a:spcPts val="1687"/>
              </a:lnSpc>
              <a:spcBef>
                <a:spcPts val="0"/>
              </a:spcBef>
              <a:spcAft>
                <a:spcPts val="0"/>
              </a:spcAft>
            </a:pPr>
            <a:r>
              <a:rPr sz="1350" b="0" u="none">
                <a:solidFill>
                  <a:srgbClr val="004EA2"/>
                </a:solidFill>
                <a:latin typeface="Noto Sans KR"/>
                <a:hlinkClick r:id="rId2"/>
              </a:rPr>
              <a:t>방문자수/20260820140624__202401-202412_데이터랩_</a:t>
            </a:r>
          </a:p>
          <a:p>
            <a:pPr eaLnBrk="0">
              <a:lnSpc>
                <a:spcPts val="1687"/>
              </a:lnSpc>
              <a:spcBef>
                <a:spcPts val="0"/>
              </a:spcBef>
              <a:spcAft>
                <a:spcPts val="0"/>
              </a:spcAft>
            </a:pPr>
            <a:r>
              <a:rPr sz="1350" b="0" u="none">
                <a:solidFill>
                  <a:srgbClr val="004EA2"/>
                </a:solidFill>
                <a:latin typeface="Noto Sans KR"/>
                <a:hlinkClick r:id="rId2"/>
              </a:rPr>
              <a:t>다운로드.zip 2026-01 ~ 2026-06</a:t>
            </a:r>
          </a:p>
        </p:txBody>
      </p:sp>
      <p:sp>
        <p:nvSpPr>
          <p:cNvPr id="10" name="reference-5"/>
          <p:cNvSpPr txBox="1"/>
          <p:nvPr/>
        </p:nvSpPr>
        <p:spPr>
          <a:xfrm>
            <a:off x="5486400" y="2571750"/>
            <a:ext cx="4248150" cy="1000125"/>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2"/>
              </a:rPr>
              <a:t>관측 데이터 D25 한국관광 데이터랩 전국 빅데이터</a:t>
            </a:r>
          </a:p>
          <a:p>
            <a:pPr eaLnBrk="0">
              <a:lnSpc>
                <a:spcPts val="1687"/>
              </a:lnSpc>
              <a:spcBef>
                <a:spcPts val="0"/>
              </a:spcBef>
              <a:spcAft>
                <a:spcPts val="0"/>
              </a:spcAft>
            </a:pPr>
            <a:r>
              <a:rPr sz="1350" b="0" u="none">
                <a:solidFill>
                  <a:srgbClr val="004EA2"/>
                </a:solidFill>
                <a:latin typeface="Noto Sans KR"/>
                <a:hlinkClick r:id="rId2"/>
              </a:rPr>
              <a:t>다운로드 ·</a:t>
            </a:r>
          </a:p>
          <a:p>
            <a:pPr eaLnBrk="0">
              <a:lnSpc>
                <a:spcPts val="1687"/>
              </a:lnSpc>
              <a:spcBef>
                <a:spcPts val="0"/>
              </a:spcBef>
              <a:spcAft>
                <a:spcPts val="0"/>
              </a:spcAft>
            </a:pPr>
            <a:r>
              <a:rPr sz="1350" b="0" u="none">
                <a:solidFill>
                  <a:srgbClr val="004EA2"/>
                </a:solidFill>
                <a:latin typeface="Noto Sans KR"/>
                <a:hlinkClick r:id="rId2"/>
              </a:rPr>
              <a:t>이동통신/외국인/20260820141639_전국_202401-202412</a:t>
            </a:r>
          </a:p>
          <a:p>
            <a:pPr eaLnBrk="0">
              <a:lnSpc>
                <a:spcPts val="1687"/>
              </a:lnSpc>
              <a:spcBef>
                <a:spcPts val="0"/>
              </a:spcBef>
              <a:spcAft>
                <a:spcPts val="0"/>
              </a:spcAft>
            </a:pPr>
            <a:r>
              <a:rPr sz="1350" b="0" u="none">
                <a:solidFill>
                  <a:srgbClr val="004EA2"/>
                </a:solidFill>
                <a:latin typeface="Noto Sans KR"/>
                <a:hlinkClick r:id="rId2"/>
              </a:rPr>
              <a:t>_데이터랩_다운로드.zip 2026-01 ~ 2026-06</a:t>
            </a:r>
          </a:p>
        </p:txBody>
      </p:sp>
      <p:sp>
        <p:nvSpPr>
          <p:cNvPr id="11" name="reference-6"/>
          <p:cNvSpPr txBox="1"/>
          <p:nvPr/>
        </p:nvSpPr>
        <p:spPr>
          <a:xfrm>
            <a:off x="5486400" y="3600450"/>
            <a:ext cx="4248150" cy="571500"/>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2"/>
              </a:rPr>
              <a:t>관측 데이터 D26 한국관광 데이터랩 지역별 관광 현황 · ·</a:t>
            </a:r>
          </a:p>
          <a:p>
            <a:pPr eaLnBrk="0">
              <a:lnSpc>
                <a:spcPts val="1687"/>
              </a:lnSpc>
              <a:spcBef>
                <a:spcPts val="0"/>
              </a:spcBef>
              <a:spcAft>
                <a:spcPts val="0"/>
              </a:spcAft>
            </a:pPr>
            <a:r>
              <a:rPr sz="1350" b="0" u="none">
                <a:solidFill>
                  <a:srgbClr val="004EA2"/>
                </a:solidFill>
                <a:latin typeface="Noto Sans KR"/>
                <a:hlinkClick r:id="rId2"/>
              </a:rPr>
              <a:t>인기관광지 2025-07 ~ 2026-06</a:t>
            </a:r>
          </a:p>
        </p:txBody>
      </p:sp>
      <p:sp>
        <p:nvSpPr>
          <p:cNvPr id="12" name="reference-7"/>
          <p:cNvSpPr txBox="1"/>
          <p:nvPr/>
        </p:nvSpPr>
        <p:spPr>
          <a:xfrm>
            <a:off x="5486400" y="4200525"/>
            <a:ext cx="4248150" cy="571500"/>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2"/>
              </a:rPr>
              <a:t>관측 데이터 D27 한국관광 데이터랩 지역별 관광 현황 · ·</a:t>
            </a:r>
          </a:p>
          <a:p>
            <a:pPr eaLnBrk="0">
              <a:lnSpc>
                <a:spcPts val="1687"/>
              </a:lnSpc>
              <a:spcBef>
                <a:spcPts val="0"/>
              </a:spcBef>
              <a:spcAft>
                <a:spcPts val="0"/>
              </a:spcAft>
            </a:pPr>
            <a:r>
              <a:rPr sz="1350" b="0" u="none">
                <a:solidFill>
                  <a:srgbClr val="004EA2"/>
                </a:solidFill>
                <a:latin typeface="Noto Sans KR"/>
                <a:hlinkClick r:id="rId2"/>
              </a:rPr>
              <a:t>유입유출 2025-07 ~ 2026-06</a:t>
            </a:r>
          </a:p>
        </p:txBody>
      </p:sp>
      <p:sp>
        <p:nvSpPr>
          <p:cNvPr id="13" name="reference-8"/>
          <p:cNvSpPr txBox="1"/>
          <p:nvPr/>
        </p:nvSpPr>
        <p:spPr>
          <a:xfrm>
            <a:off x="5486400" y="4800600"/>
            <a:ext cx="4248150" cy="571500"/>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2"/>
              </a:rPr>
              <a:t>관측 데이터 D28 한국관광 데이터랩 지역별 관광 현황 · ·</a:t>
            </a:r>
          </a:p>
          <a:p>
            <a:pPr eaLnBrk="0">
              <a:lnSpc>
                <a:spcPts val="1687"/>
              </a:lnSpc>
              <a:spcBef>
                <a:spcPts val="0"/>
              </a:spcBef>
              <a:spcAft>
                <a:spcPts val="0"/>
              </a:spcAft>
            </a:pPr>
            <a:r>
              <a:rPr sz="1350" b="0" u="none">
                <a:solidFill>
                  <a:srgbClr val="004EA2"/>
                </a:solidFill>
                <a:latin typeface="Noto Sans KR"/>
                <a:hlinkClick r:id="rId2"/>
              </a:rPr>
              <a:t>지역집중률 2025-07 ~ 2026-06</a:t>
            </a:r>
          </a:p>
        </p:txBody>
      </p:sp>
      <p:sp>
        <p:nvSpPr>
          <p:cNvPr id="14" name="reference-9"/>
          <p:cNvSpPr txBox="1"/>
          <p:nvPr/>
        </p:nvSpPr>
        <p:spPr>
          <a:xfrm>
            <a:off x="5486400" y="5400675"/>
            <a:ext cx="4248150" cy="571500"/>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a:solidFill>
                  <a:srgbClr val="004EA2"/>
                </a:solidFill>
                <a:latin typeface="Noto Sans KR"/>
              </a:rPr>
              <a:t>머신러닝 예측치 방문자 수 RandomForestRegressor</a:t>
            </a:r>
          </a:p>
          <a:p>
            <a:pPr eaLnBrk="0">
              <a:lnSpc>
                <a:spcPts val="1687"/>
              </a:lnSpc>
              <a:spcBef>
                <a:spcPts val="0"/>
              </a:spcBef>
              <a:spcAft>
                <a:spcPts val="0"/>
              </a:spcAft>
            </a:pPr>
            <a:r>
              <a:rPr sz="1350" b="0">
                <a:solidFill>
                  <a:srgbClr val="004EA2"/>
                </a:solidFill>
                <a:latin typeface="Noto Sans KR"/>
              </a:rPr>
              <a:t>최종 월 6,585,928명</a:t>
            </a:r>
          </a:p>
        </p:txBody>
      </p:sp>
      <p:sp>
        <p:nvSpPr>
          <p:cNvPr id="15" name="reference-10"/>
          <p:cNvSpPr txBox="1"/>
          <p:nvPr/>
        </p:nvSpPr>
        <p:spPr>
          <a:xfrm>
            <a:off x="5486400" y="6000750"/>
            <a:ext cx="4248150" cy="571500"/>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a:solidFill>
                  <a:srgbClr val="004EA2"/>
                </a:solidFill>
                <a:latin typeface="Noto Sans KR"/>
              </a:rPr>
              <a:t>머신러닝 예측치 관광소비액 LinearRegression</a:t>
            </a:r>
          </a:p>
          <a:p>
            <a:pPr eaLnBrk="0">
              <a:lnSpc>
                <a:spcPts val="1687"/>
              </a:lnSpc>
              <a:spcBef>
                <a:spcPts val="0"/>
              </a:spcBef>
              <a:spcAft>
                <a:spcPts val="0"/>
              </a:spcAft>
            </a:pPr>
            <a:r>
              <a:rPr sz="1350" b="0">
                <a:solidFill>
                  <a:srgbClr val="004EA2"/>
                </a:solidFill>
                <a:latin typeface="Noto Sans KR"/>
              </a:rPr>
              <a:t>최종 월 1,071.18억 원</a:t>
            </a:r>
          </a:p>
        </p:txBody>
      </p:sp>
      <p:sp>
        <p:nvSpPr>
          <p:cNvPr id="16" name="reference-11"/>
          <p:cNvSpPr txBox="1"/>
          <p:nvPr/>
        </p:nvSpPr>
        <p:spPr>
          <a:xfrm>
            <a:off x="5486400" y="6600825"/>
            <a:ext cx="4248150" cy="571500"/>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a:solidFill>
                  <a:srgbClr val="004EA2"/>
                </a:solidFill>
                <a:latin typeface="Noto Sans KR"/>
              </a:rPr>
              <a:t>머신러닝 예측치 평균 체류시간 전년동월 계절</a:t>
            </a:r>
          </a:p>
          <a:p>
            <a:pPr eaLnBrk="0">
              <a:lnSpc>
                <a:spcPts val="1687"/>
              </a:lnSpc>
              <a:spcBef>
                <a:spcPts val="0"/>
              </a:spcBef>
              <a:spcAft>
                <a:spcPts val="0"/>
              </a:spcAft>
            </a:pPr>
            <a:r>
              <a:rPr sz="1350" b="0">
                <a:solidFill>
                  <a:srgbClr val="004EA2"/>
                </a:solidFill>
                <a:latin typeface="Noto Sans KR"/>
              </a:rPr>
              <a:t>기준선 최종 월 600분</a:t>
            </a:r>
          </a:p>
        </p:txBody>
      </p:sp>
      <p:sp>
        <p:nvSpPr>
          <p:cNvPr id="17" name="reference-12"/>
          <p:cNvSpPr txBox="1"/>
          <p:nvPr/>
        </p:nvSpPr>
        <p:spPr>
          <a:xfrm>
            <a:off x="5486400" y="7200900"/>
            <a:ext cx="4248150" cy="571500"/>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a:solidFill>
                  <a:srgbClr val="004EA2"/>
                </a:solidFill>
                <a:latin typeface="Noto Sans KR"/>
              </a:rPr>
              <a:t>머신러닝 예측치 평균 숙박일수 LinearRegression</a:t>
            </a:r>
          </a:p>
          <a:p>
            <a:pPr eaLnBrk="0">
              <a:lnSpc>
                <a:spcPts val="1687"/>
              </a:lnSpc>
              <a:spcBef>
                <a:spcPts val="0"/>
              </a:spcBef>
              <a:spcAft>
                <a:spcPts val="0"/>
              </a:spcAft>
            </a:pPr>
            <a:r>
              <a:rPr sz="1350" b="0">
                <a:solidFill>
                  <a:srgbClr val="004EA2"/>
                </a:solidFill>
                <a:latin typeface="Noto Sans KR"/>
              </a:rPr>
              <a:t>최종 월 2.91일</a:t>
            </a:r>
          </a:p>
        </p:txBody>
      </p:sp>
      <p:sp>
        <p:nvSpPr>
          <p:cNvPr id="18" name="reference-13"/>
          <p:cNvSpPr txBox="1"/>
          <p:nvPr/>
        </p:nvSpPr>
        <p:spPr>
          <a:xfrm>
            <a:off x="9963150" y="2571750"/>
            <a:ext cx="4248150" cy="571500"/>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a:solidFill>
                  <a:srgbClr val="004EA2"/>
                </a:solidFill>
                <a:latin typeface="Noto Sans KR"/>
              </a:rPr>
              <a:t>머신러닝 예측치 숙박방문자 비율 전년동월 계절</a:t>
            </a:r>
          </a:p>
          <a:p>
            <a:pPr eaLnBrk="0">
              <a:lnSpc>
                <a:spcPts val="1687"/>
              </a:lnSpc>
              <a:spcBef>
                <a:spcPts val="0"/>
              </a:spcBef>
              <a:spcAft>
                <a:spcPts val="0"/>
              </a:spcAft>
            </a:pPr>
            <a:r>
              <a:rPr sz="1350" b="0">
                <a:solidFill>
                  <a:srgbClr val="004EA2"/>
                </a:solidFill>
                <a:latin typeface="Noto Sans KR"/>
              </a:rPr>
              <a:t>기준선 최종 월 4%</a:t>
            </a:r>
          </a:p>
        </p:txBody>
      </p:sp>
      <p:sp>
        <p:nvSpPr>
          <p:cNvPr id="19" name="reference-14"/>
          <p:cNvSpPr txBox="1"/>
          <p:nvPr/>
        </p:nvSpPr>
        <p:spPr>
          <a:xfrm>
            <a:off x="9963150" y="3171825"/>
            <a:ext cx="4248150" cy="571500"/>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a:solidFill>
                  <a:srgbClr val="004EA2"/>
                </a:solidFill>
                <a:latin typeface="Noto Sans KR"/>
              </a:rPr>
              <a:t>머신러닝 예측치 숙박 목적지 검색량</a:t>
            </a:r>
          </a:p>
          <a:p>
            <a:pPr eaLnBrk="0">
              <a:lnSpc>
                <a:spcPts val="1687"/>
              </a:lnSpc>
              <a:spcBef>
                <a:spcPts val="0"/>
              </a:spcBef>
              <a:spcAft>
                <a:spcPts val="0"/>
              </a:spcAft>
            </a:pPr>
            <a:r>
              <a:rPr sz="1350" b="0">
                <a:solidFill>
                  <a:srgbClr val="004EA2"/>
                </a:solidFill>
                <a:latin typeface="Noto Sans KR"/>
              </a:rPr>
              <a:t>RandomForestRegressor 최종 월 2,335건</a:t>
            </a:r>
          </a:p>
        </p:txBody>
      </p:sp>
      <p:sp>
        <p:nvSpPr>
          <p:cNvPr id="20" name="reference-15"/>
          <p:cNvSpPr txBox="1"/>
          <p:nvPr/>
        </p:nvSpPr>
        <p:spPr>
          <a:xfrm>
            <a:off x="9963150" y="3771900"/>
            <a:ext cx="4248150" cy="571500"/>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a:solidFill>
                  <a:srgbClr val="004EA2"/>
                </a:solidFill>
                <a:latin typeface="Noto Sans KR"/>
              </a:rPr>
              <a:t>머신러닝 예측치 내비게이션 검색량 전년동월 계절</a:t>
            </a:r>
          </a:p>
          <a:p>
            <a:pPr eaLnBrk="0">
              <a:lnSpc>
                <a:spcPts val="1687"/>
              </a:lnSpc>
              <a:spcBef>
                <a:spcPts val="0"/>
              </a:spcBef>
              <a:spcAft>
                <a:spcPts val="0"/>
              </a:spcAft>
            </a:pPr>
            <a:r>
              <a:rPr sz="1350" b="0">
                <a:solidFill>
                  <a:srgbClr val="004EA2"/>
                </a:solidFill>
                <a:latin typeface="Noto Sans KR"/>
              </a:rPr>
              <a:t>기준선 최종 월 115,407건</a:t>
            </a:r>
          </a:p>
        </p:txBody>
      </p:sp>
      <p:sp>
        <p:nvSpPr>
          <p:cNvPr id="21" name="reference-16"/>
          <p:cNvSpPr txBox="1"/>
          <p:nvPr/>
        </p:nvSpPr>
        <p:spPr>
          <a:xfrm>
            <a:off x="9963150" y="4371975"/>
            <a:ext cx="4248150" cy="785812"/>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3"/>
              </a:rPr>
              <a:t>공식 사례·문서 D50 요즘, 한국관광 2호 - 지방공항 연계</a:t>
            </a:r>
          </a:p>
          <a:p>
            <a:pPr eaLnBrk="0">
              <a:lnSpc>
                <a:spcPts val="1687"/>
              </a:lnSpc>
              <a:spcBef>
                <a:spcPts val="0"/>
              </a:spcBef>
              <a:spcAft>
                <a:spcPts val="0"/>
              </a:spcAft>
            </a:pPr>
            <a:r>
              <a:rPr sz="1350" b="0" u="none">
                <a:solidFill>
                  <a:srgbClr val="004EA2"/>
                </a:solidFill>
                <a:latin typeface="Noto Sans KR"/>
                <a:hlinkClick r:id="rId3"/>
              </a:rPr>
              <a:t>지역관광 활성화 방안 · PDF 44쪽 외 8쪽 (9개</a:t>
            </a:r>
          </a:p>
          <a:p>
            <a:pPr eaLnBrk="0">
              <a:lnSpc>
                <a:spcPts val="1687"/>
              </a:lnSpc>
              <a:spcBef>
                <a:spcPts val="0"/>
              </a:spcBef>
              <a:spcAft>
                <a:spcPts val="0"/>
              </a:spcAft>
            </a:pPr>
            <a:r>
              <a:rPr sz="1350" b="0" u="none">
                <a:solidFill>
                  <a:srgbClr val="004EA2"/>
                </a:solidFill>
                <a:latin typeface="Noto Sans KR"/>
                <a:hlinkClick r:id="rId3"/>
              </a:rPr>
              <a:t>청크) datalab.visitkorea.or.kr</a:t>
            </a:r>
          </a:p>
        </p:txBody>
      </p:sp>
      <p:sp>
        <p:nvSpPr>
          <p:cNvPr id="22" name="reference-17"/>
          <p:cNvSpPr txBox="1"/>
          <p:nvPr/>
        </p:nvSpPr>
        <p:spPr>
          <a:xfrm>
            <a:off x="9963150" y="5186362"/>
            <a:ext cx="4248150" cy="785812"/>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4"/>
              </a:rPr>
              <a:t>공식 사례·문서 D51 2026 서울국제정원박람회 &lt;</a:t>
            </a:r>
          </a:p>
          <a:p>
            <a:pPr eaLnBrk="0">
              <a:lnSpc>
                <a:spcPts val="1687"/>
              </a:lnSpc>
              <a:spcBef>
                <a:spcPts val="0"/>
              </a:spcBef>
              <a:spcAft>
                <a:spcPts val="0"/>
              </a:spcAft>
            </a:pPr>
            <a:r>
              <a:rPr sz="1350" b="0" u="none">
                <a:solidFill>
                  <a:srgbClr val="004EA2"/>
                </a:solidFill>
                <a:latin typeface="Noto Sans KR"/>
                <a:hlinkClick r:id="rId4"/>
              </a:rPr>
              <a:t>행사·공연 정보 &lt; 축제·관광 &lt; 미래한강본부,</a:t>
            </a:r>
          </a:p>
          <a:p>
            <a:pPr eaLnBrk="0">
              <a:lnSpc>
                <a:spcPts val="1687"/>
              </a:lnSpc>
              <a:spcBef>
                <a:spcPts val="0"/>
              </a:spcBef>
              <a:spcAft>
                <a:spcPts val="0"/>
              </a:spcAft>
            </a:pPr>
            <a:r>
              <a:rPr sz="1350" b="0" u="none">
                <a:solidFill>
                  <a:srgbClr val="004EA2"/>
                </a:solidFill>
                <a:latin typeface="Noto Sans KR"/>
                <a:hlinkClick r:id="rId4"/>
              </a:rPr>
              <a:t>한강공원 hangang.seoul.go.kr</a:t>
            </a:r>
          </a:p>
        </p:txBody>
      </p:sp>
      <p:sp>
        <p:nvSpPr>
          <p:cNvPr id="23" name="reference-18"/>
          <p:cNvSpPr txBox="1"/>
          <p:nvPr/>
        </p:nvSpPr>
        <p:spPr>
          <a:xfrm>
            <a:off x="9963150" y="6000750"/>
            <a:ext cx="4248150" cy="785812"/>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5"/>
              </a:rPr>
              <a:t>공식 사례·문서 D52 개막 20일차 250만명 넘은</a:t>
            </a:r>
          </a:p>
          <a:p>
            <a:pPr eaLnBrk="0">
              <a:lnSpc>
                <a:spcPts val="1687"/>
              </a:lnSpc>
              <a:spcBef>
                <a:spcPts val="0"/>
              </a:spcBef>
              <a:spcAft>
                <a:spcPts val="0"/>
              </a:spcAft>
            </a:pPr>
            <a:r>
              <a:rPr sz="1350" b="0" u="none">
                <a:solidFill>
                  <a:srgbClr val="004EA2"/>
                </a:solidFill>
                <a:latin typeface="Noto Sans KR"/>
                <a:hlinkClick r:id="rId5"/>
              </a:rPr>
              <a:t>서울국제정원박람회 성수 상권 매출 30% 급증 &gt; 보도자료</a:t>
            </a:r>
          </a:p>
          <a:p>
            <a:pPr eaLnBrk="0">
              <a:lnSpc>
                <a:spcPts val="1687"/>
              </a:lnSpc>
              <a:spcBef>
                <a:spcPts val="0"/>
              </a:spcBef>
              <a:spcAft>
                <a:spcPts val="0"/>
              </a:spcAft>
            </a:pPr>
            <a:r>
              <a:rPr sz="1350" b="0" u="none">
                <a:solidFill>
                  <a:srgbClr val="004EA2"/>
                </a:solidFill>
                <a:latin typeface="Noto Sans KR"/>
                <a:hlinkClick r:id="rId5"/>
              </a:rPr>
              <a:t>| 서울특별시 www.seoul.go.kr</a:t>
            </a:r>
          </a:p>
        </p:txBody>
      </p:sp>
      <p:sp>
        <p:nvSpPr>
          <p:cNvPr id="24" name="reference-19"/>
          <p:cNvSpPr txBox="1"/>
          <p:nvPr/>
        </p:nvSpPr>
        <p:spPr>
          <a:xfrm>
            <a:off x="9963150" y="6815138"/>
            <a:ext cx="4248150" cy="571500"/>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6"/>
              </a:rPr>
              <a:t>공식 사례·문서 D53 서울숲-성수 커넥트 투어 | 2026</a:t>
            </a:r>
          </a:p>
          <a:p>
            <a:pPr eaLnBrk="0">
              <a:lnSpc>
                <a:spcPts val="1687"/>
              </a:lnSpc>
              <a:spcBef>
                <a:spcPts val="0"/>
              </a:spcBef>
              <a:spcAft>
                <a:spcPts val="0"/>
              </a:spcAft>
            </a:pPr>
            <a:r>
              <a:rPr sz="1350" b="0" u="none">
                <a:solidFill>
                  <a:srgbClr val="004EA2"/>
                </a:solidFill>
                <a:latin typeface="Noto Sans KR"/>
                <a:hlinkClick r:id="rId6"/>
              </a:rPr>
              <a:t>서울국제정원박람회 gov.seoul.go.kr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itle"/>
          <p:cNvSpPr txBox="1"/>
          <p:nvPr/>
        </p:nvSpPr>
        <p:spPr>
          <a:xfrm>
            <a:off x="952500" y="714375"/>
            <a:ext cx="13335000" cy="809625"/>
          </a:xfrm>
          <a:prstGeom prst="rect">
            <a:avLst/>
          </a:prstGeom>
          <a:noFill/>
        </p:spPr>
        <p:txBody>
          <a:bodyPr wrap="none" lIns="57150" rIns="57150" tIns="38100" bIns="38100" anchor="t">
            <a:noAutofit/>
          </a:bodyPr>
          <a:lstStyle/>
          <a:p>
            <a:pPr eaLnBrk="0">
              <a:lnSpc>
                <a:spcPts val="4500"/>
              </a:lnSpc>
              <a:spcBef>
                <a:spcPts val="0"/>
              </a:spcBef>
              <a:spcAft>
                <a:spcPts val="0"/>
              </a:spcAft>
            </a:pPr>
            <a:r>
              <a:rPr sz="3600" b="1">
                <a:solidFill>
                  <a:srgbClr val="004EA2"/>
                </a:solidFill>
                <a:latin typeface="Noto Sans KR"/>
              </a:rPr>
              <a:t>근거·데이터·출처</a:t>
            </a:r>
          </a:p>
        </p:txBody>
      </p:sp>
      <p:sp>
        <p:nvSpPr>
          <p:cNvPr id="3" name="title-rule"/>
          <p:cNvSpPr/>
          <p:nvPr/>
        </p:nvSpPr>
        <p:spPr>
          <a:xfrm>
            <a:off x="1009650" y="1724025"/>
            <a:ext cx="13220700" cy="28575"/>
          </a:xfrm>
          <a:prstGeom prst="rect">
            <a:avLst/>
          </a:prstGeom>
          <a:solidFill>
            <a:srgbClr val="004E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subtitle"/>
          <p:cNvSpPr txBox="1"/>
          <p:nvPr/>
        </p:nvSpPr>
        <p:spPr>
          <a:xfrm>
            <a:off x="1009650" y="1885950"/>
            <a:ext cx="13220700" cy="619125"/>
          </a:xfrm>
          <a:prstGeom prst="rect">
            <a:avLst/>
          </a:prstGeom>
          <a:noFill/>
        </p:spPr>
        <p:txBody>
          <a:bodyPr wrap="none" lIns="57150" rIns="57150" tIns="38100" bIns="38100" anchor="t">
            <a:noAutofit/>
          </a:bodyPr>
          <a:lstStyle/>
          <a:p>
            <a:pPr eaLnBrk="0">
              <a:lnSpc>
                <a:spcPts val="1781"/>
              </a:lnSpc>
              <a:spcBef>
                <a:spcPts val="0"/>
              </a:spcBef>
              <a:spcAft>
                <a:spcPts val="0"/>
              </a:spcAft>
            </a:pPr>
            <a:r>
              <a:rPr sz="1425" b="0">
                <a:solidFill>
                  <a:srgbClr val="59636E"/>
                </a:solidFill>
                <a:latin typeface="Noto Sans KR"/>
              </a:rPr>
              <a:t>전체 자료명과 머신러닝 모델 3/3 · 파란 자료명을 누르면 원문으로 이동합니다.</a:t>
            </a:r>
          </a:p>
          <a:p>
            <a:pPr eaLnBrk="0">
              <a:lnSpc>
                <a:spcPts val="1781"/>
              </a:lnSpc>
              <a:spcBef>
                <a:spcPts val="0"/>
              </a:spcBef>
              <a:spcAft>
                <a:spcPts val="0"/>
              </a:spcAft>
            </a:pPr>
            <a:r>
              <a:rPr sz="1425" b="0">
                <a:solidFill>
                  <a:srgbClr val="59636E"/>
                </a:solidFill>
                <a:latin typeface="Noto Sans KR"/>
              </a:rPr>
              <a:t>참고 전망: 방문자·소비액 모델의 검증 오차가 전년동월 기준선보다 큽니다. 예측거리·누락 범위의 해석 주의가 필요합니다.</a:t>
            </a:r>
          </a:p>
        </p:txBody>
      </p:sp>
      <p:sp>
        <p:nvSpPr>
          <p:cNvPr id="5" name="reference-0"/>
          <p:cNvSpPr txBox="1"/>
          <p:nvPr/>
        </p:nvSpPr>
        <p:spPr>
          <a:xfrm>
            <a:off x="1009650" y="2571750"/>
            <a:ext cx="4248150" cy="785812"/>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2"/>
              </a:rPr>
              <a:t>공식 사례·문서 D54 2026 서울축제지도 - 가을편 &lt;</a:t>
            </a:r>
          </a:p>
          <a:p>
            <a:pPr eaLnBrk="0">
              <a:lnSpc>
                <a:spcPts val="1687"/>
              </a:lnSpc>
              <a:spcBef>
                <a:spcPts val="0"/>
              </a:spcBef>
              <a:spcAft>
                <a:spcPts val="0"/>
              </a:spcAft>
            </a:pPr>
            <a:r>
              <a:rPr sz="1350" b="0" u="none">
                <a:solidFill>
                  <a:srgbClr val="004EA2"/>
                </a:solidFill>
                <a:latin typeface="Noto Sans KR"/>
                <a:hlinkClick r:id="rId2"/>
              </a:rPr>
              <a:t>공지사항(상세) &lt; 새소식 |</a:t>
            </a:r>
          </a:p>
          <a:p>
            <a:pPr eaLnBrk="0">
              <a:lnSpc>
                <a:spcPts val="1687"/>
              </a:lnSpc>
              <a:spcBef>
                <a:spcPts val="0"/>
              </a:spcBef>
              <a:spcAft>
                <a:spcPts val="0"/>
              </a:spcAft>
            </a:pPr>
            <a:r>
              <a:rPr sz="1350" b="0" u="none">
                <a:solidFill>
                  <a:srgbClr val="004EA2"/>
                </a:solidFill>
                <a:latin typeface="Noto Sans KR"/>
                <a:hlinkClick r:id="rId2"/>
              </a:rPr>
              <a:t>서울문화포털 culture.seoul.go.kr</a:t>
            </a:r>
          </a:p>
        </p:txBody>
      </p:sp>
      <p:sp>
        <p:nvSpPr>
          <p:cNvPr id="6" name="reference-1"/>
          <p:cNvSpPr txBox="1"/>
          <p:nvPr/>
        </p:nvSpPr>
        <p:spPr>
          <a:xfrm>
            <a:off x="1009650" y="3386138"/>
            <a:ext cx="4248150" cy="571500"/>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3"/>
              </a:rPr>
              <a:t>공식 사례·문서 D55 오시는 길 | 2026</a:t>
            </a:r>
          </a:p>
          <a:p>
            <a:pPr eaLnBrk="0">
              <a:lnSpc>
                <a:spcPts val="1687"/>
              </a:lnSpc>
              <a:spcBef>
                <a:spcPts val="0"/>
              </a:spcBef>
              <a:spcAft>
                <a:spcPts val="0"/>
              </a:spcAft>
            </a:pPr>
            <a:r>
              <a:rPr sz="1350" b="0" u="none">
                <a:solidFill>
                  <a:srgbClr val="004EA2"/>
                </a:solidFill>
                <a:latin typeface="Noto Sans KR"/>
                <a:hlinkClick r:id="rId3"/>
              </a:rPr>
              <a:t>서울국제정원박람회 www.seoul.go.kr</a:t>
            </a:r>
          </a:p>
        </p:txBody>
      </p:sp>
      <p:sp>
        <p:nvSpPr>
          <p:cNvPr id="7" name="reference-2"/>
          <p:cNvSpPr txBox="1"/>
          <p:nvPr/>
        </p:nvSpPr>
        <p:spPr>
          <a:xfrm>
            <a:off x="1009650" y="3986212"/>
            <a:ext cx="4248150" cy="571500"/>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4"/>
              </a:rPr>
              <a:t>공식 사례·문서 D56 (석간) 제11차 도시건축공동위원회</a:t>
            </a:r>
          </a:p>
          <a:p>
            <a:pPr eaLnBrk="0">
              <a:lnSpc>
                <a:spcPts val="1687"/>
              </a:lnSpc>
              <a:spcBef>
                <a:spcPts val="0"/>
              </a:spcBef>
              <a:spcAft>
                <a:spcPts val="0"/>
              </a:spcAft>
            </a:pPr>
            <a:r>
              <a:rPr sz="1350" b="0" u="none">
                <a:solidFill>
                  <a:srgbClr val="004EA2"/>
                </a:solidFill>
                <a:latin typeface="Noto Sans KR"/>
                <a:hlinkClick r:id="rId4"/>
              </a:rPr>
              <a:t>개최결과 &gt; 보도자료 | 서울특별시 www.seoul.go.kr</a:t>
            </a:r>
          </a:p>
        </p:txBody>
      </p:sp>
      <p:sp>
        <p:nvSpPr>
          <p:cNvPr id="8" name="reference-3"/>
          <p:cNvSpPr txBox="1"/>
          <p:nvPr/>
        </p:nvSpPr>
        <p:spPr>
          <a:xfrm>
            <a:off x="1009650" y="4586288"/>
            <a:ext cx="4248150" cy="785812"/>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5"/>
              </a:rPr>
              <a:t>공식 사례·문서 D57 2026 서울국제정원박람회 &lt;</a:t>
            </a:r>
          </a:p>
          <a:p>
            <a:pPr eaLnBrk="0">
              <a:lnSpc>
                <a:spcPts val="1687"/>
              </a:lnSpc>
              <a:spcBef>
                <a:spcPts val="0"/>
              </a:spcBef>
              <a:spcAft>
                <a:spcPts val="0"/>
              </a:spcAft>
            </a:pPr>
            <a:r>
              <a:rPr sz="1350" b="0" u="none">
                <a:solidFill>
                  <a:srgbClr val="004EA2"/>
                </a:solidFill>
                <a:latin typeface="Noto Sans KR"/>
                <a:hlinkClick r:id="rId5"/>
              </a:rPr>
              <a:t>행사·공연 정보 &lt; 축제·관광 &lt; 미래한강본부,</a:t>
            </a:r>
          </a:p>
          <a:p>
            <a:pPr eaLnBrk="0">
              <a:lnSpc>
                <a:spcPts val="1687"/>
              </a:lnSpc>
              <a:spcBef>
                <a:spcPts val="0"/>
              </a:spcBef>
              <a:spcAft>
                <a:spcPts val="0"/>
              </a:spcAft>
            </a:pPr>
            <a:r>
              <a:rPr sz="1350" b="0" u="none">
                <a:solidFill>
                  <a:srgbClr val="004EA2"/>
                </a:solidFill>
                <a:latin typeface="Noto Sans KR"/>
                <a:hlinkClick r:id="rId5"/>
              </a:rPr>
              <a:t>한강공원 hangang.seoul.go.kr</a:t>
            </a:r>
          </a:p>
        </p:txBody>
      </p:sp>
      <p:sp>
        <p:nvSpPr>
          <p:cNvPr id="9" name="reference-4"/>
          <p:cNvSpPr txBox="1"/>
          <p:nvPr/>
        </p:nvSpPr>
        <p:spPr>
          <a:xfrm>
            <a:off x="1009650" y="5400675"/>
            <a:ext cx="4248150" cy="571500"/>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6"/>
              </a:rPr>
              <a:t>공식 사례·문서 D58 전주시 2026년도 관광산업과</a:t>
            </a:r>
          </a:p>
          <a:p>
            <a:pPr eaLnBrk="0">
              <a:lnSpc>
                <a:spcPts val="1687"/>
              </a:lnSpc>
              <a:spcBef>
                <a:spcPts val="0"/>
              </a:spcBef>
              <a:spcAft>
                <a:spcPts val="0"/>
              </a:spcAft>
            </a:pPr>
            <a:r>
              <a:rPr sz="1350" b="0" u="none">
                <a:solidFill>
                  <a:srgbClr val="004EA2"/>
                </a:solidFill>
                <a:latin typeface="Noto Sans KR"/>
                <a:hlinkClick r:id="rId6"/>
              </a:rPr>
              <a:t>세출예산 사업명세서 jeonju.go.kr</a:t>
            </a:r>
          </a:p>
        </p:txBody>
      </p:sp>
      <p:sp>
        <p:nvSpPr>
          <p:cNvPr id="10" name="reference-5"/>
          <p:cNvSpPr txBox="1"/>
          <p:nvPr/>
        </p:nvSpPr>
        <p:spPr>
          <a:xfrm>
            <a:off x="1009650" y="6000750"/>
            <a:ext cx="4248150" cy="571500"/>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7"/>
              </a:rPr>
              <a:t>공식 사례·문서 D59 강진 반값여행 지역경제 효과</a:t>
            </a:r>
          </a:p>
          <a:p>
            <a:pPr eaLnBrk="0">
              <a:lnSpc>
                <a:spcPts val="1687"/>
              </a:lnSpc>
              <a:spcBef>
                <a:spcPts val="0"/>
              </a:spcBef>
              <a:spcAft>
                <a:spcPts val="0"/>
              </a:spcAft>
            </a:pPr>
            <a:r>
              <a:rPr sz="1350" b="0" u="none">
                <a:solidFill>
                  <a:srgbClr val="004EA2"/>
                </a:solidFill>
                <a:latin typeface="Noto Sans KR"/>
                <a:hlinkClick r:id="rId7"/>
              </a:rPr>
              <a:t>소개 jnfarm.jeonnam.go.kr</a:t>
            </a:r>
          </a:p>
        </p:txBody>
      </p:sp>
      <p:sp>
        <p:nvSpPr>
          <p:cNvPr id="11" name="reference-6"/>
          <p:cNvSpPr txBox="1"/>
          <p:nvPr/>
        </p:nvSpPr>
        <p:spPr>
          <a:xfrm>
            <a:off x="1009650" y="6600825"/>
            <a:ext cx="4248150" cy="571500"/>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8"/>
              </a:rPr>
              <a:t>공식 사례·문서 D60 2024년 6월 여행가는 달 추진</a:t>
            </a:r>
          </a:p>
          <a:p>
            <a:pPr eaLnBrk="0">
              <a:lnSpc>
                <a:spcPts val="1687"/>
              </a:lnSpc>
              <a:spcBef>
                <a:spcPts val="0"/>
              </a:spcBef>
              <a:spcAft>
                <a:spcPts val="0"/>
              </a:spcAft>
            </a:pPr>
            <a:r>
              <a:rPr sz="1350" b="0" u="none">
                <a:solidFill>
                  <a:srgbClr val="004EA2"/>
                </a:solidFill>
                <a:latin typeface="Noto Sans KR"/>
                <a:hlinkClick r:id="rId8"/>
              </a:rPr>
              <a:t>보도자료 mcst.go.kr</a:t>
            </a:r>
          </a:p>
        </p:txBody>
      </p:sp>
      <p:sp>
        <p:nvSpPr>
          <p:cNvPr id="12" name="reference-7"/>
          <p:cNvSpPr txBox="1"/>
          <p:nvPr/>
        </p:nvSpPr>
        <p:spPr>
          <a:xfrm>
            <a:off x="1009650" y="7200900"/>
            <a:ext cx="4248150" cy="571500"/>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9"/>
              </a:rPr>
              <a:t>공식 사례·문서 D61 2022 대한민국 숙박대전</a:t>
            </a:r>
          </a:p>
          <a:p>
            <a:pPr eaLnBrk="0">
              <a:lnSpc>
                <a:spcPts val="1687"/>
              </a:lnSpc>
              <a:spcBef>
                <a:spcPts val="0"/>
              </a:spcBef>
              <a:spcAft>
                <a:spcPts val="0"/>
              </a:spcAft>
            </a:pPr>
            <a:r>
              <a:rPr sz="1350" b="0" u="none">
                <a:solidFill>
                  <a:srgbClr val="004EA2"/>
                </a:solidFill>
                <a:latin typeface="Noto Sans KR"/>
                <a:hlinkClick r:id="rId9"/>
              </a:rPr>
              <a:t>경제파급효과 공개자료 kto.visitkorea.or.kr</a:t>
            </a:r>
          </a:p>
        </p:txBody>
      </p:sp>
      <p:sp>
        <p:nvSpPr>
          <p:cNvPr id="13" name="reference-8"/>
          <p:cNvSpPr txBox="1"/>
          <p:nvPr/>
        </p:nvSpPr>
        <p:spPr>
          <a:xfrm>
            <a:off x="5486400" y="2571750"/>
            <a:ext cx="4248150" cy="571500"/>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10"/>
              </a:rPr>
              <a:t>공식 사례·문서 D62 2025 대한민국 밤밤페스타 개최 도시</a:t>
            </a:r>
          </a:p>
          <a:p>
            <a:pPr eaLnBrk="0">
              <a:lnSpc>
                <a:spcPts val="1687"/>
              </a:lnSpc>
              <a:spcBef>
                <a:spcPts val="0"/>
              </a:spcBef>
              <a:spcAft>
                <a:spcPts val="0"/>
              </a:spcAft>
            </a:pPr>
            <a:r>
              <a:rPr sz="1350" b="0" u="none">
                <a:solidFill>
                  <a:srgbClr val="004EA2"/>
                </a:solidFill>
                <a:latin typeface="Noto Sans KR"/>
                <a:hlinkClick r:id="rId10"/>
              </a:rPr>
              <a:t>및 일정 korean.visitkorea.or.kr</a:t>
            </a:r>
          </a:p>
        </p:txBody>
      </p:sp>
      <p:sp>
        <p:nvSpPr>
          <p:cNvPr id="14" name="reference-9"/>
          <p:cNvSpPr txBox="1"/>
          <p:nvPr/>
        </p:nvSpPr>
        <p:spPr>
          <a:xfrm>
            <a:off x="5486400" y="3171825"/>
            <a:ext cx="4248150" cy="571500"/>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11"/>
              </a:rPr>
              <a:t>공식 사례·문서 D63 2024년도 정부업무평가 관광분야</a:t>
            </a:r>
          </a:p>
          <a:p>
            <a:pPr eaLnBrk="0">
              <a:lnSpc>
                <a:spcPts val="1687"/>
              </a:lnSpc>
              <a:spcBef>
                <a:spcPts val="0"/>
              </a:spcBef>
              <a:spcAft>
                <a:spcPts val="0"/>
              </a:spcAft>
            </a:pPr>
            <a:r>
              <a:rPr sz="1350" b="0" u="none">
                <a:solidFill>
                  <a:srgbClr val="004EA2"/>
                </a:solidFill>
                <a:latin typeface="Noto Sans KR"/>
                <a:hlinkClick r:id="rId11"/>
              </a:rPr>
              <a:t>성과자료 www.evaluation.go.kr</a:t>
            </a:r>
          </a:p>
        </p:txBody>
      </p:sp>
      <p:sp>
        <p:nvSpPr>
          <p:cNvPr id="15" name="reference-10"/>
          <p:cNvSpPr txBox="1"/>
          <p:nvPr/>
        </p:nvSpPr>
        <p:spPr>
          <a:xfrm>
            <a:off x="5486400" y="3771900"/>
            <a:ext cx="4248150" cy="428625"/>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12"/>
              </a:rPr>
              <a:t>관광자원·사진 D30 가조쿠</a:t>
            </a:r>
          </a:p>
        </p:txBody>
      </p:sp>
      <p:sp>
        <p:nvSpPr>
          <p:cNvPr id="16" name="reference-11"/>
          <p:cNvSpPr txBox="1"/>
          <p:nvPr/>
        </p:nvSpPr>
        <p:spPr>
          <a:xfrm>
            <a:off x="5486400" y="4229100"/>
            <a:ext cx="4248150" cy="428625"/>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12"/>
              </a:rPr>
              <a:t>관광자원·사진 D31 계월</a:t>
            </a:r>
          </a:p>
        </p:txBody>
      </p:sp>
      <p:sp>
        <p:nvSpPr>
          <p:cNvPr id="17" name="reference-12"/>
          <p:cNvSpPr txBox="1"/>
          <p:nvPr/>
        </p:nvSpPr>
        <p:spPr>
          <a:xfrm>
            <a:off x="5486400" y="4686300"/>
            <a:ext cx="4248150" cy="428625"/>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12"/>
              </a:rPr>
              <a:t>관광자원·사진 D32 계자람</a:t>
            </a:r>
          </a:p>
        </p:txBody>
      </p:sp>
      <p:sp>
        <p:nvSpPr>
          <p:cNvPr id="18" name="reference-13"/>
          <p:cNvSpPr txBox="1"/>
          <p:nvPr/>
        </p:nvSpPr>
        <p:spPr>
          <a:xfrm>
            <a:off x="5486400" y="5143500"/>
            <a:ext cx="4248150" cy="428625"/>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12"/>
              </a:rPr>
              <a:t>관광자원·사진 D33 구욱희씨</a:t>
            </a:r>
          </a:p>
        </p:txBody>
      </p:sp>
      <p:sp>
        <p:nvSpPr>
          <p:cNvPr id="19" name="reference-14"/>
          <p:cNvSpPr txBox="1"/>
          <p:nvPr/>
        </p:nvSpPr>
        <p:spPr>
          <a:xfrm>
            <a:off x="5486400" y="5600700"/>
            <a:ext cx="4248150" cy="428625"/>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12"/>
              </a:rPr>
              <a:t>관광자원·사진 D34 구펠</a:t>
            </a:r>
          </a:p>
        </p:txBody>
      </p:sp>
      <p:sp>
        <p:nvSpPr>
          <p:cNvPr id="20" name="reference-15"/>
          <p:cNvSpPr txBox="1"/>
          <p:nvPr/>
        </p:nvSpPr>
        <p:spPr>
          <a:xfrm>
            <a:off x="5486400" y="6057900"/>
            <a:ext cx="4248150" cy="428625"/>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12"/>
              </a:rPr>
              <a:t>관광자원·사진 D35 그라데이션커피</a:t>
            </a:r>
          </a:p>
        </p:txBody>
      </p:sp>
      <p:sp>
        <p:nvSpPr>
          <p:cNvPr id="21" name="reference-16"/>
          <p:cNvSpPr txBox="1"/>
          <p:nvPr/>
        </p:nvSpPr>
        <p:spPr>
          <a:xfrm>
            <a:off x="5486400" y="6515100"/>
            <a:ext cx="4248150" cy="428625"/>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12"/>
              </a:rPr>
              <a:t>관광자원·사진 D36 그린랩</a:t>
            </a:r>
          </a:p>
        </p:txBody>
      </p:sp>
      <p:sp>
        <p:nvSpPr>
          <p:cNvPr id="22" name="reference-17"/>
          <p:cNvSpPr txBox="1"/>
          <p:nvPr/>
        </p:nvSpPr>
        <p:spPr>
          <a:xfrm>
            <a:off x="5486400" y="6972300"/>
            <a:ext cx="4248150" cy="428625"/>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12"/>
              </a:rPr>
              <a:t>관광자원·사진 D37 금남시장</a:t>
            </a:r>
          </a:p>
        </p:txBody>
      </p:sp>
      <p:sp>
        <p:nvSpPr>
          <p:cNvPr id="23" name="reference-18"/>
          <p:cNvSpPr txBox="1"/>
          <p:nvPr/>
        </p:nvSpPr>
        <p:spPr>
          <a:xfrm>
            <a:off x="5486400" y="7429500"/>
            <a:ext cx="4248150" cy="428625"/>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12"/>
              </a:rPr>
              <a:t>관광자원·사진 D38 기후</a:t>
            </a:r>
          </a:p>
        </p:txBody>
      </p:sp>
      <p:sp>
        <p:nvSpPr>
          <p:cNvPr id="24" name="reference-19"/>
          <p:cNvSpPr txBox="1"/>
          <p:nvPr/>
        </p:nvSpPr>
        <p:spPr>
          <a:xfrm>
            <a:off x="9963150" y="2571750"/>
            <a:ext cx="4248150" cy="428625"/>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12"/>
              </a:rPr>
              <a:t>관광자원·사진 D39 꾸아 성수점</a:t>
            </a:r>
          </a:p>
        </p:txBody>
      </p:sp>
      <p:sp>
        <p:nvSpPr>
          <p:cNvPr id="25" name="reference-20"/>
          <p:cNvSpPr txBox="1"/>
          <p:nvPr/>
        </p:nvSpPr>
        <p:spPr>
          <a:xfrm>
            <a:off x="9963150" y="3028950"/>
            <a:ext cx="4248150" cy="428625"/>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12"/>
              </a:rPr>
              <a:t>관광자원·사진 D40 난포</a:t>
            </a:r>
          </a:p>
        </p:txBody>
      </p:sp>
      <p:sp>
        <p:nvSpPr>
          <p:cNvPr id="26" name="reference-21"/>
          <p:cNvSpPr txBox="1"/>
          <p:nvPr/>
        </p:nvSpPr>
        <p:spPr>
          <a:xfrm>
            <a:off x="9963150" y="3486150"/>
            <a:ext cx="4248150" cy="428625"/>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12"/>
              </a:rPr>
              <a:t>관광자원·사진 D41 누메로도스</a:t>
            </a:r>
          </a:p>
        </p:txBody>
      </p:sp>
      <p:sp>
        <p:nvSpPr>
          <p:cNvPr id="27" name="reference-22"/>
          <p:cNvSpPr txBox="1"/>
          <p:nvPr/>
        </p:nvSpPr>
        <p:spPr>
          <a:xfrm>
            <a:off x="9963150" y="3943350"/>
            <a:ext cx="4248150" cy="428625"/>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12"/>
              </a:rPr>
              <a:t>관광자원·사진 D42 누메로뜨레쓰</a:t>
            </a:r>
          </a:p>
        </p:txBody>
      </p:sp>
      <p:sp>
        <p:nvSpPr>
          <p:cNvPr id="28" name="reference-23"/>
          <p:cNvSpPr txBox="1"/>
          <p:nvPr/>
        </p:nvSpPr>
        <p:spPr>
          <a:xfrm>
            <a:off x="9963150" y="4400550"/>
            <a:ext cx="4248150" cy="428625"/>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12"/>
              </a:rPr>
              <a:t>관광자원·사진 D43 니드스윗</a:t>
            </a:r>
          </a:p>
        </p:txBody>
      </p:sp>
      <p:sp>
        <p:nvSpPr>
          <p:cNvPr id="29" name="reference-24"/>
          <p:cNvSpPr txBox="1"/>
          <p:nvPr/>
        </p:nvSpPr>
        <p:spPr>
          <a:xfrm>
            <a:off x="9963150" y="4857750"/>
            <a:ext cx="4248150" cy="428625"/>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12"/>
              </a:rPr>
              <a:t>관광자원·사진 D44 단일서울</a:t>
            </a:r>
          </a:p>
        </p:txBody>
      </p:sp>
      <p:sp>
        <p:nvSpPr>
          <p:cNvPr id="30" name="reference-25"/>
          <p:cNvSpPr txBox="1"/>
          <p:nvPr/>
        </p:nvSpPr>
        <p:spPr>
          <a:xfrm>
            <a:off x="9963150" y="5314950"/>
            <a:ext cx="4248150" cy="428625"/>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12"/>
              </a:rPr>
              <a:t>관광자원·사진 D45 대돈집</a:t>
            </a:r>
          </a:p>
        </p:txBody>
      </p:sp>
      <p:sp>
        <p:nvSpPr>
          <p:cNvPr id="31" name="reference-26"/>
          <p:cNvSpPr txBox="1"/>
          <p:nvPr/>
        </p:nvSpPr>
        <p:spPr>
          <a:xfrm>
            <a:off x="9963150" y="5772150"/>
            <a:ext cx="4248150" cy="428625"/>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12"/>
              </a:rPr>
              <a:t>관광자원·사진 D46 대흥정육식당</a:t>
            </a:r>
          </a:p>
        </p:txBody>
      </p:sp>
      <p:sp>
        <p:nvSpPr>
          <p:cNvPr id="32" name="reference-27"/>
          <p:cNvSpPr txBox="1"/>
          <p:nvPr/>
        </p:nvSpPr>
        <p:spPr>
          <a:xfrm>
            <a:off x="9963150" y="6229350"/>
            <a:ext cx="4248150" cy="428625"/>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12"/>
              </a:rPr>
              <a:t>관광자원·사진 D47 더서울라이티움</a:t>
            </a:r>
          </a:p>
        </p:txBody>
      </p:sp>
      <p:sp>
        <p:nvSpPr>
          <p:cNvPr id="33" name="reference-28"/>
          <p:cNvSpPr txBox="1"/>
          <p:nvPr/>
        </p:nvSpPr>
        <p:spPr>
          <a:xfrm>
            <a:off x="9963150" y="6686550"/>
            <a:ext cx="4248150" cy="428625"/>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12"/>
              </a:rPr>
              <a:t>관광자원·사진 D48 더페이지갤러리</a:t>
            </a:r>
          </a:p>
        </p:txBody>
      </p:sp>
      <p:sp>
        <p:nvSpPr>
          <p:cNvPr id="34" name="reference-29"/>
          <p:cNvSpPr txBox="1"/>
          <p:nvPr/>
        </p:nvSpPr>
        <p:spPr>
          <a:xfrm>
            <a:off x="9963150" y="7143750"/>
            <a:ext cx="4248150" cy="428625"/>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u="none">
                <a:solidFill>
                  <a:srgbClr val="004EA2"/>
                </a:solidFill>
                <a:latin typeface="Noto Sans KR"/>
                <a:hlinkClick r:id="rId12"/>
              </a:rPr>
              <a:t>관광자원·사진 D49 땅코참숯구이 본점</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itle"/>
          <p:cNvSpPr txBox="1"/>
          <p:nvPr/>
        </p:nvSpPr>
        <p:spPr>
          <a:xfrm>
            <a:off x="952500" y="714375"/>
            <a:ext cx="13335000" cy="809625"/>
          </a:xfrm>
          <a:prstGeom prst="rect">
            <a:avLst/>
          </a:prstGeom>
          <a:noFill/>
        </p:spPr>
        <p:txBody>
          <a:bodyPr wrap="none" lIns="57150" rIns="57150" tIns="38100" bIns="38100" anchor="t">
            <a:noAutofit/>
          </a:bodyPr>
          <a:lstStyle/>
          <a:p>
            <a:pPr eaLnBrk="0">
              <a:lnSpc>
                <a:spcPts val="4500"/>
              </a:lnSpc>
              <a:spcBef>
                <a:spcPts val="0"/>
              </a:spcBef>
              <a:spcAft>
                <a:spcPts val="0"/>
              </a:spcAft>
            </a:pPr>
            <a:r>
              <a:rPr sz="3600" b="1">
                <a:solidFill>
                  <a:srgbClr val="004EA2"/>
                </a:solidFill>
                <a:latin typeface="Noto Sans KR"/>
              </a:rPr>
              <a:t>이 사업을 참고한 이유와 지역 적용 방법</a:t>
            </a:r>
          </a:p>
        </p:txBody>
      </p:sp>
      <p:sp>
        <p:nvSpPr>
          <p:cNvPr id="3" name="title-rule"/>
          <p:cNvSpPr/>
          <p:nvPr/>
        </p:nvSpPr>
        <p:spPr>
          <a:xfrm>
            <a:off x="1009650" y="1724025"/>
            <a:ext cx="13220700" cy="28575"/>
          </a:xfrm>
          <a:prstGeom prst="rect">
            <a:avLst/>
          </a:prstGeom>
          <a:solidFill>
            <a:srgbClr val="004EA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selection-case"/>
          <p:cNvSpPr txBox="1"/>
          <p:nvPr/>
        </p:nvSpPr>
        <p:spPr>
          <a:xfrm>
            <a:off x="1009650" y="1885950"/>
            <a:ext cx="13220700" cy="666750"/>
          </a:xfrm>
          <a:prstGeom prst="rect">
            <a:avLst/>
          </a:prstGeom>
          <a:noFill/>
        </p:spPr>
        <p:txBody>
          <a:bodyPr wrap="none" lIns="57150" rIns="57150" tIns="38100" bIns="38100" anchor="t">
            <a:noAutofit/>
          </a:bodyPr>
          <a:lstStyle/>
          <a:p>
            <a:pPr eaLnBrk="0">
              <a:lnSpc>
                <a:spcPts val="2812"/>
              </a:lnSpc>
              <a:spcBef>
                <a:spcPts val="0"/>
              </a:spcBef>
              <a:spcAft>
                <a:spcPts val="0"/>
              </a:spcAft>
            </a:pPr>
            <a:r>
              <a:rPr sz="2250" b="1">
                <a:solidFill>
                  <a:srgbClr val="004EA2"/>
                </a:solidFill>
                <a:latin typeface="Noto Sans KR"/>
              </a:rPr>
              <a:t>전라남도 강진군 · 반값여행 지역환급</a:t>
            </a:r>
          </a:p>
        </p:txBody>
      </p:sp>
      <p:graphicFrame>
        <p:nvGraphicFramePr>
          <p:cNvPr id="5" name="selection-matrix"/>
          <p:cNvGraphicFramePr>
            <a:graphicFrameLocks noGrp="1"/>
          </p:cNvGraphicFramePr>
          <p:nvPr/>
        </p:nvGraphicFramePr>
        <p:xfrm>
          <a:off x="1009650" y="2809875"/>
          <a:ext cx="13220700" cy="3429000"/>
        </p:xfrm>
        <a:graphic>
          <a:graphicData uri="http://schemas.openxmlformats.org/drawingml/2006/table">
            <a:tbl>
              <a:tblPr firstRow="1" bandRow="1">
                <a:tableStyleId>{5C22544A-7EE6-4342-B048-85BDC9FD1C3A}</a:tableStyleId>
              </a:tblPr>
              <a:tblGrid>
                <a:gridCol w="2209800"/>
                <a:gridCol w="5505450"/>
                <a:gridCol w="5505450"/>
              </a:tblGrid>
              <a:tr h="495300">
                <a:tc>
                  <a:txBody>
                    <a:bodyPr wrap="none"/>
                    <a:lstStyle/>
                    <a:p>
                      <a:pPr eaLnBrk="0">
                        <a:lnSpc>
                          <a:spcPct val="112000"/>
                        </a:lnSpc>
                        <a:spcBef>
                          <a:spcPts val="0"/>
                        </a:spcBef>
                        <a:spcAft>
                          <a:spcPts val="0"/>
                        </a:spcAft>
                      </a:pPr>
                      <a:r>
                        <a:rPr sz="1575" b="1">
                          <a:solidFill>
                            <a:srgbClr val="FFFFFF"/>
                          </a:solidFill>
                          <a:latin typeface="Noto Sans KR"/>
                        </a:rPr>
                        <a:t>비교 기준</a:t>
                      </a:r>
                    </a:p>
                  </a:txBody>
                  <a:tcPr marL="95250" marR="95250" marT="66675" marB="66675" anchor="ctr">
                    <a:solidFill>
                      <a:srgbClr val="004EA2"/>
                    </a:solidFill>
                  </a:tcPr>
                </a:tc>
                <a:tc>
                  <a:txBody>
                    <a:bodyPr wrap="none"/>
                    <a:lstStyle/>
                    <a:p>
                      <a:pPr eaLnBrk="0">
                        <a:lnSpc>
                          <a:spcPct val="112000"/>
                        </a:lnSpc>
                        <a:spcBef>
                          <a:spcPts val="0"/>
                        </a:spcBef>
                        <a:spcAft>
                          <a:spcPts val="0"/>
                        </a:spcAft>
                      </a:pPr>
                      <a:r>
                        <a:rPr sz="1575" b="1">
                          <a:solidFill>
                            <a:srgbClr val="FFFFFF"/>
                          </a:solidFill>
                          <a:latin typeface="Noto Sans KR"/>
                        </a:rPr>
                        <a:t>확인한 근거</a:t>
                      </a:r>
                    </a:p>
                  </a:txBody>
                  <a:tcPr marL="95250" marR="95250" marT="66675" marB="66675" anchor="ctr">
                    <a:solidFill>
                      <a:srgbClr val="004EA2"/>
                    </a:solidFill>
                  </a:tcPr>
                </a:tc>
                <a:tc>
                  <a:txBody>
                    <a:bodyPr wrap="none"/>
                    <a:lstStyle/>
                    <a:p>
                      <a:pPr eaLnBrk="0">
                        <a:lnSpc>
                          <a:spcPct val="112000"/>
                        </a:lnSpc>
                        <a:spcBef>
                          <a:spcPts val="0"/>
                        </a:spcBef>
                        <a:spcAft>
                          <a:spcPts val="0"/>
                        </a:spcAft>
                      </a:pPr>
                      <a:r>
                        <a:rPr sz="1575" b="1">
                          <a:solidFill>
                            <a:srgbClr val="FFFFFF"/>
                          </a:solidFill>
                          <a:latin typeface="Noto Sans KR"/>
                        </a:rPr>
                        <a:t>이번 기획에 연결한 판단</a:t>
                      </a:r>
                    </a:p>
                  </a:txBody>
                  <a:tcPr marL="95250" marR="95250" marT="66675" marB="66675" anchor="ctr">
                    <a:solidFill>
                      <a:srgbClr val="004EA2"/>
                    </a:solidFill>
                  </a:tcPr>
                </a:tc>
              </a:tr>
              <a:tr h="977900">
                <a:tc>
                  <a:txBody>
                    <a:bodyPr wrap="none"/>
                    <a:lstStyle/>
                    <a:p>
                      <a:pPr eaLnBrk="0">
                        <a:lnSpc>
                          <a:spcPct val="112000"/>
                        </a:lnSpc>
                        <a:spcBef>
                          <a:spcPts val="0"/>
                        </a:spcBef>
                        <a:spcAft>
                          <a:spcPts val="0"/>
                        </a:spcAft>
                      </a:pPr>
                      <a:r>
                        <a:rPr sz="1575" b="1">
                          <a:solidFill>
                            <a:srgbClr val="1D2227"/>
                          </a:solidFill>
                          <a:latin typeface="Noto Sans KR"/>
                        </a:rPr>
                        <a:t>사업의 이용 흐름</a:t>
                      </a:r>
                    </a:p>
                  </a:txBody>
                  <a:tcPr marL="95250" marR="95250" marT="66675" marB="66675" anchor="ctr">
                    <a:solidFill>
                      <a:srgbClr val="FFFFFF"/>
                    </a:solidFill>
                  </a:tcPr>
                </a:tc>
                <a:tc>
                  <a:txBody>
                    <a:bodyPr wrap="none"/>
                    <a:lstStyle/>
                    <a:p>
                      <a:pPr eaLnBrk="0">
                        <a:lnSpc>
                          <a:spcPct val="112000"/>
                        </a:lnSpc>
                        <a:spcBef>
                          <a:spcPts val="0"/>
                        </a:spcBef>
                        <a:spcAft>
                          <a:spcPts val="0"/>
                        </a:spcAft>
                      </a:pPr>
                      <a:r>
                        <a:rPr sz="1575" b="0">
                          <a:solidFill>
                            <a:srgbClr val="1D2227"/>
                          </a:solidFill>
                          <a:latin typeface="Noto Sans KR"/>
                        </a:rPr>
                        <a:t>여행자가 지역에서 지출한 비용의 일부를 지역상품권으로</a:t>
                      </a:r>
                    </a:p>
                    <a:p>
                      <a:pPr eaLnBrk="0">
                        <a:lnSpc>
                          <a:spcPct val="112000"/>
                        </a:lnSpc>
                        <a:spcBef>
                          <a:spcPts val="0"/>
                        </a:spcBef>
                        <a:spcAft>
                          <a:spcPts val="0"/>
                        </a:spcAft>
                      </a:pPr>
                      <a:r>
                        <a:rPr sz="1575" b="0">
                          <a:solidFill>
                            <a:srgbClr val="1D2227"/>
                          </a:solidFill>
                          <a:latin typeface="Noto Sans KR"/>
                        </a:rPr>
                        <a:t>돌려받게 하여 혜택이 다시 지역 상점에서 사용되도록 설계</a:t>
                      </a:r>
                    </a:p>
                  </a:txBody>
                  <a:tcPr marL="95250" marR="95250" marT="66675" marB="66675" anchor="ctr">
                    <a:solidFill>
                      <a:srgbClr val="FFFFFF"/>
                    </a:solidFill>
                  </a:tcPr>
                </a:tc>
                <a:tc>
                  <a:txBody>
                    <a:bodyPr wrap="none"/>
                    <a:lstStyle/>
                    <a:p>
                      <a:pPr eaLnBrk="0">
                        <a:lnSpc>
                          <a:spcPct val="112000"/>
                        </a:lnSpc>
                        <a:spcBef>
                          <a:spcPts val="0"/>
                        </a:spcBef>
                        <a:spcAft>
                          <a:spcPts val="0"/>
                        </a:spcAft>
                      </a:pPr>
                      <a:r>
                        <a:rPr sz="1575" b="0">
                          <a:solidFill>
                            <a:srgbClr val="1D2227"/>
                          </a:solidFill>
                          <a:latin typeface="Noto Sans KR"/>
                        </a:rPr>
                        <a:t>결제·혜택·재이용 또는 예약·체류 등 실제 이용</a:t>
                      </a:r>
                    </a:p>
                    <a:p>
                      <a:pPr eaLnBrk="0">
                        <a:lnSpc>
                          <a:spcPct val="112000"/>
                        </a:lnSpc>
                        <a:spcBef>
                          <a:spcPts val="0"/>
                        </a:spcBef>
                        <a:spcAft>
                          <a:spcPts val="0"/>
                        </a:spcAft>
                      </a:pPr>
                      <a:r>
                        <a:rPr sz="1575" b="0">
                          <a:solidFill>
                            <a:srgbClr val="1D2227"/>
                          </a:solidFill>
                          <a:latin typeface="Noto Sans KR"/>
                        </a:rPr>
                        <a:t>흐름이 같은 사례만 연결</a:t>
                      </a:r>
                    </a:p>
                  </a:txBody>
                  <a:tcPr marL="95250" marR="95250" marT="66675" marB="66675" anchor="ctr">
                    <a:solidFill>
                      <a:srgbClr val="FFFFFF"/>
                    </a:solidFill>
                  </a:tcPr>
                </a:tc>
              </a:tr>
              <a:tr h="977900">
                <a:tc>
                  <a:txBody>
                    <a:bodyPr wrap="none"/>
                    <a:lstStyle/>
                    <a:p>
                      <a:pPr eaLnBrk="0">
                        <a:lnSpc>
                          <a:spcPct val="112000"/>
                        </a:lnSpc>
                        <a:spcBef>
                          <a:spcPts val="0"/>
                        </a:spcBef>
                        <a:spcAft>
                          <a:spcPts val="0"/>
                        </a:spcAft>
                      </a:pPr>
                      <a:r>
                        <a:rPr sz="1575" b="1">
                          <a:solidFill>
                            <a:srgbClr val="1D2227"/>
                          </a:solidFill>
                          <a:latin typeface="Noto Sans KR"/>
                        </a:rPr>
                        <a:t>선택 지역의 소비·체류</a:t>
                      </a:r>
                    </a:p>
                  </a:txBody>
                  <a:tcPr marL="95250" marR="95250" marT="66675" marB="66675" anchor="ctr">
                    <a:solidFill>
                      <a:srgbClr val="EAF1F6"/>
                    </a:solidFill>
                  </a:tcPr>
                </a:tc>
                <a:tc>
                  <a:txBody>
                    <a:bodyPr wrap="none"/>
                    <a:lstStyle/>
                    <a:p>
                      <a:pPr eaLnBrk="0">
                        <a:lnSpc>
                          <a:spcPct val="112000"/>
                        </a:lnSpc>
                        <a:spcBef>
                          <a:spcPts val="0"/>
                        </a:spcBef>
                        <a:spcAft>
                          <a:spcPts val="0"/>
                        </a:spcAft>
                      </a:pPr>
                      <a:r>
                        <a:rPr sz="1575" b="0">
                          <a:solidFill>
                            <a:srgbClr val="1D2227"/>
                          </a:solidFill>
                          <a:latin typeface="Noto Sans KR"/>
                        </a:rPr>
                        <a:t>월간 순 방문자 수: 6,687,696명 / 외지인 관광소비 총액:</a:t>
                      </a:r>
                    </a:p>
                    <a:p>
                      <a:pPr eaLnBrk="0">
                        <a:lnSpc>
                          <a:spcPct val="112000"/>
                        </a:lnSpc>
                        <a:spcBef>
                          <a:spcPts val="0"/>
                        </a:spcBef>
                        <a:spcAft>
                          <a:spcPts val="0"/>
                        </a:spcAft>
                      </a:pPr>
                      <a:r>
                        <a:rPr sz="1575" b="0">
                          <a:solidFill>
                            <a:srgbClr val="1D2227"/>
                          </a:solidFill>
                          <a:latin typeface="Noto Sans KR"/>
                        </a:rPr>
                        <a:t>93,151,315,000원 / 외지인 평균 숙박일수: 3.03일</a:t>
                      </a:r>
                    </a:p>
                  </a:txBody>
                  <a:tcPr marL="95250" marR="95250" marT="66675" marB="66675" anchor="ctr">
                    <a:solidFill>
                      <a:srgbClr val="EAF1F6"/>
                    </a:solidFill>
                  </a:tcPr>
                </a:tc>
                <a:tc>
                  <a:txBody>
                    <a:bodyPr wrap="none"/>
                    <a:lstStyle/>
                    <a:p>
                      <a:pPr eaLnBrk="0">
                        <a:lnSpc>
                          <a:spcPct val="112000"/>
                        </a:lnSpc>
                        <a:spcBef>
                          <a:spcPts val="0"/>
                        </a:spcBef>
                        <a:spcAft>
                          <a:spcPts val="0"/>
                        </a:spcAft>
                      </a:pPr>
                      <a:r>
                        <a:rPr sz="1575" b="0">
                          <a:solidFill>
                            <a:srgbClr val="1D2227"/>
                          </a:solidFill>
                          <a:latin typeface="Noto Sans KR"/>
                        </a:rPr>
                        <a:t>지역 자료는 참여 업종·대상 범위를 정하는 입력. 다른 지역과</a:t>
                      </a:r>
                    </a:p>
                    <a:p>
                      <a:pPr eaLnBrk="0">
                        <a:lnSpc>
                          <a:spcPct val="112000"/>
                        </a:lnSpc>
                        <a:spcBef>
                          <a:spcPts val="0"/>
                        </a:spcBef>
                        <a:spcAft>
                          <a:spcPts val="0"/>
                        </a:spcAft>
                      </a:pPr>
                      <a:r>
                        <a:rPr sz="1575" b="0">
                          <a:solidFill>
                            <a:srgbClr val="1D2227"/>
                          </a:solidFill>
                          <a:latin typeface="Noto Sans KR"/>
                        </a:rPr>
                        <a:t>수치가 같다는 증거로 사용하지 않음</a:t>
                      </a:r>
                    </a:p>
                  </a:txBody>
                  <a:tcPr marL="95250" marR="95250" marT="66675" marB="66675" anchor="ctr">
                    <a:solidFill>
                      <a:srgbClr val="EAF1F6"/>
                    </a:solidFill>
                  </a:tcPr>
                </a:tc>
              </a:tr>
              <a:tr h="977900">
                <a:tc>
                  <a:txBody>
                    <a:bodyPr wrap="none"/>
                    <a:lstStyle/>
                    <a:p>
                      <a:pPr eaLnBrk="0">
                        <a:lnSpc>
                          <a:spcPct val="112000"/>
                        </a:lnSpc>
                        <a:spcBef>
                          <a:spcPts val="0"/>
                        </a:spcBef>
                        <a:spcAft>
                          <a:spcPts val="0"/>
                        </a:spcAft>
                      </a:pPr>
                      <a:r>
                        <a:rPr sz="1575" b="1">
                          <a:solidFill>
                            <a:srgbClr val="1D2227"/>
                          </a:solidFill>
                          <a:latin typeface="Noto Sans KR"/>
                        </a:rPr>
                        <a:t>시범 운영 규모</a:t>
                      </a:r>
                    </a:p>
                  </a:txBody>
                  <a:tcPr marL="95250" marR="95250" marT="66675" marB="66675" anchor="ctr">
                    <a:solidFill>
                      <a:srgbClr val="FFFFFF"/>
                    </a:solidFill>
                  </a:tcPr>
                </a:tc>
                <a:tc>
                  <a:txBody>
                    <a:bodyPr wrap="none"/>
                    <a:lstStyle/>
                    <a:p>
                      <a:pPr eaLnBrk="0">
                        <a:lnSpc>
                          <a:spcPct val="112000"/>
                        </a:lnSpc>
                        <a:spcBef>
                          <a:spcPts val="0"/>
                        </a:spcBef>
                        <a:spcAft>
                          <a:spcPts val="0"/>
                        </a:spcAft>
                      </a:pPr>
                      <a:r>
                        <a:rPr sz="1575" b="0">
                          <a:solidFill>
                            <a:srgbClr val="1D2227"/>
                          </a:solidFill>
                          <a:latin typeface="Noto Sans KR"/>
                        </a:rPr>
                        <a:t>사업기간 추가 방문 목표 2,635,826명 × 시범 담당 비중 1% →</a:t>
                      </a:r>
                    </a:p>
                    <a:p>
                      <a:pPr eaLnBrk="0">
                        <a:lnSpc>
                          <a:spcPct val="112000"/>
                        </a:lnSpc>
                        <a:spcBef>
                          <a:spcPts val="0"/>
                        </a:spcBef>
                        <a:spcAft>
                          <a:spcPts val="0"/>
                        </a:spcAft>
                      </a:pPr>
                      <a:r>
                        <a:rPr sz="1575" b="0">
                          <a:solidFill>
                            <a:srgbClr val="1D2227"/>
                          </a:solidFill>
                          <a:latin typeface="Noto Sans KR"/>
                        </a:rPr>
                        <a:t>26,359건(올림). 1%는 직접 운영할 참여량 배분 가정이며</a:t>
                      </a:r>
                    </a:p>
                    <a:p>
                      <a:pPr eaLnBrk="0">
                        <a:lnSpc>
                          <a:spcPct val="112000"/>
                        </a:lnSpc>
                        <a:spcBef>
                          <a:spcPts val="0"/>
                        </a:spcBef>
                        <a:spcAft>
                          <a:spcPts val="0"/>
                        </a:spcAft>
                      </a:pPr>
                      <a:r>
                        <a:rPr sz="1575" b="0">
                          <a:solidFill>
                            <a:srgbClr val="1D2227"/>
                          </a:solidFill>
                          <a:latin typeface="Noto Sans KR"/>
                        </a:rPr>
                        <a:t>전환율 예측이 아닙니다.</a:t>
                      </a:r>
                    </a:p>
                  </a:txBody>
                  <a:tcPr marL="95250" marR="95250" marT="66675" marB="66675" anchor="ctr">
                    <a:solidFill>
                      <a:srgbClr val="FFFFFF"/>
                    </a:solidFill>
                  </a:tcPr>
                </a:tc>
                <a:tc>
                  <a:txBody>
                    <a:bodyPr wrap="none"/>
                    <a:lstStyle/>
                    <a:p>
                      <a:pPr eaLnBrk="0">
                        <a:lnSpc>
                          <a:spcPct val="112000"/>
                        </a:lnSpc>
                        <a:spcBef>
                          <a:spcPts val="0"/>
                        </a:spcBef>
                        <a:spcAft>
                          <a:spcPts val="0"/>
                        </a:spcAft>
                      </a:pPr>
                      <a:r>
                        <a:rPr sz="1575" b="0">
                          <a:solidFill>
                            <a:srgbClr val="1D2227"/>
                          </a:solidFill>
                          <a:latin typeface="Noto Sans KR"/>
                        </a:rPr>
                        <a:t>추가 방문 목표의 일부를 직접 운영할 참여량으로 정하고 건별</a:t>
                      </a:r>
                    </a:p>
                    <a:p>
                      <a:pPr eaLnBrk="0">
                        <a:lnSpc>
                          <a:spcPct val="112000"/>
                        </a:lnSpc>
                        <a:spcBef>
                          <a:spcPts val="0"/>
                        </a:spcBef>
                        <a:spcAft>
                          <a:spcPts val="0"/>
                        </a:spcAft>
                      </a:pPr>
                      <a:r>
                        <a:rPr sz="1575" b="0">
                          <a:solidFill>
                            <a:srgbClr val="1D2227"/>
                          </a:solidFill>
                          <a:latin typeface="Noto Sans KR"/>
                        </a:rPr>
                        <a:t>혜택·운영 인일로 예산 계산</a:t>
                      </a:r>
                    </a:p>
                  </a:txBody>
                  <a:tcPr marL="95250" marR="95250" marT="66675" marB="66675" anchor="ctr">
                    <a:solidFill>
                      <a:srgbClr val="FFFFFF"/>
                    </a:solidFill>
                  </a:tcPr>
                </a:tc>
              </a:tr>
            </a:tbl>
          </a:graphicData>
        </a:graphic>
      </p:graphicFrame>
      <p:sp>
        <p:nvSpPr>
          <p:cNvPr id="6" name="adaptation-panel"/>
          <p:cNvSpPr/>
          <p:nvPr/>
        </p:nvSpPr>
        <p:spPr>
          <a:xfrm>
            <a:off x="1009650" y="6477000"/>
            <a:ext cx="13220700" cy="1476375"/>
          </a:xfrm>
          <a:prstGeom prst="rect">
            <a:avLst/>
          </a:prstGeom>
          <a:solidFill>
            <a:srgbClr val="E6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adaptation-label"/>
          <p:cNvSpPr txBox="1"/>
          <p:nvPr/>
        </p:nvSpPr>
        <p:spPr>
          <a:xfrm>
            <a:off x="1219200" y="6696075"/>
            <a:ext cx="3048000" cy="619125"/>
          </a:xfrm>
          <a:prstGeom prst="rect">
            <a:avLst/>
          </a:prstGeom>
          <a:noFill/>
        </p:spPr>
        <p:txBody>
          <a:bodyPr wrap="none" lIns="57150" rIns="57150" tIns="38100" bIns="38100" anchor="t">
            <a:noAutofit/>
          </a:bodyPr>
          <a:lstStyle/>
          <a:p>
            <a:pPr eaLnBrk="0">
              <a:lnSpc>
                <a:spcPts val="2156"/>
              </a:lnSpc>
              <a:spcBef>
                <a:spcPts val="0"/>
              </a:spcBef>
              <a:spcAft>
                <a:spcPts val="0"/>
              </a:spcAft>
            </a:pPr>
            <a:r>
              <a:rPr sz="1725" b="1">
                <a:solidFill>
                  <a:srgbClr val="004EA2"/>
                </a:solidFill>
                <a:latin typeface="Noto Sans KR"/>
              </a:rPr>
              <a:t>사례 → 우리 지역의 제안</a:t>
            </a:r>
          </a:p>
        </p:txBody>
      </p:sp>
      <p:sp>
        <p:nvSpPr>
          <p:cNvPr id="8" name="adaptation-body"/>
          <p:cNvSpPr txBox="1"/>
          <p:nvPr/>
        </p:nvSpPr>
        <p:spPr>
          <a:xfrm>
            <a:off x="4552950" y="6638925"/>
            <a:ext cx="9163050" cy="1181100"/>
          </a:xfrm>
          <a:prstGeom prst="rect">
            <a:avLst/>
          </a:prstGeom>
          <a:noFill/>
        </p:spPr>
        <p:txBody>
          <a:bodyPr wrap="none" lIns="57150" rIns="57150" tIns="38100" bIns="38100" anchor="t">
            <a:noAutofit/>
          </a:bodyPr>
          <a:lstStyle/>
          <a:p>
            <a:pPr eaLnBrk="0">
              <a:lnSpc>
                <a:spcPts val="1968"/>
              </a:lnSpc>
              <a:spcBef>
                <a:spcPts val="0"/>
              </a:spcBef>
              <a:spcAft>
                <a:spcPts val="0"/>
              </a:spcAft>
            </a:pPr>
            <a:r>
              <a:rPr sz="1575" b="0">
                <a:solidFill>
                  <a:srgbClr val="1D2227"/>
                </a:solidFill>
                <a:latin typeface="Noto Sans KR"/>
              </a:rPr>
              <a:t>성동구를 방문한 외지인 관광객이 지정된 지역 내 상점에서 일정 금액 이상 소비 시, 소비액의 일부를 성동구</a:t>
            </a:r>
          </a:p>
          <a:p>
            <a:pPr eaLnBrk="0">
              <a:lnSpc>
                <a:spcPts val="1968"/>
              </a:lnSpc>
              <a:spcBef>
                <a:spcPts val="0"/>
              </a:spcBef>
              <a:spcAft>
                <a:spcPts val="0"/>
              </a:spcAft>
            </a:pPr>
            <a:r>
              <a:rPr sz="1575" b="0">
                <a:solidFill>
                  <a:srgbClr val="1D2227"/>
                </a:solidFill>
                <a:latin typeface="Noto Sans KR"/>
              </a:rPr>
              <a:t>지역상품권으로 즉시 또는 사후 환급하여 해당 상품권이 다시 성동구 내에서 사용되도록 선순환 구조를 구축함.</a:t>
            </a:r>
          </a:p>
        </p:txBody>
      </p:sp>
      <p:sp>
        <p:nvSpPr>
          <p:cNvPr id="9" name="selection-source"/>
          <p:cNvSpPr txBox="1"/>
          <p:nvPr/>
        </p:nvSpPr>
        <p:spPr>
          <a:xfrm>
            <a:off x="1009650" y="8077200"/>
            <a:ext cx="13220700" cy="361950"/>
          </a:xfrm>
          <a:prstGeom prst="rect">
            <a:avLst/>
          </a:prstGeom>
          <a:noFill/>
        </p:spPr>
        <p:txBody>
          <a:bodyPr wrap="none" lIns="57150" rIns="57150" tIns="38100" bIns="38100" anchor="t">
            <a:noAutofit/>
          </a:bodyPr>
          <a:lstStyle/>
          <a:p>
            <a:pPr eaLnBrk="0">
              <a:lnSpc>
                <a:spcPts val="1687"/>
              </a:lnSpc>
              <a:spcBef>
                <a:spcPts val="0"/>
              </a:spcBef>
              <a:spcAft>
                <a:spcPts val="0"/>
              </a:spcAft>
            </a:pPr>
            <a:r>
              <a:rPr sz="1350" b="0">
                <a:solidFill>
                  <a:srgbClr val="004EA2"/>
                </a:solidFill>
                <a:latin typeface="Noto Sans KR"/>
                <a:hlinkClick r:id="rId2"/>
              </a:rPr>
              <a:t>문서 기반 함수 연결 · 강진 반값여행 지역경제 효과 소개</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2026-09-04T04:44:41.2670000Z</dcterms:created>
  <dcterms:modified xsi:type="dcterms:W3CDTF">2026-09-04T04:44:41.2670000Z</dcterms:modified>
</coreProperties>
</file>