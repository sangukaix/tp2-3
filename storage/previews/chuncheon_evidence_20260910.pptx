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charts/chart3.xml" ContentType="application/vnd.openxmlformats-officedocument.drawingml.chart+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0c9acad3462d47f4" Type="http://schemas.openxmlformats.org/package/2006/relationships/metadata/core-properties" Target="docProps/core.xml"/><Relationship Id="R45c0ced956484f6e" Type="http://schemas.openxmlformats.org/officeDocument/2006/relationships/officeDocument" Target="ppt/presentation.xml"/><Relationship Id="Ra16f1779ee944664"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def75127518841e9"/>
  </p:sldMasterIdLst>
  <p:notesMasterIdLst>
    <p:notesMasterId xmlns:r="http://schemas.openxmlformats.org/officeDocument/2006/relationships" r:id="R39a2950bce3543d9"/>
  </p:notesMasterIdLst>
  <p:sldIdLst>
    <p:sldId xmlns:r="http://schemas.openxmlformats.org/officeDocument/2006/relationships" id="256" r:id="R886a7c7854c24ea4"/>
    <p:sldId xmlns:r="http://schemas.openxmlformats.org/officeDocument/2006/relationships" id="257" r:id="Rf0fd60d93fe24e2b"/>
    <p:sldId xmlns:r="http://schemas.openxmlformats.org/officeDocument/2006/relationships" id="258" r:id="Rb96b5134fc1b4629"/>
    <p:sldId xmlns:r="http://schemas.openxmlformats.org/officeDocument/2006/relationships" id="259" r:id="R5b6702ccd7664af1"/>
    <p:sldId xmlns:r="http://schemas.openxmlformats.org/officeDocument/2006/relationships" id="261" r:id="Rbf371966fa964fc8"/>
    <p:sldId xmlns:ns0="http://schemas.openxmlformats.org/officeDocument/2006/relationships" id="272" ns0:id="rId21"/>
    <p:sldId xmlns:r="http://schemas.openxmlformats.org/officeDocument/2006/relationships" id="262" r:id="R4c9d0e3030fa4c5f"/>
    <p:sldId xmlns:r="http://schemas.openxmlformats.org/officeDocument/2006/relationships" id="263" r:id="Rbbe47957bc6641c0"/>
    <p:sldId xmlns:ns0="http://schemas.openxmlformats.org/officeDocument/2006/relationships" id="271" ns0:id="rId17"/>
    <p:sldId xmlns:r="http://schemas.openxmlformats.org/officeDocument/2006/relationships" id="264" r:id="R72f63d3229d64861"/>
    <p:sldId xmlns:r="http://schemas.openxmlformats.org/officeDocument/2006/relationships" id="266" r:id="R029df0519ade4c8b"/>
    <p:sldId xmlns:ns0="http://schemas.openxmlformats.org/officeDocument/2006/relationships" id="268" ns0:id="rId19"/>
    <p:sldId xmlns:ns0="http://schemas.openxmlformats.org/officeDocument/2006/relationships" id="269" ns0:id="rId20"/>
    <p:sldId xmlns:r="http://schemas.openxmlformats.org/officeDocument/2006/relationships" id="267" r:id="R3ccf286ad0374944"/>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xml version='1.0' encoding='UTF-8' standalone='yes'?>
<Relationships xmlns="http://schemas.openxmlformats.org/package/2006/relationships"><Relationship Id="R029df0519ade4c8b" Type="http://schemas.openxmlformats.org/officeDocument/2006/relationships/slide" Target="slides/slide11.xml"/><Relationship Id="R08a84642cb64493b" Type="http://schemas.openxmlformats.org/officeDocument/2006/relationships/tableStyles" Target="tableStyles.xml"/><Relationship Id="R0fdc956208c94083" Type="http://schemas.openxmlformats.org/officeDocument/2006/relationships/viewProps" Target="viewProps.xml"/><Relationship Id="R39a2950bce3543d9" Type="http://schemas.openxmlformats.org/officeDocument/2006/relationships/notesMaster" Target="notesMasters/notesMaster1.xml"/><Relationship Id="R3ccf286ad0374944" Type="http://schemas.openxmlformats.org/officeDocument/2006/relationships/slide" Target="slides/slide12.xml"/><Relationship Id="R4c9d0e3030fa4c5f" Type="http://schemas.openxmlformats.org/officeDocument/2006/relationships/slide" Target="slides/slide7.xml"/><Relationship Id="R5b6702ccd7664af1" Type="http://schemas.openxmlformats.org/officeDocument/2006/relationships/slide" Target="slides/slide4.xml"/><Relationship Id="R618d7671ebe14b00" Type="http://schemas.openxmlformats.org/officeDocument/2006/relationships/theme" Target="theme/theme1.xml"/><Relationship Id="R667c03bfc37b4314" Type="http://schemas.openxmlformats.org/officeDocument/2006/relationships/presProps" Target="presProps.xml"/><Relationship Id="R72f63d3229d64861" Type="http://schemas.openxmlformats.org/officeDocument/2006/relationships/slide" Target="slides/slide9.xml"/><Relationship Id="R886a7c7854c24ea4" Type="http://schemas.openxmlformats.org/officeDocument/2006/relationships/slide" Target="slides/slide1.xml"/><Relationship Id="Rb96b5134fc1b4629" Type="http://schemas.openxmlformats.org/officeDocument/2006/relationships/slide" Target="slides/slide3.xml"/><Relationship Id="Rbbe47957bc6641c0" Type="http://schemas.openxmlformats.org/officeDocument/2006/relationships/slide" Target="slides/slide8.xml"/><Relationship Id="Rbf371966fa964fc8" Type="http://schemas.openxmlformats.org/officeDocument/2006/relationships/slide" Target="slides/slide6.xml"/><Relationship Id="Rdef75127518841e9" Type="http://schemas.openxmlformats.org/officeDocument/2006/relationships/slideMaster" Target="slideMasters/slideMaster1.xml"/><Relationship Id="Rf0fd60d93fe24e2b" Type="http://schemas.openxmlformats.org/officeDocument/2006/relationships/slide" Target="slides/slide2.xml"/><Relationship Id="rId17" Type="http://schemas.openxmlformats.org/officeDocument/2006/relationships/slide" Target="slides/slide10.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8100">
              <a:solidFill>
                <a:srgbClr val="004EA2"/>
              </a:solidFill>
            </a:ln>
          </c:spPr>
          <c:marker>
            <c:symbol val="circle"/>
            <c:size val="7"/>
            <c:spPr>
              <a:solidFill>
                <a:srgbClr val="004EA2"/>
              </a:solidFill>
            </c:spPr>
          </c:marker>
          <c:dLbls>
            <c:numFmt formatCode="0&quot;만&quot;" sourceLinked="0"/>
            <c:txPr>
              <a:bodyPr/>
              <a:lstStyle/>
              <a:p>
                <a:pPr>
                  <a:defRPr sz="1200" b="1">
                    <a:solidFill>
                      <a:srgbClr val="004EA2"/>
                    </a:solidFill>
                    <a:latin typeface="맑은 고딕"/>
                  </a:defRPr>
                </a:pPr>
              </a:p>
            </c:txPr>
            <c:dLblPos val="b"/>
            <c:showLegendKey val="0"/>
            <c:showVal val="1"/>
            <c:showCatName val="0"/>
            <c:showSerName val="0"/>
            <c:showPercent val="0"/>
            <c:showBubbleSize val="0"/>
            <c:showLeaderLines val="1"/>
          </c:dLbls>
          <c:cat>
            <c:strRef>
              <c:f>Sheet1!$A$2:$A$4</c:f>
              <c:strCache>
                <c:ptCount val="3"/>
                <c:pt idx="0">
                  <c:v>26.09</c:v>
                </c:pt>
                <c:pt idx="1">
                  <c:v>26.10</c:v>
                </c:pt>
                <c:pt idx="2">
                  <c:v>26.11</c:v>
                </c:pt>
              </c:strCache>
            </c:strRef>
          </c:cat>
          <c:val>
            <c:numRef>
              <c:f>Sheet1!$B$2:$B$4</c:f>
              <c:numCache>
                <c:formatCode>General</c:formatCode>
                <c:ptCount val="3"/>
                <c:pt idx="0">
                  <c:v>194.8014</c:v>
                </c:pt>
                <c:pt idx="1">
                  <c:v>227.828</c:v>
                </c:pt>
                <c:pt idx="2">
                  <c:v>201.8187</c:v>
                </c:pt>
              </c:numCache>
            </c:numRef>
          </c:val>
          <c:smooth val="0"/>
        </c:ser>
        <c:ser>
          <c:idx val="1"/>
          <c:order val="1"/>
          <c:tx>
            <c:strRef>
              <c:f>Sheet1!$C$1</c:f>
              <c:strCache>
                <c:ptCount val="1"/>
                <c:pt idx="0">
                  <c:v>목표 KPI</c:v>
                </c:pt>
              </c:strCache>
            </c:strRef>
          </c:tx>
          <c:spPr>
            <a:ln w="38100">
              <a:solidFill>
                <a:srgbClr val="FF6B00"/>
              </a:solidFill>
            </a:ln>
          </c:spPr>
          <c:marker>
            <c:symbol val="circle"/>
            <c:size val="7"/>
            <c:spPr>
              <a:solidFill>
                <a:srgbClr val="FF6B00"/>
              </a:solidFill>
            </c:spPr>
          </c:marker>
          <c:dLbls>
            <c:numFmt formatCode="0&quot;만&quot;" sourceLinked="0"/>
            <c:txPr>
              <a:bodyPr/>
              <a:lstStyle/>
              <a:p>
                <a:pPr>
                  <a:defRPr sz="1200" b="1">
                    <a:solidFill>
                      <a:srgbClr val="FF6B00"/>
                    </a:solidFill>
                    <a:latin typeface="맑은 고딕"/>
                  </a:defRPr>
                </a:pPr>
              </a:p>
            </c:txPr>
            <c:dLblPos val="t"/>
            <c:showLegendKey val="0"/>
            <c:showVal val="1"/>
            <c:showCatName val="0"/>
            <c:showSerName val="0"/>
            <c:showPercent val="0"/>
            <c:showBubbleSize val="0"/>
            <c:showLeaderLines val="1"/>
          </c:dLbls>
          <c:cat>
            <c:strRef>
              <c:f>Sheet1!$A$2:$A$4</c:f>
              <c:strCache>
                <c:ptCount val="3"/>
                <c:pt idx="0">
                  <c:v>26.09</c:v>
                </c:pt>
                <c:pt idx="1">
                  <c:v>26.10</c:v>
                </c:pt>
                <c:pt idx="2">
                  <c:v>26.11</c:v>
                </c:pt>
              </c:strCache>
            </c:strRef>
          </c:cat>
          <c:val>
            <c:numRef>
              <c:f>Sheet1!$C$2:$C$4</c:f>
              <c:numCache>
                <c:formatCode>General</c:formatCode>
                <c:ptCount val="3"/>
                <c:pt idx="0">
                  <c:v>198.04809</c:v>
                </c:pt>
                <c:pt idx="1">
                  <c:v>235.42226667</c:v>
                </c:pt>
                <c:pt idx="2">
                  <c:v>211.909635</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맑은 고딕"/>
              </a:defRPr>
            </a:pPr>
          </a:p>
        </c:txPr>
        <c:crossAx val="2140495176"/>
        <c:crosses val="autoZero"/>
        <c:auto val="1"/>
        <c:lblAlgn val="ctr"/>
        <c:lblOffset val="100"/>
        <c:noMultiLvlLbl val="0"/>
      </c:catAx>
      <c:valAx>
        <c:axId val="2140495176"/>
        <c:scaling>
          <c:max val="260.0"/>
          <c:min val="18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맑은 고딕"/>
              </a:defRPr>
            </a:pPr>
          </a:p>
        </c:txPr>
        <c:crossAx val="2118791784"/>
        <c:crosses val="autoZero"/>
        <c:majorUnit val="20.0"/>
      </c:valAx>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8100">
              <a:solidFill>
                <a:srgbClr val="004EA2"/>
              </a:solidFill>
            </a:ln>
          </c:spPr>
          <c:marker>
            <c:symbol val="circle"/>
            <c:size val="7"/>
            <c:spPr>
              <a:solidFill>
                <a:srgbClr val="004EA2"/>
              </a:solidFill>
            </c:spPr>
          </c:marker>
          <c:dLbls>
            <c:numFmt formatCode="0&quot;억&quot;" sourceLinked="0"/>
            <c:txPr>
              <a:bodyPr/>
              <a:lstStyle/>
              <a:p>
                <a:pPr>
                  <a:defRPr sz="1200" b="1">
                    <a:solidFill>
                      <a:srgbClr val="004EA2"/>
                    </a:solidFill>
                    <a:latin typeface="맑은 고딕"/>
                  </a:defRPr>
                </a:pPr>
              </a:p>
            </c:txPr>
            <c:dLblPos val="b"/>
            <c:showLegendKey val="0"/>
            <c:showVal val="1"/>
            <c:showCatName val="0"/>
            <c:showSerName val="0"/>
            <c:showPercent val="0"/>
            <c:showBubbleSize val="0"/>
            <c:showLeaderLines val="1"/>
          </c:dLbls>
          <c:cat>
            <c:strRef>
              <c:f>Sheet1!$A$2:$A$4</c:f>
              <c:strCache>
                <c:ptCount val="3"/>
                <c:pt idx="0">
                  <c:v>26.09</c:v>
                </c:pt>
                <c:pt idx="1">
                  <c:v>26.10</c:v>
                </c:pt>
                <c:pt idx="2">
                  <c:v>26.11</c:v>
                </c:pt>
              </c:strCache>
            </c:strRef>
          </c:cat>
          <c:val>
            <c:numRef>
              <c:f>Sheet1!$B$2:$B$4</c:f>
              <c:numCache>
                <c:formatCode>General</c:formatCode>
                <c:ptCount val="3"/>
                <c:pt idx="0">
                  <c:v>448.54616</c:v>
                </c:pt>
                <c:pt idx="1">
                  <c:v>595.049</c:v>
                </c:pt>
                <c:pt idx="2">
                  <c:v>503.30837</c:v>
                </c:pt>
              </c:numCache>
            </c:numRef>
          </c:val>
          <c:smooth val="0"/>
        </c:ser>
        <c:ser>
          <c:idx val="1"/>
          <c:order val="1"/>
          <c:tx>
            <c:strRef>
              <c:f>Sheet1!$C$1</c:f>
              <c:strCache>
                <c:ptCount val="1"/>
                <c:pt idx="0">
                  <c:v>목표 KPI</c:v>
                </c:pt>
              </c:strCache>
            </c:strRef>
          </c:tx>
          <c:spPr>
            <a:ln w="38100">
              <a:solidFill>
                <a:srgbClr val="FF6B00"/>
              </a:solidFill>
            </a:ln>
          </c:spPr>
          <c:marker>
            <c:symbol val="circle"/>
            <c:size val="7"/>
            <c:spPr>
              <a:solidFill>
                <a:srgbClr val="FF6B00"/>
              </a:solidFill>
            </c:spPr>
          </c:marker>
          <c:dLbls>
            <c:numFmt formatCode="0&quot;억&quot;" sourceLinked="0"/>
            <c:txPr>
              <a:bodyPr/>
              <a:lstStyle/>
              <a:p>
                <a:pPr>
                  <a:defRPr sz="1200" b="1">
                    <a:solidFill>
                      <a:srgbClr val="FF6B00"/>
                    </a:solidFill>
                    <a:latin typeface="맑은 고딕"/>
                  </a:defRPr>
                </a:pPr>
              </a:p>
            </c:txPr>
            <c:dLblPos val="t"/>
            <c:showLegendKey val="0"/>
            <c:showVal val="1"/>
            <c:showCatName val="0"/>
            <c:showSerName val="0"/>
            <c:showPercent val="0"/>
            <c:showBubbleSize val="0"/>
            <c:showLeaderLines val="1"/>
          </c:dLbls>
          <c:cat>
            <c:strRef>
              <c:f>Sheet1!$A$2:$A$4</c:f>
              <c:strCache>
                <c:ptCount val="3"/>
                <c:pt idx="0">
                  <c:v>26.09</c:v>
                </c:pt>
                <c:pt idx="1">
                  <c:v>26.10</c:v>
                </c:pt>
                <c:pt idx="2">
                  <c:v>26.11</c:v>
                </c:pt>
              </c:strCache>
            </c:strRef>
          </c:cat>
          <c:val>
            <c:numRef>
              <c:f>Sheet1!$C$2:$C$4</c:f>
              <c:numCache>
                <c:formatCode>General</c:formatCode>
                <c:ptCount val="3"/>
                <c:pt idx="0">
                  <c:v>456.02192933</c:v>
                </c:pt>
                <c:pt idx="1">
                  <c:v>614.88396667</c:v>
                </c:pt>
                <c:pt idx="2">
                  <c:v>528.4737885</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맑은 고딕"/>
              </a:defRPr>
            </a:pPr>
          </a:p>
        </c:txPr>
        <c:crossAx val="2140495176"/>
        <c:crosses val="autoZero"/>
        <c:auto val="1"/>
        <c:lblAlgn val="ctr"/>
        <c:lblOffset val="100"/>
        <c:noMultiLvlLbl val="0"/>
      </c:catAx>
      <c:valAx>
        <c:axId val="2140495176"/>
        <c:scaling>
          <c:max val="700.0"/>
          <c:min val="35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맑은 고딕"/>
              </a:defRPr>
            </a:pPr>
          </a:p>
        </c:txPr>
        <c:crossAx val="2118791784"/>
        <c:crosses val="autoZero"/>
        <c:majorUnit val="50.0"/>
      </c:valAx>
    </c:plotArea>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c221e18921444c36"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24ae6f84cfdd4244" Type="http://schemas.openxmlformats.org/officeDocument/2006/relationships/notesMaster" Target="../notesMasters/notesMaster1.xml"/><Relationship Id="R88f0191c0919446c"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441d388ffb344ce3" Type="http://schemas.openxmlformats.org/officeDocument/2006/relationships/slide" Target="../slides/slide2.xml"/><Relationship Id="Ra78cbacf853a4d2c"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3ac37f364ddb4b5a" Type="http://schemas.openxmlformats.org/officeDocument/2006/relationships/notesMaster" Target="../notesMasters/notesMaster1.xml"/><Relationship Id="R533025fa502d4be3"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4df52324b55d4359" Type="http://schemas.openxmlformats.org/officeDocument/2006/relationships/slide" Target="../slides/slide4.xml"/><Relationship Id="Rc24a4727af3340de"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0f673709257246ec" Type="http://schemas.openxmlformats.org/officeDocument/2006/relationships/slide" Target="../slides/slide6.xml"/><Relationship Id="R8a8db54fee034818"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24a20545e0fc4e86" Type="http://schemas.openxmlformats.org/officeDocument/2006/relationships/slide" Target="../slides/slide7.xml"/><Relationship Id="Rfa2c23df5fe342e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2.xml.rels><?xml version='1.0' encoding='UTF-8' standalone='yes'?>
<Relationships xmlns="http://schemas.openxmlformats.org/package/2006/relationships"><Relationship Id="R990bca06bbea4ea5" Type="http://schemas.openxmlformats.org/officeDocument/2006/relationships/slide" Target="../slides/slide12.xml"/><Relationship Id="Rd1e7cf7dd1634167"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dataset:51110:1 | 한국관광 데이터랩 · 강원특별자치도 춘천시 순 방문자 수 및 숙박 비율 (이동통신 기반 외지인) | https://datalab.visitkorea.or.kr/</a:t>
            </a:r>
          </a:p>
          <a:p xmlns:a="http://schemas.openxmlformats.org/drawingml/2006/main">
            <a:r>
              <a:t>dataset:51110:2 | 한국관광 데이터랩 · 강원특별자치도 춘천시 월간 순 방문자 수 (이동통신 기반 외지인) | https://datalab.visitkorea.or.kr/</a:t>
            </a:r>
          </a:p>
          <a:p xmlns:a="http://schemas.openxmlformats.org/drawingml/2006/main">
            <a:r>
              <a:t>dataset:51110:3 | 한국관광 데이터랩 · 강원특별자치도 춘천시 관광소비 추이_외지인 | https://datalab.visitkorea.or.kr/</a:t>
            </a:r>
          </a:p>
          <a:p xmlns:a="http://schemas.openxmlformats.org/drawingml/2006/main">
            <a:r>
              <a:t>dataset:51110:4 | 한국관광 데이터랩 · 강원특별자치도 춘천시 숙박방문자 비율 추이 (이동통신 기반 외지인) | https://datalab.visitkorea.or.kr/</a:t>
            </a:r>
          </a:p>
          <a:p xmlns:a="http://schemas.openxmlformats.org/drawingml/2006/main">
            <a:r>
              <a:t>dataset:51110:5 | 한국관광 데이터랩 · 강원특별자치도 춘천시 평균 숙박일 (이동통신 기반 외지인) | https://datalab.visitkorea.or.kr/</a:t>
            </a:r>
          </a:p>
          <a:p xmlns:a="http://schemas.openxmlformats.org/drawingml/2006/main">
            <a:r>
              <a:t>dataset:51110:6 | 한국관광 데이터랩 · 강원특별자치도 춘천시 내비게이션 목적지 유형별 검색량 | https://datalab.visitkorea.or.kr/</a:t>
            </a:r>
          </a:p>
          <a:p xmlns:a="http://schemas.openxmlformats.org/drawingml/2006/main">
            <a:r>
              <a:t>dataset:51110:7 | 한국관광 데이터랩 · 강원특별자치도 춘천시 SNS 언급량 | https://datalab.visitkorea.or.kr/</a:t>
            </a:r>
          </a:p>
          <a:p xmlns:a="http://schemas.openxmlformats.org/drawingml/2006/main">
            <a:r>
              <a:t>datalab:2343c3bc93bf:81205be51a1a | 한국관광 데이터랩 공식 다운로드 · 강원특별자치도_춘천시/숙박_체류시간/2026_01_06.zip | https://datalab.visitkorea.or.kr/</a:t>
            </a:r>
          </a:p>
          <a:p xmlns:a="http://schemas.openxmlformats.org/drawingml/2006/main">
            <a:r>
              <a:t>datalab:73a88f6fd74b:dc735676b7f4 | 한국관광 데이터랩 공식 다운로드 · 강원특별자치도_춘천시/숙박_체류시간/2025_01_12.zip | https://datalab.visitkorea.or.kr/</a:t>
            </a:r>
          </a:p>
          <a:p xmlns:a="http://schemas.openxmlformats.org/drawingml/2006/main">
            <a:r>
              <a:t>datalab:77438b77a948:7f25647aea7e | 한국관광 데이터랩 공식 다운로드 · 강원특별자치도_춘천시/관광소비/2026_01_06.zip | https://datalab.visitkorea.or.kr/</a:t>
            </a:r>
          </a:p>
          <a:p xmlns:a="http://schemas.openxmlformats.org/drawingml/2006/main">
            <a:r>
              <a:t>datalab:9642314b6e5e:34e60387985e | 한국관광 데이터랩 공식 다운로드 · 강원특별자치도_춘천시/관광소비/2025_01_12.zip | https://datalab.visitkorea.or.kr/</a:t>
            </a:r>
          </a:p>
          <a:p xmlns:a="http://schemas.openxmlformats.org/drawingml/2006/main">
            <a:r>
              <a:t>datalab:ae4e45e46741:2689769fc6ce | 한국관광 데이터랩 공식 다운로드 · 강원특별자치도_춘천시/방문자/2026_01_06.zip | https://datalab.visitkorea.or.kr/</a:t>
            </a:r>
          </a:p>
          <a:p xmlns:a="http://schemas.openxmlformats.org/drawingml/2006/main">
            <a:r>
              <a:t>datalab:e1ae014de0aa:877807c4ab51 | 한국관광 데이터랩 공식 다운로드 · 강원특별자치도_춘천시/방문자/2025_01_12.zip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regional-status:4a7789e925d5:55e3be9aa0cd | 한국관광 데이터랩 지역별 관광 현황 · 강원특별자치도 춘천시 · 유입유출 | https://datalab.visitkorea.or.kr/</a:t>
            </a:r>
          </a:p>
          <a:p xmlns:a="http://schemas.openxmlformats.org/drawingml/2006/main">
            <a:r>
              <a:t>regional-status:61a9d2d6b099:8676c55ce1a7 | 한국관광 데이터랩 지역별 관광 현황 · 강원특별자치도 춘천시 · 인기관광지 | https://datalab.visitkorea.or.kr/</a:t>
            </a:r>
          </a:p>
          <a:p xmlns:a="http://schemas.openxmlformats.org/drawingml/2006/main">
            <a:r>
              <a:t>regional-status:b3fe66c3af97:a10ce860bf9f | 한국관광 데이터랩 지역별 관광 현황 · 강원특별자치도 춘천시 · 지역집중률 | https://datalab.visitkorea.or.kr/</a:t>
            </a:r>
          </a:p>
          <a:p xmlns:a="http://schemas.openxmlformats.org/drawingml/2006/main">
            <a:r>
              <a:t>ml:51110:regional-demand-v3.1:202606 | 지역 관광수요 ML 전망 · 공식 관측값 아님 | URL 미기록</a:t>
            </a:r>
          </a:p>
          <a:p xmlns:a="http://schemas.openxmlformats.org/drawingml/2006/main">
            <a:r>
              <a:t>tour-api:2891703 | 가보자순대국 | https://apis.data.go.kr/B551011/KorService2</a:t>
            </a:r>
          </a:p>
          <a:p xmlns:a="http://schemas.openxmlformats.org/drawingml/2006/main">
            <a:r>
              <a:t>tour-api:3083085 | 가평1등수상레저 | https://apis.data.go.kr/B551011/KorService2</a:t>
            </a:r>
          </a:p>
          <a:p xmlns:a="http://schemas.openxmlformats.org/drawingml/2006/main">
            <a:r>
              <a:t>tour-api:128778 | 강원 경찰충혼탑 | https://apis.data.go.kr/B551011/KorService2</a:t>
            </a:r>
          </a:p>
          <a:p xmlns:a="http://schemas.openxmlformats.org/drawingml/2006/main">
            <a:r>
              <a:t>tour-api:129840 | 강원대학교중앙박물관 | https://apis.data.go.kr/B551011/KorService2</a:t>
            </a:r>
          </a:p>
          <a:p xmlns:a="http://schemas.openxmlformats.org/drawingml/2006/main">
            <a:r>
              <a:t>tour-api:2610850 | 강원숲체험장 | https://apis.data.go.kr/B551011/KorService2</a:t>
            </a:r>
          </a:p>
          <a:p xmlns:a="http://schemas.openxmlformats.org/drawingml/2006/main">
            <a:r>
              <a:t>tour-api:131456 | 강원특별자치도청소년수련원 | https://apis.data.go.kr/B551011/KorService2</a:t>
            </a:r>
          </a:p>
          <a:p xmlns:a="http://schemas.openxmlformats.org/drawingml/2006/main">
            <a:r>
              <a:t>tour-api:2706334 | 강촌 출렁다리공원 | https://apis.data.go.kr/B551011/KorService2</a:t>
            </a:r>
          </a:p>
          <a:p xmlns:a="http://schemas.openxmlformats.org/drawingml/2006/main">
            <a:r>
              <a:t>tour-api:1947118 | 강촌레일파크(김유정레일바이크) | https://apis.data.go.kr/B551011/KorService2</a:t>
            </a:r>
          </a:p>
          <a:p xmlns:a="http://schemas.openxmlformats.org/drawingml/2006/main">
            <a:r>
              <a:t>tour-api:2759582 | 강촌버즈글램핑 | https://apis.data.go.kr/B551011/KorService2</a:t>
            </a:r>
          </a:p>
          <a:p xmlns:a="http://schemas.openxmlformats.org/drawingml/2006/main">
            <a:r>
              <a:t>tour-api:125605 | 강촌유원지 | https://apis.data.go.kr/B551011/KorService2</a:t>
            </a:r>
          </a:p>
          <a:p xmlns:a="http://schemas.openxmlformats.org/drawingml/2006/main">
            <a:r>
              <a:t>tour-api:2741528 | 강촌하늘아래글램핑 | https://apis.data.go.kr/B551011/KorService2</a:t>
            </a:r>
          </a:p>
          <a:p xmlns:a="http://schemas.openxmlformats.org/drawingml/2006/main">
            <a:r>
              <a:t>tour-api:391742 | 경강막국수 | https://apis.data.go.kr/B551011/KorService2</a:t>
            </a:r>
          </a:p>
          <a:p xmlns:a="http://schemas.openxmlformats.org/drawingml/2006/main">
            <a:r>
              <a:t>tour-api:2558052 | 고목 | https://apis.data.go.kr/B551011/KorService2</a:t>
            </a:r>
          </a:p>
          <a:p xmlns:a="http://schemas.openxmlformats.org/drawingml/2006/main">
            <a:r>
              <a:t>tour-api:129004 | 공지천 조각공원 | https://apis.data.go.kr/B551011/KorService2</a:t>
            </a:r>
          </a:p>
          <a:p xmlns:a="http://schemas.openxmlformats.org/drawingml/2006/main">
            <a:r>
              <a:t>tour-api:2792017 | 구곡폭포 국민여가 캠핑장 | https://apis.data.go.kr/B551011/KorService2</a:t>
            </a:r>
          </a:p>
          <a:p xmlns:a="http://schemas.openxmlformats.org/drawingml/2006/main">
            <a:r>
              <a:t>tour-api:2714558 | 구봉산 | https://apis.data.go.kr/B551011/KorService2</a:t>
            </a:r>
          </a:p>
          <a:p xmlns:a="http://schemas.openxmlformats.org/drawingml/2006/main">
            <a:r>
              <a:t>tour-api:407225 | 국립 용화산자연휴양림 | https://apis.data.go.kr/B551011/KorService2</a:t>
            </a:r>
          </a:p>
          <a:p xmlns:a="http://schemas.openxmlformats.org/drawingml/2006/main">
            <a:r>
              <a:t>tour-api:2710587 | 국립춘천숲체원 | https://apis.data.go.kr/B551011/KorService2</a:t>
            </a:r>
          </a:p>
          <a:p xmlns:a="http://schemas.openxmlformats.org/drawingml/2006/main">
            <a:r>
              <a:t>tour-api:2774528 | 군자숯불닭갈비 | https://apis.data.go.kr/B551011/KorService2</a:t>
            </a:r>
          </a:p>
          <a:p xmlns:a="http://schemas.openxmlformats.org/drawingml/2006/main">
            <a:r>
              <a:t>tour-api:2710596 | 근화동396청년창업공간 | https://apis.data.go.kr/B551011/KorService2</a:t>
            </a:r>
          </a:p>
          <a:p xmlns:a="http://schemas.openxmlformats.org/drawingml/2006/main">
            <a:r>
              <a:t>reference:kto:2026:local-airport | 요즘, 한국관광 2호 - 지방공항 연계 지역관광 활성화 방안 | PDF 44쪽, PDF 43쪽, PDF 38쪽, PDF 40쪽, PDF 41쪽, PDF 36쪽, PDF 41쪽, PDF 44쪽, PDF 43쪽, PDF 43쪽 | https://datalab.visitkorea.or.kr/site/portal/ex/bbs/View.do?bcIdx=311068&amp;cbIdx=1135&amp;pageIndex=1</a:t>
            </a:r>
          </a:p>
          <a:p xmlns:a="http://schemas.openxmlformats.org/drawingml/2006/main">
            <a:r>
              <a:t>case:jeonju_night_budget_2026 | 전주시 2026년도 관광산업과 세출예산 사업명세서 | https://jeonju.go.kr/resource/www/images/download/budget/2026/2026_31_2.pdf</a:t>
            </a:r>
          </a:p>
          <a:p xmlns:a="http://schemas.openxmlformats.org/drawingml/2006/main">
            <a:r>
              <a:t>case:291a33370ec9b1 | 섬에서의 특별한 경험, ‘인천 섬 도도하게 살아보기’로 누린다 | https://www.incheon.go.kr/mayor_8/MA040101/view?curPage=236&amp;repSeq=DOM_0000000010488055</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dataset:51110:1 | 한국관광 데이터랩 · 강원특별자치도 춘천시 순 방문자 수 및 숙박 비율 (이동통신 기반 외지인) | https://datalab.visitkorea.or.kr/</a:t>
            </a:r>
          </a:p>
          <a:p xmlns:a="http://schemas.openxmlformats.org/drawingml/2006/main">
            <a:r>
              <a:t>dataset:51110:2 | 한국관광 데이터랩 · 강원특별자치도 춘천시 월간 순 방문자 수 (이동통신 기반 외지인) | https://datalab.visitkorea.or.kr/</a:t>
            </a:r>
          </a:p>
          <a:p xmlns:a="http://schemas.openxmlformats.org/drawingml/2006/main">
            <a:r>
              <a:t>dataset:51110:3 | 한국관광 데이터랩 · 강원특별자치도 춘천시 관광소비 추이_외지인 | https://datalab.visitkorea.or.kr/</a:t>
            </a:r>
          </a:p>
          <a:p xmlns:a="http://schemas.openxmlformats.org/drawingml/2006/main">
            <a:r>
              <a:t>dataset:51110:4 | 한국관광 데이터랩 · 강원특별자치도 춘천시 숙박방문자 비율 추이 (이동통신 기반 외지인) | https://datalab.visitkorea.or.kr/</a:t>
            </a:r>
          </a:p>
          <a:p xmlns:a="http://schemas.openxmlformats.org/drawingml/2006/main">
            <a:r>
              <a:t>dataset:51110:5 | 한국관광 데이터랩 · 강원특별자치도 춘천시 평균 숙박일 (이동통신 기반 외지인) | https://datalab.visitkorea.or.kr/</a:t>
            </a:r>
          </a:p>
          <a:p xmlns:a="http://schemas.openxmlformats.org/drawingml/2006/main">
            <a:r>
              <a:t>dataset:51110:6 | 한국관광 데이터랩 · 강원특별자치도 춘천시 내비게이션 목적지 유형별 검색량 | https://datalab.visitkorea.or.kr/</a:t>
            </a:r>
          </a:p>
          <a:p xmlns:a="http://schemas.openxmlformats.org/drawingml/2006/main">
            <a:r>
              <a:t>dataset:51110:7 | 한국관광 데이터랩 · 강원특별자치도 춘천시 SNS 언급량 | https://datalab.visitkorea.or.kr/</a:t>
            </a:r>
          </a:p>
          <a:p xmlns:a="http://schemas.openxmlformats.org/drawingml/2006/main">
            <a:r>
              <a:t>datalab:2343c3bc93bf:81205be51a1a | 한국관광 데이터랩 공식 다운로드 · 강원특별자치도_춘천시/숙박_체류시간/2026_01_06.zip | https://datalab.visitkorea.or.kr/</a:t>
            </a:r>
          </a:p>
          <a:p xmlns:a="http://schemas.openxmlformats.org/drawingml/2006/main">
            <a:r>
              <a:t>datalab:73a88f6fd74b:dc735676b7f4 | 한국관광 데이터랩 공식 다운로드 · 강원특별자치도_춘천시/숙박_체류시간/2025_01_12.zip | https://datalab.visitkorea.or.kr/</a:t>
            </a:r>
          </a:p>
          <a:p xmlns:a="http://schemas.openxmlformats.org/drawingml/2006/main">
            <a:r>
              <a:t>datalab:77438b77a948:7f25647aea7e | 한국관광 데이터랩 공식 다운로드 · 강원특별자치도_춘천시/관광소비/2026_01_06.zip | https://datalab.visitkorea.or.kr/</a:t>
            </a:r>
          </a:p>
          <a:p xmlns:a="http://schemas.openxmlformats.org/drawingml/2006/main">
            <a:r>
              <a:t>datalab:9642314b6e5e:34e60387985e | 한국관광 데이터랩 공식 다운로드 · 강원특별자치도_춘천시/관광소비/2025_01_12.zip | https://datalab.visitkorea.or.kr/</a:t>
            </a:r>
          </a:p>
          <a:p xmlns:a="http://schemas.openxmlformats.org/drawingml/2006/main">
            <a:r>
              <a:t>datalab:ae4e45e46741:2689769fc6ce | 한국관광 데이터랩 공식 다운로드 · 강원특별자치도_춘천시/방문자/2026_01_06.zip | https://datalab.visitkorea.or.kr/</a:t>
            </a:r>
          </a:p>
          <a:p xmlns:a="http://schemas.openxmlformats.org/drawingml/2006/main">
            <a:r>
              <a:t>datalab:e1ae014de0aa:877807c4ab51 | 한국관광 데이터랩 공식 다운로드 · 강원특별자치도_춘천시/방문자/2025_01_12.zip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regional-status:4a7789e925d5:55e3be9aa0cd | 한국관광 데이터랩 지역별 관광 현황 · 강원특별자치도 춘천시 · 유입유출 | https://datalab.visitkorea.or.kr/</a:t>
            </a:r>
          </a:p>
          <a:p xmlns:a="http://schemas.openxmlformats.org/drawingml/2006/main">
            <a:r>
              <a:t>regional-status:61a9d2d6b099:8676c55ce1a7 | 한국관광 데이터랩 지역별 관광 현황 · 강원특별자치도 춘천시 · 인기관광지 | https://datalab.visitkorea.or.kr/</a:t>
            </a:r>
          </a:p>
          <a:p xmlns:a="http://schemas.openxmlformats.org/drawingml/2006/main">
            <a:r>
              <a:t>regional-status:b3fe66c3af97:a10ce860bf9f | 한국관광 데이터랩 지역별 관광 현황 · 강원특별자치도 춘천시 · 지역집중률 | https://datalab.visitkorea.or.kr/</a:t>
            </a:r>
          </a:p>
          <a:p xmlns:a="http://schemas.openxmlformats.org/drawingml/2006/main">
            <a:r>
              <a:t>ml:51110:regional-demand-v3.1:202606 | 지역 관광수요 ML 전망 · 공식 관측값 아님 | URL 미기록</a:t>
            </a:r>
          </a:p>
          <a:p xmlns:a="http://schemas.openxmlformats.org/drawingml/2006/main">
            <a:r>
              <a:t>tour-api:2891703 | 가보자순대국 | https://apis.data.go.kr/B551011/KorService2</a:t>
            </a:r>
          </a:p>
          <a:p xmlns:a="http://schemas.openxmlformats.org/drawingml/2006/main">
            <a:r>
              <a:t>tour-api:3083085 | 가평1등수상레저 | https://apis.data.go.kr/B551011/KorService2</a:t>
            </a:r>
          </a:p>
          <a:p xmlns:a="http://schemas.openxmlformats.org/drawingml/2006/main">
            <a:r>
              <a:t>tour-api:128778 | 강원 경찰충혼탑 | https://apis.data.go.kr/B551011/KorService2</a:t>
            </a:r>
          </a:p>
          <a:p xmlns:a="http://schemas.openxmlformats.org/drawingml/2006/main">
            <a:r>
              <a:t>tour-api:129840 | 강원대학교중앙박물관 | https://apis.data.go.kr/B551011/KorService2</a:t>
            </a:r>
          </a:p>
          <a:p xmlns:a="http://schemas.openxmlformats.org/drawingml/2006/main">
            <a:r>
              <a:t>tour-api:2610850 | 강원숲체험장 | https://apis.data.go.kr/B551011/KorService2</a:t>
            </a:r>
          </a:p>
          <a:p xmlns:a="http://schemas.openxmlformats.org/drawingml/2006/main">
            <a:r>
              <a:t>tour-api:131456 | 강원특별자치도청소년수련원 | https://apis.data.go.kr/B551011/KorService2</a:t>
            </a:r>
          </a:p>
          <a:p xmlns:a="http://schemas.openxmlformats.org/drawingml/2006/main">
            <a:r>
              <a:t>tour-api:2706334 | 강촌 출렁다리공원 | https://apis.data.go.kr/B551011/KorService2</a:t>
            </a:r>
          </a:p>
          <a:p xmlns:a="http://schemas.openxmlformats.org/drawingml/2006/main">
            <a:r>
              <a:t>tour-api:1947118 | 강촌레일파크(김유정레일바이크) | https://apis.data.go.kr/B551011/KorService2</a:t>
            </a:r>
          </a:p>
          <a:p xmlns:a="http://schemas.openxmlformats.org/drawingml/2006/main">
            <a:r>
              <a:t>tour-api:2759582 | 강촌버즈글램핑 | https://apis.data.go.kr/B551011/KorService2</a:t>
            </a:r>
          </a:p>
          <a:p xmlns:a="http://schemas.openxmlformats.org/drawingml/2006/main">
            <a:r>
              <a:t>tour-api:125605 | 강촌유원지 | https://apis.data.go.kr/B551011/KorService2</a:t>
            </a:r>
          </a:p>
          <a:p xmlns:a="http://schemas.openxmlformats.org/drawingml/2006/main">
            <a:r>
              <a:t>tour-api:2741528 | 강촌하늘아래글램핑 | https://apis.data.go.kr/B551011/KorService2</a:t>
            </a:r>
          </a:p>
          <a:p xmlns:a="http://schemas.openxmlformats.org/drawingml/2006/main">
            <a:r>
              <a:t>tour-api:391742 | 경강막국수 | https://apis.data.go.kr/B551011/KorService2</a:t>
            </a:r>
          </a:p>
          <a:p xmlns:a="http://schemas.openxmlformats.org/drawingml/2006/main">
            <a:r>
              <a:t>tour-api:2558052 | 고목 | https://apis.data.go.kr/B551011/KorService2</a:t>
            </a:r>
          </a:p>
          <a:p xmlns:a="http://schemas.openxmlformats.org/drawingml/2006/main">
            <a:r>
              <a:t>tour-api:129004 | 공지천 조각공원 | https://apis.data.go.kr/B551011/KorService2</a:t>
            </a:r>
          </a:p>
          <a:p xmlns:a="http://schemas.openxmlformats.org/drawingml/2006/main">
            <a:r>
              <a:t>tour-api:2792017 | 구곡폭포 국민여가 캠핑장 | https://apis.data.go.kr/B551011/KorService2</a:t>
            </a:r>
          </a:p>
          <a:p xmlns:a="http://schemas.openxmlformats.org/drawingml/2006/main">
            <a:r>
              <a:t>tour-api:2714558 | 구봉산 | https://apis.data.go.kr/B551011/KorService2</a:t>
            </a:r>
          </a:p>
          <a:p xmlns:a="http://schemas.openxmlformats.org/drawingml/2006/main">
            <a:r>
              <a:t>tour-api:407225 | 국립 용화산자연휴양림 | https://apis.data.go.kr/B551011/KorService2</a:t>
            </a:r>
          </a:p>
          <a:p xmlns:a="http://schemas.openxmlformats.org/drawingml/2006/main">
            <a:r>
              <a:t>tour-api:2710587 | 국립춘천숲체원 | https://apis.data.go.kr/B551011/KorService2</a:t>
            </a:r>
          </a:p>
          <a:p xmlns:a="http://schemas.openxmlformats.org/drawingml/2006/main">
            <a:r>
              <a:t>tour-api:2774528 | 군자숯불닭갈비 | https://apis.data.go.kr/B551011/KorService2</a:t>
            </a:r>
          </a:p>
          <a:p xmlns:a="http://schemas.openxmlformats.org/drawingml/2006/main">
            <a:r>
              <a:t>tour-api:2710596 | 근화동396청년창업공간 | https://apis.data.go.kr/B551011/KorService2</a:t>
            </a:r>
          </a:p>
          <a:p xmlns:a="http://schemas.openxmlformats.org/drawingml/2006/main">
            <a:r>
              <a:t>reference:kto:2026:local-airport | 요즘, 한국관광 2호 - 지방공항 연계 지역관광 활성화 방안 | PDF 44쪽, PDF 43쪽, PDF 38쪽, PDF 40쪽, PDF 41쪽, PDF 36쪽, PDF 41쪽, PDF 44쪽, PDF 43쪽, PDF 43쪽 | https://datalab.visitkorea.or.kr/site/portal/ex/bbs/View.do?bcIdx=311068&amp;cbIdx=1135&amp;pageIndex=1</a:t>
            </a:r>
          </a:p>
          <a:p xmlns:a="http://schemas.openxmlformats.org/drawingml/2006/main">
            <a:r>
              <a:t>case:jeonju_night_budget_2026 | 전주시 2026년도 관광산업과 세출예산 사업명세서 | https://jeonju.go.kr/resource/www/images/download/budget/2026/2026_31_2.pdf</a:t>
            </a:r>
          </a:p>
          <a:p xmlns:a="http://schemas.openxmlformats.org/drawingml/2006/main">
            <a:r>
              <a:t>case:291a33370ec9b1 | 섬에서의 특별한 경험, ‘인천 섬 도도하게 살아보기’로 누린다 | https://www.incheon.go.kr/mayor_8/MA040101/view?curPage=236&amp;repSeq=DOM_0000000010488055</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dataset:51110:1 | 한국관광 데이터랩 · 강원특별자치도 춘천시 순 방문자 수 및 숙박 비율 (이동통신 기반 외지인) | https://datalab.visitkorea.or.kr/</a:t>
            </a:r>
          </a:p>
          <a:p xmlns:a="http://schemas.openxmlformats.org/drawingml/2006/main">
            <a:r>
              <a:t>dataset:51110:2 | 한국관광 데이터랩 · 강원특별자치도 춘천시 월간 순 방문자 수 (이동통신 기반 외지인) | https://datalab.visitkorea.or.kr/</a:t>
            </a:r>
          </a:p>
          <a:p xmlns:a="http://schemas.openxmlformats.org/drawingml/2006/main">
            <a:r>
              <a:t>dataset:51110:3 | 한국관광 데이터랩 · 강원특별자치도 춘천시 관광소비 추이_외지인 | https://datalab.visitkorea.or.kr/</a:t>
            </a:r>
          </a:p>
          <a:p xmlns:a="http://schemas.openxmlformats.org/drawingml/2006/main">
            <a:r>
              <a:t>dataset:51110:4 | 한국관광 데이터랩 · 강원특별자치도 춘천시 숙박방문자 비율 추이 (이동통신 기반 외지인) | https://datalab.visitkorea.or.kr/</a:t>
            </a:r>
          </a:p>
          <a:p xmlns:a="http://schemas.openxmlformats.org/drawingml/2006/main">
            <a:r>
              <a:t>dataset:51110:5 | 한국관광 데이터랩 · 강원특별자치도 춘천시 평균 숙박일 (이동통신 기반 외지인) | https://datalab.visitkorea.or.kr/</a:t>
            </a:r>
          </a:p>
          <a:p xmlns:a="http://schemas.openxmlformats.org/drawingml/2006/main">
            <a:r>
              <a:t>dataset:51110:6 | 한국관광 데이터랩 · 강원특별자치도 춘천시 내비게이션 목적지 유형별 검색량 | https://datalab.visitkorea.or.kr/</a:t>
            </a:r>
          </a:p>
          <a:p xmlns:a="http://schemas.openxmlformats.org/drawingml/2006/main">
            <a:r>
              <a:t>dataset:51110:7 | 한국관광 데이터랩 · 강원특별자치도 춘천시 SNS 언급량 | https://datalab.visitkorea.or.kr/</a:t>
            </a:r>
          </a:p>
          <a:p xmlns:a="http://schemas.openxmlformats.org/drawingml/2006/main">
            <a:r>
              <a:t>datalab:2343c3bc93bf:81205be51a1a | 한국관광 데이터랩 공식 다운로드 · 강원특별자치도_춘천시/숙박_체류시간/2026_01_06.zip | https://datalab.visitkorea.or.kr/</a:t>
            </a:r>
          </a:p>
          <a:p xmlns:a="http://schemas.openxmlformats.org/drawingml/2006/main">
            <a:r>
              <a:t>datalab:73a88f6fd74b:dc735676b7f4 | 한국관광 데이터랩 공식 다운로드 · 강원특별자치도_춘천시/숙박_체류시간/2025_01_12.zip | https://datalab.visitkorea.or.kr/</a:t>
            </a:r>
          </a:p>
          <a:p xmlns:a="http://schemas.openxmlformats.org/drawingml/2006/main">
            <a:r>
              <a:t>datalab:77438b77a948:7f25647aea7e | 한국관광 데이터랩 공식 다운로드 · 강원특별자치도_춘천시/관광소비/2026_01_06.zip | https://datalab.visitkorea.or.kr/</a:t>
            </a:r>
          </a:p>
          <a:p xmlns:a="http://schemas.openxmlformats.org/drawingml/2006/main">
            <a:r>
              <a:t>datalab:9642314b6e5e:34e60387985e | 한국관광 데이터랩 공식 다운로드 · 강원특별자치도_춘천시/관광소비/2025_01_12.zip | https://datalab.visitkorea.or.kr/</a:t>
            </a:r>
          </a:p>
          <a:p xmlns:a="http://schemas.openxmlformats.org/drawingml/2006/main">
            <a:r>
              <a:t>datalab:ae4e45e46741:2689769fc6ce | 한국관광 데이터랩 공식 다운로드 · 강원특별자치도_춘천시/방문자/2026_01_06.zip | https://datalab.visitkorea.or.kr/</a:t>
            </a:r>
          </a:p>
          <a:p xmlns:a="http://schemas.openxmlformats.org/drawingml/2006/main">
            <a:r>
              <a:t>datalab:e1ae014de0aa:877807c4ab51 | 한국관광 데이터랩 공식 다운로드 · 강원특별자치도_춘천시/방문자/2025_01_12.zip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regional-status:4a7789e925d5:55e3be9aa0cd | 한국관광 데이터랩 지역별 관광 현황 · 강원특별자치도 춘천시 · 유입유출 | https://datalab.visitkorea.or.kr/</a:t>
            </a:r>
          </a:p>
          <a:p xmlns:a="http://schemas.openxmlformats.org/drawingml/2006/main">
            <a:r>
              <a:t>regional-status:61a9d2d6b099:8676c55ce1a7 | 한국관광 데이터랩 지역별 관광 현황 · 강원특별자치도 춘천시 · 인기관광지 | https://datalab.visitkorea.or.kr/</a:t>
            </a:r>
          </a:p>
          <a:p xmlns:a="http://schemas.openxmlformats.org/drawingml/2006/main">
            <a:r>
              <a:t>regional-status:b3fe66c3af97:a10ce860bf9f | 한국관광 데이터랩 지역별 관광 현황 · 강원특별자치도 춘천시 · 지역집중률 | https://datalab.visitkorea.or.kr/</a:t>
            </a:r>
          </a:p>
          <a:p xmlns:a="http://schemas.openxmlformats.org/drawingml/2006/main">
            <a:r>
              <a:t>ml:51110:regional-demand-v3.1:202606 | 지역 관광수요 ML 전망 · 공식 관측값 아님 | URL 미기록</a:t>
            </a:r>
          </a:p>
          <a:p xmlns:a="http://schemas.openxmlformats.org/drawingml/2006/main">
            <a:r>
              <a:t>tour-api:2891703 | 가보자순대국 | https://apis.data.go.kr/B551011/KorService2</a:t>
            </a:r>
          </a:p>
          <a:p xmlns:a="http://schemas.openxmlformats.org/drawingml/2006/main">
            <a:r>
              <a:t>tour-api:3083085 | 가평1등수상레저 | https://apis.data.go.kr/B551011/KorService2</a:t>
            </a:r>
          </a:p>
          <a:p xmlns:a="http://schemas.openxmlformats.org/drawingml/2006/main">
            <a:r>
              <a:t>tour-api:128778 | 강원 경찰충혼탑 | https://apis.data.go.kr/B551011/KorService2</a:t>
            </a:r>
          </a:p>
          <a:p xmlns:a="http://schemas.openxmlformats.org/drawingml/2006/main">
            <a:r>
              <a:t>tour-api:129840 | 강원대학교중앙박물관 | https://apis.data.go.kr/B551011/KorService2</a:t>
            </a:r>
          </a:p>
          <a:p xmlns:a="http://schemas.openxmlformats.org/drawingml/2006/main">
            <a:r>
              <a:t>tour-api:2610850 | 강원숲체험장 | https://apis.data.go.kr/B551011/KorService2</a:t>
            </a:r>
          </a:p>
          <a:p xmlns:a="http://schemas.openxmlformats.org/drawingml/2006/main">
            <a:r>
              <a:t>tour-api:131456 | 강원특별자치도청소년수련원 | https://apis.data.go.kr/B551011/KorService2</a:t>
            </a:r>
          </a:p>
          <a:p xmlns:a="http://schemas.openxmlformats.org/drawingml/2006/main">
            <a:r>
              <a:t>tour-api:2706334 | 강촌 출렁다리공원 | https://apis.data.go.kr/B551011/KorService2</a:t>
            </a:r>
          </a:p>
          <a:p xmlns:a="http://schemas.openxmlformats.org/drawingml/2006/main">
            <a:r>
              <a:t>tour-api:1947118 | 강촌레일파크(김유정레일바이크) | https://apis.data.go.kr/B551011/KorService2</a:t>
            </a:r>
          </a:p>
          <a:p xmlns:a="http://schemas.openxmlformats.org/drawingml/2006/main">
            <a:r>
              <a:t>tour-api:2759582 | 강촌버즈글램핑 | https://apis.data.go.kr/B551011/KorService2</a:t>
            </a:r>
          </a:p>
          <a:p xmlns:a="http://schemas.openxmlformats.org/drawingml/2006/main">
            <a:r>
              <a:t>tour-api:125605 | 강촌유원지 | https://apis.data.go.kr/B551011/KorService2</a:t>
            </a:r>
          </a:p>
          <a:p xmlns:a="http://schemas.openxmlformats.org/drawingml/2006/main">
            <a:r>
              <a:t>tour-api:2741528 | 강촌하늘아래글램핑 | https://apis.data.go.kr/B551011/KorService2</a:t>
            </a:r>
          </a:p>
          <a:p xmlns:a="http://schemas.openxmlformats.org/drawingml/2006/main">
            <a:r>
              <a:t>tour-api:391742 | 경강막국수 | https://apis.data.go.kr/B551011/KorService2</a:t>
            </a:r>
          </a:p>
          <a:p xmlns:a="http://schemas.openxmlformats.org/drawingml/2006/main">
            <a:r>
              <a:t>tour-api:2558052 | 고목 | https://apis.data.go.kr/B551011/KorService2</a:t>
            </a:r>
          </a:p>
          <a:p xmlns:a="http://schemas.openxmlformats.org/drawingml/2006/main">
            <a:r>
              <a:t>tour-api:129004 | 공지천 조각공원 | https://apis.data.go.kr/B551011/KorService2</a:t>
            </a:r>
          </a:p>
          <a:p xmlns:a="http://schemas.openxmlformats.org/drawingml/2006/main">
            <a:r>
              <a:t>tour-api:2792017 | 구곡폭포 국민여가 캠핑장 | https://apis.data.go.kr/B551011/KorService2</a:t>
            </a:r>
          </a:p>
          <a:p xmlns:a="http://schemas.openxmlformats.org/drawingml/2006/main">
            <a:r>
              <a:t>tour-api:2714558 | 구봉산 | https://apis.data.go.kr/B551011/KorService2</a:t>
            </a:r>
          </a:p>
          <a:p xmlns:a="http://schemas.openxmlformats.org/drawingml/2006/main">
            <a:r>
              <a:t>tour-api:407225 | 국립 용화산자연휴양림 | https://apis.data.go.kr/B551011/KorService2</a:t>
            </a:r>
          </a:p>
          <a:p xmlns:a="http://schemas.openxmlformats.org/drawingml/2006/main">
            <a:r>
              <a:t>tour-api:2710587 | 국립춘천숲체원 | https://apis.data.go.kr/B551011/KorService2</a:t>
            </a:r>
          </a:p>
          <a:p xmlns:a="http://schemas.openxmlformats.org/drawingml/2006/main">
            <a:r>
              <a:t>tour-api:2774528 | 군자숯불닭갈비 | https://apis.data.go.kr/B551011/KorService2</a:t>
            </a:r>
          </a:p>
          <a:p xmlns:a="http://schemas.openxmlformats.org/drawingml/2006/main">
            <a:r>
              <a:t>tour-api:2710596 | 근화동396청년창업공간 | https://apis.data.go.kr/B551011/KorService2</a:t>
            </a:r>
          </a:p>
          <a:p xmlns:a="http://schemas.openxmlformats.org/drawingml/2006/main">
            <a:r>
              <a:t>reference:kto:2026:local-airport | 요즘, 한국관광 2호 - 지방공항 연계 지역관광 활성화 방안 | PDF 44쪽, PDF 43쪽, PDF 38쪽, PDF 40쪽, PDF 41쪽, PDF 36쪽, PDF 41쪽, PDF 44쪽, PDF 43쪽, PDF 43쪽 | https://datalab.visitkorea.or.kr/site/portal/ex/bbs/View.do?bcIdx=311068&amp;cbIdx=1135&amp;pageIndex=1</a:t>
            </a:r>
          </a:p>
          <a:p xmlns:a="http://schemas.openxmlformats.org/drawingml/2006/main">
            <a:r>
              <a:t>case:jeonju_night_budget_2026 | 전주시 2026년도 관광산업과 세출예산 사업명세서 | https://jeonju.go.kr/resource/www/images/download/budget/2026/2026_31_2.pdf</a:t>
            </a:r>
          </a:p>
          <a:p xmlns:a="http://schemas.openxmlformats.org/drawingml/2006/main">
            <a:r>
              <a:t>case:291a33370ec9b1 | 섬에서의 특별한 경험, ‘인천 섬 도도하게 살아보기’로 누린다 | https://www.incheon.go.kr/mayor_8/MA040101/view?curPage=236&amp;repSeq=DOM_0000000010488055</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a:p xmlns:a="http://schemas.openxmlformats.org/drawingml/2006/main">
            <a:r>
              <a:t>[Saved narrative]</a:t>
            </a:r>
          </a:p>
          <a:p xmlns:a="http://schemas.openxmlformats.org/drawingml/2006/main">
            <a:r>
              <a:t>[</a:t>
            </a:r>
          </a:p>
          <a:p xmlns:a="http://schemas.openxmlformats.org/drawingml/2006/main">
            <a:r>
              <a:t>  {</a:t>
            </a:r>
          </a:p>
          <a:p xmlns:a="http://schemas.openxmlformats.org/drawingml/2006/main">
            <a:r>
              <a:t>    "kpi": "환급 상품권 사용률(분자: 환급 후 춘천 내 적격 재결제액 합계 / 분모: 지급한 환급액 합계), 기준기간: 운영 기간, 측정 주기: 매주, 수집 방법: 신청·승인·결제 원장 집계, 비교 집단: 동일 기간 내 미참여 업종/지역, 성공 기준: 환급 상품권 사용률 30% 이상 및 재방문율 10% 이상 증가(착수 전 확정 필요)",</a:t>
            </a:r>
          </a:p>
          <a:p xmlns:a="http://schemas.openxmlformats.org/drawingml/2006/main">
            <a:r>
              <a:t>    "title": "춘천시 지역상품권 환급 프로그램",</a:t>
            </a:r>
          </a:p>
          <a:p xmlns:a="http://schemas.openxmlformats.org/drawingml/2006/main">
            <a:r>
              <a:t>    "budget":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"evidence": "dataset:51110:1, dataset:51110:3, case:jeonju_night_budget_2026, case:291a33370ec9b1",</a:t>
            </a:r>
          </a:p>
          <a:p xmlns:a="http://schemas.openxmlformats.org/drawingml/2006/main">
            <a:r>
              <a:t>    "priority": 1,</a:t>
            </a:r>
          </a:p>
          <a:p xmlns:a="http://schemas.openxmlformats.org/drawingml/2006/main">
            <a:r>
              <a:t>    "solution": "춘천시 내 지정된 식음료, 쇼핑, 여가서비스 참여 업종에서 일정 금액 이상 결제한 외지인 관광객에게 결제액의 일부를 춘천시 지역상품권으로 환급해 주는 메커니즘",</a:t>
            </a:r>
          </a:p>
          <a:p xmlns:a="http://schemas.openxmlformats.org/drawingml/2006/main">
            <a:r>
              <a:t>    "timeframe": "2026-09 ~ 2026-11, 3개월",</a:t>
            </a:r>
          </a:p>
          <a:p xmlns:a="http://schemas.openxmlformats.org/drawingml/2006/main">
            <a:r>
              <a:t>    "expected_effect": "ML 자연추세(전년 동월 대비 방문자 감소세)를 고려할 때, 환급을 통한 1인당 소비액 증대 및 지역 내 재결제 유도를 통해 관광소비 총액의 하락 방어 및 지역 내 경제 선순환 효과를 기대함(단, 순증 효과는 사후 검증 필요)",</a:t>
            </a:r>
          </a:p>
          <a:p xmlns:a="http://schemas.openxmlformats.org/drawingml/2006/main">
            <a:r>
              <a:t>    "problem_to_solve": "외지인 관광객의 소비가 지역 내에서 재순환되지 않고 단발성 지출로 종료되는 문제를 해결하여, 식음료·쇼핑 등 주요 업종의 매출 증대와 지역 경제 활성화를 도모함",</a:t>
            </a:r>
          </a:p>
          <a:p xmlns:a="http://schemas.openxmlformats.org/drawingml/2006/main">
            <a:r>
              <a:t>    "comparison_analysis": "인천 섬 사례가 예약형 체류 상품을 통해 '숙박' 자체를 유도하는 방식이라면, 본 안은 도심형 소비 구조에 맞춰 '지출액 환급'을 통해 지역 내 재결제를 유도함. 전주시 사례가 야간관광을 위한 예산 구조 마련에 집중한다면, 본 안은 실제 소비 발생 시점에 즉각적인 인센티브를 제공하는 실행 중심 모델임",</a:t>
            </a:r>
          </a:p>
          <a:p xmlns:a="http://schemas.openxmlformats.org/drawingml/2006/main">
            <a:r>
              <a:t>    "implementation_steps": [</a:t>
            </a:r>
          </a:p>
          <a:p xmlns:a="http://schemas.openxmlformats.org/drawingml/2006/main">
            <a:r>
              <a:t>      {</a:t>
            </a:r>
          </a:p>
          <a:p xmlns:a="http://schemas.openxmlformats.org/drawingml/2006/main">
            <a:r>
              <a:t>        "step": 1,</a:t>
            </a:r>
          </a:p>
          <a:p xmlns:a="http://schemas.openxmlformats.org/drawingml/2006/main">
            <a:r>
              <a:t>        "task": "사업 담당자가 참여 희망 업체를 대상으로 모집 공고를 시행하고, 업체별 참여 협약서 및 환급 조건 명세서를 작성하여 협약을 체결함",</a:t>
            </a:r>
          </a:p>
          <a:p xmlns:a="http://schemas.openxmlformats.org/drawingml/2006/main">
            <a:r>
              <a:t>        "schedule": "2026-09",</a:t>
            </a:r>
          </a:p>
          <a:p xmlns:a="http://schemas.openxmlformats.org/drawingml/2006/main">
            <a:r>
              <a:t>        "deliverable": "업체별 참여 협약서 및 환급 조건 명세서"</a:t>
            </a:r>
          </a:p>
          <a:p xmlns:a="http://schemas.openxmlformats.org/drawingml/2006/main">
            <a:r>
              <a:t>      },</a:t>
            </a:r>
          </a:p>
          <a:p xmlns:a="http://schemas.openxmlformats.org/drawingml/2006/main">
            <a:r>
              <a:t>      {</a:t>
            </a:r>
          </a:p>
          <a:p xmlns:a="http://schemas.openxmlformats.org/drawingml/2006/main">
            <a:r>
              <a:t>        "step": 2,</a:t>
            </a:r>
          </a:p>
          <a:p xmlns:a="http://schemas.openxmlformats.org/drawingml/2006/main">
            <a:r>
              <a:t>        "task": "시스템 운영 담당자가 환급 신청, 승인, 결제 데이터를 통합 관리할 수 있는 신청·승인·결제 원장 관리 시스템을 구축함",</a:t>
            </a:r>
          </a:p>
          <a:p xmlns:a="http://schemas.openxmlformats.org/drawingml/2006/main">
            <a:r>
              <a:t>        "schedule": "2026-09",</a:t>
            </a:r>
          </a:p>
          <a:p xmlns:a="http://schemas.openxmlformats.org/drawingml/2006/main">
            <a:r>
              <a:t>        "deliverable": "신청·승인·결제 원장 관리 시스템"</a:t>
            </a:r>
          </a:p>
          <a:p xmlns:a="http://schemas.openxmlformats.org/drawingml/2006/main">
            <a:r>
              <a:t>      },</a:t>
            </a:r>
          </a:p>
          <a:p xmlns:a="http://schemas.openxmlformats.org/drawingml/2006/main">
            <a:r>
              <a:t>      {</a:t>
            </a:r>
          </a:p>
          <a:p xmlns:a="http://schemas.openxmlformats.org/drawingml/2006/main">
            <a:r>
              <a:t>        "step": 3,</a:t>
            </a:r>
          </a:p>
          <a:p xmlns:a="http://schemas.openxmlformats.org/drawingml/2006/main">
            <a:r>
              <a:t>        "task": "운영 담당자가 주간 단위로 환급 신청 건을 검토·승인하고, 실제 환급 집행 현황 및 이용 현황 보고서를 작성함",</a:t>
            </a:r>
          </a:p>
          <a:p xmlns:a="http://schemas.openxmlformats.org/drawingml/2006/main">
            <a:r>
              <a:t>        "schedule": "2026-10",</a:t>
            </a:r>
          </a:p>
          <a:p xmlns:a="http://schemas.openxmlformats.org/drawingml/2006/main">
            <a:r>
              <a:t>        "deliverable": "주간 단위 환급 집행 및 이용 현황 보고서"</a:t>
            </a:r>
          </a:p>
          <a:p xmlns:a="http://schemas.openxmlformats.org/drawingml/2006/main">
            <a:r>
              <a:t>      },</a:t>
            </a:r>
          </a:p>
          <a:p xmlns:a="http://schemas.openxmlformats.org/drawingml/2006/main">
            <a:r>
              <a:t>      {</a:t>
            </a:r>
          </a:p>
          <a:p xmlns:a="http://schemas.openxmlformats.org/drawingml/2006/main">
            <a:r>
              <a:t>        "step": 4,</a:t>
            </a:r>
          </a:p>
          <a:p xmlns:a="http://schemas.openxmlformats.org/drawingml/2006/main">
            <a:r>
              <a:t>        "task": "데이터 분석 담당자가 수집된 원장을 바탕으로 환급 상품권의 재사용률 및 지역 내 소비 증감 효과를 분석한 최종 성과 보고서를 작성함",</a:t>
            </a:r>
          </a:p>
          <a:p xmlns:a="http://schemas.openxmlformats.org/drawingml/2006/main">
            <a:r>
              <a:t>        "schedule": "2026-11",</a:t>
            </a:r>
          </a:p>
          <a:p xmlns:a="http://schemas.openxmlformats.org/drawingml/2006/main">
            <a:r>
              <a:t>        "deliverable": "최종 성과 분석 보고서(재사용률 및 소비 증감)"</a:t>
            </a:r>
          </a:p>
          <a:p xmlns:a="http://schemas.openxmlformats.org/drawingml/2006/main">
            <a:r>
              <a:t>      },</a:t>
            </a:r>
          </a:p>
          <a:p xmlns:a="http://schemas.openxmlformats.org/drawingml/2006/main">
            <a:r>
              <a:t>      {</a:t>
            </a:r>
          </a:p>
          <a:p xmlns:a="http://schemas.openxmlformats.org/drawingml/2006/main">
            <a:r>
              <a:t>        "step": 5,</a:t>
            </a:r>
          </a:p>
          <a:p xmlns:a="http://schemas.openxmlformats.org/drawingml/2006/main">
            <a:r>
              <a:t>        "task": "사업 총괄 담당자가 분석 결과를 검토하여 차기 운영 규모 확대 또는 사업 중단 여부를 결정하는 보고서를 작성함",</a:t>
            </a:r>
          </a:p>
          <a:p xmlns:a="http://schemas.openxmlformats.org/drawingml/2006/main">
            <a:r>
              <a:t>        "schedule": "2026-11",</a:t>
            </a:r>
          </a:p>
          <a:p xmlns:a="http://schemas.openxmlformats.org/drawingml/2006/main">
            <a:r>
              <a:t>        "deliverable": "확대 운영 또는 중단 결정 보고서"</a:t>
            </a:r>
          </a:p>
          <a:p xmlns:a="http://schemas.openxmlformats.org/drawingml/2006/main">
            <a:r>
              <a:t>      }</a:t>
            </a:r>
          </a:p>
          <a:p xmlns:a="http://schemas.openxmlformats.org/drawingml/2006/main">
            <a:r>
              <a:t>    ],</a:t>
            </a:r>
          </a:p>
          <a:p xmlns:a="http://schemas.openxmlformats.org/drawingml/2006/main">
            <a:r>
              <a:t>    "visual_asset_source_ids": [</a:t>
            </a:r>
          </a:p>
          <a:p xmlns:a="http://schemas.openxmlformats.org/drawingml/2006/main">
            <a:r>
              <a:t>      "case:jeonju_night_budget_2026",</a:t>
            </a:r>
          </a:p>
          <a:p xmlns:a="http://schemas.openxmlformats.org/drawingml/2006/main">
            <a:r>
              <a:t>      "case:291a33370ec9b1"</a:t>
            </a:r>
          </a:p>
          <a:p xmlns:a="http://schemas.openxmlformats.org/drawingml/2006/main">
            <a:r>
              <a:t>    ]</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dataset:51110:1 | 한국관광 데이터랩 · 강원특별자치도 춘천시 순 방문자 수 및 숙박 비율 (이동통신 기반 외지인) | https://datalab.visitkorea.or.kr/</a:t>
            </a:r>
          </a:p>
          <a:p xmlns:a="http://schemas.openxmlformats.org/drawingml/2006/main">
            <a:r>
              <a:t>dataset:51110:2 | 한국관광 데이터랩 · 강원특별자치도 춘천시 월간 순 방문자 수 (이동통신 기반 외지인) | https://datalab.visitkorea.or.kr/</a:t>
            </a:r>
          </a:p>
          <a:p xmlns:a="http://schemas.openxmlformats.org/drawingml/2006/main">
            <a:r>
              <a:t>dataset:51110:3 | 한국관광 데이터랩 · 강원특별자치도 춘천시 관광소비 추이_외지인 | https://datalab.visitkorea.or.kr/</a:t>
            </a:r>
          </a:p>
          <a:p xmlns:a="http://schemas.openxmlformats.org/drawingml/2006/main">
            <a:r>
              <a:t>dataset:51110:4 | 한국관광 데이터랩 · 강원특별자치도 춘천시 숙박방문자 비율 추이 (이동통신 기반 외지인) | https://datalab.visitkorea.or.kr/</a:t>
            </a:r>
          </a:p>
          <a:p xmlns:a="http://schemas.openxmlformats.org/drawingml/2006/main">
            <a:r>
              <a:t>dataset:51110:5 | 한국관광 데이터랩 · 강원특별자치도 춘천시 평균 숙박일 (이동통신 기반 외지인) | https://datalab.visitkorea.or.kr/</a:t>
            </a:r>
          </a:p>
          <a:p xmlns:a="http://schemas.openxmlformats.org/drawingml/2006/main">
            <a:r>
              <a:t>dataset:51110:6 | 한국관광 데이터랩 · 강원특별자치도 춘천시 내비게이션 목적지 유형별 검색량 | https://datalab.visitkorea.or.kr/</a:t>
            </a:r>
          </a:p>
          <a:p xmlns:a="http://schemas.openxmlformats.org/drawingml/2006/main">
            <a:r>
              <a:t>dataset:51110:7 | 한국관광 데이터랩 · 강원특별자치도 춘천시 SNS 언급량 | https://datalab.visitkorea.or.kr/</a:t>
            </a:r>
          </a:p>
          <a:p xmlns:a="http://schemas.openxmlformats.org/drawingml/2006/main">
            <a:r>
              <a:t>datalab:2343c3bc93bf:81205be51a1a | 한국관광 데이터랩 공식 다운로드 · 강원특별자치도_춘천시/숙박_체류시간/2026_01_06.zip | https://datalab.visitkorea.or.kr/</a:t>
            </a:r>
          </a:p>
          <a:p xmlns:a="http://schemas.openxmlformats.org/drawingml/2006/main">
            <a:r>
              <a:t>datalab:73a88f6fd74b:dc735676b7f4 | 한국관광 데이터랩 공식 다운로드 · 강원특별자치도_춘천시/숙박_체류시간/2025_01_12.zip | https://datalab.visitkorea.or.kr/</a:t>
            </a:r>
          </a:p>
          <a:p xmlns:a="http://schemas.openxmlformats.org/drawingml/2006/main">
            <a:r>
              <a:t>datalab:77438b77a948:7f25647aea7e | 한국관광 데이터랩 공식 다운로드 · 강원특별자치도_춘천시/관광소비/2026_01_06.zip | https://datalab.visitkorea.or.kr/</a:t>
            </a:r>
          </a:p>
          <a:p xmlns:a="http://schemas.openxmlformats.org/drawingml/2006/main">
            <a:r>
              <a:t>datalab:9642314b6e5e:34e60387985e | 한국관광 데이터랩 공식 다운로드 · 강원특별자치도_춘천시/관광소비/2025_01_12.zip | https://datalab.visitkorea.or.kr/</a:t>
            </a:r>
          </a:p>
          <a:p xmlns:a="http://schemas.openxmlformats.org/drawingml/2006/main">
            <a:r>
              <a:t>datalab:ae4e45e46741:2689769fc6ce | 한국관광 데이터랩 공식 다운로드 · 강원특별자치도_춘천시/방문자/2026_01_06.zip | https://datalab.visitkorea.or.kr/</a:t>
            </a:r>
          </a:p>
          <a:p xmlns:a="http://schemas.openxmlformats.org/drawingml/2006/main">
            <a:r>
              <a:t>datalab:e1ae014de0aa:877807c4ab51 | 한국관광 데이터랩 공식 다운로드 · 강원특별자치도_춘천시/방문자/2025_01_12.zip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regional-status:4a7789e925d5:55e3be9aa0cd | 한국관광 데이터랩 지역별 관광 현황 · 강원특별자치도 춘천시 · 유입유출 | https://datalab.visitkorea.or.kr/</a:t>
            </a:r>
          </a:p>
          <a:p xmlns:a="http://schemas.openxmlformats.org/drawingml/2006/main">
            <a:r>
              <a:t>regional-status:61a9d2d6b099:8676c55ce1a7 | 한국관광 데이터랩 지역별 관광 현황 · 강원특별자치도 춘천시 · 인기관광지 | https://datalab.visitkorea.or.kr/</a:t>
            </a:r>
          </a:p>
          <a:p xmlns:a="http://schemas.openxmlformats.org/drawingml/2006/main">
            <a:r>
              <a:t>regional-status:b3fe66c3af97:a10ce860bf9f | 한국관광 데이터랩 지역별 관광 현황 · 강원특별자치도 춘천시 · 지역집중률 | https://datalab.visitkorea.or.kr/</a:t>
            </a:r>
          </a:p>
          <a:p xmlns:a="http://schemas.openxmlformats.org/drawingml/2006/main">
            <a:r>
              <a:t>ml:51110:regional-demand-v3.1:202606 | 지역 관광수요 ML 전망 · 공식 관측값 아님 | URL 미기록</a:t>
            </a:r>
          </a:p>
          <a:p xmlns:a="http://schemas.openxmlformats.org/drawingml/2006/main">
            <a:r>
              <a:t>tour-api:2891703 | 가보자순대국 | https://apis.data.go.kr/B551011/KorService2</a:t>
            </a:r>
          </a:p>
          <a:p xmlns:a="http://schemas.openxmlformats.org/drawingml/2006/main">
            <a:r>
              <a:t>tour-api:3083085 | 가평1등수상레저 | https://apis.data.go.kr/B551011/KorService2</a:t>
            </a:r>
          </a:p>
          <a:p xmlns:a="http://schemas.openxmlformats.org/drawingml/2006/main">
            <a:r>
              <a:t>tour-api:128778 | 강원 경찰충혼탑 | https://apis.data.go.kr/B551011/KorService2</a:t>
            </a:r>
          </a:p>
          <a:p xmlns:a="http://schemas.openxmlformats.org/drawingml/2006/main">
            <a:r>
              <a:t>tour-api:129840 | 강원대학교중앙박물관 | https://apis.data.go.kr/B551011/KorService2</a:t>
            </a:r>
          </a:p>
          <a:p xmlns:a="http://schemas.openxmlformats.org/drawingml/2006/main">
            <a:r>
              <a:t>tour-api:2610850 | 강원숲체험장 | https://apis.data.go.kr/B551011/KorService2</a:t>
            </a:r>
          </a:p>
          <a:p xmlns:a="http://schemas.openxmlformats.org/drawingml/2006/main">
            <a:r>
              <a:t>tour-api:131456 | 강원특별자치도청소년수련원 | https://apis.data.go.kr/B551011/KorService2</a:t>
            </a:r>
          </a:p>
          <a:p xmlns:a="http://schemas.openxmlformats.org/drawingml/2006/main">
            <a:r>
              <a:t>tour-api:2706334 | 강촌 출렁다리공원 | https://apis.data.go.kr/B551011/KorService2</a:t>
            </a:r>
          </a:p>
          <a:p xmlns:a="http://schemas.openxmlformats.org/drawingml/2006/main">
            <a:r>
              <a:t>tour-api:1947118 | 강촌레일파크(김유정레일바이크) | https://apis.data.go.kr/B551011/KorService2</a:t>
            </a:r>
          </a:p>
          <a:p xmlns:a="http://schemas.openxmlformats.org/drawingml/2006/main">
            <a:r>
              <a:t>tour-api:2759582 | 강촌버즈글램핑 | https://apis.data.go.kr/B551011/KorService2</a:t>
            </a:r>
          </a:p>
          <a:p xmlns:a="http://schemas.openxmlformats.org/drawingml/2006/main">
            <a:r>
              <a:t>tour-api:125605 | 강촌유원지 | https://apis.data.go.kr/B551011/KorService2</a:t>
            </a:r>
          </a:p>
          <a:p xmlns:a="http://schemas.openxmlformats.org/drawingml/2006/main">
            <a:r>
              <a:t>tour-api:2741528 | 강촌하늘아래글램핑 | https://apis.data.go.kr/B551011/KorService2</a:t>
            </a:r>
          </a:p>
          <a:p xmlns:a="http://schemas.openxmlformats.org/drawingml/2006/main">
            <a:r>
              <a:t>tour-api:391742 | 경강막국수 | https://apis.data.go.kr/B551011/KorService2</a:t>
            </a:r>
          </a:p>
          <a:p xmlns:a="http://schemas.openxmlformats.org/drawingml/2006/main">
            <a:r>
              <a:t>tour-api:2558052 | 고목 | https://apis.data.go.kr/B551011/KorService2</a:t>
            </a:r>
          </a:p>
          <a:p xmlns:a="http://schemas.openxmlformats.org/drawingml/2006/main">
            <a:r>
              <a:t>tour-api:129004 | 공지천 조각공원 | https://apis.data.go.kr/B551011/KorService2</a:t>
            </a:r>
          </a:p>
          <a:p xmlns:a="http://schemas.openxmlformats.org/drawingml/2006/main">
            <a:r>
              <a:t>tour-api:2792017 | 구곡폭포 국민여가 캠핑장 | https://apis.data.go.kr/B551011/KorService2</a:t>
            </a:r>
          </a:p>
          <a:p xmlns:a="http://schemas.openxmlformats.org/drawingml/2006/main">
            <a:r>
              <a:t>tour-api:2714558 | 구봉산 | https://apis.data.go.kr/B551011/KorService2</a:t>
            </a:r>
          </a:p>
          <a:p xmlns:a="http://schemas.openxmlformats.org/drawingml/2006/main">
            <a:r>
              <a:t>tour-api:407225 | 국립 용화산자연휴양림 | https://apis.data.go.kr/B551011/KorService2</a:t>
            </a:r>
          </a:p>
          <a:p xmlns:a="http://schemas.openxmlformats.org/drawingml/2006/main">
            <a:r>
              <a:t>tour-api:2710587 | 국립춘천숲체원 | https://apis.data.go.kr/B551011/KorService2</a:t>
            </a:r>
          </a:p>
          <a:p xmlns:a="http://schemas.openxmlformats.org/drawingml/2006/main">
            <a:r>
              <a:t>tour-api:2774528 | 군자숯불닭갈비 | https://apis.data.go.kr/B551011/KorService2</a:t>
            </a:r>
          </a:p>
          <a:p xmlns:a="http://schemas.openxmlformats.org/drawingml/2006/main">
            <a:r>
              <a:t>tour-api:2710596 | 근화동396청년창업공간 | https://apis.data.go.kr/B551011/KorService2</a:t>
            </a:r>
          </a:p>
          <a:p xmlns:a="http://schemas.openxmlformats.org/drawingml/2006/main">
            <a:r>
              <a:t>reference:kto:2026:local-airport | 요즘, 한국관광 2호 - 지방공항 연계 지역관광 활성화 방안 | PDF 44쪽, PDF 43쪽, PDF 38쪽, PDF 40쪽, PDF 41쪽, PDF 36쪽, PDF 41쪽, PDF 44쪽, PDF 43쪽, PDF 43쪽 | https://datalab.visitkorea.or.kr/site/portal/ex/bbs/View.do?bcIdx=311068&amp;cbIdx=1135&amp;pageIndex=1</a:t>
            </a:r>
          </a:p>
          <a:p xmlns:a="http://schemas.openxmlformats.org/drawingml/2006/main">
            <a:r>
              <a:t>case:jeonju_night_budget_2026 | 전주시 2026년도 관광산업과 세출예산 사업명세서 | https://jeonju.go.kr/resource/www/images/download/budget/2026/2026_31_2.pdf</a:t>
            </a:r>
          </a:p>
          <a:p xmlns:a="http://schemas.openxmlformats.org/drawingml/2006/main">
            <a:r>
              <a:t>case:291a33370ec9b1 | 섬에서의 특별한 경험, ‘인천 섬 도도하게 살아보기’로 누린다 | https://www.incheon.go.kr/mayor_8/MA040101/view?curPage=236&amp;repSeq=DOM_0000000010488055</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a:p xmlns:a="http://schemas.openxmlformats.org/drawingml/2006/main">
            <a:r>
              <a:t>[Saved narrative]</a:t>
            </a:r>
          </a:p>
          <a:p xmlns:a="http://schemas.openxmlformats.org/drawingml/2006/main">
            <a:r>
              <a:t>[</a:t>
            </a:r>
          </a:p>
          <a:p xmlns:a="http://schemas.openxmlformats.org/drawingml/2006/main">
            <a:r>
              <a:t>  {</a:t>
            </a:r>
          </a:p>
          <a:p xmlns:a="http://schemas.openxmlformats.org/drawingml/2006/main">
            <a:r>
              <a:t>    "kpi": "환급 상품권 사용률(분자: 환급 후 춘천 내 적격 재결제액 합계 / 분모: 지급한 환급액 합계), 기준기간: 운영 기간, 측정 주기: 매주, 수집 방법: 신청·승인·결제 원장 집계, 비교 집단: 동일 기간 내 미참여 업종/지역, 성공 기준: 환급 상품권 사용률 30% 이상 및 재방문율 10% 이상 증가(착수 전 확정 필요)",</a:t>
            </a:r>
          </a:p>
          <a:p xmlns:a="http://schemas.openxmlformats.org/drawingml/2006/main">
            <a:r>
              <a:t>    "title": "춘천시 지역상품권 환급 프로그램",</a:t>
            </a:r>
          </a:p>
          <a:p xmlns:a="http://schemas.openxmlformats.org/drawingml/2006/main">
            <a:r>
              <a:t>    "budget":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"evidence": "dataset:51110:1, dataset:51110:3, case:jeonju_night_budget_2026, case:291a33370ec9b1",</a:t>
            </a:r>
          </a:p>
          <a:p xmlns:a="http://schemas.openxmlformats.org/drawingml/2006/main">
            <a:r>
              <a:t>    "priority": 1,</a:t>
            </a:r>
          </a:p>
          <a:p xmlns:a="http://schemas.openxmlformats.org/drawingml/2006/main">
            <a:r>
              <a:t>    "solution": "춘천시 내 지정된 식음료, 쇼핑, 여가서비스 참여 업종에서 일정 금액 이상 결제한 외지인 관광객에게 결제액의 일부를 춘천시 지역상품권으로 환급해 주는 메커니즘",</a:t>
            </a:r>
          </a:p>
          <a:p xmlns:a="http://schemas.openxmlformats.org/drawingml/2006/main">
            <a:r>
              <a:t>    "timeframe": "2026-09 ~ 2026-11, 3개월",</a:t>
            </a:r>
          </a:p>
          <a:p xmlns:a="http://schemas.openxmlformats.org/drawingml/2006/main">
            <a:r>
              <a:t>    "expected_effect": "ML 자연추세(전년 동월 대비 방문자 감소세)를 고려할 때, 환급을 통한 1인당 소비액 증대 및 지역 내 재결제 유도를 통해 관광소비 총액의 하락 방어 및 지역 내 경제 선순환 효과를 기대함(단, 순증 효과는 사후 검증 필요)",</a:t>
            </a:r>
          </a:p>
          <a:p xmlns:a="http://schemas.openxmlformats.org/drawingml/2006/main">
            <a:r>
              <a:t>    "problem_to_solve": "외지인 관광객의 소비가 지역 내에서 재순환되지 않고 단발성 지출로 종료되는 문제를 해결하여, 식음료·쇼핑 등 주요 업종의 매출 증대와 지역 경제 활성화를 도모함",</a:t>
            </a:r>
          </a:p>
          <a:p xmlns:a="http://schemas.openxmlformats.org/drawingml/2006/main">
            <a:r>
              <a:t>    "comparison_analysis": "인천 섬 사례가 예약형 체류 상품을 통해 '숙박' 자체를 유도하는 방식이라면, 본 안은 도심형 소비 구조에 맞춰 '지출액 환급'을 통해 지역 내 재결제를 유도함. 전주시 사례가 야간관광을 위한 예산 구조 마련에 집중한다면, 본 안은 실제 소비 발생 시점에 즉각적인 인센티브를 제공하는 실행 중심 모델임",</a:t>
            </a:r>
          </a:p>
          <a:p xmlns:a="http://schemas.openxmlformats.org/drawingml/2006/main">
            <a:r>
              <a:t>    "implementation_steps": [</a:t>
            </a:r>
          </a:p>
          <a:p xmlns:a="http://schemas.openxmlformats.org/drawingml/2006/main">
            <a:r>
              <a:t>      {</a:t>
            </a:r>
          </a:p>
          <a:p xmlns:a="http://schemas.openxmlformats.org/drawingml/2006/main">
            <a:r>
              <a:t>        "step": 1,</a:t>
            </a:r>
          </a:p>
          <a:p xmlns:a="http://schemas.openxmlformats.org/drawingml/2006/main">
            <a:r>
              <a:t>        "task": "사업 담당자가 참여 희망 업체를 대상으로 모집 공고를 시행하고, 업체별 참여 협약서 및 환급 조건 명세서를 작성하여 협약을 체결함",</a:t>
            </a:r>
          </a:p>
          <a:p xmlns:a="http://schemas.openxmlformats.org/drawingml/2006/main">
            <a:r>
              <a:t>        "schedule": "2026-09",</a:t>
            </a:r>
          </a:p>
          <a:p xmlns:a="http://schemas.openxmlformats.org/drawingml/2006/main">
            <a:r>
              <a:t>        "deliverable": "업체별 참여 협약서 및 환급 조건 명세서"</a:t>
            </a:r>
          </a:p>
          <a:p xmlns:a="http://schemas.openxmlformats.org/drawingml/2006/main">
            <a:r>
              <a:t>      },</a:t>
            </a:r>
          </a:p>
          <a:p xmlns:a="http://schemas.openxmlformats.org/drawingml/2006/main">
            <a:r>
              <a:t>      {</a:t>
            </a:r>
          </a:p>
          <a:p xmlns:a="http://schemas.openxmlformats.org/drawingml/2006/main">
            <a:r>
              <a:t>        "step": 2,</a:t>
            </a:r>
          </a:p>
          <a:p xmlns:a="http://schemas.openxmlformats.org/drawingml/2006/main">
            <a:r>
              <a:t>        "task": "시스템 운영 담당자가 환급 신청, 승인, 결제 데이터를 통합 관리할 수 있는 신청·승인·결제 원장 관리 시스템을 구축함",</a:t>
            </a:r>
          </a:p>
          <a:p xmlns:a="http://schemas.openxmlformats.org/drawingml/2006/main">
            <a:r>
              <a:t>        "schedule": "2026-09",</a:t>
            </a:r>
          </a:p>
          <a:p xmlns:a="http://schemas.openxmlformats.org/drawingml/2006/main">
            <a:r>
              <a:t>        "deliverable": "신청·승인·결제 원장 관리 시스템"</a:t>
            </a:r>
          </a:p>
          <a:p xmlns:a="http://schemas.openxmlformats.org/drawingml/2006/main">
            <a:r>
              <a:t>      },</a:t>
            </a:r>
          </a:p>
          <a:p xmlns:a="http://schemas.openxmlformats.org/drawingml/2006/main">
            <a:r>
              <a:t>      {</a:t>
            </a:r>
          </a:p>
          <a:p xmlns:a="http://schemas.openxmlformats.org/drawingml/2006/main">
            <a:r>
              <a:t>        "step": 3,</a:t>
            </a:r>
          </a:p>
          <a:p xmlns:a="http://schemas.openxmlformats.org/drawingml/2006/main">
            <a:r>
              <a:t>        "task": "운영 담당자가 주간 단위로 환급 신청 건을 검토·승인하고, 실제 환급 집행 현황 및 이용 현황 보고서를 작성함",</a:t>
            </a:r>
          </a:p>
          <a:p xmlns:a="http://schemas.openxmlformats.org/drawingml/2006/main">
            <a:r>
              <a:t>        "schedule": "2026-10",</a:t>
            </a:r>
          </a:p>
          <a:p xmlns:a="http://schemas.openxmlformats.org/drawingml/2006/main">
            <a:r>
              <a:t>        "deliverable": "주간 단위 환급 집행 및 이용 현황 보고서"</a:t>
            </a:r>
          </a:p>
          <a:p xmlns:a="http://schemas.openxmlformats.org/drawingml/2006/main">
            <a:r>
              <a:t>      },</a:t>
            </a:r>
          </a:p>
          <a:p xmlns:a="http://schemas.openxmlformats.org/drawingml/2006/main">
            <a:r>
              <a:t>      {</a:t>
            </a:r>
          </a:p>
          <a:p xmlns:a="http://schemas.openxmlformats.org/drawingml/2006/main">
            <a:r>
              <a:t>        "step": 4,</a:t>
            </a:r>
          </a:p>
          <a:p xmlns:a="http://schemas.openxmlformats.org/drawingml/2006/main">
            <a:r>
              <a:t>        "task": "데이터 분석 담당자가 수집된 원장을 바탕으로 환급 상품권의 재사용률 및 지역 내 소비 증감 효과를 분석한 최종 성과 보고서를 작성함",</a:t>
            </a:r>
          </a:p>
          <a:p xmlns:a="http://schemas.openxmlformats.org/drawingml/2006/main">
            <a:r>
              <a:t>        "schedule": "2026-11",</a:t>
            </a:r>
          </a:p>
          <a:p xmlns:a="http://schemas.openxmlformats.org/drawingml/2006/main">
            <a:r>
              <a:t>        "deliverable": "최종 성과 분석 보고서(재사용률 및 소비 증감)"</a:t>
            </a:r>
          </a:p>
          <a:p xmlns:a="http://schemas.openxmlformats.org/drawingml/2006/main">
            <a:r>
              <a:t>      },</a:t>
            </a:r>
          </a:p>
          <a:p xmlns:a="http://schemas.openxmlformats.org/drawingml/2006/main">
            <a:r>
              <a:t>      {</a:t>
            </a:r>
          </a:p>
          <a:p xmlns:a="http://schemas.openxmlformats.org/drawingml/2006/main">
            <a:r>
              <a:t>        "step": 5,</a:t>
            </a:r>
          </a:p>
          <a:p xmlns:a="http://schemas.openxmlformats.org/drawingml/2006/main">
            <a:r>
              <a:t>        "task": "사업 총괄 담당자가 분석 결과를 검토하여 차기 운영 규모 확대 또는 사업 중단 여부를 결정하는 보고서를 작성함",</a:t>
            </a:r>
          </a:p>
          <a:p xmlns:a="http://schemas.openxmlformats.org/drawingml/2006/main">
            <a:r>
              <a:t>        "schedule": "2026-11",</a:t>
            </a:r>
          </a:p>
          <a:p xmlns:a="http://schemas.openxmlformats.org/drawingml/2006/main">
            <a:r>
              <a:t>        "deliverable": "확대 운영 또는 중단 결정 보고서"</a:t>
            </a:r>
          </a:p>
          <a:p xmlns:a="http://schemas.openxmlformats.org/drawingml/2006/main">
            <a:r>
              <a:t>      }</a:t>
            </a:r>
          </a:p>
          <a:p xmlns:a="http://schemas.openxmlformats.org/drawingml/2006/main">
            <a:r>
              <a:t>    ],</a:t>
            </a:r>
          </a:p>
          <a:p xmlns:a="http://schemas.openxmlformats.org/drawingml/2006/main">
            <a:r>
              <a:t>    "visual_asset_source_ids": [</a:t>
            </a:r>
          </a:p>
          <a:p xmlns:a="http://schemas.openxmlformats.org/drawingml/2006/main">
            <a:r>
              <a:t>      "case:jeonju_night_budget_2026",</a:t>
            </a:r>
          </a:p>
          <a:p xmlns:a="http://schemas.openxmlformats.org/drawingml/2006/main">
            <a:r>
              <a:t>      "case:291a33370ec9b1"</a:t>
            </a:r>
          </a:p>
          <a:p xmlns:a="http://schemas.openxmlformats.org/drawingml/2006/main">
            <a:r>
              <a:t>    ]</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dataset:51110:1 | 한국관광 데이터랩 · 강원특별자치도 춘천시 순 방문자 수 및 숙박 비율 (이동통신 기반 외지인) | https://datalab.visitkorea.or.kr/</a:t>
            </a:r>
          </a:p>
          <a:p>
            <a:r>
              <a:t>dataset:51110:2 | 한국관광 데이터랩 · 강원특별자치도 춘천시 월간 순 방문자 수 (이동통신 기반 외지인) | https://datalab.visitkorea.or.kr/</a:t>
            </a:r>
          </a:p>
          <a:p>
            <a:r>
              <a:t>dataset:51110:3 | 한국관광 데이터랩 · 강원특별자치도 춘천시 관광소비 추이_외지인 | https://datalab.visitkorea.or.kr/</a:t>
            </a:r>
          </a:p>
          <a:p>
            <a:r>
              <a:t>dataset:51110:4 | 한국관광 데이터랩 · 강원특별자치도 춘천시 숙박방문자 비율 추이 (이동통신 기반 외지인) | https://datalab.visitkorea.or.kr/</a:t>
            </a:r>
          </a:p>
          <a:p>
            <a:r>
              <a:t>dataset:51110:5 | 한국관광 데이터랩 · 강원특별자치도 춘천시 평균 숙박일 (이동통신 기반 외지인) | https://datalab.visitkorea.or.kr/</a:t>
            </a:r>
          </a:p>
          <a:p>
            <a:r>
              <a:t>dataset:51110:6 | 한국관광 데이터랩 · 강원특별자치도 춘천시 내비게이션 목적지 유형별 검색량 | https://datalab.visitkorea.or.kr/</a:t>
            </a:r>
          </a:p>
          <a:p>
            <a:r>
              <a:t>dataset:51110:7 | 한국관광 데이터랩 · 강원특별자치도 춘천시 SNS 언급량 | https://datalab.visitkorea.or.kr/</a:t>
            </a:r>
          </a:p>
          <a:p>
            <a:r>
              <a:t>datalab:2343c3bc93bf:81205be51a1a | 한국관광 데이터랩 공식 다운로드 · 강원특별자치도_춘천시/숙박_체류시간/2026_01_06.zip | https://datalab.visitkorea.or.kr/</a:t>
            </a:r>
          </a:p>
          <a:p>
            <a:r>
              <a:t>datalab:73a88f6fd74b:dc735676b7f4 | 한국관광 데이터랩 공식 다운로드 · 강원특별자치도_춘천시/숙박_체류시간/2025_01_12.zip | https://datalab.visitkorea.or.kr/</a:t>
            </a:r>
          </a:p>
          <a:p>
            <a:r>
              <a:t>datalab:77438b77a948:7f25647aea7e | 한국관광 데이터랩 공식 다운로드 · 강원특별자치도_춘천시/관광소비/2026_01_06.zip | https://datalab.visitkorea.or.kr/</a:t>
            </a:r>
          </a:p>
          <a:p>
            <a:r>
              <a:t>datalab:9642314b6e5e:34e60387985e | 한국관광 데이터랩 공식 다운로드 · 강원특별자치도_춘천시/관광소비/2025_01_12.zip | https://datalab.visitkorea.or.kr/</a:t>
            </a:r>
          </a:p>
          <a:p>
            <a:r>
              <a:t>datalab:ae4e45e46741:2689769fc6ce | 한국관광 데이터랩 공식 다운로드 · 강원특별자치도_춘천시/방문자/2026_01_06.zip | https://datalab.visitkorea.or.kr/</a:t>
            </a:r>
          </a:p>
          <a:p>
            <a:r>
              <a:t>datalab:e1ae014de0aa:877807c4ab51 | 한국관광 데이터랩 공식 다운로드 · 강원특별자치도_춘천시/방문자/2025_01_12.zip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regional-status:4a7789e925d5:55e3be9aa0cd | 한국관광 데이터랩 지역별 관광 현황 · 강원특별자치도 춘천시 · 유입유출 | https://datalab.visitkorea.or.kr/</a:t>
            </a:r>
          </a:p>
          <a:p>
            <a:r>
              <a:t>regional-status:61a9d2d6b099:8676c55ce1a7 | 한국관광 데이터랩 지역별 관광 현황 · 강원특별자치도 춘천시 · 인기관광지 | https://datalab.visitkorea.or.kr/</a:t>
            </a:r>
          </a:p>
          <a:p>
            <a:r>
              <a:t>regional-status:b3fe66c3af97:a10ce860bf9f | 한국관광 데이터랩 지역별 관광 현황 · 강원특별자치도 춘천시 · 지역집중률 | https://datalab.visitkorea.or.kr/</a:t>
            </a:r>
          </a:p>
          <a:p>
            <a:r>
              <a:t>ml:51110:regional-demand-v3.1:202606 | 지역 관광수요 ML 전망 · 공식 관측값 아님 | URL 미기록</a:t>
            </a:r>
          </a:p>
          <a:p>
            <a:r>
              <a:t>tour-api:2891703 | 가보자순대국 | https://apis.data.go.kr/B551011/KorService2</a:t>
            </a:r>
          </a:p>
          <a:p>
            <a:r>
              <a:t>tour-api:3083085 | 가평1등수상레저 | https://apis.data.go.kr/B551011/KorService2</a:t>
            </a:r>
          </a:p>
          <a:p>
            <a:r>
              <a:t>tour-api:128778 | 강원 경찰충혼탑 | https://apis.data.go.kr/B551011/KorService2</a:t>
            </a:r>
          </a:p>
          <a:p>
            <a:r>
              <a:t>tour-api:129840 | 강원대학교중앙박물관 | https://apis.data.go.kr/B551011/KorService2</a:t>
            </a:r>
          </a:p>
          <a:p>
            <a:r>
              <a:t>tour-api:2610850 | 강원숲체험장 | https://apis.data.go.kr/B551011/KorService2</a:t>
            </a:r>
          </a:p>
          <a:p>
            <a:r>
              <a:t>tour-api:131456 | 강원특별자치도청소년수련원 | https://apis.data.go.kr/B551011/KorService2</a:t>
            </a:r>
          </a:p>
          <a:p>
            <a:r>
              <a:t>tour-api:2706334 | 강촌 출렁다리공원 | https://apis.data.go.kr/B551011/KorService2</a:t>
            </a:r>
          </a:p>
          <a:p>
            <a:r>
              <a:t>tour-api:1947118 | 강촌레일파크(김유정레일바이크) | https://apis.data.go.kr/B551011/KorService2</a:t>
            </a:r>
          </a:p>
          <a:p>
            <a:r>
              <a:t>tour-api:2759582 | 강촌버즈글램핑 | https://apis.data.go.kr/B551011/KorService2</a:t>
            </a:r>
          </a:p>
          <a:p>
            <a:r>
              <a:t>tour-api:125605 | 강촌유원지 | https://apis.data.go.kr/B551011/KorService2</a:t>
            </a:r>
          </a:p>
          <a:p>
            <a:r>
              <a:t>tour-api:2741528 | 강촌하늘아래글램핑 | https://apis.data.go.kr/B551011/KorService2</a:t>
            </a:r>
          </a:p>
          <a:p>
            <a:r>
              <a:t>tour-api:391742 | 경강막국수 | https://apis.data.go.kr/B551011/KorService2</a:t>
            </a:r>
          </a:p>
          <a:p>
            <a:r>
              <a:t>tour-api:2558052 | 고목 | https://apis.data.go.kr/B551011/KorService2</a:t>
            </a:r>
          </a:p>
          <a:p>
            <a:r>
              <a:t>tour-api:129004 | 공지천 조각공원 | https://apis.data.go.kr/B551011/KorService2</a:t>
            </a:r>
          </a:p>
          <a:p>
            <a:r>
              <a:t>tour-api:2792017 | 구곡폭포 국민여가 캠핑장 | https://apis.data.go.kr/B551011/KorService2</a:t>
            </a:r>
          </a:p>
          <a:p>
            <a:r>
              <a:t>tour-api:2714558 | 구봉산 | https://apis.data.go.kr/B551011/KorService2</a:t>
            </a:r>
          </a:p>
          <a:p>
            <a:r>
              <a:t>tour-api:407225 | 국립 용화산자연휴양림 | https://apis.data.go.kr/B551011/KorService2</a:t>
            </a:r>
          </a:p>
          <a:p>
            <a:r>
              <a:t>tour-api:2710587 | 국립춘천숲체원 | https://apis.data.go.kr/B551011/KorService2</a:t>
            </a:r>
          </a:p>
          <a:p>
            <a:r>
              <a:t>tour-api:2774528 | 군자숯불닭갈비 | https://apis.data.go.kr/B551011/KorService2</a:t>
            </a:r>
          </a:p>
          <a:p>
            <a:r>
              <a:t>tour-api:2710596 | 근화동396청년창업공간 | https://apis.data.go.kr/B551011/KorService2</a:t>
            </a:r>
          </a:p>
          <a:p>
            <a:r>
              <a:t>reference:kto:2026:local-airport | 요즘, 한국관광 2호 - 지방공항 연계 지역관광 활성화 방안 | PDF 44쪽, PDF 43쪽, PDF 38쪽, PDF 40쪽, PDF 41쪽, PDF 36쪽, PDF 41쪽, PDF 44쪽, PDF 43쪽, PDF 43쪽 | https://datalab.visitkorea.or.kr/site/portal/ex/bbs/View.do?bcIdx=311068&amp;cbIdx=1135&amp;pageIndex=1</a:t>
            </a:r>
          </a:p>
          <a:p>
            <a:r>
              <a:t>case:jeonju_night_budget_2026 | 전주시 2026년도 관광산업과 세출예산 사업명세서 | https://jeonju.go.kr/resource/www/images/download/budget/2026/2026_31_2.pdf</a:t>
            </a:r>
          </a:p>
          <a:p>
            <a:r>
              <a:t>case:291a33370ec9b1 | 섬에서의 특별한 경험, ‘인천 섬 도도하게 살아보기’로 누린다 | https://www.incheon.go.kr/mayor_8/MA040101/view?curPage=236&amp;repSeq=DOM_0000000010488055</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case:night_tourism_cities_2024 | 2024년도 정부업무평가 관광분야 성과자료 | https://www.evaluation.go.kr/upload2/atch/eval/20250429095846463.pdf</a:t>
            </a:r>
          </a:p>
          <a:p>
            <a:r>
              <a:t>[/Sources]</a:t>
            </a:r>
          </a:p>
          <a:p>
            <a:r>
              <a:t>[Calculation audit]</a:t>
            </a:r>
          </a:p>
          <a:p>
            <a:r>
              <a:t>{</a:t>
            </a:r>
          </a:p>
          <a:p>
            <a:r>
              <a:t>  "source_inventory": [</a:t>
            </a:r>
          </a:p>
          <a:p>
            <a:r>
              <a:t>    {</a:t>
            </a:r>
          </a:p>
          <a:p>
            <a:r>
              <a:t>      "title": "한국관광 데이터랩 · 강원특별자치도 춘천시 순 방문자 수 및 숙박 비율 (이동통신 기반 외지인)",</a:t>
            </a:r>
          </a:p>
          <a:p>
            <a:r>
              <a:t>      "summary": "월간 순 방문자 수: 1,873,282명 (관측 기준월: 2026-06)",</a:t>
            </a:r>
          </a:p>
          <a:p>
            <a:r>
              <a:t>      "source_id": "dataset:51110:1",</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춘천시 월간 순 방문자 수 (이동통신 기반 외지인)",</a:t>
            </a:r>
          </a:p>
          <a:p>
            <a:r>
              <a:t>      "summary": "전년동월 외지인 방문자 증감률: -8.1% (관측 기준월: 2026-06)",</a:t>
            </a:r>
          </a:p>
          <a:p>
            <a:r>
              <a:t>      "source_id": "dataset:51110:2",</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춘천시 관광소비 추이_외지인",</a:t>
            </a:r>
          </a:p>
          <a:p>
            <a:r>
              <a:t>      "summary": "월간 외지인 관광소비 총액: 51,352,814,000원 (관측 기준월: 2026-06)",</a:t>
            </a:r>
          </a:p>
          <a:p>
            <a:r>
              <a:t>      "source_id": "dataset:51110:3",</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춘천시 숙박방문자 비율 추이 (이동통신 기반 외지인)",</a:t>
            </a:r>
          </a:p>
          <a:p>
            <a:r>
              <a:t>      "summary": "외지인 숙박 방문 비율: 14.1% (관측 기준월: 2026-06)",</a:t>
            </a:r>
          </a:p>
          <a:p>
            <a:r>
              <a:t>      "source_id": "dataset:51110:4",</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춘천시 평균 숙박일 (이동통신 기반 외지인)",</a:t>
            </a:r>
          </a:p>
          <a:p>
            <a:r>
              <a:t>      "summary": "외지인 평균 숙박일수: 2.61일 (관측 기준월: 2026-06)",</a:t>
            </a:r>
          </a:p>
          <a:p>
            <a:r>
              <a:t>      "source_id": "dataset:51110:5",</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춘천시 내비게이션 목적지 유형별 검색량",</a:t>
            </a:r>
          </a:p>
          <a:p>
            <a:r>
              <a:t>      "summary": "내비게이션 목적지 검색량: 322,791건 (관측 기준월: 2026-06)",</a:t>
            </a:r>
          </a:p>
          <a:p>
            <a:r>
              <a:t>      "source_id": "dataset:51110:6",</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춘천시 SNS 언급량",</a:t>
            </a:r>
          </a:p>
          <a:p>
            <a:r>
              <a:t>      "summary": "SNS 언급량: 46,739건 (관측 기준월: 2026-06)",</a:t>
            </a:r>
          </a:p>
          <a:p>
            <a:r>
              <a:t>      "source_id": "dataset:51110:7",</a:t>
            </a:r>
          </a:p>
          <a:p>
            <a:r>
              <a:t>      "source_url": "https://datalab.visitkorea.or.kr/",</a:t>
            </a:r>
          </a:p>
          <a:p>
            <a:r>
              <a:t>      "source_type": "dataset",</a:t>
            </a:r>
          </a:p>
          <a:p>
            <a:r>
              <a:t>      "observation_period": "2026-06",</a:t>
            </a:r>
          </a:p>
          <a:p>
            <a:r>
              <a:t>      "published_or_updated_at": "2026-06"</a:t>
            </a:r>
          </a:p>
          <a:p>
            <a:r>
              <a:t>    },</a:t>
            </a:r>
          </a:p>
          <a:p>
            <a:r>
              <a:t>    {</a:t>
            </a:r>
          </a:p>
          <a:p>
            <a:r>
              <a:t>      "title": "한국관광 데이터랩 공식 다운로드 · 강원특별자치도_춘천시/숙박_체류시간/2026_01_06.zip",</a:t>
            </a:r>
          </a:p>
          <a:p>
            <a:r>
              <a:t>      "summary": "전국 비교 기준 기간: 2025-07 ~ 2026-06",</a:t>
            </a:r>
          </a:p>
          <a:p>
            <a:r>
              <a:t>      "source_id": "datalab:2343c3bc93bf:81205be51a1a",</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강원특별자치도_춘천시/숙박_체류시간/2025_01_12.zip",</a:t>
            </a:r>
          </a:p>
          <a:p>
            <a:r>
              <a:t>      "summary": "전국 비교 기준 기간: 2025-07 ~ 2026-06",</a:t>
            </a:r>
          </a:p>
          <a:p>
            <a:r>
              <a:t>      "source_id": "datalab:73a88f6fd74b:dc735676b7f4",</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강원특별자치도_춘천시/관광소비/2026_01_06.zip",</a:t>
            </a:r>
          </a:p>
          <a:p>
            <a:r>
              <a:t>      "summary": "전국 비교 기준 기간: 2025-07 ~ 2026-06",</a:t>
            </a:r>
          </a:p>
          <a:p>
            <a:r>
              <a:t>      "source_id": "datalab:77438b77a948:7f25647aea7e",</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강원특별자치도_춘천시/관광소비/2025_01_12.zip",</a:t>
            </a:r>
          </a:p>
          <a:p>
            <a:r>
              <a:t>      "summary": "전국 비교 기준 기간: 2025-07 ~ 2026-06",</a:t>
            </a:r>
          </a:p>
          <a:p>
            <a:r>
              <a:t>      "source_id": "datalab:9642314b6e5e:34e60387985e",</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강원특별자치도_춘천시/방문자/2026_01_06.zip",</a:t>
            </a:r>
          </a:p>
          <a:p>
            <a:r>
              <a:t>      "summary": "전국 비교 기준 기간: 2025-07 ~ 2026-06",</a:t>
            </a:r>
          </a:p>
          <a:p>
            <a:r>
              <a:t>      "source_id": "datalab:ae4e45e46741:2689769fc6ce",</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강원특별자치도_춘천시/방문자/2025_01_12.zip",</a:t>
            </a:r>
          </a:p>
          <a:p>
            <a:r>
              <a:t>      "summary": "전국 비교 기준 기간: 2025-07 ~ 2026-06",</a:t>
            </a:r>
          </a:p>
          <a:p>
            <a:r>
              <a:t>      "source_id": "datalab:e1ae014de0aa:877807c4ab51",</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전국 빅데이터 다운로드 · 이동통신/내국인/지역별 방문자수/20260820140607__202601-202606_데이터랩_다운로드.zip",</a:t>
            </a:r>
          </a:p>
          <a:p>
            <a:r>
              <a:t>      "summary": "시군구 기간합계·비중 또는 전국 월별 추이. 지역 월별 ML·정책 효과가 아닌 보조 근거.",</a:t>
            </a:r>
          </a:p>
          <a:p>
            <a:r>
              <a:t>      "source_id": "team-bigdata:23ea68053684:6bfbcf8aabf6",</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이동통신/외국인/20260820141710_전국_202601-202606_데이터랩_다운로드.zip",</a:t>
            </a:r>
          </a:p>
          <a:p>
            <a:r>
              <a:t>      "summary": "시군구 기간합계·비중 또는 전국 월별 추이. 지역 월별 ML·정책 효과가 아닌 보조 근거.",</a:t>
            </a:r>
          </a:p>
          <a:p>
            <a:r>
              <a:t>      "source_id": "team-bigdata:98d4ae590d9a:3be52dd54323",</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관광지출액/20260820140046__202601-202606_데이터랩_다운로드.zip",</a:t>
            </a:r>
          </a:p>
          <a:p>
            <a:r>
              <a:t>      "summary": "시군구 기간합계·비중 또는 전국 월별 추이. 지역 월별 ML·정책 효과가 아닌 보조 근거.",</a:t>
            </a:r>
          </a:p>
          <a:p>
            <a:r>
              <a:t>      "source_id": "team-bigdata:367cd0294ec4:873930d645e5",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관광지출액/20260820140355__202601-202606_데이터랩_다운로드.zip",</a:t>
            </a:r>
          </a:p>
          <a:p>
            <a:r>
              <a:t>      "summary": "시군구 기간합계·비중 또는 전국 월별 추이. 지역 월별 ML·정책 효과가 아닌 보조 근거.",</a:t>
            </a:r>
          </a:p>
          <a:p>
            <a:r>
              <a:t>      "source_id": "team-bigdata:553a0dad4bb4:5a31355dffe8",</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검색건수/20260820195507__202601-202606_데이터랩_다운로드.zip",</a:t>
            </a:r>
          </a:p>
          <a:p>
            <a:r>
              <a:t>      "summary": "시군구 기간합계·비중 또는 전국 월별 추이. 지역 월별 ML·정책 효과가 아닌 보조 근거.",</a:t>
            </a:r>
          </a:p>
          <a:p>
            <a:r>
              <a:t>      "source_id": "team-bigdata:a53dbe1c21df:77a052de41d5",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방문자수/20260820140614__202501-202512_데이터랩_다운로드.zip",</a:t>
            </a:r>
          </a:p>
          <a:p>
            <a:r>
              <a:t>      "summary": "시군구 기간합계·비중 또는 전국 월별 추이. 지역 월별 ML·정책 효과가 아닌 보조 근거.",</a:t>
            </a:r>
          </a:p>
          <a:p>
            <a:r>
              <a:t>      "source_id": "team-bigdata:823a38d1d61c:5385261d02e5",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이동통신/외국인/20260820141649_전국_202501-202512_데이터랩_다운로드.zip",</a:t>
            </a:r>
          </a:p>
          <a:p>
            <a:r>
              <a:t>      "summary": "시군구 기간합계·비중 또는 전국 월별 추이. 지역 월별 ML·정책 효과가 아닌 보조 근거.",</a:t>
            </a:r>
          </a:p>
          <a:p>
            <a:r>
              <a:t>      "source_id": "team-bigdata:2723bdb0d589:1666a34058ed",</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관광지출액/20260820135957__202501-202512_데이터랩_다운로드.zip",</a:t>
            </a:r>
          </a:p>
          <a:p>
            <a:r>
              <a:t>      "summary": "시군구 기간합계·비중 또는 전국 월별 추이. 지역 월별 ML·정책 효과가 아닌 보조 근거.",</a:t>
            </a:r>
          </a:p>
          <a:p>
            <a:r>
              <a:t>      "source_id": "team-bigdata:83177a234971:c02cb7972e0f",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관광지출액/20260820140409__202501-202512_데이터랩_다운로드.zip",</a:t>
            </a:r>
          </a:p>
          <a:p>
            <a:r>
              <a:t>      "summary": "시군구 기간합계·비중 또는 전국 월별 추이. 지역 월별 ML·정책 효과가 아닌 보조 근거.",</a:t>
            </a:r>
          </a:p>
          <a:p>
            <a:r>
              <a:t>      "source_id": "team-bigdata:58ded7732251:589c76395cbc",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검색건수/20260820132007__202501-202512_데이터랩_다운로드.zip",</a:t>
            </a:r>
          </a:p>
          <a:p>
            <a:r>
              <a:t>      "summary": "시군구 기간합계·비중 또는 전국 월별 추이. 지역 월별 ML·정책 효과가 아닌 보조 근거.",</a:t>
            </a:r>
          </a:p>
          <a:p>
            <a:r>
              <a:t>      "source_id": "team-bigdata:e28c947cb52f:bb4cb344a6ba",</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방문자수/20260820140624__202401-202412_데이터랩_다운로드.zip",</a:t>
            </a:r>
          </a:p>
          <a:p>
            <a:r>
              <a:t>      "summary": "시군구 기간합계·비중 또는 전국 월별 추이. 지역 월별 ML·정책 효과가 아닌 보조 근거.",</a:t>
            </a:r>
          </a:p>
          <a:p>
            <a:r>
              <a:t>      "source_id": "team-bigdata:8815bbb11a39:1a5988f5f8ec",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이동통신/외국인/20260820141639_전국_202401-202412_데이터랩_다운로드.zip",</a:t>
            </a:r>
          </a:p>
          <a:p>
            <a:r>
              <a:t>      "summary": "시군구 기간합계·비중 또는 전국 월별 추이. 지역 월별 ML·정책 효과가 아닌 보조 근거.",</a:t>
            </a:r>
          </a:p>
          <a:p>
            <a:r>
              <a:t>      "source_id": "team-bigdata:19fd67fbb73d:afa4f0f54a2f",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지역별 관광 현황 · 강원특별자치도 춘천시 · 유입유출",</a:t>
            </a:r>
          </a:p>
          <a:p>
            <a:r>
              <a:t>      "summary": "관측 기간: 2025-07 ~ 2026-06. 유입·유출·인기장소 또는 30일 집중 운영 신호.",</a:t>
            </a:r>
          </a:p>
          <a:p>
            <a:r>
              <a:t>      "source_id": "regional-status:4a7789e925d5:55e3be9aa0cd",</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강원특별자치도 춘천시 · 인기관광지",</a:t>
            </a:r>
          </a:p>
          <a:p>
            <a:r>
              <a:t>      "summary": "관측 기간: 2025-07 ~ 2026-06. 유입·유출·인기장소 또는 30일 집중 운영 신호.",</a:t>
            </a:r>
          </a:p>
          <a:p>
            <a:r>
              <a:t>      "source_id": "regional-status:61a9d2d6b099:8676c55ce1a7",</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강원특별자치도 춘천시 · 지역집중률",</a:t>
            </a:r>
          </a:p>
          <a:p>
            <a:r>
              <a:t>      "summary": "관측 기간: 2025-07 ~ 2026-06. 유입·유출·인기장소 또는 30일 집중 운영 신호.",</a:t>
            </a:r>
          </a:p>
          <a:p>
            <a:r>
              <a:t>      "source_id": "regional-status:b3fe66c3af97:a10ce860bf9f",</a:t>
            </a:r>
          </a:p>
          <a:p>
            <a:r>
              <a:t>      "source_url": "https://datalab.visitkorea.or.kr/",</a:t>
            </a:r>
          </a:p>
          <a:p>
            <a:r>
              <a:t>      "source_type": "regional_tourism_status",</a:t>
            </a:r>
          </a:p>
          <a:p>
            <a:r>
              <a:t>      "observation_period": "2025-07 ~ 2026-06",</a:t>
            </a:r>
          </a:p>
          <a:p>
            <a:r>
              <a:t>      "published_or_updated_at": ""</a:t>
            </a:r>
          </a:p>
          <a:p>
            <a:r>
              <a:t>    },</a:t>
            </a:r>
          </a:p>
          <a:p>
            <a:r>
              <a:t>    {</a:t>
            </a:r>
          </a:p>
          <a:p>
            <a:r>
              <a:t>      "title": "지역 관광수요 ML 전망 · 공식 관측값 아님",</a:t>
            </a:r>
          </a:p>
          <a:p>
            <a:r>
              <a:t>      "summary": "학습 202401~202606 · 모델 regional-demand-v3.1 · 자연 추세 예측",</a:t>
            </a:r>
          </a:p>
          <a:p>
            <a:r>
              <a:t>      "source_id": "ml:51110:regional-demand-v3.1:202606",</a:t>
            </a:r>
          </a:p>
          <a:p>
            <a:r>
              <a:t>      "source_url": "",</a:t>
            </a:r>
          </a:p>
          <a:p>
            <a:r>
              <a:t>      "source_type": "model_forecast",</a:t>
            </a:r>
          </a:p>
          <a:p>
            <a:r>
              <a:t>      "model_version": "regional-demand-v3.1",</a:t>
            </a:r>
          </a:p>
          <a:p>
            <a:r>
              <a:t>      "data_fingerprint": "b54445dc6e4c68c2130c72df908d376d3e7b474c59a1e83c7607f206257cf12c"</a:t>
            </a:r>
          </a:p>
          <a:p>
            <a:r>
              <a:t>    },</a:t>
            </a:r>
          </a:p>
          <a:p>
            <a:r>
              <a:t>    {</a:t>
            </a:r>
          </a:p>
          <a:p>
            <a:r>
              <a:t>      "title": "가보자순대국",</a:t>
            </a:r>
          </a:p>
          <a:p>
            <a:r>
              <a:t>      "address": "강원특별자치도 춘천시 율문2길 11",</a:t>
            </a:r>
          </a:p>
          <a:p>
            <a:r>
              <a:t>      "summary": "한국관광공사 국문관광정보 API가 반환한 선택 지역 관광자원",</a:t>
            </a:r>
          </a:p>
          <a:p>
            <a:r>
              <a:t>      "image_url": "http://tong.visitkorea.or.kr/cms/resource/95/2891695_image2_1.jpg",</a:t>
            </a:r>
          </a:p>
          <a:p>
            <a:r>
              <a:t>      "source_id": "tour-api:2891703",</a:t>
            </a:r>
          </a:p>
          <a:p>
            <a:r>
              <a:t>      "content_id": "2891703",</a:t>
            </a:r>
          </a:p>
          <a:p>
            <a:r>
              <a:t>      "source_url": "https://apis.data.go.kr/B551011/KorService2",</a:t>
            </a:r>
          </a:p>
          <a:p>
            <a:r>
              <a:t>      "source_type": "open_api",</a:t>
            </a:r>
          </a:p>
          <a:p>
            <a:r>
              <a:t>      "content_type_id": "39"</a:t>
            </a:r>
          </a:p>
          <a:p>
            <a:r>
              <a:t>    },</a:t>
            </a:r>
          </a:p>
          <a:p>
            <a:r>
              <a:t>    {</a:t>
            </a:r>
          </a:p>
          <a:p>
            <a:r>
              <a:t>      "title": "가평1등수상레저",</a:t>
            </a:r>
          </a:p>
          <a:p>
            <a:r>
              <a:t>      "address": "강원특별자치도 춘천시 남면 박암관천길 511-55",</a:t>
            </a:r>
          </a:p>
          <a:p>
            <a:r>
              <a:t>      "summary": "한국관광공사 국문관광정보 API가 반환한 선택 지역 관광자원",</a:t>
            </a:r>
          </a:p>
          <a:p>
            <a:r>
              <a:t>      "image_url": "http://tong.visitkorea.or.kr/cms/resource/64/3083064_image2_1.jpg",</a:t>
            </a:r>
          </a:p>
          <a:p>
            <a:r>
              <a:t>      "source_id": "tour-api:3083085",</a:t>
            </a:r>
          </a:p>
          <a:p>
            <a:r>
              <a:t>      "content_id": "3083085",</a:t>
            </a:r>
          </a:p>
          <a:p>
            <a:r>
              <a:t>      "source_url": "https://apis.data.go.kr/B551011/KorService2",</a:t>
            </a:r>
          </a:p>
          <a:p>
            <a:r>
              <a:t>      "source_type": "open_api",</a:t>
            </a:r>
          </a:p>
          <a:p>
            <a:r>
              <a:t>      "content_type_id": "28"</a:t>
            </a:r>
          </a:p>
          <a:p>
            <a:r>
              <a:t>    },</a:t>
            </a:r>
          </a:p>
          <a:p>
            <a:r>
              <a:t>    {</a:t>
            </a:r>
          </a:p>
          <a:p>
            <a:r>
              <a:t>      "title": "강원 경찰충혼탑",</a:t>
            </a:r>
          </a:p>
          <a:p>
            <a:r>
              <a:t>      "address": "강원특별자치도 춘천시 서면 신매리",</a:t>
            </a:r>
          </a:p>
          <a:p>
            <a:r>
              <a:t>      "summary": "한국관광공사 국문관광정보 API가 반환한 선택 지역 관광자원",</a:t>
            </a:r>
          </a:p>
          <a:p>
            <a:r>
              <a:t>      "image_url": "http://tong.visitkorea.or.kr/cms/resource/36/3381636_image2_1.JPG",</a:t>
            </a:r>
          </a:p>
          <a:p>
            <a:r>
              <a:t>      "source_id": "tour-api:128778",</a:t>
            </a:r>
          </a:p>
          <a:p>
            <a:r>
              <a:t>      "content_id": "128778",</a:t>
            </a:r>
          </a:p>
          <a:p>
            <a:r>
              <a:t>      "source_url": "https://apis.data.go.kr/B551011/KorService2",</a:t>
            </a:r>
          </a:p>
          <a:p>
            <a:r>
              <a:t>      "source_type": "open_api",</a:t>
            </a:r>
          </a:p>
          <a:p>
            <a:r>
              <a:t>      "content_type_id": "12"</a:t>
            </a:r>
          </a:p>
          <a:p>
            <a:r>
              <a:t>    },</a:t>
            </a:r>
          </a:p>
          <a:p>
            <a:r>
              <a:t>    {</a:t>
            </a:r>
          </a:p>
          <a:p>
            <a:r>
              <a:t>      "title": "강원대학교중앙박물관",</a:t>
            </a:r>
          </a:p>
          <a:p>
            <a:r>
              <a:t>      "address": "강원특별자치도 춘천시 공지로 188-77 (효자동)",</a:t>
            </a:r>
          </a:p>
          <a:p>
            <a:r>
              <a:t>      "summary": "한국관광공사 국문관광정보 API가 반환한 선택 지역 관광자원",</a:t>
            </a:r>
          </a:p>
          <a:p>
            <a:r>
              <a:t>      "image_url": "http://tong.visitkorea.or.kr/cms/resource/58/3475458_image2_1.jpg",</a:t>
            </a:r>
          </a:p>
          <a:p>
            <a:r>
              <a:t>      "source_id": "tour-api:129840",</a:t>
            </a:r>
          </a:p>
          <a:p>
            <a:r>
              <a:t>      "content_id": "129840",</a:t>
            </a:r>
          </a:p>
          <a:p>
            <a:r>
              <a:t>      "source_url": "https://apis.data.go.kr/B551011/KorService2",</a:t>
            </a:r>
          </a:p>
          <a:p>
            <a:r>
              <a:t>      "source_type": "open_api",</a:t>
            </a:r>
          </a:p>
          <a:p>
            <a:r>
              <a:t>      "content_type_id": "14"</a:t>
            </a:r>
          </a:p>
          <a:p>
            <a:r>
              <a:t>    },</a:t>
            </a:r>
          </a:p>
          <a:p>
            <a:r>
              <a:t>    {</a:t>
            </a:r>
          </a:p>
          <a:p>
            <a:r>
              <a:t>      "title": "강원숲체험장",</a:t>
            </a:r>
          </a:p>
          <a:p>
            <a:r>
              <a:t>      "address": "강원특별자치도 춘천시 서면 납실길 107-64",</a:t>
            </a:r>
          </a:p>
          <a:p>
            <a:r>
              <a:t>      "summary": "한국관광공사 국문관광정보 API가 반환한 선택 지역 관광자원",</a:t>
            </a:r>
          </a:p>
          <a:p>
            <a:r>
              <a:t>      "image_url": "http://tong.visitkorea.or.kr/cms/resource/11/2739711_image2_1.jpg",</a:t>
            </a:r>
          </a:p>
          <a:p>
            <a:r>
              <a:t>      "source_id": "tour-api:2610850",</a:t>
            </a:r>
          </a:p>
          <a:p>
            <a:r>
              <a:t>      "content_id": "2610850",</a:t>
            </a:r>
          </a:p>
          <a:p>
            <a:r>
              <a:t>      "source_url": "https://apis.data.go.kr/B551011/KorService2",</a:t>
            </a:r>
          </a:p>
          <a:p>
            <a:r>
              <a:t>      "source_type": "open_api",</a:t>
            </a:r>
          </a:p>
          <a:p>
            <a:r>
              <a:t>      "content_type_id": "12"</a:t>
            </a:r>
          </a:p>
          <a:p>
            <a:r>
              <a:t>    },</a:t>
            </a:r>
          </a:p>
          <a:p>
            <a:r>
              <a:t>    {</a:t>
            </a:r>
          </a:p>
          <a:p>
            <a:r>
              <a:t>      "title": "강원특별자치도청소년수련원",</a:t>
            </a:r>
          </a:p>
          <a:p>
            <a:r>
              <a:t>      "address": "강원특별자치도 춘천시 신샘밭로 89",</a:t>
            </a:r>
          </a:p>
          <a:p>
            <a:r>
              <a:t>      "summary": "한국관광공사 국문관광정보 API가 반환한 선택 지역 관광자원",</a:t>
            </a:r>
          </a:p>
          <a:p>
            <a:r>
              <a:t>      "image_url": "http://tong.visitkorea.or.kr/cms/resource/05/3382505_image2_1.JPG",</a:t>
            </a:r>
          </a:p>
          <a:p>
            <a:r>
              <a:t>      "source_id": "tour-api:131456",</a:t>
            </a:r>
          </a:p>
          <a:p>
            <a:r>
              <a:t>      "content_id": "131456",</a:t>
            </a:r>
          </a:p>
          <a:p>
            <a:r>
              <a:t>      "source_url": "https://apis.data.go.kr/B551011/KorService2",</a:t>
            </a:r>
          </a:p>
          <a:p>
            <a:r>
              <a:t>      "source_type": "open_api",</a:t>
            </a:r>
          </a:p>
          <a:p>
            <a:r>
              <a:t>      "content_type_id": "28"</a:t>
            </a:r>
          </a:p>
          <a:p>
            <a:r>
              <a:t>    },</a:t>
            </a:r>
          </a:p>
          <a:p>
            <a:r>
              <a:t>    {</a:t>
            </a:r>
          </a:p>
          <a:p>
            <a:r>
              <a:t>      "title": "강촌 출렁다리공원",</a:t>
            </a:r>
          </a:p>
          <a:p>
            <a:r>
              <a:t>      "address": "강원특별자치도 춘천시 남산면 강촌리",</a:t>
            </a:r>
          </a:p>
          <a:p>
            <a:r>
              <a:t>      "summary": "한국관광공사 국문관광정보 API가 반환한 선택 지역 관광자원",</a:t>
            </a:r>
          </a:p>
          <a:p>
            <a:r>
              <a:t>      "image_url": "http://tong.visitkorea.or.kr/cms/resource/96/3382296_image2_1.JPG",</a:t>
            </a:r>
          </a:p>
          <a:p>
            <a:r>
              <a:t>      "source_id": "tour-api:2706334",</a:t>
            </a:r>
          </a:p>
          <a:p>
            <a:r>
              <a:t>      "content_id": "2706334",</a:t>
            </a:r>
          </a:p>
          <a:p>
            <a:r>
              <a:t>      "source_url": "https://apis.data.go.kr/B551011/KorService2",</a:t>
            </a:r>
          </a:p>
          <a:p>
            <a:r>
              <a:t>      "source_type": "open_api",</a:t>
            </a:r>
          </a:p>
          <a:p>
            <a:r>
              <a:t>      "content_type_id": "12"</a:t>
            </a:r>
          </a:p>
          <a:p>
            <a:r>
              <a:t>    },</a:t>
            </a:r>
          </a:p>
          <a:p>
            <a:r>
              <a:t>    {</a:t>
            </a:r>
          </a:p>
          <a:p>
            <a:r>
              <a:t>      "title": "강촌레일파크(김유정레일바이크)",</a:t>
            </a:r>
          </a:p>
          <a:p>
            <a:r>
              <a:t>      "address": "강원특별자치도 춘천시 신동면 김유정로 1383",</a:t>
            </a:r>
          </a:p>
          <a:p>
            <a:r>
              <a:t>      "summary": "한국관광공사 국문관광정보 API가 반환한 선택 지역 관광자원",</a:t>
            </a:r>
          </a:p>
          <a:p>
            <a:r>
              <a:t>      "image_url": "http://tong.visitkorea.or.kr/cms/resource/48/2739748_image2_1.jpeg",</a:t>
            </a:r>
          </a:p>
          <a:p>
            <a:r>
              <a:t>      "source_id": "tour-api:1947118",</a:t>
            </a:r>
          </a:p>
          <a:p>
            <a:r>
              <a:t>      "content_id": "1947118",</a:t>
            </a:r>
          </a:p>
          <a:p>
            <a:r>
              <a:t>      "source_url": "https://apis.data.go.kr/B551011/KorService2",</a:t>
            </a:r>
          </a:p>
          <a:p>
            <a:r>
              <a:t>      "source_type": "open_api",</a:t>
            </a:r>
          </a:p>
          <a:p>
            <a:r>
              <a:t>      "content_type_id": "28"</a:t>
            </a:r>
          </a:p>
          <a:p>
            <a:r>
              <a:t>    },</a:t>
            </a:r>
          </a:p>
          <a:p>
            <a:r>
              <a:t>    {</a:t>
            </a:r>
          </a:p>
          <a:p>
            <a:r>
              <a:t>      "title": "강촌버즈글램핑",</a:t>
            </a:r>
          </a:p>
          <a:p>
            <a:r>
              <a:t>      "address": "강원특별자치도 춘천시 서면 율장길 122-28",</a:t>
            </a:r>
          </a:p>
          <a:p>
            <a:r>
              <a:t>      "summary": "한국관광공사 국문관광정보 API가 반환한 선택 지역 관광자원",</a:t>
            </a:r>
          </a:p>
          <a:p>
            <a:r>
              <a:t>      "image_url": "http://tong.visitkorea.or.kr/cms/resource/44/2760044_image2_1.JPG",</a:t>
            </a:r>
          </a:p>
          <a:p>
            <a:r>
              <a:t>      "source_id": "tour-api:2759582",</a:t>
            </a:r>
          </a:p>
          <a:p>
            <a:r>
              <a:t>      "content_id": "2759582",</a:t>
            </a:r>
          </a:p>
          <a:p>
            <a:r>
              <a:t>      "source_url": "https://apis.data.go.kr/B551011/KorService2",</a:t>
            </a:r>
          </a:p>
          <a:p>
            <a:r>
              <a:t>      "source_type": "open_api",</a:t>
            </a:r>
          </a:p>
          <a:p>
            <a:r>
              <a:t>      "content_type_id": "28"</a:t>
            </a:r>
          </a:p>
          <a:p>
            <a:r>
              <a:t>    },</a:t>
            </a:r>
          </a:p>
          <a:p>
            <a:r>
              <a:t>    {</a:t>
            </a:r>
          </a:p>
          <a:p>
            <a:r>
              <a:t>      "title": "강촌유원지",</a:t>
            </a:r>
          </a:p>
          <a:p>
            <a:r>
              <a:t>      "address": "강원특별자치도 춘천시 남산면 일원",</a:t>
            </a:r>
          </a:p>
          <a:p>
            <a:r>
              <a:t>      "summary": "한국관광공사 국문관광정보 API가 반환한 선택 지역 관광자원",</a:t>
            </a:r>
          </a:p>
          <a:p>
            <a:r>
              <a:t>      "image_url": "http://tong.visitkorea.or.kr/cms/resource/64/3533864_image2_1.jpg",</a:t>
            </a:r>
          </a:p>
          <a:p>
            <a:r>
              <a:t>      "source_id": "tour-api:125605",</a:t>
            </a:r>
          </a:p>
          <a:p>
            <a:r>
              <a:t>      "content_id": "125605",</a:t>
            </a:r>
          </a:p>
          <a:p>
            <a:r>
              <a:t>      "source_url": "https://apis.data.go.kr/B551011/KorService2",</a:t>
            </a:r>
          </a:p>
          <a:p>
            <a:r>
              <a:t>      "source_type": "open_api",</a:t>
            </a:r>
          </a:p>
          <a:p>
            <a:r>
              <a:t>      "content_type_id": "12"</a:t>
            </a:r>
          </a:p>
          <a:p>
            <a:r>
              <a:t>    },</a:t>
            </a:r>
          </a:p>
          <a:p>
            <a:r>
              <a:t>    {</a:t>
            </a:r>
          </a:p>
          <a:p>
            <a:r>
              <a:t>      "title": "강촌하늘아래글램핑",</a:t>
            </a:r>
          </a:p>
          <a:p>
            <a:r>
              <a:t>      "address": "강원특별자치도 춘천시 남산면 풀무골1길 71",</a:t>
            </a:r>
          </a:p>
          <a:p>
            <a:r>
              <a:t>      "summary": "한국관광공사 국문관광정보 API가 반환한 선택 지역 관광자원",</a:t>
            </a:r>
          </a:p>
          <a:p>
            <a:r>
              <a:t>      "image_url": "http://tong.visitkorea.or.kr/cms/resource/45/2741645_image2_1.JPG",</a:t>
            </a:r>
          </a:p>
          <a:p>
            <a:r>
              <a:t>      "source_id": "tour-api:2741528",</a:t>
            </a:r>
          </a:p>
          <a:p>
            <a:r>
              <a:t>      "content_id": "2741528",</a:t>
            </a:r>
          </a:p>
          <a:p>
            <a:r>
              <a:t>      "source_url": "https://apis.data.go.kr/B551011/KorService2",</a:t>
            </a:r>
          </a:p>
          <a:p>
            <a:r>
              <a:t>      "source_type": "open_api",</a:t>
            </a:r>
          </a:p>
          <a:p>
            <a:r>
              <a:t>      "content_type_id": "28"</a:t>
            </a:r>
          </a:p>
          <a:p>
            <a:r>
              <a:t>    },</a:t>
            </a:r>
          </a:p>
          <a:p>
            <a:r>
              <a:t>    {</a:t>
            </a:r>
          </a:p>
          <a:p>
            <a:r>
              <a:t>      "title": "경강막국수",</a:t>
            </a:r>
          </a:p>
          <a:p>
            <a:r>
              <a:t>      "address": "강원특별자치도 춘천시 남산면 서백길 62-4",</a:t>
            </a:r>
          </a:p>
          <a:p>
            <a:r>
              <a:t>      "summary": "한국관광공사 국문관광정보 API가 반환한 선택 지역 관광자원",</a:t>
            </a:r>
          </a:p>
          <a:p>
            <a:r>
              <a:t>      "image_url": "http://tong.visitkorea.or.kr/cms/resource/39/3046639_image2_1.jpg",</a:t>
            </a:r>
          </a:p>
          <a:p>
            <a:r>
              <a:t>      "source_id": "tour-api:391742",</a:t>
            </a:r>
          </a:p>
          <a:p>
            <a:r>
              <a:t>      "content_id": "391742",</a:t>
            </a:r>
          </a:p>
          <a:p>
            <a:r>
              <a:t>      "source_url": "https://apis.data.go.kr/B551011/KorService2",</a:t>
            </a:r>
          </a:p>
          <a:p>
            <a:r>
              <a:t>      "source_type": "open_api",</a:t>
            </a:r>
          </a:p>
          <a:p>
            <a:r>
              <a:t>      "content_type_id": "39"</a:t>
            </a:r>
          </a:p>
          <a:p>
            <a:r>
              <a:t>    },</a:t>
            </a:r>
          </a:p>
          <a:p>
            <a:r>
              <a:t>    {</a:t>
            </a:r>
          </a:p>
          <a:p>
            <a:r>
              <a:t>      "title": "고목",</a:t>
            </a:r>
          </a:p>
          <a:p>
            <a:r>
              <a:t>      "address": "강원특별자치도 춘천시 남산면 남이섬길 1",</a:t>
            </a:r>
          </a:p>
          <a:p>
            <a:r>
              <a:t>      "summary": "한국관광공사 국문관광정보 API가 반환한 선택 지역 관광자원",</a:t>
            </a:r>
          </a:p>
          <a:p>
            <a:r>
              <a:t>      "image_url": "http://tong.visitkorea.or.kr/cms/resource/92/2919892_image2_1.jpg",</a:t>
            </a:r>
          </a:p>
          <a:p>
            <a:r>
              <a:t>      "source_id": "tour-api:2558052",</a:t>
            </a:r>
          </a:p>
          <a:p>
            <a:r>
              <a:t>      "content_id": "2558052",</a:t>
            </a:r>
          </a:p>
          <a:p>
            <a:r>
              <a:t>      "source_url": "https://apis.data.go.kr/B551011/KorService2",</a:t>
            </a:r>
          </a:p>
          <a:p>
            <a:r>
              <a:t>      "source_type": "open_api",</a:t>
            </a:r>
          </a:p>
          <a:p>
            <a:r>
              <a:t>      "content_type_id": "39"</a:t>
            </a:r>
          </a:p>
          <a:p>
            <a:r>
              <a:t>    },</a:t>
            </a:r>
          </a:p>
          <a:p>
            <a:r>
              <a:t>    {</a:t>
            </a:r>
          </a:p>
          <a:p>
            <a:r>
              <a:t>      "title": "공지천 조각공원",</a:t>
            </a:r>
          </a:p>
          <a:p>
            <a:r>
              <a:t>      "address": "강원특별자치도 춘천시 옛경춘로 880 (근화동)",</a:t>
            </a:r>
          </a:p>
          <a:p>
            <a:r>
              <a:t>      "summary": "한국관광공사 국문관광정보 API가 반환한 선택 지역 관광자원",</a:t>
            </a:r>
          </a:p>
          <a:p>
            <a:r>
              <a:t>      "image_url": "http://tong.visitkorea.or.kr/cms/resource/31/3072531_image2_1.jpg",</a:t>
            </a:r>
          </a:p>
          <a:p>
            <a:r>
              <a:t>      "source_id": "tour-api:129004",</a:t>
            </a:r>
          </a:p>
          <a:p>
            <a:r>
              <a:t>      "content_id": "129004",</a:t>
            </a:r>
          </a:p>
          <a:p>
            <a:r>
              <a:t>      "source_url": "https://apis.data.go.kr/B551011/KorService2",</a:t>
            </a:r>
          </a:p>
          <a:p>
            <a:r>
              <a:t>      "source_type": "open_api",</a:t>
            </a:r>
          </a:p>
          <a:p>
            <a:r>
              <a:t>      "content_type_id": "14"</a:t>
            </a:r>
          </a:p>
          <a:p>
            <a:r>
              <a:t>    },</a:t>
            </a:r>
          </a:p>
          <a:p>
            <a:r>
              <a:t>    {</a:t>
            </a:r>
          </a:p>
          <a:p>
            <a:r>
              <a:t>      "title": "구곡폭포 국민여가 캠핑장",</a:t>
            </a:r>
          </a:p>
          <a:p>
            <a:r>
              <a:t>      "address": "강원특별자치도 춘천시 남산면 강촌구곡길 324",</a:t>
            </a:r>
          </a:p>
          <a:p>
            <a:r>
              <a:t>      "summary": "한국관광공사 국문관광정보 API가 반환한 선택 지역 관광자원",</a:t>
            </a:r>
          </a:p>
          <a:p>
            <a:r>
              <a:t>      "image_url": "http://tong.visitkorea.or.kr/cms/resource/70/2793870_image2_1.jpg",</a:t>
            </a:r>
          </a:p>
          <a:p>
            <a:r>
              <a:t>      "source_id": "tour-api:2792017",</a:t>
            </a:r>
          </a:p>
          <a:p>
            <a:r>
              <a:t>      "content_id": "2792017",</a:t>
            </a:r>
          </a:p>
          <a:p>
            <a:r>
              <a:t>      "source_url": "https://apis.data.go.kr/B551011/KorService2",</a:t>
            </a:r>
          </a:p>
          <a:p>
            <a:r>
              <a:t>      "source_type": "open_api",</a:t>
            </a:r>
          </a:p>
          <a:p>
            <a:r>
              <a:t>      "content_type_id": "28"</a:t>
            </a:r>
          </a:p>
          <a:p>
            <a:r>
              <a:t>    },</a:t>
            </a:r>
          </a:p>
          <a:p>
            <a:r>
              <a:t>    {</a:t>
            </a:r>
          </a:p>
          <a:p>
            <a:r>
              <a:t>      "title": "구봉산",</a:t>
            </a:r>
          </a:p>
          <a:p>
            <a:r>
              <a:t>      "address": "강원특별자치도 춘천시 동면 순환대로 1154-115",</a:t>
            </a:r>
          </a:p>
          <a:p>
            <a:r>
              <a:t>      "summary": "한국관광공사 국문관광정보 API가 반환한 선택 지역 관광자원",</a:t>
            </a:r>
          </a:p>
          <a:p>
            <a:r>
              <a:t>      "image_url": "http://tong.visitkorea.or.kr/cms/resource/54/529954_image2_1.jpg",</a:t>
            </a:r>
          </a:p>
          <a:p>
            <a:r>
              <a:t>      "source_id": "tour-api:2714558",</a:t>
            </a:r>
          </a:p>
          <a:p>
            <a:r>
              <a:t>      "content_id": "2714558",</a:t>
            </a:r>
          </a:p>
          <a:p>
            <a:r>
              <a:t>      "source_url": "https://apis.data.go.kr/B551011/KorService2",</a:t>
            </a:r>
          </a:p>
          <a:p>
            <a:r>
              <a:t>      "source_type": "open_api",</a:t>
            </a:r>
          </a:p>
          <a:p>
            <a:r>
              <a:t>      "content_type_id": "12"</a:t>
            </a:r>
          </a:p>
          <a:p>
            <a:r>
              <a:t>    },</a:t>
            </a:r>
          </a:p>
          <a:p>
            <a:r>
              <a:t>    {</a:t>
            </a:r>
          </a:p>
          <a:p>
            <a:r>
              <a:t>      "title": "국립 용화산자연휴양림",</a:t>
            </a:r>
          </a:p>
          <a:p>
            <a:r>
              <a:t>      "address": "강원특별자치도 춘천시 사북면 사여골길 294",</a:t>
            </a:r>
          </a:p>
          <a:p>
            <a:r>
              <a:t>      "summary": "한국관광공사 국문관광정보 API가 반환한 선택 지역 관광자원",</a:t>
            </a:r>
          </a:p>
          <a:p>
            <a:r>
              <a:t>      "image_url": "http://tong.visitkorea.or.kr/cms/resource/90/3351390_image2_1.jpg",</a:t>
            </a:r>
          </a:p>
          <a:p>
            <a:r>
              <a:t>      "source_id": "tour-api:407225",</a:t>
            </a:r>
          </a:p>
          <a:p>
            <a:r>
              <a:t>      "content_id": "407225",</a:t>
            </a:r>
          </a:p>
          <a:p>
            <a:r>
              <a:t>      "source_url": "https://apis.data.go.kr/B551011/KorService2",</a:t>
            </a:r>
          </a:p>
          <a:p>
            <a:r>
              <a:t>      "source_type": "open_api",</a:t>
            </a:r>
          </a:p>
          <a:p>
            <a:r>
              <a:t>      "content_type_id": "12"</a:t>
            </a:r>
          </a:p>
          <a:p>
            <a:r>
              <a:t>    },</a:t>
            </a:r>
          </a:p>
          <a:p>
            <a:r>
              <a:t>    {</a:t>
            </a:r>
          </a:p>
          <a:p>
            <a:r>
              <a:t>      "title": "국립춘천숲체원",</a:t>
            </a:r>
          </a:p>
          <a:p>
            <a:r>
              <a:t>      "address": "강원특별자치도 춘천시 신북읍 장본2길 331",</a:t>
            </a:r>
          </a:p>
          <a:p>
            <a:r>
              <a:t>      "summary": "한국관광공사 국문관광정보 API가 반환한 선택 지역 관광자원",</a:t>
            </a:r>
          </a:p>
          <a:p>
            <a:r>
              <a:t>      "image_url": "http://tong.visitkorea.or.kr/cms/resource/86/3439986_image2_1.jpg",</a:t>
            </a:r>
          </a:p>
          <a:p>
            <a:r>
              <a:t>      "source_id": "tour-api:2710587",</a:t>
            </a:r>
          </a:p>
          <a:p>
            <a:r>
              <a:t>      "content_id": "2710587",</a:t>
            </a:r>
          </a:p>
          <a:p>
            <a:r>
              <a:t>      "source_url": "https://apis.data.go.kr/B551011/KorService2",</a:t>
            </a:r>
          </a:p>
          <a:p>
            <a:r>
              <a:t>      "source_type": "open_api",</a:t>
            </a:r>
          </a:p>
          <a:p>
            <a:r>
              <a:t>      "content_type_id": "12"</a:t>
            </a:r>
          </a:p>
          <a:p>
            <a:r>
              <a:t>    },</a:t>
            </a:r>
          </a:p>
          <a:p>
            <a:r>
              <a:t>    {</a:t>
            </a:r>
          </a:p>
          <a:p>
            <a:r>
              <a:t>      "title": "군자숯불닭갈비",</a:t>
            </a:r>
          </a:p>
          <a:p>
            <a:r>
              <a:t>      "address": "강원특별자치도 춘천시 동산면 종자리로 148-8",</a:t>
            </a:r>
          </a:p>
          <a:p>
            <a:r>
              <a:t>      "summary": "한국관광공사 국문관광정보 API가 반환한 선택 지역 관광자원",</a:t>
            </a:r>
          </a:p>
          <a:p>
            <a:r>
              <a:t>      "image_url": "http://tong.visitkorea.or.kr/cms/resource/65/2776965_image2_1.JPG",</a:t>
            </a:r>
          </a:p>
          <a:p>
            <a:r>
              <a:t>      "source_id": "tour-api:2774528",</a:t>
            </a:r>
          </a:p>
          <a:p>
            <a:r>
              <a:t>      "content_id": "2774528",</a:t>
            </a:r>
          </a:p>
          <a:p>
            <a:r>
              <a:t>      "source_url": "https://apis.data.go.kr/B551011/KorService2",</a:t>
            </a:r>
          </a:p>
          <a:p>
            <a:r>
              <a:t>      "source_type": "open_api",</a:t>
            </a:r>
          </a:p>
          <a:p>
            <a:r>
              <a:t>      "content_type_id": "39"</a:t>
            </a:r>
          </a:p>
          <a:p>
            <a:r>
              <a:t>    },</a:t>
            </a:r>
          </a:p>
          <a:p>
            <a:r>
              <a:t>    {</a:t>
            </a:r>
          </a:p>
          <a:p>
            <a:r>
              <a:t>      "title": "근화동396청년창업공간",</a:t>
            </a:r>
          </a:p>
          <a:p>
            <a:r>
              <a:t>      "address": "강원특별자치도 춘천시 중앙로 186",</a:t>
            </a:r>
          </a:p>
          <a:p>
            <a:r>
              <a:t>      "summary": "한국관광공사 국문관광정보 API가 반환한 선택 지역 관광자원",</a:t>
            </a:r>
          </a:p>
          <a:p>
            <a:r>
              <a:t>      "image_url": "http://tong.visitkorea.or.kr/cms/resource/18/3351718_image2_1.jpg",</a:t>
            </a:r>
          </a:p>
          <a:p>
            <a:r>
              <a:t>      "source_id": "tour-api:2710596",</a:t>
            </a:r>
          </a:p>
          <a:p>
            <a:r>
              <a:t>      "content_id": "2710596",</a:t>
            </a:r>
          </a:p>
          <a:p>
            <a:r>
              <a:t>      "source_url": "https://apis.data.go.kr/B551011/KorService2",</a:t>
            </a:r>
          </a:p>
          <a:p>
            <a:r>
              <a:t>      "source_type": "open_api",</a:t>
            </a:r>
          </a:p>
          <a:p>
            <a:r>
              <a:t>      "content_type_id": "12"</a:t>
            </a:r>
          </a:p>
          <a:p>
            <a:r>
              <a:t>    },</a:t>
            </a:r>
          </a:p>
          <a:p>
            <a:r>
              <a:t>    {</a:t>
            </a:r>
          </a:p>
          <a:p>
            <a:r>
              <a:t>      "title": "요즘, 한국관광 2호 - 지방공항 연계 지역관광 활성화 방안",</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"chunk_id": "reference:kto:2026:local-airport:page:044:chunk:01",</a:t>
            </a:r>
          </a:p>
          <a:p>
            <a:r>
              <a:t>      "source_id": "reference:kto:2026:local-airport",</a:t>
            </a:r>
          </a:p>
          <a:p>
            <a:r>
              <a:t>      "source_url": "https://datalab.visitkorea.or.kr/site/portal/ex/bbs/View.do?bcIdx=311068&amp;cbIdx=1135&amp;pageIndex=1",</a:t>
            </a:r>
          </a:p>
          <a:p>
            <a:r>
              <a:t>      "case_region": "",</a:t>
            </a:r>
          </a:p>
          <a:p>
            <a:r>
              <a:t>      "region_code": "ALL",</a:t>
            </a:r>
          </a:p>
          <a:p>
            <a:r>
              <a:t>      "region_name": "전국 공통",</a:t>
            </a:r>
          </a:p>
          <a:p>
            <a:r>
              <a:t>      "source_note": "지방공항·연계 지역에 관한 자료입니다. 다른 시군구의 사업 효과·예산을 보장하는 근거로 사용하지 않습니다.",</a:t>
            </a:r>
          </a:p>
          <a:p>
            <a:r>
              <a:t>      "source_type": "rag",</a:t>
            </a:r>
          </a:p>
          <a:p>
            <a:r>
              <a:t>      "intervention": "",</a:t>
            </a:r>
          </a:p>
          <a:p>
            <a:r>
              <a:t>      "document_type": "policy",</a:t>
            </a:r>
          </a:p>
          <a:p>
            <a:r>
              <a:t>      "matched_terms": [</a:t>
            </a:r>
          </a:p>
          <a:p>
            <a:r>
              <a:t>        "결제",</a:t>
            </a:r>
          </a:p>
          <a:p>
            <a:r>
              <a:t>        "관광사업",</a:t>
            </a:r>
          </a:p>
          <a:p>
            <a:r>
              <a:t>        "상권",</a:t>
            </a:r>
          </a:p>
          <a:p>
            <a:r>
              <a:t>        "성과",</a:t>
            </a:r>
          </a:p>
          <a:p>
            <a:r>
              <a:t>        "소비",</a:t>
            </a:r>
          </a:p>
          <a:p>
            <a:r>
              <a:t>        "수와",</a:t>
            </a:r>
          </a:p>
          <a:p>
            <a:r>
              <a:t>        "숙박",</a:t>
            </a:r>
          </a:p>
          <a:p>
            <a:r>
              <a:t>        "실제",</a:t>
            </a:r>
          </a:p>
          <a:p>
            <a:r>
              <a:t>        "실행",</a:t>
            </a:r>
          </a:p>
          <a:p>
            <a:r>
              <a:t>        "연결한",</a:t>
            </a:r>
          </a:p>
          <a:p>
            <a:r>
              <a:t>        "연계",</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43쪽, PDF 38쪽, PDF 40쪽, PDF 41쪽, PDF 36쪽, PDF 41쪽, PDF 44쪽, PDF 43쪽, PDF 43쪽",</a:t>
            </a:r>
          </a:p>
          <a:p>
            <a:r>
              <a:t>      "parent_source_id": "reference:kto:2026:local-airport",</a:t>
            </a:r>
          </a:p>
          <a:p>
            <a:r>
              <a:t>      "retrieval_method": "local_curated_chunk",</a:t>
            </a:r>
          </a:p>
          <a:p>
            <a:r>
              <a:t>      "evidence_strength": "medium",</a:t>
            </a:r>
          </a:p>
          <a:p>
            <a:r>
              <a:t>      "published_or_updated_at": "2026-08",</a:t>
            </a:r>
          </a:p>
          <a:p>
            <a:r>
              <a:t>      "chunk_ids": [</a:t>
            </a:r>
          </a:p>
          <a:p>
            <a:r>
              <a:t>        "reference:kto:2026:local-airport:page:036:chunk:01",</a:t>
            </a:r>
          </a:p>
          <a:p>
            <a:r>
              <a:t>        "reference:kto:2026:local-airport:page:038:chunk:01",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"reference:kto:2026:local-airport:page:044:chunk:02"</a:t>
            </a:r>
          </a:p>
          <a:p>
            <a:r>
              <a:t>      ],</a:t>
            </a:r>
          </a:p>
          <a:p>
            <a:r>
              <a:t>      "source_chunk_count": 10</a:t>
            </a:r>
          </a:p>
          <a:p>
            <a:r>
              <a:t>    },</a:t>
            </a:r>
          </a:p>
          <a:p>
            <a:r>
              <a:t>    {</a:t>
            </a:r>
          </a:p>
          <a:p>
            <a:r>
              <a:t>      "title": "전주시 2026년도 관광산업과 세출예산 사업명세서",</a:t>
            </a:r>
          </a:p>
          <a:p>
            <a:r>
              <a:t>      "summary": "전북특별자치도 전주시 · 야간관광 특화도시 예산 편성 · 예산서이므로 방문·소비 성과는 확인되지 않음",</a:t>
            </a:r>
          </a:p>
          <a:p>
            <a:r>
              <a:t>      "source_id": "case:jeonju_night_budget_2026",</a:t>
            </a:r>
          </a:p>
          <a:p>
            <a:r>
              <a:t>      "source_url": "https://jeonju.go.kr/resource/www/images/download/budget/2026/2026_31_2.pdf",</a:t>
            </a:r>
          </a:p>
          <a:p>
            <a:r>
              <a:t>      "case_region": "전북특별자치도 전주시",</a:t>
            </a:r>
          </a:p>
          <a:p>
            <a:r>
              <a:t>      "source_type": "benchmark_case",</a:t>
            </a:r>
          </a:p>
          <a:p>
            <a:r>
              <a:t>      "intervention": "야간관광 특화도시 예산 편성",</a:t>
            </a:r>
          </a:p>
          <a:p>
            <a:r>
              <a:t>      "operating_model": "사무관리, 행사운영, 연구용역, 민간경상보조 등으로 사업비를 항목별 편성",</a:t>
            </a:r>
          </a:p>
          <a:p>
            <a:r>
              <a:t>      "evidence_strength": "high",</a:t>
            </a:r>
          </a:p>
          <a:p>
            <a:r>
              <a:t>      "published_or_updated_at": "2026",</a:t>
            </a:r>
          </a:p>
          <a:p>
            <a:r>
              <a:t>      "quantitative_result_approved": null</a:t>
            </a:r>
          </a:p>
          <a:p>
            <a:r>
              <a:t>    },</a:t>
            </a:r>
          </a:p>
          <a:p>
            <a:r>
              <a:t>    {</a:t>
            </a:r>
          </a:p>
          <a:p>
            <a:r>
              <a:t>      "title": "섬에서의 특별한 경험, ‘인천 섬 도도하게 살아보기’로 누린다",</a:t>
            </a:r>
          </a:p>
          <a:p>
            <a:r>
              <a:t>      "summary": "인천광역시 강화군·옹진군 소재 섬 · 인천 섬 도도하게 살아보기—주민 숙박·식사·체험을 묶은 예약형 체류상품 · 2022년 7월 31일 기준 목표 700명 중 228명이 예약해 모객률 33%를 기록했다. 2023년에는 약 1,600명이 15개 섬을 방문한 것으로 인천시가 공개했다. 주민 소득 증가액과 비교집단 기반 체류 순증효과는 공식 자료에서 확인되지 않음.",</a:t>
            </a:r>
          </a:p>
          <a:p>
            <a:r>
              <a:t>      "source_id": "case:291a33370ec9b1",</a:t>
            </a:r>
          </a:p>
          <a:p>
            <a:r>
              <a:t>      "source_url": "https://www.incheon.go.kr/mayor_8/MA040101/view?curPage=236&amp;repSeq=DOM_0000000010488055",</a:t>
            </a:r>
          </a:p>
          <a:p>
            <a:r>
              <a:t>      "case_region": "인천광역시 강화군·옹진군 소재 섬",</a:t>
            </a:r>
          </a:p>
          <a:p>
            <a:r>
              <a:t>      "source_type": "benchmark_case",</a:t>
            </a:r>
          </a:p>
          <a:p>
            <a:r>
              <a:t>      "intervention": "인천 섬 도도하게 살아보기—주민 숙박·식사·체험을 묶은 예약형 체류상품",</a:t>
            </a:r>
          </a:p>
          <a:p>
            <a:r>
              <a:t>      "operating_model": "섬별로 2박 3일 또는 3박 4일 상품을 정해진 회차로 판매했다. 주민 운영 숙소·음식점과 낚시, 트레킹, 해양레저, 로컬체험을 하나의 예약상품으로 묶고 상품가격의 일부를 공공이 지원했다. 2024년 자료에는 섬별 최대 50% 지원 구조가 제시됐다.",</a:t>
            </a:r>
          </a:p>
          <a:p>
            <a:r>
              <a:t>      "evidence_strength": "medium",</a:t>
            </a:r>
          </a:p>
          <a:p>
            <a:r>
              <a:t>      "published_or_updated_at": "2024-08-12",</a:t>
            </a:r>
          </a:p>
          <a:p>
            <a:r>
              <a:t>      "quantitative_result_approved": null</a:t>
            </a:r>
          </a:p>
          <a:p>
            <a:r>
              <a:t>    },</a:t>
            </a:r>
          </a:p>
          <a:p>
            <a:r>
              <a:t>    {</a:t>
            </a:r>
          </a:p>
          <a:p>
            <a:r>
              <a:t>      "title": "강진 반값여행 지역경제 효과 소개",</a:t>
            </a:r>
          </a:p>
          <a:p>
            <a:r>
              <a:t>      "summary": "전라남도 강진군 · 반값여행 지역환급 · 상품권 결제 변화에 관한 소개 자료는 있으나, 사업 참여자 범위·정확한 비교 기간·원자료를 확인하지 못해 성과 수치 인용을 보류한다.",</a:t>
            </a:r>
          </a:p>
          <a:p>
            <a:r>
              <a:t>      "source_id": "case:gangjin_half_price_2024",</a:t>
            </a:r>
          </a:p>
          <a:p>
            <a:r>
              <a:t>      "source_url": "https://jnfarm.jeonnam.go.kr/board/FARM_BOARD_008/boardView.do?bdId=BD_00000000000011721&amp;menuCd=farm004002",</a:t>
            </a:r>
          </a:p>
          <a:p>
            <a:r>
              <a:t>      "case_region": "전라남도 강진군",</a:t>
            </a:r>
          </a:p>
          <a:p>
            <a:r>
              <a:t>      "source_type": "benchmark_case",</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"published_or_updated_at": "2025-01-02",</a:t>
            </a:r>
          </a:p>
          <a:p>
            <a:r>
              <a:t>      "quantitative_result_approved": false</a:t>
            </a:r>
          </a:p>
          <a:p>
            <a:r>
              <a:t>    },</a:t>
            </a:r>
          </a:p>
          <a:p>
            <a:r>
              <a:t>    {</a:t>
            </a:r>
          </a:p>
          <a:p>
            <a:r>
              <a:t>      "title": "2024년 6월 여행가는 달 추진 보도자료",</a:t>
            </a:r>
          </a:p>
          <a:p>
            <a:r>
              <a:t>      "summary": "전국 인구감소지역 34곳 · 디지털 관광주민증과 교통·숙박·상점 할인 결합 · 2024년 34개 지역 약 800개 관광업체에 혜택 구조를 적용",</a:t>
            </a:r>
          </a:p>
          <a:p>
            <a:r>
              <a:t>      "source_id": "case:digital_tourism_resident_2024",</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"case_region": "전국 인구감소지역 34곳",</a:t>
            </a:r>
          </a:p>
          <a:p>
            <a:r>
              <a:t>      "source_type": "benchmark_case",</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"published_or_updated_at": "2024-05-14",</a:t>
            </a:r>
          </a:p>
          <a:p>
            <a:r>
              <a:t>      "quantitative_result_approved": null</a:t>
            </a:r>
          </a:p>
          <a:p>
            <a:r>
              <a:t>    },</a:t>
            </a:r>
          </a:p>
          <a:p>
            <a:r>
              <a:t>    {</a:t>
            </a:r>
          </a:p>
          <a:p>
            <a:r>
              <a:t>      "title": "2022 대한민국 숙박대전 경제파급효과 공개자료",</a:t>
            </a:r>
          </a:p>
          <a:p>
            <a:r>
              <a:t>      "summary": "전국 숙박할인쿠폰 지원사업 · 온라인 예약 채널 숙박할인쿠폰 · 한국관광공사 자료는 약 104만 명이 할인혜택을 이용했고 서울·제주를 제외한 지역 사용 비율이 76%였다고 소개함",</a:t>
            </a:r>
          </a:p>
          <a:p>
            <a:r>
              <a:t>      "source_id": "case:kto_stay_discount_2022",</a:t>
            </a:r>
          </a:p>
          <a:p>
            <a:r>
              <a:t>      "source_url": "https://kto.visitkorea.or.kr/upload/flexer/upload/ktobiz/20220928/b623b5f9-3ec0-11ed-9832-ddf31964842e.hwp.files/Sections1.html",</a:t>
            </a:r>
          </a:p>
          <a:p>
            <a:r>
              <a:t>      "case_region": "전국 숙박할인쿠폰 지원사업",</a:t>
            </a:r>
          </a:p>
          <a:p>
            <a:r>
              <a:t>      "source_type": "benchmark_case",</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"published_or_updated_at": "2022-09-28",</a:t>
            </a:r>
          </a:p>
          <a:p>
            <a:r>
              <a:t>      "quantitative_result_approved": null</a:t>
            </a:r>
          </a:p>
          <a:p>
            <a:r>
              <a:t>    },</a:t>
            </a:r>
          </a:p>
          <a:p>
            <a:r>
              <a:t>    {</a:t>
            </a:r>
          </a:p>
          <a:p>
            <a:r>
              <a:t>      "title": "2025 대한민국 밤밤페스타 개최 도시 및 일정",</a:t>
            </a:r>
          </a:p>
          <a:p>
            <a:r>
              <a:t>      "summary": "야간관광 특화도시 10곳 · 도시별 야간 콘텐츠를 순회형 축제로 묶는 운영 · 공식 여행기사는 개최 도시·장소·운영 시간과 콘텐츠만 제시하며 방문·소비 성과 수치는 제시하지 않음",</a:t>
            </a:r>
          </a:p>
          <a:p>
            <a:r>
              <a:t>      "source_id": "case:night_festival_2025",</a:t>
            </a:r>
          </a:p>
          <a:p>
            <a:r>
              <a:t>      "source_url": "https://korean.visitkorea.or.kr/detail/rem_detail.do?cotid=f9c636b2-dd7c-4f09-af3d-6af43b33d371",</a:t>
            </a:r>
          </a:p>
          <a:p>
            <a:r>
              <a:t>      "case_region": "야간관광 특화도시 10곳",</a:t>
            </a:r>
          </a:p>
          <a:p>
            <a:r>
              <a:t>      "source_type": "benchmark_case",</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"published_or_updated_at": "2025",</a:t>
            </a:r>
          </a:p>
          <a:p>
            <a:r>
              <a:t>      "quantitative_result_approved": null</a:t>
            </a:r>
          </a:p>
          <a:p>
            <a:r>
              <a:t>    },</a:t>
            </a:r>
          </a:p>
          <a:p>
            <a:r>
              <a:t>    {</a:t>
            </a:r>
          </a:p>
          <a:p>
            <a:r>
              <a:t>      "title": "2024년도 정부업무평가 관광분야 성과자료",</a:t>
            </a:r>
          </a:p>
          <a:p>
            <a:r>
              <a:t>      "summary": "야간관광 특화도시 10곳 · 상설 야간 콘텐츠와 경관·교통·안전 운영 · 정부업무평가 자료는 특화도시 10곳 방문객이 2023년 같은 기간보다 3% 증가했다고 기록",</a:t>
            </a:r>
          </a:p>
          <a:p>
            <a:r>
              <a:t>      "source_id": "case:night_tourism_cities_2024",</a:t>
            </a:r>
          </a:p>
          <a:p>
            <a:r>
              <a:t>      "source_url": "https://www.evaluation.go.kr/upload2/atch/eval/20250429095846463.pdf",</a:t>
            </a:r>
          </a:p>
          <a:p>
            <a:r>
              <a:t>      "case_region": "야간관광 특화도시 10곳",</a:t>
            </a:r>
          </a:p>
          <a:p>
            <a:r>
              <a:t>      "source_type": "benchmark_case",</a:t>
            </a:r>
          </a:p>
          <a:p>
            <a:r>
              <a:t>      "intervention": "상설 야간 콘텐츠와 경관·교통·안전 운영",</a:t>
            </a:r>
          </a:p>
          <a:p>
            <a:r>
              <a:t>      "operating_model": "지역 스토리를 반영한 야간 프로그램을 상설·행사형으로 운영하고 야간 경관, 이동, 식음, 안전 여건을 함께 구성",</a:t>
            </a:r>
          </a:p>
          <a:p>
            <a:r>
              <a:t>      "evidence_strength": "medium",</a:t>
            </a:r>
          </a:p>
          <a:p>
            <a:r>
              <a:t>      "published_or_updated_at": "2025-04-29",</a:t>
            </a:r>
          </a:p>
          <a:p>
            <a:r>
              <a:t>      "quantitative_result_approved": null</a:t>
            </a:r>
          </a:p>
          <a:p>
            <a:r>
              <a:t>    }</a:t>
            </a:r>
          </a:p>
          <a:p>
            <a:r>
              <a:t>  ],</a:t>
            </a:r>
          </a:p>
          <a:p>
            <a:r>
              <a:t>  "selected_forecast": {</a:t>
            </a:r>
          </a:p>
          <a:p>
            <a:r>
              <a:t>    "rows": [</a:t>
            </a:r>
          </a:p>
          <a:p>
            <a:r>
              <a:t>      {</a:t>
            </a:r>
          </a:p>
          <a:p>
            <a:r>
              <a:t>        "month": "202609",</a:t>
            </a:r>
          </a:p>
          <a:p>
            <a:r>
              <a:t>        "visitors": 1948014.0,</a:t>
            </a:r>
          </a:p>
          <a:p>
            <a:r>
              <a:t>        "is_forecast": true,</a:t>
            </a:r>
          </a:p>
          <a:p>
            <a:r>
              <a:t>        "spending_krw": 44854616000.0,</a:t>
            </a:r>
          </a:p>
          <a:p>
            <a:r>
              <a:t>        "stay_minutes": 2803.0,</a:t>
            </a:r>
          </a:p>
          <a:p>
            <a:r>
              <a:t>        "lodging_nights": 2.89,</a:t>
            </a:r>
          </a:p>
          <a:p>
            <a:r>
              <a:t>        "lodging_rate_pct": 14.2,</a:t>
            </a:r>
          </a:p>
          <a:p>
            <a:r>
              <a:t>        "lodging_searches": 26980,</a:t>
            </a:r>
          </a:p>
          <a:p>
            <a:r>
              <a:t>        "navigation_searches": 279694,</a:t>
            </a:r>
          </a:p>
          <a:p>
            <a:r>
              <a:t>        "visitor_yoy_percent": -3.61,</a:t>
            </a:r>
          </a:p>
          <a:p>
            <a:r>
              <a:t>        "spending_yoy_percent": 0.0,</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2021001,</a:t>
            </a:r>
          </a:p>
          <a:p>
            <a:r>
              <a:t>        "previous_year_spending_krw": 44854616000,</a:t>
            </a:r>
          </a:p>
          <a:p>
            <a:r>
              <a:t>        "previous_year_stay_minutes": 2803.0,</a:t>
            </a:r>
          </a:p>
          <a:p>
            <a:r>
              <a:t>        "previous_year_lodging_nights": 2.89,</a:t>
            </a:r>
          </a:p>
          <a:p>
            <a:r>
              <a:t>        "previous_year_lodging_rate_pct": 14.2,</a:t>
            </a:r>
          </a:p>
          <a:p>
            <a:r>
              <a:t>        "previous_year_lodging_searches": 26980,</a:t>
            </a:r>
          </a:p>
          <a:p>
            <a:r>
              <a:t>        "previous_year_navigation_searches": 279694</a:t>
            </a:r>
          </a:p>
          <a:p>
            <a:r>
              <a:t>      },</a:t>
            </a:r>
          </a:p>
          <a:p>
            <a:r>
              <a:t>      {</a:t>
            </a:r>
          </a:p>
          <a:p>
            <a:r>
              <a:t>        "month": "202610",</a:t>
            </a:r>
          </a:p>
          <a:p>
            <a:r>
              <a:t>        "visitors": 2278280.0,</a:t>
            </a:r>
          </a:p>
          <a:p>
            <a:r>
              <a:t>        "is_forecast": true,</a:t>
            </a:r>
          </a:p>
          <a:p>
            <a:r>
              <a:t>        "spending_krw": 59504900000.0,</a:t>
            </a:r>
          </a:p>
          <a:p>
            <a:r>
              <a:t>        "stay_minutes": 1597.0,</a:t>
            </a:r>
          </a:p>
          <a:p>
            <a:r>
              <a:t>        "lodging_nights": 2.69,</a:t>
            </a:r>
          </a:p>
          <a:p>
            <a:r>
              <a:t>        "lodging_rate_pct": 16.8,</a:t>
            </a:r>
          </a:p>
          <a:p>
            <a:r>
              <a:t>        "lodging_searches": 58111,</a:t>
            </a:r>
          </a:p>
          <a:p>
            <a:r>
              <a:t>        "navigation_searches": 584663,</a:t>
            </a:r>
          </a:p>
          <a:p>
            <a:r>
              <a:t>        "visitor_yoy_percent": -5.58,</a:t>
            </a:r>
          </a:p>
          <a:p>
            <a:r>
              <a:t>        "spending_yoy_percent": 0.0,</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2412798,</a:t>
            </a:r>
          </a:p>
          <a:p>
            <a:r>
              <a:t>        "previous_year_spending_krw": 59504900000,</a:t>
            </a:r>
          </a:p>
          <a:p>
            <a:r>
              <a:t>        "previous_year_stay_minutes": 1597.0,</a:t>
            </a:r>
          </a:p>
          <a:p>
            <a:r>
              <a:t>        "previous_year_lodging_nights": 2.69,</a:t>
            </a:r>
          </a:p>
          <a:p>
            <a:r>
              <a:t>        "previous_year_lodging_rate_pct": 16.8,</a:t>
            </a:r>
          </a:p>
          <a:p>
            <a:r>
              <a:t>        "previous_year_lodging_searches": 58111,</a:t>
            </a:r>
          </a:p>
          <a:p>
            <a:r>
              <a:t>        "previous_year_navigation_searches": 584663</a:t>
            </a:r>
          </a:p>
          <a:p>
            <a:r>
              <a:t>      },</a:t>
            </a:r>
          </a:p>
          <a:p>
            <a:r>
              <a:t>      {</a:t>
            </a:r>
          </a:p>
          <a:p>
            <a:r>
              <a:t>        "month": "202611",</a:t>
            </a:r>
          </a:p>
          <a:p>
            <a:r>
              <a:t>        "visitors": 2018187.0,</a:t>
            </a:r>
          </a:p>
          <a:p>
            <a:r>
              <a:t>        "is_forecast": true,</a:t>
            </a:r>
          </a:p>
          <a:p>
            <a:r>
              <a:t>        "spending_krw": 50330837000.0,</a:t>
            </a:r>
          </a:p>
          <a:p>
            <a:r>
              <a:t>        "stay_minutes": 1501.0,</a:t>
            </a:r>
          </a:p>
          <a:p>
            <a:r>
              <a:t>        "lodging_nights": 2.62,</a:t>
            </a:r>
          </a:p>
          <a:p>
            <a:r>
              <a:t>        "lodging_rate_pct": 13.4,</a:t>
            </a:r>
          </a:p>
          <a:p>
            <a:r>
              <a:t>        "lodging_searches": 30423,</a:t>
            </a:r>
          </a:p>
          <a:p>
            <a:r>
              <a:t>        "navigation_searches": 322218,</a:t>
            </a:r>
          </a:p>
          <a:p>
            <a:r>
              <a:t>        "visitor_yoy_percent": -1.67,</a:t>
            </a:r>
          </a:p>
          <a:p>
            <a:r>
              <a:t>        "spending_yoy_percent": 0.0,</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2052480,</a:t>
            </a:r>
          </a:p>
          <a:p>
            <a:r>
              <a:t>        "previous_year_spending_krw": 50330837000,</a:t>
            </a:r>
          </a:p>
          <a:p>
            <a:r>
              <a:t>        "previous_year_stay_minutes": 1501.0,</a:t>
            </a:r>
          </a:p>
          <a:p>
            <a:r>
              <a:t>        "previous_year_lodging_nights": 2.62,</a:t>
            </a:r>
          </a:p>
          <a:p>
            <a:r>
              <a:t>        "previous_year_lodging_rate_pct": 13.4,</a:t>
            </a:r>
          </a:p>
          <a:p>
            <a:r>
              <a:t>        "previous_year_lodging_searches": 30423,</a:t>
            </a:r>
          </a:p>
          <a:p>
            <a:r>
              <a:t>        "previous_year_navigation_searches": 322218</a:t>
            </a:r>
          </a:p>
          <a:p>
            <a:r>
              <a:t>      }</a:t>
            </a:r>
          </a:p>
          <a:p>
            <a:r>
              <a:t>    ],</a:t>
            </a:r>
          </a:p>
          <a:p>
            <a:r>
              <a:t>    "period": "202609~202611",</a:t>
            </a:r>
          </a:p>
          <a:p>
            <a:r>
              <a:t>    "complete": true,</a:t>
            </a:r>
          </a:p>
          <a:p>
            <a:r>
              <a:t>    "notes": [</a:t>
            </a:r>
          </a:p>
          <a:p>
            <a:r>
              <a:t>      "3개월 초과 예측 거리는 재귀 검증 범위 밖의 탐색 전망입니다."</a:t>
            </a:r>
          </a:p>
          <a:p>
            <a:r>
              <a:t>    ],</a:t>
            </a:r>
          </a:p>
          <a:p>
            <a:r>
              <a:t>    "selection_basis": "strategy_timeframe",</a:t>
            </a:r>
          </a:p>
          <a:p>
            <a:r>
              <a:t>    "requested_period": "202609~202611"</a:t>
            </a:r>
          </a:p>
          <a:p>
            <a:r>
              <a:t>  },</a:t>
            </a:r>
          </a:p>
          <a:p>
            <a:r>
              <a:t>  "all_ml_forecasts": [</a:t>
            </a:r>
          </a:p>
          <a:p>
            <a:r>
              <a:t>    {</a:t>
            </a:r>
          </a:p>
          <a:p>
            <a:r>
              <a:t>      "month": "202607",</a:t>
            </a:r>
          </a:p>
          <a:p>
            <a:r>
              <a:t>      "visitors": 1935310,</a:t>
            </a:r>
          </a:p>
          <a:p>
            <a:r>
              <a:t>      "is_forecast": true,</a:t>
            </a:r>
          </a:p>
          <a:p>
            <a:r>
              <a:t>      "spending_krw": 46823670000,</a:t>
            </a:r>
          </a:p>
          <a:p>
            <a:r>
              <a:t>      "stay_minutes": 1818.0,</a:t>
            </a:r>
          </a:p>
          <a:p>
            <a:r>
              <a:t>      "lodging_nights": 2.62,</a:t>
            </a:r>
          </a:p>
          <a:p>
            <a:r>
              <a:t>      "lodging_rate_pct": 16.7,</a:t>
            </a:r>
          </a:p>
          <a:p>
            <a:r>
              <a:t>      "lodging_searches": 35770,</a:t>
            </a:r>
          </a:p>
          <a:p>
            <a:r>
              <a:t>      "navigation_searches": 320422,</a:t>
            </a:r>
          </a:p>
          <a:p>
            <a:r>
              <a:t>      "visitor_yoy_percent": -2.93,</a:t>
            </a:r>
          </a:p>
          <a:p>
            <a:r>
              <a:t>      "spending_yoy_percent": 0.0,</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1993752,</a:t>
            </a:r>
          </a:p>
          <a:p>
            <a:r>
              <a:t>      "previous_year_spending_krw": 46823670000,</a:t>
            </a:r>
          </a:p>
          <a:p>
            <a:r>
              <a:t>      "previous_year_stay_minutes": 1818.0,</a:t>
            </a:r>
          </a:p>
          <a:p>
            <a:r>
              <a:t>      "previous_year_lodging_nights": 2.62,</a:t>
            </a:r>
          </a:p>
          <a:p>
            <a:r>
              <a:t>      "previous_year_lodging_rate_pct": 16.7,</a:t>
            </a:r>
          </a:p>
          <a:p>
            <a:r>
              <a:t>      "previous_year_lodging_searches": 35770,</a:t>
            </a:r>
          </a:p>
          <a:p>
            <a:r>
              <a:t>      "previous_year_navigation_searches": 320422</a:t>
            </a:r>
          </a:p>
          <a:p>
            <a:r>
              <a:t>    },</a:t>
            </a:r>
          </a:p>
          <a:p>
            <a:r>
              <a:t>    {</a:t>
            </a:r>
          </a:p>
          <a:p>
            <a:r>
              <a:t>      "month": "202608",</a:t>
            </a:r>
          </a:p>
          <a:p>
            <a:r>
              <a:t>      "visitors": 2139254,</a:t>
            </a:r>
          </a:p>
          <a:p>
            <a:r>
              <a:t>      "is_forecast": true,</a:t>
            </a:r>
          </a:p>
          <a:p>
            <a:r>
              <a:t>      "spending_krw": 51770552000,</a:t>
            </a:r>
          </a:p>
          <a:p>
            <a:r>
              <a:t>      "stay_minutes": 1673.0,</a:t>
            </a:r>
          </a:p>
          <a:p>
            <a:r>
              <a:t>      "lodging_nights": 2.58,</a:t>
            </a:r>
          </a:p>
          <a:p>
            <a:r>
              <a:t>      "lodging_rate_pct": 17.5,</a:t>
            </a:r>
          </a:p>
          <a:p>
            <a:r>
              <a:t>      "lodging_searches": 42261,</a:t>
            </a:r>
          </a:p>
          <a:p>
            <a:r>
              <a:t>      "navigation_searches": 378299,</a:t>
            </a:r>
          </a:p>
          <a:p>
            <a:r>
              <a:t>      "visitor_yoy_percent": -5.08,</a:t>
            </a:r>
          </a:p>
          <a:p>
            <a:r>
              <a:t>      "spending_yoy_percent": 0.0,</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2253751,</a:t>
            </a:r>
          </a:p>
          <a:p>
            <a:r>
              <a:t>      "previous_year_spending_krw": 51770552000,</a:t>
            </a:r>
          </a:p>
          <a:p>
            <a:r>
              <a:t>      "previous_year_stay_minutes": 1673.0,</a:t>
            </a:r>
          </a:p>
          <a:p>
            <a:r>
              <a:t>      "previous_year_lodging_nights": 2.58,</a:t>
            </a:r>
          </a:p>
          <a:p>
            <a:r>
              <a:t>      "previous_year_lodging_rate_pct": 17.5,</a:t>
            </a:r>
          </a:p>
          <a:p>
            <a:r>
              <a:t>      "previous_year_lodging_searches": 42261,</a:t>
            </a:r>
          </a:p>
          <a:p>
            <a:r>
              <a:t>      "previous_year_navigation_searches": 378299</a:t>
            </a:r>
          </a:p>
          <a:p>
            <a:r>
              <a:t>    },</a:t>
            </a:r>
          </a:p>
          <a:p>
            <a:r>
              <a:t>    {</a:t>
            </a:r>
          </a:p>
          <a:p>
            <a:r>
              <a:t>      "month": "202609",</a:t>
            </a:r>
          </a:p>
          <a:p>
            <a:r>
              <a:t>      "visitors": 1948014,</a:t>
            </a:r>
          </a:p>
          <a:p>
            <a:r>
              <a:t>      "is_forecast": true,</a:t>
            </a:r>
          </a:p>
          <a:p>
            <a:r>
              <a:t>      "spending_krw": 44854616000,</a:t>
            </a:r>
          </a:p>
          <a:p>
            <a:r>
              <a:t>      "stay_minutes": 2803.0,</a:t>
            </a:r>
          </a:p>
          <a:p>
            <a:r>
              <a:t>      "lodging_nights": 2.89,</a:t>
            </a:r>
          </a:p>
          <a:p>
            <a:r>
              <a:t>      "lodging_rate_pct": 14.2,</a:t>
            </a:r>
          </a:p>
          <a:p>
            <a:r>
              <a:t>      "lodging_searches": 26980,</a:t>
            </a:r>
          </a:p>
          <a:p>
            <a:r>
              <a:t>      "navigation_searches": 279694,</a:t>
            </a:r>
          </a:p>
          <a:p>
            <a:r>
              <a:t>      "visitor_yoy_percent": -3.61,</a:t>
            </a:r>
          </a:p>
          <a:p>
            <a:r>
              <a:t>      "spending_yoy_percent": 0.0,</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2021001,</a:t>
            </a:r>
          </a:p>
          <a:p>
            <a:r>
              <a:t>      "previous_year_spending_krw": 44854616000,</a:t>
            </a:r>
          </a:p>
          <a:p>
            <a:r>
              <a:t>      "previous_year_stay_minutes": 2803.0,</a:t>
            </a:r>
          </a:p>
          <a:p>
            <a:r>
              <a:t>      "previous_year_lodging_nights": 2.89,</a:t>
            </a:r>
          </a:p>
          <a:p>
            <a:r>
              <a:t>      "previous_year_lodging_rate_pct": 14.2,</a:t>
            </a:r>
          </a:p>
          <a:p>
            <a:r>
              <a:t>      "previous_year_lodging_searches": 26980,</a:t>
            </a:r>
          </a:p>
          <a:p>
            <a:r>
              <a:t>      "previous_year_navigation_searches": 279694</a:t>
            </a:r>
          </a:p>
          <a:p>
            <a:r>
              <a:t>    },</a:t>
            </a:r>
          </a:p>
          <a:p>
            <a:r>
              <a:t>    {</a:t>
            </a:r>
          </a:p>
          <a:p>
            <a:r>
              <a:t>      "month": "202610",</a:t>
            </a:r>
          </a:p>
          <a:p>
            <a:r>
              <a:t>      "visitors": 2278280,</a:t>
            </a:r>
          </a:p>
          <a:p>
            <a:r>
              <a:t>      "is_forecast": true,</a:t>
            </a:r>
          </a:p>
          <a:p>
            <a:r>
              <a:t>      "spending_krw": 59504900000,</a:t>
            </a:r>
          </a:p>
          <a:p>
            <a:r>
              <a:t>      "stay_minutes": 1597.0,</a:t>
            </a:r>
          </a:p>
          <a:p>
            <a:r>
              <a:t>      "lodging_nights": 2.69,</a:t>
            </a:r>
          </a:p>
          <a:p>
            <a:r>
              <a:t>      "lodging_rate_pct": 16.8,</a:t>
            </a:r>
          </a:p>
          <a:p>
            <a:r>
              <a:t>      "lodging_searches": 58111,</a:t>
            </a:r>
          </a:p>
          <a:p>
            <a:r>
              <a:t>      "navigation_searches": 584663,</a:t>
            </a:r>
          </a:p>
          <a:p>
            <a:r>
              <a:t>      "visitor_yoy_percent": -5.58,</a:t>
            </a:r>
          </a:p>
          <a:p>
            <a:r>
              <a:t>      "spending_yoy_percent": 0.0,</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2412798,</a:t>
            </a:r>
          </a:p>
          <a:p>
            <a:r>
              <a:t>      "previous_year_spending_krw": 59504900000,</a:t>
            </a:r>
          </a:p>
          <a:p>
            <a:r>
              <a:t>      "previous_year_stay_minutes": 1597.0,</a:t>
            </a:r>
          </a:p>
          <a:p>
            <a:r>
              <a:t>      "previous_year_lodging_nights": 2.69,</a:t>
            </a:r>
          </a:p>
          <a:p>
            <a:r>
              <a:t>      "previous_year_lodging_rate_pct": 16.8,</a:t>
            </a:r>
          </a:p>
          <a:p>
            <a:r>
              <a:t>      "previous_year_lodging_searches": 58111,</a:t>
            </a:r>
          </a:p>
          <a:p>
            <a:r>
              <a:t>      "previous_year_navigation_searches": 584663</a:t>
            </a:r>
          </a:p>
          <a:p>
            <a:r>
              <a:t>    },</a:t>
            </a:r>
          </a:p>
          <a:p>
            <a:r>
              <a:t>    {</a:t>
            </a:r>
          </a:p>
          <a:p>
            <a:r>
              <a:t>      "month": "202611",</a:t>
            </a:r>
          </a:p>
          <a:p>
            <a:r>
              <a:t>      "visitors": 2018187,</a:t>
            </a:r>
          </a:p>
          <a:p>
            <a:r>
              <a:t>      "is_forecast": true,</a:t>
            </a:r>
          </a:p>
          <a:p>
            <a:r>
              <a:t>      "spending_krw": 50330837000,</a:t>
            </a:r>
          </a:p>
          <a:p>
            <a:r>
              <a:t>      "stay_minutes": 1501.0,</a:t>
            </a:r>
          </a:p>
          <a:p>
            <a:r>
              <a:t>      "lodging_nights": 2.62,</a:t>
            </a:r>
          </a:p>
          <a:p>
            <a:r>
              <a:t>      "lodging_rate_pct": 13.4,</a:t>
            </a:r>
          </a:p>
          <a:p>
            <a:r>
              <a:t>      "lodging_searches": 30423,</a:t>
            </a:r>
          </a:p>
          <a:p>
            <a:r>
              <a:t>      "navigation_searches": 322218,</a:t>
            </a:r>
          </a:p>
          <a:p>
            <a:r>
              <a:t>      "visitor_yoy_percent": -1.67,</a:t>
            </a:r>
          </a:p>
          <a:p>
            <a:r>
              <a:t>      "spending_yoy_percent": 0.0,</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2052480,</a:t>
            </a:r>
          </a:p>
          <a:p>
            <a:r>
              <a:t>      "previous_year_spending_krw": 50330837000,</a:t>
            </a:r>
          </a:p>
          <a:p>
            <a:r>
              <a:t>      "previous_year_stay_minutes": 1501.0,</a:t>
            </a:r>
          </a:p>
          <a:p>
            <a:r>
              <a:t>      "previous_year_lodging_nights": 2.62,</a:t>
            </a:r>
          </a:p>
          <a:p>
            <a:r>
              <a:t>      "previous_year_lodging_rate_pct": 13.4,</a:t>
            </a:r>
          </a:p>
          <a:p>
            <a:r>
              <a:t>      "previous_year_lodging_searches": 30423,</a:t>
            </a:r>
          </a:p>
          <a:p>
            <a:r>
              <a:t>      "previous_year_navigation_searches": 322218</a:t>
            </a:r>
          </a:p>
          <a:p>
            <a:r>
              <a:t>    },</a:t>
            </a:r>
          </a:p>
          <a:p>
            <a:r>
              <a:t>    {</a:t>
            </a:r>
          </a:p>
          <a:p>
            <a:r>
              <a:t>      "month": "202612",</a:t>
            </a:r>
          </a:p>
          <a:p>
            <a:r>
              <a:t>      "visitors": 1733965,</a:t>
            </a:r>
          </a:p>
          <a:p>
            <a:r>
              <a:t>      "is_forecast": true,</a:t>
            </a:r>
          </a:p>
          <a:p>
            <a:r>
              <a:t>      "spending_krw": 39693334000,</a:t>
            </a:r>
          </a:p>
          <a:p>
            <a:r>
              <a:t>      "stay_minutes": 1807.0,</a:t>
            </a:r>
          </a:p>
          <a:p>
            <a:r>
              <a:t>      "lodging_nights": 2.67,</a:t>
            </a:r>
          </a:p>
          <a:p>
            <a:r>
              <a:t>      "lodging_rate_pct": 15.5,</a:t>
            </a:r>
          </a:p>
          <a:p>
            <a:r>
              <a:t>      "lodging_searches": 24221,</a:t>
            </a:r>
          </a:p>
          <a:p>
            <a:r>
              <a:t>      "navigation_searches": 217678,</a:t>
            </a:r>
          </a:p>
          <a:p>
            <a:r>
              <a:t>      "visitor_yoy_percent": 2.84,</a:t>
            </a:r>
          </a:p>
          <a:p>
            <a:r>
              <a:t>      "spending_yoy_percent": 0.0,</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1686121,</a:t>
            </a:r>
          </a:p>
          <a:p>
            <a:r>
              <a:t>      "previous_year_spending_krw": 39693334000,</a:t>
            </a:r>
          </a:p>
          <a:p>
            <a:r>
              <a:t>      "previous_year_stay_minutes": 1807.0,</a:t>
            </a:r>
          </a:p>
          <a:p>
            <a:r>
              <a:t>      "previous_year_lodging_nights": 2.67,</a:t>
            </a:r>
          </a:p>
          <a:p>
            <a:r>
              <a:t>      "previous_year_lodging_rate_pct": 15.5,</a:t>
            </a:r>
          </a:p>
          <a:p>
            <a:r>
              <a:t>      "previous_year_lodging_searches": 24221,</a:t>
            </a:r>
          </a:p>
          <a:p>
            <a:r>
              <a:t>      "previous_year_navigation_searches": 217678</a:t>
            </a:r>
          </a:p>
          <a:p>
            <a:r>
              <a:t>    },</a:t>
            </a:r>
          </a:p>
          <a:p>
            <a:r>
              <a:t>    {</a:t>
            </a:r>
          </a:p>
          <a:p>
            <a:r>
              <a:t>      "month": "202701",</a:t>
            </a:r>
          </a:p>
          <a:p>
            <a:r>
              <a:t>      "visitors": 1735449,</a:t>
            </a:r>
          </a:p>
          <a:p>
            <a:r>
              <a:t>      "is_forecast": true,</a:t>
            </a:r>
          </a:p>
          <a:p>
            <a:r>
              <a:t>      "spending_krw": 39173323000,</a:t>
            </a:r>
          </a:p>
          <a:p>
            <a:r>
              <a:t>      "stay_minutes": 1900.0,</a:t>
            </a:r>
          </a:p>
          <a:p>
            <a:r>
              <a:t>      "lodging_nights": 2.68,</a:t>
            </a:r>
          </a:p>
          <a:p>
            <a:r>
              <a:t>      "lodging_rate_pct": 16.0,</a:t>
            </a:r>
          </a:p>
          <a:p>
            <a:r>
              <a:t>      "lodging_searches": 27644,</a:t>
            </a:r>
          </a:p>
          <a:p>
            <a:r>
              <a:t>      "navigation_searches": 223981,</a:t>
            </a:r>
          </a:p>
          <a:p>
            <a:r>
              <a:t>      "visitor_yoy_percent": 1.42,</a:t>
            </a:r>
          </a:p>
          <a:p>
            <a:r>
              <a:t>      "spending_yoy_percent": 0.0,</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1711231,</a:t>
            </a:r>
          </a:p>
          <a:p>
            <a:r>
              <a:t>      "previous_year_spending_krw": 39173323000,</a:t>
            </a:r>
          </a:p>
          <a:p>
            <a:r>
              <a:t>      "previous_year_stay_minutes": 1900.0,</a:t>
            </a:r>
          </a:p>
          <a:p>
            <a:r>
              <a:t>      "previous_year_lodging_nights": 2.68,</a:t>
            </a:r>
          </a:p>
          <a:p>
            <a:r>
              <a:t>      "previous_year_lodging_rate_pct": 16.0,</a:t>
            </a:r>
          </a:p>
          <a:p>
            <a:r>
              <a:t>      "previous_year_lodging_searches": 27644,</a:t>
            </a:r>
          </a:p>
          <a:p>
            <a:r>
              <a:t>      "previous_year_navigation_searches": 223981</a:t>
            </a:r>
          </a:p>
          <a:p>
            <a:r>
              <a:t>    },</a:t>
            </a:r>
          </a:p>
          <a:p>
            <a:r>
              <a:t>    {</a:t>
            </a:r>
          </a:p>
          <a:p>
            <a:r>
              <a:t>      "month": "202702",</a:t>
            </a:r>
          </a:p>
          <a:p>
            <a:r>
              <a:t>      "visitors": 1722995,</a:t>
            </a:r>
          </a:p>
          <a:p>
            <a:r>
              <a:t>      "is_forecast": true,</a:t>
            </a:r>
          </a:p>
          <a:p>
            <a:r>
              <a:t>      "spending_krw": 40605893000,</a:t>
            </a:r>
          </a:p>
          <a:p>
            <a:r>
              <a:t>      "stay_minutes": 1818.0,</a:t>
            </a:r>
          </a:p>
          <a:p>
            <a:r>
              <a:t>      "lodging_nights": 2.71,</a:t>
            </a:r>
          </a:p>
          <a:p>
            <a:r>
              <a:t>      "lodging_rate_pct": 17.7,</a:t>
            </a:r>
          </a:p>
          <a:p>
            <a:r>
              <a:t>      "lodging_searches": 24571,</a:t>
            </a:r>
          </a:p>
          <a:p>
            <a:r>
              <a:t>      "navigation_searches": 238194,</a:t>
            </a:r>
          </a:p>
          <a:p>
            <a:r>
              <a:t>      "visitor_yoy_percent": -1.96,</a:t>
            </a:r>
          </a:p>
          <a:p>
            <a:r>
              <a:t>      "spending_yoy_percent": 0.0,</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1757460,</a:t>
            </a:r>
          </a:p>
          <a:p>
            <a:r>
              <a:t>      "previous_year_spending_krw": 40605893000,</a:t>
            </a:r>
          </a:p>
          <a:p>
            <a:r>
              <a:t>      "previous_year_stay_minutes": 1818.0,</a:t>
            </a:r>
          </a:p>
          <a:p>
            <a:r>
              <a:t>      "previous_year_lodging_nights": 2.71,</a:t>
            </a:r>
          </a:p>
          <a:p>
            <a:r>
              <a:t>      "previous_year_lodging_rate_pct": 17.7,</a:t>
            </a:r>
          </a:p>
          <a:p>
            <a:r>
              <a:t>      "previous_year_lodging_searches": 24571,</a:t>
            </a:r>
          </a:p>
          <a:p>
            <a:r>
              <a:t>      "previous_year_navigation_searches": 238194</a:t>
            </a:r>
          </a:p>
          <a:p>
            <a:r>
              <a:t>    }</a:t>
            </a:r>
          </a:p>
          <a:p>
            <a:r>
              <a:t>  ],</a:t>
            </a:r>
          </a:p>
          <a:p>
            <a:r>
              <a:t>  "evaluation": {</a:t>
            </a:r>
          </a:p>
          <a:p>
            <a:r>
              <a:t>    "metrics": {</a:t>
            </a:r>
          </a:p>
          <a:p>
            <a:r>
              <a:t>      "visitors": {</a:t>
            </a:r>
          </a:p>
          <a:p>
            <a:r>
              <a:t>        "test_mae": 70528.31,</a:t>
            </a:r>
          </a:p>
          <a:p>
            <a:r>
              <a:t>        "recursive_mae": {</a:t>
            </a:r>
          </a:p>
          <a:p>
            <a:r>
              <a:t>          "1": {</a:t>
            </a:r>
          </a:p>
          <a:p>
            <a:r>
              <a:t>            "baseline": 41681.0,</a:t>
            </a:r>
          </a:p>
          <a:p>
            <a:r>
              <a:t>            "selected": 49874.0,</a:t>
            </a:r>
          </a:p>
          <a:p>
            <a:r>
              <a:t>            "sample_count": 2</a:t>
            </a:r>
          </a:p>
          <a:p>
            <a:r>
              <a:t>          },</a:t>
            </a:r>
          </a:p>
          <a:p>
            <a:r>
              <a:t>          "2": {</a:t>
            </a:r>
          </a:p>
          <a:p>
            <a:r>
              <a:t>            "baseline": 60055.5,</a:t>
            </a:r>
          </a:p>
          <a:p>
            <a:r>
              <a:t>            "selected": 37301.5,</a:t>
            </a:r>
          </a:p>
          <a:p>
            <a:r>
              <a:t>            "sample_count": 2</a:t>
            </a:r>
          </a:p>
          <a:p>
            <a:r>
              <a:t>          },</a:t>
            </a:r>
          </a:p>
          <a:p>
            <a:r>
              <a:t>          "3": {</a:t>
            </a:r>
          </a:p>
          <a:p>
            <a:r>
              <a:t>            "baseline": 106265.0,</a:t>
            </a:r>
          </a:p>
          <a:p>
            <a:r>
              <a:t>            "selected": 97340.5,</a:t>
            </a:r>
          </a:p>
          <a:p>
            <a:r>
              <a:t>            "sample_count": 2</a:t>
            </a:r>
          </a:p>
          <a:p>
            <a:r>
              <a:t>          }</a:t>
            </a:r>
          </a:p>
          <a:p>
            <a:r>
              <a:t>        },</a:t>
            </a:r>
          </a:p>
          <a:p>
            <a:r>
              <a:t>        "selected_model": "RandomForestRegressor",</a:t>
            </a:r>
          </a:p>
          <a:p>
            <a:r>
              <a:t>        "baseline_test_mae": 73973.0,</a:t>
            </a:r>
          </a:p>
          <a:p>
            <a:r>
              <a:t>        "model_reliability": "mixed_recursive_performance",</a:t>
            </a:r>
          </a:p>
          <a:p>
            <a:r>
              <a:t>        "beats_baseline_on_test": true,</a:t>
            </a:r>
          </a:p>
          <a:p>
            <a:r>
              <a:t>        "recursive_horizons_worse_than_baseline": [</a:t>
            </a:r>
          </a:p>
          <a:p>
            <a:r>
              <a:t>          "1"</a:t>
            </a:r>
          </a:p>
          <a:p>
            <a:r>
              <a:t>        ]</a:t>
            </a:r>
          </a:p>
          <a:p>
            <a:r>
              <a:t>      },</a:t>
            </a:r>
          </a:p>
          <a:p>
            <a:r>
              <a:t>      "spending_krw": {</a:t>
            </a:r>
          </a:p>
          <a:p>
            <a:r>
              <a:t>        "test_mae": 4095129500.0,</a:t>
            </a:r>
          </a:p>
          <a:p>
            <a:r>
              <a:t>        "recursive_mae": {</a:t>
            </a:r>
          </a:p>
          <a:p>
            <a:r>
              <a:t>          "1": {</a:t>
            </a:r>
          </a:p>
          <a:p>
            <a:r>
              <a:t>            "baseline": 4131609500.0,</a:t>
            </a:r>
          </a:p>
          <a:p>
            <a:r>
              <a:t>            "selected": 4131609500.0,</a:t>
            </a:r>
          </a:p>
          <a:p>
            <a:r>
              <a:t>            "sample_count": 2</a:t>
            </a:r>
          </a:p>
          <a:p>
            <a:r>
              <a:t>          },</a:t>
            </a:r>
          </a:p>
          <a:p>
            <a:r>
              <a:t>          "2": {</a:t>
            </a:r>
          </a:p>
          <a:p>
            <a:r>
              <a:t>            "baseline": 6603691500.0,</a:t>
            </a:r>
          </a:p>
          <a:p>
            <a:r>
              <a:t>            "selected": 6603691500.0,</a:t>
            </a:r>
          </a:p>
          <a:p>
            <a:r>
              <a:t>            "sample_count": 2</a:t>
            </a:r>
          </a:p>
          <a:p>
            <a:r>
              <a:t>          },</a:t>
            </a:r>
          </a:p>
          <a:p>
            <a:r>
              <a:t>          "3": {</a:t>
            </a:r>
          </a:p>
          <a:p>
            <a:r>
              <a:t>            "baseline": 4058649500.0,</a:t>
            </a:r>
          </a:p>
          <a:p>
            <a:r>
              <a:t>            "selected": 4058649500.0,</a:t>
            </a:r>
          </a:p>
          <a:p>
            <a:r>
              <a:t>            "sample_count": 2</a:t>
            </a:r>
          </a:p>
          <a:p>
            <a:r>
              <a:t>          }</a:t>
            </a:r>
          </a:p>
          <a:p>
            <a:r>
              <a:t>        },</a:t>
            </a:r>
          </a:p>
          <a:p>
            <a:r>
              <a:t>        "selected_model": "seasonal_naive_previous_year_same_month",</a:t>
            </a:r>
          </a:p>
          <a:p>
            <a:r>
              <a:t>        "baseline_test_mae": 4095129500.0,</a:t>
            </a:r>
          </a:p>
          <a:p>
            <a:r>
              <a:t>        "model_reliability": "seasonal_baseline",</a:t>
            </a:r>
          </a:p>
          <a:p>
            <a:r>
              <a:t>        "beats_baseline_on_test": false,</a:t>
            </a:r>
          </a:p>
          <a:p>
            <a:r>
              <a:t>        "recursive_horizons_worse_than_baseline": []</a:t>
            </a:r>
          </a:p>
          <a:p>
            <a:r>
              <a:t>      },</a:t>
            </a:r>
          </a:p>
          <a:p>
            <a:r>
              <a:t>      "stay_minutes": {</a:t>
            </a:r>
          </a:p>
          <a:p>
            <a:r>
              <a:t>        "test_mae": 131.0,</a:t>
            </a:r>
          </a:p>
          <a:p>
            <a:r>
              <a:t>        "recursive_mae": {</a:t>
            </a:r>
          </a:p>
          <a:p>
            <a:r>
              <a:t>          "1": {</a:t>
            </a:r>
          </a:p>
          <a:p>
            <a:r>
              <a:t>            "baseline": 3.5,</a:t>
            </a:r>
          </a:p>
          <a:p>
            <a:r>
              <a:t>            "selected": 3.5,</a:t>
            </a:r>
          </a:p>
          <a:p>
            <a:r>
              <a:t>            "sample_count": 2</a:t>
            </a:r>
          </a:p>
          <a:p>
            <a:r>
              <a:t>          },</a:t>
            </a:r>
          </a:p>
          <a:p>
            <a:r>
              <a:t>          "2": {</a:t>
            </a:r>
          </a:p>
          <a:p>
            <a:r>
              <a:t>            "baseline": 252.0,</a:t>
            </a:r>
          </a:p>
          <a:p>
            <a:r>
              <a:t>            "selected": 252.0,</a:t>
            </a:r>
          </a:p>
          <a:p>
            <a:r>
              <a:t>            "sample_count": 2</a:t>
            </a:r>
          </a:p>
          <a:p>
            <a:r>
              <a:t>          },</a:t>
            </a:r>
          </a:p>
          <a:p>
            <a:r>
              <a:t>          "3": {</a:t>
            </a:r>
          </a:p>
          <a:p>
            <a:r>
              <a:t>            "baseline": 258.5,</a:t>
            </a:r>
          </a:p>
          <a:p>
            <a:r>
              <a:t>            "selected": 258.5,</a:t>
            </a:r>
          </a:p>
          <a:p>
            <a:r>
              <a:t>            "sample_count": 2</a:t>
            </a:r>
          </a:p>
          <a:p>
            <a:r>
              <a:t>          }</a:t>
            </a:r>
          </a:p>
          <a:p>
            <a:r>
              <a:t>        },</a:t>
            </a:r>
          </a:p>
          <a:p>
            <a:r>
              <a:t>        "selected_model": "seasonal_naive_previous_year_same_month",</a:t>
            </a:r>
          </a:p>
          <a:p>
            <a:r>
              <a:t>        "baseline_test_mae": 131.0,</a:t>
            </a:r>
          </a:p>
          <a:p>
            <a:r>
              <a:t>        "model_reliability": "seasonal_baseline",</a:t>
            </a:r>
          </a:p>
          <a:p>
            <a:r>
              <a:t>        "beats_baseline_on_test": false,</a:t>
            </a:r>
          </a:p>
          <a:p>
            <a:r>
              <a:t>        "recursive_horizons_worse_than_baseline": []</a:t>
            </a:r>
          </a:p>
          <a:p>
            <a:r>
              <a:t>      },</a:t>
            </a:r>
          </a:p>
          <a:p>
            <a:r>
              <a:t>      "lodging_nights": {</a:t>
            </a:r>
          </a:p>
          <a:p>
            <a:r>
              <a:t>        "test_mae": 0.06,</a:t>
            </a:r>
          </a:p>
          <a:p>
            <a:r>
              <a:t>        "recursive_mae": {</a:t>
            </a:r>
          </a:p>
          <a:p>
            <a:r>
              <a:t>          "1": {</a:t>
            </a:r>
          </a:p>
          <a:p>
            <a:r>
              <a:t>            "baseline": 0.05,</a:t>
            </a:r>
          </a:p>
          <a:p>
            <a:r>
              <a:t>            "selected": 0.05,</a:t>
            </a:r>
          </a:p>
          <a:p>
            <a:r>
              <a:t>            "sample_count": 2</a:t>
            </a:r>
          </a:p>
          <a:p>
            <a:r>
              <a:t>          },</a:t>
            </a:r>
          </a:p>
          <a:p>
            <a:r>
              <a:t>          "2": {</a:t>
            </a:r>
          </a:p>
          <a:p>
            <a:r>
              <a:t>            "baseline": 0.05,</a:t>
            </a:r>
          </a:p>
          <a:p>
            <a:r>
              <a:t>            "selected": 0.05,</a:t>
            </a:r>
          </a:p>
          <a:p>
            <a:r>
              <a:t>            "sample_count": 2</a:t>
            </a:r>
          </a:p>
          <a:p>
            <a:r>
              <a:t>          },</a:t>
            </a:r>
          </a:p>
          <a:p>
            <a:r>
              <a:t>          "3": {</a:t>
            </a:r>
          </a:p>
          <a:p>
            <a:r>
              <a:t>            "baseline": 0.06,</a:t>
            </a:r>
          </a:p>
          <a:p>
            <a:r>
              <a:t>            "selected": 0.06,</a:t>
            </a:r>
          </a:p>
          <a:p>
            <a:r>
              <a:t>            "sample_count": 2</a:t>
            </a:r>
          </a:p>
          <a:p>
            <a:r>
              <a:t>          }</a:t>
            </a:r>
          </a:p>
          <a:p>
            <a:r>
              <a:t>        },</a:t>
            </a:r>
          </a:p>
          <a:p>
            <a:r>
              <a:t>        "selected_model": "seasonal_naive_previous_year_same_month",</a:t>
            </a:r>
          </a:p>
          <a:p>
            <a:r>
              <a:t>        "baseline_test_mae": 0.06,</a:t>
            </a:r>
          </a:p>
          <a:p>
            <a:r>
              <a:t>        "model_reliability": "seasonal_baseline",</a:t>
            </a:r>
          </a:p>
          <a:p>
            <a:r>
              <a:t>        "beats_baseline_on_test": false,</a:t>
            </a:r>
          </a:p>
          <a:p>
            <a:r>
              <a:t>        "recursive_horizons_worse_than_baseline": []</a:t>
            </a:r>
          </a:p>
          <a:p>
            <a:r>
              <a:t>      },</a:t>
            </a:r>
          </a:p>
          <a:p>
            <a:r>
              <a:t>      "lodging_rate_pct": {</a:t>
            </a:r>
          </a:p>
          <a:p>
            <a:r>
              <a:t>        "test_mae": 0.55,</a:t>
            </a:r>
          </a:p>
          <a:p>
            <a:r>
              <a:t>        "recursive_mae": {</a:t>
            </a:r>
          </a:p>
          <a:p>
            <a:r>
              <a:t>          "1": {</a:t>
            </a:r>
          </a:p>
          <a:p>
            <a:r>
              <a:t>            "baseline": 0.8,</a:t>
            </a:r>
          </a:p>
          <a:p>
            <a:r>
              <a:t>            "selected": 0.8,</a:t>
            </a:r>
          </a:p>
          <a:p>
            <a:r>
              <a:t>            "sample_count": 2</a:t>
            </a:r>
          </a:p>
          <a:p>
            <a:r>
              <a:t>          },</a:t>
            </a:r>
          </a:p>
          <a:p>
            <a:r>
              <a:t>          "2": {</a:t>
            </a:r>
          </a:p>
          <a:p>
            <a:r>
              <a:t>            "baseline": 0.4,</a:t>
            </a:r>
          </a:p>
          <a:p>
            <a:r>
              <a:t>            "selected": 0.4,</a:t>
            </a:r>
          </a:p>
          <a:p>
            <a:r>
              <a:t>            "sample_count": 2</a:t>
            </a:r>
          </a:p>
          <a:p>
            <a:r>
              <a:t>          },</a:t>
            </a:r>
          </a:p>
          <a:p>
            <a:r>
              <a:t>          "3": {</a:t>
            </a:r>
          </a:p>
          <a:p>
            <a:r>
              <a:t>            "baseline": 0.3,</a:t>
            </a:r>
          </a:p>
          <a:p>
            <a:r>
              <a:t>            "selected": 0.3,</a:t>
            </a:r>
          </a:p>
          <a:p>
            <a:r>
              <a:t>            "sample_count": 2</a:t>
            </a:r>
          </a:p>
          <a:p>
            <a:r>
              <a:t>          }</a:t>
            </a:r>
          </a:p>
          <a:p>
            <a:r>
              <a:t>        },</a:t>
            </a:r>
          </a:p>
          <a:p>
            <a:r>
              <a:t>        "selected_model": "seasonal_naive_previous_year_same_month",</a:t>
            </a:r>
          </a:p>
          <a:p>
            <a:r>
              <a:t>        "baseline_test_mae": 0.55,</a:t>
            </a:r>
          </a:p>
          <a:p>
            <a:r>
              <a:t>        "model_reliability": "seasonal_baseline",</a:t>
            </a:r>
          </a:p>
          <a:p>
            <a:r>
              <a:t>        "beats_baseline_on_test": false,</a:t>
            </a:r>
          </a:p>
          <a:p>
            <a:r>
              <a:t>        "recursive_horizons_worse_than_baseline": []</a:t>
            </a:r>
          </a:p>
          <a:p>
            <a:r>
              <a:t>      },</a:t>
            </a:r>
          </a:p>
          <a:p>
            <a:r>
              <a:t>      "lodging_searches": {</a:t>
            </a:r>
          </a:p>
          <a:p>
            <a:r>
              <a:t>        "test_mae": 2351.0,</a:t>
            </a:r>
          </a:p>
          <a:p>
            <a:r>
              <a:t>        "recursive_mae": {</a:t>
            </a:r>
          </a:p>
          <a:p>
            <a:r>
              <a:t>          "1": {</a:t>
            </a:r>
          </a:p>
          <a:p>
            <a:r>
              <a:t>            "baseline": 3418.5,</a:t>
            </a:r>
          </a:p>
          <a:p>
            <a:r>
              <a:t>            "selected": 3418.5,</a:t>
            </a:r>
          </a:p>
          <a:p>
            <a:r>
              <a:t>            "sample_count": 2</a:t>
            </a:r>
          </a:p>
          <a:p>
            <a:r>
              <a:t>          },</a:t>
            </a:r>
          </a:p>
          <a:p>
            <a:r>
              <a:t>          "2": {</a:t>
            </a:r>
          </a:p>
          <a:p>
            <a:r>
              <a:t>            "baseline": 1505.0,</a:t>
            </a:r>
          </a:p>
          <a:p>
            <a:r>
              <a:t>            "selected": 1505.0,</a:t>
            </a:r>
          </a:p>
          <a:p>
            <a:r>
              <a:t>            "sample_count": 2</a:t>
            </a:r>
          </a:p>
          <a:p>
            <a:r>
              <a:t>          },</a:t>
            </a:r>
          </a:p>
          <a:p>
            <a:r>
              <a:t>          "3": {</a:t>
            </a:r>
          </a:p>
          <a:p>
            <a:r>
              <a:t>            "baseline": 1283.5,</a:t>
            </a:r>
          </a:p>
          <a:p>
            <a:r>
              <a:t>            "selected": 1283.5,</a:t>
            </a:r>
          </a:p>
          <a:p>
            <a:r>
              <a:t>            "sample_count": 2</a:t>
            </a:r>
          </a:p>
          <a:p>
            <a:r>
              <a:t>          }</a:t>
            </a:r>
          </a:p>
          <a:p>
            <a:r>
              <a:t>        },</a:t>
            </a:r>
          </a:p>
          <a:p>
            <a:r>
              <a:t>        "selected_model": "seasonal_naive_previous_year_same_month",</a:t>
            </a:r>
          </a:p>
          <a:p>
            <a:r>
              <a:t>        "baseline_test_mae": 2351.0,</a:t>
            </a:r>
          </a:p>
          <a:p>
            <a:r>
              <a:t>        "model_reliability": "seasonal_baseline",</a:t>
            </a:r>
          </a:p>
          <a:p>
            <a:r>
              <a:t>        "beats_baseline_on_test": false,</a:t>
            </a:r>
          </a:p>
          <a:p>
            <a:r>
              <a:t>        "recursive_horizons_worse_than_baseline": []</a:t>
            </a:r>
          </a:p>
          <a:p>
            <a:r>
              <a:t>      },</a:t>
            </a:r>
          </a:p>
          <a:p>
            <a:r>
              <a:t>      "navigation_searches": {</a:t>
            </a:r>
          </a:p>
          <a:p>
            <a:r>
              <a:t>        "test_mae": 32030.5,</a:t>
            </a:r>
          </a:p>
          <a:p>
            <a:r>
              <a:t>        "recursive_mae": {</a:t>
            </a:r>
          </a:p>
          <a:p>
            <a:r>
              <a:t>          "1": {</a:t>
            </a:r>
          </a:p>
          <a:p>
            <a:r>
              <a:t>            "baseline": 36449.0,</a:t>
            </a:r>
          </a:p>
          <a:p>
            <a:r>
              <a:t>            "selected": 36449.0,</a:t>
            </a:r>
          </a:p>
          <a:p>
            <a:r>
              <a:t>            "sample_count": 2</a:t>
            </a:r>
          </a:p>
          <a:p>
            <a:r>
              <a:t>          },</a:t>
            </a:r>
          </a:p>
          <a:p>
            <a:r>
              <a:t>          "2": {</a:t>
            </a:r>
          </a:p>
          <a:p>
            <a:r>
              <a:t>            "baseline": 36445.5,</a:t>
            </a:r>
          </a:p>
          <a:p>
            <a:r>
              <a:t>            "selected": 36445.5,</a:t>
            </a:r>
          </a:p>
          <a:p>
            <a:r>
              <a:t>            "sample_count": 2</a:t>
            </a:r>
          </a:p>
          <a:p>
            <a:r>
              <a:t>          },</a:t>
            </a:r>
          </a:p>
          <a:p>
            <a:r>
              <a:t>          "3": {</a:t>
            </a:r>
          </a:p>
          <a:p>
            <a:r>
              <a:t>            "baseline": 27612.0,</a:t>
            </a:r>
          </a:p>
          <a:p>
            <a:r>
              <a:t>            "selected": 27612.0,</a:t>
            </a:r>
          </a:p>
          <a:p>
            <a:r>
              <a:t>            "sample_count": 2</a:t>
            </a:r>
          </a:p>
          <a:p>
            <a:r>
              <a:t>          }</a:t>
            </a:r>
          </a:p>
          <a:p>
            <a:r>
              <a:t>        },</a:t>
            </a:r>
          </a:p>
          <a:p>
            <a:r>
              <a:t>        "selected_model": "seasonal_naive_previous_year_same_month",</a:t>
            </a:r>
          </a:p>
          <a:p>
            <a:r>
              <a:t>        "baseline_test_mae": 32030.5,</a:t>
            </a:r>
          </a:p>
          <a:p>
            <a:r>
              <a:t>        "model_reliability": "seasonal_baseline",</a:t>
            </a:r>
          </a:p>
          <a:p>
            <a:r>
              <a:t>        "beats_baseline_on_test": false,</a:t>
            </a:r>
          </a:p>
          <a:p>
            <a:r>
              <a:t>        "recursive_horizons_worse_than_baseline": []</a:t>
            </a:r>
          </a:p>
          <a:p>
            <a:r>
              <a:t>      }</a:t>
            </a:r>
          </a:p>
          <a:p>
            <a:r>
              <a:t>    },</a:t>
            </a:r>
          </a:p>
          <a:p>
            <a:r>
              <a:t>    "test_period": "202603~202606",</a:t>
            </a:r>
          </a:p>
          <a:p>
            <a:r>
              <a:t>    "selection_basis": "validation_mae_only",</a:t>
            </a:r>
          </a:p>
          <a:p>
            <a:r>
              <a:t>    "validation_period": "202512~202602",</a:t>
            </a:r>
          </a:p>
          <a:p>
            <a:r>
              <a:t>    "longer_horizon_status": "exploratory_not_recursively_backtested",</a:t>
            </a:r>
          </a:p>
          <a:p>
            <a:r>
              <a:t>    "forecast_horizon_months": 8,</a:t>
            </a:r>
          </a:p>
          <a:p>
            <a:r>
              <a:t>    "recursive_backtest_horizon_months": [</a:t>
            </a:r>
          </a:p>
          <a:p>
            <a:r>
              <a:t>      1,</a:t>
            </a:r>
          </a:p>
          <a:p>
            <a:r>
              <a:t>      2,</a:t>
            </a:r>
          </a:p>
          <a:p>
            <a:r>
              <a:t>      3</a:t>
            </a:r>
          </a:p>
          <a:p>
            <a:r>
              <a:t>    ]</a:t>
            </a:r>
          </a:p>
          <a:p>
            <a:r>
              <a:t>  },</a:t>
            </a:r>
          </a:p>
          <a:p>
            <a:r>
              <a:t>  "execution_scenario": {</a:t>
            </a:r>
          </a:p>
          <a:p>
            <a:r>
              <a:t>    "visitor_target_pct": 5.0,</a:t>
            </a:r>
          </a:p>
          <a:p>
            <a:r>
              <a:t>    "spending_target_pct": 5.0</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"method": "operation-document-v1",</a:t>
            </a:r>
          </a:p>
          <a:p xmlns:a="http://schemas.openxmlformats.org/drawingml/2006/main">
            <a:r>
              <a:t>  "sources": [</a:t>
            </a:r>
          </a:p>
          <a:p xmlns:a="http://schemas.openxmlformats.org/drawingml/2006/main">
            <a:r>
              <a:t>    {</a:t>
            </a:r>
          </a:p>
          <a:p xmlns:a="http://schemas.openxmlformats.org/drawingml/2006/main">
            <a:r>
              <a:t>      "title": "강진 반값여행 지역경제 효과 소개",</a:t>
            </a:r>
          </a:p>
          <a:p xmlns:a="http://schemas.openxmlformats.org/drawingml/2006/main">
            <a:r>
              <a:t>      "summary": "전라남도 강진군 · 반값여행 지역환급 · 상품권 결제 변화에 관한 소개 자료는 있으나, 사업 참여자 범위·정확한 비교 기간·원자료를 확인하지 못해 성과 수치 인용을 보류한다.",</a:t>
            </a:r>
          </a:p>
          <a:p xmlns:a="http://schemas.openxmlformats.org/drawingml/2006/main">
            <a:r>
              <a:t>      "source_id": "case:gangjin_half_price_2024",</a:t>
            </a:r>
          </a:p>
          <a:p xmlns:a="http://schemas.openxmlformats.org/drawingml/2006/main">
            <a:r>
              <a:t>      "source_url": "https://jnfarm.jeonnam.go.kr/board/FARM_BOARD_008/boardView.do?bdId=BD_00000000000011721&amp;menuCd=farm004002",</a:t>
            </a:r>
          </a:p>
          <a:p xmlns:a="http://schemas.openxmlformats.org/drawingml/2006/main">
            <a:r>
              <a:t>      "case_region": "전라남도 강진군",</a:t>
            </a:r>
          </a:p>
          <a:p xmlns:a="http://schemas.openxmlformats.org/drawingml/2006/main">
            <a:r>
              <a:t>      "source_type": "benchmark_case",</a:t>
            </a:r>
          </a:p>
          <a:p xmlns:a="http://schemas.openxmlformats.org/drawingml/2006/main">
            <a:r>
              <a:t>      "intervention": "반값여행 지역환급",</a:t>
            </a:r>
          </a:p>
          <a:p xmlns:a="http://schemas.openxmlformats.org/drawingml/2006/main">
            <a:r>
              <a:t>      "operating_model": "여행자가 지역에서 지출한 비용의 일부를 지역상품권으로 돌려받게 하여 혜택이 다시 지역 상점에서 사용되도록 설계",</a:t>
            </a:r>
          </a:p>
          <a:p xmlns:a="http://schemas.openxmlformats.org/drawingml/2006/main">
            <a:r>
              <a:t>      "evidence_strength": "low",</a:t>
            </a:r>
          </a:p>
          <a:p xmlns:a="http://schemas.openxmlformats.org/drawingml/2006/main">
            <a:r>
              <a:t>      "published_or_updated_at": "2025-01-02",</a:t>
            </a:r>
          </a:p>
          <a:p xmlns:a="http://schemas.openxmlformats.org/drawingml/2006/main">
            <a:r>
              <a:t>      "quantitative_result_approved": false</a:t>
            </a:r>
          </a:p>
          <a:p xmlns:a="http://schemas.openxmlformats.org/drawingml/2006/main">
            <a:r>
              <a:t>    },</a:t>
            </a:r>
          </a:p>
          <a:p xmlns:a="http://schemas.openxmlformats.org/drawingml/2006/main">
            <a:r>
              <a:t>    {</a:t>
            </a:r>
          </a:p>
          <a:p xmlns:a="http://schemas.openxmlformats.org/drawingml/2006/main">
            <a:r>
              <a:t>      "title": "섬에서의 특별한 경험, ‘인천 섬 도도하게 살아보기’로 누린다",</a:t>
            </a:r>
          </a:p>
          <a:p xmlns:a="http://schemas.openxmlformats.org/drawingml/2006/main">
            <a:r>
              <a:t>      "summary": "인천광역시 강화군·옹진군 소재 섬 · 인천 섬 도도하게 살아보기—주민 숙박·식사·체험을 묶은 예약형 체류상품 · 2022년 7월 31일 기준 목표 700명 중 228명이 예약해 모객률 33%를 기록했다. 2023년에는 약 1,600명이 15개 섬을 방문한 것으로 인천시가 공개했다. 주민 소득 증가액과 비교집단 기반 체류 순증효과는 공식 자료에서 확인되지 않음.",</a:t>
            </a:r>
          </a:p>
          <a:p xmlns:a="http://schemas.openxmlformats.org/drawingml/2006/main">
            <a:r>
              <a:t>      "source_id": "case:291a33370ec9b1",</a:t>
            </a:r>
          </a:p>
          <a:p xmlns:a="http://schemas.openxmlformats.org/drawingml/2006/main">
            <a:r>
              <a:t>      "source_url": "https://www.incheon.go.kr/mayor_8/MA040101/view?curPage=236&amp;repSeq=DOM_0000000010488055",</a:t>
            </a:r>
          </a:p>
          <a:p xmlns:a="http://schemas.openxmlformats.org/drawingml/2006/main">
            <a:r>
              <a:t>      "case_region": "인천광역시 강화군·옹진군 소재 섬",</a:t>
            </a:r>
          </a:p>
          <a:p xmlns:a="http://schemas.openxmlformats.org/drawingml/2006/main">
            <a:r>
              <a:t>      "source_type": "benchmark_case",</a:t>
            </a:r>
          </a:p>
          <a:p xmlns:a="http://schemas.openxmlformats.org/drawingml/2006/main">
            <a:r>
              <a:t>      "intervention": "인천 섬 도도하게 살아보기—주민 숙박·식사·체험을 묶은 예약형 체류상품",</a:t>
            </a:r>
          </a:p>
          <a:p xmlns:a="http://schemas.openxmlformats.org/drawingml/2006/main">
            <a:r>
              <a:t>      "operating_model": "섬별로 2박 3일 또는 3박 4일 상품을 정해진 회차로 판매했다. 주민 운영 숙소·음식점과 낚시, 트레킹, 해양레저, 로컬체험을 하나의 예약상품으로 묶고 상품가격의 일부를 공공이 지원했다. 2024년 자료에는 섬별 최대 50% 지원 구조가 제시됐다.",</a:t>
            </a:r>
          </a:p>
          <a:p xmlns:a="http://schemas.openxmlformats.org/drawingml/2006/main">
            <a:r>
              <a:t>      "evidence_strength": "medium",</a:t>
            </a:r>
          </a:p>
          <a:p xmlns:a="http://schemas.openxmlformats.org/drawingml/2006/main">
            <a:r>
              <a:t>      "published_or_updated_at": "2024-08-12",</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"2024년 6월 여행가는 달 추진 보도자료",</a:t>
            </a:r>
          </a:p>
          <a:p xmlns:a="http://schemas.openxmlformats.org/drawingml/2006/main">
            <a:r>
              <a:t>      "summary": "전국 인구감소지역 34곳 · 디지털 관광주민증과 교통·숙박·상점 할인 결합 · 2024년 34개 지역 약 800개 관광업체에 혜택 구조를 적용",</a:t>
            </a:r>
          </a:p>
          <a:p xmlns:a="http://schemas.openxmlformats.org/drawingml/2006/main">
            <a:r>
              <a:t>      "source_id": "case:digital_tourism_resident_2024",</a:t>
            </a:r>
          </a:p>
          <a:p xmlns:a="http://schemas.openxmlformats.org/drawingml/2006/main">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      "case_region": "전국 인구감소지역 34곳",</a:t>
            </a:r>
          </a:p>
          <a:p xmlns:a="http://schemas.openxmlformats.org/drawingml/2006/main">
            <a:r>
              <a:t>      "source_type": "benchmark_case",</a:t>
            </a:r>
          </a:p>
          <a:p xmlns:a="http://schemas.openxmlformats.org/drawingml/2006/main">
            <a:r>
              <a:t>      "intervention": "디지털 관광주민증과 교통·숙박·상점 할인 결합",</a:t>
            </a:r>
          </a:p>
          <a:p xmlns:a="http://schemas.openxmlformats.org/drawingml/2006/main">
            <a:r>
              <a:t>      "operating_model": "디지털 관광주민증 참여업체 현장 인증과 숙박·식음·관람·체험 할인, 특정 시간대 KTX 할인과 방문 후 교통 할인권을 결합",</a:t>
            </a:r>
          </a:p>
          <a:p xmlns:a="http://schemas.openxmlformats.org/drawingml/2006/main">
            <a:r>
              <a:t>      "evidence_strength": "medium",</a:t>
            </a:r>
          </a:p>
          <a:p xmlns:a="http://schemas.openxmlformats.org/drawingml/2006/main">
            <a:r>
              <a:t>      "published_or_updated_at": "2024-05-14",</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"image": "AI generated illustrative scenes; not documentary photos; OpenAI image generation, 2026-09-10"</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proposal_layout_v9.execution_groups / execution_copy → 4개 단계. 일정은 저장 implementation_steps, 업무 설명은 환급형/일반형 코드 템플릿.</a:t>
            </a:r>
          </a:p>
          <a:p xmlns:a="http://schemas.openxmlformats.org/drawingml/2006/main">
            <a:r>
              <a:t>[{"step": 1, "task": "사업 담당자가 참여 희망 업체를 대상으로 모집 공고를 시행하고, 업체별 참여 협약서 및 환급 조건 명세서를 작성하여 협약을 체결함", "schedule": "2026-09", "deliverable": "업체별 참여 협약서 및 환급 조건 명세서"}, {"step": 2, "task": "시스템 운영 담당자가 환급 신청, 승인, 결제 데이터를 통합 관리할 수 있는 신청·승인·결제 원장 관리 시스템을 구축함", "schedule": "2026-09", "deliverable": "신청·승인·결제 원장 관리 시스템"}, {"step": 3, "task": "운영 담당자가 주간 단위로 환급 신청 건을 검토·승인하고, 실제 환급 집행 현황 및 이용 현황 보고서를 작성함", "schedule": "2026-10", "deliverable": "주간 단위 환급 집행 및 이용 현황 보고서"}, {"step": 4, "task": "데이터 분석 담당자가 수집된 원장을 바탕으로 환급 상품권의 재사용률 및 지역 내 소비 증감 효과를 분석한 최종 성과 보고서를 작성함", "schedule": "2026-11", "deliverable": "최종 성과 분석 보고서(재사용률 및 소비 증감)"}, {"step": 5, "task": "사업 총괄 담당자가 분석 결과를 검토하여 차기 운영 규모 확대 또는 사업 중단 여부를 결정하는 보고서를 작성함", "schedule": "2026-11", "deliverable": "확대 운영 또는 중단 결정 보고서"}]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 목표율 입력 시 최종 월의 자연추세와 목표를 비교합니다. 미입력 시 견적에 기반한 별도 참여 목표만 제안합니다.</a:t>
            </a:r>
          </a:p>
          <a:p>
            <a:r>
              <a:t>[Sources]</a:t>
            </a:r>
          </a:p>
          <a:p>
            <a:r>
              <a:t>dataset:51110:1 | 한국관광 데이터랩 · 강원특별자치도 춘천시 순 방문자 수 및 숙박 비율 (이동통신 기반 외지인) | https://datalab.visitkorea.or.kr/</a:t>
            </a:r>
          </a:p>
          <a:p>
            <a:r>
              <a:t>dataset:51110:2 | 한국관광 데이터랩 · 강원특별자치도 춘천시 월간 순 방문자 수 (이동통신 기반 외지인) | https://datalab.visitkorea.or.kr/</a:t>
            </a:r>
          </a:p>
          <a:p>
            <a:r>
              <a:t>dataset:51110:3 | 한국관광 데이터랩 · 강원특별자치도 춘천시 관광소비 추이_외지인 | https://datalab.visitkorea.or.kr/</a:t>
            </a:r>
          </a:p>
          <a:p>
            <a:r>
              <a:t>dataset:51110:4 | 한국관광 데이터랩 · 강원특별자치도 춘천시 숙박방문자 비율 추이 (이동통신 기반 외지인) | https://datalab.visitkorea.or.kr/</a:t>
            </a:r>
          </a:p>
          <a:p>
            <a:r>
              <a:t>dataset:51110:5 | 한국관광 데이터랩 · 강원특별자치도 춘천시 평균 숙박일 (이동통신 기반 외지인) | https://datalab.visitkorea.or.kr/</a:t>
            </a:r>
          </a:p>
          <a:p>
            <a:r>
              <a:t>dataset:51110:6 | 한국관광 데이터랩 · 강원특별자치도 춘천시 내비게이션 목적지 유형별 검색량 | https://datalab.visitkorea.or.kr/</a:t>
            </a:r>
          </a:p>
          <a:p>
            <a:r>
              <a:t>dataset:51110:7 | 한국관광 데이터랩 · 강원특별자치도 춘천시 SNS 언급량 | https://datalab.visitkorea.or.kr/</a:t>
            </a:r>
          </a:p>
          <a:p>
            <a:r>
              <a:t>datalab:2343c3bc93bf:81205be51a1a | 한국관광 데이터랩 공식 다운로드 · 강원특별자치도_춘천시/숙박_체류시간/2026_01_06.zip | https://datalab.visitkorea.or.kr/</a:t>
            </a:r>
          </a:p>
          <a:p>
            <a:r>
              <a:t>datalab:73a88f6fd74b:dc735676b7f4 | 한국관광 데이터랩 공식 다운로드 · 강원특별자치도_춘천시/숙박_체류시간/2025_01_12.zip | https://datalab.visitkorea.or.kr/</a:t>
            </a:r>
          </a:p>
          <a:p>
            <a:r>
              <a:t>datalab:77438b77a948:7f25647aea7e | 한국관광 데이터랩 공식 다운로드 · 강원특별자치도_춘천시/관광소비/2026_01_06.zip | https://datalab.visitkorea.or.kr/</a:t>
            </a:r>
          </a:p>
          <a:p>
            <a:r>
              <a:t>datalab:9642314b6e5e:34e60387985e | 한국관광 데이터랩 공식 다운로드 · 강원특별자치도_춘천시/관광소비/2025_01_12.zip | https://datalab.visitkorea.or.kr/</a:t>
            </a:r>
          </a:p>
          <a:p>
            <a:r>
              <a:t>datalab:ae4e45e46741:2689769fc6ce | 한국관광 데이터랩 공식 다운로드 · 강원특별자치도_춘천시/방문자/2026_01_06.zip | https://datalab.visitkorea.or.kr/</a:t>
            </a:r>
          </a:p>
          <a:p>
            <a:r>
              <a:t>datalab:e1ae014de0aa:877807c4ab51 | 한국관광 데이터랩 공식 다운로드 · 강원특별자치도_춘천시/방문자/2025_01_12.zip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regional-status:4a7789e925d5:55e3be9aa0cd | 한국관광 데이터랩 지역별 관광 현황 · 강원특별자치도 춘천시 · 유입유출 | https://datalab.visitkorea.or.kr/</a:t>
            </a:r>
          </a:p>
          <a:p>
            <a:r>
              <a:t>regional-status:61a9d2d6b099:8676c55ce1a7 | 한국관광 데이터랩 지역별 관광 현황 · 강원특별자치도 춘천시 · 인기관광지 | https://datalab.visitkorea.or.kr/</a:t>
            </a:r>
          </a:p>
          <a:p>
            <a:r>
              <a:t>regional-status:b3fe66c3af97:a10ce860bf9f | 한국관광 데이터랩 지역별 관광 현황 · 강원특별자치도 춘천시 · 지역집중률 | https://datalab.visitkorea.or.kr/</a:t>
            </a:r>
          </a:p>
          <a:p>
            <a:r>
              <a:t>ml:51110:regional-demand-v3.1:202606 | 지역 관광수요 ML 전망 · 공식 관측값 아님 | URL 미기록</a:t>
            </a:r>
          </a:p>
          <a:p>
            <a:r>
              <a:t>tour-api:2891703 | 가보자순대국 | https://apis.data.go.kr/B551011/KorService2</a:t>
            </a:r>
          </a:p>
          <a:p>
            <a:r>
              <a:t>tour-api:3083085 | 가평1등수상레저 | https://apis.data.go.kr/B551011/KorService2</a:t>
            </a:r>
          </a:p>
          <a:p>
            <a:r>
              <a:t>tour-api:128778 | 강원 경찰충혼탑 | https://apis.data.go.kr/B551011/KorService2</a:t>
            </a:r>
          </a:p>
          <a:p>
            <a:r>
              <a:t>tour-api:129840 | 강원대학교중앙박물관 | https://apis.data.go.kr/B551011/KorService2</a:t>
            </a:r>
          </a:p>
          <a:p>
            <a:r>
              <a:t>tour-api:2610850 | 강원숲체험장 | https://apis.data.go.kr/B551011/KorService2</a:t>
            </a:r>
          </a:p>
          <a:p>
            <a:r>
              <a:t>tour-api:131456 | 강원특별자치도청소년수련원 | https://apis.data.go.kr/B551011/KorService2</a:t>
            </a:r>
          </a:p>
          <a:p>
            <a:r>
              <a:t>tour-api:2706334 | 강촌 출렁다리공원 | https://apis.data.go.kr/B551011/KorService2</a:t>
            </a:r>
          </a:p>
          <a:p>
            <a:r>
              <a:t>tour-api:1947118 | 강촌레일파크(김유정레일바이크) | https://apis.data.go.kr/B551011/KorService2</a:t>
            </a:r>
          </a:p>
          <a:p>
            <a:r>
              <a:t>tour-api:2759582 | 강촌버즈글램핑 | https://apis.data.go.kr/B551011/KorService2</a:t>
            </a:r>
          </a:p>
          <a:p>
            <a:r>
              <a:t>tour-api:125605 | 강촌유원지 | https://apis.data.go.kr/B551011/KorService2</a:t>
            </a:r>
          </a:p>
          <a:p>
            <a:r>
              <a:t>tour-api:2741528 | 강촌하늘아래글램핑 | https://apis.data.go.kr/B551011/KorService2</a:t>
            </a:r>
          </a:p>
          <a:p>
            <a:r>
              <a:t>tour-api:391742 | 경강막국수 | https://apis.data.go.kr/B551011/KorService2</a:t>
            </a:r>
          </a:p>
          <a:p>
            <a:r>
              <a:t>tour-api:2558052 | 고목 | https://apis.data.go.kr/B551011/KorService2</a:t>
            </a:r>
          </a:p>
          <a:p>
            <a:r>
              <a:t>tour-api:129004 | 공지천 조각공원 | https://apis.data.go.kr/B551011/KorService2</a:t>
            </a:r>
          </a:p>
          <a:p>
            <a:r>
              <a:t>tour-api:2792017 | 구곡폭포 국민여가 캠핑장 | https://apis.data.go.kr/B551011/KorService2</a:t>
            </a:r>
          </a:p>
          <a:p>
            <a:r>
              <a:t>tour-api:2714558 | 구봉산 | https://apis.data.go.kr/B551011/KorService2</a:t>
            </a:r>
          </a:p>
          <a:p>
            <a:r>
              <a:t>tour-api:407225 | 국립 용화산자연휴양림 | https://apis.data.go.kr/B551011/KorService2</a:t>
            </a:r>
          </a:p>
          <a:p>
            <a:r>
              <a:t>tour-api:2710587 | 국립춘천숲체원 | https://apis.data.go.kr/B551011/KorService2</a:t>
            </a:r>
          </a:p>
          <a:p>
            <a:r>
              <a:t>tour-api:2774528 | 군자숯불닭갈비 | https://apis.data.go.kr/B551011/KorService2</a:t>
            </a:r>
          </a:p>
          <a:p>
            <a:r>
              <a:t>tour-api:2710596 | 근화동396청년창업공간 | https://apis.data.go.kr/B551011/KorService2</a:t>
            </a:r>
          </a:p>
          <a:p>
            <a:r>
              <a:t>reference:kto:2026:local-airport | 요즘, 한국관광 2호 - 지방공항 연계 지역관광 활성화 방안 | PDF 44쪽, PDF 43쪽, PDF 38쪽, PDF 40쪽, PDF 41쪽, PDF 36쪽, PDF 41쪽, PDF 44쪽, PDF 43쪽, PDF 43쪽 | https://datalab.visitkorea.or.kr/site/portal/ex/bbs/View.do?bcIdx=311068&amp;cbIdx=1135&amp;pageIndex=1</a:t>
            </a:r>
          </a:p>
          <a:p>
            <a:r>
              <a:t>case:jeonju_night_budget_2026 | 전주시 2026년도 관광산업과 세출예산 사업명세서 | https://jeonju.go.kr/resource/www/images/download/budget/2026/2026_31_2.pdf</a:t>
            </a:r>
          </a:p>
          <a:p>
            <a:r>
              <a:t>case:291a33370ec9b1 | 섬에서의 특별한 경험, ‘인천 섬 도도하게 살아보기’로 누린다 | https://www.incheon.go.kr/mayor_8/MA040101/view?curPage=236&amp;repSeq=DOM_0000000010488055</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case:night_tourism_cities_2024 | 2024년도 정부업무평가 관광분야 성과자료 | https://www.evaluation.go.kr/upload2/atch/eval/20250429095846463.pdf</a:t>
            </a:r>
          </a:p>
          <a:p>
            <a:r>
              <a:t>[/Sources]</a:t>
            </a:r>
          </a:p>
          <a:p>
            <a:r>
              <a:t>[Calculation audit]</a:t>
            </a:r>
          </a:p>
          <a:p>
            <a:r>
              <a:t>{</a:t>
            </a:r>
          </a:p>
          <a:p>
            <a:r>
              <a:t>  "source_inventory": [</a:t>
            </a:r>
          </a:p>
          <a:p>
            <a:r>
              <a:t>    {</a:t>
            </a:r>
          </a:p>
          <a:p>
            <a:r>
              <a:t>      "title": "한국관광 데이터랩 · 강원특별자치도 춘천시 순 방문자 수 및 숙박 비율 (이동통신 기반 외지인)",</a:t>
            </a:r>
          </a:p>
          <a:p>
            <a:r>
              <a:t>      "summary": "월간 순 방문자 수: 1,873,282명 (관측 기준월: 2026-06)",</a:t>
            </a:r>
          </a:p>
          <a:p>
            <a:r>
              <a:t>      "source_id": "dataset:51110:1",</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춘천시 월간 순 방문자 수 (이동통신 기반 외지인)",</a:t>
            </a:r>
          </a:p>
          <a:p>
            <a:r>
              <a:t>      "summary": "전년동월 외지인 방문자 증감률: -8.1% (관측 기준월: 2026-06)",</a:t>
            </a:r>
          </a:p>
          <a:p>
            <a:r>
              <a:t>      "source_id": "dataset:51110:2",</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춘천시 관광소비 추이_외지인",</a:t>
            </a:r>
          </a:p>
          <a:p>
            <a:r>
              <a:t>      "summary": "월간 외지인 관광소비 총액: 51,352,814,000원 (관측 기준월: 2026-06)",</a:t>
            </a:r>
          </a:p>
          <a:p>
            <a:r>
              <a:t>      "source_id": "dataset:51110:3",</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춘천시 숙박방문자 비율 추이 (이동통신 기반 외지인)",</a:t>
            </a:r>
          </a:p>
          <a:p>
            <a:r>
              <a:t>      "summary": "외지인 숙박 방문 비율: 14.1% (관측 기준월: 2026-06)",</a:t>
            </a:r>
          </a:p>
          <a:p>
            <a:r>
              <a:t>      "source_id": "dataset:51110:4",</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춘천시 평균 숙박일 (이동통신 기반 외지인)",</a:t>
            </a:r>
          </a:p>
          <a:p>
            <a:r>
              <a:t>      "summary": "외지인 평균 숙박일수: 2.61일 (관측 기준월: 2026-06)",</a:t>
            </a:r>
          </a:p>
          <a:p>
            <a:r>
              <a:t>      "source_id": "dataset:51110:5",</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춘천시 내비게이션 목적지 유형별 검색량",</a:t>
            </a:r>
          </a:p>
          <a:p>
            <a:r>
              <a:t>      "summary": "내비게이션 목적지 검색량: 322,791건 (관측 기준월: 2026-06)",</a:t>
            </a:r>
          </a:p>
          <a:p>
            <a:r>
              <a:t>      "source_id": "dataset:51110:6",</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춘천시 SNS 언급량",</a:t>
            </a:r>
          </a:p>
          <a:p>
            <a:r>
              <a:t>      "summary": "SNS 언급량: 46,739건 (관측 기준월: 2026-06)",</a:t>
            </a:r>
          </a:p>
          <a:p>
            <a:r>
              <a:t>      "source_id": "dataset:51110:7",</a:t>
            </a:r>
          </a:p>
          <a:p>
            <a:r>
              <a:t>      "source_url": "https://datalab.visitkorea.or.kr/",</a:t>
            </a:r>
          </a:p>
          <a:p>
            <a:r>
              <a:t>      "source_type": "dataset",</a:t>
            </a:r>
          </a:p>
          <a:p>
            <a:r>
              <a:t>      "observation_period": "2026-06",</a:t>
            </a:r>
          </a:p>
          <a:p>
            <a:r>
              <a:t>      "published_or_updated_at": "2026-06"</a:t>
            </a:r>
          </a:p>
          <a:p>
            <a:r>
              <a:t>    },</a:t>
            </a:r>
          </a:p>
          <a:p>
            <a:r>
              <a:t>    {</a:t>
            </a:r>
          </a:p>
          <a:p>
            <a:r>
              <a:t>      "title": "한국관광 데이터랩 공식 다운로드 · 강원특별자치도_춘천시/숙박_체류시간/2026_01_06.zip",</a:t>
            </a:r>
          </a:p>
          <a:p>
            <a:r>
              <a:t>      "summary": "전국 비교 기준 기간: 2025-07 ~ 2026-06",</a:t>
            </a:r>
          </a:p>
          <a:p>
            <a:r>
              <a:t>      "source_id": "datalab:2343c3bc93bf:81205be51a1a",</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강원특별자치도_춘천시/숙박_체류시간/2025_01_12.zip",</a:t>
            </a:r>
          </a:p>
          <a:p>
            <a:r>
              <a:t>      "summary": "전국 비교 기준 기간: 2025-07 ~ 2026-06",</a:t>
            </a:r>
          </a:p>
          <a:p>
            <a:r>
              <a:t>      "source_id": "datalab:73a88f6fd74b:dc735676b7f4",</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강원특별자치도_춘천시/관광소비/2026_01_06.zip",</a:t>
            </a:r>
          </a:p>
          <a:p>
            <a:r>
              <a:t>      "summary": "전국 비교 기준 기간: 2025-07 ~ 2026-06",</a:t>
            </a:r>
          </a:p>
          <a:p>
            <a:r>
              <a:t>      "source_id": "datalab:77438b77a948:7f25647aea7e",</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강원특별자치도_춘천시/관광소비/2025_01_12.zip",</a:t>
            </a:r>
          </a:p>
          <a:p>
            <a:r>
              <a:t>      "summary": "전국 비교 기준 기간: 2025-07 ~ 2026-06",</a:t>
            </a:r>
          </a:p>
          <a:p>
            <a:r>
              <a:t>      "source_id": "datalab:9642314b6e5e:34e60387985e",</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강원특별자치도_춘천시/방문자/2026_01_06.zip",</a:t>
            </a:r>
          </a:p>
          <a:p>
            <a:r>
              <a:t>      "summary": "전국 비교 기준 기간: 2025-07 ~ 2026-06",</a:t>
            </a:r>
          </a:p>
          <a:p>
            <a:r>
              <a:t>      "source_id": "datalab:ae4e45e46741:2689769fc6ce",</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강원특별자치도_춘천시/방문자/2025_01_12.zip",</a:t>
            </a:r>
          </a:p>
          <a:p>
            <a:r>
              <a:t>      "summary": "전국 비교 기준 기간: 2025-07 ~ 2026-06",</a:t>
            </a:r>
          </a:p>
          <a:p>
            <a:r>
              <a:t>      "source_id": "datalab:e1ae014de0aa:877807c4ab51",</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전국 빅데이터 다운로드 · 이동통신/내국인/지역별 방문자수/20260820140607__202601-202606_데이터랩_다운로드.zip",</a:t>
            </a:r>
          </a:p>
          <a:p>
            <a:r>
              <a:t>      "summary": "시군구 기간합계·비중 또는 전국 월별 추이. 지역 월별 ML·정책 효과가 아닌 보조 근거.",</a:t>
            </a:r>
          </a:p>
          <a:p>
            <a:r>
              <a:t>      "source_id": "team-bigdata:23ea68053684:6bfbcf8aabf6",</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이동통신/외국인/20260820141710_전국_202601-202606_데이터랩_다운로드.zip",</a:t>
            </a:r>
          </a:p>
          <a:p>
            <a:r>
              <a:t>      "summary": "시군구 기간합계·비중 또는 전국 월별 추이. 지역 월별 ML·정책 효과가 아닌 보조 근거.",</a:t>
            </a:r>
          </a:p>
          <a:p>
            <a:r>
              <a:t>      "source_id": "team-bigdata:98d4ae590d9a:3be52dd54323",</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관광지출액/20260820140046__202601-202606_데이터랩_다운로드.zip",</a:t>
            </a:r>
          </a:p>
          <a:p>
            <a:r>
              <a:t>      "summary": "시군구 기간합계·비중 또는 전국 월별 추이. 지역 월별 ML·정책 효과가 아닌 보조 근거.",</a:t>
            </a:r>
          </a:p>
          <a:p>
            <a:r>
              <a:t>      "source_id": "team-bigdata:367cd0294ec4:873930d645e5",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관광지출액/20260820140355__202601-202606_데이터랩_다운로드.zip",</a:t>
            </a:r>
          </a:p>
          <a:p>
            <a:r>
              <a:t>      "summary": "시군구 기간합계·비중 또는 전국 월별 추이. 지역 월별 ML·정책 효과가 아닌 보조 근거.",</a:t>
            </a:r>
          </a:p>
          <a:p>
            <a:r>
              <a:t>      "source_id": "team-bigdata:553a0dad4bb4:5a31355dffe8",</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검색건수/20260820195507__202601-202606_데이터랩_다운로드.zip",</a:t>
            </a:r>
          </a:p>
          <a:p>
            <a:r>
              <a:t>      "summary": "시군구 기간합계·비중 또는 전국 월별 추이. 지역 월별 ML·정책 효과가 아닌 보조 근거.",</a:t>
            </a:r>
          </a:p>
          <a:p>
            <a:r>
              <a:t>      "source_id": "team-bigdata:a53dbe1c21df:77a052de41d5",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방문자수/20260820140614__202501-202512_데이터랩_다운로드.zip",</a:t>
            </a:r>
          </a:p>
          <a:p>
            <a:r>
              <a:t>      "summary": "시군구 기간합계·비중 또는 전국 월별 추이. 지역 월별 ML·정책 효과가 아닌 보조 근거.",</a:t>
            </a:r>
          </a:p>
          <a:p>
            <a:r>
              <a:t>      "source_id": "team-bigdata:823a38d1d61c:5385261d02e5",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이동통신/외국인/20260820141649_전국_202501-202512_데이터랩_다운로드.zip",</a:t>
            </a:r>
          </a:p>
          <a:p>
            <a:r>
              <a:t>      "summary": "시군구 기간합계·비중 또는 전국 월별 추이. 지역 월별 ML·정책 효과가 아닌 보조 근거.",</a:t>
            </a:r>
          </a:p>
          <a:p>
            <a:r>
              <a:t>      "source_id": "team-bigdata:2723bdb0d589:1666a34058ed",</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관광지출액/20260820135957__202501-202512_데이터랩_다운로드.zip",</a:t>
            </a:r>
          </a:p>
          <a:p>
            <a:r>
              <a:t>      "summary": "시군구 기간합계·비중 또는 전국 월별 추이. 지역 월별 ML·정책 효과가 아닌 보조 근거.",</a:t>
            </a:r>
          </a:p>
          <a:p>
            <a:r>
              <a:t>      "source_id": "team-bigdata:83177a234971:c02cb7972e0f",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관광지출액/20260820140409__202501-202512_데이터랩_다운로드.zip",</a:t>
            </a:r>
          </a:p>
          <a:p>
            <a:r>
              <a:t>      "summary": "시군구 기간합계·비중 또는 전국 월별 추이. 지역 월별 ML·정책 효과가 아닌 보조 근거.",</a:t>
            </a:r>
          </a:p>
          <a:p>
            <a:r>
              <a:t>      "source_id": "team-bigdata:58ded7732251:589c76395cbc",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검색건수/20260820132007__202501-202512_데이터랩_다운로드.zip",</a:t>
            </a:r>
          </a:p>
          <a:p>
            <a:r>
              <a:t>      "summary": "시군구 기간합계·비중 또는 전국 월별 추이. 지역 월별 ML·정책 효과가 아닌 보조 근거.",</a:t>
            </a:r>
          </a:p>
          <a:p>
            <a:r>
              <a:t>      "source_id": "team-bigdata:e28c947cb52f:bb4cb344a6ba",</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방문자수/20260820140624__202401-202412_데이터랩_다운로드.zip",</a:t>
            </a:r>
          </a:p>
          <a:p>
            <a:r>
              <a:t>      "summary": "시군구 기간합계·비중 또는 전국 월별 추이. 지역 월별 ML·정책 효과가 아닌 보조 근거.",</a:t>
            </a:r>
          </a:p>
          <a:p>
            <a:r>
              <a:t>      "source_id": "team-bigdata:8815bbb11a39:1a5988f5f8ec",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이동통신/외국인/20260820141639_전국_202401-202412_데이터랩_다운로드.zip",</a:t>
            </a:r>
          </a:p>
          <a:p>
            <a:r>
              <a:t>      "summary": "시군구 기간합계·비중 또는 전국 월별 추이. 지역 월별 ML·정책 효과가 아닌 보조 근거.",</a:t>
            </a:r>
          </a:p>
          <a:p>
            <a:r>
              <a:t>      "source_id": "team-bigdata:19fd67fbb73d:afa4f0f54a2f",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지역별 관광 현황 · 강원특별자치도 춘천시 · 유입유출",</a:t>
            </a:r>
          </a:p>
          <a:p>
            <a:r>
              <a:t>      "summary": "관측 기간: 2025-07 ~ 2026-06. 유입·유출·인기장소 또는 30일 집중 운영 신호.",</a:t>
            </a:r>
          </a:p>
          <a:p>
            <a:r>
              <a:t>      "source_id": "regional-status:4a7789e925d5:55e3be9aa0cd",</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강원특별자치도 춘천시 · 인기관광지",</a:t>
            </a:r>
          </a:p>
          <a:p>
            <a:r>
              <a:t>      "summary": "관측 기간: 2025-07 ~ 2026-06. 유입·유출·인기장소 또는 30일 집중 운영 신호.",</a:t>
            </a:r>
          </a:p>
          <a:p>
            <a:r>
              <a:t>      "source_id": "regional-status:61a9d2d6b099:8676c55ce1a7",</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강원특별자치도 춘천시 · 지역집중률",</a:t>
            </a:r>
          </a:p>
          <a:p>
            <a:r>
              <a:t>      "summary": "관측 기간: 2025-07 ~ 2026-06. 유입·유출·인기장소 또는 30일 집중 운영 신호.",</a:t>
            </a:r>
          </a:p>
          <a:p>
            <a:r>
              <a:t>      "source_id": "regional-status:b3fe66c3af97:a10ce860bf9f",</a:t>
            </a:r>
          </a:p>
          <a:p>
            <a:r>
              <a:t>      "source_url": "https://datalab.visitkorea.or.kr/",</a:t>
            </a:r>
          </a:p>
          <a:p>
            <a:r>
              <a:t>      "source_type": "regional_tourism_status",</a:t>
            </a:r>
          </a:p>
          <a:p>
            <a:r>
              <a:t>      "observation_period": "2025-07 ~ 2026-06",</a:t>
            </a:r>
          </a:p>
          <a:p>
            <a:r>
              <a:t>      "published_or_updated_at": ""</a:t>
            </a:r>
          </a:p>
          <a:p>
            <a:r>
              <a:t>    },</a:t>
            </a:r>
          </a:p>
          <a:p>
            <a:r>
              <a:t>    {</a:t>
            </a:r>
          </a:p>
          <a:p>
            <a:r>
              <a:t>      "title": "지역 관광수요 ML 전망 · 공식 관측값 아님",</a:t>
            </a:r>
          </a:p>
          <a:p>
            <a:r>
              <a:t>      "summary": "학습 202401~202606 · 모델 regional-demand-v3.1 · 자연 추세 예측",</a:t>
            </a:r>
          </a:p>
          <a:p>
            <a:r>
              <a:t>      "source_id": "ml:51110:regional-demand-v3.1:202606",</a:t>
            </a:r>
          </a:p>
          <a:p>
            <a:r>
              <a:t>      "source_url": "",</a:t>
            </a:r>
          </a:p>
          <a:p>
            <a:r>
              <a:t>      "source_type": "model_forecast",</a:t>
            </a:r>
          </a:p>
          <a:p>
            <a:r>
              <a:t>      "model_version": "regional-demand-v3.1",</a:t>
            </a:r>
          </a:p>
          <a:p>
            <a:r>
              <a:t>      "data_fingerprint": "b54445dc6e4c68c2130c72df908d376d3e7b474c59a1e83c7607f206257cf12c"</a:t>
            </a:r>
          </a:p>
          <a:p>
            <a:r>
              <a:t>    },</a:t>
            </a:r>
          </a:p>
          <a:p>
            <a:r>
              <a:t>    {</a:t>
            </a:r>
          </a:p>
          <a:p>
            <a:r>
              <a:t>      "title": "가보자순대국",</a:t>
            </a:r>
          </a:p>
          <a:p>
            <a:r>
              <a:t>      "address": "강원특별자치도 춘천시 율문2길 11",</a:t>
            </a:r>
          </a:p>
          <a:p>
            <a:r>
              <a:t>      "summary": "한국관광공사 국문관광정보 API가 반환한 선택 지역 관광자원",</a:t>
            </a:r>
          </a:p>
          <a:p>
            <a:r>
              <a:t>      "image_url": "http://tong.visitkorea.or.kr/cms/resource/95/2891695_image2_1.jpg",</a:t>
            </a:r>
          </a:p>
          <a:p>
            <a:r>
              <a:t>      "source_id": "tour-api:2891703",</a:t>
            </a:r>
          </a:p>
          <a:p>
            <a:r>
              <a:t>      "content_id": "2891703",</a:t>
            </a:r>
          </a:p>
          <a:p>
            <a:r>
              <a:t>      "source_url": "https://apis.data.go.kr/B551011/KorService2",</a:t>
            </a:r>
          </a:p>
          <a:p>
            <a:r>
              <a:t>      "source_type": "open_api",</a:t>
            </a:r>
          </a:p>
          <a:p>
            <a:r>
              <a:t>      "content_type_id": "39"</a:t>
            </a:r>
          </a:p>
          <a:p>
            <a:r>
              <a:t>    },</a:t>
            </a:r>
          </a:p>
          <a:p>
            <a:r>
              <a:t>    {</a:t>
            </a:r>
          </a:p>
          <a:p>
            <a:r>
              <a:t>      "title": "가평1등수상레저",</a:t>
            </a:r>
          </a:p>
          <a:p>
            <a:r>
              <a:t>      "address": "강원특별자치도 춘천시 남면 박암관천길 511-55",</a:t>
            </a:r>
          </a:p>
          <a:p>
            <a:r>
              <a:t>      "summary": "한국관광공사 국문관광정보 API가 반환한 선택 지역 관광자원",</a:t>
            </a:r>
          </a:p>
          <a:p>
            <a:r>
              <a:t>      "image_url": "http://tong.visitkorea.or.kr/cms/resource/64/3083064_image2_1.jpg",</a:t>
            </a:r>
          </a:p>
          <a:p>
            <a:r>
              <a:t>      "source_id": "tour-api:3083085",</a:t>
            </a:r>
          </a:p>
          <a:p>
            <a:r>
              <a:t>      "content_id": "3083085",</a:t>
            </a:r>
          </a:p>
          <a:p>
            <a:r>
              <a:t>      "source_url": "https://apis.data.go.kr/B551011/KorService2",</a:t>
            </a:r>
          </a:p>
          <a:p>
            <a:r>
              <a:t>      "source_type": "open_api",</a:t>
            </a:r>
          </a:p>
          <a:p>
            <a:r>
              <a:t>      "content_type_id": "28"</a:t>
            </a:r>
          </a:p>
          <a:p>
            <a:r>
              <a:t>    },</a:t>
            </a:r>
          </a:p>
          <a:p>
            <a:r>
              <a:t>    {</a:t>
            </a:r>
          </a:p>
          <a:p>
            <a:r>
              <a:t>      "title": "강원 경찰충혼탑",</a:t>
            </a:r>
          </a:p>
          <a:p>
            <a:r>
              <a:t>      "address": "강원특별자치도 춘천시 서면 신매리",</a:t>
            </a:r>
          </a:p>
          <a:p>
            <a:r>
              <a:t>      "summary": "한국관광공사 국문관광정보 API가 반환한 선택 지역 관광자원",</a:t>
            </a:r>
          </a:p>
          <a:p>
            <a:r>
              <a:t>      "image_url": "http://tong.visitkorea.or.kr/cms/resource/36/3381636_image2_1.JPG",</a:t>
            </a:r>
          </a:p>
          <a:p>
            <a:r>
              <a:t>      "source_id": "tour-api:128778",</a:t>
            </a:r>
          </a:p>
          <a:p>
            <a:r>
              <a:t>      "content_id": "128778",</a:t>
            </a:r>
          </a:p>
          <a:p>
            <a:r>
              <a:t>      "source_url": "https://apis.data.go.kr/B551011/KorService2",</a:t>
            </a:r>
          </a:p>
          <a:p>
            <a:r>
              <a:t>      "source_type": "open_api",</a:t>
            </a:r>
          </a:p>
          <a:p>
            <a:r>
              <a:t>      "content_type_id": "12"</a:t>
            </a:r>
          </a:p>
          <a:p>
            <a:r>
              <a:t>    },</a:t>
            </a:r>
          </a:p>
          <a:p>
            <a:r>
              <a:t>    {</a:t>
            </a:r>
          </a:p>
          <a:p>
            <a:r>
              <a:t>      "title": "강원대학교중앙박물관",</a:t>
            </a:r>
          </a:p>
          <a:p>
            <a:r>
              <a:t>      "address": "강원특별자치도 춘천시 공지로 188-77 (효자동)",</a:t>
            </a:r>
          </a:p>
          <a:p>
            <a:r>
              <a:t>      "summary": "한국관광공사 국문관광정보 API가 반환한 선택 지역 관광자원",</a:t>
            </a:r>
          </a:p>
          <a:p>
            <a:r>
              <a:t>      "image_url": "http://tong.visitkorea.or.kr/cms/resource/58/3475458_image2_1.jpg",</a:t>
            </a:r>
          </a:p>
          <a:p>
            <a:r>
              <a:t>      "source_id": "tour-api:129840",</a:t>
            </a:r>
          </a:p>
          <a:p>
            <a:r>
              <a:t>      "content_id": "129840",</a:t>
            </a:r>
          </a:p>
          <a:p>
            <a:r>
              <a:t>      "source_url": "https://apis.data.go.kr/B551011/KorService2",</a:t>
            </a:r>
          </a:p>
          <a:p>
            <a:r>
              <a:t>      "source_type": "open_api",</a:t>
            </a:r>
          </a:p>
          <a:p>
            <a:r>
              <a:t>      "content_type_id": "14"</a:t>
            </a:r>
          </a:p>
          <a:p>
            <a:r>
              <a:t>    },</a:t>
            </a:r>
          </a:p>
          <a:p>
            <a:r>
              <a:t>    {</a:t>
            </a:r>
          </a:p>
          <a:p>
            <a:r>
              <a:t>      "title": "강원숲체험장",</a:t>
            </a:r>
          </a:p>
          <a:p>
            <a:r>
              <a:t>      "address": "강원특별자치도 춘천시 서면 납실길 107-64",</a:t>
            </a:r>
          </a:p>
          <a:p>
            <a:r>
              <a:t>      "summary": "한국관광공사 국문관광정보 API가 반환한 선택 지역 관광자원",</a:t>
            </a:r>
          </a:p>
          <a:p>
            <a:r>
              <a:t>      "image_url": "http://tong.visitkorea.or.kr/cms/resource/11/2739711_image2_1.jpg",</a:t>
            </a:r>
          </a:p>
          <a:p>
            <a:r>
              <a:t>      "source_id": "tour-api:2610850",</a:t>
            </a:r>
          </a:p>
          <a:p>
            <a:r>
              <a:t>      "content_id": "2610850",</a:t>
            </a:r>
          </a:p>
          <a:p>
            <a:r>
              <a:t>      "source_url": "https://apis.data.go.kr/B551011/KorService2",</a:t>
            </a:r>
          </a:p>
          <a:p>
            <a:r>
              <a:t>      "source_type": "open_api",</a:t>
            </a:r>
          </a:p>
          <a:p>
            <a:r>
              <a:t>      "content_type_id": "12"</a:t>
            </a:r>
          </a:p>
          <a:p>
            <a:r>
              <a:t>    },</a:t>
            </a:r>
          </a:p>
          <a:p>
            <a:r>
              <a:t>    {</a:t>
            </a:r>
          </a:p>
          <a:p>
            <a:r>
              <a:t>      "title": "강원특별자치도청소년수련원",</a:t>
            </a:r>
          </a:p>
          <a:p>
            <a:r>
              <a:t>      "address": "강원특별자치도 춘천시 신샘밭로 89",</a:t>
            </a:r>
          </a:p>
          <a:p>
            <a:r>
              <a:t>      "summary": "한국관광공사 국문관광정보 API가 반환한 선택 지역 관광자원",</a:t>
            </a:r>
          </a:p>
          <a:p>
            <a:r>
              <a:t>      "image_url": "http://tong.visitkorea.or.kr/cms/resource/05/3382505_image2_1.JPG",</a:t>
            </a:r>
          </a:p>
          <a:p>
            <a:r>
              <a:t>      "source_id": "tour-api:131456",</a:t>
            </a:r>
          </a:p>
          <a:p>
            <a:r>
              <a:t>      "content_id": "131456",</a:t>
            </a:r>
          </a:p>
          <a:p>
            <a:r>
              <a:t>      "source_url": "https://apis.data.go.kr/B551011/KorService2",</a:t>
            </a:r>
          </a:p>
          <a:p>
            <a:r>
              <a:t>      "source_type": "open_api",</a:t>
            </a:r>
          </a:p>
          <a:p>
            <a:r>
              <a:t>      "content_type_id": "28"</a:t>
            </a:r>
          </a:p>
          <a:p>
            <a:r>
              <a:t>    },</a:t>
            </a:r>
          </a:p>
          <a:p>
            <a:r>
              <a:t>    {</a:t>
            </a:r>
          </a:p>
          <a:p>
            <a:r>
              <a:t>      "title": "강촌 출렁다리공원",</a:t>
            </a:r>
          </a:p>
          <a:p>
            <a:r>
              <a:t>      "address": "강원특별자치도 춘천시 남산면 강촌리",</a:t>
            </a:r>
          </a:p>
          <a:p>
            <a:r>
              <a:t>      "summary": "한국관광공사 국문관광정보 API가 반환한 선택 지역 관광자원",</a:t>
            </a:r>
          </a:p>
          <a:p>
            <a:r>
              <a:t>      "image_url": "http://tong.visitkorea.or.kr/cms/resource/96/3382296_image2_1.JPG",</a:t>
            </a:r>
          </a:p>
          <a:p>
            <a:r>
              <a:t>      "source_id": "tour-api:2706334",</a:t>
            </a:r>
          </a:p>
          <a:p>
            <a:r>
              <a:t>      "content_id": "2706334",</a:t>
            </a:r>
          </a:p>
          <a:p>
            <a:r>
              <a:t>      "source_url": "https://apis.data.go.kr/B551011/KorService2",</a:t>
            </a:r>
          </a:p>
          <a:p>
            <a:r>
              <a:t>      "source_type": "open_api",</a:t>
            </a:r>
          </a:p>
          <a:p>
            <a:r>
              <a:t>      "content_type_id": "12"</a:t>
            </a:r>
          </a:p>
          <a:p>
            <a:r>
              <a:t>    },</a:t>
            </a:r>
          </a:p>
          <a:p>
            <a:r>
              <a:t>    {</a:t>
            </a:r>
          </a:p>
          <a:p>
            <a:r>
              <a:t>      "title": "강촌레일파크(김유정레일바이크)",</a:t>
            </a:r>
          </a:p>
          <a:p>
            <a:r>
              <a:t>      "address": "강원특별자치도 춘천시 신동면 김유정로 1383",</a:t>
            </a:r>
          </a:p>
          <a:p>
            <a:r>
              <a:t>      "summary": "한국관광공사 국문관광정보 API가 반환한 선택 지역 관광자원",</a:t>
            </a:r>
          </a:p>
          <a:p>
            <a:r>
              <a:t>      "image_url": "http://tong.visitkorea.or.kr/cms/resource/48/2739748_image2_1.jpeg",</a:t>
            </a:r>
          </a:p>
          <a:p>
            <a:r>
              <a:t>      "source_id": "tour-api:1947118",</a:t>
            </a:r>
          </a:p>
          <a:p>
            <a:r>
              <a:t>      "content_id": "1947118",</a:t>
            </a:r>
          </a:p>
          <a:p>
            <a:r>
              <a:t>      "source_url": "https://apis.data.go.kr/B551011/KorService2",</a:t>
            </a:r>
          </a:p>
          <a:p>
            <a:r>
              <a:t>      "source_type": "open_api",</a:t>
            </a:r>
          </a:p>
          <a:p>
            <a:r>
              <a:t>      "content_type_id": "28"</a:t>
            </a:r>
          </a:p>
          <a:p>
            <a:r>
              <a:t>    },</a:t>
            </a:r>
          </a:p>
          <a:p>
            <a:r>
              <a:t>    {</a:t>
            </a:r>
          </a:p>
          <a:p>
            <a:r>
              <a:t>      "title": "강촌버즈글램핑",</a:t>
            </a:r>
          </a:p>
          <a:p>
            <a:r>
              <a:t>      "address": "강원특별자치도 춘천시 서면 율장길 122-28",</a:t>
            </a:r>
          </a:p>
          <a:p>
            <a:r>
              <a:t>      "summary": "한국관광공사 국문관광정보 API가 반환한 선택 지역 관광자원",</a:t>
            </a:r>
          </a:p>
          <a:p>
            <a:r>
              <a:t>      "image_url": "http://tong.visitkorea.or.kr/cms/resource/44/2760044_image2_1.JPG",</a:t>
            </a:r>
          </a:p>
          <a:p>
            <a:r>
              <a:t>      "source_id": "tour-api:2759582",</a:t>
            </a:r>
          </a:p>
          <a:p>
            <a:r>
              <a:t>      "content_id": "2759582",</a:t>
            </a:r>
          </a:p>
          <a:p>
            <a:r>
              <a:t>      "source_url": "https://apis.data.go.kr/B551011/KorService2",</a:t>
            </a:r>
          </a:p>
          <a:p>
            <a:r>
              <a:t>      "source_type": "open_api",</a:t>
            </a:r>
          </a:p>
          <a:p>
            <a:r>
              <a:t>      "content_type_id": "28"</a:t>
            </a:r>
          </a:p>
          <a:p>
            <a:r>
              <a:t>    },</a:t>
            </a:r>
          </a:p>
          <a:p>
            <a:r>
              <a:t>    {</a:t>
            </a:r>
          </a:p>
          <a:p>
            <a:r>
              <a:t>      "title": "강촌유원지",</a:t>
            </a:r>
          </a:p>
          <a:p>
            <a:r>
              <a:t>      "address": "강원특별자치도 춘천시 남산면 일원",</a:t>
            </a:r>
          </a:p>
          <a:p>
            <a:r>
              <a:t>      "summary": "한국관광공사 국문관광정보 API가 반환한 선택 지역 관광자원",</a:t>
            </a:r>
          </a:p>
          <a:p>
            <a:r>
              <a:t>      "image_url": "http://tong.visitkorea.or.kr/cms/resource/64/3533864_image2_1.jpg",</a:t>
            </a:r>
          </a:p>
          <a:p>
            <a:r>
              <a:t>      "source_id": "tour-api:125605",</a:t>
            </a:r>
          </a:p>
          <a:p>
            <a:r>
              <a:t>      "content_id": "125605",</a:t>
            </a:r>
          </a:p>
          <a:p>
            <a:r>
              <a:t>      "source_url": "https://apis.data.go.kr/B551011/KorService2",</a:t>
            </a:r>
          </a:p>
          <a:p>
            <a:r>
              <a:t>      "source_type": "open_api",</a:t>
            </a:r>
          </a:p>
          <a:p>
            <a:r>
              <a:t>      "content_type_id": "12"</a:t>
            </a:r>
          </a:p>
          <a:p>
            <a:r>
              <a:t>    },</a:t>
            </a:r>
          </a:p>
          <a:p>
            <a:r>
              <a:t>    {</a:t>
            </a:r>
          </a:p>
          <a:p>
            <a:r>
              <a:t>      "title": "강촌하늘아래글램핑",</a:t>
            </a:r>
          </a:p>
          <a:p>
            <a:r>
              <a:t>      "address": "강원특별자치도 춘천시 남산면 풀무골1길 71",</a:t>
            </a:r>
          </a:p>
          <a:p>
            <a:r>
              <a:t>      "summary": "한국관광공사 국문관광정보 API가 반환한 선택 지역 관광자원",</a:t>
            </a:r>
          </a:p>
          <a:p>
            <a:r>
              <a:t>      "image_url": "http://tong.visitkorea.or.kr/cms/resource/45/2741645_image2_1.JPG",</a:t>
            </a:r>
          </a:p>
          <a:p>
            <a:r>
              <a:t>      "source_id": "tour-api:2741528",</a:t>
            </a:r>
          </a:p>
          <a:p>
            <a:r>
              <a:t>      "content_id": "2741528",</a:t>
            </a:r>
          </a:p>
          <a:p>
            <a:r>
              <a:t>      "source_url": "https://apis.data.go.kr/B551011/KorService2",</a:t>
            </a:r>
          </a:p>
          <a:p>
            <a:r>
              <a:t>      "source_type": "open_api",</a:t>
            </a:r>
          </a:p>
          <a:p>
            <a:r>
              <a:t>      "content_type_id": "28"</a:t>
            </a:r>
          </a:p>
          <a:p>
            <a:r>
              <a:t>    },</a:t>
            </a:r>
          </a:p>
          <a:p>
            <a:r>
              <a:t>    {</a:t>
            </a:r>
          </a:p>
          <a:p>
            <a:r>
              <a:t>      "title": "경강막국수",</a:t>
            </a:r>
          </a:p>
          <a:p>
            <a:r>
              <a:t>      "address": "강원특별자치도 춘천시 남산면 서백길 62-4",</a:t>
            </a:r>
          </a:p>
          <a:p>
            <a:r>
              <a:t>      "summary": "한국관광공사 국문관광정보 API가 반환한 선택 지역 관광자원",</a:t>
            </a:r>
          </a:p>
          <a:p>
            <a:r>
              <a:t>      "image_url": "http://tong.visitkorea.or.kr/cms/resource/39/3046639_image2_1.jpg",</a:t>
            </a:r>
          </a:p>
          <a:p>
            <a:r>
              <a:t>      "source_id": "tour-api:391742",</a:t>
            </a:r>
          </a:p>
          <a:p>
            <a:r>
              <a:t>      "content_id": "391742",</a:t>
            </a:r>
          </a:p>
          <a:p>
            <a:r>
              <a:t>      "source_url": "https://apis.data.go.kr/B551011/KorService2",</a:t>
            </a:r>
          </a:p>
          <a:p>
            <a:r>
              <a:t>      "source_type": "open_api",</a:t>
            </a:r>
          </a:p>
          <a:p>
            <a:r>
              <a:t>      "content_type_id": "39"</a:t>
            </a:r>
          </a:p>
          <a:p>
            <a:r>
              <a:t>    },</a:t>
            </a:r>
          </a:p>
          <a:p>
            <a:r>
              <a:t>    {</a:t>
            </a:r>
          </a:p>
          <a:p>
            <a:r>
              <a:t>      "title": "고목",</a:t>
            </a:r>
          </a:p>
          <a:p>
            <a:r>
              <a:t>      "address": "강원특별자치도 춘천시 남산면 남이섬길 1",</a:t>
            </a:r>
          </a:p>
          <a:p>
            <a:r>
              <a:t>      "summary": "한국관광공사 국문관광정보 API가 반환한 선택 지역 관광자원",</a:t>
            </a:r>
          </a:p>
          <a:p>
            <a:r>
              <a:t>      "image_url": "http://tong.visitkorea.or.kr/cms/resource/92/2919892_image2_1.jpg",</a:t>
            </a:r>
          </a:p>
          <a:p>
            <a:r>
              <a:t>      "source_id": "tour-api:2558052",</a:t>
            </a:r>
          </a:p>
          <a:p>
            <a:r>
              <a:t>      "content_id": "2558052",</a:t>
            </a:r>
          </a:p>
          <a:p>
            <a:r>
              <a:t>      "source_url": "https://apis.data.go.kr/B551011/KorService2",</a:t>
            </a:r>
          </a:p>
          <a:p>
            <a:r>
              <a:t>      "source_type": "open_api",</a:t>
            </a:r>
          </a:p>
          <a:p>
            <a:r>
              <a:t>      "content_type_id": "39"</a:t>
            </a:r>
          </a:p>
          <a:p>
            <a:r>
              <a:t>    },</a:t>
            </a:r>
          </a:p>
          <a:p>
            <a:r>
              <a:t>    {</a:t>
            </a:r>
          </a:p>
          <a:p>
            <a:r>
              <a:t>      "title": "공지천 조각공원",</a:t>
            </a:r>
          </a:p>
          <a:p>
            <a:r>
              <a:t>      "address": "강원특별자치도 춘천시 옛경춘로 880 (근화동)",</a:t>
            </a:r>
          </a:p>
          <a:p>
            <a:r>
              <a:t>      "summary": "한국관광공사 국문관광정보 API가 반환한 선택 지역 관광자원",</a:t>
            </a:r>
          </a:p>
          <a:p>
            <a:r>
              <a:t>      "image_url": "http://tong.visitkorea.or.kr/cms/resource/31/3072531_image2_1.jpg",</a:t>
            </a:r>
          </a:p>
          <a:p>
            <a:r>
              <a:t>      "source_id": "tour-api:129004",</a:t>
            </a:r>
          </a:p>
          <a:p>
            <a:r>
              <a:t>      "content_id": "129004",</a:t>
            </a:r>
          </a:p>
          <a:p>
            <a:r>
              <a:t>      "source_url": "https://apis.data.go.kr/B551011/KorService2",</a:t>
            </a:r>
          </a:p>
          <a:p>
            <a:r>
              <a:t>      "source_type": "open_api",</a:t>
            </a:r>
          </a:p>
          <a:p>
            <a:r>
              <a:t>      "content_type_id": "14"</a:t>
            </a:r>
          </a:p>
          <a:p>
            <a:r>
              <a:t>    },</a:t>
            </a:r>
          </a:p>
          <a:p>
            <a:r>
              <a:t>    {</a:t>
            </a:r>
          </a:p>
          <a:p>
            <a:r>
              <a:t>      "title": "구곡폭포 국민여가 캠핑장",</a:t>
            </a:r>
          </a:p>
          <a:p>
            <a:r>
              <a:t>      "address": "강원특별자치도 춘천시 남산면 강촌구곡길 324",</a:t>
            </a:r>
          </a:p>
          <a:p>
            <a:r>
              <a:t>      "summary": "한국관광공사 국문관광정보 API가 반환한 선택 지역 관광자원",</a:t>
            </a:r>
          </a:p>
          <a:p>
            <a:r>
              <a:t>      "image_url": "http://tong.visitkorea.or.kr/cms/resource/70/2793870_image2_1.jpg",</a:t>
            </a:r>
          </a:p>
          <a:p>
            <a:r>
              <a:t>      "source_id": "tour-api:2792017",</a:t>
            </a:r>
          </a:p>
          <a:p>
            <a:r>
              <a:t>      "content_id": "2792017",</a:t>
            </a:r>
          </a:p>
          <a:p>
            <a:r>
              <a:t>      "source_url": "https://apis.data.go.kr/B551011/KorService2",</a:t>
            </a:r>
          </a:p>
          <a:p>
            <a:r>
              <a:t>      "source_type": "open_api",</a:t>
            </a:r>
          </a:p>
          <a:p>
            <a:r>
              <a:t>      "content_type_id": "28"</a:t>
            </a:r>
          </a:p>
          <a:p>
            <a:r>
              <a:t>    },</a:t>
            </a:r>
          </a:p>
          <a:p>
            <a:r>
              <a:t>    {</a:t>
            </a:r>
          </a:p>
          <a:p>
            <a:r>
              <a:t>      "title": "구봉산",</a:t>
            </a:r>
          </a:p>
          <a:p>
            <a:r>
              <a:t>      "address": "강원특별자치도 춘천시 동면 순환대로 1154-115",</a:t>
            </a:r>
          </a:p>
          <a:p>
            <a:r>
              <a:t>      "summary": "한국관광공사 국문관광정보 API가 반환한 선택 지역 관광자원",</a:t>
            </a:r>
          </a:p>
          <a:p>
            <a:r>
              <a:t>      "image_url": "http://tong.visitkorea.or.kr/cms/resource/54/529954_image2_1.jpg",</a:t>
            </a:r>
          </a:p>
          <a:p>
            <a:r>
              <a:t>      "source_id": "tour-api:2714558",</a:t>
            </a:r>
          </a:p>
          <a:p>
            <a:r>
              <a:t>      "content_id": "2714558",</a:t>
            </a:r>
          </a:p>
          <a:p>
            <a:r>
              <a:t>      "source_url": "https://apis.data.go.kr/B551011/KorService2",</a:t>
            </a:r>
          </a:p>
          <a:p>
            <a:r>
              <a:t>      "source_type": "open_api",</a:t>
            </a:r>
          </a:p>
          <a:p>
            <a:r>
              <a:t>      "content_type_id": "12"</a:t>
            </a:r>
          </a:p>
          <a:p>
            <a:r>
              <a:t>    },</a:t>
            </a:r>
          </a:p>
          <a:p>
            <a:r>
              <a:t>    {</a:t>
            </a:r>
          </a:p>
          <a:p>
            <a:r>
              <a:t>      "title": "국립 용화산자연휴양림",</a:t>
            </a:r>
          </a:p>
          <a:p>
            <a:r>
              <a:t>      "address": "강원특별자치도 춘천시 사북면 사여골길 294",</a:t>
            </a:r>
          </a:p>
          <a:p>
            <a:r>
              <a:t>      "summary": "한국관광공사 국문관광정보 API가 반환한 선택 지역 관광자원",</a:t>
            </a:r>
          </a:p>
          <a:p>
            <a:r>
              <a:t>      "image_url": "http://tong.visitkorea.or.kr/cms/resource/90/3351390_image2_1.jpg",</a:t>
            </a:r>
          </a:p>
          <a:p>
            <a:r>
              <a:t>      "source_id": "tour-api:407225",</a:t>
            </a:r>
          </a:p>
          <a:p>
            <a:r>
              <a:t>      "content_id": "407225",</a:t>
            </a:r>
          </a:p>
          <a:p>
            <a:r>
              <a:t>      "source_url": "https://apis.data.go.kr/B551011/KorService2",</a:t>
            </a:r>
          </a:p>
          <a:p>
            <a:r>
              <a:t>      "source_type": "open_api",</a:t>
            </a:r>
          </a:p>
          <a:p>
            <a:r>
              <a:t>      "content_type_id": "12"</a:t>
            </a:r>
          </a:p>
          <a:p>
            <a:r>
              <a:t>    },</a:t>
            </a:r>
          </a:p>
          <a:p>
            <a:r>
              <a:t>    {</a:t>
            </a:r>
          </a:p>
          <a:p>
            <a:r>
              <a:t>      "title": "국립춘천숲체원",</a:t>
            </a:r>
          </a:p>
          <a:p>
            <a:r>
              <a:t>      "address": "강원특별자치도 춘천시 신북읍 장본2길 331",</a:t>
            </a:r>
          </a:p>
          <a:p>
            <a:r>
              <a:t>      "summary": "한국관광공사 국문관광정보 API가 반환한 선택 지역 관광자원",</a:t>
            </a:r>
          </a:p>
          <a:p>
            <a:r>
              <a:t>      "image_url": "http://tong.visitkorea.or.kr/cms/resource/86/3439986_image2_1.jpg",</a:t>
            </a:r>
          </a:p>
          <a:p>
            <a:r>
              <a:t>      "source_id": "tour-api:2710587",</a:t>
            </a:r>
          </a:p>
          <a:p>
            <a:r>
              <a:t>      "content_id": "2710587",</a:t>
            </a:r>
          </a:p>
          <a:p>
            <a:r>
              <a:t>      "source_url": "https://apis.data.go.kr/B551011/KorService2",</a:t>
            </a:r>
          </a:p>
          <a:p>
            <a:r>
              <a:t>      "source_type": "open_api",</a:t>
            </a:r>
          </a:p>
          <a:p>
            <a:r>
              <a:t>      "content_type_id": "12"</a:t>
            </a:r>
          </a:p>
          <a:p>
            <a:r>
              <a:t>    },</a:t>
            </a:r>
          </a:p>
          <a:p>
            <a:r>
              <a:t>    {</a:t>
            </a:r>
          </a:p>
          <a:p>
            <a:r>
              <a:t>      "title": "군자숯불닭갈비",</a:t>
            </a:r>
          </a:p>
          <a:p>
            <a:r>
              <a:t>      "address": "강원특별자치도 춘천시 동산면 종자리로 148-8",</a:t>
            </a:r>
          </a:p>
          <a:p>
            <a:r>
              <a:t>      "summary": "한국관광공사 국문관광정보 API가 반환한 선택 지역 관광자원",</a:t>
            </a:r>
          </a:p>
          <a:p>
            <a:r>
              <a:t>      "image_url": "http://tong.visitkorea.or.kr/cms/resource/65/2776965_image2_1.JPG",</a:t>
            </a:r>
          </a:p>
          <a:p>
            <a:r>
              <a:t>      "source_id": "tour-api:2774528",</a:t>
            </a:r>
          </a:p>
          <a:p>
            <a:r>
              <a:t>      "content_id": "2774528",</a:t>
            </a:r>
          </a:p>
          <a:p>
            <a:r>
              <a:t>      "source_url": "https://apis.data.go.kr/B551011/KorService2",</a:t>
            </a:r>
          </a:p>
          <a:p>
            <a:r>
              <a:t>      "source_type": "open_api",</a:t>
            </a:r>
          </a:p>
          <a:p>
            <a:r>
              <a:t>      "content_type_id": "39"</a:t>
            </a:r>
          </a:p>
          <a:p>
            <a:r>
              <a:t>    },</a:t>
            </a:r>
          </a:p>
          <a:p>
            <a:r>
              <a:t>    {</a:t>
            </a:r>
          </a:p>
          <a:p>
            <a:r>
              <a:t>      "title": "근화동396청년창업공간",</a:t>
            </a:r>
          </a:p>
          <a:p>
            <a:r>
              <a:t>      "address": "강원특별자치도 춘천시 중앙로 186",</a:t>
            </a:r>
          </a:p>
          <a:p>
            <a:r>
              <a:t>      "summary": "한국관광공사 국문관광정보 API가 반환한 선택 지역 관광자원",</a:t>
            </a:r>
          </a:p>
          <a:p>
            <a:r>
              <a:t>      "image_url": "http://tong.visitkorea.or.kr/cms/resource/18/3351718_image2_1.jpg",</a:t>
            </a:r>
          </a:p>
          <a:p>
            <a:r>
              <a:t>      "source_id": "tour-api:2710596",</a:t>
            </a:r>
          </a:p>
          <a:p>
            <a:r>
              <a:t>      "content_id": "2710596",</a:t>
            </a:r>
          </a:p>
          <a:p>
            <a:r>
              <a:t>      "source_url": "https://apis.data.go.kr/B551011/KorService2",</a:t>
            </a:r>
          </a:p>
          <a:p>
            <a:r>
              <a:t>      "source_type": "open_api",</a:t>
            </a:r>
          </a:p>
          <a:p>
            <a:r>
              <a:t>      "content_type_id": "12"</a:t>
            </a:r>
          </a:p>
          <a:p>
            <a:r>
              <a:t>    },</a:t>
            </a:r>
          </a:p>
          <a:p>
            <a:r>
              <a:t>    {</a:t>
            </a:r>
          </a:p>
          <a:p>
            <a:r>
              <a:t>      "title": "요즘, 한국관광 2호 - 지방공항 연계 지역관광 활성화 방안",</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"chunk_id": "reference:kto:2026:local-airport:page:044:chunk:01",</a:t>
            </a:r>
          </a:p>
          <a:p>
            <a:r>
              <a:t>      "source_id": "reference:kto:2026:local-airport",</a:t>
            </a:r>
          </a:p>
          <a:p>
            <a:r>
              <a:t>      "source_url": "https://datalab.visitkorea.or.kr/site/portal/ex/bbs/View.do?bcIdx=311068&amp;cbIdx=1135&amp;pageIndex=1",</a:t>
            </a:r>
          </a:p>
          <a:p>
            <a:r>
              <a:t>      "case_region": "",</a:t>
            </a:r>
          </a:p>
          <a:p>
            <a:r>
              <a:t>      "region_code": "ALL",</a:t>
            </a:r>
          </a:p>
          <a:p>
            <a:r>
              <a:t>      "region_name": "전국 공통",</a:t>
            </a:r>
          </a:p>
          <a:p>
            <a:r>
              <a:t>      "source_note": "지방공항·연계 지역에 관한 자료입니다. 다른 시군구의 사업 효과·예산을 보장하는 근거로 사용하지 않습니다.",</a:t>
            </a:r>
          </a:p>
          <a:p>
            <a:r>
              <a:t>      "source_type": "rag",</a:t>
            </a:r>
          </a:p>
          <a:p>
            <a:r>
              <a:t>      "intervention": "",</a:t>
            </a:r>
          </a:p>
          <a:p>
            <a:r>
              <a:t>      "document_type": "policy",</a:t>
            </a:r>
          </a:p>
          <a:p>
            <a:r>
              <a:t>      "matched_terms": [</a:t>
            </a:r>
          </a:p>
          <a:p>
            <a:r>
              <a:t>        "결제",</a:t>
            </a:r>
          </a:p>
          <a:p>
            <a:r>
              <a:t>        "관광사업",</a:t>
            </a:r>
          </a:p>
          <a:p>
            <a:r>
              <a:t>        "상권",</a:t>
            </a:r>
          </a:p>
          <a:p>
            <a:r>
              <a:t>        "성과",</a:t>
            </a:r>
          </a:p>
          <a:p>
            <a:r>
              <a:t>        "소비",</a:t>
            </a:r>
          </a:p>
          <a:p>
            <a:r>
              <a:t>        "수와",</a:t>
            </a:r>
          </a:p>
          <a:p>
            <a:r>
              <a:t>        "숙박",</a:t>
            </a:r>
          </a:p>
          <a:p>
            <a:r>
              <a:t>        "실제",</a:t>
            </a:r>
          </a:p>
          <a:p>
            <a:r>
              <a:t>        "실행",</a:t>
            </a:r>
          </a:p>
          <a:p>
            <a:r>
              <a:t>        "연결한",</a:t>
            </a:r>
          </a:p>
          <a:p>
            <a:r>
              <a:t>        "연계",</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43쪽, PDF 38쪽, PDF 40쪽, PDF 41쪽, PDF 36쪽, PDF 41쪽, PDF 44쪽, PDF 43쪽, PDF 43쪽",</a:t>
            </a:r>
          </a:p>
          <a:p>
            <a:r>
              <a:t>      "parent_source_id": "reference:kto:2026:local-airport",</a:t>
            </a:r>
          </a:p>
          <a:p>
            <a:r>
              <a:t>      "retrieval_method": "local_curated_chunk",</a:t>
            </a:r>
          </a:p>
          <a:p>
            <a:r>
              <a:t>      "evidence_strength": "medium",</a:t>
            </a:r>
          </a:p>
          <a:p>
            <a:r>
              <a:t>      "published_or_updated_at": "2026-08",</a:t>
            </a:r>
          </a:p>
          <a:p>
            <a:r>
              <a:t>      "chunk_ids": [</a:t>
            </a:r>
          </a:p>
          <a:p>
            <a:r>
              <a:t>        "reference:kto:2026:local-airport:page:036:chunk:01",</a:t>
            </a:r>
          </a:p>
          <a:p>
            <a:r>
              <a:t>        "reference:kto:2026:local-airport:page:038:chunk:01",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"reference:kto:2026:local-airport:page:044:chunk:02"</a:t>
            </a:r>
          </a:p>
          <a:p>
            <a:r>
              <a:t>      ],</a:t>
            </a:r>
          </a:p>
          <a:p>
            <a:r>
              <a:t>      "source_chunk_count": 10</a:t>
            </a:r>
          </a:p>
          <a:p>
            <a:r>
              <a:t>    },</a:t>
            </a:r>
          </a:p>
          <a:p>
            <a:r>
              <a:t>    {</a:t>
            </a:r>
          </a:p>
          <a:p>
            <a:r>
              <a:t>      "title": "전주시 2026년도 관광산업과 세출예산 사업명세서",</a:t>
            </a:r>
          </a:p>
          <a:p>
            <a:r>
              <a:t>      "summary": "전북특별자치도 전주시 · 야간관광 특화도시 예산 편성 · 예산서이므로 방문·소비 성과는 확인되지 않음",</a:t>
            </a:r>
          </a:p>
          <a:p>
            <a:r>
              <a:t>      "source_id": "case:jeonju_night_budget_2026",</a:t>
            </a:r>
          </a:p>
          <a:p>
            <a:r>
              <a:t>      "source_url": "https://jeonju.go.kr/resource/www/images/download/budget/2026/2026_31_2.pdf",</a:t>
            </a:r>
          </a:p>
          <a:p>
            <a:r>
              <a:t>      "case_region": "전북특별자치도 전주시",</a:t>
            </a:r>
          </a:p>
          <a:p>
            <a:r>
              <a:t>      "source_type": "benchmark_case",</a:t>
            </a:r>
          </a:p>
          <a:p>
            <a:r>
              <a:t>      "intervention": "야간관광 특화도시 예산 편성",</a:t>
            </a:r>
          </a:p>
          <a:p>
            <a:r>
              <a:t>      "operating_model": "사무관리, 행사운영, 연구용역, 민간경상보조 등으로 사업비를 항목별 편성",</a:t>
            </a:r>
          </a:p>
          <a:p>
            <a:r>
              <a:t>      "evidence_strength": "high",</a:t>
            </a:r>
          </a:p>
          <a:p>
            <a:r>
              <a:t>      "published_or_updated_at": "2026",</a:t>
            </a:r>
          </a:p>
          <a:p>
            <a:r>
              <a:t>      "quantitative_result_approved": null</a:t>
            </a:r>
          </a:p>
          <a:p>
            <a:r>
              <a:t>    },</a:t>
            </a:r>
          </a:p>
          <a:p>
            <a:r>
              <a:t>    {</a:t>
            </a:r>
          </a:p>
          <a:p>
            <a:r>
              <a:t>      "title": "섬에서의 특별한 경험, ‘인천 섬 도도하게 살아보기’로 누린다",</a:t>
            </a:r>
          </a:p>
          <a:p>
            <a:r>
              <a:t>      "summary": "인천광역시 강화군·옹진군 소재 섬 · 인천 섬 도도하게 살아보기—주민 숙박·식사·체험을 묶은 예약형 체류상품 · 2022년 7월 31일 기준 목표 700명 중 228명이 예약해 모객률 33%를 기록했다. 2023년에는 약 1,600명이 15개 섬을 방문한 것으로 인천시가 공개했다. 주민 소득 증가액과 비교집단 기반 체류 순증효과는 공식 자료에서 확인되지 않음.",</a:t>
            </a:r>
          </a:p>
          <a:p>
            <a:r>
              <a:t>      "source_id": "case:291a33370ec9b1",</a:t>
            </a:r>
          </a:p>
          <a:p>
            <a:r>
              <a:t>      "source_url": "https://www.incheon.go.kr/mayor_8/MA040101/view?curPage=236&amp;repSeq=DOM_0000000010488055",</a:t>
            </a:r>
          </a:p>
          <a:p>
            <a:r>
              <a:t>      "case_region": "인천광역시 강화군·옹진군 소재 섬",</a:t>
            </a:r>
          </a:p>
          <a:p>
            <a:r>
              <a:t>      "source_type": "benchmark_case",</a:t>
            </a:r>
          </a:p>
          <a:p>
            <a:r>
              <a:t>      "intervention": "인천 섬 도도하게 살아보기—주민 숙박·식사·체험을 묶은 예약형 체류상품",</a:t>
            </a:r>
          </a:p>
          <a:p>
            <a:r>
              <a:t>      "operating_model": "섬별로 2박 3일 또는 3박 4일 상품을 정해진 회차로 판매했다. 주민 운영 숙소·음식점과 낚시, 트레킹, 해양레저, 로컬체험을 하나의 예약상품으로 묶고 상품가격의 일부를 공공이 지원했다. 2024년 자료에는 섬별 최대 50% 지원 구조가 제시됐다.",</a:t>
            </a:r>
          </a:p>
          <a:p>
            <a:r>
              <a:t>      "evidence_strength": "medium",</a:t>
            </a:r>
          </a:p>
          <a:p>
            <a:r>
              <a:t>      "published_or_updated_at": "2024-08-12",</a:t>
            </a:r>
          </a:p>
          <a:p>
            <a:r>
              <a:t>      "quantitative_result_approved": null</a:t>
            </a:r>
          </a:p>
          <a:p>
            <a:r>
              <a:t>    },</a:t>
            </a:r>
          </a:p>
          <a:p>
            <a:r>
              <a:t>    {</a:t>
            </a:r>
          </a:p>
          <a:p>
            <a:r>
              <a:t>      "title": "강진 반값여행 지역경제 효과 소개",</a:t>
            </a:r>
          </a:p>
          <a:p>
            <a:r>
              <a:t>      "summary": "전라남도 강진군 · 반값여행 지역환급 · 상품권 결제 변화에 관한 소개 자료는 있으나, 사업 참여자 범위·정확한 비교 기간·원자료를 확인하지 못해 성과 수치 인용을 보류한다.",</a:t>
            </a:r>
          </a:p>
          <a:p>
            <a:r>
              <a:t>      "source_id": "case:gangjin_half_price_2024",</a:t>
            </a:r>
          </a:p>
          <a:p>
            <a:r>
              <a:t>      "source_url": "https://jnfarm.jeonnam.go.kr/board/FARM_BOARD_008/boardView.do?bdId=BD_00000000000011721&amp;menuCd=farm004002",</a:t>
            </a:r>
          </a:p>
          <a:p>
            <a:r>
              <a:t>      "case_region": "전라남도 강진군",</a:t>
            </a:r>
          </a:p>
          <a:p>
            <a:r>
              <a:t>      "source_type": "benchmark_case",</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"published_or_updated_at": "2025-01-02",</a:t>
            </a:r>
          </a:p>
          <a:p>
            <a:r>
              <a:t>      "quantitative_result_approved": false</a:t>
            </a:r>
          </a:p>
          <a:p>
            <a:r>
              <a:t>    },</a:t>
            </a:r>
          </a:p>
          <a:p>
            <a:r>
              <a:t>    {</a:t>
            </a:r>
          </a:p>
          <a:p>
            <a:r>
              <a:t>      "title": "2024년 6월 여행가는 달 추진 보도자료",</a:t>
            </a:r>
          </a:p>
          <a:p>
            <a:r>
              <a:t>      "summary": "전국 인구감소지역 34곳 · 디지털 관광주민증과 교통·숙박·상점 할인 결합 · 2024년 34개 지역 약 800개 관광업체에 혜택 구조를 적용",</a:t>
            </a:r>
          </a:p>
          <a:p>
            <a:r>
              <a:t>      "source_id": "case:digital_tourism_resident_2024",</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"case_region": "전국 인구감소지역 34곳",</a:t>
            </a:r>
          </a:p>
          <a:p>
            <a:r>
              <a:t>      "source_type": "benchmark_case",</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"published_or_updated_at": "2024-05-14",</a:t>
            </a:r>
          </a:p>
          <a:p>
            <a:r>
              <a:t>      "quantitative_result_approved": null</a:t>
            </a:r>
          </a:p>
          <a:p>
            <a:r>
              <a:t>    },</a:t>
            </a:r>
          </a:p>
          <a:p>
            <a:r>
              <a:t>    {</a:t>
            </a:r>
          </a:p>
          <a:p>
            <a:r>
              <a:t>      "title": "2022 대한민국 숙박대전 경제파급효과 공개자료",</a:t>
            </a:r>
          </a:p>
          <a:p>
            <a:r>
              <a:t>      "summary": "전국 숙박할인쿠폰 지원사업 · 온라인 예약 채널 숙박할인쿠폰 · 한국관광공사 자료는 약 104만 명이 할인혜택을 이용했고 서울·제주를 제외한 지역 사용 비율이 76%였다고 소개함",</a:t>
            </a:r>
          </a:p>
          <a:p>
            <a:r>
              <a:t>      "source_id": "case:kto_stay_discount_2022",</a:t>
            </a:r>
          </a:p>
          <a:p>
            <a:r>
              <a:t>      "source_url": "https://kto.visitkorea.or.kr/upload/flexer/upload/ktobiz/20220928/b623b5f9-3ec0-11ed-9832-ddf31964842e.hwp.files/Sections1.html",</a:t>
            </a:r>
          </a:p>
          <a:p>
            <a:r>
              <a:t>      "case_region": "전국 숙박할인쿠폰 지원사업",</a:t>
            </a:r>
          </a:p>
          <a:p>
            <a:r>
              <a:t>      "source_type": "benchmark_case",</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"published_or_updated_at": "2022-09-28",</a:t>
            </a:r>
          </a:p>
          <a:p>
            <a:r>
              <a:t>      "quantitative_result_approved": null</a:t>
            </a:r>
          </a:p>
          <a:p>
            <a:r>
              <a:t>    },</a:t>
            </a:r>
          </a:p>
          <a:p>
            <a:r>
              <a:t>    {</a:t>
            </a:r>
          </a:p>
          <a:p>
            <a:r>
              <a:t>      "title": "2025 대한민국 밤밤페스타 개최 도시 및 일정",</a:t>
            </a:r>
          </a:p>
          <a:p>
            <a:r>
              <a:t>      "summary": "야간관광 특화도시 10곳 · 도시별 야간 콘텐츠를 순회형 축제로 묶는 운영 · 공식 여행기사는 개최 도시·장소·운영 시간과 콘텐츠만 제시하며 방문·소비 성과 수치는 제시하지 않음",</a:t>
            </a:r>
          </a:p>
          <a:p>
            <a:r>
              <a:t>      "source_id": "case:night_festival_2025",</a:t>
            </a:r>
          </a:p>
          <a:p>
            <a:r>
              <a:t>      "source_url": "https://korean.visitkorea.or.kr/detail/rem_detail.do?cotid=f9c636b2-dd7c-4f09-af3d-6af43b33d371",</a:t>
            </a:r>
          </a:p>
          <a:p>
            <a:r>
              <a:t>      "case_region": "야간관광 특화도시 10곳",</a:t>
            </a:r>
          </a:p>
          <a:p>
            <a:r>
              <a:t>      "source_type": "benchmark_case",</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"published_or_updated_at": "2025",</a:t>
            </a:r>
          </a:p>
          <a:p>
            <a:r>
              <a:t>      "quantitative_result_approved": null</a:t>
            </a:r>
          </a:p>
          <a:p>
            <a:r>
              <a:t>    },</a:t>
            </a:r>
          </a:p>
          <a:p>
            <a:r>
              <a:t>    {</a:t>
            </a:r>
          </a:p>
          <a:p>
            <a:r>
              <a:t>      "title": "2024년도 정부업무평가 관광분야 성과자료",</a:t>
            </a:r>
          </a:p>
          <a:p>
            <a:r>
              <a:t>      "summary": "야간관광 특화도시 10곳 · 상설 야간 콘텐츠와 경관·교통·안전 운영 · 정부업무평가 자료는 특화도시 10곳 방문객이 2023년 같은 기간보다 3% 증가했다고 기록",</a:t>
            </a:r>
          </a:p>
          <a:p>
            <a:r>
              <a:t>      "source_id": "case:night_tourism_cities_2024",</a:t>
            </a:r>
          </a:p>
          <a:p>
            <a:r>
              <a:t>      "source_url": "https://www.evaluation.go.kr/upload2/atch/eval/20250429095846463.pdf",</a:t>
            </a:r>
          </a:p>
          <a:p>
            <a:r>
              <a:t>      "case_region": "야간관광 특화도시 10곳",</a:t>
            </a:r>
          </a:p>
          <a:p>
            <a:r>
              <a:t>      "source_type": "benchmark_case",</a:t>
            </a:r>
          </a:p>
          <a:p>
            <a:r>
              <a:t>      "intervention": "상설 야간 콘텐츠와 경관·교통·안전 운영",</a:t>
            </a:r>
          </a:p>
          <a:p>
            <a:r>
              <a:t>      "operating_model": "지역 스토리를 반영한 야간 프로그램을 상설·행사형으로 운영하고 야간 경관, 이동, 식음, 안전 여건을 함께 구성",</a:t>
            </a:r>
          </a:p>
          <a:p>
            <a:r>
              <a:t>      "evidence_strength": "medium",</a:t>
            </a:r>
          </a:p>
          <a:p>
            <a:r>
              <a:t>      "published_or_updated_at": "2025-04-29",</a:t>
            </a:r>
          </a:p>
          <a:p>
            <a:r>
              <a:t>      "quantitative_result_approved": null</a:t>
            </a:r>
          </a:p>
          <a:p>
            <a:r>
              <a:t>    }</a:t>
            </a:r>
          </a:p>
          <a:p>
            <a:r>
              <a:t>  ],</a:t>
            </a:r>
          </a:p>
          <a:p>
            <a:r>
              <a:t>  "selected_forecast": {</a:t>
            </a:r>
          </a:p>
          <a:p>
            <a:r>
              <a:t>    "rows": [</a:t>
            </a:r>
          </a:p>
          <a:p>
            <a:r>
              <a:t>      {</a:t>
            </a:r>
          </a:p>
          <a:p>
            <a:r>
              <a:t>        "month": "202609",</a:t>
            </a:r>
          </a:p>
          <a:p>
            <a:r>
              <a:t>        "visitors": 1948014.0,</a:t>
            </a:r>
          </a:p>
          <a:p>
            <a:r>
              <a:t>        "is_forecast": true,</a:t>
            </a:r>
          </a:p>
          <a:p>
            <a:r>
              <a:t>        "spending_krw": 44854616000.0,</a:t>
            </a:r>
          </a:p>
          <a:p>
            <a:r>
              <a:t>        "stay_minutes": 2803.0,</a:t>
            </a:r>
          </a:p>
          <a:p>
            <a:r>
              <a:t>        "lodging_nights": 2.89,</a:t>
            </a:r>
          </a:p>
          <a:p>
            <a:r>
              <a:t>        "lodging_rate_pct": 14.2,</a:t>
            </a:r>
          </a:p>
          <a:p>
            <a:r>
              <a:t>        "lodging_searches": 26980,</a:t>
            </a:r>
          </a:p>
          <a:p>
            <a:r>
              <a:t>        "navigation_searches": 279694,</a:t>
            </a:r>
          </a:p>
          <a:p>
            <a:r>
              <a:t>        "visitor_yoy_percent": -3.61,</a:t>
            </a:r>
          </a:p>
          <a:p>
            <a:r>
              <a:t>        "spending_yoy_percent": 0.0,</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2021001,</a:t>
            </a:r>
          </a:p>
          <a:p>
            <a:r>
              <a:t>        "previous_year_spending_krw": 44854616000,</a:t>
            </a:r>
          </a:p>
          <a:p>
            <a:r>
              <a:t>        "previous_year_stay_minutes": 2803.0,</a:t>
            </a:r>
          </a:p>
          <a:p>
            <a:r>
              <a:t>        "previous_year_lodging_nights": 2.89,</a:t>
            </a:r>
          </a:p>
          <a:p>
            <a:r>
              <a:t>        "previous_year_lodging_rate_pct": 14.2,</a:t>
            </a:r>
          </a:p>
          <a:p>
            <a:r>
              <a:t>        "previous_year_lodging_searches": 26980,</a:t>
            </a:r>
          </a:p>
          <a:p>
            <a:r>
              <a:t>        "previous_year_navigation_searches": 279694</a:t>
            </a:r>
          </a:p>
          <a:p>
            <a:r>
              <a:t>      },</a:t>
            </a:r>
          </a:p>
          <a:p>
            <a:r>
              <a:t>      {</a:t>
            </a:r>
          </a:p>
          <a:p>
            <a:r>
              <a:t>        "month": "202610",</a:t>
            </a:r>
          </a:p>
          <a:p>
            <a:r>
              <a:t>        "visitors": 2278280.0,</a:t>
            </a:r>
          </a:p>
          <a:p>
            <a:r>
              <a:t>        "is_forecast": true,</a:t>
            </a:r>
          </a:p>
          <a:p>
            <a:r>
              <a:t>        "spending_krw": 59504900000.0,</a:t>
            </a:r>
          </a:p>
          <a:p>
            <a:r>
              <a:t>        "stay_minutes": 1597.0,</a:t>
            </a:r>
          </a:p>
          <a:p>
            <a:r>
              <a:t>        "lodging_nights": 2.69,</a:t>
            </a:r>
          </a:p>
          <a:p>
            <a:r>
              <a:t>        "lodging_rate_pct": 16.8,</a:t>
            </a:r>
          </a:p>
          <a:p>
            <a:r>
              <a:t>        "lodging_searches": 58111,</a:t>
            </a:r>
          </a:p>
          <a:p>
            <a:r>
              <a:t>        "navigation_searches": 584663,</a:t>
            </a:r>
          </a:p>
          <a:p>
            <a:r>
              <a:t>        "visitor_yoy_percent": -5.58,</a:t>
            </a:r>
          </a:p>
          <a:p>
            <a:r>
              <a:t>        "spending_yoy_percent": 0.0,</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2412798,</a:t>
            </a:r>
          </a:p>
          <a:p>
            <a:r>
              <a:t>        "previous_year_spending_krw": 59504900000,</a:t>
            </a:r>
          </a:p>
          <a:p>
            <a:r>
              <a:t>        "previous_year_stay_minutes": 1597.0,</a:t>
            </a:r>
          </a:p>
          <a:p>
            <a:r>
              <a:t>        "previous_year_lodging_nights": 2.69,</a:t>
            </a:r>
          </a:p>
          <a:p>
            <a:r>
              <a:t>        "previous_year_lodging_rate_pct": 16.8,</a:t>
            </a:r>
          </a:p>
          <a:p>
            <a:r>
              <a:t>        "previous_year_lodging_searches": 58111,</a:t>
            </a:r>
          </a:p>
          <a:p>
            <a:r>
              <a:t>        "previous_year_navigation_searches": 584663</a:t>
            </a:r>
          </a:p>
          <a:p>
            <a:r>
              <a:t>      },</a:t>
            </a:r>
          </a:p>
          <a:p>
            <a:r>
              <a:t>      {</a:t>
            </a:r>
          </a:p>
          <a:p>
            <a:r>
              <a:t>        "month": "202611",</a:t>
            </a:r>
          </a:p>
          <a:p>
            <a:r>
              <a:t>        "visitors": 2018187.0,</a:t>
            </a:r>
          </a:p>
          <a:p>
            <a:r>
              <a:t>        "is_forecast": true,</a:t>
            </a:r>
          </a:p>
          <a:p>
            <a:r>
              <a:t>        "spending_krw": 50330837000.0,</a:t>
            </a:r>
          </a:p>
          <a:p>
            <a:r>
              <a:t>        "stay_minutes": 1501.0,</a:t>
            </a:r>
          </a:p>
          <a:p>
            <a:r>
              <a:t>        "lodging_nights": 2.62,</a:t>
            </a:r>
          </a:p>
          <a:p>
            <a:r>
              <a:t>        "lodging_rate_pct": 13.4,</a:t>
            </a:r>
          </a:p>
          <a:p>
            <a:r>
              <a:t>        "lodging_searches": 30423,</a:t>
            </a:r>
          </a:p>
          <a:p>
            <a:r>
              <a:t>        "navigation_searches": 322218,</a:t>
            </a:r>
          </a:p>
          <a:p>
            <a:r>
              <a:t>        "visitor_yoy_percent": -1.67,</a:t>
            </a:r>
          </a:p>
          <a:p>
            <a:r>
              <a:t>        "spending_yoy_percent": 0.0,</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2052480,</a:t>
            </a:r>
          </a:p>
          <a:p>
            <a:r>
              <a:t>        "previous_year_spending_krw": 50330837000,</a:t>
            </a:r>
          </a:p>
          <a:p>
            <a:r>
              <a:t>        "previous_year_stay_minutes": 1501.0,</a:t>
            </a:r>
          </a:p>
          <a:p>
            <a:r>
              <a:t>        "previous_year_lodging_nights": 2.62,</a:t>
            </a:r>
          </a:p>
          <a:p>
            <a:r>
              <a:t>        "previous_year_lodging_rate_pct": 13.4,</a:t>
            </a:r>
          </a:p>
          <a:p>
            <a:r>
              <a:t>        "previous_year_lodging_searches": 30423,</a:t>
            </a:r>
          </a:p>
          <a:p>
            <a:r>
              <a:t>        "previous_year_navigation_searches": 322218</a:t>
            </a:r>
          </a:p>
          <a:p>
            <a:r>
              <a:t>      }</a:t>
            </a:r>
          </a:p>
          <a:p>
            <a:r>
              <a:t>    ],</a:t>
            </a:r>
          </a:p>
          <a:p>
            <a:r>
              <a:t>    "period": "202609~202611",</a:t>
            </a:r>
          </a:p>
          <a:p>
            <a:r>
              <a:t>    "complete": true,</a:t>
            </a:r>
          </a:p>
          <a:p>
            <a:r>
              <a:t>    "notes": [</a:t>
            </a:r>
          </a:p>
          <a:p>
            <a:r>
              <a:t>      "3개월 초과 예측 거리는 재귀 검증 범위 밖의 탐색 전망입니다."</a:t>
            </a:r>
          </a:p>
          <a:p>
            <a:r>
              <a:t>    ],</a:t>
            </a:r>
          </a:p>
          <a:p>
            <a:r>
              <a:t>    "selection_basis": "strategy_timeframe",</a:t>
            </a:r>
          </a:p>
          <a:p>
            <a:r>
              <a:t>    "requested_period": "202609~202611"</a:t>
            </a:r>
          </a:p>
          <a:p>
            <a:r>
              <a:t>  },</a:t>
            </a:r>
          </a:p>
          <a:p>
            <a:r>
              <a:t>  "all_ml_forecasts": [</a:t>
            </a:r>
          </a:p>
          <a:p>
            <a:r>
              <a:t>    {</a:t>
            </a:r>
          </a:p>
          <a:p>
            <a:r>
              <a:t>      "month": "202607",</a:t>
            </a:r>
          </a:p>
          <a:p>
            <a:r>
              <a:t>      "visitors": 1935310,</a:t>
            </a:r>
          </a:p>
          <a:p>
            <a:r>
              <a:t>      "is_forecast": true,</a:t>
            </a:r>
          </a:p>
          <a:p>
            <a:r>
              <a:t>      "spending_krw": 46823670000,</a:t>
            </a:r>
          </a:p>
          <a:p>
            <a:r>
              <a:t>      "stay_minutes": 1818.0,</a:t>
            </a:r>
          </a:p>
          <a:p>
            <a:r>
              <a:t>      "lodging_nights": 2.62,</a:t>
            </a:r>
          </a:p>
          <a:p>
            <a:r>
              <a:t>      "lodging_rate_pct": 16.7,</a:t>
            </a:r>
          </a:p>
          <a:p>
            <a:r>
              <a:t>      "lodging_searches": 35770,</a:t>
            </a:r>
          </a:p>
          <a:p>
            <a:r>
              <a:t>      "navigation_searches": 320422,</a:t>
            </a:r>
          </a:p>
          <a:p>
            <a:r>
              <a:t>      "visitor_yoy_percent": -2.93,</a:t>
            </a:r>
          </a:p>
          <a:p>
            <a:r>
              <a:t>      "spending_yoy_percent": 0.0,</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1993752,</a:t>
            </a:r>
          </a:p>
          <a:p>
            <a:r>
              <a:t>      "previous_year_spending_krw": 46823670000,</a:t>
            </a:r>
          </a:p>
          <a:p>
            <a:r>
              <a:t>      "previous_year_stay_minutes": 1818.0,</a:t>
            </a:r>
          </a:p>
          <a:p>
            <a:r>
              <a:t>      "previous_year_lodging_nights": 2.62,</a:t>
            </a:r>
          </a:p>
          <a:p>
            <a:r>
              <a:t>      "previous_year_lodging_rate_pct": 16.7,</a:t>
            </a:r>
          </a:p>
          <a:p>
            <a:r>
              <a:t>      "previous_year_lodging_searches": 35770,</a:t>
            </a:r>
          </a:p>
          <a:p>
            <a:r>
              <a:t>      "previous_year_navigation_searches": 320422</a:t>
            </a:r>
          </a:p>
          <a:p>
            <a:r>
              <a:t>    },</a:t>
            </a:r>
          </a:p>
          <a:p>
            <a:r>
              <a:t>    {</a:t>
            </a:r>
          </a:p>
          <a:p>
            <a:r>
              <a:t>      "month": "202608",</a:t>
            </a:r>
          </a:p>
          <a:p>
            <a:r>
              <a:t>      "visitors": 2139254,</a:t>
            </a:r>
          </a:p>
          <a:p>
            <a:r>
              <a:t>      "is_forecast": true,</a:t>
            </a:r>
          </a:p>
          <a:p>
            <a:r>
              <a:t>      "spending_krw": 51770552000,</a:t>
            </a:r>
          </a:p>
          <a:p>
            <a:r>
              <a:t>      "stay_minutes": 1673.0,</a:t>
            </a:r>
          </a:p>
          <a:p>
            <a:r>
              <a:t>      "lodging_nights": 2.58,</a:t>
            </a:r>
          </a:p>
          <a:p>
            <a:r>
              <a:t>      "lodging_rate_pct": 17.5,</a:t>
            </a:r>
          </a:p>
          <a:p>
            <a:r>
              <a:t>      "lodging_searches": 42261,</a:t>
            </a:r>
          </a:p>
          <a:p>
            <a:r>
              <a:t>      "navigation_searches": 378299,</a:t>
            </a:r>
          </a:p>
          <a:p>
            <a:r>
              <a:t>      "visitor_yoy_percent": -5.08,</a:t>
            </a:r>
          </a:p>
          <a:p>
            <a:r>
              <a:t>      "spending_yoy_percent": 0.0,</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2253751,</a:t>
            </a:r>
          </a:p>
          <a:p>
            <a:r>
              <a:t>      "previous_year_spending_krw": 51770552000,</a:t>
            </a:r>
          </a:p>
          <a:p>
            <a:r>
              <a:t>      "previous_year_stay_minutes": 1673.0,</a:t>
            </a:r>
          </a:p>
          <a:p>
            <a:r>
              <a:t>      "previous_year_lodging_nights": 2.58,</a:t>
            </a:r>
          </a:p>
          <a:p>
            <a:r>
              <a:t>      "previous_year_lodging_rate_pct": 17.5,</a:t>
            </a:r>
          </a:p>
          <a:p>
            <a:r>
              <a:t>      "previous_year_lodging_searches": 42261,</a:t>
            </a:r>
          </a:p>
          <a:p>
            <a:r>
              <a:t>      "previous_year_navigation_searches": 378299</a:t>
            </a:r>
          </a:p>
          <a:p>
            <a:r>
              <a:t>    },</a:t>
            </a:r>
          </a:p>
          <a:p>
            <a:r>
              <a:t>    {</a:t>
            </a:r>
          </a:p>
          <a:p>
            <a:r>
              <a:t>      "month": "202609",</a:t>
            </a:r>
          </a:p>
          <a:p>
            <a:r>
              <a:t>      "visitors": 1948014,</a:t>
            </a:r>
          </a:p>
          <a:p>
            <a:r>
              <a:t>      "is_forecast": true,</a:t>
            </a:r>
          </a:p>
          <a:p>
            <a:r>
              <a:t>      "spending_krw": 44854616000,</a:t>
            </a:r>
          </a:p>
          <a:p>
            <a:r>
              <a:t>      "stay_minutes": 2803.0,</a:t>
            </a:r>
          </a:p>
          <a:p>
            <a:r>
              <a:t>      "lodging_nights": 2.89,</a:t>
            </a:r>
          </a:p>
          <a:p>
            <a:r>
              <a:t>      "lodging_rate_pct": 14.2,</a:t>
            </a:r>
          </a:p>
          <a:p>
            <a:r>
              <a:t>      "lodging_searches": 26980,</a:t>
            </a:r>
          </a:p>
          <a:p>
            <a:r>
              <a:t>      "navigation_searches": 279694,</a:t>
            </a:r>
          </a:p>
          <a:p>
            <a:r>
              <a:t>      "visitor_yoy_percent": -3.61,</a:t>
            </a:r>
          </a:p>
          <a:p>
            <a:r>
              <a:t>      "spending_yoy_percent": 0.0,</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2021001,</a:t>
            </a:r>
          </a:p>
          <a:p>
            <a:r>
              <a:t>      "previous_year_spending_krw": 44854616000,</a:t>
            </a:r>
          </a:p>
          <a:p>
            <a:r>
              <a:t>      "previous_year_stay_minutes": 2803.0,</a:t>
            </a:r>
          </a:p>
          <a:p>
            <a:r>
              <a:t>      "previous_year_lodging_nights": 2.89,</a:t>
            </a:r>
          </a:p>
          <a:p>
            <a:r>
              <a:t>      "previous_year_lodging_rate_pct": 14.2,</a:t>
            </a:r>
          </a:p>
          <a:p>
            <a:r>
              <a:t>      "previous_year_lodging_searches": 26980,</a:t>
            </a:r>
          </a:p>
          <a:p>
            <a:r>
              <a:t>      "previous_year_navigation_searches": 279694</a:t>
            </a:r>
          </a:p>
          <a:p>
            <a:r>
              <a:t>    },</a:t>
            </a:r>
          </a:p>
          <a:p>
            <a:r>
              <a:t>    {</a:t>
            </a:r>
          </a:p>
          <a:p>
            <a:r>
              <a:t>      "month": "202610",</a:t>
            </a:r>
          </a:p>
          <a:p>
            <a:r>
              <a:t>      "visitors": 2278280,</a:t>
            </a:r>
          </a:p>
          <a:p>
            <a:r>
              <a:t>      "is_forecast": true,</a:t>
            </a:r>
          </a:p>
          <a:p>
            <a:r>
              <a:t>      "spending_krw": 59504900000,</a:t>
            </a:r>
          </a:p>
          <a:p>
            <a:r>
              <a:t>      "stay_minutes": 1597.0,</a:t>
            </a:r>
          </a:p>
          <a:p>
            <a:r>
              <a:t>      "lodging_nights": 2.69,</a:t>
            </a:r>
          </a:p>
          <a:p>
            <a:r>
              <a:t>      "lodging_rate_pct": 16.8,</a:t>
            </a:r>
          </a:p>
          <a:p>
            <a:r>
              <a:t>      "lodging_searches": 58111,</a:t>
            </a:r>
          </a:p>
          <a:p>
            <a:r>
              <a:t>      "navigation_searches": 584663,</a:t>
            </a:r>
          </a:p>
          <a:p>
            <a:r>
              <a:t>      "visitor_yoy_percent": -5.58,</a:t>
            </a:r>
          </a:p>
          <a:p>
            <a:r>
              <a:t>      "spending_yoy_percent": 0.0,</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2412798,</a:t>
            </a:r>
          </a:p>
          <a:p>
            <a:r>
              <a:t>      "previous_year_spending_krw": 59504900000,</a:t>
            </a:r>
          </a:p>
          <a:p>
            <a:r>
              <a:t>      "previous_year_stay_minutes": 1597.0,</a:t>
            </a:r>
          </a:p>
          <a:p>
            <a:r>
              <a:t>      "previous_year_lodging_nights": 2.69,</a:t>
            </a:r>
          </a:p>
          <a:p>
            <a:r>
              <a:t>      "previous_year_lodging_rate_pct": 16.8,</a:t>
            </a:r>
          </a:p>
          <a:p>
            <a:r>
              <a:t>      "previous_year_lodging_searches": 58111,</a:t>
            </a:r>
          </a:p>
          <a:p>
            <a:r>
              <a:t>      "previous_year_navigation_searches": 584663</a:t>
            </a:r>
          </a:p>
          <a:p>
            <a:r>
              <a:t>    },</a:t>
            </a:r>
          </a:p>
          <a:p>
            <a:r>
              <a:t>    {</a:t>
            </a:r>
          </a:p>
          <a:p>
            <a:r>
              <a:t>      "month": "202611",</a:t>
            </a:r>
          </a:p>
          <a:p>
            <a:r>
              <a:t>      "visitors": 2018187,</a:t>
            </a:r>
          </a:p>
          <a:p>
            <a:r>
              <a:t>      "is_forecast": true,</a:t>
            </a:r>
          </a:p>
          <a:p>
            <a:r>
              <a:t>      "spending_krw": 50330837000,</a:t>
            </a:r>
          </a:p>
          <a:p>
            <a:r>
              <a:t>      "stay_minutes": 1501.0,</a:t>
            </a:r>
          </a:p>
          <a:p>
            <a:r>
              <a:t>      "lodging_nights": 2.62,</a:t>
            </a:r>
          </a:p>
          <a:p>
            <a:r>
              <a:t>      "lodging_rate_pct": 13.4,</a:t>
            </a:r>
          </a:p>
          <a:p>
            <a:r>
              <a:t>      "lodging_searches": 30423,</a:t>
            </a:r>
          </a:p>
          <a:p>
            <a:r>
              <a:t>      "navigation_searches": 322218,</a:t>
            </a:r>
          </a:p>
          <a:p>
            <a:r>
              <a:t>      "visitor_yoy_percent": -1.67,</a:t>
            </a:r>
          </a:p>
          <a:p>
            <a:r>
              <a:t>      "spending_yoy_percent": 0.0,</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2052480,</a:t>
            </a:r>
          </a:p>
          <a:p>
            <a:r>
              <a:t>      "previous_year_spending_krw": 50330837000,</a:t>
            </a:r>
          </a:p>
          <a:p>
            <a:r>
              <a:t>      "previous_year_stay_minutes": 1501.0,</a:t>
            </a:r>
          </a:p>
          <a:p>
            <a:r>
              <a:t>      "previous_year_lodging_nights": 2.62,</a:t>
            </a:r>
          </a:p>
          <a:p>
            <a:r>
              <a:t>      "previous_year_lodging_rate_pct": 13.4,</a:t>
            </a:r>
          </a:p>
          <a:p>
            <a:r>
              <a:t>      "previous_year_lodging_searches": 30423,</a:t>
            </a:r>
          </a:p>
          <a:p>
            <a:r>
              <a:t>      "previous_year_navigation_searches": 322218</a:t>
            </a:r>
          </a:p>
          <a:p>
            <a:r>
              <a:t>    },</a:t>
            </a:r>
          </a:p>
          <a:p>
            <a:r>
              <a:t>    {</a:t>
            </a:r>
          </a:p>
          <a:p>
            <a:r>
              <a:t>      "month": "202612",</a:t>
            </a:r>
          </a:p>
          <a:p>
            <a:r>
              <a:t>      "visitors": 1733965,</a:t>
            </a:r>
          </a:p>
          <a:p>
            <a:r>
              <a:t>      "is_forecast": true,</a:t>
            </a:r>
          </a:p>
          <a:p>
            <a:r>
              <a:t>      "spending_krw": 39693334000,</a:t>
            </a:r>
          </a:p>
          <a:p>
            <a:r>
              <a:t>      "stay_minutes": 1807.0,</a:t>
            </a:r>
          </a:p>
          <a:p>
            <a:r>
              <a:t>      "lodging_nights": 2.67,</a:t>
            </a:r>
          </a:p>
          <a:p>
            <a:r>
              <a:t>      "lodging_rate_pct": 15.5,</a:t>
            </a:r>
          </a:p>
          <a:p>
            <a:r>
              <a:t>      "lodging_searches": 24221,</a:t>
            </a:r>
          </a:p>
          <a:p>
            <a:r>
              <a:t>      "navigation_searches": 217678,</a:t>
            </a:r>
          </a:p>
          <a:p>
            <a:r>
              <a:t>      "visitor_yoy_percent": 2.84,</a:t>
            </a:r>
          </a:p>
          <a:p>
            <a:r>
              <a:t>      "spending_yoy_percent": 0.0,</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1686121,</a:t>
            </a:r>
          </a:p>
          <a:p>
            <a:r>
              <a:t>      "previous_year_spending_krw": 39693334000,</a:t>
            </a:r>
          </a:p>
          <a:p>
            <a:r>
              <a:t>      "previous_year_stay_minutes": 1807.0,</a:t>
            </a:r>
          </a:p>
          <a:p>
            <a:r>
              <a:t>      "previous_year_lodging_nights": 2.67,</a:t>
            </a:r>
          </a:p>
          <a:p>
            <a:r>
              <a:t>      "previous_year_lodging_rate_pct": 15.5,</a:t>
            </a:r>
          </a:p>
          <a:p>
            <a:r>
              <a:t>      "previous_year_lodging_searches": 24221,</a:t>
            </a:r>
          </a:p>
          <a:p>
            <a:r>
              <a:t>      "previous_year_navigation_searches": 217678</a:t>
            </a:r>
          </a:p>
          <a:p>
            <a:r>
              <a:t>    },</a:t>
            </a:r>
          </a:p>
          <a:p>
            <a:r>
              <a:t>    {</a:t>
            </a:r>
          </a:p>
          <a:p>
            <a:r>
              <a:t>      "month": "202701",</a:t>
            </a:r>
          </a:p>
          <a:p>
            <a:r>
              <a:t>      "visitors": 1735449,</a:t>
            </a:r>
          </a:p>
          <a:p>
            <a:r>
              <a:t>      "is_forecast": true,</a:t>
            </a:r>
          </a:p>
          <a:p>
            <a:r>
              <a:t>      "spending_krw": 39173323000,</a:t>
            </a:r>
          </a:p>
          <a:p>
            <a:r>
              <a:t>      "stay_minutes": 1900.0,</a:t>
            </a:r>
          </a:p>
          <a:p>
            <a:r>
              <a:t>      "lodging_nights": 2.68,</a:t>
            </a:r>
          </a:p>
          <a:p>
            <a:r>
              <a:t>      "lodging_rate_pct": 16.0,</a:t>
            </a:r>
          </a:p>
          <a:p>
            <a:r>
              <a:t>      "lodging_searches": 27644,</a:t>
            </a:r>
          </a:p>
          <a:p>
            <a:r>
              <a:t>      "navigation_searches": 223981,</a:t>
            </a:r>
          </a:p>
          <a:p>
            <a:r>
              <a:t>      "visitor_yoy_percent": 1.42,</a:t>
            </a:r>
          </a:p>
          <a:p>
            <a:r>
              <a:t>      "spending_yoy_percent": 0.0,</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1711231,</a:t>
            </a:r>
          </a:p>
          <a:p>
            <a:r>
              <a:t>      "previous_year_spending_krw": 39173323000,</a:t>
            </a:r>
          </a:p>
          <a:p>
            <a:r>
              <a:t>      "previous_year_stay_minutes": 1900.0,</a:t>
            </a:r>
          </a:p>
          <a:p>
            <a:r>
              <a:t>      "previous_year_lodging_nights": 2.68,</a:t>
            </a:r>
          </a:p>
          <a:p>
            <a:r>
              <a:t>      "previous_year_lodging_rate_pct": 16.0,</a:t>
            </a:r>
          </a:p>
          <a:p>
            <a:r>
              <a:t>      "previous_year_lodging_searches": 27644,</a:t>
            </a:r>
          </a:p>
          <a:p>
            <a:r>
              <a:t>      "previous_year_navigation_searches": 223981</a:t>
            </a:r>
          </a:p>
          <a:p>
            <a:r>
              <a:t>    },</a:t>
            </a:r>
          </a:p>
          <a:p>
            <a:r>
              <a:t>    {</a:t>
            </a:r>
          </a:p>
          <a:p>
            <a:r>
              <a:t>      "month": "202702",</a:t>
            </a:r>
          </a:p>
          <a:p>
            <a:r>
              <a:t>      "visitors": 1722995,</a:t>
            </a:r>
          </a:p>
          <a:p>
            <a:r>
              <a:t>      "is_forecast": true,</a:t>
            </a:r>
          </a:p>
          <a:p>
            <a:r>
              <a:t>      "spending_krw": 40605893000,</a:t>
            </a:r>
          </a:p>
          <a:p>
            <a:r>
              <a:t>      "stay_minutes": 1818.0,</a:t>
            </a:r>
          </a:p>
          <a:p>
            <a:r>
              <a:t>      "lodging_nights": 2.71,</a:t>
            </a:r>
          </a:p>
          <a:p>
            <a:r>
              <a:t>      "lodging_rate_pct": 17.7,</a:t>
            </a:r>
          </a:p>
          <a:p>
            <a:r>
              <a:t>      "lodging_searches": 24571,</a:t>
            </a:r>
          </a:p>
          <a:p>
            <a:r>
              <a:t>      "navigation_searches": 238194,</a:t>
            </a:r>
          </a:p>
          <a:p>
            <a:r>
              <a:t>      "visitor_yoy_percent": -1.96,</a:t>
            </a:r>
          </a:p>
          <a:p>
            <a:r>
              <a:t>      "spending_yoy_percent": 0.0,</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1757460,</a:t>
            </a:r>
          </a:p>
          <a:p>
            <a:r>
              <a:t>      "previous_year_spending_krw": 40605893000,</a:t>
            </a:r>
          </a:p>
          <a:p>
            <a:r>
              <a:t>      "previous_year_stay_minutes": 1818.0,</a:t>
            </a:r>
          </a:p>
          <a:p>
            <a:r>
              <a:t>      "previous_year_lodging_nights": 2.71,</a:t>
            </a:r>
          </a:p>
          <a:p>
            <a:r>
              <a:t>      "previous_year_lodging_rate_pct": 17.7,</a:t>
            </a:r>
          </a:p>
          <a:p>
            <a:r>
              <a:t>      "previous_year_lodging_searches": 24571,</a:t>
            </a:r>
          </a:p>
          <a:p>
            <a:r>
              <a:t>      "previous_year_navigation_searches": 238194</a:t>
            </a:r>
          </a:p>
          <a:p>
            <a:r>
              <a:t>    }</a:t>
            </a:r>
          </a:p>
          <a:p>
            <a:r>
              <a:t>  ],</a:t>
            </a:r>
          </a:p>
          <a:p>
            <a:r>
              <a:t>  "evaluation": {</a:t>
            </a:r>
          </a:p>
          <a:p>
            <a:r>
              <a:t>    "metrics": {</a:t>
            </a:r>
          </a:p>
          <a:p>
            <a:r>
              <a:t>      "visitors": {</a:t>
            </a:r>
          </a:p>
          <a:p>
            <a:r>
              <a:t>        "test_mae": 70528.31,</a:t>
            </a:r>
          </a:p>
          <a:p>
            <a:r>
              <a:t>        "recursive_mae": {</a:t>
            </a:r>
          </a:p>
          <a:p>
            <a:r>
              <a:t>          "1": {</a:t>
            </a:r>
          </a:p>
          <a:p>
            <a:r>
              <a:t>            "baseline": 41681.0,</a:t>
            </a:r>
          </a:p>
          <a:p>
            <a:r>
              <a:t>            "selected": 49874.0,</a:t>
            </a:r>
          </a:p>
          <a:p>
            <a:r>
              <a:t>            "sample_count": 2</a:t>
            </a:r>
          </a:p>
          <a:p>
            <a:r>
              <a:t>          },</a:t>
            </a:r>
          </a:p>
          <a:p>
            <a:r>
              <a:t>          "2": {</a:t>
            </a:r>
          </a:p>
          <a:p>
            <a:r>
              <a:t>            "baseline": 60055.5,</a:t>
            </a:r>
          </a:p>
          <a:p>
            <a:r>
              <a:t>            "selected": 37301.5,</a:t>
            </a:r>
          </a:p>
          <a:p>
            <a:r>
              <a:t>            "sample_count": 2</a:t>
            </a:r>
          </a:p>
          <a:p>
            <a:r>
              <a:t>          },</a:t>
            </a:r>
          </a:p>
          <a:p>
            <a:r>
              <a:t>          "3": {</a:t>
            </a:r>
          </a:p>
          <a:p>
            <a:r>
              <a:t>            "baseline": 106265.0,</a:t>
            </a:r>
          </a:p>
          <a:p>
            <a:r>
              <a:t>            "selected": 97340.5,</a:t>
            </a:r>
          </a:p>
          <a:p>
            <a:r>
              <a:t>            "sample_count": 2</a:t>
            </a:r>
          </a:p>
          <a:p>
            <a:r>
              <a:t>          }</a:t>
            </a:r>
          </a:p>
          <a:p>
            <a:r>
              <a:t>        },</a:t>
            </a:r>
          </a:p>
          <a:p>
            <a:r>
              <a:t>        "selected_model": "RandomForestRegressor",</a:t>
            </a:r>
          </a:p>
          <a:p>
            <a:r>
              <a:t>        "baseline_test_mae": 73973.0,</a:t>
            </a:r>
          </a:p>
          <a:p>
            <a:r>
              <a:t>        "model_reliability": "mixed_recursive_performance",</a:t>
            </a:r>
          </a:p>
          <a:p>
            <a:r>
              <a:t>        "beats_baseline_on_test": true,</a:t>
            </a:r>
          </a:p>
          <a:p>
            <a:r>
              <a:t>        "recursive_horizons_worse_than_baseline": [</a:t>
            </a:r>
          </a:p>
          <a:p>
            <a:r>
              <a:t>          "1"</a:t>
            </a:r>
          </a:p>
          <a:p>
            <a:r>
              <a:t>        ]</a:t>
            </a:r>
          </a:p>
          <a:p>
            <a:r>
              <a:t>      },</a:t>
            </a:r>
          </a:p>
          <a:p>
            <a:r>
              <a:t>      "spending_krw": {</a:t>
            </a:r>
          </a:p>
          <a:p>
            <a:r>
              <a:t>        "test_mae": 4095129500.0,</a:t>
            </a:r>
          </a:p>
          <a:p>
            <a:r>
              <a:t>        "recursive_mae": {</a:t>
            </a:r>
          </a:p>
          <a:p>
            <a:r>
              <a:t>          "1": {</a:t>
            </a:r>
          </a:p>
          <a:p>
            <a:r>
              <a:t>            "baseline": 4131609500.0,</a:t>
            </a:r>
          </a:p>
          <a:p>
            <a:r>
              <a:t>            "selected": 4131609500.0,</a:t>
            </a:r>
          </a:p>
          <a:p>
            <a:r>
              <a:t>            "sample_count": 2</a:t>
            </a:r>
          </a:p>
          <a:p>
            <a:r>
              <a:t>          },</a:t>
            </a:r>
          </a:p>
          <a:p>
            <a:r>
              <a:t>          "2": {</a:t>
            </a:r>
          </a:p>
          <a:p>
            <a:r>
              <a:t>            "baseline": 6603691500.0,</a:t>
            </a:r>
          </a:p>
          <a:p>
            <a:r>
              <a:t>            "selected": 6603691500.0,</a:t>
            </a:r>
          </a:p>
          <a:p>
            <a:r>
              <a:t>            "sample_count": 2</a:t>
            </a:r>
          </a:p>
          <a:p>
            <a:r>
              <a:t>          },</a:t>
            </a:r>
          </a:p>
          <a:p>
            <a:r>
              <a:t>          "3": {</a:t>
            </a:r>
          </a:p>
          <a:p>
            <a:r>
              <a:t>            "baseline": 4058649500.0,</a:t>
            </a:r>
          </a:p>
          <a:p>
            <a:r>
              <a:t>            "selected": 4058649500.0,</a:t>
            </a:r>
          </a:p>
          <a:p>
            <a:r>
              <a:t>            "sample_count": 2</a:t>
            </a:r>
          </a:p>
          <a:p>
            <a:r>
              <a:t>          }</a:t>
            </a:r>
          </a:p>
          <a:p>
            <a:r>
              <a:t>        },</a:t>
            </a:r>
          </a:p>
          <a:p>
            <a:r>
              <a:t>        "selected_model": "seasonal_naive_previous_year_same_month",</a:t>
            </a:r>
          </a:p>
          <a:p>
            <a:r>
              <a:t>        "baseline_test_mae": 4095129500.0,</a:t>
            </a:r>
          </a:p>
          <a:p>
            <a:r>
              <a:t>        "model_reliability": "seasonal_baseline",</a:t>
            </a:r>
          </a:p>
          <a:p>
            <a:r>
              <a:t>        "beats_baseline_on_test": false,</a:t>
            </a:r>
          </a:p>
          <a:p>
            <a:r>
              <a:t>        "recursive_horizons_worse_than_baseline": []</a:t>
            </a:r>
          </a:p>
          <a:p>
            <a:r>
              <a:t>      },</a:t>
            </a:r>
          </a:p>
          <a:p>
            <a:r>
              <a:t>      "stay_minutes": {</a:t>
            </a:r>
          </a:p>
          <a:p>
            <a:r>
              <a:t>        "test_mae": 131.0,</a:t>
            </a:r>
          </a:p>
          <a:p>
            <a:r>
              <a:t>        "recursive_mae": {</a:t>
            </a:r>
          </a:p>
          <a:p>
            <a:r>
              <a:t>          "1": {</a:t>
            </a:r>
          </a:p>
          <a:p>
            <a:r>
              <a:t>            "baseline": 3.5,</a:t>
            </a:r>
          </a:p>
          <a:p>
            <a:r>
              <a:t>            "selected": 3.5,</a:t>
            </a:r>
          </a:p>
          <a:p>
            <a:r>
              <a:t>            "sample_count": 2</a:t>
            </a:r>
          </a:p>
          <a:p>
            <a:r>
              <a:t>          },</a:t>
            </a:r>
          </a:p>
          <a:p>
            <a:r>
              <a:t>          "2": {</a:t>
            </a:r>
          </a:p>
          <a:p>
            <a:r>
              <a:t>            "baseline": 252.0,</a:t>
            </a:r>
          </a:p>
          <a:p>
            <a:r>
              <a:t>            "selected": 252.0,</a:t>
            </a:r>
          </a:p>
          <a:p>
            <a:r>
              <a:t>            "sample_count": 2</a:t>
            </a:r>
          </a:p>
          <a:p>
            <a:r>
              <a:t>          },</a:t>
            </a:r>
          </a:p>
          <a:p>
            <a:r>
              <a:t>          "3": {</a:t>
            </a:r>
          </a:p>
          <a:p>
            <a:r>
              <a:t>            "baseline": 258.5,</a:t>
            </a:r>
          </a:p>
          <a:p>
            <a:r>
              <a:t>            "selected": 258.5,</a:t>
            </a:r>
          </a:p>
          <a:p>
            <a:r>
              <a:t>            "sample_count": 2</a:t>
            </a:r>
          </a:p>
          <a:p>
            <a:r>
              <a:t>          }</a:t>
            </a:r>
          </a:p>
          <a:p>
            <a:r>
              <a:t>        },</a:t>
            </a:r>
          </a:p>
          <a:p>
            <a:r>
              <a:t>        "selected_model": "seasonal_naive_previous_year_same_month",</a:t>
            </a:r>
          </a:p>
          <a:p>
            <a:r>
              <a:t>        "baseline_test_mae": 131.0,</a:t>
            </a:r>
          </a:p>
          <a:p>
            <a:r>
              <a:t>        "model_reliability": "seasonal_baseline",</a:t>
            </a:r>
          </a:p>
          <a:p>
            <a:r>
              <a:t>        "beats_baseline_on_test": false,</a:t>
            </a:r>
          </a:p>
          <a:p>
            <a:r>
              <a:t>        "recursive_horizons_worse_than_baseline": []</a:t>
            </a:r>
          </a:p>
          <a:p>
            <a:r>
              <a:t>      },</a:t>
            </a:r>
          </a:p>
          <a:p>
            <a:r>
              <a:t>      "lodging_nights": {</a:t>
            </a:r>
          </a:p>
          <a:p>
            <a:r>
              <a:t>        "test_mae": 0.06,</a:t>
            </a:r>
          </a:p>
          <a:p>
            <a:r>
              <a:t>        "recursive_mae": {</a:t>
            </a:r>
          </a:p>
          <a:p>
            <a:r>
              <a:t>          "1": {</a:t>
            </a:r>
          </a:p>
          <a:p>
            <a:r>
              <a:t>            "baseline": 0.05,</a:t>
            </a:r>
          </a:p>
          <a:p>
            <a:r>
              <a:t>            "selected": 0.05,</a:t>
            </a:r>
          </a:p>
          <a:p>
            <a:r>
              <a:t>            "sample_count": 2</a:t>
            </a:r>
          </a:p>
          <a:p>
            <a:r>
              <a:t>          },</a:t>
            </a:r>
          </a:p>
          <a:p>
            <a:r>
              <a:t>          "2": {</a:t>
            </a:r>
          </a:p>
          <a:p>
            <a:r>
              <a:t>            "baseline": 0.05,</a:t>
            </a:r>
          </a:p>
          <a:p>
            <a:r>
              <a:t>            "selected": 0.05,</a:t>
            </a:r>
          </a:p>
          <a:p>
            <a:r>
              <a:t>            "sample_count": 2</a:t>
            </a:r>
          </a:p>
          <a:p>
            <a:r>
              <a:t>          },</a:t>
            </a:r>
          </a:p>
          <a:p>
            <a:r>
              <a:t>          "3": {</a:t>
            </a:r>
          </a:p>
          <a:p>
            <a:r>
              <a:t>            "baseline": 0.06,</a:t>
            </a:r>
          </a:p>
          <a:p>
            <a:r>
              <a:t>            "selected": 0.06,</a:t>
            </a:r>
          </a:p>
          <a:p>
            <a:r>
              <a:t>            "sample_count": 2</a:t>
            </a:r>
          </a:p>
          <a:p>
            <a:r>
              <a:t>          }</a:t>
            </a:r>
          </a:p>
          <a:p>
            <a:r>
              <a:t>        },</a:t>
            </a:r>
          </a:p>
          <a:p>
            <a:r>
              <a:t>        "selected_model": "seasonal_naive_previous_year_same_month",</a:t>
            </a:r>
          </a:p>
          <a:p>
            <a:r>
              <a:t>        "baseline_test_mae": 0.06,</a:t>
            </a:r>
          </a:p>
          <a:p>
            <a:r>
              <a:t>        "model_reliability": "seasonal_baseline",</a:t>
            </a:r>
          </a:p>
          <a:p>
            <a:r>
              <a:t>        "beats_baseline_on_test": false,</a:t>
            </a:r>
          </a:p>
          <a:p>
            <a:r>
              <a:t>        "recursive_horizons_worse_than_baseline": []</a:t>
            </a:r>
          </a:p>
          <a:p>
            <a:r>
              <a:t>      },</a:t>
            </a:r>
          </a:p>
          <a:p>
            <a:r>
              <a:t>      "lodging_rate_pct": {</a:t>
            </a:r>
          </a:p>
          <a:p>
            <a:r>
              <a:t>        "test_mae": 0.55,</a:t>
            </a:r>
          </a:p>
          <a:p>
            <a:r>
              <a:t>        "recursive_mae": {</a:t>
            </a:r>
          </a:p>
          <a:p>
            <a:r>
              <a:t>          "1": {</a:t>
            </a:r>
          </a:p>
          <a:p>
            <a:r>
              <a:t>            "baseline": 0.8,</a:t>
            </a:r>
          </a:p>
          <a:p>
            <a:r>
              <a:t>            "selected": 0.8,</a:t>
            </a:r>
          </a:p>
          <a:p>
            <a:r>
              <a:t>            "sample_count": 2</a:t>
            </a:r>
          </a:p>
          <a:p>
            <a:r>
              <a:t>          },</a:t>
            </a:r>
          </a:p>
          <a:p>
            <a:r>
              <a:t>          "2": {</a:t>
            </a:r>
          </a:p>
          <a:p>
            <a:r>
              <a:t>            "baseline": 0.4,</a:t>
            </a:r>
          </a:p>
          <a:p>
            <a:r>
              <a:t>            "selected": 0.4,</a:t>
            </a:r>
          </a:p>
          <a:p>
            <a:r>
              <a:t>            "sample_count": 2</a:t>
            </a:r>
          </a:p>
          <a:p>
            <a:r>
              <a:t>          },</a:t>
            </a:r>
          </a:p>
          <a:p>
            <a:r>
              <a:t>          "3": {</a:t>
            </a:r>
          </a:p>
          <a:p>
            <a:r>
              <a:t>            "baseline": 0.3,</a:t>
            </a:r>
          </a:p>
          <a:p>
            <a:r>
              <a:t>            "selected": 0.3,</a:t>
            </a:r>
          </a:p>
          <a:p>
            <a:r>
              <a:t>            "sample_count": 2</a:t>
            </a:r>
          </a:p>
          <a:p>
            <a:r>
              <a:t>          }</a:t>
            </a:r>
          </a:p>
          <a:p>
            <a:r>
              <a:t>        },</a:t>
            </a:r>
          </a:p>
          <a:p>
            <a:r>
              <a:t>        "selected_model": "seasonal_naive_previous_year_same_month",</a:t>
            </a:r>
          </a:p>
          <a:p>
            <a:r>
              <a:t>        "baseline_test_mae": 0.55,</a:t>
            </a:r>
          </a:p>
          <a:p>
            <a:r>
              <a:t>        "model_reliability": "seasonal_baseline",</a:t>
            </a:r>
          </a:p>
          <a:p>
            <a:r>
              <a:t>        "beats_baseline_on_test": false,</a:t>
            </a:r>
          </a:p>
          <a:p>
            <a:r>
              <a:t>        "recursive_horizons_worse_than_baseline": []</a:t>
            </a:r>
          </a:p>
          <a:p>
            <a:r>
              <a:t>      },</a:t>
            </a:r>
          </a:p>
          <a:p>
            <a:r>
              <a:t>      "lodging_searches": {</a:t>
            </a:r>
          </a:p>
          <a:p>
            <a:r>
              <a:t>        "test_mae": 2351.0,</a:t>
            </a:r>
          </a:p>
          <a:p>
            <a:r>
              <a:t>        "recursive_mae": {</a:t>
            </a:r>
          </a:p>
          <a:p>
            <a:r>
              <a:t>          "1": {</a:t>
            </a:r>
          </a:p>
          <a:p>
            <a:r>
              <a:t>            "baseline": 3418.5,</a:t>
            </a:r>
          </a:p>
          <a:p>
            <a:r>
              <a:t>            "selected": 3418.5,</a:t>
            </a:r>
          </a:p>
          <a:p>
            <a:r>
              <a:t>            "sample_count": 2</a:t>
            </a:r>
          </a:p>
          <a:p>
            <a:r>
              <a:t>          },</a:t>
            </a:r>
          </a:p>
          <a:p>
            <a:r>
              <a:t>          "2": {</a:t>
            </a:r>
          </a:p>
          <a:p>
            <a:r>
              <a:t>            "baseline": 1505.0,</a:t>
            </a:r>
          </a:p>
          <a:p>
            <a:r>
              <a:t>            "selected": 1505.0,</a:t>
            </a:r>
          </a:p>
          <a:p>
            <a:r>
              <a:t>            "sample_count": 2</a:t>
            </a:r>
          </a:p>
          <a:p>
            <a:r>
              <a:t>          },</a:t>
            </a:r>
          </a:p>
          <a:p>
            <a:r>
              <a:t>          "3": {</a:t>
            </a:r>
          </a:p>
          <a:p>
            <a:r>
              <a:t>            "baseline": 1283.5,</a:t>
            </a:r>
          </a:p>
          <a:p>
            <a:r>
              <a:t>            "selected": 1283.5,</a:t>
            </a:r>
          </a:p>
          <a:p>
            <a:r>
              <a:t>            "sample_count": 2</a:t>
            </a:r>
          </a:p>
          <a:p>
            <a:r>
              <a:t>          }</a:t>
            </a:r>
          </a:p>
          <a:p>
            <a:r>
              <a:t>        },</a:t>
            </a:r>
          </a:p>
          <a:p>
            <a:r>
              <a:t>        "selected_model": "seasonal_naive_previous_year_same_month",</a:t>
            </a:r>
          </a:p>
          <a:p>
            <a:r>
              <a:t>        "baseline_test_mae": 2351.0,</a:t>
            </a:r>
          </a:p>
          <a:p>
            <a:r>
              <a:t>        "model_reliability": "seasonal_baseline",</a:t>
            </a:r>
          </a:p>
          <a:p>
            <a:r>
              <a:t>        "beats_baseline_on_test": false,</a:t>
            </a:r>
          </a:p>
          <a:p>
            <a:r>
              <a:t>        "recursive_horizons_worse_than_baseline": []</a:t>
            </a:r>
          </a:p>
          <a:p>
            <a:r>
              <a:t>      },</a:t>
            </a:r>
          </a:p>
          <a:p>
            <a:r>
              <a:t>      "navigation_searches": {</a:t>
            </a:r>
          </a:p>
          <a:p>
            <a:r>
              <a:t>        "test_mae": 32030.5,</a:t>
            </a:r>
          </a:p>
          <a:p>
            <a:r>
              <a:t>        "recursive_mae": {</a:t>
            </a:r>
          </a:p>
          <a:p>
            <a:r>
              <a:t>          "1": {</a:t>
            </a:r>
          </a:p>
          <a:p>
            <a:r>
              <a:t>            "baseline": 36449.0,</a:t>
            </a:r>
          </a:p>
          <a:p>
            <a:r>
              <a:t>            "selected": 36449.0,</a:t>
            </a:r>
          </a:p>
          <a:p>
            <a:r>
              <a:t>            "sample_count": 2</a:t>
            </a:r>
          </a:p>
          <a:p>
            <a:r>
              <a:t>          },</a:t>
            </a:r>
          </a:p>
          <a:p>
            <a:r>
              <a:t>          "2": {</a:t>
            </a:r>
          </a:p>
          <a:p>
            <a:r>
              <a:t>            "baseline": 36445.5,</a:t>
            </a:r>
          </a:p>
          <a:p>
            <a:r>
              <a:t>            "selected": 36445.5,</a:t>
            </a:r>
          </a:p>
          <a:p>
            <a:r>
              <a:t>            "sample_count": 2</a:t>
            </a:r>
          </a:p>
          <a:p>
            <a:r>
              <a:t>          },</a:t>
            </a:r>
          </a:p>
          <a:p>
            <a:r>
              <a:t>          "3": {</a:t>
            </a:r>
          </a:p>
          <a:p>
            <a:r>
              <a:t>            "baseline": 27612.0,</a:t>
            </a:r>
          </a:p>
          <a:p>
            <a:r>
              <a:t>            "selected": 27612.0,</a:t>
            </a:r>
          </a:p>
          <a:p>
            <a:r>
              <a:t>            "sample_count": 2</a:t>
            </a:r>
          </a:p>
          <a:p>
            <a:r>
              <a:t>          }</a:t>
            </a:r>
          </a:p>
          <a:p>
            <a:r>
              <a:t>        },</a:t>
            </a:r>
          </a:p>
          <a:p>
            <a:r>
              <a:t>        "selected_model": "seasonal_naive_previous_year_same_month",</a:t>
            </a:r>
          </a:p>
          <a:p>
            <a:r>
              <a:t>        "baseline_test_mae": 32030.5,</a:t>
            </a:r>
          </a:p>
          <a:p>
            <a:r>
              <a:t>        "model_reliability": "seasonal_baseline",</a:t>
            </a:r>
          </a:p>
          <a:p>
            <a:r>
              <a:t>        "beats_baseline_on_test": false,</a:t>
            </a:r>
          </a:p>
          <a:p>
            <a:r>
              <a:t>        "recursive_horizons_worse_than_baseline": []</a:t>
            </a:r>
          </a:p>
          <a:p>
            <a:r>
              <a:t>      }</a:t>
            </a:r>
          </a:p>
          <a:p>
            <a:r>
              <a:t>    },</a:t>
            </a:r>
          </a:p>
          <a:p>
            <a:r>
              <a:t>    "test_period": "202603~202606",</a:t>
            </a:r>
          </a:p>
          <a:p>
            <a:r>
              <a:t>    "selection_basis": "validation_mae_only",</a:t>
            </a:r>
          </a:p>
          <a:p>
            <a:r>
              <a:t>    "validation_period": "202512~202602",</a:t>
            </a:r>
          </a:p>
          <a:p>
            <a:r>
              <a:t>    "longer_horizon_status": "exploratory_not_recursively_backtested",</a:t>
            </a:r>
          </a:p>
          <a:p>
            <a:r>
              <a:t>    "forecast_horizon_months": 8,</a:t>
            </a:r>
          </a:p>
          <a:p>
            <a:r>
              <a:t>    "recursive_backtest_horizon_months": [</a:t>
            </a:r>
          </a:p>
          <a:p>
            <a:r>
              <a:t>      1,</a:t>
            </a:r>
          </a:p>
          <a:p>
            <a:r>
              <a:t>      2,</a:t>
            </a:r>
          </a:p>
          <a:p>
            <a:r>
              <a:t>      3</a:t>
            </a:r>
          </a:p>
          <a:p>
            <a:r>
              <a:t>    ]</a:t>
            </a:r>
          </a:p>
          <a:p>
            <a:r>
              <a:t>  },</a:t>
            </a:r>
          </a:p>
          <a:p>
            <a:r>
              <a:t>  "execution_scenario": {</a:t>
            </a:r>
          </a:p>
          <a:p>
            <a:r>
              <a:t>    "visitor_target_pct": 5.0,</a:t>
            </a:r>
          </a:p>
          <a:p>
            <a:r>
              <a:t>    "spending_target_pct": 5.0</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강진군의회 2024-11-20 시정연설: 10월 말 관광객 약 248만 명, 전년 대비 25% 증가. 전년 규모 역산: 248만÷1.25≈198.4만 명, 차이≈49.6만 명. 역산값은 별도 관측 원자료가 아니다. 반값여행과 축제의 동시기 실적이며 사업 단독 효과·ML 대비 증가율은 아니다. 강원특별자치도 춘천시은 초기 시범으로 최종월 방문 +5%를 제안한다(발표 증가율의 1/5를 선택한 기획 판단). 기본 소비 목표는 월별 소비/방문 비율을 추가 방문 수에 적용한 계획 가정이며 강진 소비 실적으로 계산한 값이 아니다. 방문 수가 0보다 큰 월은 ML 소비액÷ML 방문 수를 추가 방문 수에 곱한다. 같은 월의 두 증가율은 같으며, 이 비율은 실제 1인당 소비액이 아니다.</a:t>
            </a:r>
          </a:p>
          <a:p>
            <a:r>
              <a:t>https://clik.nanet.go.kr/minutes/viewer.do?DOCID=CLIKC3524169218564260&amp;collection=minutes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proposal_evidence.build_reference_estimate; idea_proposal.scale_estimate.</a:t>
            </a:r>
          </a:p>
          <a:p>
            <a:r>
              <a:t>{</a:t>
            </a:r>
          </a:p>
          <a:p>
            <a:r>
              <a:t>  "items": [</a:t>
            </a:r>
          </a:p>
          <a:p>
            <a:r>
              <a:t>    {</a:t>
            </a:r>
          </a:p>
          <a:p>
            <a:r>
              <a:t>      "name": "여행비 환급 지원",</a:t>
            </a:r>
          </a:p>
          <a:p>
            <a:r>
              <a:t>      "basis": "1,000건 × 50,000원",</a:t>
            </a:r>
          </a:p>
          <a:p>
            <a:r>
              <a:t>      "amount": 50000000</a:t>
            </a:r>
          </a:p>
          <a:p>
            <a:r>
              <a:t>    },</a:t>
            </a:r>
          </a:p>
          <a:p>
            <a:r>
              <a:t>    {</a:t>
            </a:r>
          </a:p>
          <a:p>
            <a:r>
              <a:t>      "name": "현장 운영·정산",</a:t>
            </a:r>
          </a:p>
          <a:p>
            <a:r>
              <a:t>      "basis": "60인일 × 150,000원",</a:t>
            </a:r>
          </a:p>
          <a:p>
            <a:r>
              <a:t>      "amount": 9000000</a:t>
            </a:r>
          </a:p>
          <a:p>
            <a:r>
              <a:t>    },</a:t>
            </a:r>
          </a:p>
          <a:p>
            <a:r>
              <a:t>    {</a:t>
            </a:r>
          </a:p>
          <a:p>
            <a:r>
              <a:t>      "name": "신청·증빙 시스템",</a:t>
            </a:r>
          </a:p>
          <a:p>
            <a:r>
              <a:t>      "basis": "기존 시스템 설정 1식 × 800만원",</a:t>
            </a:r>
          </a:p>
          <a:p>
            <a:r>
              <a:t>      "amount": 8000000</a:t>
            </a:r>
          </a:p>
          <a:p>
            <a:r>
              <a:t>    },</a:t>
            </a:r>
          </a:p>
          <a:p>
            <a:r>
              <a:t>    {</a:t>
            </a:r>
          </a:p>
          <a:p>
            <a:r>
              <a:t>      "name": "홍보·참여처 안내",</a:t>
            </a:r>
          </a:p>
          <a:p>
            <a:r>
              <a:t>      "basis": "콘텐츠·안내물 1식 × 500만원",</a:t>
            </a:r>
          </a:p>
          <a:p>
            <a:r>
              <a:t>      "amount": 5000000</a:t>
            </a:r>
          </a:p>
          <a:p>
            <a:r>
              <a:t>    },</a:t>
            </a:r>
          </a:p>
          <a:p>
            <a:r>
              <a:t>    {</a:t>
            </a:r>
          </a:p>
          <a:p>
            <a:r>
              <a:t>      "name": "성과 집계·검토",</a:t>
            </a:r>
          </a:p>
          <a:p>
            <a:r>
              <a:t>      "basis": "자료 정리·평가 1식 × 300만원",</a:t>
            </a:r>
          </a:p>
          <a:p>
            <a:r>
              <a:t>      "amount": 3000000</a:t>
            </a:r>
          </a:p>
          <a:p>
            <a:r>
              <a:t>    },</a:t>
            </a:r>
          </a:p>
          <a:p>
            <a:r>
              <a:t>    {</a:t>
            </a:r>
          </a:p>
          <a:p>
            <a:r>
              <a:t>      "name": "예비비",</a:t>
            </a:r>
          </a:p>
          <a:p>
            <a:r>
              <a:t>      "basis": "직접비 7,500만원 × 10%",</a:t>
            </a:r>
          </a:p>
          <a:p>
            <a:r>
              <a:t>      "amount": 7500000</a:t>
            </a:r>
          </a:p>
          <a:p>
            <a:r>
              <a:t>    }</a:t>
            </a:r>
          </a:p>
          <a:p>
            <a:r>
              <a:t>  ],</a:t>
            </a:r>
          </a:p>
          <a:p>
            <a:r>
              <a:t>  "months": 3,</a:t>
            </a:r>
          </a:p>
          <a:p>
            <a:r>
              <a:t>  "refund": true,</a:t>
            </a:r>
          </a:p>
          <a:p>
            <a:r>
              <a:t>  "status": "planning_assumption_not_quote",</a:t>
            </a:r>
          </a:p>
          <a:p>
            <a:r>
              <a:t>  "sources": [</a:t>
            </a:r>
          </a:p>
          <a:p>
            <a:r>
              <a:t>    {</a:t>
            </a:r>
          </a:p>
          <a:p>
            <a:r>
              <a:t>      "title": "강진군 반값여행 공식 신청·정산 조건",</a:t>
            </a:r>
          </a:p>
          <a:p>
            <a:r>
              <a:t>      "summary": "일반 관광객 여행비 50% 상품권 환급. 개인 최대 10만원·팀 최대 20만원. 원주 효과나 공급업체 단가의 근거는 아님.",</a:t>
            </a:r>
          </a:p>
          <a:p>
            <a:r>
              <a:t>      "source_id": "estimate:gangjin-refund-rules:20260905",</a:t>
            </a:r>
          </a:p>
          <a:p>
            <a:r>
              <a:t>      "source_url": "https://www.gangjintour.com/advance/advance_req.html",</a:t>
            </a:r>
          </a:p>
          <a:p>
            <a:r>
              <a:t>      "accessed_at": "2026-09-05",</a:t>
            </a:r>
          </a:p>
          <a:p>
            <a:r>
              <a:t>      "source_type": "budget_reference"</a:t>
            </a:r>
          </a:p>
          <a:p>
            <a:r>
              <a:t>    }</a:t>
            </a:r>
          </a:p>
          <a:p>
            <a:r>
              <a:t>  ],</a:t>
            </a:r>
          </a:p>
          <a:p>
            <a:r>
              <a:t>  "version": "reference-estimate-v1",</a:t>
            </a:r>
          </a:p>
          <a:p>
            <a:r>
              <a:t>  "quantity": 1000,</a:t>
            </a:r>
          </a:p>
          <a:p>
            <a:r>
              <a:t>  "unit_krw": 50000,</a:t>
            </a:r>
          </a:p>
          <a:p>
            <a:r>
              <a:t>  "total_krw": 82500000,</a:t>
            </a:r>
          </a:p>
          <a:p>
            <a:r>
              <a:t>  "assumptions": [</a:t>
            </a:r>
          </a:p>
          <a:p>
            <a:r>
              <a:t>    "전 항목은 기획용 가정 단가이며 확정 견적·공식 표준단가가 아닙니다.",</a:t>
            </a:r>
          </a:p>
          <a:p>
            <a:r>
              <a:t>    "인력 15만원/인일은 현장 용역 예산 가정입니다. 근로계약 임금 산정값이 아닙니다.",</a:t>
            </a:r>
          </a:p>
          <a:p>
            <a:r>
              <a:t>    "시스템은 기존 신청·정산 수단의 설정·운영 범위입니다. 신규 앱·키오스크 구축비는 제외합니다.",</a:t>
            </a:r>
          </a:p>
          <a:p>
            <a:r>
              <a:t>    "용역비는 세금 포함 예산 한도로 가정합니다. 환급금 과세·수수료·계약조건은 착수 전 확인합니다.",</a:t>
            </a:r>
          </a:p>
          <a:p>
            <a:r>
              <a:t>    "지원 건수·평균 지원액·80% 후속 사용 목표는 운영 제안이며 관측값 또는 ML 산출값이 아닙니다."</a:t>
            </a:r>
          </a:p>
          <a:p>
            <a:r>
              <a:t>  ],</a:t>
            </a:r>
          </a:p>
          <a:p>
            <a:r>
              <a:t>  "reserve_krw": 7500000,</a:t>
            </a:r>
          </a:p>
          <a:p>
            <a:r>
              <a:t>  "subtotal_krw": 75000000,</a:t>
            </a:r>
          </a:p>
          <a:p>
            <a:r>
              <a:t>  "redemption_count": 800,</a:t>
            </a:r>
          </a:p>
          <a:p>
            <a:r>
              <a:t>  "within_hard_budget": true,</a:t>
            </a:r>
          </a:p>
          <a:p>
            <a:r>
              <a:t>  "qualifying_spend_krw": 100000000,</a:t>
            </a:r>
          </a:p>
          <a:p>
            <a:r>
              <a:t>  "redemption_target_pct": 80</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dataset:51110:1 | 한국관광 데이터랩 · 강원특별자치도 춘천시 순 방문자 수 및 숙박 비율 (이동통신 기반 외지인) | https://datalab.visitkorea.or.kr/</a:t>
            </a:r>
          </a:p>
          <a:p xmlns:a="http://schemas.openxmlformats.org/drawingml/2006/main">
            <a:r>
              <a:t>dataset:51110:2 | 한국관광 데이터랩 · 강원특별자치도 춘천시 월간 순 방문자 수 (이동통신 기반 외지인) | https://datalab.visitkorea.or.kr/</a:t>
            </a:r>
          </a:p>
          <a:p xmlns:a="http://schemas.openxmlformats.org/drawingml/2006/main">
            <a:r>
              <a:t>dataset:51110:3 | 한국관광 데이터랩 · 강원특별자치도 춘천시 관광소비 추이_외지인 | https://datalab.visitkorea.or.kr/</a:t>
            </a:r>
          </a:p>
          <a:p xmlns:a="http://schemas.openxmlformats.org/drawingml/2006/main">
            <a:r>
              <a:t>dataset:51110:4 | 한국관광 데이터랩 · 강원특별자치도 춘천시 숙박방문자 비율 추이 (이동통신 기반 외지인) | https://datalab.visitkorea.or.kr/</a:t>
            </a:r>
          </a:p>
          <a:p xmlns:a="http://schemas.openxmlformats.org/drawingml/2006/main">
            <a:r>
              <a:t>dataset:51110:5 | 한국관광 데이터랩 · 강원특별자치도 춘천시 평균 숙박일 (이동통신 기반 외지인) | https://datalab.visitkorea.or.kr/</a:t>
            </a:r>
          </a:p>
          <a:p xmlns:a="http://schemas.openxmlformats.org/drawingml/2006/main">
            <a:r>
              <a:t>dataset:51110:6 | 한국관광 데이터랩 · 강원특별자치도 춘천시 내비게이션 목적지 유형별 검색량 | https://datalab.visitkorea.or.kr/</a:t>
            </a:r>
          </a:p>
          <a:p xmlns:a="http://schemas.openxmlformats.org/drawingml/2006/main">
            <a:r>
              <a:t>dataset:51110:7 | 한국관광 데이터랩 · 강원특별자치도 춘천시 SNS 언급량 | https://datalab.visitkorea.or.kr/</a:t>
            </a:r>
          </a:p>
          <a:p xmlns:a="http://schemas.openxmlformats.org/drawingml/2006/main">
            <a:r>
              <a:t>datalab:2343c3bc93bf:81205be51a1a | 한국관광 데이터랩 공식 다운로드 · 강원특별자치도_춘천시/숙박_체류시간/2026_01_06.zip | https://datalab.visitkorea.or.kr/</a:t>
            </a:r>
          </a:p>
          <a:p xmlns:a="http://schemas.openxmlformats.org/drawingml/2006/main">
            <a:r>
              <a:t>datalab:73a88f6fd74b:dc735676b7f4 | 한국관광 데이터랩 공식 다운로드 · 강원특별자치도_춘천시/숙박_체류시간/2025_01_12.zip | https://datalab.visitkorea.or.kr/</a:t>
            </a:r>
          </a:p>
          <a:p xmlns:a="http://schemas.openxmlformats.org/drawingml/2006/main">
            <a:r>
              <a:t>datalab:77438b77a948:7f25647aea7e | 한국관광 데이터랩 공식 다운로드 · 강원특별자치도_춘천시/관광소비/2026_01_06.zip | https://datalab.visitkorea.or.kr/</a:t>
            </a:r>
          </a:p>
          <a:p xmlns:a="http://schemas.openxmlformats.org/drawingml/2006/main">
            <a:r>
              <a:t>datalab:9642314b6e5e:34e60387985e | 한국관광 데이터랩 공식 다운로드 · 강원특별자치도_춘천시/관광소비/2025_01_12.zip | https://datalab.visitkorea.or.kr/</a:t>
            </a:r>
          </a:p>
          <a:p xmlns:a="http://schemas.openxmlformats.org/drawingml/2006/main">
            <a:r>
              <a:t>datalab:ae4e45e46741:2689769fc6ce | 한국관광 데이터랩 공식 다운로드 · 강원특별자치도_춘천시/방문자/2026_01_06.zip | https://datalab.visitkorea.or.kr/</a:t>
            </a:r>
          </a:p>
          <a:p xmlns:a="http://schemas.openxmlformats.org/drawingml/2006/main">
            <a:r>
              <a:t>datalab:e1ae014de0aa:877807c4ab51 | 한국관광 데이터랩 공식 다운로드 · 강원특별자치도_춘천시/방문자/2025_01_12.zip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regional-status:4a7789e925d5:55e3be9aa0cd | 한국관광 데이터랩 지역별 관광 현황 · 강원특별자치도 춘천시 · 유입유출 | https://datalab.visitkorea.or.kr/</a:t>
            </a:r>
          </a:p>
          <a:p xmlns:a="http://schemas.openxmlformats.org/drawingml/2006/main">
            <a:r>
              <a:t>regional-status:61a9d2d6b099:8676c55ce1a7 | 한국관광 데이터랩 지역별 관광 현황 · 강원특별자치도 춘천시 · 인기관광지 | https://datalab.visitkorea.or.kr/</a:t>
            </a:r>
          </a:p>
          <a:p xmlns:a="http://schemas.openxmlformats.org/drawingml/2006/main">
            <a:r>
              <a:t>regional-status:b3fe66c3af97:a10ce860bf9f | 한국관광 데이터랩 지역별 관광 현황 · 강원특별자치도 춘천시 · 지역집중률 | https://datalab.visitkorea.or.kr/</a:t>
            </a:r>
          </a:p>
          <a:p xmlns:a="http://schemas.openxmlformats.org/drawingml/2006/main">
            <a:r>
              <a:t>ml:51110:regional-demand-v3.1:202606 | 지역 관광수요 ML 전망 · 공식 관측값 아님 | URL 미기록</a:t>
            </a:r>
          </a:p>
          <a:p xmlns:a="http://schemas.openxmlformats.org/drawingml/2006/main">
            <a:r>
              <a:t>tour-api:2891703 | 가보자순대국 | https://apis.data.go.kr/B551011/KorService2</a:t>
            </a:r>
          </a:p>
          <a:p xmlns:a="http://schemas.openxmlformats.org/drawingml/2006/main">
            <a:r>
              <a:t>tour-api:3083085 | 가평1등수상레저 | https://apis.data.go.kr/B551011/KorService2</a:t>
            </a:r>
          </a:p>
          <a:p xmlns:a="http://schemas.openxmlformats.org/drawingml/2006/main">
            <a:r>
              <a:t>tour-api:128778 | 강원 경찰충혼탑 | https://apis.data.go.kr/B551011/KorService2</a:t>
            </a:r>
          </a:p>
          <a:p xmlns:a="http://schemas.openxmlformats.org/drawingml/2006/main">
            <a:r>
              <a:t>tour-api:129840 | 강원대학교중앙박물관 | https://apis.data.go.kr/B551011/KorService2</a:t>
            </a:r>
          </a:p>
          <a:p xmlns:a="http://schemas.openxmlformats.org/drawingml/2006/main">
            <a:r>
              <a:t>tour-api:2610850 | 강원숲체험장 | https://apis.data.go.kr/B551011/KorService2</a:t>
            </a:r>
          </a:p>
          <a:p xmlns:a="http://schemas.openxmlformats.org/drawingml/2006/main">
            <a:r>
              <a:t>tour-api:131456 | 강원특별자치도청소년수련원 | https://apis.data.go.kr/B551011/KorService2</a:t>
            </a:r>
          </a:p>
          <a:p xmlns:a="http://schemas.openxmlformats.org/drawingml/2006/main">
            <a:r>
              <a:t>tour-api:2706334 | 강촌 출렁다리공원 | https://apis.data.go.kr/B551011/KorService2</a:t>
            </a:r>
          </a:p>
          <a:p xmlns:a="http://schemas.openxmlformats.org/drawingml/2006/main">
            <a:r>
              <a:t>tour-api:1947118 | 강촌레일파크(김유정레일바이크) | https://apis.data.go.kr/B551011/KorService2</a:t>
            </a:r>
          </a:p>
          <a:p xmlns:a="http://schemas.openxmlformats.org/drawingml/2006/main">
            <a:r>
              <a:t>tour-api:2759582 | 강촌버즈글램핑 | https://apis.data.go.kr/B551011/KorService2</a:t>
            </a:r>
          </a:p>
          <a:p xmlns:a="http://schemas.openxmlformats.org/drawingml/2006/main">
            <a:r>
              <a:t>tour-api:125605 | 강촌유원지 | https://apis.data.go.kr/B551011/KorService2</a:t>
            </a:r>
          </a:p>
          <a:p xmlns:a="http://schemas.openxmlformats.org/drawingml/2006/main">
            <a:r>
              <a:t>tour-api:2741528 | 강촌하늘아래글램핑 | https://apis.data.go.kr/B551011/KorService2</a:t>
            </a:r>
          </a:p>
          <a:p xmlns:a="http://schemas.openxmlformats.org/drawingml/2006/main">
            <a:r>
              <a:t>tour-api:391742 | 경강막국수 | https://apis.data.go.kr/B551011/KorService2</a:t>
            </a:r>
          </a:p>
          <a:p xmlns:a="http://schemas.openxmlformats.org/drawingml/2006/main">
            <a:r>
              <a:t>tour-api:2558052 | 고목 | https://apis.data.go.kr/B551011/KorService2</a:t>
            </a:r>
          </a:p>
          <a:p xmlns:a="http://schemas.openxmlformats.org/drawingml/2006/main">
            <a:r>
              <a:t>tour-api:129004 | 공지천 조각공원 | https://apis.data.go.kr/B551011/KorService2</a:t>
            </a:r>
          </a:p>
          <a:p xmlns:a="http://schemas.openxmlformats.org/drawingml/2006/main">
            <a:r>
              <a:t>tour-api:2792017 | 구곡폭포 국민여가 캠핑장 | https://apis.data.go.kr/B551011/KorService2</a:t>
            </a:r>
          </a:p>
          <a:p xmlns:a="http://schemas.openxmlformats.org/drawingml/2006/main">
            <a:r>
              <a:t>tour-api:2714558 | 구봉산 | https://apis.data.go.kr/B551011/KorService2</a:t>
            </a:r>
          </a:p>
          <a:p xmlns:a="http://schemas.openxmlformats.org/drawingml/2006/main">
            <a:r>
              <a:t>tour-api:407225 | 국립 용화산자연휴양림 | https://apis.data.go.kr/B551011/KorService2</a:t>
            </a:r>
          </a:p>
          <a:p xmlns:a="http://schemas.openxmlformats.org/drawingml/2006/main">
            <a:r>
              <a:t>tour-api:2710587 | 국립춘천숲체원 | https://apis.data.go.kr/B551011/KorService2</a:t>
            </a:r>
          </a:p>
          <a:p xmlns:a="http://schemas.openxmlformats.org/drawingml/2006/main">
            <a:r>
              <a:t>tour-api:2774528 | 군자숯불닭갈비 | https://apis.data.go.kr/B551011/KorService2</a:t>
            </a:r>
          </a:p>
          <a:p xmlns:a="http://schemas.openxmlformats.org/drawingml/2006/main">
            <a:r>
              <a:t>tour-api:2710596 | 근화동396청년창업공간 | https://apis.data.go.kr/B551011/KorService2</a:t>
            </a:r>
          </a:p>
          <a:p xmlns:a="http://schemas.openxmlformats.org/drawingml/2006/main">
            <a:r>
              <a:t>reference:kto:2026:local-airport | 요즘, 한국관광 2호 - 지방공항 연계 지역관광 활성화 방안 | PDF 44쪽, PDF 43쪽, PDF 38쪽, PDF 40쪽, PDF 41쪽, PDF 36쪽, PDF 41쪽, PDF 44쪽, PDF 43쪽, PDF 43쪽 | https://datalab.visitkorea.or.kr/site/portal/ex/bbs/View.do?bcIdx=311068&amp;cbIdx=1135&amp;pageIndex=1</a:t>
            </a:r>
          </a:p>
          <a:p xmlns:a="http://schemas.openxmlformats.org/drawingml/2006/main">
            <a:r>
              <a:t>case:jeonju_night_budget_2026 | 전주시 2026년도 관광산업과 세출예산 사업명세서 | https://jeonju.go.kr/resource/www/images/download/budget/2026/2026_31_2.pdf</a:t>
            </a:r>
          </a:p>
          <a:p xmlns:a="http://schemas.openxmlformats.org/drawingml/2006/main">
            <a:r>
              <a:t>case:291a33370ec9b1 | 섬에서의 특별한 경험, ‘인천 섬 도도하게 살아보기’로 누린다 | https://www.incheon.go.kr/mayor_8/MA040101/view?curPage=236&amp;repSeq=DOM_0000000010488055</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a:p xmlns:a="http://schemas.openxmlformats.org/drawingml/2006/main">
            <a:r>
              <a:t>[Calculation audit]</a:t>
            </a:r>
          </a:p>
          <a:p xmlns:a="http://schemas.openxmlformats.org/drawingml/2006/main">
            <a:r>
              <a:t>{</a:t>
            </a:r>
          </a:p>
          <a:p xmlns:a="http://schemas.openxmlformats.org/drawingml/2006/main">
            <a:r>
              <a:t>  "source_inventory": [</a:t>
            </a:r>
          </a:p>
          <a:p xmlns:a="http://schemas.openxmlformats.org/drawingml/2006/main">
            <a:r>
              <a:t>    {</a:t>
            </a:r>
          </a:p>
          <a:p xmlns:a="http://schemas.openxmlformats.org/drawingml/2006/main">
            <a:r>
              <a:t>      "title": "한국관광 데이터랩 · 강원특별자치도 춘천시 순 방문자 수 및 숙박 비율 (이동통신 기반 외지인)",</a:t>
            </a:r>
          </a:p>
          <a:p xmlns:a="http://schemas.openxmlformats.org/drawingml/2006/main">
            <a:r>
              <a:t>      "summary": "월간 순 방문자 수: 1,873,282명 (관측 기준월: 2026-06)",</a:t>
            </a:r>
          </a:p>
          <a:p xmlns:a="http://schemas.openxmlformats.org/drawingml/2006/main">
            <a:r>
              <a:t>      "source_id": "dataset:51110:1",</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강원특별자치도 춘천시 월간 순 방문자 수 (이동통신 기반 외지인)",</a:t>
            </a:r>
          </a:p>
          <a:p xmlns:a="http://schemas.openxmlformats.org/drawingml/2006/main">
            <a:r>
              <a:t>      "summary": "전년동월 외지인 방문자 증감률: -8.1% (관측 기준월: 2026-06)",</a:t>
            </a:r>
          </a:p>
          <a:p xmlns:a="http://schemas.openxmlformats.org/drawingml/2006/main">
            <a:r>
              <a:t>      "source_id": "dataset:51110:2",</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강원특별자치도 춘천시 관광소비 추이_외지인",</a:t>
            </a:r>
          </a:p>
          <a:p xmlns:a="http://schemas.openxmlformats.org/drawingml/2006/main">
            <a:r>
              <a:t>      "summary": "월간 외지인 관광소비 총액: 51,352,814,000원 (관측 기준월: 2026-06)",</a:t>
            </a:r>
          </a:p>
          <a:p xmlns:a="http://schemas.openxmlformats.org/drawingml/2006/main">
            <a:r>
              <a:t>      "source_id": "dataset:51110:3",</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강원특별자치도 춘천시 숙박방문자 비율 추이 (이동통신 기반 외지인)",</a:t>
            </a:r>
          </a:p>
          <a:p xmlns:a="http://schemas.openxmlformats.org/drawingml/2006/main">
            <a:r>
              <a:t>      "summary": "외지인 숙박 방문 비율: 14.1% (관측 기준월: 2026-06)",</a:t>
            </a:r>
          </a:p>
          <a:p xmlns:a="http://schemas.openxmlformats.org/drawingml/2006/main">
            <a:r>
              <a:t>      "source_id": "dataset:51110:4",</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강원특별자치도 춘천시 평균 숙박일 (이동통신 기반 외지인)",</a:t>
            </a:r>
          </a:p>
          <a:p xmlns:a="http://schemas.openxmlformats.org/drawingml/2006/main">
            <a:r>
              <a:t>      "summary": "외지인 평균 숙박일수: 2.61일 (관측 기준월: 2026-06)",</a:t>
            </a:r>
          </a:p>
          <a:p xmlns:a="http://schemas.openxmlformats.org/drawingml/2006/main">
            <a:r>
              <a:t>      "source_id": "dataset:51110:5",</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강원특별자치도 춘천시 내비게이션 목적지 유형별 검색량",</a:t>
            </a:r>
          </a:p>
          <a:p xmlns:a="http://schemas.openxmlformats.org/drawingml/2006/main">
            <a:r>
              <a:t>      "summary": "내비게이션 목적지 검색량: 322,791건 (관측 기준월: 2026-06)",</a:t>
            </a:r>
          </a:p>
          <a:p xmlns:a="http://schemas.openxmlformats.org/drawingml/2006/main">
            <a:r>
              <a:t>      "source_id": "dataset:51110:6",</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강원특별자치도 춘천시 SNS 언급량",</a:t>
            </a:r>
          </a:p>
          <a:p xmlns:a="http://schemas.openxmlformats.org/drawingml/2006/main">
            <a:r>
              <a:t>      "summary": "SNS 언급량: 46,739건 (관측 기준월: 2026-06)",</a:t>
            </a:r>
          </a:p>
          <a:p xmlns:a="http://schemas.openxmlformats.org/drawingml/2006/main">
            <a:r>
              <a:t>      "source_id": "dataset:51110:7",</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공식 다운로드 · 강원특별자치도_춘천시/숙박_체류시간/2026_01_06.zip",</a:t>
            </a:r>
          </a:p>
          <a:p xmlns:a="http://schemas.openxmlformats.org/drawingml/2006/main">
            <a:r>
              <a:t>      "summary": "전국 비교 기준 기간: 2025-07 ~ 2026-06",</a:t>
            </a:r>
          </a:p>
          <a:p xmlns:a="http://schemas.openxmlformats.org/drawingml/2006/main">
            <a:r>
              <a:t>      "source_id": "datalab:2343c3bc93bf:81205be51a1a",</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강원특별자치도_춘천시/숙박_체류시간/2025_01_12.zip",</a:t>
            </a:r>
          </a:p>
          <a:p xmlns:a="http://schemas.openxmlformats.org/drawingml/2006/main">
            <a:r>
              <a:t>      "summary": "전국 비교 기준 기간: 2025-07 ~ 2026-06",</a:t>
            </a:r>
          </a:p>
          <a:p xmlns:a="http://schemas.openxmlformats.org/drawingml/2006/main">
            <a:r>
              <a:t>      "source_id": "datalab:73a88f6fd74b:dc735676b7f4",</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강원특별자치도_춘천시/관광소비/2026_01_06.zip",</a:t>
            </a:r>
          </a:p>
          <a:p xmlns:a="http://schemas.openxmlformats.org/drawingml/2006/main">
            <a:r>
              <a:t>      "summary": "전국 비교 기준 기간: 2025-07 ~ 2026-06",</a:t>
            </a:r>
          </a:p>
          <a:p xmlns:a="http://schemas.openxmlformats.org/drawingml/2006/main">
            <a:r>
              <a:t>      "source_id": "datalab:77438b77a948:7f25647aea7e",</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강원특별자치도_춘천시/관광소비/2025_01_12.zip",</a:t>
            </a:r>
          </a:p>
          <a:p xmlns:a="http://schemas.openxmlformats.org/drawingml/2006/main">
            <a:r>
              <a:t>      "summary": "전국 비교 기준 기간: 2025-07 ~ 2026-06",</a:t>
            </a:r>
          </a:p>
          <a:p xmlns:a="http://schemas.openxmlformats.org/drawingml/2006/main">
            <a:r>
              <a:t>      "source_id": "datalab:9642314b6e5e:34e60387985e",</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강원특별자치도_춘천시/방문자/2026_01_06.zip",</a:t>
            </a:r>
          </a:p>
          <a:p xmlns:a="http://schemas.openxmlformats.org/drawingml/2006/main">
            <a:r>
              <a:t>      "summary": "전국 비교 기준 기간: 2025-07 ~ 2026-06",</a:t>
            </a:r>
          </a:p>
          <a:p xmlns:a="http://schemas.openxmlformats.org/drawingml/2006/main">
            <a:r>
              <a:t>      "source_id": "datalab:ae4e45e46741:2689769fc6ce",</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강원특별자치도_춘천시/방문자/2025_01_12.zip",</a:t>
            </a:r>
          </a:p>
          <a:p xmlns:a="http://schemas.openxmlformats.org/drawingml/2006/main">
            <a:r>
              <a:t>      "summary": "전국 비교 기준 기간: 2025-07 ~ 2026-06",</a:t>
            </a:r>
          </a:p>
          <a:p xmlns:a="http://schemas.openxmlformats.org/drawingml/2006/main">
            <a:r>
              <a:t>      "source_id": "datalab:e1ae014de0aa:877807c4ab51",</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이동통신/내국인/지역별 방문자수/20260820140607__202601-202606_데이터랩_다운로드.zip",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"team-bigdata:23ea68053684:6bfbcf8aabf6",</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이동통신/외국인/20260820141710_전국_202601-202606_데이터랩_다운로드.zip",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"team-bigdata:98d4ae590d9a:3be52dd54323",</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신용카드/내국인/지역별 관광지출액/20260820140046__202601-202606_데이터랩_다운로드.zip",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"team-bigdata:367cd0294ec4:873930d645e5",</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신용카드/외국인/지역별 관광지출액/20260820140355__202601-202606_데이터랩_다운로드.zip",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"team-bigdata:553a0dad4bb4:5a31355dffe8",</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네비게이션/지역별 검색건수/20260820195507__202601-202606_데이터랩_다운로드.zip",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"team-bigdata:a53dbe1c21df:77a052de41d5",</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이동통신/내국인/지역별 방문자수/20260820140614__202501-202512_데이터랩_다운로드.zip",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"team-bigdata:823a38d1d61c:5385261d02e5",</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이동통신/외국인/20260820141649_전국_202501-202512_데이터랩_다운로드.zip",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"team-bigdata:2723bdb0d589:1666a34058ed",</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신용카드/내국인/지역별 관광지출액/20260820135957__202501-202512_데이터랩_다운로드.zip",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"team-bigdata:83177a234971:c02cb7972e0f",</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신용카드/외국인/지역별 관광지출액/20260820140409__202501-202512_데이터랩_다운로드.zip",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"team-bigdata:58ded7732251:589c76395cbc",</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네비게이션/지역별 검색건수/20260820132007__202501-202512_데이터랩_다운로드.zip",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"team-bigdata:e28c947cb52f:bb4cb344a6ba",</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이동통신/내국인/지역별 방문자수/20260820140624__202401-202412_데이터랩_다운로드.zip",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"team-bigdata:8815bbb11a39:1a5988f5f8ec",</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이동통신/외국인/20260820141639_전국_202401-202412_데이터랩_다운로드.zip",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"team-bigdata:19fd67fbb73d:afa4f0f54a2f",</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지역별 관광 현황 · 강원특별자치도 춘천시 · 유입유출",</a:t>
            </a:r>
          </a:p>
          <a:p xmlns:a="http://schemas.openxmlformats.org/drawingml/2006/main">
            <a:r>
              <a:t>      "summary": "관측 기간: 2025-07 ~ 2026-06. 유입·유출·인기장소 또는 30일 집중 운영 신호.",</a:t>
            </a:r>
          </a:p>
          <a:p xmlns:a="http://schemas.openxmlformats.org/drawingml/2006/main">
            <a:r>
              <a:t>      "source_id": "regional-status:4a7789e925d5:55e3be9aa0cd",</a:t>
            </a:r>
          </a:p>
          <a:p xmlns:a="http://schemas.openxmlformats.org/drawingml/2006/main">
            <a:r>
              <a:t>      "source_url": "https://datalab.visitkorea.or.kr/",</a:t>
            </a:r>
          </a:p>
          <a:p xmlns:a="http://schemas.openxmlformats.org/drawingml/2006/main">
            <a:r>
              <a:t>      "source_type": "regional_tourism_status",</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지역별 관광 현황 · 강원특별자치도 춘천시 · 인기관광지",</a:t>
            </a:r>
          </a:p>
          <a:p xmlns:a="http://schemas.openxmlformats.org/drawingml/2006/main">
            <a:r>
              <a:t>      "summary": "관측 기간: 2025-07 ~ 2026-06. 유입·유출·인기장소 또는 30일 집중 운영 신호.",</a:t>
            </a:r>
          </a:p>
          <a:p xmlns:a="http://schemas.openxmlformats.org/drawingml/2006/main">
            <a:r>
              <a:t>      "source_id": "regional-status:61a9d2d6b099:8676c55ce1a7",</a:t>
            </a:r>
          </a:p>
          <a:p xmlns:a="http://schemas.openxmlformats.org/drawingml/2006/main">
            <a:r>
              <a:t>      "source_url": "https://datalab.visitkorea.or.kr/",</a:t>
            </a:r>
          </a:p>
          <a:p xmlns:a="http://schemas.openxmlformats.org/drawingml/2006/main">
            <a:r>
              <a:t>      "source_type": "regional_tourism_status",</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지역별 관광 현황 · 강원특별자치도 춘천시 · 지역집중률",</a:t>
            </a:r>
          </a:p>
          <a:p xmlns:a="http://schemas.openxmlformats.org/drawingml/2006/main">
            <a:r>
              <a:t>      "summary": "관측 기간: 2025-07 ~ 2026-06. 유입·유출·인기장소 또는 30일 집중 운영 신호.",</a:t>
            </a:r>
          </a:p>
          <a:p xmlns:a="http://schemas.openxmlformats.org/drawingml/2006/main">
            <a:r>
              <a:t>      "source_id": "regional-status:b3fe66c3af97:a10ce860bf9f",</a:t>
            </a:r>
          </a:p>
          <a:p xmlns:a="http://schemas.openxmlformats.org/drawingml/2006/main">
            <a:r>
              <a:t>      "source_url": "https://datalab.visitkorea.or.kr/",</a:t>
            </a:r>
          </a:p>
          <a:p xmlns:a="http://schemas.openxmlformats.org/drawingml/2006/main">
            <a:r>
              <a:t>      "source_type": "regional_tourism_status",</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"지역 관광수요 ML 전망 · 공식 관측값 아님",</a:t>
            </a:r>
          </a:p>
          <a:p xmlns:a="http://schemas.openxmlformats.org/drawingml/2006/main">
            <a:r>
              <a:t>      "summary": "학습 202401~202606 · 모델 regional-demand-v3.1 · 자연 추세 예측",</a:t>
            </a:r>
          </a:p>
          <a:p xmlns:a="http://schemas.openxmlformats.org/drawingml/2006/main">
            <a:r>
              <a:t>      "source_id": "ml:51110:regional-demand-v3.1:202606",</a:t>
            </a:r>
          </a:p>
          <a:p xmlns:a="http://schemas.openxmlformats.org/drawingml/2006/main">
            <a:r>
              <a:t>      "source_url": "",</a:t>
            </a:r>
          </a:p>
          <a:p xmlns:a="http://schemas.openxmlformats.org/drawingml/2006/main">
            <a:r>
              <a:t>      "source_type": "model_forecast",</a:t>
            </a:r>
          </a:p>
          <a:p xmlns:a="http://schemas.openxmlformats.org/drawingml/2006/main">
            <a:r>
              <a:t>      "model_version": "regional-demand-v3.1",</a:t>
            </a:r>
          </a:p>
          <a:p xmlns:a="http://schemas.openxmlformats.org/drawingml/2006/main">
            <a:r>
              <a:t>      "data_fingerprint": "b54445dc6e4c68c2130c72df908d376d3e7b474c59a1e83c7607f206257cf12c"</a:t>
            </a:r>
          </a:p>
          <a:p xmlns:a="http://schemas.openxmlformats.org/drawingml/2006/main">
            <a:r>
              <a:t>    },</a:t>
            </a:r>
          </a:p>
          <a:p xmlns:a="http://schemas.openxmlformats.org/drawingml/2006/main">
            <a:r>
              <a:t>    {</a:t>
            </a:r>
          </a:p>
          <a:p xmlns:a="http://schemas.openxmlformats.org/drawingml/2006/main">
            <a:r>
              <a:t>      "title": "가보자순대국",</a:t>
            </a:r>
          </a:p>
          <a:p xmlns:a="http://schemas.openxmlformats.org/drawingml/2006/main">
            <a:r>
              <a:t>      "address": "강원특별자치도 춘천시 율문2길 11",</a:t>
            </a:r>
          </a:p>
          <a:p xmlns:a="http://schemas.openxmlformats.org/drawingml/2006/main">
            <a:r>
              <a:t>      "summary": "한국관광공사 국문관광정보 API가 반환한 선택 지역 관광자원",</a:t>
            </a:r>
          </a:p>
          <a:p xmlns:a="http://schemas.openxmlformats.org/drawingml/2006/main">
            <a:r>
              <a:t>      "image_url": "http://tong.visitkorea.or.kr/cms/resource/95/2891695_image2_1.jpg",</a:t>
            </a:r>
          </a:p>
          <a:p xmlns:a="http://schemas.openxmlformats.org/drawingml/2006/main">
            <a:r>
              <a:t>      "source_id": "tour-api:2891703",</a:t>
            </a:r>
          </a:p>
          <a:p xmlns:a="http://schemas.openxmlformats.org/drawingml/2006/main">
            <a:r>
              <a:t>      "content_id": "2891703",</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"가평1등수상레저",</a:t>
            </a:r>
          </a:p>
          <a:p xmlns:a="http://schemas.openxmlformats.org/drawingml/2006/main">
            <a:r>
              <a:t>      "address": "강원특별자치도 춘천시 남면 박암관천길 511-55",</a:t>
            </a:r>
          </a:p>
          <a:p xmlns:a="http://schemas.openxmlformats.org/drawingml/2006/main">
            <a:r>
              <a:t>      "summary": "한국관광공사 국문관광정보 API가 반환한 선택 지역 관광자원",</a:t>
            </a:r>
          </a:p>
          <a:p xmlns:a="http://schemas.openxmlformats.org/drawingml/2006/main">
            <a:r>
              <a:t>      "image_url": "http://tong.visitkorea.or.kr/cms/resource/64/3083064_image2_1.jpg",</a:t>
            </a:r>
          </a:p>
          <a:p xmlns:a="http://schemas.openxmlformats.org/drawingml/2006/main">
            <a:r>
              <a:t>      "source_id": "tour-api:3083085",</a:t>
            </a:r>
          </a:p>
          <a:p xmlns:a="http://schemas.openxmlformats.org/drawingml/2006/main">
            <a:r>
              <a:t>      "content_id": "3083085",</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"28"</a:t>
            </a:r>
          </a:p>
          <a:p xmlns:a="http://schemas.openxmlformats.org/drawingml/2006/main">
            <a:r>
              <a:t>    },</a:t>
            </a:r>
          </a:p>
          <a:p xmlns:a="http://schemas.openxmlformats.org/drawingml/2006/main">
            <a:r>
              <a:t>    {</a:t>
            </a:r>
          </a:p>
          <a:p xmlns:a="http://schemas.openxmlformats.org/drawingml/2006/main">
            <a:r>
              <a:t>      "title": "강원 경찰충혼탑",</a:t>
            </a:r>
          </a:p>
          <a:p xmlns:a="http://schemas.openxmlformats.org/drawingml/2006/main">
            <a:r>
              <a:t>      "address": "강원특별자치도 춘천시 서면 신매리",</a:t>
            </a:r>
          </a:p>
          <a:p xmlns:a="http://schemas.openxmlformats.org/drawingml/2006/main">
            <a:r>
              <a:t>      "summary": "한국관광공사 국문관광정보 API가 반환한 선택 지역 관광자원",</a:t>
            </a:r>
          </a:p>
          <a:p xmlns:a="http://schemas.openxmlformats.org/drawingml/2006/main">
            <a:r>
              <a:t>      "image_url": "http://tong.visitkorea.or.kr/cms/resource/36/3381636_image2_1.JPG",</a:t>
            </a:r>
          </a:p>
          <a:p xmlns:a="http://schemas.openxmlformats.org/drawingml/2006/main">
            <a:r>
              <a:t>      "source_id": "tour-api:128778",</a:t>
            </a:r>
          </a:p>
          <a:p xmlns:a="http://schemas.openxmlformats.org/drawingml/2006/main">
            <a:r>
              <a:t>      "content_id": "128778",</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"강원대학교중앙박물관",</a:t>
            </a:r>
          </a:p>
          <a:p xmlns:a="http://schemas.openxmlformats.org/drawingml/2006/main">
            <a:r>
              <a:t>      "address": "강원특별자치도 춘천시 공지로 188-77 (효자동)",</a:t>
            </a:r>
          </a:p>
          <a:p xmlns:a="http://schemas.openxmlformats.org/drawingml/2006/main">
            <a:r>
              <a:t>      "summary": "한국관광공사 국문관광정보 API가 반환한 선택 지역 관광자원",</a:t>
            </a:r>
          </a:p>
          <a:p xmlns:a="http://schemas.openxmlformats.org/drawingml/2006/main">
            <a:r>
              <a:t>      "image_url": "http://tong.visitkorea.or.kr/cms/resource/58/3475458_image2_1.jpg",</a:t>
            </a:r>
          </a:p>
          <a:p xmlns:a="http://schemas.openxmlformats.org/drawingml/2006/main">
            <a:r>
              <a:t>      "source_id": "tour-api:129840",</a:t>
            </a:r>
          </a:p>
          <a:p xmlns:a="http://schemas.openxmlformats.org/drawingml/2006/main">
            <a:r>
              <a:t>      "content_id": "129840",</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"14"</a:t>
            </a:r>
          </a:p>
          <a:p xmlns:a="http://schemas.openxmlformats.org/drawingml/2006/main">
            <a:r>
              <a:t>    },</a:t>
            </a:r>
          </a:p>
          <a:p xmlns:a="http://schemas.openxmlformats.org/drawingml/2006/main">
            <a:r>
              <a:t>    {</a:t>
            </a:r>
          </a:p>
          <a:p xmlns:a="http://schemas.openxmlformats.org/drawingml/2006/main">
            <a:r>
              <a:t>      "title": "강원숲체험장",</a:t>
            </a:r>
          </a:p>
          <a:p xmlns:a="http://schemas.openxmlformats.org/drawingml/2006/main">
            <a:r>
              <a:t>      "address": "강원특별자치도 춘천시 서면 납실길 107-64",</a:t>
            </a:r>
          </a:p>
          <a:p xmlns:a="http://schemas.openxmlformats.org/drawingml/2006/main">
            <a:r>
              <a:t>      "summary": "한국관광공사 국문관광정보 API가 반환한 선택 지역 관광자원",</a:t>
            </a:r>
          </a:p>
          <a:p xmlns:a="http://schemas.openxmlformats.org/drawingml/2006/main">
            <a:r>
              <a:t>      "image_url": "http://tong.visitkorea.or.kr/cms/resource/11/2739711_image2_1.jpg",</a:t>
            </a:r>
          </a:p>
          <a:p xmlns:a="http://schemas.openxmlformats.org/drawingml/2006/main">
            <a:r>
              <a:t>      "source_id": "tour-api:2610850",</a:t>
            </a:r>
          </a:p>
          <a:p xmlns:a="http://schemas.openxmlformats.org/drawingml/2006/main">
            <a:r>
              <a:t>      "content_id": "2610850",</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"강원특별자치도청소년수련원",</a:t>
            </a:r>
          </a:p>
          <a:p xmlns:a="http://schemas.openxmlformats.org/drawingml/2006/main">
            <a:r>
              <a:t>      "address": "강원특별자치도 춘천시 신샘밭로 89",</a:t>
            </a:r>
          </a:p>
          <a:p xmlns:a="http://schemas.openxmlformats.org/drawingml/2006/main">
            <a:r>
              <a:t>      "summary": "한국관광공사 국문관광정보 API가 반환한 선택 지역 관광자원",</a:t>
            </a:r>
          </a:p>
          <a:p xmlns:a="http://schemas.openxmlformats.org/drawingml/2006/main">
            <a:r>
              <a:t>      "image_url": "http://tong.visitkorea.or.kr/cms/resource/05/3382505_image2_1.JPG",</a:t>
            </a:r>
          </a:p>
          <a:p xmlns:a="http://schemas.openxmlformats.org/drawingml/2006/main">
            <a:r>
              <a:t>      "source_id": "tour-api:131456",</a:t>
            </a:r>
          </a:p>
          <a:p xmlns:a="http://schemas.openxmlformats.org/drawingml/2006/main">
            <a:r>
              <a:t>      "content_id": "131456",</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"28"</a:t>
            </a:r>
          </a:p>
          <a:p xmlns:a="http://schemas.openxmlformats.org/drawingml/2006/main">
            <a:r>
              <a:t>    },</a:t>
            </a:r>
          </a:p>
          <a:p xmlns:a="http://schemas.openxmlformats.org/drawingml/2006/main">
            <a:r>
              <a:t>    {</a:t>
            </a:r>
          </a:p>
          <a:p xmlns:a="http://schemas.openxmlformats.org/drawingml/2006/main">
            <a:r>
              <a:t>      "title": "강촌 출렁다리공원",</a:t>
            </a:r>
          </a:p>
          <a:p xmlns:a="http://schemas.openxmlformats.org/drawingml/2006/main">
            <a:r>
              <a:t>      "address": "강원특별자치도 춘천시 남산면 강촌리",</a:t>
            </a:r>
          </a:p>
          <a:p xmlns:a="http://schemas.openxmlformats.org/drawingml/2006/main">
            <a:r>
              <a:t>      "summary": "한국관광공사 국문관광정보 API가 반환한 선택 지역 관광자원",</a:t>
            </a:r>
          </a:p>
          <a:p xmlns:a="http://schemas.openxmlformats.org/drawingml/2006/main">
            <a:r>
              <a:t>      "image_url": "http://tong.visitkorea.or.kr/cms/resource/96/3382296_image2_1.JPG",</a:t>
            </a:r>
          </a:p>
          <a:p xmlns:a="http://schemas.openxmlformats.org/drawingml/2006/main">
            <a:r>
              <a:t>      "source_id": "tour-api:2706334",</a:t>
            </a:r>
          </a:p>
          <a:p xmlns:a="http://schemas.openxmlformats.org/drawingml/2006/main">
            <a:r>
              <a:t>      "content_id": "2706334",</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"강촌레일파크(김유정레일바이크)",</a:t>
            </a:r>
          </a:p>
          <a:p xmlns:a="http://schemas.openxmlformats.org/drawingml/2006/main">
            <a:r>
              <a:t>      "address": "강원특별자치도 춘천시 신동면 김유정로 1383",</a:t>
            </a:r>
          </a:p>
          <a:p xmlns:a="http://schemas.openxmlformats.org/drawingml/2006/main">
            <a:r>
              <a:t>      "summary": "한국관광공사 국문관광정보 API가 반환한 선택 지역 관광자원",</a:t>
            </a:r>
          </a:p>
          <a:p xmlns:a="http://schemas.openxmlformats.org/drawingml/2006/main">
            <a:r>
              <a:t>      "image_url": "http://tong.visitkorea.or.kr/cms/resource/48/2739748_image2_1.jpeg",</a:t>
            </a:r>
          </a:p>
          <a:p xmlns:a="http://schemas.openxmlformats.org/drawingml/2006/main">
            <a:r>
              <a:t>      "source_id": "tour-api:1947118",</a:t>
            </a:r>
          </a:p>
          <a:p xmlns:a="http://schemas.openxmlformats.org/drawingml/2006/main">
            <a:r>
              <a:t>      "content_id": "1947118",</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"28"</a:t>
            </a:r>
          </a:p>
          <a:p xmlns:a="http://schemas.openxmlformats.org/drawingml/2006/main">
            <a:r>
              <a:t>    },</a:t>
            </a:r>
          </a:p>
          <a:p xmlns:a="http://schemas.openxmlformats.org/drawingml/2006/main">
            <a:r>
              <a:t>    {</a:t>
            </a:r>
          </a:p>
          <a:p xmlns:a="http://schemas.openxmlformats.org/drawingml/2006/main">
            <a:r>
              <a:t>      "title": "강촌버즈글램핑",</a:t>
            </a:r>
          </a:p>
          <a:p xmlns:a="http://schemas.openxmlformats.org/drawingml/2006/main">
            <a:r>
              <a:t>      "address": "강원특별자치도 춘천시 서면 율장길 122-28",</a:t>
            </a:r>
          </a:p>
          <a:p xmlns:a="http://schemas.openxmlformats.org/drawingml/2006/main">
            <a:r>
              <a:t>      "summary": "한국관광공사 국문관광정보 API가 반환한 선택 지역 관광자원",</a:t>
            </a:r>
          </a:p>
          <a:p xmlns:a="http://schemas.openxmlformats.org/drawingml/2006/main">
            <a:r>
              <a:t>      "image_url": "http://tong.visitkorea.or.kr/cms/resource/44/2760044_image2_1.JPG",</a:t>
            </a:r>
          </a:p>
          <a:p xmlns:a="http://schemas.openxmlformats.org/drawingml/2006/main">
            <a:r>
              <a:t>      "source_id": "tour-api:2759582",</a:t>
            </a:r>
          </a:p>
          <a:p xmlns:a="http://schemas.openxmlformats.org/drawingml/2006/main">
            <a:r>
              <a:t>      "content_id": "2759582",</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"28"</a:t>
            </a:r>
          </a:p>
          <a:p xmlns:a="http://schemas.openxmlformats.org/drawingml/2006/main">
            <a:r>
              <a:t>    },</a:t>
            </a:r>
          </a:p>
          <a:p xmlns:a="http://schemas.openxmlformats.org/drawingml/2006/main">
            <a:r>
              <a:t>    {</a:t>
            </a:r>
          </a:p>
          <a:p xmlns:a="http://schemas.openxmlformats.org/drawingml/2006/main">
            <a:r>
              <a:t>      "title": "강촌유원지",</a:t>
            </a:r>
          </a:p>
          <a:p xmlns:a="http://schemas.openxmlformats.org/drawingml/2006/main">
            <a:r>
              <a:t>      "address": "강원특별자치도 춘천시 남산면 일원",</a:t>
            </a:r>
          </a:p>
          <a:p xmlns:a="http://schemas.openxmlformats.org/drawingml/2006/main">
            <a:r>
              <a:t>      "summary": "한국관광공사 국문관광정보 API가 반환한 선택 지역 관광자원",</a:t>
            </a:r>
          </a:p>
          <a:p xmlns:a="http://schemas.openxmlformats.org/drawingml/2006/main">
            <a:r>
              <a:t>      "image_url": "http://tong.visitkorea.or.kr/cms/resource/64/3533864_image2_1.jpg",</a:t>
            </a:r>
          </a:p>
          <a:p xmlns:a="http://schemas.openxmlformats.org/drawingml/2006/main">
            <a:r>
              <a:t>      "source_id": "tour-api:125605",</a:t>
            </a:r>
          </a:p>
          <a:p xmlns:a="http://schemas.openxmlformats.org/drawingml/2006/main">
            <a:r>
              <a:t>      "content_id": "125605",</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"강촌하늘아래글램핑",</a:t>
            </a:r>
          </a:p>
          <a:p xmlns:a="http://schemas.openxmlformats.org/drawingml/2006/main">
            <a:r>
              <a:t>      "address": "강원특별자치도 춘천시 남산면 풀무골1길 71",</a:t>
            </a:r>
          </a:p>
          <a:p xmlns:a="http://schemas.openxmlformats.org/drawingml/2006/main">
            <a:r>
              <a:t>      "summary": "한국관광공사 국문관광정보 API가 반환한 선택 지역 관광자원",</a:t>
            </a:r>
          </a:p>
          <a:p xmlns:a="http://schemas.openxmlformats.org/drawingml/2006/main">
            <a:r>
              <a:t>      "image_url": "http://tong.visitkorea.or.kr/cms/resource/45/2741645_image2_1.JPG",</a:t>
            </a:r>
          </a:p>
          <a:p xmlns:a="http://schemas.openxmlformats.org/drawingml/2006/main">
            <a:r>
              <a:t>      "source_id": "tour-api:2741528",</a:t>
            </a:r>
          </a:p>
          <a:p xmlns:a="http://schemas.openxmlformats.org/drawingml/2006/main">
            <a:r>
              <a:t>      "content_id": "2741528",</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"28"</a:t>
            </a:r>
          </a:p>
          <a:p xmlns:a="http://schemas.openxmlformats.org/drawingml/2006/main">
            <a:r>
              <a:t>    },</a:t>
            </a:r>
          </a:p>
          <a:p xmlns:a="http://schemas.openxmlformats.org/drawingml/2006/main">
            <a:r>
              <a:t>    {</a:t>
            </a:r>
          </a:p>
          <a:p xmlns:a="http://schemas.openxmlformats.org/drawingml/2006/main">
            <a:r>
              <a:t>      "title": "경강막국수",</a:t>
            </a:r>
          </a:p>
          <a:p xmlns:a="http://schemas.openxmlformats.org/drawingml/2006/main">
            <a:r>
              <a:t>      "address": "강원특별자치도 춘천시 남산면 서백길 62-4",</a:t>
            </a:r>
          </a:p>
          <a:p xmlns:a="http://schemas.openxmlformats.org/drawingml/2006/main">
            <a:r>
              <a:t>      "summary": "한국관광공사 국문관광정보 API가 반환한 선택 지역 관광자원",</a:t>
            </a:r>
          </a:p>
          <a:p xmlns:a="http://schemas.openxmlformats.org/drawingml/2006/main">
            <a:r>
              <a:t>      "image_url": "http://tong.visitkorea.or.kr/cms/resource/39/3046639_image2_1.jpg",</a:t>
            </a:r>
          </a:p>
          <a:p xmlns:a="http://schemas.openxmlformats.org/drawingml/2006/main">
            <a:r>
              <a:t>      "source_id": "tour-api:391742",</a:t>
            </a:r>
          </a:p>
          <a:p xmlns:a="http://schemas.openxmlformats.org/drawingml/2006/main">
            <a:r>
              <a:t>      "content_id": "391742",</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"고목",</a:t>
            </a:r>
          </a:p>
          <a:p xmlns:a="http://schemas.openxmlformats.org/drawingml/2006/main">
            <a:r>
              <a:t>      "address": "강원특별자치도 춘천시 남산면 남이섬길 1",</a:t>
            </a:r>
          </a:p>
          <a:p xmlns:a="http://schemas.openxmlformats.org/drawingml/2006/main">
            <a:r>
              <a:t>      "summary": "한국관광공사 국문관광정보 API가 반환한 선택 지역 관광자원",</a:t>
            </a:r>
          </a:p>
          <a:p xmlns:a="http://schemas.openxmlformats.org/drawingml/2006/main">
            <a:r>
              <a:t>      "image_url": "http://tong.visitkorea.or.kr/cms/resource/92/2919892_image2_1.jpg",</a:t>
            </a:r>
          </a:p>
          <a:p xmlns:a="http://schemas.openxmlformats.org/drawingml/2006/main">
            <a:r>
              <a:t>      "source_id": "tour-api:2558052",</a:t>
            </a:r>
          </a:p>
          <a:p xmlns:a="http://schemas.openxmlformats.org/drawingml/2006/main">
            <a:r>
              <a:t>      "content_id": "2558052",</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"공지천 조각공원",</a:t>
            </a:r>
          </a:p>
          <a:p xmlns:a="http://schemas.openxmlformats.org/drawingml/2006/main">
            <a:r>
              <a:t>      "address": "강원특별자치도 춘천시 옛경춘로 880 (근화동)",</a:t>
            </a:r>
          </a:p>
          <a:p xmlns:a="http://schemas.openxmlformats.org/drawingml/2006/main">
            <a:r>
              <a:t>      "summary": "한국관광공사 국문관광정보 API가 반환한 선택 지역 관광자원",</a:t>
            </a:r>
          </a:p>
          <a:p xmlns:a="http://schemas.openxmlformats.org/drawingml/2006/main">
            <a:r>
              <a:t>      "image_url": "http://tong.visitkorea.or.kr/cms/resource/31/3072531_image2_1.jpg",</a:t>
            </a:r>
          </a:p>
          <a:p xmlns:a="http://schemas.openxmlformats.org/drawingml/2006/main">
            <a:r>
              <a:t>      "source_id": "tour-api:129004",</a:t>
            </a:r>
          </a:p>
          <a:p xmlns:a="http://schemas.openxmlformats.org/drawingml/2006/main">
            <a:r>
              <a:t>      "content_id": "129004",</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"14"</a:t>
            </a:r>
          </a:p>
          <a:p xmlns:a="http://schemas.openxmlformats.org/drawingml/2006/main">
            <a:r>
              <a:t>    },</a:t>
            </a:r>
          </a:p>
          <a:p xmlns:a="http://schemas.openxmlformats.org/drawingml/2006/main">
            <a:r>
              <a:t>    {</a:t>
            </a:r>
          </a:p>
          <a:p xmlns:a="http://schemas.openxmlformats.org/drawingml/2006/main">
            <a:r>
              <a:t>      "title": "구곡폭포 국민여가 캠핑장",</a:t>
            </a:r>
          </a:p>
          <a:p xmlns:a="http://schemas.openxmlformats.org/drawingml/2006/main">
            <a:r>
              <a:t>      "address": "강원특별자치도 춘천시 남산면 강촌구곡길 324",</a:t>
            </a:r>
          </a:p>
          <a:p xmlns:a="http://schemas.openxmlformats.org/drawingml/2006/main">
            <a:r>
              <a:t>      "summary": "한국관광공사 국문관광정보 API가 반환한 선택 지역 관광자원",</a:t>
            </a:r>
          </a:p>
          <a:p xmlns:a="http://schemas.openxmlformats.org/drawingml/2006/main">
            <a:r>
              <a:t>      "image_url": "http://tong.visitkorea.or.kr/cms/resource/70/2793870_image2_1.jpg",</a:t>
            </a:r>
          </a:p>
          <a:p xmlns:a="http://schemas.openxmlformats.org/drawingml/2006/main">
            <a:r>
              <a:t>      "source_id": "tour-api:2792017",</a:t>
            </a:r>
          </a:p>
          <a:p xmlns:a="http://schemas.openxmlformats.org/drawingml/2006/main">
            <a:r>
              <a:t>      "content_id": "2792017",</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"28"</a:t>
            </a:r>
          </a:p>
          <a:p xmlns:a="http://schemas.openxmlformats.org/drawingml/2006/main">
            <a:r>
              <a:t>    },</a:t>
            </a:r>
          </a:p>
          <a:p xmlns:a="http://schemas.openxmlformats.org/drawingml/2006/main">
            <a:r>
              <a:t>    {</a:t>
            </a:r>
          </a:p>
          <a:p xmlns:a="http://schemas.openxmlformats.org/drawingml/2006/main">
            <a:r>
              <a:t>      "title": "구봉산",</a:t>
            </a:r>
          </a:p>
          <a:p xmlns:a="http://schemas.openxmlformats.org/drawingml/2006/main">
            <a:r>
              <a:t>      "address": "강원특별자치도 춘천시 동면 순환대로 1154-115",</a:t>
            </a:r>
          </a:p>
          <a:p xmlns:a="http://schemas.openxmlformats.org/drawingml/2006/main">
            <a:r>
              <a:t>      "summary": "한국관광공사 국문관광정보 API가 반환한 선택 지역 관광자원",</a:t>
            </a:r>
          </a:p>
          <a:p xmlns:a="http://schemas.openxmlformats.org/drawingml/2006/main">
            <a:r>
              <a:t>      "image_url": "http://tong.visitkorea.or.kr/cms/resource/54/529954_image2_1.jpg",</a:t>
            </a:r>
          </a:p>
          <a:p xmlns:a="http://schemas.openxmlformats.org/drawingml/2006/main">
            <a:r>
              <a:t>      "source_id": "tour-api:2714558",</a:t>
            </a:r>
          </a:p>
          <a:p xmlns:a="http://schemas.openxmlformats.org/drawingml/2006/main">
            <a:r>
              <a:t>      "content_id": "2714558",</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"국립 용화산자연휴양림",</a:t>
            </a:r>
          </a:p>
          <a:p xmlns:a="http://schemas.openxmlformats.org/drawingml/2006/main">
            <a:r>
              <a:t>      "address": "강원특별자치도 춘천시 사북면 사여골길 294",</a:t>
            </a:r>
          </a:p>
          <a:p xmlns:a="http://schemas.openxmlformats.org/drawingml/2006/main">
            <a:r>
              <a:t>      "summary": "한국관광공사 국문관광정보 API가 반환한 선택 지역 관광자원",</a:t>
            </a:r>
          </a:p>
          <a:p xmlns:a="http://schemas.openxmlformats.org/drawingml/2006/main">
            <a:r>
              <a:t>      "image_url": "http://tong.visitkorea.or.kr/cms/resource/90/3351390_image2_1.jpg",</a:t>
            </a:r>
          </a:p>
          <a:p xmlns:a="http://schemas.openxmlformats.org/drawingml/2006/main">
            <a:r>
              <a:t>      "source_id": "tour-api:407225",</a:t>
            </a:r>
          </a:p>
          <a:p xmlns:a="http://schemas.openxmlformats.org/drawingml/2006/main">
            <a:r>
              <a:t>      "content_id": "407225",</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"국립춘천숲체원",</a:t>
            </a:r>
          </a:p>
          <a:p xmlns:a="http://schemas.openxmlformats.org/drawingml/2006/main">
            <a:r>
              <a:t>      "address": "강원특별자치도 춘천시 신북읍 장본2길 331",</a:t>
            </a:r>
          </a:p>
          <a:p xmlns:a="http://schemas.openxmlformats.org/drawingml/2006/main">
            <a:r>
              <a:t>      "summary": "한국관광공사 국문관광정보 API가 반환한 선택 지역 관광자원",</a:t>
            </a:r>
          </a:p>
          <a:p xmlns:a="http://schemas.openxmlformats.org/drawingml/2006/main">
            <a:r>
              <a:t>      "image_url": "http://tong.visitkorea.or.kr/cms/resource/86/3439986_image2_1.jpg",</a:t>
            </a:r>
          </a:p>
          <a:p xmlns:a="http://schemas.openxmlformats.org/drawingml/2006/main">
            <a:r>
              <a:t>      "source_id": "tour-api:2710587",</a:t>
            </a:r>
          </a:p>
          <a:p xmlns:a="http://schemas.openxmlformats.org/drawingml/2006/main">
            <a:r>
              <a:t>      "content_id": "2710587",</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"군자숯불닭갈비",</a:t>
            </a:r>
          </a:p>
          <a:p xmlns:a="http://schemas.openxmlformats.org/drawingml/2006/main">
            <a:r>
              <a:t>      "address": "강원특별자치도 춘천시 동산면 종자리로 148-8",</a:t>
            </a:r>
          </a:p>
          <a:p xmlns:a="http://schemas.openxmlformats.org/drawingml/2006/main">
            <a:r>
              <a:t>      "summary": "한국관광공사 국문관광정보 API가 반환한 선택 지역 관광자원",</a:t>
            </a:r>
          </a:p>
          <a:p xmlns:a="http://schemas.openxmlformats.org/drawingml/2006/main">
            <a:r>
              <a:t>      "image_url": "http://tong.visitkorea.or.kr/cms/resource/65/2776965_image2_1.JPG",</a:t>
            </a:r>
          </a:p>
          <a:p xmlns:a="http://schemas.openxmlformats.org/drawingml/2006/main">
            <a:r>
              <a:t>      "source_id": "tour-api:2774528",</a:t>
            </a:r>
          </a:p>
          <a:p xmlns:a="http://schemas.openxmlformats.org/drawingml/2006/main">
            <a:r>
              <a:t>      "content_id": "2774528",</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"근화동396청년창업공간",</a:t>
            </a:r>
          </a:p>
          <a:p xmlns:a="http://schemas.openxmlformats.org/drawingml/2006/main">
            <a:r>
              <a:t>      "address": "강원특별자치도 춘천시 중앙로 186",</a:t>
            </a:r>
          </a:p>
          <a:p xmlns:a="http://schemas.openxmlformats.org/drawingml/2006/main">
            <a:r>
              <a:t>      "summary": "한국관광공사 국문관광정보 API가 반환한 선택 지역 관광자원",</a:t>
            </a:r>
          </a:p>
          <a:p xmlns:a="http://schemas.openxmlformats.org/drawingml/2006/main">
            <a:r>
              <a:t>      "image_url": "http://tong.visitkorea.or.kr/cms/resource/18/3351718_image2_1.jpg",</a:t>
            </a:r>
          </a:p>
          <a:p xmlns:a="http://schemas.openxmlformats.org/drawingml/2006/main">
            <a:r>
              <a:t>      "source_id": "tour-api:2710596",</a:t>
            </a:r>
          </a:p>
          <a:p xmlns:a="http://schemas.openxmlformats.org/drawingml/2006/main">
            <a:r>
              <a:t>      "content_id": "2710596",</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"요즘, 한국관광 2호 - 지방공항 연계 지역관광 활성화 방안",</a:t>
            </a:r>
          </a:p>
          <a:p xmlns:a="http://schemas.openxmlformats.org/drawingml/2006/main">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xmlns:a="http://schemas.openxmlformats.org/drawingml/2006/main">
            <a:r>
              <a:t>      "chunk_id": "reference:kto:2026:local-airport:page:044:chunk:01",</a:t>
            </a:r>
          </a:p>
          <a:p xmlns:a="http://schemas.openxmlformats.org/drawingml/2006/main">
            <a:r>
              <a:t>      "source_id": "reference:kto:2026:local-airport",</a:t>
            </a:r>
          </a:p>
          <a:p xmlns:a="http://schemas.openxmlformats.org/drawingml/2006/main">
            <a:r>
              <a:t>      "source_url": "https://datalab.visitkorea.or.kr/site/portal/ex/bbs/View.do?bcIdx=311068&amp;cbIdx=1135&amp;pageIndex=1",</a:t>
            </a:r>
          </a:p>
          <a:p xmlns:a="http://schemas.openxmlformats.org/drawingml/2006/main">
            <a:r>
              <a:t>      "case_region": "",</a:t>
            </a:r>
          </a:p>
          <a:p xmlns:a="http://schemas.openxmlformats.org/drawingml/2006/main">
            <a:r>
              <a:t>      "region_code": "ALL",</a:t>
            </a:r>
          </a:p>
          <a:p xmlns:a="http://schemas.openxmlformats.org/drawingml/2006/main">
            <a:r>
              <a:t>      "region_name": "전국 공통",</a:t>
            </a:r>
          </a:p>
          <a:p xmlns:a="http://schemas.openxmlformats.org/drawingml/2006/main">
            <a:r>
              <a:t>      "source_note": "지방공항·연계 지역에 관한 자료입니다. 다른 시군구의 사업 효과·예산을 보장하는 근거로 사용하지 않습니다.",</a:t>
            </a:r>
          </a:p>
          <a:p xmlns:a="http://schemas.openxmlformats.org/drawingml/2006/main">
            <a:r>
              <a:t>      "source_type": "rag",</a:t>
            </a:r>
          </a:p>
          <a:p xmlns:a="http://schemas.openxmlformats.org/drawingml/2006/main">
            <a:r>
              <a:t>      "intervention": "",</a:t>
            </a:r>
          </a:p>
          <a:p xmlns:a="http://schemas.openxmlformats.org/drawingml/2006/main">
            <a:r>
              <a:t>      "document_type": "policy",</a:t>
            </a:r>
          </a:p>
          <a:p xmlns:a="http://schemas.openxmlformats.org/drawingml/2006/main">
            <a:r>
              <a:t>      "matched_terms": [</a:t>
            </a:r>
          </a:p>
          <a:p xmlns:a="http://schemas.openxmlformats.org/drawingml/2006/main">
            <a:r>
              <a:t>        "결제",</a:t>
            </a:r>
          </a:p>
          <a:p xmlns:a="http://schemas.openxmlformats.org/drawingml/2006/main">
            <a:r>
              <a:t>        "관광사업",</a:t>
            </a:r>
          </a:p>
          <a:p xmlns:a="http://schemas.openxmlformats.org/drawingml/2006/main">
            <a:r>
              <a:t>        "상권",</a:t>
            </a:r>
          </a:p>
          <a:p xmlns:a="http://schemas.openxmlformats.org/drawingml/2006/main">
            <a:r>
              <a:t>        "성과",</a:t>
            </a:r>
          </a:p>
          <a:p xmlns:a="http://schemas.openxmlformats.org/drawingml/2006/main">
            <a:r>
              <a:t>        "소비",</a:t>
            </a:r>
          </a:p>
          <a:p xmlns:a="http://schemas.openxmlformats.org/drawingml/2006/main">
            <a:r>
              <a:t>        "수와",</a:t>
            </a:r>
          </a:p>
          <a:p xmlns:a="http://schemas.openxmlformats.org/drawingml/2006/main">
            <a:r>
              <a:t>        "숙박",</a:t>
            </a:r>
          </a:p>
          <a:p xmlns:a="http://schemas.openxmlformats.org/drawingml/2006/main">
            <a:r>
              <a:t>        "실제",</a:t>
            </a:r>
          </a:p>
          <a:p xmlns:a="http://schemas.openxmlformats.org/drawingml/2006/main">
            <a:r>
              <a:t>        "실행",</a:t>
            </a:r>
          </a:p>
          <a:p xmlns:a="http://schemas.openxmlformats.org/drawingml/2006/main">
            <a:r>
              <a:t>        "연결한",</a:t>
            </a:r>
          </a:p>
          <a:p xmlns:a="http://schemas.openxmlformats.org/drawingml/2006/main">
            <a:r>
              <a:t>        "연계",</a:t>
            </a:r>
          </a:p>
          <a:p xmlns:a="http://schemas.openxmlformats.org/drawingml/2006/main">
            <a:r>
              <a:t>        "예산",</a:t>
            </a:r>
          </a:p>
          <a:p xmlns:a="http://schemas.openxmlformats.org/drawingml/2006/main">
            <a:r>
              <a:t>        "운영",</a:t>
            </a:r>
          </a:p>
          <a:p xmlns:a="http://schemas.openxmlformats.org/drawingml/2006/main">
            <a:r>
              <a:t>        "이어지는",</a:t>
            </a:r>
          </a:p>
          <a:p xmlns:a="http://schemas.openxmlformats.org/drawingml/2006/main">
            <a:r>
              <a:t>        "전환",</a:t>
            </a:r>
          </a:p>
          <a:p xmlns:a="http://schemas.openxmlformats.org/drawingml/2006/main">
            <a:r>
              <a:t>        "중심으로",</a:t>
            </a:r>
          </a:p>
          <a:p xmlns:a="http://schemas.openxmlformats.org/drawingml/2006/main">
            <a:r>
              <a:t>        "지역",</a:t>
            </a:r>
          </a:p>
          <a:p xmlns:a="http://schemas.openxmlformats.org/drawingml/2006/main">
            <a:r>
              <a:t>        "체류",</a:t>
            </a:r>
          </a:p>
          <a:p xmlns:a="http://schemas.openxmlformats.org/drawingml/2006/main">
            <a:r>
              <a:t>        "함께",</a:t>
            </a:r>
          </a:p>
          <a:p xmlns:a="http://schemas.openxmlformats.org/drawingml/2006/main">
            <a:r>
              <a:t>        "현장",</a:t>
            </a:r>
          </a:p>
          <a:p xmlns:a="http://schemas.openxmlformats.org/drawingml/2006/main">
            <a:r>
              <a:t>        "협약"</a:t>
            </a:r>
          </a:p>
          <a:p xmlns:a="http://schemas.openxmlformats.org/drawingml/2006/main">
            <a:r>
              <a:t>      ],</a:t>
            </a:r>
          </a:p>
          <a:p xmlns:a="http://schemas.openxmlformats.org/drawingml/2006/main">
            <a:r>
              <a:t>      "page_references": "PDF 44쪽, PDF 43쪽, PDF 38쪽, PDF 40쪽, PDF 41쪽, PDF 36쪽, PDF 41쪽, PDF 44쪽, PDF 43쪽, PDF 43쪽",</a:t>
            </a:r>
          </a:p>
          <a:p xmlns:a="http://schemas.openxmlformats.org/drawingml/2006/main">
            <a:r>
              <a:t>      "parent_source_id": "reference:kto:2026:local-airport",</a:t>
            </a:r>
          </a:p>
          <a:p xmlns:a="http://schemas.openxmlformats.org/drawingml/2006/main">
            <a:r>
              <a:t>      "retrieval_method": "local_curated_chunk",</a:t>
            </a:r>
          </a:p>
          <a:p xmlns:a="http://schemas.openxmlformats.org/drawingml/2006/main">
            <a:r>
              <a:t>      "evidence_strength": "medium",</a:t>
            </a:r>
          </a:p>
          <a:p xmlns:a="http://schemas.openxmlformats.org/drawingml/2006/main">
            <a:r>
              <a:t>      "published_or_updated_at": "2026-08",</a:t>
            </a:r>
          </a:p>
          <a:p xmlns:a="http://schemas.openxmlformats.org/drawingml/2006/main">
            <a:r>
              <a:t>      "chunk_ids": [</a:t>
            </a:r>
          </a:p>
          <a:p xmlns:a="http://schemas.openxmlformats.org/drawingml/2006/main">
            <a:r>
              <a:t>        "reference:kto:2026:local-airport:page:036:chunk:01",</a:t>
            </a:r>
          </a:p>
          <a:p xmlns:a="http://schemas.openxmlformats.org/drawingml/2006/main">
            <a:r>
              <a:t>        "reference:kto:2026:local-airport:page:038:chunk:01",</a:t>
            </a:r>
          </a:p>
          <a:p xmlns:a="http://schemas.openxmlformats.org/drawingml/2006/main">
            <a:r>
              <a:t>        "reference:kto:2026:local-airport:page:040:chunk:02",</a:t>
            </a:r>
          </a:p>
          <a:p xmlns:a="http://schemas.openxmlformats.org/drawingml/2006/main">
            <a:r>
              <a:t>        "reference:kto:2026:local-airport:page:041:chunk:01",</a:t>
            </a:r>
          </a:p>
          <a:p xmlns:a="http://schemas.openxmlformats.org/drawingml/2006/main">
            <a:r>
              <a:t>        "reference:kto:2026:local-airport:page:041:chunk:02",</a:t>
            </a:r>
          </a:p>
          <a:p xmlns:a="http://schemas.openxmlformats.org/drawingml/2006/main">
            <a:r>
              <a:t>        "reference:kto:2026:local-airport:page:043:chunk:01",</a:t>
            </a:r>
          </a:p>
          <a:p xmlns:a="http://schemas.openxmlformats.org/drawingml/2006/main">
            <a:r>
              <a:t>        "reference:kto:2026:local-airport:page:043:chunk:02",</a:t>
            </a:r>
          </a:p>
          <a:p xmlns:a="http://schemas.openxmlformats.org/drawingml/2006/main">
            <a:r>
              <a:t>        "reference:kto:2026:local-airport:page:043:chunk:03",</a:t>
            </a:r>
          </a:p>
          <a:p xmlns:a="http://schemas.openxmlformats.org/drawingml/2006/main">
            <a:r>
              <a:t>        "reference:kto:2026:local-airport:page:044:chunk:01",</a:t>
            </a:r>
          </a:p>
          <a:p xmlns:a="http://schemas.openxmlformats.org/drawingml/2006/main">
            <a:r>
              <a:t>        "reference:kto:2026:local-airport:page:044:chunk:02"</a:t>
            </a:r>
          </a:p>
          <a:p xmlns:a="http://schemas.openxmlformats.org/drawingml/2006/main">
            <a:r>
              <a:t>      ],</a:t>
            </a:r>
          </a:p>
          <a:p xmlns:a="http://schemas.openxmlformats.org/drawingml/2006/main">
            <a:r>
              <a:t>      "source_chunk_count": 10</a:t>
            </a:r>
          </a:p>
          <a:p xmlns:a="http://schemas.openxmlformats.org/drawingml/2006/main">
            <a:r>
              <a:t>    },</a:t>
            </a:r>
          </a:p>
          <a:p xmlns:a="http://schemas.openxmlformats.org/drawingml/2006/main">
            <a:r>
              <a:t>    {</a:t>
            </a:r>
          </a:p>
          <a:p xmlns:a="http://schemas.openxmlformats.org/drawingml/2006/main">
            <a:r>
              <a:t>      "title": "전주시 2026년도 관광산업과 세출예산 사업명세서",</a:t>
            </a:r>
          </a:p>
          <a:p xmlns:a="http://schemas.openxmlformats.org/drawingml/2006/main">
            <a:r>
              <a:t>      "summary": "전북특별자치도 전주시 · 야간관광 특화도시 예산 편성 · 예산서이므로 방문·소비 성과는 확인되지 않음",</a:t>
            </a:r>
          </a:p>
          <a:p xmlns:a="http://schemas.openxmlformats.org/drawingml/2006/main">
            <a:r>
              <a:t>      "source_id": "case:jeonju_night_budget_2026",</a:t>
            </a:r>
          </a:p>
          <a:p xmlns:a="http://schemas.openxmlformats.org/drawingml/2006/main">
            <a:r>
              <a:t>      "source_url": "https://jeonju.go.kr/resource/www/images/download/budget/2026/2026_31_2.pdf",</a:t>
            </a:r>
          </a:p>
          <a:p xmlns:a="http://schemas.openxmlformats.org/drawingml/2006/main">
            <a:r>
              <a:t>      "case_region": "전북특별자치도 전주시",</a:t>
            </a:r>
          </a:p>
          <a:p xmlns:a="http://schemas.openxmlformats.org/drawingml/2006/main">
            <a:r>
              <a:t>      "source_type": "benchmark_case",</a:t>
            </a:r>
          </a:p>
          <a:p xmlns:a="http://schemas.openxmlformats.org/drawingml/2006/main">
            <a:r>
              <a:t>      "intervention": "야간관광 특화도시 예산 편성",</a:t>
            </a:r>
          </a:p>
          <a:p xmlns:a="http://schemas.openxmlformats.org/drawingml/2006/main">
            <a:r>
              <a:t>      "operating_model": "사무관리, 행사운영, 연구용역, 민간경상보조 등으로 사업비를 항목별 편성",</a:t>
            </a:r>
          </a:p>
          <a:p xmlns:a="http://schemas.openxmlformats.org/drawingml/2006/main">
            <a:r>
              <a:t>      "evidence_strength": "high",</a:t>
            </a:r>
          </a:p>
          <a:p xmlns:a="http://schemas.openxmlformats.org/drawingml/2006/main">
            <a:r>
              <a:t>      "published_or_updated_at": "2026",</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"섬에서의 특별한 경험, ‘인천 섬 도도하게 살아보기’로 누린다",</a:t>
            </a:r>
          </a:p>
          <a:p xmlns:a="http://schemas.openxmlformats.org/drawingml/2006/main">
            <a:r>
              <a:t>      "summary": "인천광역시 강화군·옹진군 소재 섬 · 인천 섬 도도하게 살아보기—주민 숙박·식사·체험을 묶은 예약형 체류상품 · 2022년 7월 31일 기준 목표 700명 중 228명이 예약해 모객률 33%를 기록했다. 2023년에는 약 1,600명이 15개 섬을 방문한 것으로 인천시가 공개했다. 주민 소득 증가액과 비교집단 기반 체류 순증효과는 공식 자료에서 확인되지 않음.",</a:t>
            </a:r>
          </a:p>
          <a:p xmlns:a="http://schemas.openxmlformats.org/drawingml/2006/main">
            <a:r>
              <a:t>      "source_id": "case:291a33370ec9b1",</a:t>
            </a:r>
          </a:p>
          <a:p xmlns:a="http://schemas.openxmlformats.org/drawingml/2006/main">
            <a:r>
              <a:t>      "source_url": "https://www.incheon.go.kr/mayor_8/MA040101/view?curPage=236&amp;repSeq=DOM_0000000010488055",</a:t>
            </a:r>
          </a:p>
          <a:p xmlns:a="http://schemas.openxmlformats.org/drawingml/2006/main">
            <a:r>
              <a:t>      "case_region": "인천광역시 강화군·옹진군 소재 섬",</a:t>
            </a:r>
          </a:p>
          <a:p xmlns:a="http://schemas.openxmlformats.org/drawingml/2006/main">
            <a:r>
              <a:t>      "source_type": "benchmark_case",</a:t>
            </a:r>
          </a:p>
          <a:p xmlns:a="http://schemas.openxmlformats.org/drawingml/2006/main">
            <a:r>
              <a:t>      "intervention": "인천 섬 도도하게 살아보기—주민 숙박·식사·체험을 묶은 예약형 체류상품",</a:t>
            </a:r>
          </a:p>
          <a:p xmlns:a="http://schemas.openxmlformats.org/drawingml/2006/main">
            <a:r>
              <a:t>      "operating_model": "섬별로 2박 3일 또는 3박 4일 상품을 정해진 회차로 판매했다. 주민 운영 숙소·음식점과 낚시, 트레킹, 해양레저, 로컬체험을 하나의 예약상품으로 묶고 상품가격의 일부를 공공이 지원했다. 2024년 자료에는 섬별 최대 50% 지원 구조가 제시됐다.",</a:t>
            </a:r>
          </a:p>
          <a:p xmlns:a="http://schemas.openxmlformats.org/drawingml/2006/main">
            <a:r>
              <a:t>      "evidence_strength": "medium",</a:t>
            </a:r>
          </a:p>
          <a:p xmlns:a="http://schemas.openxmlformats.org/drawingml/2006/main">
            <a:r>
              <a:t>      "published_or_updated_at": "2024-08-12",</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"강진 반값여행 지역경제 효과 소개",</a:t>
            </a:r>
          </a:p>
          <a:p xmlns:a="http://schemas.openxmlformats.org/drawingml/2006/main">
            <a:r>
              <a:t>      "summary": "전라남도 강진군 · 반값여행 지역환급 · 상품권 결제 변화에 관한 소개 자료는 있으나, 사업 참여자 범위·정확한 비교 기간·원자료를 확인하지 못해 성과 수치 인용을 보류한다.",</a:t>
            </a:r>
          </a:p>
          <a:p xmlns:a="http://schemas.openxmlformats.org/drawingml/2006/main">
            <a:r>
              <a:t>      "source_id": "case:gangjin_half_price_2024",</a:t>
            </a:r>
          </a:p>
          <a:p xmlns:a="http://schemas.openxmlformats.org/drawingml/2006/main">
            <a:r>
              <a:t>      "source_url": "https://jnfarm.jeonnam.go.kr/board/FARM_BOARD_008/boardView.do?bdId=BD_00000000000011721&amp;menuCd=farm004002",</a:t>
            </a:r>
          </a:p>
          <a:p xmlns:a="http://schemas.openxmlformats.org/drawingml/2006/main">
            <a:r>
              <a:t>      "case_region": "전라남도 강진군",</a:t>
            </a:r>
          </a:p>
          <a:p xmlns:a="http://schemas.openxmlformats.org/drawingml/2006/main">
            <a:r>
              <a:t>      "source_type": "benchmark_case",</a:t>
            </a:r>
          </a:p>
          <a:p xmlns:a="http://schemas.openxmlformats.org/drawingml/2006/main">
            <a:r>
              <a:t>      "intervention": "반값여행 지역환급",</a:t>
            </a:r>
          </a:p>
          <a:p xmlns:a="http://schemas.openxmlformats.org/drawingml/2006/main">
            <a:r>
              <a:t>      "operating_model": "여행자가 지역에서 지출한 비용의 일부를 지역상품권으로 돌려받게 하여 혜택이 다시 지역 상점에서 사용되도록 설계",</a:t>
            </a:r>
          </a:p>
          <a:p xmlns:a="http://schemas.openxmlformats.org/drawingml/2006/main">
            <a:r>
              <a:t>      "evidence_strength": "low",</a:t>
            </a:r>
          </a:p>
          <a:p xmlns:a="http://schemas.openxmlformats.org/drawingml/2006/main">
            <a:r>
              <a:t>      "published_or_updated_at": "2025-01-02",</a:t>
            </a:r>
          </a:p>
          <a:p xmlns:a="http://schemas.openxmlformats.org/drawingml/2006/main">
            <a:r>
              <a:t>      "quantitative_result_approved": false</a:t>
            </a:r>
          </a:p>
          <a:p xmlns:a="http://schemas.openxmlformats.org/drawingml/2006/main">
            <a:r>
              <a:t>    },</a:t>
            </a:r>
          </a:p>
          <a:p xmlns:a="http://schemas.openxmlformats.org/drawingml/2006/main">
            <a:r>
              <a:t>    {</a:t>
            </a:r>
          </a:p>
          <a:p xmlns:a="http://schemas.openxmlformats.org/drawingml/2006/main">
            <a:r>
              <a:t>      "title": "2024년 6월 여행가는 달 추진 보도자료",</a:t>
            </a:r>
          </a:p>
          <a:p xmlns:a="http://schemas.openxmlformats.org/drawingml/2006/main">
            <a:r>
              <a:t>      "summary": "전국 인구감소지역 34곳 · 디지털 관광주민증과 교통·숙박·상점 할인 결합 · 2024년 34개 지역 약 800개 관광업체에 혜택 구조를 적용",</a:t>
            </a:r>
          </a:p>
          <a:p xmlns:a="http://schemas.openxmlformats.org/drawingml/2006/main">
            <a:r>
              <a:t>      "source_id": "case:digital_tourism_resident_2024",</a:t>
            </a:r>
          </a:p>
          <a:p xmlns:a="http://schemas.openxmlformats.org/drawingml/2006/main">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      "case_region": "전국 인구감소지역 34곳",</a:t>
            </a:r>
          </a:p>
          <a:p xmlns:a="http://schemas.openxmlformats.org/drawingml/2006/main">
            <a:r>
              <a:t>      "source_type": "benchmark_case",</a:t>
            </a:r>
          </a:p>
          <a:p xmlns:a="http://schemas.openxmlformats.org/drawingml/2006/main">
            <a:r>
              <a:t>      "intervention": "디지털 관광주민증과 교통·숙박·상점 할인 결합",</a:t>
            </a:r>
          </a:p>
          <a:p xmlns:a="http://schemas.openxmlformats.org/drawingml/2006/main">
            <a:r>
              <a:t>      "operating_model": "디지털 관광주민증 참여업체 현장 인증과 숙박·식음·관람·체험 할인, 특정 시간대 KTX 할인과 방문 후 교통 할인권을 결합",</a:t>
            </a:r>
          </a:p>
          <a:p xmlns:a="http://schemas.openxmlformats.org/drawingml/2006/main">
            <a:r>
              <a:t>      "evidence_strength": "medium",</a:t>
            </a:r>
          </a:p>
          <a:p xmlns:a="http://schemas.openxmlformats.org/drawingml/2006/main">
            <a:r>
              <a:t>      "published_or_updated_at": "2024-05-14",</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"2022 대한민국 숙박대전 경제파급효과 공개자료",</a:t>
            </a:r>
          </a:p>
          <a:p xmlns:a="http://schemas.openxmlformats.org/drawingml/2006/main">
            <a:r>
              <a:t>      "summary": "전국 숙박할인쿠폰 지원사업 · 온라인 예약 채널 숙박할인쿠폰 · 한국관광공사 자료는 약 104만 명이 할인혜택을 이용했고 서울·제주를 제외한 지역 사용 비율이 76%였다고 소개함",</a:t>
            </a:r>
          </a:p>
          <a:p xmlns:a="http://schemas.openxmlformats.org/drawingml/2006/main">
            <a:r>
              <a:t>      "source_id": "case:kto_stay_discount_2022",</a:t>
            </a:r>
          </a:p>
          <a:p xmlns:a="http://schemas.openxmlformats.org/drawingml/2006/main">
            <a:r>
              <a:t>      "source_url": "https://kto.visitkorea.or.kr/upload/flexer/upload/ktobiz/20220928/b623b5f9-3ec0-11ed-9832-ddf31964842e.hwp.files/Sections1.html",</a:t>
            </a:r>
          </a:p>
          <a:p xmlns:a="http://schemas.openxmlformats.org/drawingml/2006/main">
            <a:r>
              <a:t>      "case_region": "전국 숙박할인쿠폰 지원사업",</a:t>
            </a:r>
          </a:p>
          <a:p xmlns:a="http://schemas.openxmlformats.org/drawingml/2006/main">
            <a:r>
              <a:t>      "source_type": "benchmark_case",</a:t>
            </a:r>
          </a:p>
          <a:p xmlns:a="http://schemas.openxmlformats.org/drawingml/2006/main">
            <a:r>
              <a:t>      "intervention": "온라인 예약 채널 숙박할인쿠폰",</a:t>
            </a:r>
          </a:p>
          <a:p xmlns:a="http://schemas.openxmlformats.org/drawingml/2006/main">
            <a:r>
              <a:t>      "operating_model": "온라인 여행사 예약 단계에서 할인쿠폰을 제공하고, 지역 숙소에서 사용할 수 있도록 참여 채널과 기간을 통합 운영",</a:t>
            </a:r>
          </a:p>
          <a:p xmlns:a="http://schemas.openxmlformats.org/drawingml/2006/main">
            <a:r>
              <a:t>      "evidence_strength": "medium",</a:t>
            </a:r>
          </a:p>
          <a:p xmlns:a="http://schemas.openxmlformats.org/drawingml/2006/main">
            <a:r>
              <a:t>      "published_or_updated_at": "2022-09-28",</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"2025 대한민국 밤밤페스타 개최 도시 및 일정",</a:t>
            </a:r>
          </a:p>
          <a:p xmlns:a="http://schemas.openxmlformats.org/drawingml/2006/main">
            <a:r>
              <a:t>      "summary": "야간관광 특화도시 10곳 · 도시별 야간 콘텐츠를 순회형 축제로 묶는 운영 · 공식 여행기사는 개최 도시·장소·운영 시간과 콘텐츠만 제시하며 방문·소비 성과 수치는 제시하지 않음",</a:t>
            </a:r>
          </a:p>
          <a:p xmlns:a="http://schemas.openxmlformats.org/drawingml/2006/main">
            <a:r>
              <a:t>      "source_id": "case:night_festival_2025",</a:t>
            </a:r>
          </a:p>
          <a:p xmlns:a="http://schemas.openxmlformats.org/drawingml/2006/main">
            <a:r>
              <a:t>      "source_url": "https://korean.visitkorea.or.kr/detail/rem_detail.do?cotid=f9c636b2-dd7c-4f09-af3d-6af43b33d371",</a:t>
            </a:r>
          </a:p>
          <a:p xmlns:a="http://schemas.openxmlformats.org/drawingml/2006/main">
            <a:r>
              <a:t>      "case_region": "야간관광 특화도시 10곳",</a:t>
            </a:r>
          </a:p>
          <a:p xmlns:a="http://schemas.openxmlformats.org/drawingml/2006/main">
            <a:r>
              <a:t>      "source_type": "benchmark_case",</a:t>
            </a:r>
          </a:p>
          <a:p xmlns:a="http://schemas.openxmlformats.org/drawingml/2006/main">
            <a:r>
              <a:t>      "intervention": "도시별 야간 콘텐츠를 순회형 축제로 묶는 운영",</a:t>
            </a:r>
          </a:p>
          <a:p xmlns:a="http://schemas.openxmlformats.org/drawingml/2006/main">
            <a:r>
              <a:t>      "operating_model": "10개 야간관광 특화도시의 대표 장소와 시간대를 연결하고, 공연·체험·지역 디저트·판매상품 등 도시별 콘텐츠를 순회 일정으로 운영",</a:t>
            </a:r>
          </a:p>
          <a:p xmlns:a="http://schemas.openxmlformats.org/drawingml/2006/main">
            <a:r>
              <a:t>      "evidence_strength": "medium",</a:t>
            </a:r>
          </a:p>
          <a:p xmlns:a="http://schemas.openxmlformats.org/drawingml/2006/main">
            <a:r>
              <a:t>      "published_or_updated_at": "2025",</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"2024년도 정부업무평가 관광분야 성과자료",</a:t>
            </a:r>
          </a:p>
          <a:p xmlns:a="http://schemas.openxmlformats.org/drawingml/2006/main">
            <a:r>
              <a:t>      "summary": "야간관광 특화도시 10곳 · 상설 야간 콘텐츠와 경관·교통·안전 운영 · 정부업무평가 자료는 특화도시 10곳 방문객이 2023년 같은 기간보다 3% 증가했다고 기록",</a:t>
            </a:r>
          </a:p>
          <a:p xmlns:a="http://schemas.openxmlformats.org/drawingml/2006/main">
            <a:r>
              <a:t>      "source_id": "case:night_tourism_cities_2024",</a:t>
            </a:r>
          </a:p>
          <a:p xmlns:a="http://schemas.openxmlformats.org/drawingml/2006/main">
            <a:r>
              <a:t>      "source_url": "https://www.evaluation.go.kr/upload2/atch/eval/20250429095846463.pdf",</a:t>
            </a:r>
          </a:p>
          <a:p xmlns:a="http://schemas.openxmlformats.org/drawingml/2006/main">
            <a:r>
              <a:t>      "case_region": "야간관광 특화도시 10곳",</a:t>
            </a:r>
          </a:p>
          <a:p xmlns:a="http://schemas.openxmlformats.org/drawingml/2006/main">
            <a:r>
              <a:t>      "source_type": "benchmark_case",</a:t>
            </a:r>
          </a:p>
          <a:p xmlns:a="http://schemas.openxmlformats.org/drawingml/2006/main">
            <a:r>
              <a:t>      "intervention": "상설 야간 콘텐츠와 경관·교통·안전 운영",</a:t>
            </a:r>
          </a:p>
          <a:p xmlns:a="http://schemas.openxmlformats.org/drawingml/2006/main">
            <a:r>
              <a:t>      "operating_model": "지역 스토리를 반영한 야간 프로그램을 상설·행사형으로 운영하고 야간 경관, 이동, 식음, 안전 여건을 함께 구성",</a:t>
            </a:r>
          </a:p>
          <a:p xmlns:a="http://schemas.openxmlformats.org/drawingml/2006/main">
            <a:r>
              <a:t>      "evidence_strength": "medium",</a:t>
            </a:r>
          </a:p>
          <a:p xmlns:a="http://schemas.openxmlformats.org/drawingml/2006/main">
            <a:r>
              <a:t>      "published_or_updated_at": "2025-04-29",</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"selected_forecast": {</a:t>
            </a:r>
          </a:p>
          <a:p xmlns:a="http://schemas.openxmlformats.org/drawingml/2006/main">
            <a:r>
              <a:t>    "rows": [</a:t>
            </a:r>
          </a:p>
          <a:p xmlns:a="http://schemas.openxmlformats.org/drawingml/2006/main">
            <a:r>
              <a:t>      {</a:t>
            </a:r>
          </a:p>
          <a:p xmlns:a="http://schemas.openxmlformats.org/drawingml/2006/main">
            <a:r>
              <a:t>        "month": "202609",</a:t>
            </a:r>
          </a:p>
          <a:p xmlns:a="http://schemas.openxmlformats.org/drawingml/2006/main">
            <a:r>
              <a:t>        "visitors": 1948014.0,</a:t>
            </a:r>
          </a:p>
          <a:p xmlns:a="http://schemas.openxmlformats.org/drawingml/2006/main">
            <a:r>
              <a:t>        "is_forecast": true,</a:t>
            </a:r>
          </a:p>
          <a:p xmlns:a="http://schemas.openxmlformats.org/drawingml/2006/main">
            <a:r>
              <a:t>        "spending_krw": 44854616000.0,</a:t>
            </a:r>
          </a:p>
          <a:p xmlns:a="http://schemas.openxmlformats.org/drawingml/2006/main">
            <a:r>
              <a:t>        "stay_minutes": 2803.0,</a:t>
            </a:r>
          </a:p>
          <a:p xmlns:a="http://schemas.openxmlformats.org/drawingml/2006/main">
            <a:r>
              <a:t>        "lodging_nights": 2.89,</a:t>
            </a:r>
          </a:p>
          <a:p xmlns:a="http://schemas.openxmlformats.org/drawingml/2006/main">
            <a:r>
              <a:t>        "lodging_rate_pct": 14.2,</a:t>
            </a:r>
          </a:p>
          <a:p xmlns:a="http://schemas.openxmlformats.org/drawingml/2006/main">
            <a:r>
              <a:t>        "lodging_searches": 26980,</a:t>
            </a:r>
          </a:p>
          <a:p xmlns:a="http://schemas.openxmlformats.org/drawingml/2006/main">
            <a:r>
              <a:t>        "navigation_searches": 279694,</a:t>
            </a:r>
          </a:p>
          <a:p xmlns:a="http://schemas.openxmlformats.org/drawingml/2006/main">
            <a:r>
              <a:t>        "visitor_yoy_percent": -3.61,</a:t>
            </a:r>
          </a:p>
          <a:p xmlns:a="http://schemas.openxmlformats.org/drawingml/2006/main">
            <a:r>
              <a:t>        "spending_yoy_percent": 0.0,</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0.0</a:t>
            </a:r>
          </a:p>
          <a:p xmlns:a="http://schemas.openxmlformats.org/drawingml/2006/main">
            <a:r>
              <a:t>        },</a:t>
            </a:r>
          </a:p>
          <a:p xmlns:a="http://schemas.openxmlformats.org/drawingml/2006/main">
            <a:r>
              <a:t>        "previous_year_visitors": 2021001,</a:t>
            </a:r>
          </a:p>
          <a:p xmlns:a="http://schemas.openxmlformats.org/drawingml/2006/main">
            <a:r>
              <a:t>        "previous_year_spending_krw": 44854616000,</a:t>
            </a:r>
          </a:p>
          <a:p xmlns:a="http://schemas.openxmlformats.org/drawingml/2006/main">
            <a:r>
              <a:t>        "previous_year_stay_minutes": 2803.0,</a:t>
            </a:r>
          </a:p>
          <a:p xmlns:a="http://schemas.openxmlformats.org/drawingml/2006/main">
            <a:r>
              <a:t>        "previous_year_lodging_nights": 2.89,</a:t>
            </a:r>
          </a:p>
          <a:p xmlns:a="http://schemas.openxmlformats.org/drawingml/2006/main">
            <a:r>
              <a:t>        "previous_year_lodging_rate_pct": 14.2,</a:t>
            </a:r>
          </a:p>
          <a:p xmlns:a="http://schemas.openxmlformats.org/drawingml/2006/main">
            <a:r>
              <a:t>        "previous_year_lodging_searches": 26980,</a:t>
            </a:r>
          </a:p>
          <a:p xmlns:a="http://schemas.openxmlformats.org/drawingml/2006/main">
            <a:r>
              <a:t>        "previous_year_navigation_searches": 279694</a:t>
            </a:r>
          </a:p>
          <a:p xmlns:a="http://schemas.openxmlformats.org/drawingml/2006/main">
            <a:r>
              <a:t>      },</a:t>
            </a:r>
          </a:p>
          <a:p xmlns:a="http://schemas.openxmlformats.org/drawingml/2006/main">
            <a:r>
              <a:t>      {</a:t>
            </a:r>
          </a:p>
          <a:p xmlns:a="http://schemas.openxmlformats.org/drawingml/2006/main">
            <a:r>
              <a:t>        "month": "202610",</a:t>
            </a:r>
          </a:p>
          <a:p xmlns:a="http://schemas.openxmlformats.org/drawingml/2006/main">
            <a:r>
              <a:t>        "visitors": 2278280.0,</a:t>
            </a:r>
          </a:p>
          <a:p xmlns:a="http://schemas.openxmlformats.org/drawingml/2006/main">
            <a:r>
              <a:t>        "is_forecast": true,</a:t>
            </a:r>
          </a:p>
          <a:p xmlns:a="http://schemas.openxmlformats.org/drawingml/2006/main">
            <a:r>
              <a:t>        "spending_krw": 59504900000.0,</a:t>
            </a:r>
          </a:p>
          <a:p xmlns:a="http://schemas.openxmlformats.org/drawingml/2006/main">
            <a:r>
              <a:t>        "stay_minutes": 1597.0,</a:t>
            </a:r>
          </a:p>
          <a:p xmlns:a="http://schemas.openxmlformats.org/drawingml/2006/main">
            <a:r>
              <a:t>        "lodging_nights": 2.69,</a:t>
            </a:r>
          </a:p>
          <a:p xmlns:a="http://schemas.openxmlformats.org/drawingml/2006/main">
            <a:r>
              <a:t>        "lodging_rate_pct": 16.8,</a:t>
            </a:r>
          </a:p>
          <a:p xmlns:a="http://schemas.openxmlformats.org/drawingml/2006/main">
            <a:r>
              <a:t>        "lodging_searches": 58111,</a:t>
            </a:r>
          </a:p>
          <a:p xmlns:a="http://schemas.openxmlformats.org/drawingml/2006/main">
            <a:r>
              <a:t>        "navigation_searches": 584663,</a:t>
            </a:r>
          </a:p>
          <a:p xmlns:a="http://schemas.openxmlformats.org/drawingml/2006/main">
            <a:r>
              <a:t>        "visitor_yoy_percent": -5.58,</a:t>
            </a:r>
          </a:p>
          <a:p xmlns:a="http://schemas.openxmlformats.org/drawingml/2006/main">
            <a:r>
              <a:t>        "spending_yoy_percent": 0.0,</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0.0</a:t>
            </a:r>
          </a:p>
          <a:p xmlns:a="http://schemas.openxmlformats.org/drawingml/2006/main">
            <a:r>
              <a:t>        },</a:t>
            </a:r>
          </a:p>
          <a:p xmlns:a="http://schemas.openxmlformats.org/drawingml/2006/main">
            <a:r>
              <a:t>        "previous_year_visitors": 2412798,</a:t>
            </a:r>
          </a:p>
          <a:p xmlns:a="http://schemas.openxmlformats.org/drawingml/2006/main">
            <a:r>
              <a:t>        "previous_year_spending_krw": 59504900000,</a:t>
            </a:r>
          </a:p>
          <a:p xmlns:a="http://schemas.openxmlformats.org/drawingml/2006/main">
            <a:r>
              <a:t>        "previous_year_stay_minutes": 1597.0,</a:t>
            </a:r>
          </a:p>
          <a:p xmlns:a="http://schemas.openxmlformats.org/drawingml/2006/main">
            <a:r>
              <a:t>        "previous_year_lodging_nights": 2.69,</a:t>
            </a:r>
          </a:p>
          <a:p xmlns:a="http://schemas.openxmlformats.org/drawingml/2006/main">
            <a:r>
              <a:t>        "previous_year_lodging_rate_pct": 16.8,</a:t>
            </a:r>
          </a:p>
          <a:p xmlns:a="http://schemas.openxmlformats.org/drawingml/2006/main">
            <a:r>
              <a:t>        "previous_year_lodging_searches": 58111,</a:t>
            </a:r>
          </a:p>
          <a:p xmlns:a="http://schemas.openxmlformats.org/drawingml/2006/main">
            <a:r>
              <a:t>        "previous_year_navigation_searches": 584663</a:t>
            </a:r>
          </a:p>
          <a:p xmlns:a="http://schemas.openxmlformats.org/drawingml/2006/main">
            <a:r>
              <a:t>      },</a:t>
            </a:r>
          </a:p>
          <a:p xmlns:a="http://schemas.openxmlformats.org/drawingml/2006/main">
            <a:r>
              <a:t>      {</a:t>
            </a:r>
          </a:p>
          <a:p xmlns:a="http://schemas.openxmlformats.org/drawingml/2006/main">
            <a:r>
              <a:t>        "month": "202611",</a:t>
            </a:r>
          </a:p>
          <a:p xmlns:a="http://schemas.openxmlformats.org/drawingml/2006/main">
            <a:r>
              <a:t>        "visitors": 2018187.0,</a:t>
            </a:r>
          </a:p>
          <a:p xmlns:a="http://schemas.openxmlformats.org/drawingml/2006/main">
            <a:r>
              <a:t>        "is_forecast": true,</a:t>
            </a:r>
          </a:p>
          <a:p xmlns:a="http://schemas.openxmlformats.org/drawingml/2006/main">
            <a:r>
              <a:t>        "spending_krw": 50330837000.0,</a:t>
            </a:r>
          </a:p>
          <a:p xmlns:a="http://schemas.openxmlformats.org/drawingml/2006/main">
            <a:r>
              <a:t>        "stay_minutes": 1501.0,</a:t>
            </a:r>
          </a:p>
          <a:p xmlns:a="http://schemas.openxmlformats.org/drawingml/2006/main">
            <a:r>
              <a:t>        "lodging_nights": 2.62,</a:t>
            </a:r>
          </a:p>
          <a:p xmlns:a="http://schemas.openxmlformats.org/drawingml/2006/main">
            <a:r>
              <a:t>        "lodging_rate_pct": 13.4,</a:t>
            </a:r>
          </a:p>
          <a:p xmlns:a="http://schemas.openxmlformats.org/drawingml/2006/main">
            <a:r>
              <a:t>        "lodging_searches": 30423,</a:t>
            </a:r>
          </a:p>
          <a:p xmlns:a="http://schemas.openxmlformats.org/drawingml/2006/main">
            <a:r>
              <a:t>        "navigation_searches": 322218,</a:t>
            </a:r>
          </a:p>
          <a:p xmlns:a="http://schemas.openxmlformats.org/drawingml/2006/main">
            <a:r>
              <a:t>        "visitor_yoy_percent": -1.67,</a:t>
            </a:r>
          </a:p>
          <a:p xmlns:a="http://schemas.openxmlformats.org/drawingml/2006/main">
            <a:r>
              <a:t>        "spending_yoy_percent": 0.0,</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0.0</a:t>
            </a:r>
          </a:p>
          <a:p xmlns:a="http://schemas.openxmlformats.org/drawingml/2006/main">
            <a:r>
              <a:t>        },</a:t>
            </a:r>
          </a:p>
          <a:p xmlns:a="http://schemas.openxmlformats.org/drawingml/2006/main">
            <a:r>
              <a:t>        "previous_year_visitors": 2052480,</a:t>
            </a:r>
          </a:p>
          <a:p xmlns:a="http://schemas.openxmlformats.org/drawingml/2006/main">
            <a:r>
              <a:t>        "previous_year_spending_krw": 50330837000,</a:t>
            </a:r>
          </a:p>
          <a:p xmlns:a="http://schemas.openxmlformats.org/drawingml/2006/main">
            <a:r>
              <a:t>        "previous_year_stay_minutes": 1501.0,</a:t>
            </a:r>
          </a:p>
          <a:p xmlns:a="http://schemas.openxmlformats.org/drawingml/2006/main">
            <a:r>
              <a:t>        "previous_year_lodging_nights": 2.62,</a:t>
            </a:r>
          </a:p>
          <a:p xmlns:a="http://schemas.openxmlformats.org/drawingml/2006/main">
            <a:r>
              <a:t>        "previous_year_lodging_rate_pct": 13.4,</a:t>
            </a:r>
          </a:p>
          <a:p xmlns:a="http://schemas.openxmlformats.org/drawingml/2006/main">
            <a:r>
              <a:t>        "previous_year_lodging_searches": 30423,</a:t>
            </a:r>
          </a:p>
          <a:p xmlns:a="http://schemas.openxmlformats.org/drawingml/2006/main">
            <a:r>
              <a:t>        "previous_year_navigation_searches": 322218</a:t>
            </a:r>
          </a:p>
          <a:p xmlns:a="http://schemas.openxmlformats.org/drawingml/2006/main">
            <a:r>
              <a:t>      }</a:t>
            </a:r>
          </a:p>
          <a:p xmlns:a="http://schemas.openxmlformats.org/drawingml/2006/main">
            <a:r>
              <a:t>    ],</a:t>
            </a:r>
          </a:p>
          <a:p xmlns:a="http://schemas.openxmlformats.org/drawingml/2006/main">
            <a:r>
              <a:t>    "period": "202609~202611",</a:t>
            </a:r>
          </a:p>
          <a:p xmlns:a="http://schemas.openxmlformats.org/drawingml/2006/main">
            <a:r>
              <a:t>    "complete": true,</a:t>
            </a:r>
          </a:p>
          <a:p xmlns:a="http://schemas.openxmlformats.org/drawingml/2006/main">
            <a:r>
              <a:t>    "notes": [</a:t>
            </a:r>
          </a:p>
          <a:p xmlns:a="http://schemas.openxmlformats.org/drawingml/2006/main">
            <a:r>
              <a:t>      "3개월 초과 예측 거리는 재귀 검증 범위 밖의 탐색 전망입니다."</a:t>
            </a:r>
          </a:p>
          <a:p xmlns:a="http://schemas.openxmlformats.org/drawingml/2006/main">
            <a:r>
              <a:t>    ],</a:t>
            </a:r>
          </a:p>
          <a:p xmlns:a="http://schemas.openxmlformats.org/drawingml/2006/main">
            <a:r>
              <a:t>    "selection_basis": "strategy_timeframe",</a:t>
            </a:r>
          </a:p>
          <a:p xmlns:a="http://schemas.openxmlformats.org/drawingml/2006/main">
            <a:r>
              <a:t>    "requested_period": "202609~202611"</a:t>
            </a:r>
          </a:p>
          <a:p xmlns:a="http://schemas.openxmlformats.org/drawingml/2006/main">
            <a:r>
              <a:t>  },</a:t>
            </a:r>
          </a:p>
          <a:p xmlns:a="http://schemas.openxmlformats.org/drawingml/2006/main">
            <a:r>
              <a:t>  "all_ml_forecasts": [</a:t>
            </a:r>
          </a:p>
          <a:p xmlns:a="http://schemas.openxmlformats.org/drawingml/2006/main">
            <a:r>
              <a:t>    {</a:t>
            </a:r>
          </a:p>
          <a:p xmlns:a="http://schemas.openxmlformats.org/drawingml/2006/main">
            <a:r>
              <a:t>      "month": "202607",</a:t>
            </a:r>
          </a:p>
          <a:p xmlns:a="http://schemas.openxmlformats.org/drawingml/2006/main">
            <a:r>
              <a:t>      "visitors": 1935310,</a:t>
            </a:r>
          </a:p>
          <a:p xmlns:a="http://schemas.openxmlformats.org/drawingml/2006/main">
            <a:r>
              <a:t>      "is_forecast": true,</a:t>
            </a:r>
          </a:p>
          <a:p xmlns:a="http://schemas.openxmlformats.org/drawingml/2006/main">
            <a:r>
              <a:t>      "spending_krw": 46823670000,</a:t>
            </a:r>
          </a:p>
          <a:p xmlns:a="http://schemas.openxmlformats.org/drawingml/2006/main">
            <a:r>
              <a:t>      "stay_minutes": 1818.0,</a:t>
            </a:r>
          </a:p>
          <a:p xmlns:a="http://schemas.openxmlformats.org/drawingml/2006/main">
            <a:r>
              <a:t>      "lodging_nights": 2.62,</a:t>
            </a:r>
          </a:p>
          <a:p xmlns:a="http://schemas.openxmlformats.org/drawingml/2006/main">
            <a:r>
              <a:t>      "lodging_rate_pct": 16.7,</a:t>
            </a:r>
          </a:p>
          <a:p xmlns:a="http://schemas.openxmlformats.org/drawingml/2006/main">
            <a:r>
              <a:t>      "lodging_searches": 35770,</a:t>
            </a:r>
          </a:p>
          <a:p xmlns:a="http://schemas.openxmlformats.org/drawingml/2006/main">
            <a:r>
              <a:t>      "navigation_searches": 320422,</a:t>
            </a:r>
          </a:p>
          <a:p xmlns:a="http://schemas.openxmlformats.org/drawingml/2006/main">
            <a:r>
              <a:t>      "visitor_yoy_percent": -2.93,</a:t>
            </a:r>
          </a:p>
          <a:p xmlns:a="http://schemas.openxmlformats.org/drawingml/2006/main">
            <a:r>
              <a:t>      "spending_yoy_percent": 0.0,</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0.0</a:t>
            </a:r>
          </a:p>
          <a:p xmlns:a="http://schemas.openxmlformats.org/drawingml/2006/main">
            <a:r>
              <a:t>      },</a:t>
            </a:r>
          </a:p>
          <a:p xmlns:a="http://schemas.openxmlformats.org/drawingml/2006/main">
            <a:r>
              <a:t>      "previous_year_visitors": 1993752,</a:t>
            </a:r>
          </a:p>
          <a:p xmlns:a="http://schemas.openxmlformats.org/drawingml/2006/main">
            <a:r>
              <a:t>      "previous_year_spending_krw": 46823670000,</a:t>
            </a:r>
          </a:p>
          <a:p xmlns:a="http://schemas.openxmlformats.org/drawingml/2006/main">
            <a:r>
              <a:t>      "previous_year_stay_minutes": 1818.0,</a:t>
            </a:r>
          </a:p>
          <a:p xmlns:a="http://schemas.openxmlformats.org/drawingml/2006/main">
            <a:r>
              <a:t>      "previous_year_lodging_nights": 2.62,</a:t>
            </a:r>
          </a:p>
          <a:p xmlns:a="http://schemas.openxmlformats.org/drawingml/2006/main">
            <a:r>
              <a:t>      "previous_year_lodging_rate_pct": 16.7,</a:t>
            </a:r>
          </a:p>
          <a:p xmlns:a="http://schemas.openxmlformats.org/drawingml/2006/main">
            <a:r>
              <a:t>      "previous_year_lodging_searches": 35770,</a:t>
            </a:r>
          </a:p>
          <a:p xmlns:a="http://schemas.openxmlformats.org/drawingml/2006/main">
            <a:r>
              <a:t>      "previous_year_navigation_searches": 320422</a:t>
            </a:r>
          </a:p>
          <a:p xmlns:a="http://schemas.openxmlformats.org/drawingml/2006/main">
            <a:r>
              <a:t>    },</a:t>
            </a:r>
          </a:p>
          <a:p xmlns:a="http://schemas.openxmlformats.org/drawingml/2006/main">
            <a:r>
              <a:t>    {</a:t>
            </a:r>
          </a:p>
          <a:p xmlns:a="http://schemas.openxmlformats.org/drawingml/2006/main">
            <a:r>
              <a:t>      "month": "202608",</a:t>
            </a:r>
          </a:p>
          <a:p xmlns:a="http://schemas.openxmlformats.org/drawingml/2006/main">
            <a:r>
              <a:t>      "visitors": 2139254,</a:t>
            </a:r>
          </a:p>
          <a:p xmlns:a="http://schemas.openxmlformats.org/drawingml/2006/main">
            <a:r>
              <a:t>      "is_forecast": true,</a:t>
            </a:r>
          </a:p>
          <a:p xmlns:a="http://schemas.openxmlformats.org/drawingml/2006/main">
            <a:r>
              <a:t>      "spending_krw": 51770552000,</a:t>
            </a:r>
          </a:p>
          <a:p xmlns:a="http://schemas.openxmlformats.org/drawingml/2006/main">
            <a:r>
              <a:t>      "stay_minutes": 1673.0,</a:t>
            </a:r>
          </a:p>
          <a:p xmlns:a="http://schemas.openxmlformats.org/drawingml/2006/main">
            <a:r>
              <a:t>      "lodging_nights": 2.58,</a:t>
            </a:r>
          </a:p>
          <a:p xmlns:a="http://schemas.openxmlformats.org/drawingml/2006/main">
            <a:r>
              <a:t>      "lodging_rate_pct": 17.5,</a:t>
            </a:r>
          </a:p>
          <a:p xmlns:a="http://schemas.openxmlformats.org/drawingml/2006/main">
            <a:r>
              <a:t>      "lodging_searches": 42261,</a:t>
            </a:r>
          </a:p>
          <a:p xmlns:a="http://schemas.openxmlformats.org/drawingml/2006/main">
            <a:r>
              <a:t>      "navigation_searches": 378299,</a:t>
            </a:r>
          </a:p>
          <a:p xmlns:a="http://schemas.openxmlformats.org/drawingml/2006/main">
            <a:r>
              <a:t>      "visitor_yoy_percent": -5.08,</a:t>
            </a:r>
          </a:p>
          <a:p xmlns:a="http://schemas.openxmlformats.org/drawingml/2006/main">
            <a:r>
              <a:t>      "spending_yoy_percent": 0.0,</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0.0</a:t>
            </a:r>
          </a:p>
          <a:p xmlns:a="http://schemas.openxmlformats.org/drawingml/2006/main">
            <a:r>
              <a:t>      },</a:t>
            </a:r>
          </a:p>
          <a:p xmlns:a="http://schemas.openxmlformats.org/drawingml/2006/main">
            <a:r>
              <a:t>      "previous_year_visitors": 2253751,</a:t>
            </a:r>
          </a:p>
          <a:p xmlns:a="http://schemas.openxmlformats.org/drawingml/2006/main">
            <a:r>
              <a:t>      "previous_year_spending_krw": 51770552000,</a:t>
            </a:r>
          </a:p>
          <a:p xmlns:a="http://schemas.openxmlformats.org/drawingml/2006/main">
            <a:r>
              <a:t>      "previous_year_stay_minutes": 1673.0,</a:t>
            </a:r>
          </a:p>
          <a:p xmlns:a="http://schemas.openxmlformats.org/drawingml/2006/main">
            <a:r>
              <a:t>      "previous_year_lodging_nights": 2.58,</a:t>
            </a:r>
          </a:p>
          <a:p xmlns:a="http://schemas.openxmlformats.org/drawingml/2006/main">
            <a:r>
              <a:t>      "previous_year_lodging_rate_pct": 17.5,</a:t>
            </a:r>
          </a:p>
          <a:p xmlns:a="http://schemas.openxmlformats.org/drawingml/2006/main">
            <a:r>
              <a:t>      "previous_year_lodging_searches": 42261,</a:t>
            </a:r>
          </a:p>
          <a:p xmlns:a="http://schemas.openxmlformats.org/drawingml/2006/main">
            <a:r>
              <a:t>      "previous_year_navigation_searches": 378299</a:t>
            </a:r>
          </a:p>
          <a:p xmlns:a="http://schemas.openxmlformats.org/drawingml/2006/main">
            <a:r>
              <a:t>    },</a:t>
            </a:r>
          </a:p>
          <a:p xmlns:a="http://schemas.openxmlformats.org/drawingml/2006/main">
            <a:r>
              <a:t>    {</a:t>
            </a:r>
          </a:p>
          <a:p xmlns:a="http://schemas.openxmlformats.org/drawingml/2006/main">
            <a:r>
              <a:t>      "month": "202609",</a:t>
            </a:r>
          </a:p>
          <a:p xmlns:a="http://schemas.openxmlformats.org/drawingml/2006/main">
            <a:r>
              <a:t>      "visitors": 1948014,</a:t>
            </a:r>
          </a:p>
          <a:p xmlns:a="http://schemas.openxmlformats.org/drawingml/2006/main">
            <a:r>
              <a:t>      "is_forecast": true,</a:t>
            </a:r>
          </a:p>
          <a:p xmlns:a="http://schemas.openxmlformats.org/drawingml/2006/main">
            <a:r>
              <a:t>      "spending_krw": 44854616000,</a:t>
            </a:r>
          </a:p>
          <a:p xmlns:a="http://schemas.openxmlformats.org/drawingml/2006/main">
            <a:r>
              <a:t>      "stay_minutes": 2803.0,</a:t>
            </a:r>
          </a:p>
          <a:p xmlns:a="http://schemas.openxmlformats.org/drawingml/2006/main">
            <a:r>
              <a:t>      "lodging_nights": 2.89,</a:t>
            </a:r>
          </a:p>
          <a:p xmlns:a="http://schemas.openxmlformats.org/drawingml/2006/main">
            <a:r>
              <a:t>      "lodging_rate_pct": 14.2,</a:t>
            </a:r>
          </a:p>
          <a:p xmlns:a="http://schemas.openxmlformats.org/drawingml/2006/main">
            <a:r>
              <a:t>      "lodging_searches": 26980,</a:t>
            </a:r>
          </a:p>
          <a:p xmlns:a="http://schemas.openxmlformats.org/drawingml/2006/main">
            <a:r>
              <a:t>      "navigation_searches": 279694,</a:t>
            </a:r>
          </a:p>
          <a:p xmlns:a="http://schemas.openxmlformats.org/drawingml/2006/main">
            <a:r>
              <a:t>      "visitor_yoy_percent": -3.61,</a:t>
            </a:r>
          </a:p>
          <a:p xmlns:a="http://schemas.openxmlformats.org/drawingml/2006/main">
            <a:r>
              <a:t>      "spending_yoy_percent": 0.0,</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0.0</a:t>
            </a:r>
          </a:p>
          <a:p xmlns:a="http://schemas.openxmlformats.org/drawingml/2006/main">
            <a:r>
              <a:t>      },</a:t>
            </a:r>
          </a:p>
          <a:p xmlns:a="http://schemas.openxmlformats.org/drawingml/2006/main">
            <a:r>
              <a:t>      "previous_year_visitors": 2021001,</a:t>
            </a:r>
          </a:p>
          <a:p xmlns:a="http://schemas.openxmlformats.org/drawingml/2006/main">
            <a:r>
              <a:t>      "previous_year_spending_krw": 44854616000,</a:t>
            </a:r>
          </a:p>
          <a:p xmlns:a="http://schemas.openxmlformats.org/drawingml/2006/main">
            <a:r>
              <a:t>      "previous_year_stay_minutes": 2803.0,</a:t>
            </a:r>
          </a:p>
          <a:p xmlns:a="http://schemas.openxmlformats.org/drawingml/2006/main">
            <a:r>
              <a:t>      "previous_year_lodging_nights": 2.89,</a:t>
            </a:r>
          </a:p>
          <a:p xmlns:a="http://schemas.openxmlformats.org/drawingml/2006/main">
            <a:r>
              <a:t>      "previous_year_lodging_rate_pct": 14.2,</a:t>
            </a:r>
          </a:p>
          <a:p xmlns:a="http://schemas.openxmlformats.org/drawingml/2006/main">
            <a:r>
              <a:t>      "previous_year_lodging_searches": 26980,</a:t>
            </a:r>
          </a:p>
          <a:p xmlns:a="http://schemas.openxmlformats.org/drawingml/2006/main">
            <a:r>
              <a:t>      "previous_year_navigation_searches": 279694</a:t>
            </a:r>
          </a:p>
          <a:p xmlns:a="http://schemas.openxmlformats.org/drawingml/2006/main">
            <a:r>
              <a:t>    },</a:t>
            </a:r>
          </a:p>
          <a:p xmlns:a="http://schemas.openxmlformats.org/drawingml/2006/main">
            <a:r>
              <a:t>    {</a:t>
            </a:r>
          </a:p>
          <a:p xmlns:a="http://schemas.openxmlformats.org/drawingml/2006/main">
            <a:r>
              <a:t>      "month": "202610",</a:t>
            </a:r>
          </a:p>
          <a:p xmlns:a="http://schemas.openxmlformats.org/drawingml/2006/main">
            <a:r>
              <a:t>      "visitors": 2278280,</a:t>
            </a:r>
          </a:p>
          <a:p xmlns:a="http://schemas.openxmlformats.org/drawingml/2006/main">
            <a:r>
              <a:t>      "is_forecast": true,</a:t>
            </a:r>
          </a:p>
          <a:p xmlns:a="http://schemas.openxmlformats.org/drawingml/2006/main">
            <a:r>
              <a:t>      "spending_krw": 59504900000,</a:t>
            </a:r>
          </a:p>
          <a:p xmlns:a="http://schemas.openxmlformats.org/drawingml/2006/main">
            <a:r>
              <a:t>      "stay_minutes": 1597.0,</a:t>
            </a:r>
          </a:p>
          <a:p xmlns:a="http://schemas.openxmlformats.org/drawingml/2006/main">
            <a:r>
              <a:t>      "lodging_nights": 2.69,</a:t>
            </a:r>
          </a:p>
          <a:p xmlns:a="http://schemas.openxmlformats.org/drawingml/2006/main">
            <a:r>
              <a:t>      "lodging_rate_pct": 16.8,</a:t>
            </a:r>
          </a:p>
          <a:p xmlns:a="http://schemas.openxmlformats.org/drawingml/2006/main">
            <a:r>
              <a:t>      "lodging_searches": 58111,</a:t>
            </a:r>
          </a:p>
          <a:p xmlns:a="http://schemas.openxmlformats.org/drawingml/2006/main">
            <a:r>
              <a:t>      "navigation_searches": 584663,</a:t>
            </a:r>
          </a:p>
          <a:p xmlns:a="http://schemas.openxmlformats.org/drawingml/2006/main">
            <a:r>
              <a:t>      "visitor_yoy_percent": -5.58,</a:t>
            </a:r>
          </a:p>
          <a:p xmlns:a="http://schemas.openxmlformats.org/drawingml/2006/main">
            <a:r>
              <a:t>      "spending_yoy_percent": 0.0,</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0.0</a:t>
            </a:r>
          </a:p>
          <a:p xmlns:a="http://schemas.openxmlformats.org/drawingml/2006/main">
            <a:r>
              <a:t>      },</a:t>
            </a:r>
          </a:p>
          <a:p xmlns:a="http://schemas.openxmlformats.org/drawingml/2006/main">
            <a:r>
              <a:t>      "previous_year_visitors": 2412798,</a:t>
            </a:r>
          </a:p>
          <a:p xmlns:a="http://schemas.openxmlformats.org/drawingml/2006/main">
            <a:r>
              <a:t>      "previous_year_spending_krw": 59504900000,</a:t>
            </a:r>
          </a:p>
          <a:p xmlns:a="http://schemas.openxmlformats.org/drawingml/2006/main">
            <a:r>
              <a:t>      "previous_year_stay_minutes": 1597.0,</a:t>
            </a:r>
          </a:p>
          <a:p xmlns:a="http://schemas.openxmlformats.org/drawingml/2006/main">
            <a:r>
              <a:t>      "previous_year_lodging_nights": 2.69,</a:t>
            </a:r>
          </a:p>
          <a:p xmlns:a="http://schemas.openxmlformats.org/drawingml/2006/main">
            <a:r>
              <a:t>      "previous_year_lodging_rate_pct": 16.8,</a:t>
            </a:r>
          </a:p>
          <a:p xmlns:a="http://schemas.openxmlformats.org/drawingml/2006/main">
            <a:r>
              <a:t>      "previous_year_lodging_searches": 58111,</a:t>
            </a:r>
          </a:p>
          <a:p xmlns:a="http://schemas.openxmlformats.org/drawingml/2006/main">
            <a:r>
              <a:t>      "previous_year_navigation_searches": 584663</a:t>
            </a:r>
          </a:p>
          <a:p xmlns:a="http://schemas.openxmlformats.org/drawingml/2006/main">
            <a:r>
              <a:t>    },</a:t>
            </a:r>
          </a:p>
          <a:p xmlns:a="http://schemas.openxmlformats.org/drawingml/2006/main">
            <a:r>
              <a:t>    {</a:t>
            </a:r>
          </a:p>
          <a:p xmlns:a="http://schemas.openxmlformats.org/drawingml/2006/main">
            <a:r>
              <a:t>      "month": "202611",</a:t>
            </a:r>
          </a:p>
          <a:p xmlns:a="http://schemas.openxmlformats.org/drawingml/2006/main">
            <a:r>
              <a:t>      "visitors": 2018187,</a:t>
            </a:r>
          </a:p>
          <a:p xmlns:a="http://schemas.openxmlformats.org/drawingml/2006/main">
            <a:r>
              <a:t>      "is_forecast": true,</a:t>
            </a:r>
          </a:p>
          <a:p xmlns:a="http://schemas.openxmlformats.org/drawingml/2006/main">
            <a:r>
              <a:t>      "spending_krw": 50330837000,</a:t>
            </a:r>
          </a:p>
          <a:p xmlns:a="http://schemas.openxmlformats.org/drawingml/2006/main">
            <a:r>
              <a:t>      "stay_minutes": 1501.0,</a:t>
            </a:r>
          </a:p>
          <a:p xmlns:a="http://schemas.openxmlformats.org/drawingml/2006/main">
            <a:r>
              <a:t>      "lodging_nights": 2.62,</a:t>
            </a:r>
          </a:p>
          <a:p xmlns:a="http://schemas.openxmlformats.org/drawingml/2006/main">
            <a:r>
              <a:t>      "lodging_rate_pct": 13.4,</a:t>
            </a:r>
          </a:p>
          <a:p xmlns:a="http://schemas.openxmlformats.org/drawingml/2006/main">
            <a:r>
              <a:t>      "lodging_searches": 30423,</a:t>
            </a:r>
          </a:p>
          <a:p xmlns:a="http://schemas.openxmlformats.org/drawingml/2006/main">
            <a:r>
              <a:t>      "navigation_searches": 322218,</a:t>
            </a:r>
          </a:p>
          <a:p xmlns:a="http://schemas.openxmlformats.org/drawingml/2006/main">
            <a:r>
              <a:t>      "visitor_yoy_percent": -1.67,</a:t>
            </a:r>
          </a:p>
          <a:p xmlns:a="http://schemas.openxmlformats.org/drawingml/2006/main">
            <a:r>
              <a:t>      "spending_yoy_percent": 0.0,</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0.0</a:t>
            </a:r>
          </a:p>
          <a:p xmlns:a="http://schemas.openxmlformats.org/drawingml/2006/main">
            <a:r>
              <a:t>      },</a:t>
            </a:r>
          </a:p>
          <a:p xmlns:a="http://schemas.openxmlformats.org/drawingml/2006/main">
            <a:r>
              <a:t>      "previous_year_visitors": 2052480,</a:t>
            </a:r>
          </a:p>
          <a:p xmlns:a="http://schemas.openxmlformats.org/drawingml/2006/main">
            <a:r>
              <a:t>      "previous_year_spending_krw": 50330837000,</a:t>
            </a:r>
          </a:p>
          <a:p xmlns:a="http://schemas.openxmlformats.org/drawingml/2006/main">
            <a:r>
              <a:t>      "previous_year_stay_minutes": 1501.0,</a:t>
            </a:r>
          </a:p>
          <a:p xmlns:a="http://schemas.openxmlformats.org/drawingml/2006/main">
            <a:r>
              <a:t>      "previous_year_lodging_nights": 2.62,</a:t>
            </a:r>
          </a:p>
          <a:p xmlns:a="http://schemas.openxmlformats.org/drawingml/2006/main">
            <a:r>
              <a:t>      "previous_year_lodging_rate_pct": 13.4,</a:t>
            </a:r>
          </a:p>
          <a:p xmlns:a="http://schemas.openxmlformats.org/drawingml/2006/main">
            <a:r>
              <a:t>      "previous_year_lodging_searches": 30423,</a:t>
            </a:r>
          </a:p>
          <a:p xmlns:a="http://schemas.openxmlformats.org/drawingml/2006/main">
            <a:r>
              <a:t>      "previous_year_navigation_searches": 322218</a:t>
            </a:r>
          </a:p>
          <a:p xmlns:a="http://schemas.openxmlformats.org/drawingml/2006/main">
            <a:r>
              <a:t>    },</a:t>
            </a:r>
          </a:p>
          <a:p xmlns:a="http://schemas.openxmlformats.org/drawingml/2006/main">
            <a:r>
              <a:t>    {</a:t>
            </a:r>
          </a:p>
          <a:p xmlns:a="http://schemas.openxmlformats.org/drawingml/2006/main">
            <a:r>
              <a:t>      "month": "202612",</a:t>
            </a:r>
          </a:p>
          <a:p xmlns:a="http://schemas.openxmlformats.org/drawingml/2006/main">
            <a:r>
              <a:t>      "visitors": 1733965,</a:t>
            </a:r>
          </a:p>
          <a:p xmlns:a="http://schemas.openxmlformats.org/drawingml/2006/main">
            <a:r>
              <a:t>      "is_forecast": true,</a:t>
            </a:r>
          </a:p>
          <a:p xmlns:a="http://schemas.openxmlformats.org/drawingml/2006/main">
            <a:r>
              <a:t>      "spending_krw": 39693334000,</a:t>
            </a:r>
          </a:p>
          <a:p xmlns:a="http://schemas.openxmlformats.org/drawingml/2006/main">
            <a:r>
              <a:t>      "stay_minutes": 1807.0,</a:t>
            </a:r>
          </a:p>
          <a:p xmlns:a="http://schemas.openxmlformats.org/drawingml/2006/main">
            <a:r>
              <a:t>      "lodging_nights": 2.67,</a:t>
            </a:r>
          </a:p>
          <a:p xmlns:a="http://schemas.openxmlformats.org/drawingml/2006/main">
            <a:r>
              <a:t>      "lodging_rate_pct": 15.5,</a:t>
            </a:r>
          </a:p>
          <a:p xmlns:a="http://schemas.openxmlformats.org/drawingml/2006/main">
            <a:r>
              <a:t>      "lodging_searches": 24221,</a:t>
            </a:r>
          </a:p>
          <a:p xmlns:a="http://schemas.openxmlformats.org/drawingml/2006/main">
            <a:r>
              <a:t>      "navigation_searches": 217678,</a:t>
            </a:r>
          </a:p>
          <a:p xmlns:a="http://schemas.openxmlformats.org/drawingml/2006/main">
            <a:r>
              <a:t>      "visitor_yoy_percent": 2.84,</a:t>
            </a:r>
          </a:p>
          <a:p xmlns:a="http://schemas.openxmlformats.org/drawingml/2006/main">
            <a:r>
              <a:t>      "spending_yoy_percent": 0.0,</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0.0</a:t>
            </a:r>
          </a:p>
          <a:p xmlns:a="http://schemas.openxmlformats.org/drawingml/2006/main">
            <a:r>
              <a:t>      },</a:t>
            </a:r>
          </a:p>
          <a:p xmlns:a="http://schemas.openxmlformats.org/drawingml/2006/main">
            <a:r>
              <a:t>      "previous_year_visitors": 1686121,</a:t>
            </a:r>
          </a:p>
          <a:p xmlns:a="http://schemas.openxmlformats.org/drawingml/2006/main">
            <a:r>
              <a:t>      "previous_year_spending_krw": 39693334000,</a:t>
            </a:r>
          </a:p>
          <a:p xmlns:a="http://schemas.openxmlformats.org/drawingml/2006/main">
            <a:r>
              <a:t>      "previous_year_stay_minutes": 1807.0,</a:t>
            </a:r>
          </a:p>
          <a:p xmlns:a="http://schemas.openxmlformats.org/drawingml/2006/main">
            <a:r>
              <a:t>      "previous_year_lodging_nights": 2.67,</a:t>
            </a:r>
          </a:p>
          <a:p xmlns:a="http://schemas.openxmlformats.org/drawingml/2006/main">
            <a:r>
              <a:t>      "previous_year_lodging_rate_pct": 15.5,</a:t>
            </a:r>
          </a:p>
          <a:p xmlns:a="http://schemas.openxmlformats.org/drawingml/2006/main">
            <a:r>
              <a:t>      "previous_year_lodging_searches": 24221,</a:t>
            </a:r>
          </a:p>
          <a:p xmlns:a="http://schemas.openxmlformats.org/drawingml/2006/main">
            <a:r>
              <a:t>      "previous_year_navigation_searches": 217678</a:t>
            </a:r>
          </a:p>
          <a:p xmlns:a="http://schemas.openxmlformats.org/drawingml/2006/main">
            <a:r>
              <a:t>    },</a:t>
            </a:r>
          </a:p>
          <a:p xmlns:a="http://schemas.openxmlformats.org/drawingml/2006/main">
            <a:r>
              <a:t>    {</a:t>
            </a:r>
          </a:p>
          <a:p xmlns:a="http://schemas.openxmlformats.org/drawingml/2006/main">
            <a:r>
              <a:t>      "month": "202701",</a:t>
            </a:r>
          </a:p>
          <a:p xmlns:a="http://schemas.openxmlformats.org/drawingml/2006/main">
            <a:r>
              <a:t>      "visitors": 1735449,</a:t>
            </a:r>
          </a:p>
          <a:p xmlns:a="http://schemas.openxmlformats.org/drawingml/2006/main">
            <a:r>
              <a:t>      "is_forecast": true,</a:t>
            </a:r>
          </a:p>
          <a:p xmlns:a="http://schemas.openxmlformats.org/drawingml/2006/main">
            <a:r>
              <a:t>      "spending_krw": 39173323000,</a:t>
            </a:r>
          </a:p>
          <a:p xmlns:a="http://schemas.openxmlformats.org/drawingml/2006/main">
            <a:r>
              <a:t>      "stay_minutes": 1900.0,</a:t>
            </a:r>
          </a:p>
          <a:p xmlns:a="http://schemas.openxmlformats.org/drawingml/2006/main">
            <a:r>
              <a:t>      "lodging_nights": 2.68,</a:t>
            </a:r>
          </a:p>
          <a:p xmlns:a="http://schemas.openxmlformats.org/drawingml/2006/main">
            <a:r>
              <a:t>      "lodging_rate_pct": 16.0,</a:t>
            </a:r>
          </a:p>
          <a:p xmlns:a="http://schemas.openxmlformats.org/drawingml/2006/main">
            <a:r>
              <a:t>      "lodging_searches": 27644,</a:t>
            </a:r>
          </a:p>
          <a:p xmlns:a="http://schemas.openxmlformats.org/drawingml/2006/main">
            <a:r>
              <a:t>      "navigation_searches": 223981,</a:t>
            </a:r>
          </a:p>
          <a:p xmlns:a="http://schemas.openxmlformats.org/drawingml/2006/main">
            <a:r>
              <a:t>      "visitor_yoy_percent": 1.42,</a:t>
            </a:r>
          </a:p>
          <a:p xmlns:a="http://schemas.openxmlformats.org/drawingml/2006/main">
            <a:r>
              <a:t>      "spending_yoy_percent": 0.0,</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0.0</a:t>
            </a:r>
          </a:p>
          <a:p xmlns:a="http://schemas.openxmlformats.org/drawingml/2006/main">
            <a:r>
              <a:t>      },</a:t>
            </a:r>
          </a:p>
          <a:p xmlns:a="http://schemas.openxmlformats.org/drawingml/2006/main">
            <a:r>
              <a:t>      "previous_year_visitors": 1711231,</a:t>
            </a:r>
          </a:p>
          <a:p xmlns:a="http://schemas.openxmlformats.org/drawingml/2006/main">
            <a:r>
              <a:t>      "previous_year_spending_krw": 39173323000,</a:t>
            </a:r>
          </a:p>
          <a:p xmlns:a="http://schemas.openxmlformats.org/drawingml/2006/main">
            <a:r>
              <a:t>      "previous_year_stay_minutes": 1900.0,</a:t>
            </a:r>
          </a:p>
          <a:p xmlns:a="http://schemas.openxmlformats.org/drawingml/2006/main">
            <a:r>
              <a:t>      "previous_year_lodging_nights": 2.68,</a:t>
            </a:r>
          </a:p>
          <a:p xmlns:a="http://schemas.openxmlformats.org/drawingml/2006/main">
            <a:r>
              <a:t>      "previous_year_lodging_rate_pct": 16.0,</a:t>
            </a:r>
          </a:p>
          <a:p xmlns:a="http://schemas.openxmlformats.org/drawingml/2006/main">
            <a:r>
              <a:t>      "previous_year_lodging_searches": 27644,</a:t>
            </a:r>
          </a:p>
          <a:p xmlns:a="http://schemas.openxmlformats.org/drawingml/2006/main">
            <a:r>
              <a:t>      "previous_year_navigation_searches": 223981</a:t>
            </a:r>
          </a:p>
          <a:p xmlns:a="http://schemas.openxmlformats.org/drawingml/2006/main">
            <a:r>
              <a:t>    },</a:t>
            </a:r>
          </a:p>
          <a:p xmlns:a="http://schemas.openxmlformats.org/drawingml/2006/main">
            <a:r>
              <a:t>    {</a:t>
            </a:r>
          </a:p>
          <a:p xmlns:a="http://schemas.openxmlformats.org/drawingml/2006/main">
            <a:r>
              <a:t>      "month": "202702",</a:t>
            </a:r>
          </a:p>
          <a:p xmlns:a="http://schemas.openxmlformats.org/drawingml/2006/main">
            <a:r>
              <a:t>      "visitors": 1722995,</a:t>
            </a:r>
          </a:p>
          <a:p xmlns:a="http://schemas.openxmlformats.org/drawingml/2006/main">
            <a:r>
              <a:t>      "is_forecast": true,</a:t>
            </a:r>
          </a:p>
          <a:p xmlns:a="http://schemas.openxmlformats.org/drawingml/2006/main">
            <a:r>
              <a:t>      "spending_krw": 40605893000,</a:t>
            </a:r>
          </a:p>
          <a:p xmlns:a="http://schemas.openxmlformats.org/drawingml/2006/main">
            <a:r>
              <a:t>      "stay_minutes": 1818.0,</a:t>
            </a:r>
          </a:p>
          <a:p xmlns:a="http://schemas.openxmlformats.org/drawingml/2006/main">
            <a:r>
              <a:t>      "lodging_nights": 2.71,</a:t>
            </a:r>
          </a:p>
          <a:p xmlns:a="http://schemas.openxmlformats.org/drawingml/2006/main">
            <a:r>
              <a:t>      "lodging_rate_pct": 17.7,</a:t>
            </a:r>
          </a:p>
          <a:p xmlns:a="http://schemas.openxmlformats.org/drawingml/2006/main">
            <a:r>
              <a:t>      "lodging_searches": 24571,</a:t>
            </a:r>
          </a:p>
          <a:p xmlns:a="http://schemas.openxmlformats.org/drawingml/2006/main">
            <a:r>
              <a:t>      "navigation_searches": 238194,</a:t>
            </a:r>
          </a:p>
          <a:p xmlns:a="http://schemas.openxmlformats.org/drawingml/2006/main">
            <a:r>
              <a:t>      "visitor_yoy_percent": -1.96,</a:t>
            </a:r>
          </a:p>
          <a:p xmlns:a="http://schemas.openxmlformats.org/drawingml/2006/main">
            <a:r>
              <a:t>      "spending_yoy_percent": 0.0,</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0.0</a:t>
            </a:r>
          </a:p>
          <a:p xmlns:a="http://schemas.openxmlformats.org/drawingml/2006/main">
            <a:r>
              <a:t>      },</a:t>
            </a:r>
          </a:p>
          <a:p xmlns:a="http://schemas.openxmlformats.org/drawingml/2006/main">
            <a:r>
              <a:t>      "previous_year_visitors": 1757460,</a:t>
            </a:r>
          </a:p>
          <a:p xmlns:a="http://schemas.openxmlformats.org/drawingml/2006/main">
            <a:r>
              <a:t>      "previous_year_spending_krw": 40605893000,</a:t>
            </a:r>
          </a:p>
          <a:p xmlns:a="http://schemas.openxmlformats.org/drawingml/2006/main">
            <a:r>
              <a:t>      "previous_year_stay_minutes": 1818.0,</a:t>
            </a:r>
          </a:p>
          <a:p xmlns:a="http://schemas.openxmlformats.org/drawingml/2006/main">
            <a:r>
              <a:t>      "previous_year_lodging_nights": 2.71,</a:t>
            </a:r>
          </a:p>
          <a:p xmlns:a="http://schemas.openxmlformats.org/drawingml/2006/main">
            <a:r>
              <a:t>      "previous_year_lodging_rate_pct": 17.7,</a:t>
            </a:r>
          </a:p>
          <a:p xmlns:a="http://schemas.openxmlformats.org/drawingml/2006/main">
            <a:r>
              <a:t>      "previous_year_lodging_searches": 24571,</a:t>
            </a:r>
          </a:p>
          <a:p xmlns:a="http://schemas.openxmlformats.org/drawingml/2006/main">
            <a:r>
              <a:t>      "previous_year_navigation_searches": 238194</a:t>
            </a:r>
          </a:p>
          <a:p xmlns:a="http://schemas.openxmlformats.org/drawingml/2006/main">
            <a:r>
              <a:t>    }</a:t>
            </a:r>
          </a:p>
          <a:p xmlns:a="http://schemas.openxmlformats.org/drawingml/2006/main">
            <a:r>
              <a:t>  ],</a:t>
            </a:r>
          </a:p>
          <a:p xmlns:a="http://schemas.openxmlformats.org/drawingml/2006/main">
            <a:r>
              <a:t>  "evaluation": {</a:t>
            </a:r>
          </a:p>
          <a:p xmlns:a="http://schemas.openxmlformats.org/drawingml/2006/main">
            <a:r>
              <a:t>    "metrics": {</a:t>
            </a:r>
          </a:p>
          <a:p xmlns:a="http://schemas.openxmlformats.org/drawingml/2006/main">
            <a:r>
              <a:t>      "visitors": {</a:t>
            </a:r>
          </a:p>
          <a:p xmlns:a="http://schemas.openxmlformats.org/drawingml/2006/main">
            <a:r>
              <a:t>        "test_mae": 70528.31,</a:t>
            </a:r>
          </a:p>
          <a:p xmlns:a="http://schemas.openxmlformats.org/drawingml/2006/main">
            <a:r>
              <a:t>        "recursive_mae": {</a:t>
            </a:r>
          </a:p>
          <a:p xmlns:a="http://schemas.openxmlformats.org/drawingml/2006/main">
            <a:r>
              <a:t>          "1": {</a:t>
            </a:r>
          </a:p>
          <a:p xmlns:a="http://schemas.openxmlformats.org/drawingml/2006/main">
            <a:r>
              <a:t>            "baseline": 41681.0,</a:t>
            </a:r>
          </a:p>
          <a:p xmlns:a="http://schemas.openxmlformats.org/drawingml/2006/main">
            <a:r>
              <a:t>            "selected": 49874.0,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60055.5,</a:t>
            </a:r>
          </a:p>
          <a:p xmlns:a="http://schemas.openxmlformats.org/drawingml/2006/main">
            <a:r>
              <a:t>            "selected": 37301.5,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106265.0,</a:t>
            </a:r>
          </a:p>
          <a:p xmlns:a="http://schemas.openxmlformats.org/drawingml/2006/main">
            <a:r>
              <a:t>            "selected": 97340.5,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"RandomForestRegressor",</a:t>
            </a:r>
          </a:p>
          <a:p xmlns:a="http://schemas.openxmlformats.org/drawingml/2006/main">
            <a:r>
              <a:t>        "baseline_test_mae": 73973.0,</a:t>
            </a:r>
          </a:p>
          <a:p xmlns:a="http://schemas.openxmlformats.org/drawingml/2006/main">
            <a:r>
              <a:t>        "model_reliability": "mixed_recursive_performance",</a:t>
            </a:r>
          </a:p>
          <a:p xmlns:a="http://schemas.openxmlformats.org/drawingml/2006/main">
            <a:r>
              <a:t>        "beats_baseline_on_test": true,</a:t>
            </a:r>
          </a:p>
          <a:p xmlns:a="http://schemas.openxmlformats.org/drawingml/2006/main">
            <a:r>
              <a:t>        "recursive_horizons_worse_than_baseline": [</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"spending_krw": {</a:t>
            </a:r>
          </a:p>
          <a:p xmlns:a="http://schemas.openxmlformats.org/drawingml/2006/main">
            <a:r>
              <a:t>        "test_mae": 4095129500.0,</a:t>
            </a:r>
          </a:p>
          <a:p xmlns:a="http://schemas.openxmlformats.org/drawingml/2006/main">
            <a:r>
              <a:t>        "recursive_mae": {</a:t>
            </a:r>
          </a:p>
          <a:p xmlns:a="http://schemas.openxmlformats.org/drawingml/2006/main">
            <a:r>
              <a:t>          "1": {</a:t>
            </a:r>
          </a:p>
          <a:p xmlns:a="http://schemas.openxmlformats.org/drawingml/2006/main">
            <a:r>
              <a:t>            "baseline": 4131609500.0,</a:t>
            </a:r>
          </a:p>
          <a:p xmlns:a="http://schemas.openxmlformats.org/drawingml/2006/main">
            <a:r>
              <a:t>            "selected": 4131609500.0,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6603691500.0,</a:t>
            </a:r>
          </a:p>
          <a:p xmlns:a="http://schemas.openxmlformats.org/drawingml/2006/main">
            <a:r>
              <a:t>            "selected": 6603691500.0,</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4058649500.0,</a:t>
            </a:r>
          </a:p>
          <a:p xmlns:a="http://schemas.openxmlformats.org/drawingml/2006/main">
            <a:r>
              <a:t>            "selected": 4058649500.0,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"seasonal_naive_previous_year_same_month",</a:t>
            </a:r>
          </a:p>
          <a:p xmlns:a="http://schemas.openxmlformats.org/drawingml/2006/main">
            <a:r>
              <a:t>        "baseline_test_mae": 4095129500.0,</a:t>
            </a:r>
          </a:p>
          <a:p xmlns:a="http://schemas.openxmlformats.org/drawingml/2006/main">
            <a:r>
              <a:t>        "model_reliability": "seasonal_baseline",</a:t>
            </a:r>
          </a:p>
          <a:p xmlns:a="http://schemas.openxmlformats.org/drawingml/2006/main">
            <a:r>
              <a:t>        "beats_baseline_on_test": false,</a:t>
            </a:r>
          </a:p>
          <a:p xmlns:a="http://schemas.openxmlformats.org/drawingml/2006/main">
            <a:r>
              <a:t>        "recursive_horizons_worse_than_baseline": []</a:t>
            </a:r>
          </a:p>
          <a:p xmlns:a="http://schemas.openxmlformats.org/drawingml/2006/main">
            <a:r>
              <a:t>      },</a:t>
            </a:r>
          </a:p>
          <a:p xmlns:a="http://schemas.openxmlformats.org/drawingml/2006/main">
            <a:r>
              <a:t>      "stay_minutes": {</a:t>
            </a:r>
          </a:p>
          <a:p xmlns:a="http://schemas.openxmlformats.org/drawingml/2006/main">
            <a:r>
              <a:t>        "test_mae": 131.0,</a:t>
            </a:r>
          </a:p>
          <a:p xmlns:a="http://schemas.openxmlformats.org/drawingml/2006/main">
            <a:r>
              <a:t>        "recursive_mae": {</a:t>
            </a:r>
          </a:p>
          <a:p xmlns:a="http://schemas.openxmlformats.org/drawingml/2006/main">
            <a:r>
              <a:t>          "1": {</a:t>
            </a:r>
          </a:p>
          <a:p xmlns:a="http://schemas.openxmlformats.org/drawingml/2006/main">
            <a:r>
              <a:t>            "baseline": 3.5,</a:t>
            </a:r>
          </a:p>
          <a:p xmlns:a="http://schemas.openxmlformats.org/drawingml/2006/main">
            <a:r>
              <a:t>            "selected": 3.5,</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252.0,</a:t>
            </a:r>
          </a:p>
          <a:p xmlns:a="http://schemas.openxmlformats.org/drawingml/2006/main">
            <a:r>
              <a:t>            "selected": 252.0,</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258.5,</a:t>
            </a:r>
          </a:p>
          <a:p xmlns:a="http://schemas.openxmlformats.org/drawingml/2006/main">
            <a:r>
              <a:t>            "selected": 258.5,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"seasonal_naive_previous_year_same_month",</a:t>
            </a:r>
          </a:p>
          <a:p xmlns:a="http://schemas.openxmlformats.org/drawingml/2006/main">
            <a:r>
              <a:t>        "baseline_test_mae": 131.0,</a:t>
            </a:r>
          </a:p>
          <a:p xmlns:a="http://schemas.openxmlformats.org/drawingml/2006/main">
            <a:r>
              <a:t>        "model_reliability": "seasonal_baseline",</a:t>
            </a:r>
          </a:p>
          <a:p xmlns:a="http://schemas.openxmlformats.org/drawingml/2006/main">
            <a:r>
              <a:t>        "beats_baseline_on_test": false,</a:t>
            </a:r>
          </a:p>
          <a:p xmlns:a="http://schemas.openxmlformats.org/drawingml/2006/main">
            <a:r>
              <a:t>        "recursive_horizons_worse_than_baseline": []</a:t>
            </a:r>
          </a:p>
          <a:p xmlns:a="http://schemas.openxmlformats.org/drawingml/2006/main">
            <a:r>
              <a:t>      },</a:t>
            </a:r>
          </a:p>
          <a:p xmlns:a="http://schemas.openxmlformats.org/drawingml/2006/main">
            <a:r>
              <a:t>      "lodging_nights": {</a:t>
            </a:r>
          </a:p>
          <a:p xmlns:a="http://schemas.openxmlformats.org/drawingml/2006/main">
            <a:r>
              <a:t>        "test_mae": 0.06,</a:t>
            </a:r>
          </a:p>
          <a:p xmlns:a="http://schemas.openxmlformats.org/drawingml/2006/main">
            <a:r>
              <a:t>        "recursive_mae": {</a:t>
            </a:r>
          </a:p>
          <a:p xmlns:a="http://schemas.openxmlformats.org/drawingml/2006/main">
            <a:r>
              <a:t>          "1": {</a:t>
            </a:r>
          </a:p>
          <a:p xmlns:a="http://schemas.openxmlformats.org/drawingml/2006/main">
            <a:r>
              <a:t>            "baseline": 0.05,</a:t>
            </a:r>
          </a:p>
          <a:p xmlns:a="http://schemas.openxmlformats.org/drawingml/2006/main">
            <a:r>
              <a:t>            "selected": 0.05,</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0.05,</a:t>
            </a:r>
          </a:p>
          <a:p xmlns:a="http://schemas.openxmlformats.org/drawingml/2006/main">
            <a:r>
              <a:t>            "selected": 0.05,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0.06,</a:t>
            </a:r>
          </a:p>
          <a:p xmlns:a="http://schemas.openxmlformats.org/drawingml/2006/main">
            <a:r>
              <a:t>            "selected": 0.06,</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"seasonal_naive_previous_year_same_month",</a:t>
            </a:r>
          </a:p>
          <a:p xmlns:a="http://schemas.openxmlformats.org/drawingml/2006/main">
            <a:r>
              <a:t>        "baseline_test_mae": 0.06,</a:t>
            </a:r>
          </a:p>
          <a:p xmlns:a="http://schemas.openxmlformats.org/drawingml/2006/main">
            <a:r>
              <a:t>        "model_reliability": "seasonal_baseline",</a:t>
            </a:r>
          </a:p>
          <a:p xmlns:a="http://schemas.openxmlformats.org/drawingml/2006/main">
            <a:r>
              <a:t>        "beats_baseline_on_test": false,</a:t>
            </a:r>
          </a:p>
          <a:p xmlns:a="http://schemas.openxmlformats.org/drawingml/2006/main">
            <a:r>
              <a:t>        "recursive_horizons_worse_than_baseline": []</a:t>
            </a:r>
          </a:p>
          <a:p xmlns:a="http://schemas.openxmlformats.org/drawingml/2006/main">
            <a:r>
              <a:t>      },</a:t>
            </a:r>
          </a:p>
          <a:p xmlns:a="http://schemas.openxmlformats.org/drawingml/2006/main">
            <a:r>
              <a:t>      "lodging_rate_pct": {</a:t>
            </a:r>
          </a:p>
          <a:p xmlns:a="http://schemas.openxmlformats.org/drawingml/2006/main">
            <a:r>
              <a:t>        "test_mae": 0.55,</a:t>
            </a:r>
          </a:p>
          <a:p xmlns:a="http://schemas.openxmlformats.org/drawingml/2006/main">
            <a:r>
              <a:t>        "recursive_mae": {</a:t>
            </a:r>
          </a:p>
          <a:p xmlns:a="http://schemas.openxmlformats.org/drawingml/2006/main">
            <a:r>
              <a:t>          "1": {</a:t>
            </a:r>
          </a:p>
          <a:p xmlns:a="http://schemas.openxmlformats.org/drawingml/2006/main">
            <a:r>
              <a:t>            "baseline": 0.8,</a:t>
            </a:r>
          </a:p>
          <a:p xmlns:a="http://schemas.openxmlformats.org/drawingml/2006/main">
            <a:r>
              <a:t>            "selected": 0.8,</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0.4,</a:t>
            </a:r>
          </a:p>
          <a:p xmlns:a="http://schemas.openxmlformats.org/drawingml/2006/main">
            <a:r>
              <a:t>            "selected": 0.4,</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0.3,</a:t>
            </a:r>
          </a:p>
          <a:p xmlns:a="http://schemas.openxmlformats.org/drawingml/2006/main">
            <a:r>
              <a:t>            "selected": 0.3,</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"seasonal_naive_previous_year_same_month",</a:t>
            </a:r>
          </a:p>
          <a:p xmlns:a="http://schemas.openxmlformats.org/drawingml/2006/main">
            <a:r>
              <a:t>        "baseline_test_mae": 0.55,</a:t>
            </a:r>
          </a:p>
          <a:p xmlns:a="http://schemas.openxmlformats.org/drawingml/2006/main">
            <a:r>
              <a:t>        "model_reliability": "seasonal_baseline",</a:t>
            </a:r>
          </a:p>
          <a:p xmlns:a="http://schemas.openxmlformats.org/drawingml/2006/main">
            <a:r>
              <a:t>        "beats_baseline_on_test": false,</a:t>
            </a:r>
          </a:p>
          <a:p xmlns:a="http://schemas.openxmlformats.org/drawingml/2006/main">
            <a:r>
              <a:t>        "recursive_horizons_worse_than_baseline": []</a:t>
            </a:r>
          </a:p>
          <a:p xmlns:a="http://schemas.openxmlformats.org/drawingml/2006/main">
            <a:r>
              <a:t>      },</a:t>
            </a:r>
          </a:p>
          <a:p xmlns:a="http://schemas.openxmlformats.org/drawingml/2006/main">
            <a:r>
              <a:t>      "lodging_searches": {</a:t>
            </a:r>
          </a:p>
          <a:p xmlns:a="http://schemas.openxmlformats.org/drawingml/2006/main">
            <a:r>
              <a:t>        "test_mae": 2351.0,</a:t>
            </a:r>
          </a:p>
          <a:p xmlns:a="http://schemas.openxmlformats.org/drawingml/2006/main">
            <a:r>
              <a:t>        "recursive_mae": {</a:t>
            </a:r>
          </a:p>
          <a:p xmlns:a="http://schemas.openxmlformats.org/drawingml/2006/main">
            <a:r>
              <a:t>          "1": {</a:t>
            </a:r>
          </a:p>
          <a:p xmlns:a="http://schemas.openxmlformats.org/drawingml/2006/main">
            <a:r>
              <a:t>            "baseline": 3418.5,</a:t>
            </a:r>
          </a:p>
          <a:p xmlns:a="http://schemas.openxmlformats.org/drawingml/2006/main">
            <a:r>
              <a:t>            "selected": 3418.5,</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1505.0,</a:t>
            </a:r>
          </a:p>
          <a:p xmlns:a="http://schemas.openxmlformats.org/drawingml/2006/main">
            <a:r>
              <a:t>            "selected": 1505.0,</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1283.5,</a:t>
            </a:r>
          </a:p>
          <a:p xmlns:a="http://schemas.openxmlformats.org/drawingml/2006/main">
            <a:r>
              <a:t>            "selected": 1283.5,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"seasonal_naive_previous_year_same_month",</a:t>
            </a:r>
          </a:p>
          <a:p xmlns:a="http://schemas.openxmlformats.org/drawingml/2006/main">
            <a:r>
              <a:t>        "baseline_test_mae": 2351.0,</a:t>
            </a:r>
          </a:p>
          <a:p xmlns:a="http://schemas.openxmlformats.org/drawingml/2006/main">
            <a:r>
              <a:t>        "model_reliability": "seasonal_baseline",</a:t>
            </a:r>
          </a:p>
          <a:p xmlns:a="http://schemas.openxmlformats.org/drawingml/2006/main">
            <a:r>
              <a:t>        "beats_baseline_on_test": false,</a:t>
            </a:r>
          </a:p>
          <a:p xmlns:a="http://schemas.openxmlformats.org/drawingml/2006/main">
            <a:r>
              <a:t>        "recursive_horizons_worse_than_baseline": []</a:t>
            </a:r>
          </a:p>
          <a:p xmlns:a="http://schemas.openxmlformats.org/drawingml/2006/main">
            <a:r>
              <a:t>      },</a:t>
            </a:r>
          </a:p>
          <a:p xmlns:a="http://schemas.openxmlformats.org/drawingml/2006/main">
            <a:r>
              <a:t>      "navigation_searches": {</a:t>
            </a:r>
          </a:p>
          <a:p xmlns:a="http://schemas.openxmlformats.org/drawingml/2006/main">
            <a:r>
              <a:t>        "test_mae": 32030.5,</a:t>
            </a:r>
          </a:p>
          <a:p xmlns:a="http://schemas.openxmlformats.org/drawingml/2006/main">
            <a:r>
              <a:t>        "recursive_mae": {</a:t>
            </a:r>
          </a:p>
          <a:p xmlns:a="http://schemas.openxmlformats.org/drawingml/2006/main">
            <a:r>
              <a:t>          "1": {</a:t>
            </a:r>
          </a:p>
          <a:p xmlns:a="http://schemas.openxmlformats.org/drawingml/2006/main">
            <a:r>
              <a:t>            "baseline": 36449.0,</a:t>
            </a:r>
          </a:p>
          <a:p xmlns:a="http://schemas.openxmlformats.org/drawingml/2006/main">
            <a:r>
              <a:t>            "selected": 36449.0,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36445.5,</a:t>
            </a:r>
          </a:p>
          <a:p xmlns:a="http://schemas.openxmlformats.org/drawingml/2006/main">
            <a:r>
              <a:t>            "selected": 36445.5,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27612.0,</a:t>
            </a:r>
          </a:p>
          <a:p xmlns:a="http://schemas.openxmlformats.org/drawingml/2006/main">
            <a:r>
              <a:t>            "selected": 27612.0,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"seasonal_naive_previous_year_same_month",</a:t>
            </a:r>
          </a:p>
          <a:p xmlns:a="http://schemas.openxmlformats.org/drawingml/2006/main">
            <a:r>
              <a:t>        "baseline_test_mae": 32030.5,</a:t>
            </a:r>
          </a:p>
          <a:p xmlns:a="http://schemas.openxmlformats.org/drawingml/2006/main">
            <a:r>
              <a:t>        "model_reliability": "seasonal_baseline",</a:t>
            </a:r>
          </a:p>
          <a:p xmlns:a="http://schemas.openxmlformats.org/drawingml/2006/main">
            <a:r>
              <a:t>        "beats_baseline_on_test": false,</a:t>
            </a:r>
          </a:p>
          <a:p xmlns:a="http://schemas.openxmlformats.org/drawingml/2006/main">
            <a:r>
              <a:t>        "recursive_horizons_worse_than_baseline": []</a:t>
            </a:r>
          </a:p>
          <a:p xmlns:a="http://schemas.openxmlformats.org/drawingml/2006/main">
            <a:r>
              <a:t>      }</a:t>
            </a:r>
          </a:p>
          <a:p xmlns:a="http://schemas.openxmlformats.org/drawingml/2006/main">
            <a:r>
              <a:t>    },</a:t>
            </a:r>
          </a:p>
          <a:p xmlns:a="http://schemas.openxmlformats.org/drawingml/2006/main">
            <a:r>
              <a:t>    "test_period": "202603~202606",</a:t>
            </a:r>
          </a:p>
          <a:p xmlns:a="http://schemas.openxmlformats.org/drawingml/2006/main">
            <a:r>
              <a:t>    "selection_basis": "validation_mae_only",</a:t>
            </a:r>
          </a:p>
          <a:p xmlns:a="http://schemas.openxmlformats.org/drawingml/2006/main">
            <a:r>
              <a:t>    "validation_period": "202512~202602",</a:t>
            </a:r>
          </a:p>
          <a:p xmlns:a="http://schemas.openxmlformats.org/drawingml/2006/main">
            <a:r>
              <a:t>    "longer_horizon_status": "exploratory_not_recursively_backtested",</a:t>
            </a:r>
          </a:p>
          <a:p xmlns:a="http://schemas.openxmlformats.org/drawingml/2006/main">
            <a:r>
              <a:t>    "forecast_horizon_months": 8,</a:t>
            </a:r>
          </a:p>
          <a:p xmlns:a="http://schemas.openxmlformats.org/drawingml/2006/main">
            <a:r>
              <a:t>    "recursive_backtest_horizon_months": [</a:t>
            </a:r>
          </a:p>
          <a:p xmlns:a="http://schemas.openxmlformats.org/drawingml/2006/main">
            <a:r>
              <a:t>      1,</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"execution_scenario": {</a:t>
            </a:r>
          </a:p>
          <a:p xmlns:a="http://schemas.openxmlformats.org/drawingml/2006/main">
            <a:r>
              <a:t>    "visitor_target_pct": 5.0,</a:t>
            </a:r>
          </a:p>
          <a:p xmlns:a="http://schemas.openxmlformats.org/drawingml/2006/main">
            <a:r>
              <a:t>    "spending_target_pct": 5.0</a:t>
            </a:r>
          </a:p>
          <a:p xmlns:a="http://schemas.openxmlformats.org/drawingml/2006/main">
            <a:r>
              <a:t>  },</a:t>
            </a:r>
          </a:p>
          <a:p xmlns:a="http://schemas.openxmlformats.org/drawingml/2006/main">
            <a:r>
              <a:t>  "reference_estimate": {</a:t>
            </a:r>
          </a:p>
          <a:p xmlns:a="http://schemas.openxmlformats.org/drawingml/2006/main">
            <a:r>
              <a:t>    "status": "saved_report_budget",</a:t>
            </a:r>
          </a:p>
          <a:p xmlns:a="http://schemas.openxmlformats.org/drawingml/2006/main">
            <a:r>
              <a:t>    "total_label": "총액 미확정",</a:t>
            </a:r>
          </a:p>
          <a:p xmlns:a="http://schemas.openxmlformats.org/drawingml/2006/main">
            <a:r>
              <a:t>    "rows": [</a:t>
            </a:r>
          </a:p>
          <a:p xmlns:a="http://schemas.openxmlformats.org/drawingml/2006/main">
            <a:r>
              <a:t>      [</a:t>
            </a:r>
          </a:p>
          <a:p xmlns:a="http://schemas.openxmlformats.org/drawingml/2006/main">
            <a:r>
              <a:t>        "산정 내역 1",</a:t>
            </a:r>
          </a:p>
          <a:p xmlns:a="http://schemas.openxmlformats.org/drawingml/2006/main">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"본문 기준"</a:t>
            </a:r>
          </a:p>
          <a:p xmlns:a="http://schemas.openxmlformats.org/drawingml/2006/main">
            <a:r>
              <a:t>      ]</a:t>
            </a:r>
          </a:p>
          <a:p xmlns:a="http://schemas.openxmlformats.org/drawingml/2006/main">
            <a:r>
              <a:t>    ],</a:t>
            </a:r>
          </a:p>
          <a:p xmlns:a="http://schemas.openxmlformats.org/drawingml/2006/main">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"sources": [],</a:t>
            </a:r>
          </a:p>
          <a:p xmlns:a="http://schemas.openxmlformats.org/drawingml/2006/main">
            <a:r>
              <a:t>    "note": "저장 기획안의 예산 산정 내용을 그대로 표시합니다. 확정 견적이 아니며 계약 전 수량·단가·세금과 합계를 확인합니다."</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dataset:51110:1 | 한국관광 데이터랩 · 강원특별자치도 춘천시 순 방문자 수 및 숙박 비율 (이동통신 기반 외지인) | https://datalab.visitkorea.or.kr/</a:t>
            </a:r>
          </a:p>
          <a:p>
            <a:r>
              <a:t>dataset:51110:2 | 한국관광 데이터랩 · 강원특별자치도 춘천시 월간 순 방문자 수 (이동통신 기반 외지인) | https://datalab.visitkorea.or.kr/</a:t>
            </a:r>
          </a:p>
          <a:p>
            <a:r>
              <a:t>dataset:51110:3 | 한국관광 데이터랩 · 강원특별자치도 춘천시 관광소비 추이_외지인 | https://datalab.visitkorea.or.kr/</a:t>
            </a:r>
          </a:p>
          <a:p>
            <a:r>
              <a:t>dataset:51110:4 | 한국관광 데이터랩 · 강원특별자치도 춘천시 숙박방문자 비율 추이 (이동통신 기반 외지인) | https://datalab.visitkorea.or.kr/</a:t>
            </a:r>
          </a:p>
          <a:p>
            <a:r>
              <a:t>dataset:51110:5 | 한국관광 데이터랩 · 강원특별자치도 춘천시 평균 숙박일 (이동통신 기반 외지인) | https://datalab.visitkorea.or.kr/</a:t>
            </a:r>
          </a:p>
          <a:p>
            <a:r>
              <a:t>dataset:51110:6 | 한국관광 데이터랩 · 강원특별자치도 춘천시 내비게이션 목적지 유형별 검색량 | https://datalab.visitkorea.or.kr/</a:t>
            </a:r>
          </a:p>
          <a:p>
            <a:r>
              <a:t>dataset:51110:7 | 한국관광 데이터랩 · 강원특별자치도 춘천시 SNS 언급량 | https://datalab.visitkorea.or.kr/</a:t>
            </a:r>
          </a:p>
          <a:p>
            <a:r>
              <a:t>datalab:2343c3bc93bf:81205be51a1a | 한국관광 데이터랩 공식 다운로드 · 강원특별자치도_춘천시/숙박_체류시간/2026_01_06.zip | https://datalab.visitkorea.or.kr/</a:t>
            </a:r>
          </a:p>
          <a:p>
            <a:r>
              <a:t>datalab:73a88f6fd74b:dc735676b7f4 | 한국관광 데이터랩 공식 다운로드 · 강원특별자치도_춘천시/숙박_체류시간/2025_01_12.zip | https://datalab.visitkorea.or.kr/</a:t>
            </a:r>
          </a:p>
          <a:p>
            <a:r>
              <a:t>datalab:77438b77a948:7f25647aea7e | 한국관광 데이터랩 공식 다운로드 · 강원특별자치도_춘천시/관광소비/2026_01_06.zip | https://datalab.visitkorea.or.kr/</a:t>
            </a:r>
          </a:p>
          <a:p>
            <a:r>
              <a:t>datalab:9642314b6e5e:34e60387985e | 한국관광 데이터랩 공식 다운로드 · 강원특별자치도_춘천시/관광소비/2025_01_12.zip | https://datalab.visitkorea.or.kr/</a:t>
            </a:r>
          </a:p>
          <a:p>
            <a:r>
              <a:t>datalab:ae4e45e46741:2689769fc6ce | 한국관광 데이터랩 공식 다운로드 · 강원특별자치도_춘천시/방문자/2026_01_06.zip | https://datalab.visitkorea.or.kr/</a:t>
            </a:r>
          </a:p>
          <a:p>
            <a:r>
              <a:t>datalab:e1ae014de0aa:877807c4ab51 | 한국관광 데이터랩 공식 다운로드 · 강원특별자치도_춘천시/방문자/2025_01_12.zip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regional-status:4a7789e925d5:55e3be9aa0cd | 한국관광 데이터랩 지역별 관광 현황 · 강원특별자치도 춘천시 · 유입유출 | https://datalab.visitkorea.or.kr/</a:t>
            </a:r>
          </a:p>
          <a:p>
            <a:r>
              <a:t>regional-status:61a9d2d6b099:8676c55ce1a7 | 한국관광 데이터랩 지역별 관광 현황 · 강원특별자치도 춘천시 · 인기관광지 | https://datalab.visitkorea.or.kr/</a:t>
            </a:r>
          </a:p>
          <a:p>
            <a:r>
              <a:t>regional-status:b3fe66c3af97:a10ce860bf9f | 한국관광 데이터랩 지역별 관광 현황 · 강원특별자치도 춘천시 · 지역집중률 | https://datalab.visitkorea.or.kr/</a:t>
            </a:r>
          </a:p>
          <a:p>
            <a:r>
              <a:t>ml:51110:regional-demand-v3.1:202606 | 지역 관광수요 ML 전망 · 공식 관측값 아님 | URL 미기록</a:t>
            </a:r>
          </a:p>
          <a:p>
            <a:r>
              <a:t>tour-api:2891703 | 가보자순대국 | https://apis.data.go.kr/B551011/KorService2</a:t>
            </a:r>
          </a:p>
          <a:p>
            <a:r>
              <a:t>tour-api:3083085 | 가평1등수상레저 | https://apis.data.go.kr/B551011/KorService2</a:t>
            </a:r>
          </a:p>
          <a:p>
            <a:r>
              <a:t>tour-api:128778 | 강원 경찰충혼탑 | https://apis.data.go.kr/B551011/KorService2</a:t>
            </a:r>
          </a:p>
          <a:p>
            <a:r>
              <a:t>tour-api:129840 | 강원대학교중앙박물관 | https://apis.data.go.kr/B551011/KorService2</a:t>
            </a:r>
          </a:p>
          <a:p>
            <a:r>
              <a:t>tour-api:2610850 | 강원숲체험장 | https://apis.data.go.kr/B551011/KorService2</a:t>
            </a:r>
          </a:p>
          <a:p>
            <a:r>
              <a:t>tour-api:131456 | 강원특별자치도청소년수련원 | https://apis.data.go.kr/B551011/KorService2</a:t>
            </a:r>
          </a:p>
          <a:p>
            <a:r>
              <a:t>tour-api:2706334 | 강촌 출렁다리공원 | https://apis.data.go.kr/B551011/KorService2</a:t>
            </a:r>
          </a:p>
          <a:p>
            <a:r>
              <a:t>tour-api:1947118 | 강촌레일파크(김유정레일바이크) | https://apis.data.go.kr/B551011/KorService2</a:t>
            </a:r>
          </a:p>
          <a:p>
            <a:r>
              <a:t>tour-api:2759582 | 강촌버즈글램핑 | https://apis.data.go.kr/B551011/KorService2</a:t>
            </a:r>
          </a:p>
          <a:p>
            <a:r>
              <a:t>tour-api:125605 | 강촌유원지 | https://apis.data.go.kr/B551011/KorService2</a:t>
            </a:r>
          </a:p>
          <a:p>
            <a:r>
              <a:t>tour-api:2741528 | 강촌하늘아래글램핑 | https://apis.data.go.kr/B551011/KorService2</a:t>
            </a:r>
          </a:p>
          <a:p>
            <a:r>
              <a:t>tour-api:391742 | 경강막국수 | https://apis.data.go.kr/B551011/KorService2</a:t>
            </a:r>
          </a:p>
          <a:p>
            <a:r>
              <a:t>tour-api:2558052 | 고목 | https://apis.data.go.kr/B551011/KorService2</a:t>
            </a:r>
          </a:p>
          <a:p>
            <a:r>
              <a:t>tour-api:129004 | 공지천 조각공원 | https://apis.data.go.kr/B551011/KorService2</a:t>
            </a:r>
          </a:p>
          <a:p>
            <a:r>
              <a:t>tour-api:2792017 | 구곡폭포 국민여가 캠핑장 | https://apis.data.go.kr/B551011/KorService2</a:t>
            </a:r>
          </a:p>
          <a:p>
            <a:r>
              <a:t>tour-api:2714558 | 구봉산 | https://apis.data.go.kr/B551011/KorService2</a:t>
            </a:r>
          </a:p>
          <a:p>
            <a:r>
              <a:t>tour-api:407225 | 국립 용화산자연휴양림 | https://apis.data.go.kr/B551011/KorService2</a:t>
            </a:r>
          </a:p>
          <a:p>
            <a:r>
              <a:t>tour-api:2710587 | 국립춘천숲체원 | https://apis.data.go.kr/B551011/KorService2</a:t>
            </a:r>
          </a:p>
          <a:p>
            <a:r>
              <a:t>tour-api:2774528 | 군자숯불닭갈비 | https://apis.data.go.kr/B551011/KorService2</a:t>
            </a:r>
          </a:p>
          <a:p>
            <a:r>
              <a:t>tour-api:2710596 | 근화동396청년창업공간 | https://apis.data.go.kr/B551011/KorService2</a:t>
            </a:r>
          </a:p>
          <a:p>
            <a:r>
              <a:t>reference:kto:2026:local-airport | 요즘, 한국관광 2호 - 지방공항 연계 지역관광 활성화 방안 | PDF 44쪽, PDF 43쪽, PDF 38쪽, PDF 40쪽, PDF 41쪽, PDF 36쪽, PDF 41쪽, PDF 44쪽, PDF 43쪽, PDF 43쪽 | https://datalab.visitkorea.or.kr/site/portal/ex/bbs/View.do?bcIdx=311068&amp;cbIdx=1135&amp;pageIndex=1</a:t>
            </a:r>
          </a:p>
          <a:p>
            <a:r>
              <a:t>case:jeonju_night_budget_2026 | 전주시 2026년도 관광산업과 세출예산 사업명세서 | https://jeonju.go.kr/resource/www/images/download/budget/2026/2026_31_2.pdf</a:t>
            </a:r>
          </a:p>
          <a:p>
            <a:r>
              <a:t>case:291a33370ec9b1 | 섬에서의 특별한 경험, ‘인천 섬 도도하게 살아보기’로 누린다 | https://www.incheon.go.kr/mayor_8/MA040101/view?curPage=236&amp;repSeq=DOM_0000000010488055</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case:night_tourism_cities_2024 | 2024년도 정부업무평가 관광분야 성과자료 | https://www.evaluation.go.kr/upload2/atch/eval/20250429095846463.pdf</a:t>
            </a:r>
          </a:p>
          <a:p>
            <a:r>
              <a:t>[/Sources]</a:t>
            </a:r>
          </a:p>
          <a:p>
            <a:r>
              <a:t>[Calculation audit]</a:t>
            </a:r>
          </a:p>
          <a:p>
            <a:r>
              <a:t>{</a:t>
            </a:r>
          </a:p>
          <a:p>
            <a:r>
              <a:t>  "source_inventory": [</a:t>
            </a:r>
          </a:p>
          <a:p>
            <a:r>
              <a:t>    {</a:t>
            </a:r>
          </a:p>
          <a:p>
            <a:r>
              <a:t>      "title": "한국관광 데이터랩 · 강원특별자치도 춘천시 순 방문자 수 및 숙박 비율 (이동통신 기반 외지인)",</a:t>
            </a:r>
          </a:p>
          <a:p>
            <a:r>
              <a:t>      "summary": "월간 순 방문자 수: 1,873,282명 (관측 기준월: 2026-06)",</a:t>
            </a:r>
          </a:p>
          <a:p>
            <a:r>
              <a:t>      "source_id": "dataset:51110:1",</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춘천시 월간 순 방문자 수 (이동통신 기반 외지인)",</a:t>
            </a:r>
          </a:p>
          <a:p>
            <a:r>
              <a:t>      "summary": "전년동월 외지인 방문자 증감률: -8.1% (관측 기준월: 2026-06)",</a:t>
            </a:r>
          </a:p>
          <a:p>
            <a:r>
              <a:t>      "source_id": "dataset:51110:2",</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춘천시 관광소비 추이_외지인",</a:t>
            </a:r>
          </a:p>
          <a:p>
            <a:r>
              <a:t>      "summary": "월간 외지인 관광소비 총액: 51,352,814,000원 (관측 기준월: 2026-06)",</a:t>
            </a:r>
          </a:p>
          <a:p>
            <a:r>
              <a:t>      "source_id": "dataset:51110:3",</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춘천시 숙박방문자 비율 추이 (이동통신 기반 외지인)",</a:t>
            </a:r>
          </a:p>
          <a:p>
            <a:r>
              <a:t>      "summary": "외지인 숙박 방문 비율: 14.1% (관측 기준월: 2026-06)",</a:t>
            </a:r>
          </a:p>
          <a:p>
            <a:r>
              <a:t>      "source_id": "dataset:51110:4",</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춘천시 평균 숙박일 (이동통신 기반 외지인)",</a:t>
            </a:r>
          </a:p>
          <a:p>
            <a:r>
              <a:t>      "summary": "외지인 평균 숙박일수: 2.61일 (관측 기준월: 2026-06)",</a:t>
            </a:r>
          </a:p>
          <a:p>
            <a:r>
              <a:t>      "source_id": "dataset:51110:5",</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춘천시 내비게이션 목적지 유형별 검색량",</a:t>
            </a:r>
          </a:p>
          <a:p>
            <a:r>
              <a:t>      "summary": "내비게이션 목적지 검색량: 322,791건 (관측 기준월: 2026-06)",</a:t>
            </a:r>
          </a:p>
          <a:p>
            <a:r>
              <a:t>      "source_id": "dataset:51110:6",</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춘천시 SNS 언급량",</a:t>
            </a:r>
          </a:p>
          <a:p>
            <a:r>
              <a:t>      "summary": "SNS 언급량: 46,739건 (관측 기준월: 2026-06)",</a:t>
            </a:r>
          </a:p>
          <a:p>
            <a:r>
              <a:t>      "source_id": "dataset:51110:7",</a:t>
            </a:r>
          </a:p>
          <a:p>
            <a:r>
              <a:t>      "source_url": "https://datalab.visitkorea.or.kr/",</a:t>
            </a:r>
          </a:p>
          <a:p>
            <a:r>
              <a:t>      "source_type": "dataset",</a:t>
            </a:r>
          </a:p>
          <a:p>
            <a:r>
              <a:t>      "observation_period": "2026-06",</a:t>
            </a:r>
          </a:p>
          <a:p>
            <a:r>
              <a:t>      "published_or_updated_at": "2026-06"</a:t>
            </a:r>
          </a:p>
          <a:p>
            <a:r>
              <a:t>    },</a:t>
            </a:r>
          </a:p>
          <a:p>
            <a:r>
              <a:t>    {</a:t>
            </a:r>
          </a:p>
          <a:p>
            <a:r>
              <a:t>      "title": "한국관광 데이터랩 공식 다운로드 · 강원특별자치도_춘천시/숙박_체류시간/2026_01_06.zip",</a:t>
            </a:r>
          </a:p>
          <a:p>
            <a:r>
              <a:t>      "summary": "전국 비교 기준 기간: 2025-07 ~ 2026-06",</a:t>
            </a:r>
          </a:p>
          <a:p>
            <a:r>
              <a:t>      "source_id": "datalab:2343c3bc93bf:81205be51a1a",</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강원특별자치도_춘천시/숙박_체류시간/2025_01_12.zip",</a:t>
            </a:r>
          </a:p>
          <a:p>
            <a:r>
              <a:t>      "summary": "전국 비교 기준 기간: 2025-07 ~ 2026-06",</a:t>
            </a:r>
          </a:p>
          <a:p>
            <a:r>
              <a:t>      "source_id": "datalab:73a88f6fd74b:dc735676b7f4",</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강원특별자치도_춘천시/관광소비/2026_01_06.zip",</a:t>
            </a:r>
          </a:p>
          <a:p>
            <a:r>
              <a:t>      "summary": "전국 비교 기준 기간: 2025-07 ~ 2026-06",</a:t>
            </a:r>
          </a:p>
          <a:p>
            <a:r>
              <a:t>      "source_id": "datalab:77438b77a948:7f25647aea7e",</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강원특별자치도_춘천시/관광소비/2025_01_12.zip",</a:t>
            </a:r>
          </a:p>
          <a:p>
            <a:r>
              <a:t>      "summary": "전국 비교 기준 기간: 2025-07 ~ 2026-06",</a:t>
            </a:r>
          </a:p>
          <a:p>
            <a:r>
              <a:t>      "source_id": "datalab:9642314b6e5e:34e60387985e",</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강원특별자치도_춘천시/방문자/2026_01_06.zip",</a:t>
            </a:r>
          </a:p>
          <a:p>
            <a:r>
              <a:t>      "summary": "전국 비교 기준 기간: 2025-07 ~ 2026-06",</a:t>
            </a:r>
          </a:p>
          <a:p>
            <a:r>
              <a:t>      "source_id": "datalab:ae4e45e46741:2689769fc6ce",</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강원특별자치도_춘천시/방문자/2025_01_12.zip",</a:t>
            </a:r>
          </a:p>
          <a:p>
            <a:r>
              <a:t>      "summary": "전국 비교 기준 기간: 2025-07 ~ 2026-06",</a:t>
            </a:r>
          </a:p>
          <a:p>
            <a:r>
              <a:t>      "source_id": "datalab:e1ae014de0aa:877807c4ab51",</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전국 빅데이터 다운로드 · 이동통신/내국인/지역별 방문자수/20260820140607__202601-202606_데이터랩_다운로드.zip",</a:t>
            </a:r>
          </a:p>
          <a:p>
            <a:r>
              <a:t>      "summary": "시군구 기간합계·비중 또는 전국 월별 추이. 지역 월별 ML·정책 효과가 아닌 보조 근거.",</a:t>
            </a:r>
          </a:p>
          <a:p>
            <a:r>
              <a:t>      "source_id": "team-bigdata:23ea68053684:6bfbcf8aabf6",</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이동통신/외국인/20260820141710_전국_202601-202606_데이터랩_다운로드.zip",</a:t>
            </a:r>
          </a:p>
          <a:p>
            <a:r>
              <a:t>      "summary": "시군구 기간합계·비중 또는 전국 월별 추이. 지역 월별 ML·정책 효과가 아닌 보조 근거.",</a:t>
            </a:r>
          </a:p>
          <a:p>
            <a:r>
              <a:t>      "source_id": "team-bigdata:98d4ae590d9a:3be52dd54323",</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관광지출액/20260820140046__202601-202606_데이터랩_다운로드.zip",</a:t>
            </a:r>
          </a:p>
          <a:p>
            <a:r>
              <a:t>      "summary": "시군구 기간합계·비중 또는 전국 월별 추이. 지역 월별 ML·정책 효과가 아닌 보조 근거.",</a:t>
            </a:r>
          </a:p>
          <a:p>
            <a:r>
              <a:t>      "source_id": "team-bigdata:367cd0294ec4:873930d645e5",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관광지출액/20260820140355__202601-202606_데이터랩_다운로드.zip",</a:t>
            </a:r>
          </a:p>
          <a:p>
            <a:r>
              <a:t>      "summary": "시군구 기간합계·비중 또는 전국 월별 추이. 지역 월별 ML·정책 효과가 아닌 보조 근거.",</a:t>
            </a:r>
          </a:p>
          <a:p>
            <a:r>
              <a:t>      "source_id": "team-bigdata:553a0dad4bb4:5a31355dffe8",</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검색건수/20260820195507__202601-202606_데이터랩_다운로드.zip",</a:t>
            </a:r>
          </a:p>
          <a:p>
            <a:r>
              <a:t>      "summary": "시군구 기간합계·비중 또는 전국 월별 추이. 지역 월별 ML·정책 효과가 아닌 보조 근거.",</a:t>
            </a:r>
          </a:p>
          <a:p>
            <a:r>
              <a:t>      "source_id": "team-bigdata:a53dbe1c21df:77a052de41d5",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방문자수/20260820140614__202501-202512_데이터랩_다운로드.zip",</a:t>
            </a:r>
          </a:p>
          <a:p>
            <a:r>
              <a:t>      "summary": "시군구 기간합계·비중 또는 전국 월별 추이. 지역 월별 ML·정책 효과가 아닌 보조 근거.",</a:t>
            </a:r>
          </a:p>
          <a:p>
            <a:r>
              <a:t>      "source_id": "team-bigdata:823a38d1d61c:5385261d02e5",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이동통신/외국인/20260820141649_전국_202501-202512_데이터랩_다운로드.zip",</a:t>
            </a:r>
          </a:p>
          <a:p>
            <a:r>
              <a:t>      "summary": "시군구 기간합계·비중 또는 전국 월별 추이. 지역 월별 ML·정책 효과가 아닌 보조 근거.",</a:t>
            </a:r>
          </a:p>
          <a:p>
            <a:r>
              <a:t>      "source_id": "team-bigdata:2723bdb0d589:1666a34058ed",</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관광지출액/20260820135957__202501-202512_데이터랩_다운로드.zip",</a:t>
            </a:r>
          </a:p>
          <a:p>
            <a:r>
              <a:t>      "summary": "시군구 기간합계·비중 또는 전국 월별 추이. 지역 월별 ML·정책 효과가 아닌 보조 근거.",</a:t>
            </a:r>
          </a:p>
          <a:p>
            <a:r>
              <a:t>      "source_id": "team-bigdata:83177a234971:c02cb7972e0f",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관광지출액/20260820140409__202501-202512_데이터랩_다운로드.zip",</a:t>
            </a:r>
          </a:p>
          <a:p>
            <a:r>
              <a:t>      "summary": "시군구 기간합계·비중 또는 전국 월별 추이. 지역 월별 ML·정책 효과가 아닌 보조 근거.",</a:t>
            </a:r>
          </a:p>
          <a:p>
            <a:r>
              <a:t>      "source_id": "team-bigdata:58ded7732251:589c76395cbc",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검색건수/20260820132007__202501-202512_데이터랩_다운로드.zip",</a:t>
            </a:r>
          </a:p>
          <a:p>
            <a:r>
              <a:t>      "summary": "시군구 기간합계·비중 또는 전국 월별 추이. 지역 월별 ML·정책 효과가 아닌 보조 근거.",</a:t>
            </a:r>
          </a:p>
          <a:p>
            <a:r>
              <a:t>      "source_id": "team-bigdata:e28c947cb52f:bb4cb344a6ba",</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방문자수/20260820140624__202401-202412_데이터랩_다운로드.zip",</a:t>
            </a:r>
          </a:p>
          <a:p>
            <a:r>
              <a:t>      "summary": "시군구 기간합계·비중 또는 전국 월별 추이. 지역 월별 ML·정책 효과가 아닌 보조 근거.",</a:t>
            </a:r>
          </a:p>
          <a:p>
            <a:r>
              <a:t>      "source_id": "team-bigdata:8815bbb11a39:1a5988f5f8ec",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이동통신/외국인/20260820141639_전국_202401-202412_데이터랩_다운로드.zip",</a:t>
            </a:r>
          </a:p>
          <a:p>
            <a:r>
              <a:t>      "summary": "시군구 기간합계·비중 또는 전국 월별 추이. 지역 월별 ML·정책 효과가 아닌 보조 근거.",</a:t>
            </a:r>
          </a:p>
          <a:p>
            <a:r>
              <a:t>      "source_id": "team-bigdata:19fd67fbb73d:afa4f0f54a2f",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지역별 관광 현황 · 강원특별자치도 춘천시 · 유입유출",</a:t>
            </a:r>
          </a:p>
          <a:p>
            <a:r>
              <a:t>      "summary": "관측 기간: 2025-07 ~ 2026-06. 유입·유출·인기장소 또는 30일 집중 운영 신호.",</a:t>
            </a:r>
          </a:p>
          <a:p>
            <a:r>
              <a:t>      "source_id": "regional-status:4a7789e925d5:55e3be9aa0cd",</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강원특별자치도 춘천시 · 인기관광지",</a:t>
            </a:r>
          </a:p>
          <a:p>
            <a:r>
              <a:t>      "summary": "관측 기간: 2025-07 ~ 2026-06. 유입·유출·인기장소 또는 30일 집중 운영 신호.",</a:t>
            </a:r>
          </a:p>
          <a:p>
            <a:r>
              <a:t>      "source_id": "regional-status:61a9d2d6b099:8676c55ce1a7",</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강원특별자치도 춘천시 · 지역집중률",</a:t>
            </a:r>
          </a:p>
          <a:p>
            <a:r>
              <a:t>      "summary": "관측 기간: 2025-07 ~ 2026-06. 유입·유출·인기장소 또는 30일 집중 운영 신호.",</a:t>
            </a:r>
          </a:p>
          <a:p>
            <a:r>
              <a:t>      "source_id": "regional-status:b3fe66c3af97:a10ce860bf9f",</a:t>
            </a:r>
          </a:p>
          <a:p>
            <a:r>
              <a:t>      "source_url": "https://datalab.visitkorea.or.kr/",</a:t>
            </a:r>
          </a:p>
          <a:p>
            <a:r>
              <a:t>      "source_type": "regional_tourism_status",</a:t>
            </a:r>
          </a:p>
          <a:p>
            <a:r>
              <a:t>      "observation_period": "2025-07 ~ 2026-06",</a:t>
            </a:r>
          </a:p>
          <a:p>
            <a:r>
              <a:t>      "published_or_updated_at": ""</a:t>
            </a:r>
          </a:p>
          <a:p>
            <a:r>
              <a:t>    },</a:t>
            </a:r>
          </a:p>
          <a:p>
            <a:r>
              <a:t>    {</a:t>
            </a:r>
          </a:p>
          <a:p>
            <a:r>
              <a:t>      "title": "지역 관광수요 ML 전망 · 공식 관측값 아님",</a:t>
            </a:r>
          </a:p>
          <a:p>
            <a:r>
              <a:t>      "summary": "학습 202401~202606 · 모델 regional-demand-v3.1 · 자연 추세 예측",</a:t>
            </a:r>
          </a:p>
          <a:p>
            <a:r>
              <a:t>      "source_id": "ml:51110:regional-demand-v3.1:202606",</a:t>
            </a:r>
          </a:p>
          <a:p>
            <a:r>
              <a:t>      "source_url": "",</a:t>
            </a:r>
          </a:p>
          <a:p>
            <a:r>
              <a:t>      "source_type": "model_forecast",</a:t>
            </a:r>
          </a:p>
          <a:p>
            <a:r>
              <a:t>      "model_version": "regional-demand-v3.1",</a:t>
            </a:r>
          </a:p>
          <a:p>
            <a:r>
              <a:t>      "data_fingerprint": "b54445dc6e4c68c2130c72df908d376d3e7b474c59a1e83c7607f206257cf12c"</a:t>
            </a:r>
          </a:p>
          <a:p>
            <a:r>
              <a:t>    },</a:t>
            </a:r>
          </a:p>
          <a:p>
            <a:r>
              <a:t>    {</a:t>
            </a:r>
          </a:p>
          <a:p>
            <a:r>
              <a:t>      "title": "가보자순대국",</a:t>
            </a:r>
          </a:p>
          <a:p>
            <a:r>
              <a:t>      "address": "강원특별자치도 춘천시 율문2길 11",</a:t>
            </a:r>
          </a:p>
          <a:p>
            <a:r>
              <a:t>      "summary": "한국관광공사 국문관광정보 API가 반환한 선택 지역 관광자원",</a:t>
            </a:r>
          </a:p>
          <a:p>
            <a:r>
              <a:t>      "image_url": "http://tong.visitkorea.or.kr/cms/resource/95/2891695_image2_1.jpg",</a:t>
            </a:r>
          </a:p>
          <a:p>
            <a:r>
              <a:t>      "source_id": "tour-api:2891703",</a:t>
            </a:r>
          </a:p>
          <a:p>
            <a:r>
              <a:t>      "content_id": "2891703",</a:t>
            </a:r>
          </a:p>
          <a:p>
            <a:r>
              <a:t>      "source_url": "https://apis.data.go.kr/B551011/KorService2",</a:t>
            </a:r>
          </a:p>
          <a:p>
            <a:r>
              <a:t>      "source_type": "open_api",</a:t>
            </a:r>
          </a:p>
          <a:p>
            <a:r>
              <a:t>      "content_type_id": "39"</a:t>
            </a:r>
          </a:p>
          <a:p>
            <a:r>
              <a:t>    },</a:t>
            </a:r>
          </a:p>
          <a:p>
            <a:r>
              <a:t>    {</a:t>
            </a:r>
          </a:p>
          <a:p>
            <a:r>
              <a:t>      "title": "가평1등수상레저",</a:t>
            </a:r>
          </a:p>
          <a:p>
            <a:r>
              <a:t>      "address": "강원특별자치도 춘천시 남면 박암관천길 511-55",</a:t>
            </a:r>
          </a:p>
          <a:p>
            <a:r>
              <a:t>      "summary": "한국관광공사 국문관광정보 API가 반환한 선택 지역 관광자원",</a:t>
            </a:r>
          </a:p>
          <a:p>
            <a:r>
              <a:t>      "image_url": "http://tong.visitkorea.or.kr/cms/resource/64/3083064_image2_1.jpg",</a:t>
            </a:r>
          </a:p>
          <a:p>
            <a:r>
              <a:t>      "source_id": "tour-api:3083085",</a:t>
            </a:r>
          </a:p>
          <a:p>
            <a:r>
              <a:t>      "content_id": "3083085",</a:t>
            </a:r>
          </a:p>
          <a:p>
            <a:r>
              <a:t>      "source_url": "https://apis.data.go.kr/B551011/KorService2",</a:t>
            </a:r>
          </a:p>
          <a:p>
            <a:r>
              <a:t>      "source_type": "open_api",</a:t>
            </a:r>
          </a:p>
          <a:p>
            <a:r>
              <a:t>      "content_type_id": "28"</a:t>
            </a:r>
          </a:p>
          <a:p>
            <a:r>
              <a:t>    },</a:t>
            </a:r>
          </a:p>
          <a:p>
            <a:r>
              <a:t>    {</a:t>
            </a:r>
          </a:p>
          <a:p>
            <a:r>
              <a:t>      "title": "강원 경찰충혼탑",</a:t>
            </a:r>
          </a:p>
          <a:p>
            <a:r>
              <a:t>      "address": "강원특별자치도 춘천시 서면 신매리",</a:t>
            </a:r>
          </a:p>
          <a:p>
            <a:r>
              <a:t>      "summary": "한국관광공사 국문관광정보 API가 반환한 선택 지역 관광자원",</a:t>
            </a:r>
          </a:p>
          <a:p>
            <a:r>
              <a:t>      "image_url": "http://tong.visitkorea.or.kr/cms/resource/36/3381636_image2_1.JPG",</a:t>
            </a:r>
          </a:p>
          <a:p>
            <a:r>
              <a:t>      "source_id": "tour-api:128778",</a:t>
            </a:r>
          </a:p>
          <a:p>
            <a:r>
              <a:t>      "content_id": "128778",</a:t>
            </a:r>
          </a:p>
          <a:p>
            <a:r>
              <a:t>      "source_url": "https://apis.data.go.kr/B551011/KorService2",</a:t>
            </a:r>
          </a:p>
          <a:p>
            <a:r>
              <a:t>      "source_type": "open_api",</a:t>
            </a:r>
          </a:p>
          <a:p>
            <a:r>
              <a:t>      "content_type_id": "12"</a:t>
            </a:r>
          </a:p>
          <a:p>
            <a:r>
              <a:t>    },</a:t>
            </a:r>
          </a:p>
          <a:p>
            <a:r>
              <a:t>    {</a:t>
            </a:r>
          </a:p>
          <a:p>
            <a:r>
              <a:t>      "title": "강원대학교중앙박물관",</a:t>
            </a:r>
          </a:p>
          <a:p>
            <a:r>
              <a:t>      "address": "강원특별자치도 춘천시 공지로 188-77 (효자동)",</a:t>
            </a:r>
          </a:p>
          <a:p>
            <a:r>
              <a:t>      "summary": "한국관광공사 국문관광정보 API가 반환한 선택 지역 관광자원",</a:t>
            </a:r>
          </a:p>
          <a:p>
            <a:r>
              <a:t>      "image_url": "http://tong.visitkorea.or.kr/cms/resource/58/3475458_image2_1.jpg",</a:t>
            </a:r>
          </a:p>
          <a:p>
            <a:r>
              <a:t>      "source_id": "tour-api:129840",</a:t>
            </a:r>
          </a:p>
          <a:p>
            <a:r>
              <a:t>      "content_id": "129840",</a:t>
            </a:r>
          </a:p>
          <a:p>
            <a:r>
              <a:t>      "source_url": "https://apis.data.go.kr/B551011/KorService2",</a:t>
            </a:r>
          </a:p>
          <a:p>
            <a:r>
              <a:t>      "source_type": "open_api",</a:t>
            </a:r>
          </a:p>
          <a:p>
            <a:r>
              <a:t>      "content_type_id": "14"</a:t>
            </a:r>
          </a:p>
          <a:p>
            <a:r>
              <a:t>    },</a:t>
            </a:r>
          </a:p>
          <a:p>
            <a:r>
              <a:t>    {</a:t>
            </a:r>
          </a:p>
          <a:p>
            <a:r>
              <a:t>      "title": "강원숲체험장",</a:t>
            </a:r>
          </a:p>
          <a:p>
            <a:r>
              <a:t>      "address": "강원특별자치도 춘천시 서면 납실길 107-64",</a:t>
            </a:r>
          </a:p>
          <a:p>
            <a:r>
              <a:t>      "summary": "한국관광공사 국문관광정보 API가 반환한 선택 지역 관광자원",</a:t>
            </a:r>
          </a:p>
          <a:p>
            <a:r>
              <a:t>      "image_url": "http://tong.visitkorea.or.kr/cms/resource/11/2739711_image2_1.jpg",</a:t>
            </a:r>
          </a:p>
          <a:p>
            <a:r>
              <a:t>      "source_id": "tour-api:2610850",</a:t>
            </a:r>
          </a:p>
          <a:p>
            <a:r>
              <a:t>      "content_id": "2610850",</a:t>
            </a:r>
          </a:p>
          <a:p>
            <a:r>
              <a:t>      "source_url": "https://apis.data.go.kr/B551011/KorService2",</a:t>
            </a:r>
          </a:p>
          <a:p>
            <a:r>
              <a:t>      "source_type": "open_api",</a:t>
            </a:r>
          </a:p>
          <a:p>
            <a:r>
              <a:t>      "content_type_id": "12"</a:t>
            </a:r>
          </a:p>
          <a:p>
            <a:r>
              <a:t>    },</a:t>
            </a:r>
          </a:p>
          <a:p>
            <a:r>
              <a:t>    {</a:t>
            </a:r>
          </a:p>
          <a:p>
            <a:r>
              <a:t>      "title": "강원특별자치도청소년수련원",</a:t>
            </a:r>
          </a:p>
          <a:p>
            <a:r>
              <a:t>      "address": "강원특별자치도 춘천시 신샘밭로 89",</a:t>
            </a:r>
          </a:p>
          <a:p>
            <a:r>
              <a:t>      "summary": "한국관광공사 국문관광정보 API가 반환한 선택 지역 관광자원",</a:t>
            </a:r>
          </a:p>
          <a:p>
            <a:r>
              <a:t>      "image_url": "http://tong.visitkorea.or.kr/cms/resource/05/3382505_image2_1.JPG",</a:t>
            </a:r>
          </a:p>
          <a:p>
            <a:r>
              <a:t>      "source_id": "tour-api:131456",</a:t>
            </a:r>
          </a:p>
          <a:p>
            <a:r>
              <a:t>      "content_id": "131456",</a:t>
            </a:r>
          </a:p>
          <a:p>
            <a:r>
              <a:t>      "source_url": "https://apis.data.go.kr/B551011/KorService2",</a:t>
            </a:r>
          </a:p>
          <a:p>
            <a:r>
              <a:t>      "source_type": "open_api",</a:t>
            </a:r>
          </a:p>
          <a:p>
            <a:r>
              <a:t>      "content_type_id": "28"</a:t>
            </a:r>
          </a:p>
          <a:p>
            <a:r>
              <a:t>    },</a:t>
            </a:r>
          </a:p>
          <a:p>
            <a:r>
              <a:t>    {</a:t>
            </a:r>
          </a:p>
          <a:p>
            <a:r>
              <a:t>      "title": "강촌 출렁다리공원",</a:t>
            </a:r>
          </a:p>
          <a:p>
            <a:r>
              <a:t>      "address": "강원특별자치도 춘천시 남산면 강촌리",</a:t>
            </a:r>
          </a:p>
          <a:p>
            <a:r>
              <a:t>      "summary": "한국관광공사 국문관광정보 API가 반환한 선택 지역 관광자원",</a:t>
            </a:r>
          </a:p>
          <a:p>
            <a:r>
              <a:t>      "image_url": "http://tong.visitkorea.or.kr/cms/resource/96/3382296_image2_1.JPG",</a:t>
            </a:r>
          </a:p>
          <a:p>
            <a:r>
              <a:t>      "source_id": "tour-api:2706334",</a:t>
            </a:r>
          </a:p>
          <a:p>
            <a:r>
              <a:t>      "content_id": "2706334",</a:t>
            </a:r>
          </a:p>
          <a:p>
            <a:r>
              <a:t>      "source_url": "https://apis.data.go.kr/B551011/KorService2",</a:t>
            </a:r>
          </a:p>
          <a:p>
            <a:r>
              <a:t>      "source_type": "open_api",</a:t>
            </a:r>
          </a:p>
          <a:p>
            <a:r>
              <a:t>      "content_type_id": "12"</a:t>
            </a:r>
          </a:p>
          <a:p>
            <a:r>
              <a:t>    },</a:t>
            </a:r>
          </a:p>
          <a:p>
            <a:r>
              <a:t>    {</a:t>
            </a:r>
          </a:p>
          <a:p>
            <a:r>
              <a:t>      "title": "강촌레일파크(김유정레일바이크)",</a:t>
            </a:r>
          </a:p>
          <a:p>
            <a:r>
              <a:t>      "address": "강원특별자치도 춘천시 신동면 김유정로 1383",</a:t>
            </a:r>
          </a:p>
          <a:p>
            <a:r>
              <a:t>      "summary": "한국관광공사 국문관광정보 API가 반환한 선택 지역 관광자원",</a:t>
            </a:r>
          </a:p>
          <a:p>
            <a:r>
              <a:t>      "image_url": "http://tong.visitkorea.or.kr/cms/resource/48/2739748_image2_1.jpeg",</a:t>
            </a:r>
          </a:p>
          <a:p>
            <a:r>
              <a:t>      "source_id": "tour-api:1947118",</a:t>
            </a:r>
          </a:p>
          <a:p>
            <a:r>
              <a:t>      "content_id": "1947118",</a:t>
            </a:r>
          </a:p>
          <a:p>
            <a:r>
              <a:t>      "source_url": "https://apis.data.go.kr/B551011/KorService2",</a:t>
            </a:r>
          </a:p>
          <a:p>
            <a:r>
              <a:t>      "source_type": "open_api",</a:t>
            </a:r>
          </a:p>
          <a:p>
            <a:r>
              <a:t>      "content_type_id": "28"</a:t>
            </a:r>
          </a:p>
          <a:p>
            <a:r>
              <a:t>    },</a:t>
            </a:r>
          </a:p>
          <a:p>
            <a:r>
              <a:t>    {</a:t>
            </a:r>
          </a:p>
          <a:p>
            <a:r>
              <a:t>      "title": "강촌버즈글램핑",</a:t>
            </a:r>
          </a:p>
          <a:p>
            <a:r>
              <a:t>      "address": "강원특별자치도 춘천시 서면 율장길 122-28",</a:t>
            </a:r>
          </a:p>
          <a:p>
            <a:r>
              <a:t>      "summary": "한국관광공사 국문관광정보 API가 반환한 선택 지역 관광자원",</a:t>
            </a:r>
          </a:p>
          <a:p>
            <a:r>
              <a:t>      "image_url": "http://tong.visitkorea.or.kr/cms/resource/44/2760044_image2_1.JPG",</a:t>
            </a:r>
          </a:p>
          <a:p>
            <a:r>
              <a:t>      "source_id": "tour-api:2759582",</a:t>
            </a:r>
          </a:p>
          <a:p>
            <a:r>
              <a:t>      "content_id": "2759582",</a:t>
            </a:r>
          </a:p>
          <a:p>
            <a:r>
              <a:t>      "source_url": "https://apis.data.go.kr/B551011/KorService2",</a:t>
            </a:r>
          </a:p>
          <a:p>
            <a:r>
              <a:t>      "source_type": "open_api",</a:t>
            </a:r>
          </a:p>
          <a:p>
            <a:r>
              <a:t>      "content_type_id": "28"</a:t>
            </a:r>
          </a:p>
          <a:p>
            <a:r>
              <a:t>    },</a:t>
            </a:r>
          </a:p>
          <a:p>
            <a:r>
              <a:t>    {</a:t>
            </a:r>
          </a:p>
          <a:p>
            <a:r>
              <a:t>      "title": "강촌유원지",</a:t>
            </a:r>
          </a:p>
          <a:p>
            <a:r>
              <a:t>      "address": "강원특별자치도 춘천시 남산면 일원",</a:t>
            </a:r>
          </a:p>
          <a:p>
            <a:r>
              <a:t>      "summary": "한국관광공사 국문관광정보 API가 반환한 선택 지역 관광자원",</a:t>
            </a:r>
          </a:p>
          <a:p>
            <a:r>
              <a:t>      "image_url": "http://tong.visitkorea.or.kr/cms/resource/64/3533864_image2_1.jpg",</a:t>
            </a:r>
          </a:p>
          <a:p>
            <a:r>
              <a:t>      "source_id": "tour-api:125605",</a:t>
            </a:r>
          </a:p>
          <a:p>
            <a:r>
              <a:t>      "content_id": "125605",</a:t>
            </a:r>
          </a:p>
          <a:p>
            <a:r>
              <a:t>      "source_url": "https://apis.data.go.kr/B551011/KorService2",</a:t>
            </a:r>
          </a:p>
          <a:p>
            <a:r>
              <a:t>      "source_type": "open_api",</a:t>
            </a:r>
          </a:p>
          <a:p>
            <a:r>
              <a:t>      "content_type_id": "12"</a:t>
            </a:r>
          </a:p>
          <a:p>
            <a:r>
              <a:t>    },</a:t>
            </a:r>
          </a:p>
          <a:p>
            <a:r>
              <a:t>    {</a:t>
            </a:r>
          </a:p>
          <a:p>
            <a:r>
              <a:t>      "title": "강촌하늘아래글램핑",</a:t>
            </a:r>
          </a:p>
          <a:p>
            <a:r>
              <a:t>      "address": "강원특별자치도 춘천시 남산면 풀무골1길 71",</a:t>
            </a:r>
          </a:p>
          <a:p>
            <a:r>
              <a:t>      "summary": "한국관광공사 국문관광정보 API가 반환한 선택 지역 관광자원",</a:t>
            </a:r>
          </a:p>
          <a:p>
            <a:r>
              <a:t>      "image_url": "http://tong.visitkorea.or.kr/cms/resource/45/2741645_image2_1.JPG",</a:t>
            </a:r>
          </a:p>
          <a:p>
            <a:r>
              <a:t>      "source_id": "tour-api:2741528",</a:t>
            </a:r>
          </a:p>
          <a:p>
            <a:r>
              <a:t>      "content_id": "2741528",</a:t>
            </a:r>
          </a:p>
          <a:p>
            <a:r>
              <a:t>      "source_url": "https://apis.data.go.kr/B551011/KorService2",</a:t>
            </a:r>
          </a:p>
          <a:p>
            <a:r>
              <a:t>      "source_type": "open_api",</a:t>
            </a:r>
          </a:p>
          <a:p>
            <a:r>
              <a:t>      "content_type_id": "28"</a:t>
            </a:r>
          </a:p>
          <a:p>
            <a:r>
              <a:t>    },</a:t>
            </a:r>
          </a:p>
          <a:p>
            <a:r>
              <a:t>    {</a:t>
            </a:r>
          </a:p>
          <a:p>
            <a:r>
              <a:t>      "title": "경강막국수",</a:t>
            </a:r>
          </a:p>
          <a:p>
            <a:r>
              <a:t>      "address": "강원특별자치도 춘천시 남산면 서백길 62-4",</a:t>
            </a:r>
          </a:p>
          <a:p>
            <a:r>
              <a:t>      "summary": "한국관광공사 국문관광정보 API가 반환한 선택 지역 관광자원",</a:t>
            </a:r>
          </a:p>
          <a:p>
            <a:r>
              <a:t>      "image_url": "http://tong.visitkorea.or.kr/cms/resource/39/3046639_image2_1.jpg",</a:t>
            </a:r>
          </a:p>
          <a:p>
            <a:r>
              <a:t>      "source_id": "tour-api:391742",</a:t>
            </a:r>
          </a:p>
          <a:p>
            <a:r>
              <a:t>      "content_id": "391742",</a:t>
            </a:r>
          </a:p>
          <a:p>
            <a:r>
              <a:t>      "source_url": "https://apis.data.go.kr/B551011/KorService2",</a:t>
            </a:r>
          </a:p>
          <a:p>
            <a:r>
              <a:t>      "source_type": "open_api",</a:t>
            </a:r>
          </a:p>
          <a:p>
            <a:r>
              <a:t>      "content_type_id": "39"</a:t>
            </a:r>
          </a:p>
          <a:p>
            <a:r>
              <a:t>    },</a:t>
            </a:r>
          </a:p>
          <a:p>
            <a:r>
              <a:t>    {</a:t>
            </a:r>
          </a:p>
          <a:p>
            <a:r>
              <a:t>      "title": "고목",</a:t>
            </a:r>
          </a:p>
          <a:p>
            <a:r>
              <a:t>      "address": "강원특별자치도 춘천시 남산면 남이섬길 1",</a:t>
            </a:r>
          </a:p>
          <a:p>
            <a:r>
              <a:t>      "summary": "한국관광공사 국문관광정보 API가 반환한 선택 지역 관광자원",</a:t>
            </a:r>
          </a:p>
          <a:p>
            <a:r>
              <a:t>      "image_url": "http://tong.visitkorea.or.kr/cms/resource/92/2919892_image2_1.jpg",</a:t>
            </a:r>
          </a:p>
          <a:p>
            <a:r>
              <a:t>      "source_id": "tour-api:2558052",</a:t>
            </a:r>
          </a:p>
          <a:p>
            <a:r>
              <a:t>      "content_id": "2558052",</a:t>
            </a:r>
          </a:p>
          <a:p>
            <a:r>
              <a:t>      "source_url": "https://apis.data.go.kr/B551011/KorService2",</a:t>
            </a:r>
          </a:p>
          <a:p>
            <a:r>
              <a:t>      "source_type": "open_api",</a:t>
            </a:r>
          </a:p>
          <a:p>
            <a:r>
              <a:t>      "content_type_id": "39"</a:t>
            </a:r>
          </a:p>
          <a:p>
            <a:r>
              <a:t>    },</a:t>
            </a:r>
          </a:p>
          <a:p>
            <a:r>
              <a:t>    {</a:t>
            </a:r>
          </a:p>
          <a:p>
            <a:r>
              <a:t>      "title": "공지천 조각공원",</a:t>
            </a:r>
          </a:p>
          <a:p>
            <a:r>
              <a:t>      "address": "강원특별자치도 춘천시 옛경춘로 880 (근화동)",</a:t>
            </a:r>
          </a:p>
          <a:p>
            <a:r>
              <a:t>      "summary": "한국관광공사 국문관광정보 API가 반환한 선택 지역 관광자원",</a:t>
            </a:r>
          </a:p>
          <a:p>
            <a:r>
              <a:t>      "image_url": "http://tong.visitkorea.or.kr/cms/resource/31/3072531_image2_1.jpg",</a:t>
            </a:r>
          </a:p>
          <a:p>
            <a:r>
              <a:t>      "source_id": "tour-api:129004",</a:t>
            </a:r>
          </a:p>
          <a:p>
            <a:r>
              <a:t>      "content_id": "129004",</a:t>
            </a:r>
          </a:p>
          <a:p>
            <a:r>
              <a:t>      "source_url": "https://apis.data.go.kr/B551011/KorService2",</a:t>
            </a:r>
          </a:p>
          <a:p>
            <a:r>
              <a:t>      "source_type": "open_api",</a:t>
            </a:r>
          </a:p>
          <a:p>
            <a:r>
              <a:t>      "content_type_id": "14"</a:t>
            </a:r>
          </a:p>
          <a:p>
            <a:r>
              <a:t>    },</a:t>
            </a:r>
          </a:p>
          <a:p>
            <a:r>
              <a:t>    {</a:t>
            </a:r>
          </a:p>
          <a:p>
            <a:r>
              <a:t>      "title": "구곡폭포 국민여가 캠핑장",</a:t>
            </a:r>
          </a:p>
          <a:p>
            <a:r>
              <a:t>      "address": "강원특별자치도 춘천시 남산면 강촌구곡길 324",</a:t>
            </a:r>
          </a:p>
          <a:p>
            <a:r>
              <a:t>      "summary": "한국관광공사 국문관광정보 API가 반환한 선택 지역 관광자원",</a:t>
            </a:r>
          </a:p>
          <a:p>
            <a:r>
              <a:t>      "image_url": "http://tong.visitkorea.or.kr/cms/resource/70/2793870_image2_1.jpg",</a:t>
            </a:r>
          </a:p>
          <a:p>
            <a:r>
              <a:t>      "source_id": "tour-api:2792017",</a:t>
            </a:r>
          </a:p>
          <a:p>
            <a:r>
              <a:t>      "content_id": "2792017",</a:t>
            </a:r>
          </a:p>
          <a:p>
            <a:r>
              <a:t>      "source_url": "https://apis.data.go.kr/B551011/KorService2",</a:t>
            </a:r>
          </a:p>
          <a:p>
            <a:r>
              <a:t>      "source_type": "open_api",</a:t>
            </a:r>
          </a:p>
          <a:p>
            <a:r>
              <a:t>      "content_type_id": "28"</a:t>
            </a:r>
          </a:p>
          <a:p>
            <a:r>
              <a:t>    },</a:t>
            </a:r>
          </a:p>
          <a:p>
            <a:r>
              <a:t>    {</a:t>
            </a:r>
          </a:p>
          <a:p>
            <a:r>
              <a:t>      "title": "구봉산",</a:t>
            </a:r>
          </a:p>
          <a:p>
            <a:r>
              <a:t>      "address": "강원특별자치도 춘천시 동면 순환대로 1154-115",</a:t>
            </a:r>
          </a:p>
          <a:p>
            <a:r>
              <a:t>      "summary": "한국관광공사 국문관광정보 API가 반환한 선택 지역 관광자원",</a:t>
            </a:r>
          </a:p>
          <a:p>
            <a:r>
              <a:t>      "image_url": "http://tong.visitkorea.or.kr/cms/resource/54/529954_image2_1.jpg",</a:t>
            </a:r>
          </a:p>
          <a:p>
            <a:r>
              <a:t>      "source_id": "tour-api:2714558",</a:t>
            </a:r>
          </a:p>
          <a:p>
            <a:r>
              <a:t>      "content_id": "2714558",</a:t>
            </a:r>
          </a:p>
          <a:p>
            <a:r>
              <a:t>      "source_url": "https://apis.data.go.kr/B551011/KorService2",</a:t>
            </a:r>
          </a:p>
          <a:p>
            <a:r>
              <a:t>      "source_type": "open_api",</a:t>
            </a:r>
          </a:p>
          <a:p>
            <a:r>
              <a:t>      "content_type_id": "12"</a:t>
            </a:r>
          </a:p>
          <a:p>
            <a:r>
              <a:t>    },</a:t>
            </a:r>
          </a:p>
          <a:p>
            <a:r>
              <a:t>    {</a:t>
            </a:r>
          </a:p>
          <a:p>
            <a:r>
              <a:t>      "title": "국립 용화산자연휴양림",</a:t>
            </a:r>
          </a:p>
          <a:p>
            <a:r>
              <a:t>      "address": "강원특별자치도 춘천시 사북면 사여골길 294",</a:t>
            </a:r>
          </a:p>
          <a:p>
            <a:r>
              <a:t>      "summary": "한국관광공사 국문관광정보 API가 반환한 선택 지역 관광자원",</a:t>
            </a:r>
          </a:p>
          <a:p>
            <a:r>
              <a:t>      "image_url": "http://tong.visitkorea.or.kr/cms/resource/90/3351390_image2_1.jpg",</a:t>
            </a:r>
          </a:p>
          <a:p>
            <a:r>
              <a:t>      "source_id": "tour-api:407225",</a:t>
            </a:r>
          </a:p>
          <a:p>
            <a:r>
              <a:t>      "content_id": "407225",</a:t>
            </a:r>
          </a:p>
          <a:p>
            <a:r>
              <a:t>      "source_url": "https://apis.data.go.kr/B551011/KorService2",</a:t>
            </a:r>
          </a:p>
          <a:p>
            <a:r>
              <a:t>      "source_type": "open_api",</a:t>
            </a:r>
          </a:p>
          <a:p>
            <a:r>
              <a:t>      "content_type_id": "12"</a:t>
            </a:r>
          </a:p>
          <a:p>
            <a:r>
              <a:t>    },</a:t>
            </a:r>
          </a:p>
          <a:p>
            <a:r>
              <a:t>    {</a:t>
            </a:r>
          </a:p>
          <a:p>
            <a:r>
              <a:t>      "title": "국립춘천숲체원",</a:t>
            </a:r>
          </a:p>
          <a:p>
            <a:r>
              <a:t>      "address": "강원특별자치도 춘천시 신북읍 장본2길 331",</a:t>
            </a:r>
          </a:p>
          <a:p>
            <a:r>
              <a:t>      "summary": "한국관광공사 국문관광정보 API가 반환한 선택 지역 관광자원",</a:t>
            </a:r>
          </a:p>
          <a:p>
            <a:r>
              <a:t>      "image_url": "http://tong.visitkorea.or.kr/cms/resource/86/3439986_image2_1.jpg",</a:t>
            </a:r>
          </a:p>
          <a:p>
            <a:r>
              <a:t>      "source_id": "tour-api:2710587",</a:t>
            </a:r>
          </a:p>
          <a:p>
            <a:r>
              <a:t>      "content_id": "2710587",</a:t>
            </a:r>
          </a:p>
          <a:p>
            <a:r>
              <a:t>      "source_url": "https://apis.data.go.kr/B551011/KorService2",</a:t>
            </a:r>
          </a:p>
          <a:p>
            <a:r>
              <a:t>      "source_type": "open_api",</a:t>
            </a:r>
          </a:p>
          <a:p>
            <a:r>
              <a:t>      "content_type_id": "12"</a:t>
            </a:r>
          </a:p>
          <a:p>
            <a:r>
              <a:t>    },</a:t>
            </a:r>
          </a:p>
          <a:p>
            <a:r>
              <a:t>    {</a:t>
            </a:r>
          </a:p>
          <a:p>
            <a:r>
              <a:t>      "title": "군자숯불닭갈비",</a:t>
            </a:r>
          </a:p>
          <a:p>
            <a:r>
              <a:t>      "address": "강원특별자치도 춘천시 동산면 종자리로 148-8",</a:t>
            </a:r>
          </a:p>
          <a:p>
            <a:r>
              <a:t>      "summary": "한국관광공사 국문관광정보 API가 반환한 선택 지역 관광자원",</a:t>
            </a:r>
          </a:p>
          <a:p>
            <a:r>
              <a:t>      "image_url": "http://tong.visitkorea.or.kr/cms/resource/65/2776965_image2_1.JPG",</a:t>
            </a:r>
          </a:p>
          <a:p>
            <a:r>
              <a:t>      "source_id": "tour-api:2774528",</a:t>
            </a:r>
          </a:p>
          <a:p>
            <a:r>
              <a:t>      "content_id": "2774528",</a:t>
            </a:r>
          </a:p>
          <a:p>
            <a:r>
              <a:t>      "source_url": "https://apis.data.go.kr/B551011/KorService2",</a:t>
            </a:r>
          </a:p>
          <a:p>
            <a:r>
              <a:t>      "source_type": "open_api",</a:t>
            </a:r>
          </a:p>
          <a:p>
            <a:r>
              <a:t>      "content_type_id": "39"</a:t>
            </a:r>
          </a:p>
          <a:p>
            <a:r>
              <a:t>    },</a:t>
            </a:r>
          </a:p>
          <a:p>
            <a:r>
              <a:t>    {</a:t>
            </a:r>
          </a:p>
          <a:p>
            <a:r>
              <a:t>      "title": "근화동396청년창업공간",</a:t>
            </a:r>
          </a:p>
          <a:p>
            <a:r>
              <a:t>      "address": "강원특별자치도 춘천시 중앙로 186",</a:t>
            </a:r>
          </a:p>
          <a:p>
            <a:r>
              <a:t>      "summary": "한국관광공사 국문관광정보 API가 반환한 선택 지역 관광자원",</a:t>
            </a:r>
          </a:p>
          <a:p>
            <a:r>
              <a:t>      "image_url": "http://tong.visitkorea.or.kr/cms/resource/18/3351718_image2_1.jpg",</a:t>
            </a:r>
          </a:p>
          <a:p>
            <a:r>
              <a:t>      "source_id": "tour-api:2710596",</a:t>
            </a:r>
          </a:p>
          <a:p>
            <a:r>
              <a:t>      "content_id": "2710596",</a:t>
            </a:r>
          </a:p>
          <a:p>
            <a:r>
              <a:t>      "source_url": "https://apis.data.go.kr/B551011/KorService2",</a:t>
            </a:r>
          </a:p>
          <a:p>
            <a:r>
              <a:t>      "source_type": "open_api",</a:t>
            </a:r>
          </a:p>
          <a:p>
            <a:r>
              <a:t>      "content_type_id": "12"</a:t>
            </a:r>
          </a:p>
          <a:p>
            <a:r>
              <a:t>    },</a:t>
            </a:r>
          </a:p>
          <a:p>
            <a:r>
              <a:t>    {</a:t>
            </a:r>
          </a:p>
          <a:p>
            <a:r>
              <a:t>      "title": "요즘, 한국관광 2호 - 지방공항 연계 지역관광 활성화 방안",</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"chunk_id": "reference:kto:2026:local-airport:page:044:chunk:01",</a:t>
            </a:r>
          </a:p>
          <a:p>
            <a:r>
              <a:t>      "source_id": "reference:kto:2026:local-airport",</a:t>
            </a:r>
          </a:p>
          <a:p>
            <a:r>
              <a:t>      "source_url": "https://datalab.visitkorea.or.kr/site/portal/ex/bbs/View.do?bcIdx=311068&amp;cbIdx=1135&amp;pageIndex=1",</a:t>
            </a:r>
          </a:p>
          <a:p>
            <a:r>
              <a:t>      "case_region": "",</a:t>
            </a:r>
          </a:p>
          <a:p>
            <a:r>
              <a:t>      "region_code": "ALL",</a:t>
            </a:r>
          </a:p>
          <a:p>
            <a:r>
              <a:t>      "region_name": "전국 공통",</a:t>
            </a:r>
          </a:p>
          <a:p>
            <a:r>
              <a:t>      "source_note": "지방공항·연계 지역에 관한 자료입니다. 다른 시군구의 사업 효과·예산을 보장하는 근거로 사용하지 않습니다.",</a:t>
            </a:r>
          </a:p>
          <a:p>
            <a:r>
              <a:t>      "source_type": "rag",</a:t>
            </a:r>
          </a:p>
          <a:p>
            <a:r>
              <a:t>      "intervention": "",</a:t>
            </a:r>
          </a:p>
          <a:p>
            <a:r>
              <a:t>      "document_type": "policy",</a:t>
            </a:r>
          </a:p>
          <a:p>
            <a:r>
              <a:t>      "matched_terms": [</a:t>
            </a:r>
          </a:p>
          <a:p>
            <a:r>
              <a:t>        "결제",</a:t>
            </a:r>
          </a:p>
          <a:p>
            <a:r>
              <a:t>        "관광사업",</a:t>
            </a:r>
          </a:p>
          <a:p>
            <a:r>
              <a:t>        "상권",</a:t>
            </a:r>
          </a:p>
          <a:p>
            <a:r>
              <a:t>        "성과",</a:t>
            </a:r>
          </a:p>
          <a:p>
            <a:r>
              <a:t>        "소비",</a:t>
            </a:r>
          </a:p>
          <a:p>
            <a:r>
              <a:t>        "수와",</a:t>
            </a:r>
          </a:p>
          <a:p>
            <a:r>
              <a:t>        "숙박",</a:t>
            </a:r>
          </a:p>
          <a:p>
            <a:r>
              <a:t>        "실제",</a:t>
            </a:r>
          </a:p>
          <a:p>
            <a:r>
              <a:t>        "실행",</a:t>
            </a:r>
          </a:p>
          <a:p>
            <a:r>
              <a:t>        "연결한",</a:t>
            </a:r>
          </a:p>
          <a:p>
            <a:r>
              <a:t>        "연계",</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43쪽, PDF 38쪽, PDF 40쪽, PDF 41쪽, PDF 36쪽, PDF 41쪽, PDF 44쪽, PDF 43쪽, PDF 43쪽",</a:t>
            </a:r>
          </a:p>
          <a:p>
            <a:r>
              <a:t>      "parent_source_id": "reference:kto:2026:local-airport",</a:t>
            </a:r>
          </a:p>
          <a:p>
            <a:r>
              <a:t>      "retrieval_method": "local_curated_chunk",</a:t>
            </a:r>
          </a:p>
          <a:p>
            <a:r>
              <a:t>      "evidence_strength": "medium",</a:t>
            </a:r>
          </a:p>
          <a:p>
            <a:r>
              <a:t>      "published_or_updated_at": "2026-08",</a:t>
            </a:r>
          </a:p>
          <a:p>
            <a:r>
              <a:t>      "chunk_ids": [</a:t>
            </a:r>
          </a:p>
          <a:p>
            <a:r>
              <a:t>        "reference:kto:2026:local-airport:page:036:chunk:01",</a:t>
            </a:r>
          </a:p>
          <a:p>
            <a:r>
              <a:t>        "reference:kto:2026:local-airport:page:038:chunk:01",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"reference:kto:2026:local-airport:page:044:chunk:02"</a:t>
            </a:r>
          </a:p>
          <a:p>
            <a:r>
              <a:t>      ],</a:t>
            </a:r>
          </a:p>
          <a:p>
            <a:r>
              <a:t>      "source_chunk_count": 10</a:t>
            </a:r>
          </a:p>
          <a:p>
            <a:r>
              <a:t>    },</a:t>
            </a:r>
          </a:p>
          <a:p>
            <a:r>
              <a:t>    {</a:t>
            </a:r>
          </a:p>
          <a:p>
            <a:r>
              <a:t>      "title": "전주시 2026년도 관광산업과 세출예산 사업명세서",</a:t>
            </a:r>
          </a:p>
          <a:p>
            <a:r>
              <a:t>      "summary": "전북특별자치도 전주시 · 야간관광 특화도시 예산 편성 · 예산서이므로 방문·소비 성과는 확인되지 않음",</a:t>
            </a:r>
          </a:p>
          <a:p>
            <a:r>
              <a:t>      "source_id": "case:jeonju_night_budget_2026",</a:t>
            </a:r>
          </a:p>
          <a:p>
            <a:r>
              <a:t>      "source_url": "https://jeonju.go.kr/resource/www/images/download/budget/2026/2026_31_2.pdf",</a:t>
            </a:r>
          </a:p>
          <a:p>
            <a:r>
              <a:t>      "case_region": "전북특별자치도 전주시",</a:t>
            </a:r>
          </a:p>
          <a:p>
            <a:r>
              <a:t>      "source_type": "benchmark_case",</a:t>
            </a:r>
          </a:p>
          <a:p>
            <a:r>
              <a:t>      "intervention": "야간관광 특화도시 예산 편성",</a:t>
            </a:r>
          </a:p>
          <a:p>
            <a:r>
              <a:t>      "operating_model": "사무관리, 행사운영, 연구용역, 민간경상보조 등으로 사업비를 항목별 편성",</a:t>
            </a:r>
          </a:p>
          <a:p>
            <a:r>
              <a:t>      "evidence_strength": "high",</a:t>
            </a:r>
          </a:p>
          <a:p>
            <a:r>
              <a:t>      "published_or_updated_at": "2026",</a:t>
            </a:r>
          </a:p>
          <a:p>
            <a:r>
              <a:t>      "quantitative_result_approved": null</a:t>
            </a:r>
          </a:p>
          <a:p>
            <a:r>
              <a:t>    },</a:t>
            </a:r>
          </a:p>
          <a:p>
            <a:r>
              <a:t>    {</a:t>
            </a:r>
          </a:p>
          <a:p>
            <a:r>
              <a:t>      "title": "섬에서의 특별한 경험, ‘인천 섬 도도하게 살아보기’로 누린다",</a:t>
            </a:r>
          </a:p>
          <a:p>
            <a:r>
              <a:t>      "summary": "인천광역시 강화군·옹진군 소재 섬 · 인천 섬 도도하게 살아보기—주민 숙박·식사·체험을 묶은 예약형 체류상품 · 2022년 7월 31일 기준 목표 700명 중 228명이 예약해 모객률 33%를 기록했다. 2023년에는 약 1,600명이 15개 섬을 방문한 것으로 인천시가 공개했다. 주민 소득 증가액과 비교집단 기반 체류 순증효과는 공식 자료에서 확인되지 않음.",</a:t>
            </a:r>
          </a:p>
          <a:p>
            <a:r>
              <a:t>      "source_id": "case:291a33370ec9b1",</a:t>
            </a:r>
          </a:p>
          <a:p>
            <a:r>
              <a:t>      "source_url": "https://www.incheon.go.kr/mayor_8/MA040101/view?curPage=236&amp;repSeq=DOM_0000000010488055",</a:t>
            </a:r>
          </a:p>
          <a:p>
            <a:r>
              <a:t>      "case_region": "인천광역시 강화군·옹진군 소재 섬",</a:t>
            </a:r>
          </a:p>
          <a:p>
            <a:r>
              <a:t>      "source_type": "benchmark_case",</a:t>
            </a:r>
          </a:p>
          <a:p>
            <a:r>
              <a:t>      "intervention": "인천 섬 도도하게 살아보기—주민 숙박·식사·체험을 묶은 예약형 체류상품",</a:t>
            </a:r>
          </a:p>
          <a:p>
            <a:r>
              <a:t>      "operating_model": "섬별로 2박 3일 또는 3박 4일 상품을 정해진 회차로 판매했다. 주민 운영 숙소·음식점과 낚시, 트레킹, 해양레저, 로컬체험을 하나의 예약상품으로 묶고 상품가격의 일부를 공공이 지원했다. 2024년 자료에는 섬별 최대 50% 지원 구조가 제시됐다.",</a:t>
            </a:r>
          </a:p>
          <a:p>
            <a:r>
              <a:t>      "evidence_strength": "medium",</a:t>
            </a:r>
          </a:p>
          <a:p>
            <a:r>
              <a:t>      "published_or_updated_at": "2024-08-12",</a:t>
            </a:r>
          </a:p>
          <a:p>
            <a:r>
              <a:t>      "quantitative_result_approved": null</a:t>
            </a:r>
          </a:p>
          <a:p>
            <a:r>
              <a:t>    },</a:t>
            </a:r>
          </a:p>
          <a:p>
            <a:r>
              <a:t>    {</a:t>
            </a:r>
          </a:p>
          <a:p>
            <a:r>
              <a:t>      "title": "강진 반값여행 지역경제 효과 소개",</a:t>
            </a:r>
          </a:p>
          <a:p>
            <a:r>
              <a:t>      "summary": "전라남도 강진군 · 반값여행 지역환급 · 상품권 결제 변화에 관한 소개 자료는 있으나, 사업 참여자 범위·정확한 비교 기간·원자료를 확인하지 못해 성과 수치 인용을 보류한다.",</a:t>
            </a:r>
          </a:p>
          <a:p>
            <a:r>
              <a:t>      "source_id": "case:gangjin_half_price_2024",</a:t>
            </a:r>
          </a:p>
          <a:p>
            <a:r>
              <a:t>      "source_url": "https://jnfarm.jeonnam.go.kr/board/FARM_BOARD_008/boardView.do?bdId=BD_00000000000011721&amp;menuCd=farm004002",</a:t>
            </a:r>
          </a:p>
          <a:p>
            <a:r>
              <a:t>      "case_region": "전라남도 강진군",</a:t>
            </a:r>
          </a:p>
          <a:p>
            <a:r>
              <a:t>      "source_type": "benchmark_case",</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"published_or_updated_at": "2025-01-02",</a:t>
            </a:r>
          </a:p>
          <a:p>
            <a:r>
              <a:t>      "quantitative_result_approved": false</a:t>
            </a:r>
          </a:p>
          <a:p>
            <a:r>
              <a:t>    },</a:t>
            </a:r>
          </a:p>
          <a:p>
            <a:r>
              <a:t>    {</a:t>
            </a:r>
          </a:p>
          <a:p>
            <a:r>
              <a:t>      "title": "2024년 6월 여행가는 달 추진 보도자료",</a:t>
            </a:r>
          </a:p>
          <a:p>
            <a:r>
              <a:t>      "summary": "전국 인구감소지역 34곳 · 디지털 관광주민증과 교통·숙박·상점 할인 결합 · 2024년 34개 지역 약 800개 관광업체에 혜택 구조를 적용",</a:t>
            </a:r>
          </a:p>
          <a:p>
            <a:r>
              <a:t>      "source_id": "case:digital_tourism_resident_2024",</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"case_region": "전국 인구감소지역 34곳",</a:t>
            </a:r>
          </a:p>
          <a:p>
            <a:r>
              <a:t>      "source_type": "benchmark_case",</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"published_or_updated_at": "2024-05-14",</a:t>
            </a:r>
          </a:p>
          <a:p>
            <a:r>
              <a:t>      "quantitative_result_approved": null</a:t>
            </a:r>
          </a:p>
          <a:p>
            <a:r>
              <a:t>    },</a:t>
            </a:r>
          </a:p>
          <a:p>
            <a:r>
              <a:t>    {</a:t>
            </a:r>
          </a:p>
          <a:p>
            <a:r>
              <a:t>      "title": "2022 대한민국 숙박대전 경제파급효과 공개자료",</a:t>
            </a:r>
          </a:p>
          <a:p>
            <a:r>
              <a:t>      "summary": "전국 숙박할인쿠폰 지원사업 · 온라인 예약 채널 숙박할인쿠폰 · 한국관광공사 자료는 약 104만 명이 할인혜택을 이용했고 서울·제주를 제외한 지역 사용 비율이 76%였다고 소개함",</a:t>
            </a:r>
          </a:p>
          <a:p>
            <a:r>
              <a:t>      "source_id": "case:kto_stay_discount_2022",</a:t>
            </a:r>
          </a:p>
          <a:p>
            <a:r>
              <a:t>      "source_url": "https://kto.visitkorea.or.kr/upload/flexer/upload/ktobiz/20220928/b623b5f9-3ec0-11ed-9832-ddf31964842e.hwp.files/Sections1.html",</a:t>
            </a:r>
          </a:p>
          <a:p>
            <a:r>
              <a:t>      "case_region": "전국 숙박할인쿠폰 지원사업",</a:t>
            </a:r>
          </a:p>
          <a:p>
            <a:r>
              <a:t>      "source_type": "benchmark_case",</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"published_or_updated_at": "2022-09-28",</a:t>
            </a:r>
          </a:p>
          <a:p>
            <a:r>
              <a:t>      "quantitative_result_approved": null</a:t>
            </a:r>
          </a:p>
          <a:p>
            <a:r>
              <a:t>    },</a:t>
            </a:r>
          </a:p>
          <a:p>
            <a:r>
              <a:t>    {</a:t>
            </a:r>
          </a:p>
          <a:p>
            <a:r>
              <a:t>      "title": "2025 대한민국 밤밤페스타 개최 도시 및 일정",</a:t>
            </a:r>
          </a:p>
          <a:p>
            <a:r>
              <a:t>      "summary": "야간관광 특화도시 10곳 · 도시별 야간 콘텐츠를 순회형 축제로 묶는 운영 · 공식 여행기사는 개최 도시·장소·운영 시간과 콘텐츠만 제시하며 방문·소비 성과 수치는 제시하지 않음",</a:t>
            </a:r>
          </a:p>
          <a:p>
            <a:r>
              <a:t>      "source_id": "case:night_festival_2025",</a:t>
            </a:r>
          </a:p>
          <a:p>
            <a:r>
              <a:t>      "source_url": "https://korean.visitkorea.or.kr/detail/rem_detail.do?cotid=f9c636b2-dd7c-4f09-af3d-6af43b33d371",</a:t>
            </a:r>
          </a:p>
          <a:p>
            <a:r>
              <a:t>      "case_region": "야간관광 특화도시 10곳",</a:t>
            </a:r>
          </a:p>
          <a:p>
            <a:r>
              <a:t>      "source_type": "benchmark_case",</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"published_or_updated_at": "2025",</a:t>
            </a:r>
          </a:p>
          <a:p>
            <a:r>
              <a:t>      "quantitative_result_approved": null</a:t>
            </a:r>
          </a:p>
          <a:p>
            <a:r>
              <a:t>    },</a:t>
            </a:r>
          </a:p>
          <a:p>
            <a:r>
              <a:t>    {</a:t>
            </a:r>
          </a:p>
          <a:p>
            <a:r>
              <a:t>      "title": "2024년도 정부업무평가 관광분야 성과자료",</a:t>
            </a:r>
          </a:p>
          <a:p>
            <a:r>
              <a:t>      "summary": "야간관광 특화도시 10곳 · 상설 야간 콘텐츠와 경관·교통·안전 운영 · 정부업무평가 자료는 특화도시 10곳 방문객이 2023년 같은 기간보다 3% 증가했다고 기록",</a:t>
            </a:r>
          </a:p>
          <a:p>
            <a:r>
              <a:t>      "source_id": "case:night_tourism_cities_2024",</a:t>
            </a:r>
          </a:p>
          <a:p>
            <a:r>
              <a:t>      "source_url": "https://www.evaluation.go.kr/upload2/atch/eval/20250429095846463.pdf",</a:t>
            </a:r>
          </a:p>
          <a:p>
            <a:r>
              <a:t>      "case_region": "야간관광 특화도시 10곳",</a:t>
            </a:r>
          </a:p>
          <a:p>
            <a:r>
              <a:t>      "source_type": "benchmark_case",</a:t>
            </a:r>
          </a:p>
          <a:p>
            <a:r>
              <a:t>      "intervention": "상설 야간 콘텐츠와 경관·교통·안전 운영",</a:t>
            </a:r>
          </a:p>
          <a:p>
            <a:r>
              <a:t>      "operating_model": "지역 스토리를 반영한 야간 프로그램을 상설·행사형으로 운영하고 야간 경관, 이동, 식음, 안전 여건을 함께 구성",</a:t>
            </a:r>
          </a:p>
          <a:p>
            <a:r>
              <a:t>      "evidence_strength": "medium",</a:t>
            </a:r>
          </a:p>
          <a:p>
            <a:r>
              <a:t>      "published_or_updated_at": "2025-04-29",</a:t>
            </a:r>
          </a:p>
          <a:p>
            <a:r>
              <a:t>      "quantitative_result_approved": null</a:t>
            </a:r>
          </a:p>
          <a:p>
            <a:r>
              <a:t>    }</a:t>
            </a:r>
          </a:p>
          <a:p>
            <a:r>
              <a:t>  ],</a:t>
            </a:r>
          </a:p>
          <a:p>
            <a:r>
              <a:t>  "selected_forecast": {</a:t>
            </a:r>
          </a:p>
          <a:p>
            <a:r>
              <a:t>    "rows": [</a:t>
            </a:r>
          </a:p>
          <a:p>
            <a:r>
              <a:t>      {</a:t>
            </a:r>
          </a:p>
          <a:p>
            <a:r>
              <a:t>        "month": "202609",</a:t>
            </a:r>
          </a:p>
          <a:p>
            <a:r>
              <a:t>        "visitors": 1948014.0,</a:t>
            </a:r>
          </a:p>
          <a:p>
            <a:r>
              <a:t>        "is_forecast": true,</a:t>
            </a:r>
          </a:p>
          <a:p>
            <a:r>
              <a:t>        "spending_krw": 44854616000.0,</a:t>
            </a:r>
          </a:p>
          <a:p>
            <a:r>
              <a:t>        "stay_minutes": 2803.0,</a:t>
            </a:r>
          </a:p>
          <a:p>
            <a:r>
              <a:t>        "lodging_nights": 2.89,</a:t>
            </a:r>
          </a:p>
          <a:p>
            <a:r>
              <a:t>        "lodging_rate_pct": 14.2,</a:t>
            </a:r>
          </a:p>
          <a:p>
            <a:r>
              <a:t>        "lodging_searches": 26980,</a:t>
            </a:r>
          </a:p>
          <a:p>
            <a:r>
              <a:t>        "navigation_searches": 279694,</a:t>
            </a:r>
          </a:p>
          <a:p>
            <a:r>
              <a:t>        "visitor_yoy_percent": -3.61,</a:t>
            </a:r>
          </a:p>
          <a:p>
            <a:r>
              <a:t>        "spending_yoy_percent": 0.0,</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2021001,</a:t>
            </a:r>
          </a:p>
          <a:p>
            <a:r>
              <a:t>        "previous_year_spending_krw": 44854616000,</a:t>
            </a:r>
          </a:p>
          <a:p>
            <a:r>
              <a:t>        "previous_year_stay_minutes": 2803.0,</a:t>
            </a:r>
          </a:p>
          <a:p>
            <a:r>
              <a:t>        "previous_year_lodging_nights": 2.89,</a:t>
            </a:r>
          </a:p>
          <a:p>
            <a:r>
              <a:t>        "previous_year_lodging_rate_pct": 14.2,</a:t>
            </a:r>
          </a:p>
          <a:p>
            <a:r>
              <a:t>        "previous_year_lodging_searches": 26980,</a:t>
            </a:r>
          </a:p>
          <a:p>
            <a:r>
              <a:t>        "previous_year_navigation_searches": 279694</a:t>
            </a:r>
          </a:p>
          <a:p>
            <a:r>
              <a:t>      },</a:t>
            </a:r>
          </a:p>
          <a:p>
            <a:r>
              <a:t>      {</a:t>
            </a:r>
          </a:p>
          <a:p>
            <a:r>
              <a:t>        "month": "202610",</a:t>
            </a:r>
          </a:p>
          <a:p>
            <a:r>
              <a:t>        "visitors": 2278280.0,</a:t>
            </a:r>
          </a:p>
          <a:p>
            <a:r>
              <a:t>        "is_forecast": true,</a:t>
            </a:r>
          </a:p>
          <a:p>
            <a:r>
              <a:t>        "spending_krw": 59504900000.0,</a:t>
            </a:r>
          </a:p>
          <a:p>
            <a:r>
              <a:t>        "stay_minutes": 1597.0,</a:t>
            </a:r>
          </a:p>
          <a:p>
            <a:r>
              <a:t>        "lodging_nights": 2.69,</a:t>
            </a:r>
          </a:p>
          <a:p>
            <a:r>
              <a:t>        "lodging_rate_pct": 16.8,</a:t>
            </a:r>
          </a:p>
          <a:p>
            <a:r>
              <a:t>        "lodging_searches": 58111,</a:t>
            </a:r>
          </a:p>
          <a:p>
            <a:r>
              <a:t>        "navigation_searches": 584663,</a:t>
            </a:r>
          </a:p>
          <a:p>
            <a:r>
              <a:t>        "visitor_yoy_percent": -5.58,</a:t>
            </a:r>
          </a:p>
          <a:p>
            <a:r>
              <a:t>        "spending_yoy_percent": 0.0,</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2412798,</a:t>
            </a:r>
          </a:p>
          <a:p>
            <a:r>
              <a:t>        "previous_year_spending_krw": 59504900000,</a:t>
            </a:r>
          </a:p>
          <a:p>
            <a:r>
              <a:t>        "previous_year_stay_minutes": 1597.0,</a:t>
            </a:r>
          </a:p>
          <a:p>
            <a:r>
              <a:t>        "previous_year_lodging_nights": 2.69,</a:t>
            </a:r>
          </a:p>
          <a:p>
            <a:r>
              <a:t>        "previous_year_lodging_rate_pct": 16.8,</a:t>
            </a:r>
          </a:p>
          <a:p>
            <a:r>
              <a:t>        "previous_year_lodging_searches": 58111,</a:t>
            </a:r>
          </a:p>
          <a:p>
            <a:r>
              <a:t>        "previous_year_navigation_searches": 584663</a:t>
            </a:r>
          </a:p>
          <a:p>
            <a:r>
              <a:t>      },</a:t>
            </a:r>
          </a:p>
          <a:p>
            <a:r>
              <a:t>      {</a:t>
            </a:r>
          </a:p>
          <a:p>
            <a:r>
              <a:t>        "month": "202611",</a:t>
            </a:r>
          </a:p>
          <a:p>
            <a:r>
              <a:t>        "visitors": 2018187.0,</a:t>
            </a:r>
          </a:p>
          <a:p>
            <a:r>
              <a:t>        "is_forecast": true,</a:t>
            </a:r>
          </a:p>
          <a:p>
            <a:r>
              <a:t>        "spending_krw": 50330837000.0,</a:t>
            </a:r>
          </a:p>
          <a:p>
            <a:r>
              <a:t>        "stay_minutes": 1501.0,</a:t>
            </a:r>
          </a:p>
          <a:p>
            <a:r>
              <a:t>        "lodging_nights": 2.62,</a:t>
            </a:r>
          </a:p>
          <a:p>
            <a:r>
              <a:t>        "lodging_rate_pct": 13.4,</a:t>
            </a:r>
          </a:p>
          <a:p>
            <a:r>
              <a:t>        "lodging_searches": 30423,</a:t>
            </a:r>
          </a:p>
          <a:p>
            <a:r>
              <a:t>        "navigation_searches": 322218,</a:t>
            </a:r>
          </a:p>
          <a:p>
            <a:r>
              <a:t>        "visitor_yoy_percent": -1.67,</a:t>
            </a:r>
          </a:p>
          <a:p>
            <a:r>
              <a:t>        "spending_yoy_percent": 0.0,</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2052480,</a:t>
            </a:r>
          </a:p>
          <a:p>
            <a:r>
              <a:t>        "previous_year_spending_krw": 50330837000,</a:t>
            </a:r>
          </a:p>
          <a:p>
            <a:r>
              <a:t>        "previous_year_stay_minutes": 1501.0,</a:t>
            </a:r>
          </a:p>
          <a:p>
            <a:r>
              <a:t>        "previous_year_lodging_nights": 2.62,</a:t>
            </a:r>
          </a:p>
          <a:p>
            <a:r>
              <a:t>        "previous_year_lodging_rate_pct": 13.4,</a:t>
            </a:r>
          </a:p>
          <a:p>
            <a:r>
              <a:t>        "previous_year_lodging_searches": 30423,</a:t>
            </a:r>
          </a:p>
          <a:p>
            <a:r>
              <a:t>        "previous_year_navigation_searches": 322218</a:t>
            </a:r>
          </a:p>
          <a:p>
            <a:r>
              <a:t>      }</a:t>
            </a:r>
          </a:p>
          <a:p>
            <a:r>
              <a:t>    ],</a:t>
            </a:r>
          </a:p>
          <a:p>
            <a:r>
              <a:t>    "period": "202609~202611",</a:t>
            </a:r>
          </a:p>
          <a:p>
            <a:r>
              <a:t>    "complete": true,</a:t>
            </a:r>
          </a:p>
          <a:p>
            <a:r>
              <a:t>    "notes": [</a:t>
            </a:r>
          </a:p>
          <a:p>
            <a:r>
              <a:t>      "3개월 초과 예측 거리는 재귀 검증 범위 밖의 탐색 전망입니다."</a:t>
            </a:r>
          </a:p>
          <a:p>
            <a:r>
              <a:t>    ],</a:t>
            </a:r>
          </a:p>
          <a:p>
            <a:r>
              <a:t>    "selection_basis": "strategy_timeframe",</a:t>
            </a:r>
          </a:p>
          <a:p>
            <a:r>
              <a:t>    "requested_period": "202609~202611"</a:t>
            </a:r>
          </a:p>
          <a:p>
            <a:r>
              <a:t>  },</a:t>
            </a:r>
          </a:p>
          <a:p>
            <a:r>
              <a:t>  "all_ml_forecasts": [</a:t>
            </a:r>
          </a:p>
          <a:p>
            <a:r>
              <a:t>    {</a:t>
            </a:r>
          </a:p>
          <a:p>
            <a:r>
              <a:t>      "month": "202607",</a:t>
            </a:r>
          </a:p>
          <a:p>
            <a:r>
              <a:t>      "visitors": 1935310,</a:t>
            </a:r>
          </a:p>
          <a:p>
            <a:r>
              <a:t>      "is_forecast": true,</a:t>
            </a:r>
          </a:p>
          <a:p>
            <a:r>
              <a:t>      "spending_krw": 46823670000,</a:t>
            </a:r>
          </a:p>
          <a:p>
            <a:r>
              <a:t>      "stay_minutes": 1818.0,</a:t>
            </a:r>
          </a:p>
          <a:p>
            <a:r>
              <a:t>      "lodging_nights": 2.62,</a:t>
            </a:r>
          </a:p>
          <a:p>
            <a:r>
              <a:t>      "lodging_rate_pct": 16.7,</a:t>
            </a:r>
          </a:p>
          <a:p>
            <a:r>
              <a:t>      "lodging_searches": 35770,</a:t>
            </a:r>
          </a:p>
          <a:p>
            <a:r>
              <a:t>      "navigation_searches": 320422,</a:t>
            </a:r>
          </a:p>
          <a:p>
            <a:r>
              <a:t>      "visitor_yoy_percent": -2.93,</a:t>
            </a:r>
          </a:p>
          <a:p>
            <a:r>
              <a:t>      "spending_yoy_percent": 0.0,</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1993752,</a:t>
            </a:r>
          </a:p>
          <a:p>
            <a:r>
              <a:t>      "previous_year_spending_krw": 46823670000,</a:t>
            </a:r>
          </a:p>
          <a:p>
            <a:r>
              <a:t>      "previous_year_stay_minutes": 1818.0,</a:t>
            </a:r>
          </a:p>
          <a:p>
            <a:r>
              <a:t>      "previous_year_lodging_nights": 2.62,</a:t>
            </a:r>
          </a:p>
          <a:p>
            <a:r>
              <a:t>      "previous_year_lodging_rate_pct": 16.7,</a:t>
            </a:r>
          </a:p>
          <a:p>
            <a:r>
              <a:t>      "previous_year_lodging_searches": 35770,</a:t>
            </a:r>
          </a:p>
          <a:p>
            <a:r>
              <a:t>      "previous_year_navigation_searches": 320422</a:t>
            </a:r>
          </a:p>
          <a:p>
            <a:r>
              <a:t>    },</a:t>
            </a:r>
          </a:p>
          <a:p>
            <a:r>
              <a:t>    {</a:t>
            </a:r>
          </a:p>
          <a:p>
            <a:r>
              <a:t>      "month": "202608",</a:t>
            </a:r>
          </a:p>
          <a:p>
            <a:r>
              <a:t>      "visitors": 2139254,</a:t>
            </a:r>
          </a:p>
          <a:p>
            <a:r>
              <a:t>      "is_forecast": true,</a:t>
            </a:r>
          </a:p>
          <a:p>
            <a:r>
              <a:t>      "spending_krw": 51770552000,</a:t>
            </a:r>
          </a:p>
          <a:p>
            <a:r>
              <a:t>      "stay_minutes": 1673.0,</a:t>
            </a:r>
          </a:p>
          <a:p>
            <a:r>
              <a:t>      "lodging_nights": 2.58,</a:t>
            </a:r>
          </a:p>
          <a:p>
            <a:r>
              <a:t>      "lodging_rate_pct": 17.5,</a:t>
            </a:r>
          </a:p>
          <a:p>
            <a:r>
              <a:t>      "lodging_searches": 42261,</a:t>
            </a:r>
          </a:p>
          <a:p>
            <a:r>
              <a:t>      "navigation_searches": 378299,</a:t>
            </a:r>
          </a:p>
          <a:p>
            <a:r>
              <a:t>      "visitor_yoy_percent": -5.08,</a:t>
            </a:r>
          </a:p>
          <a:p>
            <a:r>
              <a:t>      "spending_yoy_percent": 0.0,</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2253751,</a:t>
            </a:r>
          </a:p>
          <a:p>
            <a:r>
              <a:t>      "previous_year_spending_krw": 51770552000,</a:t>
            </a:r>
          </a:p>
          <a:p>
            <a:r>
              <a:t>      "previous_year_stay_minutes": 1673.0,</a:t>
            </a:r>
          </a:p>
          <a:p>
            <a:r>
              <a:t>      "previous_year_lodging_nights": 2.58,</a:t>
            </a:r>
          </a:p>
          <a:p>
            <a:r>
              <a:t>      "previous_year_lodging_rate_pct": 17.5,</a:t>
            </a:r>
          </a:p>
          <a:p>
            <a:r>
              <a:t>      "previous_year_lodging_searches": 42261,</a:t>
            </a:r>
          </a:p>
          <a:p>
            <a:r>
              <a:t>      "previous_year_navigation_searches": 378299</a:t>
            </a:r>
          </a:p>
          <a:p>
            <a:r>
              <a:t>    },</a:t>
            </a:r>
          </a:p>
          <a:p>
            <a:r>
              <a:t>    {</a:t>
            </a:r>
          </a:p>
          <a:p>
            <a:r>
              <a:t>      "month": "202609",</a:t>
            </a:r>
          </a:p>
          <a:p>
            <a:r>
              <a:t>      "visitors": 1948014,</a:t>
            </a:r>
          </a:p>
          <a:p>
            <a:r>
              <a:t>      "is_forecast": true,</a:t>
            </a:r>
          </a:p>
          <a:p>
            <a:r>
              <a:t>      "spending_krw": 44854616000,</a:t>
            </a:r>
          </a:p>
          <a:p>
            <a:r>
              <a:t>      "stay_minutes": 2803.0,</a:t>
            </a:r>
          </a:p>
          <a:p>
            <a:r>
              <a:t>      "lodging_nights": 2.89,</a:t>
            </a:r>
          </a:p>
          <a:p>
            <a:r>
              <a:t>      "lodging_rate_pct": 14.2,</a:t>
            </a:r>
          </a:p>
          <a:p>
            <a:r>
              <a:t>      "lodging_searches": 26980,</a:t>
            </a:r>
          </a:p>
          <a:p>
            <a:r>
              <a:t>      "navigation_searches": 279694,</a:t>
            </a:r>
          </a:p>
          <a:p>
            <a:r>
              <a:t>      "visitor_yoy_percent": -3.61,</a:t>
            </a:r>
          </a:p>
          <a:p>
            <a:r>
              <a:t>      "spending_yoy_percent": 0.0,</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2021001,</a:t>
            </a:r>
          </a:p>
          <a:p>
            <a:r>
              <a:t>      "previous_year_spending_krw": 44854616000,</a:t>
            </a:r>
          </a:p>
          <a:p>
            <a:r>
              <a:t>      "previous_year_stay_minutes": 2803.0,</a:t>
            </a:r>
          </a:p>
          <a:p>
            <a:r>
              <a:t>      "previous_year_lodging_nights": 2.89,</a:t>
            </a:r>
          </a:p>
          <a:p>
            <a:r>
              <a:t>      "previous_year_lodging_rate_pct": 14.2,</a:t>
            </a:r>
          </a:p>
          <a:p>
            <a:r>
              <a:t>      "previous_year_lodging_searches": 26980,</a:t>
            </a:r>
          </a:p>
          <a:p>
            <a:r>
              <a:t>      "previous_year_navigation_searches": 279694</a:t>
            </a:r>
          </a:p>
          <a:p>
            <a:r>
              <a:t>    },</a:t>
            </a:r>
          </a:p>
          <a:p>
            <a:r>
              <a:t>    {</a:t>
            </a:r>
          </a:p>
          <a:p>
            <a:r>
              <a:t>      "month": "202610",</a:t>
            </a:r>
          </a:p>
          <a:p>
            <a:r>
              <a:t>      "visitors": 2278280,</a:t>
            </a:r>
          </a:p>
          <a:p>
            <a:r>
              <a:t>      "is_forecast": true,</a:t>
            </a:r>
          </a:p>
          <a:p>
            <a:r>
              <a:t>      "spending_krw": 59504900000,</a:t>
            </a:r>
          </a:p>
          <a:p>
            <a:r>
              <a:t>      "stay_minutes": 1597.0,</a:t>
            </a:r>
          </a:p>
          <a:p>
            <a:r>
              <a:t>      "lodging_nights": 2.69,</a:t>
            </a:r>
          </a:p>
          <a:p>
            <a:r>
              <a:t>      "lodging_rate_pct": 16.8,</a:t>
            </a:r>
          </a:p>
          <a:p>
            <a:r>
              <a:t>      "lodging_searches": 58111,</a:t>
            </a:r>
          </a:p>
          <a:p>
            <a:r>
              <a:t>      "navigation_searches": 584663,</a:t>
            </a:r>
          </a:p>
          <a:p>
            <a:r>
              <a:t>      "visitor_yoy_percent": -5.58,</a:t>
            </a:r>
          </a:p>
          <a:p>
            <a:r>
              <a:t>      "spending_yoy_percent": 0.0,</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2412798,</a:t>
            </a:r>
          </a:p>
          <a:p>
            <a:r>
              <a:t>      "previous_year_spending_krw": 59504900000,</a:t>
            </a:r>
          </a:p>
          <a:p>
            <a:r>
              <a:t>      "previous_year_stay_minutes": 1597.0,</a:t>
            </a:r>
          </a:p>
          <a:p>
            <a:r>
              <a:t>      "previous_year_lodging_nights": 2.69,</a:t>
            </a:r>
          </a:p>
          <a:p>
            <a:r>
              <a:t>      "previous_year_lodging_rate_pct": 16.8,</a:t>
            </a:r>
          </a:p>
          <a:p>
            <a:r>
              <a:t>      "previous_year_lodging_searches": 58111,</a:t>
            </a:r>
          </a:p>
          <a:p>
            <a:r>
              <a:t>      "previous_year_navigation_searches": 584663</a:t>
            </a:r>
          </a:p>
          <a:p>
            <a:r>
              <a:t>    },</a:t>
            </a:r>
          </a:p>
          <a:p>
            <a:r>
              <a:t>    {</a:t>
            </a:r>
          </a:p>
          <a:p>
            <a:r>
              <a:t>      "month": "202611",</a:t>
            </a:r>
          </a:p>
          <a:p>
            <a:r>
              <a:t>      "visitors": 2018187,</a:t>
            </a:r>
          </a:p>
          <a:p>
            <a:r>
              <a:t>      "is_forecast": true,</a:t>
            </a:r>
          </a:p>
          <a:p>
            <a:r>
              <a:t>      "spending_krw": 50330837000,</a:t>
            </a:r>
          </a:p>
          <a:p>
            <a:r>
              <a:t>      "stay_minutes": 1501.0,</a:t>
            </a:r>
          </a:p>
          <a:p>
            <a:r>
              <a:t>      "lodging_nights": 2.62,</a:t>
            </a:r>
          </a:p>
          <a:p>
            <a:r>
              <a:t>      "lodging_rate_pct": 13.4,</a:t>
            </a:r>
          </a:p>
          <a:p>
            <a:r>
              <a:t>      "lodging_searches": 30423,</a:t>
            </a:r>
          </a:p>
          <a:p>
            <a:r>
              <a:t>      "navigation_searches": 322218,</a:t>
            </a:r>
          </a:p>
          <a:p>
            <a:r>
              <a:t>      "visitor_yoy_percent": -1.67,</a:t>
            </a:r>
          </a:p>
          <a:p>
            <a:r>
              <a:t>      "spending_yoy_percent": 0.0,</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2052480,</a:t>
            </a:r>
          </a:p>
          <a:p>
            <a:r>
              <a:t>      "previous_year_spending_krw": 50330837000,</a:t>
            </a:r>
          </a:p>
          <a:p>
            <a:r>
              <a:t>      "previous_year_stay_minutes": 1501.0,</a:t>
            </a:r>
          </a:p>
          <a:p>
            <a:r>
              <a:t>      "previous_year_lodging_nights": 2.62,</a:t>
            </a:r>
          </a:p>
          <a:p>
            <a:r>
              <a:t>      "previous_year_lodging_rate_pct": 13.4,</a:t>
            </a:r>
          </a:p>
          <a:p>
            <a:r>
              <a:t>      "previous_year_lodging_searches": 30423,</a:t>
            </a:r>
          </a:p>
          <a:p>
            <a:r>
              <a:t>      "previous_year_navigation_searches": 322218</a:t>
            </a:r>
          </a:p>
          <a:p>
            <a:r>
              <a:t>    },</a:t>
            </a:r>
          </a:p>
          <a:p>
            <a:r>
              <a:t>    {</a:t>
            </a:r>
          </a:p>
          <a:p>
            <a:r>
              <a:t>      "month": "202612",</a:t>
            </a:r>
          </a:p>
          <a:p>
            <a:r>
              <a:t>      "visitors": 1733965,</a:t>
            </a:r>
          </a:p>
          <a:p>
            <a:r>
              <a:t>      "is_forecast": true,</a:t>
            </a:r>
          </a:p>
          <a:p>
            <a:r>
              <a:t>      "spending_krw": 39693334000,</a:t>
            </a:r>
          </a:p>
          <a:p>
            <a:r>
              <a:t>      "stay_minutes": 1807.0,</a:t>
            </a:r>
          </a:p>
          <a:p>
            <a:r>
              <a:t>      "lodging_nights": 2.67,</a:t>
            </a:r>
          </a:p>
          <a:p>
            <a:r>
              <a:t>      "lodging_rate_pct": 15.5,</a:t>
            </a:r>
          </a:p>
          <a:p>
            <a:r>
              <a:t>      "lodging_searches": 24221,</a:t>
            </a:r>
          </a:p>
          <a:p>
            <a:r>
              <a:t>      "navigation_searches": 217678,</a:t>
            </a:r>
          </a:p>
          <a:p>
            <a:r>
              <a:t>      "visitor_yoy_percent": 2.84,</a:t>
            </a:r>
          </a:p>
          <a:p>
            <a:r>
              <a:t>      "spending_yoy_percent": 0.0,</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1686121,</a:t>
            </a:r>
          </a:p>
          <a:p>
            <a:r>
              <a:t>      "previous_year_spending_krw": 39693334000,</a:t>
            </a:r>
          </a:p>
          <a:p>
            <a:r>
              <a:t>      "previous_year_stay_minutes": 1807.0,</a:t>
            </a:r>
          </a:p>
          <a:p>
            <a:r>
              <a:t>      "previous_year_lodging_nights": 2.67,</a:t>
            </a:r>
          </a:p>
          <a:p>
            <a:r>
              <a:t>      "previous_year_lodging_rate_pct": 15.5,</a:t>
            </a:r>
          </a:p>
          <a:p>
            <a:r>
              <a:t>      "previous_year_lodging_searches": 24221,</a:t>
            </a:r>
          </a:p>
          <a:p>
            <a:r>
              <a:t>      "previous_year_navigation_searches": 217678</a:t>
            </a:r>
          </a:p>
          <a:p>
            <a:r>
              <a:t>    },</a:t>
            </a:r>
          </a:p>
          <a:p>
            <a:r>
              <a:t>    {</a:t>
            </a:r>
          </a:p>
          <a:p>
            <a:r>
              <a:t>      "month": "202701",</a:t>
            </a:r>
          </a:p>
          <a:p>
            <a:r>
              <a:t>      "visitors": 1735449,</a:t>
            </a:r>
          </a:p>
          <a:p>
            <a:r>
              <a:t>      "is_forecast": true,</a:t>
            </a:r>
          </a:p>
          <a:p>
            <a:r>
              <a:t>      "spending_krw": 39173323000,</a:t>
            </a:r>
          </a:p>
          <a:p>
            <a:r>
              <a:t>      "stay_minutes": 1900.0,</a:t>
            </a:r>
          </a:p>
          <a:p>
            <a:r>
              <a:t>      "lodging_nights": 2.68,</a:t>
            </a:r>
          </a:p>
          <a:p>
            <a:r>
              <a:t>      "lodging_rate_pct": 16.0,</a:t>
            </a:r>
          </a:p>
          <a:p>
            <a:r>
              <a:t>      "lodging_searches": 27644,</a:t>
            </a:r>
          </a:p>
          <a:p>
            <a:r>
              <a:t>      "navigation_searches": 223981,</a:t>
            </a:r>
          </a:p>
          <a:p>
            <a:r>
              <a:t>      "visitor_yoy_percent": 1.42,</a:t>
            </a:r>
          </a:p>
          <a:p>
            <a:r>
              <a:t>      "spending_yoy_percent": 0.0,</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1711231,</a:t>
            </a:r>
          </a:p>
          <a:p>
            <a:r>
              <a:t>      "previous_year_spending_krw": 39173323000,</a:t>
            </a:r>
          </a:p>
          <a:p>
            <a:r>
              <a:t>      "previous_year_stay_minutes": 1900.0,</a:t>
            </a:r>
          </a:p>
          <a:p>
            <a:r>
              <a:t>      "previous_year_lodging_nights": 2.68,</a:t>
            </a:r>
          </a:p>
          <a:p>
            <a:r>
              <a:t>      "previous_year_lodging_rate_pct": 16.0,</a:t>
            </a:r>
          </a:p>
          <a:p>
            <a:r>
              <a:t>      "previous_year_lodging_searches": 27644,</a:t>
            </a:r>
          </a:p>
          <a:p>
            <a:r>
              <a:t>      "previous_year_navigation_searches": 223981</a:t>
            </a:r>
          </a:p>
          <a:p>
            <a:r>
              <a:t>    },</a:t>
            </a:r>
          </a:p>
          <a:p>
            <a:r>
              <a:t>    {</a:t>
            </a:r>
          </a:p>
          <a:p>
            <a:r>
              <a:t>      "month": "202702",</a:t>
            </a:r>
          </a:p>
          <a:p>
            <a:r>
              <a:t>      "visitors": 1722995,</a:t>
            </a:r>
          </a:p>
          <a:p>
            <a:r>
              <a:t>      "is_forecast": true,</a:t>
            </a:r>
          </a:p>
          <a:p>
            <a:r>
              <a:t>      "spending_krw": 40605893000,</a:t>
            </a:r>
          </a:p>
          <a:p>
            <a:r>
              <a:t>      "stay_minutes": 1818.0,</a:t>
            </a:r>
          </a:p>
          <a:p>
            <a:r>
              <a:t>      "lodging_nights": 2.71,</a:t>
            </a:r>
          </a:p>
          <a:p>
            <a:r>
              <a:t>      "lodging_rate_pct": 17.7,</a:t>
            </a:r>
          </a:p>
          <a:p>
            <a:r>
              <a:t>      "lodging_searches": 24571,</a:t>
            </a:r>
          </a:p>
          <a:p>
            <a:r>
              <a:t>      "navigation_searches": 238194,</a:t>
            </a:r>
          </a:p>
          <a:p>
            <a:r>
              <a:t>      "visitor_yoy_percent": -1.96,</a:t>
            </a:r>
          </a:p>
          <a:p>
            <a:r>
              <a:t>      "spending_yoy_percent": 0.0,</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1757460,</a:t>
            </a:r>
          </a:p>
          <a:p>
            <a:r>
              <a:t>      "previous_year_spending_krw": 40605893000,</a:t>
            </a:r>
          </a:p>
          <a:p>
            <a:r>
              <a:t>      "previous_year_stay_minutes": 1818.0,</a:t>
            </a:r>
          </a:p>
          <a:p>
            <a:r>
              <a:t>      "previous_year_lodging_nights": 2.71,</a:t>
            </a:r>
          </a:p>
          <a:p>
            <a:r>
              <a:t>      "previous_year_lodging_rate_pct": 17.7,</a:t>
            </a:r>
          </a:p>
          <a:p>
            <a:r>
              <a:t>      "previous_year_lodging_searches": 24571,</a:t>
            </a:r>
          </a:p>
          <a:p>
            <a:r>
              <a:t>      "previous_year_navigation_searches": 238194</a:t>
            </a:r>
          </a:p>
          <a:p>
            <a:r>
              <a:t>    }</a:t>
            </a:r>
          </a:p>
          <a:p>
            <a:r>
              <a:t>  ],</a:t>
            </a:r>
          </a:p>
          <a:p>
            <a:r>
              <a:t>  "evaluation": {</a:t>
            </a:r>
          </a:p>
          <a:p>
            <a:r>
              <a:t>    "metrics": {</a:t>
            </a:r>
          </a:p>
          <a:p>
            <a:r>
              <a:t>      "visitors": {</a:t>
            </a:r>
          </a:p>
          <a:p>
            <a:r>
              <a:t>        "test_mae": 70528.31,</a:t>
            </a:r>
          </a:p>
          <a:p>
            <a:r>
              <a:t>        "recursive_mae": {</a:t>
            </a:r>
          </a:p>
          <a:p>
            <a:r>
              <a:t>          "1": {</a:t>
            </a:r>
          </a:p>
          <a:p>
            <a:r>
              <a:t>            "baseline": 41681.0,</a:t>
            </a:r>
          </a:p>
          <a:p>
            <a:r>
              <a:t>            "selected": 49874.0,</a:t>
            </a:r>
          </a:p>
          <a:p>
            <a:r>
              <a:t>            "sample_count": 2</a:t>
            </a:r>
          </a:p>
          <a:p>
            <a:r>
              <a:t>          },</a:t>
            </a:r>
          </a:p>
          <a:p>
            <a:r>
              <a:t>          "2": {</a:t>
            </a:r>
          </a:p>
          <a:p>
            <a:r>
              <a:t>            "baseline": 60055.5,</a:t>
            </a:r>
          </a:p>
          <a:p>
            <a:r>
              <a:t>            "selected": 37301.5,</a:t>
            </a:r>
          </a:p>
          <a:p>
            <a:r>
              <a:t>            "sample_count": 2</a:t>
            </a:r>
          </a:p>
          <a:p>
            <a:r>
              <a:t>          },</a:t>
            </a:r>
          </a:p>
          <a:p>
            <a:r>
              <a:t>          "3": {</a:t>
            </a:r>
          </a:p>
          <a:p>
            <a:r>
              <a:t>            "baseline": 106265.0,</a:t>
            </a:r>
          </a:p>
          <a:p>
            <a:r>
              <a:t>            "selected": 97340.5,</a:t>
            </a:r>
          </a:p>
          <a:p>
            <a:r>
              <a:t>            "sample_count": 2</a:t>
            </a:r>
          </a:p>
          <a:p>
            <a:r>
              <a:t>          }</a:t>
            </a:r>
          </a:p>
          <a:p>
            <a:r>
              <a:t>        },</a:t>
            </a:r>
          </a:p>
          <a:p>
            <a:r>
              <a:t>        "selected_model": "RandomForestRegressor",</a:t>
            </a:r>
          </a:p>
          <a:p>
            <a:r>
              <a:t>        "baseline_test_mae": 73973.0,</a:t>
            </a:r>
          </a:p>
          <a:p>
            <a:r>
              <a:t>        "model_reliability": "mixed_recursive_performance",</a:t>
            </a:r>
          </a:p>
          <a:p>
            <a:r>
              <a:t>        "beats_baseline_on_test": true,</a:t>
            </a:r>
          </a:p>
          <a:p>
            <a:r>
              <a:t>        "recursive_horizons_worse_than_baseline": [</a:t>
            </a:r>
          </a:p>
          <a:p>
            <a:r>
              <a:t>          "1"</a:t>
            </a:r>
          </a:p>
          <a:p>
            <a:r>
              <a:t>        ]</a:t>
            </a:r>
          </a:p>
          <a:p>
            <a:r>
              <a:t>      },</a:t>
            </a:r>
          </a:p>
          <a:p>
            <a:r>
              <a:t>      "spending_krw": {</a:t>
            </a:r>
          </a:p>
          <a:p>
            <a:r>
              <a:t>        "test_mae": 4095129500.0,</a:t>
            </a:r>
          </a:p>
          <a:p>
            <a:r>
              <a:t>        "recursive_mae": {</a:t>
            </a:r>
          </a:p>
          <a:p>
            <a:r>
              <a:t>          "1": {</a:t>
            </a:r>
          </a:p>
          <a:p>
            <a:r>
              <a:t>            "baseline": 4131609500.0,</a:t>
            </a:r>
          </a:p>
          <a:p>
            <a:r>
              <a:t>            "selected": 4131609500.0,</a:t>
            </a:r>
          </a:p>
          <a:p>
            <a:r>
              <a:t>            "sample_count": 2</a:t>
            </a:r>
          </a:p>
          <a:p>
            <a:r>
              <a:t>          },</a:t>
            </a:r>
          </a:p>
          <a:p>
            <a:r>
              <a:t>          "2": {</a:t>
            </a:r>
          </a:p>
          <a:p>
            <a:r>
              <a:t>            "baseline": 6603691500.0,</a:t>
            </a:r>
          </a:p>
          <a:p>
            <a:r>
              <a:t>            "selected": 6603691500.0,</a:t>
            </a:r>
          </a:p>
          <a:p>
            <a:r>
              <a:t>            "sample_count": 2</a:t>
            </a:r>
          </a:p>
          <a:p>
            <a:r>
              <a:t>          },</a:t>
            </a:r>
          </a:p>
          <a:p>
            <a:r>
              <a:t>          "3": {</a:t>
            </a:r>
          </a:p>
          <a:p>
            <a:r>
              <a:t>            "baseline": 4058649500.0,</a:t>
            </a:r>
          </a:p>
          <a:p>
            <a:r>
              <a:t>            "selected": 4058649500.0,</a:t>
            </a:r>
          </a:p>
          <a:p>
            <a:r>
              <a:t>            "sample_count": 2</a:t>
            </a:r>
          </a:p>
          <a:p>
            <a:r>
              <a:t>          }</a:t>
            </a:r>
          </a:p>
          <a:p>
            <a:r>
              <a:t>        },</a:t>
            </a:r>
          </a:p>
          <a:p>
            <a:r>
              <a:t>        "selected_model": "seasonal_naive_previous_year_same_month",</a:t>
            </a:r>
          </a:p>
          <a:p>
            <a:r>
              <a:t>        "baseline_test_mae": 4095129500.0,</a:t>
            </a:r>
          </a:p>
          <a:p>
            <a:r>
              <a:t>        "model_reliability": "seasonal_baseline",</a:t>
            </a:r>
          </a:p>
          <a:p>
            <a:r>
              <a:t>        "beats_baseline_on_test": false,</a:t>
            </a:r>
          </a:p>
          <a:p>
            <a:r>
              <a:t>        "recursive_horizons_worse_than_baseline": []</a:t>
            </a:r>
          </a:p>
          <a:p>
            <a:r>
              <a:t>      },</a:t>
            </a:r>
          </a:p>
          <a:p>
            <a:r>
              <a:t>      "stay_minutes": {</a:t>
            </a:r>
          </a:p>
          <a:p>
            <a:r>
              <a:t>        "test_mae": 131.0,</a:t>
            </a:r>
          </a:p>
          <a:p>
            <a:r>
              <a:t>        "recursive_mae": {</a:t>
            </a:r>
          </a:p>
          <a:p>
            <a:r>
              <a:t>          "1": {</a:t>
            </a:r>
          </a:p>
          <a:p>
            <a:r>
              <a:t>            "baseline": 3.5,</a:t>
            </a:r>
          </a:p>
          <a:p>
            <a:r>
              <a:t>            "selected": 3.5,</a:t>
            </a:r>
          </a:p>
          <a:p>
            <a:r>
              <a:t>            "sample_count": 2</a:t>
            </a:r>
          </a:p>
          <a:p>
            <a:r>
              <a:t>          },</a:t>
            </a:r>
          </a:p>
          <a:p>
            <a:r>
              <a:t>          "2": {</a:t>
            </a:r>
          </a:p>
          <a:p>
            <a:r>
              <a:t>            "baseline": 252.0,</a:t>
            </a:r>
          </a:p>
          <a:p>
            <a:r>
              <a:t>            "selected": 252.0,</a:t>
            </a:r>
          </a:p>
          <a:p>
            <a:r>
              <a:t>            "sample_count": 2</a:t>
            </a:r>
          </a:p>
          <a:p>
            <a:r>
              <a:t>          },</a:t>
            </a:r>
          </a:p>
          <a:p>
            <a:r>
              <a:t>          "3": {</a:t>
            </a:r>
          </a:p>
          <a:p>
            <a:r>
              <a:t>            "baseline": 258.5,</a:t>
            </a:r>
          </a:p>
          <a:p>
            <a:r>
              <a:t>            "selected": 258.5,</a:t>
            </a:r>
          </a:p>
          <a:p>
            <a:r>
              <a:t>            "sample_count": 2</a:t>
            </a:r>
          </a:p>
          <a:p>
            <a:r>
              <a:t>          }</a:t>
            </a:r>
          </a:p>
          <a:p>
            <a:r>
              <a:t>        },</a:t>
            </a:r>
          </a:p>
          <a:p>
            <a:r>
              <a:t>        "selected_model": "seasonal_naive_previous_year_same_month",</a:t>
            </a:r>
          </a:p>
          <a:p>
            <a:r>
              <a:t>        "baseline_test_mae": 131.0,</a:t>
            </a:r>
          </a:p>
          <a:p>
            <a:r>
              <a:t>        "model_reliability": "seasonal_baseline",</a:t>
            </a:r>
          </a:p>
          <a:p>
            <a:r>
              <a:t>        "beats_baseline_on_test": false,</a:t>
            </a:r>
          </a:p>
          <a:p>
            <a:r>
              <a:t>        "recursive_horizons_worse_than_baseline": []</a:t>
            </a:r>
          </a:p>
          <a:p>
            <a:r>
              <a:t>      },</a:t>
            </a:r>
          </a:p>
          <a:p>
            <a:r>
              <a:t>      "lodging_nights": {</a:t>
            </a:r>
          </a:p>
          <a:p>
            <a:r>
              <a:t>        "test_mae": 0.06,</a:t>
            </a:r>
          </a:p>
          <a:p>
            <a:r>
              <a:t>        "recursive_mae": {</a:t>
            </a:r>
          </a:p>
          <a:p>
            <a:r>
              <a:t>          "1": {</a:t>
            </a:r>
          </a:p>
          <a:p>
            <a:r>
              <a:t>            "baseline": 0.05,</a:t>
            </a:r>
          </a:p>
          <a:p>
            <a:r>
              <a:t>            "selected": 0.05,</a:t>
            </a:r>
          </a:p>
          <a:p>
            <a:r>
              <a:t>            "sample_count": 2</a:t>
            </a:r>
          </a:p>
          <a:p>
            <a:r>
              <a:t>          },</a:t>
            </a:r>
          </a:p>
          <a:p>
            <a:r>
              <a:t>          "2": {</a:t>
            </a:r>
          </a:p>
          <a:p>
            <a:r>
              <a:t>            "baseline": 0.05,</a:t>
            </a:r>
          </a:p>
          <a:p>
            <a:r>
              <a:t>            "selected": 0.05,</a:t>
            </a:r>
          </a:p>
          <a:p>
            <a:r>
              <a:t>            "sample_count": 2</a:t>
            </a:r>
          </a:p>
          <a:p>
            <a:r>
              <a:t>          },</a:t>
            </a:r>
          </a:p>
          <a:p>
            <a:r>
              <a:t>          "3": {</a:t>
            </a:r>
          </a:p>
          <a:p>
            <a:r>
              <a:t>            "baseline": 0.06,</a:t>
            </a:r>
          </a:p>
          <a:p>
            <a:r>
              <a:t>            "selected": 0.06,</a:t>
            </a:r>
          </a:p>
          <a:p>
            <a:r>
              <a:t>            "sample_count": 2</a:t>
            </a:r>
          </a:p>
          <a:p>
            <a:r>
              <a:t>          }</a:t>
            </a:r>
          </a:p>
          <a:p>
            <a:r>
              <a:t>        },</a:t>
            </a:r>
          </a:p>
          <a:p>
            <a:r>
              <a:t>        "selected_model": "seasonal_naive_previous_year_same_month",</a:t>
            </a:r>
          </a:p>
          <a:p>
            <a:r>
              <a:t>        "baseline_test_mae": 0.06,</a:t>
            </a:r>
          </a:p>
          <a:p>
            <a:r>
              <a:t>        "model_reliability": "seasonal_baseline",</a:t>
            </a:r>
          </a:p>
          <a:p>
            <a:r>
              <a:t>        "beats_baseline_on_test": false,</a:t>
            </a:r>
          </a:p>
          <a:p>
            <a:r>
              <a:t>        "recursive_horizons_worse_than_baseline": []</a:t>
            </a:r>
          </a:p>
          <a:p>
            <a:r>
              <a:t>      },</a:t>
            </a:r>
          </a:p>
          <a:p>
            <a:r>
              <a:t>      "lodging_rate_pct": {</a:t>
            </a:r>
          </a:p>
          <a:p>
            <a:r>
              <a:t>        "test_mae": 0.55,</a:t>
            </a:r>
          </a:p>
          <a:p>
            <a:r>
              <a:t>        "recursive_mae": {</a:t>
            </a:r>
          </a:p>
          <a:p>
            <a:r>
              <a:t>          "1": {</a:t>
            </a:r>
          </a:p>
          <a:p>
            <a:r>
              <a:t>            "baseline": 0.8,</a:t>
            </a:r>
          </a:p>
          <a:p>
            <a:r>
              <a:t>            "selected": 0.8,</a:t>
            </a:r>
          </a:p>
          <a:p>
            <a:r>
              <a:t>            "sample_count": 2</a:t>
            </a:r>
          </a:p>
          <a:p>
            <a:r>
              <a:t>          },</a:t>
            </a:r>
          </a:p>
          <a:p>
            <a:r>
              <a:t>          "2": {</a:t>
            </a:r>
          </a:p>
          <a:p>
            <a:r>
              <a:t>            "baseline": 0.4,</a:t>
            </a:r>
          </a:p>
          <a:p>
            <a:r>
              <a:t>            "selected": 0.4,</a:t>
            </a:r>
          </a:p>
          <a:p>
            <a:r>
              <a:t>            "sample_count": 2</a:t>
            </a:r>
          </a:p>
          <a:p>
            <a:r>
              <a:t>          },</a:t>
            </a:r>
          </a:p>
          <a:p>
            <a:r>
              <a:t>          "3": {</a:t>
            </a:r>
          </a:p>
          <a:p>
            <a:r>
              <a:t>            "baseline": 0.3,</a:t>
            </a:r>
          </a:p>
          <a:p>
            <a:r>
              <a:t>            "selected": 0.3,</a:t>
            </a:r>
          </a:p>
          <a:p>
            <a:r>
              <a:t>            "sample_count": 2</a:t>
            </a:r>
          </a:p>
          <a:p>
            <a:r>
              <a:t>          }</a:t>
            </a:r>
          </a:p>
          <a:p>
            <a:r>
              <a:t>        },</a:t>
            </a:r>
          </a:p>
          <a:p>
            <a:r>
              <a:t>        "selected_model": "seasonal_naive_previous_year_same_month",</a:t>
            </a:r>
          </a:p>
          <a:p>
            <a:r>
              <a:t>        "baseline_test_mae": 0.55,</a:t>
            </a:r>
          </a:p>
          <a:p>
            <a:r>
              <a:t>        "model_reliability": "seasonal_baseline",</a:t>
            </a:r>
          </a:p>
          <a:p>
            <a:r>
              <a:t>        "beats_baseline_on_test": false,</a:t>
            </a:r>
          </a:p>
          <a:p>
            <a:r>
              <a:t>        "recursive_horizons_worse_than_baseline": []</a:t>
            </a:r>
          </a:p>
          <a:p>
            <a:r>
              <a:t>      },</a:t>
            </a:r>
          </a:p>
          <a:p>
            <a:r>
              <a:t>      "lodging_searches": {</a:t>
            </a:r>
          </a:p>
          <a:p>
            <a:r>
              <a:t>        "test_mae": 2351.0,</a:t>
            </a:r>
          </a:p>
          <a:p>
            <a:r>
              <a:t>        "recursive_mae": {</a:t>
            </a:r>
          </a:p>
          <a:p>
            <a:r>
              <a:t>          "1": {</a:t>
            </a:r>
          </a:p>
          <a:p>
            <a:r>
              <a:t>            "baseline": 3418.5,</a:t>
            </a:r>
          </a:p>
          <a:p>
            <a:r>
              <a:t>            "selected": 3418.5,</a:t>
            </a:r>
          </a:p>
          <a:p>
            <a:r>
              <a:t>            "sample_count": 2</a:t>
            </a:r>
          </a:p>
          <a:p>
            <a:r>
              <a:t>          },</a:t>
            </a:r>
          </a:p>
          <a:p>
            <a:r>
              <a:t>          "2": {</a:t>
            </a:r>
          </a:p>
          <a:p>
            <a:r>
              <a:t>            "baseline": 1505.0,</a:t>
            </a:r>
          </a:p>
          <a:p>
            <a:r>
              <a:t>            "selected": 1505.0,</a:t>
            </a:r>
          </a:p>
          <a:p>
            <a:r>
              <a:t>            "sample_count": 2</a:t>
            </a:r>
          </a:p>
          <a:p>
            <a:r>
              <a:t>          },</a:t>
            </a:r>
          </a:p>
          <a:p>
            <a:r>
              <a:t>          "3": {</a:t>
            </a:r>
          </a:p>
          <a:p>
            <a:r>
              <a:t>            "baseline": 1283.5,</a:t>
            </a:r>
          </a:p>
          <a:p>
            <a:r>
              <a:t>            "selected": 1283.5,</a:t>
            </a:r>
          </a:p>
          <a:p>
            <a:r>
              <a:t>            "sample_count": 2</a:t>
            </a:r>
          </a:p>
          <a:p>
            <a:r>
              <a:t>          }</a:t>
            </a:r>
          </a:p>
          <a:p>
            <a:r>
              <a:t>        },</a:t>
            </a:r>
          </a:p>
          <a:p>
            <a:r>
              <a:t>        "selected_model": "seasonal_naive_previous_year_same_month",</a:t>
            </a:r>
          </a:p>
          <a:p>
            <a:r>
              <a:t>        "baseline_test_mae": 2351.0,</a:t>
            </a:r>
          </a:p>
          <a:p>
            <a:r>
              <a:t>        "model_reliability": "seasonal_baseline",</a:t>
            </a:r>
          </a:p>
          <a:p>
            <a:r>
              <a:t>        "beats_baseline_on_test": false,</a:t>
            </a:r>
          </a:p>
          <a:p>
            <a:r>
              <a:t>        "recursive_horizons_worse_than_baseline": []</a:t>
            </a:r>
          </a:p>
          <a:p>
            <a:r>
              <a:t>      },</a:t>
            </a:r>
          </a:p>
          <a:p>
            <a:r>
              <a:t>      "navigation_searches": {</a:t>
            </a:r>
          </a:p>
          <a:p>
            <a:r>
              <a:t>        "test_mae": 32030.5,</a:t>
            </a:r>
          </a:p>
          <a:p>
            <a:r>
              <a:t>        "recursive_mae": {</a:t>
            </a:r>
          </a:p>
          <a:p>
            <a:r>
              <a:t>          "1": {</a:t>
            </a:r>
          </a:p>
          <a:p>
            <a:r>
              <a:t>            "baseline": 36449.0,</a:t>
            </a:r>
          </a:p>
          <a:p>
            <a:r>
              <a:t>            "selected": 36449.0,</a:t>
            </a:r>
          </a:p>
          <a:p>
            <a:r>
              <a:t>            "sample_count": 2</a:t>
            </a:r>
          </a:p>
          <a:p>
            <a:r>
              <a:t>          },</a:t>
            </a:r>
          </a:p>
          <a:p>
            <a:r>
              <a:t>          "2": {</a:t>
            </a:r>
          </a:p>
          <a:p>
            <a:r>
              <a:t>            "baseline": 36445.5,</a:t>
            </a:r>
          </a:p>
          <a:p>
            <a:r>
              <a:t>            "selected": 36445.5,</a:t>
            </a:r>
          </a:p>
          <a:p>
            <a:r>
              <a:t>            "sample_count": 2</a:t>
            </a:r>
          </a:p>
          <a:p>
            <a:r>
              <a:t>          },</a:t>
            </a:r>
          </a:p>
          <a:p>
            <a:r>
              <a:t>          "3": {</a:t>
            </a:r>
          </a:p>
          <a:p>
            <a:r>
              <a:t>            "baseline": 27612.0,</a:t>
            </a:r>
          </a:p>
          <a:p>
            <a:r>
              <a:t>            "selected": 27612.0,</a:t>
            </a:r>
          </a:p>
          <a:p>
            <a:r>
              <a:t>            "sample_count": 2</a:t>
            </a:r>
          </a:p>
          <a:p>
            <a:r>
              <a:t>          }</a:t>
            </a:r>
          </a:p>
          <a:p>
            <a:r>
              <a:t>        },</a:t>
            </a:r>
          </a:p>
          <a:p>
            <a:r>
              <a:t>        "selected_model": "seasonal_naive_previous_year_same_month",</a:t>
            </a:r>
          </a:p>
          <a:p>
            <a:r>
              <a:t>        "baseline_test_mae": 32030.5,</a:t>
            </a:r>
          </a:p>
          <a:p>
            <a:r>
              <a:t>        "model_reliability": "seasonal_baseline",</a:t>
            </a:r>
          </a:p>
          <a:p>
            <a:r>
              <a:t>        "beats_baseline_on_test": false,</a:t>
            </a:r>
          </a:p>
          <a:p>
            <a:r>
              <a:t>        "recursive_horizons_worse_than_baseline": []</a:t>
            </a:r>
          </a:p>
          <a:p>
            <a:r>
              <a:t>      }</a:t>
            </a:r>
          </a:p>
          <a:p>
            <a:r>
              <a:t>    },</a:t>
            </a:r>
          </a:p>
          <a:p>
            <a:r>
              <a:t>    "test_period": "202603~202606",</a:t>
            </a:r>
          </a:p>
          <a:p>
            <a:r>
              <a:t>    "selection_basis": "validation_mae_only",</a:t>
            </a:r>
          </a:p>
          <a:p>
            <a:r>
              <a:t>    "validation_period": "202512~202602",</a:t>
            </a:r>
          </a:p>
          <a:p>
            <a:r>
              <a:t>    "longer_horizon_status": "exploratory_not_recursively_backtested",</a:t>
            </a:r>
          </a:p>
          <a:p>
            <a:r>
              <a:t>    "forecast_horizon_months": 8,</a:t>
            </a:r>
          </a:p>
          <a:p>
            <a:r>
              <a:t>    "recursive_backtest_horizon_months": [</a:t>
            </a:r>
          </a:p>
          <a:p>
            <a:r>
              <a:t>      1,</a:t>
            </a:r>
          </a:p>
          <a:p>
            <a:r>
              <a:t>      2,</a:t>
            </a:r>
          </a:p>
          <a:p>
            <a:r>
              <a:t>      3</a:t>
            </a:r>
          </a:p>
          <a:p>
            <a:r>
              <a:t>    ]</a:t>
            </a:r>
          </a:p>
          <a:p>
            <a:r>
              <a:t>  },</a:t>
            </a:r>
          </a:p>
          <a:p>
            <a:r>
              <a:t>  "execution_scenario": {</a:t>
            </a:r>
          </a:p>
          <a:p>
            <a:r>
              <a:t>    "visitor_target_pct": 5.0,</a:t>
            </a:r>
          </a:p>
          <a:p>
            <a:r>
              <a:t>    "spending_target_pct": 5.0</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dataset:51110:1 | 한국관광 데이터랩 · 강원특별자치도 춘천시 순 방문자 수 및 숙박 비율 (이동통신 기반 외지인) | https://datalab.visitkorea.or.kr/</a:t>
            </a:r>
          </a:p>
          <a:p>
            <a:r>
              <a:t>dataset:51110:2 | 한국관광 데이터랩 · 강원특별자치도 춘천시 월간 순 방문자 수 (이동통신 기반 외지인) | https://datalab.visitkorea.or.kr/</a:t>
            </a:r>
          </a:p>
          <a:p>
            <a:r>
              <a:t>dataset:51110:3 | 한국관광 데이터랩 · 강원특별자치도 춘천시 관광소비 추이_외지인 | https://datalab.visitkorea.or.kr/</a:t>
            </a:r>
          </a:p>
          <a:p>
            <a:r>
              <a:t>dataset:51110:4 | 한국관광 데이터랩 · 강원특별자치도 춘천시 숙박방문자 비율 추이 (이동통신 기반 외지인) | https://datalab.visitkorea.or.kr/</a:t>
            </a:r>
          </a:p>
          <a:p>
            <a:r>
              <a:t>dataset:51110:5 | 한국관광 데이터랩 · 강원특별자치도 춘천시 평균 숙박일 (이동통신 기반 외지인) | https://datalab.visitkorea.or.kr/</a:t>
            </a:r>
          </a:p>
          <a:p>
            <a:r>
              <a:t>dataset:51110:6 | 한국관광 데이터랩 · 강원특별자치도 춘천시 내비게이션 목적지 유형별 검색량 | https://datalab.visitkorea.or.kr/</a:t>
            </a:r>
          </a:p>
          <a:p>
            <a:r>
              <a:t>dataset:51110:7 | 한국관광 데이터랩 · 강원특별자치도 춘천시 SNS 언급량 | https://datalab.visitkorea.or.kr/</a:t>
            </a:r>
          </a:p>
          <a:p>
            <a:r>
              <a:t>datalab:2343c3bc93bf:81205be51a1a | 한국관광 데이터랩 공식 다운로드 · 강원특별자치도_춘천시/숙박_체류시간/2026_01_06.zip | https://datalab.visitkorea.or.kr/</a:t>
            </a:r>
          </a:p>
          <a:p>
            <a:r>
              <a:t>datalab:73a88f6fd74b:dc735676b7f4 | 한국관광 데이터랩 공식 다운로드 · 강원특별자치도_춘천시/숙박_체류시간/2025_01_12.zip | https://datalab.visitkorea.or.kr/</a:t>
            </a:r>
          </a:p>
          <a:p>
            <a:r>
              <a:t>datalab:77438b77a948:7f25647aea7e | 한국관광 데이터랩 공식 다운로드 · 강원특별자치도_춘천시/관광소비/2026_01_06.zip | https://datalab.visitkorea.or.kr/</a:t>
            </a:r>
          </a:p>
          <a:p>
            <a:r>
              <a:t>datalab:9642314b6e5e:34e60387985e | 한국관광 데이터랩 공식 다운로드 · 강원특별자치도_춘천시/관광소비/2025_01_12.zip | https://datalab.visitkorea.or.kr/</a:t>
            </a:r>
          </a:p>
          <a:p>
            <a:r>
              <a:t>datalab:ae4e45e46741:2689769fc6ce | 한국관광 데이터랩 공식 다운로드 · 강원특별자치도_춘천시/방문자/2026_01_06.zip | https://datalab.visitkorea.or.kr/</a:t>
            </a:r>
          </a:p>
          <a:p>
            <a:r>
              <a:t>datalab:e1ae014de0aa:877807c4ab51 | 한국관광 데이터랩 공식 다운로드 · 강원특별자치도_춘천시/방문자/2025_01_12.zip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regional-status:4a7789e925d5:55e3be9aa0cd | 한국관광 데이터랩 지역별 관광 현황 · 강원특별자치도 춘천시 · 유입유출 | https://datalab.visitkorea.or.kr/</a:t>
            </a:r>
          </a:p>
          <a:p>
            <a:r>
              <a:t>regional-status:61a9d2d6b099:8676c55ce1a7 | 한국관광 데이터랩 지역별 관광 현황 · 강원특별자치도 춘천시 · 인기관광지 | https://datalab.visitkorea.or.kr/</a:t>
            </a:r>
          </a:p>
          <a:p>
            <a:r>
              <a:t>regional-status:b3fe66c3af97:a10ce860bf9f | 한국관광 데이터랩 지역별 관광 현황 · 강원특별자치도 춘천시 · 지역집중률 | https://datalab.visitkorea.or.kr/</a:t>
            </a:r>
          </a:p>
          <a:p>
            <a:r>
              <a:t>ml:51110:regional-demand-v3.1:202606 | 지역 관광수요 ML 전망 · 공식 관측값 아님 | URL 미기록</a:t>
            </a:r>
          </a:p>
          <a:p>
            <a:r>
              <a:t>tour-api:2891703 | 가보자순대국 | https://apis.data.go.kr/B551011/KorService2</a:t>
            </a:r>
          </a:p>
          <a:p>
            <a:r>
              <a:t>tour-api:3083085 | 가평1등수상레저 | https://apis.data.go.kr/B551011/KorService2</a:t>
            </a:r>
          </a:p>
          <a:p>
            <a:r>
              <a:t>tour-api:128778 | 강원 경찰충혼탑 | https://apis.data.go.kr/B551011/KorService2</a:t>
            </a:r>
          </a:p>
          <a:p>
            <a:r>
              <a:t>tour-api:129840 | 강원대학교중앙박물관 | https://apis.data.go.kr/B551011/KorService2</a:t>
            </a:r>
          </a:p>
          <a:p>
            <a:r>
              <a:t>tour-api:2610850 | 강원숲체험장 | https://apis.data.go.kr/B551011/KorService2</a:t>
            </a:r>
          </a:p>
          <a:p>
            <a:r>
              <a:t>tour-api:131456 | 강원특별자치도청소년수련원 | https://apis.data.go.kr/B551011/KorService2</a:t>
            </a:r>
          </a:p>
          <a:p>
            <a:r>
              <a:t>tour-api:2706334 | 강촌 출렁다리공원 | https://apis.data.go.kr/B551011/KorService2</a:t>
            </a:r>
          </a:p>
          <a:p>
            <a:r>
              <a:t>tour-api:1947118 | 강촌레일파크(김유정레일바이크) | https://apis.data.go.kr/B551011/KorService2</a:t>
            </a:r>
          </a:p>
          <a:p>
            <a:r>
              <a:t>tour-api:2759582 | 강촌버즈글램핑 | https://apis.data.go.kr/B551011/KorService2</a:t>
            </a:r>
          </a:p>
          <a:p>
            <a:r>
              <a:t>tour-api:125605 | 강촌유원지 | https://apis.data.go.kr/B551011/KorService2</a:t>
            </a:r>
          </a:p>
          <a:p>
            <a:r>
              <a:t>tour-api:2741528 | 강촌하늘아래글램핑 | https://apis.data.go.kr/B551011/KorService2</a:t>
            </a:r>
          </a:p>
          <a:p>
            <a:r>
              <a:t>tour-api:391742 | 경강막국수 | https://apis.data.go.kr/B551011/KorService2</a:t>
            </a:r>
          </a:p>
          <a:p>
            <a:r>
              <a:t>tour-api:2558052 | 고목 | https://apis.data.go.kr/B551011/KorService2</a:t>
            </a:r>
          </a:p>
          <a:p>
            <a:r>
              <a:t>tour-api:129004 | 공지천 조각공원 | https://apis.data.go.kr/B551011/KorService2</a:t>
            </a:r>
          </a:p>
          <a:p>
            <a:r>
              <a:t>tour-api:2792017 | 구곡폭포 국민여가 캠핑장 | https://apis.data.go.kr/B551011/KorService2</a:t>
            </a:r>
          </a:p>
          <a:p>
            <a:r>
              <a:t>tour-api:2714558 | 구봉산 | https://apis.data.go.kr/B551011/KorService2</a:t>
            </a:r>
          </a:p>
          <a:p>
            <a:r>
              <a:t>tour-api:407225 | 국립 용화산자연휴양림 | https://apis.data.go.kr/B551011/KorService2</a:t>
            </a:r>
          </a:p>
          <a:p>
            <a:r>
              <a:t>tour-api:2710587 | 국립춘천숲체원 | https://apis.data.go.kr/B551011/KorService2</a:t>
            </a:r>
          </a:p>
          <a:p>
            <a:r>
              <a:t>tour-api:2774528 | 군자숯불닭갈비 | https://apis.data.go.kr/B551011/KorService2</a:t>
            </a:r>
          </a:p>
          <a:p>
            <a:r>
              <a:t>tour-api:2710596 | 근화동396청년창업공간 | https://apis.data.go.kr/B551011/KorService2</a:t>
            </a:r>
          </a:p>
          <a:p>
            <a:r>
              <a:t>reference:kto:2026:local-airport | 요즘, 한국관광 2호 - 지방공항 연계 지역관광 활성화 방안 | PDF 44쪽, PDF 43쪽, PDF 38쪽, PDF 40쪽, PDF 41쪽, PDF 36쪽, PDF 41쪽, PDF 44쪽, PDF 43쪽, PDF 43쪽 | https://datalab.visitkorea.or.kr/site/portal/ex/bbs/View.do?bcIdx=311068&amp;cbIdx=1135&amp;pageIndex=1</a:t>
            </a:r>
          </a:p>
          <a:p>
            <a:r>
              <a:t>case:jeonju_night_budget_2026 | 전주시 2026년도 관광산업과 세출예산 사업명세서 | https://jeonju.go.kr/resource/www/images/download/budget/2026/2026_31_2.pdf</a:t>
            </a:r>
          </a:p>
          <a:p>
            <a:r>
              <a:t>case:291a33370ec9b1 | 섬에서의 특별한 경험, ‘인천 섬 도도하게 살아보기’로 누린다 | https://www.incheon.go.kr/mayor_8/MA040101/view?curPage=236&amp;repSeq=DOM_0000000010488055</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case:night_tourism_cities_2024 | 2024년도 정부업무평가 관광분야 성과자료 | https://www.evaluation.go.kr/upload2/atch/eval/20250429095846463.pdf</a:t>
            </a:r>
          </a:p>
          <a:p>
            <a:r>
              <a:t>[/Sources]</a:t>
            </a:r>
          </a:p>
          <a:p>
            <a:r>
              <a:t>[Calculation audit]</a:t>
            </a:r>
          </a:p>
          <a:p>
            <a:r>
              <a:t>{</a:t>
            </a:r>
          </a:p>
          <a:p>
            <a:r>
              <a:t>  "source_inventory": [</a:t>
            </a:r>
          </a:p>
          <a:p>
            <a:r>
              <a:t>    {</a:t>
            </a:r>
          </a:p>
          <a:p>
            <a:r>
              <a:t>      "title": "한국관광 데이터랩 · 강원특별자치도 춘천시 순 방문자 수 및 숙박 비율 (이동통신 기반 외지인)",</a:t>
            </a:r>
          </a:p>
          <a:p>
            <a:r>
              <a:t>      "summary": "월간 순 방문자 수: 1,873,282명 (관측 기준월: 2026-06)",</a:t>
            </a:r>
          </a:p>
          <a:p>
            <a:r>
              <a:t>      "source_id": "dataset:51110:1",</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춘천시 월간 순 방문자 수 (이동통신 기반 외지인)",</a:t>
            </a:r>
          </a:p>
          <a:p>
            <a:r>
              <a:t>      "summary": "전년동월 외지인 방문자 증감률: -8.1% (관측 기준월: 2026-06)",</a:t>
            </a:r>
          </a:p>
          <a:p>
            <a:r>
              <a:t>      "source_id": "dataset:51110:2",</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춘천시 관광소비 추이_외지인",</a:t>
            </a:r>
          </a:p>
          <a:p>
            <a:r>
              <a:t>      "summary": "월간 외지인 관광소비 총액: 51,352,814,000원 (관측 기준월: 2026-06)",</a:t>
            </a:r>
          </a:p>
          <a:p>
            <a:r>
              <a:t>      "source_id": "dataset:51110:3",</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춘천시 숙박방문자 비율 추이 (이동통신 기반 외지인)",</a:t>
            </a:r>
          </a:p>
          <a:p>
            <a:r>
              <a:t>      "summary": "외지인 숙박 방문 비율: 14.1% (관측 기준월: 2026-06)",</a:t>
            </a:r>
          </a:p>
          <a:p>
            <a:r>
              <a:t>      "source_id": "dataset:51110:4",</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춘천시 평균 숙박일 (이동통신 기반 외지인)",</a:t>
            </a:r>
          </a:p>
          <a:p>
            <a:r>
              <a:t>      "summary": "외지인 평균 숙박일수: 2.61일 (관측 기준월: 2026-06)",</a:t>
            </a:r>
          </a:p>
          <a:p>
            <a:r>
              <a:t>      "source_id": "dataset:51110:5",</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춘천시 내비게이션 목적지 유형별 검색량",</a:t>
            </a:r>
          </a:p>
          <a:p>
            <a:r>
              <a:t>      "summary": "내비게이션 목적지 검색량: 322,791건 (관측 기준월: 2026-06)",</a:t>
            </a:r>
          </a:p>
          <a:p>
            <a:r>
              <a:t>      "source_id": "dataset:51110:6",</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춘천시 SNS 언급량",</a:t>
            </a:r>
          </a:p>
          <a:p>
            <a:r>
              <a:t>      "summary": "SNS 언급량: 46,739건 (관측 기준월: 2026-06)",</a:t>
            </a:r>
          </a:p>
          <a:p>
            <a:r>
              <a:t>      "source_id": "dataset:51110:7",</a:t>
            </a:r>
          </a:p>
          <a:p>
            <a:r>
              <a:t>      "source_url": "https://datalab.visitkorea.or.kr/",</a:t>
            </a:r>
          </a:p>
          <a:p>
            <a:r>
              <a:t>      "source_type": "dataset",</a:t>
            </a:r>
          </a:p>
          <a:p>
            <a:r>
              <a:t>      "observation_period": "2026-06",</a:t>
            </a:r>
          </a:p>
          <a:p>
            <a:r>
              <a:t>      "published_or_updated_at": "2026-06"</a:t>
            </a:r>
          </a:p>
          <a:p>
            <a:r>
              <a:t>    },</a:t>
            </a:r>
          </a:p>
          <a:p>
            <a:r>
              <a:t>    {</a:t>
            </a:r>
          </a:p>
          <a:p>
            <a:r>
              <a:t>      "title": "한국관광 데이터랩 공식 다운로드 · 강원특별자치도_춘천시/숙박_체류시간/2026_01_06.zip",</a:t>
            </a:r>
          </a:p>
          <a:p>
            <a:r>
              <a:t>      "summary": "전국 비교 기준 기간: 2025-07 ~ 2026-06",</a:t>
            </a:r>
          </a:p>
          <a:p>
            <a:r>
              <a:t>      "source_id": "datalab:2343c3bc93bf:81205be51a1a",</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강원특별자치도_춘천시/숙박_체류시간/2025_01_12.zip",</a:t>
            </a:r>
          </a:p>
          <a:p>
            <a:r>
              <a:t>      "summary": "전국 비교 기준 기간: 2025-07 ~ 2026-06",</a:t>
            </a:r>
          </a:p>
          <a:p>
            <a:r>
              <a:t>      "source_id": "datalab:73a88f6fd74b:dc735676b7f4",</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강원특별자치도_춘천시/관광소비/2026_01_06.zip",</a:t>
            </a:r>
          </a:p>
          <a:p>
            <a:r>
              <a:t>      "summary": "전국 비교 기준 기간: 2025-07 ~ 2026-06",</a:t>
            </a:r>
          </a:p>
          <a:p>
            <a:r>
              <a:t>      "source_id": "datalab:77438b77a948:7f25647aea7e",</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강원특별자치도_춘천시/관광소비/2025_01_12.zip",</a:t>
            </a:r>
          </a:p>
          <a:p>
            <a:r>
              <a:t>      "summary": "전국 비교 기준 기간: 2025-07 ~ 2026-06",</a:t>
            </a:r>
          </a:p>
          <a:p>
            <a:r>
              <a:t>      "source_id": "datalab:9642314b6e5e:34e60387985e",</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강원특별자치도_춘천시/방문자/2026_01_06.zip",</a:t>
            </a:r>
          </a:p>
          <a:p>
            <a:r>
              <a:t>      "summary": "전국 비교 기준 기간: 2025-07 ~ 2026-06",</a:t>
            </a:r>
          </a:p>
          <a:p>
            <a:r>
              <a:t>      "source_id": "datalab:ae4e45e46741:2689769fc6ce",</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강원특별자치도_춘천시/방문자/2025_01_12.zip",</a:t>
            </a:r>
          </a:p>
          <a:p>
            <a:r>
              <a:t>      "summary": "전국 비교 기준 기간: 2025-07 ~ 2026-06",</a:t>
            </a:r>
          </a:p>
          <a:p>
            <a:r>
              <a:t>      "source_id": "datalab:e1ae014de0aa:877807c4ab51",</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전국 빅데이터 다운로드 · 이동통신/내국인/지역별 방문자수/20260820140607__202601-202606_데이터랩_다운로드.zip",</a:t>
            </a:r>
          </a:p>
          <a:p>
            <a:r>
              <a:t>      "summary": "시군구 기간합계·비중 또는 전국 월별 추이. 지역 월별 ML·정책 효과가 아닌 보조 근거.",</a:t>
            </a:r>
          </a:p>
          <a:p>
            <a:r>
              <a:t>      "source_id": "team-bigdata:23ea68053684:6bfbcf8aabf6",</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이동통신/외국인/20260820141710_전국_202601-202606_데이터랩_다운로드.zip",</a:t>
            </a:r>
          </a:p>
          <a:p>
            <a:r>
              <a:t>      "summary": "시군구 기간합계·비중 또는 전국 월별 추이. 지역 월별 ML·정책 효과가 아닌 보조 근거.",</a:t>
            </a:r>
          </a:p>
          <a:p>
            <a:r>
              <a:t>      "source_id": "team-bigdata:98d4ae590d9a:3be52dd54323",</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관광지출액/20260820140046__202601-202606_데이터랩_다운로드.zip",</a:t>
            </a:r>
          </a:p>
          <a:p>
            <a:r>
              <a:t>      "summary": "시군구 기간합계·비중 또는 전국 월별 추이. 지역 월별 ML·정책 효과가 아닌 보조 근거.",</a:t>
            </a:r>
          </a:p>
          <a:p>
            <a:r>
              <a:t>      "source_id": "team-bigdata:367cd0294ec4:873930d645e5",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관광지출액/20260820140355__202601-202606_데이터랩_다운로드.zip",</a:t>
            </a:r>
          </a:p>
          <a:p>
            <a:r>
              <a:t>      "summary": "시군구 기간합계·비중 또는 전국 월별 추이. 지역 월별 ML·정책 효과가 아닌 보조 근거.",</a:t>
            </a:r>
          </a:p>
          <a:p>
            <a:r>
              <a:t>      "source_id": "team-bigdata:553a0dad4bb4:5a31355dffe8",</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검색건수/20260820195507__202601-202606_데이터랩_다운로드.zip",</a:t>
            </a:r>
          </a:p>
          <a:p>
            <a:r>
              <a:t>      "summary": "시군구 기간합계·비중 또는 전국 월별 추이. 지역 월별 ML·정책 효과가 아닌 보조 근거.",</a:t>
            </a:r>
          </a:p>
          <a:p>
            <a:r>
              <a:t>      "source_id": "team-bigdata:a53dbe1c21df:77a052de41d5",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방문자수/20260820140614__202501-202512_데이터랩_다운로드.zip",</a:t>
            </a:r>
          </a:p>
          <a:p>
            <a:r>
              <a:t>      "summary": "시군구 기간합계·비중 또는 전국 월별 추이. 지역 월별 ML·정책 효과가 아닌 보조 근거.",</a:t>
            </a:r>
          </a:p>
          <a:p>
            <a:r>
              <a:t>      "source_id": "team-bigdata:823a38d1d61c:5385261d02e5",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이동통신/외국인/20260820141649_전국_202501-202512_데이터랩_다운로드.zip",</a:t>
            </a:r>
          </a:p>
          <a:p>
            <a:r>
              <a:t>      "summary": "시군구 기간합계·비중 또는 전국 월별 추이. 지역 월별 ML·정책 효과가 아닌 보조 근거.",</a:t>
            </a:r>
          </a:p>
          <a:p>
            <a:r>
              <a:t>      "source_id": "team-bigdata:2723bdb0d589:1666a34058ed",</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관광지출액/20260820135957__202501-202512_데이터랩_다운로드.zip",</a:t>
            </a:r>
          </a:p>
          <a:p>
            <a:r>
              <a:t>      "summary": "시군구 기간합계·비중 또는 전국 월별 추이. 지역 월별 ML·정책 효과가 아닌 보조 근거.",</a:t>
            </a:r>
          </a:p>
          <a:p>
            <a:r>
              <a:t>      "source_id": "team-bigdata:83177a234971:c02cb7972e0f",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관광지출액/20260820140409__202501-202512_데이터랩_다운로드.zip",</a:t>
            </a:r>
          </a:p>
          <a:p>
            <a:r>
              <a:t>      "summary": "시군구 기간합계·비중 또는 전국 월별 추이. 지역 월별 ML·정책 효과가 아닌 보조 근거.",</a:t>
            </a:r>
          </a:p>
          <a:p>
            <a:r>
              <a:t>      "source_id": "team-bigdata:58ded7732251:589c76395cbc",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검색건수/20260820132007__202501-202512_데이터랩_다운로드.zip",</a:t>
            </a:r>
          </a:p>
          <a:p>
            <a:r>
              <a:t>      "summary": "시군구 기간합계·비중 또는 전국 월별 추이. 지역 월별 ML·정책 효과가 아닌 보조 근거.",</a:t>
            </a:r>
          </a:p>
          <a:p>
            <a:r>
              <a:t>      "source_id": "team-bigdata:e28c947cb52f:bb4cb344a6ba",</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방문자수/20260820140624__202401-202412_데이터랩_다운로드.zip",</a:t>
            </a:r>
          </a:p>
          <a:p>
            <a:r>
              <a:t>      "summary": "시군구 기간합계·비중 또는 전국 월별 추이. 지역 월별 ML·정책 효과가 아닌 보조 근거.",</a:t>
            </a:r>
          </a:p>
          <a:p>
            <a:r>
              <a:t>      "source_id": "team-bigdata:8815bbb11a39:1a5988f5f8ec",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이동통신/외국인/20260820141639_전국_202401-202412_데이터랩_다운로드.zip",</a:t>
            </a:r>
          </a:p>
          <a:p>
            <a:r>
              <a:t>      "summary": "시군구 기간합계·비중 또는 전국 월별 추이. 지역 월별 ML·정책 효과가 아닌 보조 근거.",</a:t>
            </a:r>
          </a:p>
          <a:p>
            <a:r>
              <a:t>      "source_id": "team-bigdata:19fd67fbb73d:afa4f0f54a2f",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지역별 관광 현황 · 강원특별자치도 춘천시 · 유입유출",</a:t>
            </a:r>
          </a:p>
          <a:p>
            <a:r>
              <a:t>      "summary": "관측 기간: 2025-07 ~ 2026-06. 유입·유출·인기장소 또는 30일 집중 운영 신호.",</a:t>
            </a:r>
          </a:p>
          <a:p>
            <a:r>
              <a:t>      "source_id": "regional-status:4a7789e925d5:55e3be9aa0cd",</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강원특별자치도 춘천시 · 인기관광지",</a:t>
            </a:r>
          </a:p>
          <a:p>
            <a:r>
              <a:t>      "summary": "관측 기간: 2025-07 ~ 2026-06. 유입·유출·인기장소 또는 30일 집중 운영 신호.",</a:t>
            </a:r>
          </a:p>
          <a:p>
            <a:r>
              <a:t>      "source_id": "regional-status:61a9d2d6b099:8676c55ce1a7",</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강원특별자치도 춘천시 · 지역집중률",</a:t>
            </a:r>
          </a:p>
          <a:p>
            <a:r>
              <a:t>      "summary": "관측 기간: 2025-07 ~ 2026-06. 유입·유출·인기장소 또는 30일 집중 운영 신호.",</a:t>
            </a:r>
          </a:p>
          <a:p>
            <a:r>
              <a:t>      "source_id": "regional-status:b3fe66c3af97:a10ce860bf9f",</a:t>
            </a:r>
          </a:p>
          <a:p>
            <a:r>
              <a:t>      "source_url": "https://datalab.visitkorea.or.kr/",</a:t>
            </a:r>
          </a:p>
          <a:p>
            <a:r>
              <a:t>      "source_type": "regional_tourism_status",</a:t>
            </a:r>
          </a:p>
          <a:p>
            <a:r>
              <a:t>      "observation_period": "2025-07 ~ 2026-06",</a:t>
            </a:r>
          </a:p>
          <a:p>
            <a:r>
              <a:t>      "published_or_updated_at": ""</a:t>
            </a:r>
          </a:p>
          <a:p>
            <a:r>
              <a:t>    },</a:t>
            </a:r>
          </a:p>
          <a:p>
            <a:r>
              <a:t>    {</a:t>
            </a:r>
          </a:p>
          <a:p>
            <a:r>
              <a:t>      "title": "지역 관광수요 ML 전망 · 공식 관측값 아님",</a:t>
            </a:r>
          </a:p>
          <a:p>
            <a:r>
              <a:t>      "summary": "학습 202401~202606 · 모델 regional-demand-v3.1 · 자연 추세 예측",</a:t>
            </a:r>
          </a:p>
          <a:p>
            <a:r>
              <a:t>      "source_id": "ml:51110:regional-demand-v3.1:202606",</a:t>
            </a:r>
          </a:p>
          <a:p>
            <a:r>
              <a:t>      "source_url": "",</a:t>
            </a:r>
          </a:p>
          <a:p>
            <a:r>
              <a:t>      "source_type": "model_forecast",</a:t>
            </a:r>
          </a:p>
          <a:p>
            <a:r>
              <a:t>      "model_version": "regional-demand-v3.1",</a:t>
            </a:r>
          </a:p>
          <a:p>
            <a:r>
              <a:t>      "data_fingerprint": "b54445dc6e4c68c2130c72df908d376d3e7b474c59a1e83c7607f206257cf12c"</a:t>
            </a:r>
          </a:p>
          <a:p>
            <a:r>
              <a:t>    },</a:t>
            </a:r>
          </a:p>
          <a:p>
            <a:r>
              <a:t>    {</a:t>
            </a:r>
          </a:p>
          <a:p>
            <a:r>
              <a:t>      "title": "가보자순대국",</a:t>
            </a:r>
          </a:p>
          <a:p>
            <a:r>
              <a:t>      "address": "강원특별자치도 춘천시 율문2길 11",</a:t>
            </a:r>
          </a:p>
          <a:p>
            <a:r>
              <a:t>      "summary": "한국관광공사 국문관광정보 API가 반환한 선택 지역 관광자원",</a:t>
            </a:r>
          </a:p>
          <a:p>
            <a:r>
              <a:t>      "image_url": "http://tong.visitkorea.or.kr/cms/resource/95/2891695_image2_1.jpg",</a:t>
            </a:r>
          </a:p>
          <a:p>
            <a:r>
              <a:t>      "source_id": "tour-api:2891703",</a:t>
            </a:r>
          </a:p>
          <a:p>
            <a:r>
              <a:t>      "content_id": "2891703",</a:t>
            </a:r>
          </a:p>
          <a:p>
            <a:r>
              <a:t>      "source_url": "https://apis.data.go.kr/B551011/KorService2",</a:t>
            </a:r>
          </a:p>
          <a:p>
            <a:r>
              <a:t>      "source_type": "open_api",</a:t>
            </a:r>
          </a:p>
          <a:p>
            <a:r>
              <a:t>      "content_type_id": "39"</a:t>
            </a:r>
          </a:p>
          <a:p>
            <a:r>
              <a:t>    },</a:t>
            </a:r>
          </a:p>
          <a:p>
            <a:r>
              <a:t>    {</a:t>
            </a:r>
          </a:p>
          <a:p>
            <a:r>
              <a:t>      "title": "가평1등수상레저",</a:t>
            </a:r>
          </a:p>
          <a:p>
            <a:r>
              <a:t>      "address": "강원특별자치도 춘천시 남면 박암관천길 511-55",</a:t>
            </a:r>
          </a:p>
          <a:p>
            <a:r>
              <a:t>      "summary": "한국관광공사 국문관광정보 API가 반환한 선택 지역 관광자원",</a:t>
            </a:r>
          </a:p>
          <a:p>
            <a:r>
              <a:t>      "image_url": "http://tong.visitkorea.or.kr/cms/resource/64/3083064_image2_1.jpg",</a:t>
            </a:r>
          </a:p>
          <a:p>
            <a:r>
              <a:t>      "source_id": "tour-api:3083085",</a:t>
            </a:r>
          </a:p>
          <a:p>
            <a:r>
              <a:t>      "content_id": "3083085",</a:t>
            </a:r>
          </a:p>
          <a:p>
            <a:r>
              <a:t>      "source_url": "https://apis.data.go.kr/B551011/KorService2",</a:t>
            </a:r>
          </a:p>
          <a:p>
            <a:r>
              <a:t>      "source_type": "open_api",</a:t>
            </a:r>
          </a:p>
          <a:p>
            <a:r>
              <a:t>      "content_type_id": "28"</a:t>
            </a:r>
          </a:p>
          <a:p>
            <a:r>
              <a:t>    },</a:t>
            </a:r>
          </a:p>
          <a:p>
            <a:r>
              <a:t>    {</a:t>
            </a:r>
          </a:p>
          <a:p>
            <a:r>
              <a:t>      "title": "강원 경찰충혼탑",</a:t>
            </a:r>
          </a:p>
          <a:p>
            <a:r>
              <a:t>      "address": "강원특별자치도 춘천시 서면 신매리",</a:t>
            </a:r>
          </a:p>
          <a:p>
            <a:r>
              <a:t>      "summary": "한국관광공사 국문관광정보 API가 반환한 선택 지역 관광자원",</a:t>
            </a:r>
          </a:p>
          <a:p>
            <a:r>
              <a:t>      "image_url": "http://tong.visitkorea.or.kr/cms/resource/36/3381636_image2_1.JPG",</a:t>
            </a:r>
          </a:p>
          <a:p>
            <a:r>
              <a:t>      "source_id": "tour-api:128778",</a:t>
            </a:r>
          </a:p>
          <a:p>
            <a:r>
              <a:t>      "content_id": "128778",</a:t>
            </a:r>
          </a:p>
          <a:p>
            <a:r>
              <a:t>      "source_url": "https://apis.data.go.kr/B551011/KorService2",</a:t>
            </a:r>
          </a:p>
          <a:p>
            <a:r>
              <a:t>      "source_type": "open_api",</a:t>
            </a:r>
          </a:p>
          <a:p>
            <a:r>
              <a:t>      "content_type_id": "12"</a:t>
            </a:r>
          </a:p>
          <a:p>
            <a:r>
              <a:t>    },</a:t>
            </a:r>
          </a:p>
          <a:p>
            <a:r>
              <a:t>    {</a:t>
            </a:r>
          </a:p>
          <a:p>
            <a:r>
              <a:t>      "title": "강원대학교중앙박물관",</a:t>
            </a:r>
          </a:p>
          <a:p>
            <a:r>
              <a:t>      "address": "강원특별자치도 춘천시 공지로 188-77 (효자동)",</a:t>
            </a:r>
          </a:p>
          <a:p>
            <a:r>
              <a:t>      "summary": "한국관광공사 국문관광정보 API가 반환한 선택 지역 관광자원",</a:t>
            </a:r>
          </a:p>
          <a:p>
            <a:r>
              <a:t>      "image_url": "http://tong.visitkorea.or.kr/cms/resource/58/3475458_image2_1.jpg",</a:t>
            </a:r>
          </a:p>
          <a:p>
            <a:r>
              <a:t>      "source_id": "tour-api:129840",</a:t>
            </a:r>
          </a:p>
          <a:p>
            <a:r>
              <a:t>      "content_id": "129840",</a:t>
            </a:r>
          </a:p>
          <a:p>
            <a:r>
              <a:t>      "source_url": "https://apis.data.go.kr/B551011/KorService2",</a:t>
            </a:r>
          </a:p>
          <a:p>
            <a:r>
              <a:t>      "source_type": "open_api",</a:t>
            </a:r>
          </a:p>
          <a:p>
            <a:r>
              <a:t>      "content_type_id": "14"</a:t>
            </a:r>
          </a:p>
          <a:p>
            <a:r>
              <a:t>    },</a:t>
            </a:r>
          </a:p>
          <a:p>
            <a:r>
              <a:t>    {</a:t>
            </a:r>
          </a:p>
          <a:p>
            <a:r>
              <a:t>      "title": "강원숲체험장",</a:t>
            </a:r>
          </a:p>
          <a:p>
            <a:r>
              <a:t>      "address": "강원특별자치도 춘천시 서면 납실길 107-64",</a:t>
            </a:r>
          </a:p>
          <a:p>
            <a:r>
              <a:t>      "summary": "한국관광공사 국문관광정보 API가 반환한 선택 지역 관광자원",</a:t>
            </a:r>
          </a:p>
          <a:p>
            <a:r>
              <a:t>      "image_url": "http://tong.visitkorea.or.kr/cms/resource/11/2739711_image2_1.jpg",</a:t>
            </a:r>
          </a:p>
          <a:p>
            <a:r>
              <a:t>      "source_id": "tour-api:2610850",</a:t>
            </a:r>
          </a:p>
          <a:p>
            <a:r>
              <a:t>      "content_id": "2610850",</a:t>
            </a:r>
          </a:p>
          <a:p>
            <a:r>
              <a:t>      "source_url": "https://apis.data.go.kr/B551011/KorService2",</a:t>
            </a:r>
          </a:p>
          <a:p>
            <a:r>
              <a:t>      "source_type": "open_api",</a:t>
            </a:r>
          </a:p>
          <a:p>
            <a:r>
              <a:t>      "content_type_id": "12"</a:t>
            </a:r>
          </a:p>
          <a:p>
            <a:r>
              <a:t>    },</a:t>
            </a:r>
          </a:p>
          <a:p>
            <a:r>
              <a:t>    {</a:t>
            </a:r>
          </a:p>
          <a:p>
            <a:r>
              <a:t>      "title": "강원특별자치도청소년수련원",</a:t>
            </a:r>
          </a:p>
          <a:p>
            <a:r>
              <a:t>      "address": "강원특별자치도 춘천시 신샘밭로 89",</a:t>
            </a:r>
          </a:p>
          <a:p>
            <a:r>
              <a:t>      "summary": "한국관광공사 국문관광정보 API가 반환한 선택 지역 관광자원",</a:t>
            </a:r>
          </a:p>
          <a:p>
            <a:r>
              <a:t>      "image_url": "http://tong.visitkorea.or.kr/cms/resource/05/3382505_image2_1.JPG",</a:t>
            </a:r>
          </a:p>
          <a:p>
            <a:r>
              <a:t>      "source_id": "tour-api:131456",</a:t>
            </a:r>
          </a:p>
          <a:p>
            <a:r>
              <a:t>      "content_id": "131456",</a:t>
            </a:r>
          </a:p>
          <a:p>
            <a:r>
              <a:t>      "source_url": "https://apis.data.go.kr/B551011/KorService2",</a:t>
            </a:r>
          </a:p>
          <a:p>
            <a:r>
              <a:t>      "source_type": "open_api",</a:t>
            </a:r>
          </a:p>
          <a:p>
            <a:r>
              <a:t>      "content_type_id": "28"</a:t>
            </a:r>
          </a:p>
          <a:p>
            <a:r>
              <a:t>    },</a:t>
            </a:r>
          </a:p>
          <a:p>
            <a:r>
              <a:t>    {</a:t>
            </a:r>
          </a:p>
          <a:p>
            <a:r>
              <a:t>      "title": "강촌 출렁다리공원",</a:t>
            </a:r>
          </a:p>
          <a:p>
            <a:r>
              <a:t>      "address": "강원특별자치도 춘천시 남산면 강촌리",</a:t>
            </a:r>
          </a:p>
          <a:p>
            <a:r>
              <a:t>      "summary": "한국관광공사 국문관광정보 API가 반환한 선택 지역 관광자원",</a:t>
            </a:r>
          </a:p>
          <a:p>
            <a:r>
              <a:t>      "image_url": "http://tong.visitkorea.or.kr/cms/resource/96/3382296_image2_1.JPG",</a:t>
            </a:r>
          </a:p>
          <a:p>
            <a:r>
              <a:t>      "source_id": "tour-api:2706334",</a:t>
            </a:r>
          </a:p>
          <a:p>
            <a:r>
              <a:t>      "content_id": "2706334",</a:t>
            </a:r>
          </a:p>
          <a:p>
            <a:r>
              <a:t>      "source_url": "https://apis.data.go.kr/B551011/KorService2",</a:t>
            </a:r>
          </a:p>
          <a:p>
            <a:r>
              <a:t>      "source_type": "open_api",</a:t>
            </a:r>
          </a:p>
          <a:p>
            <a:r>
              <a:t>      "content_type_id": "12"</a:t>
            </a:r>
          </a:p>
          <a:p>
            <a:r>
              <a:t>    },</a:t>
            </a:r>
          </a:p>
          <a:p>
            <a:r>
              <a:t>    {</a:t>
            </a:r>
          </a:p>
          <a:p>
            <a:r>
              <a:t>      "title": "강촌레일파크(김유정레일바이크)",</a:t>
            </a:r>
          </a:p>
          <a:p>
            <a:r>
              <a:t>      "address": "강원특별자치도 춘천시 신동면 김유정로 1383",</a:t>
            </a:r>
          </a:p>
          <a:p>
            <a:r>
              <a:t>      "summary": "한국관광공사 국문관광정보 API가 반환한 선택 지역 관광자원",</a:t>
            </a:r>
          </a:p>
          <a:p>
            <a:r>
              <a:t>      "image_url": "http://tong.visitkorea.or.kr/cms/resource/48/2739748_image2_1.jpeg",</a:t>
            </a:r>
          </a:p>
          <a:p>
            <a:r>
              <a:t>      "source_id": "tour-api:1947118",</a:t>
            </a:r>
          </a:p>
          <a:p>
            <a:r>
              <a:t>      "content_id": "1947118",</a:t>
            </a:r>
          </a:p>
          <a:p>
            <a:r>
              <a:t>      "source_url": "https://apis.data.go.kr/B551011/KorService2",</a:t>
            </a:r>
          </a:p>
          <a:p>
            <a:r>
              <a:t>      "source_type": "open_api",</a:t>
            </a:r>
          </a:p>
          <a:p>
            <a:r>
              <a:t>      "content_type_id": "28"</a:t>
            </a:r>
          </a:p>
          <a:p>
            <a:r>
              <a:t>    },</a:t>
            </a:r>
          </a:p>
          <a:p>
            <a:r>
              <a:t>    {</a:t>
            </a:r>
          </a:p>
          <a:p>
            <a:r>
              <a:t>      "title": "강촌버즈글램핑",</a:t>
            </a:r>
          </a:p>
          <a:p>
            <a:r>
              <a:t>      "address": "강원특별자치도 춘천시 서면 율장길 122-28",</a:t>
            </a:r>
          </a:p>
          <a:p>
            <a:r>
              <a:t>      "summary": "한국관광공사 국문관광정보 API가 반환한 선택 지역 관광자원",</a:t>
            </a:r>
          </a:p>
          <a:p>
            <a:r>
              <a:t>      "image_url": "http://tong.visitkorea.or.kr/cms/resource/44/2760044_image2_1.JPG",</a:t>
            </a:r>
          </a:p>
          <a:p>
            <a:r>
              <a:t>      "source_id": "tour-api:2759582",</a:t>
            </a:r>
          </a:p>
          <a:p>
            <a:r>
              <a:t>      "content_id": "2759582",</a:t>
            </a:r>
          </a:p>
          <a:p>
            <a:r>
              <a:t>      "source_url": "https://apis.data.go.kr/B551011/KorService2",</a:t>
            </a:r>
          </a:p>
          <a:p>
            <a:r>
              <a:t>      "source_type": "open_api",</a:t>
            </a:r>
          </a:p>
          <a:p>
            <a:r>
              <a:t>      "content_type_id": "28"</a:t>
            </a:r>
          </a:p>
          <a:p>
            <a:r>
              <a:t>    },</a:t>
            </a:r>
          </a:p>
          <a:p>
            <a:r>
              <a:t>    {</a:t>
            </a:r>
          </a:p>
          <a:p>
            <a:r>
              <a:t>      "title": "강촌유원지",</a:t>
            </a:r>
          </a:p>
          <a:p>
            <a:r>
              <a:t>      "address": "강원특별자치도 춘천시 남산면 일원",</a:t>
            </a:r>
          </a:p>
          <a:p>
            <a:r>
              <a:t>      "summary": "한국관광공사 국문관광정보 API가 반환한 선택 지역 관광자원",</a:t>
            </a:r>
          </a:p>
          <a:p>
            <a:r>
              <a:t>      "image_url": "http://tong.visitkorea.or.kr/cms/resource/64/3533864_image2_1.jpg",</a:t>
            </a:r>
          </a:p>
          <a:p>
            <a:r>
              <a:t>      "source_id": "tour-api:125605",</a:t>
            </a:r>
          </a:p>
          <a:p>
            <a:r>
              <a:t>      "content_id": "125605",</a:t>
            </a:r>
          </a:p>
          <a:p>
            <a:r>
              <a:t>      "source_url": "https://apis.data.go.kr/B551011/KorService2",</a:t>
            </a:r>
          </a:p>
          <a:p>
            <a:r>
              <a:t>      "source_type": "open_api",</a:t>
            </a:r>
          </a:p>
          <a:p>
            <a:r>
              <a:t>      "content_type_id": "12"</a:t>
            </a:r>
          </a:p>
          <a:p>
            <a:r>
              <a:t>    },</a:t>
            </a:r>
          </a:p>
          <a:p>
            <a:r>
              <a:t>    {</a:t>
            </a:r>
          </a:p>
          <a:p>
            <a:r>
              <a:t>      "title": "강촌하늘아래글램핑",</a:t>
            </a:r>
          </a:p>
          <a:p>
            <a:r>
              <a:t>      "address": "강원특별자치도 춘천시 남산면 풀무골1길 71",</a:t>
            </a:r>
          </a:p>
          <a:p>
            <a:r>
              <a:t>      "summary": "한국관광공사 국문관광정보 API가 반환한 선택 지역 관광자원",</a:t>
            </a:r>
          </a:p>
          <a:p>
            <a:r>
              <a:t>      "image_url": "http://tong.visitkorea.or.kr/cms/resource/45/2741645_image2_1.JPG",</a:t>
            </a:r>
          </a:p>
          <a:p>
            <a:r>
              <a:t>      "source_id": "tour-api:2741528",</a:t>
            </a:r>
          </a:p>
          <a:p>
            <a:r>
              <a:t>      "content_id": "2741528",</a:t>
            </a:r>
          </a:p>
          <a:p>
            <a:r>
              <a:t>      "source_url": "https://apis.data.go.kr/B551011/KorService2",</a:t>
            </a:r>
          </a:p>
          <a:p>
            <a:r>
              <a:t>      "source_type": "open_api",</a:t>
            </a:r>
          </a:p>
          <a:p>
            <a:r>
              <a:t>      "content_type_id": "28"</a:t>
            </a:r>
          </a:p>
          <a:p>
            <a:r>
              <a:t>    },</a:t>
            </a:r>
          </a:p>
          <a:p>
            <a:r>
              <a:t>    {</a:t>
            </a:r>
          </a:p>
          <a:p>
            <a:r>
              <a:t>      "title": "경강막국수",</a:t>
            </a:r>
          </a:p>
          <a:p>
            <a:r>
              <a:t>      "address": "강원특별자치도 춘천시 남산면 서백길 62-4",</a:t>
            </a:r>
          </a:p>
          <a:p>
            <a:r>
              <a:t>      "summary": "한국관광공사 국문관광정보 API가 반환한 선택 지역 관광자원",</a:t>
            </a:r>
          </a:p>
          <a:p>
            <a:r>
              <a:t>      "image_url": "http://tong.visitkorea.or.kr/cms/resource/39/3046639_image2_1.jpg",</a:t>
            </a:r>
          </a:p>
          <a:p>
            <a:r>
              <a:t>      "source_id": "tour-api:391742",</a:t>
            </a:r>
          </a:p>
          <a:p>
            <a:r>
              <a:t>      "content_id": "391742",</a:t>
            </a:r>
          </a:p>
          <a:p>
            <a:r>
              <a:t>      "source_url": "https://apis.data.go.kr/B551011/KorService2",</a:t>
            </a:r>
          </a:p>
          <a:p>
            <a:r>
              <a:t>      "source_type": "open_api",</a:t>
            </a:r>
          </a:p>
          <a:p>
            <a:r>
              <a:t>      "content_type_id": "39"</a:t>
            </a:r>
          </a:p>
          <a:p>
            <a:r>
              <a:t>    },</a:t>
            </a:r>
          </a:p>
          <a:p>
            <a:r>
              <a:t>    {</a:t>
            </a:r>
          </a:p>
          <a:p>
            <a:r>
              <a:t>      "title": "고목",</a:t>
            </a:r>
          </a:p>
          <a:p>
            <a:r>
              <a:t>      "address": "강원특별자치도 춘천시 남산면 남이섬길 1",</a:t>
            </a:r>
          </a:p>
          <a:p>
            <a:r>
              <a:t>      "summary": "한국관광공사 국문관광정보 API가 반환한 선택 지역 관광자원",</a:t>
            </a:r>
          </a:p>
          <a:p>
            <a:r>
              <a:t>      "image_url": "http://tong.visitkorea.or.kr/cms/resource/92/2919892_image2_1.jpg",</a:t>
            </a:r>
          </a:p>
          <a:p>
            <a:r>
              <a:t>      "source_id": "tour-api:2558052",</a:t>
            </a:r>
          </a:p>
          <a:p>
            <a:r>
              <a:t>      "content_id": "2558052",</a:t>
            </a:r>
          </a:p>
          <a:p>
            <a:r>
              <a:t>      "source_url": "https://apis.data.go.kr/B551011/KorService2",</a:t>
            </a:r>
          </a:p>
          <a:p>
            <a:r>
              <a:t>      "source_type": "open_api",</a:t>
            </a:r>
          </a:p>
          <a:p>
            <a:r>
              <a:t>      "content_type_id": "39"</a:t>
            </a:r>
          </a:p>
          <a:p>
            <a:r>
              <a:t>    },</a:t>
            </a:r>
          </a:p>
          <a:p>
            <a:r>
              <a:t>    {</a:t>
            </a:r>
          </a:p>
          <a:p>
            <a:r>
              <a:t>      "title": "공지천 조각공원",</a:t>
            </a:r>
          </a:p>
          <a:p>
            <a:r>
              <a:t>      "address": "강원특별자치도 춘천시 옛경춘로 880 (근화동)",</a:t>
            </a:r>
          </a:p>
          <a:p>
            <a:r>
              <a:t>      "summary": "한국관광공사 국문관광정보 API가 반환한 선택 지역 관광자원",</a:t>
            </a:r>
          </a:p>
          <a:p>
            <a:r>
              <a:t>      "image_url": "http://tong.visitkorea.or.kr/cms/resource/31/3072531_image2_1.jpg",</a:t>
            </a:r>
          </a:p>
          <a:p>
            <a:r>
              <a:t>      "source_id": "tour-api:129004",</a:t>
            </a:r>
          </a:p>
          <a:p>
            <a:r>
              <a:t>      "content_id": "129004",</a:t>
            </a:r>
          </a:p>
          <a:p>
            <a:r>
              <a:t>      "source_url": "https://apis.data.go.kr/B551011/KorService2",</a:t>
            </a:r>
          </a:p>
          <a:p>
            <a:r>
              <a:t>      "source_type": "open_api",</a:t>
            </a:r>
          </a:p>
          <a:p>
            <a:r>
              <a:t>      "content_type_id": "14"</a:t>
            </a:r>
          </a:p>
          <a:p>
            <a:r>
              <a:t>    },</a:t>
            </a:r>
          </a:p>
          <a:p>
            <a:r>
              <a:t>    {</a:t>
            </a:r>
          </a:p>
          <a:p>
            <a:r>
              <a:t>      "title": "구곡폭포 국민여가 캠핑장",</a:t>
            </a:r>
          </a:p>
          <a:p>
            <a:r>
              <a:t>      "address": "강원특별자치도 춘천시 남산면 강촌구곡길 324",</a:t>
            </a:r>
          </a:p>
          <a:p>
            <a:r>
              <a:t>      "summary": "한국관광공사 국문관광정보 API가 반환한 선택 지역 관광자원",</a:t>
            </a:r>
          </a:p>
          <a:p>
            <a:r>
              <a:t>      "image_url": "http://tong.visitkorea.or.kr/cms/resource/70/2793870_image2_1.jpg",</a:t>
            </a:r>
          </a:p>
          <a:p>
            <a:r>
              <a:t>      "source_id": "tour-api:2792017",</a:t>
            </a:r>
          </a:p>
          <a:p>
            <a:r>
              <a:t>      "content_id": "2792017",</a:t>
            </a:r>
          </a:p>
          <a:p>
            <a:r>
              <a:t>      "source_url": "https://apis.data.go.kr/B551011/KorService2",</a:t>
            </a:r>
          </a:p>
          <a:p>
            <a:r>
              <a:t>      "source_type": "open_api",</a:t>
            </a:r>
          </a:p>
          <a:p>
            <a:r>
              <a:t>      "content_type_id": "28"</a:t>
            </a:r>
          </a:p>
          <a:p>
            <a:r>
              <a:t>    },</a:t>
            </a:r>
          </a:p>
          <a:p>
            <a:r>
              <a:t>    {</a:t>
            </a:r>
          </a:p>
          <a:p>
            <a:r>
              <a:t>      "title": "구봉산",</a:t>
            </a:r>
          </a:p>
          <a:p>
            <a:r>
              <a:t>      "address": "강원특별자치도 춘천시 동면 순환대로 1154-115",</a:t>
            </a:r>
          </a:p>
          <a:p>
            <a:r>
              <a:t>      "summary": "한국관광공사 국문관광정보 API가 반환한 선택 지역 관광자원",</a:t>
            </a:r>
          </a:p>
          <a:p>
            <a:r>
              <a:t>      "image_url": "http://tong.visitkorea.or.kr/cms/resource/54/529954_image2_1.jpg",</a:t>
            </a:r>
          </a:p>
          <a:p>
            <a:r>
              <a:t>      "source_id": "tour-api:2714558",</a:t>
            </a:r>
          </a:p>
          <a:p>
            <a:r>
              <a:t>      "content_id": "2714558",</a:t>
            </a:r>
          </a:p>
          <a:p>
            <a:r>
              <a:t>      "source_url": "https://apis.data.go.kr/B551011/KorService2",</a:t>
            </a:r>
          </a:p>
          <a:p>
            <a:r>
              <a:t>      "source_type": "open_api",</a:t>
            </a:r>
          </a:p>
          <a:p>
            <a:r>
              <a:t>      "content_type_id": "12"</a:t>
            </a:r>
          </a:p>
          <a:p>
            <a:r>
              <a:t>    },</a:t>
            </a:r>
          </a:p>
          <a:p>
            <a:r>
              <a:t>    {</a:t>
            </a:r>
          </a:p>
          <a:p>
            <a:r>
              <a:t>      "title": "국립 용화산자연휴양림",</a:t>
            </a:r>
          </a:p>
          <a:p>
            <a:r>
              <a:t>      "address": "강원특별자치도 춘천시 사북면 사여골길 294",</a:t>
            </a:r>
          </a:p>
          <a:p>
            <a:r>
              <a:t>      "summary": "한국관광공사 국문관광정보 API가 반환한 선택 지역 관광자원",</a:t>
            </a:r>
          </a:p>
          <a:p>
            <a:r>
              <a:t>      "image_url": "http://tong.visitkorea.or.kr/cms/resource/90/3351390_image2_1.jpg",</a:t>
            </a:r>
          </a:p>
          <a:p>
            <a:r>
              <a:t>      "source_id": "tour-api:407225",</a:t>
            </a:r>
          </a:p>
          <a:p>
            <a:r>
              <a:t>      "content_id": "407225",</a:t>
            </a:r>
          </a:p>
          <a:p>
            <a:r>
              <a:t>      "source_url": "https://apis.data.go.kr/B551011/KorService2",</a:t>
            </a:r>
          </a:p>
          <a:p>
            <a:r>
              <a:t>      "source_type": "open_api",</a:t>
            </a:r>
          </a:p>
          <a:p>
            <a:r>
              <a:t>      "content_type_id": "12"</a:t>
            </a:r>
          </a:p>
          <a:p>
            <a:r>
              <a:t>    },</a:t>
            </a:r>
          </a:p>
          <a:p>
            <a:r>
              <a:t>    {</a:t>
            </a:r>
          </a:p>
          <a:p>
            <a:r>
              <a:t>      "title": "국립춘천숲체원",</a:t>
            </a:r>
          </a:p>
          <a:p>
            <a:r>
              <a:t>      "address": "강원특별자치도 춘천시 신북읍 장본2길 331",</a:t>
            </a:r>
          </a:p>
          <a:p>
            <a:r>
              <a:t>      "summary": "한국관광공사 국문관광정보 API가 반환한 선택 지역 관광자원",</a:t>
            </a:r>
          </a:p>
          <a:p>
            <a:r>
              <a:t>      "image_url": "http://tong.visitkorea.or.kr/cms/resource/86/3439986_image2_1.jpg",</a:t>
            </a:r>
          </a:p>
          <a:p>
            <a:r>
              <a:t>      "source_id": "tour-api:2710587",</a:t>
            </a:r>
          </a:p>
          <a:p>
            <a:r>
              <a:t>      "content_id": "2710587",</a:t>
            </a:r>
          </a:p>
          <a:p>
            <a:r>
              <a:t>      "source_url": "https://apis.data.go.kr/B551011/KorService2",</a:t>
            </a:r>
          </a:p>
          <a:p>
            <a:r>
              <a:t>      "source_type": "open_api",</a:t>
            </a:r>
          </a:p>
          <a:p>
            <a:r>
              <a:t>      "content_type_id": "12"</a:t>
            </a:r>
          </a:p>
          <a:p>
            <a:r>
              <a:t>    },</a:t>
            </a:r>
          </a:p>
          <a:p>
            <a:r>
              <a:t>    {</a:t>
            </a:r>
          </a:p>
          <a:p>
            <a:r>
              <a:t>      "title": "군자숯불닭갈비",</a:t>
            </a:r>
          </a:p>
          <a:p>
            <a:r>
              <a:t>      "address": "강원특별자치도 춘천시 동산면 종자리로 148-8",</a:t>
            </a:r>
          </a:p>
          <a:p>
            <a:r>
              <a:t>      "summary": "한국관광공사 국문관광정보 API가 반환한 선택 지역 관광자원",</a:t>
            </a:r>
          </a:p>
          <a:p>
            <a:r>
              <a:t>      "image_url": "http://tong.visitkorea.or.kr/cms/resource/65/2776965_image2_1.JPG",</a:t>
            </a:r>
          </a:p>
          <a:p>
            <a:r>
              <a:t>      "source_id": "tour-api:2774528",</a:t>
            </a:r>
          </a:p>
          <a:p>
            <a:r>
              <a:t>      "content_id": "2774528",</a:t>
            </a:r>
          </a:p>
          <a:p>
            <a:r>
              <a:t>      "source_url": "https://apis.data.go.kr/B551011/KorService2",</a:t>
            </a:r>
          </a:p>
          <a:p>
            <a:r>
              <a:t>      "source_type": "open_api",</a:t>
            </a:r>
          </a:p>
          <a:p>
            <a:r>
              <a:t>      "content_type_id": "39"</a:t>
            </a:r>
          </a:p>
          <a:p>
            <a:r>
              <a:t>    },</a:t>
            </a:r>
          </a:p>
          <a:p>
            <a:r>
              <a:t>    {</a:t>
            </a:r>
          </a:p>
          <a:p>
            <a:r>
              <a:t>      "title": "근화동396청년창업공간",</a:t>
            </a:r>
          </a:p>
          <a:p>
            <a:r>
              <a:t>      "address": "강원특별자치도 춘천시 중앙로 186",</a:t>
            </a:r>
          </a:p>
          <a:p>
            <a:r>
              <a:t>      "summary": "한국관광공사 국문관광정보 API가 반환한 선택 지역 관광자원",</a:t>
            </a:r>
          </a:p>
          <a:p>
            <a:r>
              <a:t>      "image_url": "http://tong.visitkorea.or.kr/cms/resource/18/3351718_image2_1.jpg",</a:t>
            </a:r>
          </a:p>
          <a:p>
            <a:r>
              <a:t>      "source_id": "tour-api:2710596",</a:t>
            </a:r>
          </a:p>
          <a:p>
            <a:r>
              <a:t>      "content_id": "2710596",</a:t>
            </a:r>
          </a:p>
          <a:p>
            <a:r>
              <a:t>      "source_url": "https://apis.data.go.kr/B551011/KorService2",</a:t>
            </a:r>
          </a:p>
          <a:p>
            <a:r>
              <a:t>      "source_type": "open_api",</a:t>
            </a:r>
          </a:p>
          <a:p>
            <a:r>
              <a:t>      "content_type_id": "12"</a:t>
            </a:r>
          </a:p>
          <a:p>
            <a:r>
              <a:t>    },</a:t>
            </a:r>
          </a:p>
          <a:p>
            <a:r>
              <a:t>    {</a:t>
            </a:r>
          </a:p>
          <a:p>
            <a:r>
              <a:t>      "title": "요즘, 한국관광 2호 - 지방공항 연계 지역관광 활성화 방안",</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"chunk_id": "reference:kto:2026:local-airport:page:044:chunk:01",</a:t>
            </a:r>
          </a:p>
          <a:p>
            <a:r>
              <a:t>      "source_id": "reference:kto:2026:local-airport",</a:t>
            </a:r>
          </a:p>
          <a:p>
            <a:r>
              <a:t>      "source_url": "https://datalab.visitkorea.or.kr/site/portal/ex/bbs/View.do?bcIdx=311068&amp;cbIdx=1135&amp;pageIndex=1",</a:t>
            </a:r>
          </a:p>
          <a:p>
            <a:r>
              <a:t>      "case_region": "",</a:t>
            </a:r>
          </a:p>
          <a:p>
            <a:r>
              <a:t>      "region_code": "ALL",</a:t>
            </a:r>
          </a:p>
          <a:p>
            <a:r>
              <a:t>      "region_name": "전국 공통",</a:t>
            </a:r>
          </a:p>
          <a:p>
            <a:r>
              <a:t>      "source_note": "지방공항·연계 지역에 관한 자료입니다. 다른 시군구의 사업 효과·예산을 보장하는 근거로 사용하지 않습니다.",</a:t>
            </a:r>
          </a:p>
          <a:p>
            <a:r>
              <a:t>      "source_type": "rag",</a:t>
            </a:r>
          </a:p>
          <a:p>
            <a:r>
              <a:t>      "intervention": "",</a:t>
            </a:r>
          </a:p>
          <a:p>
            <a:r>
              <a:t>      "document_type": "policy",</a:t>
            </a:r>
          </a:p>
          <a:p>
            <a:r>
              <a:t>      "matched_terms": [</a:t>
            </a:r>
          </a:p>
          <a:p>
            <a:r>
              <a:t>        "결제",</a:t>
            </a:r>
          </a:p>
          <a:p>
            <a:r>
              <a:t>        "관광사업",</a:t>
            </a:r>
          </a:p>
          <a:p>
            <a:r>
              <a:t>        "상권",</a:t>
            </a:r>
          </a:p>
          <a:p>
            <a:r>
              <a:t>        "성과",</a:t>
            </a:r>
          </a:p>
          <a:p>
            <a:r>
              <a:t>        "소비",</a:t>
            </a:r>
          </a:p>
          <a:p>
            <a:r>
              <a:t>        "수와",</a:t>
            </a:r>
          </a:p>
          <a:p>
            <a:r>
              <a:t>        "숙박",</a:t>
            </a:r>
          </a:p>
          <a:p>
            <a:r>
              <a:t>        "실제",</a:t>
            </a:r>
          </a:p>
          <a:p>
            <a:r>
              <a:t>        "실행",</a:t>
            </a:r>
          </a:p>
          <a:p>
            <a:r>
              <a:t>        "연결한",</a:t>
            </a:r>
          </a:p>
          <a:p>
            <a:r>
              <a:t>        "연계",</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43쪽, PDF 38쪽, PDF 40쪽, PDF 41쪽, PDF 36쪽, PDF 41쪽, PDF 44쪽, PDF 43쪽, PDF 43쪽",</a:t>
            </a:r>
          </a:p>
          <a:p>
            <a:r>
              <a:t>      "parent_source_id": "reference:kto:2026:local-airport",</a:t>
            </a:r>
          </a:p>
          <a:p>
            <a:r>
              <a:t>      "retrieval_method": "local_curated_chunk",</a:t>
            </a:r>
          </a:p>
          <a:p>
            <a:r>
              <a:t>      "evidence_strength": "medium",</a:t>
            </a:r>
          </a:p>
          <a:p>
            <a:r>
              <a:t>      "published_or_updated_at": "2026-08",</a:t>
            </a:r>
          </a:p>
          <a:p>
            <a:r>
              <a:t>      "chunk_ids": [</a:t>
            </a:r>
          </a:p>
          <a:p>
            <a:r>
              <a:t>        "reference:kto:2026:local-airport:page:036:chunk:01",</a:t>
            </a:r>
          </a:p>
          <a:p>
            <a:r>
              <a:t>        "reference:kto:2026:local-airport:page:038:chunk:01",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"reference:kto:2026:local-airport:page:044:chunk:02"</a:t>
            </a:r>
          </a:p>
          <a:p>
            <a:r>
              <a:t>      ],</a:t>
            </a:r>
          </a:p>
          <a:p>
            <a:r>
              <a:t>      "source_chunk_count": 10</a:t>
            </a:r>
          </a:p>
          <a:p>
            <a:r>
              <a:t>    },</a:t>
            </a:r>
          </a:p>
          <a:p>
            <a:r>
              <a:t>    {</a:t>
            </a:r>
          </a:p>
          <a:p>
            <a:r>
              <a:t>      "title": "전주시 2026년도 관광산업과 세출예산 사업명세서",</a:t>
            </a:r>
          </a:p>
          <a:p>
            <a:r>
              <a:t>      "summary": "전북특별자치도 전주시 · 야간관광 특화도시 예산 편성 · 예산서이므로 방문·소비 성과는 확인되지 않음",</a:t>
            </a:r>
          </a:p>
          <a:p>
            <a:r>
              <a:t>      "source_id": "case:jeonju_night_budget_2026",</a:t>
            </a:r>
          </a:p>
          <a:p>
            <a:r>
              <a:t>      "source_url": "https://jeonju.go.kr/resource/www/images/download/budget/2026/2026_31_2.pdf",</a:t>
            </a:r>
          </a:p>
          <a:p>
            <a:r>
              <a:t>      "case_region": "전북특별자치도 전주시",</a:t>
            </a:r>
          </a:p>
          <a:p>
            <a:r>
              <a:t>      "source_type": "benchmark_case",</a:t>
            </a:r>
          </a:p>
          <a:p>
            <a:r>
              <a:t>      "intervention": "야간관광 특화도시 예산 편성",</a:t>
            </a:r>
          </a:p>
          <a:p>
            <a:r>
              <a:t>      "operating_model": "사무관리, 행사운영, 연구용역, 민간경상보조 등으로 사업비를 항목별 편성",</a:t>
            </a:r>
          </a:p>
          <a:p>
            <a:r>
              <a:t>      "evidence_strength": "high",</a:t>
            </a:r>
          </a:p>
          <a:p>
            <a:r>
              <a:t>      "published_or_updated_at": "2026",</a:t>
            </a:r>
          </a:p>
          <a:p>
            <a:r>
              <a:t>      "quantitative_result_approved": null</a:t>
            </a:r>
          </a:p>
          <a:p>
            <a:r>
              <a:t>    },</a:t>
            </a:r>
          </a:p>
          <a:p>
            <a:r>
              <a:t>    {</a:t>
            </a:r>
          </a:p>
          <a:p>
            <a:r>
              <a:t>      "title": "섬에서의 특별한 경험, ‘인천 섬 도도하게 살아보기’로 누린다",</a:t>
            </a:r>
          </a:p>
          <a:p>
            <a:r>
              <a:t>      "summary": "인천광역시 강화군·옹진군 소재 섬 · 인천 섬 도도하게 살아보기—주민 숙박·식사·체험을 묶은 예약형 체류상품 · 2022년 7월 31일 기준 목표 700명 중 228명이 예약해 모객률 33%를 기록했다. 2023년에는 약 1,600명이 15개 섬을 방문한 것으로 인천시가 공개했다. 주민 소득 증가액과 비교집단 기반 체류 순증효과는 공식 자료에서 확인되지 않음.",</a:t>
            </a:r>
          </a:p>
          <a:p>
            <a:r>
              <a:t>      "source_id": "case:291a33370ec9b1",</a:t>
            </a:r>
          </a:p>
          <a:p>
            <a:r>
              <a:t>      "source_url": "https://www.incheon.go.kr/mayor_8/MA040101/view?curPage=236&amp;repSeq=DOM_0000000010488055",</a:t>
            </a:r>
          </a:p>
          <a:p>
            <a:r>
              <a:t>      "case_region": "인천광역시 강화군·옹진군 소재 섬",</a:t>
            </a:r>
          </a:p>
          <a:p>
            <a:r>
              <a:t>      "source_type": "benchmark_case",</a:t>
            </a:r>
          </a:p>
          <a:p>
            <a:r>
              <a:t>      "intervention": "인천 섬 도도하게 살아보기—주민 숙박·식사·체험을 묶은 예약형 체류상품",</a:t>
            </a:r>
          </a:p>
          <a:p>
            <a:r>
              <a:t>      "operating_model": "섬별로 2박 3일 또는 3박 4일 상품을 정해진 회차로 판매했다. 주민 운영 숙소·음식점과 낚시, 트레킹, 해양레저, 로컬체험을 하나의 예약상품으로 묶고 상품가격의 일부를 공공이 지원했다. 2024년 자료에는 섬별 최대 50% 지원 구조가 제시됐다.",</a:t>
            </a:r>
          </a:p>
          <a:p>
            <a:r>
              <a:t>      "evidence_strength": "medium",</a:t>
            </a:r>
          </a:p>
          <a:p>
            <a:r>
              <a:t>      "published_or_updated_at": "2024-08-12",</a:t>
            </a:r>
          </a:p>
          <a:p>
            <a:r>
              <a:t>      "quantitative_result_approved": null</a:t>
            </a:r>
          </a:p>
          <a:p>
            <a:r>
              <a:t>    },</a:t>
            </a:r>
          </a:p>
          <a:p>
            <a:r>
              <a:t>    {</a:t>
            </a:r>
          </a:p>
          <a:p>
            <a:r>
              <a:t>      "title": "강진 반값여행 지역경제 효과 소개",</a:t>
            </a:r>
          </a:p>
          <a:p>
            <a:r>
              <a:t>      "summary": "전라남도 강진군 · 반값여행 지역환급 · 상품권 결제 변화에 관한 소개 자료는 있으나, 사업 참여자 범위·정확한 비교 기간·원자료를 확인하지 못해 성과 수치 인용을 보류한다.",</a:t>
            </a:r>
          </a:p>
          <a:p>
            <a:r>
              <a:t>      "source_id": "case:gangjin_half_price_2024",</a:t>
            </a:r>
          </a:p>
          <a:p>
            <a:r>
              <a:t>      "source_url": "https://jnfarm.jeonnam.go.kr/board/FARM_BOARD_008/boardView.do?bdId=BD_00000000000011721&amp;menuCd=farm004002",</a:t>
            </a:r>
          </a:p>
          <a:p>
            <a:r>
              <a:t>      "case_region": "전라남도 강진군",</a:t>
            </a:r>
          </a:p>
          <a:p>
            <a:r>
              <a:t>      "source_type": "benchmark_case",</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"published_or_updated_at": "2025-01-02",</a:t>
            </a:r>
          </a:p>
          <a:p>
            <a:r>
              <a:t>      "quantitative_result_approved": false</a:t>
            </a:r>
          </a:p>
          <a:p>
            <a:r>
              <a:t>    },</a:t>
            </a:r>
          </a:p>
          <a:p>
            <a:r>
              <a:t>    {</a:t>
            </a:r>
          </a:p>
          <a:p>
            <a:r>
              <a:t>      "title": "2024년 6월 여행가는 달 추진 보도자료",</a:t>
            </a:r>
          </a:p>
          <a:p>
            <a:r>
              <a:t>      "summary": "전국 인구감소지역 34곳 · 디지털 관광주민증과 교통·숙박·상점 할인 결합 · 2024년 34개 지역 약 800개 관광업체에 혜택 구조를 적용",</a:t>
            </a:r>
          </a:p>
          <a:p>
            <a:r>
              <a:t>      "source_id": "case:digital_tourism_resident_2024",</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"case_region": "전국 인구감소지역 34곳",</a:t>
            </a:r>
          </a:p>
          <a:p>
            <a:r>
              <a:t>      "source_type": "benchmark_case",</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"published_or_updated_at": "2024-05-14",</a:t>
            </a:r>
          </a:p>
          <a:p>
            <a:r>
              <a:t>      "quantitative_result_approved": null</a:t>
            </a:r>
          </a:p>
          <a:p>
            <a:r>
              <a:t>    },</a:t>
            </a:r>
          </a:p>
          <a:p>
            <a:r>
              <a:t>    {</a:t>
            </a:r>
          </a:p>
          <a:p>
            <a:r>
              <a:t>      "title": "2022 대한민국 숙박대전 경제파급효과 공개자료",</a:t>
            </a:r>
          </a:p>
          <a:p>
            <a:r>
              <a:t>      "summary": "전국 숙박할인쿠폰 지원사업 · 온라인 예약 채널 숙박할인쿠폰 · 한국관광공사 자료는 약 104만 명이 할인혜택을 이용했고 서울·제주를 제외한 지역 사용 비율이 76%였다고 소개함",</a:t>
            </a:r>
          </a:p>
          <a:p>
            <a:r>
              <a:t>      "source_id": "case:kto_stay_discount_2022",</a:t>
            </a:r>
          </a:p>
          <a:p>
            <a:r>
              <a:t>      "source_url": "https://kto.visitkorea.or.kr/upload/flexer/upload/ktobiz/20220928/b623b5f9-3ec0-11ed-9832-ddf31964842e.hwp.files/Sections1.html",</a:t>
            </a:r>
          </a:p>
          <a:p>
            <a:r>
              <a:t>      "case_region": "전국 숙박할인쿠폰 지원사업",</a:t>
            </a:r>
          </a:p>
          <a:p>
            <a:r>
              <a:t>      "source_type": "benchmark_case",</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"published_or_updated_at": "2022-09-28",</a:t>
            </a:r>
          </a:p>
          <a:p>
            <a:r>
              <a:t>      "quantitative_result_approved": null</a:t>
            </a:r>
          </a:p>
          <a:p>
            <a:r>
              <a:t>    },</a:t>
            </a:r>
          </a:p>
          <a:p>
            <a:r>
              <a:t>    {</a:t>
            </a:r>
          </a:p>
          <a:p>
            <a:r>
              <a:t>      "title": "2025 대한민국 밤밤페스타 개최 도시 및 일정",</a:t>
            </a:r>
          </a:p>
          <a:p>
            <a:r>
              <a:t>      "summary": "야간관광 특화도시 10곳 · 도시별 야간 콘텐츠를 순회형 축제로 묶는 운영 · 공식 여행기사는 개최 도시·장소·운영 시간과 콘텐츠만 제시하며 방문·소비 성과 수치는 제시하지 않음",</a:t>
            </a:r>
          </a:p>
          <a:p>
            <a:r>
              <a:t>      "source_id": "case:night_festival_2025",</a:t>
            </a:r>
          </a:p>
          <a:p>
            <a:r>
              <a:t>      "source_url": "https://korean.visitkorea.or.kr/detail/rem_detail.do?cotid=f9c636b2-dd7c-4f09-af3d-6af43b33d371",</a:t>
            </a:r>
          </a:p>
          <a:p>
            <a:r>
              <a:t>      "case_region": "야간관광 특화도시 10곳",</a:t>
            </a:r>
          </a:p>
          <a:p>
            <a:r>
              <a:t>      "source_type": "benchmark_case",</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"published_or_updated_at": "2025",</a:t>
            </a:r>
          </a:p>
          <a:p>
            <a:r>
              <a:t>      "quantitative_result_approved": null</a:t>
            </a:r>
          </a:p>
          <a:p>
            <a:r>
              <a:t>    },</a:t>
            </a:r>
          </a:p>
          <a:p>
            <a:r>
              <a:t>    {</a:t>
            </a:r>
          </a:p>
          <a:p>
            <a:r>
              <a:t>      "title": "2024년도 정부업무평가 관광분야 성과자료",</a:t>
            </a:r>
          </a:p>
          <a:p>
            <a:r>
              <a:t>      "summary": "야간관광 특화도시 10곳 · 상설 야간 콘텐츠와 경관·교통·안전 운영 · 정부업무평가 자료는 특화도시 10곳 방문객이 2023년 같은 기간보다 3% 증가했다고 기록",</a:t>
            </a:r>
          </a:p>
          <a:p>
            <a:r>
              <a:t>      "source_id": "case:night_tourism_cities_2024",</a:t>
            </a:r>
          </a:p>
          <a:p>
            <a:r>
              <a:t>      "source_url": "https://www.evaluation.go.kr/upload2/atch/eval/20250429095846463.pdf",</a:t>
            </a:r>
          </a:p>
          <a:p>
            <a:r>
              <a:t>      "case_region": "야간관광 특화도시 10곳",</a:t>
            </a:r>
          </a:p>
          <a:p>
            <a:r>
              <a:t>      "source_type": "benchmark_case",</a:t>
            </a:r>
          </a:p>
          <a:p>
            <a:r>
              <a:t>      "intervention": "상설 야간 콘텐츠와 경관·교통·안전 운영",</a:t>
            </a:r>
          </a:p>
          <a:p>
            <a:r>
              <a:t>      "operating_model": "지역 스토리를 반영한 야간 프로그램을 상설·행사형으로 운영하고 야간 경관, 이동, 식음, 안전 여건을 함께 구성",</a:t>
            </a:r>
          </a:p>
          <a:p>
            <a:r>
              <a:t>      "evidence_strength": "medium",</a:t>
            </a:r>
          </a:p>
          <a:p>
            <a:r>
              <a:t>      "published_or_updated_at": "2025-04-29",</a:t>
            </a:r>
          </a:p>
          <a:p>
            <a:r>
              <a:t>      "quantitative_result_approved": null</a:t>
            </a:r>
          </a:p>
          <a:p>
            <a:r>
              <a:t>    }</a:t>
            </a:r>
          </a:p>
          <a:p>
            <a:r>
              <a:t>  ],</a:t>
            </a:r>
          </a:p>
          <a:p>
            <a:r>
              <a:t>  "selected_forecast": {</a:t>
            </a:r>
          </a:p>
          <a:p>
            <a:r>
              <a:t>    "rows": [</a:t>
            </a:r>
          </a:p>
          <a:p>
            <a:r>
              <a:t>      {</a:t>
            </a:r>
          </a:p>
          <a:p>
            <a:r>
              <a:t>        "month": "202609",</a:t>
            </a:r>
          </a:p>
          <a:p>
            <a:r>
              <a:t>        "visitors": 1948014.0,</a:t>
            </a:r>
          </a:p>
          <a:p>
            <a:r>
              <a:t>        "is_forecast": true,</a:t>
            </a:r>
          </a:p>
          <a:p>
            <a:r>
              <a:t>        "spending_krw": 44854616000.0,</a:t>
            </a:r>
          </a:p>
          <a:p>
            <a:r>
              <a:t>        "stay_minutes": 2803.0,</a:t>
            </a:r>
          </a:p>
          <a:p>
            <a:r>
              <a:t>        "lodging_nights": 2.89,</a:t>
            </a:r>
          </a:p>
          <a:p>
            <a:r>
              <a:t>        "lodging_rate_pct": 14.2,</a:t>
            </a:r>
          </a:p>
          <a:p>
            <a:r>
              <a:t>        "lodging_searches": 26980,</a:t>
            </a:r>
          </a:p>
          <a:p>
            <a:r>
              <a:t>        "navigation_searches": 279694,</a:t>
            </a:r>
          </a:p>
          <a:p>
            <a:r>
              <a:t>        "visitor_yoy_percent": -3.61,</a:t>
            </a:r>
          </a:p>
          <a:p>
            <a:r>
              <a:t>        "spending_yoy_percent": 0.0,</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2021001,</a:t>
            </a:r>
          </a:p>
          <a:p>
            <a:r>
              <a:t>        "previous_year_spending_krw": 44854616000,</a:t>
            </a:r>
          </a:p>
          <a:p>
            <a:r>
              <a:t>        "previous_year_stay_minutes": 2803.0,</a:t>
            </a:r>
          </a:p>
          <a:p>
            <a:r>
              <a:t>        "previous_year_lodging_nights": 2.89,</a:t>
            </a:r>
          </a:p>
          <a:p>
            <a:r>
              <a:t>        "previous_year_lodging_rate_pct": 14.2,</a:t>
            </a:r>
          </a:p>
          <a:p>
            <a:r>
              <a:t>        "previous_year_lodging_searches": 26980,</a:t>
            </a:r>
          </a:p>
          <a:p>
            <a:r>
              <a:t>        "previous_year_navigation_searches": 279694</a:t>
            </a:r>
          </a:p>
          <a:p>
            <a:r>
              <a:t>      },</a:t>
            </a:r>
          </a:p>
          <a:p>
            <a:r>
              <a:t>      {</a:t>
            </a:r>
          </a:p>
          <a:p>
            <a:r>
              <a:t>        "month": "202610",</a:t>
            </a:r>
          </a:p>
          <a:p>
            <a:r>
              <a:t>        "visitors": 2278280.0,</a:t>
            </a:r>
          </a:p>
          <a:p>
            <a:r>
              <a:t>        "is_forecast": true,</a:t>
            </a:r>
          </a:p>
          <a:p>
            <a:r>
              <a:t>        "spending_krw": 59504900000.0,</a:t>
            </a:r>
          </a:p>
          <a:p>
            <a:r>
              <a:t>        "stay_minutes": 1597.0,</a:t>
            </a:r>
          </a:p>
          <a:p>
            <a:r>
              <a:t>        "lodging_nights": 2.69,</a:t>
            </a:r>
          </a:p>
          <a:p>
            <a:r>
              <a:t>        "lodging_rate_pct": 16.8,</a:t>
            </a:r>
          </a:p>
          <a:p>
            <a:r>
              <a:t>        "lodging_searches": 58111,</a:t>
            </a:r>
          </a:p>
          <a:p>
            <a:r>
              <a:t>        "navigation_searches": 584663,</a:t>
            </a:r>
          </a:p>
          <a:p>
            <a:r>
              <a:t>        "visitor_yoy_percent": -5.58,</a:t>
            </a:r>
          </a:p>
          <a:p>
            <a:r>
              <a:t>        "spending_yoy_percent": 0.0,</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2412798,</a:t>
            </a:r>
          </a:p>
          <a:p>
            <a:r>
              <a:t>        "previous_year_spending_krw": 59504900000,</a:t>
            </a:r>
          </a:p>
          <a:p>
            <a:r>
              <a:t>        "previous_year_stay_minutes": 1597.0,</a:t>
            </a:r>
          </a:p>
          <a:p>
            <a:r>
              <a:t>        "previous_year_lodging_nights": 2.69,</a:t>
            </a:r>
          </a:p>
          <a:p>
            <a:r>
              <a:t>        "previous_year_lodging_rate_pct": 16.8,</a:t>
            </a:r>
          </a:p>
          <a:p>
            <a:r>
              <a:t>        "previous_year_lodging_searches": 58111,</a:t>
            </a:r>
          </a:p>
          <a:p>
            <a:r>
              <a:t>        "previous_year_navigation_searches": 584663</a:t>
            </a:r>
          </a:p>
          <a:p>
            <a:r>
              <a:t>      },</a:t>
            </a:r>
          </a:p>
          <a:p>
            <a:r>
              <a:t>      {</a:t>
            </a:r>
          </a:p>
          <a:p>
            <a:r>
              <a:t>        "month": "202611",</a:t>
            </a:r>
          </a:p>
          <a:p>
            <a:r>
              <a:t>        "visitors": 2018187.0,</a:t>
            </a:r>
          </a:p>
          <a:p>
            <a:r>
              <a:t>        "is_forecast": true,</a:t>
            </a:r>
          </a:p>
          <a:p>
            <a:r>
              <a:t>        "spending_krw": 50330837000.0,</a:t>
            </a:r>
          </a:p>
          <a:p>
            <a:r>
              <a:t>        "stay_minutes": 1501.0,</a:t>
            </a:r>
          </a:p>
          <a:p>
            <a:r>
              <a:t>        "lodging_nights": 2.62,</a:t>
            </a:r>
          </a:p>
          <a:p>
            <a:r>
              <a:t>        "lodging_rate_pct": 13.4,</a:t>
            </a:r>
          </a:p>
          <a:p>
            <a:r>
              <a:t>        "lodging_searches": 30423,</a:t>
            </a:r>
          </a:p>
          <a:p>
            <a:r>
              <a:t>        "navigation_searches": 322218,</a:t>
            </a:r>
          </a:p>
          <a:p>
            <a:r>
              <a:t>        "visitor_yoy_percent": -1.67,</a:t>
            </a:r>
          </a:p>
          <a:p>
            <a:r>
              <a:t>        "spending_yoy_percent": 0.0,</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2052480,</a:t>
            </a:r>
          </a:p>
          <a:p>
            <a:r>
              <a:t>        "previous_year_spending_krw": 50330837000,</a:t>
            </a:r>
          </a:p>
          <a:p>
            <a:r>
              <a:t>        "previous_year_stay_minutes": 1501.0,</a:t>
            </a:r>
          </a:p>
          <a:p>
            <a:r>
              <a:t>        "previous_year_lodging_nights": 2.62,</a:t>
            </a:r>
          </a:p>
          <a:p>
            <a:r>
              <a:t>        "previous_year_lodging_rate_pct": 13.4,</a:t>
            </a:r>
          </a:p>
          <a:p>
            <a:r>
              <a:t>        "previous_year_lodging_searches": 30423,</a:t>
            </a:r>
          </a:p>
          <a:p>
            <a:r>
              <a:t>        "previous_year_navigation_searches": 322218</a:t>
            </a:r>
          </a:p>
          <a:p>
            <a:r>
              <a:t>      }</a:t>
            </a:r>
          </a:p>
          <a:p>
            <a:r>
              <a:t>    ],</a:t>
            </a:r>
          </a:p>
          <a:p>
            <a:r>
              <a:t>    "period": "202609~202611",</a:t>
            </a:r>
          </a:p>
          <a:p>
            <a:r>
              <a:t>    "complete": true,</a:t>
            </a:r>
          </a:p>
          <a:p>
            <a:r>
              <a:t>    "notes": [</a:t>
            </a:r>
          </a:p>
          <a:p>
            <a:r>
              <a:t>      "3개월 초과 예측 거리는 재귀 검증 범위 밖의 탐색 전망입니다."</a:t>
            </a:r>
          </a:p>
          <a:p>
            <a:r>
              <a:t>    ],</a:t>
            </a:r>
          </a:p>
          <a:p>
            <a:r>
              <a:t>    "selection_basis": "strategy_timeframe",</a:t>
            </a:r>
          </a:p>
          <a:p>
            <a:r>
              <a:t>    "requested_period": "202609~202611"</a:t>
            </a:r>
          </a:p>
          <a:p>
            <a:r>
              <a:t>  },</a:t>
            </a:r>
          </a:p>
          <a:p>
            <a:r>
              <a:t>  "all_ml_forecasts": [</a:t>
            </a:r>
          </a:p>
          <a:p>
            <a:r>
              <a:t>    {</a:t>
            </a:r>
          </a:p>
          <a:p>
            <a:r>
              <a:t>      "month": "202607",</a:t>
            </a:r>
          </a:p>
          <a:p>
            <a:r>
              <a:t>      "visitors": 1935310,</a:t>
            </a:r>
          </a:p>
          <a:p>
            <a:r>
              <a:t>      "is_forecast": true,</a:t>
            </a:r>
          </a:p>
          <a:p>
            <a:r>
              <a:t>      "spending_krw": 46823670000,</a:t>
            </a:r>
          </a:p>
          <a:p>
            <a:r>
              <a:t>      "stay_minutes": 1818.0,</a:t>
            </a:r>
          </a:p>
          <a:p>
            <a:r>
              <a:t>      "lodging_nights": 2.62,</a:t>
            </a:r>
          </a:p>
          <a:p>
            <a:r>
              <a:t>      "lodging_rate_pct": 16.7,</a:t>
            </a:r>
          </a:p>
          <a:p>
            <a:r>
              <a:t>      "lodging_searches": 35770,</a:t>
            </a:r>
          </a:p>
          <a:p>
            <a:r>
              <a:t>      "navigation_searches": 320422,</a:t>
            </a:r>
          </a:p>
          <a:p>
            <a:r>
              <a:t>      "visitor_yoy_percent": -2.93,</a:t>
            </a:r>
          </a:p>
          <a:p>
            <a:r>
              <a:t>      "spending_yoy_percent": 0.0,</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1993752,</a:t>
            </a:r>
          </a:p>
          <a:p>
            <a:r>
              <a:t>      "previous_year_spending_krw": 46823670000,</a:t>
            </a:r>
          </a:p>
          <a:p>
            <a:r>
              <a:t>      "previous_year_stay_minutes": 1818.0,</a:t>
            </a:r>
          </a:p>
          <a:p>
            <a:r>
              <a:t>      "previous_year_lodging_nights": 2.62,</a:t>
            </a:r>
          </a:p>
          <a:p>
            <a:r>
              <a:t>      "previous_year_lodging_rate_pct": 16.7,</a:t>
            </a:r>
          </a:p>
          <a:p>
            <a:r>
              <a:t>      "previous_year_lodging_searches": 35770,</a:t>
            </a:r>
          </a:p>
          <a:p>
            <a:r>
              <a:t>      "previous_year_navigation_searches": 320422</a:t>
            </a:r>
          </a:p>
          <a:p>
            <a:r>
              <a:t>    },</a:t>
            </a:r>
          </a:p>
          <a:p>
            <a:r>
              <a:t>    {</a:t>
            </a:r>
          </a:p>
          <a:p>
            <a:r>
              <a:t>      "month": "202608",</a:t>
            </a:r>
          </a:p>
          <a:p>
            <a:r>
              <a:t>      "visitors": 2139254,</a:t>
            </a:r>
          </a:p>
          <a:p>
            <a:r>
              <a:t>      "is_forecast": true,</a:t>
            </a:r>
          </a:p>
          <a:p>
            <a:r>
              <a:t>      "spending_krw": 51770552000,</a:t>
            </a:r>
          </a:p>
          <a:p>
            <a:r>
              <a:t>      "stay_minutes": 1673.0,</a:t>
            </a:r>
          </a:p>
          <a:p>
            <a:r>
              <a:t>      "lodging_nights": 2.58,</a:t>
            </a:r>
          </a:p>
          <a:p>
            <a:r>
              <a:t>      "lodging_rate_pct": 17.5,</a:t>
            </a:r>
          </a:p>
          <a:p>
            <a:r>
              <a:t>      "lodging_searches": 42261,</a:t>
            </a:r>
          </a:p>
          <a:p>
            <a:r>
              <a:t>      "navigation_searches": 378299,</a:t>
            </a:r>
          </a:p>
          <a:p>
            <a:r>
              <a:t>      "visitor_yoy_percent": -5.08,</a:t>
            </a:r>
          </a:p>
          <a:p>
            <a:r>
              <a:t>      "spending_yoy_percent": 0.0,</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2253751,</a:t>
            </a:r>
          </a:p>
          <a:p>
            <a:r>
              <a:t>      "previous_year_spending_krw": 51770552000,</a:t>
            </a:r>
          </a:p>
          <a:p>
            <a:r>
              <a:t>      "previous_year_stay_minutes": 1673.0,</a:t>
            </a:r>
          </a:p>
          <a:p>
            <a:r>
              <a:t>      "previous_year_lodging_nights": 2.58,</a:t>
            </a:r>
          </a:p>
          <a:p>
            <a:r>
              <a:t>      "previous_year_lodging_rate_pct": 17.5,</a:t>
            </a:r>
          </a:p>
          <a:p>
            <a:r>
              <a:t>      "previous_year_lodging_searches": 42261,</a:t>
            </a:r>
          </a:p>
          <a:p>
            <a:r>
              <a:t>      "previous_year_navigation_searches": 378299</a:t>
            </a:r>
          </a:p>
          <a:p>
            <a:r>
              <a:t>    },</a:t>
            </a:r>
          </a:p>
          <a:p>
            <a:r>
              <a:t>    {</a:t>
            </a:r>
          </a:p>
          <a:p>
            <a:r>
              <a:t>      "month": "202609",</a:t>
            </a:r>
          </a:p>
          <a:p>
            <a:r>
              <a:t>      "visitors": 1948014,</a:t>
            </a:r>
          </a:p>
          <a:p>
            <a:r>
              <a:t>      "is_forecast": true,</a:t>
            </a:r>
          </a:p>
          <a:p>
            <a:r>
              <a:t>      "spending_krw": 44854616000,</a:t>
            </a:r>
          </a:p>
          <a:p>
            <a:r>
              <a:t>      "stay_minutes": 2803.0,</a:t>
            </a:r>
          </a:p>
          <a:p>
            <a:r>
              <a:t>      "lodging_nights": 2.89,</a:t>
            </a:r>
          </a:p>
          <a:p>
            <a:r>
              <a:t>      "lodging_rate_pct": 14.2,</a:t>
            </a:r>
          </a:p>
          <a:p>
            <a:r>
              <a:t>      "lodging_searches": 26980,</a:t>
            </a:r>
          </a:p>
          <a:p>
            <a:r>
              <a:t>      "navigation_searches": 279694,</a:t>
            </a:r>
          </a:p>
          <a:p>
            <a:r>
              <a:t>      "visitor_yoy_percent": -3.61,</a:t>
            </a:r>
          </a:p>
          <a:p>
            <a:r>
              <a:t>      "spending_yoy_percent": 0.0,</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2021001,</a:t>
            </a:r>
          </a:p>
          <a:p>
            <a:r>
              <a:t>      "previous_year_spending_krw": 44854616000,</a:t>
            </a:r>
          </a:p>
          <a:p>
            <a:r>
              <a:t>      "previous_year_stay_minutes": 2803.0,</a:t>
            </a:r>
          </a:p>
          <a:p>
            <a:r>
              <a:t>      "previous_year_lodging_nights": 2.89,</a:t>
            </a:r>
          </a:p>
          <a:p>
            <a:r>
              <a:t>      "previous_year_lodging_rate_pct": 14.2,</a:t>
            </a:r>
          </a:p>
          <a:p>
            <a:r>
              <a:t>      "previous_year_lodging_searches": 26980,</a:t>
            </a:r>
          </a:p>
          <a:p>
            <a:r>
              <a:t>      "previous_year_navigation_searches": 279694</a:t>
            </a:r>
          </a:p>
          <a:p>
            <a:r>
              <a:t>    },</a:t>
            </a:r>
          </a:p>
          <a:p>
            <a:r>
              <a:t>    {</a:t>
            </a:r>
          </a:p>
          <a:p>
            <a:r>
              <a:t>      "month": "202610",</a:t>
            </a:r>
          </a:p>
          <a:p>
            <a:r>
              <a:t>      "visitors": 2278280,</a:t>
            </a:r>
          </a:p>
          <a:p>
            <a:r>
              <a:t>      "is_forecast": true,</a:t>
            </a:r>
          </a:p>
          <a:p>
            <a:r>
              <a:t>      "spending_krw": 59504900000,</a:t>
            </a:r>
          </a:p>
          <a:p>
            <a:r>
              <a:t>      "stay_minutes": 1597.0,</a:t>
            </a:r>
          </a:p>
          <a:p>
            <a:r>
              <a:t>      "lodging_nights": 2.69,</a:t>
            </a:r>
          </a:p>
          <a:p>
            <a:r>
              <a:t>      "lodging_rate_pct": 16.8,</a:t>
            </a:r>
          </a:p>
          <a:p>
            <a:r>
              <a:t>      "lodging_searches": 58111,</a:t>
            </a:r>
          </a:p>
          <a:p>
            <a:r>
              <a:t>      "navigation_searches": 584663,</a:t>
            </a:r>
          </a:p>
          <a:p>
            <a:r>
              <a:t>      "visitor_yoy_percent": -5.58,</a:t>
            </a:r>
          </a:p>
          <a:p>
            <a:r>
              <a:t>      "spending_yoy_percent": 0.0,</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2412798,</a:t>
            </a:r>
          </a:p>
          <a:p>
            <a:r>
              <a:t>      "previous_year_spending_krw": 59504900000,</a:t>
            </a:r>
          </a:p>
          <a:p>
            <a:r>
              <a:t>      "previous_year_stay_minutes": 1597.0,</a:t>
            </a:r>
          </a:p>
          <a:p>
            <a:r>
              <a:t>      "previous_year_lodging_nights": 2.69,</a:t>
            </a:r>
          </a:p>
          <a:p>
            <a:r>
              <a:t>      "previous_year_lodging_rate_pct": 16.8,</a:t>
            </a:r>
          </a:p>
          <a:p>
            <a:r>
              <a:t>      "previous_year_lodging_searches": 58111,</a:t>
            </a:r>
          </a:p>
          <a:p>
            <a:r>
              <a:t>      "previous_year_navigation_searches": 584663</a:t>
            </a:r>
          </a:p>
          <a:p>
            <a:r>
              <a:t>    },</a:t>
            </a:r>
          </a:p>
          <a:p>
            <a:r>
              <a:t>    {</a:t>
            </a:r>
          </a:p>
          <a:p>
            <a:r>
              <a:t>      "month": "202611",</a:t>
            </a:r>
          </a:p>
          <a:p>
            <a:r>
              <a:t>      "visitors": 2018187,</a:t>
            </a:r>
          </a:p>
          <a:p>
            <a:r>
              <a:t>      "is_forecast": true,</a:t>
            </a:r>
          </a:p>
          <a:p>
            <a:r>
              <a:t>      "spending_krw": 50330837000,</a:t>
            </a:r>
          </a:p>
          <a:p>
            <a:r>
              <a:t>      "stay_minutes": 1501.0,</a:t>
            </a:r>
          </a:p>
          <a:p>
            <a:r>
              <a:t>      "lodging_nights": 2.62,</a:t>
            </a:r>
          </a:p>
          <a:p>
            <a:r>
              <a:t>      "lodging_rate_pct": 13.4,</a:t>
            </a:r>
          </a:p>
          <a:p>
            <a:r>
              <a:t>      "lodging_searches": 30423,</a:t>
            </a:r>
          </a:p>
          <a:p>
            <a:r>
              <a:t>      "navigation_searches": 322218,</a:t>
            </a:r>
          </a:p>
          <a:p>
            <a:r>
              <a:t>      "visitor_yoy_percent": -1.67,</a:t>
            </a:r>
          </a:p>
          <a:p>
            <a:r>
              <a:t>      "spending_yoy_percent": 0.0,</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2052480,</a:t>
            </a:r>
          </a:p>
          <a:p>
            <a:r>
              <a:t>      "previous_year_spending_krw": 50330837000,</a:t>
            </a:r>
          </a:p>
          <a:p>
            <a:r>
              <a:t>      "previous_year_stay_minutes": 1501.0,</a:t>
            </a:r>
          </a:p>
          <a:p>
            <a:r>
              <a:t>      "previous_year_lodging_nights": 2.62,</a:t>
            </a:r>
          </a:p>
          <a:p>
            <a:r>
              <a:t>      "previous_year_lodging_rate_pct": 13.4,</a:t>
            </a:r>
          </a:p>
          <a:p>
            <a:r>
              <a:t>      "previous_year_lodging_searches": 30423,</a:t>
            </a:r>
          </a:p>
          <a:p>
            <a:r>
              <a:t>      "previous_year_navigation_searches": 322218</a:t>
            </a:r>
          </a:p>
          <a:p>
            <a:r>
              <a:t>    },</a:t>
            </a:r>
          </a:p>
          <a:p>
            <a:r>
              <a:t>    {</a:t>
            </a:r>
          </a:p>
          <a:p>
            <a:r>
              <a:t>      "month": "202612",</a:t>
            </a:r>
          </a:p>
          <a:p>
            <a:r>
              <a:t>      "visitors": 1733965,</a:t>
            </a:r>
          </a:p>
          <a:p>
            <a:r>
              <a:t>      "is_forecast": true,</a:t>
            </a:r>
          </a:p>
          <a:p>
            <a:r>
              <a:t>      "spending_krw": 39693334000,</a:t>
            </a:r>
          </a:p>
          <a:p>
            <a:r>
              <a:t>      "stay_minutes": 1807.0,</a:t>
            </a:r>
          </a:p>
          <a:p>
            <a:r>
              <a:t>      "lodging_nights": 2.67,</a:t>
            </a:r>
          </a:p>
          <a:p>
            <a:r>
              <a:t>      "lodging_rate_pct": 15.5,</a:t>
            </a:r>
          </a:p>
          <a:p>
            <a:r>
              <a:t>      "lodging_searches": 24221,</a:t>
            </a:r>
          </a:p>
          <a:p>
            <a:r>
              <a:t>      "navigation_searches": 217678,</a:t>
            </a:r>
          </a:p>
          <a:p>
            <a:r>
              <a:t>      "visitor_yoy_percent": 2.84,</a:t>
            </a:r>
          </a:p>
          <a:p>
            <a:r>
              <a:t>      "spending_yoy_percent": 0.0,</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1686121,</a:t>
            </a:r>
          </a:p>
          <a:p>
            <a:r>
              <a:t>      "previous_year_spending_krw": 39693334000,</a:t>
            </a:r>
          </a:p>
          <a:p>
            <a:r>
              <a:t>      "previous_year_stay_minutes": 1807.0,</a:t>
            </a:r>
          </a:p>
          <a:p>
            <a:r>
              <a:t>      "previous_year_lodging_nights": 2.67,</a:t>
            </a:r>
          </a:p>
          <a:p>
            <a:r>
              <a:t>      "previous_year_lodging_rate_pct": 15.5,</a:t>
            </a:r>
          </a:p>
          <a:p>
            <a:r>
              <a:t>      "previous_year_lodging_searches": 24221,</a:t>
            </a:r>
          </a:p>
          <a:p>
            <a:r>
              <a:t>      "previous_year_navigation_searches": 217678</a:t>
            </a:r>
          </a:p>
          <a:p>
            <a:r>
              <a:t>    },</a:t>
            </a:r>
          </a:p>
          <a:p>
            <a:r>
              <a:t>    {</a:t>
            </a:r>
          </a:p>
          <a:p>
            <a:r>
              <a:t>      "month": "202701",</a:t>
            </a:r>
          </a:p>
          <a:p>
            <a:r>
              <a:t>      "visitors": 1735449,</a:t>
            </a:r>
          </a:p>
          <a:p>
            <a:r>
              <a:t>      "is_forecast": true,</a:t>
            </a:r>
          </a:p>
          <a:p>
            <a:r>
              <a:t>      "spending_krw": 39173323000,</a:t>
            </a:r>
          </a:p>
          <a:p>
            <a:r>
              <a:t>      "stay_minutes": 1900.0,</a:t>
            </a:r>
          </a:p>
          <a:p>
            <a:r>
              <a:t>      "lodging_nights": 2.68,</a:t>
            </a:r>
          </a:p>
          <a:p>
            <a:r>
              <a:t>      "lodging_rate_pct": 16.0,</a:t>
            </a:r>
          </a:p>
          <a:p>
            <a:r>
              <a:t>      "lodging_searches": 27644,</a:t>
            </a:r>
          </a:p>
          <a:p>
            <a:r>
              <a:t>      "navigation_searches": 223981,</a:t>
            </a:r>
          </a:p>
          <a:p>
            <a:r>
              <a:t>      "visitor_yoy_percent": 1.42,</a:t>
            </a:r>
          </a:p>
          <a:p>
            <a:r>
              <a:t>      "spending_yoy_percent": 0.0,</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1711231,</a:t>
            </a:r>
          </a:p>
          <a:p>
            <a:r>
              <a:t>      "previous_year_spending_krw": 39173323000,</a:t>
            </a:r>
          </a:p>
          <a:p>
            <a:r>
              <a:t>      "previous_year_stay_minutes": 1900.0,</a:t>
            </a:r>
          </a:p>
          <a:p>
            <a:r>
              <a:t>      "previous_year_lodging_nights": 2.68,</a:t>
            </a:r>
          </a:p>
          <a:p>
            <a:r>
              <a:t>      "previous_year_lodging_rate_pct": 16.0,</a:t>
            </a:r>
          </a:p>
          <a:p>
            <a:r>
              <a:t>      "previous_year_lodging_searches": 27644,</a:t>
            </a:r>
          </a:p>
          <a:p>
            <a:r>
              <a:t>      "previous_year_navigation_searches": 223981</a:t>
            </a:r>
          </a:p>
          <a:p>
            <a:r>
              <a:t>    },</a:t>
            </a:r>
          </a:p>
          <a:p>
            <a:r>
              <a:t>    {</a:t>
            </a:r>
          </a:p>
          <a:p>
            <a:r>
              <a:t>      "month": "202702",</a:t>
            </a:r>
          </a:p>
          <a:p>
            <a:r>
              <a:t>      "visitors": 1722995,</a:t>
            </a:r>
          </a:p>
          <a:p>
            <a:r>
              <a:t>      "is_forecast": true,</a:t>
            </a:r>
          </a:p>
          <a:p>
            <a:r>
              <a:t>      "spending_krw": 40605893000,</a:t>
            </a:r>
          </a:p>
          <a:p>
            <a:r>
              <a:t>      "stay_minutes": 1818.0,</a:t>
            </a:r>
          </a:p>
          <a:p>
            <a:r>
              <a:t>      "lodging_nights": 2.71,</a:t>
            </a:r>
          </a:p>
          <a:p>
            <a:r>
              <a:t>      "lodging_rate_pct": 17.7,</a:t>
            </a:r>
          </a:p>
          <a:p>
            <a:r>
              <a:t>      "lodging_searches": 24571,</a:t>
            </a:r>
          </a:p>
          <a:p>
            <a:r>
              <a:t>      "navigation_searches": 238194,</a:t>
            </a:r>
          </a:p>
          <a:p>
            <a:r>
              <a:t>      "visitor_yoy_percent": -1.96,</a:t>
            </a:r>
          </a:p>
          <a:p>
            <a:r>
              <a:t>      "spending_yoy_percent": 0.0,</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1757460,</a:t>
            </a:r>
          </a:p>
          <a:p>
            <a:r>
              <a:t>      "previous_year_spending_krw": 40605893000,</a:t>
            </a:r>
          </a:p>
          <a:p>
            <a:r>
              <a:t>      "previous_year_stay_minutes": 1818.0,</a:t>
            </a:r>
          </a:p>
          <a:p>
            <a:r>
              <a:t>      "previous_year_lodging_nights": 2.71,</a:t>
            </a:r>
          </a:p>
          <a:p>
            <a:r>
              <a:t>      "previous_year_lodging_rate_pct": 17.7,</a:t>
            </a:r>
          </a:p>
          <a:p>
            <a:r>
              <a:t>      "previous_year_lodging_searches": 24571,</a:t>
            </a:r>
          </a:p>
          <a:p>
            <a:r>
              <a:t>      "previous_year_navigation_searches": 238194</a:t>
            </a:r>
          </a:p>
          <a:p>
            <a:r>
              <a:t>    }</a:t>
            </a:r>
          </a:p>
          <a:p>
            <a:r>
              <a:t>  ],</a:t>
            </a:r>
          </a:p>
          <a:p>
            <a:r>
              <a:t>  "evaluation": {</a:t>
            </a:r>
          </a:p>
          <a:p>
            <a:r>
              <a:t>    "metrics": {</a:t>
            </a:r>
          </a:p>
          <a:p>
            <a:r>
              <a:t>      "visitors": {</a:t>
            </a:r>
          </a:p>
          <a:p>
            <a:r>
              <a:t>        "test_mae": 70528.31,</a:t>
            </a:r>
          </a:p>
          <a:p>
            <a:r>
              <a:t>        "recursive_mae": {</a:t>
            </a:r>
          </a:p>
          <a:p>
            <a:r>
              <a:t>          "1": {</a:t>
            </a:r>
          </a:p>
          <a:p>
            <a:r>
              <a:t>            "baseline": 41681.0,</a:t>
            </a:r>
          </a:p>
          <a:p>
            <a:r>
              <a:t>            "selected": 49874.0,</a:t>
            </a:r>
          </a:p>
          <a:p>
            <a:r>
              <a:t>            "sample_count": 2</a:t>
            </a:r>
          </a:p>
          <a:p>
            <a:r>
              <a:t>          },</a:t>
            </a:r>
          </a:p>
          <a:p>
            <a:r>
              <a:t>          "2": {</a:t>
            </a:r>
          </a:p>
          <a:p>
            <a:r>
              <a:t>            "baseline": 60055.5,</a:t>
            </a:r>
          </a:p>
          <a:p>
            <a:r>
              <a:t>            "selected": 37301.5,</a:t>
            </a:r>
          </a:p>
          <a:p>
            <a:r>
              <a:t>            "sample_count": 2</a:t>
            </a:r>
          </a:p>
          <a:p>
            <a:r>
              <a:t>          },</a:t>
            </a:r>
          </a:p>
          <a:p>
            <a:r>
              <a:t>          "3": {</a:t>
            </a:r>
          </a:p>
          <a:p>
            <a:r>
              <a:t>            "baseline": 106265.0,</a:t>
            </a:r>
          </a:p>
          <a:p>
            <a:r>
              <a:t>            "selected": 97340.5,</a:t>
            </a:r>
          </a:p>
          <a:p>
            <a:r>
              <a:t>            "sample_count": 2</a:t>
            </a:r>
          </a:p>
          <a:p>
            <a:r>
              <a:t>          }</a:t>
            </a:r>
          </a:p>
          <a:p>
            <a:r>
              <a:t>        },</a:t>
            </a:r>
          </a:p>
          <a:p>
            <a:r>
              <a:t>        "selected_model": "RandomForestRegressor",</a:t>
            </a:r>
          </a:p>
          <a:p>
            <a:r>
              <a:t>        "baseline_test_mae": 73973.0,</a:t>
            </a:r>
          </a:p>
          <a:p>
            <a:r>
              <a:t>        "model_reliability": "mixed_recursive_performance",</a:t>
            </a:r>
          </a:p>
          <a:p>
            <a:r>
              <a:t>        "beats_baseline_on_test": true,</a:t>
            </a:r>
          </a:p>
          <a:p>
            <a:r>
              <a:t>        "recursive_horizons_worse_than_baseline": [</a:t>
            </a:r>
          </a:p>
          <a:p>
            <a:r>
              <a:t>          "1"</a:t>
            </a:r>
          </a:p>
          <a:p>
            <a:r>
              <a:t>        ]</a:t>
            </a:r>
          </a:p>
          <a:p>
            <a:r>
              <a:t>      },</a:t>
            </a:r>
          </a:p>
          <a:p>
            <a:r>
              <a:t>      "spending_krw": {</a:t>
            </a:r>
          </a:p>
          <a:p>
            <a:r>
              <a:t>        "test_mae": 4095129500.0,</a:t>
            </a:r>
          </a:p>
          <a:p>
            <a:r>
              <a:t>        "recursive_mae": {</a:t>
            </a:r>
          </a:p>
          <a:p>
            <a:r>
              <a:t>          "1": {</a:t>
            </a:r>
          </a:p>
          <a:p>
            <a:r>
              <a:t>            "baseline": 4131609500.0,</a:t>
            </a:r>
          </a:p>
          <a:p>
            <a:r>
              <a:t>            "selected": 4131609500.0,</a:t>
            </a:r>
          </a:p>
          <a:p>
            <a:r>
              <a:t>            "sample_count": 2</a:t>
            </a:r>
          </a:p>
          <a:p>
            <a:r>
              <a:t>          },</a:t>
            </a:r>
          </a:p>
          <a:p>
            <a:r>
              <a:t>          "2": {</a:t>
            </a:r>
          </a:p>
          <a:p>
            <a:r>
              <a:t>            "baseline": 6603691500.0,</a:t>
            </a:r>
          </a:p>
          <a:p>
            <a:r>
              <a:t>            "selected": 6603691500.0,</a:t>
            </a:r>
          </a:p>
          <a:p>
            <a:r>
              <a:t>            "sample_count": 2</a:t>
            </a:r>
          </a:p>
          <a:p>
            <a:r>
              <a:t>          },</a:t>
            </a:r>
          </a:p>
          <a:p>
            <a:r>
              <a:t>          "3": {</a:t>
            </a:r>
          </a:p>
          <a:p>
            <a:r>
              <a:t>            "baseline": 4058649500.0,</a:t>
            </a:r>
          </a:p>
          <a:p>
            <a:r>
              <a:t>            "selected": 4058649500.0,</a:t>
            </a:r>
          </a:p>
          <a:p>
            <a:r>
              <a:t>            "sample_count": 2</a:t>
            </a:r>
          </a:p>
          <a:p>
            <a:r>
              <a:t>          }</a:t>
            </a:r>
          </a:p>
          <a:p>
            <a:r>
              <a:t>        },</a:t>
            </a:r>
          </a:p>
          <a:p>
            <a:r>
              <a:t>        "selected_model": "seasonal_naive_previous_year_same_month",</a:t>
            </a:r>
          </a:p>
          <a:p>
            <a:r>
              <a:t>        "baseline_test_mae": 4095129500.0,</a:t>
            </a:r>
          </a:p>
          <a:p>
            <a:r>
              <a:t>        "model_reliability": "seasonal_baseline",</a:t>
            </a:r>
          </a:p>
          <a:p>
            <a:r>
              <a:t>        "beats_baseline_on_test": false,</a:t>
            </a:r>
          </a:p>
          <a:p>
            <a:r>
              <a:t>        "recursive_horizons_worse_than_baseline": []</a:t>
            </a:r>
          </a:p>
          <a:p>
            <a:r>
              <a:t>      },</a:t>
            </a:r>
          </a:p>
          <a:p>
            <a:r>
              <a:t>      "stay_minutes": {</a:t>
            </a:r>
          </a:p>
          <a:p>
            <a:r>
              <a:t>        "test_mae": 131.0,</a:t>
            </a:r>
          </a:p>
          <a:p>
            <a:r>
              <a:t>        "recursive_mae": {</a:t>
            </a:r>
          </a:p>
          <a:p>
            <a:r>
              <a:t>          "1": {</a:t>
            </a:r>
          </a:p>
          <a:p>
            <a:r>
              <a:t>            "baseline": 3.5,</a:t>
            </a:r>
          </a:p>
          <a:p>
            <a:r>
              <a:t>            "selected": 3.5,</a:t>
            </a:r>
          </a:p>
          <a:p>
            <a:r>
              <a:t>            "sample_count": 2</a:t>
            </a:r>
          </a:p>
          <a:p>
            <a:r>
              <a:t>          },</a:t>
            </a:r>
          </a:p>
          <a:p>
            <a:r>
              <a:t>          "2": {</a:t>
            </a:r>
          </a:p>
          <a:p>
            <a:r>
              <a:t>            "baseline": 252.0,</a:t>
            </a:r>
          </a:p>
          <a:p>
            <a:r>
              <a:t>            "selected": 252.0,</a:t>
            </a:r>
          </a:p>
          <a:p>
            <a:r>
              <a:t>            "sample_count": 2</a:t>
            </a:r>
          </a:p>
          <a:p>
            <a:r>
              <a:t>          },</a:t>
            </a:r>
          </a:p>
          <a:p>
            <a:r>
              <a:t>          "3": {</a:t>
            </a:r>
          </a:p>
          <a:p>
            <a:r>
              <a:t>            "baseline": 258.5,</a:t>
            </a:r>
          </a:p>
          <a:p>
            <a:r>
              <a:t>            "selected": 258.5,</a:t>
            </a:r>
          </a:p>
          <a:p>
            <a:r>
              <a:t>            "sample_count": 2</a:t>
            </a:r>
          </a:p>
          <a:p>
            <a:r>
              <a:t>          }</a:t>
            </a:r>
          </a:p>
          <a:p>
            <a:r>
              <a:t>        },</a:t>
            </a:r>
          </a:p>
          <a:p>
            <a:r>
              <a:t>        "selected_model": "seasonal_naive_previous_year_same_month",</a:t>
            </a:r>
          </a:p>
          <a:p>
            <a:r>
              <a:t>        "baseline_test_mae": 131.0,</a:t>
            </a:r>
          </a:p>
          <a:p>
            <a:r>
              <a:t>        "model_reliability": "seasonal_baseline",</a:t>
            </a:r>
          </a:p>
          <a:p>
            <a:r>
              <a:t>        "beats_baseline_on_test": false,</a:t>
            </a:r>
          </a:p>
          <a:p>
            <a:r>
              <a:t>        "recursive_horizons_worse_than_baseline": []</a:t>
            </a:r>
          </a:p>
          <a:p>
            <a:r>
              <a:t>      },</a:t>
            </a:r>
          </a:p>
          <a:p>
            <a:r>
              <a:t>      "lodging_nights": {</a:t>
            </a:r>
          </a:p>
          <a:p>
            <a:r>
              <a:t>        "test_mae": 0.06,</a:t>
            </a:r>
          </a:p>
          <a:p>
            <a:r>
              <a:t>        "recursive_mae": {</a:t>
            </a:r>
          </a:p>
          <a:p>
            <a:r>
              <a:t>          "1": {</a:t>
            </a:r>
          </a:p>
          <a:p>
            <a:r>
              <a:t>            "baseline": 0.05,</a:t>
            </a:r>
          </a:p>
          <a:p>
            <a:r>
              <a:t>            "selected": 0.05,</a:t>
            </a:r>
          </a:p>
          <a:p>
            <a:r>
              <a:t>            "sample_count": 2</a:t>
            </a:r>
          </a:p>
          <a:p>
            <a:r>
              <a:t>          },</a:t>
            </a:r>
          </a:p>
          <a:p>
            <a:r>
              <a:t>          "2": {</a:t>
            </a:r>
          </a:p>
          <a:p>
            <a:r>
              <a:t>            "baseline": 0.05,</a:t>
            </a:r>
          </a:p>
          <a:p>
            <a:r>
              <a:t>            "selected": 0.05,</a:t>
            </a:r>
          </a:p>
          <a:p>
            <a:r>
              <a:t>            "sample_count": 2</a:t>
            </a:r>
          </a:p>
          <a:p>
            <a:r>
              <a:t>          },</a:t>
            </a:r>
          </a:p>
          <a:p>
            <a:r>
              <a:t>          "3": {</a:t>
            </a:r>
          </a:p>
          <a:p>
            <a:r>
              <a:t>            "baseline": 0.06,</a:t>
            </a:r>
          </a:p>
          <a:p>
            <a:r>
              <a:t>            "selected": 0.06,</a:t>
            </a:r>
          </a:p>
          <a:p>
            <a:r>
              <a:t>            "sample_count": 2</a:t>
            </a:r>
          </a:p>
          <a:p>
            <a:r>
              <a:t>          }</a:t>
            </a:r>
          </a:p>
          <a:p>
            <a:r>
              <a:t>        },</a:t>
            </a:r>
          </a:p>
          <a:p>
            <a:r>
              <a:t>        "selected_model": "seasonal_naive_previous_year_same_month",</a:t>
            </a:r>
          </a:p>
          <a:p>
            <a:r>
              <a:t>        "baseline_test_mae": 0.06,</a:t>
            </a:r>
          </a:p>
          <a:p>
            <a:r>
              <a:t>        "model_reliability": "seasonal_baseline",</a:t>
            </a:r>
          </a:p>
          <a:p>
            <a:r>
              <a:t>        "beats_baseline_on_test": false,</a:t>
            </a:r>
          </a:p>
          <a:p>
            <a:r>
              <a:t>        "recursive_horizons_worse_than_baseline": []</a:t>
            </a:r>
          </a:p>
          <a:p>
            <a:r>
              <a:t>      },</a:t>
            </a:r>
          </a:p>
          <a:p>
            <a:r>
              <a:t>      "lodging_rate_pct": {</a:t>
            </a:r>
          </a:p>
          <a:p>
            <a:r>
              <a:t>        "test_mae": 0.55,</a:t>
            </a:r>
          </a:p>
          <a:p>
            <a:r>
              <a:t>        "recursive_mae": {</a:t>
            </a:r>
          </a:p>
          <a:p>
            <a:r>
              <a:t>          "1": {</a:t>
            </a:r>
          </a:p>
          <a:p>
            <a:r>
              <a:t>            "baseline": 0.8,</a:t>
            </a:r>
          </a:p>
          <a:p>
            <a:r>
              <a:t>            "selected": 0.8,</a:t>
            </a:r>
          </a:p>
          <a:p>
            <a:r>
              <a:t>            "sample_count": 2</a:t>
            </a:r>
          </a:p>
          <a:p>
            <a:r>
              <a:t>          },</a:t>
            </a:r>
          </a:p>
          <a:p>
            <a:r>
              <a:t>          "2": {</a:t>
            </a:r>
          </a:p>
          <a:p>
            <a:r>
              <a:t>            "baseline": 0.4,</a:t>
            </a:r>
          </a:p>
          <a:p>
            <a:r>
              <a:t>            "selected": 0.4,</a:t>
            </a:r>
          </a:p>
          <a:p>
            <a:r>
              <a:t>            "sample_count": 2</a:t>
            </a:r>
          </a:p>
          <a:p>
            <a:r>
              <a:t>          },</a:t>
            </a:r>
          </a:p>
          <a:p>
            <a:r>
              <a:t>          "3": {</a:t>
            </a:r>
          </a:p>
          <a:p>
            <a:r>
              <a:t>            "baseline": 0.3,</a:t>
            </a:r>
          </a:p>
          <a:p>
            <a:r>
              <a:t>            "selected": 0.3,</a:t>
            </a:r>
          </a:p>
          <a:p>
            <a:r>
              <a:t>            "sample_count": 2</a:t>
            </a:r>
          </a:p>
          <a:p>
            <a:r>
              <a:t>          }</a:t>
            </a:r>
          </a:p>
          <a:p>
            <a:r>
              <a:t>        },</a:t>
            </a:r>
          </a:p>
          <a:p>
            <a:r>
              <a:t>        "selected_model": "seasonal_naive_previous_year_same_month",</a:t>
            </a:r>
          </a:p>
          <a:p>
            <a:r>
              <a:t>        "baseline_test_mae": 0.55,</a:t>
            </a:r>
          </a:p>
          <a:p>
            <a:r>
              <a:t>        "model_reliability": "seasonal_baseline",</a:t>
            </a:r>
          </a:p>
          <a:p>
            <a:r>
              <a:t>        "beats_baseline_on_test": false,</a:t>
            </a:r>
          </a:p>
          <a:p>
            <a:r>
              <a:t>        "recursive_horizons_worse_than_baseline": []</a:t>
            </a:r>
          </a:p>
          <a:p>
            <a:r>
              <a:t>      },</a:t>
            </a:r>
          </a:p>
          <a:p>
            <a:r>
              <a:t>      "lodging_searches": {</a:t>
            </a:r>
          </a:p>
          <a:p>
            <a:r>
              <a:t>        "test_mae": 2351.0,</a:t>
            </a:r>
          </a:p>
          <a:p>
            <a:r>
              <a:t>        "recursive_mae": {</a:t>
            </a:r>
          </a:p>
          <a:p>
            <a:r>
              <a:t>          "1": {</a:t>
            </a:r>
          </a:p>
          <a:p>
            <a:r>
              <a:t>            "baseline": 3418.5,</a:t>
            </a:r>
          </a:p>
          <a:p>
            <a:r>
              <a:t>            "selected": 3418.5,</a:t>
            </a:r>
          </a:p>
          <a:p>
            <a:r>
              <a:t>            "sample_count": 2</a:t>
            </a:r>
          </a:p>
          <a:p>
            <a:r>
              <a:t>          },</a:t>
            </a:r>
          </a:p>
          <a:p>
            <a:r>
              <a:t>          "2": {</a:t>
            </a:r>
          </a:p>
          <a:p>
            <a:r>
              <a:t>            "baseline": 1505.0,</a:t>
            </a:r>
          </a:p>
          <a:p>
            <a:r>
              <a:t>            "selected": 1505.0,</a:t>
            </a:r>
          </a:p>
          <a:p>
            <a:r>
              <a:t>            "sample_count": 2</a:t>
            </a:r>
          </a:p>
          <a:p>
            <a:r>
              <a:t>          },</a:t>
            </a:r>
          </a:p>
          <a:p>
            <a:r>
              <a:t>          "3": {</a:t>
            </a:r>
          </a:p>
          <a:p>
            <a:r>
              <a:t>            "baseline": 1283.5,</a:t>
            </a:r>
          </a:p>
          <a:p>
            <a:r>
              <a:t>            "selected": 1283.5,</a:t>
            </a:r>
          </a:p>
          <a:p>
            <a:r>
              <a:t>            "sample_count": 2</a:t>
            </a:r>
          </a:p>
          <a:p>
            <a:r>
              <a:t>          }</a:t>
            </a:r>
          </a:p>
          <a:p>
            <a:r>
              <a:t>        },</a:t>
            </a:r>
          </a:p>
          <a:p>
            <a:r>
              <a:t>        "selected_model": "seasonal_naive_previous_year_same_month",</a:t>
            </a:r>
          </a:p>
          <a:p>
            <a:r>
              <a:t>        "baseline_test_mae": 2351.0,</a:t>
            </a:r>
          </a:p>
          <a:p>
            <a:r>
              <a:t>        "model_reliability": "seasonal_baseline",</a:t>
            </a:r>
          </a:p>
          <a:p>
            <a:r>
              <a:t>        "beats_baseline_on_test": false,</a:t>
            </a:r>
          </a:p>
          <a:p>
            <a:r>
              <a:t>        "recursive_horizons_worse_than_baseline": []</a:t>
            </a:r>
          </a:p>
          <a:p>
            <a:r>
              <a:t>      },</a:t>
            </a:r>
          </a:p>
          <a:p>
            <a:r>
              <a:t>      "navigation_searches": {</a:t>
            </a:r>
          </a:p>
          <a:p>
            <a:r>
              <a:t>        "test_mae": 32030.5,</a:t>
            </a:r>
          </a:p>
          <a:p>
            <a:r>
              <a:t>        "recursive_mae": {</a:t>
            </a:r>
          </a:p>
          <a:p>
            <a:r>
              <a:t>          "1": {</a:t>
            </a:r>
          </a:p>
          <a:p>
            <a:r>
              <a:t>            "baseline": 36449.0,</a:t>
            </a:r>
          </a:p>
          <a:p>
            <a:r>
              <a:t>            "selected": 36449.0,</a:t>
            </a:r>
          </a:p>
          <a:p>
            <a:r>
              <a:t>            "sample_count": 2</a:t>
            </a:r>
          </a:p>
          <a:p>
            <a:r>
              <a:t>          },</a:t>
            </a:r>
          </a:p>
          <a:p>
            <a:r>
              <a:t>          "2": {</a:t>
            </a:r>
          </a:p>
          <a:p>
            <a:r>
              <a:t>            "baseline": 36445.5,</a:t>
            </a:r>
          </a:p>
          <a:p>
            <a:r>
              <a:t>            "selected": 36445.5,</a:t>
            </a:r>
          </a:p>
          <a:p>
            <a:r>
              <a:t>            "sample_count": 2</a:t>
            </a:r>
          </a:p>
          <a:p>
            <a:r>
              <a:t>          },</a:t>
            </a:r>
          </a:p>
          <a:p>
            <a:r>
              <a:t>          "3": {</a:t>
            </a:r>
          </a:p>
          <a:p>
            <a:r>
              <a:t>            "baseline": 27612.0,</a:t>
            </a:r>
          </a:p>
          <a:p>
            <a:r>
              <a:t>            "selected": 27612.0,</a:t>
            </a:r>
          </a:p>
          <a:p>
            <a:r>
              <a:t>            "sample_count": 2</a:t>
            </a:r>
          </a:p>
          <a:p>
            <a:r>
              <a:t>          }</a:t>
            </a:r>
          </a:p>
          <a:p>
            <a:r>
              <a:t>        },</a:t>
            </a:r>
          </a:p>
          <a:p>
            <a:r>
              <a:t>        "selected_model": "seasonal_naive_previous_year_same_month",</a:t>
            </a:r>
          </a:p>
          <a:p>
            <a:r>
              <a:t>        "baseline_test_mae": 32030.5,</a:t>
            </a:r>
          </a:p>
          <a:p>
            <a:r>
              <a:t>        "model_reliability": "seasonal_baseline",</a:t>
            </a:r>
          </a:p>
          <a:p>
            <a:r>
              <a:t>        "beats_baseline_on_test": false,</a:t>
            </a:r>
          </a:p>
          <a:p>
            <a:r>
              <a:t>        "recursive_horizons_worse_than_baseline": []</a:t>
            </a:r>
          </a:p>
          <a:p>
            <a:r>
              <a:t>      }</a:t>
            </a:r>
          </a:p>
          <a:p>
            <a:r>
              <a:t>    },</a:t>
            </a:r>
          </a:p>
          <a:p>
            <a:r>
              <a:t>    "test_period": "202603~202606",</a:t>
            </a:r>
          </a:p>
          <a:p>
            <a:r>
              <a:t>    "selection_basis": "validation_mae_only",</a:t>
            </a:r>
          </a:p>
          <a:p>
            <a:r>
              <a:t>    "validation_period": "202512~202602",</a:t>
            </a:r>
          </a:p>
          <a:p>
            <a:r>
              <a:t>    "longer_horizon_status": "exploratory_not_recursively_backtested",</a:t>
            </a:r>
          </a:p>
          <a:p>
            <a:r>
              <a:t>    "forecast_horizon_months": 8,</a:t>
            </a:r>
          </a:p>
          <a:p>
            <a:r>
              <a:t>    "recursive_backtest_horizon_months": [</a:t>
            </a:r>
          </a:p>
          <a:p>
            <a:r>
              <a:t>      1,</a:t>
            </a:r>
          </a:p>
          <a:p>
            <a:r>
              <a:t>      2,</a:t>
            </a:r>
          </a:p>
          <a:p>
            <a:r>
              <a:t>      3</a:t>
            </a:r>
          </a:p>
          <a:p>
            <a:r>
              <a:t>    ]</a:t>
            </a:r>
          </a:p>
          <a:p>
            <a:r>
              <a:t>  },</a:t>
            </a:r>
          </a:p>
          <a:p>
            <a:r>
              <a:t>  "execution_scenario": {</a:t>
            </a:r>
          </a:p>
          <a:p>
            <a:r>
              <a:t>    "visitor_target_pct": 5.0,</a:t>
            </a:r>
          </a:p>
          <a:p>
            <a:r>
              <a:t>    "spending_target_pct": 5.0</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"method": "operation-document-v1",</a:t>
            </a:r>
          </a:p>
          <a:p>
            <a:r>
              <a:t>  "selected_source": {</a:t>
            </a:r>
          </a:p>
          <a:p>
            <a:r>
              <a:t>    "title": "강진 반값여행 지역경제 효과 소개",</a:t>
            </a:r>
          </a:p>
          <a:p>
            <a:r>
              <a:t>    "summary": "전라남도 강진군 · 반값여행 지역환급 · 상품권 결제 변화에 관한 소개 자료는 있으나, 사업 참여자 범위·정확한 비교 기간·원자료를 확인하지 못해 성과 수치 인용을 보류한다.",</a:t>
            </a:r>
          </a:p>
          <a:p>
            <a:r>
              <a:t>    "source_id": "case:gangjin_half_price_2024",</a:t>
            </a:r>
          </a:p>
          <a:p>
            <a:r>
              <a:t>    "source_url": "https://jnfarm.jeonnam.go.kr/board/FARM_BOARD_008/boardView.do?bdId=BD_00000000000011721&amp;menuCd=farm004002",</a:t>
            </a:r>
          </a:p>
          <a:p>
            <a:r>
              <a:t>    "case_region": "전라남도 강진군",</a:t>
            </a:r>
          </a:p>
          <a:p>
            <a:r>
              <a:t>    "source_type": "benchmark_case",</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"published_or_updated_at": "2025-01-02",</a:t>
            </a:r>
          </a:p>
          <a:p>
            <a:r>
              <a:t>    "quantitative_result_approved": false</a:t>
            </a:r>
          </a:p>
          <a:p>
            <a:r>
              <a:t>  },</a:t>
            </a:r>
          </a:p>
          <a:p>
            <a:r>
              <a:t>  "observed_findings": [</a:t>
            </a:r>
          </a:p>
          <a:p>
            <a:r>
              <a:t>    {</a:t>
            </a:r>
          </a:p>
          <a:p>
            <a:r>
              <a:t>      "value": "51,352,814,000원",</a:t>
            </a:r>
          </a:p>
          <a:p>
            <a:r>
              <a:t>      "metric": "월간 외지인 관광소비 총액",</a:t>
            </a:r>
          </a:p>
          <a:p>
            <a:r>
              <a:t>      "source": "dataset:51110:3",</a:t>
            </a:r>
          </a:p>
          <a:p>
            <a:r>
              <a:t>      "interpretation": "춘천시 외지인 소비의 규모를 나타내며, 환급 사업의 잠재적 대상 범위로 활용 가능함"</a:t>
            </a:r>
          </a:p>
          <a:p>
            <a:r>
              <a:t>    },</a:t>
            </a:r>
          </a:p>
          <a:p>
            <a:r>
              <a:t>    {</a:t>
            </a:r>
          </a:p>
          <a:p>
            <a:r>
              <a:t>      "value": "식음료업(36.4%), 쇼핑업(24.2%), 여가서비스업(21.8%)",</a:t>
            </a:r>
          </a:p>
          <a:p>
            <a:r>
              <a:t>      "metric": "업종별 소비 비중",</a:t>
            </a:r>
          </a:p>
          <a:p>
            <a:r>
              <a:t>      "source": "get_region_metrics",</a:t>
            </a:r>
          </a:p>
          <a:p>
            <a:r>
              <a:t>      "interpretation": "환급 프로그램의 주요 참여 업종 및 타겟 소비 분야를 식별함"</a:t>
            </a:r>
          </a:p>
          <a:p>
            <a:r>
              <a:t>    },</a:t>
            </a:r>
          </a:p>
          <a:p>
            <a:r>
              <a:t>    {</a:t>
            </a:r>
          </a:p>
          <a:p>
            <a:r>
              <a:t>      "value": "14.1%",</a:t>
            </a:r>
          </a:p>
          <a:p>
            <a:r>
              <a:t>      "metric": "외지인 숙박 방문 비율",</a:t>
            </a:r>
          </a:p>
          <a:p>
            <a:r>
              <a:t>      "source": "dataset:51110:4",</a:t>
            </a:r>
          </a:p>
          <a:p>
            <a:r>
              <a:t>      "interpretation": "당일 방문객 비중이 높으므로, 환급을 통한 체류 연장 및 추가 소비 유도 여력이 존재함"</a:t>
            </a:r>
          </a:p>
          <a:p>
            <a:r>
              <a:t>    }</a:t>
            </a:r>
          </a:p>
          <a:p>
            <a:r>
              <a:t>  ],</a:t>
            </a:r>
          </a:p>
          <a:p>
            <a:r>
              <a:t>  "interpretation": "7개 예측값으로 학습한 추천 모델 없음. 관측 지표는 지역 설계 입력이고 공식 운영 문서가 사례 연결 기준."</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c3a5f6510e4e49ba"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32212eb627044e2" Type="http://schemas.openxmlformats.org/officeDocument/2006/relationships/slideLayout" Target="../slideLayouts/slideLayout1.xml"/><Relationship Id="Rc23d06999bd7418f"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32212eb627044e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23aa0b3f3fe84ab1" Type="http://schemas.openxmlformats.org/officeDocument/2006/relationships/notesSlide" Target="../notesSlides/notesSlide1.xml"/><Relationship Id="Rfe2d442cc9394c75"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a91e1cfda5554f8e" Type="http://schemas.openxmlformats.org/officeDocument/2006/relationships/notesSlide" Target="../notesSlides/notesSlide2.xml"/><Relationship Id="Rcfdb7c120e7d4793"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40bfe741e78644e3" Type="http://schemas.openxmlformats.org/officeDocument/2006/relationships/slideLayout" Target="../slideLayouts/slideLayout1.xml"/><Relationship Id="R9925e0cf7f4b4a11" Type="http://schemas.openxmlformats.org/officeDocument/2006/relationships/notesSlide" Target="../notesSlides/notesSlide3.xml"/><Relationship Id="Re0802ea4bb724ca1" Type="http://schemas.openxmlformats.org/officeDocument/2006/relationships/image" Target="../media/image.png"/></Relationships>
</file>

<file path=ppt/slides/_rels/slide4.xml.rels><?xml version='1.0' encoding='UTF-8' standalone='yes'?>
<Relationships xmlns="http://schemas.openxmlformats.org/package/2006/relationships"><Relationship Id="R4f2ce5977e6c41d3" Type="http://schemas.openxmlformats.org/officeDocument/2006/relationships/slideLayout" Target="../slideLayouts/slideLayout1.xml"/><Relationship Id="Reab760d5cc7545a2" Type="http://schemas.openxmlformats.org/officeDocument/2006/relationships/notesSlide" Target="../notesSlides/notesSlide4.xml"/><Relationship Id="rId3" Type="http://schemas.openxmlformats.org/officeDocument/2006/relationships/chart" Target="../charts/chart1.xml"/><Relationship Id="rId4" Type="http://schemas.openxmlformats.org/officeDocument/2006/relationships/chart" Target="../charts/chart2.xml"/></Relationships>
</file>

<file path=ppt/slides/_rels/slide6.xml.rels><?xml version='1.0' encoding='UTF-8' standalone='yes'?>
<Relationships xmlns="http://schemas.openxmlformats.org/package/2006/relationships"><Relationship Id="R08a1a66771e34c37" Type="http://schemas.openxmlformats.org/officeDocument/2006/relationships/chart" Target="charts/chart3.xml"/><Relationship Id="R92c25c991d43491c" Type="http://schemas.openxmlformats.org/officeDocument/2006/relationships/slideLayout" Target="../slideLayouts/slideLayout1.xml"/><Relationship Id="Rf95ef34647d642a0" Type="http://schemas.openxmlformats.org/officeDocument/2006/relationships/notesSlide" Target="../notesSlides/notesSlide6.xml"/><Relationship Id="rId4" Type="http://schemas.openxmlformats.org/officeDocument/2006/relationships/image" Target="../media/image1.png"/><Relationship Id="rId5" Type="http://schemas.openxmlformats.org/officeDocument/2006/relationships/hyperlink" Target="https://jnfarm.jeonnam.go.kr/board/FARM_BOARD_008/boardView.do?bdId=BD_00000000000011721&amp;menuCd=farm004002" TargetMode="External"/><Relationship Id="rId6" Type="http://schemas.openxmlformats.org/officeDocument/2006/relationships/hyperlink" Target="https://www.incheon.go.kr/mayor_8/MA040101/view?curPage=236&amp;repSeq=DOM_0000000010488055" TargetMode="External"/><Relationship Id="rId7" Type="http://schemas.openxmlformats.org/officeDocument/2006/relationships/hyperlink" Target="https://mcst.go.kr/servlets/eduport/front/upload/UplDownloadFile?pFileName=%280514%29%EB%AC%B8%EC%B2%B4%EB%B6%80%EB%B3%B4%EB%8F%84%EC%9E%90%EB%A3%8C-6%EC%9B%94_%EC%97%AC%ED%96%89%EA%B0%80%EB%8A%94_%EB%8B%AC_%EC%B6%94%EC%A7%84.pdf&amp;pPath=0302000000&amp;pRealName=20240514083202149235802932_PRESS20240514083202456506.pdf" TargetMode="External"/></Relationships>
</file>

<file path=ppt/slides/_rels/slide7.xml.rels><?xml version='1.0' encoding='UTF-8' standalone='yes'?>
<Relationships xmlns="http://schemas.openxmlformats.org/package/2006/relationships"><Relationship Id="R41faa7af3ee946e3" Type="http://schemas.openxmlformats.org/officeDocument/2006/relationships/notesSlide" Target="../notesSlides/notesSlide7.xml"/><Relationship Id="Rdd777a48420b4e2a"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1be757d81be54559"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3a927cda51254bd6"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clik.nanet.go.kr/minutes/viewer.do?DOCID=CLIKC3524169218564260&amp;collection=minutes" TargetMode="External"/><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304ac80f13724322" Type="http://schemas.openxmlformats.org/officeDocument/2006/relationships/slideLayout" Target="../slideLayouts/slideLayout1.xml"/><Relationship Id="rId2" Type="http://schemas.openxmlformats.org/officeDocument/2006/relationships/hyperlink" Target="https://datalab.visitkorea.or.kr/" TargetMode="External"/><Relationship Id="rId3" Type="http://schemas.openxmlformats.org/officeDocument/2006/relationships/notesSlide" Target="../notesSlides/notesSlide5.xml"/></Relationships>
</file>

<file path=ppt/slides/_rels/slide12.xml.rels><?xml version='1.0' encoding='UTF-8' standalone='yes'?>
<Relationships xmlns="http://schemas.openxmlformats.org/package/2006/relationships"><Relationship Id="R3ae7c5de0f064511" Type="http://schemas.openxmlformats.org/officeDocument/2006/relationships/slideLayout" Target="../slideLayouts/slideLayout1.xml"/><Relationship Id="R9f79db7a81fa4a2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datalab.visitkorea.or.kr/" TargetMode="External"/><Relationship Id="rId3" Type="http://schemas.openxmlformats.org/officeDocument/2006/relationships/hyperlink" Target="https://datalab.visitkorea.or.kr/site/portal/ex/bbs/View.do?bcIdx=311068&amp;cbIdx=1135&amp;pageIndex=1" TargetMode="External"/><Relationship Id="rId4" Type="http://schemas.openxmlformats.org/officeDocument/2006/relationships/hyperlink" Target="https://jeonju.go.kr/resource/www/images/download/budget/2026/2026_31_2.pdf" TargetMode="External"/><Relationship Id="rId5" Type="http://schemas.openxmlformats.org/officeDocument/2006/relationships/hyperlink" Target="https://www.incheon.go.kr/mayor_8/MA040101/view?curPage=236&amp;repSeq=DOM_0000000010488055" TargetMode="External"/><Relationship Id="rId6" Type="http://schemas.openxmlformats.org/officeDocument/2006/relationships/hyperlink" Target="https://jnfarm.jeonnam.go.kr/board/FARM_BOARD_008/boardView.do?bdId=BD_00000000000011721&amp;menuCd=farm004002" TargetMode="External"/><Relationship Id="rId7" Type="http://schemas.openxmlformats.org/officeDocument/2006/relationships/hyperlink" Target="https://mcst.go.kr/servlets/eduport/front/upload/UplDownloadFile?pFileName=%280514%29%EB%AC%B8%EC%B2%B4%EB%B6%80%EB%B3%B4%EB%8F%84%EC%9E%90%EB%A3%8C-6%EC%9B%94_%EC%97%AC%ED%96%89%EA%B0%80%EB%8A%94_%EB%8B%AC_%EC%B6%94%EC%A7%84.pdf&amp;pPath=0302000000&amp;pRealName=20240514083202149235802932_PRESS20240514083202456506.pdf" TargetMode="Externa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kto.visitkorea.or.kr/upload/flexer/upload/ktobiz/20220928/b623b5f9-3ec0-11ed-9832-ddf31964842e.hwp.files/Sections1.html" TargetMode="External"/><Relationship Id="rId3" Type="http://schemas.openxmlformats.org/officeDocument/2006/relationships/hyperlink" Target="https://korean.visitkorea.or.kr/detail/rem_detail.do?cotid=f9c636b2-dd7c-4f09-af3d-6af43b33d371" TargetMode="External"/><Relationship Id="rId4" Type="http://schemas.openxmlformats.org/officeDocument/2006/relationships/hyperlink" Target="https://www.evaluation.go.kr/upload2/atch/eval/20250429095846463.pdf" TargetMode="External"/><Relationship Id="rId5" Type="http://schemas.openxmlformats.org/officeDocument/2006/relationships/hyperlink" Target="https://apis.data.go.kr/B551011/KorService2" TargetMode="Externa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jnfarm.jeonnam.go.kr/board/FARM_BOARD_008/boardView.do?bdId=BD_00000000000011721&amp;menuCd=farm004002" TargetMode="External"/><Relationship Id="rId3" Type="http://schemas.openxmlformats.org/officeDocument/2006/relationships/notesSlide" Target="../notesSlides/notesSlide15.xml"/></Relationships>
</file>

<file path=ppt/slides/charts/chart3.xml><?xml version="1.0" encoding="utf-8"?>
<c:chartSpace xmlns:c="http://schemas.openxmlformats.org/drawingml/2006/chart">
  <c:lang val="en-US"/>
  <c:chart>
    <c:plotArea>
      <c:barChart>
        <c:barDir val="bar"/>
        <c:grouping val="clustered"/>
        <c:varyColors val="0"/>
        <c:ser>
          <c:idx val="0"/>
          <c:order val="0"/>
          <c:tx>
            <c:v>방문 지수</c:v>
          </c:tx>
          <c:spPr>
            <a:solidFill xmlns:a="http://schemas.openxmlformats.org/drawingml/2006/main">
              <a:srgbClr val="004EA2"/>
            </a:solidFill>
          </c:spPr>
          <c:dPt>
            <c:idx val="0"/>
            <c:invertIfNegative val="0"/>
            <c:spPr>
              <a:solidFill xmlns:a="http://schemas.openxmlformats.org/drawingml/2006/main">
                <a:srgbClr val="BFD0E3"/>
              </a:solidFill>
            </c:spPr>
          </c:dPt>
          <c:dPt>
            <c:idx val="1"/>
            <c:invertIfNegative val="0"/>
            <c:spPr>
              <a:solidFill xmlns:a="http://schemas.openxmlformats.org/drawingml/2006/main">
                <a:srgbClr val="004EA2"/>
              </a:solidFill>
            </c:spPr>
          </c:dPt>
          <c:cat>
            <c:strLit>
              <c:ptCount val="2"/>
              <c:pt idx="0">
                <c:v>전년</c:v>
              </c:pt>
              <c:pt idx="1">
                <c:v>현재</c:v>
              </c:pt>
            </c:strLit>
          </c:cat>
          <c:val>
            <c:numLit>
              <c:formatCode>General</c:formatCode>
              <c:ptCount val="2"/>
              <c:pt idx="0">
                <c:v>100</c:v>
              </c:pt>
              <c:pt idx="1">
                <c:v>91.7</c:v>
              </c:pt>
            </c:numLit>
          </c:val>
        </c:ser>
        <c:dLbls>
          <c:txPr>
            <a:bodyPr xmlns:a="http://schemas.openxmlformats.org/drawingml/2006/main" anchorCtr="1"/>
            <a:lstStyle xmlns:a="http://schemas.openxmlformats.org/drawingml/2006/main"/>
            <a:p xmlns:a="http://schemas.openxmlformats.org/drawingml/2006/main">
              <a:pPr>
                <a:defRPr sz="1200" b="1">
                  <a:solidFill>
                    <a:srgbClr val="FFFFFF"/>
                  </a:solidFill>
                </a:defRPr>
              </a:pPr>
            </a:p>
          </c:txPr>
          <c:dLblPos val="inEnd"/>
          <c:showLegendKey val="0"/>
          <c:showVal val="1"/>
          <c:showCatName val="0"/>
          <c:showSerName val="0"/>
          <c:showPercent val="0"/>
          <c:showBubbleSize val="0"/>
          <c:showLeaderLines val="0"/>
        </c:dLbls>
        <c:gapWidth val="42"/>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21" name="background-wordmark">
            <a:extLst xmlns:a="http://schemas.openxmlformats.org/drawingml/2006/main">
              <a:ext uri="{FF2B5EF4-FFF2-40B4-BE49-F238E27FC236}">
                <a16:creationId xmlns:a16="http://schemas.microsoft.com/office/drawing/2014/main" id="{77FB509F-5920-492C-9117-3338D34B0670}"/>
              </a:ext>
            </a:extLst>
          </p:cNvPr>
          <p:cNvSpPr>
            <a:spLocks xmlns:a="http://schemas.openxmlformats.org/drawingml/2006/main" noGrp="1"/>
          </p:cNvSpPr>
          <p:nvPr/>
        </p:nvSpPr>
        <p:spPr>
          <a:xfrm xmlns:a="http://schemas.openxmlformats.org/drawingml/2006/main">
            <a:off x="-552450" y="2857500"/>
            <a:ext cx="1638300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86111" lnSpcReduction="10000"/>
          </a:bodyPr>
          <a:lstStyle xmlns:a="http://schemas.openxmlformats.org/drawingml/2006/main"/>
          <a:p xmlns:a="http://schemas.openxmlformats.org/drawingml/2006/main">
            <a:pPr algn="ctr" eaLnBrk="0">
              <a:buNone/>
              <a:defRPr sz="22500" b="1" i="0">
                <a:solidFill>
                  <a:srgbClr val="E7EDF4"/>
                </a:solidFill>
                <a:latin typeface="Noto Sans KR"/>
                <a:ea typeface="Noto Sans KR"/>
                <a:cs typeface="Noto Sans KR"/>
              </a:defRPr>
            </a:pPr>
            <a:r>
              <a:rPr sz="22500" b="1" i="0">
                <a:solidFill>
                  <a:srgbClr val="E7EDF4"/>
                </a:solidFill>
                <a:latin typeface="Noto Sans KR"/>
                <a:ea typeface="Noto Sans KR"/>
                <a:cs typeface="Noto Sans KR"/>
              </a:rPr>
              <a:t>TOURISM AI</a:t>
            </a:r>
          </a:p>
        </p:txBody>
      </p:sp>
      <p:sp>
        <p:nvSpPr>
          <p:cNvPr id="2" name="center-top-vertical">
            <a:extLst xmlns:a="http://schemas.openxmlformats.org/drawingml/2006/main">
              <a:ext uri="{FF2B5EF4-FFF2-40B4-BE49-F238E27FC236}">
                <a16:creationId xmlns:a16="http://schemas.microsoft.com/office/drawing/2014/main" id="{B1DEDF35-13EE-406A-AC8E-214EDD2F24AC}"/>
              </a:ext>
            </a:extLst>
          </p:cNvPr>
          <p:cNvSpPr>
            <a:spLocks xmlns:a="http://schemas.openxmlformats.org/drawingml/2006/main" noGrp="1"/>
          </p:cNvSpPr>
          <p:nvPr/>
        </p:nvSpPr>
        <p:spPr>
          <a:xfrm xmlns:a="http://schemas.openxmlformats.org/drawingml/2006/main">
            <a:off x="7620000" y="895350"/>
            <a:ext cx="0" cy="1257300"/>
          </a:xfrm>
          <a:prstGeom xmlns:a="http://schemas.openxmlformats.org/drawingml/2006/main" prst="line">
            <a:avLst/>
          </a:prstGeom>
          <a:noFill xmlns:a="http://schemas.openxmlformats.org/drawingml/2006/main"/>
          <a:ln xmlns:a="http://schemas.openxmlformats.org/drawingml/2006/main" w="28575">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center-bottom-vertical">
            <a:extLst xmlns:a="http://schemas.openxmlformats.org/drawingml/2006/main">
              <a:ext uri="{FF2B5EF4-FFF2-40B4-BE49-F238E27FC236}">
                <a16:creationId xmlns:a16="http://schemas.microsoft.com/office/drawing/2014/main" id="{D3C6583A-243C-4B40-B28E-68DDCD8248EA}"/>
              </a:ext>
            </a:extLst>
          </p:cNvPr>
          <p:cNvSpPr>
            <a:spLocks xmlns:a="http://schemas.openxmlformats.org/drawingml/2006/main" noGrp="1"/>
          </p:cNvSpPr>
          <p:nvPr/>
        </p:nvSpPr>
        <p:spPr>
          <a:xfrm xmlns:a="http://schemas.openxmlformats.org/drawingml/2006/main">
            <a:off x="7620000" y="6410325"/>
            <a:ext cx="0" cy="1247775"/>
          </a:xfrm>
          <a:prstGeom xmlns:a="http://schemas.openxmlformats.org/drawingml/2006/main" prst="line">
            <a:avLst/>
          </a:prstGeom>
          <a:noFill xmlns:a="http://schemas.openxmlformats.org/drawingml/2006/main"/>
          <a:ln xmlns:a="http://schemas.openxmlformats.org/drawingml/2006/main" w="28575">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title-panel">
            <a:extLst xmlns:a="http://schemas.openxmlformats.org/drawingml/2006/main">
              <a:ext uri="{FF2B5EF4-FFF2-40B4-BE49-F238E27FC236}">
                <a16:creationId xmlns:a16="http://schemas.microsoft.com/office/drawing/2014/main" id="{EE1DECE5-AA5E-4E34-834B-AD62B1CB03F9}"/>
              </a:ext>
            </a:extLst>
          </p:cNvPr>
          <p:cNvSpPr>
            <a:spLocks xmlns:a="http://schemas.openxmlformats.org/drawingml/2006/main" noGrp="1"/>
          </p:cNvSpPr>
          <p:nvPr/>
        </p:nvSpPr>
        <p:spPr>
          <a:xfrm xmlns:a="http://schemas.openxmlformats.org/drawingml/2006/main">
            <a:off x="3495675" y="2114550"/>
            <a:ext cx="8267700" cy="429577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 name="title-panel-top">
            <a:extLst xmlns:a="http://schemas.openxmlformats.org/drawingml/2006/main">
              <a:ext uri="{FF2B5EF4-FFF2-40B4-BE49-F238E27FC236}">
                <a16:creationId xmlns:a16="http://schemas.microsoft.com/office/drawing/2014/main" id="{6C123102-52FB-43EB-A3A5-744861F98965}"/>
              </a:ext>
            </a:extLst>
          </p:cNvPr>
          <p:cNvSpPr>
            <a:spLocks xmlns:a="http://schemas.openxmlformats.org/drawingml/2006/main" noGrp="1"/>
          </p:cNvSpPr>
          <p:nvPr/>
        </p:nvSpPr>
        <p:spPr>
          <a:xfrm xmlns:a="http://schemas.openxmlformats.org/drawingml/2006/main">
            <a:off x="3495675" y="2114550"/>
            <a:ext cx="8267700" cy="0"/>
          </a:xfrm>
          <a:prstGeom xmlns:a="http://schemas.openxmlformats.org/drawingml/2006/main" prst="line">
            <a:avLst/>
          </a:prstGeom>
          <a:noFill xmlns:a="http://schemas.openxmlformats.org/drawingml/2006/main"/>
          <a:ln xmlns:a="http://schemas.openxmlformats.org/drawingml/2006/main" w="38100">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security-label">
            <a:extLst xmlns:a="http://schemas.openxmlformats.org/drawingml/2006/main">
              <a:ext uri="{FF2B5EF4-FFF2-40B4-BE49-F238E27FC236}">
                <a16:creationId xmlns:a16="http://schemas.microsoft.com/office/drawing/2014/main" id="{EA7BB441-19DF-412D-93DE-6B5F825D6027}"/>
              </a:ext>
            </a:extLst>
          </p:cNvPr>
          <p:cNvSpPr>
            <a:spLocks xmlns:a="http://schemas.openxmlformats.org/drawingml/2006/main" noGrp="1"/>
          </p:cNvSpPr>
          <p:nvPr/>
        </p:nvSpPr>
        <p:spPr>
          <a:xfrm xmlns:a="http://schemas.openxmlformats.org/drawingml/2006/main">
            <a:off x="5829300" y="2943225"/>
            <a:ext cx="4048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eaLnBrk="0">
              <a:buNone/>
              <a:defRPr sz="1200" b="1" i="0">
                <a:solidFill>
                  <a:srgbClr val="59636E"/>
                </a:solidFill>
                <a:latin typeface="Noto Sans KR"/>
                <a:ea typeface="Noto Sans KR"/>
                <a:cs typeface="Noto Sans KR"/>
              </a:defRPr>
            </a:pPr>
            <a:r>
              <a:rPr sz="1350" b="0" i="0">
                <a:solidFill>
                  <a:srgbClr val="59636E"/>
                </a:solidFill>
                <a:latin typeface="Noto Sans KR"/>
                <a:ea typeface="Noto Sans KR"/>
                <a:cs typeface="Noto Sans KR"/>
              </a:rPr>
              <a:t>관광사업 아이디어 제안</a:t>
            </a:r>
          </a:p>
        </p:txBody>
      </p:sp>
      <p:sp>
        <p:nvSpPr>
          <p:cNvPr id="7" name="cover-title-line1">
            <a:extLst xmlns:a="http://schemas.openxmlformats.org/drawingml/2006/main">
              <a:ext uri="{FF2B5EF4-FFF2-40B4-BE49-F238E27FC236}">
                <a16:creationId xmlns:a16="http://schemas.microsoft.com/office/drawing/2014/main" id="{4D06E463-555F-4ED7-A555-6F2BBA28E48F}"/>
              </a:ext>
            </a:extLst>
          </p:cNvPr>
          <p:cNvSpPr>
            <a:spLocks xmlns:a="http://schemas.openxmlformats.org/drawingml/2006/main" noGrp="1"/>
          </p:cNvSpPr>
          <p:nvPr/>
        </p:nvSpPr>
        <p:spPr>
          <a:xfrm xmlns:a="http://schemas.openxmlformats.org/drawingml/2006/main">
            <a:off x="4267200" y="3638550"/>
            <a:ext cx="67341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eaLnBrk="0">
              <a:buNone/>
              <a:defRPr sz="3525" b="1" i="0">
                <a:solidFill>
                  <a:srgbClr val="1B1F23"/>
                </a:solidFill>
                <a:latin typeface="Noto Sans KR"/>
                <a:ea typeface="Noto Sans KR"/>
                <a:cs typeface="Noto Sans KR"/>
              </a:defRPr>
            </a:pPr>
            <a:r>
              <a:rPr sz="3525" b="1" i="0">
                <a:solidFill>
                  <a:srgbClr val="1B1F23"/>
                </a:solidFill>
                <a:latin typeface="Noto Sans KR"/>
                <a:ea typeface="Noto Sans KR"/>
                <a:cs typeface="Noto Sans KR"/>
              </a:rPr>
              <a:t>춘천시 지역상품권 환급 프로그램</a:t>
            </a:r>
          </a:p>
        </p:txBody>
      </p:sp>
      <p:sp>
        <p:nvSpPr>
          <p:cNvPr id="8" name="cover-title-line2">
            <a:extLst xmlns:a="http://schemas.openxmlformats.org/drawingml/2006/main">
              <a:ext uri="{FF2B5EF4-FFF2-40B4-BE49-F238E27FC236}">
                <a16:creationId xmlns:a16="http://schemas.microsoft.com/office/drawing/2014/main" id="{055E2330-B51B-4A73-961A-2CE79A60AD37}"/>
              </a:ext>
            </a:extLst>
          </p:cNvPr>
          <p:cNvSpPr>
            <a:spLocks xmlns:a="http://schemas.openxmlformats.org/drawingml/2006/main" noGrp="1"/>
          </p:cNvSpPr>
          <p:nvPr/>
        </p:nvSpPr>
        <p:spPr>
          <a:xfrm xmlns:a="http://schemas.openxmlformats.org/drawingml/2006/main">
            <a:off x="4181475" y="4410075"/>
            <a:ext cx="692467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eaLnBrk="0">
              <a:buNone/>
              <a:defRPr sz="2625" b="1">
                <a:solidFill>
                  <a:srgbClr val="1B1F23"/>
                </a:solidFill>
                <a:latin typeface="Noto Sans KR"/>
                <a:ea typeface="Noto Sans KR"/>
                <a:cs typeface="Noto Sans KR"/>
              </a:defRPr>
            </a:pPr>
            <a:r>
              <a:rPr sz="2625" b="1">
                <a:solidFill>
                  <a:srgbClr val="1B1F23"/>
                </a:solidFill>
                <a:latin typeface="Noto Sans KR"/>
                <a:ea typeface="Noto Sans KR"/>
                <a:cs typeface="Noto Sans KR"/>
              </a:rPr>
              <a:t>실행 기획안</a:t>
            </a:r>
          </a:p>
        </p:txBody>
      </p:sp>
      <p:sp>
        <p:nvSpPr>
          <p:cNvPr id="9" name="date-rule-left">
            <a:extLst xmlns:a="http://schemas.openxmlformats.org/drawingml/2006/main">
              <a:ext uri="{FF2B5EF4-FFF2-40B4-BE49-F238E27FC236}">
                <a16:creationId xmlns:a16="http://schemas.microsoft.com/office/drawing/2014/main" id="{ADF95A54-AD3A-46B3-8204-A4A4C1780876}"/>
              </a:ext>
            </a:extLst>
          </p:cNvPr>
          <p:cNvSpPr>
            <a:spLocks xmlns:a="http://schemas.openxmlformats.org/drawingml/2006/main" noGrp="1"/>
          </p:cNvSpPr>
          <p:nvPr/>
        </p:nvSpPr>
        <p:spPr>
          <a:xfrm xmlns:a="http://schemas.openxmlformats.org/drawingml/2006/main">
            <a:off x="6115050" y="5514975"/>
            <a:ext cx="46672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cover-date">
            <a:extLst xmlns:a="http://schemas.openxmlformats.org/drawingml/2006/main">
              <a:ext uri="{FF2B5EF4-FFF2-40B4-BE49-F238E27FC236}">
                <a16:creationId xmlns:a16="http://schemas.microsoft.com/office/drawing/2014/main" id="{D9CF49F9-166E-4877-8903-09E88A51BFD0}"/>
              </a:ext>
            </a:extLst>
          </p:cNvPr>
          <p:cNvSpPr>
            <a:spLocks xmlns:a="http://schemas.openxmlformats.org/drawingml/2006/main" noGrp="1"/>
          </p:cNvSpPr>
          <p:nvPr/>
        </p:nvSpPr>
        <p:spPr>
          <a:xfrm xmlns:a="http://schemas.openxmlformats.org/drawingml/2006/main">
            <a:off x="6343650" y="5334000"/>
            <a:ext cx="3067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eaLnBrk="0">
              <a:buNone/>
              <a:defRPr sz="1350" b="0" i="0">
                <a:solidFill>
                  <a:srgbClr val="1B1F23"/>
                </a:solidFill>
                <a:latin typeface="Noto Sans KR"/>
                <a:ea typeface="Noto Sans KR"/>
                <a:cs typeface="Noto Sans KR"/>
              </a:defRPr>
            </a:pPr>
            <a:r>
              <a:rPr sz="1650" b="0" i="0">
                <a:solidFill>
                  <a:srgbClr val="1B1F23"/>
                </a:solidFill>
                <a:latin typeface="Noto Sans KR"/>
                <a:ea typeface="Noto Sans KR"/>
                <a:cs typeface="Noto Sans KR"/>
              </a:rPr>
              <a:t>사업기간 2026.09 ~ 2026.11</a:t>
            </a:r>
          </a:p>
        </p:txBody>
      </p:sp>
      <p:sp>
        <p:nvSpPr>
          <p:cNvPr id="11" name="date-rule-right">
            <a:extLst xmlns:a="http://schemas.openxmlformats.org/drawingml/2006/main">
              <a:ext uri="{FF2B5EF4-FFF2-40B4-BE49-F238E27FC236}">
                <a16:creationId xmlns:a16="http://schemas.microsoft.com/office/drawing/2014/main" id="{D63894DC-8857-4AFB-9D30-D40A61F1C100}"/>
              </a:ext>
            </a:extLst>
          </p:cNvPr>
          <p:cNvSpPr>
            <a:spLocks xmlns:a="http://schemas.openxmlformats.org/drawingml/2006/main" noGrp="1"/>
          </p:cNvSpPr>
          <p:nvPr/>
        </p:nvSpPr>
        <p:spPr>
          <a:xfrm xmlns:a="http://schemas.openxmlformats.org/drawingml/2006/main">
            <a:off x="9534525" y="5514975"/>
            <a:ext cx="46672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org-title">
            <a:extLst xmlns:a="http://schemas.openxmlformats.org/drawingml/2006/main">
              <a:ext uri="{FF2B5EF4-FFF2-40B4-BE49-F238E27FC236}">
                <a16:creationId xmlns:a16="http://schemas.microsoft.com/office/drawing/2014/main" id="{BFAE34B7-AC7B-4526-88A3-D8CECFF061B0}"/>
              </a:ext>
            </a:extLst>
          </p:cNvPr>
          <p:cNvSpPr>
            <a:spLocks xmlns:a="http://schemas.openxmlformats.org/drawingml/2006/main" noGrp="1"/>
          </p:cNvSpPr>
          <p:nvPr/>
        </p:nvSpPr>
        <p:spPr>
          <a:xfrm xmlns:a="http://schemas.openxmlformats.org/drawingml/2006/main">
            <a:off x="11858625" y="1009650"/>
            <a:ext cx="238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eaLnBrk="0">
              <a:buNone/>
              <a:defRPr sz="1350" b="1" i="0">
                <a:solidFill>
                  <a:srgbClr val="004EA2"/>
                </a:solidFill>
                <a:latin typeface="Noto Sans KR"/>
                <a:ea typeface="Noto Sans KR"/>
                <a:cs typeface="Noto Sans KR"/>
              </a:defRPr>
            </a:pPr>
            <a:r>
              <a:rPr sz="1500" b="1" i="0">
                <a:solidFill>
                  <a:srgbClr val="004EA2"/>
                </a:solidFill>
                <a:latin typeface="Noto Sans KR"/>
                <a:ea typeface="Noto Sans KR"/>
                <a:cs typeface="Noto Sans KR"/>
              </a:rPr>
              <a:t>강원특별자치도 춘천시</a:t>
            </a:r>
          </a:p>
        </p:txBody>
      </p:sp>
      <p:sp>
        <p:nvSpPr>
          <p:cNvPr id="13" name="org-orange-rule">
            <a:extLst xmlns:a="http://schemas.openxmlformats.org/drawingml/2006/main">
              <a:ext uri="{FF2B5EF4-FFF2-40B4-BE49-F238E27FC236}">
                <a16:creationId xmlns:a16="http://schemas.microsoft.com/office/drawing/2014/main" id="{284EC6E3-1D8E-4934-8C5E-B43BDD643630}"/>
              </a:ext>
            </a:extLst>
          </p:cNvPr>
          <p:cNvSpPr>
            <a:spLocks xmlns:a="http://schemas.openxmlformats.org/drawingml/2006/main" noGrp="1"/>
          </p:cNvSpPr>
          <p:nvPr/>
        </p:nvSpPr>
        <p:spPr>
          <a:xfrm xmlns:a="http://schemas.openxmlformats.org/drawingml/2006/main">
            <a:off x="13592175" y="1390650"/>
            <a:ext cx="647700" cy="0"/>
          </a:xfrm>
          <a:prstGeom xmlns:a="http://schemas.openxmlformats.org/drawingml/2006/main" prst="line">
            <a:avLst/>
          </a:prstGeom>
          <a:noFill xmlns:a="http://schemas.openxmlformats.org/drawingml/2006/main"/>
          <a:ln xmlns:a="http://schemas.openxmlformats.org/drawingml/2006/main" w="19050">
            <a:solidFill>
              <a:srgbClr val="FF6B00"/>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org-owner">
            <a:extLst xmlns:a="http://schemas.openxmlformats.org/drawingml/2006/main">
              <a:ext uri="{FF2B5EF4-FFF2-40B4-BE49-F238E27FC236}">
                <a16:creationId xmlns:a16="http://schemas.microsoft.com/office/drawing/2014/main" id="{2CD7CFDD-25BB-432C-BC3B-756F92EB8CFB}"/>
              </a:ext>
            </a:extLst>
          </p:cNvPr>
          <p:cNvSpPr>
            <a:spLocks xmlns:a="http://schemas.openxmlformats.org/drawingml/2006/main" noGrp="1"/>
          </p:cNvSpPr>
          <p:nvPr/>
        </p:nvSpPr>
        <p:spPr>
          <a:xfrm xmlns:a="http://schemas.openxmlformats.org/drawingml/2006/main">
            <a:off x="12334875" y="1581150"/>
            <a:ext cx="1905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57150" tIns="38100" rIns="57150" bIns="38100" anchor="t">
            <a:noAutofit/>
          </a:bodyPr>
          <a:lstStyle xmlns:a="http://schemas.openxmlformats.org/drawingml/2006/main"/>
          <a:p xmlns:a="http://schemas.openxmlformats.org/drawingml/2006/main">
            <a:pPr algn="r" eaLnBrk="0">
              <a:lnSpc>
                <a:spcPts val="1687"/>
              </a:lnSpc>
              <a:spcBef>
                <a:spcPts val="0"/>
              </a:spcBef>
              <a:spcAft>
                <a:spcPts val="0"/>
              </a:spcAft>
              <a:buNone/>
              <a:defRPr sz="1050" b="0" i="0">
                <a:solidFill>
                  <a:srgbClr val="59636E"/>
                </a:solidFill>
                <a:latin typeface="Noto Sans KR"/>
                <a:ea typeface="Noto Sans KR"/>
                <a:cs typeface="Noto Sans KR"/>
              </a:defRPr>
            </a:pPr>
            <a:r>
              <a:rPr sz="1350" b="0">
                <a:solidFill>
                  <a:srgbClr val="59636E"/>
                </a:solidFill>
                <a:latin typeface="Noto Sans KR"/>
              </a:rPr>
              <a:t>관광 전략 검토용</a:t>
            </a:r>
          </a:p>
        </p:txBody>
      </p:sp>
      <p:sp>
        <p:nvSpPr>
          <p:cNvPr id="15" name="report-number">
            <a:extLst xmlns:a="http://schemas.openxmlformats.org/drawingml/2006/main">
              <a:ext uri="{FF2B5EF4-FFF2-40B4-BE49-F238E27FC236}">
                <a16:creationId xmlns:a16="http://schemas.microsoft.com/office/drawing/2014/main" id="{91C450AB-B31C-4B87-BDB0-6281DFDBCBBA}"/>
              </a:ext>
            </a:extLst>
          </p:cNvPr>
          <p:cNvSpPr>
            <a:spLocks xmlns:a="http://schemas.openxmlformats.org/drawingml/2006/main" noGrp="1"/>
          </p:cNvSpPr>
          <p:nvPr/>
        </p:nvSpPr>
        <p:spPr>
          <a:xfrm xmlns:a="http://schemas.openxmlformats.org/drawingml/2006/main">
            <a:off x="1047750" y="6315075"/>
            <a:ext cx="35147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eaLnBrk="0">
              <a:buNone/>
              <a:defRPr sz="1050" b="1" i="0">
                <a:solidFill>
                  <a:srgbClr val="00B7C9"/>
                </a:solidFill>
                <a:latin typeface="Noto Sans KR"/>
                <a:ea typeface="Noto Sans KR"/>
                <a:cs typeface="Noto Sans KR"/>
              </a:defRPr>
            </a:pPr>
            <a:r>
              <a:rPr sz="1200" b="1" i="0">
                <a:solidFill>
                  <a:srgbClr val="00B7C9"/>
                </a:solidFill>
                <a:latin typeface="Noto Sans KR"/>
                <a:ea typeface="Noto Sans KR"/>
                <a:cs typeface="Noto Sans KR"/>
              </a:rPr>
              <a:t>보고서 출력일 2026-09-10</a:t>
            </a:r>
          </a:p>
        </p:txBody>
      </p:sp>
      <p:sp>
        <p:nvSpPr>
          <p:cNvPr id="16" name="report-topic">
            <a:extLst xmlns:a="http://schemas.openxmlformats.org/drawingml/2006/main">
              <a:ext uri="{FF2B5EF4-FFF2-40B4-BE49-F238E27FC236}">
                <a16:creationId xmlns:a16="http://schemas.microsoft.com/office/drawing/2014/main" id="{79974288-A39D-407D-8F48-874FFA4095C1}"/>
              </a:ext>
            </a:extLst>
          </p:cNvPr>
          <p:cNvSpPr>
            <a:spLocks xmlns:a="http://schemas.openxmlformats.org/drawingml/2006/main" noGrp="1"/>
          </p:cNvSpPr>
          <p:nvPr/>
        </p:nvSpPr>
        <p:spPr>
          <a:xfrm xmlns:a="http://schemas.openxmlformats.org/drawingml/2006/main">
            <a:off x="1047750" y="6724650"/>
            <a:ext cx="3514725"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57150" tIns="38100" rIns="57150" bIns="38100" anchor="t">
            <a:noAutofit/>
          </a:bodyPr>
          <a:lstStyle xmlns:a="http://schemas.openxmlformats.org/drawingml/2006/main"/>
          <a:p xmlns:a="http://schemas.openxmlformats.org/drawingml/2006/main">
            <a:pPr algn="l" eaLnBrk="0">
              <a:lnSpc>
                <a:spcPts val="2625"/>
              </a:lnSpc>
              <a:spcBef>
                <a:spcPts val="0"/>
              </a:spcBef>
              <a:spcAft>
                <a:spcPts val="0"/>
              </a:spcAft>
              <a:buNone/>
              <a:defRPr sz="2325" b="1" i="0">
                <a:solidFill>
                  <a:srgbClr val="004EA2"/>
                </a:solidFill>
                <a:latin typeface="Noto Sans KR"/>
                <a:ea typeface="Noto Sans KR"/>
                <a:cs typeface="Noto Sans KR"/>
              </a:defRPr>
            </a:pPr>
            <a:r>
              <a:rPr sz="2100" b="1">
                <a:solidFill>
                  <a:srgbClr val="004EA2"/>
                </a:solidFill>
                <a:latin typeface="Noto Sans KR"/>
              </a:rPr>
              <a:t>춘천시 관광 활성화 실행안</a:t>
            </a:r>
          </a:p>
        </p:txBody>
      </p:sp>
      <p:sp>
        <p:nvSpPr>
          <p:cNvPr id="17" name="corner-tl-h">
            <a:extLst xmlns:a="http://schemas.openxmlformats.org/drawingml/2006/main">
              <a:ext uri="{FF2B5EF4-FFF2-40B4-BE49-F238E27FC236}">
                <a16:creationId xmlns:a16="http://schemas.microsoft.com/office/drawing/2014/main" id="{85098CA2-D674-4C13-AAED-97DC2B1668DD}"/>
              </a:ext>
            </a:extLst>
          </p:cNvPr>
          <p:cNvSpPr>
            <a:spLocks xmlns:a="http://schemas.openxmlformats.org/drawingml/2006/main" noGrp="1"/>
          </p:cNvSpPr>
          <p:nvPr/>
        </p:nvSpPr>
        <p:spPr>
          <a:xfrm xmlns:a="http://schemas.openxmlformats.org/drawingml/2006/main">
            <a:off x="647700" y="619125"/>
            <a:ext cx="29527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corner-tl-v">
            <a:extLst xmlns:a="http://schemas.openxmlformats.org/drawingml/2006/main">
              <a:ext uri="{FF2B5EF4-FFF2-40B4-BE49-F238E27FC236}">
                <a16:creationId xmlns:a16="http://schemas.microsoft.com/office/drawing/2014/main" id="{30186634-254F-4224-B08F-40BB6E5B3F86}"/>
              </a:ext>
            </a:extLst>
          </p:cNvPr>
          <p:cNvSpPr>
            <a:spLocks xmlns:a="http://schemas.openxmlformats.org/drawingml/2006/main" noGrp="1"/>
          </p:cNvSpPr>
          <p:nvPr/>
        </p:nvSpPr>
        <p:spPr>
          <a:xfrm xmlns:a="http://schemas.openxmlformats.org/drawingml/2006/main">
            <a:off x="647700" y="619125"/>
            <a:ext cx="0" cy="295275"/>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corner-br-h">
            <a:extLst xmlns:a="http://schemas.openxmlformats.org/drawingml/2006/main">
              <a:ext uri="{FF2B5EF4-FFF2-40B4-BE49-F238E27FC236}">
                <a16:creationId xmlns:a16="http://schemas.microsoft.com/office/drawing/2014/main" id="{95077333-21E3-42BF-9CBB-698C3BEE5E88}"/>
              </a:ext>
            </a:extLst>
          </p:cNvPr>
          <p:cNvSpPr>
            <a:spLocks xmlns:a="http://schemas.openxmlformats.org/drawingml/2006/main" noGrp="1"/>
          </p:cNvSpPr>
          <p:nvPr/>
        </p:nvSpPr>
        <p:spPr>
          <a:xfrm xmlns:a="http://schemas.openxmlformats.org/drawingml/2006/main">
            <a:off x="14582775" y="7943850"/>
            <a:ext cx="29527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corner-br-v">
            <a:extLst xmlns:a="http://schemas.openxmlformats.org/drawingml/2006/main">
              <a:ext uri="{FF2B5EF4-FFF2-40B4-BE49-F238E27FC236}">
                <a16:creationId xmlns:a16="http://schemas.microsoft.com/office/drawing/2014/main" id="{81015BD6-64EA-4BC0-A2BD-BDDA9641DC61}"/>
              </a:ext>
            </a:extLst>
          </p:cNvPr>
          <p:cNvSpPr>
            <a:spLocks xmlns:a="http://schemas.openxmlformats.org/drawingml/2006/main" noGrp="1"/>
          </p:cNvSpPr>
          <p:nvPr/>
        </p:nvSpPr>
        <p:spPr>
          <a:xfrm xmlns:a="http://schemas.openxmlformats.org/drawingml/2006/main">
            <a:off x="14878050" y="7648575"/>
            <a:ext cx="0" cy="295275"/>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65541183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9" name="top-brand">
            <a:extLst xmlns:a="http://schemas.openxmlformats.org/drawingml/2006/main">
              <a:ext uri="{FF2B5EF4-FFF2-40B4-BE49-F238E27FC236}">
                <a16:creationId xmlns:a16="http://schemas.microsoft.com/office/drawing/2014/main" id="{BC511F59-C000-4ABE-8C07-978065167F95}"/>
              </a:ext>
            </a:extLst>
          </p:cNvPr>
          <p:cNvSpPr>
            <a:spLocks xmlns:a="http://schemas.openxmlformats.org/drawingml/2006/main" noGrp="1"/>
          </p:cNvSpPr>
          <p:nvPr/>
        </p:nvSpPr>
        <p:spPr>
          <a:xfrm xmlns:a="http://schemas.openxmlformats.org/drawingml/2006/main">
            <a:off x="857250" y="333375"/>
            <a:ext cx="5238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eaLnBrk="0">
              <a:buNone/>
              <a:defRPr sz="1200" b="1" i="0">
                <a:solidFill>
                  <a:srgbClr val="004EA2"/>
                </a:solidFill>
                <a:latin typeface="Noto Sans KR"/>
                <a:ea typeface="Noto Sans KR"/>
                <a:cs typeface="Noto Sans KR"/>
              </a:defRPr>
            </a:pPr>
            <a:r>
              <a:rPr sz="1425" b="1" i="0">
                <a:solidFill>
                  <a:srgbClr val="004EA2"/>
                </a:solidFill>
                <a:latin typeface="Noto Sans KR"/>
                <a:ea typeface="Noto Sans KR"/>
                <a:cs typeface="Noto Sans KR"/>
              </a:rPr>
              <a:t>강원특별자치도 춘천시 관광 전략기획안</a:t>
            </a:r>
          </a:p>
        </p:txBody>
      </p:sp>
      <p:sp>
        <p:nvSpPr>
          <p:cNvPr id="2" name="top-date">
            <a:extLst xmlns:a="http://schemas.openxmlformats.org/drawingml/2006/main">
              <a:ext uri="{FF2B5EF4-FFF2-40B4-BE49-F238E27FC236}">
                <a16:creationId xmlns:a16="http://schemas.microsoft.com/office/drawing/2014/main" id="{B2EA0AA8-9451-4577-B2DB-64FEA4AE440C}"/>
              </a:ext>
            </a:extLst>
          </p:cNvPr>
          <p:cNvSpPr>
            <a:spLocks xmlns:a="http://schemas.openxmlformats.org/drawingml/2006/main" noGrp="1"/>
          </p:cNvSpPr>
          <p:nvPr/>
        </p:nvSpPr>
        <p:spPr>
          <a:xfrm xmlns:a="http://schemas.openxmlformats.org/drawingml/2006/main">
            <a:off x="13049250" y="32385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eaLnBrk="0">
              <a:buNone/>
              <a:defRPr sz="1200" b="1" i="0">
                <a:solidFill>
                  <a:srgbClr val="59636E"/>
                </a:solidFill>
                <a:latin typeface="Noto Sans KR"/>
                <a:ea typeface="Noto Sans KR"/>
                <a:cs typeface="Noto Sans KR"/>
              </a:defRPr>
            </a:pPr>
            <a:r>
              <a:rPr sz="1388" b="1" i="0">
                <a:solidFill>
                  <a:srgbClr val="59636E"/>
                </a:solidFill>
                <a:latin typeface="Noto Sans KR"/>
                <a:ea typeface="Noto Sans KR"/>
                <a:cs typeface="Noto Sans KR"/>
              </a:rPr>
              <a:t>2026. 09. 10</a:t>
            </a:r>
          </a:p>
        </p:txBody>
      </p:sp>
      <p:sp>
        <p:nvSpPr>
          <p:cNvPr id="3" name="top-rule">
            <a:extLst xmlns:a="http://schemas.openxmlformats.org/drawingml/2006/main">
              <a:ext uri="{FF2B5EF4-FFF2-40B4-BE49-F238E27FC236}">
                <a16:creationId xmlns:a16="http://schemas.microsoft.com/office/drawing/2014/main" id="{578AD546-B3C6-4345-964E-CA38D80C5C3B}"/>
              </a:ext>
            </a:extLst>
          </p:cNvPr>
          <p:cNvSpPr>
            <a:spLocks xmlns:a="http://schemas.openxmlformats.org/drawingml/2006/main" noGrp="1"/>
          </p:cNvSpPr>
          <p:nvPr/>
        </p:nvSpPr>
        <p:spPr>
          <a:xfrm xmlns:a="http://schemas.openxmlformats.org/drawingml/2006/main">
            <a:off x="28575" y="981075"/>
            <a:ext cx="15182850" cy="0"/>
          </a:xfrm>
          <a:prstGeom xmlns:a="http://schemas.openxmlformats.org/drawingml/2006/main" prst="line">
            <a:avLst/>
          </a:prstGeom>
          <a:noFill xmlns:a="http://schemas.openxmlformats.org/drawingml/2006/main"/>
          <a:ln xmlns:a="http://schemas.openxmlformats.org/drawingml/2006/main" w="9525">
            <a:solidFill>
              <a:srgbClr val="E5EAF0"/>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contents-rail">
            <a:extLst xmlns:a="http://schemas.openxmlformats.org/drawingml/2006/main">
              <a:ext uri="{FF2B5EF4-FFF2-40B4-BE49-F238E27FC236}">
                <a16:creationId xmlns:a16="http://schemas.microsoft.com/office/drawing/2014/main" id="{7FA9108D-F5FC-4EF8-882D-8BF062FDC348}"/>
              </a:ext>
            </a:extLst>
          </p:cNvPr>
          <p:cNvSpPr>
            <a:spLocks xmlns:a="http://schemas.openxmlformats.org/drawingml/2006/main" noGrp="1"/>
          </p:cNvSpPr>
          <p:nvPr/>
        </p:nvSpPr>
        <p:spPr>
          <a:xfrm xmlns:a="http://schemas.openxmlformats.org/drawingml/2006/main">
            <a:off x="28575" y="981075"/>
            <a:ext cx="4810125" cy="7591425"/>
          </a:xfrm>
          <a:prstGeom xmlns:a="http://schemas.openxmlformats.org/drawingml/2006/main" prst="rect">
            <a:avLst/>
          </a:prstGeom>
          <a:solidFill xmlns:a="http://schemas.openxmlformats.org/drawingml/2006/main">
            <a:srgbClr val="004EA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 name="contents-vertical">
            <a:extLst xmlns:a="http://schemas.openxmlformats.org/drawingml/2006/main">
              <a:ext uri="{FF2B5EF4-FFF2-40B4-BE49-F238E27FC236}">
                <a16:creationId xmlns:a16="http://schemas.microsoft.com/office/drawing/2014/main" id="{8A649E8C-B469-49E6-9B71-2587FA310B95}"/>
              </a:ext>
            </a:extLst>
          </p:cNvPr>
          <p:cNvSpPr>
            <a:spLocks xmlns:a="http://schemas.openxmlformats.org/drawingml/2006/main" noGrp="1"/>
          </p:cNvSpPr>
          <p:nvPr/>
        </p:nvSpPr>
        <p:spPr>
          <a:xfrm xmlns:a="http://schemas.openxmlformats.org/drawingml/2006/main" rot="-5400000">
            <a:off x="-866775" y="4162425"/>
            <a:ext cx="6762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91667" lnSpcReduction="10000"/>
          </a:bodyPr>
          <a:lstStyle xmlns:a="http://schemas.openxmlformats.org/drawingml/2006/main"/>
          <a:p xmlns:a="http://schemas.openxmlformats.org/drawingml/2006/main">
            <a:pPr algn="ctr" eaLnBrk="0">
              <a:buNone/>
              <a:defRPr sz="7500" b="1" i="0">
                <a:solidFill>
                  <a:srgbClr val="2B6CB2"/>
                </a:solidFill>
                <a:latin typeface="Noto Sans KR"/>
                <a:ea typeface="Noto Sans KR"/>
                <a:cs typeface="Noto Sans KR"/>
              </a:defRPr>
            </a:pPr>
            <a:r>
              <a:rPr sz="7500" b="1" i="0">
                <a:solidFill>
                  <a:srgbClr val="2B6CB2"/>
                </a:solidFill>
                <a:latin typeface="Noto Sans KR"/>
                <a:ea typeface="Noto Sans KR"/>
                <a:cs typeface="Noto Sans KR"/>
              </a:rPr>
              <a:t>CONTENTS</a:t>
            </a:r>
          </a:p>
        </p:txBody>
      </p:sp>
      <p:sp>
        <p:nvSpPr>
          <p:cNvPr id="6" name="contents-en">
            <a:extLst xmlns:a="http://schemas.openxmlformats.org/drawingml/2006/main">
              <a:ext uri="{FF2B5EF4-FFF2-40B4-BE49-F238E27FC236}">
                <a16:creationId xmlns:a16="http://schemas.microsoft.com/office/drawing/2014/main" id="{A4545508-3408-4837-8886-DBD8CE263FDE}"/>
              </a:ext>
            </a:extLst>
          </p:cNvPr>
          <p:cNvSpPr>
            <a:spLocks xmlns:a="http://schemas.openxmlformats.org/drawingml/2006/main" noGrp="1"/>
          </p:cNvSpPr>
          <p:nvPr/>
        </p:nvSpPr>
        <p:spPr>
          <a:xfrm xmlns:a="http://schemas.openxmlformats.org/drawingml/2006/main">
            <a:off x="419100" y="4019550"/>
            <a:ext cx="400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eaLnBrk="0">
              <a:buNone/>
              <a:defRPr sz="1725" b="1" i="0">
                <a:solidFill>
                  <a:srgbClr val="00C1D4"/>
                </a:solidFill>
                <a:latin typeface="Noto Sans KR"/>
                <a:ea typeface="Noto Sans KR"/>
                <a:cs typeface="Noto Sans KR"/>
              </a:defRPr>
            </a:pPr>
            <a:r>
              <a:rPr sz="1725" b="1" i="0">
                <a:solidFill>
                  <a:srgbClr val="00B7C9"/>
                </a:solidFill>
                <a:latin typeface="Noto Sans KR"/>
                <a:ea typeface="Noto Sans KR"/>
                <a:cs typeface="Noto Sans KR"/>
              </a:rPr>
              <a:t>TABLE OF CONTENTS</a:t>
            </a:r>
          </a:p>
        </p:txBody>
      </p:sp>
      <p:sp>
        <p:nvSpPr>
          <p:cNvPr id="7" name="contents-ko">
            <a:extLst xmlns:a="http://schemas.openxmlformats.org/drawingml/2006/main">
              <a:ext uri="{FF2B5EF4-FFF2-40B4-BE49-F238E27FC236}">
                <a16:creationId xmlns:a16="http://schemas.microsoft.com/office/drawing/2014/main" id="{99A460E5-8765-444E-944E-1A8069ABC357}"/>
              </a:ext>
            </a:extLst>
          </p:cNvPr>
          <p:cNvSpPr>
            <a:spLocks xmlns:a="http://schemas.openxmlformats.org/drawingml/2006/main" noGrp="1"/>
          </p:cNvSpPr>
          <p:nvPr/>
        </p:nvSpPr>
        <p:spPr>
          <a:xfrm xmlns:a="http://schemas.openxmlformats.org/drawingml/2006/main">
            <a:off x="1257300" y="4600575"/>
            <a:ext cx="2381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eaLnBrk="0">
              <a:buNone/>
              <a:defRPr sz="2925" b="1" i="0">
                <a:solidFill>
                  <a:srgbClr val="FFFFFF"/>
                </a:solidFill>
                <a:latin typeface="Noto Sans KR"/>
                <a:ea typeface="Noto Sans KR"/>
                <a:cs typeface="Noto Sans KR"/>
              </a:defRPr>
            </a:pPr>
            <a:r>
              <a:rPr sz="2925" b="1" i="0">
                <a:solidFill>
                  <a:srgbClr val="FFFFFF"/>
                </a:solidFill>
                <a:latin typeface="Noto Sans KR"/>
                <a:ea typeface="Noto Sans KR"/>
                <a:cs typeface="Noto Sans KR"/>
              </a:rPr>
              <a:t>목차 안내</a:t>
            </a:r>
          </a:p>
        </p:txBody>
      </p:sp>
      <p:sp>
        <p:nvSpPr>
          <p:cNvPr id="8" name="contents-orange">
            <a:extLst xmlns:a="http://schemas.openxmlformats.org/drawingml/2006/main">
              <a:ext uri="{FF2B5EF4-FFF2-40B4-BE49-F238E27FC236}">
                <a16:creationId xmlns:a16="http://schemas.microsoft.com/office/drawing/2014/main" id="{D5323B82-A54D-47BA-8350-BCD7E58DB666}"/>
              </a:ext>
            </a:extLst>
          </p:cNvPr>
          <p:cNvSpPr>
            <a:spLocks xmlns:a="http://schemas.openxmlformats.org/drawingml/2006/main" noGrp="1"/>
          </p:cNvSpPr>
          <p:nvPr/>
        </p:nvSpPr>
        <p:spPr>
          <a:xfrm xmlns:a="http://schemas.openxmlformats.org/drawingml/2006/main">
            <a:off x="2057400" y="5381625"/>
            <a:ext cx="704850" cy="0"/>
          </a:xfrm>
          <a:prstGeom xmlns:a="http://schemas.openxmlformats.org/drawingml/2006/main" prst="line">
            <a:avLst/>
          </a:prstGeom>
          <a:noFill xmlns:a="http://schemas.openxmlformats.org/drawingml/2006/main"/>
          <a:ln xmlns:a="http://schemas.openxmlformats.org/drawingml/2006/main" w="38100">
            <a:solidFill>
              <a:srgbClr val="FF6B00"/>
            </a:solidFill>
            <a:prstDash val="solid"/>
          </a:ln>
        </p:spPr>
        <p:txBody>
          <a:bodyPr xmlns:a="http://schemas.openxmlformats.org/drawingml/2006/main"/>
          <a:lstStyle xmlns:a="http://schemas.openxmlformats.org/drawingml/2006/main"/>
          <a:p xmlns:a="http://schemas.openxmlformats.org/drawingml/2006/main">
            <a:endParaRPr/>
          </a:p>
        </p:txBody>
      </p:sp>
      <p:sp xmlns:a="http://schemas.openxmlformats.org/drawingml/2006/main">
        <p:nvSpPr>
          <p:cNvPr id="40" name="toc-0-number"/>
          <p:cNvSpPr txBox="1"/>
          <p:nvPr/>
        </p:nvSpPr>
        <p:spPr>
          <a:xfrm>
            <a:off x="5353050" y="28194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01</a:t>
            </a:r>
          </a:p>
        </p:txBody>
      </p:sp>
      <p:sp xmlns:a="http://schemas.openxmlformats.org/drawingml/2006/main">
        <p:nvSpPr>
          <p:cNvPr id="41" name="toc-0-label"/>
          <p:cNvSpPr txBox="1"/>
          <p:nvPr/>
        </p:nvSpPr>
        <p:spPr>
          <a:xfrm>
            <a:off x="5972175" y="286702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프로젝트 개요</a:t>
            </a:r>
          </a:p>
        </p:txBody>
      </p:sp>
      <p:sp xmlns:a="http://schemas.openxmlformats.org/drawingml/2006/main">
        <p:nvSpPr>
          <p:cNvPr id="42" name="toc-1-number"/>
          <p:cNvSpPr txBox="1"/>
          <p:nvPr/>
        </p:nvSpPr>
        <p:spPr>
          <a:xfrm>
            <a:off x="5353050" y="371475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02</a:t>
            </a:r>
          </a:p>
        </p:txBody>
      </p:sp>
      <p:sp xmlns:a="http://schemas.openxmlformats.org/drawingml/2006/main">
        <p:nvSpPr>
          <p:cNvPr id="43" name="toc-1-label"/>
          <p:cNvSpPr txBox="1"/>
          <p:nvPr/>
        </p:nvSpPr>
        <p:spPr>
          <a:xfrm>
            <a:off x="5972175" y="376237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사업 설계와 3개월 목표</a:t>
            </a:r>
          </a:p>
        </p:txBody>
      </p:sp>
      <p:sp xmlns:a="http://schemas.openxmlformats.org/drawingml/2006/main">
        <p:nvSpPr>
          <p:cNvPr id="44" name="toc-2-number"/>
          <p:cNvSpPr txBox="1"/>
          <p:nvPr/>
        </p:nvSpPr>
        <p:spPr>
          <a:xfrm>
            <a:off x="5353050" y="46101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03</a:t>
            </a:r>
          </a:p>
        </p:txBody>
      </p:sp>
      <p:sp xmlns:a="http://schemas.openxmlformats.org/drawingml/2006/main">
        <p:nvSpPr>
          <p:cNvPr id="45" name="toc-2-label"/>
          <p:cNvSpPr txBox="1"/>
          <p:nvPr/>
        </p:nvSpPr>
        <p:spPr>
          <a:xfrm>
            <a:off x="5972175" y="465772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지역별 참고 사례</a:t>
            </a:r>
          </a:p>
        </p:txBody>
      </p:sp>
      <p:sp xmlns:a="http://schemas.openxmlformats.org/drawingml/2006/main">
        <p:nvSpPr>
          <p:cNvPr id="46" name="toc-3-number"/>
          <p:cNvSpPr txBox="1"/>
          <p:nvPr/>
        </p:nvSpPr>
        <p:spPr>
          <a:xfrm>
            <a:off x="5353050" y="550545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04</a:t>
            </a:r>
          </a:p>
        </p:txBody>
      </p:sp>
      <p:sp xmlns:a="http://schemas.openxmlformats.org/drawingml/2006/main">
        <p:nvSpPr>
          <p:cNvPr id="47" name="toc-3-label"/>
          <p:cNvSpPr txBox="1"/>
          <p:nvPr/>
        </p:nvSpPr>
        <p:spPr>
          <a:xfrm>
            <a:off x="5972175" y="555307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사례 선정과 지역 적용</a:t>
            </a:r>
          </a:p>
        </p:txBody>
      </p:sp>
      <p:sp xmlns:a="http://schemas.openxmlformats.org/drawingml/2006/main">
        <p:nvSpPr>
          <p:cNvPr id="48" name="toc-4-number"/>
          <p:cNvSpPr txBox="1"/>
          <p:nvPr/>
        </p:nvSpPr>
        <p:spPr>
          <a:xfrm>
            <a:off x="5353050" y="64008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05</a:t>
            </a:r>
          </a:p>
        </p:txBody>
      </p:sp>
      <p:sp xmlns:a="http://schemas.openxmlformats.org/drawingml/2006/main">
        <p:nvSpPr>
          <p:cNvPr id="49" name="toc-4-label"/>
          <p:cNvSpPr txBox="1"/>
          <p:nvPr/>
        </p:nvSpPr>
        <p:spPr>
          <a:xfrm>
            <a:off x="5972175" y="644842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4단계 실행 가이드 예시안</a:t>
            </a:r>
          </a:p>
        </p:txBody>
      </p:sp>
      <p:sp xmlns:a="http://schemas.openxmlformats.org/drawingml/2006/main">
        <p:nvSpPr>
          <p:cNvPr id="50" name="toc-5-number"/>
          <p:cNvSpPr txBox="1"/>
          <p:nvPr/>
        </p:nvSpPr>
        <p:spPr>
          <a:xfrm>
            <a:off x="10496550" y="28194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06</a:t>
            </a:r>
          </a:p>
        </p:txBody>
      </p:sp>
      <p:sp xmlns:a="http://schemas.openxmlformats.org/drawingml/2006/main">
        <p:nvSpPr>
          <p:cNvPr id="51" name="toc-5-label"/>
          <p:cNvSpPr txBox="1"/>
          <p:nvPr/>
        </p:nvSpPr>
        <p:spPr>
          <a:xfrm>
            <a:off x="11115675" y="286702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ML 전망과 목표 KPI</a:t>
            </a:r>
          </a:p>
        </p:txBody>
      </p:sp>
      <p:sp xmlns:a="http://schemas.openxmlformats.org/drawingml/2006/main">
        <p:nvSpPr>
          <p:cNvPr id="52" name="toc-6-number"/>
          <p:cNvSpPr txBox="1"/>
          <p:nvPr/>
        </p:nvSpPr>
        <p:spPr>
          <a:xfrm>
            <a:off x="10496550" y="371475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07</a:t>
            </a:r>
          </a:p>
        </p:txBody>
      </p:sp>
      <p:sp xmlns:a="http://schemas.openxmlformats.org/drawingml/2006/main">
        <p:nvSpPr>
          <p:cNvPr id="53" name="toc-6-label"/>
          <p:cNvSpPr txBox="1"/>
          <p:nvPr/>
        </p:nvSpPr>
        <p:spPr>
          <a:xfrm>
            <a:off x="11115675" y="376237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사례 실적과 목표 설정</a:t>
            </a:r>
          </a:p>
        </p:txBody>
      </p:sp>
      <p:sp xmlns:a="http://schemas.openxmlformats.org/drawingml/2006/main">
        <p:nvSpPr>
          <p:cNvPr id="54" name="toc-7-number"/>
          <p:cNvSpPr txBox="1"/>
          <p:nvPr/>
        </p:nvSpPr>
        <p:spPr>
          <a:xfrm>
            <a:off x="10496550" y="46101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08</a:t>
            </a:r>
          </a:p>
        </p:txBody>
      </p:sp>
      <p:sp xmlns:a="http://schemas.openxmlformats.org/drawingml/2006/main">
        <p:nvSpPr>
          <p:cNvPr id="55" name="toc-7-label"/>
          <p:cNvSpPr txBox="1"/>
          <p:nvPr/>
        </p:nvSpPr>
        <p:spPr>
          <a:xfrm>
            <a:off x="11115675" y="465772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견적 예시안</a:t>
            </a:r>
          </a:p>
        </p:txBody>
      </p:sp>
      <p:sp xmlns:a="http://schemas.openxmlformats.org/drawingml/2006/main">
        <p:nvSpPr>
          <p:cNvPr id="56" name="toc-8-number"/>
          <p:cNvSpPr txBox="1"/>
          <p:nvPr/>
        </p:nvSpPr>
        <p:spPr>
          <a:xfrm>
            <a:off x="10496550" y="550545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09</a:t>
            </a:r>
          </a:p>
        </p:txBody>
      </p:sp>
      <p:sp xmlns:a="http://schemas.openxmlformats.org/drawingml/2006/main">
        <p:nvSpPr>
          <p:cNvPr id="57" name="toc-8-label"/>
          <p:cNvSpPr txBox="1"/>
          <p:nvPr/>
        </p:nvSpPr>
        <p:spPr>
          <a:xfrm>
            <a:off x="11115675" y="555307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근거·데이터·출처</a:t>
            </a:r>
          </a:p>
        </p:txBody>
      </p:sp>
      <p:sp xmlns:a="http://schemas.openxmlformats.org/drawingml/2006/main">
        <p:nvSpPr>
          <p:cNvPr id="58" name="toc-9-number"/>
          <p:cNvSpPr txBox="1"/>
          <p:nvPr/>
        </p:nvSpPr>
        <p:spPr>
          <a:xfrm>
            <a:off x="10496550" y="64008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10</a:t>
            </a:r>
          </a:p>
        </p:txBody>
      </p:sp>
      <p:sp xmlns:a="http://schemas.openxmlformats.org/drawingml/2006/main">
        <p:nvSpPr>
          <p:cNvPr id="59" name="toc-9-label"/>
          <p:cNvSpPr txBox="1"/>
          <p:nvPr/>
        </p:nvSpPr>
        <p:spPr>
          <a:xfrm>
            <a:off x="11115675" y="644842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맺음말</a:t>
            </a:r>
          </a:p>
        </p:txBody>
      </p:sp>
    </p:spTree>
    <p:extLst>
      <p:ext uri="{BB962C8B-B14F-4D97-AF65-F5344CB8AC3E}">
        <p14:creationId xmlns:p14="http://schemas.microsoft.com/office/powerpoint/2010/main" val="70192671"/>
      </p:ext>
    </p:extLst>
  </p:cSld>
</p:sld>
</file>

<file path=ppt/slides/slide3.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pic>
        <p:nvPicPr>
          <p:cNvPr id="33" name="visitor-photo"/>
          <p:cNvPicPr>
            <a:picLocks xmlns:a="http://schemas.openxmlformats.org/drawingml/2006/main" noChangeAspect="1"/>
          </p:cNvPicPr>
          <p:nvPr/>
        </p:nvPicPr>
        <p:blipFill>
          <a:blip xmlns:r="http://schemas.openxmlformats.org/officeDocument/2006/relationships" xmlns:a="http://schemas.openxmlformats.org/drawingml/2006/main" r:embed="Re0802ea4bb724ca1"/>
          <a:srcRect xmlns:a="http://schemas.openxmlformats.org/drawingml/2006/main" l="347" t="0" r="347" b="0"/>
          <a:stretch xmlns:a="http://schemas.openxmlformats.org/drawingml/2006/main">
            <a:fillRect l="0" t="0" r="0" b="0"/>
          </a:stretch>
        </p:blipFill>
        <p:spPr>
          <a:xfrm xmlns:a="http://schemas.openxmlformats.org/drawingml/2006/main">
            <a:off x="0" y="0"/>
            <a:ext cx="4791075" cy="8572500"/>
          </a:xfrm>
          <a:prstGeom xmlns:a="http://schemas.openxmlformats.org/drawingml/2006/main" prst="rect">
            <a:avLst/>
          </a:prstGeom>
        </p:spPr>
      </p:pic>
      <p:sp>
        <p:nvSpPr>
          <p:cNvPr id="3" name="title-rule">
            <a:extLst xmlns:a="http://schemas.openxmlformats.org/drawingml/2006/main">
              <a:ext uri="{FF2B5EF4-FFF2-40B4-BE49-F238E27FC236}">
                <a16:creationId xmlns:a16="http://schemas.microsoft.com/office/drawing/2014/main" id="{7BB0242C-FDEC-4963-ABFB-596DC97C0148}"/>
              </a:ext>
            </a:extLst>
          </p:cNvPr>
          <p:cNvSpPr>
            <a:spLocks xmlns:a="http://schemas.openxmlformats.org/drawingml/2006/main" noGrp="1"/>
          </p:cNvSpPr>
          <p:nvPr/>
        </p:nvSpPr>
        <p:spPr>
          <a:xfrm xmlns:a="http://schemas.openxmlformats.org/drawingml/2006/main">
            <a:off x="4772025" y="2152650"/>
            <a:ext cx="10439400" cy="0"/>
          </a:xfrm>
          <a:prstGeom xmlns:a="http://schemas.openxmlformats.org/drawingml/2006/main" prst="line">
            <a:avLst/>
          </a:prstGeom>
          <a:noFill xmlns:a="http://schemas.openxmlformats.org/drawingml/2006/main"/>
          <a:ln xmlns:a="http://schemas.openxmlformats.org/drawingml/2006/main" w="38100">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hero-source-bg">
            <a:extLst xmlns:a="http://schemas.openxmlformats.org/drawingml/2006/main">
              <a:ext uri="{FF2B5EF4-FFF2-40B4-BE49-F238E27FC236}">
                <a16:creationId xmlns:a16="http://schemas.microsoft.com/office/drawing/2014/main" id="{CDA4A852-90A1-4F7A-85C3-CC9CF369CFEA}"/>
              </a:ext>
            </a:extLst>
          </p:cNvPr>
          <p:cNvSpPr>
            <a:spLocks xmlns:a="http://schemas.openxmlformats.org/drawingml/2006/main" noGrp="1"/>
          </p:cNvSpPr>
          <p:nvPr/>
        </p:nvSpPr>
        <p:spPr>
          <a:xfrm xmlns:a="http://schemas.openxmlformats.org/drawingml/2006/main">
            <a:off x="228600" y="8020050"/>
            <a:ext cx="4333875" cy="342900"/>
          </a:xfrm>
          <a:prstGeom xmlns:a="http://schemas.openxmlformats.org/drawingml/2006/main" prst="roundRect">
            <a:avLst>
              <a:gd name="adj" fmla="val 5556"/>
            </a:avLst>
          </a:prstGeom>
          <a:solidFill xmlns:a="http://schemas.openxmlformats.org/drawingml/2006/main">
            <a:srgbClr val="0B2F5B"/>
          </a:solidFill>
          <a:ln xmlns:a="http://schemas.openxmlformats.org/drawingml/2006/main" w="9525">
            <a:solidFill>
              <a:srgbClr val="0B2F5B"/>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hero-source-label">
            <a:extLst xmlns:a="http://schemas.openxmlformats.org/drawingml/2006/main">
              <a:ext uri="{FF2B5EF4-FFF2-40B4-BE49-F238E27FC236}">
                <a16:creationId xmlns:a16="http://schemas.microsoft.com/office/drawing/2014/main" id="{D1920FBE-F92C-4035-AAA5-C13D7F354553}"/>
              </a:ext>
            </a:extLst>
          </p:cNvPr>
          <p:cNvSpPr>
            <a:spLocks xmlns:a="http://schemas.openxmlformats.org/drawingml/2006/main" noGrp="1"/>
          </p:cNvSpPr>
          <p:nvPr/>
        </p:nvSpPr>
        <p:spPr>
          <a:xfrm xmlns:a="http://schemas.openxmlformats.org/drawingml/2006/main">
            <a:off x="323850" y="8001000"/>
            <a:ext cx="41433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wrap="none" lIns="57150" rIns="57150" tIns="38100" bIns="38100">
            <a:noAutofit/>
          </a:bodyPr>
          <a:lstStyle xmlns:a="http://schemas.openxmlformats.org/drawingml/2006/main"/>
          <a:p xmlns:a="http://schemas.openxmlformats.org/drawingml/2006/main">
            <a:pPr algn="l" eaLnBrk="0">
              <a:lnSpc>
                <a:spcPts val="1593"/>
              </a:lnSpc>
              <a:spcBef>
                <a:spcPts val="0"/>
              </a:spcBef>
              <a:spcAft>
                <a:spcPts val="0"/>
              </a:spcAft>
              <a:buNone/>
              <a:defRPr sz="825" b="0" i="0">
                <a:solidFill>
                  <a:srgbClr val="FFFFFF"/>
                </a:solidFill>
                <a:latin typeface="Noto Sans KR"/>
                <a:ea typeface="Noto Sans KR"/>
                <a:cs typeface="Noto Sans KR"/>
              </a:defRPr>
            </a:pPr>
            <a:r>
              <a:rPr sz="1275" b="0">
                <a:solidFill>
                  <a:srgbClr val="FFFFFF"/>
                </a:solidFill>
                <a:latin typeface="Noto Sans KR"/>
              </a:rPr>
              <a:t>참고 이미지 · 실제 장소 사진 아님</a:t>
            </a:r>
          </a:p>
        </p:txBody>
      </p:sp>
      <p:sp xmlns:a="http://schemas.openxmlformats.org/drawingml/2006/main">
        <p:nvSpPr>
          <p:cNvPr id="34" name="title"/>
          <p:cNvSpPr txBox="1"/>
          <p:nvPr/>
        </p:nvSpPr>
        <p:spPr>
          <a:xfrm>
            <a:off x="5343525" y="762000"/>
            <a:ext cx="9048750" cy="1285875"/>
          </a:xfrm>
          <a:prstGeom prst="rect">
            <a:avLst/>
          </a:prstGeom>
          <a:noFill/>
        </p:spPr>
        <p:txBody>
          <a:bodyPr wrap="none" lIns="57150" rIns="57150" tIns="38100" bIns="38100" anchor="t">
            <a:noAutofit/>
          </a:bodyPr>
          <a:lstStyle/>
          <a:p>
            <a:pPr eaLnBrk="0">
              <a:lnSpc>
                <a:spcPts val="4312"/>
              </a:lnSpc>
              <a:spcBef>
                <a:spcPts val="0"/>
              </a:spcBef>
              <a:spcAft>
                <a:spcPts val="0"/>
              </a:spcAft>
            </a:pPr>
            <a:r>
              <a:rPr sz="3450" b="1">
                <a:solidFill>
                  <a:srgbClr val="004EA2"/>
                </a:solidFill>
                <a:latin typeface="Noto Sans KR"/>
              </a:rPr>
              <a:t>춘천시 지역상품권 환급 프로그램</a:t>
            </a:r>
          </a:p>
        </p:txBody>
      </p:sp>
      <p:sp xmlns:a="http://schemas.openxmlformats.org/drawingml/2006/main">
        <p:nvSpPr>
          <p:cNvPr id="35" name="s3-thesis"/>
          <p:cNvSpPr txBox="1"/>
          <p:nvPr/>
        </p:nvSpPr>
        <p:spPr>
          <a:xfrm>
            <a:off x="5343525" y="2619375"/>
            <a:ext cx="8524875" cy="1809750"/>
          </a:xfrm>
          <a:prstGeom prst="rect">
            <a:avLst/>
          </a:prstGeom>
          <a:noFill/>
        </p:spPr>
        <p:txBody>
          <a:bodyPr wrap="none" lIns="57150" rIns="57150" tIns="38100" bIns="38100" anchor="t">
            <a:noAutofit/>
          </a:bodyPr>
          <a:lstStyle/>
          <a:p>
            <a:pPr eaLnBrk="0">
              <a:lnSpc>
                <a:spcPts val="3187"/>
              </a:lnSpc>
              <a:spcBef>
                <a:spcPts val="0"/>
              </a:spcBef>
              <a:spcAft>
                <a:spcPts val="0"/>
              </a:spcAft>
            </a:pPr>
            <a:r>
              <a:rPr sz="2550" b="1">
                <a:solidFill>
                  <a:srgbClr val="1D2227"/>
                </a:solidFill>
                <a:latin typeface="Noto Sans KR"/>
              </a:rPr>
              <a:t>춘천시 내 지정된 식음료, 쇼핑, 여가서비스 참여 업종에서 일정</a:t>
            </a:r>
          </a:p>
          <a:p>
            <a:pPr eaLnBrk="0">
              <a:lnSpc>
                <a:spcPts val="3187"/>
              </a:lnSpc>
              <a:spcBef>
                <a:spcPts val="0"/>
              </a:spcBef>
              <a:spcAft>
                <a:spcPts val="0"/>
              </a:spcAft>
            </a:pPr>
            <a:r>
              <a:rPr sz="2550" b="1">
                <a:solidFill>
                  <a:srgbClr val="1D2227"/>
                </a:solidFill>
                <a:latin typeface="Noto Sans KR"/>
              </a:rPr>
              <a:t>금액 이상 결제한 외지인 관광객에게 결제액의 일부를 춘천시</a:t>
            </a:r>
          </a:p>
          <a:p>
            <a:pPr eaLnBrk="0">
              <a:lnSpc>
                <a:spcPts val="3187"/>
              </a:lnSpc>
              <a:spcBef>
                <a:spcPts val="0"/>
              </a:spcBef>
              <a:spcAft>
                <a:spcPts val="0"/>
              </a:spcAft>
            </a:pPr>
            <a:r>
              <a:rPr sz="2550" b="1">
                <a:solidFill>
                  <a:srgbClr val="1D2227"/>
                </a:solidFill>
                <a:latin typeface="Noto Sans KR"/>
              </a:rPr>
              <a:t>지역상품권으로 환급해 주는 메커니즘</a:t>
            </a:r>
          </a:p>
        </p:txBody>
      </p:sp>
      <p:sp xmlns:a="http://schemas.openxmlformats.org/drawingml/2006/main">
        <p:nvSpPr>
          <p:cNvPr id="36" name="s3-detail-label"/>
          <p:cNvSpPr txBox="1"/>
          <p:nvPr/>
        </p:nvSpPr>
        <p:spPr>
          <a:xfrm>
            <a:off x="5343525" y="4762500"/>
            <a:ext cx="8524875" cy="428625"/>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004EA2"/>
                </a:solidFill>
                <a:latin typeface="Noto Sans KR"/>
              </a:rPr>
              <a:t>사업 대상과 운영 범위</a:t>
            </a:r>
          </a:p>
        </p:txBody>
      </p:sp>
      <p:sp xmlns:a="http://schemas.openxmlformats.org/drawingml/2006/main">
        <p:nvSpPr>
          <p:cNvPr id="37" name="s3-detail"/>
          <p:cNvSpPr txBox="1"/>
          <p:nvPr/>
        </p:nvSpPr>
        <p:spPr>
          <a:xfrm>
            <a:off x="5343525" y="5276850"/>
            <a:ext cx="8524875" cy="904875"/>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0">
                <a:solidFill>
                  <a:srgbClr val="59636E"/>
                </a:solidFill>
                <a:latin typeface="Noto Sans KR"/>
              </a:rPr>
              <a:t>2026-09 ~ 2026-11, 3개월</a:t>
            </a:r>
          </a:p>
        </p:txBody>
      </p:sp>
      <p:sp xmlns:a="http://schemas.openxmlformats.org/drawingml/2006/main">
        <p:nvSpPr>
          <p:cNvPr id="38" name="s3-operation-rule"/>
          <p:cNvSpPr/>
          <p:nvPr/>
        </p:nvSpPr>
        <p:spPr>
          <a:xfrm>
            <a:off x="5400675" y="6457950"/>
            <a:ext cx="57150" cy="1209675"/>
          </a:xfrm>
          <a:prstGeom prst="rect">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s3-operation"/>
          <p:cNvSpPr txBox="1"/>
          <p:nvPr/>
        </p:nvSpPr>
        <p:spPr>
          <a:xfrm>
            <a:off x="5610225" y="6505575"/>
            <a:ext cx="8096250" cy="128587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0">
                <a:solidFill>
                  <a:srgbClr val="59636E"/>
                </a:solidFill>
                <a:latin typeface="Noto Sans KR"/>
              </a:rPr>
              <a:t>춘천시 내 식음료업, 쇼핑업, 여가서비스업 등 참여 업체의 협약, 환급 상품권의</a:t>
            </a:r>
          </a:p>
          <a:p>
            <a:pPr eaLnBrk="0">
              <a:lnSpc>
                <a:spcPts val="2343"/>
              </a:lnSpc>
              <a:spcBef>
                <a:spcPts val="0"/>
              </a:spcBef>
              <a:spcAft>
                <a:spcPts val="0"/>
              </a:spcAft>
            </a:pPr>
            <a:r>
              <a:rPr sz="1875" b="0">
                <a:solidFill>
                  <a:srgbClr val="59636E"/>
                </a:solidFill>
                <a:latin typeface="Noto Sans KR"/>
              </a:rPr>
              <a:t>발행 및 유통 시스템 구축, 환급 비율 및 조건 설정, 환급 효과 측정을 위한</a:t>
            </a:r>
          </a:p>
          <a:p>
            <a:pPr eaLnBrk="0">
              <a:lnSpc>
                <a:spcPts val="2343"/>
              </a:lnSpc>
              <a:spcBef>
                <a:spcPts val="0"/>
              </a:spcBef>
              <a:spcAft>
                <a:spcPts val="0"/>
              </a:spcAft>
            </a:pPr>
            <a:r>
              <a:rPr sz="1875" b="0">
                <a:solidFill>
                  <a:srgbClr val="59636E"/>
                </a:solidFill>
                <a:latin typeface="Noto Sans KR"/>
              </a:rPr>
              <a:t>데이터 수집 및 분석 시스템 구축</a:t>
            </a:r>
          </a:p>
        </p:txBody>
      </p:sp>
    </p:spTree>
    <p:extLst>
      <p:ext uri="{BB962C8B-B14F-4D97-AF65-F5344CB8AC3E}">
        <p14:creationId xmlns:p14="http://schemas.microsoft.com/office/powerpoint/2010/main" val="1308887362"/>
      </p:ext>
    </p:extLst>
  </p:cSld>
</p:sld>
</file>

<file path=ppt/slides/slide4.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사업 설계와 3개월 목표</a:t>
            </a:r>
          </a:p>
        </p:txBody>
      </p:sp>
      <p:sp xmlns:a="http://schemas.openxmlformats.org/drawingml/2006/main">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block-0"/>
          <p:cNvSpPr/>
          <p:nvPr/>
        </p:nvSpPr>
        <p:spPr>
          <a:xfrm>
            <a:off x="1009650" y="2057400"/>
            <a:ext cx="4267200" cy="197167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block-rail-0"/>
          <p:cNvSpPr/>
          <p:nvPr/>
        </p:nvSpPr>
        <p:spPr>
          <a:xfrm>
            <a:off x="1009650" y="2057400"/>
            <a:ext cx="57150" cy="19716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block-title-0"/>
          <p:cNvSpPr txBox="1"/>
          <p:nvPr/>
        </p:nvSpPr>
        <p:spPr>
          <a:xfrm>
            <a:off x="1181100" y="2200275"/>
            <a:ext cx="3943350" cy="3810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사업내용</a:t>
            </a:r>
          </a:p>
        </p:txBody>
      </p:sp>
      <p:sp xmlns:a="http://schemas.openxmlformats.org/drawingml/2006/main">
        <p:nvSpPr>
          <p:cNvPr id="7" name="block-body-0"/>
          <p:cNvSpPr txBox="1"/>
          <p:nvPr/>
        </p:nvSpPr>
        <p:spPr>
          <a:xfrm>
            <a:off x="1181100" y="2676525"/>
            <a:ext cx="3943350" cy="12573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59636E"/>
                </a:solidFill>
                <a:latin typeface="Noto Sans KR"/>
              </a:rPr>
              <a:t>춘천시 내 지정된 식음료, 쇼핑, 여가서비스</a:t>
            </a:r>
          </a:p>
          <a:p>
            <a:pPr eaLnBrk="0">
              <a:lnSpc>
                <a:spcPts val="2156"/>
              </a:lnSpc>
              <a:spcBef>
                <a:spcPts val="0"/>
              </a:spcBef>
              <a:spcAft>
                <a:spcPts val="0"/>
              </a:spcAft>
            </a:pPr>
            <a:r>
              <a:rPr sz="1725" b="0">
                <a:solidFill>
                  <a:srgbClr val="59636E"/>
                </a:solidFill>
                <a:latin typeface="Noto Sans KR"/>
              </a:rPr>
              <a:t>참여 업종에서 일정 금액 이상 결제한</a:t>
            </a:r>
          </a:p>
          <a:p>
            <a:pPr eaLnBrk="0">
              <a:lnSpc>
                <a:spcPts val="2156"/>
              </a:lnSpc>
              <a:spcBef>
                <a:spcPts val="0"/>
              </a:spcBef>
              <a:spcAft>
                <a:spcPts val="0"/>
              </a:spcAft>
            </a:pPr>
            <a:r>
              <a:rPr sz="1725" b="0">
                <a:solidFill>
                  <a:srgbClr val="59636E"/>
                </a:solidFill>
                <a:latin typeface="Noto Sans KR"/>
              </a:rPr>
              <a:t>외지인 관광객에게 결제액의 일부를 춘천시</a:t>
            </a:r>
          </a:p>
          <a:p>
            <a:pPr eaLnBrk="0">
              <a:lnSpc>
                <a:spcPts val="2156"/>
              </a:lnSpc>
              <a:spcBef>
                <a:spcPts val="0"/>
              </a:spcBef>
              <a:spcAft>
                <a:spcPts val="0"/>
              </a:spcAft>
            </a:pPr>
            <a:r>
              <a:rPr sz="1725" b="0">
                <a:solidFill>
                  <a:srgbClr val="59636E"/>
                </a:solidFill>
                <a:latin typeface="Noto Sans KR"/>
              </a:rPr>
              <a:t>지역상품권으로 환급해 주는 메커니즘</a:t>
            </a:r>
          </a:p>
        </p:txBody>
      </p:sp>
      <p:sp xmlns:a="http://schemas.openxmlformats.org/drawingml/2006/main">
        <p:nvSpPr>
          <p:cNvPr id="8" name="block-1"/>
          <p:cNvSpPr/>
          <p:nvPr/>
        </p:nvSpPr>
        <p:spPr>
          <a:xfrm>
            <a:off x="5486400" y="2057400"/>
            <a:ext cx="4267200" cy="197167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block-rail-1"/>
          <p:cNvSpPr/>
          <p:nvPr/>
        </p:nvSpPr>
        <p:spPr>
          <a:xfrm>
            <a:off x="5486400" y="2057400"/>
            <a:ext cx="57150" cy="1971675"/>
          </a:xfrm>
          <a:prstGeom prst="rect">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block-title-1"/>
          <p:cNvSpPr txBox="1"/>
          <p:nvPr/>
        </p:nvSpPr>
        <p:spPr>
          <a:xfrm>
            <a:off x="5657850" y="2200275"/>
            <a:ext cx="3943350" cy="3810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사업기간</a:t>
            </a:r>
          </a:p>
        </p:txBody>
      </p:sp>
      <p:sp xmlns:a="http://schemas.openxmlformats.org/drawingml/2006/main">
        <p:nvSpPr>
          <p:cNvPr id="11" name="block-body-1"/>
          <p:cNvSpPr txBox="1"/>
          <p:nvPr/>
        </p:nvSpPr>
        <p:spPr>
          <a:xfrm>
            <a:off x="5657850" y="2676525"/>
            <a:ext cx="3943350" cy="12573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59636E"/>
                </a:solidFill>
                <a:latin typeface="Noto Sans KR"/>
              </a:rPr>
              <a:t>2026-09 ~ 2026-11, 3개월</a:t>
            </a:r>
          </a:p>
          <a:p>
            <a:pPr eaLnBrk="0">
              <a:lnSpc>
                <a:spcPts val="2156"/>
              </a:lnSpc>
              <a:spcBef>
                <a:spcPts val="0"/>
              </a:spcBef>
              <a:spcAft>
                <a:spcPts val="0"/>
              </a:spcAft>
            </a:pPr>
            <a:r>
              <a:rPr sz="1725" b="0">
                <a:solidFill>
                  <a:srgbClr val="59636E"/>
                </a:solidFill>
                <a:latin typeface="Noto Sans KR"/>
              </a:rPr>
              <a:t>준비·협의 → 시범 운영 → 성과 확인</a:t>
            </a:r>
          </a:p>
        </p:txBody>
      </p:sp>
      <p:sp xmlns:a="http://schemas.openxmlformats.org/drawingml/2006/main">
        <p:nvSpPr>
          <p:cNvPr id="12" name="block-2"/>
          <p:cNvSpPr/>
          <p:nvPr/>
        </p:nvSpPr>
        <p:spPr>
          <a:xfrm>
            <a:off x="9963150" y="2057400"/>
            <a:ext cx="4267200" cy="197167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block-rail-2"/>
          <p:cNvSpPr/>
          <p:nvPr/>
        </p:nvSpPr>
        <p:spPr>
          <a:xfrm>
            <a:off x="9963150" y="2057400"/>
            <a:ext cx="57150" cy="19716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block-title-2"/>
          <p:cNvSpPr txBox="1"/>
          <p:nvPr/>
        </p:nvSpPr>
        <p:spPr>
          <a:xfrm>
            <a:off x="10134600" y="2200275"/>
            <a:ext cx="3943350" cy="3810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목표 KPI</a:t>
            </a:r>
          </a:p>
        </p:txBody>
      </p:sp>
      <p:sp xmlns:a="http://schemas.openxmlformats.org/drawingml/2006/main">
        <p:nvSpPr>
          <p:cNvPr id="15" name="block-body-2"/>
          <p:cNvSpPr txBox="1"/>
          <p:nvPr/>
        </p:nvSpPr>
        <p:spPr>
          <a:xfrm>
            <a:off x="10134600" y="2676525"/>
            <a:ext cx="3943350" cy="12573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59636E"/>
                </a:solidFill>
                <a:latin typeface="Noto Sans KR"/>
              </a:rPr>
              <a:t>3개월 월별 합계</a:t>
            </a:r>
          </a:p>
          <a:p>
            <a:pPr eaLnBrk="0">
              <a:lnSpc>
                <a:spcPts val="2156"/>
              </a:lnSpc>
              <a:spcBef>
                <a:spcPts val="0"/>
              </a:spcBef>
              <a:spcAft>
                <a:spcPts val="0"/>
              </a:spcAft>
            </a:pPr>
            <a:r>
              <a:rPr sz="1725" b="0">
                <a:solidFill>
                  <a:srgbClr val="59636E"/>
                </a:solidFill>
                <a:latin typeface="Noto Sans KR"/>
              </a:rPr>
              <a:t>방문자 645만 명</a:t>
            </a:r>
          </a:p>
          <a:p>
            <a:pPr eaLnBrk="0">
              <a:lnSpc>
                <a:spcPts val="2156"/>
              </a:lnSpc>
              <a:spcBef>
                <a:spcPts val="0"/>
              </a:spcBef>
              <a:spcAft>
                <a:spcPts val="0"/>
              </a:spcAft>
            </a:pPr>
            <a:r>
              <a:rPr sz="1725" b="0">
                <a:solidFill>
                  <a:srgbClr val="59636E"/>
                </a:solidFill>
                <a:latin typeface="Noto Sans KR"/>
              </a:rPr>
              <a:t>관광소비액 1,599억 원</a:t>
            </a:r>
          </a:p>
        </p:txBody>
      </p:sp>
      <p:sp xmlns:a="http://schemas.openxmlformats.org/drawingml/2006/main">
        <p:nvSpPr>
          <p:cNvPr id="16" name="chart-panel-0"/>
          <p:cNvSpPr/>
          <p:nvPr/>
        </p:nvSpPr>
        <p:spPr>
          <a:xfrm>
            <a:off x="1009650" y="4248150"/>
            <a:ext cx="6419850" cy="33337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chart-title-0"/>
          <p:cNvSpPr txBox="1"/>
          <p:nvPr/>
        </p:nvSpPr>
        <p:spPr>
          <a:xfrm>
            <a:off x="1200150" y="4343400"/>
            <a:ext cx="6038850" cy="409575"/>
          </a:xfrm>
          <a:prstGeom prst="rect">
            <a:avLst/>
          </a:prstGeom>
          <a:noFill/>
        </p:spPr>
        <p:txBody>
          <a:bodyPr wrap="none" lIns="57150" rIns="57150" tIns="38100" bIns="38100" anchor="t">
            <a:noAutofit/>
          </a:bodyPr>
          <a:lstStyle/>
          <a:p>
            <a:pPr eaLnBrk="0" algn="ctr">
              <a:lnSpc>
                <a:spcPts val="2625"/>
              </a:lnSpc>
              <a:spcBef>
                <a:spcPts val="0"/>
              </a:spcBef>
              <a:spcAft>
                <a:spcPts val="0"/>
              </a:spcAft>
            </a:pPr>
            <a:r>
              <a:rPr sz="2100" b="1">
                <a:solidFill>
                  <a:srgbClr val="004EA2"/>
                </a:solidFill>
                <a:latin typeface="Noto Sans KR"/>
              </a:rPr>
              <a:t>관광객 방문자 수</a:t>
            </a:r>
          </a:p>
        </p:txBody>
      </p:sp>
      <p:graphicFrame xmlns:a="http://schemas.openxmlformats.org/drawingml/2006/main">
        <p:nvGraphicFramePr>
          <p:cNvPr id="18" name="comparison-chart-0"/>
          <p:cNvGraphicFramePr>
            <a:graphicFrameLocks noGrp="1"/>
          </p:cNvGraphicFramePr>
          <p:nvPr/>
        </p:nvGraphicFramePr>
        <p:xfrm>
          <a:off x="1123950" y="4857750"/>
          <a:ext cx="6191250" cy="2200275"/>
        </p:xfrm>
        <a:graphic>
          <a:graphicData uri="http://schemas.openxmlformats.org/drawingml/2006/chart">
            <c:chart xmlns:c="http://schemas.openxmlformats.org/drawingml/2006/chart" xmlns:r="http://schemas.openxmlformats.org/officeDocument/2006/relationships" r:id="rId3"/>
          </a:graphicData>
        </a:graphic>
      </p:graphicFrame>
      <p:sp xmlns:a="http://schemas.openxmlformats.org/drawingml/2006/main">
        <p:nvSpPr>
          <p:cNvPr id="19" name="comparison-chart-0-legend-line-0"/>
          <p:cNvSpPr/>
          <p:nvPr/>
        </p:nvSpPr>
        <p:spPr>
          <a:xfrm>
            <a:off x="2686050" y="7343775"/>
            <a:ext cx="238125"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comparison-chart-0-legend-label-0"/>
          <p:cNvSpPr txBox="1"/>
          <p:nvPr/>
        </p:nvSpPr>
        <p:spPr>
          <a:xfrm>
            <a:off x="297180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59636E"/>
                </a:solidFill>
                <a:latin typeface="Noto Sans KR"/>
              </a:rPr>
              <a:t>ML 기준 전망</a:t>
            </a:r>
          </a:p>
        </p:txBody>
      </p:sp>
      <p:sp xmlns:a="http://schemas.openxmlformats.org/drawingml/2006/main">
        <p:nvSpPr>
          <p:cNvPr id="21" name="comparison-chart-0-legend-line-1"/>
          <p:cNvSpPr/>
          <p:nvPr/>
        </p:nvSpPr>
        <p:spPr>
          <a:xfrm>
            <a:off x="4410075" y="7343775"/>
            <a:ext cx="238125" cy="28575"/>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comparison-chart-0-legend-label-1"/>
          <p:cNvSpPr txBox="1"/>
          <p:nvPr/>
        </p:nvSpPr>
        <p:spPr>
          <a:xfrm>
            <a:off x="469582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59636E"/>
                </a:solidFill>
                <a:latin typeface="Noto Sans KR"/>
              </a:rPr>
              <a:t>목표 KPI</a:t>
            </a:r>
          </a:p>
        </p:txBody>
      </p:sp>
      <p:sp xmlns:a="http://schemas.openxmlformats.org/drawingml/2006/main">
        <p:nvSpPr>
          <p:cNvPr id="23" name="chart-panel-1"/>
          <p:cNvSpPr/>
          <p:nvPr/>
        </p:nvSpPr>
        <p:spPr>
          <a:xfrm>
            <a:off x="7810500" y="4248150"/>
            <a:ext cx="6419850" cy="33337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chart-title-1"/>
          <p:cNvSpPr txBox="1"/>
          <p:nvPr/>
        </p:nvSpPr>
        <p:spPr>
          <a:xfrm>
            <a:off x="8001000" y="4343400"/>
            <a:ext cx="6038850" cy="409575"/>
          </a:xfrm>
          <a:prstGeom prst="rect">
            <a:avLst/>
          </a:prstGeom>
          <a:noFill/>
        </p:spPr>
        <p:txBody>
          <a:bodyPr wrap="none" lIns="57150" rIns="57150" tIns="38100" bIns="38100" anchor="t">
            <a:noAutofit/>
          </a:bodyPr>
          <a:lstStyle/>
          <a:p>
            <a:pPr eaLnBrk="0" algn="ctr">
              <a:lnSpc>
                <a:spcPts val="2625"/>
              </a:lnSpc>
              <a:spcBef>
                <a:spcPts val="0"/>
              </a:spcBef>
              <a:spcAft>
                <a:spcPts val="0"/>
              </a:spcAft>
            </a:pPr>
            <a:r>
              <a:rPr sz="2100" b="1">
                <a:solidFill>
                  <a:srgbClr val="004EA2"/>
                </a:solidFill>
                <a:latin typeface="Noto Sans KR"/>
              </a:rPr>
              <a:t>관광소비액</a:t>
            </a:r>
          </a:p>
        </p:txBody>
      </p:sp>
      <p:graphicFrame xmlns:a="http://schemas.openxmlformats.org/drawingml/2006/main">
        <p:nvGraphicFramePr>
          <p:cNvPr id="25" name="comparison-chart-1"/>
          <p:cNvGraphicFramePr>
            <a:graphicFrameLocks noGrp="1"/>
          </p:cNvGraphicFramePr>
          <p:nvPr/>
        </p:nvGraphicFramePr>
        <p:xfrm>
          <a:off x="7924800" y="4857750"/>
          <a:ext cx="6191250" cy="2200275"/>
        </p:xfrm>
        <a:graphic>
          <a:graphicData uri="http://schemas.openxmlformats.org/drawingml/2006/chart">
            <c:chart xmlns:c="http://schemas.openxmlformats.org/drawingml/2006/chart" xmlns:r="http://schemas.openxmlformats.org/officeDocument/2006/relationships" r:id="rId4"/>
          </a:graphicData>
        </a:graphic>
      </p:graphicFrame>
      <p:sp xmlns:a="http://schemas.openxmlformats.org/drawingml/2006/main">
        <p:nvSpPr>
          <p:cNvPr id="26" name="comparison-chart-1-legend-line-0"/>
          <p:cNvSpPr/>
          <p:nvPr/>
        </p:nvSpPr>
        <p:spPr>
          <a:xfrm>
            <a:off x="9486900" y="7343775"/>
            <a:ext cx="238125"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comparison-chart-1-legend-label-0"/>
          <p:cNvSpPr txBox="1"/>
          <p:nvPr/>
        </p:nvSpPr>
        <p:spPr>
          <a:xfrm>
            <a:off x="977265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59636E"/>
                </a:solidFill>
                <a:latin typeface="Noto Sans KR"/>
              </a:rPr>
              <a:t>ML 기준 전망</a:t>
            </a:r>
          </a:p>
        </p:txBody>
      </p:sp>
      <p:sp xmlns:a="http://schemas.openxmlformats.org/drawingml/2006/main">
        <p:nvSpPr>
          <p:cNvPr id="28" name="comparison-chart-1-legend-line-1"/>
          <p:cNvSpPr/>
          <p:nvPr/>
        </p:nvSpPr>
        <p:spPr>
          <a:xfrm>
            <a:off x="11210925" y="7343775"/>
            <a:ext cx="238125" cy="28575"/>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comparison-chart-1-legend-label-1"/>
          <p:cNvSpPr txBox="1"/>
          <p:nvPr/>
        </p:nvSpPr>
        <p:spPr>
          <a:xfrm>
            <a:off x="1149667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59636E"/>
                </a:solidFill>
                <a:latin typeface="Noto Sans KR"/>
              </a:rPr>
              <a:t>목표 KPI</a:t>
            </a:r>
          </a:p>
        </p:txBody>
      </p:sp>
      <p:sp xmlns:a="http://schemas.openxmlformats.org/drawingml/2006/main">
        <p:nvSpPr>
          <p:cNvPr id="30" name="comparison-note"/>
          <p:cNvSpPr txBox="1"/>
          <p:nvPr/>
        </p:nvSpPr>
        <p:spPr>
          <a:xfrm>
            <a:off x="1009650" y="7724775"/>
            <a:ext cx="13220700" cy="6000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59636E"/>
                </a:solidFill>
                <a:latin typeface="Noto Sans KR"/>
              </a:rPr>
              <a:t>202401~202606 월별 방문·소비의 1·3·12개월 전 값과 계절 정보로 산출한 저장 전망입니다. ML 기준 전망은 참고값이며, 신규 사업 효과를 학습한 예측치가 아닙니다.</a:t>
            </a:r>
          </a:p>
        </p:txBody>
      </p:sp>
    </p:spTree>
    <p:extLst>
      <p:ext uri="{BB962C8B-B14F-4D97-AF65-F5344CB8AC3E}">
        <p14:creationId xmlns:p14="http://schemas.microsoft.com/office/powerpoint/2010/main" val="380383987"/>
      </p:ext>
    </p:extLst>
  </p:cSld>
</p:sld>
</file>

<file path=ppt/slides/slide6.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지역별 참고 사례</a:t>
            </a:r>
          </a:p>
        </p:txBody>
      </p:sp>
      <p:sp xmlns:a="http://schemas.openxmlformats.org/drawingml/2006/main">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case-intro"/>
          <p:cNvSpPr txBox="1"/>
          <p:nvPr/>
        </p:nvSpPr>
        <p:spPr>
          <a:xfrm>
            <a:off x="1009650" y="1790700"/>
            <a:ext cx="13220700" cy="4476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59636E"/>
                </a:solidFill>
                <a:latin typeface="Noto Sans KR"/>
              </a:rPr>
              <a:t>운영 방식이 맞는 공식 사례를 연결합니다. 지역 자체의 유사도 순위와는 구분합니다.</a:t>
            </a:r>
          </a:p>
        </p:txBody>
      </p:sp>
      <p:sp xmlns:a="http://schemas.openxmlformats.org/drawingml/2006/main">
        <p:nvSpPr>
          <p:cNvPr id="5" name="case-panel-0"/>
          <p:cNvSpPr/>
          <p:nvPr/>
        </p:nvSpPr>
        <p:spPr>
          <a:xfrm>
            <a:off x="1009650" y="2457450"/>
            <a:ext cx="4229100" cy="5162550"/>
          </a:xfrm>
          <a:prstGeom prst="rect">
            <a:avLst/>
          </a:prstGeom>
          <a:solidFill>
            <a:srgbClr val="E6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case-number-0"/>
          <p:cNvSpPr txBox="1"/>
          <p:nvPr/>
        </p:nvSpPr>
        <p:spPr>
          <a:xfrm>
            <a:off x="1238250" y="263842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137" b="1">
                <a:solidFill>
                  <a:srgbClr val="00B7C9"/>
                </a:solidFill>
                <a:latin typeface="Noto Sans KR"/>
              </a:rPr>
              <a:t>01</a:t>
            </a:r>
          </a:p>
        </p:txBody>
      </p:sp>
      <p:sp xmlns:a="http://schemas.openxmlformats.org/drawingml/2006/main">
        <p:nvSpPr>
          <p:cNvPr id="7" name="case-badge-0"/>
          <p:cNvSpPr txBox="1"/>
          <p:nvPr/>
        </p:nvSpPr>
        <p:spPr>
          <a:xfrm>
            <a:off x="1952625" y="2714625"/>
            <a:ext cx="3048000" cy="3143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1">
                <a:solidFill>
                  <a:srgbClr val="004EA2"/>
                </a:solidFill>
                <a:latin typeface="Noto Sans KR"/>
              </a:rPr>
              <a:t>핵심 운영 참고</a:t>
            </a:r>
          </a:p>
        </p:txBody>
      </p:sp>
      <p:sp xmlns:a="http://schemas.openxmlformats.org/drawingml/2006/main">
        <p:nvSpPr>
          <p:cNvPr id="8" name="case-title-0"/>
          <p:cNvSpPr txBox="1"/>
          <p:nvPr/>
        </p:nvSpPr>
        <p:spPr>
          <a:xfrm>
            <a:off x="1238250" y="3228975"/>
            <a:ext cx="3771900" cy="933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전라남도 강진군 ·</a:t>
            </a:r>
          </a:p>
          <a:p>
            <a:pPr eaLnBrk="0">
              <a:lnSpc>
                <a:spcPts val="2343"/>
              </a:lnSpc>
              <a:spcBef>
                <a:spcPts val="0"/>
              </a:spcBef>
              <a:spcAft>
                <a:spcPts val="0"/>
              </a:spcAft>
            </a:pPr>
            <a:r>
              <a:rPr sz="1875" b="1">
                <a:solidFill>
                  <a:srgbClr val="1D2227"/>
                </a:solidFill>
                <a:latin typeface="Noto Sans KR"/>
              </a:rPr>
              <a:t>반값여행 지역환급</a:t>
            </a:r>
          </a:p>
        </p:txBody>
      </p:sp>
      <p:sp xmlns:a="http://schemas.openxmlformats.org/drawingml/2006/main">
        <p:nvSpPr>
          <p:cNvPr id="9" name="case-body-0"/>
          <p:cNvSpPr txBox="1"/>
          <p:nvPr/>
        </p:nvSpPr>
        <p:spPr>
          <a:xfrm>
            <a:off x="1238250" y="4305300"/>
            <a:ext cx="3771900" cy="1504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여행자가 지역에서 지출한 비용의 일부를</a:t>
            </a:r>
          </a:p>
          <a:p>
            <a:pPr eaLnBrk="0">
              <a:lnSpc>
                <a:spcPts val="1968"/>
              </a:lnSpc>
              <a:spcBef>
                <a:spcPts val="0"/>
              </a:spcBef>
              <a:spcAft>
                <a:spcPts val="0"/>
              </a:spcAft>
            </a:pPr>
            <a:r>
              <a:rPr sz="1575" b="0">
                <a:solidFill>
                  <a:srgbClr val="59636E"/>
                </a:solidFill>
                <a:latin typeface="Noto Sans KR"/>
              </a:rPr>
              <a:t>지역상품권으로 돌려받게 하여 혜택이</a:t>
            </a:r>
          </a:p>
          <a:p>
            <a:pPr eaLnBrk="0">
              <a:lnSpc>
                <a:spcPts val="1968"/>
              </a:lnSpc>
              <a:spcBef>
                <a:spcPts val="0"/>
              </a:spcBef>
              <a:spcAft>
                <a:spcPts val="0"/>
              </a:spcAft>
            </a:pPr>
            <a:r>
              <a:rPr sz="1575" b="0">
                <a:solidFill>
                  <a:srgbClr val="59636E"/>
                </a:solidFill>
                <a:latin typeface="Noto Sans KR"/>
              </a:rPr>
              <a:t>다시 지역 상점에서 사용되도록 설계</a:t>
            </a:r>
          </a:p>
        </p:txBody>
      </p:sp>
      <p:pic xmlns:a="http://schemas.openxmlformats.org/drawingml/2006/main" xmlns:r="http://schemas.openxmlformats.org/officeDocument/2006/relationships">
        <p:nvPicPr>
          <p:cNvPr id="10" name="case-photo-0" descr="tourism_operations.png"/>
          <p:cNvPicPr>
            <a:picLocks noChangeAspect="1"/>
          </p:cNvPicPr>
          <p:nvPr/>
        </p:nvPicPr>
        <p:blipFill>
          <a:blip r:embed="rId4"/>
          <a:srcRect r="66667" t="25000" b="37121"/>
          <a:stretch>
            <a:fillRect/>
          </a:stretch>
        </p:blipFill>
        <p:spPr>
          <a:xfrm>
            <a:off x="1238250" y="5905500"/>
            <a:ext cx="3771900" cy="1428750"/>
          </a:xfrm>
          <a:prstGeom prst="rect">
            <a:avLst/>
          </a:prstGeom>
        </p:spPr>
      </p:pic>
      <p:sp xmlns:a="http://schemas.openxmlformats.org/drawingml/2006/main">
        <p:nvSpPr>
          <p:cNvPr id="11" name="case-image-caption-0"/>
          <p:cNvSpPr txBox="1"/>
          <p:nvPr/>
        </p:nvSpPr>
        <p:spPr>
          <a:xfrm>
            <a:off x="1238250" y="7667625"/>
            <a:ext cx="3771900" cy="504825"/>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59636E"/>
                </a:solidFill>
                <a:latin typeface="Noto Sans KR"/>
              </a:rPr>
              <a:t>대상: 전라남도 강진군</a:t>
            </a:r>
          </a:p>
          <a:p>
            <a:pPr eaLnBrk="0">
              <a:lnSpc>
                <a:spcPts val="1500"/>
              </a:lnSpc>
              <a:spcBef>
                <a:spcPts val="0"/>
              </a:spcBef>
              <a:spcAft>
                <a:spcPts val="0"/>
              </a:spcAft>
            </a:pPr>
            <a:r>
              <a:rPr sz="1200" b="0">
                <a:solidFill>
                  <a:srgbClr val="59636E"/>
                </a:solidFill>
                <a:latin typeface="Noto Sans KR"/>
              </a:rPr>
              <a:t>출처: OpenAI 생성 · 실제 장소 사진 아님</a:t>
            </a:r>
          </a:p>
        </p:txBody>
      </p:sp>
      <p:sp xmlns:a="http://schemas.openxmlformats.org/drawingml/2006/main">
        <p:nvSpPr>
          <p:cNvPr id="12" name="case-source-0"/>
          <p:cNvSpPr txBox="1"/>
          <p:nvPr/>
        </p:nvSpPr>
        <p:spPr>
          <a:xfrm>
            <a:off x="1238250" y="8267700"/>
            <a:ext cx="3771900" cy="22860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937" b="0">
                <a:solidFill>
                  <a:srgbClr val="004EA2"/>
                </a:solidFill>
                <a:latin typeface="Noto Sans KR"/>
                <a:hlinkClick xmlns:ns0="http://schemas.openxmlformats.org/officeDocument/2006/relationships" ns0:id="rId5"/>
              </a:rPr>
              <a:t>사업 원문 보기 ↗</a:t>
            </a:r>
          </a:p>
        </p:txBody>
      </p:sp>
      <p:sp xmlns:a="http://schemas.openxmlformats.org/drawingml/2006/main">
        <p:nvSpPr>
          <p:cNvPr id="13" name="case-panel-1"/>
          <p:cNvSpPr/>
          <p:nvPr/>
        </p:nvSpPr>
        <p:spPr>
          <a:xfrm>
            <a:off x="5505450" y="2457450"/>
            <a:ext cx="4229100" cy="51625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case-number-1"/>
          <p:cNvSpPr txBox="1"/>
          <p:nvPr/>
        </p:nvSpPr>
        <p:spPr>
          <a:xfrm>
            <a:off x="5734050" y="263842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137" b="1">
                <a:solidFill>
                  <a:srgbClr val="00B7C9"/>
                </a:solidFill>
                <a:latin typeface="Noto Sans KR"/>
              </a:rPr>
              <a:t>02</a:t>
            </a:r>
          </a:p>
        </p:txBody>
      </p:sp>
      <p:sp xmlns:a="http://schemas.openxmlformats.org/drawingml/2006/main">
        <p:nvSpPr>
          <p:cNvPr id="15" name="case-badge-1"/>
          <p:cNvSpPr txBox="1"/>
          <p:nvPr/>
        </p:nvSpPr>
        <p:spPr>
          <a:xfrm>
            <a:off x="6448425" y="2714625"/>
            <a:ext cx="3048000" cy="3143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1">
                <a:solidFill>
                  <a:srgbClr val="004EA2"/>
                </a:solidFill>
                <a:latin typeface="Noto Sans KR"/>
              </a:rPr>
              <a:t>비교할 다른 운영 방식</a:t>
            </a:r>
          </a:p>
        </p:txBody>
      </p:sp>
      <p:sp xmlns:a="http://schemas.openxmlformats.org/drawingml/2006/main">
        <p:nvSpPr>
          <p:cNvPr id="16" name="case-title-1"/>
          <p:cNvSpPr txBox="1"/>
          <p:nvPr/>
        </p:nvSpPr>
        <p:spPr>
          <a:xfrm>
            <a:off x="5734050" y="3228975"/>
            <a:ext cx="3771900" cy="9334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1">
                <a:solidFill>
                  <a:srgbClr val="1D2227"/>
                </a:solidFill>
                <a:latin typeface="Noto Sans KR"/>
              </a:rPr>
              <a:t>인천광역시 강화군·옹진군 소재 섬 ·</a:t>
            </a:r>
          </a:p>
          <a:p>
            <a:pPr eaLnBrk="0">
              <a:lnSpc>
                <a:spcPts val="1968"/>
              </a:lnSpc>
              <a:spcBef>
                <a:spcPts val="0"/>
              </a:spcBef>
              <a:spcAft>
                <a:spcPts val="0"/>
              </a:spcAft>
            </a:pPr>
            <a:r>
              <a:rPr sz="1575" b="1">
                <a:solidFill>
                  <a:srgbClr val="1D2227"/>
                </a:solidFill>
                <a:latin typeface="Noto Sans KR"/>
              </a:rPr>
              <a:t>인천 섬 도도하게 살아보기—주민</a:t>
            </a:r>
          </a:p>
          <a:p>
            <a:pPr eaLnBrk="0">
              <a:lnSpc>
                <a:spcPts val="1968"/>
              </a:lnSpc>
              <a:spcBef>
                <a:spcPts val="0"/>
              </a:spcBef>
              <a:spcAft>
                <a:spcPts val="0"/>
              </a:spcAft>
            </a:pPr>
            <a:r>
              <a:rPr sz="1575" b="1">
                <a:solidFill>
                  <a:srgbClr val="1D2227"/>
                </a:solidFill>
                <a:latin typeface="Noto Sans KR"/>
              </a:rPr>
              <a:t>숙박·식사·체험을 묶은 예약형 체류상품</a:t>
            </a:r>
          </a:p>
        </p:txBody>
      </p:sp>
      <p:sp xmlns:a="http://schemas.openxmlformats.org/drawingml/2006/main">
        <p:nvSpPr>
          <p:cNvPr id="17" name="case-body-1"/>
          <p:cNvSpPr txBox="1"/>
          <p:nvPr/>
        </p:nvSpPr>
        <p:spPr>
          <a:xfrm>
            <a:off x="5734050" y="4305300"/>
            <a:ext cx="3771900" cy="150495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59636E"/>
                </a:solidFill>
                <a:latin typeface="Noto Sans KR"/>
              </a:rPr>
              <a:t>섬별로 2박 3일 또는 3박 4일 상품을 정해진</a:t>
            </a:r>
          </a:p>
          <a:p>
            <a:pPr eaLnBrk="0">
              <a:lnSpc>
                <a:spcPts val="1875"/>
              </a:lnSpc>
              <a:spcBef>
                <a:spcPts val="0"/>
              </a:spcBef>
              <a:spcAft>
                <a:spcPts val="0"/>
              </a:spcAft>
            </a:pPr>
            <a:r>
              <a:rPr sz="1500" b="0">
                <a:solidFill>
                  <a:srgbClr val="59636E"/>
                </a:solidFill>
                <a:latin typeface="Noto Sans KR"/>
              </a:rPr>
              <a:t>회차로 판매했다. 주민 운영 숙소·음식점과</a:t>
            </a:r>
          </a:p>
          <a:p>
            <a:pPr eaLnBrk="0">
              <a:lnSpc>
                <a:spcPts val="1875"/>
              </a:lnSpc>
              <a:spcBef>
                <a:spcPts val="0"/>
              </a:spcBef>
              <a:spcAft>
                <a:spcPts val="0"/>
              </a:spcAft>
            </a:pPr>
            <a:r>
              <a:rPr sz="1500" b="0">
                <a:solidFill>
                  <a:srgbClr val="59636E"/>
                </a:solidFill>
                <a:latin typeface="Noto Sans KR"/>
              </a:rPr>
              <a:t>낚시, 트레킹, 해양레저, 로컬체험을 하나의</a:t>
            </a:r>
          </a:p>
          <a:p>
            <a:pPr eaLnBrk="0">
              <a:lnSpc>
                <a:spcPts val="1875"/>
              </a:lnSpc>
              <a:spcBef>
                <a:spcPts val="0"/>
              </a:spcBef>
              <a:spcAft>
                <a:spcPts val="0"/>
              </a:spcAft>
            </a:pPr>
            <a:r>
              <a:rPr sz="1500" b="0">
                <a:solidFill>
                  <a:srgbClr val="59636E"/>
                </a:solidFill>
                <a:latin typeface="Noto Sans KR"/>
              </a:rPr>
              <a:t>예약상품으로 묶고 상품가격의 일부를</a:t>
            </a:r>
          </a:p>
          <a:p>
            <a:pPr eaLnBrk="0">
              <a:lnSpc>
                <a:spcPts val="1875"/>
              </a:lnSpc>
              <a:spcBef>
                <a:spcPts val="0"/>
              </a:spcBef>
              <a:spcAft>
                <a:spcPts val="0"/>
              </a:spcAft>
            </a:pPr>
            <a:r>
              <a:rPr sz="1500" b="0">
                <a:solidFill>
                  <a:srgbClr val="59636E"/>
                </a:solidFill>
                <a:latin typeface="Noto Sans KR"/>
              </a:rPr>
              <a:t>공공이 지원했다. 2024년 자료에는 섬별</a:t>
            </a:r>
          </a:p>
          <a:p>
            <a:pPr eaLnBrk="0">
              <a:lnSpc>
                <a:spcPts val="1875"/>
              </a:lnSpc>
              <a:spcBef>
                <a:spcPts val="0"/>
              </a:spcBef>
              <a:spcAft>
                <a:spcPts val="0"/>
              </a:spcAft>
            </a:pPr>
            <a:r>
              <a:rPr sz="1500" b="0">
                <a:solidFill>
                  <a:srgbClr val="59636E"/>
                </a:solidFill>
                <a:latin typeface="Noto Sans KR"/>
              </a:rPr>
              <a:t>최대 50% 지원 구조가 제시됐다.</a:t>
            </a:r>
          </a:p>
        </p:txBody>
      </p:sp>
      <p:pic xmlns:a="http://schemas.openxmlformats.org/drawingml/2006/main" xmlns:r="http://schemas.openxmlformats.org/officeDocument/2006/relationships">
        <p:nvPicPr>
          <p:cNvPr id="18" name="case-photo-1" descr="tourism_operations.png"/>
          <p:cNvPicPr>
            <a:picLocks noChangeAspect="1"/>
          </p:cNvPicPr>
          <p:nvPr/>
        </p:nvPicPr>
        <p:blipFill>
          <a:blip r:embed="rId4"/>
          <a:srcRect l="33333" r="33333" t="25000" b="37121"/>
          <a:stretch>
            <a:fillRect/>
          </a:stretch>
        </p:blipFill>
        <p:spPr>
          <a:xfrm>
            <a:off x="5734050" y="5905500"/>
            <a:ext cx="3771900" cy="1428750"/>
          </a:xfrm>
          <a:prstGeom prst="rect">
            <a:avLst/>
          </a:prstGeom>
        </p:spPr>
      </p:pic>
      <p:sp xmlns:a="http://schemas.openxmlformats.org/drawingml/2006/main">
        <p:nvSpPr>
          <p:cNvPr id="19" name="case-image-caption-1"/>
          <p:cNvSpPr txBox="1"/>
          <p:nvPr/>
        </p:nvSpPr>
        <p:spPr>
          <a:xfrm>
            <a:off x="5734050" y="7667625"/>
            <a:ext cx="3771900" cy="504825"/>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59636E"/>
                </a:solidFill>
                <a:latin typeface="Noto Sans KR"/>
              </a:rPr>
              <a:t>대상: 인천광역시 강화군·옹진군 소재 섬</a:t>
            </a:r>
          </a:p>
          <a:p>
            <a:pPr eaLnBrk="0">
              <a:lnSpc>
                <a:spcPts val="1500"/>
              </a:lnSpc>
              <a:spcBef>
                <a:spcPts val="0"/>
              </a:spcBef>
              <a:spcAft>
                <a:spcPts val="0"/>
              </a:spcAft>
            </a:pPr>
            <a:r>
              <a:rPr sz="1200" b="0">
                <a:solidFill>
                  <a:srgbClr val="59636E"/>
                </a:solidFill>
                <a:latin typeface="Noto Sans KR"/>
              </a:rPr>
              <a:t>출처: OpenAI 생성 · 실제 장소 사진 아님</a:t>
            </a:r>
          </a:p>
        </p:txBody>
      </p:sp>
      <p:sp xmlns:a="http://schemas.openxmlformats.org/drawingml/2006/main">
        <p:nvSpPr>
          <p:cNvPr id="20" name="case-source-1"/>
          <p:cNvSpPr txBox="1"/>
          <p:nvPr/>
        </p:nvSpPr>
        <p:spPr>
          <a:xfrm>
            <a:off x="5734050" y="8267700"/>
            <a:ext cx="3771900" cy="22860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937" b="0">
                <a:solidFill>
                  <a:srgbClr val="004EA2"/>
                </a:solidFill>
                <a:latin typeface="Noto Sans KR"/>
                <a:hlinkClick xmlns:ns1="http://schemas.openxmlformats.org/officeDocument/2006/relationships" ns1:id="rId6"/>
              </a:rPr>
              <a:t>사업 원문 보기 ↗</a:t>
            </a:r>
          </a:p>
        </p:txBody>
      </p:sp>
      <p:sp xmlns:a="http://schemas.openxmlformats.org/drawingml/2006/main">
        <p:nvSpPr>
          <p:cNvPr id="21" name="case-panel-2"/>
          <p:cNvSpPr/>
          <p:nvPr/>
        </p:nvSpPr>
        <p:spPr>
          <a:xfrm>
            <a:off x="10001250" y="2457450"/>
            <a:ext cx="4229100" cy="51625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case-number-2"/>
          <p:cNvSpPr txBox="1"/>
          <p:nvPr/>
        </p:nvSpPr>
        <p:spPr>
          <a:xfrm>
            <a:off x="10229850" y="263842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137" b="1">
                <a:solidFill>
                  <a:srgbClr val="00B7C9"/>
                </a:solidFill>
                <a:latin typeface="Noto Sans KR"/>
              </a:rPr>
              <a:t>03</a:t>
            </a:r>
          </a:p>
        </p:txBody>
      </p:sp>
      <p:sp xmlns:a="http://schemas.openxmlformats.org/drawingml/2006/main">
        <p:nvSpPr>
          <p:cNvPr id="23" name="case-badge-2"/>
          <p:cNvSpPr txBox="1"/>
          <p:nvPr/>
        </p:nvSpPr>
        <p:spPr>
          <a:xfrm>
            <a:off x="10944225" y="2714625"/>
            <a:ext cx="3048000" cy="3143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1">
                <a:solidFill>
                  <a:srgbClr val="004EA2"/>
                </a:solidFill>
                <a:latin typeface="Noto Sans KR"/>
              </a:rPr>
              <a:t>비교할 다른 운영 방식</a:t>
            </a:r>
          </a:p>
        </p:txBody>
      </p:sp>
      <p:sp xmlns:a="http://schemas.openxmlformats.org/drawingml/2006/main">
        <p:nvSpPr>
          <p:cNvPr id="24" name="case-title-2"/>
          <p:cNvSpPr txBox="1"/>
          <p:nvPr/>
        </p:nvSpPr>
        <p:spPr>
          <a:xfrm>
            <a:off x="10229850" y="3228975"/>
            <a:ext cx="3771900" cy="9334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1D2227"/>
                </a:solidFill>
                <a:latin typeface="Noto Sans KR"/>
              </a:rPr>
              <a:t>전국 인구감소지역 34곳 · 디지털</a:t>
            </a:r>
          </a:p>
          <a:p>
            <a:pPr eaLnBrk="0">
              <a:lnSpc>
                <a:spcPts val="2250"/>
              </a:lnSpc>
              <a:spcBef>
                <a:spcPts val="0"/>
              </a:spcBef>
              <a:spcAft>
                <a:spcPts val="0"/>
              </a:spcAft>
            </a:pPr>
            <a:r>
              <a:rPr sz="1800" b="1">
                <a:solidFill>
                  <a:srgbClr val="1D2227"/>
                </a:solidFill>
                <a:latin typeface="Noto Sans KR"/>
              </a:rPr>
              <a:t>관광주민증과 교통·숙박·상점</a:t>
            </a:r>
          </a:p>
          <a:p>
            <a:pPr eaLnBrk="0">
              <a:lnSpc>
                <a:spcPts val="2250"/>
              </a:lnSpc>
              <a:spcBef>
                <a:spcPts val="0"/>
              </a:spcBef>
              <a:spcAft>
                <a:spcPts val="0"/>
              </a:spcAft>
            </a:pPr>
            <a:r>
              <a:rPr sz="1800" b="1">
                <a:solidFill>
                  <a:srgbClr val="1D2227"/>
                </a:solidFill>
                <a:latin typeface="Noto Sans KR"/>
              </a:rPr>
              <a:t>할인 결합</a:t>
            </a:r>
          </a:p>
        </p:txBody>
      </p:sp>
      <p:sp xmlns:a="http://schemas.openxmlformats.org/drawingml/2006/main">
        <p:nvSpPr>
          <p:cNvPr id="25" name="case-body-2"/>
          <p:cNvSpPr txBox="1"/>
          <p:nvPr/>
        </p:nvSpPr>
        <p:spPr>
          <a:xfrm>
            <a:off x="10229850" y="4305300"/>
            <a:ext cx="3771900" cy="1504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디지털 관광주민증 참여업체 현장 인증과</a:t>
            </a:r>
          </a:p>
          <a:p>
            <a:pPr eaLnBrk="0">
              <a:lnSpc>
                <a:spcPts val="1968"/>
              </a:lnSpc>
              <a:spcBef>
                <a:spcPts val="0"/>
              </a:spcBef>
              <a:spcAft>
                <a:spcPts val="0"/>
              </a:spcAft>
            </a:pPr>
            <a:r>
              <a:rPr sz="1575" b="0">
                <a:solidFill>
                  <a:srgbClr val="59636E"/>
                </a:solidFill>
                <a:latin typeface="Noto Sans KR"/>
              </a:rPr>
              <a:t>숙박·식음·관람·체험 할인, 특정 시간대</a:t>
            </a:r>
          </a:p>
          <a:p>
            <a:pPr eaLnBrk="0">
              <a:lnSpc>
                <a:spcPts val="1968"/>
              </a:lnSpc>
              <a:spcBef>
                <a:spcPts val="0"/>
              </a:spcBef>
              <a:spcAft>
                <a:spcPts val="0"/>
              </a:spcAft>
            </a:pPr>
            <a:r>
              <a:rPr sz="1575" b="0">
                <a:solidFill>
                  <a:srgbClr val="59636E"/>
                </a:solidFill>
                <a:latin typeface="Noto Sans KR"/>
              </a:rPr>
              <a:t>KTX 할인과 방문 후 교통 할인권을 결합</a:t>
            </a:r>
          </a:p>
        </p:txBody>
      </p:sp>
      <p:pic xmlns:a="http://schemas.openxmlformats.org/drawingml/2006/main" xmlns:r="http://schemas.openxmlformats.org/officeDocument/2006/relationships">
        <p:nvPicPr>
          <p:cNvPr id="26" name="case-photo-2" descr="tourism_operations.png"/>
          <p:cNvPicPr>
            <a:picLocks noChangeAspect="1"/>
          </p:cNvPicPr>
          <p:nvPr/>
        </p:nvPicPr>
        <p:blipFill>
          <a:blip r:embed="rId4"/>
          <a:srcRect l="66667" t="25000" b="37121"/>
          <a:stretch>
            <a:fillRect/>
          </a:stretch>
        </p:blipFill>
        <p:spPr>
          <a:xfrm>
            <a:off x="10229850" y="5905500"/>
            <a:ext cx="3771900" cy="1428750"/>
          </a:xfrm>
          <a:prstGeom prst="rect">
            <a:avLst/>
          </a:prstGeom>
        </p:spPr>
      </p:pic>
      <p:sp xmlns:a="http://schemas.openxmlformats.org/drawingml/2006/main">
        <p:nvSpPr>
          <p:cNvPr id="27" name="case-image-caption-2"/>
          <p:cNvSpPr txBox="1"/>
          <p:nvPr/>
        </p:nvSpPr>
        <p:spPr>
          <a:xfrm>
            <a:off x="10229850" y="7667625"/>
            <a:ext cx="3771900" cy="504825"/>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59636E"/>
                </a:solidFill>
                <a:latin typeface="Noto Sans KR"/>
              </a:rPr>
              <a:t>대상: 전국 인구감소지역 34곳</a:t>
            </a:r>
          </a:p>
          <a:p>
            <a:pPr eaLnBrk="0">
              <a:lnSpc>
                <a:spcPts val="1500"/>
              </a:lnSpc>
              <a:spcBef>
                <a:spcPts val="0"/>
              </a:spcBef>
              <a:spcAft>
                <a:spcPts val="0"/>
              </a:spcAft>
            </a:pPr>
            <a:r>
              <a:rPr sz="1200" b="0">
                <a:solidFill>
                  <a:srgbClr val="59636E"/>
                </a:solidFill>
                <a:latin typeface="Noto Sans KR"/>
              </a:rPr>
              <a:t>출처: OpenAI 생성 · 실제 장소 사진 아님</a:t>
            </a:r>
          </a:p>
        </p:txBody>
      </p:sp>
      <p:sp xmlns:a="http://schemas.openxmlformats.org/drawingml/2006/main">
        <p:nvSpPr>
          <p:cNvPr id="28" name="case-source-2"/>
          <p:cNvSpPr txBox="1"/>
          <p:nvPr/>
        </p:nvSpPr>
        <p:spPr>
          <a:xfrm>
            <a:off x="10229850" y="8267700"/>
            <a:ext cx="3771900" cy="22860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937" b="0">
                <a:solidFill>
                  <a:srgbClr val="004EA2"/>
                </a:solidFill>
                <a:latin typeface="Noto Sans KR"/>
                <a:hlinkClick xmlns:ns2="http://schemas.openxmlformats.org/officeDocument/2006/relationships" ns2:id="rId7"/>
              </a:rPr>
              <a:t>사업 원문 보기 ↗</a:t>
            </a:r>
          </a:p>
        </p:txBody>
      </p:sp>
    </p:spTree>
    <p:extLst>
      <p:ext uri="{BB962C8B-B14F-4D97-AF65-F5344CB8AC3E}">
        <p14:creationId xmlns:p14="http://schemas.microsoft.com/office/powerpoint/2010/main" val="930694367"/>
      </p:ext>
    </p:extLst>
  </p:cSld>
</p:sld>
</file>

<file path=ppt/slides/slide7.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4단계 실행 가이드 예시안</a:t>
            </a:r>
          </a:p>
        </p:txBody>
      </p:sp>
      <p:sp xmlns:a="http://schemas.openxmlformats.org/drawingml/2006/main">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execution-panel-0"/>
          <p:cNvSpPr/>
          <p:nvPr/>
        </p:nvSpPr>
        <p:spPr>
          <a:xfrm>
            <a:off x="1009650" y="2095500"/>
            <a:ext cx="13220700" cy="12001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flow-node-0"/>
          <p:cNvSpPr txBox="1"/>
          <p:nvPr/>
        </p:nvSpPr>
        <p:spPr>
          <a:xfrm>
            <a:off x="1219200" y="2305050"/>
            <a:ext cx="714375" cy="485775"/>
          </a:xfrm>
          <a:prstGeom prst="rect">
            <a:avLst/>
          </a:prstGeom>
          <a:noFill/>
        </p:spPr>
        <p:txBody>
          <a:bodyPr wrap="none" lIns="57150" rIns="57150" tIns="38100" bIns="38100" anchor="t">
            <a:noAutofit/>
          </a:bodyPr>
          <a:lstStyle/>
          <a:p>
            <a:pPr eaLnBrk="0">
              <a:lnSpc>
                <a:spcPts val="3187"/>
              </a:lnSpc>
              <a:spcBef>
                <a:spcPts val="0"/>
              </a:spcBef>
              <a:spcAft>
                <a:spcPts val="0"/>
              </a:spcAft>
            </a:pPr>
            <a:r>
              <a:rPr sz="2550" b="1">
                <a:solidFill>
                  <a:srgbClr val="00B7C9"/>
                </a:solidFill>
                <a:latin typeface="Noto Sans KR"/>
              </a:rPr>
              <a:t>01</a:t>
            </a:r>
          </a:p>
        </p:txBody>
      </p:sp>
      <p:sp xmlns:a="http://schemas.openxmlformats.org/drawingml/2006/main">
        <p:nvSpPr>
          <p:cNvPr id="6" name="execution-stage-0"/>
          <p:cNvSpPr txBox="1"/>
          <p:nvPr/>
        </p:nvSpPr>
        <p:spPr>
          <a:xfrm>
            <a:off x="2209800" y="2219325"/>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준비와 협의</a:t>
            </a:r>
          </a:p>
        </p:txBody>
      </p:sp>
      <p:sp xmlns:a="http://schemas.openxmlformats.org/drawingml/2006/main">
        <p:nvSpPr>
          <p:cNvPr id="7" name="execution-period-0"/>
          <p:cNvSpPr txBox="1"/>
          <p:nvPr/>
        </p:nvSpPr>
        <p:spPr>
          <a:xfrm>
            <a:off x="2209800" y="2686050"/>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59636E"/>
                </a:solidFill>
                <a:latin typeface="Noto Sans KR"/>
              </a:rPr>
              <a:t>2026-09 · 사업 총괄</a:t>
            </a:r>
          </a:p>
        </p:txBody>
      </p:sp>
      <p:sp xmlns:a="http://schemas.openxmlformats.org/drawingml/2006/main">
        <p:nvSpPr>
          <p:cNvPr id="8" name="execution-lead-0"/>
          <p:cNvSpPr txBox="1"/>
          <p:nvPr/>
        </p:nvSpPr>
        <p:spPr>
          <a:xfrm>
            <a:off x="5314950" y="2190750"/>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1D2227"/>
                </a:solidFill>
                <a:latin typeface="Noto Sans KR"/>
              </a:rPr>
              <a:t>참여 가게와 지원 기준을 먼저 정합니다.</a:t>
            </a:r>
          </a:p>
        </p:txBody>
      </p:sp>
      <p:sp xmlns:a="http://schemas.openxmlformats.org/drawingml/2006/main">
        <p:nvSpPr>
          <p:cNvPr id="9" name="execution-body-0"/>
          <p:cNvSpPr txBox="1"/>
          <p:nvPr/>
        </p:nvSpPr>
        <p:spPr>
          <a:xfrm>
            <a:off x="5314950" y="2609850"/>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59636E"/>
                </a:solidFill>
                <a:latin typeface="Noto Sans KR"/>
              </a:rPr>
              <a:t>참여를 희망하는 가게에 사용 가능한 상품권과 정산 방법을 확인합니다. 지원 대상, 인정할 지출, 신청 마감일과</a:t>
            </a:r>
          </a:p>
          <a:p>
            <a:pPr eaLnBrk="0">
              <a:lnSpc>
                <a:spcPts val="1875"/>
              </a:lnSpc>
              <a:spcBef>
                <a:spcPts val="0"/>
              </a:spcBef>
              <a:spcAft>
                <a:spcPts val="0"/>
              </a:spcAft>
            </a:pPr>
            <a:r>
              <a:rPr sz="1500" b="0">
                <a:solidFill>
                  <a:srgbClr val="59636E"/>
                </a:solidFill>
                <a:latin typeface="Noto Sans KR"/>
              </a:rPr>
              <a:t>1인당 한도를 정해 같은 안내문을 배포합니다.</a:t>
            </a:r>
          </a:p>
        </p:txBody>
      </p:sp>
      <p:sp xmlns:a="http://schemas.openxmlformats.org/drawingml/2006/main">
        <p:nvSpPr>
          <p:cNvPr id="10" name="execution-panel-1"/>
          <p:cNvSpPr/>
          <p:nvPr/>
        </p:nvSpPr>
        <p:spPr>
          <a:xfrm>
            <a:off x="1009650" y="3457575"/>
            <a:ext cx="13220700" cy="12001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flow-node-1"/>
          <p:cNvSpPr txBox="1"/>
          <p:nvPr/>
        </p:nvSpPr>
        <p:spPr>
          <a:xfrm>
            <a:off x="1219200" y="3667125"/>
            <a:ext cx="714375" cy="485775"/>
          </a:xfrm>
          <a:prstGeom prst="rect">
            <a:avLst/>
          </a:prstGeom>
          <a:noFill/>
        </p:spPr>
        <p:txBody>
          <a:bodyPr wrap="none" lIns="57150" rIns="57150" tIns="38100" bIns="38100" anchor="t">
            <a:noAutofit/>
          </a:bodyPr>
          <a:lstStyle/>
          <a:p>
            <a:pPr eaLnBrk="0">
              <a:lnSpc>
                <a:spcPts val="3187"/>
              </a:lnSpc>
              <a:spcBef>
                <a:spcPts val="0"/>
              </a:spcBef>
              <a:spcAft>
                <a:spcPts val="0"/>
              </a:spcAft>
            </a:pPr>
            <a:r>
              <a:rPr sz="2550" b="1">
                <a:solidFill>
                  <a:srgbClr val="00B7C9"/>
                </a:solidFill>
                <a:latin typeface="Noto Sans KR"/>
              </a:rPr>
              <a:t>02</a:t>
            </a:r>
          </a:p>
        </p:txBody>
      </p:sp>
      <p:sp xmlns:a="http://schemas.openxmlformats.org/drawingml/2006/main">
        <p:nvSpPr>
          <p:cNvPr id="12" name="execution-stage-1"/>
          <p:cNvSpPr txBox="1"/>
          <p:nvPr/>
        </p:nvSpPr>
        <p:spPr>
          <a:xfrm>
            <a:off x="2209800" y="3581400"/>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운영 절차 점검</a:t>
            </a:r>
          </a:p>
        </p:txBody>
      </p:sp>
      <p:sp xmlns:a="http://schemas.openxmlformats.org/drawingml/2006/main">
        <p:nvSpPr>
          <p:cNvPr id="13" name="execution-period-1"/>
          <p:cNvSpPr txBox="1"/>
          <p:nvPr/>
        </p:nvSpPr>
        <p:spPr>
          <a:xfrm>
            <a:off x="2209800" y="4048125"/>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59636E"/>
                </a:solidFill>
                <a:latin typeface="Noto Sans KR"/>
              </a:rPr>
              <a:t>2026-09 · 운영·정산 담당</a:t>
            </a:r>
          </a:p>
        </p:txBody>
      </p:sp>
      <p:sp xmlns:a="http://schemas.openxmlformats.org/drawingml/2006/main">
        <p:nvSpPr>
          <p:cNvPr id="14" name="execution-lead-1"/>
          <p:cNvSpPr txBox="1"/>
          <p:nvPr/>
        </p:nvSpPr>
        <p:spPr>
          <a:xfrm>
            <a:off x="5314950" y="3552825"/>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1D2227"/>
                </a:solidFill>
                <a:latin typeface="Noto Sans KR"/>
              </a:rPr>
              <a:t>신청부터 지급까지 직접 시험합니다.</a:t>
            </a:r>
          </a:p>
        </p:txBody>
      </p:sp>
      <p:sp xmlns:a="http://schemas.openxmlformats.org/drawingml/2006/main">
        <p:nvSpPr>
          <p:cNvPr id="15" name="execution-body-1"/>
          <p:cNvSpPr txBox="1"/>
          <p:nvPr/>
        </p:nvSpPr>
        <p:spPr>
          <a:xfrm>
            <a:off x="5314950" y="3971925"/>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59636E"/>
                </a:solidFill>
                <a:latin typeface="Noto Sans KR"/>
              </a:rPr>
              <a:t>시험 신청서를 넣고 영수증의 날짜·가게·금액을 확인합니다. 취소 결제와 중복 신청을 걸러내고, 서류가</a:t>
            </a:r>
          </a:p>
          <a:p>
            <a:pPr eaLnBrk="0">
              <a:lnSpc>
                <a:spcPts val="1875"/>
              </a:lnSpc>
              <a:spcBef>
                <a:spcPts val="0"/>
              </a:spcBef>
              <a:spcAft>
                <a:spcPts val="0"/>
              </a:spcAft>
            </a:pPr>
            <a:r>
              <a:rPr sz="1500" b="0">
                <a:solidFill>
                  <a:srgbClr val="59636E"/>
                </a:solidFill>
                <a:latin typeface="Noto Sans KR"/>
              </a:rPr>
              <a:t>부족할 때 누구에게 보완을 요청할지도 정합니다.</a:t>
            </a:r>
          </a:p>
        </p:txBody>
      </p:sp>
      <p:sp xmlns:a="http://schemas.openxmlformats.org/drawingml/2006/main">
        <p:nvSpPr>
          <p:cNvPr id="16" name="execution-panel-2"/>
          <p:cNvSpPr/>
          <p:nvPr/>
        </p:nvSpPr>
        <p:spPr>
          <a:xfrm>
            <a:off x="1009650" y="4819650"/>
            <a:ext cx="13220700" cy="12001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flow-node-2"/>
          <p:cNvSpPr txBox="1"/>
          <p:nvPr/>
        </p:nvSpPr>
        <p:spPr>
          <a:xfrm>
            <a:off x="1219200" y="5029200"/>
            <a:ext cx="714375" cy="485775"/>
          </a:xfrm>
          <a:prstGeom prst="rect">
            <a:avLst/>
          </a:prstGeom>
          <a:noFill/>
        </p:spPr>
        <p:txBody>
          <a:bodyPr wrap="none" lIns="57150" rIns="57150" tIns="38100" bIns="38100" anchor="t">
            <a:noAutofit/>
          </a:bodyPr>
          <a:lstStyle/>
          <a:p>
            <a:pPr eaLnBrk="0">
              <a:lnSpc>
                <a:spcPts val="3187"/>
              </a:lnSpc>
              <a:spcBef>
                <a:spcPts val="0"/>
              </a:spcBef>
              <a:spcAft>
                <a:spcPts val="0"/>
              </a:spcAft>
            </a:pPr>
            <a:r>
              <a:rPr sz="2550" b="1">
                <a:solidFill>
                  <a:srgbClr val="00B7C9"/>
                </a:solidFill>
                <a:latin typeface="Noto Sans KR"/>
              </a:rPr>
              <a:t>03</a:t>
            </a:r>
          </a:p>
        </p:txBody>
      </p:sp>
      <p:sp xmlns:a="http://schemas.openxmlformats.org/drawingml/2006/main">
        <p:nvSpPr>
          <p:cNvPr id="18" name="execution-stage-2"/>
          <p:cNvSpPr txBox="1"/>
          <p:nvPr/>
        </p:nvSpPr>
        <p:spPr>
          <a:xfrm>
            <a:off x="2209800" y="4943475"/>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시범 운영</a:t>
            </a:r>
          </a:p>
        </p:txBody>
      </p:sp>
      <p:sp xmlns:a="http://schemas.openxmlformats.org/drawingml/2006/main">
        <p:nvSpPr>
          <p:cNvPr id="19" name="execution-period-2"/>
          <p:cNvSpPr txBox="1"/>
          <p:nvPr/>
        </p:nvSpPr>
        <p:spPr>
          <a:xfrm>
            <a:off x="2209800" y="5410200"/>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59636E"/>
                </a:solidFill>
                <a:latin typeface="Noto Sans KR"/>
              </a:rPr>
              <a:t>2026-10 · 현장 운영 담당</a:t>
            </a:r>
          </a:p>
        </p:txBody>
      </p:sp>
      <p:sp xmlns:a="http://schemas.openxmlformats.org/drawingml/2006/main">
        <p:nvSpPr>
          <p:cNvPr id="20" name="execution-lead-2"/>
          <p:cNvSpPr txBox="1"/>
          <p:nvPr/>
        </p:nvSpPr>
        <p:spPr>
          <a:xfrm>
            <a:off x="5314950" y="4914900"/>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1D2227"/>
                </a:solidFill>
                <a:latin typeface="Noto Sans KR"/>
              </a:rPr>
              <a:t>작게 시작하고 확인된 신청부터 지급합니다.</a:t>
            </a:r>
          </a:p>
        </p:txBody>
      </p:sp>
      <p:sp xmlns:a="http://schemas.openxmlformats.org/drawingml/2006/main">
        <p:nvSpPr>
          <p:cNvPr id="21" name="execution-body-2"/>
          <p:cNvSpPr txBox="1"/>
          <p:nvPr/>
        </p:nvSpPr>
        <p:spPr>
          <a:xfrm>
            <a:off x="5314950" y="5334000"/>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59636E"/>
                </a:solidFill>
                <a:latin typeface="Noto Sans KR"/>
              </a:rPr>
              <a:t>참여 가게를 한정해 먼저 운영합니다. 담당자가 지출 증빙을 확인한 뒤 정해진 기준에 따라 환급하고, 신청자에게</a:t>
            </a:r>
          </a:p>
          <a:p>
            <a:pPr eaLnBrk="0">
              <a:lnSpc>
                <a:spcPts val="1875"/>
              </a:lnSpc>
              <a:spcBef>
                <a:spcPts val="0"/>
              </a:spcBef>
              <a:spcAft>
                <a:spcPts val="0"/>
              </a:spcAft>
            </a:pPr>
            <a:r>
              <a:rPr sz="1500" b="0">
                <a:solidFill>
                  <a:srgbClr val="59636E"/>
                </a:solidFill>
                <a:latin typeface="Noto Sans KR"/>
              </a:rPr>
              <a:t>지급일과 상품권 사용 방법을 알려줍니다.</a:t>
            </a:r>
          </a:p>
        </p:txBody>
      </p:sp>
      <p:sp xmlns:a="http://schemas.openxmlformats.org/drawingml/2006/main">
        <p:nvSpPr>
          <p:cNvPr id="22" name="execution-panel-3"/>
          <p:cNvSpPr/>
          <p:nvPr/>
        </p:nvSpPr>
        <p:spPr>
          <a:xfrm>
            <a:off x="1009650" y="6181725"/>
            <a:ext cx="13220700" cy="12001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flow-node-3"/>
          <p:cNvSpPr txBox="1"/>
          <p:nvPr/>
        </p:nvSpPr>
        <p:spPr>
          <a:xfrm>
            <a:off x="1219200" y="6391275"/>
            <a:ext cx="714375" cy="485775"/>
          </a:xfrm>
          <a:prstGeom prst="rect">
            <a:avLst/>
          </a:prstGeom>
          <a:noFill/>
        </p:spPr>
        <p:txBody>
          <a:bodyPr wrap="none" lIns="57150" rIns="57150" tIns="38100" bIns="38100" anchor="t">
            <a:noAutofit/>
          </a:bodyPr>
          <a:lstStyle/>
          <a:p>
            <a:pPr eaLnBrk="0">
              <a:lnSpc>
                <a:spcPts val="3187"/>
              </a:lnSpc>
              <a:spcBef>
                <a:spcPts val="0"/>
              </a:spcBef>
              <a:spcAft>
                <a:spcPts val="0"/>
              </a:spcAft>
            </a:pPr>
            <a:r>
              <a:rPr sz="2550" b="1">
                <a:solidFill>
                  <a:srgbClr val="00B7C9"/>
                </a:solidFill>
                <a:latin typeface="Noto Sans KR"/>
              </a:rPr>
              <a:t>04</a:t>
            </a:r>
          </a:p>
        </p:txBody>
      </p:sp>
      <p:sp xmlns:a="http://schemas.openxmlformats.org/drawingml/2006/main">
        <p:nvSpPr>
          <p:cNvPr id="24" name="execution-stage-3"/>
          <p:cNvSpPr txBox="1"/>
          <p:nvPr/>
        </p:nvSpPr>
        <p:spPr>
          <a:xfrm>
            <a:off x="2209800" y="6305550"/>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실적 확인과 평가</a:t>
            </a:r>
          </a:p>
        </p:txBody>
      </p:sp>
      <p:sp xmlns:a="http://schemas.openxmlformats.org/drawingml/2006/main">
        <p:nvSpPr>
          <p:cNvPr id="25" name="execution-period-3"/>
          <p:cNvSpPr txBox="1"/>
          <p:nvPr/>
        </p:nvSpPr>
        <p:spPr>
          <a:xfrm>
            <a:off x="2209800" y="6772275"/>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59636E"/>
                </a:solidFill>
                <a:latin typeface="Noto Sans KR"/>
              </a:rPr>
              <a:t>2026-11 · 사업·평가 담당</a:t>
            </a:r>
          </a:p>
        </p:txBody>
      </p:sp>
      <p:sp xmlns:a="http://schemas.openxmlformats.org/drawingml/2006/main">
        <p:nvSpPr>
          <p:cNvPr id="26" name="execution-lead-3"/>
          <p:cNvSpPr txBox="1"/>
          <p:nvPr/>
        </p:nvSpPr>
        <p:spPr>
          <a:xfrm>
            <a:off x="5314950" y="6276975"/>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1D2227"/>
                </a:solidFill>
                <a:latin typeface="Noto Sans KR"/>
              </a:rPr>
              <a:t>지급 기록과 실제 사용 결과를 확인합니다.</a:t>
            </a:r>
          </a:p>
        </p:txBody>
      </p:sp>
      <p:sp xmlns:a="http://schemas.openxmlformats.org/drawingml/2006/main">
        <p:nvSpPr>
          <p:cNvPr id="27" name="execution-body-3"/>
          <p:cNvSpPr txBox="1"/>
          <p:nvPr/>
        </p:nvSpPr>
        <p:spPr>
          <a:xfrm>
            <a:off x="5314950" y="6696075"/>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59636E"/>
                </a:solidFill>
                <a:latin typeface="Noto Sans KR"/>
              </a:rPr>
              <a:t>매주 신청·승인·지급 건수와 비용을 맞춰 봅니다. 상품권 사용 집계가 가능한지 운영사에 확인하고, 종료 후</a:t>
            </a:r>
          </a:p>
          <a:p>
            <a:pPr eaLnBrk="0">
              <a:lnSpc>
                <a:spcPts val="1875"/>
              </a:lnSpc>
              <a:spcBef>
                <a:spcPts val="0"/>
              </a:spcBef>
              <a:spcAft>
                <a:spcPts val="0"/>
              </a:spcAft>
            </a:pPr>
            <a:r>
              <a:rPr sz="1500" b="0">
                <a:solidFill>
                  <a:srgbClr val="59636E"/>
                </a:solidFill>
                <a:latin typeface="Noto Sans KR"/>
              </a:rPr>
              <a:t>취소를 뺀 실적을 정리합니다. 전체 관광소비 증가를 전부 사업 성과로 보지는 않습니다.</a:t>
            </a:r>
          </a:p>
        </p:txBody>
      </p:sp>
      <p:sp xmlns:a="http://schemas.openxmlformats.org/drawingml/2006/main">
        <p:nvSpPr>
          <p:cNvPr id="28" name="execution-origin"/>
          <p:cNvSpPr txBox="1"/>
          <p:nvPr/>
        </p:nvSpPr>
        <p:spPr>
          <a:xfrm>
            <a:off x="1009650" y="7829550"/>
            <a:ext cx="13220700" cy="5715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작성 기준: 저장된 일정 + 사업 유형별 운영 안내 함수. 공식 협약·법정 절차를 인용한 내용이 아니라 조정 가능한 실행 예시입니다.</a:t>
            </a:r>
          </a:p>
        </p:txBody>
      </p:sp>
    </p:spTree>
    <p:extLst>
      <p:ext uri="{BB962C8B-B14F-4D97-AF65-F5344CB8AC3E}">
        <p14:creationId xmlns:p14="http://schemas.microsoft.com/office/powerpoint/2010/main" val="380383987"/>
      </p:ext>
    </p:extLst>
  </p:cSld>
</p:sld>
</file>

<file path=ppt/slides/slide8.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머신러닝 예측값과 목표 KPI</a:t>
            </a:r>
          </a:p>
        </p:txBody>
      </p:sp>
      <p:sp xmlns:a="http://schemas.openxmlformats.org/drawingml/2006/main">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kpi-title-0"/>
          <p:cNvSpPr txBox="1"/>
          <p:nvPr/>
        </p:nvSpPr>
        <p:spPr>
          <a:xfrm>
            <a:off x="1009650" y="2047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004EA2"/>
                </a:solidFill>
                <a:latin typeface="Noto Sans KR"/>
              </a:rPr>
              <a:t>관광객 방문자 수</a:t>
            </a:r>
          </a:p>
        </p:txBody>
      </p:sp>
      <p:graphicFrame xmlns:a="http://schemas.openxmlformats.org/drawingml/2006/main">
        <p:nvGraphicFramePr>
          <p:cNvPr id="5" name="kpi-visitors-table"/>
          <p:cNvGraphicFramePr>
            <a:graphicFrameLocks noGrp="1"/>
          </p:cNvGraphicFramePr>
          <p:nvPr/>
        </p:nvGraphicFramePr>
        <p:xfrm>
          <a:off x="1009650" y="2514600"/>
          <a:ext cx="13220700" cy="2019300"/>
        </p:xfrm>
        <a:graphic>
          <a:graphicData uri="http://schemas.openxmlformats.org/drawingml/2006/table">
            <a:tbl>
              <a:tblPr firstRow="1" bandRow="1">
                <a:tableStyleId>{5C22544A-7EE6-4342-B048-85BDC9FD1C3A}</a:tableStyleId>
              </a:tblPr>
              <a:tblGrid>
                <a:gridCol w="2552700"/>
                <a:gridCol w="3667125"/>
                <a:gridCol w="3667125"/>
                <a:gridCol w="3333750"/>
              </a:tblGrid>
              <a:tr h="495300">
                <a:tc>
                  <a:txBody>
                    <a:bodyPr wrap="none"/>
                    <a:lstStyle/>
                    <a:p>
                      <a:pPr eaLnBrk="0">
                        <a:lnSpc>
                          <a:spcPct val="112000"/>
                        </a:lnSpc>
                        <a:spcBef>
                          <a:spcPts val="0"/>
                        </a:spcBef>
                        <a:spcAft>
                          <a:spcPts val="0"/>
                        </a:spcAft>
                      </a:pPr>
                      <a:r>
                        <a:rPr sz="1650" b="1">
                          <a:solidFill>
                            <a:srgbClr val="FFFFFF"/>
                          </a:solidFill>
                          <a:latin typeface="Noto Sans KR"/>
                        </a:rPr>
                        <a:t>기준월</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650" b="1">
                          <a:solidFill>
                            <a:srgbClr val="FFFFFF"/>
                          </a:solidFill>
                          <a:latin typeface="Noto Sans KR"/>
                        </a:rPr>
                        <a:t>머신러닝 예측값</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650" b="1">
                          <a:solidFill>
                            <a:srgbClr val="FFFFFF"/>
                          </a:solidFill>
                          <a:latin typeface="Noto Sans KR"/>
                        </a:rPr>
                        <a:t>목표 KPI</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650" b="1">
                          <a:solidFill>
                            <a:srgbClr val="FFFFFF"/>
                          </a:solidFill>
                          <a:latin typeface="Noto Sans KR"/>
                        </a:rPr>
                        <a:t>목표 증가율</a:t>
                      </a:r>
                    </a:p>
                  </a:txBody>
                  <a:tcPr marL="95250" marR="95250" marT="66675" marB="66675" anchor="ctr">
                    <a:solidFill>
                      <a:srgbClr val="004EA2"/>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26.09</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1,948,014명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1,980,481명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 1.67%</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26.10</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2,278,280명</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2,354,223명</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 3.33%</a:t>
                      </a:r>
                    </a:p>
                  </a:txBody>
                  <a:tcPr marL="95250" marR="95250" marT="66675" marB="66675" anchor="ctr">
                    <a:solidFill>
                      <a:srgbClr val="EAF1F6"/>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26.11</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2,018,187명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2,119,096명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 5.00%</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3개월 월별 합계</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6,244,481명</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6,453,800명</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 3.35%</a:t>
                      </a:r>
                    </a:p>
                  </a:txBody>
                  <a:tcPr marL="95250" marR="95250" marT="66675" marB="66675" anchor="ctr">
                    <a:solidFill>
                      <a:srgbClr val="EAF1F6"/>
                    </a:solidFill>
                  </a:tcPr>
                </a:tc>
              </a:tr>
            </a:tbl>
          </a:graphicData>
        </a:graphic>
      </p:graphicFrame>
      <p:sp xmlns:a="http://schemas.openxmlformats.org/drawingml/2006/main">
        <p:nvSpPr>
          <p:cNvPr id="6" name="kpi-total-0"/>
          <p:cNvSpPr txBox="1"/>
          <p:nvPr/>
        </p:nvSpPr>
        <p:spPr>
          <a:xfrm>
            <a:off x="8743950" y="2047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FF6B00"/>
                </a:solidFill>
                <a:latin typeface="Noto Sans KR"/>
              </a:rPr>
              <a:t>3개월 목표 추가 규모 ↑ 209,319명</a:t>
            </a:r>
          </a:p>
        </p:txBody>
      </p:sp>
      <p:sp xmlns:a="http://schemas.openxmlformats.org/drawingml/2006/main">
        <p:nvSpPr>
          <p:cNvPr id="7" name="kpi-title-1"/>
          <p:cNvSpPr txBox="1"/>
          <p:nvPr/>
        </p:nvSpPr>
        <p:spPr>
          <a:xfrm>
            <a:off x="1009650" y="4714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004EA2"/>
                </a:solidFill>
                <a:latin typeface="Noto Sans KR"/>
              </a:rPr>
              <a:t>관광소비액</a:t>
            </a:r>
          </a:p>
        </p:txBody>
      </p:sp>
      <p:graphicFrame xmlns:a="http://schemas.openxmlformats.org/drawingml/2006/main">
        <p:nvGraphicFramePr>
          <p:cNvPr id="8" name="kpi-spending-table"/>
          <p:cNvGraphicFramePr>
            <a:graphicFrameLocks noGrp="1"/>
          </p:cNvGraphicFramePr>
          <p:nvPr/>
        </p:nvGraphicFramePr>
        <p:xfrm>
          <a:off x="1009650" y="5181600"/>
          <a:ext cx="13220700" cy="2019300"/>
        </p:xfrm>
        <a:graphic>
          <a:graphicData uri="http://schemas.openxmlformats.org/drawingml/2006/table">
            <a:tbl>
              <a:tblPr firstRow="1" bandRow="1">
                <a:tableStyleId>{5C22544A-7EE6-4342-B048-85BDC9FD1C3A}</a:tableStyleId>
              </a:tblPr>
              <a:tblGrid>
                <a:gridCol w="2552700"/>
                <a:gridCol w="3667125"/>
                <a:gridCol w="3667125"/>
                <a:gridCol w="3333750"/>
              </a:tblGrid>
              <a:tr h="495300">
                <a:tc>
                  <a:txBody>
                    <a:bodyPr wrap="none"/>
                    <a:lstStyle/>
                    <a:p>
                      <a:pPr eaLnBrk="0">
                        <a:lnSpc>
                          <a:spcPct val="112000"/>
                        </a:lnSpc>
                        <a:spcBef>
                          <a:spcPts val="0"/>
                        </a:spcBef>
                        <a:spcAft>
                          <a:spcPts val="0"/>
                        </a:spcAft>
                      </a:pPr>
                      <a:r>
                        <a:rPr sz="1650" b="1">
                          <a:solidFill>
                            <a:srgbClr val="FFFFFF"/>
                          </a:solidFill>
                          <a:latin typeface="Noto Sans KR"/>
                        </a:rPr>
                        <a:t>기준월</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650" b="1">
                          <a:solidFill>
                            <a:srgbClr val="FFFFFF"/>
                          </a:solidFill>
                          <a:latin typeface="Noto Sans KR"/>
                        </a:rPr>
                        <a:t>머신러닝 예측값</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650" b="1">
                          <a:solidFill>
                            <a:srgbClr val="FFFFFF"/>
                          </a:solidFill>
                          <a:latin typeface="Noto Sans KR"/>
                        </a:rPr>
                        <a:t>목표 KPI</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650" b="1">
                          <a:solidFill>
                            <a:srgbClr val="FFFFFF"/>
                          </a:solidFill>
                          <a:latin typeface="Noto Sans KR"/>
                        </a:rPr>
                        <a:t>목표 증가율</a:t>
                      </a:r>
                    </a:p>
                  </a:txBody>
                  <a:tcPr marL="95250" marR="95250" marT="66675" marB="66675" anchor="ctr">
                    <a:solidFill>
                      <a:srgbClr val="004EA2"/>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26.09</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448.55억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456.02억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 1.67%</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26.10</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595.05억 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614.88억 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 3.33%</a:t>
                      </a:r>
                    </a:p>
                  </a:txBody>
                  <a:tcPr marL="95250" marR="95250" marT="66675" marB="66675" anchor="ctr">
                    <a:solidFill>
                      <a:srgbClr val="EAF1F6"/>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26.11</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503.31억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528.47억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 5.00%</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3개월 월별 합계</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1,546.90억 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1,599.38억 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 3.39%</a:t>
                      </a:r>
                    </a:p>
                  </a:txBody>
                  <a:tcPr marL="95250" marR="95250" marT="66675" marB="66675" anchor="ctr">
                    <a:solidFill>
                      <a:srgbClr val="EAF1F6"/>
                    </a:solidFill>
                  </a:tcPr>
                </a:tc>
              </a:tr>
            </a:tbl>
          </a:graphicData>
        </a:graphic>
      </p:graphicFrame>
      <p:sp xmlns:a="http://schemas.openxmlformats.org/drawingml/2006/main">
        <p:nvSpPr>
          <p:cNvPr id="9" name="kpi-total-1"/>
          <p:cNvSpPr txBox="1"/>
          <p:nvPr/>
        </p:nvSpPr>
        <p:spPr>
          <a:xfrm>
            <a:off x="8743950" y="4714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FF6B00"/>
                </a:solidFill>
                <a:latin typeface="Noto Sans KR"/>
              </a:rPr>
              <a:t>3개월 목표 추가 규모 ↑ 52.48억 원</a:t>
            </a:r>
          </a:p>
        </p:txBody>
      </p:sp>
      <p:sp xmlns:a="http://schemas.openxmlformats.org/drawingml/2006/main">
        <p:nvSpPr>
          <p:cNvPr id="10" name="kpi-calculation"/>
          <p:cNvSpPr txBox="1"/>
          <p:nvPr/>
        </p:nvSpPr>
        <p:spPr>
          <a:xfrm>
            <a:off x="1009650" y="7429500"/>
            <a:ext cx="13220700" cy="10668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59636E"/>
                </a:solidFill>
                <a:latin typeface="Noto Sans KR"/>
              </a:rPr>
              <a:t>월별 소비/방문 비율 = ML 소비액 ÷ ML 방문 수 | 26.09 23,026원 · 26.10 26,118원 · 26.11 24,939원</a:t>
            </a:r>
          </a:p>
          <a:p>
            <a:pPr eaLnBrk="0">
              <a:lnSpc>
                <a:spcPts val="1687"/>
              </a:lnSpc>
              <a:spcBef>
                <a:spcPts val="0"/>
              </a:spcBef>
              <a:spcAft>
                <a:spcPts val="0"/>
              </a:spcAft>
            </a:pPr>
            <a:r>
              <a:rPr sz="1350" b="0">
                <a:solidFill>
                  <a:srgbClr val="59636E"/>
                </a:solidFill>
                <a:latin typeface="Noto Sans KR"/>
              </a:rPr>
              <a:t>목표 소비액 = ML 소비액 + (목표 방문 수 − ML 방문 수) × 해당 월 소비/방문 비율</a:t>
            </a:r>
          </a:p>
          <a:p>
            <a:pPr eaLnBrk="0">
              <a:lnSpc>
                <a:spcPts val="1687"/>
              </a:lnSpc>
              <a:spcBef>
                <a:spcPts val="0"/>
              </a:spcBef>
              <a:spcAft>
                <a:spcPts val="0"/>
              </a:spcAft>
            </a:pPr>
            <a:r>
              <a:rPr sz="1350" b="0">
                <a:solidFill>
                  <a:srgbClr val="59636E"/>
                </a:solidFill>
                <a:latin typeface="Noto Sans KR"/>
              </a:rPr>
              <a:t>월별 증가율은 방문·소비가 같습니다. 합계 증가율 = (목표 합계 ÷ ML 합계 − 1) × 100; 월별 가중치에 따라 달라집니다.</a:t>
            </a:r>
          </a:p>
          <a:p>
            <a:pPr eaLnBrk="0">
              <a:lnSpc>
                <a:spcPts val="1687"/>
              </a:lnSpc>
              <a:spcBef>
                <a:spcPts val="0"/>
              </a:spcBef>
              <a:spcAft>
                <a:spcPts val="0"/>
              </a:spcAft>
            </a:pPr>
            <a:r>
              <a:rPr sz="1350" b="0">
                <a:solidFill>
                  <a:srgbClr val="59636E"/>
                </a:solidFill>
                <a:latin typeface="Noto Sans KR"/>
              </a:rPr>
              <a:t>비율은 기획용 가정이며 실제 객단가·보장 효과가 아닙니다. 방문 합계는 월 간 중복을 포함합니다.</a:t>
            </a:r>
          </a:p>
        </p:txBody>
      </p:sp>
    </p:spTree>
    <p:extLst>
      <p:ext uri="{BB962C8B-B14F-4D97-AF65-F5344CB8AC3E}">
        <p14:creationId xmlns:p14="http://schemas.microsoft.com/office/powerpoint/2010/main" val="553742078"/>
      </p:ext>
    </p:extLst>
  </p:cSld>
</p:sld>
</file>

<file path=ppt/slides/slide9.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견적 예시안</a:t>
            </a:r>
          </a:p>
        </p:txBody>
      </p:sp>
      <p:sp xmlns:a="http://schemas.openxmlformats.org/drawingml/2006/main">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estimate-label"/>
          <p:cNvSpPr txBox="1"/>
          <p:nvPr/>
        </p:nvSpPr>
        <p:spPr>
          <a:xfrm>
            <a:off x="1009650" y="1933575"/>
            <a:ext cx="8477250" cy="47625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59636E"/>
                </a:solidFill>
                <a:latin typeface="Noto Sans KR"/>
              </a:rPr>
              <a:t>운영 규모를 가정한 시범 예산</a:t>
            </a:r>
          </a:p>
        </p:txBody>
      </p:sp>
      <p:sp xmlns:a="http://schemas.openxmlformats.org/drawingml/2006/main">
        <p:nvSpPr>
          <p:cNvPr id="5" name="estimate-total"/>
          <p:cNvSpPr txBox="1"/>
          <p:nvPr/>
        </p:nvSpPr>
        <p:spPr>
          <a:xfrm>
            <a:off x="9620250" y="1876425"/>
            <a:ext cx="4610100" cy="590550"/>
          </a:xfrm>
          <a:prstGeom prst="rect">
            <a:avLst/>
          </a:prstGeom>
          <a:noFill/>
        </p:spPr>
        <p:txBody>
          <a:bodyPr wrap="none" lIns="57150" rIns="57150" tIns="38100" bIns="38100" anchor="t">
            <a:noAutofit/>
          </a:bodyPr>
          <a:lstStyle/>
          <a:p>
            <a:pPr eaLnBrk="0">
              <a:lnSpc>
                <a:spcPts val="3656"/>
              </a:lnSpc>
              <a:spcBef>
                <a:spcPts val="0"/>
              </a:spcBef>
              <a:spcAft>
                <a:spcPts val="0"/>
              </a:spcAft>
            </a:pPr>
            <a:r>
              <a:rPr sz="2925" b="1">
                <a:solidFill>
                  <a:srgbClr val="004EA2"/>
                </a:solidFill>
                <a:latin typeface="Noto Sans KR"/>
              </a:rPr>
              <a:t>총 8,250만 원</a:t>
            </a:r>
          </a:p>
        </p:txBody>
      </p:sp>
      <p:graphicFrame xmlns:a="http://schemas.openxmlformats.org/drawingml/2006/main">
        <p:nvGraphicFramePr>
          <p:cNvPr id="6" name="estimate-table"/>
          <p:cNvGraphicFramePr>
            <a:graphicFrameLocks noGrp="1"/>
          </p:cNvGraphicFramePr>
          <p:nvPr/>
        </p:nvGraphicFramePr>
        <p:xfrm>
          <a:off x="1009650" y="2771775"/>
          <a:ext cx="13220700" cy="3829050"/>
        </p:xfrm>
        <a:graphic>
          <a:graphicData uri="http://schemas.openxmlformats.org/drawingml/2006/table">
            <a:tbl>
              <a:tblPr firstRow="1" bandRow="1">
                <a:tableStyleId>{5C22544A-7EE6-4342-B048-85BDC9FD1C3A}</a:tableStyleId>
              </a:tblPr>
              <a:tblGrid>
                <a:gridCol w="4591050"/>
                <a:gridCol w="5905500"/>
                <a:gridCol w="2724150"/>
              </a:tblGrid>
              <a:tr h="495300">
                <a:tc>
                  <a:txBody>
                    <a:bodyPr wrap="none"/>
                    <a:lstStyle/>
                    <a:p>
                      <a:pPr eaLnBrk="0">
                        <a:lnSpc>
                          <a:spcPct val="112000"/>
                        </a:lnSpc>
                        <a:spcBef>
                          <a:spcPts val="0"/>
                        </a:spcBef>
                        <a:spcAft>
                          <a:spcPts val="0"/>
                        </a:spcAft>
                      </a:pPr>
                      <a:r>
                        <a:rPr sz="1575" b="1">
                          <a:solidFill>
                            <a:srgbClr val="FFFFFF"/>
                          </a:solidFill>
                          <a:latin typeface="Noto Sans KR"/>
                        </a:rPr>
                        <a:t>항목 / 편성 이유</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수량 × 가정 단가</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금액</a:t>
                      </a:r>
                    </a:p>
                  </a:txBody>
                  <a:tcPr marL="95250" marR="95250" marT="66675" marB="66675" anchor="ctr">
                    <a:solidFill>
                      <a:srgbClr val="004EA2"/>
                    </a:solidFill>
                  </a:tcPr>
                </a:tc>
              </a:tr>
              <a:tr h="555625">
                <a:tc>
                  <a:txBody>
                    <a:bodyPr wrap="none"/>
                    <a:lstStyle/>
                    <a:p>
                      <a:pPr eaLnBrk="0">
                        <a:lnSpc>
                          <a:spcPct val="112000"/>
                        </a:lnSpc>
                        <a:spcBef>
                          <a:spcPts val="0"/>
                        </a:spcBef>
                        <a:spcAft>
                          <a:spcPts val="0"/>
                        </a:spcAft>
                      </a:pPr>
                      <a:r>
                        <a:rPr sz="1312" b="1">
                          <a:solidFill>
                            <a:srgbClr val="1D2227"/>
                          </a:solidFill>
                          <a:latin typeface="Noto Sans KR"/>
                        </a:rPr>
                        <a:t>여행비 환급 지원</a:t>
                      </a:r>
                    </a:p>
                    <a:p>
                      <a:pPr eaLnBrk="0">
                        <a:lnSpc>
                          <a:spcPct val="112000"/>
                        </a:lnSpc>
                        <a:spcBef>
                          <a:spcPts val="0"/>
                        </a:spcBef>
                        <a:spcAft>
                          <a:spcPts val="0"/>
                        </a:spcAft>
                      </a:pPr>
                      <a:r>
                        <a:rPr sz="1312" b="1">
                          <a:solidFill>
                            <a:srgbClr val="1D2227"/>
                          </a:solidFill>
                          <a:latin typeface="Noto Sans KR"/>
                        </a:rPr>
                        <a:t>참여자에게 지급할 혜택</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1,000건 × 50,000원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5,000만 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312" b="1">
                          <a:solidFill>
                            <a:srgbClr val="1D2227"/>
                          </a:solidFill>
                          <a:latin typeface="Noto Sans KR"/>
                        </a:rPr>
                        <a:t>현장 운영·정산</a:t>
                      </a:r>
                    </a:p>
                    <a:p>
                      <a:pPr eaLnBrk="0">
                        <a:lnSpc>
                          <a:spcPct val="112000"/>
                        </a:lnSpc>
                        <a:spcBef>
                          <a:spcPts val="0"/>
                        </a:spcBef>
                        <a:spcAft>
                          <a:spcPts val="0"/>
                        </a:spcAft>
                      </a:pPr>
                      <a:r>
                        <a:rPr sz="1312" b="1">
                          <a:solidFill>
                            <a:srgbClr val="1D2227"/>
                          </a:solidFill>
                          <a:latin typeface="Noto Sans KR"/>
                        </a:rPr>
                        <a:t>신청 확인·현장 안내·정산 인력</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60인일 × 150,000원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900만 원</a:t>
                      </a:r>
                    </a:p>
                  </a:txBody>
                  <a:tcPr marL="95250" marR="95250" marT="66675" marB="66675" anchor="ctr">
                    <a:solidFill>
                      <a:srgbClr val="EAF1F6"/>
                    </a:solidFill>
                  </a:tcPr>
                </a:tc>
              </a:tr>
              <a:tr h="555625">
                <a:tc>
                  <a:txBody>
                    <a:bodyPr wrap="none"/>
                    <a:lstStyle/>
                    <a:p>
                      <a:pPr eaLnBrk="0">
                        <a:lnSpc>
                          <a:spcPct val="112000"/>
                        </a:lnSpc>
                        <a:spcBef>
                          <a:spcPts val="0"/>
                        </a:spcBef>
                        <a:spcAft>
                          <a:spcPts val="0"/>
                        </a:spcAft>
                      </a:pPr>
                      <a:r>
                        <a:rPr sz="1312" b="1">
                          <a:solidFill>
                            <a:srgbClr val="1D2227"/>
                          </a:solidFill>
                          <a:latin typeface="Noto Sans KR"/>
                        </a:rPr>
                        <a:t>신청·증빙 시스템</a:t>
                      </a:r>
                    </a:p>
                    <a:p>
                      <a:pPr eaLnBrk="0">
                        <a:lnSpc>
                          <a:spcPct val="112000"/>
                        </a:lnSpc>
                        <a:spcBef>
                          <a:spcPts val="0"/>
                        </a:spcBef>
                        <a:spcAft>
                          <a:spcPts val="0"/>
                        </a:spcAft>
                      </a:pPr>
                      <a:r>
                        <a:rPr sz="1312" b="1">
                          <a:solidFill>
                            <a:srgbClr val="1D2227"/>
                          </a:solidFill>
                          <a:latin typeface="Noto Sans KR"/>
                        </a:rPr>
                        <a:t>신청서·증빙 접수 및 관리</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기존 시스템 설정 1식 × 800만원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800만 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312" b="1">
                          <a:solidFill>
                            <a:srgbClr val="1D2227"/>
                          </a:solidFill>
                          <a:latin typeface="Noto Sans KR"/>
                        </a:rPr>
                        <a:t>홍보·참여처 안내</a:t>
                      </a:r>
                    </a:p>
                    <a:p>
                      <a:pPr eaLnBrk="0">
                        <a:lnSpc>
                          <a:spcPct val="112000"/>
                        </a:lnSpc>
                        <a:spcBef>
                          <a:spcPts val="0"/>
                        </a:spcBef>
                        <a:spcAft>
                          <a:spcPts val="0"/>
                        </a:spcAft>
                      </a:pPr>
                      <a:r>
                        <a:rPr sz="1312" b="1">
                          <a:solidFill>
                            <a:srgbClr val="1D2227"/>
                          </a:solidFill>
                          <a:latin typeface="Noto Sans KR"/>
                        </a:rPr>
                        <a:t>참여처 모집·이용 방법 안내</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콘텐츠·안내물 1식 × 500만원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500만 원</a:t>
                      </a:r>
                    </a:p>
                  </a:txBody>
                  <a:tcPr marL="95250" marR="95250" marT="66675" marB="66675" anchor="ctr">
                    <a:solidFill>
                      <a:srgbClr val="EAF1F6"/>
                    </a:solidFill>
                  </a:tcPr>
                </a:tc>
              </a:tr>
              <a:tr h="555625">
                <a:tc>
                  <a:txBody>
                    <a:bodyPr wrap="none"/>
                    <a:lstStyle/>
                    <a:p>
                      <a:pPr eaLnBrk="0">
                        <a:lnSpc>
                          <a:spcPct val="112000"/>
                        </a:lnSpc>
                        <a:spcBef>
                          <a:spcPts val="0"/>
                        </a:spcBef>
                        <a:spcAft>
                          <a:spcPts val="0"/>
                        </a:spcAft>
                      </a:pPr>
                      <a:r>
                        <a:rPr sz="1312" b="1">
                          <a:solidFill>
                            <a:srgbClr val="1D2227"/>
                          </a:solidFill>
                          <a:latin typeface="Noto Sans KR"/>
                        </a:rPr>
                        <a:t>성과 집계·검토</a:t>
                      </a:r>
                    </a:p>
                    <a:p>
                      <a:pPr eaLnBrk="0">
                        <a:lnSpc>
                          <a:spcPct val="112000"/>
                        </a:lnSpc>
                        <a:spcBef>
                          <a:spcPts val="0"/>
                        </a:spcBef>
                        <a:spcAft>
                          <a:spcPts val="0"/>
                        </a:spcAft>
                      </a:pPr>
                      <a:r>
                        <a:rPr sz="1312" b="1">
                          <a:solidFill>
                            <a:srgbClr val="1D2227"/>
                          </a:solidFill>
                          <a:latin typeface="Noto Sans KR"/>
                        </a:rPr>
                        <a:t>실적 취합과 전후 비교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자료 정리·평가 1식 × 300만원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300만 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312" b="1">
                          <a:solidFill>
                            <a:srgbClr val="1D2227"/>
                          </a:solidFill>
                          <a:latin typeface="Noto Sans KR"/>
                        </a:rPr>
                        <a:t>예비비</a:t>
                      </a:r>
                    </a:p>
                    <a:p>
                      <a:pPr eaLnBrk="0">
                        <a:lnSpc>
                          <a:spcPct val="112000"/>
                        </a:lnSpc>
                        <a:spcBef>
                          <a:spcPts val="0"/>
                        </a:spcBef>
                        <a:spcAft>
                          <a:spcPts val="0"/>
                        </a:spcAft>
                      </a:pPr>
                      <a:r>
                        <a:rPr sz="1312" b="1">
                          <a:solidFill>
                            <a:srgbClr val="1D2227"/>
                          </a:solidFill>
                          <a:latin typeface="Noto Sans KR"/>
                        </a:rPr>
                        <a:t>변경·추가 소요에 대비</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직접비 7,500만원 × 10%</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750만 원</a:t>
                      </a:r>
                    </a:p>
                  </a:txBody>
                  <a:tcPr marL="95250" marR="95250" marT="66675" marB="66675" anchor="ctr">
                    <a:solidFill>
                      <a:srgbClr val="EAF1F6"/>
                    </a:solidFill>
                  </a:tcPr>
                </a:tc>
              </a:tr>
            </a:tbl>
          </a:graphicData>
        </a:graphic>
      </p:graphicFrame>
      <p:sp xmlns:a="http://schemas.openxmlformats.org/drawingml/2006/main">
        <p:nvSpPr>
          <p:cNvPr id="7" name="estimate-method"/>
          <p:cNvSpPr txBox="1"/>
          <p:nvPr/>
        </p:nvSpPr>
        <p:spPr>
          <a:xfrm>
            <a:off x="1009650" y="6858000"/>
            <a:ext cx="13220700" cy="100965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산식: 지원 건수 = 1,000 × 운영 개월/3; 운영 인일 = 20 × 운영 개월. 혜택액 + 인건비 + 시스템 + 홍보 + 평가 = 직접비, 예비비 = 직접비 × 10%.</a:t>
            </a:r>
          </a:p>
          <a:p>
            <a:pPr eaLnBrk="0">
              <a:lnSpc>
                <a:spcPts val="1781"/>
              </a:lnSpc>
              <a:spcBef>
                <a:spcPts val="0"/>
              </a:spcBef>
              <a:spcAft>
                <a:spcPts val="0"/>
              </a:spcAft>
            </a:pPr>
            <a:r>
              <a:rPr sz="1425" b="0">
                <a:solidFill>
                  <a:srgbClr val="59636E"/>
                </a:solidFill>
                <a:latin typeface="Noto Sans KR"/>
              </a:rPr>
              <a:t>단가 근거: 모두 코드에 명시한 기획 가정입니다. ML·시장 견적·공식 표준단가에서 추정한 값이 아닙니다. 시스템 800만·홍보 500만·평가 300만 원은 예산 배분 예시입니다.</a:t>
            </a:r>
          </a:p>
        </p:txBody>
      </p:sp>
      <p:sp xmlns:a="http://schemas.openxmlformats.org/drawingml/2006/main">
        <p:nvSpPr>
          <p:cNvPr id="8" name="estimate-note"/>
          <p:cNvSpPr txBox="1"/>
          <p:nvPr/>
        </p:nvSpPr>
        <p:spPr>
          <a:xfrm>
            <a:off x="1009650" y="8077200"/>
            <a:ext cx="13220700" cy="3619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예상 견적이며 실제 액수와 다를 수 있습니다. 세금 포함 여부·업무 범위·수량·단가는 계약 전에 조정합니다.</a:t>
            </a:r>
          </a:p>
        </p:txBody>
      </p:sp>
    </p:spTree>
    <p:extLst>
      <p:ext uri="{BB962C8B-B14F-4D97-AF65-F5344CB8AC3E}">
        <p14:creationId xmlns:p14="http://schemas.microsoft.com/office/powerpoint/2010/main" val="1823133345"/>
      </p:ext>
    </p:extLst>
  </p:cSld>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사례 실적과 목표 KPI 설정 근거</a:t>
            </a:r>
          </a:p>
        </p:txBody>
      </p:sp>
      <p:sp>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asis-case-title"/>
          <p:cNvSpPr txBox="1"/>
          <p:nvPr/>
        </p:nvSpPr>
        <p:spPr>
          <a:xfrm>
            <a:off x="1009650" y="1952625"/>
            <a:ext cx="13220700" cy="495300"/>
          </a:xfrm>
          <a:prstGeom prst="rect">
            <a:avLst/>
          </a:prstGeom>
          <a:noFill/>
        </p:spPr>
        <p:txBody>
          <a:bodyPr wrap="none" lIns="57150" rIns="57150" tIns="38100" bIns="38100" anchor="t">
            <a:noAutofit/>
          </a:bodyPr>
          <a:lstStyle/>
          <a:p>
            <a:pPr eaLnBrk="0">
              <a:lnSpc>
                <a:spcPts val="2812"/>
              </a:lnSpc>
              <a:spcBef>
                <a:spcPts val="0"/>
              </a:spcBef>
              <a:spcAft>
                <a:spcPts val="0"/>
              </a:spcAft>
            </a:pPr>
            <a:r>
              <a:rPr sz="2250" b="1">
                <a:solidFill>
                  <a:srgbClr val="004EA2"/>
                </a:solidFill>
                <a:latin typeface="Noto Sans KR"/>
              </a:rPr>
              <a:t>강진 반값여행과 지역축제 운영 실적</a:t>
            </a:r>
          </a:p>
        </p:txBody>
      </p:sp>
      <p:graphicFrame>
        <p:nvGraphicFramePr>
          <p:cNvPr id="5" name="case-result-table"/>
          <p:cNvGraphicFramePr>
            <a:graphicFrameLocks noGrp="1"/>
          </p:cNvGraphicFramePr>
          <p:nvPr/>
        </p:nvGraphicFramePr>
        <p:xfrm>
          <a:off x="1009650" y="2657475"/>
          <a:ext cx="13220700" cy="2343150"/>
        </p:xfrm>
        <a:graphic>
          <a:graphicData uri="http://schemas.openxmlformats.org/drawingml/2006/table">
            <a:tbl>
              <a:tblPr firstRow="1" bandRow="1">
                <a:tableStyleId>{5C22544A-7EE6-4342-B048-85BDC9FD1C3A}</a:tableStyleId>
              </a:tblPr>
              <a:tblGrid>
                <a:gridCol w="4333875"/>
                <a:gridCol w="3714750"/>
                <a:gridCol w="5172075"/>
              </a:tblGrid>
              <a:tr h="495300">
                <a:tc>
                  <a:txBody>
                    <a:bodyPr wrap="none"/>
                    <a:lstStyle/>
                    <a:p>
                      <a:pPr eaLnBrk="0">
                        <a:lnSpc>
                          <a:spcPct val="112000"/>
                        </a:lnSpc>
                        <a:spcBef>
                          <a:spcPts val="0"/>
                        </a:spcBef>
                        <a:spcAft>
                          <a:spcPts val="0"/>
                        </a:spcAft>
                      </a:pPr>
                      <a:r>
                        <a:rPr sz="1800" b="1">
                          <a:solidFill>
                            <a:srgbClr val="FFFFFF"/>
                          </a:solidFill>
                          <a:latin typeface="Noto Sans KR"/>
                        </a:rPr>
                        <a:t>비교 항목</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800" b="1">
                          <a:solidFill>
                            <a:srgbClr val="FFFFFF"/>
                          </a:solidFill>
                          <a:latin typeface="Noto Sans KR"/>
                        </a:rPr>
                        <a:t>관광객 수</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800" b="1">
                          <a:solidFill>
                            <a:srgbClr val="FFFFFF"/>
                          </a:solidFill>
                          <a:latin typeface="Noto Sans KR"/>
                        </a:rPr>
                        <a:t>값의 성격</a:t>
                      </a:r>
                    </a:p>
                  </a:txBody>
                  <a:tcPr marL="95250" marR="95250" marT="66675" marB="66675" anchor="ctr">
                    <a:solidFill>
                      <a:srgbClr val="004EA2"/>
                    </a:solidFill>
                  </a:tcPr>
                </a:tc>
              </a:tr>
              <a:tr h="615950">
                <a:tc>
                  <a:txBody>
                    <a:bodyPr wrap="none"/>
                    <a:lstStyle/>
                    <a:p>
                      <a:pPr eaLnBrk="0">
                        <a:lnSpc>
                          <a:spcPct val="112000"/>
                        </a:lnSpc>
                        <a:spcBef>
                          <a:spcPts val="0"/>
                        </a:spcBef>
                        <a:spcAft>
                          <a:spcPts val="0"/>
                        </a:spcAft>
                      </a:pPr>
                      <a:r>
                        <a:rPr sz="1800" b="1">
                          <a:solidFill>
                            <a:srgbClr val="1D2227"/>
                          </a:solidFill>
                          <a:latin typeface="Noto Sans KR"/>
                        </a:rPr>
                        <a:t>2023년 비교 규모</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800" b="0">
                          <a:solidFill>
                            <a:srgbClr val="1D2227"/>
                          </a:solidFill>
                          <a:latin typeface="Noto Sans KR"/>
                        </a:rPr>
                        <a:t>약 198.4만 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800" b="0">
                          <a:solidFill>
                            <a:srgbClr val="1D2227"/>
                          </a:solidFill>
                          <a:latin typeface="Noto Sans KR"/>
                        </a:rPr>
                        <a:t>248만 ÷ 1.25 역산</a:t>
                      </a:r>
                    </a:p>
                  </a:txBody>
                  <a:tcPr marL="95250" marR="95250" marT="66675" marB="66675" anchor="ctr">
                    <a:solidFill>
                      <a:srgbClr val="FFFFFF"/>
                    </a:solidFill>
                  </a:tcPr>
                </a:tc>
              </a:tr>
              <a:tr h="615950">
                <a:tc>
                  <a:txBody>
                    <a:bodyPr wrap="none"/>
                    <a:lstStyle/>
                    <a:p>
                      <a:pPr eaLnBrk="0">
                        <a:lnSpc>
                          <a:spcPct val="112000"/>
                        </a:lnSpc>
                        <a:spcBef>
                          <a:spcPts val="0"/>
                        </a:spcBef>
                        <a:spcAft>
                          <a:spcPts val="0"/>
                        </a:spcAft>
                      </a:pPr>
                      <a:r>
                        <a:rPr sz="1800" b="1">
                          <a:solidFill>
                            <a:srgbClr val="1D2227"/>
                          </a:solidFill>
                          <a:latin typeface="Noto Sans KR"/>
                        </a:rPr>
                        <a:t>2024년 10월 말 누적</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800" b="0">
                          <a:solidFill>
                            <a:srgbClr val="1D2227"/>
                          </a:solidFill>
                          <a:latin typeface="Noto Sans KR"/>
                        </a:rPr>
                        <a:t>약 248만 명</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800" b="0">
                          <a:solidFill>
                            <a:srgbClr val="1D2227"/>
                          </a:solidFill>
                          <a:latin typeface="Noto Sans KR"/>
                        </a:rPr>
                        <a:t>강진군의회 발표</a:t>
                      </a:r>
                    </a:p>
                  </a:txBody>
                  <a:tcPr marL="95250" marR="95250" marT="66675" marB="66675" anchor="ctr">
                    <a:solidFill>
                      <a:srgbClr val="EAF1F6"/>
                    </a:solidFill>
                  </a:tcPr>
                </a:tc>
              </a:tr>
              <a:tr h="615950">
                <a:tc>
                  <a:txBody>
                    <a:bodyPr wrap="none"/>
                    <a:lstStyle/>
                    <a:p>
                      <a:pPr eaLnBrk="0">
                        <a:lnSpc>
                          <a:spcPct val="112000"/>
                        </a:lnSpc>
                        <a:spcBef>
                          <a:spcPts val="0"/>
                        </a:spcBef>
                        <a:spcAft>
                          <a:spcPts val="0"/>
                        </a:spcAft>
                      </a:pPr>
                      <a:r>
                        <a:rPr sz="1800" b="1">
                          <a:solidFill>
                            <a:srgbClr val="1D2227"/>
                          </a:solidFill>
                          <a:latin typeface="Noto Sans KR"/>
                        </a:rPr>
                        <a:t>전년 대비 증가</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800" b="0">
                          <a:solidFill>
                            <a:srgbClr val="1D2227"/>
                          </a:solidFill>
                          <a:latin typeface="Noto Sans KR"/>
                        </a:rPr>
                        <a:t>약 49.6만 명 / 25%</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800" b="0">
                          <a:solidFill>
                            <a:srgbClr val="1D2227"/>
                          </a:solidFill>
                          <a:latin typeface="Noto Sans KR"/>
                        </a:rPr>
                        <a:t>발표 증가율 · 차이는 역산</a:t>
                      </a:r>
                    </a:p>
                  </a:txBody>
                  <a:tcPr marL="95250" marR="95250" marT="66675" marB="66675" anchor="ctr">
                    <a:solidFill>
                      <a:srgbClr val="FFFFFF"/>
                    </a:solidFill>
                  </a:tcPr>
                </a:tc>
              </a:tr>
            </a:tbl>
          </a:graphicData>
        </a:graphic>
      </p:graphicFrame>
      <p:sp>
        <p:nvSpPr>
          <p:cNvPr id="6" name="proposed-target"/>
          <p:cNvSpPr txBox="1"/>
          <p:nvPr/>
        </p:nvSpPr>
        <p:spPr>
          <a:xfrm>
            <a:off x="1009650" y="5305425"/>
            <a:ext cx="13220700" cy="600075"/>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FF6B00"/>
                </a:solidFill>
                <a:latin typeface="Noto Sans KR"/>
              </a:rPr>
              <a:t>최종월 계획 목표 방문 +5% · 소비 +5%</a:t>
            </a:r>
          </a:p>
        </p:txBody>
      </p:sp>
      <p:sp>
        <p:nvSpPr>
          <p:cNvPr id="7" name="basis-method"/>
          <p:cNvSpPr txBox="1"/>
          <p:nvPr/>
        </p:nvSpPr>
        <p:spPr>
          <a:xfrm>
            <a:off x="1009650" y="6067425"/>
            <a:ext cx="13220700" cy="126682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59636E"/>
                </a:solidFill>
                <a:latin typeface="Noto Sans KR"/>
              </a:rPr>
              <a:t>① 발표 실적: 강진의 관광객 증가 25%는 반값여행·축제가 함께 운영된 기간의 지역 전체 변화입니다.</a:t>
            </a:r>
          </a:p>
          <a:p>
            <a:pPr eaLnBrk="0">
              <a:lnSpc>
                <a:spcPts val="2062"/>
              </a:lnSpc>
              <a:spcBef>
                <a:spcPts val="0"/>
              </a:spcBef>
              <a:spcAft>
                <a:spcPts val="0"/>
              </a:spcAft>
            </a:pPr>
            <a:r>
              <a:rPr sz="1650" b="0">
                <a:solidFill>
                  <a:srgbClr val="59636E"/>
                </a:solidFill>
                <a:latin typeface="Noto Sans KR"/>
              </a:rPr>
              <a:t>② 목표 판단: 25% × 0.2 = 5%. 0.2는 작은 시범사업을 위한 기획 가정이며 학습·통계 추정 계수가 아닙니다.</a:t>
            </a:r>
          </a:p>
          <a:p>
            <a:pPr eaLnBrk="0">
              <a:lnSpc>
                <a:spcPts val="2062"/>
              </a:lnSpc>
              <a:spcBef>
                <a:spcPts val="0"/>
              </a:spcBef>
              <a:spcAft>
                <a:spcPts val="0"/>
              </a:spcAft>
            </a:pPr>
            <a:r>
              <a:rPr sz="1650" b="0">
                <a:solidFill>
                  <a:srgbClr val="59636E"/>
                </a:solidFill>
                <a:latin typeface="Noto Sans KR"/>
              </a:rPr>
              <a:t>③ 적용: 현재 최종월 방문 +5% / 소비 +5%. 월별 적용식은 앞 장에 공개했습니다.</a:t>
            </a:r>
          </a:p>
        </p:txBody>
      </p:sp>
      <p:sp>
        <p:nvSpPr>
          <p:cNvPr id="8" name="basis-source"/>
          <p:cNvSpPr txBox="1"/>
          <p:nvPr/>
        </p:nvSpPr>
        <p:spPr>
          <a:xfrm>
            <a:off x="1009650" y="7858125"/>
            <a:ext cx="13220700" cy="40005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hlinkClick r:id="rId2"/>
              </a:rPr>
              <a:t>출처: 강진군의회 제307회 본회의 시정연설, 2024.11.20</a:t>
            </a:r>
          </a:p>
        </p:txBody>
      </p:sp>
      <p:sp>
        <p:nvSpPr>
          <p:cNvPr id="9" name="target-population-note"/>
          <p:cNvSpPr txBox="1"/>
          <p:nvPr/>
        </p:nvSpPr>
        <p:spPr>
          <a:xfrm>
            <a:off x="1009650" y="7343775"/>
            <a:ext cx="13220700" cy="5048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59636E"/>
                </a:solidFill>
                <a:latin typeface="Noto Sans KR"/>
              </a:rPr>
              <a:t>인구 보정은 적용하지 않았습니다. 이 도시 전체 목표는 다음 장의 시범 지원 건수로 보장되는 효과가 아닙니다.</a:t>
            </a:r>
          </a:p>
          <a:p>
            <a:pPr eaLnBrk="0">
              <a:lnSpc>
                <a:spcPts val="1687"/>
              </a:lnSpc>
              <a:spcBef>
                <a:spcPts val="0"/>
              </a:spcBef>
              <a:spcAft>
                <a:spcPts val="0"/>
              </a:spcAft>
            </a:pPr>
            <a:r>
              <a:rPr sz="1350" b="0">
                <a:solidFill>
                  <a:srgbClr val="59636E"/>
                </a:solidFill>
                <a:latin typeface="Noto Sans KR"/>
              </a:rPr>
              <a:t>동일 기준의 전후 소비액과 사업 단독 효과는 확인되지 않았습니다.</a:t>
            </a:r>
          </a:p>
        </p:txBody>
      </p:sp>
    </p:spTree>
  </p:cSld>
  <p:clrMapOvr>
    <a:masterClrMapping/>
  </p:clrMapOvr>
</p:sld>
</file>

<file path=ppt/slides/slide11.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근거·데이터·출처</a:t>
            </a:r>
          </a:p>
        </p:txBody>
      </p:sp>
      <p:sp xmlns:a="http://schemas.openxmlformats.org/drawingml/2006/main">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전체 자료명과 머신러닝 모델 1/3 · 파란 자료명을 누르면 원문으로 이동합니다.</a:t>
            </a:r>
          </a:p>
          <a:p>
            <a:pPr eaLnBrk="0">
              <a:lnSpc>
                <a:spcPts val="1781"/>
              </a:lnSpc>
              <a:spcBef>
                <a:spcPts val="0"/>
              </a:spcBef>
              <a:spcAft>
                <a:spcPts val="0"/>
              </a:spcAft>
            </a:pPr>
            <a:r>
              <a:rPr sz="1425" b="0">
                <a:solidFill>
                  <a:srgbClr val="59636E"/>
                </a:solidFill>
                <a:latin typeface="Noto Sans KR"/>
              </a:rPr>
              <a:t>예측거리·누락 범위의 해석 주의가 필요합니다.</a:t>
            </a:r>
          </a:p>
        </p:txBody>
      </p:sp>
      <p:sp xmlns:a="http://schemas.openxmlformats.org/drawingml/2006/main">
        <p:nvSpPr>
          <p:cNvPr id="5" name="reference-0"/>
          <p:cNvSpPr txBox="1"/>
          <p:nvPr/>
        </p:nvSpPr>
        <p:spPr>
          <a:xfrm>
            <a:off x="1009650" y="257175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0="http://schemas.openxmlformats.org/officeDocument/2006/relationships" ns0:id="rId2"/>
              </a:rPr>
              <a:t>관측 데이터 D01 순 방문자 수 및 숙박 비율 (이동통신</a:t>
            </a:r>
          </a:p>
          <a:p>
            <a:pPr eaLnBrk="0">
              <a:lnSpc>
                <a:spcPts val="1687"/>
              </a:lnSpc>
              <a:spcBef>
                <a:spcPts val="0"/>
              </a:spcBef>
              <a:spcAft>
                <a:spcPts val="0"/>
              </a:spcAft>
            </a:pPr>
            <a:r>
              <a:rPr sz="1350" b="0" u="none">
                <a:solidFill>
                  <a:srgbClr val="004EA2"/>
                </a:solidFill>
                <a:latin typeface="Noto Sans KR"/>
                <a:hlinkClick xmlns:ns1="http://schemas.openxmlformats.org/officeDocument/2006/relationships" ns1:id="rId2"/>
              </a:rPr>
              <a:t>기반 외지인) 2026-06</a:t>
            </a:r>
          </a:p>
        </p:txBody>
      </p:sp>
      <p:sp xmlns:a="http://schemas.openxmlformats.org/drawingml/2006/main">
        <p:nvSpPr>
          <p:cNvPr id="6" name="reference-1"/>
          <p:cNvSpPr txBox="1"/>
          <p:nvPr/>
        </p:nvSpPr>
        <p:spPr>
          <a:xfrm>
            <a:off x="1009650" y="3171825"/>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2="http://schemas.openxmlformats.org/officeDocument/2006/relationships" ns2:id="rId2"/>
              </a:rPr>
              <a:t>관측 데이터 D02 월간 순 방문자 수 (이동통신</a:t>
            </a:r>
          </a:p>
          <a:p>
            <a:pPr eaLnBrk="0">
              <a:lnSpc>
                <a:spcPts val="1687"/>
              </a:lnSpc>
              <a:spcBef>
                <a:spcPts val="0"/>
              </a:spcBef>
              <a:spcAft>
                <a:spcPts val="0"/>
              </a:spcAft>
            </a:pPr>
            <a:r>
              <a:rPr sz="1350" b="0" u="none">
                <a:solidFill>
                  <a:srgbClr val="004EA2"/>
                </a:solidFill>
                <a:latin typeface="Noto Sans KR"/>
                <a:hlinkClick xmlns:ns3="http://schemas.openxmlformats.org/officeDocument/2006/relationships" ns3:id="rId2"/>
              </a:rPr>
              <a:t>기반 외지인) 2026-06</a:t>
            </a:r>
          </a:p>
        </p:txBody>
      </p:sp>
      <p:sp xmlns:a="http://schemas.openxmlformats.org/drawingml/2006/main">
        <p:nvSpPr>
          <p:cNvPr id="7" name="reference-2"/>
          <p:cNvSpPr txBox="1"/>
          <p:nvPr/>
        </p:nvSpPr>
        <p:spPr>
          <a:xfrm>
            <a:off x="1009650" y="377190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4="http://schemas.openxmlformats.org/officeDocument/2006/relationships" ns4:id="rId2"/>
              </a:rPr>
              <a:t>관측 데이터 D03 관광소비 추이_외지인 2026-06</a:t>
            </a:r>
          </a:p>
        </p:txBody>
      </p:sp>
      <p:sp xmlns:a="http://schemas.openxmlformats.org/drawingml/2006/main">
        <p:nvSpPr>
          <p:cNvPr id="8" name="reference-3"/>
          <p:cNvSpPr txBox="1"/>
          <p:nvPr/>
        </p:nvSpPr>
        <p:spPr>
          <a:xfrm>
            <a:off x="1009650" y="422910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5="http://schemas.openxmlformats.org/officeDocument/2006/relationships" ns5:id="rId2"/>
              </a:rPr>
              <a:t>관측 데이터 D04 숙박방문자 비율 추이 (이동통신</a:t>
            </a:r>
          </a:p>
          <a:p>
            <a:pPr eaLnBrk="0">
              <a:lnSpc>
                <a:spcPts val="1687"/>
              </a:lnSpc>
              <a:spcBef>
                <a:spcPts val="0"/>
              </a:spcBef>
              <a:spcAft>
                <a:spcPts val="0"/>
              </a:spcAft>
            </a:pPr>
            <a:r>
              <a:rPr sz="1350" b="0" u="none">
                <a:solidFill>
                  <a:srgbClr val="004EA2"/>
                </a:solidFill>
                <a:latin typeface="Noto Sans KR"/>
                <a:hlinkClick xmlns:ns6="http://schemas.openxmlformats.org/officeDocument/2006/relationships" ns6:id="rId2"/>
              </a:rPr>
              <a:t>기반 외지인) 2026-06</a:t>
            </a:r>
          </a:p>
        </p:txBody>
      </p:sp>
      <p:sp xmlns:a="http://schemas.openxmlformats.org/drawingml/2006/main">
        <p:nvSpPr>
          <p:cNvPr id="9" name="reference-4"/>
          <p:cNvSpPr txBox="1"/>
          <p:nvPr/>
        </p:nvSpPr>
        <p:spPr>
          <a:xfrm>
            <a:off x="1009650" y="4829175"/>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7="http://schemas.openxmlformats.org/officeDocument/2006/relationships" ns7:id="rId2"/>
              </a:rPr>
              <a:t>관측 데이터 D05 평균 숙박일 (이동통신 기반</a:t>
            </a:r>
          </a:p>
          <a:p>
            <a:pPr eaLnBrk="0">
              <a:lnSpc>
                <a:spcPts val="1687"/>
              </a:lnSpc>
              <a:spcBef>
                <a:spcPts val="0"/>
              </a:spcBef>
              <a:spcAft>
                <a:spcPts val="0"/>
              </a:spcAft>
            </a:pPr>
            <a:r>
              <a:rPr sz="1350" b="0" u="none">
                <a:solidFill>
                  <a:srgbClr val="004EA2"/>
                </a:solidFill>
                <a:latin typeface="Noto Sans KR"/>
                <a:hlinkClick xmlns:ns8="http://schemas.openxmlformats.org/officeDocument/2006/relationships" ns8:id="rId2"/>
              </a:rPr>
              <a:t>외지인) 2026-06</a:t>
            </a:r>
          </a:p>
        </p:txBody>
      </p:sp>
      <p:sp xmlns:a="http://schemas.openxmlformats.org/drawingml/2006/main">
        <p:nvSpPr>
          <p:cNvPr id="10" name="reference-5"/>
          <p:cNvSpPr txBox="1"/>
          <p:nvPr/>
        </p:nvSpPr>
        <p:spPr>
          <a:xfrm>
            <a:off x="1009650" y="542925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9="http://schemas.openxmlformats.org/officeDocument/2006/relationships" ns9:id="rId2"/>
              </a:rPr>
              <a:t>관측 데이터 D06 내비게이션 목적지 유형별</a:t>
            </a:r>
          </a:p>
          <a:p>
            <a:pPr eaLnBrk="0">
              <a:lnSpc>
                <a:spcPts val="1687"/>
              </a:lnSpc>
              <a:spcBef>
                <a:spcPts val="0"/>
              </a:spcBef>
              <a:spcAft>
                <a:spcPts val="0"/>
              </a:spcAft>
            </a:pPr>
            <a:r>
              <a:rPr sz="1350" b="0" u="none">
                <a:solidFill>
                  <a:srgbClr val="004EA2"/>
                </a:solidFill>
                <a:latin typeface="Noto Sans KR"/>
                <a:hlinkClick xmlns:ns10="http://schemas.openxmlformats.org/officeDocument/2006/relationships" ns10:id="rId2"/>
              </a:rPr>
              <a:t>검색량 2026-06</a:t>
            </a:r>
          </a:p>
        </p:txBody>
      </p:sp>
      <p:sp xmlns:a="http://schemas.openxmlformats.org/drawingml/2006/main">
        <p:nvSpPr>
          <p:cNvPr id="11" name="reference-6"/>
          <p:cNvSpPr txBox="1"/>
          <p:nvPr/>
        </p:nvSpPr>
        <p:spPr>
          <a:xfrm>
            <a:off x="1009650" y="6029325"/>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11="http://schemas.openxmlformats.org/officeDocument/2006/relationships" ns11:id="rId2"/>
              </a:rPr>
              <a:t>관측 데이터 D07 SNS 언급량 2026-06</a:t>
            </a:r>
          </a:p>
        </p:txBody>
      </p:sp>
      <p:sp xmlns:a="http://schemas.openxmlformats.org/drawingml/2006/main">
        <p:nvSpPr>
          <p:cNvPr id="12" name="reference-7"/>
          <p:cNvSpPr txBox="1"/>
          <p:nvPr/>
        </p:nvSpPr>
        <p:spPr>
          <a:xfrm>
            <a:off x="1009650" y="6486525"/>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12="http://schemas.openxmlformats.org/officeDocument/2006/relationships" ns12:id="rId2"/>
              </a:rPr>
              <a:t>관측 데이터 D08 한국관광 데이터랩 공식 다운로드 ·</a:t>
            </a:r>
          </a:p>
          <a:p>
            <a:pPr eaLnBrk="0">
              <a:lnSpc>
                <a:spcPts val="1687"/>
              </a:lnSpc>
              <a:spcBef>
                <a:spcPts val="0"/>
              </a:spcBef>
              <a:spcAft>
                <a:spcPts val="0"/>
              </a:spcAft>
            </a:pPr>
            <a:r>
              <a:rPr sz="1350" b="0" u="none">
                <a:solidFill>
                  <a:srgbClr val="004EA2"/>
                </a:solidFill>
                <a:latin typeface="Noto Sans KR"/>
                <a:hlinkClick xmlns:ns13="http://schemas.openxmlformats.org/officeDocument/2006/relationships" ns13:id="rId2"/>
              </a:rPr>
              <a:t>강원특별자치도_춘천시/숙박_체류시간/2026_01_06.zip</a:t>
            </a:r>
          </a:p>
          <a:p>
            <a:pPr eaLnBrk="0">
              <a:lnSpc>
                <a:spcPts val="1687"/>
              </a:lnSpc>
              <a:spcBef>
                <a:spcPts val="0"/>
              </a:spcBef>
              <a:spcAft>
                <a:spcPts val="0"/>
              </a:spcAft>
            </a:pPr>
            <a:r>
              <a:rPr sz="1350" b="0" u="none">
                <a:solidFill>
                  <a:srgbClr val="004EA2"/>
                </a:solidFill>
                <a:latin typeface="Noto Sans KR"/>
                <a:hlinkClick xmlns:ns14="http://schemas.openxmlformats.org/officeDocument/2006/relationships" ns14:id="rId2"/>
              </a:rPr>
              <a:t>2025-07 ~ 2026-06</a:t>
            </a:r>
          </a:p>
        </p:txBody>
      </p:sp>
      <p:sp xmlns:a="http://schemas.openxmlformats.org/drawingml/2006/main">
        <p:nvSpPr>
          <p:cNvPr id="13" name="reference-8"/>
          <p:cNvSpPr txBox="1"/>
          <p:nvPr/>
        </p:nvSpPr>
        <p:spPr>
          <a:xfrm>
            <a:off x="5486400" y="2571750"/>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15="http://schemas.openxmlformats.org/officeDocument/2006/relationships" ns15:id="rId2"/>
              </a:rPr>
              <a:t>관측 데이터 D09 한국관광 데이터랩 공식 다운로드 ·</a:t>
            </a:r>
          </a:p>
          <a:p>
            <a:pPr eaLnBrk="0">
              <a:lnSpc>
                <a:spcPts val="1687"/>
              </a:lnSpc>
              <a:spcBef>
                <a:spcPts val="0"/>
              </a:spcBef>
              <a:spcAft>
                <a:spcPts val="0"/>
              </a:spcAft>
            </a:pPr>
            <a:r>
              <a:rPr sz="1350" b="0" u="none">
                <a:solidFill>
                  <a:srgbClr val="004EA2"/>
                </a:solidFill>
                <a:latin typeface="Noto Sans KR"/>
                <a:hlinkClick xmlns:ns16="http://schemas.openxmlformats.org/officeDocument/2006/relationships" ns16:id="rId2"/>
              </a:rPr>
              <a:t>강원특별자치도_춘천시/숙박_체류시간/2025_01_12.zip</a:t>
            </a:r>
          </a:p>
          <a:p>
            <a:pPr eaLnBrk="0">
              <a:lnSpc>
                <a:spcPts val="1687"/>
              </a:lnSpc>
              <a:spcBef>
                <a:spcPts val="0"/>
              </a:spcBef>
              <a:spcAft>
                <a:spcPts val="0"/>
              </a:spcAft>
            </a:pPr>
            <a:r>
              <a:rPr sz="1350" b="0" u="none">
                <a:solidFill>
                  <a:srgbClr val="004EA2"/>
                </a:solidFill>
                <a:latin typeface="Noto Sans KR"/>
                <a:hlinkClick xmlns:ns17="http://schemas.openxmlformats.org/officeDocument/2006/relationships" ns17:id="rId2"/>
              </a:rPr>
              <a:t>2025-07 ~ 2026-06</a:t>
            </a:r>
          </a:p>
        </p:txBody>
      </p:sp>
      <p:sp xmlns:a="http://schemas.openxmlformats.org/drawingml/2006/main">
        <p:nvSpPr>
          <p:cNvPr id="14" name="reference-9"/>
          <p:cNvSpPr txBox="1"/>
          <p:nvPr/>
        </p:nvSpPr>
        <p:spPr>
          <a:xfrm>
            <a:off x="5486400" y="3386138"/>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18="http://schemas.openxmlformats.org/officeDocument/2006/relationships" ns18:id="rId2"/>
              </a:rPr>
              <a:t>관측 데이터 D10 한국관광 데이터랩 공식 다운로드 ·</a:t>
            </a:r>
          </a:p>
          <a:p>
            <a:pPr eaLnBrk="0">
              <a:lnSpc>
                <a:spcPts val="1687"/>
              </a:lnSpc>
              <a:spcBef>
                <a:spcPts val="0"/>
              </a:spcBef>
              <a:spcAft>
                <a:spcPts val="0"/>
              </a:spcAft>
            </a:pPr>
            <a:r>
              <a:rPr sz="1350" b="0" u="none">
                <a:solidFill>
                  <a:srgbClr val="004EA2"/>
                </a:solidFill>
                <a:latin typeface="Noto Sans KR"/>
                <a:hlinkClick xmlns:ns19="http://schemas.openxmlformats.org/officeDocument/2006/relationships" ns19:id="rId2"/>
              </a:rPr>
              <a:t>강원특별자치도_춘천시/관광소비/2026_01_06.zip</a:t>
            </a:r>
          </a:p>
          <a:p>
            <a:pPr eaLnBrk="0">
              <a:lnSpc>
                <a:spcPts val="1687"/>
              </a:lnSpc>
              <a:spcBef>
                <a:spcPts val="0"/>
              </a:spcBef>
              <a:spcAft>
                <a:spcPts val="0"/>
              </a:spcAft>
            </a:pPr>
            <a:r>
              <a:rPr sz="1350" b="0" u="none">
                <a:solidFill>
                  <a:srgbClr val="004EA2"/>
                </a:solidFill>
                <a:latin typeface="Noto Sans KR"/>
                <a:hlinkClick xmlns:ns20="http://schemas.openxmlformats.org/officeDocument/2006/relationships" ns20:id="rId2"/>
              </a:rPr>
              <a:t>2025-07 ~ 2026-06</a:t>
            </a:r>
          </a:p>
        </p:txBody>
      </p:sp>
      <p:sp xmlns:a="http://schemas.openxmlformats.org/drawingml/2006/main">
        <p:nvSpPr>
          <p:cNvPr id="15" name="reference-10"/>
          <p:cNvSpPr txBox="1"/>
          <p:nvPr/>
        </p:nvSpPr>
        <p:spPr>
          <a:xfrm>
            <a:off x="5486400" y="4200525"/>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21="http://schemas.openxmlformats.org/officeDocument/2006/relationships" ns21:id="rId2"/>
              </a:rPr>
              <a:t>관측 데이터 D11 한국관광 데이터랩 공식 다운로드 ·</a:t>
            </a:r>
          </a:p>
          <a:p>
            <a:pPr eaLnBrk="0">
              <a:lnSpc>
                <a:spcPts val="1687"/>
              </a:lnSpc>
              <a:spcBef>
                <a:spcPts val="0"/>
              </a:spcBef>
              <a:spcAft>
                <a:spcPts val="0"/>
              </a:spcAft>
            </a:pPr>
            <a:r>
              <a:rPr sz="1350" b="0" u="none">
                <a:solidFill>
                  <a:srgbClr val="004EA2"/>
                </a:solidFill>
                <a:latin typeface="Noto Sans KR"/>
                <a:hlinkClick xmlns:ns22="http://schemas.openxmlformats.org/officeDocument/2006/relationships" ns22:id="rId2"/>
              </a:rPr>
              <a:t>강원특별자치도_춘천시/관광소비/2025_01_12.zip</a:t>
            </a:r>
          </a:p>
          <a:p>
            <a:pPr eaLnBrk="0">
              <a:lnSpc>
                <a:spcPts val="1687"/>
              </a:lnSpc>
              <a:spcBef>
                <a:spcPts val="0"/>
              </a:spcBef>
              <a:spcAft>
                <a:spcPts val="0"/>
              </a:spcAft>
            </a:pPr>
            <a:r>
              <a:rPr sz="1350" b="0" u="none">
                <a:solidFill>
                  <a:srgbClr val="004EA2"/>
                </a:solidFill>
                <a:latin typeface="Noto Sans KR"/>
                <a:hlinkClick xmlns:ns23="http://schemas.openxmlformats.org/officeDocument/2006/relationships" ns23:id="rId2"/>
              </a:rPr>
              <a:t>2025-07 ~ 2026-06</a:t>
            </a:r>
          </a:p>
        </p:txBody>
      </p:sp>
      <p:sp xmlns:a="http://schemas.openxmlformats.org/drawingml/2006/main">
        <p:nvSpPr>
          <p:cNvPr id="16" name="reference-11"/>
          <p:cNvSpPr txBox="1"/>
          <p:nvPr/>
        </p:nvSpPr>
        <p:spPr>
          <a:xfrm>
            <a:off x="5486400" y="5014912"/>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24="http://schemas.openxmlformats.org/officeDocument/2006/relationships" ns24:id="rId2"/>
              </a:rPr>
              <a:t>관측 데이터 D12 한국관광 데이터랩 공식 다운로드 ·</a:t>
            </a:r>
          </a:p>
          <a:p>
            <a:pPr eaLnBrk="0">
              <a:lnSpc>
                <a:spcPts val="1687"/>
              </a:lnSpc>
              <a:spcBef>
                <a:spcPts val="0"/>
              </a:spcBef>
              <a:spcAft>
                <a:spcPts val="0"/>
              </a:spcAft>
            </a:pPr>
            <a:r>
              <a:rPr sz="1350" b="0" u="none">
                <a:solidFill>
                  <a:srgbClr val="004EA2"/>
                </a:solidFill>
                <a:latin typeface="Noto Sans KR"/>
                <a:hlinkClick xmlns:ns25="http://schemas.openxmlformats.org/officeDocument/2006/relationships" ns25:id="rId2"/>
              </a:rPr>
              <a:t>강원특별자치도_춘천시/방문자/2026_01_06.zip</a:t>
            </a:r>
          </a:p>
          <a:p>
            <a:pPr eaLnBrk="0">
              <a:lnSpc>
                <a:spcPts val="1687"/>
              </a:lnSpc>
              <a:spcBef>
                <a:spcPts val="0"/>
              </a:spcBef>
              <a:spcAft>
                <a:spcPts val="0"/>
              </a:spcAft>
            </a:pPr>
            <a:r>
              <a:rPr sz="1350" b="0" u="none">
                <a:solidFill>
                  <a:srgbClr val="004EA2"/>
                </a:solidFill>
                <a:latin typeface="Noto Sans KR"/>
                <a:hlinkClick xmlns:ns26="http://schemas.openxmlformats.org/officeDocument/2006/relationships" ns26:id="rId2"/>
              </a:rPr>
              <a:t>2025-07 ~ 2026-06</a:t>
            </a:r>
          </a:p>
        </p:txBody>
      </p:sp>
      <p:sp xmlns:a="http://schemas.openxmlformats.org/drawingml/2006/main">
        <p:nvSpPr>
          <p:cNvPr id="17" name="reference-12"/>
          <p:cNvSpPr txBox="1"/>
          <p:nvPr/>
        </p:nvSpPr>
        <p:spPr>
          <a:xfrm>
            <a:off x="5486400" y="5829300"/>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27="http://schemas.openxmlformats.org/officeDocument/2006/relationships" ns27:id="rId2"/>
              </a:rPr>
              <a:t>관측 데이터 D13 한국관광 데이터랩 공식 다운로드 ·</a:t>
            </a:r>
          </a:p>
          <a:p>
            <a:pPr eaLnBrk="0">
              <a:lnSpc>
                <a:spcPts val="1687"/>
              </a:lnSpc>
              <a:spcBef>
                <a:spcPts val="0"/>
              </a:spcBef>
              <a:spcAft>
                <a:spcPts val="0"/>
              </a:spcAft>
            </a:pPr>
            <a:r>
              <a:rPr sz="1350" b="0" u="none">
                <a:solidFill>
                  <a:srgbClr val="004EA2"/>
                </a:solidFill>
                <a:latin typeface="Noto Sans KR"/>
                <a:hlinkClick xmlns:ns28="http://schemas.openxmlformats.org/officeDocument/2006/relationships" ns28:id="rId2"/>
              </a:rPr>
              <a:t>강원특별자치도_춘천시/방문자/2025_01_12.zip</a:t>
            </a:r>
          </a:p>
          <a:p>
            <a:pPr eaLnBrk="0">
              <a:lnSpc>
                <a:spcPts val="1687"/>
              </a:lnSpc>
              <a:spcBef>
                <a:spcPts val="0"/>
              </a:spcBef>
              <a:spcAft>
                <a:spcPts val="0"/>
              </a:spcAft>
            </a:pPr>
            <a:r>
              <a:rPr sz="1350" b="0" u="none">
                <a:solidFill>
                  <a:srgbClr val="004EA2"/>
                </a:solidFill>
                <a:latin typeface="Noto Sans KR"/>
                <a:hlinkClick xmlns:ns29="http://schemas.openxmlformats.org/officeDocument/2006/relationships" ns29:id="rId2"/>
              </a:rPr>
              <a:t>2025-07 ~ 2026-06</a:t>
            </a:r>
          </a:p>
        </p:txBody>
      </p:sp>
      <p:sp xmlns:a="http://schemas.openxmlformats.org/drawingml/2006/main">
        <p:nvSpPr>
          <p:cNvPr id="18" name="reference-13"/>
          <p:cNvSpPr txBox="1"/>
          <p:nvPr/>
        </p:nvSpPr>
        <p:spPr>
          <a:xfrm>
            <a:off x="5486400" y="6643688"/>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30="http://schemas.openxmlformats.org/officeDocument/2006/relationships" ns30:id="rId2"/>
              </a:rPr>
              <a:t>관측 데이터 D14 한국관광 데이터랩 전국 빅데이터</a:t>
            </a:r>
          </a:p>
          <a:p>
            <a:pPr eaLnBrk="0">
              <a:lnSpc>
                <a:spcPts val="1687"/>
              </a:lnSpc>
              <a:spcBef>
                <a:spcPts val="0"/>
              </a:spcBef>
              <a:spcAft>
                <a:spcPts val="0"/>
              </a:spcAft>
            </a:pPr>
            <a:r>
              <a:rPr sz="1350" b="0" u="none">
                <a:solidFill>
                  <a:srgbClr val="004EA2"/>
                </a:solidFill>
                <a:latin typeface="Noto Sans KR"/>
                <a:hlinkClick xmlns:ns31="http://schemas.openxmlformats.org/officeDocument/2006/relationships" ns31:id="rId2"/>
              </a:rPr>
              <a:t>다운로드 · 이동통신/내국인/지역별</a:t>
            </a:r>
          </a:p>
          <a:p>
            <a:pPr eaLnBrk="0">
              <a:lnSpc>
                <a:spcPts val="1687"/>
              </a:lnSpc>
              <a:spcBef>
                <a:spcPts val="0"/>
              </a:spcBef>
              <a:spcAft>
                <a:spcPts val="0"/>
              </a:spcAft>
            </a:pPr>
            <a:r>
              <a:rPr sz="1350" b="0" u="none">
                <a:solidFill>
                  <a:srgbClr val="004EA2"/>
                </a:solidFill>
                <a:latin typeface="Noto Sans KR"/>
                <a:hlinkClick xmlns:ns32="http://schemas.openxmlformats.org/officeDocument/2006/relationships" ns32:id="rId2"/>
              </a:rPr>
              <a:t>방문자수/20260820140607__202601-202606_데이터랩_</a:t>
            </a:r>
          </a:p>
          <a:p>
            <a:pPr eaLnBrk="0">
              <a:lnSpc>
                <a:spcPts val="1687"/>
              </a:lnSpc>
              <a:spcBef>
                <a:spcPts val="0"/>
              </a:spcBef>
              <a:spcAft>
                <a:spcPts val="0"/>
              </a:spcAft>
            </a:pPr>
            <a:r>
              <a:rPr sz="1350" b="0" u="none">
                <a:solidFill>
                  <a:srgbClr val="004EA2"/>
                </a:solidFill>
                <a:latin typeface="Noto Sans KR"/>
                <a:hlinkClick xmlns:ns33="http://schemas.openxmlformats.org/officeDocument/2006/relationships" ns33:id="rId2"/>
              </a:rPr>
              <a:t>다운로드.zip 2026-01 ~ 2026-06</a:t>
            </a:r>
          </a:p>
        </p:txBody>
      </p:sp>
      <p:sp xmlns:a="http://schemas.openxmlformats.org/drawingml/2006/main">
        <p:nvSpPr>
          <p:cNvPr id="19" name="reference-14"/>
          <p:cNvSpPr txBox="1"/>
          <p:nvPr/>
        </p:nvSpPr>
        <p:spPr>
          <a:xfrm>
            <a:off x="9963150" y="2571750"/>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34="http://schemas.openxmlformats.org/officeDocument/2006/relationships" ns34:id="rId2"/>
              </a:rPr>
              <a:t>관측 데이터 D15 한국관광 데이터랩 전국 빅데이터</a:t>
            </a:r>
          </a:p>
          <a:p>
            <a:pPr eaLnBrk="0">
              <a:lnSpc>
                <a:spcPts val="1687"/>
              </a:lnSpc>
              <a:spcBef>
                <a:spcPts val="0"/>
              </a:spcBef>
              <a:spcAft>
                <a:spcPts val="0"/>
              </a:spcAft>
            </a:pPr>
            <a:r>
              <a:rPr sz="1350" b="0" u="none">
                <a:solidFill>
                  <a:srgbClr val="004EA2"/>
                </a:solidFill>
                <a:latin typeface="Noto Sans KR"/>
                <a:hlinkClick xmlns:ns35="http://schemas.openxmlformats.org/officeDocument/2006/relationships" ns35:id="rId2"/>
              </a:rPr>
              <a:t>다운로드 ·</a:t>
            </a:r>
          </a:p>
          <a:p>
            <a:pPr eaLnBrk="0">
              <a:lnSpc>
                <a:spcPts val="1687"/>
              </a:lnSpc>
              <a:spcBef>
                <a:spcPts val="0"/>
              </a:spcBef>
              <a:spcAft>
                <a:spcPts val="0"/>
              </a:spcAft>
            </a:pPr>
            <a:r>
              <a:rPr sz="1350" b="0" u="none">
                <a:solidFill>
                  <a:srgbClr val="004EA2"/>
                </a:solidFill>
                <a:latin typeface="Noto Sans KR"/>
                <a:hlinkClick xmlns:ns36="http://schemas.openxmlformats.org/officeDocument/2006/relationships" ns36:id="rId2"/>
              </a:rPr>
              <a:t>이동통신/외국인/20260820141710_전국_202601-202606</a:t>
            </a:r>
          </a:p>
          <a:p>
            <a:pPr eaLnBrk="0">
              <a:lnSpc>
                <a:spcPts val="1687"/>
              </a:lnSpc>
              <a:spcBef>
                <a:spcPts val="0"/>
              </a:spcBef>
              <a:spcAft>
                <a:spcPts val="0"/>
              </a:spcAft>
            </a:pPr>
            <a:r>
              <a:rPr sz="1350" b="0" u="none">
                <a:solidFill>
                  <a:srgbClr val="004EA2"/>
                </a:solidFill>
                <a:latin typeface="Noto Sans KR"/>
                <a:hlinkClick xmlns:ns37="http://schemas.openxmlformats.org/officeDocument/2006/relationships" ns37:id="rId2"/>
              </a:rPr>
              <a:t>_데이터랩_다운로드.zip 2026-01 ~ 2026-06</a:t>
            </a:r>
          </a:p>
        </p:txBody>
      </p:sp>
      <p:sp xmlns:a="http://schemas.openxmlformats.org/drawingml/2006/main">
        <p:nvSpPr>
          <p:cNvPr id="20" name="reference-15"/>
          <p:cNvSpPr txBox="1"/>
          <p:nvPr/>
        </p:nvSpPr>
        <p:spPr>
          <a:xfrm>
            <a:off x="9963150" y="3600450"/>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38="http://schemas.openxmlformats.org/officeDocument/2006/relationships" ns38:id="rId2"/>
              </a:rPr>
              <a:t>관측 데이터 D16 한국관광 데이터랩 전국 빅데이터</a:t>
            </a:r>
          </a:p>
          <a:p>
            <a:pPr eaLnBrk="0">
              <a:lnSpc>
                <a:spcPts val="1687"/>
              </a:lnSpc>
              <a:spcBef>
                <a:spcPts val="0"/>
              </a:spcBef>
              <a:spcAft>
                <a:spcPts val="0"/>
              </a:spcAft>
            </a:pPr>
            <a:r>
              <a:rPr sz="1350" b="0" u="none">
                <a:solidFill>
                  <a:srgbClr val="004EA2"/>
                </a:solidFill>
                <a:latin typeface="Noto Sans KR"/>
                <a:hlinkClick xmlns:ns39="http://schemas.openxmlformats.org/officeDocument/2006/relationships" ns39:id="rId2"/>
              </a:rPr>
              <a:t>다운로드 · 신용카드/내국인/지역별</a:t>
            </a:r>
          </a:p>
          <a:p>
            <a:pPr eaLnBrk="0">
              <a:lnSpc>
                <a:spcPts val="1687"/>
              </a:lnSpc>
              <a:spcBef>
                <a:spcPts val="0"/>
              </a:spcBef>
              <a:spcAft>
                <a:spcPts val="0"/>
              </a:spcAft>
            </a:pPr>
            <a:r>
              <a:rPr sz="1350" b="0" u="none">
                <a:solidFill>
                  <a:srgbClr val="004EA2"/>
                </a:solidFill>
                <a:latin typeface="Noto Sans KR"/>
                <a:hlinkClick xmlns:ns40="http://schemas.openxmlformats.org/officeDocument/2006/relationships" ns40:id="rId2"/>
              </a:rPr>
              <a:t>관광지출액/20260820140046__202601-202606_데이터랩</a:t>
            </a:r>
          </a:p>
          <a:p>
            <a:pPr eaLnBrk="0">
              <a:lnSpc>
                <a:spcPts val="1687"/>
              </a:lnSpc>
              <a:spcBef>
                <a:spcPts val="0"/>
              </a:spcBef>
              <a:spcAft>
                <a:spcPts val="0"/>
              </a:spcAft>
            </a:pPr>
            <a:r>
              <a:rPr sz="1350" b="0" u="none">
                <a:solidFill>
                  <a:srgbClr val="004EA2"/>
                </a:solidFill>
                <a:latin typeface="Noto Sans KR"/>
                <a:hlinkClick xmlns:ns41="http://schemas.openxmlformats.org/officeDocument/2006/relationships" ns41:id="rId2"/>
              </a:rPr>
              <a:t>_다운로드.zip 2026-01 ~ 2026-06</a:t>
            </a:r>
          </a:p>
        </p:txBody>
      </p:sp>
      <p:sp xmlns:a="http://schemas.openxmlformats.org/drawingml/2006/main">
        <p:nvSpPr>
          <p:cNvPr id="21" name="reference-16"/>
          <p:cNvSpPr txBox="1"/>
          <p:nvPr/>
        </p:nvSpPr>
        <p:spPr>
          <a:xfrm>
            <a:off x="9963150" y="4629150"/>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42="http://schemas.openxmlformats.org/officeDocument/2006/relationships" ns42:id="rId2"/>
              </a:rPr>
              <a:t>관측 데이터 D17 한국관광 데이터랩 전국 빅데이터</a:t>
            </a:r>
          </a:p>
          <a:p>
            <a:pPr eaLnBrk="0">
              <a:lnSpc>
                <a:spcPts val="1687"/>
              </a:lnSpc>
              <a:spcBef>
                <a:spcPts val="0"/>
              </a:spcBef>
              <a:spcAft>
                <a:spcPts val="0"/>
              </a:spcAft>
            </a:pPr>
            <a:r>
              <a:rPr sz="1350" b="0" u="none">
                <a:solidFill>
                  <a:srgbClr val="004EA2"/>
                </a:solidFill>
                <a:latin typeface="Noto Sans KR"/>
                <a:hlinkClick xmlns:ns43="http://schemas.openxmlformats.org/officeDocument/2006/relationships" ns43:id="rId2"/>
              </a:rPr>
              <a:t>다운로드 · 신용카드/외국인/지역별</a:t>
            </a:r>
          </a:p>
          <a:p>
            <a:pPr eaLnBrk="0">
              <a:lnSpc>
                <a:spcPts val="1687"/>
              </a:lnSpc>
              <a:spcBef>
                <a:spcPts val="0"/>
              </a:spcBef>
              <a:spcAft>
                <a:spcPts val="0"/>
              </a:spcAft>
            </a:pPr>
            <a:r>
              <a:rPr sz="1350" b="0" u="none">
                <a:solidFill>
                  <a:srgbClr val="004EA2"/>
                </a:solidFill>
                <a:latin typeface="Noto Sans KR"/>
                <a:hlinkClick xmlns:ns44="http://schemas.openxmlformats.org/officeDocument/2006/relationships" ns44:id="rId2"/>
              </a:rPr>
              <a:t>관광지출액/20260820140355__202601-202606_데이터랩</a:t>
            </a:r>
          </a:p>
          <a:p>
            <a:pPr eaLnBrk="0">
              <a:lnSpc>
                <a:spcPts val="1687"/>
              </a:lnSpc>
              <a:spcBef>
                <a:spcPts val="0"/>
              </a:spcBef>
              <a:spcAft>
                <a:spcPts val="0"/>
              </a:spcAft>
            </a:pPr>
            <a:r>
              <a:rPr sz="1350" b="0" u="none">
                <a:solidFill>
                  <a:srgbClr val="004EA2"/>
                </a:solidFill>
                <a:latin typeface="Noto Sans KR"/>
                <a:hlinkClick xmlns:ns45="http://schemas.openxmlformats.org/officeDocument/2006/relationships" ns45:id="rId2"/>
              </a:rPr>
              <a:t>_다운로드.zip 2026-01 ~ 2026-06</a:t>
            </a:r>
          </a:p>
        </p:txBody>
      </p:sp>
      <p:sp xmlns:a="http://schemas.openxmlformats.org/drawingml/2006/main">
        <p:nvSpPr>
          <p:cNvPr id="22" name="reference-17"/>
          <p:cNvSpPr txBox="1"/>
          <p:nvPr/>
        </p:nvSpPr>
        <p:spPr>
          <a:xfrm>
            <a:off x="9963150" y="5657850"/>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46="http://schemas.openxmlformats.org/officeDocument/2006/relationships" ns46:id="rId2"/>
              </a:rPr>
              <a:t>관측 데이터 D18 한국관광 데이터랩 전국 빅데이터</a:t>
            </a:r>
          </a:p>
          <a:p>
            <a:pPr eaLnBrk="0">
              <a:lnSpc>
                <a:spcPts val="1687"/>
              </a:lnSpc>
              <a:spcBef>
                <a:spcPts val="0"/>
              </a:spcBef>
              <a:spcAft>
                <a:spcPts val="0"/>
              </a:spcAft>
            </a:pPr>
            <a:r>
              <a:rPr sz="1350" b="0" u="none">
                <a:solidFill>
                  <a:srgbClr val="004EA2"/>
                </a:solidFill>
                <a:latin typeface="Noto Sans KR"/>
                <a:hlinkClick xmlns:ns47="http://schemas.openxmlformats.org/officeDocument/2006/relationships" ns47:id="rId2"/>
              </a:rPr>
              <a:t>다운로드 · 네비게이션/지역별</a:t>
            </a:r>
          </a:p>
          <a:p>
            <a:pPr eaLnBrk="0">
              <a:lnSpc>
                <a:spcPts val="1687"/>
              </a:lnSpc>
              <a:spcBef>
                <a:spcPts val="0"/>
              </a:spcBef>
              <a:spcAft>
                <a:spcPts val="0"/>
              </a:spcAft>
            </a:pPr>
            <a:r>
              <a:rPr sz="1350" b="0" u="none">
                <a:solidFill>
                  <a:srgbClr val="004EA2"/>
                </a:solidFill>
                <a:latin typeface="Noto Sans KR"/>
                <a:hlinkClick xmlns:ns48="http://schemas.openxmlformats.org/officeDocument/2006/relationships" ns48:id="rId2"/>
              </a:rPr>
              <a:t>검색건수/20260820195507__202601-202606_데이터랩_</a:t>
            </a:r>
          </a:p>
          <a:p>
            <a:pPr eaLnBrk="0">
              <a:lnSpc>
                <a:spcPts val="1687"/>
              </a:lnSpc>
              <a:spcBef>
                <a:spcPts val="0"/>
              </a:spcBef>
              <a:spcAft>
                <a:spcPts val="0"/>
              </a:spcAft>
            </a:pPr>
            <a:r>
              <a:rPr sz="1350" b="0" u="none">
                <a:solidFill>
                  <a:srgbClr val="004EA2"/>
                </a:solidFill>
                <a:latin typeface="Noto Sans KR"/>
                <a:hlinkClick xmlns:ns49="http://schemas.openxmlformats.org/officeDocument/2006/relationships" ns49:id="rId2"/>
              </a:rPr>
              <a:t>다운로드.zip 2026-01 ~ 2026-06</a:t>
            </a:r>
          </a:p>
        </p:txBody>
      </p:sp>
      <p:sp xmlns:a="http://schemas.openxmlformats.org/drawingml/2006/main">
        <p:nvSpPr>
          <p:cNvPr id="23" name="reference-18"/>
          <p:cNvSpPr txBox="1"/>
          <p:nvPr/>
        </p:nvSpPr>
        <p:spPr>
          <a:xfrm>
            <a:off x="9963150" y="6686550"/>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50="http://schemas.openxmlformats.org/officeDocument/2006/relationships" ns50:id="rId2"/>
              </a:rPr>
              <a:t>관측 데이터 D19 한국관광 데이터랩 전국 빅데이터</a:t>
            </a:r>
          </a:p>
          <a:p>
            <a:pPr eaLnBrk="0">
              <a:lnSpc>
                <a:spcPts val="1687"/>
              </a:lnSpc>
              <a:spcBef>
                <a:spcPts val="0"/>
              </a:spcBef>
              <a:spcAft>
                <a:spcPts val="0"/>
              </a:spcAft>
            </a:pPr>
            <a:r>
              <a:rPr sz="1350" b="0" u="none">
                <a:solidFill>
                  <a:srgbClr val="004EA2"/>
                </a:solidFill>
                <a:latin typeface="Noto Sans KR"/>
                <a:hlinkClick xmlns:ns51="http://schemas.openxmlformats.org/officeDocument/2006/relationships" ns51:id="rId2"/>
              </a:rPr>
              <a:t>다운로드 · 이동통신/내국인/지역별</a:t>
            </a:r>
          </a:p>
          <a:p>
            <a:pPr eaLnBrk="0">
              <a:lnSpc>
                <a:spcPts val="1687"/>
              </a:lnSpc>
              <a:spcBef>
                <a:spcPts val="0"/>
              </a:spcBef>
              <a:spcAft>
                <a:spcPts val="0"/>
              </a:spcAft>
            </a:pPr>
            <a:r>
              <a:rPr sz="1350" b="0" u="none">
                <a:solidFill>
                  <a:srgbClr val="004EA2"/>
                </a:solidFill>
                <a:latin typeface="Noto Sans KR"/>
                <a:hlinkClick xmlns:ns52="http://schemas.openxmlformats.org/officeDocument/2006/relationships" ns52:id="rId2"/>
              </a:rPr>
              <a:t>방문자수/20260820140614__202501-202512_데이터랩_</a:t>
            </a:r>
          </a:p>
          <a:p>
            <a:pPr eaLnBrk="0">
              <a:lnSpc>
                <a:spcPts val="1687"/>
              </a:lnSpc>
              <a:spcBef>
                <a:spcPts val="0"/>
              </a:spcBef>
              <a:spcAft>
                <a:spcPts val="0"/>
              </a:spcAft>
            </a:pPr>
            <a:r>
              <a:rPr sz="1350" b="0" u="none">
                <a:solidFill>
                  <a:srgbClr val="004EA2"/>
                </a:solidFill>
                <a:latin typeface="Noto Sans KR"/>
                <a:hlinkClick xmlns:ns53="http://schemas.openxmlformats.org/officeDocument/2006/relationships" ns53:id="rId2"/>
              </a:rPr>
              <a:t>다운로드.zip 2026-01 ~ 2026-06</a:t>
            </a:r>
          </a:p>
        </p:txBody>
      </p:sp>
    </p:spTree>
    <p:extLst>
      <p:ext uri="{BB962C8B-B14F-4D97-AF65-F5344CB8AC3E}">
        <p14:creationId xmlns:p14="http://schemas.microsoft.com/office/powerpoint/2010/main" val="930694367"/>
      </p:ext>
    </p:extLst>
  </p:cSld>
</p:sld>
</file>

<file path=ppt/slides/slide12.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21" name="background-wordmark">
            <a:extLst xmlns:a="http://schemas.openxmlformats.org/drawingml/2006/main">
              <a:ext uri="{FF2B5EF4-FFF2-40B4-BE49-F238E27FC236}">
                <a16:creationId xmlns:a16="http://schemas.microsoft.com/office/drawing/2014/main" id="{77FB509F-5920-492C-9117-3338D34B0670}"/>
              </a:ext>
            </a:extLst>
          </p:cNvPr>
          <p:cNvSpPr>
            <a:spLocks xmlns:a="http://schemas.openxmlformats.org/drawingml/2006/main" noGrp="1"/>
          </p:cNvSpPr>
          <p:nvPr/>
        </p:nvSpPr>
        <p:spPr>
          <a:xfrm xmlns:a="http://schemas.openxmlformats.org/drawingml/2006/main">
            <a:off x="-552450" y="2857500"/>
            <a:ext cx="1638300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86111" lnSpcReduction="10000"/>
          </a:bodyPr>
          <a:lstStyle xmlns:a="http://schemas.openxmlformats.org/drawingml/2006/main"/>
          <a:p xmlns:a="http://schemas.openxmlformats.org/drawingml/2006/main">
            <a:pPr algn="ctr" eaLnBrk="0">
              <a:buNone/>
              <a:defRPr sz="22500" b="1" i="0">
                <a:solidFill>
                  <a:srgbClr val="E7EDF4"/>
                </a:solidFill>
                <a:latin typeface="Noto Sans KR"/>
                <a:ea typeface="Noto Sans KR"/>
                <a:cs typeface="Noto Sans KR"/>
              </a:defRPr>
            </a:pPr>
            <a:r>
              <a:rPr sz="22500" b="1" i="0">
                <a:solidFill>
                  <a:srgbClr val="E7EDF4"/>
                </a:solidFill>
                <a:latin typeface="Noto Sans KR"/>
                <a:ea typeface="Noto Sans KR"/>
                <a:cs typeface="Noto Sans KR"/>
              </a:rPr>
              <a:t>TOURISM AI</a:t>
            </a:r>
          </a:p>
        </p:txBody>
      </p:sp>
      <p:sp>
        <p:nvSpPr>
          <p:cNvPr id="2" name="center-top-vertical">
            <a:extLst xmlns:a="http://schemas.openxmlformats.org/drawingml/2006/main">
              <a:ext uri="{FF2B5EF4-FFF2-40B4-BE49-F238E27FC236}">
                <a16:creationId xmlns:a16="http://schemas.microsoft.com/office/drawing/2014/main" id="{B1DEDF35-13EE-406A-AC8E-214EDD2F24AC}"/>
              </a:ext>
            </a:extLst>
          </p:cNvPr>
          <p:cNvSpPr>
            <a:spLocks xmlns:a="http://schemas.openxmlformats.org/drawingml/2006/main" noGrp="1"/>
          </p:cNvSpPr>
          <p:nvPr/>
        </p:nvSpPr>
        <p:spPr>
          <a:xfrm xmlns:a="http://schemas.openxmlformats.org/drawingml/2006/main">
            <a:off x="7620000" y="895350"/>
            <a:ext cx="0" cy="1257300"/>
          </a:xfrm>
          <a:prstGeom xmlns:a="http://schemas.openxmlformats.org/drawingml/2006/main" prst="line">
            <a:avLst/>
          </a:prstGeom>
          <a:noFill xmlns:a="http://schemas.openxmlformats.org/drawingml/2006/main"/>
          <a:ln xmlns:a="http://schemas.openxmlformats.org/drawingml/2006/main" w="28575">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center-bottom-vertical">
            <a:extLst xmlns:a="http://schemas.openxmlformats.org/drawingml/2006/main">
              <a:ext uri="{FF2B5EF4-FFF2-40B4-BE49-F238E27FC236}">
                <a16:creationId xmlns:a16="http://schemas.microsoft.com/office/drawing/2014/main" id="{D3C6583A-243C-4B40-B28E-68DDCD8248EA}"/>
              </a:ext>
            </a:extLst>
          </p:cNvPr>
          <p:cNvSpPr>
            <a:spLocks xmlns:a="http://schemas.openxmlformats.org/drawingml/2006/main" noGrp="1"/>
          </p:cNvSpPr>
          <p:nvPr/>
        </p:nvSpPr>
        <p:spPr>
          <a:xfrm xmlns:a="http://schemas.openxmlformats.org/drawingml/2006/main">
            <a:off x="7620000" y="6410325"/>
            <a:ext cx="0" cy="1247775"/>
          </a:xfrm>
          <a:prstGeom xmlns:a="http://schemas.openxmlformats.org/drawingml/2006/main" prst="line">
            <a:avLst/>
          </a:prstGeom>
          <a:noFill xmlns:a="http://schemas.openxmlformats.org/drawingml/2006/main"/>
          <a:ln xmlns:a="http://schemas.openxmlformats.org/drawingml/2006/main" w="28575">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title-panel">
            <a:extLst xmlns:a="http://schemas.openxmlformats.org/drawingml/2006/main">
              <a:ext uri="{FF2B5EF4-FFF2-40B4-BE49-F238E27FC236}">
                <a16:creationId xmlns:a16="http://schemas.microsoft.com/office/drawing/2014/main" id="{EE1DECE5-AA5E-4E34-834B-AD62B1CB03F9}"/>
              </a:ext>
            </a:extLst>
          </p:cNvPr>
          <p:cNvSpPr>
            <a:spLocks xmlns:a="http://schemas.openxmlformats.org/drawingml/2006/main" noGrp="1"/>
          </p:cNvSpPr>
          <p:nvPr/>
        </p:nvSpPr>
        <p:spPr>
          <a:xfrm xmlns:a="http://schemas.openxmlformats.org/drawingml/2006/main">
            <a:off x="3495675" y="2114550"/>
            <a:ext cx="8267700" cy="429577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 name="title-panel-top">
            <a:extLst xmlns:a="http://schemas.openxmlformats.org/drawingml/2006/main">
              <a:ext uri="{FF2B5EF4-FFF2-40B4-BE49-F238E27FC236}">
                <a16:creationId xmlns:a16="http://schemas.microsoft.com/office/drawing/2014/main" id="{6C123102-52FB-43EB-A3A5-744861F98965}"/>
              </a:ext>
            </a:extLst>
          </p:cNvPr>
          <p:cNvSpPr>
            <a:spLocks xmlns:a="http://schemas.openxmlformats.org/drawingml/2006/main" noGrp="1"/>
          </p:cNvSpPr>
          <p:nvPr/>
        </p:nvSpPr>
        <p:spPr>
          <a:xfrm xmlns:a="http://schemas.openxmlformats.org/drawingml/2006/main">
            <a:off x="3495675" y="2114550"/>
            <a:ext cx="8267700" cy="0"/>
          </a:xfrm>
          <a:prstGeom xmlns:a="http://schemas.openxmlformats.org/drawingml/2006/main" prst="line">
            <a:avLst/>
          </a:prstGeom>
          <a:noFill xmlns:a="http://schemas.openxmlformats.org/drawingml/2006/main"/>
          <a:ln xmlns:a="http://schemas.openxmlformats.org/drawingml/2006/main" w="38100">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cover-title-line1">
            <a:extLst xmlns:a="http://schemas.openxmlformats.org/drawingml/2006/main">
              <a:ext uri="{FF2B5EF4-FFF2-40B4-BE49-F238E27FC236}">
                <a16:creationId xmlns:a16="http://schemas.microsoft.com/office/drawing/2014/main" id="{4D06E463-555F-4ED7-A555-6F2BBA28E48F}"/>
              </a:ext>
            </a:extLst>
          </p:cNvPr>
          <p:cNvSpPr>
            <a:spLocks xmlns:a="http://schemas.openxmlformats.org/drawingml/2006/main" noGrp="1"/>
          </p:cNvSpPr>
          <p:nvPr/>
        </p:nvSpPr>
        <p:spPr>
          <a:xfrm xmlns:a="http://schemas.openxmlformats.org/drawingml/2006/main">
            <a:off x="4267200" y="3638550"/>
            <a:ext cx="67341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eaLnBrk="0">
              <a:buNone/>
              <a:defRPr sz="3525" b="1" i="0">
                <a:solidFill>
                  <a:srgbClr val="1B1F23"/>
                </a:solidFill>
                <a:latin typeface="Noto Sans KR"/>
                <a:ea typeface="Noto Sans KR"/>
                <a:cs typeface="Noto Sans KR"/>
              </a:defRPr>
            </a:pPr>
            <a:r>
              <a:rPr sz="4500" b="1" i="0">
                <a:solidFill>
                  <a:srgbClr val="1B1F23"/>
                </a:solidFill>
                <a:latin typeface="Noto Sans KR"/>
                <a:ea typeface="Noto Sans KR"/>
                <a:cs typeface="Noto Sans KR"/>
              </a:rPr>
              <a:t>감사합니다</a:t>
            </a:r>
          </a:p>
        </p:txBody>
      </p:sp>
      <p:sp>
        <p:nvSpPr>
          <p:cNvPr id="8" name="cover-title-line2">
            <a:extLst xmlns:a="http://schemas.openxmlformats.org/drawingml/2006/main">
              <a:ext uri="{FF2B5EF4-FFF2-40B4-BE49-F238E27FC236}">
                <a16:creationId xmlns:a16="http://schemas.microsoft.com/office/drawing/2014/main" id="{055E2330-B51B-4A73-961A-2CE79A60AD37}"/>
              </a:ext>
            </a:extLst>
          </p:cNvPr>
          <p:cNvSpPr>
            <a:spLocks xmlns:a="http://schemas.openxmlformats.org/drawingml/2006/main" noGrp="1"/>
          </p:cNvSpPr>
          <p:nvPr/>
        </p:nvSpPr>
        <p:spPr>
          <a:xfrm xmlns:a="http://schemas.openxmlformats.org/drawingml/2006/main">
            <a:off x="3952875" y="4438650"/>
            <a:ext cx="7381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eaLnBrk="0">
              <a:buNone/>
              <a:defRPr sz="2625" b="1">
                <a:solidFill>
                  <a:srgbClr val="1B1F23"/>
                </a:solidFill>
                <a:latin typeface="Noto Sans KR"/>
                <a:ea typeface="Noto Sans KR"/>
                <a:cs typeface="Noto Sans KR"/>
              </a:defRPr>
            </a:pPr>
            <a:r>
              <a:rPr sz="2775" b="1">
                <a:solidFill>
                  <a:srgbClr val="004EA2"/>
                </a:solidFill>
                <a:latin typeface="Noto Sans KR"/>
                <a:ea typeface="Noto Sans KR"/>
                <a:cs typeface="Noto Sans KR"/>
              </a:rPr>
              <a:t>데이터로 확인하고, 현장에서 완성합니다</a:t>
            </a:r>
          </a:p>
        </p:txBody>
      </p:sp>
      <p:sp>
        <p:nvSpPr>
          <p:cNvPr id="9" name="date-rule-left">
            <a:extLst xmlns:a="http://schemas.openxmlformats.org/drawingml/2006/main">
              <a:ext uri="{FF2B5EF4-FFF2-40B4-BE49-F238E27FC236}">
                <a16:creationId xmlns:a16="http://schemas.microsoft.com/office/drawing/2014/main" id="{ADF95A54-AD3A-46B3-8204-A4A4C1780876}"/>
              </a:ext>
            </a:extLst>
          </p:cNvPr>
          <p:cNvSpPr>
            <a:spLocks xmlns:a="http://schemas.openxmlformats.org/drawingml/2006/main" noGrp="1"/>
          </p:cNvSpPr>
          <p:nvPr/>
        </p:nvSpPr>
        <p:spPr>
          <a:xfrm xmlns:a="http://schemas.openxmlformats.org/drawingml/2006/main">
            <a:off x="4972050" y="5514975"/>
            <a:ext cx="419100"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cover-date">
            <a:extLst xmlns:a="http://schemas.openxmlformats.org/drawingml/2006/main">
              <a:ext uri="{FF2B5EF4-FFF2-40B4-BE49-F238E27FC236}">
                <a16:creationId xmlns:a16="http://schemas.microsoft.com/office/drawing/2014/main" id="{D9CF49F9-166E-4877-8903-09E88A51BFD0}"/>
              </a:ext>
            </a:extLst>
          </p:cNvPr>
          <p:cNvSpPr>
            <a:spLocks xmlns:a="http://schemas.openxmlformats.org/drawingml/2006/main" noGrp="1"/>
          </p:cNvSpPr>
          <p:nvPr/>
        </p:nvSpPr>
        <p:spPr>
          <a:xfrm xmlns:a="http://schemas.openxmlformats.org/drawingml/2006/main">
            <a:off x="5524500" y="5334000"/>
            <a:ext cx="4191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eaLnBrk="0">
              <a:buNone/>
              <a:defRPr sz="1350" b="0" i="0">
                <a:solidFill>
                  <a:srgbClr val="1B1F23"/>
                </a:solidFill>
                <a:latin typeface="Noto Sans KR"/>
                <a:ea typeface="Noto Sans KR"/>
                <a:cs typeface="Noto Sans KR"/>
              </a:defRPr>
            </a:pPr>
            <a:r>
              <a:rPr sz="1575" b="0" i="0">
                <a:solidFill>
                  <a:srgbClr val="1B1F23"/>
                </a:solidFill>
                <a:latin typeface="Noto Sans KR"/>
                <a:ea typeface="Noto Sans KR"/>
                <a:cs typeface="Noto Sans KR"/>
              </a:rPr>
              <a:t>지역 관광 전략기획안</a:t>
            </a:r>
          </a:p>
        </p:txBody>
      </p:sp>
      <p:sp>
        <p:nvSpPr>
          <p:cNvPr id="11" name="date-rule-right">
            <a:extLst xmlns:a="http://schemas.openxmlformats.org/drawingml/2006/main">
              <a:ext uri="{FF2B5EF4-FFF2-40B4-BE49-F238E27FC236}">
                <a16:creationId xmlns:a16="http://schemas.microsoft.com/office/drawing/2014/main" id="{D63894DC-8857-4AFB-9D30-D40A61F1C100}"/>
              </a:ext>
            </a:extLst>
          </p:cNvPr>
          <p:cNvSpPr>
            <a:spLocks xmlns:a="http://schemas.openxmlformats.org/drawingml/2006/main" noGrp="1"/>
          </p:cNvSpPr>
          <p:nvPr/>
        </p:nvSpPr>
        <p:spPr>
          <a:xfrm xmlns:a="http://schemas.openxmlformats.org/drawingml/2006/main">
            <a:off x="9848850" y="5514975"/>
            <a:ext cx="419100"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org-title">
            <a:extLst xmlns:a="http://schemas.openxmlformats.org/drawingml/2006/main">
              <a:ext uri="{FF2B5EF4-FFF2-40B4-BE49-F238E27FC236}">
                <a16:creationId xmlns:a16="http://schemas.microsoft.com/office/drawing/2014/main" id="{BFAE34B7-AC7B-4526-88A3-D8CECFF061B0}"/>
              </a:ext>
            </a:extLst>
          </p:cNvPr>
          <p:cNvSpPr>
            <a:spLocks xmlns:a="http://schemas.openxmlformats.org/drawingml/2006/main" noGrp="1"/>
          </p:cNvSpPr>
          <p:nvPr/>
        </p:nvSpPr>
        <p:spPr>
          <a:xfrm xmlns:a="http://schemas.openxmlformats.org/drawingml/2006/main">
            <a:off x="11858625" y="1009650"/>
            <a:ext cx="238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eaLnBrk="0">
              <a:buNone/>
              <a:defRPr sz="1350" b="1" i="0">
                <a:solidFill>
                  <a:srgbClr val="004EA2"/>
                </a:solidFill>
                <a:latin typeface="Noto Sans KR"/>
                <a:ea typeface="Noto Sans KR"/>
                <a:cs typeface="Noto Sans KR"/>
              </a:defRPr>
            </a:pPr>
            <a:r>
              <a:rPr sz="1500" b="1" i="0">
                <a:solidFill>
                  <a:srgbClr val="004EA2"/>
                </a:solidFill>
                <a:latin typeface="Noto Sans KR"/>
                <a:ea typeface="Noto Sans KR"/>
                <a:cs typeface="Noto Sans KR"/>
              </a:rPr>
              <a:t>강원특별자치도 춘천시</a:t>
            </a:r>
          </a:p>
        </p:txBody>
      </p:sp>
      <p:sp>
        <p:nvSpPr>
          <p:cNvPr id="13" name="org-orange-rule">
            <a:extLst xmlns:a="http://schemas.openxmlformats.org/drawingml/2006/main">
              <a:ext uri="{FF2B5EF4-FFF2-40B4-BE49-F238E27FC236}">
                <a16:creationId xmlns:a16="http://schemas.microsoft.com/office/drawing/2014/main" id="{284EC6E3-1D8E-4934-8C5E-B43BDD643630}"/>
              </a:ext>
            </a:extLst>
          </p:cNvPr>
          <p:cNvSpPr>
            <a:spLocks xmlns:a="http://schemas.openxmlformats.org/drawingml/2006/main" noGrp="1"/>
          </p:cNvSpPr>
          <p:nvPr/>
        </p:nvSpPr>
        <p:spPr>
          <a:xfrm xmlns:a="http://schemas.openxmlformats.org/drawingml/2006/main">
            <a:off x="13592175" y="1390650"/>
            <a:ext cx="647700" cy="0"/>
          </a:xfrm>
          <a:prstGeom xmlns:a="http://schemas.openxmlformats.org/drawingml/2006/main" prst="line">
            <a:avLst/>
          </a:prstGeom>
          <a:noFill xmlns:a="http://schemas.openxmlformats.org/drawingml/2006/main"/>
          <a:ln xmlns:a="http://schemas.openxmlformats.org/drawingml/2006/main" w="19050">
            <a:solidFill>
              <a:srgbClr val="FF6B00"/>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report-topic">
            <a:extLst xmlns:a="http://schemas.openxmlformats.org/drawingml/2006/main">
              <a:ext uri="{FF2B5EF4-FFF2-40B4-BE49-F238E27FC236}">
                <a16:creationId xmlns:a16="http://schemas.microsoft.com/office/drawing/2014/main" id="{79974288-A39D-407D-8F48-874FFA4095C1}"/>
              </a:ext>
            </a:extLst>
          </p:cNvPr>
          <p:cNvSpPr>
            <a:spLocks xmlns:a="http://schemas.openxmlformats.org/drawingml/2006/main" noGrp="1"/>
          </p:cNvSpPr>
          <p:nvPr/>
        </p:nvSpPr>
        <p:spPr>
          <a:xfrm xmlns:a="http://schemas.openxmlformats.org/drawingml/2006/main">
            <a:off x="1047750" y="6724650"/>
            <a:ext cx="3514725"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57150" tIns="38100" rIns="57150" bIns="38100" anchor="t">
            <a:noAutofit/>
          </a:bodyPr>
          <a:lstStyle xmlns:a="http://schemas.openxmlformats.org/drawingml/2006/main"/>
          <a:p xmlns:a="http://schemas.openxmlformats.org/drawingml/2006/main">
            <a:pPr algn="l" eaLnBrk="0">
              <a:lnSpc>
                <a:spcPts val="2625"/>
              </a:lnSpc>
              <a:spcBef>
                <a:spcPts val="0"/>
              </a:spcBef>
              <a:spcAft>
                <a:spcPts val="0"/>
              </a:spcAft>
              <a:buNone/>
              <a:defRPr sz="2325" b="1" i="0">
                <a:solidFill>
                  <a:srgbClr val="004EA2"/>
                </a:solidFill>
                <a:latin typeface="Noto Sans KR"/>
                <a:ea typeface="Noto Sans KR"/>
                <a:cs typeface="Noto Sans KR"/>
              </a:defRPr>
            </a:pPr>
            <a:r>
              <a:rPr sz="2100" b="1">
                <a:solidFill>
                  <a:srgbClr val="004EA2"/>
                </a:solidFill>
                <a:latin typeface="Noto Sans KR"/>
              </a:rPr>
              <a:t>춘천시 지역상품권</a:t>
            </a:r>
          </a:p>
          <a:p xmlns:a="http://schemas.openxmlformats.org/drawingml/2006/main">
            <a:pPr eaLnBrk="0">
              <a:lnSpc>
                <a:spcPts val="2625"/>
              </a:lnSpc>
              <a:spcBef>
                <a:spcPts val="0"/>
              </a:spcBef>
              <a:spcAft>
                <a:spcPts val="0"/>
              </a:spcAft>
            </a:pPr>
            <a:r>
              <a:rPr sz="2100" b="1">
                <a:solidFill>
                  <a:srgbClr val="004EA2"/>
                </a:solidFill>
                <a:latin typeface="Noto Sans KR"/>
              </a:rPr>
              <a:t>환급 프로그램</a:t>
            </a:r>
          </a:p>
        </p:txBody>
      </p:sp>
      <p:sp>
        <p:nvSpPr>
          <p:cNvPr id="17" name="corner-tl-h">
            <a:extLst xmlns:a="http://schemas.openxmlformats.org/drawingml/2006/main">
              <a:ext uri="{FF2B5EF4-FFF2-40B4-BE49-F238E27FC236}">
                <a16:creationId xmlns:a16="http://schemas.microsoft.com/office/drawing/2014/main" id="{85098CA2-D674-4C13-AAED-97DC2B1668DD}"/>
              </a:ext>
            </a:extLst>
          </p:cNvPr>
          <p:cNvSpPr>
            <a:spLocks xmlns:a="http://schemas.openxmlformats.org/drawingml/2006/main" noGrp="1"/>
          </p:cNvSpPr>
          <p:nvPr/>
        </p:nvSpPr>
        <p:spPr>
          <a:xfrm xmlns:a="http://schemas.openxmlformats.org/drawingml/2006/main">
            <a:off x="647700" y="619125"/>
            <a:ext cx="29527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corner-tl-v">
            <a:extLst xmlns:a="http://schemas.openxmlformats.org/drawingml/2006/main">
              <a:ext uri="{FF2B5EF4-FFF2-40B4-BE49-F238E27FC236}">
                <a16:creationId xmlns:a16="http://schemas.microsoft.com/office/drawing/2014/main" id="{30186634-254F-4224-B08F-40BB6E5B3F86}"/>
              </a:ext>
            </a:extLst>
          </p:cNvPr>
          <p:cNvSpPr>
            <a:spLocks xmlns:a="http://schemas.openxmlformats.org/drawingml/2006/main" noGrp="1"/>
          </p:cNvSpPr>
          <p:nvPr/>
        </p:nvSpPr>
        <p:spPr>
          <a:xfrm xmlns:a="http://schemas.openxmlformats.org/drawingml/2006/main">
            <a:off x="647700" y="619125"/>
            <a:ext cx="0" cy="295275"/>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corner-br-h">
            <a:extLst xmlns:a="http://schemas.openxmlformats.org/drawingml/2006/main">
              <a:ext uri="{FF2B5EF4-FFF2-40B4-BE49-F238E27FC236}">
                <a16:creationId xmlns:a16="http://schemas.microsoft.com/office/drawing/2014/main" id="{95077333-21E3-42BF-9CBB-698C3BEE5E88}"/>
              </a:ext>
            </a:extLst>
          </p:cNvPr>
          <p:cNvSpPr>
            <a:spLocks xmlns:a="http://schemas.openxmlformats.org/drawingml/2006/main" noGrp="1"/>
          </p:cNvSpPr>
          <p:nvPr/>
        </p:nvSpPr>
        <p:spPr>
          <a:xfrm xmlns:a="http://schemas.openxmlformats.org/drawingml/2006/main">
            <a:off x="14582775" y="7943850"/>
            <a:ext cx="29527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corner-br-v">
            <a:extLst xmlns:a="http://schemas.openxmlformats.org/drawingml/2006/main">
              <a:ext uri="{FF2B5EF4-FFF2-40B4-BE49-F238E27FC236}">
                <a16:creationId xmlns:a16="http://schemas.microsoft.com/office/drawing/2014/main" id="{81015BD6-64EA-4BC0-A2BD-BDDA9641DC61}"/>
              </a:ext>
            </a:extLst>
          </p:cNvPr>
          <p:cNvSpPr>
            <a:spLocks xmlns:a="http://schemas.openxmlformats.org/drawingml/2006/main" noGrp="1"/>
          </p:cNvSpPr>
          <p:nvPr/>
        </p:nvSpPr>
        <p:spPr>
          <a:xfrm xmlns:a="http://schemas.openxmlformats.org/drawingml/2006/main">
            <a:off x="14878050" y="7648575"/>
            <a:ext cx="0" cy="295275"/>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655411831"/>
      </p:ext>
    </p:extLst>
  </p:cSld>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근거·데이터·출처</a:t>
            </a:r>
          </a:p>
        </p:txBody>
      </p:sp>
      <p:sp>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전체 자료명과 머신러닝 모델 2/3 · 파란 자료명을 누르면 원문으로 이동합니다.</a:t>
            </a:r>
          </a:p>
          <a:p>
            <a:pPr eaLnBrk="0">
              <a:lnSpc>
                <a:spcPts val="1781"/>
              </a:lnSpc>
              <a:spcBef>
                <a:spcPts val="0"/>
              </a:spcBef>
              <a:spcAft>
                <a:spcPts val="0"/>
              </a:spcAft>
            </a:pPr>
            <a:r>
              <a:rPr sz="1425" b="0">
                <a:solidFill>
                  <a:srgbClr val="59636E"/>
                </a:solidFill>
                <a:latin typeface="Noto Sans KR"/>
              </a:rPr>
              <a:t>예측거리·누락 범위의 해석 주의가 필요합니다.</a:t>
            </a:r>
          </a:p>
        </p:txBody>
      </p:sp>
      <p:sp>
        <p:nvSpPr>
          <p:cNvPr id="5" name="reference-0"/>
          <p:cNvSpPr txBox="1"/>
          <p:nvPr/>
        </p:nvSpPr>
        <p:spPr>
          <a:xfrm>
            <a:off x="1009650" y="2571750"/>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관측 데이터 D20 한국관광 데이터랩 전국 빅데이터</a:t>
            </a:r>
          </a:p>
          <a:p>
            <a:pPr eaLnBrk="0">
              <a:lnSpc>
                <a:spcPts val="1687"/>
              </a:lnSpc>
              <a:spcBef>
                <a:spcPts val="0"/>
              </a:spcBef>
              <a:spcAft>
                <a:spcPts val="0"/>
              </a:spcAft>
            </a:pPr>
            <a:r>
              <a:rPr sz="1350" b="0" u="none">
                <a:solidFill>
                  <a:srgbClr val="004EA2"/>
                </a:solidFill>
                <a:latin typeface="Noto Sans KR"/>
                <a:hlinkClick r:id="rId2"/>
              </a:rPr>
              <a:t>다운로드 ·</a:t>
            </a:r>
          </a:p>
          <a:p>
            <a:pPr eaLnBrk="0">
              <a:lnSpc>
                <a:spcPts val="1687"/>
              </a:lnSpc>
              <a:spcBef>
                <a:spcPts val="0"/>
              </a:spcBef>
              <a:spcAft>
                <a:spcPts val="0"/>
              </a:spcAft>
            </a:pPr>
            <a:r>
              <a:rPr sz="1350" b="0" u="none">
                <a:solidFill>
                  <a:srgbClr val="004EA2"/>
                </a:solidFill>
                <a:latin typeface="Noto Sans KR"/>
                <a:hlinkClick r:id="rId2"/>
              </a:rPr>
              <a:t>이동통신/외국인/20260820141649_전국_202501-202512</a:t>
            </a:r>
          </a:p>
          <a:p>
            <a:pPr eaLnBrk="0">
              <a:lnSpc>
                <a:spcPts val="1687"/>
              </a:lnSpc>
              <a:spcBef>
                <a:spcPts val="0"/>
              </a:spcBef>
              <a:spcAft>
                <a:spcPts val="0"/>
              </a:spcAft>
            </a:pPr>
            <a:r>
              <a:rPr sz="1350" b="0" u="none">
                <a:solidFill>
                  <a:srgbClr val="004EA2"/>
                </a:solidFill>
                <a:latin typeface="Noto Sans KR"/>
                <a:hlinkClick r:id="rId2"/>
              </a:rPr>
              <a:t>_데이터랩_다운로드.zip 2026-01 ~ 2026-06</a:t>
            </a:r>
          </a:p>
        </p:txBody>
      </p:sp>
      <p:sp>
        <p:nvSpPr>
          <p:cNvPr id="6" name="reference-1"/>
          <p:cNvSpPr txBox="1"/>
          <p:nvPr/>
        </p:nvSpPr>
        <p:spPr>
          <a:xfrm>
            <a:off x="1009650" y="3600450"/>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관측 데이터 D21 한국관광 데이터랩 전국 빅데이터</a:t>
            </a:r>
          </a:p>
          <a:p>
            <a:pPr eaLnBrk="0">
              <a:lnSpc>
                <a:spcPts val="1687"/>
              </a:lnSpc>
              <a:spcBef>
                <a:spcPts val="0"/>
              </a:spcBef>
              <a:spcAft>
                <a:spcPts val="0"/>
              </a:spcAft>
            </a:pPr>
            <a:r>
              <a:rPr sz="1350" b="0" u="none">
                <a:solidFill>
                  <a:srgbClr val="004EA2"/>
                </a:solidFill>
                <a:latin typeface="Noto Sans KR"/>
                <a:hlinkClick r:id="rId2"/>
              </a:rPr>
              <a:t>다운로드 · 신용카드/내국인/지역별</a:t>
            </a:r>
          </a:p>
          <a:p>
            <a:pPr eaLnBrk="0">
              <a:lnSpc>
                <a:spcPts val="1687"/>
              </a:lnSpc>
              <a:spcBef>
                <a:spcPts val="0"/>
              </a:spcBef>
              <a:spcAft>
                <a:spcPts val="0"/>
              </a:spcAft>
            </a:pPr>
            <a:r>
              <a:rPr sz="1350" b="0" u="none">
                <a:solidFill>
                  <a:srgbClr val="004EA2"/>
                </a:solidFill>
                <a:latin typeface="Noto Sans KR"/>
                <a:hlinkClick r:id="rId2"/>
              </a:rPr>
              <a:t>관광지출액/20260820135957__202501-202512_데이터랩</a:t>
            </a:r>
          </a:p>
          <a:p>
            <a:pPr eaLnBrk="0">
              <a:lnSpc>
                <a:spcPts val="1687"/>
              </a:lnSpc>
              <a:spcBef>
                <a:spcPts val="0"/>
              </a:spcBef>
              <a:spcAft>
                <a:spcPts val="0"/>
              </a:spcAft>
            </a:pPr>
            <a:r>
              <a:rPr sz="1350" b="0" u="none">
                <a:solidFill>
                  <a:srgbClr val="004EA2"/>
                </a:solidFill>
                <a:latin typeface="Noto Sans KR"/>
                <a:hlinkClick r:id="rId2"/>
              </a:rPr>
              <a:t>_다운로드.zip 2026-01 ~ 2026-06</a:t>
            </a:r>
          </a:p>
        </p:txBody>
      </p:sp>
      <p:sp>
        <p:nvSpPr>
          <p:cNvPr id="7" name="reference-2"/>
          <p:cNvSpPr txBox="1"/>
          <p:nvPr/>
        </p:nvSpPr>
        <p:spPr>
          <a:xfrm>
            <a:off x="1009650" y="4629150"/>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관측 데이터 D22 한국관광 데이터랩 전국 빅데이터</a:t>
            </a:r>
          </a:p>
          <a:p>
            <a:pPr eaLnBrk="0">
              <a:lnSpc>
                <a:spcPts val="1687"/>
              </a:lnSpc>
              <a:spcBef>
                <a:spcPts val="0"/>
              </a:spcBef>
              <a:spcAft>
                <a:spcPts val="0"/>
              </a:spcAft>
            </a:pPr>
            <a:r>
              <a:rPr sz="1350" b="0" u="none">
                <a:solidFill>
                  <a:srgbClr val="004EA2"/>
                </a:solidFill>
                <a:latin typeface="Noto Sans KR"/>
                <a:hlinkClick r:id="rId2"/>
              </a:rPr>
              <a:t>다운로드 · 신용카드/외국인/지역별</a:t>
            </a:r>
          </a:p>
          <a:p>
            <a:pPr eaLnBrk="0">
              <a:lnSpc>
                <a:spcPts val="1687"/>
              </a:lnSpc>
              <a:spcBef>
                <a:spcPts val="0"/>
              </a:spcBef>
              <a:spcAft>
                <a:spcPts val="0"/>
              </a:spcAft>
            </a:pPr>
            <a:r>
              <a:rPr sz="1350" b="0" u="none">
                <a:solidFill>
                  <a:srgbClr val="004EA2"/>
                </a:solidFill>
                <a:latin typeface="Noto Sans KR"/>
                <a:hlinkClick r:id="rId2"/>
              </a:rPr>
              <a:t>관광지출액/20260820140409__202501-202512_데이터랩</a:t>
            </a:r>
          </a:p>
          <a:p>
            <a:pPr eaLnBrk="0">
              <a:lnSpc>
                <a:spcPts val="1687"/>
              </a:lnSpc>
              <a:spcBef>
                <a:spcPts val="0"/>
              </a:spcBef>
              <a:spcAft>
                <a:spcPts val="0"/>
              </a:spcAft>
            </a:pPr>
            <a:r>
              <a:rPr sz="1350" b="0" u="none">
                <a:solidFill>
                  <a:srgbClr val="004EA2"/>
                </a:solidFill>
                <a:latin typeface="Noto Sans KR"/>
                <a:hlinkClick r:id="rId2"/>
              </a:rPr>
              <a:t>_다운로드.zip 2026-01 ~ 2026-06</a:t>
            </a:r>
          </a:p>
        </p:txBody>
      </p:sp>
      <p:sp>
        <p:nvSpPr>
          <p:cNvPr id="8" name="reference-3"/>
          <p:cNvSpPr txBox="1"/>
          <p:nvPr/>
        </p:nvSpPr>
        <p:spPr>
          <a:xfrm>
            <a:off x="1009650" y="5657850"/>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관측 데이터 D23 한국관광 데이터랩 전국 빅데이터</a:t>
            </a:r>
          </a:p>
          <a:p>
            <a:pPr eaLnBrk="0">
              <a:lnSpc>
                <a:spcPts val="1687"/>
              </a:lnSpc>
              <a:spcBef>
                <a:spcPts val="0"/>
              </a:spcBef>
              <a:spcAft>
                <a:spcPts val="0"/>
              </a:spcAft>
            </a:pPr>
            <a:r>
              <a:rPr sz="1350" b="0" u="none">
                <a:solidFill>
                  <a:srgbClr val="004EA2"/>
                </a:solidFill>
                <a:latin typeface="Noto Sans KR"/>
                <a:hlinkClick r:id="rId2"/>
              </a:rPr>
              <a:t>다운로드 · 네비게이션/지역별</a:t>
            </a:r>
          </a:p>
          <a:p>
            <a:pPr eaLnBrk="0">
              <a:lnSpc>
                <a:spcPts val="1687"/>
              </a:lnSpc>
              <a:spcBef>
                <a:spcPts val="0"/>
              </a:spcBef>
              <a:spcAft>
                <a:spcPts val="0"/>
              </a:spcAft>
            </a:pPr>
            <a:r>
              <a:rPr sz="1350" b="0" u="none">
                <a:solidFill>
                  <a:srgbClr val="004EA2"/>
                </a:solidFill>
                <a:latin typeface="Noto Sans KR"/>
                <a:hlinkClick r:id="rId2"/>
              </a:rPr>
              <a:t>검색건수/20260820132007__202501-202512_데이터랩_</a:t>
            </a:r>
          </a:p>
          <a:p>
            <a:pPr eaLnBrk="0">
              <a:lnSpc>
                <a:spcPts val="1687"/>
              </a:lnSpc>
              <a:spcBef>
                <a:spcPts val="0"/>
              </a:spcBef>
              <a:spcAft>
                <a:spcPts val="0"/>
              </a:spcAft>
            </a:pPr>
            <a:r>
              <a:rPr sz="1350" b="0" u="none">
                <a:solidFill>
                  <a:srgbClr val="004EA2"/>
                </a:solidFill>
                <a:latin typeface="Noto Sans KR"/>
                <a:hlinkClick r:id="rId2"/>
              </a:rPr>
              <a:t>다운로드.zip 2026-01 ~ 2026-06</a:t>
            </a:r>
          </a:p>
        </p:txBody>
      </p:sp>
      <p:sp>
        <p:nvSpPr>
          <p:cNvPr id="9" name="reference-4"/>
          <p:cNvSpPr txBox="1"/>
          <p:nvPr/>
        </p:nvSpPr>
        <p:spPr>
          <a:xfrm>
            <a:off x="1009650" y="6686550"/>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관측 데이터 D24 한국관광 데이터랩 전국 빅데이터</a:t>
            </a:r>
          </a:p>
          <a:p>
            <a:pPr eaLnBrk="0">
              <a:lnSpc>
                <a:spcPts val="1687"/>
              </a:lnSpc>
              <a:spcBef>
                <a:spcPts val="0"/>
              </a:spcBef>
              <a:spcAft>
                <a:spcPts val="0"/>
              </a:spcAft>
            </a:pPr>
            <a:r>
              <a:rPr sz="1350" b="0" u="none">
                <a:solidFill>
                  <a:srgbClr val="004EA2"/>
                </a:solidFill>
                <a:latin typeface="Noto Sans KR"/>
                <a:hlinkClick r:id="rId2"/>
              </a:rPr>
              <a:t>다운로드 · 이동통신/내국인/지역별</a:t>
            </a:r>
          </a:p>
          <a:p>
            <a:pPr eaLnBrk="0">
              <a:lnSpc>
                <a:spcPts val="1687"/>
              </a:lnSpc>
              <a:spcBef>
                <a:spcPts val="0"/>
              </a:spcBef>
              <a:spcAft>
                <a:spcPts val="0"/>
              </a:spcAft>
            </a:pPr>
            <a:r>
              <a:rPr sz="1350" b="0" u="none">
                <a:solidFill>
                  <a:srgbClr val="004EA2"/>
                </a:solidFill>
                <a:latin typeface="Noto Sans KR"/>
                <a:hlinkClick r:id="rId2"/>
              </a:rPr>
              <a:t>방문자수/20260820140624__202401-202412_데이터랩_</a:t>
            </a:r>
          </a:p>
          <a:p>
            <a:pPr eaLnBrk="0">
              <a:lnSpc>
                <a:spcPts val="1687"/>
              </a:lnSpc>
              <a:spcBef>
                <a:spcPts val="0"/>
              </a:spcBef>
              <a:spcAft>
                <a:spcPts val="0"/>
              </a:spcAft>
            </a:pPr>
            <a:r>
              <a:rPr sz="1350" b="0" u="none">
                <a:solidFill>
                  <a:srgbClr val="004EA2"/>
                </a:solidFill>
                <a:latin typeface="Noto Sans KR"/>
                <a:hlinkClick r:id="rId2"/>
              </a:rPr>
              <a:t>다운로드.zip 2026-01 ~ 2026-06</a:t>
            </a:r>
          </a:p>
        </p:txBody>
      </p:sp>
      <p:sp>
        <p:nvSpPr>
          <p:cNvPr id="10" name="reference-5"/>
          <p:cNvSpPr txBox="1"/>
          <p:nvPr/>
        </p:nvSpPr>
        <p:spPr>
          <a:xfrm>
            <a:off x="5486400" y="2571750"/>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관측 데이터 D25 한국관광 데이터랩 전국 빅데이터</a:t>
            </a:r>
          </a:p>
          <a:p>
            <a:pPr eaLnBrk="0">
              <a:lnSpc>
                <a:spcPts val="1687"/>
              </a:lnSpc>
              <a:spcBef>
                <a:spcPts val="0"/>
              </a:spcBef>
              <a:spcAft>
                <a:spcPts val="0"/>
              </a:spcAft>
            </a:pPr>
            <a:r>
              <a:rPr sz="1350" b="0" u="none">
                <a:solidFill>
                  <a:srgbClr val="004EA2"/>
                </a:solidFill>
                <a:latin typeface="Noto Sans KR"/>
                <a:hlinkClick r:id="rId2"/>
              </a:rPr>
              <a:t>다운로드 ·</a:t>
            </a:r>
          </a:p>
          <a:p>
            <a:pPr eaLnBrk="0">
              <a:lnSpc>
                <a:spcPts val="1687"/>
              </a:lnSpc>
              <a:spcBef>
                <a:spcPts val="0"/>
              </a:spcBef>
              <a:spcAft>
                <a:spcPts val="0"/>
              </a:spcAft>
            </a:pPr>
            <a:r>
              <a:rPr sz="1350" b="0" u="none">
                <a:solidFill>
                  <a:srgbClr val="004EA2"/>
                </a:solidFill>
                <a:latin typeface="Noto Sans KR"/>
                <a:hlinkClick r:id="rId2"/>
              </a:rPr>
              <a:t>이동통신/외국인/20260820141639_전국_202401-202412</a:t>
            </a:r>
          </a:p>
          <a:p>
            <a:pPr eaLnBrk="0">
              <a:lnSpc>
                <a:spcPts val="1687"/>
              </a:lnSpc>
              <a:spcBef>
                <a:spcPts val="0"/>
              </a:spcBef>
              <a:spcAft>
                <a:spcPts val="0"/>
              </a:spcAft>
            </a:pPr>
            <a:r>
              <a:rPr sz="1350" b="0" u="none">
                <a:solidFill>
                  <a:srgbClr val="004EA2"/>
                </a:solidFill>
                <a:latin typeface="Noto Sans KR"/>
                <a:hlinkClick r:id="rId2"/>
              </a:rPr>
              <a:t>_데이터랩_다운로드.zip 2026-01 ~ 2026-06</a:t>
            </a:r>
          </a:p>
        </p:txBody>
      </p:sp>
      <p:sp>
        <p:nvSpPr>
          <p:cNvPr id="11" name="reference-6"/>
          <p:cNvSpPr txBox="1"/>
          <p:nvPr/>
        </p:nvSpPr>
        <p:spPr>
          <a:xfrm>
            <a:off x="5486400" y="360045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관측 데이터 D26 한국관광 데이터랩 지역별 관광 현황 · ·</a:t>
            </a:r>
          </a:p>
          <a:p>
            <a:pPr eaLnBrk="0">
              <a:lnSpc>
                <a:spcPts val="1687"/>
              </a:lnSpc>
              <a:spcBef>
                <a:spcPts val="0"/>
              </a:spcBef>
              <a:spcAft>
                <a:spcPts val="0"/>
              </a:spcAft>
            </a:pPr>
            <a:r>
              <a:rPr sz="1350" b="0" u="none">
                <a:solidFill>
                  <a:srgbClr val="004EA2"/>
                </a:solidFill>
                <a:latin typeface="Noto Sans KR"/>
                <a:hlinkClick r:id="rId2"/>
              </a:rPr>
              <a:t>유입유출 2025-07 ~ 2026-06</a:t>
            </a:r>
          </a:p>
        </p:txBody>
      </p:sp>
      <p:sp>
        <p:nvSpPr>
          <p:cNvPr id="12" name="reference-7"/>
          <p:cNvSpPr txBox="1"/>
          <p:nvPr/>
        </p:nvSpPr>
        <p:spPr>
          <a:xfrm>
            <a:off x="5486400" y="4200525"/>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관측 데이터 D27 한국관광 데이터랩 지역별 관광 현황 · ·</a:t>
            </a:r>
          </a:p>
          <a:p>
            <a:pPr eaLnBrk="0">
              <a:lnSpc>
                <a:spcPts val="1687"/>
              </a:lnSpc>
              <a:spcBef>
                <a:spcPts val="0"/>
              </a:spcBef>
              <a:spcAft>
                <a:spcPts val="0"/>
              </a:spcAft>
            </a:pPr>
            <a:r>
              <a:rPr sz="1350" b="0" u="none">
                <a:solidFill>
                  <a:srgbClr val="004EA2"/>
                </a:solidFill>
                <a:latin typeface="Noto Sans KR"/>
                <a:hlinkClick r:id="rId2"/>
              </a:rPr>
              <a:t>인기관광지 2025-07 ~ 2026-06</a:t>
            </a:r>
          </a:p>
        </p:txBody>
      </p:sp>
      <p:sp>
        <p:nvSpPr>
          <p:cNvPr id="13" name="reference-8"/>
          <p:cNvSpPr txBox="1"/>
          <p:nvPr/>
        </p:nvSpPr>
        <p:spPr>
          <a:xfrm>
            <a:off x="5486400" y="480060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관측 데이터 D28 한국관광 데이터랩 지역별 관광 현황 · ·</a:t>
            </a:r>
          </a:p>
          <a:p>
            <a:pPr eaLnBrk="0">
              <a:lnSpc>
                <a:spcPts val="1687"/>
              </a:lnSpc>
              <a:spcBef>
                <a:spcPts val="0"/>
              </a:spcBef>
              <a:spcAft>
                <a:spcPts val="0"/>
              </a:spcAft>
            </a:pPr>
            <a:r>
              <a:rPr sz="1350" b="0" u="none">
                <a:solidFill>
                  <a:srgbClr val="004EA2"/>
                </a:solidFill>
                <a:latin typeface="Noto Sans KR"/>
                <a:hlinkClick r:id="rId2"/>
              </a:rPr>
              <a:t>지역집중률 2025-07 ~ 2026-06</a:t>
            </a:r>
          </a:p>
        </p:txBody>
      </p:sp>
      <p:sp>
        <p:nvSpPr>
          <p:cNvPr id="14" name="reference-9"/>
          <p:cNvSpPr txBox="1"/>
          <p:nvPr/>
        </p:nvSpPr>
        <p:spPr>
          <a:xfrm>
            <a:off x="5486400" y="5400675"/>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머신러닝 예측치 방문자 수 RandomForestRegressor</a:t>
            </a:r>
          </a:p>
          <a:p>
            <a:pPr eaLnBrk="0">
              <a:lnSpc>
                <a:spcPts val="1687"/>
              </a:lnSpc>
              <a:spcBef>
                <a:spcPts val="0"/>
              </a:spcBef>
              <a:spcAft>
                <a:spcPts val="0"/>
              </a:spcAft>
            </a:pPr>
            <a:r>
              <a:rPr sz="1350" b="0">
                <a:solidFill>
                  <a:srgbClr val="004EA2"/>
                </a:solidFill>
                <a:latin typeface="Noto Sans KR"/>
              </a:rPr>
              <a:t>최종 월 2,018,187명</a:t>
            </a:r>
          </a:p>
        </p:txBody>
      </p:sp>
      <p:sp>
        <p:nvSpPr>
          <p:cNvPr id="15" name="reference-10"/>
          <p:cNvSpPr txBox="1"/>
          <p:nvPr/>
        </p:nvSpPr>
        <p:spPr>
          <a:xfrm>
            <a:off x="5486400" y="600075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머신러닝 예측치 관광소비액 전년동월 계절 기준선</a:t>
            </a:r>
          </a:p>
          <a:p>
            <a:pPr eaLnBrk="0">
              <a:lnSpc>
                <a:spcPts val="1687"/>
              </a:lnSpc>
              <a:spcBef>
                <a:spcPts val="0"/>
              </a:spcBef>
              <a:spcAft>
                <a:spcPts val="0"/>
              </a:spcAft>
            </a:pPr>
            <a:r>
              <a:rPr sz="1350" b="0">
                <a:solidFill>
                  <a:srgbClr val="004EA2"/>
                </a:solidFill>
                <a:latin typeface="Noto Sans KR"/>
              </a:rPr>
              <a:t>최종 월 503.31억 원</a:t>
            </a:r>
          </a:p>
        </p:txBody>
      </p:sp>
      <p:sp>
        <p:nvSpPr>
          <p:cNvPr id="16" name="reference-11"/>
          <p:cNvSpPr txBox="1"/>
          <p:nvPr/>
        </p:nvSpPr>
        <p:spPr>
          <a:xfrm>
            <a:off x="5486400" y="6600825"/>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머신러닝 예측치 평균 체류시간 전년동월 계절</a:t>
            </a:r>
          </a:p>
          <a:p>
            <a:pPr eaLnBrk="0">
              <a:lnSpc>
                <a:spcPts val="1687"/>
              </a:lnSpc>
              <a:spcBef>
                <a:spcPts val="0"/>
              </a:spcBef>
              <a:spcAft>
                <a:spcPts val="0"/>
              </a:spcAft>
            </a:pPr>
            <a:r>
              <a:rPr sz="1350" b="0">
                <a:solidFill>
                  <a:srgbClr val="004EA2"/>
                </a:solidFill>
                <a:latin typeface="Noto Sans KR"/>
              </a:rPr>
              <a:t>기준선 최종 월 1,501분</a:t>
            </a:r>
          </a:p>
        </p:txBody>
      </p:sp>
      <p:sp>
        <p:nvSpPr>
          <p:cNvPr id="17" name="reference-12"/>
          <p:cNvSpPr txBox="1"/>
          <p:nvPr/>
        </p:nvSpPr>
        <p:spPr>
          <a:xfrm>
            <a:off x="5486400" y="720090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머신러닝 예측치 평균 숙박일수 전년동월 계절</a:t>
            </a:r>
          </a:p>
          <a:p>
            <a:pPr eaLnBrk="0">
              <a:lnSpc>
                <a:spcPts val="1687"/>
              </a:lnSpc>
              <a:spcBef>
                <a:spcPts val="0"/>
              </a:spcBef>
              <a:spcAft>
                <a:spcPts val="0"/>
              </a:spcAft>
            </a:pPr>
            <a:r>
              <a:rPr sz="1350" b="0">
                <a:solidFill>
                  <a:srgbClr val="004EA2"/>
                </a:solidFill>
                <a:latin typeface="Noto Sans KR"/>
              </a:rPr>
              <a:t>기준선 최종 월 2.62일</a:t>
            </a:r>
          </a:p>
        </p:txBody>
      </p:sp>
      <p:sp>
        <p:nvSpPr>
          <p:cNvPr id="18" name="reference-13"/>
          <p:cNvSpPr txBox="1"/>
          <p:nvPr/>
        </p:nvSpPr>
        <p:spPr>
          <a:xfrm>
            <a:off x="9963150" y="257175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머신러닝 예측치 숙박방문자 비율 전년동월 계절</a:t>
            </a:r>
          </a:p>
          <a:p>
            <a:pPr eaLnBrk="0">
              <a:lnSpc>
                <a:spcPts val="1687"/>
              </a:lnSpc>
              <a:spcBef>
                <a:spcPts val="0"/>
              </a:spcBef>
              <a:spcAft>
                <a:spcPts val="0"/>
              </a:spcAft>
            </a:pPr>
            <a:r>
              <a:rPr sz="1350" b="0">
                <a:solidFill>
                  <a:srgbClr val="004EA2"/>
                </a:solidFill>
                <a:latin typeface="Noto Sans KR"/>
              </a:rPr>
              <a:t>기준선 최종 월 13%</a:t>
            </a:r>
          </a:p>
        </p:txBody>
      </p:sp>
      <p:sp>
        <p:nvSpPr>
          <p:cNvPr id="19" name="reference-14"/>
          <p:cNvSpPr txBox="1"/>
          <p:nvPr/>
        </p:nvSpPr>
        <p:spPr>
          <a:xfrm>
            <a:off x="9963150" y="3171825"/>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머신러닝 예측치 숙박 목적지 검색량 전년동월 계절</a:t>
            </a:r>
          </a:p>
          <a:p>
            <a:pPr eaLnBrk="0">
              <a:lnSpc>
                <a:spcPts val="1687"/>
              </a:lnSpc>
              <a:spcBef>
                <a:spcPts val="0"/>
              </a:spcBef>
              <a:spcAft>
                <a:spcPts val="0"/>
              </a:spcAft>
            </a:pPr>
            <a:r>
              <a:rPr sz="1350" b="0">
                <a:solidFill>
                  <a:srgbClr val="004EA2"/>
                </a:solidFill>
                <a:latin typeface="Noto Sans KR"/>
              </a:rPr>
              <a:t>기준선 최종 월 30,423건</a:t>
            </a:r>
          </a:p>
        </p:txBody>
      </p:sp>
      <p:sp>
        <p:nvSpPr>
          <p:cNvPr id="20" name="reference-15"/>
          <p:cNvSpPr txBox="1"/>
          <p:nvPr/>
        </p:nvSpPr>
        <p:spPr>
          <a:xfrm>
            <a:off x="9963150" y="377190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머신러닝 예측치 내비게이션 검색량 전년동월 계절</a:t>
            </a:r>
          </a:p>
          <a:p>
            <a:pPr eaLnBrk="0">
              <a:lnSpc>
                <a:spcPts val="1687"/>
              </a:lnSpc>
              <a:spcBef>
                <a:spcPts val="0"/>
              </a:spcBef>
              <a:spcAft>
                <a:spcPts val="0"/>
              </a:spcAft>
            </a:pPr>
            <a:r>
              <a:rPr sz="1350" b="0">
                <a:solidFill>
                  <a:srgbClr val="004EA2"/>
                </a:solidFill>
                <a:latin typeface="Noto Sans KR"/>
              </a:rPr>
              <a:t>기준선 최종 월 322,218건</a:t>
            </a:r>
          </a:p>
        </p:txBody>
      </p:sp>
      <p:sp>
        <p:nvSpPr>
          <p:cNvPr id="21" name="reference-16"/>
          <p:cNvSpPr txBox="1"/>
          <p:nvPr/>
        </p:nvSpPr>
        <p:spPr>
          <a:xfrm>
            <a:off x="9963150" y="4371975"/>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3"/>
              </a:rPr>
              <a:t>공식 사례·문서 D50 요즘, 한국관광 2호 - 지방공항 연계</a:t>
            </a:r>
          </a:p>
          <a:p>
            <a:pPr eaLnBrk="0">
              <a:lnSpc>
                <a:spcPts val="1687"/>
              </a:lnSpc>
              <a:spcBef>
                <a:spcPts val="0"/>
              </a:spcBef>
              <a:spcAft>
                <a:spcPts val="0"/>
              </a:spcAft>
            </a:pPr>
            <a:r>
              <a:rPr sz="1350" b="0" u="none">
                <a:solidFill>
                  <a:srgbClr val="004EA2"/>
                </a:solidFill>
                <a:latin typeface="Noto Sans KR"/>
                <a:hlinkClick r:id="rId3"/>
              </a:rPr>
              <a:t>지역관광 활성화 방안 · PDF 44쪽 외 9쪽 (10개</a:t>
            </a:r>
          </a:p>
          <a:p>
            <a:pPr eaLnBrk="0">
              <a:lnSpc>
                <a:spcPts val="1687"/>
              </a:lnSpc>
              <a:spcBef>
                <a:spcPts val="0"/>
              </a:spcBef>
              <a:spcAft>
                <a:spcPts val="0"/>
              </a:spcAft>
            </a:pPr>
            <a:r>
              <a:rPr sz="1350" b="0" u="none">
                <a:solidFill>
                  <a:srgbClr val="004EA2"/>
                </a:solidFill>
                <a:latin typeface="Noto Sans KR"/>
                <a:hlinkClick r:id="rId3"/>
              </a:rPr>
              <a:t>청크) datalab.visitkorea.or.kr</a:t>
            </a:r>
          </a:p>
        </p:txBody>
      </p:sp>
      <p:sp>
        <p:nvSpPr>
          <p:cNvPr id="22" name="reference-17"/>
          <p:cNvSpPr txBox="1"/>
          <p:nvPr/>
        </p:nvSpPr>
        <p:spPr>
          <a:xfrm>
            <a:off x="9963150" y="5186362"/>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4"/>
              </a:rPr>
              <a:t>공식 사례·문서 D51 전주시 2026년도 관광산업과</a:t>
            </a:r>
          </a:p>
          <a:p>
            <a:pPr eaLnBrk="0">
              <a:lnSpc>
                <a:spcPts val="1687"/>
              </a:lnSpc>
              <a:spcBef>
                <a:spcPts val="0"/>
              </a:spcBef>
              <a:spcAft>
                <a:spcPts val="0"/>
              </a:spcAft>
            </a:pPr>
            <a:r>
              <a:rPr sz="1350" b="0" u="none">
                <a:solidFill>
                  <a:srgbClr val="004EA2"/>
                </a:solidFill>
                <a:latin typeface="Noto Sans KR"/>
                <a:hlinkClick r:id="rId4"/>
              </a:rPr>
              <a:t>세출예산 사업명세서 jeonju.go.kr</a:t>
            </a:r>
          </a:p>
        </p:txBody>
      </p:sp>
      <p:sp>
        <p:nvSpPr>
          <p:cNvPr id="23" name="reference-18"/>
          <p:cNvSpPr txBox="1"/>
          <p:nvPr/>
        </p:nvSpPr>
        <p:spPr>
          <a:xfrm>
            <a:off x="9963150" y="5786438"/>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5"/>
              </a:rPr>
              <a:t>공식 사례·문서 D52 섬에서의 특별한 경험, ‘인천 섬</a:t>
            </a:r>
          </a:p>
          <a:p>
            <a:pPr eaLnBrk="0">
              <a:lnSpc>
                <a:spcPts val="1687"/>
              </a:lnSpc>
              <a:spcBef>
                <a:spcPts val="0"/>
              </a:spcBef>
              <a:spcAft>
                <a:spcPts val="0"/>
              </a:spcAft>
            </a:pPr>
            <a:r>
              <a:rPr sz="1350" b="0" u="none">
                <a:solidFill>
                  <a:srgbClr val="004EA2"/>
                </a:solidFill>
                <a:latin typeface="Noto Sans KR"/>
                <a:hlinkClick r:id="rId5"/>
              </a:rPr>
              <a:t>도도하게 살아보기’로 누린다 www.incheon.go.kr</a:t>
            </a:r>
          </a:p>
        </p:txBody>
      </p:sp>
      <p:sp>
        <p:nvSpPr>
          <p:cNvPr id="24" name="reference-19"/>
          <p:cNvSpPr txBox="1"/>
          <p:nvPr/>
        </p:nvSpPr>
        <p:spPr>
          <a:xfrm>
            <a:off x="9963150" y="6386512"/>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공식 사례·문서 D53 강진 반값여행 지역경제 효과</a:t>
            </a:r>
          </a:p>
          <a:p>
            <a:pPr eaLnBrk="0">
              <a:lnSpc>
                <a:spcPts val="1687"/>
              </a:lnSpc>
              <a:spcBef>
                <a:spcPts val="0"/>
              </a:spcBef>
              <a:spcAft>
                <a:spcPts val="0"/>
              </a:spcAft>
            </a:pPr>
            <a:r>
              <a:rPr sz="1350" b="0" u="none">
                <a:solidFill>
                  <a:srgbClr val="004EA2"/>
                </a:solidFill>
                <a:latin typeface="Noto Sans KR"/>
                <a:hlinkClick r:id="rId6"/>
              </a:rPr>
              <a:t>소개 jnfarm.jeonnam.go.kr</a:t>
            </a:r>
          </a:p>
        </p:txBody>
      </p:sp>
      <p:sp>
        <p:nvSpPr>
          <p:cNvPr id="25" name="reference-20"/>
          <p:cNvSpPr txBox="1"/>
          <p:nvPr/>
        </p:nvSpPr>
        <p:spPr>
          <a:xfrm>
            <a:off x="9963150" y="6986588"/>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7"/>
              </a:rPr>
              <a:t>공식 사례·문서 D54 2024년 6월 여행가는 달 추진</a:t>
            </a:r>
          </a:p>
          <a:p>
            <a:pPr eaLnBrk="0">
              <a:lnSpc>
                <a:spcPts val="1687"/>
              </a:lnSpc>
              <a:spcBef>
                <a:spcPts val="0"/>
              </a:spcBef>
              <a:spcAft>
                <a:spcPts val="0"/>
              </a:spcAft>
            </a:pPr>
            <a:r>
              <a:rPr sz="1350" b="0" u="none">
                <a:solidFill>
                  <a:srgbClr val="004EA2"/>
                </a:solidFill>
                <a:latin typeface="Noto Sans KR"/>
                <a:hlinkClick r:id="rId7"/>
              </a:rPr>
              <a:t>보도자료 mcst.go.kr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근거·데이터·출처</a:t>
            </a:r>
          </a:p>
        </p:txBody>
      </p:sp>
      <p:sp>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전체 자료명과 머신러닝 모델 3/3 · 파란 자료명을 누르면 원문으로 이동합니다.</a:t>
            </a:r>
          </a:p>
          <a:p>
            <a:pPr eaLnBrk="0">
              <a:lnSpc>
                <a:spcPts val="1781"/>
              </a:lnSpc>
              <a:spcBef>
                <a:spcPts val="0"/>
              </a:spcBef>
              <a:spcAft>
                <a:spcPts val="0"/>
              </a:spcAft>
            </a:pPr>
            <a:r>
              <a:rPr sz="1425" b="0">
                <a:solidFill>
                  <a:srgbClr val="59636E"/>
                </a:solidFill>
                <a:latin typeface="Noto Sans KR"/>
              </a:rPr>
              <a:t>예측거리·누락 범위의 해석 주의가 필요합니다.</a:t>
            </a:r>
          </a:p>
        </p:txBody>
      </p:sp>
      <p:sp>
        <p:nvSpPr>
          <p:cNvPr id="5" name="reference-0"/>
          <p:cNvSpPr txBox="1"/>
          <p:nvPr/>
        </p:nvSpPr>
        <p:spPr>
          <a:xfrm>
            <a:off x="1009650" y="257175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공식 사례·문서 D55 2022 대한민국 숙박대전</a:t>
            </a:r>
          </a:p>
          <a:p>
            <a:pPr eaLnBrk="0">
              <a:lnSpc>
                <a:spcPts val="1687"/>
              </a:lnSpc>
              <a:spcBef>
                <a:spcPts val="0"/>
              </a:spcBef>
              <a:spcAft>
                <a:spcPts val="0"/>
              </a:spcAft>
            </a:pPr>
            <a:r>
              <a:rPr sz="1350" b="0" u="none">
                <a:solidFill>
                  <a:srgbClr val="004EA2"/>
                </a:solidFill>
                <a:latin typeface="Noto Sans KR"/>
                <a:hlinkClick r:id="rId2"/>
              </a:rPr>
              <a:t>경제파급효과 공개자료 kto.visitkorea.or.kr</a:t>
            </a:r>
          </a:p>
        </p:txBody>
      </p:sp>
      <p:sp>
        <p:nvSpPr>
          <p:cNvPr id="6" name="reference-1"/>
          <p:cNvSpPr txBox="1"/>
          <p:nvPr/>
        </p:nvSpPr>
        <p:spPr>
          <a:xfrm>
            <a:off x="1009650" y="3171825"/>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3"/>
              </a:rPr>
              <a:t>공식 사례·문서 D56 2025 대한민국 밤밤페스타 개최 도시</a:t>
            </a:r>
          </a:p>
          <a:p>
            <a:pPr eaLnBrk="0">
              <a:lnSpc>
                <a:spcPts val="1687"/>
              </a:lnSpc>
              <a:spcBef>
                <a:spcPts val="0"/>
              </a:spcBef>
              <a:spcAft>
                <a:spcPts val="0"/>
              </a:spcAft>
            </a:pPr>
            <a:r>
              <a:rPr sz="1350" b="0" u="none">
                <a:solidFill>
                  <a:srgbClr val="004EA2"/>
                </a:solidFill>
                <a:latin typeface="Noto Sans KR"/>
                <a:hlinkClick r:id="rId3"/>
              </a:rPr>
              <a:t>및 일정 korean.visitkorea.or.kr</a:t>
            </a:r>
          </a:p>
        </p:txBody>
      </p:sp>
      <p:sp>
        <p:nvSpPr>
          <p:cNvPr id="7" name="reference-2"/>
          <p:cNvSpPr txBox="1"/>
          <p:nvPr/>
        </p:nvSpPr>
        <p:spPr>
          <a:xfrm>
            <a:off x="1009650" y="377190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4"/>
              </a:rPr>
              <a:t>공식 사례·문서 D57 2024년도 정부업무평가 관광분야</a:t>
            </a:r>
          </a:p>
          <a:p>
            <a:pPr eaLnBrk="0">
              <a:lnSpc>
                <a:spcPts val="1687"/>
              </a:lnSpc>
              <a:spcBef>
                <a:spcPts val="0"/>
              </a:spcBef>
              <a:spcAft>
                <a:spcPts val="0"/>
              </a:spcAft>
            </a:pPr>
            <a:r>
              <a:rPr sz="1350" b="0" u="none">
                <a:solidFill>
                  <a:srgbClr val="004EA2"/>
                </a:solidFill>
                <a:latin typeface="Noto Sans KR"/>
                <a:hlinkClick r:id="rId4"/>
              </a:rPr>
              <a:t>성과자료 www.evaluation.go.kr</a:t>
            </a:r>
          </a:p>
        </p:txBody>
      </p:sp>
      <p:sp>
        <p:nvSpPr>
          <p:cNvPr id="8" name="reference-3"/>
          <p:cNvSpPr txBox="1"/>
          <p:nvPr/>
        </p:nvSpPr>
        <p:spPr>
          <a:xfrm>
            <a:off x="1009650" y="4371975"/>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5"/>
              </a:rPr>
              <a:t>관광자원·사진 D30 가보자순대국</a:t>
            </a:r>
          </a:p>
        </p:txBody>
      </p:sp>
      <p:sp>
        <p:nvSpPr>
          <p:cNvPr id="9" name="reference-4"/>
          <p:cNvSpPr txBox="1"/>
          <p:nvPr/>
        </p:nvSpPr>
        <p:spPr>
          <a:xfrm>
            <a:off x="1009650" y="4829175"/>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5"/>
              </a:rPr>
              <a:t>관광자원·사진 D31 가평1등수상레저</a:t>
            </a:r>
          </a:p>
        </p:txBody>
      </p:sp>
      <p:sp>
        <p:nvSpPr>
          <p:cNvPr id="10" name="reference-5"/>
          <p:cNvSpPr txBox="1"/>
          <p:nvPr/>
        </p:nvSpPr>
        <p:spPr>
          <a:xfrm>
            <a:off x="1009650" y="5286375"/>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5"/>
              </a:rPr>
              <a:t>관광자원·사진 D32 강원 경찰충혼탑</a:t>
            </a:r>
          </a:p>
        </p:txBody>
      </p:sp>
      <p:sp>
        <p:nvSpPr>
          <p:cNvPr id="11" name="reference-6"/>
          <p:cNvSpPr txBox="1"/>
          <p:nvPr/>
        </p:nvSpPr>
        <p:spPr>
          <a:xfrm>
            <a:off x="1009650" y="5743575"/>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5"/>
              </a:rPr>
              <a:t>관광자원·사진 D33 강원대학교중앙박물관</a:t>
            </a:r>
          </a:p>
        </p:txBody>
      </p:sp>
      <p:sp>
        <p:nvSpPr>
          <p:cNvPr id="12" name="reference-7"/>
          <p:cNvSpPr txBox="1"/>
          <p:nvPr/>
        </p:nvSpPr>
        <p:spPr>
          <a:xfrm>
            <a:off x="1009650" y="6200775"/>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5"/>
              </a:rPr>
              <a:t>관광자원·사진 D34 강원숲체험장</a:t>
            </a:r>
          </a:p>
        </p:txBody>
      </p:sp>
      <p:sp>
        <p:nvSpPr>
          <p:cNvPr id="13" name="reference-8"/>
          <p:cNvSpPr txBox="1"/>
          <p:nvPr/>
        </p:nvSpPr>
        <p:spPr>
          <a:xfrm>
            <a:off x="1009650" y="6657975"/>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5"/>
              </a:rPr>
              <a:t>관광자원·사진 D35 강원특별자치도청소년수련원</a:t>
            </a:r>
          </a:p>
        </p:txBody>
      </p:sp>
      <p:sp>
        <p:nvSpPr>
          <p:cNvPr id="14" name="reference-9"/>
          <p:cNvSpPr txBox="1"/>
          <p:nvPr/>
        </p:nvSpPr>
        <p:spPr>
          <a:xfrm>
            <a:off x="1009650" y="7115175"/>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5"/>
              </a:rPr>
              <a:t>관광자원·사진 D36 강촌 출렁다리공원</a:t>
            </a:r>
          </a:p>
        </p:txBody>
      </p:sp>
      <p:sp>
        <p:nvSpPr>
          <p:cNvPr id="15" name="reference-10"/>
          <p:cNvSpPr txBox="1"/>
          <p:nvPr/>
        </p:nvSpPr>
        <p:spPr>
          <a:xfrm>
            <a:off x="1009650" y="7572375"/>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5"/>
              </a:rPr>
              <a:t>관광자원·사진 D37 강촌레일파크(김유정레일바이크)</a:t>
            </a:r>
          </a:p>
        </p:txBody>
      </p:sp>
      <p:sp>
        <p:nvSpPr>
          <p:cNvPr id="16" name="reference-11"/>
          <p:cNvSpPr txBox="1"/>
          <p:nvPr/>
        </p:nvSpPr>
        <p:spPr>
          <a:xfrm>
            <a:off x="5486400" y="25717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5"/>
              </a:rPr>
              <a:t>관광자원·사진 D38 강촌버즈글램핑</a:t>
            </a:r>
          </a:p>
        </p:txBody>
      </p:sp>
      <p:sp>
        <p:nvSpPr>
          <p:cNvPr id="17" name="reference-12"/>
          <p:cNvSpPr txBox="1"/>
          <p:nvPr/>
        </p:nvSpPr>
        <p:spPr>
          <a:xfrm>
            <a:off x="5486400" y="30289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5"/>
              </a:rPr>
              <a:t>관광자원·사진 D39 강촌유원지</a:t>
            </a:r>
          </a:p>
        </p:txBody>
      </p:sp>
      <p:sp>
        <p:nvSpPr>
          <p:cNvPr id="18" name="reference-13"/>
          <p:cNvSpPr txBox="1"/>
          <p:nvPr/>
        </p:nvSpPr>
        <p:spPr>
          <a:xfrm>
            <a:off x="5486400" y="34861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5"/>
              </a:rPr>
              <a:t>관광자원·사진 D40 강촌하늘아래글램핑</a:t>
            </a:r>
          </a:p>
        </p:txBody>
      </p:sp>
      <p:sp>
        <p:nvSpPr>
          <p:cNvPr id="19" name="reference-14"/>
          <p:cNvSpPr txBox="1"/>
          <p:nvPr/>
        </p:nvSpPr>
        <p:spPr>
          <a:xfrm>
            <a:off x="5486400" y="39433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5"/>
              </a:rPr>
              <a:t>관광자원·사진 D41 경강막국수</a:t>
            </a:r>
          </a:p>
        </p:txBody>
      </p:sp>
      <p:sp>
        <p:nvSpPr>
          <p:cNvPr id="20" name="reference-15"/>
          <p:cNvSpPr txBox="1"/>
          <p:nvPr/>
        </p:nvSpPr>
        <p:spPr>
          <a:xfrm>
            <a:off x="5486400" y="44005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5"/>
              </a:rPr>
              <a:t>관광자원·사진 D42 고목</a:t>
            </a:r>
          </a:p>
        </p:txBody>
      </p:sp>
      <p:sp>
        <p:nvSpPr>
          <p:cNvPr id="21" name="reference-16"/>
          <p:cNvSpPr txBox="1"/>
          <p:nvPr/>
        </p:nvSpPr>
        <p:spPr>
          <a:xfrm>
            <a:off x="5486400" y="48577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5"/>
              </a:rPr>
              <a:t>관광자원·사진 D43 공지천 조각공원</a:t>
            </a:r>
          </a:p>
        </p:txBody>
      </p:sp>
      <p:sp>
        <p:nvSpPr>
          <p:cNvPr id="22" name="reference-17"/>
          <p:cNvSpPr txBox="1"/>
          <p:nvPr/>
        </p:nvSpPr>
        <p:spPr>
          <a:xfrm>
            <a:off x="5486400" y="53149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5"/>
              </a:rPr>
              <a:t>관광자원·사진 D44 구곡폭포 국민여가 캠핑장</a:t>
            </a:r>
          </a:p>
        </p:txBody>
      </p:sp>
      <p:sp>
        <p:nvSpPr>
          <p:cNvPr id="23" name="reference-18"/>
          <p:cNvSpPr txBox="1"/>
          <p:nvPr/>
        </p:nvSpPr>
        <p:spPr>
          <a:xfrm>
            <a:off x="5486400" y="57721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5"/>
              </a:rPr>
              <a:t>관광자원·사진 D45 구봉산</a:t>
            </a:r>
          </a:p>
        </p:txBody>
      </p:sp>
      <p:sp>
        <p:nvSpPr>
          <p:cNvPr id="24" name="reference-19"/>
          <p:cNvSpPr txBox="1"/>
          <p:nvPr/>
        </p:nvSpPr>
        <p:spPr>
          <a:xfrm>
            <a:off x="5486400" y="62293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5"/>
              </a:rPr>
              <a:t>관광자원·사진 D46 국립 용화산자연휴양림</a:t>
            </a:r>
          </a:p>
        </p:txBody>
      </p:sp>
      <p:sp>
        <p:nvSpPr>
          <p:cNvPr id="25" name="reference-20"/>
          <p:cNvSpPr txBox="1"/>
          <p:nvPr/>
        </p:nvSpPr>
        <p:spPr>
          <a:xfrm>
            <a:off x="5486400" y="66865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5"/>
              </a:rPr>
              <a:t>관광자원·사진 D47 국립춘천숲체원</a:t>
            </a:r>
          </a:p>
        </p:txBody>
      </p:sp>
      <p:sp>
        <p:nvSpPr>
          <p:cNvPr id="26" name="reference-21"/>
          <p:cNvSpPr txBox="1"/>
          <p:nvPr/>
        </p:nvSpPr>
        <p:spPr>
          <a:xfrm>
            <a:off x="5486400" y="71437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5"/>
              </a:rPr>
              <a:t>관광자원·사진 D48 군자숯불닭갈비</a:t>
            </a:r>
          </a:p>
        </p:txBody>
      </p:sp>
      <p:sp>
        <p:nvSpPr>
          <p:cNvPr id="27" name="reference-22"/>
          <p:cNvSpPr txBox="1"/>
          <p:nvPr/>
        </p:nvSpPr>
        <p:spPr>
          <a:xfrm>
            <a:off x="5486400" y="76009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5"/>
              </a:rPr>
              <a:t>관광자원·사진 D49 근화동396청년창업공간</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이 사업을 참고한 이유와 지역 적용 방법</a:t>
            </a:r>
          </a:p>
        </p:txBody>
      </p:sp>
      <p:sp>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election-case"/>
          <p:cNvSpPr txBox="1"/>
          <p:nvPr/>
        </p:nvSpPr>
        <p:spPr>
          <a:xfrm>
            <a:off x="1009650" y="1885950"/>
            <a:ext cx="13220700" cy="666750"/>
          </a:xfrm>
          <a:prstGeom prst="rect">
            <a:avLst/>
          </a:prstGeom>
          <a:noFill/>
        </p:spPr>
        <p:txBody>
          <a:bodyPr wrap="none" lIns="57150" rIns="57150" tIns="38100" bIns="38100" anchor="t">
            <a:noAutofit/>
          </a:bodyPr>
          <a:lstStyle/>
          <a:p>
            <a:pPr eaLnBrk="0">
              <a:lnSpc>
                <a:spcPts val="2812"/>
              </a:lnSpc>
              <a:spcBef>
                <a:spcPts val="0"/>
              </a:spcBef>
              <a:spcAft>
                <a:spcPts val="0"/>
              </a:spcAft>
            </a:pPr>
            <a:r>
              <a:rPr sz="2250" b="1">
                <a:solidFill>
                  <a:srgbClr val="004EA2"/>
                </a:solidFill>
                <a:latin typeface="Noto Sans KR"/>
              </a:rPr>
              <a:t>전라남도 강진군 · 반값여행 지역환급</a:t>
            </a:r>
          </a:p>
        </p:txBody>
      </p:sp>
      <p:graphicFrame>
        <p:nvGraphicFramePr>
          <p:cNvPr id="5" name="selection-matrix"/>
          <p:cNvGraphicFramePr>
            <a:graphicFrameLocks noGrp="1"/>
          </p:cNvGraphicFramePr>
          <p:nvPr/>
        </p:nvGraphicFramePr>
        <p:xfrm>
          <a:off x="1009650" y="2809875"/>
          <a:ext cx="13220700" cy="3505200"/>
        </p:xfrm>
        <a:graphic>
          <a:graphicData uri="http://schemas.openxmlformats.org/drawingml/2006/table">
            <a:tbl>
              <a:tblPr firstRow="1" bandRow="1">
                <a:tableStyleId>{5C22544A-7EE6-4342-B048-85BDC9FD1C3A}</a:tableStyleId>
              </a:tblPr>
              <a:tblGrid>
                <a:gridCol w="2209800"/>
                <a:gridCol w="5762625"/>
                <a:gridCol w="5248275"/>
              </a:tblGrid>
              <a:tr h="495300">
                <a:tc>
                  <a:txBody>
                    <a:bodyPr wrap="none"/>
                    <a:lstStyle/>
                    <a:p>
                      <a:pPr eaLnBrk="0">
                        <a:lnSpc>
                          <a:spcPct val="112000"/>
                        </a:lnSpc>
                        <a:spcBef>
                          <a:spcPts val="0"/>
                        </a:spcBef>
                        <a:spcAft>
                          <a:spcPts val="0"/>
                        </a:spcAft>
                      </a:pPr>
                      <a:r>
                        <a:rPr sz="1500" b="1">
                          <a:solidFill>
                            <a:srgbClr val="FFFFFF"/>
                          </a:solidFill>
                          <a:latin typeface="Noto Sans KR"/>
                        </a:rPr>
                        <a:t>비교 기준</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00" b="1">
                          <a:solidFill>
                            <a:srgbClr val="FFFFFF"/>
                          </a:solidFill>
                          <a:latin typeface="Noto Sans KR"/>
                        </a:rPr>
                        <a:t>확인한 근거</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00" b="1">
                          <a:solidFill>
                            <a:srgbClr val="FFFFFF"/>
                          </a:solidFill>
                          <a:latin typeface="Noto Sans KR"/>
                        </a:rPr>
                        <a:t>이번 기획에 연결한 판단</a:t>
                      </a:r>
                    </a:p>
                  </a:txBody>
                  <a:tcPr marL="95250" marR="95250" marT="66675" marB="66675" anchor="ctr">
                    <a:solidFill>
                      <a:srgbClr val="004EA2"/>
                    </a:solidFill>
                  </a:tcPr>
                </a:tc>
              </a:tr>
              <a:tr h="752475">
                <a:tc>
                  <a:txBody>
                    <a:bodyPr wrap="none"/>
                    <a:lstStyle/>
                    <a:p>
                      <a:pPr eaLnBrk="0">
                        <a:lnSpc>
                          <a:spcPct val="112000"/>
                        </a:lnSpc>
                        <a:spcBef>
                          <a:spcPts val="0"/>
                        </a:spcBef>
                        <a:spcAft>
                          <a:spcPts val="0"/>
                        </a:spcAft>
                      </a:pPr>
                      <a:r>
                        <a:rPr sz="1500" b="1">
                          <a:solidFill>
                            <a:srgbClr val="1D2227"/>
                          </a:solidFill>
                          <a:latin typeface="Noto Sans KR"/>
                        </a:rPr>
                        <a:t>사업의 이용 흐름</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00" b="0">
                          <a:solidFill>
                            <a:srgbClr val="1D2227"/>
                          </a:solidFill>
                          <a:latin typeface="Noto Sans KR"/>
                        </a:rPr>
                        <a:t>여행자가 지역에서 지출한 비용의 일부를 지역상품권으로 돌려받게 하여</a:t>
                      </a:r>
                    </a:p>
                    <a:p>
                      <a:pPr eaLnBrk="0">
                        <a:lnSpc>
                          <a:spcPct val="112000"/>
                        </a:lnSpc>
                        <a:spcBef>
                          <a:spcPts val="0"/>
                        </a:spcBef>
                        <a:spcAft>
                          <a:spcPts val="0"/>
                        </a:spcAft>
                      </a:pPr>
                      <a:r>
                        <a:rPr sz="1500" b="0">
                          <a:solidFill>
                            <a:srgbClr val="1D2227"/>
                          </a:solidFill>
                          <a:latin typeface="Noto Sans KR"/>
                        </a:rPr>
                        <a:t>혜택이 다시 지역 상점에서 사용되도록 설계</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00" b="0">
                          <a:solidFill>
                            <a:srgbClr val="1D2227"/>
                          </a:solidFill>
                          <a:latin typeface="Noto Sans KR"/>
                        </a:rPr>
                        <a:t>결제·혜택·재이용 또는 예약·체류 등 실제 이용</a:t>
                      </a:r>
                    </a:p>
                    <a:p>
                      <a:pPr eaLnBrk="0">
                        <a:lnSpc>
                          <a:spcPct val="112000"/>
                        </a:lnSpc>
                        <a:spcBef>
                          <a:spcPts val="0"/>
                        </a:spcBef>
                        <a:spcAft>
                          <a:spcPts val="0"/>
                        </a:spcAft>
                      </a:pPr>
                      <a:r>
                        <a:rPr sz="1500" b="0">
                          <a:solidFill>
                            <a:srgbClr val="1D2227"/>
                          </a:solidFill>
                          <a:latin typeface="Noto Sans KR"/>
                        </a:rPr>
                        <a:t>흐름이 같은 사례만 연결</a:t>
                      </a:r>
                    </a:p>
                  </a:txBody>
                  <a:tcPr marL="95250" marR="95250" marT="66675" marB="66675" anchor="ctr">
                    <a:solidFill>
                      <a:srgbClr val="FFFFFF"/>
                    </a:solidFill>
                  </a:tcPr>
                </a:tc>
              </a:tr>
              <a:tr h="752475">
                <a:tc>
                  <a:txBody>
                    <a:bodyPr wrap="none"/>
                    <a:lstStyle/>
                    <a:p>
                      <a:pPr eaLnBrk="0">
                        <a:lnSpc>
                          <a:spcPct val="112000"/>
                        </a:lnSpc>
                        <a:spcBef>
                          <a:spcPts val="0"/>
                        </a:spcBef>
                        <a:spcAft>
                          <a:spcPts val="0"/>
                        </a:spcAft>
                      </a:pPr>
                      <a:r>
                        <a:rPr sz="1500" b="1">
                          <a:solidFill>
                            <a:srgbClr val="1D2227"/>
                          </a:solidFill>
                          <a:latin typeface="Noto Sans KR"/>
                        </a:rPr>
                        <a:t>선택 지역의 소비·체류</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275" b="0">
                          <a:solidFill>
                            <a:srgbClr val="1D2227"/>
                          </a:solidFill>
                          <a:latin typeface="Noto Sans KR"/>
                        </a:rPr>
                        <a:t>월간 외지인 관광소비 총액: 51,352,814,000원 / 업종별 소비 비중:</a:t>
                      </a:r>
                    </a:p>
                    <a:p>
                      <a:pPr eaLnBrk="0">
                        <a:lnSpc>
                          <a:spcPct val="112000"/>
                        </a:lnSpc>
                        <a:spcBef>
                          <a:spcPts val="0"/>
                        </a:spcBef>
                        <a:spcAft>
                          <a:spcPts val="0"/>
                        </a:spcAft>
                      </a:pPr>
                      <a:r>
                        <a:rPr sz="1275" b="0">
                          <a:solidFill>
                            <a:srgbClr val="1D2227"/>
                          </a:solidFill>
                          <a:latin typeface="Noto Sans KR"/>
                        </a:rPr>
                        <a:t>식음료업(36.4%), 쇼핑업(24.2%), 여가서비스업(21.8%) /</a:t>
                      </a:r>
                    </a:p>
                    <a:p>
                      <a:pPr eaLnBrk="0">
                        <a:lnSpc>
                          <a:spcPct val="112000"/>
                        </a:lnSpc>
                        <a:spcBef>
                          <a:spcPts val="0"/>
                        </a:spcBef>
                        <a:spcAft>
                          <a:spcPts val="0"/>
                        </a:spcAft>
                      </a:pPr>
                      <a:r>
                        <a:rPr sz="1275" b="0">
                          <a:solidFill>
                            <a:srgbClr val="1D2227"/>
                          </a:solidFill>
                          <a:latin typeface="Noto Sans KR"/>
                        </a:rPr>
                        <a:t>외지인 숙박 방문 비율: 14.1%</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00" b="0">
                          <a:solidFill>
                            <a:srgbClr val="1D2227"/>
                          </a:solidFill>
                          <a:latin typeface="Noto Sans KR"/>
                        </a:rPr>
                        <a:t>지역 자료는 참여 업종·대상 범위를 정하는 입력. 다른 지역과</a:t>
                      </a:r>
                    </a:p>
                    <a:p>
                      <a:pPr eaLnBrk="0">
                        <a:lnSpc>
                          <a:spcPct val="112000"/>
                        </a:lnSpc>
                        <a:spcBef>
                          <a:spcPts val="0"/>
                        </a:spcBef>
                        <a:spcAft>
                          <a:spcPts val="0"/>
                        </a:spcAft>
                      </a:pPr>
                      <a:r>
                        <a:rPr sz="1500" b="0">
                          <a:solidFill>
                            <a:srgbClr val="1D2227"/>
                          </a:solidFill>
                          <a:latin typeface="Noto Sans KR"/>
                        </a:rPr>
                        <a:t>수치가 같다는 증거로 사용하지 않음</a:t>
                      </a:r>
                    </a:p>
                  </a:txBody>
                  <a:tcPr marL="95250" marR="95250" marT="66675" marB="66675" anchor="ctr">
                    <a:solidFill>
                      <a:srgbClr val="EAF1F6"/>
                    </a:solidFill>
                  </a:tcPr>
                </a:tc>
              </a:tr>
              <a:tr h="752475">
                <a:tc>
                  <a:txBody>
                    <a:bodyPr wrap="none"/>
                    <a:lstStyle/>
                    <a:p>
                      <a:pPr eaLnBrk="0">
                        <a:lnSpc>
                          <a:spcPct val="112000"/>
                        </a:lnSpc>
                        <a:spcBef>
                          <a:spcPts val="0"/>
                        </a:spcBef>
                        <a:spcAft>
                          <a:spcPts val="0"/>
                        </a:spcAft>
                      </a:pPr>
                      <a:r>
                        <a:rPr sz="1500" b="1">
                          <a:solidFill>
                            <a:srgbClr val="1D2227"/>
                          </a:solidFill>
                          <a:latin typeface="Noto Sans KR"/>
                        </a:rPr>
                        <a:t>지리·교통·관광자원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00" b="0">
                          <a:solidFill>
                            <a:srgbClr val="1D2227"/>
                          </a:solidFill>
                          <a:latin typeface="Noto Sans KR"/>
                        </a:rPr>
                        <a:t>양 지역을 같은 기준으로 비교한 환경 지표는 현재 저장 보고서에 없음</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00" b="0">
                          <a:solidFill>
                            <a:srgbClr val="1D2227"/>
                          </a:solidFill>
                          <a:latin typeface="Noto Sans KR"/>
                        </a:rPr>
                        <a:t>섬 체류상품은 섬 환경을 복제하지 않고 숙박·식사·체험의</a:t>
                      </a:r>
                    </a:p>
                    <a:p>
                      <a:pPr eaLnBrk="0">
                        <a:lnSpc>
                          <a:spcPct val="112000"/>
                        </a:lnSpc>
                        <a:spcBef>
                          <a:spcPts val="0"/>
                        </a:spcBef>
                        <a:spcAft>
                          <a:spcPts val="0"/>
                        </a:spcAft>
                      </a:pPr>
                      <a:r>
                        <a:rPr sz="1500" b="0">
                          <a:solidFill>
                            <a:srgbClr val="1D2227"/>
                          </a:solidFill>
                          <a:latin typeface="Noto Sans KR"/>
                        </a:rPr>
                        <a:t>묶음 운영만 비교</a:t>
                      </a:r>
                    </a:p>
                  </a:txBody>
                  <a:tcPr marL="95250" marR="95250" marT="66675" marB="66675" anchor="ctr">
                    <a:solidFill>
                      <a:srgbClr val="FFFFFF"/>
                    </a:solidFill>
                  </a:tcPr>
                </a:tc>
              </a:tr>
              <a:tr h="752475">
                <a:tc>
                  <a:txBody>
                    <a:bodyPr wrap="none"/>
                    <a:lstStyle/>
                    <a:p>
                      <a:pPr eaLnBrk="0">
                        <a:lnSpc>
                          <a:spcPct val="112000"/>
                        </a:lnSpc>
                        <a:spcBef>
                          <a:spcPts val="0"/>
                        </a:spcBef>
                        <a:spcAft>
                          <a:spcPts val="0"/>
                        </a:spcAft>
                      </a:pPr>
                      <a:r>
                        <a:rPr sz="1500" b="1">
                          <a:solidFill>
                            <a:srgbClr val="1D2227"/>
                          </a:solidFill>
                          <a:latin typeface="Noto Sans KR"/>
                        </a:rPr>
                        <a:t>인구와 사업 규모</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00" b="0">
                          <a:solidFill>
                            <a:srgbClr val="1D2227"/>
                          </a:solidFill>
                          <a:latin typeface="Noto Sans KR"/>
                        </a:rPr>
                        <a:t>인구 차이에 따른 보정 계수는 현재 적용하지 않음</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00" b="0">
                          <a:solidFill>
                            <a:srgbClr val="1D2227"/>
                          </a:solidFill>
                          <a:latin typeface="Noto Sans KR"/>
                        </a:rPr>
                        <a:t>참여 건수·운영 인일로 시범 규모를 정함. 도시 전체</a:t>
                      </a:r>
                    </a:p>
                    <a:p>
                      <a:pPr eaLnBrk="0">
                        <a:lnSpc>
                          <a:spcPct val="112000"/>
                        </a:lnSpc>
                        <a:spcBef>
                          <a:spcPts val="0"/>
                        </a:spcBef>
                        <a:spcAft>
                          <a:spcPts val="0"/>
                        </a:spcAft>
                      </a:pPr>
                      <a:r>
                        <a:rPr sz="1500" b="0">
                          <a:solidFill>
                            <a:srgbClr val="1D2227"/>
                          </a:solidFill>
                          <a:latin typeface="Noto Sans KR"/>
                        </a:rPr>
                        <a:t>효과로 확대 해석하지 않음</a:t>
                      </a:r>
                    </a:p>
                  </a:txBody>
                  <a:tcPr marL="95250" marR="95250" marT="66675" marB="66675" anchor="ctr">
                    <a:solidFill>
                      <a:srgbClr val="EAF1F6"/>
                    </a:solidFill>
                  </a:tcPr>
                </a:tc>
              </a:tr>
            </a:tbl>
          </a:graphicData>
        </a:graphic>
      </p:graphicFrame>
      <p:sp>
        <p:nvSpPr>
          <p:cNvPr id="6" name="adaptation-panel"/>
          <p:cNvSpPr/>
          <p:nvPr/>
        </p:nvSpPr>
        <p:spPr>
          <a:xfrm>
            <a:off x="1009650" y="6534150"/>
            <a:ext cx="13220700" cy="1057275"/>
          </a:xfrm>
          <a:prstGeom prst="rect">
            <a:avLst/>
          </a:prstGeom>
          <a:solidFill>
            <a:srgbClr val="E6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adaptation-label"/>
          <p:cNvSpPr txBox="1"/>
          <p:nvPr/>
        </p:nvSpPr>
        <p:spPr>
          <a:xfrm>
            <a:off x="1219200" y="6696075"/>
            <a:ext cx="3048000" cy="6191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004EA2"/>
                </a:solidFill>
                <a:latin typeface="Noto Sans KR"/>
              </a:rPr>
              <a:t>사례 → 우리 지역의 제안</a:t>
            </a:r>
          </a:p>
        </p:txBody>
      </p:sp>
      <p:sp>
        <p:nvSpPr>
          <p:cNvPr id="8" name="adaptation-body"/>
          <p:cNvSpPr txBox="1"/>
          <p:nvPr/>
        </p:nvSpPr>
        <p:spPr>
          <a:xfrm>
            <a:off x="4552950" y="6696075"/>
            <a:ext cx="9372600" cy="742950"/>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1D2227"/>
                </a:solidFill>
                <a:latin typeface="Noto Sans KR"/>
              </a:rPr>
              <a:t>춘천시 내 지정된 식음료, 쇼핑, 여가서비스 참여 업종에서 일정 금액 이상 결제한 외지인 관광객에게 결제액의</a:t>
            </a:r>
          </a:p>
          <a:p>
            <a:pPr eaLnBrk="0">
              <a:lnSpc>
                <a:spcPts val="2062"/>
              </a:lnSpc>
              <a:spcBef>
                <a:spcPts val="0"/>
              </a:spcBef>
              <a:spcAft>
                <a:spcPts val="0"/>
              </a:spcAft>
            </a:pPr>
            <a:r>
              <a:rPr sz="1650" b="0">
                <a:solidFill>
                  <a:srgbClr val="1D2227"/>
                </a:solidFill>
                <a:latin typeface="Noto Sans KR"/>
              </a:rPr>
              <a:t>일부를 춘천시 지역상품권으로 환급해 주는 메커니즘</a:t>
            </a:r>
          </a:p>
        </p:txBody>
      </p:sp>
      <p:sp>
        <p:nvSpPr>
          <p:cNvPr id="9" name="selection-source"/>
          <p:cNvSpPr txBox="1"/>
          <p:nvPr/>
        </p:nvSpPr>
        <p:spPr>
          <a:xfrm>
            <a:off x="1009650" y="7781925"/>
            <a:ext cx="13220700" cy="3619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hlinkClick r:id="rId2"/>
              </a:rPr>
              <a:t>문서 기반 함수 연결 · 강진 반값여행 지역경제 효과 소개</a:t>
            </a:r>
          </a:p>
        </p:txBody>
      </p:sp>
      <p:sp>
        <p:nvSpPr>
          <p:cNvPr id="10" name="selection-limit"/>
          <p:cNvSpPr txBox="1"/>
          <p:nvPr/>
        </p:nvSpPr>
        <p:spPr>
          <a:xfrm>
            <a:off x="1009650" y="8210550"/>
            <a:ext cx="13220700" cy="28575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59636E"/>
                </a:solidFill>
                <a:latin typeface="Noto Sans KR"/>
              </a:rPr>
              <a:t>선정 근거: 운영 방식 일치. 인구·자연환경·교통이 같은 지역이라는 뜻이 아니며, 환경 유사성을 입증한 비교는 아닙니다.</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2026-09-04T04:44:41.2670000Z</dcterms:created>
  <dcterms:modified xsi:type="dcterms:W3CDTF">2026-09-04T04:44:41.2670000Z</dcterms:modified>
</coreProperties>
</file>