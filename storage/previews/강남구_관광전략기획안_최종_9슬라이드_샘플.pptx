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s/charts/chart1.xml" ContentType="application/vnd.openxmlformats-officedocument.drawingml.chart+xml"/>
  <Override PartName="/ppt/slides/charts/chart2.xml" ContentType="application/vnd.openxmlformats-officedocument.drawingml.char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3004aa6a727d4998" Type="http://schemas.openxmlformats.org/officeDocument/2006/relationships/officeDocument" Target="ppt/presentation.xml"/><Relationship Id="R3f3039f35737454d" Type="http://schemas.openxmlformats.org/officeDocument/2006/relationships/extended-properties" Target="docProps/app.xml"/><Relationship Id="Rd6e1feb4b53c4643" Type="http://schemas.openxmlformats.org/package/2006/relationships/metadata/core-properties" Target="docProps/core.xml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5b8c8b44d8f4003"/>
  </p:sldMasterIdLst>
  <p:notesMasterIdLst>
    <p:notesMasterId xmlns:r="http://schemas.openxmlformats.org/officeDocument/2006/relationships" r:id="R04d194b486cb403b"/>
  </p:notesMasterIdLst>
  <p:sldIdLst>
    <p:sldId xmlns:r="http://schemas.openxmlformats.org/officeDocument/2006/relationships" id="256" r:id="R3a8ca79064e444de"/>
    <p:sldId xmlns:r="http://schemas.openxmlformats.org/officeDocument/2006/relationships" id="257" r:id="Ra07f23a927fb46cc"/>
    <p:sldId xmlns:r="http://schemas.openxmlformats.org/officeDocument/2006/relationships" id="258" r:id="Rfa41db66c4514433"/>
    <p:sldId xmlns:r="http://schemas.openxmlformats.org/officeDocument/2006/relationships" id="259" r:id="R38df24f9f2394956"/>
    <p:sldId xmlns:r="http://schemas.openxmlformats.org/officeDocument/2006/relationships" id="260" r:id="R7908058dec544efa"/>
    <p:sldId xmlns:r="http://schemas.openxmlformats.org/officeDocument/2006/relationships" id="261" r:id="R16cdad1d534044e0"/>
    <p:sldId xmlns:r="http://schemas.openxmlformats.org/officeDocument/2006/relationships" id="262" r:id="R615c6d31217f4a40"/>
    <p:sldId xmlns:r="http://schemas.openxmlformats.org/officeDocument/2006/relationships" id="263" r:id="Ra7576c7f5afc4442"/>
    <p:sldId xmlns:r="http://schemas.openxmlformats.org/officeDocument/2006/relationships" id="264" r:id="Rcbf3699b2e8c41be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<?xml version='1.0' encoding='UTF-8' standalone='yes'?>
<Relationships xmlns="http://schemas.openxmlformats.org/package/2006/relationships"><Relationship Id="R04d194b486cb403b" Type="http://schemas.openxmlformats.org/officeDocument/2006/relationships/notesMaster" Target="notesMasters/notesMaster1.xml"/><Relationship Id="R16cdad1d534044e0" Type="http://schemas.openxmlformats.org/officeDocument/2006/relationships/slide" Target="slides/slide6.xml"/><Relationship Id="R38df24f9f2394956" Type="http://schemas.openxmlformats.org/officeDocument/2006/relationships/slide" Target="slides/slide4.xml"/><Relationship Id="R3a8ca79064e444de" Type="http://schemas.openxmlformats.org/officeDocument/2006/relationships/slide" Target="slides/slide1.xml"/><Relationship Id="R475d048bbb2f469e" Type="http://schemas.openxmlformats.org/officeDocument/2006/relationships/presProps" Target="presProps.xml"/><Relationship Id="R52b1c250b63842ed" Type="http://schemas.openxmlformats.org/officeDocument/2006/relationships/tableStyles" Target="tableStyles.xml"/><Relationship Id="R5d5b6131bde549cd" Type="http://schemas.openxmlformats.org/officeDocument/2006/relationships/viewProps" Target="viewProps.xml"/><Relationship Id="R615c6d31217f4a40" Type="http://schemas.openxmlformats.org/officeDocument/2006/relationships/slide" Target="slides/slide7.xml"/><Relationship Id="R7908058dec544efa" Type="http://schemas.openxmlformats.org/officeDocument/2006/relationships/slide" Target="slides/slide5.xml"/><Relationship Id="Ra07f23a927fb46cc" Type="http://schemas.openxmlformats.org/officeDocument/2006/relationships/slide" Target="slides/slide2.xml"/><Relationship Id="Ra7576c7f5afc4442" Type="http://schemas.openxmlformats.org/officeDocument/2006/relationships/slide" Target="slides/slide8.xml"/><Relationship Id="Rcbf3699b2e8c41be" Type="http://schemas.openxmlformats.org/officeDocument/2006/relationships/slide" Target="slides/slide9.xml"/><Relationship Id="Rd5b8c8b44d8f4003" Type="http://schemas.openxmlformats.org/officeDocument/2006/relationships/slideMaster" Target="slideMasters/slideMaster1.xml"/><Relationship Id="Reebebe7861a04164" Type="http://schemas.openxmlformats.org/officeDocument/2006/relationships/theme" Target="theme/theme1.xml"/><Relationship Id="Rfa41db66c4514433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2dbc4db5a8a444a0" Type="http://schemas.openxmlformats.org/officeDocument/2006/relationships/theme" Target="theme/theme3.xml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'1.0' encoding='UTF-8' standalone='yes'?>
<Relationships xmlns="http://schemas.openxmlformats.org/package/2006/relationships"><Relationship Id="R1ae258c4954e4419" Type="http://schemas.openxmlformats.org/officeDocument/2006/relationships/notesMaster" Target="../notesMasters/notesMaster1.xml"/><Relationship Id="Rd4b02427a8614bb0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45a4e7197d954242" Type="http://schemas.openxmlformats.org/officeDocument/2006/relationships/slide" Target="../slides/slide2.xml"/><Relationship Id="Rfb08e03487e94c9d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597d360eab5646d6" Type="http://schemas.openxmlformats.org/officeDocument/2006/relationships/slide" Target="../slides/slide3.xml"/><Relationship Id="Re50d75d952f345b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32be61918dd445b5" Type="http://schemas.openxmlformats.org/officeDocument/2006/relationships/slide" Target="../slides/slide4.xml"/><Relationship Id="R51f479d8defe49f3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1215967327e94542" Type="http://schemas.openxmlformats.org/officeDocument/2006/relationships/slide" Target="../slides/slide5.xml"/><Relationship Id="Rfbe801d3eb01495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d237a227c04c4447" Type="http://schemas.openxmlformats.org/officeDocument/2006/relationships/notesMaster" Target="../notesMasters/notesMaster1.xml"/><Relationship Id="Rfe3944cbf3374060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34391fcc118f49db" Type="http://schemas.openxmlformats.org/officeDocument/2006/relationships/notesMaster" Target="../notesMasters/notesMaster1.xml"/><Relationship Id="R4a867bf92d524797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b28a1eaa285c4e6c" Type="http://schemas.openxmlformats.org/officeDocument/2006/relationships/slide" Target="../slides/slide8.xml"/><Relationship Id="Rb3b6b1a7923f480a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3658599973a0448a" Type="http://schemas.openxmlformats.org/officeDocument/2006/relationships/slide" Target="../slides/slide9.xml"/><Relationship Id="R83bb8e11b6c149fb" Type="http://schemas.openxmlformats.org/officeDocument/2006/relationships/notesMaster" Target="../notesMasters/notesMaster1.xml"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한국관광 데이터랩 · 서울특별시 강남구 순 방문자 수 및 숙박 비율 (이동통신 기반 외지인): https://datalab.visitkorea.or.kr/</a:t>
            </a:r>
          </a:p>
          <a:p xmlns:a="http://schemas.openxmlformats.org/drawingml/2006/main">
            <a:r>
              <a:t>- 한국관광 데이터랩 · 서울특별시 강남구 월간 순 방문자 수 (이동통신 기반 외지인): https://datalab.visitkorea.or.kr/</a:t>
            </a:r>
          </a:p>
          <a:p xmlns:a="http://schemas.openxmlformats.org/drawingml/2006/main">
            <a:r>
              <a:t>- 한국관광 데이터랩 · 서울특별시 강남구 관광소비 추이_외지인: https://datalab.visitkorea.or.kr/</a:t>
            </a:r>
          </a:p>
          <a:p xmlns:a="http://schemas.openxmlformats.org/drawingml/2006/main">
            <a:r>
              <a:t>- 한국관광 데이터랩 · 서울특별시 강남구 숙박방문자 비율 추이 (이동통신 기반 외지인): https://datalab.visitkorea.or.kr/</a:t>
            </a:r>
          </a:p>
          <a:p xmlns:a="http://schemas.openxmlformats.org/drawingml/2006/main">
            <a:r>
              <a:t>- 한국관광 데이터랩 · 서울특별시 강남구 평균 숙박일 (이동통신 기반 외지인): https://datalab.visitkorea.or.kr/</a:t>
            </a:r>
          </a:p>
          <a:p xmlns:a="http://schemas.openxmlformats.org/drawingml/2006/main">
            <a:r>
              <a:t>- 한국관광 데이터랩 · 서울특별시 강남구 내비게이션 목적지 유형별 검색량: https://datalab.visitkorea.or.kr/</a:t>
            </a:r>
          </a:p>
          <a:p xmlns:a="http://schemas.openxmlformats.org/drawingml/2006/main"/>
          <a:p xmlns:a="http://schemas.openxmlformats.org/drawingml/2006/main">
            <a:r>
              <a:t>[Method]</a:t>
            </a:r>
          </a:p>
          <a:p xmlns:a="http://schemas.openxmlformats.org/drawingml/2006/main">
            <a:r>
              <a:t>표지의 지역·전략·기간은 검증된 보고서 JSON에서 읽음.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한국관광 데이터랩 · 서울특별시 강남구 순 방문자 수 및 숙박 비율 (이동통신 기반 외지인): https://datalab.visitkorea.or.kr/</a:t>
            </a:r>
          </a:p>
          <a:p xmlns:a="http://schemas.openxmlformats.org/drawingml/2006/main">
            <a:r>
              <a:t>- 한국관광 데이터랩 · 서울특별시 강남구 월간 순 방문자 수 (이동통신 기반 외지인): https://datalab.visitkorea.or.kr/</a:t>
            </a:r>
          </a:p>
          <a:p xmlns:a="http://schemas.openxmlformats.org/drawingml/2006/main">
            <a:r>
              <a:t>- 한국관광 데이터랩 · 서울특별시 강남구 관광소비 추이_외지인: https://datalab.visitkorea.or.kr/</a:t>
            </a:r>
          </a:p>
          <a:p xmlns:a="http://schemas.openxmlformats.org/drawingml/2006/main">
            <a:r>
              <a:t>- 한국관광 데이터랩 · 서울특별시 강남구 숙박방문자 비율 추이 (이동통신 기반 외지인): https://datalab.visitkorea.or.kr/</a:t>
            </a:r>
          </a:p>
          <a:p xmlns:a="http://schemas.openxmlformats.org/drawingml/2006/main">
            <a:r>
              <a:t>- 한국관광 데이터랩 · 서울특별시 강남구 평균 숙박일 (이동통신 기반 외지인): https://datalab.visitkorea.or.kr/</a:t>
            </a:r>
          </a:p>
          <a:p xmlns:a="http://schemas.openxmlformats.org/drawingml/2006/main">
            <a:r>
              <a:t>- 한국관광 데이터랩 · 서울특별시 강남구 내비게이션 목적지 유형별 검색량: https://datalab.visitkorea.or.kr/</a:t>
            </a:r>
          </a:p>
          <a:p xmlns:a="http://schemas.openxmlformats.org/drawingml/2006/main"/>
          <a:p xmlns:a="http://schemas.openxmlformats.org/drawingml/2006/main">
            <a:r>
              <a:t>[Method]</a:t>
            </a:r>
          </a:p>
          <a:p xmlns:a="http://schemas.openxmlformats.org/drawingml/2006/main">
            <a:r>
              <a:t>목차는 승인된 9장 기획서 구조를 고정 사용.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한국관광 데이터랩 · 서울특별시 강남구 순 방문자 수 및 숙박 비율 (이동통신 기반 외지인): https://datalab.visitkorea.or.kr/</a:t>
            </a:r>
          </a:p>
          <a:p xmlns:a="http://schemas.openxmlformats.org/drawingml/2006/main">
            <a:r>
              <a:t>- 한국관광 데이터랩 · 서울특별시 강남구 월간 순 방문자 수 (이동통신 기반 외지인): https://datalab.visitkorea.or.kr/</a:t>
            </a:r>
          </a:p>
          <a:p xmlns:a="http://schemas.openxmlformats.org/drawingml/2006/main">
            <a:r>
              <a:t>- 한국관광 데이터랩 · 서울특별시 강남구 관광소비 추이_외지인: https://datalab.visitkorea.or.kr/</a:t>
            </a:r>
          </a:p>
          <a:p xmlns:a="http://schemas.openxmlformats.org/drawingml/2006/main">
            <a:r>
              <a:t>- 한국관광 데이터랩 · 서울특별시 강남구 숙박방문자 비율 추이 (이동통신 기반 외지인): https://datalab.visitkorea.or.kr/</a:t>
            </a:r>
          </a:p>
          <a:p xmlns:a="http://schemas.openxmlformats.org/drawingml/2006/main">
            <a:r>
              <a:t>- 한국관광 데이터랩 · 서울특별시 강남구 평균 숙박일 (이동통신 기반 외지인): https://datalab.visitkorea.or.kr/</a:t>
            </a:r>
          </a:p>
          <a:p xmlns:a="http://schemas.openxmlformats.org/drawingml/2006/main">
            <a:r>
              <a:t>- 한국관광 데이터랩 · 서울특별시 강남구 내비게이션 목적지 유형별 검색량: https://datalab.visitkorea.or.kr/</a:t>
            </a:r>
          </a:p>
          <a:p xmlns:a="http://schemas.openxmlformats.org/drawingml/2006/main">
            <a:r>
              <a:t>- 강남: https://apis.data.go.kr/B551011/KorService2</a:t>
            </a:r>
          </a:p>
          <a:p xmlns:a="http://schemas.openxmlformats.org/drawingml/2006/main"/>
          <a:p xmlns:a="http://schemas.openxmlformats.org/drawingml/2006/main">
            <a:r>
              <a:t>[Method]</a:t>
            </a:r>
          </a:p>
          <a:p xmlns:a="http://schemas.openxmlformats.org/drawingml/2006/main">
            <a:r>
              <a:t>관측값은 보고서 observed_findings, 전략 문장은 승인된 전략 JSON을 사용.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한국관광 데이터랩 · 서울특별시 강남구 순 방문자 수 및 숙박 비율 (이동통신 기반 외지인): https://datalab.visitkorea.or.kr/</a:t>
            </a:r>
          </a:p>
          <a:p xmlns:a="http://schemas.openxmlformats.org/drawingml/2006/main">
            <a:r>
              <a:t>- 한국관광 데이터랩 · 서울특별시 강남구 월간 순 방문자 수 (이동통신 기반 외지인): https://datalab.visitkorea.or.kr/</a:t>
            </a:r>
          </a:p>
          <a:p xmlns:a="http://schemas.openxmlformats.org/drawingml/2006/main">
            <a:r>
              <a:t>- 한국관광 데이터랩 · 서울특별시 강남구 관광소비 추이_외지인: https://datalab.visitkorea.or.kr/</a:t>
            </a:r>
          </a:p>
          <a:p xmlns:a="http://schemas.openxmlformats.org/drawingml/2006/main">
            <a:r>
              <a:t>- 한국관광 데이터랩 · 서울특별시 강남구 숙박방문자 비율 추이 (이동통신 기반 외지인): https://datalab.visitkorea.or.kr/</a:t>
            </a:r>
          </a:p>
          <a:p xmlns:a="http://schemas.openxmlformats.org/drawingml/2006/main">
            <a:r>
              <a:t>- 한국관광 데이터랩 · 서울특별시 강남구 평균 숙박일 (이동통신 기반 외지인): https://datalab.visitkorea.or.kr/</a:t>
            </a:r>
          </a:p>
          <a:p xmlns:a="http://schemas.openxmlformats.org/drawingml/2006/main">
            <a:r>
              <a:t>- 한국관광 데이터랩 · 서울특별시 강남구 내비게이션 목적지 유형별 검색량: https://datalab.visitkorea.or.kr/</a:t>
            </a:r>
          </a:p>
          <a:p xmlns:a="http://schemas.openxmlformats.org/drawingml/2006/main"/>
          <a:p xmlns:a="http://schemas.openxmlformats.org/drawingml/2006/main">
            <a:r>
              <a:t>[Method]</a:t>
            </a:r>
          </a:p>
          <a:p xmlns:a="http://schemas.openxmlformats.org/drawingml/2006/main">
            <a:r>
              <a:t>저장 ML의 자연추세만 사용하며 정책효과를 예측하지 않음.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한국관광 데이터랩 · 서울특별시 강남구 순 방문자 수 및 숙박 비율 (이동통신 기반 외지인): https://datalab.visitkorea.or.kr/</a:t>
            </a:r>
          </a:p>
          <a:p xmlns:a="http://schemas.openxmlformats.org/drawingml/2006/main">
            <a:r>
              <a:t>- 한국관광 데이터랩 · 서울특별시 강남구 월간 순 방문자 수 (이동통신 기반 외지인): https://datalab.visitkorea.or.kr/</a:t>
            </a:r>
          </a:p>
          <a:p xmlns:a="http://schemas.openxmlformats.org/drawingml/2006/main">
            <a:r>
              <a:t>- 한국관광 데이터랩 · 서울특별시 강남구 관광소비 추이_외지인: https://datalab.visitkorea.or.kr/</a:t>
            </a:r>
          </a:p>
          <a:p xmlns:a="http://schemas.openxmlformats.org/drawingml/2006/main">
            <a:r>
              <a:t>- 한국관광 데이터랩 · 서울특별시 강남구 숙박방문자 비율 추이 (이동통신 기반 외지인): https://datalab.visitkorea.or.kr/</a:t>
            </a:r>
          </a:p>
          <a:p xmlns:a="http://schemas.openxmlformats.org/drawingml/2006/main">
            <a:r>
              <a:t>- 한국관광 데이터랩 · 서울특별시 강남구 평균 숙박일 (이동통신 기반 외지인): https://datalab.visitkorea.or.kr/</a:t>
            </a:r>
          </a:p>
          <a:p xmlns:a="http://schemas.openxmlformats.org/drawingml/2006/main">
            <a:r>
              <a:t>- 한국관광 데이터랩 · 서울특별시 강남구 내비게이션 목적지 유형별 검색량: https://datalab.visitkorea.or.kr/</a:t>
            </a:r>
          </a:p>
          <a:p xmlns:a="http://schemas.openxmlformats.org/drawingml/2006/main"/>
          <a:p xmlns:a="http://schemas.openxmlformats.org/drawingml/2006/main">
            <a:r>
              <a:t>[Method]</a:t>
            </a:r>
          </a:p>
          <a:p xmlns:a="http://schemas.openxmlformats.org/drawingml/2006/main">
            <a:r>
              <a:t>지역 비교·공식 사례는 인과효과가 아닌 적용성 판단 근거로만 사용.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한국관광 데이터랩 · 서울특별시 강남구 순 방문자 수 및 숙박 비율 (이동통신 기반 외지인): https://datalab.visitkorea.or.kr/</a:t>
            </a:r>
          </a:p>
          <a:p xmlns:a="http://schemas.openxmlformats.org/drawingml/2006/main">
            <a:r>
              <a:t>- 한국관광 데이터랩 · 서울특별시 강남구 월간 순 방문자 수 (이동통신 기반 외지인): https://datalab.visitkorea.or.kr/</a:t>
            </a:r>
          </a:p>
          <a:p xmlns:a="http://schemas.openxmlformats.org/drawingml/2006/main">
            <a:r>
              <a:t>- 한국관광 데이터랩 · 서울특별시 강남구 관광소비 추이_외지인: https://datalab.visitkorea.or.kr/</a:t>
            </a:r>
          </a:p>
          <a:p xmlns:a="http://schemas.openxmlformats.org/drawingml/2006/main">
            <a:r>
              <a:t>- 한국관광 데이터랩 · 서울특별시 강남구 숙박방문자 비율 추이 (이동통신 기반 외지인): https://datalab.visitkorea.or.kr/</a:t>
            </a:r>
          </a:p>
          <a:p xmlns:a="http://schemas.openxmlformats.org/drawingml/2006/main">
            <a:r>
              <a:t>- 한국관광 데이터랩 · 서울특별시 강남구 평균 숙박일 (이동통신 기반 외지인): https://datalab.visitkorea.or.kr/</a:t>
            </a:r>
          </a:p>
          <a:p xmlns:a="http://schemas.openxmlformats.org/drawingml/2006/main">
            <a:r>
              <a:t>- 한국관광 데이터랩 · 서울특별시 강남구 내비게이션 목적지 유형별 검색량: https://datalab.visitkorea.or.kr/</a:t>
            </a:r>
          </a:p>
          <a:p xmlns:a="http://schemas.openxmlformats.org/drawingml/2006/main"/>
          <a:p xmlns:a="http://schemas.openxmlformats.org/drawingml/2006/main">
            <a:r>
              <a:t>[Method]</a:t>
            </a:r>
          </a:p>
          <a:p xmlns:a="http://schemas.openxmlformats.org/drawingml/2006/main">
            <a:r>
              <a:t>implementation_steps의 일정·행동·산출물을 4단계와 최종 산출물로 정리.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한국관광 데이터랩 · 서울특별시 강남구 순 방문자 수 및 숙박 비율 (이동통신 기반 외지인): https://datalab.visitkorea.or.kr/</a:t>
            </a:r>
          </a:p>
          <a:p xmlns:a="http://schemas.openxmlformats.org/drawingml/2006/main">
            <a:r>
              <a:t>- 한국관광 데이터랩 · 서울특별시 강남구 월간 순 방문자 수 (이동통신 기반 외지인): https://datalab.visitkorea.or.kr/</a:t>
            </a:r>
          </a:p>
          <a:p xmlns:a="http://schemas.openxmlformats.org/drawingml/2006/main">
            <a:r>
              <a:t>- 한국관광 데이터랩 · 서울특별시 강남구 관광소비 추이_외지인: https://datalab.visitkorea.or.kr/</a:t>
            </a:r>
          </a:p>
          <a:p xmlns:a="http://schemas.openxmlformats.org/drawingml/2006/main">
            <a:r>
              <a:t>- 한국관광 데이터랩 · 서울특별시 강남구 숙박방문자 비율 추이 (이동통신 기반 외지인): https://datalab.visitkorea.or.kr/</a:t>
            </a:r>
          </a:p>
          <a:p xmlns:a="http://schemas.openxmlformats.org/drawingml/2006/main">
            <a:r>
              <a:t>- 한국관광 데이터랩 · 서울특별시 강남구 평균 숙박일 (이동통신 기반 외지인): https://datalab.visitkorea.or.kr/</a:t>
            </a:r>
          </a:p>
          <a:p xmlns:a="http://schemas.openxmlformats.org/drawingml/2006/main">
            <a:r>
              <a:t>- 한국관광 데이터랩 · 서울특별시 강남구 내비게이션 목적지 유형별 검색량: https://datalab.visitkorea.or.kr/</a:t>
            </a:r>
          </a:p>
          <a:p xmlns:a="http://schemas.openxmlformats.org/drawingml/2006/main"/>
          <a:p xmlns:a="http://schemas.openxmlformats.org/drawingml/2006/main">
            <a:r>
              <a:t>[Method]</a:t>
            </a:r>
          </a:p>
          <a:p xmlns:a="http://schemas.openxmlformats.org/drawingml/2006/main">
            <a:r>
              <a:t>수치 목표는 사용자 검토값이며 실제 운영 결과로 별도 검증.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한국관광 데이터랩 · 서울특별시 강남구 순 방문자 수 및 숙박 비율 (이동통신 기반 외지인): https://datalab.visitkorea.or.kr/</a:t>
            </a:r>
          </a:p>
          <a:p xmlns:a="http://schemas.openxmlformats.org/drawingml/2006/main">
            <a:r>
              <a:t>- 한국관광 데이터랩 · 서울특별시 강남구 월간 순 방문자 수 (이동통신 기반 외지인): https://datalab.visitkorea.or.kr/</a:t>
            </a:r>
          </a:p>
          <a:p xmlns:a="http://schemas.openxmlformats.org/drawingml/2006/main">
            <a:r>
              <a:t>- 한국관광 데이터랩 · 서울특별시 강남구 관광소비 추이_외지인: https://datalab.visitkorea.or.kr/</a:t>
            </a:r>
          </a:p>
          <a:p xmlns:a="http://schemas.openxmlformats.org/drawingml/2006/main">
            <a:r>
              <a:t>- 한국관광 데이터랩 · 서울특별시 강남구 숙박방문자 비율 추이 (이동통신 기반 외지인): https://datalab.visitkorea.or.kr/</a:t>
            </a:r>
          </a:p>
          <a:p xmlns:a="http://schemas.openxmlformats.org/drawingml/2006/main">
            <a:r>
              <a:t>- 한국관광 데이터랩 · 서울특별시 강남구 평균 숙박일 (이동통신 기반 외지인): https://datalab.visitkorea.or.kr/</a:t>
            </a:r>
          </a:p>
          <a:p xmlns:a="http://schemas.openxmlformats.org/drawingml/2006/main">
            <a:r>
              <a:t>- 한국관광 데이터랩 · 서울특별시 강남구 내비게이션 목적지 유형별 검색량: https://datalab.visitkorea.or.kr/</a:t>
            </a:r>
          </a:p>
          <a:p xmlns:a="http://schemas.openxmlformats.org/drawingml/2006/main"/>
          <a:p xmlns:a="http://schemas.openxmlformats.org/drawingml/2006/main">
            <a:r>
              <a:t>[Method]</a:t>
            </a:r>
          </a:p>
          <a:p xmlns:a="http://schemas.openxmlformats.org/drawingml/2006/main">
            <a:r>
              <a:t>예산은 수량×단가 또는 비교견적으로 확정하며 근거 없는 총액을 만들지 않음.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한국관광 데이터랩 · 서울특별시 강남구 순 방문자 수 및 숙박 비율 (이동통신 기반 외지인): https://datalab.visitkorea.or.kr/</a:t>
            </a:r>
          </a:p>
          <a:p xmlns:a="http://schemas.openxmlformats.org/drawingml/2006/main">
            <a:r>
              <a:t>- 한국관광 데이터랩 · 서울특별시 강남구 월간 순 방문자 수 (이동통신 기반 외지인): https://datalab.visitkorea.or.kr/</a:t>
            </a:r>
          </a:p>
          <a:p xmlns:a="http://schemas.openxmlformats.org/drawingml/2006/main">
            <a:r>
              <a:t>- 한국관광 데이터랩 · 서울특별시 강남구 관광소비 추이_외지인: https://datalab.visitkorea.or.kr/</a:t>
            </a:r>
          </a:p>
          <a:p xmlns:a="http://schemas.openxmlformats.org/drawingml/2006/main">
            <a:r>
              <a:t>- 한국관광 데이터랩 · 서울특별시 강남구 숙박방문자 비율 추이 (이동통신 기반 외지인): https://datalab.visitkorea.or.kr/</a:t>
            </a:r>
          </a:p>
          <a:p xmlns:a="http://schemas.openxmlformats.org/drawingml/2006/main">
            <a:r>
              <a:t>- 한국관광 데이터랩 · 서울특별시 강남구 평균 숙박일 (이동통신 기반 외지인): https://datalab.visitkorea.or.kr/</a:t>
            </a:r>
          </a:p>
          <a:p xmlns:a="http://schemas.openxmlformats.org/drawingml/2006/main">
            <a:r>
              <a:t>- 한국관광 데이터랩 · 서울특별시 강남구 내비게이션 목적지 유형별 검색량: https://datalab.visitkorea.or.kr/</a:t>
            </a:r>
          </a:p>
          <a:p xmlns:a="http://schemas.openxmlformats.org/drawingml/2006/main"/>
          <a:p xmlns:a="http://schemas.openxmlformats.org/drawingml/2006/main">
            <a:r>
              <a:t>[Method]</a:t>
            </a:r>
          </a:p>
          <a:p xmlns:a="http://schemas.openxmlformats.org/drawingml/2006/main">
            <a:r>
              <a:t>기대효과는 시범 운영 후 기록으로 확대·보완·중단을 판단하는 제안임.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'1.0' encoding='UTF-8' standalone='yes'?>
<Relationships xmlns="http://schemas.openxmlformats.org/package/2006/relationships"><Relationship Id="R99ef161b2cff4dc1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Id="R5e1677387c9144c6" Type="http://schemas.openxmlformats.org/officeDocument/2006/relationships/theme" Target="theme/theme2.xml"/><Relationship Id="Ra0ab52a433a94f8d" Type="http://schemas.openxmlformats.org/officeDocument/2006/relationships/slideLayout" Target="../slideLayouts/slideLayout1.xml"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0ab52a433a94f8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Id="R11b7e33425c44543" Type="http://schemas.openxmlformats.org/officeDocument/2006/relationships/slideLayout" Target="../slideLayouts/slideLayout1.xml"/><Relationship Id="Raacbc0a4d4834fca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0af609f97aa440ae" Type="http://schemas.openxmlformats.org/officeDocument/2006/relationships/notesSlide" Target="../notesSlides/notesSlide2.xml"/><Relationship Id="Rbda1fa9e933f4c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2f55a14ed6b34f17" Type="http://schemas.openxmlformats.org/officeDocument/2006/relationships/image" Target="../media/image.png"/><Relationship Id="R4aa11fcc90dc4276" Type="http://schemas.openxmlformats.org/officeDocument/2006/relationships/slideLayout" Target="../slideLayouts/slideLayout1.xml"/><Relationship Id="R615f4d9d8cf74e48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12099782a1074eb3" Type="http://schemas.openxmlformats.org/officeDocument/2006/relationships/chart" Target="charts/chart2.xml"/><Relationship Id="R1c845476be854d29" Type="http://schemas.openxmlformats.org/officeDocument/2006/relationships/chart" Target="charts/chart1.xml"/><Relationship Id="R781f9058dfe94d6b" Type="http://schemas.openxmlformats.org/officeDocument/2006/relationships/slideLayout" Target="../slideLayouts/slideLayout1.xml"/><Relationship Id="Raf9e40f9a445408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15743d6538cd4a5e" Type="http://schemas.openxmlformats.org/officeDocument/2006/relationships/slideLayout" Target="../slideLayouts/slideLayout1.xml"/><Relationship Id="Rc3f1d825c9c44a47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4169dae2cd604053" Type="http://schemas.openxmlformats.org/officeDocument/2006/relationships/notesSlide" Target="../notesSlides/notesSlide6.xml"/><Relationship Id="Rd6533d1d1e1c489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5a756219bf14416b" Type="http://schemas.openxmlformats.org/officeDocument/2006/relationships/notesSlide" Target="../notesSlides/notesSlide7.xml"/><Relationship Id="R790dad5a4a2b4ca2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a694ace5abbf47df" Type="http://schemas.openxmlformats.org/officeDocument/2006/relationships/slideLayout" Target="../slideLayouts/slideLayout1.xml"/><Relationship Id="Rbc2248e8cf514ebe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012ff6d214c4488b" Type="http://schemas.openxmlformats.org/officeDocument/2006/relationships/slideLayout" Target="../slideLayouts/slideLayout1.xml"/><Relationship Id="R30f83c3b88734528" Type="http://schemas.openxmlformats.org/officeDocument/2006/relationships/notesSlide" Target="../notesSlides/notesSlide9.xml"/></Relationships>
</file>

<file path=ppt/slides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../embeddings/Microsoft_Excel_Sheet1.xlsx"/></Relationships>
</file>

<file path=ppt/slides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../embeddings/Microsoft_Excel_Sheet2.xlsx"/></Relationships>
</file>

<file path=ppt/slides/charts/chart1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방문자 수</c:v>
                </c:pt>
              </c:strCache>
            </c:strRef>
          </c:tx>
          <c:spPr>
            <a:solidFill xmlns:a="http://schemas.openxmlformats.org/drawingml/2006/main">
              <a:srgbClr val="004EA2"/>
            </a:solidFill>
            <a:ln xmlns:a="http://schemas.openxmlformats.org/drawingml/2006/main" w="19050">
              <a:solidFill>
                <a:srgbClr val="004EA2"/>
              </a:solidFill>
              <a:prstDash val="solid"/>
            </a:ln>
          </c:spPr>
          <c:marker>
            <c:symbol val="circle"/>
            <c:size val="7"/>
            <c:spPr>
              <a:solidFill xmlns:a="http://schemas.openxmlformats.org/drawingml/2006/main">
                <a:srgbClr val="FFFFFF"/>
              </a:solidFill>
            </c:spPr>
          </c:marker>
          <c:cat>
            <c:strRef>
              <c:f>Sheet1!$A$2:$A$5</c:f>
              <c:strCache>
                <c:ptCount val="4"/>
                <c:pt idx="0">
                  <c:v>26.07</c:v>
                </c:pt>
                <c:pt idx="1">
                  <c:v>9월</c:v>
                </c:pt>
                <c:pt idx="2">
                  <c:v>10월</c:v>
                </c:pt>
                <c:pt idx="3">
                  <c:v>11월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1796.3</c:v>
                </c:pt>
                <c:pt idx="1">
                  <c:v>1815.0</c:v>
                </c:pt>
                <c:pt idx="2">
                  <c:v>1848.0</c:v>
                </c:pt>
                <c:pt idx="3">
                  <c:v>1873.0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825" b="1">
                  <a:solidFill>
                    <a:srgbClr val="004EA2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9636E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7DEE5"/>
              </a:solidFill>
              <a:prstDash val="solid"/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9636E"/>
                </a:solidFill>
              </a:defRPr>
            </a:pPr>
          </a:p>
        </c:txPr>
        <c:crossAx val="48650112"/>
        <c:crossBetween val="between"/>
      </c:valAx>
    </c:plotArea>
    <c:plotVisOnly val="1"/>
  </c:chart>
  <c:externalData xmlns:r="http://schemas.openxmlformats.org/officeDocument/2006/relationships" r:id="rId1">
    <c:autoUpdate val="0"/>
  </c:externalData>
</c:chartSpace>
</file>

<file path=ppt/slides/charts/chart2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관광소비액</c:v>
                </c:pt>
              </c:strCache>
            </c:strRef>
          </c:tx>
          <c:spPr>
            <a:solidFill xmlns:a="http://schemas.openxmlformats.org/drawingml/2006/main">
              <a:srgbClr val="00B7C9"/>
            </a:solidFill>
            <a:ln xmlns:a="http://schemas.openxmlformats.org/drawingml/2006/main" w="19050">
              <a:solidFill>
                <a:srgbClr val="00B7C9"/>
              </a:solidFill>
            </a:ln>
          </c:spPr>
          <c:cat>
            <c:strRef>
              <c:f>Sheet1!$A$2:$A$4</c:f>
              <c:strCache>
                <c:ptCount val="3"/>
                <c:pt idx="0">
                  <c:v>9월</c:v>
                </c:pt>
                <c:pt idx="1">
                  <c:v>10월</c:v>
                </c:pt>
                <c:pt idx="2">
                  <c:v>11월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4760.0</c:v>
                </c:pt>
                <c:pt idx="1">
                  <c:v>4910.0</c:v>
                </c:pt>
                <c:pt idx="2">
                  <c:v>5060.0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 b="1">
                  <a:solidFill>
                    <a:srgbClr val="1B1F23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8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59636E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7DEE5"/>
              </a:solidFill>
              <a:prstDash val="solid"/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59636E"/>
                </a:solidFill>
              </a:defRPr>
            </a:pPr>
          </a:p>
        </c:txPr>
        <c:crossAx val="48650112"/>
        <c:crossBetween val="between"/>
      </c:valAx>
    </c:plotArea>
    <c:plotVisOnly val="1"/>
  </c:chart>
  <c:spPr>
    <a:solidFill xmlns:a="http://schemas.openxmlformats.org/drawingml/2006/main">
      <a:srgbClr val="FFFFFF"/>
    </a:solidFill>
  </c:spPr>
  <c:externalData xmlns:r="http://schemas.openxmlformats.org/officeDocument/2006/relationships" r:id="rId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background-wordmark">
            <a:extLst xmlns:a="http://schemas.openxmlformats.org/drawingml/2006/main">
              <a:ext uri="{FF2B5EF4-FFF2-40B4-BE49-F238E27FC236}">
                <a16:creationId xmlns:a16="http://schemas.microsoft.com/office/drawing/2014/main" id="{77FB509F-5920-492C-9117-3338D34B0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552450" y="2857500"/>
            <a:ext cx="1638300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86111" lnSpcReduction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2500" b="1" i="0">
                <a:solidFill>
                  <a:srgbClr val="E7EDF4"/>
                </a:solidFill>
                <a:latin typeface="Noto Sans KR"/>
                <a:ea typeface="Noto Sans KR"/>
                <a:cs typeface="Noto Sans KR"/>
              </a:defRPr>
            </a:pPr>
            <a:r>
              <a:rPr sz="22500" b="1" i="0">
                <a:solidFill>
                  <a:srgbClr val="E7EDF4"/>
                </a:solidFill>
                <a:latin typeface="Noto Sans KR"/>
                <a:ea typeface="Noto Sans KR"/>
                <a:cs typeface="Noto Sans KR"/>
              </a:rPr>
              <a:t>TOURISM AI</a:t>
            </a:r>
          </a:p>
        </p:txBody>
      </p:sp>
      <p:sp>
        <p:nvSpPr>
          <p:cNvPr id="2" name="center-top-vertical">
            <a:extLst xmlns:a="http://schemas.openxmlformats.org/drawingml/2006/main">
              <a:ext uri="{FF2B5EF4-FFF2-40B4-BE49-F238E27FC236}">
                <a16:creationId xmlns:a16="http://schemas.microsoft.com/office/drawing/2014/main" id="{B1DEDF35-13EE-406A-AC8E-214EDD2F2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895350"/>
            <a:ext cx="0" cy="1257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4EA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center-bottom-vertical">
            <a:extLst xmlns:a="http://schemas.openxmlformats.org/drawingml/2006/main">
              <a:ext uri="{FF2B5EF4-FFF2-40B4-BE49-F238E27FC236}">
                <a16:creationId xmlns:a16="http://schemas.microsoft.com/office/drawing/2014/main" id="{D3C6583A-243C-4B40-B28E-68DDCD824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6410325"/>
            <a:ext cx="0" cy="12477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4EA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title-panel">
            <a:extLst xmlns:a="http://schemas.openxmlformats.org/drawingml/2006/main">
              <a:ext uri="{FF2B5EF4-FFF2-40B4-BE49-F238E27FC236}">
                <a16:creationId xmlns:a16="http://schemas.microsoft.com/office/drawing/2014/main" id="{EE1DECE5-AA5E-4E34-834B-AD62B1CB0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2114550"/>
            <a:ext cx="8267700" cy="429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title-panel-top">
            <a:extLst xmlns:a="http://schemas.openxmlformats.org/drawingml/2006/main">
              <a:ext uri="{FF2B5EF4-FFF2-40B4-BE49-F238E27FC236}">
                <a16:creationId xmlns:a16="http://schemas.microsoft.com/office/drawing/2014/main" id="{6C123102-52FB-43EB-A3A5-744861F98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2114550"/>
            <a:ext cx="8267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04EA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ecurity-label">
            <a:extLst xmlns:a="http://schemas.openxmlformats.org/drawingml/2006/main">
              <a:ext uri="{FF2B5EF4-FFF2-40B4-BE49-F238E27FC236}">
                <a16:creationId xmlns:a16="http://schemas.microsoft.com/office/drawing/2014/main" id="{EA7BB441-19DF-412D-93DE-6B5F825D6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952750"/>
            <a:ext cx="2819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오프라인 샘플 · Agent 미실행</a:t>
            </a:r>
          </a:p>
        </p:txBody>
      </p:sp>
      <p:sp>
        <p:nvSpPr>
          <p:cNvPr id="7" name="cover-title-line1">
            <a:extLst xmlns:a="http://schemas.openxmlformats.org/drawingml/2006/main">
              <a:ext uri="{FF2B5EF4-FFF2-40B4-BE49-F238E27FC236}">
                <a16:creationId xmlns:a16="http://schemas.microsoft.com/office/drawing/2014/main" id="{4D06E463-555F-4ED7-A555-6F2BBA28E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638550"/>
            <a:ext cx="67341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3525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defRPr>
            </a:pPr>
            <a:r>
              <a:rPr sz="3525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rPr>
              <a:t>방문을 지역 소비로 연결하는</a:t>
            </a:r>
          </a:p>
        </p:txBody>
      </p:sp>
      <p:sp>
        <p:nvSpPr>
          <p:cNvPr id="8" name="cover-title-line2">
            <a:extLst xmlns:a="http://schemas.openxmlformats.org/drawingml/2006/main">
              <a:ext uri="{FF2B5EF4-FFF2-40B4-BE49-F238E27FC236}">
                <a16:creationId xmlns:a16="http://schemas.microsoft.com/office/drawing/2014/main" id="{055E2330-B51B-4A73-961A-2CE79A60A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4410075"/>
            <a:ext cx="69246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 lnSpcReduction="2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625" b="1">
                <a:solidFill>
                  <a:srgbClr val="1B1F23"/>
                </a:solidFill>
                <a:latin typeface="Noto Sans KR"/>
                <a:ea typeface="Noto Sans KR"/>
                <a:cs typeface="Noto Sans KR"/>
              </a:defRPr>
            </a:pPr>
            <a:r>
              <a:rPr sz="2625" b="1">
                <a:solidFill>
                  <a:srgbClr val="1B1F23"/>
                </a:solidFill>
                <a:latin typeface="Noto Sans KR"/>
                <a:ea typeface="Noto Sans KR"/>
                <a:cs typeface="Noto Sans KR"/>
              </a:rPr>
              <a:t>반나절 관광코스 실행 기획안</a:t>
            </a:r>
          </a:p>
        </p:txBody>
      </p:sp>
      <p:sp>
        <p:nvSpPr>
          <p:cNvPr id="9" name="date-rule-left">
            <a:extLst xmlns:a="http://schemas.openxmlformats.org/drawingml/2006/main">
              <a:ext uri="{FF2B5EF4-FFF2-40B4-BE49-F238E27FC236}">
                <a16:creationId xmlns:a16="http://schemas.microsoft.com/office/drawing/2014/main" id="{ADF95A54-AD3A-46B3-8204-A4A4C1780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5514975"/>
            <a:ext cx="4667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C1D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cover-date">
            <a:extLst xmlns:a="http://schemas.openxmlformats.org/drawingml/2006/main">
              <a:ext uri="{FF2B5EF4-FFF2-40B4-BE49-F238E27FC236}">
                <a16:creationId xmlns:a16="http://schemas.microsoft.com/office/drawing/2014/main" id="{D9CF49F9-166E-4877-8903-09E88A51B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5343525"/>
            <a:ext cx="2619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0" i="0">
                <a:solidFill>
                  <a:srgbClr val="1B1F23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 i="0">
                <a:solidFill>
                  <a:srgbClr val="1B1F23"/>
                </a:solidFill>
                <a:latin typeface="Noto Sans KR"/>
                <a:ea typeface="Noto Sans KR"/>
                <a:cs typeface="Noto Sans KR"/>
              </a:rPr>
              <a:t>2026년 09월 04일</a:t>
            </a:r>
          </a:p>
        </p:txBody>
      </p:sp>
      <p:sp>
        <p:nvSpPr>
          <p:cNvPr id="11" name="date-rule-right">
            <a:extLst xmlns:a="http://schemas.openxmlformats.org/drawingml/2006/main">
              <a:ext uri="{FF2B5EF4-FFF2-40B4-BE49-F238E27FC236}">
                <a16:creationId xmlns:a16="http://schemas.microsoft.com/office/drawing/2014/main" id="{D63894DC-8857-4AFB-9D30-D40A61F1C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4525" y="5514975"/>
            <a:ext cx="4667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C1D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2" name="org-title">
            <a:extLst xmlns:a="http://schemas.openxmlformats.org/drawingml/2006/main">
              <a:ext uri="{FF2B5EF4-FFF2-40B4-BE49-F238E27FC236}">
                <a16:creationId xmlns:a16="http://schemas.microsoft.com/office/drawing/2014/main" id="{BFAE34B7-AC7B-4526-88A3-D8CECFF06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20625" y="1038225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35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서울특별시 강남구</a:t>
            </a:r>
          </a:p>
        </p:txBody>
      </p:sp>
      <p:sp>
        <p:nvSpPr>
          <p:cNvPr id="13" name="org-orange-rule">
            <a:extLst xmlns:a="http://schemas.openxmlformats.org/drawingml/2006/main">
              <a:ext uri="{FF2B5EF4-FFF2-40B4-BE49-F238E27FC236}">
                <a16:creationId xmlns:a16="http://schemas.microsoft.com/office/drawing/2014/main" id="{284EC6E3-1D8E-4934-8C5E-B43BDD643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92175" y="1390650"/>
            <a:ext cx="647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6B0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org-owner">
            <a:extLst xmlns:a="http://schemas.openxmlformats.org/drawingml/2006/main">
              <a:ext uri="{FF2B5EF4-FFF2-40B4-BE49-F238E27FC236}">
                <a16:creationId xmlns:a16="http://schemas.microsoft.com/office/drawing/2014/main" id="{2CD7CFDD-25BB-432C-BC3B-756F92EB8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0" y="1590675"/>
            <a:ext cx="1190625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샘플 검토용 / OpenAI 미호출</a:t>
            </a:r>
          </a:p>
          <a:p xmlns:a="http://schemas.openxmlformats.org/drawingml/2006/main">
            <a:pPr algn="r">
              <a:buNone/>
              <a:defRPr sz="105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/>
            </a:r>
            <a:endParaRPr sz="1200" b="0" i="0">
              <a:solidFill>
                <a:srgbClr val="6E747B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15" name="report-number">
            <a:extLst xmlns:a="http://schemas.openxmlformats.org/drawingml/2006/main">
              <a:ext uri="{FF2B5EF4-FFF2-40B4-BE49-F238E27FC236}">
                <a16:creationId xmlns:a16="http://schemas.microsoft.com/office/drawing/2014/main" id="{91C450AB-B31C-4B87-BDB0-6281DFDBC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315075"/>
            <a:ext cx="35147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rPr>
              <a:t>보고서 출력일 2026-09-04</a:t>
            </a:r>
          </a:p>
        </p:txBody>
      </p:sp>
      <p:sp>
        <p:nvSpPr>
          <p:cNvPr id="16" name="report-topic">
            <a:extLst xmlns:a="http://schemas.openxmlformats.org/drawingml/2006/main">
              <a:ext uri="{FF2B5EF4-FFF2-40B4-BE49-F238E27FC236}">
                <a16:creationId xmlns:a16="http://schemas.microsoft.com/office/drawing/2014/main" id="{79974288-A39D-407D-8F48-874FFA409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724650"/>
            <a:ext cx="3514725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232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강남구 관광 활성화</a:t>
            </a:r>
          </a:p>
          <a:p xmlns:a="http://schemas.openxmlformats.org/drawingml/2006/main">
            <a:pPr algn="l">
              <a:buNone/>
              <a:defRPr sz="232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232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실행안</a:t>
            </a:r>
            <a:endParaRPr sz="3150" b="1" i="0">
              <a:solidFill>
                <a:srgbClr val="004EA2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17" name="corner-tl-h">
            <a:extLst xmlns:a="http://schemas.openxmlformats.org/drawingml/2006/main">
              <a:ext uri="{FF2B5EF4-FFF2-40B4-BE49-F238E27FC236}">
                <a16:creationId xmlns:a16="http://schemas.microsoft.com/office/drawing/2014/main" id="{85098CA2-D674-4C13-AAED-97DC2B166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19125"/>
            <a:ext cx="2952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C1D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8" name="corner-tl-v">
            <a:extLst xmlns:a="http://schemas.openxmlformats.org/drawingml/2006/main">
              <a:ext uri="{FF2B5EF4-FFF2-40B4-BE49-F238E27FC236}">
                <a16:creationId xmlns:a16="http://schemas.microsoft.com/office/drawing/2014/main" id="{30186634-254F-4224-B08F-40BB6E5B3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19125"/>
            <a:ext cx="0" cy="2952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C1D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9" name="corner-br-h">
            <a:extLst xmlns:a="http://schemas.openxmlformats.org/drawingml/2006/main">
              <a:ext uri="{FF2B5EF4-FFF2-40B4-BE49-F238E27FC236}">
                <a16:creationId xmlns:a16="http://schemas.microsoft.com/office/drawing/2014/main" id="{95077333-21E3-42BF-9CBB-698C3BEE5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82775" y="7943850"/>
            <a:ext cx="2952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C1D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0" name="corner-br-v">
            <a:extLst xmlns:a="http://schemas.openxmlformats.org/drawingml/2006/main">
              <a:ext uri="{FF2B5EF4-FFF2-40B4-BE49-F238E27FC236}">
                <a16:creationId xmlns:a16="http://schemas.microsoft.com/office/drawing/2014/main" id="{81015BD6-64EA-4BC0-A2BD-BDDA9641D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78050" y="7648575"/>
            <a:ext cx="0" cy="2952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C1D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  <p:extLst>
      <p:ext uri="{BB962C8B-B14F-4D97-AF65-F5344CB8AC3E}">
        <p14:creationId xmlns:p14="http://schemas.microsoft.com/office/powerpoint/2010/main" val="65541183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top-brand">
            <a:extLst xmlns:a="http://schemas.openxmlformats.org/drawingml/2006/main">
              <a:ext uri="{FF2B5EF4-FFF2-40B4-BE49-F238E27FC236}">
                <a16:creationId xmlns:a16="http://schemas.microsoft.com/office/drawing/2014/main" id="{BC511F59-C000-4ABE-8C07-978065167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1475"/>
            <a:ext cx="3943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서울특별시 강남구 관광 전략기획안</a:t>
            </a:r>
          </a:p>
        </p:txBody>
      </p:sp>
      <p:sp>
        <p:nvSpPr>
          <p:cNvPr id="2" name="top-date">
            <a:extLst xmlns:a="http://schemas.openxmlformats.org/drawingml/2006/main">
              <a:ext uri="{FF2B5EF4-FFF2-40B4-BE49-F238E27FC236}">
                <a16:creationId xmlns:a16="http://schemas.microsoft.com/office/drawing/2014/main" id="{B2EA0AA8-9451-4577-B2DB-64FEA4AE4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0" y="32385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 b="1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2026. 09. 04</a:t>
            </a:r>
          </a:p>
        </p:txBody>
      </p:sp>
      <p:sp>
        <p:nvSpPr>
          <p:cNvPr id="3" name="top-rule">
            <a:extLst xmlns:a="http://schemas.openxmlformats.org/drawingml/2006/main">
              <a:ext uri="{FF2B5EF4-FFF2-40B4-BE49-F238E27FC236}">
                <a16:creationId xmlns:a16="http://schemas.microsoft.com/office/drawing/2014/main" id="{578AD546-B3C6-4345-964E-CA38D80C5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" y="981075"/>
            <a:ext cx="15182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EA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contents-rail">
            <a:extLst xmlns:a="http://schemas.openxmlformats.org/drawingml/2006/main">
              <a:ext uri="{FF2B5EF4-FFF2-40B4-BE49-F238E27FC236}">
                <a16:creationId xmlns:a16="http://schemas.microsoft.com/office/drawing/2014/main" id="{7FA9108D-F5FC-4EF8-882D-8BF062FDC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" y="981075"/>
            <a:ext cx="4810125" cy="7591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4EA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contents-vertical">
            <a:extLst xmlns:a="http://schemas.openxmlformats.org/drawingml/2006/main">
              <a:ext uri="{FF2B5EF4-FFF2-40B4-BE49-F238E27FC236}">
                <a16:creationId xmlns:a16="http://schemas.microsoft.com/office/drawing/2014/main" id="{8A649E8C-B469-49E6-9B71-2587FA310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400000">
            <a:off x="-866775" y="4162425"/>
            <a:ext cx="6762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91667" lnSpcReduction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7500" b="1" i="0">
                <a:solidFill>
                  <a:srgbClr val="2B6CB2"/>
                </a:solidFill>
                <a:latin typeface="Noto Sans KR"/>
                <a:ea typeface="Noto Sans KR"/>
                <a:cs typeface="Noto Sans KR"/>
              </a:defRPr>
            </a:pPr>
            <a:r>
              <a:rPr sz="7500" b="1" i="0">
                <a:solidFill>
                  <a:srgbClr val="2B6CB2"/>
                </a:solidFill>
                <a:latin typeface="Noto Sans KR"/>
                <a:ea typeface="Noto Sans KR"/>
                <a:cs typeface="Noto Sans KR"/>
              </a:rPr>
              <a:t>CONTENTS</a:t>
            </a:r>
          </a:p>
        </p:txBody>
      </p:sp>
      <p:sp>
        <p:nvSpPr>
          <p:cNvPr id="6" name="contents-en">
            <a:extLst xmlns:a="http://schemas.openxmlformats.org/drawingml/2006/main">
              <a:ext uri="{FF2B5EF4-FFF2-40B4-BE49-F238E27FC236}">
                <a16:creationId xmlns:a16="http://schemas.microsoft.com/office/drawing/2014/main" id="{A4545508-3408-4837-8886-DBD8CE263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029075"/>
            <a:ext cx="39814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 i="0">
                <a:solidFill>
                  <a:srgbClr val="00C1D4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1" i="0">
                <a:solidFill>
                  <a:srgbClr val="00C1D4"/>
                </a:solidFill>
                <a:latin typeface="Noto Sans KR"/>
                <a:ea typeface="Noto Sans KR"/>
                <a:cs typeface="Noto Sans KR"/>
              </a:rPr>
              <a:t>T A B L E   O F   C O N T E N T S</a:t>
            </a:r>
          </a:p>
        </p:txBody>
      </p:sp>
      <p:sp>
        <p:nvSpPr>
          <p:cNvPr id="7" name="contents-ko">
            <a:extLst xmlns:a="http://schemas.openxmlformats.org/drawingml/2006/main">
              <a:ext uri="{FF2B5EF4-FFF2-40B4-BE49-F238E27FC236}">
                <a16:creationId xmlns:a16="http://schemas.microsoft.com/office/drawing/2014/main" id="{99A460E5-8765-444E-944E-1A8069ABC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600575"/>
            <a:ext cx="2381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925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2925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목차 안내</a:t>
            </a:r>
          </a:p>
        </p:txBody>
      </p:sp>
      <p:sp>
        <p:nvSpPr>
          <p:cNvPr id="8" name="contents-orange">
            <a:extLst xmlns:a="http://schemas.openxmlformats.org/drawingml/2006/main">
              <a:ext uri="{FF2B5EF4-FFF2-40B4-BE49-F238E27FC236}">
                <a16:creationId xmlns:a16="http://schemas.microsoft.com/office/drawing/2014/main" id="{D5323B82-A54D-47BA-8350-BCD7E58DB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5381625"/>
            <a:ext cx="704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F6B0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toc-0-0-num">
            <a:extLst xmlns:a="http://schemas.openxmlformats.org/drawingml/2006/main">
              <a:ext uri="{FF2B5EF4-FFF2-40B4-BE49-F238E27FC236}">
                <a16:creationId xmlns:a16="http://schemas.microsoft.com/office/drawing/2014/main" id="{9A4D7DD5-B7C1-4FE0-B663-1C335B732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181350"/>
            <a:ext cx="419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defRPr>
            </a:pPr>
            <a:r>
              <a:rPr sz="1300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rPr>
              <a:t>01</a:t>
            </a:r>
          </a:p>
        </p:txBody>
      </p:sp>
      <p:sp>
        <p:nvSpPr>
          <p:cNvPr id="10" name="toc-0-0-label">
            <a:extLst xmlns:a="http://schemas.openxmlformats.org/drawingml/2006/main">
              <a:ext uri="{FF2B5EF4-FFF2-40B4-BE49-F238E27FC236}">
                <a16:creationId xmlns:a16="http://schemas.microsoft.com/office/drawing/2014/main" id="{F2F2D109-397D-42C2-AF7E-720371CCB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3171825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rPr>
              <a:t>프로젝트 개요·기획 배경</a:t>
            </a:r>
            <a:endParaRPr sz="1500" b="1" i="0">
              <a:solidFill>
                <a:srgbClr val="18191B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11" name="toc-0-0-rule">
            <a:extLst xmlns:a="http://schemas.openxmlformats.org/drawingml/2006/main">
              <a:ext uri="{FF2B5EF4-FFF2-40B4-BE49-F238E27FC236}">
                <a16:creationId xmlns:a16="http://schemas.microsoft.com/office/drawing/2014/main" id="{7A9B4322-D952-4704-8A34-AFE4DB848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581400"/>
            <a:ext cx="457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EA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2" name="toc-0-1-num">
            <a:extLst xmlns:a="http://schemas.openxmlformats.org/drawingml/2006/main">
              <a:ext uri="{FF2B5EF4-FFF2-40B4-BE49-F238E27FC236}">
                <a16:creationId xmlns:a16="http://schemas.microsoft.com/office/drawing/2014/main" id="{BB7EB441-7049-4AEE-B4A6-EB8A89073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886200"/>
            <a:ext cx="419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defRPr>
            </a:pPr>
            <a:r>
              <a:rPr sz="1300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13" name="toc-0-1-label">
            <a:extLst xmlns:a="http://schemas.openxmlformats.org/drawingml/2006/main">
              <a:ext uri="{FF2B5EF4-FFF2-40B4-BE49-F238E27FC236}">
                <a16:creationId xmlns:a16="http://schemas.microsoft.com/office/drawing/2014/main" id="{A858F0DB-1B50-472E-BCED-A95D8FDFE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3876675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rPr>
              <a:t>방문자·소비액 ML 전망</a:t>
            </a:r>
          </a:p>
        </p:txBody>
      </p:sp>
      <p:sp>
        <p:nvSpPr>
          <p:cNvPr id="14" name="toc-0-1-rule">
            <a:extLst xmlns:a="http://schemas.openxmlformats.org/drawingml/2006/main">
              <a:ext uri="{FF2B5EF4-FFF2-40B4-BE49-F238E27FC236}">
                <a16:creationId xmlns:a16="http://schemas.microsoft.com/office/drawing/2014/main" id="{8BB674AB-E001-4E54-9B2D-138021E3F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286250"/>
            <a:ext cx="457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EA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toc-0-2-num">
            <a:extLst xmlns:a="http://schemas.openxmlformats.org/drawingml/2006/main">
              <a:ext uri="{FF2B5EF4-FFF2-40B4-BE49-F238E27FC236}">
                <a16:creationId xmlns:a16="http://schemas.microsoft.com/office/drawing/2014/main" id="{2A73ED54-5EB7-481A-AA22-31B5FA783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591050"/>
            <a:ext cx="419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defRPr>
            </a:pPr>
            <a:r>
              <a:rPr sz="1300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  <p:sp>
        <p:nvSpPr>
          <p:cNvPr id="16" name="toc-0-2-label">
            <a:extLst xmlns:a="http://schemas.openxmlformats.org/drawingml/2006/main">
              <a:ext uri="{FF2B5EF4-FFF2-40B4-BE49-F238E27FC236}">
                <a16:creationId xmlns:a16="http://schemas.microsoft.com/office/drawing/2014/main" id="{49778DA9-2C34-4F19-86EC-61157A1DC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4581525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rPr>
              <a:t>유사 지역·사례 비교</a:t>
            </a:r>
          </a:p>
        </p:txBody>
      </p:sp>
      <p:sp>
        <p:nvSpPr>
          <p:cNvPr id="17" name="toc-0-2-rule">
            <a:extLst xmlns:a="http://schemas.openxmlformats.org/drawingml/2006/main">
              <a:ext uri="{FF2B5EF4-FFF2-40B4-BE49-F238E27FC236}">
                <a16:creationId xmlns:a16="http://schemas.microsoft.com/office/drawing/2014/main" id="{1EE5059E-9C45-4D3E-B828-82D1F0982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991100"/>
            <a:ext cx="457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EA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8" name="toc-0-3-num">
            <a:extLst xmlns:a="http://schemas.openxmlformats.org/drawingml/2006/main">
              <a:ext uri="{FF2B5EF4-FFF2-40B4-BE49-F238E27FC236}">
                <a16:creationId xmlns:a16="http://schemas.microsoft.com/office/drawing/2014/main" id="{09D69393-9477-46BB-9754-B38343883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5295900"/>
            <a:ext cx="419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defRPr>
            </a:pPr>
            <a:r>
              <a:rPr sz="1300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rPr>
              <a:t>04</a:t>
            </a:r>
          </a:p>
        </p:txBody>
      </p:sp>
      <p:sp>
        <p:nvSpPr>
          <p:cNvPr id="19" name="toc-0-3-label">
            <a:extLst xmlns:a="http://schemas.openxmlformats.org/drawingml/2006/main">
              <a:ext uri="{FF2B5EF4-FFF2-40B4-BE49-F238E27FC236}">
                <a16:creationId xmlns:a16="http://schemas.microsoft.com/office/drawing/2014/main" id="{E1D92E25-FA72-4D2D-83BA-E4E956D73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5286375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rPr>
              <a:t>4단계 실행 가이드</a:t>
            </a:r>
          </a:p>
        </p:txBody>
      </p:sp>
      <p:sp>
        <p:nvSpPr>
          <p:cNvPr id="20" name="toc-0-3-rule">
            <a:extLst xmlns:a="http://schemas.openxmlformats.org/drawingml/2006/main">
              <a:ext uri="{FF2B5EF4-FFF2-40B4-BE49-F238E27FC236}">
                <a16:creationId xmlns:a16="http://schemas.microsoft.com/office/drawing/2014/main" id="{978F3F46-82E5-4C13-B76B-BB791D143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5695950"/>
            <a:ext cx="457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EA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4" name="toc-1-0-num">
            <a:extLst xmlns:a="http://schemas.openxmlformats.org/drawingml/2006/main">
              <a:ext uri="{FF2B5EF4-FFF2-40B4-BE49-F238E27FC236}">
                <a16:creationId xmlns:a16="http://schemas.microsoft.com/office/drawing/2014/main" id="{CF8AF870-2DD7-4DF0-935E-A7B18F51B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3181350"/>
            <a:ext cx="419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defRPr>
            </a:pPr>
            <a:r>
              <a:rPr sz="1300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rPr>
              <a:t>05</a:t>
            </a:r>
          </a:p>
        </p:txBody>
      </p:sp>
      <p:sp>
        <p:nvSpPr>
          <p:cNvPr id="25" name="toc-1-0-label">
            <a:extLst xmlns:a="http://schemas.openxmlformats.org/drawingml/2006/main">
              <a:ext uri="{FF2B5EF4-FFF2-40B4-BE49-F238E27FC236}">
                <a16:creationId xmlns:a16="http://schemas.microsoft.com/office/drawing/2014/main" id="{BD4D99A2-3331-4C55-B657-C250B6816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0925" y="3171825"/>
            <a:ext cx="3905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rPr>
              <a:t>시범 KPI·측정 기준</a:t>
            </a:r>
          </a:p>
        </p:txBody>
      </p:sp>
      <p:sp>
        <p:nvSpPr>
          <p:cNvPr id="26" name="toc-1-0-rule">
            <a:extLst xmlns:a="http://schemas.openxmlformats.org/drawingml/2006/main">
              <a:ext uri="{FF2B5EF4-FFF2-40B4-BE49-F238E27FC236}">
                <a16:creationId xmlns:a16="http://schemas.microsoft.com/office/drawing/2014/main" id="{F1965004-3508-48E4-8EAB-5E1F64F01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3581400"/>
            <a:ext cx="4333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EA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7" name="toc-1-1-num">
            <a:extLst xmlns:a="http://schemas.openxmlformats.org/drawingml/2006/main">
              <a:ext uri="{FF2B5EF4-FFF2-40B4-BE49-F238E27FC236}">
                <a16:creationId xmlns:a16="http://schemas.microsoft.com/office/drawing/2014/main" id="{F550A570-A5C8-441C-B223-B8C268802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3886200"/>
            <a:ext cx="419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defRPr>
            </a:pPr>
            <a:r>
              <a:rPr sz="1300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rPr>
              <a:t>06</a:t>
            </a:r>
          </a:p>
        </p:txBody>
      </p:sp>
      <p:sp>
        <p:nvSpPr>
          <p:cNvPr id="28" name="toc-1-1-label">
            <a:extLst xmlns:a="http://schemas.openxmlformats.org/drawingml/2006/main">
              <a:ext uri="{FF2B5EF4-FFF2-40B4-BE49-F238E27FC236}">
                <a16:creationId xmlns:a16="http://schemas.microsoft.com/office/drawing/2014/main" id="{FF9F868A-CDE5-4A20-B0C5-802AA73C5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0925" y="3876675"/>
            <a:ext cx="3905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rPr>
              <a:t>예산·성과 측정</a:t>
            </a:r>
          </a:p>
        </p:txBody>
      </p:sp>
      <p:sp>
        <p:nvSpPr>
          <p:cNvPr id="29" name="toc-1-1-rule">
            <a:extLst xmlns:a="http://schemas.openxmlformats.org/drawingml/2006/main">
              <a:ext uri="{FF2B5EF4-FFF2-40B4-BE49-F238E27FC236}">
                <a16:creationId xmlns:a16="http://schemas.microsoft.com/office/drawing/2014/main" id="{3DE11471-853F-4C00-8EAD-1C16A596D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4286250"/>
            <a:ext cx="4333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EA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0" name="toc-1-2-num">
            <a:extLst xmlns:a="http://schemas.openxmlformats.org/drawingml/2006/main">
              <a:ext uri="{FF2B5EF4-FFF2-40B4-BE49-F238E27FC236}">
                <a16:creationId xmlns:a16="http://schemas.microsoft.com/office/drawing/2014/main" id="{30C761BB-7DA1-4AF8-AFF7-38427A28D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4591050"/>
            <a:ext cx="419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defRPr>
            </a:pPr>
            <a:r>
              <a:rPr sz="1300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rPr>
              <a:t>07</a:t>
            </a:r>
          </a:p>
        </p:txBody>
      </p:sp>
      <p:sp>
        <p:nvSpPr>
          <p:cNvPr id="31" name="toc-1-2-label">
            <a:extLst xmlns:a="http://schemas.openxmlformats.org/drawingml/2006/main">
              <a:ext uri="{FF2B5EF4-FFF2-40B4-BE49-F238E27FC236}">
                <a16:creationId xmlns:a16="http://schemas.microsoft.com/office/drawing/2014/main" id="{9767F6A9-0960-4EE5-8571-54C6805AC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0925" y="4581525"/>
            <a:ext cx="3905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rPr>
              <a:t>기대 효과·확대 판단</a:t>
            </a:r>
          </a:p>
        </p:txBody>
      </p:sp>
      <p:sp>
        <p:nvSpPr>
          <p:cNvPr id="32" name="toc-1-2-rule">
            <a:extLst xmlns:a="http://schemas.openxmlformats.org/drawingml/2006/main">
              <a:ext uri="{FF2B5EF4-FFF2-40B4-BE49-F238E27FC236}">
                <a16:creationId xmlns:a16="http://schemas.microsoft.com/office/drawing/2014/main" id="{E0A4D40C-2FAB-4908-8300-E58CB3ACF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4991100"/>
            <a:ext cx="4333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EA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  <p:extLst>
      <p:ext uri="{BB962C8B-B14F-4D97-AF65-F5344CB8AC3E}">
        <p14:creationId xmlns:p14="http://schemas.microsoft.com/office/powerpoint/2010/main" val="7019267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3" name="visitor-phot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55a14ed6b34f17"/>
          <a:srcRect xmlns:a="http://schemas.openxmlformats.org/drawingml/2006/main" l="31370" r="3137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4791075" cy="8572500"/>
          </a:xfrm>
          <a:prstGeom xmlns:a="http://schemas.openxmlformats.org/drawingml/2006/main" prst="rect">
            <a:avLst/>
          </a:prstGeom>
        </p:spPr>
      </p:pic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5043173D-B090-48BB-AB55-94D36611B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3525" y="876300"/>
            <a:ext cx="8096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3600" b="1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강남구 관광 전환 프로젝트</a:t>
            </a:r>
            <a:endParaRPr sz="4425" b="1" i="0">
              <a:solidFill>
                <a:srgbClr val="004EA2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7BB0242C-FDEC-4963-ABFB-596DC97C0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2152650"/>
            <a:ext cx="10439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04EA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hero-source-bg">
            <a:extLst xmlns:a="http://schemas.openxmlformats.org/drawingml/2006/main">
              <a:ext uri="{FF2B5EF4-FFF2-40B4-BE49-F238E27FC236}">
                <a16:creationId xmlns:a16="http://schemas.microsoft.com/office/drawing/2014/main" id="{CDA4A852-90A1-4F7A-85C3-CC9CF369C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8020050"/>
            <a:ext cx="4333875" cy="3429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0B2F5B"/>
          </a:solidFill>
          <a:ln xmlns:a="http://schemas.openxmlformats.org/drawingml/2006/main" w="9525">
            <a:solidFill>
              <a:srgbClr val="0B2F5B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6" name="hero-source-label">
            <a:extLst xmlns:a="http://schemas.openxmlformats.org/drawingml/2006/main">
              <a:ext uri="{FF2B5EF4-FFF2-40B4-BE49-F238E27FC236}">
                <a16:creationId xmlns:a16="http://schemas.microsoft.com/office/drawing/2014/main" id="{D1920FBE-F92C-4035-AAA5-C13D7F354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8096250"/>
            <a:ext cx="4143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0" i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0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사진: 강남 · 한국관광공사 관광 Open API</a:t>
            </a:r>
          </a:p>
        </p:txBody>
      </p:sp>
      <p:sp>
        <p:nvSpPr>
          <p:cNvPr id="17" name="s3-kicker">
            <a:extLst xmlns:a="http://schemas.openxmlformats.org/drawingml/2006/main">
              <a:ext uri="{FF2B5EF4-FFF2-40B4-BE49-F238E27FC236}">
                <a16:creationId xmlns:a16="http://schemas.microsoft.com/office/drawing/2014/main" id="{947C42A4-61CC-45FE-B37C-6E874EA86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3525" y="2619375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defRPr>
            </a:pPr>
            <a:r>
              <a:rPr sz="1175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rPr>
              <a:t>PROJECT CONCEPT</a:t>
            </a:r>
          </a:p>
        </p:txBody>
      </p:sp>
      <p:sp>
        <p:nvSpPr>
          <p:cNvPr id="18" name="s3-thesis">
            <a:extLst xmlns:a="http://schemas.openxmlformats.org/drawingml/2006/main">
              <a:ext uri="{FF2B5EF4-FFF2-40B4-BE49-F238E27FC236}">
                <a16:creationId xmlns:a16="http://schemas.microsoft.com/office/drawing/2014/main" id="{8775F730-FE05-41BC-A601-3D13345E3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3525" y="2943225"/>
            <a:ext cx="8382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75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defRPr>
            </a:pPr>
            <a:r>
              <a:rPr sz="2175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rPr>
              <a:t>방문 수요를 체류·소비로 잇는 지역 맞춤형 관광코스를 시범 운영합니다.</a:t>
            </a:r>
          </a:p>
          <a:p xmlns:a="http://schemas.openxmlformats.org/drawingml/2006/main">
            <a:pPr algn="l">
              <a:buNone/>
              <a:defRPr sz="2175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defRPr>
            </a:pPr>
            <a:r>
              <a:rPr sz="2175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rPr>
              <a:t/>
            </a:r>
          </a:p>
        </p:txBody>
      </p:sp>
      <p:sp>
        <p:nvSpPr>
          <p:cNvPr id="19" name="s3-desc">
            <a:extLst xmlns:a="http://schemas.openxmlformats.org/drawingml/2006/main">
              <a:ext uri="{FF2B5EF4-FFF2-40B4-BE49-F238E27FC236}">
                <a16:creationId xmlns:a16="http://schemas.microsoft.com/office/drawing/2014/main" id="{AFC98867-BACB-480A-8E65-B91D555BA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3525" y="4019550"/>
            <a:ext cx="85248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325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방문자가 지역 안에서 이동하고 소비할 이유를 명확히 만들며, 실제 운영 결과를 바탕으로 확대 여부를 판단할 수 있습니다.</a:t>
            </a:r>
          </a:p>
        </p:txBody>
      </p:sp>
      <p:sp>
        <p:nvSpPr>
          <p:cNvPr id="20" name="s3-metric-1-box">
            <a:extLst xmlns:a="http://schemas.openxmlformats.org/drawingml/2006/main">
              <a:ext uri="{FF2B5EF4-FFF2-40B4-BE49-F238E27FC236}">
                <a16:creationId xmlns:a16="http://schemas.microsoft.com/office/drawing/2014/main" id="{AB14D907-4E4C-4EFD-B69F-3250B75EA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3525" y="5000625"/>
            <a:ext cx="257175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5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1" name="s3-metric-1-label">
            <a:extLst xmlns:a="http://schemas.openxmlformats.org/drawingml/2006/main">
              <a:ext uri="{FF2B5EF4-FFF2-40B4-BE49-F238E27FC236}">
                <a16:creationId xmlns:a16="http://schemas.microsoft.com/office/drawing/2014/main" id="{58F6CA00-84DC-4AE3-87D4-9BBCCFE24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4975" y="5153025"/>
            <a:ext cx="2228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175" b="1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월간 순 방문자 수</a:t>
            </a:r>
          </a:p>
        </p:txBody>
      </p:sp>
      <p:sp>
        <p:nvSpPr>
          <p:cNvPr id="22" name="s3-metric-1-value">
            <a:extLst xmlns:a="http://schemas.openxmlformats.org/drawingml/2006/main">
              <a:ext uri="{FF2B5EF4-FFF2-40B4-BE49-F238E27FC236}">
                <a16:creationId xmlns:a16="http://schemas.microsoft.com/office/drawing/2014/main" id="{6EA07604-98B1-489C-B68A-2B9C997A1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4975" y="5410200"/>
            <a:ext cx="2228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1,796만 명</a:t>
            </a:r>
          </a:p>
        </p:txBody>
      </p:sp>
      <p:sp>
        <p:nvSpPr>
          <p:cNvPr id="23" name="s3-metric-2-box">
            <a:extLst xmlns:a="http://schemas.openxmlformats.org/drawingml/2006/main">
              <a:ext uri="{FF2B5EF4-FFF2-40B4-BE49-F238E27FC236}">
                <a16:creationId xmlns:a16="http://schemas.microsoft.com/office/drawing/2014/main" id="{8EB3D0E8-ACEF-4043-821E-0A4FD604B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5000625"/>
            <a:ext cx="257175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5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4" name="s3-metric-2-label">
            <a:extLst xmlns:a="http://schemas.openxmlformats.org/drawingml/2006/main">
              <a:ext uri="{FF2B5EF4-FFF2-40B4-BE49-F238E27FC236}">
                <a16:creationId xmlns:a16="http://schemas.microsoft.com/office/drawing/2014/main" id="{76DB9DAA-DBE4-4CE5-BE49-C73F772B8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5153025"/>
            <a:ext cx="2228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175" b="1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전년동월 외지인 방문자 증감률</a:t>
            </a:r>
          </a:p>
        </p:txBody>
      </p:sp>
      <p:sp>
        <p:nvSpPr>
          <p:cNvPr id="25" name="s3-metric-2-value">
            <a:extLst xmlns:a="http://schemas.openxmlformats.org/drawingml/2006/main">
              <a:ext uri="{FF2B5EF4-FFF2-40B4-BE49-F238E27FC236}">
                <a16:creationId xmlns:a16="http://schemas.microsoft.com/office/drawing/2014/main" id="{E6DF14E8-8EEE-46E6-9D6C-47360F690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5410200"/>
            <a:ext cx="2228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 i="0">
                <a:solidFill>
                  <a:srgbClr val="F97316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1" i="0">
                <a:solidFill>
                  <a:srgbClr val="F97316"/>
                </a:solidFill>
                <a:latin typeface="Noto Sans KR"/>
                <a:ea typeface="Noto Sans KR"/>
                <a:cs typeface="Noto Sans KR"/>
              </a:rPr>
              <a:t>-8.3%</a:t>
            </a:r>
          </a:p>
        </p:txBody>
      </p:sp>
      <p:sp>
        <p:nvSpPr>
          <p:cNvPr id="26" name="s3-metric-3-box">
            <a:extLst xmlns:a="http://schemas.openxmlformats.org/drawingml/2006/main">
              <a:ext uri="{FF2B5EF4-FFF2-40B4-BE49-F238E27FC236}">
                <a16:creationId xmlns:a16="http://schemas.microsoft.com/office/drawing/2014/main" id="{579A3EDD-FC7C-452B-8D03-ED8503E72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7075" y="5000625"/>
            <a:ext cx="28575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5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7" name="s3-metric-3-label">
            <a:extLst xmlns:a="http://schemas.openxmlformats.org/drawingml/2006/main">
              <a:ext uri="{FF2B5EF4-FFF2-40B4-BE49-F238E27FC236}">
                <a16:creationId xmlns:a16="http://schemas.microsoft.com/office/drawing/2014/main" id="{592B3FE8-5125-489E-8EA2-40DB13592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58525" y="5153025"/>
            <a:ext cx="2514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175" b="1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월간 외지인 관광소비 총액</a:t>
            </a:r>
          </a:p>
        </p:txBody>
      </p:sp>
      <p:sp>
        <p:nvSpPr>
          <p:cNvPr id="28" name="s3-metric-3-value">
            <a:extLst xmlns:a="http://schemas.openxmlformats.org/drawingml/2006/main">
              <a:ext uri="{FF2B5EF4-FFF2-40B4-BE49-F238E27FC236}">
                <a16:creationId xmlns:a16="http://schemas.microsoft.com/office/drawing/2014/main" id="{527F2D92-C3C7-42DC-A6CF-DB6EF4F4E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58525" y="5410200"/>
            <a:ext cx="2514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rPr>
              <a:t>4,820억 원</a:t>
            </a:r>
          </a:p>
        </p:txBody>
      </p:sp>
      <p:sp>
        <p:nvSpPr>
          <p:cNvPr id="29" name="s3-evidence-box">
            <a:extLst xmlns:a="http://schemas.openxmlformats.org/drawingml/2006/main">
              <a:ext uri="{FF2B5EF4-FFF2-40B4-BE49-F238E27FC236}">
                <a16:creationId xmlns:a16="http://schemas.microsoft.com/office/drawing/2014/main" id="{B7277C91-A0FE-4BAD-B208-BDAF628B4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3525" y="6305550"/>
            <a:ext cx="8401050" cy="11906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5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0" name="s3-evidence-title">
            <a:extLst xmlns:a="http://schemas.openxmlformats.org/drawingml/2006/main">
              <a:ext uri="{FF2B5EF4-FFF2-40B4-BE49-F238E27FC236}">
                <a16:creationId xmlns:a16="http://schemas.microsoft.com/office/drawing/2014/main" id="{9AE22B7F-1105-4FF7-85C5-FB4B4D490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0225" y="6524625"/>
            <a:ext cx="256032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이 기획안을 제안한 이유</a:t>
            </a:r>
          </a:p>
        </p:txBody>
      </p:sp>
      <p:sp>
        <p:nvSpPr>
          <p:cNvPr id="31" name="s3-evidence-body">
            <a:extLst xmlns:a="http://schemas.openxmlformats.org/drawingml/2006/main">
              <a:ext uri="{FF2B5EF4-FFF2-40B4-BE49-F238E27FC236}">
                <a16:creationId xmlns:a16="http://schemas.microsoft.com/office/drawing/2014/main" id="{3F123C44-F1DD-49F8-B8D6-6566CBA9E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0225" y="6877050"/>
            <a:ext cx="7810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175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최근 방문 규모만으로는 지역 안에서 충분한 소비와 체류가 이어졌다고 보기 어렵습니다. 숙박 방문 비율은 3.1%, 평균 숙박일수는 2.91일입니다. 같은 기준의 유사 지역과 공식 사례를 대조하고, 관측값과 저장 ML 자연추세를 분리해…</a:t>
            </a:r>
          </a:p>
          <a:p xmlns:a="http://schemas.openxmlformats.org/drawingml/2006/main">
            <a:pPr algn="l">
              <a:buNone/>
              <a:defRPr sz="1125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175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130888736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eyebrow">
            <a:extLst xmlns:a="http://schemas.openxmlformats.org/drawingml/2006/main">
              <a:ext uri="{FF2B5EF4-FFF2-40B4-BE49-F238E27FC236}">
                <a16:creationId xmlns:a16="http://schemas.microsoft.com/office/drawing/2014/main" id="{79965D2B-742B-49AB-AFFC-0141FF200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057275"/>
            <a:ext cx="35337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defRPr>
            </a:pPr>
            <a:r>
              <a:rPr sz="1175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rPr>
              <a:t>ML FORECAST · DEMO VALUES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ABDAA44-8EBB-4981-B6CE-1EDFB0FD2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447800"/>
            <a:ext cx="81248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225" b="1">
                <a:solidFill>
                  <a:srgbClr val="1B1F23"/>
                </a:solidFill>
                <a:latin typeface="Noto Sans KR"/>
                <a:ea typeface="Noto Sans KR"/>
                <a:cs typeface="Noto Sans KR"/>
              </a:defRPr>
            </a:pPr>
            <a:r>
              <a:rPr sz="3225" b="1">
                <a:solidFill>
                  <a:srgbClr val="1B1F23"/>
                </a:solidFill>
                <a:latin typeface="Noto Sans KR"/>
                <a:ea typeface="Noto Sans KR"/>
                <a:cs typeface="Noto Sans KR"/>
              </a:rPr>
              <a:t>향후 3개월 방문자·소비액 ML 전망</a:t>
            </a:r>
            <a:endParaRPr sz="3525" b="1">
              <a:solidFill>
                <a:srgbClr val="004EA2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09610720-202B-4F09-8037-567ABC57A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66950"/>
            <a:ext cx="7334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4EA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intro">
            <a:extLst xmlns:a="http://schemas.openxmlformats.org/drawingml/2006/main">
              <a:ext uri="{FF2B5EF4-FFF2-40B4-BE49-F238E27FC236}">
                <a16:creationId xmlns:a16="http://schemas.microsoft.com/office/drawing/2014/main" id="{F4CE408F-7D39-483A-AE7E-5DDC832E7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67025"/>
            <a:ext cx="7543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 lnSpcReduction="1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120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25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교육용 더미값입니다. 실제 보고서는 과거 월별 원자료를 시간순으로 학습한 저장 ML 자연추세만 표시하며, 정책 효과나 성과를 보장하지 않습니다.</a:t>
            </a:r>
          </a:p>
        </p:txBody>
      </p:sp>
      <p:sp>
        <p:nvSpPr>
          <p:cNvPr id="6" name="prediction-rail">
            <a:extLst xmlns:a="http://schemas.openxmlformats.org/drawingml/2006/main">
              <a:ext uri="{FF2B5EF4-FFF2-40B4-BE49-F238E27FC236}">
                <a16:creationId xmlns:a16="http://schemas.microsoft.com/office/drawing/2014/main" id="{3CC9773F-81A2-46D4-897F-04FD39417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981450"/>
            <a:ext cx="0" cy="8953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0C1D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prediction-title">
            <a:extLst xmlns:a="http://schemas.openxmlformats.org/drawingml/2006/main">
              <a:ext uri="{FF2B5EF4-FFF2-40B4-BE49-F238E27FC236}">
                <a16:creationId xmlns:a16="http://schemas.microsoft.com/office/drawing/2014/main" id="{9D7B9C8E-7531-4597-8395-092405B07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010025"/>
            <a:ext cx="5562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월 방문자 수: 1,815만 명 → 1,873만 명</a:t>
            </a:r>
            <a:endParaRPr sz="1425" b="1" i="0">
              <a:solidFill>
                <a:srgbClr val="004EA2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8" name="prediction-body">
            <a:extLst xmlns:a="http://schemas.openxmlformats.org/drawingml/2006/main">
              <a:ext uri="{FF2B5EF4-FFF2-40B4-BE49-F238E27FC236}">
                <a16:creationId xmlns:a16="http://schemas.microsoft.com/office/drawing/2014/main" id="{CD0582B5-403A-4E15-B748-8572E4003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400550"/>
            <a:ext cx="73247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175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교육용 더미 시나리오입니다.</a:t>
            </a:r>
            <a:endParaRPr sz="1275" b="0" i="0">
              <a:solidFill>
                <a:srgbClr val="6E747B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9" name="rag-rail">
            <a:extLst xmlns:a="http://schemas.openxmlformats.org/drawingml/2006/main">
              <a:ext uri="{FF2B5EF4-FFF2-40B4-BE49-F238E27FC236}">
                <a16:creationId xmlns:a16="http://schemas.microsoft.com/office/drawing/2014/main" id="{59B93260-E909-441F-A152-9596530CE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267325"/>
            <a:ext cx="0" cy="8953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0C1D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7" name="forecast-chart-note">
            <a:extLst xmlns:a="http://schemas.openxmlformats.org/drawingml/2006/main">
              <a:ext uri="{FF2B5EF4-FFF2-40B4-BE49-F238E27FC236}">
                <a16:creationId xmlns:a16="http://schemas.microsoft.com/office/drawing/2014/main" id="{9EC9EF53-B27B-48CD-AA6D-1B07121CE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51244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7222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F97316"/>
                </a:solidFill>
                <a:latin typeface="Noto Sans KR"/>
                <a:ea typeface="Noto Sans KR"/>
                <a:cs typeface="Noto Sans KR"/>
              </a:defRPr>
            </a:pPr>
            <a:r>
              <a:rPr sz="950" b="1">
                <a:solidFill>
                  <a:srgbClr val="F97316"/>
                </a:solidFill>
                <a:latin typeface="Noto Sans KR"/>
                <a:ea typeface="Noto Sans KR"/>
                <a:cs typeface="Noto Sans KR"/>
              </a:rPr>
              <a:t>단위: 만 명 · 더미 예시 · 실제 ML 아님</a:t>
            </a:r>
          </a:p>
        </p:txBody>
      </p:sp>
      <p:sp>
        <p:nvSpPr>
          <p:cNvPr id="20" name="forecast-reading-title">
            <a:extLst xmlns:a="http://schemas.openxmlformats.org/drawingml/2006/main">
              <a:ext uri="{FF2B5EF4-FFF2-40B4-BE49-F238E27FC236}">
                <a16:creationId xmlns:a16="http://schemas.microsoft.com/office/drawing/2014/main" id="{1EED468A-01C8-4F6D-9CB2-67932C292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276850"/>
            <a:ext cx="304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샘플 해석 · 더미 시나리오</a:t>
            </a:r>
          </a:p>
        </p:txBody>
      </p:sp>
      <p:sp>
        <p:nvSpPr>
          <p:cNvPr id="21" name="forecast-reading-body">
            <a:extLst xmlns:a="http://schemas.openxmlformats.org/drawingml/2006/main">
              <a:ext uri="{FF2B5EF4-FFF2-40B4-BE49-F238E27FC236}">
                <a16:creationId xmlns:a16="http://schemas.microsoft.com/office/drawing/2014/main" id="{5DB356FE-1E33-4CFE-92F2-A52EB3A64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56260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레이아웃 검토용 예시값이며 실제 생성 때 저장 ML로 대체됩니다.</a:t>
            </a:r>
          </a:p>
        </p:txBody>
      </p:sp>
      <p:graphicFrame>
        <p:nvGraphicFramePr>
          <p:cNvPr id="40" name="Chart"/>
          <p:cNvGraphicFramePr/>
          <p:nvPr/>
        </p:nvGraphicFramePr>
        <p:xfrm>
          <a:off xmlns:a="http://schemas.openxmlformats.org/drawingml/2006/main" x="1009650" y="5905500"/>
          <a:ext xmlns:a="http://schemas.openxmlformats.org/drawingml/2006/main" cx="7524750" cy="1524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c845476be854d29"/>
          </a:graphicData>
        </a:graphic>
      </p:graphicFrame>
      <p:sp>
        <p:nvSpPr>
          <p:cNvPr id="23" name="consumption-kicker">
            <a:extLst xmlns:a="http://schemas.openxmlformats.org/drawingml/2006/main">
              <a:ext uri="{FF2B5EF4-FFF2-40B4-BE49-F238E27FC236}">
                <a16:creationId xmlns:a16="http://schemas.microsoft.com/office/drawing/2014/main" id="{FCD36470-B9D8-4ADA-BEDF-FCC219696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300990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defRPr>
            </a:pPr>
            <a:r>
              <a:rPr sz="1025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rPr>
              <a:t>TOURISM SPENDING FORECAST</a:t>
            </a:r>
          </a:p>
        </p:txBody>
      </p:sp>
      <p:sp>
        <p:nvSpPr>
          <p:cNvPr id="24" name="consumption-title">
            <a:extLst xmlns:a="http://schemas.openxmlformats.org/drawingml/2006/main">
              <a:ext uri="{FF2B5EF4-FFF2-40B4-BE49-F238E27FC236}">
                <a16:creationId xmlns:a16="http://schemas.microsoft.com/office/drawing/2014/main" id="{5B3B3740-826D-4442-BB95-F7F230916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3333750"/>
            <a:ext cx="438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rPr>
              <a:t>월 관광소비액: 4,760억 원</a:t>
            </a:r>
          </a:p>
        </p:txBody>
      </p:sp>
      <p:graphicFrame>
        <p:nvGraphicFramePr>
          <p:cNvPr id="43" name="Chart"/>
          <p:cNvGraphicFramePr/>
          <p:nvPr/>
        </p:nvGraphicFramePr>
        <p:xfrm>
          <a:off xmlns:a="http://schemas.openxmlformats.org/drawingml/2006/main" x="9486900" y="3905250"/>
          <a:ext xmlns:a="http://schemas.openxmlformats.org/drawingml/2006/main" cx="4476750" cy="2333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2099782a1074eb3"/>
          </a:graphicData>
        </a:graphic>
      </p:graphicFrame>
      <p:sp>
        <p:nvSpPr>
          <p:cNvPr id="26" name="consumption-note">
            <a:extLst xmlns:a="http://schemas.openxmlformats.org/drawingml/2006/main">
              <a:ext uri="{FF2B5EF4-FFF2-40B4-BE49-F238E27FC236}">
                <a16:creationId xmlns:a16="http://schemas.microsoft.com/office/drawing/2014/main" id="{6CA0B01A-B738-454D-A615-D2A73D4F4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6467475"/>
            <a:ext cx="4286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단위: 억 원 · 더미 예시</a:t>
            </a:r>
          </a:p>
          <a:p xmlns:a="http://schemas.openxmlformats.org/drawingml/2006/main">
            <a:pPr algn="l">
              <a:buNone/>
              <a:defRPr sz="105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실제 생성 시 저장 ML 전망으로 대체</a:t>
            </a:r>
          </a:p>
          <a:p xmlns:a="http://schemas.openxmlformats.org/drawingml/2006/main">
            <a:pPr algn="l">
              <a:buNone/>
              <a:defRPr sz="105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운영 성과는 별도 비교로 판단합니다.</a:t>
            </a:r>
          </a:p>
        </p:txBody>
      </p:sp>
    </p:spTree>
    <p:extLst>
      <p:ext uri="{BB962C8B-B14F-4D97-AF65-F5344CB8AC3E}">
        <p14:creationId xmlns:p14="http://schemas.microsoft.com/office/powerpoint/2010/main" val="17674581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eyebrow">
            <a:extLst xmlns:a="http://schemas.openxmlformats.org/drawingml/2006/main">
              <a:ext uri="{FF2B5EF4-FFF2-40B4-BE49-F238E27FC236}">
                <a16:creationId xmlns:a16="http://schemas.microsoft.com/office/drawing/2014/main" id="{30D6B92A-E8CC-48F5-9680-60F39CE83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76275"/>
            <a:ext cx="44862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17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PEER COMPARISON · APPLY WITH EVIDENCE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B71DBCD6-2592-41E7-A3B6-2AEB44189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114425"/>
            <a:ext cx="78771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1B1F23"/>
                </a:solidFill>
                <a:latin typeface="Noto Sans KR"/>
                <a:ea typeface="Noto Sans KR"/>
                <a:cs typeface="Noto Sans KR"/>
              </a:defRPr>
            </a:pPr>
            <a:r>
              <a:rPr sz="3150" b="1">
                <a:solidFill>
                  <a:srgbClr val="1B1F23"/>
                </a:solidFill>
                <a:latin typeface="Noto Sans KR"/>
                <a:ea typeface="Noto Sans KR"/>
                <a:cs typeface="Noto Sans KR"/>
              </a:rPr>
              <a:t>유사 지역·사례로 검토한 강남구 적용 논리</a:t>
            </a:r>
            <a:endParaRPr sz="3600" b="1">
              <a:solidFill>
                <a:srgbClr val="004EA2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1E468CD8-9AB7-4607-A79D-2796B31DA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085975"/>
            <a:ext cx="13068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4EA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grid">
            <a:extLst xmlns:a="http://schemas.openxmlformats.org/drawingml/2006/main">
              <a:ext uri="{FF2B5EF4-FFF2-40B4-BE49-F238E27FC236}">
                <a16:creationId xmlns:a16="http://schemas.microsoft.com/office/drawing/2014/main" id="{82EDB80F-7AEA-4B4C-9FC2-33090AC43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781300"/>
            <a:ext cx="13058775" cy="525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grid-v">
            <a:extLst xmlns:a="http://schemas.openxmlformats.org/drawingml/2006/main">
              <a:ext uri="{FF2B5EF4-FFF2-40B4-BE49-F238E27FC236}">
                <a16:creationId xmlns:a16="http://schemas.microsoft.com/office/drawing/2014/main" id="{8111BC7A-2C75-4CBD-AB98-B0DC44AC9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2781300"/>
            <a:ext cx="0" cy="5257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5EA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grid-h">
            <a:extLst xmlns:a="http://schemas.openxmlformats.org/drawingml/2006/main">
              <a:ext uri="{FF2B5EF4-FFF2-40B4-BE49-F238E27FC236}">
                <a16:creationId xmlns:a16="http://schemas.microsoft.com/office/drawing/2014/main" id="{28241900-71DE-48EC-A279-4E2A6684F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400675"/>
            <a:ext cx="130587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5EA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diff-num-0">
            <a:extLst xmlns:a="http://schemas.openxmlformats.org/drawingml/2006/main">
              <a:ext uri="{FF2B5EF4-FFF2-40B4-BE49-F238E27FC236}">
                <a16:creationId xmlns:a16="http://schemas.microsoft.com/office/drawing/2014/main" id="{5B179CE8-6329-4234-8846-DA66D254F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867025"/>
            <a:ext cx="5429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defRPr>
            </a:pPr>
            <a:r>
              <a:rPr sz="2250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rPr>
              <a:t>01</a:t>
            </a:r>
          </a:p>
        </p:txBody>
      </p:sp>
      <p:sp>
        <p:nvSpPr>
          <p:cNvPr id="8" name="diff-title-0">
            <a:extLst xmlns:a="http://schemas.openxmlformats.org/drawingml/2006/main">
              <a:ext uri="{FF2B5EF4-FFF2-40B4-BE49-F238E27FC236}">
                <a16:creationId xmlns:a16="http://schemas.microsoft.com/office/drawing/2014/main" id="{3FC5221D-E74B-4DAB-9F37-4393399BA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7825" y="2886075"/>
            <a:ext cx="53625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rPr>
              <a:t>선택 지역의 현재 신호</a:t>
            </a:r>
          </a:p>
        </p:txBody>
      </p:sp>
      <p:sp>
        <p:nvSpPr>
          <p:cNvPr id="9" name="diff-body-0">
            <a:extLst xmlns:a="http://schemas.openxmlformats.org/drawingml/2006/main">
              <a:ext uri="{FF2B5EF4-FFF2-40B4-BE49-F238E27FC236}">
                <a16:creationId xmlns:a16="http://schemas.microsoft.com/office/drawing/2014/main" id="{397EA389-F953-4FF3-BE82-156ECEFA5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791075"/>
            <a:ext cx="590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75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325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17,963,441명 규모의 월 순방문자를 관측합니다.</a:t>
            </a:r>
          </a:p>
        </p:txBody>
      </p:sp>
      <p:sp>
        <p:nvSpPr>
          <p:cNvPr id="10" name="diff-plus-0">
            <a:extLst xmlns:a="http://schemas.openxmlformats.org/drawingml/2006/main">
              <a:ext uri="{FF2B5EF4-FFF2-40B4-BE49-F238E27FC236}">
                <a16:creationId xmlns:a16="http://schemas.microsoft.com/office/drawing/2014/main" id="{FA8127FD-DDBD-4B6D-8DD4-2CDCD1825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1435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F97316"/>
                </a:solidFill>
                <a:latin typeface="Noto Sans KR"/>
                <a:ea typeface="Noto Sans KR"/>
                <a:cs typeface="Noto Sans KR"/>
              </a:defRPr>
            </a:pPr>
            <a:r>
              <a:rPr sz="1175" b="1" i="0">
                <a:solidFill>
                  <a:srgbClr val="F97316"/>
                </a:solidFill>
                <a:latin typeface="Noto Sans KR"/>
                <a:ea typeface="Noto Sans KR"/>
                <a:cs typeface="Noto Sans KR"/>
              </a:rPr>
              <a:t>공식 원자료</a:t>
            </a:r>
          </a:p>
        </p:txBody>
      </p:sp>
      <p:sp>
        <p:nvSpPr>
          <p:cNvPr id="11" name="diff-plus-orange-0">
            <a:extLst xmlns:a="http://schemas.openxmlformats.org/drawingml/2006/main">
              <a:ext uri="{FF2B5EF4-FFF2-40B4-BE49-F238E27FC236}">
                <a16:creationId xmlns:a16="http://schemas.microsoft.com/office/drawing/2014/main" id="{A57412D2-7DF5-4C59-A785-8AEB44289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143500"/>
            <a:ext cx="152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039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 i="0">
                <a:solidFill>
                  <a:srgbClr val="F97316"/>
                </a:solidFill>
                <a:latin typeface="Noto Sans KR"/>
                <a:ea typeface="Noto Sans KR"/>
                <a:cs typeface="Noto Sans KR"/>
              </a:defRPr>
            </a:pPr>
            <a:r>
              <a:rPr sz="1325" b="1" i="0">
                <a:solidFill>
                  <a:srgbClr val="F97316"/>
                </a:solidFill>
                <a:latin typeface="Noto Sans KR"/>
                <a:ea typeface="Noto Sans KR"/>
                <a:cs typeface="Noto Sans KR"/>
              </a:rPr>
              <a:t>•</a:t>
            </a:r>
          </a:p>
        </p:txBody>
      </p:sp>
      <p:sp>
        <p:nvSpPr>
          <p:cNvPr id="12" name="diff-num-1">
            <a:extLst xmlns:a="http://schemas.openxmlformats.org/drawingml/2006/main">
              <a:ext uri="{FF2B5EF4-FFF2-40B4-BE49-F238E27FC236}">
                <a16:creationId xmlns:a16="http://schemas.microsoft.com/office/drawing/2014/main" id="{042D6BFD-8C70-44F2-A6AF-68361E6F0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867025"/>
            <a:ext cx="5429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defRPr>
            </a:pPr>
            <a:r>
              <a:rPr sz="2250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13" name="diff-title-1">
            <a:extLst xmlns:a="http://schemas.openxmlformats.org/drawingml/2006/main">
              <a:ext uri="{FF2B5EF4-FFF2-40B4-BE49-F238E27FC236}">
                <a16:creationId xmlns:a16="http://schemas.microsoft.com/office/drawing/2014/main" id="{39052A63-7565-4AFB-A81A-781058D9D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2886075"/>
            <a:ext cx="53625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rPr>
              <a:t>비교 지역이 주는 힌트</a:t>
            </a:r>
            <a:endParaRPr sz="2400" b="0" i="0">
              <a:solidFill>
                <a:srgbClr val="18191B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14" name="diff-body-1">
            <a:extLst xmlns:a="http://schemas.openxmlformats.org/drawingml/2006/main">
              <a:ext uri="{FF2B5EF4-FFF2-40B4-BE49-F238E27FC236}">
                <a16:creationId xmlns:a16="http://schemas.microsoft.com/office/drawing/2014/main" id="{749EFAD3-629C-4E57-9A57-2F5E39609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791075"/>
            <a:ext cx="590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75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325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비교 지역 원자료를 등록한 뒤 같은 기준으로 변화와 실행 여건을 검토합니다.</a:t>
            </a:r>
          </a:p>
        </p:txBody>
      </p:sp>
      <p:sp>
        <p:nvSpPr>
          <p:cNvPr id="15" name="diff-plus-1">
            <a:extLst xmlns:a="http://schemas.openxmlformats.org/drawingml/2006/main">
              <a:ext uri="{FF2B5EF4-FFF2-40B4-BE49-F238E27FC236}">
                <a16:creationId xmlns:a16="http://schemas.microsoft.com/office/drawing/2014/main" id="{BEE72E06-DEDE-432B-B6B9-6F96F1CF6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51435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F97316"/>
                </a:solidFill>
                <a:latin typeface="Noto Sans KR"/>
                <a:ea typeface="Noto Sans KR"/>
                <a:cs typeface="Noto Sans KR"/>
              </a:defRPr>
            </a:pPr>
            <a:r>
              <a:rPr sz="1175" b="1" i="0">
                <a:solidFill>
                  <a:srgbClr val="F97316"/>
                </a:solidFill>
                <a:latin typeface="Noto Sans KR"/>
                <a:ea typeface="Noto Sans KR"/>
                <a:cs typeface="Noto Sans KR"/>
              </a:rPr>
              <a:t>동일 기준 비교</a:t>
            </a:r>
          </a:p>
        </p:txBody>
      </p:sp>
      <p:sp>
        <p:nvSpPr>
          <p:cNvPr id="16" name="diff-plus-orange-1">
            <a:extLst xmlns:a="http://schemas.openxmlformats.org/drawingml/2006/main">
              <a:ext uri="{FF2B5EF4-FFF2-40B4-BE49-F238E27FC236}">
                <a16:creationId xmlns:a16="http://schemas.microsoft.com/office/drawing/2014/main" id="{9BFE81BE-C35B-4BD3-9F38-0E41CB9FA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5143500"/>
            <a:ext cx="152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039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 i="0">
                <a:solidFill>
                  <a:srgbClr val="F97316"/>
                </a:solidFill>
                <a:latin typeface="Noto Sans KR"/>
                <a:ea typeface="Noto Sans KR"/>
                <a:cs typeface="Noto Sans KR"/>
              </a:defRPr>
            </a:pPr>
            <a:r>
              <a:rPr sz="1325" b="1" i="0">
                <a:solidFill>
                  <a:srgbClr val="F97316"/>
                </a:solidFill>
                <a:latin typeface="Noto Sans KR"/>
                <a:ea typeface="Noto Sans KR"/>
                <a:cs typeface="Noto Sans KR"/>
              </a:rPr>
              <a:t>•</a:t>
            </a:r>
          </a:p>
        </p:txBody>
      </p:sp>
      <p:sp>
        <p:nvSpPr>
          <p:cNvPr id="17" name="diff-num-2">
            <a:extLst xmlns:a="http://schemas.openxmlformats.org/drawingml/2006/main">
              <a:ext uri="{FF2B5EF4-FFF2-40B4-BE49-F238E27FC236}">
                <a16:creationId xmlns:a16="http://schemas.microsoft.com/office/drawing/2014/main" id="{4D448592-403C-4EF4-8007-F16B4D59C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105525"/>
            <a:ext cx="5429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defRPr>
            </a:pPr>
            <a:r>
              <a:rPr sz="2250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  <p:sp>
        <p:nvSpPr>
          <p:cNvPr id="18" name="diff-title-2">
            <a:extLst xmlns:a="http://schemas.openxmlformats.org/drawingml/2006/main">
              <a:ext uri="{FF2B5EF4-FFF2-40B4-BE49-F238E27FC236}">
                <a16:creationId xmlns:a16="http://schemas.microsoft.com/office/drawing/2014/main" id="{5D9F67B1-93E0-43C5-91C6-C0426605B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7825" y="6124575"/>
            <a:ext cx="53625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rPr>
              <a:t>공식 사례의 운영 방식</a:t>
            </a:r>
          </a:p>
        </p:txBody>
      </p:sp>
      <p:sp>
        <p:nvSpPr>
          <p:cNvPr id="19" name="diff-body-2">
            <a:extLst xmlns:a="http://schemas.openxmlformats.org/drawingml/2006/main">
              <a:ext uri="{FF2B5EF4-FFF2-40B4-BE49-F238E27FC236}">
                <a16:creationId xmlns:a16="http://schemas.microsoft.com/office/drawing/2014/main" id="{EB459863-C1CA-487A-9CB6-3FB96BA58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7410450"/>
            <a:ext cx="590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75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325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공식 사례의 운영 요소를 확인하고 지역 여건에 맞는 범위만 시범 적용합니다.</a:t>
            </a:r>
          </a:p>
        </p:txBody>
      </p:sp>
      <p:sp>
        <p:nvSpPr>
          <p:cNvPr id="20" name="diff-plus-2">
            <a:extLst xmlns:a="http://schemas.openxmlformats.org/drawingml/2006/main">
              <a:ext uri="{FF2B5EF4-FFF2-40B4-BE49-F238E27FC236}">
                <a16:creationId xmlns:a16="http://schemas.microsoft.com/office/drawing/2014/main" id="{7303984B-C6EE-4C86-9BC4-B30BBF18E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7820025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F97316"/>
                </a:solidFill>
                <a:latin typeface="Noto Sans KR"/>
                <a:ea typeface="Noto Sans KR"/>
                <a:cs typeface="Noto Sans KR"/>
              </a:defRPr>
            </a:pPr>
            <a:r>
              <a:rPr sz="1175" b="1" i="0">
                <a:solidFill>
                  <a:srgbClr val="F97316"/>
                </a:solidFill>
                <a:latin typeface="Noto Sans KR"/>
                <a:ea typeface="Noto Sans KR"/>
                <a:cs typeface="Noto Sans KR"/>
              </a:rPr>
              <a:t>실제 운영 방식</a:t>
            </a:r>
          </a:p>
        </p:txBody>
      </p:sp>
      <p:sp>
        <p:nvSpPr>
          <p:cNvPr id="21" name="diff-plus-orange-2">
            <a:extLst xmlns:a="http://schemas.openxmlformats.org/drawingml/2006/main">
              <a:ext uri="{FF2B5EF4-FFF2-40B4-BE49-F238E27FC236}">
                <a16:creationId xmlns:a16="http://schemas.microsoft.com/office/drawing/2014/main" id="{0B6717C1-A26D-4507-A5EF-57A37FEF7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7820025"/>
            <a:ext cx="152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039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 i="0">
                <a:solidFill>
                  <a:srgbClr val="F97316"/>
                </a:solidFill>
                <a:latin typeface="Noto Sans KR"/>
                <a:ea typeface="Noto Sans KR"/>
                <a:cs typeface="Noto Sans KR"/>
              </a:defRPr>
            </a:pPr>
            <a:r>
              <a:rPr sz="1325" b="1" i="0">
                <a:solidFill>
                  <a:srgbClr val="F97316"/>
                </a:solidFill>
                <a:latin typeface="Noto Sans KR"/>
                <a:ea typeface="Noto Sans KR"/>
                <a:cs typeface="Noto Sans KR"/>
              </a:rPr>
              <a:t>•</a:t>
            </a:r>
          </a:p>
        </p:txBody>
      </p:sp>
      <p:sp>
        <p:nvSpPr>
          <p:cNvPr id="22" name="diff-num-3">
            <a:extLst xmlns:a="http://schemas.openxmlformats.org/drawingml/2006/main">
              <a:ext uri="{FF2B5EF4-FFF2-40B4-BE49-F238E27FC236}">
                <a16:creationId xmlns:a16="http://schemas.microsoft.com/office/drawing/2014/main" id="{557E9041-6D43-44D5-AC83-F2F91E6F5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6105525"/>
            <a:ext cx="5429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defRPr>
            </a:pPr>
            <a:r>
              <a:rPr sz="2250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rPr>
              <a:t>04</a:t>
            </a:r>
          </a:p>
        </p:txBody>
      </p:sp>
      <p:sp>
        <p:nvSpPr>
          <p:cNvPr id="23" name="diff-title-3">
            <a:extLst xmlns:a="http://schemas.openxmlformats.org/drawingml/2006/main">
              <a:ext uri="{FF2B5EF4-FFF2-40B4-BE49-F238E27FC236}">
                <a16:creationId xmlns:a16="http://schemas.microsoft.com/office/drawing/2014/main" id="{87DB96F2-E1FB-4ACE-9435-CA8265449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6124575"/>
            <a:ext cx="53625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rPr>
              <a:t>선택 지역의 실행 원칙</a:t>
            </a:r>
          </a:p>
        </p:txBody>
      </p:sp>
      <p:sp>
        <p:nvSpPr>
          <p:cNvPr id="24" name="diff-body-3">
            <a:extLst xmlns:a="http://schemas.openxmlformats.org/drawingml/2006/main">
              <a:ext uri="{FF2B5EF4-FFF2-40B4-BE49-F238E27FC236}">
                <a16:creationId xmlns:a16="http://schemas.microsoft.com/office/drawing/2014/main" id="{7D299F22-9EC3-4717-985C-5C94FACD8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7410450"/>
            <a:ext cx="590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75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325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작은 시범에서 이용·결제·민원을 기록한 뒤 확대 여부를 판단합니다.</a:t>
            </a:r>
          </a:p>
        </p:txBody>
      </p:sp>
      <p:sp>
        <p:nvSpPr>
          <p:cNvPr id="25" name="diff-plus-3">
            <a:extLst xmlns:a="http://schemas.openxmlformats.org/drawingml/2006/main">
              <a:ext uri="{FF2B5EF4-FFF2-40B4-BE49-F238E27FC236}">
                <a16:creationId xmlns:a16="http://schemas.microsoft.com/office/drawing/2014/main" id="{13001AD4-1711-4DB5-801D-66759E0AD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7820025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F97316"/>
                </a:solidFill>
                <a:latin typeface="Noto Sans KR"/>
                <a:ea typeface="Noto Sans KR"/>
                <a:cs typeface="Noto Sans KR"/>
              </a:defRPr>
            </a:pPr>
            <a:r>
              <a:rPr sz="1175" b="1" i="0">
                <a:solidFill>
                  <a:srgbClr val="F97316"/>
                </a:solidFill>
                <a:latin typeface="Noto Sans KR"/>
                <a:ea typeface="Noto Sans KR"/>
                <a:cs typeface="Noto Sans KR"/>
              </a:rPr>
              <a:t>3~6개월 시범 운영</a:t>
            </a:r>
          </a:p>
        </p:txBody>
      </p:sp>
      <p:sp>
        <p:nvSpPr>
          <p:cNvPr id="26" name="diff-plus-orange-3">
            <a:extLst xmlns:a="http://schemas.openxmlformats.org/drawingml/2006/main">
              <a:ext uri="{FF2B5EF4-FFF2-40B4-BE49-F238E27FC236}">
                <a16:creationId xmlns:a16="http://schemas.microsoft.com/office/drawing/2014/main" id="{2AA2B92A-6911-4A37-BBF4-70B85C3E0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7820025"/>
            <a:ext cx="152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039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 i="0">
                <a:solidFill>
                  <a:srgbClr val="F97316"/>
                </a:solidFill>
                <a:latin typeface="Noto Sans KR"/>
                <a:ea typeface="Noto Sans KR"/>
                <a:cs typeface="Noto Sans KR"/>
              </a:defRPr>
            </a:pPr>
            <a:r>
              <a:rPr sz="1325" b="1" i="0">
                <a:solidFill>
                  <a:srgbClr val="F97316"/>
                </a:solidFill>
                <a:latin typeface="Noto Sans KR"/>
                <a:ea typeface="Noto Sans KR"/>
                <a:cs typeface="Noto Sans KR"/>
              </a:rPr>
              <a:t>•</a:t>
            </a:r>
          </a:p>
        </p:txBody>
      </p:sp>
      <p:sp>
        <p:nvSpPr>
          <p:cNvPr id="28" name="peer-visit-label">
            <a:extLst xmlns:a="http://schemas.openxmlformats.org/drawingml/2006/main">
              <a:ext uri="{FF2B5EF4-FFF2-40B4-BE49-F238E27FC236}">
                <a16:creationId xmlns:a16="http://schemas.microsoft.com/office/drawing/2014/main" id="{A0522FF0-3328-448E-91F3-FBDC6FCC6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3429000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025" b="1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월 순방문자</a:t>
            </a:r>
          </a:p>
        </p:txBody>
      </p:sp>
      <p:sp>
        <p:nvSpPr>
          <p:cNvPr id="29" name="peer-visit-value">
            <a:extLst xmlns:a="http://schemas.openxmlformats.org/drawingml/2006/main">
              <a:ext uri="{FF2B5EF4-FFF2-40B4-BE49-F238E27FC236}">
                <a16:creationId xmlns:a16="http://schemas.microsoft.com/office/drawing/2014/main" id="{1A5BC1B9-5C74-4F53-8138-A2CD3D78B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363855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1,796만 명</a:t>
            </a:r>
          </a:p>
        </p:txBody>
      </p:sp>
      <p:sp>
        <p:nvSpPr>
          <p:cNvPr id="30" name="peer-visit-index">
            <a:extLst xmlns:a="http://schemas.openxmlformats.org/drawingml/2006/main">
              <a:ext uri="{FF2B5EF4-FFF2-40B4-BE49-F238E27FC236}">
                <a16:creationId xmlns:a16="http://schemas.microsoft.com/office/drawing/2014/main" id="{00528A64-C003-44FB-BF9E-0E37119F1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467100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825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공식 관측값</a:t>
            </a:r>
          </a:p>
        </p:txBody>
      </p:sp>
      <p:sp>
        <p:nvSpPr>
          <p:cNvPr id="31" name="peer-visit-base">
            <a:extLst xmlns:a="http://schemas.openxmlformats.org/drawingml/2006/main">
              <a:ext uri="{FF2B5EF4-FFF2-40B4-BE49-F238E27FC236}">
                <a16:creationId xmlns:a16="http://schemas.microsoft.com/office/drawing/2014/main" id="{95A55094-375F-4CBC-87E9-016234519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857625"/>
            <a:ext cx="266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4D3"/>
          </a:solidFill>
          <a:ln xmlns:a="http://schemas.openxmlformats.org/drawingml/2006/main" w="0">
            <a:solidFill>
              <a:srgbClr val="B8C4D3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2" name="peer-visit-current">
            <a:extLst xmlns:a="http://schemas.openxmlformats.org/drawingml/2006/main">
              <a:ext uri="{FF2B5EF4-FFF2-40B4-BE49-F238E27FC236}">
                <a16:creationId xmlns:a16="http://schemas.microsoft.com/office/drawing/2014/main" id="{B1E1B29C-26C7-4182-98DE-E40E6883F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905250"/>
            <a:ext cx="26670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4EA2"/>
          </a:solidFill>
          <a:ln xmlns:a="http://schemas.openxmlformats.org/drawingml/2006/main" w="0">
            <a:solidFill>
              <a:srgbClr val="004EA2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3" name="peer-visit-base-label">
            <a:extLst xmlns:a="http://schemas.openxmlformats.org/drawingml/2006/main">
              <a:ext uri="{FF2B5EF4-FFF2-40B4-BE49-F238E27FC236}">
                <a16:creationId xmlns:a16="http://schemas.microsoft.com/office/drawing/2014/main" id="{F98C0165-64EF-4D59-86EA-2F46D368B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075" y="4286250"/>
            <a:ext cx="5524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825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비교</a:t>
            </a:r>
          </a:p>
        </p:txBody>
      </p:sp>
      <p:sp>
        <p:nvSpPr>
          <p:cNvPr id="34" name="peer-visit-current-label">
            <a:extLst xmlns:a="http://schemas.openxmlformats.org/drawingml/2006/main">
              <a:ext uri="{FF2B5EF4-FFF2-40B4-BE49-F238E27FC236}">
                <a16:creationId xmlns:a16="http://schemas.microsoft.com/office/drawing/2014/main" id="{6FC1FAF2-A607-4351-A428-125F0A3C4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286250"/>
            <a:ext cx="5524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82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선택</a:t>
            </a:r>
          </a:p>
        </p:txBody>
      </p:sp>
      <p:sp>
        <p:nvSpPr>
          <p:cNvPr id="35" name="peer-visit-delta">
            <a:extLst xmlns:a="http://schemas.openxmlformats.org/drawingml/2006/main">
              <a:ext uri="{FF2B5EF4-FFF2-40B4-BE49-F238E27FC236}">
                <a16:creationId xmlns:a16="http://schemas.microsoft.com/office/drawing/2014/main" id="{F7AE130C-2B73-4C32-BF6B-F05184419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4514850"/>
            <a:ext cx="990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F97316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1" i="0">
                <a:solidFill>
                  <a:srgbClr val="F97316"/>
                </a:solidFill>
                <a:latin typeface="Noto Sans KR"/>
                <a:ea typeface="Noto Sans KR"/>
                <a:cs typeface="Noto Sans KR"/>
              </a:rPr>
              <a:t>같은 기준으로 확인</a:t>
            </a:r>
          </a:p>
        </p:txBody>
      </p:sp>
      <p:sp>
        <p:nvSpPr>
          <p:cNvPr id="36" name="peer-stay-title">
            <a:extLst xmlns:a="http://schemas.openxmlformats.org/drawingml/2006/main">
              <a:ext uri="{FF2B5EF4-FFF2-40B4-BE49-F238E27FC236}">
                <a16:creationId xmlns:a16="http://schemas.microsoft.com/office/drawing/2014/main" id="{999CD307-FF95-4C92-BB7B-7D92D1862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3429000"/>
            <a:ext cx="1666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975" b="1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025" b="1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월 관광소비</a:t>
            </a:r>
          </a:p>
        </p:txBody>
      </p:sp>
      <p:sp>
        <p:nvSpPr>
          <p:cNvPr id="37" name="peer-stay-gangnam">
            <a:extLst xmlns:a="http://schemas.openxmlformats.org/drawingml/2006/main">
              <a:ext uri="{FF2B5EF4-FFF2-40B4-BE49-F238E27FC236}">
                <a16:creationId xmlns:a16="http://schemas.microsoft.com/office/drawing/2014/main" id="{EA35701A-E4F5-45D3-894C-C781DEDA6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68125" y="3914775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4EA2"/>
          </a:solidFill>
          <a:ln xmlns:a="http://schemas.openxmlformats.org/drawingml/2006/main" w="0">
            <a:solidFill>
              <a:srgbClr val="004EA2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8" name="peer-stay-seocho">
            <a:extLst xmlns:a="http://schemas.openxmlformats.org/drawingml/2006/main">
              <a:ext uri="{FF2B5EF4-FFF2-40B4-BE49-F238E27FC236}">
                <a16:creationId xmlns:a16="http://schemas.microsoft.com/office/drawing/2014/main" id="{0263F32C-C4C3-4679-A155-D99009FEC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53950" y="3800475"/>
            <a:ext cx="3429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7C9"/>
          </a:solidFill>
          <a:ln xmlns:a="http://schemas.openxmlformats.org/drawingml/2006/main" w="0">
            <a:solidFill>
              <a:srgbClr val="00B7C9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9" name="peer-stay-gangnam-value">
            <a:extLst xmlns:a="http://schemas.openxmlformats.org/drawingml/2006/main">
              <a:ext uri="{FF2B5EF4-FFF2-40B4-BE49-F238E27FC236}">
                <a16:creationId xmlns:a16="http://schemas.microsoft.com/office/drawing/2014/main" id="{B752C66F-3AB0-4D5B-8262-9772C2310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3600450"/>
            <a:ext cx="85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97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02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4,820억 원</a:t>
            </a:r>
          </a:p>
        </p:txBody>
      </p:sp>
      <p:sp>
        <p:nvSpPr>
          <p:cNvPr id="40" name="peer-stay-seocho-value">
            <a:extLst xmlns:a="http://schemas.openxmlformats.org/drawingml/2006/main">
              <a:ext uri="{FF2B5EF4-FFF2-40B4-BE49-F238E27FC236}">
                <a16:creationId xmlns:a16="http://schemas.microsoft.com/office/drawing/2014/main" id="{8BD2FFD0-A90A-4EEC-B06C-7457FB38C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96775" y="3486150"/>
            <a:ext cx="85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975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defRPr>
            </a:pPr>
            <a:r>
              <a:rPr sz="1025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rPr>
              <a:t>—</a:t>
            </a:r>
          </a:p>
        </p:txBody>
      </p:sp>
      <p:sp>
        <p:nvSpPr>
          <p:cNvPr id="41" name="peer-stay-gangnam-label">
            <a:extLst xmlns:a="http://schemas.openxmlformats.org/drawingml/2006/main">
              <a:ext uri="{FF2B5EF4-FFF2-40B4-BE49-F238E27FC236}">
                <a16:creationId xmlns:a16="http://schemas.microsoft.com/office/drawing/2014/main" id="{7D481E49-FABE-41D3-B648-514B5944E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4305300"/>
            <a:ext cx="85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90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95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선택 지역</a:t>
            </a:r>
          </a:p>
        </p:txBody>
      </p:sp>
      <p:sp>
        <p:nvSpPr>
          <p:cNvPr id="42" name="peer-stay-seocho-label">
            <a:extLst xmlns:a="http://schemas.openxmlformats.org/drawingml/2006/main">
              <a:ext uri="{FF2B5EF4-FFF2-40B4-BE49-F238E27FC236}">
                <a16:creationId xmlns:a16="http://schemas.microsoft.com/office/drawing/2014/main" id="{1B6892B0-EDD1-4295-BFF7-DA5A61C54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96775" y="4305300"/>
            <a:ext cx="85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90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95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자료 적재 후</a:t>
            </a:r>
          </a:p>
        </p:txBody>
      </p:sp>
      <p:sp>
        <p:nvSpPr>
          <p:cNvPr id="43" name="peer-stay-gap">
            <a:extLst xmlns:a="http://schemas.openxmlformats.org/drawingml/2006/main">
              <a:ext uri="{FF2B5EF4-FFF2-40B4-BE49-F238E27FC236}">
                <a16:creationId xmlns:a16="http://schemas.microsoft.com/office/drawing/2014/main" id="{674B2675-AD04-4584-9AD0-C3D377164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55295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975" b="1" i="0">
                <a:solidFill>
                  <a:srgbClr val="F97316"/>
                </a:solidFill>
                <a:latin typeface="Noto Sans KR"/>
                <a:ea typeface="Noto Sans KR"/>
                <a:cs typeface="Noto Sans KR"/>
              </a:defRPr>
            </a:pPr>
            <a:r>
              <a:rPr sz="1025" b="1" i="0">
                <a:solidFill>
                  <a:srgbClr val="F97316"/>
                </a:solidFill>
                <a:latin typeface="Noto Sans KR"/>
                <a:ea typeface="Noto Sans KR"/>
                <a:cs typeface="Noto Sans KR"/>
              </a:rPr>
              <a:t>기간·정의 일치 후 해석</a:t>
            </a:r>
          </a:p>
        </p:txBody>
      </p:sp>
      <p:sp>
        <p:nvSpPr>
          <p:cNvPr id="44" name="peer-case-label">
            <a:extLst xmlns:a="http://schemas.openxmlformats.org/drawingml/2006/main">
              <a:ext uri="{FF2B5EF4-FFF2-40B4-BE49-F238E27FC236}">
                <a16:creationId xmlns:a16="http://schemas.microsoft.com/office/drawing/2014/main" id="{E6B215A7-B775-4FBD-9EA3-8ED9D916C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6686550"/>
            <a:ext cx="2571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975" b="1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공식 사례에서 확인할 운영 구조</a:t>
            </a:r>
          </a:p>
        </p:txBody>
      </p:sp>
      <p:sp>
        <p:nvSpPr>
          <p:cNvPr id="45" name="peer-case-program-box">
            <a:extLst xmlns:a="http://schemas.openxmlformats.org/drawingml/2006/main">
              <a:ext uri="{FF2B5EF4-FFF2-40B4-BE49-F238E27FC236}">
                <a16:creationId xmlns:a16="http://schemas.microsoft.com/office/drawing/2014/main" id="{D29F5E93-8A48-4477-AE53-AB44974BC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6953250"/>
            <a:ext cx="7048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B7C9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6" name="peer-case-program-label">
            <a:extLst xmlns:a="http://schemas.openxmlformats.org/drawingml/2006/main">
              <a:ext uri="{FF2B5EF4-FFF2-40B4-BE49-F238E27FC236}">
                <a16:creationId xmlns:a16="http://schemas.microsoft.com/office/drawing/2014/main" id="{FCB1E8F3-1953-4399-BCD2-F7618ABA8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7038975"/>
            <a:ext cx="60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90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문화</a:t>
            </a:r>
          </a:p>
          <a:p xmlns:a="http://schemas.openxmlformats.org/drawingml/2006/main">
            <a:pPr algn="ctr">
              <a:buNone/>
              <a:defRPr sz="90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프로그램</a:t>
            </a:r>
          </a:p>
        </p:txBody>
      </p:sp>
      <p:sp>
        <p:nvSpPr>
          <p:cNvPr id="47" name="peer-case-arrow1">
            <a:extLst xmlns:a="http://schemas.openxmlformats.org/drawingml/2006/main">
              <a:ext uri="{FF2B5EF4-FFF2-40B4-BE49-F238E27FC236}">
                <a16:creationId xmlns:a16="http://schemas.microsoft.com/office/drawing/2014/main" id="{D7C53076-95ED-4224-AD03-80EAF1C2E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7029450"/>
            <a:ext cx="28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F97316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 i="0">
                <a:solidFill>
                  <a:srgbClr val="F97316"/>
                </a:solidFill>
                <a:latin typeface="Noto Sans KR"/>
                <a:ea typeface="Noto Sans KR"/>
                <a:cs typeface="Noto Sans KR"/>
              </a:rPr>
              <a:t>→</a:t>
            </a:r>
          </a:p>
        </p:txBody>
      </p:sp>
      <p:sp>
        <p:nvSpPr>
          <p:cNvPr id="48" name="peer-case-walk-box">
            <a:extLst xmlns:a="http://schemas.openxmlformats.org/drawingml/2006/main">
              <a:ext uri="{FF2B5EF4-FFF2-40B4-BE49-F238E27FC236}">
                <a16:creationId xmlns:a16="http://schemas.microsoft.com/office/drawing/2014/main" id="{D21F321C-55CF-47DA-83C0-2454766FD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6953250"/>
            <a:ext cx="7048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B7C9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9" name="peer-case-walk-label">
            <a:extLst xmlns:a="http://schemas.openxmlformats.org/drawingml/2006/main">
              <a:ext uri="{FF2B5EF4-FFF2-40B4-BE49-F238E27FC236}">
                <a16:creationId xmlns:a16="http://schemas.microsoft.com/office/drawing/2014/main" id="{4A5EE3BA-AB46-42D4-BD1E-2A45E88E6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7038975"/>
            <a:ext cx="60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90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도보</a:t>
            </a:r>
          </a:p>
          <a:p xmlns:a="http://schemas.openxmlformats.org/drawingml/2006/main">
            <a:pPr algn="ctr">
              <a:buNone/>
              <a:defRPr sz="90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동선</a:t>
            </a:r>
          </a:p>
        </p:txBody>
      </p:sp>
      <p:sp>
        <p:nvSpPr>
          <p:cNvPr id="50" name="peer-case-arrow2">
            <a:extLst xmlns:a="http://schemas.openxmlformats.org/drawingml/2006/main">
              <a:ext uri="{FF2B5EF4-FFF2-40B4-BE49-F238E27FC236}">
                <a16:creationId xmlns:a16="http://schemas.microsoft.com/office/drawing/2014/main" id="{F5515124-65E5-4FB7-9CB1-E8C62FD48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7029450"/>
            <a:ext cx="28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F97316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 i="0">
                <a:solidFill>
                  <a:srgbClr val="F97316"/>
                </a:solidFill>
                <a:latin typeface="Noto Sans KR"/>
                <a:ea typeface="Noto Sans KR"/>
                <a:cs typeface="Noto Sans KR"/>
              </a:rPr>
              <a:t>→</a:t>
            </a:r>
          </a:p>
        </p:txBody>
      </p:sp>
      <p:sp>
        <p:nvSpPr>
          <p:cNvPr id="51" name="peer-case-spend-box">
            <a:extLst xmlns:a="http://schemas.openxmlformats.org/drawingml/2006/main">
              <a:ext uri="{FF2B5EF4-FFF2-40B4-BE49-F238E27FC236}">
                <a16:creationId xmlns:a16="http://schemas.microsoft.com/office/drawing/2014/main" id="{FAF56F1E-DD15-4F74-9790-432BE35E3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6953250"/>
            <a:ext cx="7048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B7C9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52" name="peer-case-spend-label">
            <a:extLst xmlns:a="http://schemas.openxmlformats.org/drawingml/2006/main">
              <a:ext uri="{FF2B5EF4-FFF2-40B4-BE49-F238E27FC236}">
                <a16:creationId xmlns:a16="http://schemas.microsoft.com/office/drawing/2014/main" id="{93F13B79-4114-460E-AE2B-BEE1138FD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7038975"/>
            <a:ext cx="60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90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상권</a:t>
            </a:r>
          </a:p>
          <a:p xmlns:a="http://schemas.openxmlformats.org/drawingml/2006/main">
            <a:pPr algn="ctr">
              <a:buNone/>
              <a:defRPr sz="90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이용</a:t>
            </a:r>
          </a:p>
        </p:txBody>
      </p:sp>
      <p:sp>
        <p:nvSpPr>
          <p:cNvPr id="53" name="peer-pilot-label">
            <a:extLst xmlns:a="http://schemas.openxmlformats.org/drawingml/2006/main">
              <a:ext uri="{FF2B5EF4-FFF2-40B4-BE49-F238E27FC236}">
                <a16:creationId xmlns:a16="http://schemas.microsoft.com/office/drawing/2014/main" id="{2AB5BD55-C55F-458A-BD66-0C3F8D618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686550"/>
            <a:ext cx="2524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975" b="1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025" b="1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시범 운영에서 확인할 전환</a:t>
            </a:r>
          </a:p>
        </p:txBody>
      </p:sp>
      <p:sp>
        <p:nvSpPr>
          <p:cNvPr id="54" name="peer-pilot-reserve-box">
            <a:extLst xmlns:a="http://schemas.openxmlformats.org/drawingml/2006/main">
              <a:ext uri="{FF2B5EF4-FFF2-40B4-BE49-F238E27FC236}">
                <a16:creationId xmlns:a16="http://schemas.microsoft.com/office/drawing/2014/main" id="{9846D74D-D959-4EF7-B2F3-19D4EC622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953250"/>
            <a:ext cx="64770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B7C9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55" name="peer-pilot-reserve-label">
            <a:extLst xmlns:a="http://schemas.openxmlformats.org/drawingml/2006/main">
              <a:ext uri="{FF2B5EF4-FFF2-40B4-BE49-F238E27FC236}">
                <a16:creationId xmlns:a16="http://schemas.microsoft.com/office/drawing/2014/main" id="{51919EB4-CC9F-431C-AE74-4E0011FD4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7038975"/>
            <a:ext cx="552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97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02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예약</a:t>
            </a:r>
          </a:p>
        </p:txBody>
      </p:sp>
      <p:sp>
        <p:nvSpPr>
          <p:cNvPr id="56" name="peer-pilot-arrow1">
            <a:extLst xmlns:a="http://schemas.openxmlformats.org/drawingml/2006/main">
              <a:ext uri="{FF2B5EF4-FFF2-40B4-BE49-F238E27FC236}">
                <a16:creationId xmlns:a16="http://schemas.microsoft.com/office/drawing/2014/main" id="{99EF7212-9B9C-444B-9C33-A1348B483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1950" y="7029450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F97316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 i="0">
                <a:solidFill>
                  <a:srgbClr val="F97316"/>
                </a:solidFill>
                <a:latin typeface="Noto Sans KR"/>
                <a:ea typeface="Noto Sans KR"/>
                <a:cs typeface="Noto Sans KR"/>
              </a:rPr>
              <a:t>→</a:t>
            </a:r>
          </a:p>
        </p:txBody>
      </p:sp>
      <p:sp>
        <p:nvSpPr>
          <p:cNvPr id="57" name="peer-pilot-use-box">
            <a:extLst xmlns:a="http://schemas.openxmlformats.org/drawingml/2006/main">
              <a:ext uri="{FF2B5EF4-FFF2-40B4-BE49-F238E27FC236}">
                <a16:creationId xmlns:a16="http://schemas.microsoft.com/office/drawing/2014/main" id="{962AFB49-71D9-4D2B-A11E-D0FB5145D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15800" y="6953250"/>
            <a:ext cx="64770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B7C9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58" name="peer-pilot-use-label">
            <a:extLst xmlns:a="http://schemas.openxmlformats.org/drawingml/2006/main">
              <a:ext uri="{FF2B5EF4-FFF2-40B4-BE49-F238E27FC236}">
                <a16:creationId xmlns:a16="http://schemas.microsoft.com/office/drawing/2014/main" id="{24F9BB10-042C-4D0A-AFB9-4530EDB26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63425" y="7038975"/>
            <a:ext cx="552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97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02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이용</a:t>
            </a:r>
          </a:p>
        </p:txBody>
      </p:sp>
      <p:sp>
        <p:nvSpPr>
          <p:cNvPr id="59" name="peer-pilot-arrow2">
            <a:extLst xmlns:a="http://schemas.openxmlformats.org/drawingml/2006/main">
              <a:ext uri="{FF2B5EF4-FFF2-40B4-BE49-F238E27FC236}">
                <a16:creationId xmlns:a16="http://schemas.microsoft.com/office/drawing/2014/main" id="{B94864D0-667C-42D0-89BA-BC2100C20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20650" y="7029450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F97316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 i="0">
                <a:solidFill>
                  <a:srgbClr val="F97316"/>
                </a:solidFill>
                <a:latin typeface="Noto Sans KR"/>
                <a:ea typeface="Noto Sans KR"/>
                <a:cs typeface="Noto Sans KR"/>
              </a:rPr>
              <a:t>→</a:t>
            </a:r>
          </a:p>
        </p:txBody>
      </p:sp>
      <p:sp>
        <p:nvSpPr>
          <p:cNvPr id="60" name="peer-pilot-pay-box">
            <a:extLst xmlns:a="http://schemas.openxmlformats.org/drawingml/2006/main">
              <a:ext uri="{FF2B5EF4-FFF2-40B4-BE49-F238E27FC236}">
                <a16:creationId xmlns:a16="http://schemas.microsoft.com/office/drawing/2014/main" id="{CD376544-7663-4870-96FA-400ED7FB9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0" y="6953250"/>
            <a:ext cx="64770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E7F7FA"/>
          </a:solidFill>
          <a:ln xmlns:a="http://schemas.openxmlformats.org/drawingml/2006/main" w="9525">
            <a:solidFill>
              <a:srgbClr val="00B7C9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61" name="peer-pilot-pay-label">
            <a:extLst xmlns:a="http://schemas.openxmlformats.org/drawingml/2006/main">
              <a:ext uri="{FF2B5EF4-FFF2-40B4-BE49-F238E27FC236}">
                <a16:creationId xmlns:a16="http://schemas.microsoft.com/office/drawing/2014/main" id="{016017E8-BE2C-483A-BD86-11714940E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92125" y="7038975"/>
            <a:ext cx="552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97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02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결제</a:t>
            </a:r>
          </a:p>
        </p:txBody>
      </p:sp>
    </p:spTree>
    <p:extLst>
      <p:ext uri="{BB962C8B-B14F-4D97-AF65-F5344CB8AC3E}">
        <p14:creationId xmlns:p14="http://schemas.microsoft.com/office/powerpoint/2010/main" val="93069436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eyebrow">
            <a:extLst xmlns:a="http://schemas.openxmlformats.org/drawingml/2006/main">
              <a:ext uri="{FF2B5EF4-FFF2-40B4-BE49-F238E27FC236}">
                <a16:creationId xmlns:a16="http://schemas.microsoft.com/office/drawing/2014/main" id="{56D2C68C-9804-4F78-AFF6-72BE73CFF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429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17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IMPLEMENTATION ROADMAP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46C8465E-D0F9-4EEF-AA67-014E67351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019175"/>
            <a:ext cx="8096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 lnSpcReduction="2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75" b="1">
                <a:solidFill>
                  <a:srgbClr val="1B1F23"/>
                </a:solidFill>
                <a:latin typeface="Noto Sans KR"/>
                <a:ea typeface="Noto Sans KR"/>
                <a:cs typeface="Noto Sans KR"/>
              </a:defRPr>
            </a:pPr>
            <a:r>
              <a:rPr sz="2775" b="1">
                <a:solidFill>
                  <a:srgbClr val="1B1F23"/>
                </a:solidFill>
                <a:latin typeface="Noto Sans KR"/>
                <a:ea typeface="Noto Sans KR"/>
                <a:cs typeface="Noto Sans KR"/>
              </a:rPr>
              <a:t>3~6개월 시범 운영 실행 가이드: 4단계 운영·평가</a:t>
            </a:r>
            <a:endParaRPr sz="3675" b="1">
              <a:solidFill>
                <a:srgbClr val="004EA2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9746C03D-7627-4B08-A838-FDEDDCBA4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724025"/>
            <a:ext cx="13335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E747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tep-0-rule">
            <a:extLst xmlns:a="http://schemas.openxmlformats.org/drawingml/2006/main">
              <a:ext uri="{FF2B5EF4-FFF2-40B4-BE49-F238E27FC236}">
                <a16:creationId xmlns:a16="http://schemas.microsoft.com/office/drawing/2014/main" id="{6FD80474-E3B5-4508-9AC4-E8AD65318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2486025"/>
            <a:ext cx="30384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4EA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tep-0-label">
            <a:extLst xmlns:a="http://schemas.openxmlformats.org/drawingml/2006/main">
              <a:ext uri="{FF2B5EF4-FFF2-40B4-BE49-F238E27FC236}">
                <a16:creationId xmlns:a16="http://schemas.microsoft.com/office/drawing/2014/main" id="{E97A8DBE-CE91-46C0-9CCD-63E1F1CAC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284797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STEP 01 · 1~2주</a:t>
            </a:r>
          </a:p>
        </p:txBody>
      </p:sp>
      <p:sp>
        <p:nvSpPr>
          <p:cNvPr id="6" name="step-0-title">
            <a:extLst xmlns:a="http://schemas.openxmlformats.org/drawingml/2006/main">
              <a:ext uri="{FF2B5EF4-FFF2-40B4-BE49-F238E27FC236}">
                <a16:creationId xmlns:a16="http://schemas.microsoft.com/office/drawing/2014/main" id="{59B9BEF0-4231-459C-9517-C04054BEE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3248025"/>
            <a:ext cx="295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 lnSpcReduction="2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rPr>
              <a:t>후보 권역·기준선 확정</a:t>
            </a:r>
          </a:p>
        </p:txBody>
      </p:sp>
      <p:sp>
        <p:nvSpPr>
          <p:cNvPr id="7" name="step-0-body">
            <a:extLst xmlns:a="http://schemas.openxmlformats.org/drawingml/2006/main">
              <a:ext uri="{FF2B5EF4-FFF2-40B4-BE49-F238E27FC236}">
                <a16:creationId xmlns:a16="http://schemas.microsoft.com/office/drawing/2014/main" id="{07941CCA-2692-4F3B-B5FF-8DEBA22DC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3705225"/>
            <a:ext cx="304800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25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최근 12개월 방문·소비·검색 자료에서 후보 권역 1곳 선정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20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25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산출물: 후보 권역 선정표</a:t>
            </a:r>
          </a:p>
        </p:txBody>
      </p:sp>
      <p:sp>
        <p:nvSpPr>
          <p:cNvPr id="8" name="step-1-rule">
            <a:extLst xmlns:a="http://schemas.openxmlformats.org/drawingml/2006/main">
              <a:ext uri="{FF2B5EF4-FFF2-40B4-BE49-F238E27FC236}">
                <a16:creationId xmlns:a16="http://schemas.microsoft.com/office/drawing/2014/main" id="{271037CD-3D94-4954-A9B7-62A07A136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486025"/>
            <a:ext cx="30384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4EA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tep-1-label">
            <a:extLst xmlns:a="http://schemas.openxmlformats.org/drawingml/2006/main">
              <a:ext uri="{FF2B5EF4-FFF2-40B4-BE49-F238E27FC236}">
                <a16:creationId xmlns:a16="http://schemas.microsoft.com/office/drawing/2014/main" id="{5310D594-B49B-4A22-8DE6-7E9C62CCD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84797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STEP 02 · 3~4주</a:t>
            </a:r>
          </a:p>
        </p:txBody>
      </p:sp>
      <p:sp>
        <p:nvSpPr>
          <p:cNvPr id="10" name="step-1-title">
            <a:extLst xmlns:a="http://schemas.openxmlformats.org/drawingml/2006/main">
              <a:ext uri="{FF2B5EF4-FFF2-40B4-BE49-F238E27FC236}">
                <a16:creationId xmlns:a16="http://schemas.microsoft.com/office/drawing/2014/main" id="{BF52D1D6-661A-435F-8541-DBE90D7A0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248025"/>
            <a:ext cx="295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 lnSpcReduction="2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rPr>
              <a:t>참여 업소·동선 설계</a:t>
            </a:r>
          </a:p>
        </p:txBody>
      </p:sp>
      <p:sp>
        <p:nvSpPr>
          <p:cNvPr id="11" name="step-1-body">
            <a:extLst xmlns:a="http://schemas.openxmlformats.org/drawingml/2006/main">
              <a:ext uri="{FF2B5EF4-FFF2-40B4-BE49-F238E27FC236}">
                <a16:creationId xmlns:a16="http://schemas.microsoft.com/office/drawing/2014/main" id="{B1CA67F2-083B-484D-B979-9EA70E2BF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705225"/>
            <a:ext cx="304800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25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식음료업·쇼핑업 참여 업소와 관광 지점을 연결한 도보·대중교통 동선 설계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20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25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산출물: 시범코스 지도와 참여 기준</a:t>
            </a:r>
          </a:p>
        </p:txBody>
      </p:sp>
      <p:sp>
        <p:nvSpPr>
          <p:cNvPr id="12" name="step-2-rule">
            <a:extLst xmlns:a="http://schemas.openxmlformats.org/drawingml/2006/main">
              <a:ext uri="{FF2B5EF4-FFF2-40B4-BE49-F238E27FC236}">
                <a16:creationId xmlns:a16="http://schemas.microsoft.com/office/drawing/2014/main" id="{9818F010-1CC6-465C-A6DB-482EF8625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0025" y="2486025"/>
            <a:ext cx="30384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4EA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step-2-label">
            <a:extLst xmlns:a="http://schemas.openxmlformats.org/drawingml/2006/main">
              <a:ext uri="{FF2B5EF4-FFF2-40B4-BE49-F238E27FC236}">
                <a16:creationId xmlns:a16="http://schemas.microsoft.com/office/drawing/2014/main" id="{ACA8C8F1-D10F-43C1-A65D-52FACF408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0025" y="284797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STEP 03 · 2개월차</a:t>
            </a:r>
          </a:p>
        </p:txBody>
      </p:sp>
      <p:sp>
        <p:nvSpPr>
          <p:cNvPr id="14" name="step-2-title">
            <a:extLst xmlns:a="http://schemas.openxmlformats.org/drawingml/2006/main">
              <a:ext uri="{FF2B5EF4-FFF2-40B4-BE49-F238E27FC236}">
                <a16:creationId xmlns:a16="http://schemas.microsoft.com/office/drawing/2014/main" id="{08134B86-8D30-402C-9CEF-074FEC175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0025" y="3248025"/>
            <a:ext cx="295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 lnSpcReduction="2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rPr>
              <a:t>안내·혜택 시범 운영</a:t>
            </a:r>
          </a:p>
        </p:txBody>
      </p:sp>
      <p:sp>
        <p:nvSpPr>
          <p:cNvPr id="15" name="step-2-body">
            <a:extLst xmlns:a="http://schemas.openxmlformats.org/drawingml/2006/main">
              <a:ext uri="{FF2B5EF4-FFF2-40B4-BE49-F238E27FC236}">
                <a16:creationId xmlns:a16="http://schemas.microsoft.com/office/drawing/2014/main" id="{A3D6FB23-F5E8-415A-9C62-CDDD2FCAB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0025" y="3705225"/>
            <a:ext cx="304800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25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모바일 안내 페이지와 공통 혜택을 준비하고 참여 업소 운영 교육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20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25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산출물: 안내 페이지와 운영 매뉴얼</a:t>
            </a:r>
            <a:endParaRPr sz="1200" b="0" i="0">
              <a:solidFill>
                <a:srgbClr val="6E747B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16" name="step-3-rule">
            <a:extLst xmlns:a="http://schemas.openxmlformats.org/drawingml/2006/main">
              <a:ext uri="{FF2B5EF4-FFF2-40B4-BE49-F238E27FC236}">
                <a16:creationId xmlns:a16="http://schemas.microsoft.com/office/drawing/2014/main" id="{D0CBC112-A98C-4EA5-BA4F-54DB9D575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0925" y="2486025"/>
            <a:ext cx="30384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4EA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7" name="step-3-label">
            <a:extLst xmlns:a="http://schemas.openxmlformats.org/drawingml/2006/main">
              <a:ext uri="{FF2B5EF4-FFF2-40B4-BE49-F238E27FC236}">
                <a16:creationId xmlns:a16="http://schemas.microsoft.com/office/drawing/2014/main" id="{F0662ED8-32C0-41E6-86B5-4085829FE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0925" y="284797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STEP 04 · 3~4개월차</a:t>
            </a:r>
          </a:p>
        </p:txBody>
      </p:sp>
      <p:sp>
        <p:nvSpPr>
          <p:cNvPr id="18" name="step-3-title">
            <a:extLst xmlns:a="http://schemas.openxmlformats.org/drawingml/2006/main">
              <a:ext uri="{FF2B5EF4-FFF2-40B4-BE49-F238E27FC236}">
                <a16:creationId xmlns:a16="http://schemas.microsoft.com/office/drawing/2014/main" id="{F4EEECAE-8F09-478C-9B9E-19776C114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0925" y="3248025"/>
            <a:ext cx="295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 lnSpcReduction="2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rPr>
              <a:t>주간 기록·운영 조정</a:t>
            </a:r>
          </a:p>
        </p:txBody>
      </p:sp>
      <p:sp>
        <p:nvSpPr>
          <p:cNvPr id="19" name="step-3-body">
            <a:extLst xmlns:a="http://schemas.openxmlformats.org/drawingml/2006/main">
              <a:ext uri="{FF2B5EF4-FFF2-40B4-BE49-F238E27FC236}">
                <a16:creationId xmlns:a16="http://schemas.microsoft.com/office/drawing/2014/main" id="{C705A7EA-982B-4870-B075-B69149AF8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0925" y="3705225"/>
            <a:ext cx="304800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25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주말 중심으로 시범 운영하고 이용 건수·업종별 소비·체류 반응 기록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20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25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산출물: 월간 운영 결과표</a:t>
            </a:r>
            <a:endParaRPr sz="1200" b="0" i="0">
              <a:solidFill>
                <a:srgbClr val="6E747B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20" name="value-panel">
            <a:extLst xmlns:a="http://schemas.openxmlformats.org/drawingml/2006/main">
              <a:ext uri="{FF2B5EF4-FFF2-40B4-BE49-F238E27FC236}">
                <a16:creationId xmlns:a16="http://schemas.microsoft.com/office/drawing/2014/main" id="{0A5928CC-5352-494A-82B9-C6E3C567F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5476875"/>
            <a:ext cx="13201650" cy="2352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1" name="value-panel-rail">
            <a:extLst xmlns:a="http://schemas.openxmlformats.org/drawingml/2006/main">
              <a:ext uri="{FF2B5EF4-FFF2-40B4-BE49-F238E27FC236}">
                <a16:creationId xmlns:a16="http://schemas.microsoft.com/office/drawing/2014/main" id="{FF527866-641E-44D2-8381-B96977EA7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5476875"/>
            <a:ext cx="0" cy="23526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004EA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2" name="value-title">
            <a:extLst xmlns:a="http://schemas.openxmlformats.org/drawingml/2006/main">
              <a:ext uri="{FF2B5EF4-FFF2-40B4-BE49-F238E27FC236}">
                <a16:creationId xmlns:a16="http://schemas.microsoft.com/office/drawing/2014/main" id="{3506D103-ACC9-4612-8F44-8648D013A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6000750"/>
            <a:ext cx="4819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최종 산출물 · 5~6개월차</a:t>
            </a:r>
          </a:p>
        </p:txBody>
      </p:sp>
      <p:sp>
        <p:nvSpPr>
          <p:cNvPr id="23" name="value-body">
            <a:extLst xmlns:a="http://schemas.openxmlformats.org/drawingml/2006/main">
              <a:ext uri="{FF2B5EF4-FFF2-40B4-BE49-F238E27FC236}">
                <a16:creationId xmlns:a16="http://schemas.microsoft.com/office/drawing/2014/main" id="{E6BA8404-9624-4B90-BC5C-9706A7B2E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6457950"/>
            <a:ext cx="1220152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275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325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운영 전후 같은 달 지표를 비교해 유지·수정·확대 결정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275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325" b="0" i="0">
                <a:solidFill>
                  <a:srgbClr val="59636E"/>
                </a:solidFill>
                <a:latin typeface="Noto Sans KR"/>
              </a:rPr>
              <a:t>산출물: 성과 비교표와 다음 운영안. 비용·이탈·민원·현장 운영 가능성을 함께 확인해 확대·보완·중단을 판단합니다.</a:t>
            </a:r>
          </a:p>
        </p:txBody>
      </p:sp>
    </p:spTree>
    <p:extLst>
      <p:ext uri="{BB962C8B-B14F-4D97-AF65-F5344CB8AC3E}">
        <p14:creationId xmlns:p14="http://schemas.microsoft.com/office/powerpoint/2010/main" val="38038398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" name="title">
            <a:extLst xmlns:a="http://schemas.openxmlformats.org/drawingml/2006/main">
              <a:ext uri="{FF2B5EF4-FFF2-40B4-BE49-F238E27FC236}">
                <a16:creationId xmlns:a16="http://schemas.microsoft.com/office/drawing/2014/main" id="{89566C74-171B-4CC1-A081-68E147C86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952500"/>
            <a:ext cx="758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300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300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샘플 KPI: 더미 ML 예시와 운영 목표</a:t>
            </a:r>
            <a:endParaRPr sz="3900" b="1" i="0">
              <a:solidFill>
                <a:srgbClr val="004EA2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2" name="title-rule">
            <a:extLst xmlns:a="http://schemas.openxmlformats.org/drawingml/2006/main">
              <a:ext uri="{FF2B5EF4-FFF2-40B4-BE49-F238E27FC236}">
                <a16:creationId xmlns:a16="http://schemas.microsoft.com/office/drawing/2014/main" id="{5806725C-B232-4DB7-96F0-03854DF86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1619250"/>
            <a:ext cx="647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04EA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751BFB9C-216A-4C33-A839-B04730D36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952625"/>
            <a:ext cx="7048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325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교육용 더미값이며, 실제 보고서는 저장 ML과 운영 기록으로 대체합니다.</a:t>
            </a:r>
            <a:endParaRPr sz="1350" b="0" i="0">
              <a:solidFill>
                <a:srgbClr val="4F555B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4" name="audience-card-0">
            <a:extLst xmlns:a="http://schemas.openxmlformats.org/drawingml/2006/main">
              <a:ext uri="{FF2B5EF4-FFF2-40B4-BE49-F238E27FC236}">
                <a16:creationId xmlns:a16="http://schemas.microsoft.com/office/drawing/2014/main" id="{4C5D9B42-9585-431B-9F85-6047030BE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3009900"/>
            <a:ext cx="4267200" cy="4543425"/>
          </a:xfrm>
          <a:prstGeom xmlns:a="http://schemas.openxmlformats.org/drawingml/2006/main" prst="roundRect">
            <a:avLst>
              <a:gd name="adj" fmla="val 17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audience-pill-0">
            <a:extLst xmlns:a="http://schemas.openxmlformats.org/drawingml/2006/main">
              <a:ext uri="{FF2B5EF4-FFF2-40B4-BE49-F238E27FC236}">
                <a16:creationId xmlns:a16="http://schemas.microsoft.com/office/drawing/2014/main" id="{78EAE8B0-7A2C-4232-829C-9DE3D07F8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3400425"/>
            <a:ext cx="3695700" cy="476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4EA2"/>
            </a:solidFill>
            <a:prstDash val="solid"/>
          </a:ln>
        </p:spPr>
        <p:txBody>
          <a:bodyPr xmlns:a="http://schemas.openxmlformats.org/drawingml/2006/main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325" b="1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월 방문자 예시 목표 +2.00%</a:t>
            </a:r>
            <a:endParaRPr sz="1425" b="1">
              <a:solidFill>
                <a:srgbClr val="004EA2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18" name="audience-body-0">
            <a:extLst xmlns:a="http://schemas.openxmlformats.org/drawingml/2006/main">
              <a:ext uri="{FF2B5EF4-FFF2-40B4-BE49-F238E27FC236}">
                <a16:creationId xmlns:a16="http://schemas.microsoft.com/office/drawing/2014/main" id="{18036271-88F0-4820-8017-27AD9D820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5924550"/>
            <a:ext cx="36957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0" i="0">
                <a:solidFill>
                  <a:srgbClr val="1B1F23"/>
                </a:solidFill>
                <a:latin typeface="Noto Sans KR"/>
                <a:ea typeface="Noto Sans KR"/>
                <a:cs typeface="Noto Sans KR"/>
              </a:defRPr>
            </a:pPr>
            <a:r>
              <a:rPr sz="1175" b="0" i="0">
                <a:solidFill>
                  <a:srgbClr val="1B1F23"/>
                </a:solidFill>
                <a:latin typeface="Noto Sans KR"/>
                <a:ea typeface="Noto Sans KR"/>
                <a:cs typeface="Noto Sans KR"/>
              </a:rPr>
              <a:t>더미 자연추세와 운영 목표의 배치 예시입니다.</a:t>
            </a:r>
          </a:p>
        </p:txBody>
      </p:sp>
      <p:sp>
        <p:nvSpPr>
          <p:cNvPr id="19" name="audience-divider-0">
            <a:extLst xmlns:a="http://schemas.openxmlformats.org/drawingml/2006/main">
              <a:ext uri="{FF2B5EF4-FFF2-40B4-BE49-F238E27FC236}">
                <a16:creationId xmlns:a16="http://schemas.microsoft.com/office/drawing/2014/main" id="{D37CFD94-BBEC-4549-A877-861B6AF8A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6486525"/>
            <a:ext cx="3695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5EA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0" name="audience-role-0">
            <a:extLst xmlns:a="http://schemas.openxmlformats.org/drawingml/2006/main">
              <a:ext uri="{FF2B5EF4-FFF2-40B4-BE49-F238E27FC236}">
                <a16:creationId xmlns:a16="http://schemas.microsoft.com/office/drawing/2014/main" id="{431424E7-8452-4D5A-BFBC-7C483C023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6896100"/>
            <a:ext cx="3600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025" b="1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샘플: 실제 저장 ML 등록 뒤 대체</a:t>
            </a:r>
            <a:endParaRPr sz="1050" b="1" i="0">
              <a:solidFill>
                <a:srgbClr val="4F555B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21" name="audience-card-1">
            <a:extLst xmlns:a="http://schemas.openxmlformats.org/drawingml/2006/main">
              <a:ext uri="{FF2B5EF4-FFF2-40B4-BE49-F238E27FC236}">
                <a16:creationId xmlns:a16="http://schemas.microsoft.com/office/drawing/2014/main" id="{E4BF1616-4E6A-46E9-A604-B8790B8D5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3009900"/>
            <a:ext cx="4267200" cy="4543425"/>
          </a:xfrm>
          <a:prstGeom xmlns:a="http://schemas.openxmlformats.org/drawingml/2006/main" prst="roundRect">
            <a:avLst>
              <a:gd name="adj" fmla="val 17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2" name="audience-pill-1">
            <a:extLst xmlns:a="http://schemas.openxmlformats.org/drawingml/2006/main">
              <a:ext uri="{FF2B5EF4-FFF2-40B4-BE49-F238E27FC236}">
                <a16:creationId xmlns:a16="http://schemas.microsoft.com/office/drawing/2014/main" id="{DC565623-691C-46E9-9B1E-CA335ADDE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3400425"/>
            <a:ext cx="3695700" cy="476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4EA2"/>
            </a:solidFill>
            <a:prstDash val="solid"/>
          </a:ln>
        </p:spPr>
        <p:txBody>
          <a:bodyPr xmlns:a="http://schemas.openxmlformats.org/drawingml/2006/main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325" b="1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월 관광소비 예시 목표 +2.50%</a:t>
            </a:r>
            <a:endParaRPr sz="1425" b="1">
              <a:solidFill>
                <a:srgbClr val="004EA2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29" name="audience-body-1">
            <a:extLst xmlns:a="http://schemas.openxmlformats.org/drawingml/2006/main">
              <a:ext uri="{FF2B5EF4-FFF2-40B4-BE49-F238E27FC236}">
                <a16:creationId xmlns:a16="http://schemas.microsoft.com/office/drawing/2014/main" id="{06949467-623E-4320-80B3-3600A7113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5924550"/>
            <a:ext cx="36957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0" i="0">
                <a:solidFill>
                  <a:srgbClr val="1B1F23"/>
                </a:solidFill>
                <a:latin typeface="Noto Sans KR"/>
                <a:ea typeface="Noto Sans KR"/>
                <a:cs typeface="Noto Sans KR"/>
              </a:defRPr>
            </a:pPr>
            <a:r>
              <a:rPr sz="1175" b="0" i="0">
                <a:solidFill>
                  <a:srgbClr val="1B1F23"/>
                </a:solidFill>
                <a:latin typeface="Noto Sans KR"/>
                <a:ea typeface="Noto Sans KR"/>
                <a:cs typeface="Noto Sans KR"/>
              </a:rPr>
              <a:t>더미 관광소비 추세와 운영 목표의 배치 예시입니다.</a:t>
            </a:r>
          </a:p>
        </p:txBody>
      </p:sp>
      <p:sp>
        <p:nvSpPr>
          <p:cNvPr id="30" name="audience-divider-1">
            <a:extLst xmlns:a="http://schemas.openxmlformats.org/drawingml/2006/main">
              <a:ext uri="{FF2B5EF4-FFF2-40B4-BE49-F238E27FC236}">
                <a16:creationId xmlns:a16="http://schemas.microsoft.com/office/drawing/2014/main" id="{70E4CE22-3136-4945-B6F8-3CBFD1AC5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6486525"/>
            <a:ext cx="3695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5EA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1" name="audience-role-1">
            <a:extLst xmlns:a="http://schemas.openxmlformats.org/drawingml/2006/main">
              <a:ext uri="{FF2B5EF4-FFF2-40B4-BE49-F238E27FC236}">
                <a16:creationId xmlns:a16="http://schemas.microsoft.com/office/drawing/2014/main" id="{91A14E64-F9D6-4991-AF2A-62B1E5720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775" y="6896100"/>
            <a:ext cx="3600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025" b="1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샘플: 실제 저장 ML 등록 뒤 대체</a:t>
            </a:r>
          </a:p>
        </p:txBody>
      </p:sp>
      <p:sp>
        <p:nvSpPr>
          <p:cNvPr id="32" name="audience-card-2">
            <a:extLst xmlns:a="http://schemas.openxmlformats.org/drawingml/2006/main">
              <a:ext uri="{FF2B5EF4-FFF2-40B4-BE49-F238E27FC236}">
                <a16:creationId xmlns:a16="http://schemas.microsoft.com/office/drawing/2014/main" id="{29361FBB-3A70-4672-AA0E-E8B8C32A8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3009900"/>
            <a:ext cx="4267200" cy="4543425"/>
          </a:xfrm>
          <a:prstGeom xmlns:a="http://schemas.openxmlformats.org/drawingml/2006/main" prst="roundRect">
            <a:avLst>
              <a:gd name="adj" fmla="val 17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3" name="audience-pill-2">
            <a:extLst xmlns:a="http://schemas.openxmlformats.org/drawingml/2006/main">
              <a:ext uri="{FF2B5EF4-FFF2-40B4-BE49-F238E27FC236}">
                <a16:creationId xmlns:a16="http://schemas.microsoft.com/office/drawing/2014/main" id="{46094810-6C0A-47A8-AF7A-34677C910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3400425"/>
            <a:ext cx="3695700" cy="476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4EA2"/>
            </a:solidFill>
            <a:prstDash val="solid"/>
          </a:ln>
        </p:spPr>
        <p:txBody>
          <a:bodyPr xmlns:a="http://schemas.openxmlformats.org/drawingml/2006/main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325" b="1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시범 운영 완료율</a:t>
            </a:r>
            <a:endParaRPr sz="1425" b="1">
              <a:solidFill>
                <a:srgbClr val="004EA2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39" name="audience-body-2">
            <a:extLst xmlns:a="http://schemas.openxmlformats.org/drawingml/2006/main">
              <a:ext uri="{FF2B5EF4-FFF2-40B4-BE49-F238E27FC236}">
                <a16:creationId xmlns:a16="http://schemas.microsoft.com/office/drawing/2014/main" id="{D9085674-740D-4428-BE90-51011B86D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5924550"/>
            <a:ext cx="36957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0" i="0">
                <a:solidFill>
                  <a:srgbClr val="1B1F23"/>
                </a:solidFill>
                <a:latin typeface="Noto Sans KR"/>
                <a:ea typeface="Noto Sans KR"/>
                <a:cs typeface="Noto Sans KR"/>
              </a:defRPr>
            </a:pPr>
            <a:r>
              <a:rPr sz="1175" b="0" i="0">
                <a:solidFill>
                  <a:srgbClr val="1B1F23"/>
                </a:solidFill>
                <a:latin typeface="Noto Sans KR"/>
                <a:ea typeface="Noto Sans KR"/>
                <a:cs typeface="Noto Sans KR"/>
              </a:rPr>
              <a:t>예약·이용·결제를 모두 확인한 참여 건을 기준으로 완료율과 민원을 관리합니다.</a:t>
            </a:r>
          </a:p>
        </p:txBody>
      </p:sp>
      <p:sp>
        <p:nvSpPr>
          <p:cNvPr id="40" name="audience-divider-2">
            <a:extLst xmlns:a="http://schemas.openxmlformats.org/drawingml/2006/main">
              <a:ext uri="{FF2B5EF4-FFF2-40B4-BE49-F238E27FC236}">
                <a16:creationId xmlns:a16="http://schemas.microsoft.com/office/drawing/2014/main" id="{5F839689-58C2-4B5A-B556-CA2230F29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6486525"/>
            <a:ext cx="3695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5EA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1" name="audience-role-2">
            <a:extLst xmlns:a="http://schemas.openxmlformats.org/drawingml/2006/main">
              <a:ext uri="{FF2B5EF4-FFF2-40B4-BE49-F238E27FC236}">
                <a16:creationId xmlns:a16="http://schemas.microsoft.com/office/drawing/2014/main" id="{8FBFEBB1-BE5F-4E74-B007-0FC209D09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87025" y="6896100"/>
            <a:ext cx="3600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025" b="1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측정: 예약·입장·결제·민원 기록</a:t>
            </a:r>
          </a:p>
        </p:txBody>
      </p:sp>
      <p:sp>
        <p:nvSpPr>
          <p:cNvPr id="46" name="visit-forecast-bar">
            <a:extLst xmlns:a="http://schemas.openxmlformats.org/drawingml/2006/main">
              <a:ext uri="{FF2B5EF4-FFF2-40B4-BE49-F238E27FC236}">
                <a16:creationId xmlns:a16="http://schemas.microsoft.com/office/drawing/2014/main" id="{7EAE788A-E562-434D-AC49-CD849B5E0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552950"/>
            <a:ext cx="8191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4D3"/>
          </a:solidFill>
          <a:ln xmlns:a="http://schemas.openxmlformats.org/drawingml/2006/main" w="0">
            <a:solidFill>
              <a:srgbClr val="B8C4D3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7" name="visit-target-bar">
            <a:extLst xmlns:a="http://schemas.openxmlformats.org/drawingml/2006/main">
              <a:ext uri="{FF2B5EF4-FFF2-40B4-BE49-F238E27FC236}">
                <a16:creationId xmlns:a16="http://schemas.microsoft.com/office/drawing/2014/main" id="{9D78738B-2F2C-452C-B80F-CC489B95A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4286250"/>
            <a:ext cx="8191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4EA2"/>
          </a:solidFill>
          <a:ln xmlns:a="http://schemas.openxmlformats.org/drawingml/2006/main" w="0">
            <a:solidFill>
              <a:srgbClr val="004EA2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8" name="visit-forecast">
            <a:extLst xmlns:a="http://schemas.openxmlformats.org/drawingml/2006/main">
              <a:ext uri="{FF2B5EF4-FFF2-40B4-BE49-F238E27FC236}">
                <a16:creationId xmlns:a16="http://schemas.microsoft.com/office/drawing/2014/main" id="{50B12863-8786-4034-A890-14F4B6A73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333875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125" b="1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175" b="1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예시 1,815만 명</a:t>
            </a:r>
          </a:p>
        </p:txBody>
      </p:sp>
      <p:sp>
        <p:nvSpPr>
          <p:cNvPr id="49" name="visit-target">
            <a:extLst xmlns:a="http://schemas.openxmlformats.org/drawingml/2006/main">
              <a:ext uri="{FF2B5EF4-FFF2-40B4-BE49-F238E27FC236}">
                <a16:creationId xmlns:a16="http://schemas.microsoft.com/office/drawing/2014/main" id="{30BAFE74-EC27-4531-B6DD-98B79F267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981450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12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17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예시 목표 1,851만 명</a:t>
            </a:r>
          </a:p>
        </p:txBody>
      </p:sp>
      <p:sp>
        <p:nvSpPr>
          <p:cNvPr id="50" name="visit-arrow">
            <a:extLst xmlns:a="http://schemas.openxmlformats.org/drawingml/2006/main">
              <a:ext uri="{FF2B5EF4-FFF2-40B4-BE49-F238E27FC236}">
                <a16:creationId xmlns:a16="http://schemas.microsoft.com/office/drawing/2014/main" id="{28A8A9DD-D353-4D59-83BB-5A64A3287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4743450"/>
            <a:ext cx="66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100" b="1" i="0">
                <a:solidFill>
                  <a:srgbClr val="F97316"/>
                </a:solidFill>
                <a:latin typeface="Noto Sans KR"/>
                <a:ea typeface="Noto Sans KR"/>
                <a:cs typeface="Noto Sans KR"/>
              </a:defRPr>
            </a:pPr>
            <a:r>
              <a:rPr sz="2100" b="1" i="0">
                <a:solidFill>
                  <a:srgbClr val="F97316"/>
                </a:solidFill>
                <a:latin typeface="Noto Sans KR"/>
                <a:ea typeface="Noto Sans KR"/>
                <a:cs typeface="Noto Sans KR"/>
              </a:rPr>
              <a:t>→</a:t>
            </a:r>
          </a:p>
        </p:txBody>
      </p:sp>
      <p:sp>
        <p:nvSpPr>
          <p:cNvPr id="51" name="spend-forecast-bar">
            <a:extLst xmlns:a="http://schemas.openxmlformats.org/drawingml/2006/main">
              <a:ext uri="{FF2B5EF4-FFF2-40B4-BE49-F238E27FC236}">
                <a16:creationId xmlns:a16="http://schemas.microsoft.com/office/drawing/2014/main" id="{9F13A2C2-BBB7-4A8F-8B9B-018741CA6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552950"/>
            <a:ext cx="8191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4D3"/>
          </a:solidFill>
          <a:ln xmlns:a="http://schemas.openxmlformats.org/drawingml/2006/main" w="0">
            <a:solidFill>
              <a:srgbClr val="B8C4D3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52" name="spend-target-bar">
            <a:extLst xmlns:a="http://schemas.openxmlformats.org/drawingml/2006/main">
              <a:ext uri="{FF2B5EF4-FFF2-40B4-BE49-F238E27FC236}">
                <a16:creationId xmlns:a16="http://schemas.microsoft.com/office/drawing/2014/main" id="{E26096D6-3133-437B-953E-A9E04854E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286250"/>
            <a:ext cx="8191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4EA2"/>
          </a:solidFill>
          <a:ln xmlns:a="http://schemas.openxmlformats.org/drawingml/2006/main" w="0">
            <a:solidFill>
              <a:srgbClr val="004EA2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53" name="spend-forecast">
            <a:extLst xmlns:a="http://schemas.openxmlformats.org/drawingml/2006/main">
              <a:ext uri="{FF2B5EF4-FFF2-40B4-BE49-F238E27FC236}">
                <a16:creationId xmlns:a16="http://schemas.microsoft.com/office/drawing/2014/main" id="{BF98D298-373A-4294-99D1-A00ECF9D1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333875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125" b="1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175" b="1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예시 4,760억 원</a:t>
            </a:r>
          </a:p>
        </p:txBody>
      </p:sp>
      <p:sp>
        <p:nvSpPr>
          <p:cNvPr id="54" name="spend-target">
            <a:extLst xmlns:a="http://schemas.openxmlformats.org/drawingml/2006/main">
              <a:ext uri="{FF2B5EF4-FFF2-40B4-BE49-F238E27FC236}">
                <a16:creationId xmlns:a16="http://schemas.microsoft.com/office/drawing/2014/main" id="{5CF522C7-7887-4EE2-9BF6-55BF0B1B3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981450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12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17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예시 목표 4,879억 원</a:t>
            </a:r>
          </a:p>
        </p:txBody>
      </p:sp>
      <p:sp>
        <p:nvSpPr>
          <p:cNvPr id="55" name="spend-arrow">
            <a:extLst xmlns:a="http://schemas.openxmlformats.org/drawingml/2006/main">
              <a:ext uri="{FF2B5EF4-FFF2-40B4-BE49-F238E27FC236}">
                <a16:creationId xmlns:a16="http://schemas.microsoft.com/office/drawing/2014/main" id="{32493DB0-02BB-4272-9572-526BAEF87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4743450"/>
            <a:ext cx="66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100" b="1" i="0">
                <a:solidFill>
                  <a:srgbClr val="F97316"/>
                </a:solidFill>
                <a:latin typeface="Noto Sans KR"/>
                <a:ea typeface="Noto Sans KR"/>
                <a:cs typeface="Noto Sans KR"/>
              </a:defRPr>
            </a:pPr>
            <a:r>
              <a:rPr sz="2100" b="1" i="0">
                <a:solidFill>
                  <a:srgbClr val="F97316"/>
                </a:solidFill>
                <a:latin typeface="Noto Sans KR"/>
                <a:ea typeface="Noto Sans KR"/>
                <a:cs typeface="Noto Sans KR"/>
              </a:rPr>
              <a:t>→</a:t>
            </a:r>
          </a:p>
        </p:txBody>
      </p:sp>
      <p:sp>
        <p:nvSpPr>
          <p:cNvPr id="56" name="foreign-forecast-bar">
            <a:extLst xmlns:a="http://schemas.openxmlformats.org/drawingml/2006/main">
              <a:ext uri="{FF2B5EF4-FFF2-40B4-BE49-F238E27FC236}">
                <a16:creationId xmlns:a16="http://schemas.microsoft.com/office/drawing/2014/main" id="{2DE1DBAA-9C91-4923-A9C6-E60890201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4552950"/>
            <a:ext cx="8191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4D3"/>
          </a:solidFill>
          <a:ln xmlns:a="http://schemas.openxmlformats.org/drawingml/2006/main" w="0">
            <a:solidFill>
              <a:srgbClr val="B8C4D3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57" name="foreign-target-bar">
            <a:extLst xmlns:a="http://schemas.openxmlformats.org/drawingml/2006/main">
              <a:ext uri="{FF2B5EF4-FFF2-40B4-BE49-F238E27FC236}">
                <a16:creationId xmlns:a16="http://schemas.microsoft.com/office/drawing/2014/main" id="{778E10A6-2AC7-4CF8-BF38-C7790D863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11150" y="4286250"/>
            <a:ext cx="8191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4EA2"/>
          </a:solidFill>
          <a:ln xmlns:a="http://schemas.openxmlformats.org/drawingml/2006/main" w="0">
            <a:solidFill>
              <a:srgbClr val="004EA2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58" name="foreign-forecast">
            <a:extLst xmlns:a="http://schemas.openxmlformats.org/drawingml/2006/main">
              <a:ext uri="{FF2B5EF4-FFF2-40B4-BE49-F238E27FC236}">
                <a16:creationId xmlns:a16="http://schemas.microsoft.com/office/drawing/2014/main" id="{09F54D75-4425-47AB-9B00-EFDA46E44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333875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125" b="1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175" b="1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기준선 확정</a:t>
            </a:r>
          </a:p>
        </p:txBody>
      </p:sp>
      <p:sp>
        <p:nvSpPr>
          <p:cNvPr id="59" name="foreign-target">
            <a:extLst xmlns:a="http://schemas.openxmlformats.org/drawingml/2006/main">
              <a:ext uri="{FF2B5EF4-FFF2-40B4-BE49-F238E27FC236}">
                <a16:creationId xmlns:a16="http://schemas.microsoft.com/office/drawing/2014/main" id="{66CB0B58-B33B-4150-9904-FA24C37C8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0" y="3981450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12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17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운영 후 확인</a:t>
            </a:r>
          </a:p>
        </p:txBody>
      </p:sp>
      <p:sp>
        <p:nvSpPr>
          <p:cNvPr id="60" name="foreign-arrow">
            <a:extLst xmlns:a="http://schemas.openxmlformats.org/drawingml/2006/main">
              <a:ext uri="{FF2B5EF4-FFF2-40B4-BE49-F238E27FC236}">
                <a16:creationId xmlns:a16="http://schemas.microsoft.com/office/drawing/2014/main" id="{DC5BC4F7-29C7-4FA1-9677-A81C0CFCF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58625" y="4743450"/>
            <a:ext cx="66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100" b="1" i="0">
                <a:solidFill>
                  <a:srgbClr val="F97316"/>
                </a:solidFill>
                <a:latin typeface="Noto Sans KR"/>
                <a:ea typeface="Noto Sans KR"/>
                <a:cs typeface="Noto Sans KR"/>
              </a:defRPr>
            </a:pPr>
            <a:r>
              <a:rPr sz="2100" b="1" i="0">
                <a:solidFill>
                  <a:srgbClr val="F97316"/>
                </a:solidFill>
                <a:latin typeface="Noto Sans KR"/>
                <a:ea typeface="Noto Sans KR"/>
                <a:cs typeface="Noto Sans KR"/>
              </a:rPr>
              <a:t>→</a:t>
            </a:r>
          </a:p>
        </p:txBody>
      </p:sp>
    </p:spTree>
    <p:extLst>
      <p:ext uri="{BB962C8B-B14F-4D97-AF65-F5344CB8AC3E}">
        <p14:creationId xmlns:p14="http://schemas.microsoft.com/office/powerpoint/2010/main" val="55374207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eyebrow">
            <a:extLst xmlns:a="http://schemas.openxmlformats.org/drawingml/2006/main">
              <a:ext uri="{FF2B5EF4-FFF2-40B4-BE49-F238E27FC236}">
                <a16:creationId xmlns:a16="http://schemas.microsoft.com/office/drawing/2014/main" id="{E7D48FBA-7209-4694-8898-345F9345A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1076325"/>
            <a:ext cx="35337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defRPr>
            </a:pPr>
            <a:r>
              <a:rPr sz="1175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rPr>
              <a:t>BUDGET ESTIMATE &amp; KPI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2B47A03-506E-4149-B937-667653240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1457325"/>
            <a:ext cx="81248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B1F23"/>
                </a:solidFill>
                <a:latin typeface="Noto Sans KR"/>
                <a:ea typeface="Noto Sans KR"/>
                <a:cs typeface="Noto Sans KR"/>
              </a:defRPr>
            </a:pPr>
            <a:r>
              <a:rPr sz="3000" b="1">
                <a:solidFill>
                  <a:srgbClr val="1B1F23"/>
                </a:solidFill>
                <a:latin typeface="Noto Sans KR"/>
                <a:ea typeface="Noto Sans KR"/>
                <a:cs typeface="Noto Sans KR"/>
              </a:rPr>
              <a:t>3~6개월 시범 운영 실행 예산과 성과 측정</a:t>
            </a:r>
            <a:endParaRPr sz="3600" b="1">
              <a:solidFill>
                <a:srgbClr val="00C1D4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6D17D69D-823C-4D07-A9EB-0AC744C1D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2266950"/>
            <a:ext cx="79152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4EA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intro">
            <a:extLst xmlns:a="http://schemas.openxmlformats.org/drawingml/2006/main">
              <a:ext uri="{FF2B5EF4-FFF2-40B4-BE49-F238E27FC236}">
                <a16:creationId xmlns:a16="http://schemas.microsoft.com/office/drawing/2014/main" id="{6329FC8E-195C-45D9-8123-1B9D84291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2847975"/>
            <a:ext cx="76009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20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25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안내 페이지, 홍보물, 참여 업소 운영 지원, 성과 측정 항목별로 수량을 정한 뒤 2개 이상 비교견적으로 산정합니다.</a:t>
            </a:r>
          </a:p>
        </p:txBody>
      </p:sp>
      <p:sp>
        <p:nvSpPr>
          <p:cNvPr id="6" name="dashboard-rail">
            <a:extLst xmlns:a="http://schemas.openxmlformats.org/drawingml/2006/main">
              <a:ext uri="{FF2B5EF4-FFF2-40B4-BE49-F238E27FC236}">
                <a16:creationId xmlns:a16="http://schemas.microsoft.com/office/drawing/2014/main" id="{9BE94A36-2943-4E88-B24E-66109F702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4238625"/>
            <a:ext cx="0" cy="1190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0C1D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dashboard-title">
            <a:extLst xmlns:a="http://schemas.openxmlformats.org/drawingml/2006/main">
              <a:ext uri="{FF2B5EF4-FFF2-40B4-BE49-F238E27FC236}">
                <a16:creationId xmlns:a16="http://schemas.microsoft.com/office/drawing/2014/main" id="{5A8CD150-B4FE-4BF8-B6C6-DE88B588A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286250"/>
            <a:ext cx="35337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예산 산정 기준</a:t>
            </a:r>
          </a:p>
        </p:txBody>
      </p:sp>
      <p:sp>
        <p:nvSpPr>
          <p:cNvPr id="8" name="dashboard-body">
            <a:extLst xmlns:a="http://schemas.openxmlformats.org/drawingml/2006/main">
              <a:ext uri="{FF2B5EF4-FFF2-40B4-BE49-F238E27FC236}">
                <a16:creationId xmlns:a16="http://schemas.microsoft.com/office/drawing/2014/main" id="{C4465979-A2B2-432C-8E9B-859897CE2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724400"/>
            <a:ext cx="3476625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 lnSpcReduction="1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25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안내 페이지, 홍보물, 참여 업소 운영 지원, 성과 측정 항목별로 수량을 정한 뒤 2개 이상 비교견적으로 산정합니다.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20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25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/>
            </a:r>
            <a:endParaRPr sz="1275" b="0" i="0">
              <a:solidFill>
                <a:srgbClr val="6E747B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9" name="analysis-rail">
            <a:extLst xmlns:a="http://schemas.openxmlformats.org/drawingml/2006/main">
              <a:ext uri="{FF2B5EF4-FFF2-40B4-BE49-F238E27FC236}">
                <a16:creationId xmlns:a16="http://schemas.microsoft.com/office/drawing/2014/main" id="{1572652E-8668-4368-ACB8-903355EF5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238625"/>
            <a:ext cx="0" cy="1190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0C1D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analysis-title">
            <a:extLst xmlns:a="http://schemas.openxmlformats.org/drawingml/2006/main">
              <a:ext uri="{FF2B5EF4-FFF2-40B4-BE49-F238E27FC236}">
                <a16:creationId xmlns:a16="http://schemas.microsoft.com/office/drawing/2014/main" id="{0C654D2C-AC31-4495-9545-0DAE5ED64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4286250"/>
            <a:ext cx="35337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성과·집행 동시 관리</a:t>
            </a:r>
          </a:p>
        </p:txBody>
      </p:sp>
      <p:sp>
        <p:nvSpPr>
          <p:cNvPr id="11" name="analysis-body">
            <a:extLst xmlns:a="http://schemas.openxmlformats.org/drawingml/2006/main">
              <a:ext uri="{FF2B5EF4-FFF2-40B4-BE49-F238E27FC236}">
                <a16:creationId xmlns:a16="http://schemas.microsoft.com/office/drawing/2014/main" id="{DB2F5A81-D4FD-489F-82C8-C6166E89C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4724400"/>
            <a:ext cx="3476625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 lnSpcReduction="1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25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코스 이용 건수, 참여 업소 결제 건수, 외지인 관광소비액, 숙박 방문 비율을 운영 전후 같은 기준으로 확인합니다.</a:t>
            </a:r>
          </a:p>
        </p:txBody>
      </p:sp>
      <p:sp>
        <p:nvSpPr>
          <p:cNvPr id="12" name="report-card">
            <a:extLst xmlns:a="http://schemas.openxmlformats.org/drawingml/2006/main">
              <a:ext uri="{FF2B5EF4-FFF2-40B4-BE49-F238E27FC236}">
                <a16:creationId xmlns:a16="http://schemas.microsoft.com/office/drawing/2014/main" id="{01ECDF9F-37D9-484C-997E-3809C4679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6000750"/>
            <a:ext cx="38100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report-card-title">
            <a:extLst xmlns:a="http://schemas.openxmlformats.org/drawingml/2006/main">
              <a:ext uri="{FF2B5EF4-FFF2-40B4-BE49-F238E27FC236}">
                <a16:creationId xmlns:a16="http://schemas.microsoft.com/office/drawing/2014/main" id="{1353BCF8-2C10-48C9-B173-6A79000EE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6257925"/>
            <a:ext cx="2457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defRPr>
            </a:pPr>
            <a:r>
              <a:rPr sz="1175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rPr>
              <a:t>확정 전 원칙</a:t>
            </a:r>
          </a:p>
        </p:txBody>
      </p:sp>
      <p:sp>
        <p:nvSpPr>
          <p:cNvPr id="14" name="report-card-body">
            <a:extLst xmlns:a="http://schemas.openxmlformats.org/drawingml/2006/main">
              <a:ext uri="{FF2B5EF4-FFF2-40B4-BE49-F238E27FC236}">
                <a16:creationId xmlns:a16="http://schemas.microsoft.com/office/drawing/2014/main" id="{796461ED-E207-428E-ADB1-53B8A04FC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6629400"/>
            <a:ext cx="31051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175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3개 이상 비교견적</a:t>
            </a:r>
          </a:p>
          <a:p xmlns:a="http://schemas.openxmlformats.org/drawingml/2006/main">
            <a:pPr algn="l">
              <a:buNone/>
              <a:defRPr sz="1125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175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운영 범위 재확인</a:t>
            </a:r>
          </a:p>
        </p:txBody>
      </p:sp>
      <p:sp>
        <p:nvSpPr>
          <p:cNvPr id="15" name="report-card-orange">
            <a:extLst xmlns:a="http://schemas.openxmlformats.org/drawingml/2006/main">
              <a:ext uri="{FF2B5EF4-FFF2-40B4-BE49-F238E27FC236}">
                <a16:creationId xmlns:a16="http://schemas.microsoft.com/office/drawing/2014/main" id="{9F582882-6E9C-4D93-8DCC-9FDEE65D7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6905625"/>
            <a:ext cx="27813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F97316"/>
                </a:solidFill>
                <a:latin typeface="Noto Sans KR"/>
                <a:ea typeface="Noto Sans KR"/>
                <a:cs typeface="Noto Sans KR"/>
              </a:defRPr>
            </a:pPr>
            <a:r>
              <a:rPr sz="1175" b="1" i="0">
                <a:solidFill>
                  <a:srgbClr val="F97316"/>
                </a:solidFill>
                <a:latin typeface="Noto Sans KR"/>
                <a:ea typeface="Noto Sans KR"/>
                <a:cs typeface="Noto Sans KR"/>
              </a:rPr>
              <a:t>계약 전 단가 검증</a:t>
            </a:r>
          </a:p>
        </p:txBody>
      </p:sp>
      <p:sp>
        <p:nvSpPr>
          <p:cNvPr id="16" name="map-card">
            <a:extLst xmlns:a="http://schemas.openxmlformats.org/drawingml/2006/main">
              <a:ext uri="{FF2B5EF4-FFF2-40B4-BE49-F238E27FC236}">
                <a16:creationId xmlns:a16="http://schemas.microsoft.com/office/drawing/2014/main" id="{60160296-0010-438C-8C26-7EBA5D46F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925" y="6000750"/>
            <a:ext cx="381952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7" name="map-card-title">
            <a:extLst xmlns:a="http://schemas.openxmlformats.org/drawingml/2006/main">
              <a:ext uri="{FF2B5EF4-FFF2-40B4-BE49-F238E27FC236}">
                <a16:creationId xmlns:a16="http://schemas.microsoft.com/office/drawing/2014/main" id="{BE455A73-544C-45BA-A88B-6981407DE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6257925"/>
            <a:ext cx="2457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defRPr>
            </a:pPr>
            <a:r>
              <a:rPr sz="1175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rPr>
              <a:t>운영 중 원칙</a:t>
            </a:r>
          </a:p>
        </p:txBody>
      </p:sp>
      <p:sp>
        <p:nvSpPr>
          <p:cNvPr id="18" name="map-card-body">
            <a:extLst xmlns:a="http://schemas.openxmlformats.org/drawingml/2006/main">
              <a:ext uri="{FF2B5EF4-FFF2-40B4-BE49-F238E27FC236}">
                <a16:creationId xmlns:a16="http://schemas.microsoft.com/office/drawing/2014/main" id="{0E481C2C-4BC3-4728-82FE-9D729B778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6629400"/>
            <a:ext cx="31051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175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월별 집행·KPI</a:t>
            </a:r>
          </a:p>
          <a:p xmlns:a="http://schemas.openxmlformats.org/drawingml/2006/main">
            <a:pPr algn="l">
              <a:buNone/>
              <a:defRPr sz="1125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175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같은 기준으로 비교</a:t>
            </a:r>
          </a:p>
        </p:txBody>
      </p:sp>
      <p:sp>
        <p:nvSpPr>
          <p:cNvPr id="19" name="map-card-orange">
            <a:extLst xmlns:a="http://schemas.openxmlformats.org/drawingml/2006/main">
              <a:ext uri="{FF2B5EF4-FFF2-40B4-BE49-F238E27FC236}">
                <a16:creationId xmlns:a16="http://schemas.microsoft.com/office/drawing/2014/main" id="{40E98527-DF47-4B36-8CA4-81AD0B8A3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6905625"/>
            <a:ext cx="27813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F97316"/>
                </a:solidFill>
                <a:latin typeface="Noto Sans KR"/>
                <a:ea typeface="Noto Sans KR"/>
                <a:cs typeface="Noto Sans KR"/>
              </a:defRPr>
            </a:pPr>
            <a:r>
              <a:rPr sz="1175" b="1" i="0">
                <a:solidFill>
                  <a:srgbClr val="F97316"/>
                </a:solidFill>
                <a:latin typeface="Noto Sans KR"/>
                <a:ea typeface="Noto Sans KR"/>
                <a:cs typeface="Noto Sans KR"/>
              </a:rPr>
              <a:t>성과에 따라 조정</a:t>
            </a:r>
          </a:p>
        </p:txBody>
      </p:sp>
      <p:sp>
        <p:nvSpPr>
          <p:cNvPr id="20" name="budget-table-title">
            <a:extLst xmlns:a="http://schemas.openxmlformats.org/drawingml/2006/main">
              <a:ext uri="{FF2B5EF4-FFF2-40B4-BE49-F238E27FC236}">
                <a16:creationId xmlns:a16="http://schemas.microsoft.com/office/drawing/2014/main" id="{4B7C0E87-B747-49E5-9D6E-792885445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12001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6개월 시범 견적 · 총 2.40억 원</a:t>
            </a:r>
          </a:p>
        </p:txBody>
      </p:sp>
      <p:graphicFrame>
        <p:nvGraphicFramePr>
          <p:cNvPr id="43" name=""/>
          <p:cNvGraphicFramePr/>
          <p:nvPr/>
        </p:nvGraphicFramePr>
        <p:xfrm>
          <a:off xmlns:a="http://schemas.openxmlformats.org/drawingml/2006/main" x="9763125" y="1695450"/>
          <a:ext xmlns:a="http://schemas.openxmlformats.org/drawingml/2006/main" cx="4810125" cy="4905375"/>
        </p:xfrm>
        <a:graphic xmlns:a="http://schemas.openxmlformats.org/drawingml/2006/main">
          <a:graphicData uri="http://schemas.openxmlformats.org/drawingml/2006/table">
            <a:tbl>
              <a:tblPr firstRow="1" firstCol="1" lastRow="1" bandRow="1"/>
              <a:tblGrid>
                <a:gridCol w="2257425"/>
                <a:gridCol w="1143000"/>
                <a:gridCol w="1409700"/>
              </a:tblGrid>
              <a:tr h="533400">
                <a:tc>
                  <a:txBody>
                    <a:bodyPr/>
                    <a:lstStyle/>
                    <a:p>
                      <a:pPr/>
                      <a:r>
                        <a:rPr sz="1050" b="1">
                          <a:solidFill>
                            <a:srgbClr val="FFFFFF"/>
                          </a:solidFill>
                          <a:latin typeface="Noto Sans KR"/>
                        </a:rPr>
                        <a:t>세부 항목</a:t>
                      </a:r>
                    </a:p>
                  </a:txBody>
                  <a:tcPr marL="91440" marR="91440" marT="45720" marB="45720">
                    <a:solidFill>
                      <a:srgbClr val="004EA2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050" b="1">
                          <a:solidFill>
                            <a:srgbClr val="FFFFFF"/>
                          </a:solidFill>
                          <a:latin typeface="Noto Sans KR"/>
                        </a:rPr>
                        <a:t>예산 비중</a:t>
                      </a:r>
                    </a:p>
                  </a:txBody>
                  <a:tcPr marL="91440" marR="91440" marT="45720" marB="45720">
                    <a:solidFill>
                      <a:srgbClr val="004EA2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050" b="1">
                          <a:solidFill>
                            <a:srgbClr val="FFFFFF"/>
                          </a:solidFill>
                          <a:latin typeface="Noto Sans KR"/>
                        </a:rPr>
                        <a:t>금액</a:t>
                      </a:r>
                    </a:p>
                  </a:txBody>
                  <a:tcPr marL="91440" marR="91440" marT="45720" marB="45720">
                    <a:solidFill>
                      <a:srgbClr val="004EA2"/>
                    </a:solidFill>
                  </a:tcPr>
                </a:tc>
              </a:tr>
              <a:tr h="485775">
                <a:tc>
                  <a:txBody>
                    <a:bodyPr/>
                    <a:lstStyle/>
                    <a:p>
                      <a:pPr/>
                      <a:r>
                        <a:rPr sz="975">
                          <a:solidFill>
                            <a:srgbClr val="1B1F23"/>
                          </a:solidFill>
                          <a:latin typeface="Noto Sans KR"/>
                        </a:rPr>
                        <a:t>프로그램 운영·안전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975" b="1">
                          <a:solidFill>
                            <a:srgbClr val="1B1F23"/>
                          </a:solidFill>
                          <a:latin typeface="Noto Sans KR"/>
                        </a:rPr>
                        <a:t>45.00%</a:t>
                      </a:r>
                    </a:p>
                  </a:txBody>
                  <a:tcPr marL="91440" marR="91440" marT="45720" marB="45720">
                    <a:solidFill>
                      <a:srgbClr val="EEF9FA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975" b="1">
                          <a:solidFill>
                            <a:srgbClr val="1B1F23"/>
                          </a:solidFill>
                          <a:latin typeface="Noto Sans KR"/>
                        </a:rPr>
                        <a:t>1.08억 원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85775">
                <a:tc>
                  <a:txBody>
                    <a:bodyPr/>
                    <a:lstStyle/>
                    <a:p>
                      <a:pPr/>
                      <a:r>
                        <a:rPr sz="975">
                          <a:solidFill>
                            <a:srgbClr val="1B1F23"/>
                          </a:solidFill>
                          <a:latin typeface="Noto Sans KR"/>
                        </a:rPr>
                        <a:t>참여 혜택</a:t>
                      </a:r>
                    </a:p>
                  </a:txBody>
                  <a:tcPr marL="91440" marR="91440" marT="45720" marB="45720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975" b="1">
                          <a:solidFill>
                            <a:srgbClr val="1B1F23"/>
                          </a:solidFill>
                          <a:latin typeface="Noto Sans KR"/>
                        </a:rPr>
                        <a:t>25.00%</a:t>
                      </a:r>
                    </a:p>
                  </a:txBody>
                  <a:tcPr marL="91440" marR="91440" marT="45720" marB="45720">
                    <a:solidFill>
                      <a:srgbClr val="EEF9FA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975" b="1">
                          <a:solidFill>
                            <a:srgbClr val="1B1F23"/>
                          </a:solidFill>
                          <a:latin typeface="Noto Sans KR"/>
                        </a:rPr>
                        <a:t>0.60억 원</a:t>
                      </a:r>
                    </a:p>
                  </a:txBody>
                  <a:tcPr marL="91440" marR="91440" marT="45720" marB="45720">
                    <a:solidFill>
                      <a:srgbClr val="F5F8FB"/>
                    </a:solidFill>
                  </a:tcPr>
                </a:tc>
              </a:tr>
              <a:tr h="485775">
                <a:tc>
                  <a:txBody>
                    <a:bodyPr/>
                    <a:lstStyle/>
                    <a:p>
                      <a:pPr/>
                      <a:r>
                        <a:rPr sz="975">
                          <a:solidFill>
                            <a:srgbClr val="1B1F23"/>
                          </a:solidFill>
                          <a:latin typeface="Noto Sans KR"/>
                        </a:rPr>
                        <a:t>예약·결제 연동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975" b="1">
                          <a:solidFill>
                            <a:srgbClr val="1B1F23"/>
                          </a:solidFill>
                          <a:latin typeface="Noto Sans KR"/>
                        </a:rPr>
                        <a:t>11.67%</a:t>
                      </a:r>
                    </a:p>
                  </a:txBody>
                  <a:tcPr marL="91440" marR="91440" marT="45720" marB="45720">
                    <a:solidFill>
                      <a:srgbClr val="EEF9FA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975" b="1">
                          <a:solidFill>
                            <a:srgbClr val="1B1F23"/>
                          </a:solidFill>
                          <a:latin typeface="Noto Sans KR"/>
                        </a:rPr>
                        <a:t>0.28억 원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85775">
                <a:tc>
                  <a:txBody>
                    <a:bodyPr/>
                    <a:lstStyle/>
                    <a:p>
                      <a:pPr/>
                      <a:r>
                        <a:rPr sz="975">
                          <a:solidFill>
                            <a:srgbClr val="1B1F23"/>
                          </a:solidFill>
                          <a:latin typeface="Noto Sans KR"/>
                        </a:rPr>
                        <a:t>홍보·다국어 콘텐츠</a:t>
                      </a:r>
                    </a:p>
                  </a:txBody>
                  <a:tcPr marL="91440" marR="91440" marT="45720" marB="45720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975" b="1">
                          <a:solidFill>
                            <a:srgbClr val="1B1F23"/>
                          </a:solidFill>
                          <a:latin typeface="Noto Sans KR"/>
                        </a:rPr>
                        <a:t>9.17%</a:t>
                      </a:r>
                    </a:p>
                  </a:txBody>
                  <a:tcPr marL="91440" marR="91440" marT="45720" marB="45720">
                    <a:solidFill>
                      <a:srgbClr val="EEF9FA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975" b="1">
                          <a:solidFill>
                            <a:srgbClr val="1B1F23"/>
                          </a:solidFill>
                          <a:latin typeface="Noto Sans KR"/>
                        </a:rPr>
                        <a:t>0.22억 원</a:t>
                      </a:r>
                    </a:p>
                  </a:txBody>
                  <a:tcPr marL="91440" marR="91440" marT="45720" marB="45720">
                    <a:solidFill>
                      <a:srgbClr val="F5F8FB"/>
                    </a:solidFill>
                  </a:tcPr>
                </a:tc>
              </a:tr>
              <a:tr h="485775">
                <a:tc>
                  <a:txBody>
                    <a:bodyPr/>
                    <a:lstStyle/>
                    <a:p>
                      <a:pPr/>
                      <a:r>
                        <a:rPr sz="975">
                          <a:solidFill>
                            <a:srgbClr val="1B1F23"/>
                          </a:solidFill>
                          <a:latin typeface="Noto Sans KR"/>
                        </a:rPr>
                        <a:t>성과 측정·검토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975" b="1">
                          <a:solidFill>
                            <a:srgbClr val="1B1F23"/>
                          </a:solidFill>
                          <a:latin typeface="Noto Sans KR"/>
                        </a:rPr>
                        <a:t>5.83%</a:t>
                      </a:r>
                    </a:p>
                  </a:txBody>
                  <a:tcPr marL="91440" marR="91440" marT="45720" marB="45720">
                    <a:solidFill>
                      <a:srgbClr val="EEF9FA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975" b="1">
                          <a:solidFill>
                            <a:srgbClr val="1B1F23"/>
                          </a:solidFill>
                          <a:latin typeface="Noto Sans KR"/>
                        </a:rPr>
                        <a:t>0.14억 원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85775">
                <a:tc>
                  <a:txBody>
                    <a:bodyPr/>
                    <a:lstStyle/>
                    <a:p>
                      <a:pPr/>
                      <a:r>
                        <a:rPr sz="975">
                          <a:solidFill>
                            <a:srgbClr val="1B1F23"/>
                          </a:solidFill>
                          <a:latin typeface="Noto Sans KR"/>
                        </a:rPr>
                        <a:t>예비비</a:t>
                      </a:r>
                    </a:p>
                  </a:txBody>
                  <a:tcPr marL="91440" marR="91440" marT="45720" marB="45720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975" b="1">
                          <a:solidFill>
                            <a:srgbClr val="1B1F23"/>
                          </a:solidFill>
                          <a:latin typeface="Noto Sans KR"/>
                        </a:rPr>
                        <a:t>3.33%</a:t>
                      </a:r>
                    </a:p>
                  </a:txBody>
                  <a:tcPr marL="91440" marR="91440" marT="45720" marB="45720">
                    <a:solidFill>
                      <a:srgbClr val="EEF9FA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975" b="1">
                          <a:solidFill>
                            <a:srgbClr val="1B1F23"/>
                          </a:solidFill>
                          <a:latin typeface="Noto Sans KR"/>
                        </a:rPr>
                        <a:t>0.08억 원</a:t>
                      </a:r>
                    </a:p>
                  </a:txBody>
                  <a:tcPr marL="91440" marR="91440" marT="45720" marB="45720">
                    <a:solidFill>
                      <a:srgbClr val="F5F8FB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pPr/>
                      <a:r>
                        <a:rPr sz="1050" b="1">
                          <a:solidFill>
                            <a:srgbClr val="004EA2"/>
                          </a:solidFill>
                          <a:latin typeface="Noto Sans KR"/>
                        </a:rPr>
                        <a:t>합계</a:t>
                      </a:r>
                    </a:p>
                  </a:txBody>
                  <a:tcPr marL="91440" marR="91440" marT="45720" marB="45720">
                    <a:solidFill>
                      <a:srgbClr val="DDF4F7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050" b="1">
                          <a:solidFill>
                            <a:srgbClr val="004EA2"/>
                          </a:solidFill>
                          <a:latin typeface="Noto Sans KR"/>
                        </a:rPr>
                        <a:t>100.00%</a:t>
                      </a:r>
                    </a:p>
                  </a:txBody>
                  <a:tcPr marL="91440" marR="91440" marT="45720" marB="45720">
                    <a:solidFill>
                      <a:srgbClr val="DDF4F7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050" b="1">
                          <a:solidFill>
                            <a:srgbClr val="004EA2"/>
                          </a:solidFill>
                          <a:latin typeface="Noto Sans KR"/>
                        </a:rPr>
                        <a:t>2.40억 원</a:t>
                      </a:r>
                    </a:p>
                  </a:txBody>
                  <a:tcPr marL="91440" marR="91440" marT="45720" marB="45720">
                    <a:solidFill>
                      <a:srgbClr val="DDF4F7"/>
                    </a:solidFill>
                  </a:tcPr>
                </a:tc>
              </a:tr>
            </a:tbl>
          </a:graphicData>
        </a:graphic>
      </p:graphicFrame>
      <p:sp>
        <p:nvSpPr>
          <p:cNvPr id="22" name="budget-table-note">
            <a:extLst xmlns:a="http://schemas.openxmlformats.org/drawingml/2006/main">
              <a:ext uri="{FF2B5EF4-FFF2-40B4-BE49-F238E27FC236}">
                <a16:creationId xmlns:a16="http://schemas.microsoft.com/office/drawing/2014/main" id="{93D0AAD8-9B43-408B-B46B-CE7F4F014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858000"/>
            <a:ext cx="457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 i="1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950" b="0" i="1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※ 실제 집행 전 비교견적·부가세·계약 조건을 확정합니다.</a:t>
            </a:r>
          </a:p>
        </p:txBody>
      </p:sp>
    </p:spTree>
    <p:extLst>
      <p:ext uri="{BB962C8B-B14F-4D97-AF65-F5344CB8AC3E}">
        <p14:creationId xmlns:p14="http://schemas.microsoft.com/office/powerpoint/2010/main" val="182313334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title">
            <a:extLst xmlns:a="http://schemas.openxmlformats.org/drawingml/2006/main">
              <a:ext uri="{FF2B5EF4-FFF2-40B4-BE49-F238E27FC236}">
                <a16:creationId xmlns:a16="http://schemas.microsoft.com/office/drawing/2014/main" id="{7809EB03-E1D8-4B3D-96C4-AA327A201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7560" y="1946910"/>
            <a:ext cx="8558784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85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285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기대 효과 및 확대 판단</a:t>
            </a:r>
          </a:p>
        </p:txBody>
      </p:sp>
      <p:sp>
        <p:nvSpPr>
          <p:cNvPr id="2" name="column-line-1">
            <a:extLst xmlns:a="http://schemas.openxmlformats.org/drawingml/2006/main">
              <a:ext uri="{FF2B5EF4-FFF2-40B4-BE49-F238E27FC236}">
                <a16:creationId xmlns:a16="http://schemas.microsoft.com/office/drawing/2014/main" id="{7AF7F9BF-3A99-474E-A050-C5588CC74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051810"/>
            <a:ext cx="0" cy="3638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7DEE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column-line-2">
            <a:extLst xmlns:a="http://schemas.openxmlformats.org/drawingml/2006/main">
              <a:ext uri="{FF2B5EF4-FFF2-40B4-BE49-F238E27FC236}">
                <a16:creationId xmlns:a16="http://schemas.microsoft.com/office/drawing/2014/main" id="{66D57082-5011-45CA-9E18-88DF7DD77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3051810"/>
            <a:ext cx="0" cy="3638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7DEE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expected-pill">
            <a:extLst xmlns:a="http://schemas.openxmlformats.org/drawingml/2006/main">
              <a:ext uri="{FF2B5EF4-FFF2-40B4-BE49-F238E27FC236}">
                <a16:creationId xmlns:a16="http://schemas.microsoft.com/office/drawing/2014/main" id="{07AC9F43-995E-47B2-B264-6586997C5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51810"/>
            <a:ext cx="4048125" cy="466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4EA2"/>
          </a:solidFill>
          <a:ln xmlns:a="http://schemas.openxmlformats.org/drawingml/2006/main" w="9525">
            <a:solidFill>
              <a:srgbClr val="004EA2"/>
            </a:solidFill>
            <a:prstDash val="solid"/>
          </a:ln>
        </p:spPr>
        <p:txBody>
          <a:bodyPr xmlns:a="http://schemas.openxmlformats.org/drawingml/2006/main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3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1. 시범에서 확인할 변화</a:t>
            </a:r>
          </a:p>
        </p:txBody>
      </p:sp>
      <p:sp>
        <p:nvSpPr>
          <p:cNvPr id="5" name="expected-card">
            <a:extLst xmlns:a="http://schemas.openxmlformats.org/drawingml/2006/main">
              <a:ext uri="{FF2B5EF4-FFF2-40B4-BE49-F238E27FC236}">
                <a16:creationId xmlns:a16="http://schemas.microsoft.com/office/drawing/2014/main" id="{D2C6D383-FF5C-4128-AE40-7ECFDDEF1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13810"/>
            <a:ext cx="4048125" cy="1276350"/>
          </a:xfrm>
          <a:prstGeom xmlns:a="http://schemas.openxmlformats.org/drawingml/2006/main" prst="roundRect">
            <a:avLst>
              <a:gd name="adj" fmla="val 597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expected-body">
            <a:extLst xmlns:a="http://schemas.openxmlformats.org/drawingml/2006/main">
              <a:ext uri="{FF2B5EF4-FFF2-40B4-BE49-F238E27FC236}">
                <a16:creationId xmlns:a16="http://schemas.microsoft.com/office/drawing/2014/main" id="{36A6D734-2976-4831-B0D4-1AE2CBC11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213860"/>
            <a:ext cx="34861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 lnSpcReduction="2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35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방문자가 지역 안에서 이동하고 소비할 이유를 명확히 만들며, 실제 운영 결과를 바탕으로 확대 여부를 판단할 수 있습니다.</a:t>
            </a:r>
          </a:p>
        </p:txBody>
      </p:sp>
      <p:sp>
        <p:nvSpPr>
          <p:cNvPr id="7" name="indicator-pill">
            <a:extLst xmlns:a="http://schemas.openxmlformats.org/drawingml/2006/main">
              <a:ext uri="{FF2B5EF4-FFF2-40B4-BE49-F238E27FC236}">
                <a16:creationId xmlns:a16="http://schemas.microsoft.com/office/drawing/2014/main" id="{2AA1FD02-C801-4C5E-96B8-C2B7A85F2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471160"/>
            <a:ext cx="4048125" cy="466725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D7DEE5"/>
            </a:solidFill>
            <a:prstDash val="solid"/>
          </a:ln>
        </p:spPr>
        <p:txBody>
          <a:bodyPr xmlns:a="http://schemas.openxmlformats.org/drawingml/2006/main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250" b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기록할 핵심 항목</a:t>
            </a:r>
          </a:p>
        </p:txBody>
      </p:sp>
      <p:sp>
        <p:nvSpPr>
          <p:cNvPr id="8" name="indicator-circle-0">
            <a:extLst xmlns:a="http://schemas.openxmlformats.org/drawingml/2006/main">
              <a:ext uri="{FF2B5EF4-FFF2-40B4-BE49-F238E27FC236}">
                <a16:creationId xmlns:a16="http://schemas.microsoft.com/office/drawing/2014/main" id="{B5AA79C5-B445-4282-8187-486E81F24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6204585"/>
            <a:ext cx="495300" cy="495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4EA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indicator-glyph-0">
            <a:extLst xmlns:a="http://schemas.openxmlformats.org/drawingml/2006/main">
              <a:ext uri="{FF2B5EF4-FFF2-40B4-BE49-F238E27FC236}">
                <a16:creationId xmlns:a16="http://schemas.microsoft.com/office/drawing/2014/main" id="{9B4A4D83-3DB0-474E-9D3C-195E6DC3A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627126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250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완</a:t>
            </a:r>
          </a:p>
        </p:txBody>
      </p:sp>
      <p:sp>
        <p:nvSpPr>
          <p:cNvPr id="10" name="indicator-circle-1">
            <a:extLst xmlns:a="http://schemas.openxmlformats.org/drawingml/2006/main">
              <a:ext uri="{FF2B5EF4-FFF2-40B4-BE49-F238E27FC236}">
                <a16:creationId xmlns:a16="http://schemas.microsoft.com/office/drawing/2014/main" id="{B719D672-73A0-4417-8018-07989F704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6204585"/>
            <a:ext cx="495300" cy="495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4EA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indicator-glyph-1">
            <a:extLst xmlns:a="http://schemas.openxmlformats.org/drawingml/2006/main">
              <a:ext uri="{FF2B5EF4-FFF2-40B4-BE49-F238E27FC236}">
                <a16:creationId xmlns:a16="http://schemas.microsoft.com/office/drawing/2014/main" id="{596F5692-71BF-434F-958A-89B6868A9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627126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250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결</a:t>
            </a:r>
          </a:p>
        </p:txBody>
      </p:sp>
      <p:sp>
        <p:nvSpPr>
          <p:cNvPr id="12" name="indicator-circle-2">
            <a:extLst xmlns:a="http://schemas.openxmlformats.org/drawingml/2006/main">
              <a:ext uri="{FF2B5EF4-FFF2-40B4-BE49-F238E27FC236}">
                <a16:creationId xmlns:a16="http://schemas.microsoft.com/office/drawing/2014/main" id="{2AC0D30B-DDD4-4E74-A314-636D7CF51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425" y="6204585"/>
            <a:ext cx="495300" cy="495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4EA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indicator-glyph-2">
            <a:extLst xmlns:a="http://schemas.openxmlformats.org/drawingml/2006/main">
              <a:ext uri="{FF2B5EF4-FFF2-40B4-BE49-F238E27FC236}">
                <a16:creationId xmlns:a16="http://schemas.microsoft.com/office/drawing/2014/main" id="{93B5A93F-29C9-4AE1-AA73-2BE737B4F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627126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250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원</a:t>
            </a:r>
          </a:p>
        </p:txBody>
      </p:sp>
      <p:sp>
        <p:nvSpPr>
          <p:cNvPr id="14" name="indicator-circle-3">
            <a:extLst xmlns:a="http://schemas.openxmlformats.org/drawingml/2006/main">
              <a:ext uri="{FF2B5EF4-FFF2-40B4-BE49-F238E27FC236}">
                <a16:creationId xmlns:a16="http://schemas.microsoft.com/office/drawing/2014/main" id="{E235D51A-DF5E-4DB8-810A-B9FE10526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6204585"/>
            <a:ext cx="495300" cy="495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4EA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indicator-glyph-3">
            <a:extLst xmlns:a="http://schemas.openxmlformats.org/drawingml/2006/main">
              <a:ext uri="{FF2B5EF4-FFF2-40B4-BE49-F238E27FC236}">
                <a16:creationId xmlns:a16="http://schemas.microsoft.com/office/drawing/2014/main" id="{1CA00698-1BA7-4C47-B7D1-49D23AAA7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627126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250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민</a:t>
            </a:r>
          </a:p>
        </p:txBody>
      </p:sp>
      <p:sp>
        <p:nvSpPr>
          <p:cNvPr id="16" name="indicator-circle-4">
            <a:extLst xmlns:a="http://schemas.openxmlformats.org/drawingml/2006/main">
              <a:ext uri="{FF2B5EF4-FFF2-40B4-BE49-F238E27FC236}">
                <a16:creationId xmlns:a16="http://schemas.microsoft.com/office/drawing/2014/main" id="{223D3B08-E01D-4662-8D68-EC230DF98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6204585"/>
            <a:ext cx="495300" cy="495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C1D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7" name="indicator-glyph-4">
            <a:extLst xmlns:a="http://schemas.openxmlformats.org/drawingml/2006/main">
              <a:ext uri="{FF2B5EF4-FFF2-40B4-BE49-F238E27FC236}">
                <a16:creationId xmlns:a16="http://schemas.microsoft.com/office/drawing/2014/main" id="{AC65B1CB-640D-4DE4-93B2-1B5C183D8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627126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250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비</a:t>
            </a:r>
          </a:p>
        </p:txBody>
      </p:sp>
      <p:sp>
        <p:nvSpPr>
          <p:cNvPr id="18" name="indicator-circle-5">
            <a:extLst xmlns:a="http://schemas.openxmlformats.org/drawingml/2006/main">
              <a:ext uri="{FF2B5EF4-FFF2-40B4-BE49-F238E27FC236}">
                <a16:creationId xmlns:a16="http://schemas.microsoft.com/office/drawing/2014/main" id="{6019C75D-1FC2-4667-B692-DDD073C85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6204585"/>
            <a:ext cx="495300" cy="495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0D4D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9" name="indicator-glyph-5">
            <a:extLst xmlns:a="http://schemas.openxmlformats.org/drawingml/2006/main">
              <a:ext uri="{FF2B5EF4-FFF2-40B4-BE49-F238E27FC236}">
                <a16:creationId xmlns:a16="http://schemas.microsoft.com/office/drawing/2014/main" id="{C7AF409C-91A3-4936-BB4D-7B2527552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627126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250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협</a:t>
            </a:r>
          </a:p>
        </p:txBody>
      </p:sp>
      <p:sp>
        <p:nvSpPr>
          <p:cNvPr id="20" name="service-pill">
            <a:extLst xmlns:a="http://schemas.openxmlformats.org/drawingml/2006/main">
              <a:ext uri="{FF2B5EF4-FFF2-40B4-BE49-F238E27FC236}">
                <a16:creationId xmlns:a16="http://schemas.microsoft.com/office/drawing/2014/main" id="{FBBEFB7E-A7FD-4723-AE5B-8D907756F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775" y="3051810"/>
            <a:ext cx="3648075" cy="466725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D7DEE5"/>
            </a:solidFill>
            <a:prstDash val="solid"/>
          </a:ln>
        </p:spPr>
        <p:txBody>
          <a:bodyPr xmlns:a="http://schemas.openxmlformats.org/drawingml/2006/main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325" b="1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2. 월별 확대 판단 게이트</a:t>
            </a:r>
          </a:p>
        </p:txBody>
      </p:sp>
      <p:sp>
        <p:nvSpPr>
          <p:cNvPr id="21" name="service-body">
            <a:extLst xmlns:a="http://schemas.openxmlformats.org/drawingml/2006/main">
              <a:ext uri="{FF2B5EF4-FFF2-40B4-BE49-F238E27FC236}">
                <a16:creationId xmlns:a16="http://schemas.microsoft.com/office/drawing/2014/main" id="{0599DDA5-9C77-4328-A928-CB50C56FA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775" y="4937760"/>
            <a:ext cx="36480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547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135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월별 기록을 기준선·운영일·비운영일로 나눠 보고, 사전 상한을 충족하는지 판단합니다.</a:t>
            </a:r>
          </a:p>
        </p:txBody>
      </p:sp>
      <p:sp>
        <p:nvSpPr>
          <p:cNvPr id="22" name="service-note">
            <a:extLst xmlns:a="http://schemas.openxmlformats.org/drawingml/2006/main">
              <a:ext uri="{FF2B5EF4-FFF2-40B4-BE49-F238E27FC236}">
                <a16:creationId xmlns:a16="http://schemas.microsoft.com/office/drawing/2014/main" id="{880D0D04-81DF-42E1-BC18-56D5BF8F2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775" y="5452110"/>
            <a:ext cx="36480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050" b="0" i="1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0" i="1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* 목표치와 자연추세를 구분하고, 비교 설계가 약하면 효과를 단정하지 않습니다.</a:t>
            </a:r>
          </a:p>
        </p:txBody>
      </p:sp>
      <p:sp>
        <p:nvSpPr>
          <p:cNvPr id="23" name="service-scope">
            <a:extLst xmlns:a="http://schemas.openxmlformats.org/drawingml/2006/main">
              <a:ext uri="{FF2B5EF4-FFF2-40B4-BE49-F238E27FC236}">
                <a16:creationId xmlns:a16="http://schemas.microsoft.com/office/drawing/2014/main" id="{3F7087DF-6EBD-4030-AAA5-C6BF09BE7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775" y="6233160"/>
            <a:ext cx="3648075" cy="466725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00C1D4"/>
            </a:solidFill>
            <a:prstDash val="solid"/>
          </a:ln>
        </p:spPr>
        <p:txBody>
          <a:bodyPr xmlns:a="http://schemas.openxmlformats.org/drawingml/2006/main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250" b="1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의사결정: 월별 근거 공개</a:t>
            </a:r>
          </a:p>
        </p:txBody>
      </p:sp>
      <p:sp>
        <p:nvSpPr>
          <p:cNvPr id="24" name="private-pill">
            <a:extLst xmlns:a="http://schemas.openxmlformats.org/drawingml/2006/main">
              <a:ext uri="{FF2B5EF4-FFF2-40B4-BE49-F238E27FC236}">
                <a16:creationId xmlns:a16="http://schemas.microsoft.com/office/drawing/2014/main" id="{ECE9BD08-611B-4247-AFD8-D71CC91EC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3051810"/>
            <a:ext cx="4048125" cy="466725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D7DEE5"/>
            </a:solidFill>
            <a:prstDash val="solid"/>
          </a:ln>
        </p:spPr>
        <p:txBody>
          <a:bodyPr xmlns:a="http://schemas.openxmlformats.org/drawingml/2006/main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325" b="1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3. 데이터 협약 후 단계 확장</a:t>
            </a:r>
          </a:p>
        </p:txBody>
      </p:sp>
      <p:sp>
        <p:nvSpPr>
          <p:cNvPr id="25" name="private-body">
            <a:extLst xmlns:a="http://schemas.openxmlformats.org/drawingml/2006/main">
              <a:ext uri="{FF2B5EF4-FFF2-40B4-BE49-F238E27FC236}">
                <a16:creationId xmlns:a16="http://schemas.microsoft.com/office/drawing/2014/main" id="{FC8E1C19-1A9B-4031-B62F-74F7EE459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3975735"/>
            <a:ext cx="4048125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35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숙박·외국인·민간결제 데이터는 제휴 범위와 개인정보 검토가 끝난 항목부터 연결합니다.</a:t>
            </a:r>
          </a:p>
        </p:txBody>
      </p:sp>
      <p:sp>
        <p:nvSpPr>
          <p:cNvPr id="26" name="private-info">
            <a:extLst xmlns:a="http://schemas.openxmlformats.org/drawingml/2006/main">
              <a:ext uri="{FF2B5EF4-FFF2-40B4-BE49-F238E27FC236}">
                <a16:creationId xmlns:a16="http://schemas.microsoft.com/office/drawing/2014/main" id="{D48F3C63-9D79-481C-991B-B8716C1F1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39600" y="4652010"/>
            <a:ext cx="17145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4EA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7" name="private-info-label">
            <a:extLst xmlns:a="http://schemas.openxmlformats.org/drawingml/2006/main">
              <a:ext uri="{FF2B5EF4-FFF2-40B4-BE49-F238E27FC236}">
                <a16:creationId xmlns:a16="http://schemas.microsoft.com/office/drawing/2014/main" id="{A5D8162B-C8F7-4F75-8A4B-B9894BFF7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7700" y="4652010"/>
            <a:ext cx="95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i</a:t>
            </a:r>
          </a:p>
        </p:txBody>
      </p:sp>
      <p:sp>
        <p:nvSpPr>
          <p:cNvPr id="28" name="private-goal">
            <a:extLst xmlns:a="http://schemas.openxmlformats.org/drawingml/2006/main">
              <a:ext uri="{FF2B5EF4-FFF2-40B4-BE49-F238E27FC236}">
                <a16:creationId xmlns:a16="http://schemas.microsoft.com/office/drawing/2014/main" id="{3909FDE3-5FF2-4500-AD50-B44FF021B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5423535"/>
            <a:ext cx="34385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F97316"/>
                </a:solidFill>
                <a:latin typeface="Noto Sans KR"/>
                <a:ea typeface="Noto Sans KR"/>
                <a:cs typeface="Noto Sans KR"/>
              </a:defRPr>
            </a:pPr>
            <a:r>
              <a:rPr sz="1250" b="1" i="0">
                <a:solidFill>
                  <a:srgbClr val="F97316"/>
                </a:solidFill>
                <a:latin typeface="Noto Sans KR"/>
                <a:ea typeface="Noto Sans KR"/>
                <a:cs typeface="Noto Sans KR"/>
              </a:rPr>
              <a:t>핵심: 확인된 근거에서만 예산 확대</a:t>
            </a:r>
          </a:p>
        </p:txBody>
      </p:sp>
      <p:sp>
        <p:nvSpPr>
          <p:cNvPr id="29" name="private-scope">
            <a:extLst xmlns:a="http://schemas.openxmlformats.org/drawingml/2006/main">
              <a:ext uri="{FF2B5EF4-FFF2-40B4-BE49-F238E27FC236}">
                <a16:creationId xmlns:a16="http://schemas.microsoft.com/office/drawing/2014/main" id="{F2BCDD9E-4568-4754-A8AC-9B695D88B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6233160"/>
            <a:ext cx="4048125" cy="466725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FF6B00"/>
            </a:solidFill>
            <a:prstDash val="solid"/>
          </a:ln>
        </p:spPr>
        <p:txBody>
          <a:bodyPr xmlns:a="http://schemas.openxmlformats.org/drawingml/2006/main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97316"/>
                </a:solidFill>
                <a:latin typeface="Noto Sans KR"/>
                <a:ea typeface="Noto Sans KR"/>
                <a:cs typeface="Noto Sans KR"/>
              </a:defRPr>
            </a:pPr>
            <a:r>
              <a:rPr sz="1250" b="1">
                <a:solidFill>
                  <a:srgbClr val="F97316"/>
                </a:solidFill>
                <a:latin typeface="Noto Sans KR"/>
                <a:ea typeface="Noto Sans KR"/>
                <a:cs typeface="Noto Sans KR"/>
              </a:rPr>
              <a:t>원칙: 효과를 단정하지 않음</a:t>
            </a:r>
          </a:p>
        </p:txBody>
      </p:sp>
      <p:sp>
        <p:nvSpPr>
          <p:cNvPr id="31" name="decision-indicator-legend">
            <a:extLst xmlns:a="http://schemas.openxmlformats.org/drawingml/2006/main">
              <a:ext uri="{FF2B5EF4-FFF2-40B4-BE49-F238E27FC236}">
                <a16:creationId xmlns:a16="http://schemas.microsoft.com/office/drawing/2014/main" id="{5CE20498-4888-428A-ADD4-4C5EB0C2F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680466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975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025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완료 · 결제 · 원가 · 민원 · 비교 · 협약</a:t>
            </a:r>
          </a:p>
        </p:txBody>
      </p:sp>
      <p:sp>
        <p:nvSpPr>
          <p:cNvPr id="32" name="decision-record-box">
            <a:extLst xmlns:a="http://schemas.openxmlformats.org/drawingml/2006/main">
              <a:ext uri="{FF2B5EF4-FFF2-40B4-BE49-F238E27FC236}">
                <a16:creationId xmlns:a16="http://schemas.microsoft.com/office/drawing/2014/main" id="{4678F96D-DA04-46E7-8BD8-592115110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851910"/>
            <a:ext cx="8763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B7C9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3" name="decision-record-label">
            <a:extLst xmlns:a="http://schemas.openxmlformats.org/drawingml/2006/main">
              <a:ext uri="{FF2B5EF4-FFF2-40B4-BE49-F238E27FC236}">
                <a16:creationId xmlns:a16="http://schemas.microsoft.com/office/drawing/2014/main" id="{A793475A-C866-449C-81D7-59E22867F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2175" y="3937635"/>
            <a:ext cx="781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12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17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기록</a:t>
            </a:r>
          </a:p>
        </p:txBody>
      </p:sp>
      <p:sp>
        <p:nvSpPr>
          <p:cNvPr id="34" name="decision-arrow-1">
            <a:extLst xmlns:a="http://schemas.openxmlformats.org/drawingml/2006/main">
              <a:ext uri="{FF2B5EF4-FFF2-40B4-BE49-F238E27FC236}">
                <a16:creationId xmlns:a16="http://schemas.microsoft.com/office/drawing/2014/main" id="{E4D67867-B59F-4F92-90A6-58F2A652B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92811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F97316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 i="0">
                <a:solidFill>
                  <a:srgbClr val="F97316"/>
                </a:solidFill>
                <a:latin typeface="Noto Sans KR"/>
                <a:ea typeface="Noto Sans KR"/>
                <a:cs typeface="Noto Sans KR"/>
              </a:rPr>
              <a:t>→</a:t>
            </a:r>
          </a:p>
        </p:txBody>
      </p:sp>
      <p:sp>
        <p:nvSpPr>
          <p:cNvPr id="35" name="decision-compare-box">
            <a:extLst xmlns:a="http://schemas.openxmlformats.org/drawingml/2006/main">
              <a:ext uri="{FF2B5EF4-FFF2-40B4-BE49-F238E27FC236}">
                <a16:creationId xmlns:a16="http://schemas.microsoft.com/office/drawing/2014/main" id="{770C43C2-772E-4934-9D28-692A93C1C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851910"/>
            <a:ext cx="8763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7F7FA"/>
          </a:solidFill>
          <a:ln xmlns:a="http://schemas.openxmlformats.org/drawingml/2006/main" w="9525">
            <a:solidFill>
              <a:srgbClr val="00B7C9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6" name="decision-compare-label">
            <a:extLst xmlns:a="http://schemas.openxmlformats.org/drawingml/2006/main">
              <a:ext uri="{FF2B5EF4-FFF2-40B4-BE49-F238E27FC236}">
                <a16:creationId xmlns:a16="http://schemas.microsoft.com/office/drawing/2014/main" id="{ADCC7FC7-781C-4DD0-84DC-A87A07412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937635"/>
            <a:ext cx="781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12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17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비교</a:t>
            </a:r>
          </a:p>
        </p:txBody>
      </p:sp>
      <p:sp>
        <p:nvSpPr>
          <p:cNvPr id="37" name="decision-arrow-2">
            <a:extLst xmlns:a="http://schemas.openxmlformats.org/drawingml/2006/main">
              <a:ext uri="{FF2B5EF4-FFF2-40B4-BE49-F238E27FC236}">
                <a16:creationId xmlns:a16="http://schemas.microsoft.com/office/drawing/2014/main" id="{F41C823F-466A-42C8-8E18-03C208021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92811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F97316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 i="0">
                <a:solidFill>
                  <a:srgbClr val="F97316"/>
                </a:solidFill>
                <a:latin typeface="Noto Sans KR"/>
                <a:ea typeface="Noto Sans KR"/>
                <a:cs typeface="Noto Sans KR"/>
              </a:rPr>
              <a:t>→</a:t>
            </a:r>
          </a:p>
        </p:txBody>
      </p:sp>
      <p:sp>
        <p:nvSpPr>
          <p:cNvPr id="38" name="decision-judge-box">
            <a:extLst xmlns:a="http://schemas.openxmlformats.org/drawingml/2006/main">
              <a:ext uri="{FF2B5EF4-FFF2-40B4-BE49-F238E27FC236}">
                <a16:creationId xmlns:a16="http://schemas.microsoft.com/office/drawing/2014/main" id="{C083B893-805C-4E28-B1A3-6070103E0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851910"/>
            <a:ext cx="8763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1FA"/>
          </a:solidFill>
          <a:ln xmlns:a="http://schemas.openxmlformats.org/drawingml/2006/main" w="9525">
            <a:solidFill>
              <a:srgbClr val="004EA2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9" name="decision-judge-label">
            <a:extLst xmlns:a="http://schemas.openxmlformats.org/drawingml/2006/main">
              <a:ext uri="{FF2B5EF4-FFF2-40B4-BE49-F238E27FC236}">
                <a16:creationId xmlns:a16="http://schemas.microsoft.com/office/drawing/2014/main" id="{FE445EF7-C12A-4E84-8ED0-41CBCA816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3937635"/>
            <a:ext cx="781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12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17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판정</a:t>
            </a:r>
          </a:p>
        </p:txBody>
      </p:sp>
      <p:sp>
        <p:nvSpPr>
          <p:cNvPr id="40" name="decision-flow-caption">
            <a:extLst xmlns:a="http://schemas.openxmlformats.org/drawingml/2006/main">
              <a:ext uri="{FF2B5EF4-FFF2-40B4-BE49-F238E27FC236}">
                <a16:creationId xmlns:a16="http://schemas.microsoft.com/office/drawing/2014/main" id="{E89AFFAF-A47D-4867-8599-E4500CC73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4394835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975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025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월별 동일 기준 · 다음 달 운영 범위 조정</a:t>
            </a:r>
          </a:p>
        </p:txBody>
      </p:sp>
      <p:sp>
        <p:nvSpPr>
          <p:cNvPr id="41" name="private-flow">
            <a:extLst xmlns:a="http://schemas.openxmlformats.org/drawingml/2006/main">
              <a:ext uri="{FF2B5EF4-FFF2-40B4-BE49-F238E27FC236}">
                <a16:creationId xmlns:a16="http://schemas.microsoft.com/office/drawing/2014/main" id="{608F424E-0F59-496E-92EE-F4F781448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06075" y="5795010"/>
            <a:ext cx="3857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97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02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데이터 협약  →  소규모 확대  →  월별 재판단</a:t>
            </a:r>
          </a:p>
        </p:txBody>
      </p:sp>
    </p:spTree>
    <p:extLst>
      <p:ext uri="{BB962C8B-B14F-4D97-AF65-F5344CB8AC3E}">
        <p14:creationId xmlns:p14="http://schemas.microsoft.com/office/powerpoint/2010/main" val="33477295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2026-09-03T11:43:35.4550000Z</dcterms:created>
  <dcterms:modified xsi:type="dcterms:W3CDTF">2026-09-03T11:43:35.4550000Z</dcterms:modified>
</coreProperties>
</file>