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r="http://schemas.openxmlformats.org/officeDocument/2006/relationships" id="262" r:id="R4c9d0e3030fa4c5f"/>
    <p:sldId xmlns:ns0="http://schemas.openxmlformats.org/officeDocument/2006/relationships" id="270" ns0:id="rId18"/>
    <p:sldId xmlns:r="http://schemas.openxmlformats.org/officeDocument/2006/relationships" id="263" r:id="Rbbe47957bc6641c0"/>
    <p:sldId xmlns:ns0="http://schemas.openxmlformats.org/officeDocument/2006/relationships" id="271" ns0:id="rId17"/>
    <p:sldId xmlns:r="http://schemas.openxmlformats.org/officeDocument/2006/relationships" id="264" r:id="R72f63d3229d64861"/>
    <p:sldId xmlns:r="http://schemas.openxmlformats.org/officeDocument/2006/relationships" id="266" r:id="R029df0519ade4c8b"/>
    <p:sldId xmlns:ns0="http://schemas.openxmlformats.org/officeDocument/2006/relationships" id="268" ns0:id="rId19"/>
    <p:sldId xmlns:ns0="http://schemas.openxmlformats.org/officeDocument/2006/relationships" id="269" ns0: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2.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9.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6.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10.xml"/><Relationship Id="rId18" Type="http://schemas.openxmlformats.org/officeDocument/2006/relationships/slide" Target="slides/slide5.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ayout>
        <c:manualLayout>
          <c:layoutTarget val="inner"/>
          <c:xMode val="factor"/>
          <c:yMode val="factor"/>
          <c:wMode val="factor"/>
          <c:hMode val="factor"/>
          <c:x val=".10"/>
          <c:y val=".04"/>
          <c:w val=".88"/>
          <c:h val=".70"/>
        </c:manualLayout>
      </c:layout>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cat>
            <c:strRef>
              <c:f>Sheet1!$A$2:$A$4</c:f>
              <c:strCache>
                <c:ptCount val="3"/>
                <c:pt idx="0">
                  <c:v>26.09</c:v>
                </c:pt>
                <c:pt idx="1">
                  <c:v>26.10</c:v>
                </c:pt>
                <c:pt idx="2">
                  <c:v>26.11</c:v>
                </c:pt>
              </c:strCache>
            </c:strRef>
          </c:cat>
          <c:val>
            <c:numRef>
              <c:f>Sheet1!$B$2:$B$4</c:f>
              <c:numCache>
                <c:formatCode>General</c:formatCode>
                <c:ptCount val="3"/>
                <c:pt idx="0">
                  <c:v>236.3056</c:v>
                </c:pt>
                <c:pt idx="1">
                  <c:v>263.327</c:v>
                </c:pt>
                <c:pt idx="2">
                  <c:v>263.2315</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cat>
            <c:strRef>
              <c:f>Sheet1!$A$2:$A$4</c:f>
              <c:strCache>
                <c:ptCount val="3"/>
                <c:pt idx="0">
                  <c:v>26.09</c:v>
                </c:pt>
                <c:pt idx="1">
                  <c:v>26.10</c:v>
                </c:pt>
                <c:pt idx="2">
                  <c:v>26.11</c:v>
                </c:pt>
              </c:strCache>
            </c:strRef>
          </c:cat>
          <c:val>
            <c:numRef>
              <c:f>Sheet1!$C$2:$C$4</c:f>
              <c:numCache>
                <c:formatCode>General</c:formatCode>
                <c:ptCount val="3"/>
                <c:pt idx="0">
                  <c:v>240.24402667</c:v>
                </c:pt>
                <c:pt idx="1">
                  <c:v>272.10456667</c:v>
                </c:pt>
                <c:pt idx="2">
                  <c:v>276.393075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300.0"/>
          <c:min val="2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legend>
      <c:legendPos val="b"/>
      <c:layout/>
      <c:overlay val="0"/>
      <c:txPr>
        <a:bodyPr/>
        <a:lstStyle/>
        <a:p>
          <a:pPr>
            <a:defRPr sz="1200">
              <a:latin typeface="맑은 고딕"/>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ayout>
        <c:manualLayout>
          <c:layoutTarget val="inner"/>
          <c:xMode val="factor"/>
          <c:yMode val="factor"/>
          <c:wMode val="factor"/>
          <c:hMode val="factor"/>
          <c:x val=".10"/>
          <c:y val=".04"/>
          <c:w val=".88"/>
          <c:h val=".70"/>
        </c:manualLayout>
      </c:layout>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cat>
            <c:strRef>
              <c:f>Sheet1!$A$2:$A$4</c:f>
              <c:strCache>
                <c:ptCount val="3"/>
                <c:pt idx="0">
                  <c:v>26.09</c:v>
                </c:pt>
                <c:pt idx="1">
                  <c:v>26.10</c:v>
                </c:pt>
                <c:pt idx="2">
                  <c:v>26.11</c:v>
                </c:pt>
              </c:strCache>
            </c:strRef>
          </c:cat>
          <c:val>
            <c:numRef>
              <c:f>Sheet1!$B$2:$B$4</c:f>
              <c:numCache>
                <c:formatCode>General</c:formatCode>
                <c:ptCount val="3"/>
                <c:pt idx="0">
                  <c:v>670.47345591</c:v>
                </c:pt>
                <c:pt idx="1">
                  <c:v>839.29975649</c:v>
                </c:pt>
                <c:pt idx="2">
                  <c:v>899.47681558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cat>
            <c:strRef>
              <c:f>Sheet1!$A$2:$A$4</c:f>
              <c:strCache>
                <c:ptCount val="3"/>
                <c:pt idx="0">
                  <c:v>26.09</c:v>
                </c:pt>
                <c:pt idx="1">
                  <c:v>26.10</c:v>
                </c:pt>
                <c:pt idx="2">
                  <c:v>26.11</c:v>
                </c:pt>
              </c:strCache>
            </c:strRef>
          </c:cat>
          <c:val>
            <c:numRef>
              <c:f>Sheet1!$C$2:$C$4</c:f>
              <c:numCache>
                <c:formatCode>General</c:formatCode>
                <c:ptCount val="3"/>
                <c:pt idx="0">
                  <c:v>681.64801351</c:v>
                </c:pt>
                <c:pt idx="1">
                  <c:v>867.27641504</c:v>
                </c:pt>
                <c:pt idx="2">
                  <c:v>944.45065636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100.0"/>
          <c:min val="6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100.0"/>
      </c:valAx>
    </c:plotArea>
    <c:legend>
      <c:legendPos val="b"/>
      <c:layout/>
      <c:overlay val="0"/>
      <c:txPr>
        <a:bodyPr/>
        <a:lstStyle/>
        <a:p>
          <a:pPr>
            <a:defRPr sz="1200">
              <a:latin typeface="맑은 고딕"/>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6.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2.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⑥성공/중단 기준: 착수 전 확정 예정(가정: 성공 시 소비액 10%↑, 중단 시 5%↓)",</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⑥성공/중단 기준: 착수 전 확정 예정(가정: 성공 시 소비액 10%↑, 중단 시 5%↓)",</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⑥성공/중단 기준: 착수 전 확정 예정(가정: 성공 시 소비액 10%↑, 중단 시 5%↓)",</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⑥성공/중단 기준: 착수 전 확정 예정(가정: 성공 시 소비액 10%↑, 중단 시 5%↓)",</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원주는 초기 시범으로 최종월 방문 +5%를 제안한다(발표 증가율의 1/5를 선택한 기획 판단). 소비 +5%는 별도 계획 가정이며 강진 소비 전후 실적으로 계산한 값이 아니다.</a:t>
            </a:r>
          </a:p>
          <a:p>
            <a:r>
              <a:t>https://clik.nanet.go.kr/minutes/viewer.do?DOCID=CLIKC3524169218564260&amp;collection=minutes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방법 제안. 저장된 사업 내용에 맞춰 작성한 운영 절차이며 확정 협약이나 공식 지침이 아닙니다.</a:t>
            </a:r>
          </a:p>
          <a:p>
            <a:r>
              <a:t>{'kpi':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⑥성공/중단 기준: 착수 전 확정 예정(가정: 성공 시 소비액 10%↑, 중단 시 5%↓)', 'title': '원주시 지역사랑 휴가지원 (반값여행) 프로그램',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 'evidence': 'case:gangjin_half_price_2024, dataset:51130:1, dataset:51130:3', 'priority': 1, 'solution': '원주시 내 지정된 관광·식음·숙박 가맹점에서 일정 금액 이상 결제한 외지인에게 결제액의 일부를 원주사랑상품권으로 환급하여 지역 내 재소비를 유도함.', 'timeframe': '2026-09 ~ 2026-11, 3개월', 'expected_effect': "ML 전망상 2026년 11월 소비액은 전년 대비 41.26% 증가할 것으로 보이나, 이는 탐색적 추세일 뿐임. 본 사업은 이 추세와 별개로 '지역 내 재결제'를 통한 추가적인 소비 순증을 목표로 함.", 'problem_to_solve': '외지인 방문자 수 감소 및 지역 내 소비 유도 부족',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 'implementation_steps': [{'step': 1, 'task': '관광과 담당자가 참여 업체 명단을 확보하고 환급 운영 지침(안)을 작성함', 'schedule': '2026-09', 'deliverable': '참여 업체 명단 및 환급 운영 지침서(안)'}, {'step': 2, 'task': '회계 담당자가 결제 증빙 및 중복 수혜 방지를 위한 가이드라인을 확정함', 'schedule': '2026-09', 'deliverable': '결제 증빙 및 중복 수혜 방지 가이드라인'}, {'step': 3, 'task': '홍보 담당자가 주요 관광지 연계 홍보물을 배포하고 운영 현황을 기록함', 'schedule': '2026-10', 'deliverable': '주요 관광지 연계 홍보물 및 운영 현황 보고서'}, {'step': 4, 'task': '운영 담당자가 주간 단위로 환급 신청·승인·결제 원장을 수집·검증함', 'schedule': '2026-10 ~ 2026-11', 'deliverable': '주간 단위 환급 신청·승인·결제 원장'}, {'step': 5, 'task': '기획 담당자가 수집된 원장을 바탕으로 최종 성과 평가 보고서를 작성함', 'schedule': '2026-11', 'deliverable': '최종 성과 평가 보고서'}], 'visual_asset_source_ids': ['case:gangjin_half_price_2024']}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강원특별자치도 원주시 순 방문자 수 및 숙박 비율 (이동통신 기반 외지인)",</a:t>
            </a:r>
          </a:p>
          <a:p xmlns:a="http://schemas.openxmlformats.org/drawingml/2006/main">
            <a:r>
              <a:t>      "summary": "월간 순 방문자 수: 2,285,734명 (관측 기준월: 2026-06)",</a:t>
            </a:r>
          </a:p>
          <a:p xmlns:a="http://schemas.openxmlformats.org/drawingml/2006/main">
            <a:r>
              <a:t>      "source_id": "dataset:51130:1",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월간 순 방문자 수 (이동통신 기반 외지인)",</a:t>
            </a:r>
          </a:p>
          <a:p xmlns:a="http://schemas.openxmlformats.org/drawingml/2006/main">
            <a:r>
              <a:t>      "summary": "전년동월 외지인 방문자 증감률: -2.7% (관측 기준월: 2026-06)",</a:t>
            </a:r>
          </a:p>
          <a:p xmlns:a="http://schemas.openxmlformats.org/drawingml/2006/main">
            <a:r>
              <a:t>      "source_id": "dataset:51130:2",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관광소비 추이_외지인",</a:t>
            </a:r>
          </a:p>
          <a:p xmlns:a="http://schemas.openxmlformats.org/drawingml/2006/main">
            <a:r>
              <a:t>      "summary": "월간 외지인 관광소비 총액: 60,562,672,000원 (관측 기준월: 2026-06)",</a:t>
            </a:r>
          </a:p>
          <a:p xmlns:a="http://schemas.openxmlformats.org/drawingml/2006/main">
            <a:r>
              <a:t>      "source_id": "dataset:51130:3",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숙박방문자 비율 추이 (이동통신 기반 외지인)",</a:t>
            </a:r>
          </a:p>
          <a:p xmlns:a="http://schemas.openxmlformats.org/drawingml/2006/main">
            <a:r>
              <a:t>      "summary": "외지인 숙박 방문 비율: 12.5% (관측 기준월: 2026-06)",</a:t>
            </a:r>
          </a:p>
          <a:p xmlns:a="http://schemas.openxmlformats.org/drawingml/2006/main">
            <a:r>
              <a:t>      "source_id": "dataset:51130:4",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평균 숙박일 (이동통신 기반 외지인)",</a:t>
            </a:r>
          </a:p>
          <a:p xmlns:a="http://schemas.openxmlformats.org/drawingml/2006/main">
            <a:r>
              <a:t>      "summary": "외지인 평균 숙박일수: 2.76일 (관측 기준월: 2026-06)",</a:t>
            </a:r>
          </a:p>
          <a:p xmlns:a="http://schemas.openxmlformats.org/drawingml/2006/main">
            <a:r>
              <a:t>      "source_id": "dataset:51130:5",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내비게이션 목적지 유형별 검색량",</a:t>
            </a:r>
          </a:p>
          <a:p xmlns:a="http://schemas.openxmlformats.org/drawingml/2006/main">
            <a:r>
              <a:t>      "summary": "내비게이션 목적지 검색량: 303,921건 (관측 기준월: 2026-06)",</a:t>
            </a:r>
          </a:p>
          <a:p xmlns:a="http://schemas.openxmlformats.org/drawingml/2006/main">
            <a:r>
              <a:t>      "source_id": "dataset:51130:6",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SNS 언급량",</a:t>
            </a:r>
          </a:p>
          <a:p xmlns:a="http://schemas.openxmlformats.org/drawingml/2006/main">
            <a:r>
              <a:t>      "summary": "SNS 언급량: 41,121건 (관측 기준월: 2026-06)",</a:t>
            </a:r>
          </a:p>
          <a:p xmlns:a="http://schemas.openxmlformats.org/drawingml/2006/main">
            <a:r>
              <a:t>      "source_id": "dataset:51130:7",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강원특별자치도_원주시/숙박_체류시간/2025_01_12.zip",</a:t>
            </a:r>
          </a:p>
          <a:p xmlns:a="http://schemas.openxmlformats.org/drawingml/2006/main">
            <a:r>
              <a:t>      "summary": "전국 비교 기준 기간: 2025-07 ~ 2026-06",</a:t>
            </a:r>
          </a:p>
          <a:p xmlns:a="http://schemas.openxmlformats.org/drawingml/2006/main">
            <a:r>
              <a:t>      "source_id": "datalab:16d84bd9b1d0:620b2639a268",</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강원특별자치도_원주시/숙박_체류시간/2026_01_06.zip",</a:t>
            </a:r>
          </a:p>
          <a:p xmlns:a="http://schemas.openxmlformats.org/drawingml/2006/main">
            <a:r>
              <a:t>      "summary": "전국 비교 기준 기간: 2025-07 ~ 2026-06",</a:t>
            </a:r>
          </a:p>
          <a:p xmlns:a="http://schemas.openxmlformats.org/drawingml/2006/main">
            <a:r>
              <a:t>      "source_id": "datalab:242a2c1249d4:f84e1a5f3914",</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강원특별자치도_원주시/방문자/2025_01_12.zip",</a:t>
            </a:r>
          </a:p>
          <a:p xmlns:a="http://schemas.openxmlformats.org/drawingml/2006/main">
            <a:r>
              <a:t>      "summary": "전국 비교 기준 기간: 2025-07 ~ 2026-06",</a:t>
            </a:r>
          </a:p>
          <a:p xmlns:a="http://schemas.openxmlformats.org/drawingml/2006/main">
            <a:r>
              <a:t>      "source_id": "datalab:a050e5a84ef4:3906c6ac70a7",</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강원특별자치도_원주시/방문자/2026_01_06.zip",</a:t>
            </a:r>
          </a:p>
          <a:p xmlns:a="http://schemas.openxmlformats.org/drawingml/2006/main">
            <a:r>
              <a:t>      "summary": "전국 비교 기준 기간: 2025-07 ~ 2026-06",</a:t>
            </a:r>
          </a:p>
          <a:p xmlns:a="http://schemas.openxmlformats.org/drawingml/2006/main">
            <a:r>
              <a:t>      "source_id": "datalab:bd9d3d26da19:991f2264ad4a",</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강원특별자치도_원주시/관광소비/2026_01_06.zip",</a:t>
            </a:r>
          </a:p>
          <a:p xmlns:a="http://schemas.openxmlformats.org/drawingml/2006/main">
            <a:r>
              <a:t>      "summary": "전국 비교 기준 기간: 2025-07 ~ 2026-06",</a:t>
            </a:r>
          </a:p>
          <a:p xmlns:a="http://schemas.openxmlformats.org/drawingml/2006/main">
            <a:r>
              <a:t>      "source_id": "datalab:d54a3fb44037:ee4640b6178b",</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강원특별자치도_원주시/관광소비/2025_01_12.zip",</a:t>
            </a:r>
          </a:p>
          <a:p xmlns:a="http://schemas.openxmlformats.org/drawingml/2006/main">
            <a:r>
              <a:t>      "summary": "전국 비교 기준 기간: 2025-07 ~ 2026-06",</a:t>
            </a:r>
          </a:p>
          <a:p xmlns:a="http://schemas.openxmlformats.org/drawingml/2006/main">
            <a:r>
              <a:t>      "source_id": "datalab:ebce91b8bf02:1770c2d94cc6",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유입유출",</a:t>
            </a:r>
          </a:p>
          <a:p xmlns:a="http://schemas.openxmlformats.org/drawingml/2006/main">
            <a:r>
              <a:t>      "summary": "관측 기간: 2025-07 ~ 2026-06. 유입·유출·인기장소 또는 30일 집중 운영 신호.",</a:t>
            </a:r>
          </a:p>
          <a:p xmlns:a="http://schemas.openxmlformats.org/drawingml/2006/main">
            <a:r>
              <a:t>      "source_id": "regional-status:90f2be7a0f7d:b989a6c2e7bf",</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지역집중률",</a:t>
            </a:r>
          </a:p>
          <a:p xmlns:a="http://schemas.openxmlformats.org/drawingml/2006/main">
            <a:r>
              <a:t>      "summary": "관측 기간: 2025-07 ~ 2026-06. 유입·유출·인기장소 또는 30일 집중 운영 신호.",</a:t>
            </a:r>
          </a:p>
          <a:p xmlns:a="http://schemas.openxmlformats.org/drawingml/2006/main">
            <a:r>
              <a:t>      "source_id": "regional-status:c39767bd23e8:e3b081f6e6aa",</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인기관광지",</a:t>
            </a:r>
          </a:p>
          <a:p xmlns:a="http://schemas.openxmlformats.org/drawingml/2006/main">
            <a:r>
              <a:t>      "summary": "관측 기간: 2025-07 ~ 2026-06. 유입·유출·인기장소 또는 30일 집중 운영 신호.",</a:t>
            </a:r>
          </a:p>
          <a:p xmlns:a="http://schemas.openxmlformats.org/drawingml/2006/main">
            <a:r>
              <a:t>      "source_id": "regional-status:edaf76986d99:c00fa7ffc0a7",</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"ml:51130:regional-demand-v3.1:202606",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"1f7caf31818b53f22347c7318503ea14cbef8a3765f5b75b8191fe8ca2193349"</a:t>
            </a:r>
          </a:p>
          <a:p xmlns:a="http://schemas.openxmlformats.org/drawingml/2006/main">
            <a:r>
              <a:t>    },</a:t>
            </a:r>
          </a:p>
          <a:p xmlns:a="http://schemas.openxmlformats.org/drawingml/2006/main">
            <a:r>
              <a:t>    {</a:t>
            </a:r>
          </a:p>
          <a:p xmlns:a="http://schemas.openxmlformats.org/drawingml/2006/main">
            <a:r>
              <a:t>      "title": "감악산캠핑숲",</a:t>
            </a:r>
          </a:p>
          <a:p xmlns:a="http://schemas.openxmlformats.org/drawingml/2006/main">
            <a:r>
              <a:t>      "address": "강원특별자치도 원주시 신림면 신림황둔로 714",</a:t>
            </a:r>
          </a:p>
          <a:p xmlns:a="http://schemas.openxmlformats.org/drawingml/2006/main">
            <a:r>
              <a:t>      "summary": "한국관광공사 국문관광정보 API가 반환한 선택 지역 관광자원",</a:t>
            </a:r>
          </a:p>
          <a:p xmlns:a="http://schemas.openxmlformats.org/drawingml/2006/main">
            <a:r>
              <a:t>      "image_url": "http://tong.visitkorea.or.kr/cms/resource/64/2732964_image2_1.JPG",</a:t>
            </a:r>
          </a:p>
          <a:p xmlns:a="http://schemas.openxmlformats.org/drawingml/2006/main">
            <a:r>
              <a:t>      "source_id": "tour-api:2732999",</a:t>
            </a:r>
          </a:p>
          <a:p xmlns:a="http://schemas.openxmlformats.org/drawingml/2006/main">
            <a:r>
              <a:t>      "content_id": "2732999",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"강원감영관찰사·무릉고서화미술박물관",</a:t>
            </a:r>
          </a:p>
          <a:p xmlns:a="http://schemas.openxmlformats.org/drawingml/2006/main">
            <a:r>
              <a:t>      "address": "강원특별자치도 원주시 흥업면 사제로 399-10",</a:t>
            </a:r>
          </a:p>
          <a:p xmlns:a="http://schemas.openxmlformats.org/drawingml/2006/main">
            <a:r>
              <a:t>      "summary": "한국관광공사 국문관광정보 API가 반환한 선택 지역 관광자원",</a:t>
            </a:r>
          </a:p>
          <a:p xmlns:a="http://schemas.openxmlformats.org/drawingml/2006/main">
            <a:r>
              <a:t>      "image_url": "http://tong.visitkorea.or.kr/cms/resource/64/3437164_image2_1.jpg",</a:t>
            </a:r>
          </a:p>
          <a:p xmlns:a="http://schemas.openxmlformats.org/drawingml/2006/main">
            <a:r>
              <a:t>      "source_id": "tour-api:2555010",</a:t>
            </a:r>
          </a:p>
          <a:p xmlns:a="http://schemas.openxmlformats.org/drawingml/2006/main">
            <a:r>
              <a:t>      "content_id": "2555010",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"강원도힐링캠핑장",</a:t>
            </a:r>
          </a:p>
          <a:p xmlns:a="http://schemas.openxmlformats.org/drawingml/2006/main">
            <a:r>
              <a:t>      "address": "강원특별자치도 원주시 신림면 재사동길 10-38",</a:t>
            </a:r>
          </a:p>
          <a:p xmlns:a="http://schemas.openxmlformats.org/drawingml/2006/main">
            <a:r>
              <a:t>      "summary": "한국관광공사 국문관광정보 API가 반환한 선택 지역 관광자원",</a:t>
            </a:r>
          </a:p>
          <a:p xmlns:a="http://schemas.openxmlformats.org/drawingml/2006/main">
            <a:r>
              <a:t>      "image_url": "http://tong.visitkorea.or.kr/cms/resource/98/2733998_image2_1.JPG",</a:t>
            </a:r>
          </a:p>
          <a:p xmlns:a="http://schemas.openxmlformats.org/drawingml/2006/main">
            <a:r>
              <a:t>      "source_id": "tour-api:2734136",</a:t>
            </a:r>
          </a:p>
          <a:p xmlns:a="http://schemas.openxmlformats.org/drawingml/2006/main">
            <a:r>
              <a:t>      "content_id": "2734136",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"경천묘",</a:t>
            </a:r>
          </a:p>
          <a:p xmlns:a="http://schemas.openxmlformats.org/drawingml/2006/main">
            <a:r>
              <a:t>      "address": "강원특별자치도 원주시 귀래면 미륵산길 200",</a:t>
            </a:r>
          </a:p>
          <a:p xmlns:a="http://schemas.openxmlformats.org/drawingml/2006/main">
            <a:r>
              <a:t>      "summary": "한국관광공사 국문관광정보 API가 반환한 선택 지역 관광자원",</a:t>
            </a:r>
          </a:p>
          <a:p xmlns:a="http://schemas.openxmlformats.org/drawingml/2006/main">
            <a:r>
              <a:t>      "image_url": "http://tong.visitkorea.or.kr/cms/resource/56/3379256_image2_1.JPG",</a:t>
            </a:r>
          </a:p>
          <a:p xmlns:a="http://schemas.openxmlformats.org/drawingml/2006/main">
            <a:r>
              <a:t>      "source_id": "tour-api:2702477",</a:t>
            </a:r>
          </a:p>
          <a:p xmlns:a="http://schemas.openxmlformats.org/drawingml/2006/main">
            <a:r>
              <a:t>      "content_id": "2702477",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"고판화박물관",</a:t>
            </a:r>
          </a:p>
          <a:p xmlns:a="http://schemas.openxmlformats.org/drawingml/2006/main">
            <a:r>
              <a:t>      "address": "강원특별자치도 원주시 신림면 물안길 62",</a:t>
            </a:r>
          </a:p>
          <a:p xmlns:a="http://schemas.openxmlformats.org/drawingml/2006/main">
            <a:r>
              <a:t>      "summary": "한국관광공사 국문관광정보 API가 반환한 선택 지역 관광자원",</a:t>
            </a:r>
          </a:p>
          <a:p xmlns:a="http://schemas.openxmlformats.org/drawingml/2006/main">
            <a:r>
              <a:t>      "image_url": "http://tong.visitkorea.or.kr/cms/resource/36/3375236_image2_1.JPG",</a:t>
            </a:r>
          </a:p>
          <a:p xmlns:a="http://schemas.openxmlformats.org/drawingml/2006/main">
            <a:r>
              <a:t>      "source_id": "tour-api:130539",</a:t>
            </a:r>
          </a:p>
          <a:p xmlns:a="http://schemas.openxmlformats.org/drawingml/2006/main">
            <a:r>
              <a:t>      "content_id": "130539",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"관음사·국형사계곡",</a:t>
            </a:r>
          </a:p>
          <a:p xmlns:a="http://schemas.openxmlformats.org/drawingml/2006/main">
            <a:r>
              <a:t>      "address": "강원특별자치도 원주시 고문골길 169 (행구동)",</a:t>
            </a:r>
          </a:p>
          <a:p xmlns:a="http://schemas.openxmlformats.org/drawingml/2006/main">
            <a:r>
              <a:t>      "summary": "한국관광공사 국문관광정보 API가 반환한 선택 지역 관광자원",</a:t>
            </a:r>
          </a:p>
          <a:p xmlns:a="http://schemas.openxmlformats.org/drawingml/2006/main">
            <a:r>
              <a:t>      "image_url": "http://tong.visitkorea.or.kr/cms/resource/29/3045629_image2_1.jpg",</a:t>
            </a:r>
          </a:p>
          <a:p xmlns:a="http://schemas.openxmlformats.org/drawingml/2006/main">
            <a:r>
              <a:t>      "source_id": "tour-api:125645",</a:t>
            </a:r>
          </a:p>
          <a:p xmlns:a="http://schemas.openxmlformats.org/drawingml/2006/main">
            <a:r>
              <a:t>      "content_id": "125645",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"광화문갈비 원주점",</a:t>
            </a:r>
          </a:p>
          <a:p xmlns:a="http://schemas.openxmlformats.org/drawingml/2006/main">
            <a:r>
              <a:t>      "address": "강원특별자치도 원주시 능라동길 48 (무실동)",</a:t>
            </a:r>
          </a:p>
          <a:p xmlns:a="http://schemas.openxmlformats.org/drawingml/2006/main">
            <a:r>
              <a:t>      "summary": "한국관광공사 국문관광정보 API가 반환한 선택 지역 관광자원",</a:t>
            </a:r>
          </a:p>
          <a:p xmlns:a="http://schemas.openxmlformats.org/drawingml/2006/main">
            <a:r>
              <a:t>      "image_url": "http://tong.visitkorea.or.kr/cms/resource/86/3421686_image2_1.jpg",</a:t>
            </a:r>
          </a:p>
          <a:p xmlns:a="http://schemas.openxmlformats.org/drawingml/2006/main">
            <a:r>
              <a:t>      "source_id": "tour-api:3356037",</a:t>
            </a:r>
          </a:p>
          <a:p xmlns:a="http://schemas.openxmlformats.org/drawingml/2006/main">
            <a:r>
              <a:t>      "content_id": "3356037",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"구 조선식산은행 원주지점",</a:t>
            </a:r>
          </a:p>
          <a:p xmlns:a="http://schemas.openxmlformats.org/drawingml/2006/main">
            <a:r>
              <a:t>      "address": "강원특별자치도 원주시 중앙로 88 (중앙동)",</a:t>
            </a:r>
          </a:p>
          <a:p xmlns:a="http://schemas.openxmlformats.org/drawingml/2006/main">
            <a:r>
              <a:t>      "summary": "한국관광공사 국문관광정보 API가 반환한 선택 지역 관광자원",</a:t>
            </a:r>
          </a:p>
          <a:p xmlns:a="http://schemas.openxmlformats.org/drawingml/2006/main">
            <a:r>
              <a:t>      "image_url": "http://tong.visitkorea.or.kr/cms/resource/78/3379278_image2_1.JPG",</a:t>
            </a:r>
          </a:p>
          <a:p xmlns:a="http://schemas.openxmlformats.org/drawingml/2006/main">
            <a:r>
              <a:t>      "source_id": "tour-api:2762710",</a:t>
            </a:r>
          </a:p>
          <a:p xmlns:a="http://schemas.openxmlformats.org/drawingml/2006/main">
            <a:r>
              <a:t>      "content_id": "2762710",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"국형사",</a:t>
            </a:r>
          </a:p>
          <a:p xmlns:a="http://schemas.openxmlformats.org/drawingml/2006/main">
            <a:r>
              <a:t>      "address": "강원특별자치도 원주시 고문골길 155 (행구동)",</a:t>
            </a:r>
          </a:p>
          <a:p xmlns:a="http://schemas.openxmlformats.org/drawingml/2006/main">
            <a:r>
              <a:t>      "summary": "한국관광공사 국문관광정보 API가 반환한 선택 지역 관광자원",</a:t>
            </a:r>
          </a:p>
          <a:p xmlns:a="http://schemas.openxmlformats.org/drawingml/2006/main">
            <a:r>
              <a:t>      "image_url": "http://tong.visitkorea.or.kr/cms/resource/87/3559187_image2_1.jpeg",</a:t>
            </a:r>
          </a:p>
          <a:p xmlns:a="http://schemas.openxmlformats.org/drawingml/2006/main">
            <a:r>
              <a:t>      "source_id": "tour-api:125757",</a:t>
            </a:r>
          </a:p>
          <a:p xmlns:a="http://schemas.openxmlformats.org/drawingml/2006/main">
            <a:r>
              <a:t>      "content_id": "125757",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"금대 에코힐링 캠핑장",</a:t>
            </a:r>
          </a:p>
          <a:p xmlns:a="http://schemas.openxmlformats.org/drawingml/2006/main">
            <a:r>
              <a:t>      "address": "강원특별자치도 원주시 판부면 영원산성길 372",</a:t>
            </a:r>
          </a:p>
          <a:p xmlns:a="http://schemas.openxmlformats.org/drawingml/2006/main">
            <a:r>
              <a:t>      "summary": "한국관광공사 국문관광정보 API가 반환한 선택 지역 관광자원",</a:t>
            </a:r>
          </a:p>
          <a:p xmlns:a="http://schemas.openxmlformats.org/drawingml/2006/main">
            <a:r>
              <a:t>      "image_url": "http://tong.visitkorea.or.kr/cms/resource/95/2011295_image2_1.jpg",</a:t>
            </a:r>
          </a:p>
          <a:p xmlns:a="http://schemas.openxmlformats.org/drawingml/2006/main">
            <a:r>
              <a:t>      "source_id": "tour-api:2033279",</a:t>
            </a:r>
          </a:p>
          <a:p xmlns:a="http://schemas.openxmlformats.org/drawingml/2006/main">
            <a:r>
              <a:t>      "content_id": "2033279",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"금대계곡",</a:t>
            </a:r>
          </a:p>
          <a:p xmlns:a="http://schemas.openxmlformats.org/drawingml/2006/main">
            <a:r>
              <a:t>      "address": "강원특별자치도 원주시 판부면 치악로 546-22",</a:t>
            </a:r>
          </a:p>
          <a:p xmlns:a="http://schemas.openxmlformats.org/drawingml/2006/main">
            <a:r>
              <a:t>      "summary": "한국관광공사 국문관광정보 API가 반환한 선택 지역 관광자원",</a:t>
            </a:r>
          </a:p>
          <a:p xmlns:a="http://schemas.openxmlformats.org/drawingml/2006/main">
            <a:r>
              <a:t>      "image_url": "http://tong.visitkorea.or.kr/cms/resource/85/3045285_image2_1.jpg",</a:t>
            </a:r>
          </a:p>
          <a:p xmlns:a="http://schemas.openxmlformats.org/drawingml/2006/main">
            <a:r>
              <a:t>      "source_id": "tour-api:129676",</a:t>
            </a:r>
          </a:p>
          <a:p xmlns:a="http://schemas.openxmlformats.org/drawingml/2006/main">
            <a:r>
              <a:t>      "content_id": "129676",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"금대자동차야영장",</a:t>
            </a:r>
          </a:p>
          <a:p xmlns:a="http://schemas.openxmlformats.org/drawingml/2006/main">
            <a:r>
              <a:t>      "address": "강원특별자치도 원주시 판부면 영원산성길 372",</a:t>
            </a:r>
          </a:p>
          <a:p xmlns:a="http://schemas.openxmlformats.org/drawingml/2006/main">
            <a:r>
              <a:t>      "summary": "한국관광공사 국문관광정보 API가 반환한 선택 지역 관광자원",</a:t>
            </a:r>
          </a:p>
          <a:p xmlns:a="http://schemas.openxmlformats.org/drawingml/2006/main">
            <a:r>
              <a:t>      "image_url": "http://tong.visitkorea.or.kr/cms/resource/97/2734897_image2_1.JPG",</a:t>
            </a:r>
          </a:p>
          <a:p xmlns:a="http://schemas.openxmlformats.org/drawingml/2006/main">
            <a:r>
              <a:t>      "source_id": "tour-api:2734906",</a:t>
            </a:r>
          </a:p>
          <a:p xmlns:a="http://schemas.openxmlformats.org/drawingml/2006/main">
            <a:r>
              <a:t>      "content_id": "2734906",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"기후변화홍보관",</a:t>
            </a:r>
          </a:p>
          <a:p xmlns:a="http://schemas.openxmlformats.org/drawingml/2006/main">
            <a:r>
              <a:t>      "address": "강원특별자치도 원주시 행구로 362",</a:t>
            </a:r>
          </a:p>
          <a:p xmlns:a="http://schemas.openxmlformats.org/drawingml/2006/main">
            <a:r>
              <a:t>      "summary": "한국관광공사 국문관광정보 API가 반환한 선택 지역 관광자원",</a:t>
            </a:r>
          </a:p>
          <a:p xmlns:a="http://schemas.openxmlformats.org/drawingml/2006/main">
            <a:r>
              <a:t>      "image_url": "http://tong.visitkorea.or.kr/cms/resource/40/3533840_image2_1.JPG",</a:t>
            </a:r>
          </a:p>
          <a:p xmlns:a="http://schemas.openxmlformats.org/drawingml/2006/main">
            <a:r>
              <a:t>      "source_id": "tour-api:2714800",</a:t>
            </a:r>
          </a:p>
          <a:p xmlns:a="http://schemas.openxmlformats.org/drawingml/2006/main">
            <a:r>
              <a:t>      "content_id": "2714800",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"김가네원주추어탕",</a:t>
            </a:r>
          </a:p>
          <a:p xmlns:a="http://schemas.openxmlformats.org/drawingml/2006/main">
            <a:r>
              <a:t>      "address": "강원특별자치도 원주시 단관공원길 90-3",</a:t>
            </a:r>
          </a:p>
          <a:p xmlns:a="http://schemas.openxmlformats.org/drawingml/2006/main">
            <a:r>
              <a:t>      "summary": "한국관광공사 국문관광정보 API가 반환한 선택 지역 관광자원",</a:t>
            </a:r>
          </a:p>
          <a:p xmlns:a="http://schemas.openxmlformats.org/drawingml/2006/main">
            <a:r>
              <a:t>      "image_url": "http://tong.visitkorea.or.kr/cms/resource/25/2892325_image2_1.jpg",</a:t>
            </a:r>
          </a:p>
          <a:p xmlns:a="http://schemas.openxmlformats.org/drawingml/2006/main">
            <a:r>
              <a:t>      "source_id": "tour-api:2892327",</a:t>
            </a:r>
          </a:p>
          <a:p xmlns:a="http://schemas.openxmlformats.org/drawingml/2006/main">
            <a:r>
              <a:t>      "content_id": "2892327",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"김제남 신도비",</a:t>
            </a:r>
          </a:p>
          <a:p xmlns:a="http://schemas.openxmlformats.org/drawingml/2006/main">
            <a:r>
              <a:t>      "address": "강원특별자치도 원주시 지정면 흥법사지길 18",</a:t>
            </a:r>
          </a:p>
          <a:p xmlns:a="http://schemas.openxmlformats.org/drawingml/2006/main">
            <a:r>
              <a:t>      "summary": "한국관광공사 국문관광정보 API가 반환한 선택 지역 관광자원",</a:t>
            </a:r>
          </a:p>
          <a:p xmlns:a="http://schemas.openxmlformats.org/drawingml/2006/main">
            <a:r>
              <a:t>      "image_url": "http://tong.visitkorea.or.kr/cms/resource/28/3376528_image2_1.JPG",</a:t>
            </a:r>
          </a:p>
          <a:p xmlns:a="http://schemas.openxmlformats.org/drawingml/2006/main">
            <a:r>
              <a:t>      "source_id": "tour-api:129284",</a:t>
            </a:r>
          </a:p>
          <a:p xmlns:a="http://schemas.openxmlformats.org/drawingml/2006/main">
            <a:r>
              <a:t>      "content_id": "129284",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"넌스키 난보드",</a:t>
            </a:r>
          </a:p>
          <a:p xmlns:a="http://schemas.openxmlformats.org/drawingml/2006/main">
            <a:r>
              <a:t>      "address": "강원특별자치도 원주시 지정면 구재로 132",</a:t>
            </a:r>
          </a:p>
          <a:p xmlns:a="http://schemas.openxmlformats.org/drawingml/2006/main">
            <a:r>
              <a:t>      "summary": "한국관광공사 국문관광정보 API가 반환한 선택 지역 관광자원",</a:t>
            </a:r>
          </a:p>
          <a:p xmlns:a="http://schemas.openxmlformats.org/drawingml/2006/main">
            <a:r>
              <a:t>      "image_url": "http://tong.visitkorea.or.kr/cms/resource/73/3562173_image2_1.jpg",</a:t>
            </a:r>
          </a:p>
          <a:p xmlns:a="http://schemas.openxmlformats.org/drawingml/2006/main">
            <a:r>
              <a:t>      "source_id": "tour-api:512084",</a:t>
            </a:r>
          </a:p>
          <a:p xmlns:a="http://schemas.openxmlformats.org/drawingml/2006/main">
            <a:r>
              <a:t>      "content_id": "512084",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"단관공원",</a:t>
            </a:r>
          </a:p>
          <a:p xmlns:a="http://schemas.openxmlformats.org/drawingml/2006/main">
            <a:r>
              <a:t>      "address": "강원특별자치도 원주시 단관공원길 63",</a:t>
            </a:r>
          </a:p>
          <a:p xmlns:a="http://schemas.openxmlformats.org/drawingml/2006/main">
            <a:r>
              <a:t>      "summary": "한국관광공사 국문관광정보 API가 반환한 선택 지역 관광자원",</a:t>
            </a:r>
          </a:p>
          <a:p xmlns:a="http://schemas.openxmlformats.org/drawingml/2006/main">
            <a:r>
              <a:t>      "image_url": "http://tong.visitkorea.or.kr/cms/resource/43/3334543_image2_1.jpg",</a:t>
            </a:r>
          </a:p>
          <a:p xmlns:a="http://schemas.openxmlformats.org/drawingml/2006/main">
            <a:r>
              <a:t>      "source_id": "tour-api:2778036",</a:t>
            </a:r>
          </a:p>
          <a:p xmlns:a="http://schemas.openxmlformats.org/drawingml/2006/main">
            <a:r>
              <a:t>      "content_id": "2778036",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"동승루",</a:t>
            </a:r>
          </a:p>
          <a:p xmlns:a="http://schemas.openxmlformats.org/drawingml/2006/main">
            <a:r>
              <a:t>      "address": "강원특별자치도 원주시 이화4길 30",</a:t>
            </a:r>
          </a:p>
          <a:p xmlns:a="http://schemas.openxmlformats.org/drawingml/2006/main">
            <a:r>
              <a:t>      "summary": "한국관광공사 국문관광정보 API가 반환한 선택 지역 관광자원",</a:t>
            </a:r>
          </a:p>
          <a:p xmlns:a="http://schemas.openxmlformats.org/drawingml/2006/main">
            <a:r>
              <a:t>      "image_url": "http://tong.visitkorea.or.kr/cms/resource/15/2892315_image2_1.jpg",</a:t>
            </a:r>
          </a:p>
          <a:p xmlns:a="http://schemas.openxmlformats.org/drawingml/2006/main">
            <a:r>
              <a:t>      "source_id": "tour-api:2892320",</a:t>
            </a:r>
          </a:p>
          <a:p xmlns:a="http://schemas.openxmlformats.org/drawingml/2006/main">
            <a:r>
              <a:t>      "content_id": "2892320",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"들꽃가든",</a:t>
            </a:r>
          </a:p>
          <a:p xmlns:a="http://schemas.openxmlformats.org/drawingml/2006/main">
            <a:r>
              <a:t>      "address": "강원특별자치도 원주시 월송석화로 488",</a:t>
            </a:r>
          </a:p>
          <a:p xmlns:a="http://schemas.openxmlformats.org/drawingml/2006/main">
            <a:r>
              <a:t>      "summary": "한국관광공사 국문관광정보 API가 반환한 선택 지역 관광자원",</a:t>
            </a:r>
          </a:p>
          <a:p xmlns:a="http://schemas.openxmlformats.org/drawingml/2006/main">
            <a:r>
              <a:t>      "image_url": "http://tong.visitkorea.or.kr/cms/resource/04/2892304_image2_1.jpg",</a:t>
            </a:r>
          </a:p>
          <a:p xmlns:a="http://schemas.openxmlformats.org/drawingml/2006/main">
            <a:r>
              <a:t>      "source_id": "tour-api:2892312",</a:t>
            </a:r>
          </a:p>
          <a:p xmlns:a="http://schemas.openxmlformats.org/drawingml/2006/main">
            <a:r>
              <a:t>      "content_id": "2892312",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"들꽃이야기",</a:t>
            </a:r>
          </a:p>
          <a:p xmlns:a="http://schemas.openxmlformats.org/drawingml/2006/main">
            <a:r>
              <a:t>      "address": "강원특별자치도 원주시 신림면 성남로 323-12",</a:t>
            </a:r>
          </a:p>
          <a:p xmlns:a="http://schemas.openxmlformats.org/drawingml/2006/main">
            <a:r>
              <a:t>      "summary": "한국관광공사 국문관광정보 API가 반환한 선택 지역 관광자원",</a:t>
            </a:r>
          </a:p>
          <a:p xmlns:a="http://schemas.openxmlformats.org/drawingml/2006/main">
            <a:r>
              <a:t>      "image_url": "http://tong.visitkorea.or.kr/cms/resource/60/3557060_image2_1.jpg",</a:t>
            </a:r>
          </a:p>
          <a:p xmlns:a="http://schemas.openxmlformats.org/drawingml/2006/main">
            <a:r>
              <a:t>      "source_id": "tour-api:2809292",</a:t>
            </a:r>
          </a:p>
          <a:p xmlns:a="http://schemas.openxmlformats.org/drawingml/2006/main">
            <a:r>
              <a:t>      "content_id": "2809292",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"실행",</a:t>
            </a:r>
          </a:p>
          <a:p xmlns:a="http://schemas.openxmlformats.org/drawingml/2006/main">
            <a:r>
              <a:t>        "연결한",</a:t>
            </a:r>
          </a:p>
          <a:p xmlns:a="http://schemas.openxmlformats.org/drawingml/2006/main">
            <a:r>
              <a:t>        "연계",</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43쪽, PDF 38쪽, PDF 40쪽, PDF 41쪽, PDF 36쪽, PDF 41쪽, PDF 44쪽,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"reference:kto:2026:local-airport:page:038:chunk:01",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"reference:kto:2026:local-airport:page:044:chunk:02"</a:t>
            </a:r>
          </a:p>
          <a:p xmlns:a="http://schemas.openxmlformats.org/drawingml/2006/main">
            <a:r>
              <a:t>      ],</a:t>
            </a:r>
          </a:p>
          <a:p xmlns:a="http://schemas.openxmlformats.org/drawingml/2006/main">
            <a:r>
              <a:t>      "source_chunk_count": 10</a:t>
            </a:r>
          </a:p>
          <a:p xmlns:a="http://schemas.openxmlformats.org/drawingml/2006/main">
            <a:r>
              <a:t>    },</a:t>
            </a:r>
          </a:p>
          <a:p xmlns:a="http://schemas.openxmlformats.org/drawingml/2006/main">
            <a:r>
              <a:t>    {</a:t>
            </a:r>
          </a:p>
          <a:p xmlns:a="http://schemas.openxmlformats.org/drawingml/2006/main">
            <a:r>
              <a:t>      "title": "전주시 2026년도 관광산업과 세출예산 사업명세서",</a:t>
            </a:r>
          </a:p>
          <a:p xmlns:a="http://schemas.openxmlformats.org/drawingml/2006/main">
            <a:r>
              <a:t>      "summary": "전북특별자치도 전주시 · 야간관광 특화도시 예산 편성 · 예산서이므로 방문·소비 성과는 확인되지 않음",</a:t>
            </a:r>
          </a:p>
          <a:p xmlns:a="http://schemas.openxmlformats.org/drawingml/2006/main">
            <a:r>
              <a:t>      "source_id": "case:jeonju_night_budget_2026",</a:t>
            </a:r>
          </a:p>
          <a:p xmlns:a="http://schemas.openxmlformats.org/drawingml/2006/main">
            <a:r>
              <a:t>      "source_url": "https://jeonju.go.kr/resource/www/images/download/budget/2026/2026_31_2.pdf",</a:t>
            </a:r>
          </a:p>
          <a:p xmlns:a="http://schemas.openxmlformats.org/drawingml/2006/main">
            <a:r>
              <a:t>      "case_region": "전북특별자치도 전주시",</a:t>
            </a:r>
          </a:p>
          <a:p xmlns:a="http://schemas.openxmlformats.org/drawingml/2006/main">
            <a:r>
              <a:t>      "source_type": "benchmark_case",</a:t>
            </a:r>
          </a:p>
          <a:p xmlns:a="http://schemas.openxmlformats.org/drawingml/2006/main">
            <a:r>
              <a:t>      "intervention": "야간관광 특화도시 예산 편성",</a:t>
            </a:r>
          </a:p>
          <a:p xmlns:a="http://schemas.openxmlformats.org/drawingml/2006/main">
            <a:r>
              <a:t>      "operating_model": "사무관리, 행사운영, 연구용역, 민간경상보조 등으로 사업비를 항목별 편성",</a:t>
            </a:r>
          </a:p>
          <a:p xmlns:a="http://schemas.openxmlformats.org/drawingml/2006/main">
            <a:r>
              <a:t>      "evidence_strength": "high",</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"(기획) 인천을 즐기는 가장 쉬운(easy) 방법 … 인천e지",</a:t>
            </a:r>
          </a:p>
          <a:p xmlns:a="http://schemas.openxmlformats.org/drawingml/2006/main">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xmlns:a="http://schemas.openxmlformats.org/drawingml/2006/main">
            <a:r>
              <a:t>      "source_id": "case:4625625dcbf2ae",</a:t>
            </a:r>
          </a:p>
          <a:p xmlns:a="http://schemas.openxmlformats.org/drawingml/2006/main">
            <a:r>
              <a:t>      "source_url": "https://www.incheon.go.kr/IC010205/view?beginDt=&amp;curPage=1&amp;endDt=&amp;repSeq=DOM_0000000013130282&amp;srchMainManagerDeptNm=&amp;srchRepContents=%EC%A3%BC%EC%B0%A8&amp;srchRepTitle=",</a:t>
            </a:r>
          </a:p>
          <a:p xmlns:a="http://schemas.openxmlformats.org/drawingml/2006/main">
            <a:r>
              <a:t>      "case_region": "인천광역시",</a:t>
            </a:r>
          </a:p>
          <a:p xmlns:a="http://schemas.openxmlformats.org/drawingml/2006/main">
            <a:r>
              <a:t>      "source_type": "benchmark_case",</a:t>
            </a:r>
          </a:p>
          <a:p xmlns:a="http://schemas.openxmlformats.org/drawingml/2006/main">
            <a:r>
              <a:t>      "intervention": "스마트관광 플랫폼 ‘인천e지’의 추천·동선·스탬프·가맹점 쿠폰 통합 운영",</a:t>
            </a:r>
          </a:p>
          <a:p xmlns:a="http://schemas.openxmlformats.org/drawingml/2006/main">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xmlns:a="http://schemas.openxmlformats.org/drawingml/2006/main">
            <a:r>
              <a:t>      "evidence_strength": "medium",</a:t>
            </a:r>
          </a:p>
          <a:p xmlns:a="http://schemas.openxmlformats.org/drawingml/2006/main">
            <a:r>
              <a:t>      "published_or_updated_at": "2025-09-16",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"한강 밤핑(Night+Camping) 행사·공연 정보",</a:t>
            </a:r>
          </a:p>
          <a:p xmlns:a="http://schemas.openxmlformats.org/drawingml/2006/main">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xmlns:a="http://schemas.openxmlformats.org/drawingml/2006/main">
            <a:r>
              <a:t>      "source_id": "case:37471b1e063812",</a:t>
            </a:r>
          </a:p>
          <a:p xmlns:a="http://schemas.openxmlformats.org/drawingml/2006/main">
            <a:r>
              <a:t>      "source_url": "https://hangang.seoul.go.kr/www/eventMng/detail.do?evntSn=441&amp;keyword=&amp;mid=538&amp;opt11=&amp;opt12=&amp;opt13=&amp;opt14=&amp;opt4=&amp;pageNo=2&amp;srchType=list",</a:t>
            </a:r>
          </a:p>
          <a:p xmlns:a="http://schemas.openxmlformats.org/drawingml/2006/main">
            <a:r>
              <a:t>      "case_region": "서울특별시 여의도·뚝섬·망원 한강공원 일대",</a:t>
            </a:r>
          </a:p>
          <a:p xmlns:a="http://schemas.openxmlformats.org/drawingml/2006/main">
            <a:r>
              <a:t>      "source_type": "benchmark_case",</a:t>
            </a:r>
          </a:p>
          <a:p xmlns:a="http://schemas.openxmlformats.org/drawingml/2006/main">
            <a:r>
              <a:t>      "intervention": "한강 밤핑의 시간대 예약·노쇼 보증금·야간 콘텐츠·주변 상권 결합",</a:t>
            </a:r>
          </a:p>
          <a:p xmlns:a="http://schemas.openxmlformats.org/drawingml/2006/main">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xmlns:a="http://schemas.openxmlformats.org/drawingml/2006/main">
            <a:r>
              <a:t>      "evidence_strength": "low",</a:t>
            </a:r>
          </a:p>
          <a:p xmlns:a="http://schemas.openxmlformats.org/drawingml/2006/main">
            <a:r>
              <a:t>      "published_or_updated_at": "2026-07",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"지역사랑 휴가지원(반값여행) 신설 및 ‘대한민국 반값여행’ 성과 분석",</a:t>
            </a:r>
          </a:p>
          <a:p xmlns:a="http://schemas.openxmlformats.org/drawingml/2006/main">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xmlns:a="http://schemas.openxmlformats.org/drawingml/2006/main">
            <a:r>
              <a:t>      "source_id": "case:c6d4752e1342a7",</a:t>
            </a:r>
          </a:p>
          <a:p xmlns:a="http://schemas.openxmlformats.org/drawingml/2006/main">
            <a:r>
              <a:t>      "source_url": "https://www.mcst.go.kr/site/s_policy/govPolicy/performTotal.jsp",</a:t>
            </a:r>
          </a:p>
          <a:p xmlns:a="http://schemas.openxmlformats.org/drawingml/2006/main">
            <a:r>
              <a:t>      "case_region": "전국 인구감소지역 중 2026년 상반기 선정 16개 지역",</a:t>
            </a:r>
          </a:p>
          <a:p xmlns:a="http://schemas.openxmlformats.org/drawingml/2006/main">
            <a:r>
              <a:t>      "source_type": "benchmark_case",</a:t>
            </a:r>
          </a:p>
          <a:p xmlns:a="http://schemas.openxmlformats.org/drawingml/2006/main">
            <a:r>
              <a:t>      "intervention": "지역사랑 휴가지원 ‘대한민국 반값여행’",</a:t>
            </a:r>
          </a:p>
          <a:p xmlns:a="http://schemas.openxmlformats.org/drawingml/2006/main">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xmlns:a="http://schemas.openxmlformats.org/drawingml/2006/main">
            <a:r>
              <a:t>      "evidence_strength": "medium",</a:t>
            </a:r>
          </a:p>
          <a:p xmlns:a="http://schemas.openxmlformats.org/drawingml/2006/main">
            <a:r>
              <a:t>      "published_or_updated_at": "2026-06-22",</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"202609",</a:t>
            </a:r>
          </a:p>
          <a:p xmlns:a="http://schemas.openxmlformats.org/drawingml/2006/main">
            <a:r>
              <a:t>        "visitors": 2363056.0,</a:t>
            </a:r>
          </a:p>
          <a:p xmlns:a="http://schemas.openxmlformats.org/drawingml/2006/main">
            <a:r>
              <a:t>        "is_forecast": true,</a:t>
            </a:r>
          </a:p>
          <a:p xmlns:a="http://schemas.openxmlformats.org/drawingml/2006/main">
            <a:r>
              <a:t>        "spending_krw": 67047345591.0,</a:t>
            </a:r>
          </a:p>
          <a:p xmlns:a="http://schemas.openxmlformats.org/drawingml/2006/main">
            <a:r>
              <a:t>        "stay_minutes": 2518.0,</a:t>
            </a:r>
          </a:p>
          <a:p xmlns:a="http://schemas.openxmlformats.org/drawingml/2006/main">
            <a:r>
              <a:t>        "lodging_nights": 2.98,</a:t>
            </a:r>
          </a:p>
          <a:p xmlns:a="http://schemas.openxmlformats.org/drawingml/2006/main">
            <a:r>
              <a:t>        "lodging_rate_pct": 13.1,</a:t>
            </a:r>
          </a:p>
          <a:p xmlns:a="http://schemas.openxmlformats.org/drawingml/2006/main">
            <a:r>
              <a:t>        "lodging_searches": 34529,</a:t>
            </a:r>
          </a:p>
          <a:p xmlns:a="http://schemas.openxmlformats.org/drawingml/2006/main">
            <a:r>
              <a:t>        "navigation_searches": 259153,</a:t>
            </a:r>
          </a:p>
          <a:p xmlns:a="http://schemas.openxmlformats.org/drawingml/2006/main">
            <a:r>
              <a:t>        "visitor_yoy_percent": 3.0,</a:t>
            </a:r>
          </a:p>
          <a:p xmlns:a="http://schemas.openxmlformats.org/drawingml/2006/main">
            <a:r>
              <a:t>        "spending_yoy_percent": 22.29,</a:t>
            </a:r>
          </a:p>
          <a:p xmlns:a="http://schemas.openxmlformats.org/drawingml/2006/main">
            <a:r>
              <a:t>        "metric_changes_percent": {</a:t>
            </a:r>
          </a:p>
          <a:p xmlns:a="http://schemas.openxmlformats.org/drawingml/2006/main">
            <a:r>
              <a:t>          "stay_minutes": 0.0,</a:t>
            </a:r>
          </a:p>
          <a:p xmlns:a="http://schemas.openxmlformats.org/drawingml/2006/main">
            <a:r>
              <a:t>          "lodging_nights": 1.02,</a:t>
            </a:r>
          </a:p>
          <a:p xmlns:a="http://schemas.openxmlformats.org/drawingml/2006/main">
            <a:r>
              <a:t>          "lodging_rate_pct": 0.0,</a:t>
            </a:r>
          </a:p>
          <a:p xmlns:a="http://schemas.openxmlformats.org/drawingml/2006/main">
            <a:r>
              <a:t>          "lodging_searches": 8.97,</a:t>
            </a:r>
          </a:p>
          <a:p xmlns:a="http://schemas.openxmlformats.org/drawingml/2006/main">
            <a:r>
              <a:t>          "navigation_searches": 0.0</a:t>
            </a:r>
          </a:p>
          <a:p xmlns:a="http://schemas.openxmlformats.org/drawingml/2006/main">
            <a:r>
              <a:t>        },</a:t>
            </a:r>
          </a:p>
          <a:p xmlns:a="http://schemas.openxmlformats.org/drawingml/2006/main">
            <a:r>
              <a:t>        "previous_year_visitors": 2294130,</a:t>
            </a:r>
          </a:p>
          <a:p xmlns:a="http://schemas.openxmlformats.org/drawingml/2006/main">
            <a:r>
              <a:t>        "previous_year_spending_krw": 54826341000,</a:t>
            </a:r>
          </a:p>
          <a:p xmlns:a="http://schemas.openxmlformats.org/drawingml/2006/main">
            <a:r>
              <a:t>        "previous_year_stay_minutes": 2518.0,</a:t>
            </a:r>
          </a:p>
          <a:p xmlns:a="http://schemas.openxmlformats.org/drawingml/2006/main">
            <a:r>
              <a:t>        "previous_year_lodging_nights": 2.95,</a:t>
            </a:r>
          </a:p>
          <a:p xmlns:a="http://schemas.openxmlformats.org/drawingml/2006/main">
            <a:r>
              <a:t>        "previous_year_lodging_rate_pct": 13.1,</a:t>
            </a:r>
          </a:p>
          <a:p xmlns:a="http://schemas.openxmlformats.org/drawingml/2006/main">
            <a:r>
              <a:t>        "previous_year_lodging_searches": 31686,</a:t>
            </a:r>
          </a:p>
          <a:p xmlns:a="http://schemas.openxmlformats.org/drawingml/2006/main">
            <a:r>
              <a:t>        "previous_year_navigation_searches": 259153</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2633270.0,</a:t>
            </a:r>
          </a:p>
          <a:p xmlns:a="http://schemas.openxmlformats.org/drawingml/2006/main">
            <a:r>
              <a:t>        "is_forecast": true,</a:t>
            </a:r>
          </a:p>
          <a:p xmlns:a="http://schemas.openxmlformats.org/drawingml/2006/main">
            <a:r>
              <a:t>        "spending_krw": 83929975649.0,</a:t>
            </a:r>
          </a:p>
          <a:p xmlns:a="http://schemas.openxmlformats.org/drawingml/2006/main">
            <a:r>
              <a:t>        "stay_minutes": 1683.0,</a:t>
            </a:r>
          </a:p>
          <a:p xmlns:a="http://schemas.openxmlformats.org/drawingml/2006/main">
            <a:r>
              <a:t>        "lodging_nights": 2.87,</a:t>
            </a:r>
          </a:p>
          <a:p xmlns:a="http://schemas.openxmlformats.org/drawingml/2006/main">
            <a:r>
              <a:t>        "lodging_rate_pct": 15.5,</a:t>
            </a:r>
          </a:p>
          <a:p xmlns:a="http://schemas.openxmlformats.org/drawingml/2006/main">
            <a:r>
              <a:t>        "lodging_searches": 50011,</a:t>
            </a:r>
          </a:p>
          <a:p xmlns:a="http://schemas.openxmlformats.org/drawingml/2006/main">
            <a:r>
              <a:t>        "navigation_searches": 519488,</a:t>
            </a:r>
          </a:p>
          <a:p xmlns:a="http://schemas.openxmlformats.org/drawingml/2006/main">
            <a:r>
              <a:t>        "visitor_yoy_percent": -5.94,</a:t>
            </a:r>
          </a:p>
          <a:p xmlns:a="http://schemas.openxmlformats.org/drawingml/2006/main">
            <a:r>
              <a:t>        "spending_yoy_percent": 21.43,</a:t>
            </a:r>
          </a:p>
          <a:p xmlns:a="http://schemas.openxmlformats.org/drawingml/2006/main">
            <a:r>
              <a:t>        "metric_changes_percent": {</a:t>
            </a:r>
          </a:p>
          <a:p xmlns:a="http://schemas.openxmlformats.org/drawingml/2006/main">
            <a:r>
              <a:t>          "stay_minutes": 0.0,</a:t>
            </a:r>
          </a:p>
          <a:p xmlns:a="http://schemas.openxmlformats.org/drawingml/2006/main">
            <a:r>
              <a:t>          "lodging_nights": 1.77,</a:t>
            </a:r>
          </a:p>
          <a:p xmlns:a="http://schemas.openxmlformats.org/drawingml/2006/main">
            <a:r>
              <a:t>          "lodging_rate_pct": 0.0,</a:t>
            </a:r>
          </a:p>
          <a:p xmlns:a="http://schemas.openxmlformats.org/drawingml/2006/main">
            <a:r>
              <a:t>          "lodging_searches": -21.42,</a:t>
            </a:r>
          </a:p>
          <a:p xmlns:a="http://schemas.openxmlformats.org/drawingml/2006/main">
            <a:r>
              <a:t>          "navigation_searches": 0.0</a:t>
            </a:r>
          </a:p>
          <a:p xmlns:a="http://schemas.openxmlformats.org/drawingml/2006/main">
            <a:r>
              <a:t>        },</a:t>
            </a:r>
          </a:p>
          <a:p xmlns:a="http://schemas.openxmlformats.org/drawingml/2006/main">
            <a:r>
              <a:t>        "previous_year_visitors": 2799509,</a:t>
            </a:r>
          </a:p>
          <a:p xmlns:a="http://schemas.openxmlformats.org/drawingml/2006/main">
            <a:r>
              <a:t>        "previous_year_spending_krw": 69118387000,</a:t>
            </a:r>
          </a:p>
          <a:p xmlns:a="http://schemas.openxmlformats.org/drawingml/2006/main">
            <a:r>
              <a:t>        "previous_year_stay_minutes": 1683.0,</a:t>
            </a:r>
          </a:p>
          <a:p xmlns:a="http://schemas.openxmlformats.org/drawingml/2006/main">
            <a:r>
              <a:t>        "previous_year_lodging_nights": 2.82,</a:t>
            </a:r>
          </a:p>
          <a:p xmlns:a="http://schemas.openxmlformats.org/drawingml/2006/main">
            <a:r>
              <a:t>        "previous_year_lodging_rate_pct": 15.5,</a:t>
            </a:r>
          </a:p>
          <a:p xmlns:a="http://schemas.openxmlformats.org/drawingml/2006/main">
            <a:r>
              <a:t>        "previous_year_lodging_searches": 63645,</a:t>
            </a:r>
          </a:p>
          <a:p xmlns:a="http://schemas.openxmlformats.org/drawingml/2006/main">
            <a:r>
              <a:t>        "previous_year_navigation_searches": 519488</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2632315.0,</a:t>
            </a:r>
          </a:p>
          <a:p xmlns:a="http://schemas.openxmlformats.org/drawingml/2006/main">
            <a:r>
              <a:t>        "is_forecast": true,</a:t>
            </a:r>
          </a:p>
          <a:p xmlns:a="http://schemas.openxmlformats.org/drawingml/2006/main">
            <a:r>
              <a:t>        "spending_krw": 89947681558.0,</a:t>
            </a:r>
          </a:p>
          <a:p xmlns:a="http://schemas.openxmlformats.org/drawingml/2006/main">
            <a:r>
              <a:t>        "stay_minutes": 1488.0,</a:t>
            </a:r>
          </a:p>
          <a:p xmlns:a="http://schemas.openxmlformats.org/drawingml/2006/main">
            <a:r>
              <a:t>        "lodging_nights": 2.76,</a:t>
            </a:r>
          </a:p>
          <a:p xmlns:a="http://schemas.openxmlformats.org/drawingml/2006/main">
            <a:r>
              <a:t>        "lodging_rate_pct": 12.4,</a:t>
            </a:r>
          </a:p>
          <a:p xmlns:a="http://schemas.openxmlformats.org/drawingml/2006/main">
            <a:r>
              <a:t>        "lodging_searches": 48286,</a:t>
            </a:r>
          </a:p>
          <a:p xmlns:a="http://schemas.openxmlformats.org/drawingml/2006/main">
            <a:r>
              <a:t>        "navigation_searches": 352852,</a:t>
            </a:r>
          </a:p>
          <a:p xmlns:a="http://schemas.openxmlformats.org/drawingml/2006/main">
            <a:r>
              <a:t>        "visitor_yoy_percent": 4.18,</a:t>
            </a:r>
          </a:p>
          <a:p xmlns:a="http://schemas.openxmlformats.org/drawingml/2006/main">
            <a:r>
              <a:t>        "spending_yoy_percent": 41.26,</a:t>
            </a:r>
          </a:p>
          <a:p xmlns:a="http://schemas.openxmlformats.org/drawingml/2006/main">
            <a:r>
              <a:t>        "metric_changes_percent": {</a:t>
            </a:r>
          </a:p>
          <a:p xmlns:a="http://schemas.openxmlformats.org/drawingml/2006/main">
            <a:r>
              <a:t>          "stay_minutes": 0.0,</a:t>
            </a:r>
          </a:p>
          <a:p xmlns:a="http://schemas.openxmlformats.org/drawingml/2006/main">
            <a:r>
              <a:t>          "lodging_nights": 2.22,</a:t>
            </a:r>
          </a:p>
          <a:p xmlns:a="http://schemas.openxmlformats.org/drawingml/2006/main">
            <a:r>
              <a:t>          "lodging_rate_pct": 0.0,</a:t>
            </a:r>
          </a:p>
          <a:p xmlns:a="http://schemas.openxmlformats.org/drawingml/2006/main">
            <a:r>
              <a:t>          "lodging_searches": 21.22,</a:t>
            </a:r>
          </a:p>
          <a:p xmlns:a="http://schemas.openxmlformats.org/drawingml/2006/main">
            <a:r>
              <a:t>          "navigation_searches": 0.0</a:t>
            </a:r>
          </a:p>
          <a:p xmlns:a="http://schemas.openxmlformats.org/drawingml/2006/main">
            <a:r>
              <a:t>        },</a:t>
            </a:r>
          </a:p>
          <a:p xmlns:a="http://schemas.openxmlformats.org/drawingml/2006/main">
            <a:r>
              <a:t>        "previous_year_visitors": 2526699,</a:t>
            </a:r>
          </a:p>
          <a:p xmlns:a="http://schemas.openxmlformats.org/drawingml/2006/main">
            <a:r>
              <a:t>        "previous_year_spending_krw": 63675989000,</a:t>
            </a:r>
          </a:p>
          <a:p xmlns:a="http://schemas.openxmlformats.org/drawingml/2006/main">
            <a:r>
              <a:t>        "previous_year_stay_minutes": 1488.0,</a:t>
            </a:r>
          </a:p>
          <a:p xmlns:a="http://schemas.openxmlformats.org/drawingml/2006/main">
            <a:r>
              <a:t>        "previous_year_lodging_nights": 2.7,</a:t>
            </a:r>
          </a:p>
          <a:p xmlns:a="http://schemas.openxmlformats.org/drawingml/2006/main">
            <a:r>
              <a:t>        "previous_year_lodging_rate_pct": 12.4,</a:t>
            </a:r>
          </a:p>
          <a:p xmlns:a="http://schemas.openxmlformats.org/drawingml/2006/main">
            <a:r>
              <a:t>        "previous_year_lodging_searches": 39833,</a:t>
            </a:r>
          </a:p>
          <a:p xmlns:a="http://schemas.openxmlformats.org/drawingml/2006/main">
            <a:r>
              <a:t>        "previous_year_navigation_searches": 352852</a:t>
            </a:r>
          </a:p>
          <a:p xmlns:a="http://schemas.openxmlformats.org/drawingml/2006/main">
            <a:r>
              <a:t>      }</a:t>
            </a:r>
          </a:p>
          <a:p xmlns:a="http://schemas.openxmlformats.org/drawingml/2006/main">
            <a:r>
              <a:t>    ],</a:t>
            </a:r>
          </a:p>
          <a:p xmlns:a="http://schemas.openxmlformats.org/drawingml/2006/main">
            <a:r>
              <a:t>    "period": "202609~202611",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"strategy_timeframe",</a:t>
            </a:r>
          </a:p>
          <a:p xmlns:a="http://schemas.openxmlformats.org/drawingml/2006/main">
            <a:r>
              <a:t>    "requested_period": "202609~202611"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2366862,</a:t>
            </a:r>
          </a:p>
          <a:p xmlns:a="http://schemas.openxmlformats.org/drawingml/2006/main">
            <a:r>
              <a:t>      "is_forecast": true,</a:t>
            </a:r>
          </a:p>
          <a:p xmlns:a="http://schemas.openxmlformats.org/drawingml/2006/main">
            <a:r>
              <a:t>      "spending_krw": 67735223997,</a:t>
            </a:r>
          </a:p>
          <a:p xmlns:a="http://schemas.openxmlformats.org/drawingml/2006/main">
            <a:r>
              <a:t>      "stay_minutes": 1944.0,</a:t>
            </a:r>
          </a:p>
          <a:p xmlns:a="http://schemas.openxmlformats.org/drawingml/2006/main">
            <a:r>
              <a:t>      "lodging_nights": 2.83,</a:t>
            </a:r>
          </a:p>
          <a:p xmlns:a="http://schemas.openxmlformats.org/drawingml/2006/main">
            <a:r>
              <a:t>      "lodging_rate_pct": 13.8,</a:t>
            </a:r>
          </a:p>
          <a:p xmlns:a="http://schemas.openxmlformats.org/drawingml/2006/main">
            <a:r>
              <a:t>      "lodging_searches": 46511,</a:t>
            </a:r>
          </a:p>
          <a:p xmlns:a="http://schemas.openxmlformats.org/drawingml/2006/main">
            <a:r>
              <a:t>      "navigation_searches": 297924,</a:t>
            </a:r>
          </a:p>
          <a:p xmlns:a="http://schemas.openxmlformats.org/drawingml/2006/main">
            <a:r>
              <a:t>      "visitor_yoy_percent": -1.04,</a:t>
            </a:r>
          </a:p>
          <a:p xmlns:a="http://schemas.openxmlformats.org/drawingml/2006/main">
            <a:r>
              <a:t>      "spending_yoy_percent": 14.97,</a:t>
            </a:r>
          </a:p>
          <a:p xmlns:a="http://schemas.openxmlformats.org/drawingml/2006/main">
            <a:r>
              <a:t>      "metric_changes_percent": {</a:t>
            </a:r>
          </a:p>
          <a:p xmlns:a="http://schemas.openxmlformats.org/drawingml/2006/main">
            <a:r>
              <a:t>        "stay_minutes": 0.0,</a:t>
            </a:r>
          </a:p>
          <a:p xmlns:a="http://schemas.openxmlformats.org/drawingml/2006/main">
            <a:r>
              <a:t>        "lodging_nights": 0.35,</a:t>
            </a:r>
          </a:p>
          <a:p xmlns:a="http://schemas.openxmlformats.org/drawingml/2006/main">
            <a:r>
              <a:t>        "lodging_rate_pct": 0.0,</a:t>
            </a:r>
          </a:p>
          <a:p xmlns:a="http://schemas.openxmlformats.org/drawingml/2006/main">
            <a:r>
              <a:t>        "lodging_searches": 17.21,</a:t>
            </a:r>
          </a:p>
          <a:p xmlns:a="http://schemas.openxmlformats.org/drawingml/2006/main">
            <a:r>
              <a:t>        "navigation_searches": 0.0</a:t>
            </a:r>
          </a:p>
          <a:p xmlns:a="http://schemas.openxmlformats.org/drawingml/2006/main">
            <a:r>
              <a:t>      },</a:t>
            </a:r>
          </a:p>
          <a:p xmlns:a="http://schemas.openxmlformats.org/drawingml/2006/main">
            <a:r>
              <a:t>      "previous_year_visitors": 2391642,</a:t>
            </a:r>
          </a:p>
          <a:p xmlns:a="http://schemas.openxmlformats.org/drawingml/2006/main">
            <a:r>
              <a:t>      "previous_year_spending_krw": 58914875000,</a:t>
            </a:r>
          </a:p>
          <a:p xmlns:a="http://schemas.openxmlformats.org/drawingml/2006/main">
            <a:r>
              <a:t>      "previous_year_stay_minutes": 1944.0,</a:t>
            </a:r>
          </a:p>
          <a:p xmlns:a="http://schemas.openxmlformats.org/drawingml/2006/main">
            <a:r>
              <a:t>      "previous_year_lodging_nights": 2.82,</a:t>
            </a:r>
          </a:p>
          <a:p xmlns:a="http://schemas.openxmlformats.org/drawingml/2006/main">
            <a:r>
              <a:t>      "previous_year_lodging_rate_pct": 13.8,</a:t>
            </a:r>
          </a:p>
          <a:p xmlns:a="http://schemas.openxmlformats.org/drawingml/2006/main">
            <a:r>
              <a:t>      "previous_year_lodging_searches": 39682,</a:t>
            </a:r>
          </a:p>
          <a:p xmlns:a="http://schemas.openxmlformats.org/drawingml/2006/main">
            <a:r>
              <a:t>      "previous_year_navigation_searches": 297924</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2642874,</a:t>
            </a:r>
          </a:p>
          <a:p xmlns:a="http://schemas.openxmlformats.org/drawingml/2006/main">
            <a:r>
              <a:t>      "is_forecast": true,</a:t>
            </a:r>
          </a:p>
          <a:p xmlns:a="http://schemas.openxmlformats.org/drawingml/2006/main">
            <a:r>
              <a:t>      "spending_krw": 76161639833,</a:t>
            </a:r>
          </a:p>
          <a:p xmlns:a="http://schemas.openxmlformats.org/drawingml/2006/main">
            <a:r>
              <a:t>      "stay_minutes": 1672.0,</a:t>
            </a:r>
          </a:p>
          <a:p xmlns:a="http://schemas.openxmlformats.org/drawingml/2006/main">
            <a:r>
              <a:t>      "lodging_nights": 2.76,</a:t>
            </a:r>
          </a:p>
          <a:p xmlns:a="http://schemas.openxmlformats.org/drawingml/2006/main">
            <a:r>
              <a:t>      "lodging_rate_pct": 14.7,</a:t>
            </a:r>
          </a:p>
          <a:p xmlns:a="http://schemas.openxmlformats.org/drawingml/2006/main">
            <a:r>
              <a:t>      "lodging_searches": 49759,</a:t>
            </a:r>
          </a:p>
          <a:p xmlns:a="http://schemas.openxmlformats.org/drawingml/2006/main">
            <a:r>
              <a:t>      "navigation_searches": 346177,</a:t>
            </a:r>
          </a:p>
          <a:p xmlns:a="http://schemas.openxmlformats.org/drawingml/2006/main">
            <a:r>
              <a:t>      "visitor_yoy_percent": 0.13,</a:t>
            </a:r>
          </a:p>
          <a:p xmlns:a="http://schemas.openxmlformats.org/drawingml/2006/main">
            <a:r>
              <a:t>      "spending_yoy_percent": 18.85,</a:t>
            </a:r>
          </a:p>
          <a:p xmlns:a="http://schemas.openxmlformats.org/drawingml/2006/main">
            <a:r>
              <a:t>      "metric_changes_percent": {</a:t>
            </a:r>
          </a:p>
          <a:p xmlns:a="http://schemas.openxmlformats.org/drawingml/2006/main">
            <a:r>
              <a:t>        "stay_minutes": 0.0,</a:t>
            </a:r>
          </a:p>
          <a:p xmlns:a="http://schemas.openxmlformats.org/drawingml/2006/main">
            <a:r>
              <a:t>        "lodging_nights": 1.1,</a:t>
            </a:r>
          </a:p>
          <a:p xmlns:a="http://schemas.openxmlformats.org/drawingml/2006/main">
            <a:r>
              <a:t>        "lodging_rate_pct": 0.0,</a:t>
            </a:r>
          </a:p>
          <a:p xmlns:a="http://schemas.openxmlformats.org/drawingml/2006/main">
            <a:r>
              <a:t>        "lodging_searches": -0.93,</a:t>
            </a:r>
          </a:p>
          <a:p xmlns:a="http://schemas.openxmlformats.org/drawingml/2006/main">
            <a:r>
              <a:t>        "navigation_searches": 0.0</a:t>
            </a:r>
          </a:p>
          <a:p xmlns:a="http://schemas.openxmlformats.org/drawingml/2006/main">
            <a:r>
              <a:t>      },</a:t>
            </a:r>
          </a:p>
          <a:p xmlns:a="http://schemas.openxmlformats.org/drawingml/2006/main">
            <a:r>
              <a:t>      "previous_year_visitors": 2639487,</a:t>
            </a:r>
          </a:p>
          <a:p xmlns:a="http://schemas.openxmlformats.org/drawingml/2006/main">
            <a:r>
              <a:t>      "previous_year_spending_krw": 64083943000,</a:t>
            </a:r>
          </a:p>
          <a:p xmlns:a="http://schemas.openxmlformats.org/drawingml/2006/main">
            <a:r>
              <a:t>      "previous_year_stay_minutes": 1672.0,</a:t>
            </a:r>
          </a:p>
          <a:p xmlns:a="http://schemas.openxmlformats.org/drawingml/2006/main">
            <a:r>
              <a:t>      "previous_year_lodging_nights": 2.73,</a:t>
            </a:r>
          </a:p>
          <a:p xmlns:a="http://schemas.openxmlformats.org/drawingml/2006/main">
            <a:r>
              <a:t>      "previous_year_lodging_rate_pct": 14.7,</a:t>
            </a:r>
          </a:p>
          <a:p xmlns:a="http://schemas.openxmlformats.org/drawingml/2006/main">
            <a:r>
              <a:t>      "previous_year_lodging_searches": 50224,</a:t>
            </a:r>
          </a:p>
          <a:p xmlns:a="http://schemas.openxmlformats.org/drawingml/2006/main">
            <a:r>
              <a:t>      "previous_year_navigation_searches": 346177</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2363056,</a:t>
            </a:r>
          </a:p>
          <a:p xmlns:a="http://schemas.openxmlformats.org/drawingml/2006/main">
            <a:r>
              <a:t>      "is_forecast": true,</a:t>
            </a:r>
          </a:p>
          <a:p xmlns:a="http://schemas.openxmlformats.org/drawingml/2006/main">
            <a:r>
              <a:t>      "spending_krw": 67047345591,</a:t>
            </a:r>
          </a:p>
          <a:p xmlns:a="http://schemas.openxmlformats.org/drawingml/2006/main">
            <a:r>
              <a:t>      "stay_minutes": 2518.0,</a:t>
            </a:r>
          </a:p>
          <a:p xmlns:a="http://schemas.openxmlformats.org/drawingml/2006/main">
            <a:r>
              <a:t>      "lodging_nights": 2.98,</a:t>
            </a:r>
          </a:p>
          <a:p xmlns:a="http://schemas.openxmlformats.org/drawingml/2006/main">
            <a:r>
              <a:t>      "lodging_rate_pct": 13.1,</a:t>
            </a:r>
          </a:p>
          <a:p xmlns:a="http://schemas.openxmlformats.org/drawingml/2006/main">
            <a:r>
              <a:t>      "lodging_searches": 34529,</a:t>
            </a:r>
          </a:p>
          <a:p xmlns:a="http://schemas.openxmlformats.org/drawingml/2006/main">
            <a:r>
              <a:t>      "navigation_searches": 259153,</a:t>
            </a:r>
          </a:p>
          <a:p xmlns:a="http://schemas.openxmlformats.org/drawingml/2006/main">
            <a:r>
              <a:t>      "visitor_yoy_percent": 3.0,</a:t>
            </a:r>
          </a:p>
          <a:p xmlns:a="http://schemas.openxmlformats.org/drawingml/2006/main">
            <a:r>
              <a:t>      "spending_yoy_percent": 22.29,</a:t>
            </a:r>
          </a:p>
          <a:p xmlns:a="http://schemas.openxmlformats.org/drawingml/2006/main">
            <a:r>
              <a:t>      "metric_changes_percent": {</a:t>
            </a:r>
          </a:p>
          <a:p xmlns:a="http://schemas.openxmlformats.org/drawingml/2006/main">
            <a:r>
              <a:t>        "stay_minutes": 0.0,</a:t>
            </a:r>
          </a:p>
          <a:p xmlns:a="http://schemas.openxmlformats.org/drawingml/2006/main">
            <a:r>
              <a:t>        "lodging_nights": 1.02,</a:t>
            </a:r>
          </a:p>
          <a:p xmlns:a="http://schemas.openxmlformats.org/drawingml/2006/main">
            <a:r>
              <a:t>        "lodging_rate_pct": 0.0,</a:t>
            </a:r>
          </a:p>
          <a:p xmlns:a="http://schemas.openxmlformats.org/drawingml/2006/main">
            <a:r>
              <a:t>        "lodging_searches": 8.97,</a:t>
            </a:r>
          </a:p>
          <a:p xmlns:a="http://schemas.openxmlformats.org/drawingml/2006/main">
            <a:r>
              <a:t>        "navigation_searches": 0.0</a:t>
            </a:r>
          </a:p>
          <a:p xmlns:a="http://schemas.openxmlformats.org/drawingml/2006/main">
            <a:r>
              <a:t>      },</a:t>
            </a:r>
          </a:p>
          <a:p xmlns:a="http://schemas.openxmlformats.org/drawingml/2006/main">
            <a:r>
              <a:t>      "previous_year_visitors": 2294130,</a:t>
            </a:r>
          </a:p>
          <a:p xmlns:a="http://schemas.openxmlformats.org/drawingml/2006/main">
            <a:r>
              <a:t>      "previous_year_spending_krw": 54826341000,</a:t>
            </a:r>
          </a:p>
          <a:p xmlns:a="http://schemas.openxmlformats.org/drawingml/2006/main">
            <a:r>
              <a:t>      "previous_year_stay_minutes": 2518.0,</a:t>
            </a:r>
          </a:p>
          <a:p xmlns:a="http://schemas.openxmlformats.org/drawingml/2006/main">
            <a:r>
              <a:t>      "previous_year_lodging_nights": 2.95,</a:t>
            </a:r>
          </a:p>
          <a:p xmlns:a="http://schemas.openxmlformats.org/drawingml/2006/main">
            <a:r>
              <a:t>      "previous_year_lodging_rate_pct": 13.1,</a:t>
            </a:r>
          </a:p>
          <a:p xmlns:a="http://schemas.openxmlformats.org/drawingml/2006/main">
            <a:r>
              <a:t>      "previous_year_lodging_searches": 31686,</a:t>
            </a:r>
          </a:p>
          <a:p xmlns:a="http://schemas.openxmlformats.org/drawingml/2006/main">
            <a:r>
              <a:t>      "previous_year_navigation_searches": 259153</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2633270,</a:t>
            </a:r>
          </a:p>
          <a:p xmlns:a="http://schemas.openxmlformats.org/drawingml/2006/main">
            <a:r>
              <a:t>      "is_forecast": true,</a:t>
            </a:r>
          </a:p>
          <a:p xmlns:a="http://schemas.openxmlformats.org/drawingml/2006/main">
            <a:r>
              <a:t>      "spending_krw": 83929975649,</a:t>
            </a:r>
          </a:p>
          <a:p xmlns:a="http://schemas.openxmlformats.org/drawingml/2006/main">
            <a:r>
              <a:t>      "stay_minutes": 1683.0,</a:t>
            </a:r>
          </a:p>
          <a:p xmlns:a="http://schemas.openxmlformats.org/drawingml/2006/main">
            <a:r>
              <a:t>      "lodging_nights": 2.87,</a:t>
            </a:r>
          </a:p>
          <a:p xmlns:a="http://schemas.openxmlformats.org/drawingml/2006/main">
            <a:r>
              <a:t>      "lodging_rate_pct": 15.5,</a:t>
            </a:r>
          </a:p>
          <a:p xmlns:a="http://schemas.openxmlformats.org/drawingml/2006/main">
            <a:r>
              <a:t>      "lodging_searches": 50011,</a:t>
            </a:r>
          </a:p>
          <a:p xmlns:a="http://schemas.openxmlformats.org/drawingml/2006/main">
            <a:r>
              <a:t>      "navigation_searches": 519488,</a:t>
            </a:r>
          </a:p>
          <a:p xmlns:a="http://schemas.openxmlformats.org/drawingml/2006/main">
            <a:r>
              <a:t>      "visitor_yoy_percent": -5.94,</a:t>
            </a:r>
          </a:p>
          <a:p xmlns:a="http://schemas.openxmlformats.org/drawingml/2006/main">
            <a:r>
              <a:t>      "spending_yoy_percent": 21.43,</a:t>
            </a:r>
          </a:p>
          <a:p xmlns:a="http://schemas.openxmlformats.org/drawingml/2006/main">
            <a:r>
              <a:t>      "metric_changes_percent": {</a:t>
            </a:r>
          </a:p>
          <a:p xmlns:a="http://schemas.openxmlformats.org/drawingml/2006/main">
            <a:r>
              <a:t>        "stay_minutes": 0.0,</a:t>
            </a:r>
          </a:p>
          <a:p xmlns:a="http://schemas.openxmlformats.org/drawingml/2006/main">
            <a:r>
              <a:t>        "lodging_nights": 1.77,</a:t>
            </a:r>
          </a:p>
          <a:p xmlns:a="http://schemas.openxmlformats.org/drawingml/2006/main">
            <a:r>
              <a:t>        "lodging_rate_pct": 0.0,</a:t>
            </a:r>
          </a:p>
          <a:p xmlns:a="http://schemas.openxmlformats.org/drawingml/2006/main">
            <a:r>
              <a:t>        "lodging_searches": -21.42,</a:t>
            </a:r>
          </a:p>
          <a:p xmlns:a="http://schemas.openxmlformats.org/drawingml/2006/main">
            <a:r>
              <a:t>        "navigation_searches": 0.0</a:t>
            </a:r>
          </a:p>
          <a:p xmlns:a="http://schemas.openxmlformats.org/drawingml/2006/main">
            <a:r>
              <a:t>      },</a:t>
            </a:r>
          </a:p>
          <a:p xmlns:a="http://schemas.openxmlformats.org/drawingml/2006/main">
            <a:r>
              <a:t>      "previous_year_visitors": 2799509,</a:t>
            </a:r>
          </a:p>
          <a:p xmlns:a="http://schemas.openxmlformats.org/drawingml/2006/main">
            <a:r>
              <a:t>      "previous_year_spending_krw": 69118387000,</a:t>
            </a:r>
          </a:p>
          <a:p xmlns:a="http://schemas.openxmlformats.org/drawingml/2006/main">
            <a:r>
              <a:t>      "previous_year_stay_minutes": 1683.0,</a:t>
            </a:r>
          </a:p>
          <a:p xmlns:a="http://schemas.openxmlformats.org/drawingml/2006/main">
            <a:r>
              <a:t>      "previous_year_lodging_nights": 2.82,</a:t>
            </a:r>
          </a:p>
          <a:p xmlns:a="http://schemas.openxmlformats.org/drawingml/2006/main">
            <a:r>
              <a:t>      "previous_year_lodging_rate_pct": 15.5,</a:t>
            </a:r>
          </a:p>
          <a:p xmlns:a="http://schemas.openxmlformats.org/drawingml/2006/main">
            <a:r>
              <a:t>      "previous_year_lodging_searches": 63645,</a:t>
            </a:r>
          </a:p>
          <a:p xmlns:a="http://schemas.openxmlformats.org/drawingml/2006/main">
            <a:r>
              <a:t>      "previous_year_navigation_searches": 519488</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2632315,</a:t>
            </a:r>
          </a:p>
          <a:p xmlns:a="http://schemas.openxmlformats.org/drawingml/2006/main">
            <a:r>
              <a:t>      "is_forecast": true,</a:t>
            </a:r>
          </a:p>
          <a:p xmlns:a="http://schemas.openxmlformats.org/drawingml/2006/main">
            <a:r>
              <a:t>      "spending_krw": 89947681558,</a:t>
            </a:r>
          </a:p>
          <a:p xmlns:a="http://schemas.openxmlformats.org/drawingml/2006/main">
            <a:r>
              <a:t>      "stay_minutes": 1488.0,</a:t>
            </a:r>
          </a:p>
          <a:p xmlns:a="http://schemas.openxmlformats.org/drawingml/2006/main">
            <a:r>
              <a:t>      "lodging_nights": 2.76,</a:t>
            </a:r>
          </a:p>
          <a:p xmlns:a="http://schemas.openxmlformats.org/drawingml/2006/main">
            <a:r>
              <a:t>      "lodging_rate_pct": 12.4,</a:t>
            </a:r>
          </a:p>
          <a:p xmlns:a="http://schemas.openxmlformats.org/drawingml/2006/main">
            <a:r>
              <a:t>      "lodging_searches": 48286,</a:t>
            </a:r>
          </a:p>
          <a:p xmlns:a="http://schemas.openxmlformats.org/drawingml/2006/main">
            <a:r>
              <a:t>      "navigation_searches": 352852,</a:t>
            </a:r>
          </a:p>
          <a:p xmlns:a="http://schemas.openxmlformats.org/drawingml/2006/main">
            <a:r>
              <a:t>      "visitor_yoy_percent": 4.18,</a:t>
            </a:r>
          </a:p>
          <a:p xmlns:a="http://schemas.openxmlformats.org/drawingml/2006/main">
            <a:r>
              <a:t>      "spending_yoy_percent": 41.26,</a:t>
            </a:r>
          </a:p>
          <a:p xmlns:a="http://schemas.openxmlformats.org/drawingml/2006/main">
            <a:r>
              <a:t>      "metric_changes_percent": {</a:t>
            </a:r>
          </a:p>
          <a:p xmlns:a="http://schemas.openxmlformats.org/drawingml/2006/main">
            <a:r>
              <a:t>        "stay_minutes": 0.0,</a:t>
            </a:r>
          </a:p>
          <a:p xmlns:a="http://schemas.openxmlformats.org/drawingml/2006/main">
            <a:r>
              <a:t>        "lodging_nights": 2.22,</a:t>
            </a:r>
          </a:p>
          <a:p xmlns:a="http://schemas.openxmlformats.org/drawingml/2006/main">
            <a:r>
              <a:t>        "lodging_rate_pct": 0.0,</a:t>
            </a:r>
          </a:p>
          <a:p xmlns:a="http://schemas.openxmlformats.org/drawingml/2006/main">
            <a:r>
              <a:t>        "lodging_searches": 21.22,</a:t>
            </a:r>
          </a:p>
          <a:p xmlns:a="http://schemas.openxmlformats.org/drawingml/2006/main">
            <a:r>
              <a:t>        "navigation_searches": 0.0</a:t>
            </a:r>
          </a:p>
          <a:p xmlns:a="http://schemas.openxmlformats.org/drawingml/2006/main">
            <a:r>
              <a:t>      },</a:t>
            </a:r>
          </a:p>
          <a:p xmlns:a="http://schemas.openxmlformats.org/drawingml/2006/main">
            <a:r>
              <a:t>      "previous_year_visitors": 2526699,</a:t>
            </a:r>
          </a:p>
          <a:p xmlns:a="http://schemas.openxmlformats.org/drawingml/2006/main">
            <a:r>
              <a:t>      "previous_year_spending_krw": 63675989000,</a:t>
            </a:r>
          </a:p>
          <a:p xmlns:a="http://schemas.openxmlformats.org/drawingml/2006/main">
            <a:r>
              <a:t>      "previous_year_stay_minutes": 1488.0,</a:t>
            </a:r>
          </a:p>
          <a:p xmlns:a="http://schemas.openxmlformats.org/drawingml/2006/main">
            <a:r>
              <a:t>      "previous_year_lodging_nights": 2.7,</a:t>
            </a:r>
          </a:p>
          <a:p xmlns:a="http://schemas.openxmlformats.org/drawingml/2006/main">
            <a:r>
              <a:t>      "previous_year_lodging_rate_pct": 12.4,</a:t>
            </a:r>
          </a:p>
          <a:p xmlns:a="http://schemas.openxmlformats.org/drawingml/2006/main">
            <a:r>
              <a:t>      "previous_year_lodging_searches": 39833,</a:t>
            </a:r>
          </a:p>
          <a:p xmlns:a="http://schemas.openxmlformats.org/drawingml/2006/main">
            <a:r>
              <a:t>      "previous_year_navigation_searches": 352852</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2098615,</a:t>
            </a:r>
          </a:p>
          <a:p xmlns:a="http://schemas.openxmlformats.org/drawingml/2006/main">
            <a:r>
              <a:t>      "is_forecast": true,</a:t>
            </a:r>
          </a:p>
          <a:p xmlns:a="http://schemas.openxmlformats.org/drawingml/2006/main">
            <a:r>
              <a:t>      "spending_krw": 82896802464,</a:t>
            </a:r>
          </a:p>
          <a:p xmlns:a="http://schemas.openxmlformats.org/drawingml/2006/main">
            <a:r>
              <a:t>      "stay_minutes": 1866.0,</a:t>
            </a:r>
          </a:p>
          <a:p xmlns:a="http://schemas.openxmlformats.org/drawingml/2006/main">
            <a:r>
              <a:t>      "lodging_nights": 2.85,</a:t>
            </a:r>
          </a:p>
          <a:p xmlns:a="http://schemas.openxmlformats.org/drawingml/2006/main">
            <a:r>
              <a:t>      "lodging_rate_pct": 14.1,</a:t>
            </a:r>
          </a:p>
          <a:p xmlns:a="http://schemas.openxmlformats.org/drawingml/2006/main">
            <a:r>
              <a:t>      "lodging_searches": 28484,</a:t>
            </a:r>
          </a:p>
          <a:p xmlns:a="http://schemas.openxmlformats.org/drawingml/2006/main">
            <a:r>
              <a:t>      "navigation_searches": 221560,</a:t>
            </a:r>
          </a:p>
          <a:p xmlns:a="http://schemas.openxmlformats.org/drawingml/2006/main">
            <a:r>
              <a:t>      "visitor_yoy_percent": -0.06,</a:t>
            </a:r>
          </a:p>
          <a:p xmlns:a="http://schemas.openxmlformats.org/drawingml/2006/main">
            <a:r>
              <a:t>      "spending_yoy_percent": 54.2,</a:t>
            </a:r>
          </a:p>
          <a:p xmlns:a="http://schemas.openxmlformats.org/drawingml/2006/main">
            <a:r>
              <a:t>      "metric_changes_percent": {</a:t>
            </a:r>
          </a:p>
          <a:p xmlns:a="http://schemas.openxmlformats.org/drawingml/2006/main">
            <a:r>
              <a:t>        "stay_minutes": 0.0,</a:t>
            </a:r>
          </a:p>
          <a:p xmlns:a="http://schemas.openxmlformats.org/drawingml/2006/main">
            <a:r>
              <a:t>        "lodging_nights": 2.15,</a:t>
            </a:r>
          </a:p>
          <a:p xmlns:a="http://schemas.openxmlformats.org/drawingml/2006/main">
            <a:r>
              <a:t>        "lodging_rate_pct": 0.0,</a:t>
            </a:r>
          </a:p>
          <a:p xmlns:a="http://schemas.openxmlformats.org/drawingml/2006/main">
            <a:r>
              <a:t>        "lodging_searches": -1.09,</a:t>
            </a:r>
          </a:p>
          <a:p xmlns:a="http://schemas.openxmlformats.org/drawingml/2006/main">
            <a:r>
              <a:t>        "navigation_searches": 0.0</a:t>
            </a:r>
          </a:p>
          <a:p xmlns:a="http://schemas.openxmlformats.org/drawingml/2006/main">
            <a:r>
              <a:t>      },</a:t>
            </a:r>
          </a:p>
          <a:p xmlns:a="http://schemas.openxmlformats.org/drawingml/2006/main">
            <a:r>
              <a:t>      "previous_year_visitors": 2099852,</a:t>
            </a:r>
          </a:p>
          <a:p xmlns:a="http://schemas.openxmlformats.org/drawingml/2006/main">
            <a:r>
              <a:t>      "previous_year_spending_krw": 53760591000,</a:t>
            </a:r>
          </a:p>
          <a:p xmlns:a="http://schemas.openxmlformats.org/drawingml/2006/main">
            <a:r>
              <a:t>      "previous_year_stay_minutes": 1866.0,</a:t>
            </a:r>
          </a:p>
          <a:p xmlns:a="http://schemas.openxmlformats.org/drawingml/2006/main">
            <a:r>
              <a:t>      "previous_year_lodging_nights": 2.79,</a:t>
            </a:r>
          </a:p>
          <a:p xmlns:a="http://schemas.openxmlformats.org/drawingml/2006/main">
            <a:r>
              <a:t>      "previous_year_lodging_rate_pct": 14.1,</a:t>
            </a:r>
          </a:p>
          <a:p xmlns:a="http://schemas.openxmlformats.org/drawingml/2006/main">
            <a:r>
              <a:t>      "previous_year_lodging_searches": 28798,</a:t>
            </a:r>
          </a:p>
          <a:p xmlns:a="http://schemas.openxmlformats.org/drawingml/2006/main">
            <a:r>
              <a:t>      "previous_year_navigation_searches": 221560</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2042060,</a:t>
            </a:r>
          </a:p>
          <a:p xmlns:a="http://schemas.openxmlformats.org/drawingml/2006/main">
            <a:r>
              <a:t>      "is_forecast": true,</a:t>
            </a:r>
          </a:p>
          <a:p xmlns:a="http://schemas.openxmlformats.org/drawingml/2006/main">
            <a:r>
              <a:t>      "spending_krw": 92579612143,</a:t>
            </a:r>
          </a:p>
          <a:p xmlns:a="http://schemas.openxmlformats.org/drawingml/2006/main">
            <a:r>
              <a:t>      "stay_minutes": 1936.0,</a:t>
            </a:r>
          </a:p>
          <a:p xmlns:a="http://schemas.openxmlformats.org/drawingml/2006/main">
            <a:r>
              <a:t>      "lodging_nights": 2.87,</a:t>
            </a:r>
          </a:p>
          <a:p xmlns:a="http://schemas.openxmlformats.org/drawingml/2006/main">
            <a:r>
              <a:t>      "lodging_rate_pct": 13.7,</a:t>
            </a:r>
          </a:p>
          <a:p xmlns:a="http://schemas.openxmlformats.org/drawingml/2006/main">
            <a:r>
              <a:t>      "lodging_searches": 26563,</a:t>
            </a:r>
          </a:p>
          <a:p xmlns:a="http://schemas.openxmlformats.org/drawingml/2006/main">
            <a:r>
              <a:t>      "navigation_searches": 205632,</a:t>
            </a:r>
          </a:p>
          <a:p xmlns:a="http://schemas.openxmlformats.org/drawingml/2006/main">
            <a:r>
              <a:t>      "visitor_yoy_percent": -2.23,</a:t>
            </a:r>
          </a:p>
          <a:p xmlns:a="http://schemas.openxmlformats.org/drawingml/2006/main">
            <a:r>
              <a:t>      "spending_yoy_percent": 80.91,</a:t>
            </a:r>
          </a:p>
          <a:p xmlns:a="http://schemas.openxmlformats.org/drawingml/2006/main">
            <a:r>
              <a:t>      "metric_changes_percent": {</a:t>
            </a:r>
          </a:p>
          <a:p xmlns:a="http://schemas.openxmlformats.org/drawingml/2006/main">
            <a:r>
              <a:t>        "stay_minutes": 0.0,</a:t>
            </a:r>
          </a:p>
          <a:p xmlns:a="http://schemas.openxmlformats.org/drawingml/2006/main">
            <a:r>
              <a:t>        "lodging_nights": 1.06,</a:t>
            </a:r>
          </a:p>
          <a:p xmlns:a="http://schemas.openxmlformats.org/drawingml/2006/main">
            <a:r>
              <a:t>        "lodging_rate_pct": 0.0,</a:t>
            </a:r>
          </a:p>
          <a:p xmlns:a="http://schemas.openxmlformats.org/drawingml/2006/main">
            <a:r>
              <a:t>        "lodging_searches": -0.09,</a:t>
            </a:r>
          </a:p>
          <a:p xmlns:a="http://schemas.openxmlformats.org/drawingml/2006/main">
            <a:r>
              <a:t>        "navigation_searches": 0.0</a:t>
            </a:r>
          </a:p>
          <a:p xmlns:a="http://schemas.openxmlformats.org/drawingml/2006/main">
            <a:r>
              <a:t>      },</a:t>
            </a:r>
          </a:p>
          <a:p xmlns:a="http://schemas.openxmlformats.org/drawingml/2006/main">
            <a:r>
              <a:t>      "previous_year_visitors": 2088569,</a:t>
            </a:r>
          </a:p>
          <a:p xmlns:a="http://schemas.openxmlformats.org/drawingml/2006/main">
            <a:r>
              <a:t>      "previous_year_spending_krw": 51173582000,</a:t>
            </a:r>
          </a:p>
          <a:p xmlns:a="http://schemas.openxmlformats.org/drawingml/2006/main">
            <a:r>
              <a:t>      "previous_year_stay_minutes": 1936.0,</a:t>
            </a:r>
          </a:p>
          <a:p xmlns:a="http://schemas.openxmlformats.org/drawingml/2006/main">
            <a:r>
              <a:t>      "previous_year_lodging_nights": 2.84,</a:t>
            </a:r>
          </a:p>
          <a:p xmlns:a="http://schemas.openxmlformats.org/drawingml/2006/main">
            <a:r>
              <a:t>      "previous_year_lodging_rate_pct": 13.7,</a:t>
            </a:r>
          </a:p>
          <a:p xmlns:a="http://schemas.openxmlformats.org/drawingml/2006/main">
            <a:r>
              <a:t>      "previous_year_lodging_searches": 26588,</a:t>
            </a:r>
          </a:p>
          <a:p xmlns:a="http://schemas.openxmlformats.org/drawingml/2006/main">
            <a:r>
              <a:t>      "previous_year_navigation_searches": 205632</a:t>
            </a:r>
          </a:p>
          <a:p xmlns:a="http://schemas.openxmlformats.org/drawingml/2006/main">
            <a:r>
              <a:t>    },</a:t>
            </a:r>
          </a:p>
          <a:p xmlns:a="http://schemas.openxmlformats.org/drawingml/2006/main">
            <a:r>
              <a:t>    {</a:t>
            </a:r>
          </a:p>
          <a:p xmlns:a="http://schemas.openxmlformats.org/drawingml/2006/main">
            <a:r>
              <a:t>      "month": "202702",</a:t>
            </a:r>
          </a:p>
          <a:p xmlns:a="http://schemas.openxmlformats.org/drawingml/2006/main">
            <a:r>
              <a:t>      "visitors": 2227050,</a:t>
            </a:r>
          </a:p>
          <a:p xmlns:a="http://schemas.openxmlformats.org/drawingml/2006/main">
            <a:r>
              <a:t>      "is_forecast": true,</a:t>
            </a:r>
          </a:p>
          <a:p xmlns:a="http://schemas.openxmlformats.org/drawingml/2006/main">
            <a:r>
              <a:t>      "spending_krw": 103534829257,</a:t>
            </a:r>
          </a:p>
          <a:p xmlns:a="http://schemas.openxmlformats.org/drawingml/2006/main">
            <a:r>
              <a:t>      "stay_minutes": 1714.0,</a:t>
            </a:r>
          </a:p>
          <a:p xmlns:a="http://schemas.openxmlformats.org/drawingml/2006/main">
            <a:r>
              <a:t>      "lodging_nights": 2.82,</a:t>
            </a:r>
          </a:p>
          <a:p xmlns:a="http://schemas.openxmlformats.org/drawingml/2006/main">
            <a:r>
              <a:t>      "lodging_rate_pct": 15.7,</a:t>
            </a:r>
          </a:p>
          <a:p xmlns:a="http://schemas.openxmlformats.org/drawingml/2006/main">
            <a:r>
              <a:t>      "lodging_searches": 25082,</a:t>
            </a:r>
          </a:p>
          <a:p xmlns:a="http://schemas.openxmlformats.org/drawingml/2006/main">
            <a:r>
              <a:t>      "navigation_searches": 210385,</a:t>
            </a:r>
          </a:p>
          <a:p xmlns:a="http://schemas.openxmlformats.org/drawingml/2006/main">
            <a:r>
              <a:t>      "visitor_yoy_percent": 3.2,</a:t>
            </a:r>
          </a:p>
          <a:p xmlns:a="http://schemas.openxmlformats.org/drawingml/2006/main">
            <a:r>
              <a:t>      "spending_yoy_percent": 104.79,</a:t>
            </a:r>
          </a:p>
          <a:p xmlns:a="http://schemas.openxmlformats.org/drawingml/2006/main">
            <a:r>
              <a:t>      "metric_changes_percent": {</a:t>
            </a:r>
          </a:p>
          <a:p xmlns:a="http://schemas.openxmlformats.org/drawingml/2006/main">
            <a:r>
              <a:t>        "stay_minutes": 0.0,</a:t>
            </a:r>
          </a:p>
          <a:p xmlns:a="http://schemas.openxmlformats.org/drawingml/2006/main">
            <a:r>
              <a:t>        "lodging_nights": 0.36,</a:t>
            </a:r>
          </a:p>
          <a:p xmlns:a="http://schemas.openxmlformats.org/drawingml/2006/main">
            <a:r>
              <a:t>        "lodging_rate_pct": 0.0,</a:t>
            </a:r>
          </a:p>
          <a:p xmlns:a="http://schemas.openxmlformats.org/drawingml/2006/main">
            <a:r>
              <a:t>        "lodging_searches": 2.79,</a:t>
            </a:r>
          </a:p>
          <a:p xmlns:a="http://schemas.openxmlformats.org/drawingml/2006/main">
            <a:r>
              <a:t>        "navigation_searches": 0.0</a:t>
            </a:r>
          </a:p>
          <a:p xmlns:a="http://schemas.openxmlformats.org/drawingml/2006/main">
            <a:r>
              <a:t>      },</a:t>
            </a:r>
          </a:p>
          <a:p xmlns:a="http://schemas.openxmlformats.org/drawingml/2006/main">
            <a:r>
              <a:t>      "previous_year_visitors": 2157943,</a:t>
            </a:r>
          </a:p>
          <a:p xmlns:a="http://schemas.openxmlformats.org/drawingml/2006/main">
            <a:r>
              <a:t>      "previous_year_spending_krw": 50557418000,</a:t>
            </a:r>
          </a:p>
          <a:p xmlns:a="http://schemas.openxmlformats.org/drawingml/2006/main">
            <a:r>
              <a:t>      "previous_year_stay_minutes": 1714.0,</a:t>
            </a:r>
          </a:p>
          <a:p xmlns:a="http://schemas.openxmlformats.org/drawingml/2006/main">
            <a:r>
              <a:t>      "previous_year_lodging_nights": 2.81,</a:t>
            </a:r>
          </a:p>
          <a:p xmlns:a="http://schemas.openxmlformats.org/drawingml/2006/main">
            <a:r>
              <a:t>      "previous_year_lodging_rate_pct": 15.7,</a:t>
            </a:r>
          </a:p>
          <a:p xmlns:a="http://schemas.openxmlformats.org/drawingml/2006/main">
            <a:r>
              <a:t>      "previous_year_lodging_searches": 24402,</a:t>
            </a:r>
          </a:p>
          <a:p xmlns:a="http://schemas.openxmlformats.org/drawingml/2006/main">
            <a:r>
              <a:t>      "previous_year_navigation_searches": 210385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103646.64,</a:t>
            </a:r>
          </a:p>
          <a:p xmlns:a="http://schemas.openxmlformats.org/drawingml/2006/main">
            <a:r>
              <a:t>        "recursive_mae": {</a:t>
            </a:r>
          </a:p>
          <a:p xmlns:a="http://schemas.openxmlformats.org/drawingml/2006/main">
            <a:r>
              <a:t>          "1": {</a:t>
            </a:r>
          </a:p>
          <a:p xmlns:a="http://schemas.openxmlformats.org/drawingml/2006/main">
            <a:r>
              <a:t>            "baseline": 123311.5,</a:t>
            </a:r>
          </a:p>
          <a:p xmlns:a="http://schemas.openxmlformats.org/drawingml/2006/main">
            <a:r>
              <a:t>            "selected": 95222.0,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90511.0,</a:t>
            </a:r>
          </a:p>
          <a:p xmlns:a="http://schemas.openxmlformats.org/drawingml/2006/main">
            <a:r>
              <a:t>            "selected": 105947.5,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61165.0,</a:t>
            </a:r>
          </a:p>
          <a:p xmlns:a="http://schemas.openxmlformats.org/drawingml/2006/main">
            <a:r>
              <a:t>            "selected": 93227.0,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92238.25,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8003403761.33,</a:t>
            </a:r>
          </a:p>
          <a:p xmlns:a="http://schemas.openxmlformats.org/drawingml/2006/main">
            <a:r>
              <a:t>        "recursive_mae": {</a:t>
            </a:r>
          </a:p>
          <a:p xmlns:a="http://schemas.openxmlformats.org/drawingml/2006/main">
            <a:r>
              <a:t>          "1": {</a:t>
            </a:r>
          </a:p>
          <a:p xmlns:a="http://schemas.openxmlformats.org/drawingml/2006/main">
            <a:r>
              <a:t>            "baseline": 5076101500.0,</a:t>
            </a:r>
          </a:p>
          <a:p xmlns:a="http://schemas.openxmlformats.org/drawingml/2006/main">
            <a:r>
              <a:t>            "selected": 7122970056.0,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6206652500.0,</a:t>
            </a:r>
          </a:p>
          <a:p xmlns:a="http://schemas.openxmlformats.org/drawingml/2006/main">
            <a:r>
              <a:t>            "selected": 11322988654.0,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4379312000.0,</a:t>
            </a:r>
          </a:p>
          <a:p xmlns:a="http://schemas.openxmlformats.org/drawingml/2006/main">
            <a:r>
              <a:t>            "selected": 12415950624.0,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4727706750.0,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208.5,</a:t>
            </a:r>
          </a:p>
          <a:p xmlns:a="http://schemas.openxmlformats.org/drawingml/2006/main">
            <a:r>
              <a:t>        "recursive_mae": {</a:t>
            </a:r>
          </a:p>
          <a:p xmlns:a="http://schemas.openxmlformats.org/drawingml/2006/main">
            <a:r>
              <a:t>          "1": {</a:t>
            </a:r>
          </a:p>
          <a:p xmlns:a="http://schemas.openxmlformats.org/drawingml/2006/main">
            <a:r>
              <a:t>            "baseline": 107.5,</a:t>
            </a:r>
          </a:p>
          <a:p xmlns:a="http://schemas.openxmlformats.org/drawingml/2006/main">
            <a:r>
              <a:t>            "selected": 107.5,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360.0,</a:t>
            </a:r>
          </a:p>
          <a:p xmlns:a="http://schemas.openxmlformats.org/drawingml/2006/main">
            <a:r>
              <a:t>            "selected": 360.0,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309.5,</a:t>
            </a:r>
          </a:p>
          <a:p xmlns:a="http://schemas.openxmlformats.org/drawingml/2006/main">
            <a:r>
              <a:t>            "selected": 309.5,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208.5,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0.1,</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0.08,</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0.07,</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0.07,</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"test_mae": 0.57,</a:t>
            </a:r>
          </a:p>
          <a:p xmlns:a="http://schemas.openxmlformats.org/drawingml/2006/main">
            <a:r>
              <a:t>        "recursive_mae": {</a:t>
            </a:r>
          </a:p>
          <a:p xmlns:a="http://schemas.openxmlformats.org/drawingml/2006/main">
            <a:r>
              <a:t>          "1": {</a:t>
            </a:r>
          </a:p>
          <a:p xmlns:a="http://schemas.openxmlformats.org/drawingml/2006/main">
            <a:r>
              <a:t>            "baseline": 0.8,</a:t>
            </a:r>
          </a:p>
          <a:p xmlns:a="http://schemas.openxmlformats.org/drawingml/2006/main">
            <a:r>
              <a:t>            "selected": 0.8,</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0.35,</a:t>
            </a:r>
          </a:p>
          <a:p xmlns:a="http://schemas.openxmlformats.org/drawingml/2006/main">
            <a:r>
              <a:t>            "selected": 0.35,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0.57,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3695.69,</a:t>
            </a:r>
          </a:p>
          <a:p xmlns:a="http://schemas.openxmlformats.org/drawingml/2006/main">
            <a:r>
              <a:t>        "recursive_mae": {</a:t>
            </a:r>
          </a:p>
          <a:p xmlns:a="http://schemas.openxmlformats.org/drawingml/2006/main">
            <a:r>
              <a:t>          "1": {</a:t>
            </a:r>
          </a:p>
          <a:p xmlns:a="http://schemas.openxmlformats.org/drawingml/2006/main">
            <a:r>
              <a:t>            "baseline": 2404.0,</a:t>
            </a:r>
          </a:p>
          <a:p xmlns:a="http://schemas.openxmlformats.org/drawingml/2006/main">
            <a:r>
              <a:t>            "selected": 3550.0,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2584.5,</a:t>
            </a:r>
          </a:p>
          <a:p xmlns:a="http://schemas.openxmlformats.org/drawingml/2006/main">
            <a:r>
              <a:t>            "selected": 3318.0,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2765.5,</a:t>
            </a:r>
          </a:p>
          <a:p xmlns:a="http://schemas.openxmlformats.org/drawingml/2006/main">
            <a:r>
              <a:t>            "selected": 3897.5,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2584.75,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"test_mae": 26562.0,</a:t>
            </a:r>
          </a:p>
          <a:p xmlns:a="http://schemas.openxmlformats.org/drawingml/2006/main">
            <a:r>
              <a:t>        "recursive_mae": {</a:t>
            </a:r>
          </a:p>
          <a:p xmlns:a="http://schemas.openxmlformats.org/drawingml/2006/main">
            <a:r>
              <a:t>          "1": {</a:t>
            </a:r>
          </a:p>
          <a:p xmlns:a="http://schemas.openxmlformats.org/drawingml/2006/main">
            <a:r>
              <a:t>            "baseline": 30053.5,</a:t>
            </a:r>
          </a:p>
          <a:p xmlns:a="http://schemas.openxmlformats.org/drawingml/2006/main">
            <a:r>
              <a:t>            "selected": 30053.5,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40942.5,</a:t>
            </a:r>
          </a:p>
          <a:p xmlns:a="http://schemas.openxmlformats.org/drawingml/2006/main">
            <a:r>
              <a:t>            "selected": 40942.5,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23070.5,</a:t>
            </a:r>
          </a:p>
          <a:p xmlns:a="http://schemas.openxmlformats.org/drawingml/2006/main">
            <a:r>
              <a:t>            "selected": 23070.5,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26562.0,</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8,</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ik.nanet.go.kr/minutes/viewer.do?DOCID=CLIKC3524169218564260&amp;collection=minutes" TargetMode="Externa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jeonju.go.kr/resource/www/images/download/budget/2026/2026_31_2.pdf" TargetMode="External"/><Relationship Id="rId5" Type="http://schemas.openxmlformats.org/officeDocument/2006/relationships/hyperlink" Target="https://www.incheon.go.kr/IC010205/view?beginDt=&amp;curPage=1&amp;endDt=&amp;repSeq=DOM_0000000013130282&amp;srchMainManagerDeptNm=&amp;srchRepContents=%EC%A3%BC%EC%B0%A8&amp;srchRepTitle="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hangang.seoul.go.kr/www/eventMng/detail.do?evntSn=441&amp;keyword=&amp;mid=538&amp;opt11=&amp;opt12=&amp;opt13=&amp;opt14=&amp;opt4=&amp;pageNo=2&amp;srchType=list" TargetMode="External"/><Relationship Id="rId3" Type="http://schemas.openxmlformats.org/officeDocument/2006/relationships/hyperlink" Target="https://jnfarm.jeonnam.go.kr/board/FARM_BOARD_008/boardView.do?bdId=BD_00000000000011721&amp;menuCd=farm004002" TargetMode="External"/><Relationship Id="rId4" Type="http://schemas.openxmlformats.org/officeDocument/2006/relationships/hyperlink" Target="https://www.mcst.go.kr/site/s_policy/govPolicy/performTotal.jsp" TargetMode="External"/><Relationship Id="rId5" Type="http://schemas.openxmlformats.org/officeDocument/2006/relationships/hyperlink" Target="https://korean.visitkorea.or.kr/detail/rem_detail.do?cotid=f9c636b2-dd7c-4f09-af3d-6af43b33d371" TargetMode="External"/><Relationship Id="rId6" Type="http://schemas.openxmlformats.org/officeDocument/2006/relationships/hyperlink" Target="https://apis.data.go.kr/B551011/KorService2" TargetMode="External"/><Relationship Id="rId7" Type="http://schemas.openxmlformats.org/officeDocument/2006/relationships/notesSlide" Target="../notesSlides/notesSlide14.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원주시 지역사랑 휴가지원</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(반값여행)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2026.09 ~ 2026.11</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원주시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2026-09-09</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원주시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강원특별자치도 원주시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2026. 09. 09</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0-number"/>
          <p:cNvSpPr txBox="1"/>
          <p:nvPr/>
        </p:nvSpPr>
        <p:spPr>
          <a:xfrm>
            <a:off x="5353050" y="30289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0-label"/>
          <p:cNvSpPr txBox="1"/>
          <p:nvPr/>
        </p:nvSpPr>
        <p:spPr>
          <a:xfrm>
            <a:off x="5972175" y="307657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0-0-rule"/>
          <p:cNvSpPr/>
          <p:nvPr/>
        </p:nvSpPr>
        <p:spPr>
          <a:xfrm>
            <a:off x="5353050" y="363855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oc-0-1-number"/>
          <p:cNvSpPr txBox="1"/>
          <p:nvPr/>
        </p:nvSpPr>
        <p:spPr>
          <a:xfrm>
            <a:off x="5353050" y="3857625"/>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4" name="toc-0-1-label"/>
          <p:cNvSpPr txBox="1"/>
          <p:nvPr/>
        </p:nvSpPr>
        <p:spPr>
          <a:xfrm>
            <a:off x="5972175" y="3905250"/>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5" name="toc-0-1-rule"/>
          <p:cNvSpPr/>
          <p:nvPr/>
        </p:nvSpPr>
        <p:spPr>
          <a:xfrm>
            <a:off x="5353050" y="4467225"/>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oc-0-2-number"/>
          <p:cNvSpPr txBox="1"/>
          <p:nvPr/>
        </p:nvSpPr>
        <p:spPr>
          <a:xfrm>
            <a:off x="5353050" y="46863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7" name="toc-0-2-label"/>
          <p:cNvSpPr txBox="1"/>
          <p:nvPr/>
        </p:nvSpPr>
        <p:spPr>
          <a:xfrm>
            <a:off x="5972175" y="47339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유사지역사례</a:t>
            </a:r>
          </a:p>
        </p:txBody>
      </p:sp>
      <p:sp xmlns:a="http://schemas.openxmlformats.org/drawingml/2006/main">
        <p:nvSpPr>
          <p:cNvPr id="48" name="toc-0-2-rule"/>
          <p:cNvSpPr/>
          <p:nvPr/>
        </p:nvSpPr>
        <p:spPr>
          <a:xfrm>
            <a:off x="5353050" y="52959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oc-0-3-number"/>
          <p:cNvSpPr txBox="1"/>
          <p:nvPr/>
        </p:nvSpPr>
        <p:spPr>
          <a:xfrm>
            <a:off x="5353050" y="5514975"/>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50" name="toc-0-3-label"/>
          <p:cNvSpPr txBox="1"/>
          <p:nvPr/>
        </p:nvSpPr>
        <p:spPr>
          <a:xfrm>
            <a:off x="5972175" y="5562600"/>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a:t>
            </a:r>
          </a:p>
        </p:txBody>
      </p:sp>
      <p:sp xmlns:a="http://schemas.openxmlformats.org/drawingml/2006/main">
        <p:nvSpPr>
          <p:cNvPr id="51" name="toc-0-3-rule"/>
          <p:cNvSpPr/>
          <p:nvPr/>
        </p:nvSpPr>
        <p:spPr>
          <a:xfrm>
            <a:off x="5353050" y="6124575"/>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oc-0-4-number"/>
          <p:cNvSpPr txBox="1"/>
          <p:nvPr/>
        </p:nvSpPr>
        <p:spPr>
          <a:xfrm>
            <a:off x="5353050" y="63436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53" name="toc-0-4-label"/>
          <p:cNvSpPr txBox="1"/>
          <p:nvPr/>
        </p:nvSpPr>
        <p:spPr>
          <a:xfrm>
            <a:off x="5972175" y="639127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세부 실행내역</a:t>
            </a:r>
          </a:p>
        </p:txBody>
      </p:sp>
      <p:sp xmlns:a="http://schemas.openxmlformats.org/drawingml/2006/main">
        <p:nvSpPr>
          <p:cNvPr id="54" name="toc-0-4-rule"/>
          <p:cNvSpPr/>
          <p:nvPr/>
        </p:nvSpPr>
        <p:spPr>
          <a:xfrm>
            <a:off x="5353050" y="695325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oc-1-0-number"/>
          <p:cNvSpPr txBox="1"/>
          <p:nvPr/>
        </p:nvSpPr>
        <p:spPr>
          <a:xfrm>
            <a:off x="10496550" y="30289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6" name="toc-1-0-label"/>
          <p:cNvSpPr txBox="1"/>
          <p:nvPr/>
        </p:nvSpPr>
        <p:spPr>
          <a:xfrm>
            <a:off x="11115675" y="307657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머신러닝 예측값과 목표 KPI</a:t>
            </a:r>
          </a:p>
        </p:txBody>
      </p:sp>
      <p:sp xmlns:a="http://schemas.openxmlformats.org/drawingml/2006/main">
        <p:nvSpPr>
          <p:cNvPr id="57" name="toc-1-0-rule"/>
          <p:cNvSpPr/>
          <p:nvPr/>
        </p:nvSpPr>
        <p:spPr>
          <a:xfrm>
            <a:off x="10496550" y="363855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8" name="toc-1-1-number"/>
          <p:cNvSpPr txBox="1"/>
          <p:nvPr/>
        </p:nvSpPr>
        <p:spPr>
          <a:xfrm>
            <a:off x="10496550" y="3857625"/>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9" name="toc-1-1-label"/>
          <p:cNvSpPr txBox="1"/>
          <p:nvPr/>
        </p:nvSpPr>
        <p:spPr>
          <a:xfrm>
            <a:off x="11115675" y="3905250"/>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60" name="toc-1-1-rule"/>
          <p:cNvSpPr/>
          <p:nvPr/>
        </p:nvSpPr>
        <p:spPr>
          <a:xfrm>
            <a:off x="10496550" y="4467225"/>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toc-1-2-number"/>
          <p:cNvSpPr txBox="1"/>
          <p:nvPr/>
        </p:nvSpPr>
        <p:spPr>
          <a:xfrm>
            <a:off x="10496550" y="46863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62" name="toc-1-2-label"/>
          <p:cNvSpPr txBox="1"/>
          <p:nvPr/>
        </p:nvSpPr>
        <p:spPr>
          <a:xfrm>
            <a:off x="11115675" y="47339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a:t>
            </a:r>
          </a:p>
        </p:txBody>
      </p:sp>
      <p:sp xmlns:a="http://schemas.openxmlformats.org/drawingml/2006/main">
        <p:nvSpPr>
          <p:cNvPr id="63" name="toc-1-2-rule"/>
          <p:cNvSpPr/>
          <p:nvPr/>
        </p:nvSpPr>
        <p:spPr>
          <a:xfrm>
            <a:off x="10496550" y="52959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4" name="toc-1-3-number"/>
          <p:cNvSpPr txBox="1"/>
          <p:nvPr/>
        </p:nvSpPr>
        <p:spPr>
          <a:xfrm>
            <a:off x="10496550" y="5514975"/>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65" name="toc-1-3-label"/>
          <p:cNvSpPr txBox="1"/>
          <p:nvPr/>
        </p:nvSpPr>
        <p:spPr>
          <a:xfrm>
            <a:off x="11115675" y="5562600"/>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a:t>
            </a:r>
          </a:p>
        </p:txBody>
      </p:sp>
      <p:sp xmlns:a="http://schemas.openxmlformats.org/drawingml/2006/main">
        <p:nvSpPr>
          <p:cNvPr id="66" name="toc-1-3-rule"/>
          <p:cNvSpPr/>
          <p:nvPr/>
        </p:nvSpPr>
        <p:spPr>
          <a:xfrm>
            <a:off x="10496550" y="6124575"/>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7" name="toc-1-4-number"/>
          <p:cNvSpPr txBox="1"/>
          <p:nvPr/>
        </p:nvSpPr>
        <p:spPr>
          <a:xfrm>
            <a:off x="10496550" y="63436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68" name="toc-1-4-label"/>
          <p:cNvSpPr txBox="1"/>
          <p:nvPr/>
        </p:nvSpPr>
        <p:spPr>
          <a:xfrm>
            <a:off x="11115675" y="639127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맺음말</a:t>
            </a:r>
          </a:p>
        </p:txBody>
      </p:sp>
      <p:sp xmlns:a="http://schemas.openxmlformats.org/drawingml/2006/main">
        <p:nvSpPr>
          <p:cNvPr id="69" name="toc-1-4-rule"/>
          <p:cNvSpPr/>
          <p:nvPr/>
        </p:nvSpPr>
        <p:spPr>
          <a:xfrm>
            <a:off x="10496550" y="695325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47" t="0" r="347" b="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228600" y="8020050"/>
            <a:ext cx="4333875" cy="342900"/>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001000"/>
            <a:ext cx="4143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wrap="none" lIns="57150" rIns="57150" tIns="38100" bIns="38100">
            <a:noAutofit/>
          </a:bodyPr>
          <a:lstStyle xmlns:a="http://schemas.openxmlformats.org/drawingml/2006/main"/>
          <a:p xmlns:a="http://schemas.openxmlformats.org/drawingml/2006/main">
            <a:pPr algn="l" eaLnBrk="0">
              <a:lnSpc>
                <a:spcPts val="1593"/>
              </a:lnSpc>
              <a:spcBef>
                <a:spcPts val="0"/>
              </a:spcBef>
              <a:spcAft>
                <a:spcPts val="0"/>
              </a:spcAft>
              <a:buNone/>
              <a:defRPr sz="825" b="0" i="0">
                <a:solidFill>
                  <a:srgbClr val="FFFFFF"/>
                </a:solidFill>
                <a:latin typeface="Noto Sans KR"/>
                <a:ea typeface="Noto Sans KR"/>
                <a:cs typeface="Noto Sans KR"/>
              </a:defRPr>
            </a:pPr>
            <a:r>
              <a:rPr sz="1275" b="0">
                <a:solidFill>
                  <a:srgbClr val="FFFFFF"/>
                </a:solidFill>
                <a:latin typeface="Noto Sans KR"/>
              </a:rPr>
              <a:t>참고 이미지 · 실제 장소 사진 아님</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원주시 지역사랑 휴가지원 (반값여행)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원주시 내 지정된 관광·식음·숙박 가맹점에서 일정 금액 이상</a:t>
            </a:r>
          </a:p>
          <a:p>
            <a:pPr eaLnBrk="0">
              <a:lnSpc>
                <a:spcPts val="3187"/>
              </a:lnSpc>
              <a:spcBef>
                <a:spcPts val="0"/>
              </a:spcBef>
              <a:spcAft>
                <a:spcPts val="0"/>
              </a:spcAft>
            </a:pPr>
            <a:r>
              <a:rPr sz="2550" b="1">
                <a:solidFill>
                  <a:srgbClr val="1D2227"/>
                </a:solidFill>
                <a:latin typeface="Noto Sans KR"/>
              </a:rPr>
              <a:t>결제한 외지인에게 결제액의 일부를 원주사랑상품권으로</a:t>
            </a:r>
          </a:p>
          <a:p>
            <a:pPr eaLnBrk="0">
              <a:lnSpc>
                <a:spcPts val="3187"/>
              </a:lnSpc>
              <a:spcBef>
                <a:spcPts val="0"/>
              </a:spcBef>
              <a:spcAft>
                <a:spcPts val="0"/>
              </a:spcAft>
            </a:pPr>
            <a:r>
              <a:rPr sz="2550" b="1">
                <a:solidFill>
                  <a:srgbClr val="1D2227"/>
                </a:solidFill>
                <a:latin typeface="Noto Sans KR"/>
              </a:rPr>
              <a:t>환급하여 지역 내 재소비를 유도함.</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2026-09 ~ 2026-11, 3개월</a:t>
            </a:r>
          </a:p>
        </p:txBody>
      </p:sp>
      <p:sp xmlns:a="http://schemas.openxmlformats.org/drawingml/2006/main">
        <p:nvSpPr>
          <p:cNvPr id="38" name="s3-operation-rule"/>
          <p:cNvSpPr/>
          <p:nvPr/>
        </p:nvSpPr>
        <p:spPr>
          <a:xfrm>
            <a:off x="5400675" y="6457950"/>
            <a:ext cx="57150" cy="1209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s3-operation"/>
          <p:cNvSpPr txBox="1"/>
          <p:nvPr/>
        </p:nvSpPr>
        <p:spPr>
          <a:xfrm>
            <a:off x="5610225" y="6505575"/>
            <a:ext cx="8096250" cy="1285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지역 내 상품권 발행 및 환급 시스템 구축, 참여 업체 확보, 환급 기준 및 절차 마련</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원주시 내 지정된 관광·식음·숙박 가맹점에서</a:t>
            </a:r>
          </a:p>
          <a:p>
            <a:pPr eaLnBrk="0">
              <a:lnSpc>
                <a:spcPts val="1968"/>
              </a:lnSpc>
              <a:spcBef>
                <a:spcPts val="0"/>
              </a:spcBef>
              <a:spcAft>
                <a:spcPts val="0"/>
              </a:spcAft>
            </a:pPr>
            <a:r>
              <a:rPr sz="1575" b="0">
                <a:solidFill>
                  <a:srgbClr val="59636E"/>
                </a:solidFill>
                <a:latin typeface="Noto Sans KR"/>
              </a:rPr>
              <a:t>일정 금액 이상 결제한 외지인에게 결제액의</a:t>
            </a:r>
          </a:p>
          <a:p>
            <a:pPr eaLnBrk="0">
              <a:lnSpc>
                <a:spcPts val="1968"/>
              </a:lnSpc>
              <a:spcBef>
                <a:spcPts val="0"/>
              </a:spcBef>
              <a:spcAft>
                <a:spcPts val="0"/>
              </a:spcAft>
            </a:pPr>
            <a:r>
              <a:rPr sz="1575" b="0">
                <a:solidFill>
                  <a:srgbClr val="59636E"/>
                </a:solidFill>
                <a:latin typeface="Noto Sans KR"/>
              </a:rPr>
              <a:t>일부를 원주사랑상품권으로 환급하여 지역</a:t>
            </a:r>
          </a:p>
          <a:p>
            <a:pPr eaLnBrk="0">
              <a:lnSpc>
                <a:spcPts val="1968"/>
              </a:lnSpc>
              <a:spcBef>
                <a:spcPts val="0"/>
              </a:spcBef>
              <a:spcAft>
                <a:spcPts val="0"/>
              </a:spcAft>
            </a:pPr>
            <a:r>
              <a:rPr sz="1575" b="0">
                <a:solidFill>
                  <a:srgbClr val="59636E"/>
                </a:solidFill>
                <a:latin typeface="Noto Sans KR"/>
              </a:rPr>
              <a:t>내 재소비를 유도함.</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2026-09 ~ 2026-11, 3개월</a:t>
            </a:r>
          </a:p>
          <a:p>
            <a:pPr eaLnBrk="0">
              <a:lnSpc>
                <a:spcPts val="1968"/>
              </a:lnSpc>
              <a:spcBef>
                <a:spcPts val="0"/>
              </a:spcBef>
              <a:spcAft>
                <a:spcPts val="0"/>
              </a:spcAft>
            </a:pPr>
            <a:r>
              <a:rPr sz="157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월별 합계</a:t>
            </a:r>
          </a:p>
          <a:p>
            <a:pPr eaLnBrk="0">
              <a:lnSpc>
                <a:spcPts val="1968"/>
              </a:lnSpc>
              <a:spcBef>
                <a:spcPts val="0"/>
              </a:spcBef>
              <a:spcAft>
                <a:spcPts val="0"/>
              </a:spcAft>
            </a:pPr>
            <a:r>
              <a:rPr sz="1575" b="0">
                <a:solidFill>
                  <a:srgbClr val="59636E"/>
                </a:solidFill>
                <a:latin typeface="Noto Sans KR"/>
              </a:rPr>
              <a:t>방문자 789만 명</a:t>
            </a:r>
          </a:p>
          <a:p>
            <a:pPr eaLnBrk="0">
              <a:lnSpc>
                <a:spcPts val="1968"/>
              </a:lnSpc>
              <a:spcBef>
                <a:spcPts val="0"/>
              </a:spcBef>
              <a:spcAft>
                <a:spcPts val="0"/>
              </a:spcAft>
            </a:pPr>
            <a:r>
              <a:rPr sz="1575" b="0">
                <a:solidFill>
                  <a:srgbClr val="59636E"/>
                </a:solidFill>
                <a:latin typeface="Noto Sans KR"/>
              </a:rPr>
              <a:t>관광소비액 2,493억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63842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value-0-0"/>
          <p:cNvSpPr txBox="1"/>
          <p:nvPr/>
        </p:nvSpPr>
        <p:spPr>
          <a:xfrm>
            <a:off x="2222500" y="6519475"/>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004EA2"/>
                </a:solidFill>
                <a:latin typeface="Noto Sans KR"/>
              </a:rPr>
              <a:t>236만</a:t>
            </a:r>
          </a:p>
        </p:txBody>
      </p:sp>
      <p:sp xmlns:a="http://schemas.openxmlformats.org/drawingml/2006/main">
        <p:nvSpPr>
          <p:cNvPr id="20" name="comparison-chart-0-value-0-1"/>
          <p:cNvSpPr txBox="1"/>
          <p:nvPr/>
        </p:nvSpPr>
        <p:spPr>
          <a:xfrm>
            <a:off x="4038600" y="5895653"/>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004EA2"/>
                </a:solidFill>
                <a:latin typeface="Noto Sans KR"/>
              </a:rPr>
              <a:t>263만</a:t>
            </a:r>
          </a:p>
        </p:txBody>
      </p:sp>
      <p:sp xmlns:a="http://schemas.openxmlformats.org/drawingml/2006/main">
        <p:nvSpPr>
          <p:cNvPr id="21" name="comparison-chart-0-value-0-2"/>
          <p:cNvSpPr txBox="1"/>
          <p:nvPr/>
        </p:nvSpPr>
        <p:spPr>
          <a:xfrm>
            <a:off x="5854700" y="5897858"/>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004EA2"/>
                </a:solidFill>
                <a:latin typeface="Noto Sans KR"/>
              </a:rPr>
              <a:t>263만</a:t>
            </a:r>
          </a:p>
        </p:txBody>
      </p:sp>
      <p:sp xmlns:a="http://schemas.openxmlformats.org/drawingml/2006/main">
        <p:nvSpPr>
          <p:cNvPr id="22" name="comparison-chart-0-value-1-0"/>
          <p:cNvSpPr txBox="1"/>
          <p:nvPr/>
        </p:nvSpPr>
        <p:spPr>
          <a:xfrm>
            <a:off x="2222500" y="6038026"/>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FF6B00"/>
                </a:solidFill>
                <a:latin typeface="Noto Sans KR"/>
              </a:rPr>
              <a:t>240만</a:t>
            </a:r>
          </a:p>
        </p:txBody>
      </p:sp>
      <p:sp xmlns:a="http://schemas.openxmlformats.org/drawingml/2006/main">
        <p:nvSpPr>
          <p:cNvPr id="23" name="comparison-chart-0-value-1-1"/>
          <p:cNvSpPr txBox="1"/>
          <p:nvPr/>
        </p:nvSpPr>
        <p:spPr>
          <a:xfrm>
            <a:off x="4038600" y="5302487"/>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FF6B00"/>
                </a:solidFill>
                <a:latin typeface="Noto Sans KR"/>
              </a:rPr>
              <a:t>272만</a:t>
            </a:r>
          </a:p>
        </p:txBody>
      </p:sp>
      <p:sp xmlns:a="http://schemas.openxmlformats.org/drawingml/2006/main">
        <p:nvSpPr>
          <p:cNvPr id="24" name="comparison-chart-0-value-1-2"/>
          <p:cNvSpPr txBox="1"/>
          <p:nvPr/>
        </p:nvSpPr>
        <p:spPr>
          <a:xfrm>
            <a:off x="5854700" y="5203482"/>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FF6B00"/>
                </a:solidFill>
                <a:latin typeface="Noto Sans KR"/>
              </a:rPr>
              <a:t>276만</a:t>
            </a:r>
          </a:p>
        </p:txBody>
      </p:sp>
      <p:sp xmlns:a="http://schemas.openxmlformats.org/drawingml/2006/main">
        <p:nvSpPr>
          <p:cNvPr id="25"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7" name="comparison-chart-1"/>
          <p:cNvGraphicFramePr>
            <a:graphicFrameLocks noGrp="1"/>
          </p:cNvGraphicFramePr>
          <p:nvPr/>
        </p:nvGraphicFramePr>
        <p:xfrm>
          <a:off x="7924800" y="4857750"/>
          <a:ext cx="6191250" cy="263842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8" name="comparison-chart-1-value-0-0"/>
          <p:cNvSpPr txBox="1"/>
          <p:nvPr/>
        </p:nvSpPr>
        <p:spPr>
          <a:xfrm>
            <a:off x="9023350" y="6635595"/>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004EA2"/>
                </a:solidFill>
                <a:latin typeface="Noto Sans KR"/>
              </a:rPr>
              <a:t>670억</a:t>
            </a:r>
          </a:p>
        </p:txBody>
      </p:sp>
      <p:sp xmlns:a="http://schemas.openxmlformats.org/drawingml/2006/main">
        <p:nvSpPr>
          <p:cNvPr id="29" name="comparison-chart-1-value-0-1"/>
          <p:cNvSpPr txBox="1"/>
          <p:nvPr/>
        </p:nvSpPr>
        <p:spPr>
          <a:xfrm>
            <a:off x="10839450" y="6011985"/>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004EA2"/>
                </a:solidFill>
                <a:latin typeface="Noto Sans KR"/>
              </a:rPr>
              <a:t>839억</a:t>
            </a:r>
          </a:p>
        </p:txBody>
      </p:sp>
      <p:sp xmlns:a="http://schemas.openxmlformats.org/drawingml/2006/main">
        <p:nvSpPr>
          <p:cNvPr id="30" name="comparison-chart-1-value-0-2"/>
          <p:cNvSpPr txBox="1"/>
          <p:nvPr/>
        </p:nvSpPr>
        <p:spPr>
          <a:xfrm>
            <a:off x="12655550" y="5789704"/>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004EA2"/>
                </a:solidFill>
                <a:latin typeface="Noto Sans KR"/>
              </a:rPr>
              <a:t>899억</a:t>
            </a:r>
          </a:p>
        </p:txBody>
      </p:sp>
      <p:sp xmlns:a="http://schemas.openxmlformats.org/drawingml/2006/main">
        <p:nvSpPr>
          <p:cNvPr id="31" name="comparison-chart-1-value-1-0"/>
          <p:cNvSpPr txBox="1"/>
          <p:nvPr/>
        </p:nvSpPr>
        <p:spPr>
          <a:xfrm>
            <a:off x="9023350" y="6203793"/>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FF6B00"/>
                </a:solidFill>
                <a:latin typeface="Noto Sans KR"/>
              </a:rPr>
              <a:t>682억</a:t>
            </a:r>
          </a:p>
        </p:txBody>
      </p:sp>
      <p:sp xmlns:a="http://schemas.openxmlformats.org/drawingml/2006/main">
        <p:nvSpPr>
          <p:cNvPr id="32" name="comparison-chart-1-value-1-1"/>
          <p:cNvSpPr txBox="1"/>
          <p:nvPr/>
        </p:nvSpPr>
        <p:spPr>
          <a:xfrm>
            <a:off x="10839450" y="5518120"/>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FF6B00"/>
                </a:solidFill>
                <a:latin typeface="Noto Sans KR"/>
              </a:rPr>
              <a:t>867억</a:t>
            </a:r>
          </a:p>
        </p:txBody>
      </p:sp>
      <p:sp xmlns:a="http://schemas.openxmlformats.org/drawingml/2006/main">
        <p:nvSpPr>
          <p:cNvPr id="33" name="comparison-chart-1-value-1-2"/>
          <p:cNvSpPr txBox="1"/>
          <p:nvPr/>
        </p:nvSpPr>
        <p:spPr>
          <a:xfrm>
            <a:off x="12655550" y="5233054"/>
            <a:ext cx="857250" cy="276225"/>
          </a:xfrm>
          <a:prstGeom prst="rect">
            <a:avLst/>
          </a:prstGeom>
          <a:noFill/>
        </p:spPr>
        <p:txBody>
          <a:bodyPr wrap="none" lIns="57150" rIns="57150" tIns="38100" bIns="38100" anchor="t">
            <a:noAutofit/>
          </a:bodyPr>
          <a:lstStyle/>
          <a:p>
            <a:pPr eaLnBrk="0" algn="ctr">
              <a:lnSpc>
                <a:spcPts val="1546"/>
              </a:lnSpc>
              <a:spcBef>
                <a:spcPts val="0"/>
              </a:spcBef>
              <a:spcAft>
                <a:spcPts val="0"/>
              </a:spcAft>
            </a:pPr>
            <a:r>
              <a:rPr sz="1237" b="1">
                <a:solidFill>
                  <a:srgbClr val="FF6B00"/>
                </a:solidFill>
                <a:latin typeface="Noto Sans KR"/>
              </a:rPr>
              <a:t>944억</a:t>
            </a:r>
          </a:p>
        </p:txBody>
      </p:sp>
      <p:sp xmlns:a="http://schemas.openxmlformats.org/drawingml/2006/main">
        <p:nvSpPr>
          <p:cNvPr id="34"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202401~202606 월별 방문·소비의 1·3·12개월 전 값과 계절 정보로 산출한 저장 전망입니다. ML 기준 전망은 참고값이며, 신규 사업 효과를 학습한 예측치가 아닙니다.</a:t>
            </a:r>
          </a:p>
        </p:txBody>
      </p:sp>
    </p:spTree>
    <p:extLst>
      <p:ext uri="{BB962C8B-B14F-4D97-AF65-F5344CB8AC3E}">
        <p14:creationId xmlns:p14="http://schemas.microsoft.com/office/powerpoint/2010/main" val="38038398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세부 실행내역</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xecution-intro"/>
          <p:cNvSpPr txBox="1"/>
          <p:nvPr/>
        </p:nvSpPr>
        <p:spPr>
          <a:xfrm>
            <a:off x="1009650" y="1943100"/>
            <a:ext cx="13220700" cy="5143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원주시 지역사랑 휴가지원 (반값여행) 프로그램의 단계별 실행 방법입니다. 적용 조건은 담당자와 협의해 확정합니다.</a:t>
            </a:r>
          </a:p>
        </p:txBody>
      </p:sp>
      <p:sp>
        <p:nvSpPr>
          <p:cNvPr id="5" name="detail-rule-0"/>
          <p:cNvSpPr/>
          <p:nvPr/>
        </p:nvSpPr>
        <p:spPr>
          <a:xfrm>
            <a:off x="1009650" y="38481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tail-number-0"/>
          <p:cNvSpPr txBox="1"/>
          <p:nvPr/>
        </p:nvSpPr>
        <p:spPr>
          <a:xfrm>
            <a:off x="1028700" y="273367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01</a:t>
            </a:r>
          </a:p>
        </p:txBody>
      </p:sp>
      <p:sp>
        <p:nvSpPr>
          <p:cNvPr id="7" name="detail-stage-0"/>
          <p:cNvSpPr txBox="1"/>
          <p:nvPr/>
        </p:nvSpPr>
        <p:spPr>
          <a:xfrm>
            <a:off x="1847850" y="277177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p:nvSpPr>
          <p:cNvPr id="8" name="detail-role-0"/>
          <p:cNvSpPr txBox="1"/>
          <p:nvPr/>
        </p:nvSpPr>
        <p:spPr>
          <a:xfrm>
            <a:off x="1847850" y="322897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 총괄</a:t>
            </a:r>
          </a:p>
        </p:txBody>
      </p:sp>
      <p:sp>
        <p:nvSpPr>
          <p:cNvPr id="9" name="detail-lead-0"/>
          <p:cNvSpPr txBox="1"/>
          <p:nvPr/>
        </p:nvSpPr>
        <p:spPr>
          <a:xfrm>
            <a:off x="4895850" y="270510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참여 가게와 지원 기준을 먼저 정합니다.</a:t>
            </a:r>
          </a:p>
        </p:txBody>
      </p:sp>
      <p:sp>
        <p:nvSpPr>
          <p:cNvPr id="10" name="detail-body-0"/>
          <p:cNvSpPr txBox="1"/>
          <p:nvPr/>
        </p:nvSpPr>
        <p:spPr>
          <a:xfrm>
            <a:off x="4895850" y="313372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참여를 희망하는 가게에 사용 가능한 상품권과 정산 방법을 확인합니다. 지원 대상, 인정할 지출, 신청</a:t>
            </a:r>
          </a:p>
          <a:p>
            <a:pPr eaLnBrk="0">
              <a:lnSpc>
                <a:spcPts val="2062"/>
              </a:lnSpc>
              <a:spcBef>
                <a:spcPts val="0"/>
              </a:spcBef>
              <a:spcAft>
                <a:spcPts val="0"/>
              </a:spcAft>
            </a:pPr>
            <a:r>
              <a:rPr sz="1650" b="0">
                <a:solidFill>
                  <a:srgbClr val="59636E"/>
                </a:solidFill>
                <a:latin typeface="Noto Sans KR"/>
              </a:rPr>
              <a:t>마감일과 1인당 한도를 정해 같은 안내문을 배포합니다.</a:t>
            </a:r>
          </a:p>
        </p:txBody>
      </p:sp>
      <p:sp>
        <p:nvSpPr>
          <p:cNvPr id="11" name="detail-rule-1"/>
          <p:cNvSpPr/>
          <p:nvPr/>
        </p:nvSpPr>
        <p:spPr>
          <a:xfrm>
            <a:off x="1009650" y="51244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tail-number-1"/>
          <p:cNvSpPr txBox="1"/>
          <p:nvPr/>
        </p:nvSpPr>
        <p:spPr>
          <a:xfrm>
            <a:off x="1028700" y="401002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02</a:t>
            </a:r>
          </a:p>
        </p:txBody>
      </p:sp>
      <p:sp>
        <p:nvSpPr>
          <p:cNvPr id="13" name="detail-stage-1"/>
          <p:cNvSpPr txBox="1"/>
          <p:nvPr/>
        </p:nvSpPr>
        <p:spPr>
          <a:xfrm>
            <a:off x="1847850" y="404812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p:nvSpPr>
          <p:cNvPr id="14" name="detail-role-1"/>
          <p:cNvSpPr txBox="1"/>
          <p:nvPr/>
        </p:nvSpPr>
        <p:spPr>
          <a:xfrm>
            <a:off x="1847850" y="450532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운영·정산 담당</a:t>
            </a:r>
          </a:p>
        </p:txBody>
      </p:sp>
      <p:sp>
        <p:nvSpPr>
          <p:cNvPr id="15" name="detail-lead-1"/>
          <p:cNvSpPr txBox="1"/>
          <p:nvPr/>
        </p:nvSpPr>
        <p:spPr>
          <a:xfrm>
            <a:off x="4895850" y="398145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신청부터 지급까지 직접 시험합니다.</a:t>
            </a:r>
          </a:p>
        </p:txBody>
      </p:sp>
      <p:sp>
        <p:nvSpPr>
          <p:cNvPr id="16" name="detail-body-1"/>
          <p:cNvSpPr txBox="1"/>
          <p:nvPr/>
        </p:nvSpPr>
        <p:spPr>
          <a:xfrm>
            <a:off x="4895850" y="441007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시험 신청서를 넣고 영수증의 날짜·가게·금액을 확인합니다. 취소 결제와 중복 신청을 걸러내고, 서류가</a:t>
            </a:r>
          </a:p>
          <a:p>
            <a:pPr eaLnBrk="0">
              <a:lnSpc>
                <a:spcPts val="2062"/>
              </a:lnSpc>
              <a:spcBef>
                <a:spcPts val="0"/>
              </a:spcBef>
              <a:spcAft>
                <a:spcPts val="0"/>
              </a:spcAft>
            </a:pPr>
            <a:r>
              <a:rPr sz="1650" b="0">
                <a:solidFill>
                  <a:srgbClr val="59636E"/>
                </a:solidFill>
                <a:latin typeface="Noto Sans KR"/>
              </a:rPr>
              <a:t>부족할 때 누구에게 보완을 요청할지도 정합니다.</a:t>
            </a:r>
          </a:p>
        </p:txBody>
      </p:sp>
      <p:sp>
        <p:nvSpPr>
          <p:cNvPr id="17" name="detail-rule-2"/>
          <p:cNvSpPr/>
          <p:nvPr/>
        </p:nvSpPr>
        <p:spPr>
          <a:xfrm>
            <a:off x="1009650" y="64008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etail-number-2"/>
          <p:cNvSpPr txBox="1"/>
          <p:nvPr/>
        </p:nvSpPr>
        <p:spPr>
          <a:xfrm>
            <a:off x="1028700" y="528637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03</a:t>
            </a:r>
          </a:p>
        </p:txBody>
      </p:sp>
      <p:sp>
        <p:nvSpPr>
          <p:cNvPr id="19" name="detail-stage-2"/>
          <p:cNvSpPr txBox="1"/>
          <p:nvPr/>
        </p:nvSpPr>
        <p:spPr>
          <a:xfrm>
            <a:off x="1847850" y="532447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p:nvSpPr>
          <p:cNvPr id="20" name="detail-role-2"/>
          <p:cNvSpPr txBox="1"/>
          <p:nvPr/>
        </p:nvSpPr>
        <p:spPr>
          <a:xfrm>
            <a:off x="1847850" y="578167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현장 운영 담당</a:t>
            </a:r>
          </a:p>
        </p:txBody>
      </p:sp>
      <p:sp>
        <p:nvSpPr>
          <p:cNvPr id="21" name="detail-lead-2"/>
          <p:cNvSpPr txBox="1"/>
          <p:nvPr/>
        </p:nvSpPr>
        <p:spPr>
          <a:xfrm>
            <a:off x="4895850" y="525780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작게 시작하고 확인된 신청부터 지급합니다.</a:t>
            </a:r>
          </a:p>
        </p:txBody>
      </p:sp>
      <p:sp>
        <p:nvSpPr>
          <p:cNvPr id="22" name="detail-body-2"/>
          <p:cNvSpPr txBox="1"/>
          <p:nvPr/>
        </p:nvSpPr>
        <p:spPr>
          <a:xfrm>
            <a:off x="4895850" y="568642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참여 가게를 한정해 먼저 운영합니다. 담당자가 지출 증빙을 확인한 뒤 정해진 기준에 따라 환급하고,</a:t>
            </a:r>
          </a:p>
          <a:p>
            <a:pPr eaLnBrk="0">
              <a:lnSpc>
                <a:spcPts val="2062"/>
              </a:lnSpc>
              <a:spcBef>
                <a:spcPts val="0"/>
              </a:spcBef>
              <a:spcAft>
                <a:spcPts val="0"/>
              </a:spcAft>
            </a:pPr>
            <a:r>
              <a:rPr sz="1650" b="0">
                <a:solidFill>
                  <a:srgbClr val="59636E"/>
                </a:solidFill>
                <a:latin typeface="Noto Sans KR"/>
              </a:rPr>
              <a:t>신청자에게 지급일과 상품권 사용 방법을 알려줍니다.</a:t>
            </a:r>
          </a:p>
        </p:txBody>
      </p:sp>
      <p:sp>
        <p:nvSpPr>
          <p:cNvPr id="23" name="detail-rule-3"/>
          <p:cNvSpPr/>
          <p:nvPr/>
        </p:nvSpPr>
        <p:spPr>
          <a:xfrm>
            <a:off x="1009650" y="76771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etail-number-3"/>
          <p:cNvSpPr txBox="1"/>
          <p:nvPr/>
        </p:nvSpPr>
        <p:spPr>
          <a:xfrm>
            <a:off x="1028700" y="656272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04</a:t>
            </a:r>
          </a:p>
        </p:txBody>
      </p:sp>
      <p:sp>
        <p:nvSpPr>
          <p:cNvPr id="25" name="detail-stage-3"/>
          <p:cNvSpPr txBox="1"/>
          <p:nvPr/>
        </p:nvSpPr>
        <p:spPr>
          <a:xfrm>
            <a:off x="1847850" y="660082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p:nvSpPr>
          <p:cNvPr id="26" name="detail-role-3"/>
          <p:cNvSpPr txBox="1"/>
          <p:nvPr/>
        </p:nvSpPr>
        <p:spPr>
          <a:xfrm>
            <a:off x="1847850" y="705802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사업·평가 담당</a:t>
            </a:r>
          </a:p>
        </p:txBody>
      </p:sp>
      <p:sp>
        <p:nvSpPr>
          <p:cNvPr id="27" name="detail-lead-3"/>
          <p:cNvSpPr txBox="1"/>
          <p:nvPr/>
        </p:nvSpPr>
        <p:spPr>
          <a:xfrm>
            <a:off x="4895850" y="653415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지급 기록과 실제 사용 결과를 확인합니다.</a:t>
            </a:r>
          </a:p>
        </p:txBody>
      </p:sp>
      <p:sp>
        <p:nvSpPr>
          <p:cNvPr id="28" name="detail-body-3"/>
          <p:cNvSpPr txBox="1"/>
          <p:nvPr/>
        </p:nvSpPr>
        <p:spPr>
          <a:xfrm>
            <a:off x="4895850" y="696277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매주 신청·승인·지급 건수와 비용을 맞춰 봅니다. 상품권 사용 집계가 가능한지 운영사에 확인하고, 종료 후</a:t>
            </a:r>
          </a:p>
          <a:p>
            <a:pPr eaLnBrk="0">
              <a:lnSpc>
                <a:spcPts val="2062"/>
              </a:lnSpc>
              <a:spcBef>
                <a:spcPts val="0"/>
              </a:spcBef>
              <a:spcAft>
                <a:spcPts val="0"/>
              </a:spcAft>
            </a:pPr>
            <a:r>
              <a:rPr sz="1650" b="0">
                <a:solidFill>
                  <a:srgbClr val="59636E"/>
                </a:solidFill>
                <a:latin typeface="Noto Sans KR"/>
              </a:rPr>
              <a:t>취소를 뺀 실적을 정리합니다. 전체 관광소비 증가를 전부 사업 성과로 보지는 않습니다.</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유사지역사례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panel-0"/>
          <p:cNvSpPr/>
          <p:nvPr/>
        </p:nvSpPr>
        <p:spPr>
          <a:xfrm>
            <a:off x="1009650" y="2124075"/>
            <a:ext cx="6419850" cy="27622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ase-number-0"/>
          <p:cNvSpPr txBox="1"/>
          <p:nvPr/>
        </p:nvSpPr>
        <p:spPr>
          <a:xfrm>
            <a:off x="1200150" y="2276475"/>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01</a:t>
            </a:r>
          </a:p>
        </p:txBody>
      </p:sp>
      <p:sp xmlns:a="http://schemas.openxmlformats.org/drawingml/2006/main">
        <p:nvSpPr>
          <p:cNvPr id="6" name="case-badge-0"/>
          <p:cNvSpPr txBox="1"/>
          <p:nvPr/>
        </p:nvSpPr>
        <p:spPr>
          <a:xfrm>
            <a:off x="1943100" y="2314575"/>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선정 사례</a:t>
            </a:r>
          </a:p>
        </p:txBody>
      </p:sp>
      <p:sp xmlns:a="http://schemas.openxmlformats.org/drawingml/2006/main">
        <p:nvSpPr>
          <p:cNvPr id="7" name="case-title-0"/>
          <p:cNvSpPr txBox="1"/>
          <p:nvPr/>
        </p:nvSpPr>
        <p:spPr>
          <a:xfrm>
            <a:off x="1200150" y="2819400"/>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전라남도 강진군 · 반값여행 지역환급</a:t>
            </a:r>
          </a:p>
        </p:txBody>
      </p:sp>
      <p:sp xmlns:a="http://schemas.openxmlformats.org/drawingml/2006/main">
        <p:nvSpPr>
          <p:cNvPr id="8" name="case-body-0"/>
          <p:cNvSpPr txBox="1"/>
          <p:nvPr/>
        </p:nvSpPr>
        <p:spPr>
          <a:xfrm>
            <a:off x="1200150" y="3638550"/>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적용 조건: 기존의 'case:gangjin_half_price_2024'와 달리, 원주시의</a:t>
            </a:r>
          </a:p>
          <a:p>
            <a:pPr eaLnBrk="0">
              <a:lnSpc>
                <a:spcPts val="1968"/>
              </a:lnSpc>
              <a:spcBef>
                <a:spcPts val="0"/>
              </a:spcBef>
              <a:spcAft>
                <a:spcPts val="0"/>
              </a:spcAft>
            </a:pPr>
            <a:r>
              <a:rPr sz="1575" b="0">
                <a:solidFill>
                  <a:srgbClr val="59636E"/>
                </a:solidFill>
                <a:latin typeface="Noto Sans KR"/>
              </a:rPr>
              <a:t>특성에 맞춘 지역상품권 환급 방식을 도입하여, 지역 내 소비를</a:t>
            </a:r>
          </a:p>
          <a:p>
            <a:pPr eaLnBrk="0">
              <a:lnSpc>
                <a:spcPts val="1968"/>
              </a:lnSpc>
              <a:spcBef>
                <a:spcPts val="0"/>
              </a:spcBef>
              <a:spcAft>
                <a:spcPts val="0"/>
              </a:spcAft>
            </a:pPr>
            <a:r>
              <a:rPr sz="1575" b="0">
                <a:solidFill>
                  <a:srgbClr val="59636E"/>
                </a:solidFill>
                <a:latin typeface="Noto Sans KR"/>
              </a:rPr>
              <a:t>유도하는 데 초점을 맞춘다.</a:t>
            </a:r>
          </a:p>
        </p:txBody>
      </p:sp>
      <p:sp xmlns:a="http://schemas.openxmlformats.org/drawingml/2006/main">
        <p:nvSpPr>
          <p:cNvPr id="9" name="case-panel-1"/>
          <p:cNvSpPr/>
          <p:nvPr/>
        </p:nvSpPr>
        <p:spPr>
          <a:xfrm>
            <a:off x="7810500" y="2124075"/>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case-number-1"/>
          <p:cNvSpPr txBox="1"/>
          <p:nvPr/>
        </p:nvSpPr>
        <p:spPr>
          <a:xfrm>
            <a:off x="8001000" y="2276475"/>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02</a:t>
            </a:r>
          </a:p>
        </p:txBody>
      </p:sp>
      <p:sp xmlns:a="http://schemas.openxmlformats.org/drawingml/2006/main">
        <p:nvSpPr>
          <p:cNvPr id="11" name="case-badge-1"/>
          <p:cNvSpPr txBox="1"/>
          <p:nvPr/>
        </p:nvSpPr>
        <p:spPr>
          <a:xfrm>
            <a:off x="8743950" y="2314575"/>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12" name="case-title-1"/>
          <p:cNvSpPr txBox="1"/>
          <p:nvPr/>
        </p:nvSpPr>
        <p:spPr>
          <a:xfrm>
            <a:off x="8001000" y="2819400"/>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전북특별자치도 전주시 · 야간관광 특화도시 예산 편성</a:t>
            </a:r>
          </a:p>
        </p:txBody>
      </p:sp>
      <p:sp xmlns:a="http://schemas.openxmlformats.org/drawingml/2006/main">
        <p:nvSpPr>
          <p:cNvPr id="13" name="case-body-1"/>
          <p:cNvSpPr txBox="1"/>
          <p:nvPr/>
        </p:nvSpPr>
        <p:spPr>
          <a:xfrm>
            <a:off x="8001000" y="3638550"/>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사무관리, 행사운영, 연구용역, 민간경상보조 등으로 사업비를 항목별 편성</a:t>
            </a:r>
          </a:p>
        </p:txBody>
      </p:sp>
      <p:sp xmlns:a="http://schemas.openxmlformats.org/drawingml/2006/main">
        <p:nvSpPr>
          <p:cNvPr id="14" name="case-panel-2"/>
          <p:cNvSpPr/>
          <p:nvPr/>
        </p:nvSpPr>
        <p:spPr>
          <a:xfrm>
            <a:off x="1009650" y="5105400"/>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case-number-2"/>
          <p:cNvSpPr txBox="1"/>
          <p:nvPr/>
        </p:nvSpPr>
        <p:spPr>
          <a:xfrm>
            <a:off x="1200150" y="5257800"/>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03</a:t>
            </a:r>
          </a:p>
        </p:txBody>
      </p:sp>
      <p:sp xmlns:a="http://schemas.openxmlformats.org/drawingml/2006/main">
        <p:nvSpPr>
          <p:cNvPr id="16" name="case-badge-2"/>
          <p:cNvSpPr txBox="1"/>
          <p:nvPr/>
        </p:nvSpPr>
        <p:spPr>
          <a:xfrm>
            <a:off x="1943100" y="5295900"/>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17" name="case-title-2"/>
          <p:cNvSpPr txBox="1"/>
          <p:nvPr/>
        </p:nvSpPr>
        <p:spPr>
          <a:xfrm>
            <a:off x="1200150" y="5800725"/>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전국 인구감소지역 34곳 · 디지털 관광주민증과</a:t>
            </a:r>
          </a:p>
          <a:p>
            <a:pPr eaLnBrk="0">
              <a:lnSpc>
                <a:spcPts val="2531"/>
              </a:lnSpc>
              <a:spcBef>
                <a:spcPts val="0"/>
              </a:spcBef>
              <a:spcAft>
                <a:spcPts val="0"/>
              </a:spcAft>
            </a:pPr>
            <a:r>
              <a:rPr sz="2025" b="1">
                <a:solidFill>
                  <a:srgbClr val="1D2227"/>
                </a:solidFill>
                <a:latin typeface="Noto Sans KR"/>
              </a:rPr>
              <a:t>교통·숙박·상점 할인 결합</a:t>
            </a:r>
          </a:p>
        </p:txBody>
      </p:sp>
      <p:sp xmlns:a="http://schemas.openxmlformats.org/drawingml/2006/main">
        <p:nvSpPr>
          <p:cNvPr id="18" name="case-body-2"/>
          <p:cNvSpPr txBox="1"/>
          <p:nvPr/>
        </p:nvSpPr>
        <p:spPr>
          <a:xfrm>
            <a:off x="1200150" y="6619875"/>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 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 할인권을 결합</a:t>
            </a:r>
          </a:p>
        </p:txBody>
      </p:sp>
      <p:sp xmlns:a="http://schemas.openxmlformats.org/drawingml/2006/main">
        <p:nvSpPr>
          <p:cNvPr id="19" name="case-panel-3"/>
          <p:cNvSpPr/>
          <p:nvPr/>
        </p:nvSpPr>
        <p:spPr>
          <a:xfrm>
            <a:off x="7810500" y="5105400"/>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ase-number-3"/>
          <p:cNvSpPr txBox="1"/>
          <p:nvPr/>
        </p:nvSpPr>
        <p:spPr>
          <a:xfrm>
            <a:off x="8001000" y="5257800"/>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04</a:t>
            </a:r>
          </a:p>
        </p:txBody>
      </p:sp>
      <p:sp xmlns:a="http://schemas.openxmlformats.org/drawingml/2006/main">
        <p:nvSpPr>
          <p:cNvPr id="21" name="case-badge-3"/>
          <p:cNvSpPr txBox="1"/>
          <p:nvPr/>
        </p:nvSpPr>
        <p:spPr>
          <a:xfrm>
            <a:off x="8743950" y="5295900"/>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22" name="case-title-3"/>
          <p:cNvSpPr txBox="1"/>
          <p:nvPr/>
        </p:nvSpPr>
        <p:spPr>
          <a:xfrm>
            <a:off x="8001000" y="5800725"/>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전국 숙박할인쿠폰 지원사업 · 온라인 예약</a:t>
            </a:r>
          </a:p>
          <a:p>
            <a:pPr eaLnBrk="0">
              <a:lnSpc>
                <a:spcPts val="2531"/>
              </a:lnSpc>
              <a:spcBef>
                <a:spcPts val="0"/>
              </a:spcBef>
              <a:spcAft>
                <a:spcPts val="0"/>
              </a:spcAft>
            </a:pPr>
            <a:r>
              <a:rPr sz="2025" b="1">
                <a:solidFill>
                  <a:srgbClr val="1D2227"/>
                </a:solidFill>
                <a:latin typeface="Noto Sans KR"/>
              </a:rPr>
              <a:t>채널 숙박할인쿠폰</a:t>
            </a:r>
          </a:p>
        </p:txBody>
      </p:sp>
      <p:sp xmlns:a="http://schemas.openxmlformats.org/drawingml/2006/main">
        <p:nvSpPr>
          <p:cNvPr id="23" name="case-body-3"/>
          <p:cNvSpPr txBox="1"/>
          <p:nvPr/>
        </p:nvSpPr>
        <p:spPr>
          <a:xfrm>
            <a:off x="8001000" y="6619875"/>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온라인 여행사 예약 단계에서 할인쿠폰을 제공하고, 지역 숙소에서 사용할</a:t>
            </a:r>
          </a:p>
          <a:p>
            <a:pPr eaLnBrk="0">
              <a:lnSpc>
                <a:spcPts val="1968"/>
              </a:lnSpc>
              <a:spcBef>
                <a:spcPts val="0"/>
              </a:spcBef>
              <a:spcAft>
                <a:spcPts val="0"/>
              </a:spcAft>
            </a:pPr>
            <a:r>
              <a:rPr sz="1575" b="0">
                <a:solidFill>
                  <a:srgbClr val="59636E"/>
                </a:solidFill>
                <a:latin typeface="Noto Sans KR"/>
              </a:rPr>
              <a:t>수 있도록 참여 채널과 기간을 통합 운영</a:t>
            </a:r>
          </a:p>
        </p:txBody>
      </p:sp>
    </p:spTree>
    <p:extLst>
      <p:ext uri="{BB962C8B-B14F-4D97-AF65-F5344CB8AC3E}">
        <p14:creationId xmlns:p14="http://schemas.microsoft.com/office/powerpoint/2010/main" val="930694367"/>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flow-track"/>
          <p:cNvSpPr/>
          <p:nvPr/>
        </p:nvSpPr>
        <p:spPr>
          <a:xfrm>
            <a:off x="2476500" y="2476500"/>
            <a:ext cx="10144125" cy="2857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p:nvPr/>
        </p:nvSpPr>
        <p:spPr>
          <a:xfrm>
            <a:off x="2238375" y="2219325"/>
            <a:ext cx="552450" cy="552450"/>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flow-number-0"/>
          <p:cNvSpPr txBox="1"/>
          <p:nvPr/>
        </p:nvSpPr>
        <p:spPr>
          <a:xfrm>
            <a:off x="2247900"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01</a:t>
            </a:r>
          </a:p>
        </p:txBody>
      </p:sp>
      <p:sp xmlns:a="http://schemas.openxmlformats.org/drawingml/2006/main">
        <p:nvSpPr>
          <p:cNvPr id="7" name="step-0-label"/>
          <p:cNvSpPr txBox="1"/>
          <p:nvPr/>
        </p:nvSpPr>
        <p:spPr>
          <a:xfrm>
            <a:off x="1009650"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8" name="step-0-period"/>
          <p:cNvSpPr txBox="1"/>
          <p:nvPr/>
        </p:nvSpPr>
        <p:spPr>
          <a:xfrm>
            <a:off x="1009650"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2026-09</a:t>
            </a:r>
          </a:p>
        </p:txBody>
      </p:sp>
      <p:sp xmlns:a="http://schemas.openxmlformats.org/drawingml/2006/main">
        <p:nvSpPr>
          <p:cNvPr id="9" name="flow-node-1"/>
          <p:cNvSpPr/>
          <p:nvPr/>
        </p:nvSpPr>
        <p:spPr>
          <a:xfrm>
            <a:off x="5619750" y="2219325"/>
            <a:ext cx="552450" cy="552450"/>
          </a:xfrm>
          <a:prstGeom prst="ellipse">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flow-number-1"/>
          <p:cNvSpPr txBox="1"/>
          <p:nvPr/>
        </p:nvSpPr>
        <p:spPr>
          <a:xfrm>
            <a:off x="5629275"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02</a:t>
            </a:r>
          </a:p>
        </p:txBody>
      </p:sp>
      <p:sp xmlns:a="http://schemas.openxmlformats.org/drawingml/2006/main">
        <p:nvSpPr>
          <p:cNvPr id="11" name="step-1-label"/>
          <p:cNvSpPr txBox="1"/>
          <p:nvPr/>
        </p:nvSpPr>
        <p:spPr>
          <a:xfrm>
            <a:off x="4391025"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2" name="step-1-period"/>
          <p:cNvSpPr txBox="1"/>
          <p:nvPr/>
        </p:nvSpPr>
        <p:spPr>
          <a:xfrm>
            <a:off x="4391025"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2026-09</a:t>
            </a:r>
          </a:p>
        </p:txBody>
      </p:sp>
      <p:sp xmlns:a="http://schemas.openxmlformats.org/drawingml/2006/main">
        <p:nvSpPr>
          <p:cNvPr id="13" name="flow-node-2"/>
          <p:cNvSpPr/>
          <p:nvPr/>
        </p:nvSpPr>
        <p:spPr>
          <a:xfrm>
            <a:off x="9001125" y="2219325"/>
            <a:ext cx="552450" cy="552450"/>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flow-number-2"/>
          <p:cNvSpPr txBox="1"/>
          <p:nvPr/>
        </p:nvSpPr>
        <p:spPr>
          <a:xfrm>
            <a:off x="9010650"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03</a:t>
            </a:r>
          </a:p>
        </p:txBody>
      </p:sp>
      <p:sp xmlns:a="http://schemas.openxmlformats.org/drawingml/2006/main">
        <p:nvSpPr>
          <p:cNvPr id="15" name="step-2-label"/>
          <p:cNvSpPr txBox="1"/>
          <p:nvPr/>
        </p:nvSpPr>
        <p:spPr>
          <a:xfrm>
            <a:off x="7772400"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6" name="step-2-period"/>
          <p:cNvSpPr txBox="1"/>
          <p:nvPr/>
        </p:nvSpPr>
        <p:spPr>
          <a:xfrm>
            <a:off x="7772400"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2026-10</a:t>
            </a:r>
          </a:p>
        </p:txBody>
      </p:sp>
      <p:sp xmlns:a="http://schemas.openxmlformats.org/drawingml/2006/main">
        <p:nvSpPr>
          <p:cNvPr id="17" name="flow-node-3"/>
          <p:cNvSpPr/>
          <p:nvPr/>
        </p:nvSpPr>
        <p:spPr>
          <a:xfrm>
            <a:off x="12382500" y="2219325"/>
            <a:ext cx="552450" cy="552450"/>
          </a:xfrm>
          <a:prstGeom prst="ellipse">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flow-number-3"/>
          <p:cNvSpPr txBox="1"/>
          <p:nvPr/>
        </p:nvSpPr>
        <p:spPr>
          <a:xfrm>
            <a:off x="12392025"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04</a:t>
            </a:r>
          </a:p>
        </p:txBody>
      </p:sp>
      <p:sp xmlns:a="http://schemas.openxmlformats.org/drawingml/2006/main">
        <p:nvSpPr>
          <p:cNvPr id="19" name="step-3-label"/>
          <p:cNvSpPr txBox="1"/>
          <p:nvPr/>
        </p:nvSpPr>
        <p:spPr>
          <a:xfrm>
            <a:off x="11153775"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0" name="step-3-period"/>
          <p:cNvSpPr txBox="1"/>
          <p:nvPr/>
        </p:nvSpPr>
        <p:spPr>
          <a:xfrm>
            <a:off x="11153775"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2026-10 ~ 2026-11 / 2026-11</a:t>
            </a:r>
          </a:p>
        </p:txBody>
      </p:sp>
      <p:graphicFrame xmlns:a="http://schemas.openxmlformats.org/drawingml/2006/main">
        <p:nvGraphicFramePr>
          <p:cNvPr id="21" name="execution-table"/>
          <p:cNvGraphicFramePr>
            <a:graphicFrameLocks noGrp="1"/>
          </p:cNvGraphicFramePr>
          <p:nvPr/>
        </p:nvGraphicFramePr>
        <p:xfrm>
          <a:off x="1009650" y="4143375"/>
          <a:ext cx="13220700" cy="3533776"/>
        </p:xfrm>
        <a:graphic>
          <a:graphicData uri="http://schemas.openxmlformats.org/drawingml/2006/table">
            <a:tbl>
              <a:tblPr firstRow="1" bandRow="1">
                <a:tableStyleId>{5C22544A-7EE6-4342-B048-85BDC9FD1C3A}</a:tableStyleId>
              </a:tblPr>
              <a:tblGrid>
                <a:gridCol w="904875"/>
                <a:gridCol w="2095500"/>
                <a:gridCol w="2333625"/>
                <a:gridCol w="7886700"/>
              </a:tblGrid>
              <a:tr h="495300">
                <a:tc>
                  <a:txBody>
                    <a:bodyPr wrap="none"/>
                    <a:lstStyle/>
                    <a:p>
                      <a:pPr eaLnBrk="0" algn="ctr">
                        <a:lnSpc>
                          <a:spcPct val="112000"/>
                        </a:lnSpc>
                        <a:spcBef>
                          <a:spcPts val="0"/>
                        </a:spcBef>
                        <a:spcAft>
                          <a:spcPts val="0"/>
                        </a:spcAft>
                      </a:pPr>
                      <a:r>
                        <a:rPr sz="1575" b="1">
                          <a:solidFill>
                            <a:srgbClr val="FFFFFF"/>
                          </a:solidFill>
                          <a:latin typeface="Noto Sans KR"/>
                        </a:rPr>
                        <a:t>단계</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기간</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담당 역할(제안)</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세부 실행 업무</a:t>
                      </a:r>
                    </a:p>
                  </a:txBody>
                  <a:tcPr marL="95250" marR="95250" marT="66675" marB="66675" anchor="ctr">
                    <a:solidFill>
                      <a:srgbClr val="004EA2"/>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01</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2026-09</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사업 총괄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관광과 담당자가 참여 업체 명단을 확보하고 환급 운영 지침(안)을 작성함</a:t>
                      </a:r>
                    </a:p>
                  </a:txBody>
                  <a:tcPr marL="95250" marR="95250" marT="66675" marB="66675" anchor="ctr">
                    <a:solidFill>
                      <a:srgbClr val="FFFFFF"/>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02</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2026-09</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운영·정산 담당</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회계 담당자가 결제 증빙 및 중복 수혜 방지를 위한 가이드라인을 확정함</a:t>
                      </a:r>
                    </a:p>
                  </a:txBody>
                  <a:tcPr marL="95250" marR="95250" marT="66675" marB="66675" anchor="ctr">
                    <a:solidFill>
                      <a:srgbClr val="EAF1F6"/>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03</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2026-10</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현장 운영 담당</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홍보 담당자가 주요 관광지 연계 홍보물을 배포하고 운영 현황을 기록함</a:t>
                      </a:r>
                    </a:p>
                  </a:txBody>
                  <a:tcPr marL="95250" marR="95250" marT="66675" marB="66675" anchor="ctr">
                    <a:solidFill>
                      <a:srgbClr val="FFFFFF"/>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04</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2026-10 ~ 2026-11</a:t>
                      </a:r>
                    </a:p>
                    <a:p>
                      <a:pPr eaLnBrk="0" algn="ctr">
                        <a:lnSpc>
                          <a:spcPct val="112000"/>
                        </a:lnSpc>
                        <a:spcBef>
                          <a:spcPts val="0"/>
                        </a:spcBef>
                        <a:spcAft>
                          <a:spcPts val="0"/>
                        </a:spcAft>
                      </a:pPr>
                      <a:r>
                        <a:rPr sz="1575" b="0">
                          <a:solidFill>
                            <a:srgbClr val="1D2227"/>
                          </a:solidFill>
                          <a:latin typeface="Noto Sans KR"/>
                        </a:rPr>
                        <a:t>/ 2026-11</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사업·평가 담당</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운영 담당자가 주간 단위로 환급 신청·승인·결제 원장을 수집·검증함</a:t>
                      </a:r>
                    </a:p>
                    <a:p>
                      <a:pPr eaLnBrk="0">
                        <a:lnSpc>
                          <a:spcPct val="112000"/>
                        </a:lnSpc>
                        <a:spcBef>
                          <a:spcPts val="0"/>
                        </a:spcBef>
                        <a:spcAft>
                          <a:spcPts val="0"/>
                        </a:spcAft>
                      </a:pPr>
                      <a:r>
                        <a:rPr sz="1575" b="0">
                          <a:solidFill>
                            <a:srgbClr val="1D2227"/>
                          </a:solidFill>
                          <a:latin typeface="Noto Sans KR"/>
                        </a:rPr>
                        <a:t>기획 담당자가 수집된 원장을 바탕으로 최종 성과 평가 보고서를 작성함</a:t>
                      </a:r>
                    </a:p>
                  </a:txBody>
                  <a:tcPr marL="95250" marR="95250" marT="66675" marB="66675" anchor="ctr">
                    <a:solidFill>
                      <a:srgbClr val="EAF1F6"/>
                    </a:solidFill>
                  </a:tcPr>
                </a:tc>
              </a:tr>
            </a:tbl>
          </a:graphicData>
        </a:graphic>
      </p:graphicFrame>
      <p:sp xmlns:a="http://schemas.openxmlformats.org/drawingml/2006/main">
        <p:nvSpPr>
          <p:cNvPr id="22" name="roadmap-note"/>
          <p:cNvSpPr txBox="1"/>
          <p:nvPr/>
        </p:nvSpPr>
        <p:spPr>
          <a:xfrm>
            <a:off x="1009650" y="7953375"/>
            <a:ext cx="13220700" cy="4191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단계별 실행 방법은 다음 장에서 확인할 수 있습니다. 담당 역할과 일정은 착수 전에 확정합니다.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2,363,056명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2,402,440명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2,633,270명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2,721,046명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2,632,315명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2,763,931명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7,628,641명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7,887,417명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258,776명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670.47억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681.65억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839.30억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867.28억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899.48억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944.45억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2,409.25억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2,493.38억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3.49%</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84.13억 원</a:t>
            </a:r>
          </a:p>
        </p:txBody>
      </p:sp>
      <p:sp xmlns:a="http://schemas.openxmlformats.org/drawingml/2006/main">
        <p:nvSpPr>
          <p:cNvPr id="10" name="kpi-calculation"/>
          <p:cNvSpPr txBox="1"/>
          <p:nvPr/>
        </p:nvSpPr>
        <p:spPr>
          <a:xfrm>
            <a:off x="1009650" y="7677150"/>
            <a:ext cx="13220700" cy="657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방문자 합계는 월별 합계로 월 간 중복을 포함합니다. 목표 KPI는 예측값에 입력 목표율을 단계 적용한 계획값이며, 보장된 사업 효과가 아닙니다.</a:t>
            </a:r>
          </a:p>
        </p:txBody>
      </p:sp>
    </p:spTree>
    <p:extLst>
      <p:ext uri="{BB962C8B-B14F-4D97-AF65-F5344CB8AC3E}">
        <p14:creationId xmlns:p14="http://schemas.microsoft.com/office/powerpoint/2010/main" val="553742078"/>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2171700"/>
            <a:ext cx="752475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59636E"/>
                </a:solidFill>
                <a:latin typeface="Noto Sans KR"/>
              </a:rPr>
              <a:t>시범 운영 참고 금액</a:t>
            </a:r>
          </a:p>
        </p:txBody>
      </p:sp>
      <p:sp xmlns:a="http://schemas.openxmlformats.org/drawingml/2006/main">
        <p:nvSpPr>
          <p:cNvPr id="5" name="estimate-total"/>
          <p:cNvSpPr txBox="1"/>
          <p:nvPr/>
        </p:nvSpPr>
        <p:spPr>
          <a:xfrm>
            <a:off x="9048750" y="2076450"/>
            <a:ext cx="51816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총 8,250만 원</a:t>
            </a:r>
          </a:p>
        </p:txBody>
      </p:sp>
      <p:graphicFrame xmlns:a="http://schemas.openxmlformats.org/drawingml/2006/main">
        <p:nvGraphicFramePr>
          <p:cNvPr id="6" name="estimate-table"/>
          <p:cNvGraphicFramePr>
            <a:graphicFrameLocks noGrp="1"/>
          </p:cNvGraphicFramePr>
          <p:nvPr/>
        </p:nvGraphicFramePr>
        <p:xfrm>
          <a:off x="1238250" y="3143250"/>
          <a:ext cx="12763500" cy="3581400"/>
        </p:xfrm>
        <a:graphic>
          <a:graphicData uri="http://schemas.openxmlformats.org/drawingml/2006/table">
            <a:tbl>
              <a:tblPr firstRow="1" bandRow="1">
                <a:tableStyleId>{5C22544A-7EE6-4342-B048-85BDC9FD1C3A}</a:tableStyleId>
              </a:tblPr>
              <a:tblGrid>
                <a:gridCol w="3286125"/>
                <a:gridCol w="6381750"/>
                <a:gridCol w="3095625"/>
              </a:tblGrid>
              <a:tr h="495300">
                <a:tc>
                  <a:txBody>
                    <a:bodyPr wrap="none"/>
                    <a:lstStyle/>
                    <a:p>
                      <a:pPr eaLnBrk="0">
                        <a:lnSpc>
                          <a:spcPct val="112000"/>
                        </a:lnSpc>
                        <a:spcBef>
                          <a:spcPts val="0"/>
                        </a:spcBef>
                        <a:spcAft>
                          <a:spcPts val="0"/>
                        </a:spcAft>
                      </a:pPr>
                      <a:r>
                        <a:rPr sz="1650"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산출 기준(가정)</a:t>
                      </a:r>
                    </a:p>
                  </a:txBody>
                  <a:tcPr marL="95250" marR="95250" marT="66675" marB="66675" anchor="ctr">
                    <a:solidFill>
                      <a:srgbClr val="004EA2"/>
                    </a:solidFill>
                  </a:tcPr>
                </a:tc>
                <a:tc>
                  <a:txBody>
                    <a:bodyPr wrap="none"/>
                    <a:lstStyle/>
                    <a:p>
                      <a:pPr eaLnBrk="0" algn="r">
                        <a:lnSpc>
                          <a:spcPct val="112000"/>
                        </a:lnSpc>
                        <a:spcBef>
                          <a:spcPts val="0"/>
                        </a:spcBef>
                        <a:spcAft>
                          <a:spcPts val="0"/>
                        </a:spcAft>
                      </a:pPr>
                      <a:r>
                        <a:rPr sz="1650" b="1">
                          <a:solidFill>
                            <a:srgbClr val="FFFFFF"/>
                          </a:solidFill>
                          <a:latin typeface="Noto Sans KR"/>
                        </a:rPr>
                        <a:t>금액</a:t>
                      </a:r>
                    </a:p>
                  </a:txBody>
                  <a:tcPr marL="95250" marR="95250" marT="66675" marB="66675" anchor="ctr">
                    <a:solidFill>
                      <a:srgbClr val="004EA2"/>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1,000건 × 50,000원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5,000만원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60인일 × 150,000원</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900만원</a:t>
                      </a:r>
                    </a:p>
                  </a:txBody>
                  <a:tcPr marL="95250" marR="95250" marT="66675" marB="66675" anchor="ctr">
                    <a:solidFill>
                      <a:srgbClr val="EAF1F6"/>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기존 시스템 설정 1식 × 800만원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800만원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콘텐츠·안내물 1식 × 500만원</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500만원</a:t>
                      </a:r>
                    </a:p>
                  </a:txBody>
                  <a:tcPr marL="95250" marR="95250" marT="66675" marB="66675" anchor="ctr">
                    <a:solidFill>
                      <a:srgbClr val="EAF1F6"/>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자료 정리·평가 1식 × 300만원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300만원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직접비 7,500만원 × 10%</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750만원</a:t>
                      </a:r>
                    </a:p>
                  </a:txBody>
                  <a:tcPr marL="95250" marR="95250" marT="66675" marB="66675" anchor="ctr">
                    <a:solidFill>
                      <a:srgbClr val="EAF1F6"/>
                    </a:solidFill>
                  </a:tcPr>
                </a:tc>
              </a:tr>
            </a:tbl>
          </a:graphicData>
        </a:graphic>
      </p:graphicFrame>
      <p:sp xmlns:a="http://schemas.openxmlformats.org/drawingml/2006/main">
        <p:nvSpPr>
          <p:cNvPr id="7" name="estimate-total-rule"/>
          <p:cNvSpPr/>
          <p:nvPr/>
        </p:nvSpPr>
        <p:spPr>
          <a:xfrm>
            <a:off x="1238250" y="6858000"/>
            <a:ext cx="12763500" cy="285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estimate-note"/>
          <p:cNvSpPr txBox="1"/>
          <p:nvPr/>
        </p:nvSpPr>
        <p:spPr>
          <a:xfrm>
            <a:off x="1238250" y="7248525"/>
            <a:ext cx="12763500" cy="7048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수량과 단가를 가정한 임시 참고 견적이며 확정 견적이 아닙니다. 실제 계약 범위·세금·단가 확인 후 조정합니다.</a:t>
            </a:r>
          </a:p>
        </p:txBody>
      </p:sp>
    </p:spTree>
    <p:extLst>
      <p:ext uri="{BB962C8B-B14F-4D97-AF65-F5344CB8AC3E}">
        <p14:creationId xmlns:p14="http://schemas.microsoft.com/office/powerpoint/2010/main" val="1823133345"/>
      </p:ext>
    </p:extLst>
  </p:cSld>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강진 반값여행과 지역축제 운영 실적</a:t>
            </a:r>
          </a:p>
        </p:txBody>
      </p:sp>
      <p:graphicFrame>
        <p:nvGraphicFramePr>
          <p:cNvPr id="5" name="case-result-table"/>
          <p:cNvGraphicFramePr>
            <a:graphicFrameLocks noGrp="1"/>
          </p:cNvGraphicFramePr>
          <p:nvPr/>
        </p:nvGraphicFramePr>
        <p:xfrm>
          <a:off x="1009650" y="2657475"/>
          <a:ext cx="13220700" cy="2343150"/>
        </p:xfrm>
        <a:graphic>
          <a:graphicData uri="http://schemas.openxmlformats.org/drawingml/2006/table">
            <a:tbl>
              <a:tblPr firstRow="1" bandRow="1">
                <a:tableStyleId>{5C22544A-7EE6-4342-B048-85BDC9FD1C3A}</a:tableStyleId>
              </a:tblPr>
              <a:tblGrid>
                <a:gridCol w="4333875"/>
                <a:gridCol w="3714750"/>
                <a:gridCol w="5172075"/>
              </a:tblGrid>
              <a:tr h="495300">
                <a:tc>
                  <a:txBody>
                    <a:bodyPr wrap="none"/>
                    <a:lstStyle/>
                    <a:p>
                      <a:pPr eaLnBrk="0">
                        <a:lnSpc>
                          <a:spcPct val="112000"/>
                        </a:lnSpc>
                        <a:spcBef>
                          <a:spcPts val="0"/>
                        </a:spcBef>
                        <a:spcAft>
                          <a:spcPts val="0"/>
                        </a:spcAft>
                      </a:pPr>
                      <a:r>
                        <a:rPr sz="1800" b="1">
                          <a:solidFill>
                            <a:srgbClr val="FFFFFF"/>
                          </a:solidFill>
                          <a:latin typeface="Noto Sans KR"/>
                        </a:rPr>
                        <a:t>비교 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관광객 수</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값의 성격</a:t>
                      </a:r>
                    </a:p>
                  </a:txBody>
                  <a:tcPr marL="95250" marR="95250" marT="66675" marB="66675" anchor="ctr">
                    <a:solidFill>
                      <a:srgbClr val="004EA2"/>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2023년 비교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198.4만 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248만 ÷ 1.25 역산</a:t>
                      </a:r>
                    </a:p>
                  </a:txBody>
                  <a:tcPr marL="95250" marR="95250" marT="66675" marB="66675" anchor="ctr">
                    <a:solidFill>
                      <a:srgbClr val="FFFFFF"/>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2024년 10월 말 누적</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약 248만 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강진군의회 발표</a:t>
                      </a:r>
                    </a:p>
                  </a:txBody>
                  <a:tcPr marL="95250" marR="95250" marT="66675" marB="66675" anchor="ctr">
                    <a:solidFill>
                      <a:srgbClr val="EAF1F6"/>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전년 대비 증가</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49.6만 명 / 25%</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발표 증가율 · 차이는 역산</a:t>
                      </a:r>
                    </a:p>
                  </a:txBody>
                  <a:tcPr marL="95250" marR="95250" marT="66675" marB="66675" anchor="ctr">
                    <a:solidFill>
                      <a:srgbClr val="FFFFFF"/>
                    </a:solidFill>
                  </a:tcPr>
                </a:tc>
              </a:tr>
            </a:tbl>
          </a:graphicData>
        </a:graphic>
      </p:graphicFrame>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+5% · 소비 +5%</a:t>
            </a:r>
          </a:p>
        </p:txBody>
      </p:sp>
      <p:sp>
        <p:nvSpPr>
          <p:cNvPr id="7" name="basis-method"/>
          <p:cNvSpPr txBox="1"/>
          <p:nvPr/>
        </p:nvSpPr>
        <p:spPr>
          <a:xfrm>
            <a:off x="1009650" y="6067425"/>
            <a:ext cx="13220700" cy="15716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강진군의회 2024-11-20 시정연설: 10월 말 관광객 약 248만 명, 전년 대비 25% 증가. 전년 규모 역산: 248만÷1.25≈198.4만 명, 차이≈49.6만 명. 역산값은 별도</a:t>
            </a:r>
          </a:p>
          <a:p>
            <a:pPr eaLnBrk="0">
              <a:lnSpc>
                <a:spcPts val="1968"/>
              </a:lnSpc>
              <a:spcBef>
                <a:spcPts val="0"/>
              </a:spcBef>
              <a:spcAft>
                <a:spcPts val="0"/>
              </a:spcAft>
            </a:pPr>
            <a:r>
              <a:rPr sz="1575" b="0">
                <a:solidFill>
                  <a:srgbClr val="59636E"/>
                </a:solidFill>
                <a:latin typeface="Noto Sans KR"/>
              </a:rPr>
              <a:t>관측 원자료가 아니다. 반값여행과 축제의 동시기 실적이며 사업 단독 효과·ML 대비 증가율은 아니다. 원주는 초기 시범으로 최종월 방문 +5%를 제안한다(발표</a:t>
            </a:r>
          </a:p>
          <a:p>
            <a:pPr eaLnBrk="0">
              <a:lnSpc>
                <a:spcPts val="1968"/>
              </a:lnSpc>
              <a:spcBef>
                <a:spcPts val="0"/>
              </a:spcBef>
              <a:spcAft>
                <a:spcPts val="0"/>
              </a:spcAft>
            </a:pPr>
            <a:r>
              <a:rPr sz="1575" b="0">
                <a:solidFill>
                  <a:srgbClr val="59636E"/>
                </a:solidFill>
                <a:latin typeface="Noto Sans KR"/>
              </a:rPr>
              <a:t>증가율의 1/5를 선택한 기획 판단). 소비 +5%는 별도 계획 가정이며 강진 소비 전후 실적으로 계산한 값이 아니다.</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2"/>
              </a:rPr>
              <a:t>출처: 강진군의회 제307회 본회의 시정연설, 2024.11.20</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http://schemas.openxmlformats.org/officeDocument/2006/relationships" ns2: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ns3="http://schemas.openxmlformats.org/officeDocument/2006/relationships" ns3: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http://schemas.openxmlformats.org/officeDocument/2006/relationships" ns4: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http://schemas.openxmlformats.org/officeDocument/2006/relationships" ns5: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ns6="http://schemas.openxmlformats.org/officeDocument/2006/relationships" ns6: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7="http://schemas.openxmlformats.org/officeDocument/2006/relationships" ns7: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ns8="http://schemas.openxmlformats.org/officeDocument/2006/relationships" ns8: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9="http://schemas.openxmlformats.org/officeDocument/2006/relationships" ns9: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ns10="http://schemas.openxmlformats.org/officeDocument/2006/relationships" ns10: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1="http://schemas.openxmlformats.org/officeDocument/2006/relationships" ns11:id="rId2"/>
              </a:rPr>
              <a:t>관측 데이터 D07 SNS 언급량 2026-06</a:t>
            </a:r>
          </a:p>
        </p:txBody>
      </p:sp>
      <p:sp xmlns:a="http://schemas.openxmlformats.org/drawingml/2006/main">
        <p:nvSpPr>
          <p:cNvPr id="12" name="reference-7"/>
          <p:cNvSpPr txBox="1"/>
          <p:nvPr/>
        </p:nvSpPr>
        <p:spPr>
          <a:xfrm>
            <a:off x="1009650" y="6486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2="http://schemas.openxmlformats.org/officeDocument/2006/relationships" ns12:id="rId2"/>
              </a:rPr>
              <a:t>관측 데이터 D08 한국관광 데이터랩 공식 다운로드 ·</a:t>
            </a:r>
          </a:p>
          <a:p>
            <a:pPr eaLnBrk="0">
              <a:lnSpc>
                <a:spcPts val="1687"/>
              </a:lnSpc>
              <a:spcBef>
                <a:spcPts val="0"/>
              </a:spcBef>
              <a:spcAft>
                <a:spcPts val="0"/>
              </a:spcAft>
            </a:pPr>
            <a:r>
              <a:rPr sz="1350" b="0" u="none">
                <a:solidFill>
                  <a:srgbClr val="004EA2"/>
                </a:solidFill>
                <a:latin typeface="Noto Sans KR"/>
                <a:hlinkClick xmlns:ns13="http://schemas.openxmlformats.org/officeDocument/2006/relationships" ns13:id="rId2"/>
              </a:rPr>
              <a:t>강원특별자치도_원주시/숙박_체류시간/2025_01_12.zip</a:t>
            </a:r>
          </a:p>
          <a:p>
            <a:pPr eaLnBrk="0">
              <a:lnSpc>
                <a:spcPts val="1687"/>
              </a:lnSpc>
              <a:spcBef>
                <a:spcPts val="0"/>
              </a:spcBef>
              <a:spcAft>
                <a:spcPts val="0"/>
              </a:spcAft>
            </a:pPr>
            <a:r>
              <a:rPr sz="1350" b="0" u="none">
                <a:solidFill>
                  <a:srgbClr val="004EA2"/>
                </a:solidFill>
                <a:latin typeface="Noto Sans KR"/>
                <a:hlinkClick xmlns:ns14="http://schemas.openxmlformats.org/officeDocument/2006/relationships" ns14:id="rId2"/>
              </a:rPr>
              <a:t>2025-07 ~ 2026-06</a:t>
            </a:r>
          </a:p>
        </p:txBody>
      </p:sp>
      <p:sp xmlns:a="http://schemas.openxmlformats.org/drawingml/2006/main">
        <p:nvSpPr>
          <p:cNvPr id="13" name="reference-8"/>
          <p:cNvSpPr txBox="1"/>
          <p:nvPr/>
        </p:nvSpPr>
        <p:spPr>
          <a:xfrm>
            <a:off x="548640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5="http://schemas.openxmlformats.org/officeDocument/2006/relationships" ns15:id="rId2"/>
              </a:rPr>
              <a:t>관측 데이터 D09 한국관광 데이터랩 공식 다운로드 ·</a:t>
            </a:r>
          </a:p>
          <a:p>
            <a:pPr eaLnBrk="0">
              <a:lnSpc>
                <a:spcPts val="1687"/>
              </a:lnSpc>
              <a:spcBef>
                <a:spcPts val="0"/>
              </a:spcBef>
              <a:spcAft>
                <a:spcPts val="0"/>
              </a:spcAft>
            </a:pPr>
            <a:r>
              <a:rPr sz="1350" b="0" u="none">
                <a:solidFill>
                  <a:srgbClr val="004EA2"/>
                </a:solidFill>
                <a:latin typeface="Noto Sans KR"/>
                <a:hlinkClick xmlns:ns16="http://schemas.openxmlformats.org/officeDocument/2006/relationships" ns16:id="rId2"/>
              </a:rPr>
              <a:t>강원특별자치도_원주시/숙박_체류시간/2026_01_06.zip</a:t>
            </a:r>
          </a:p>
          <a:p>
            <a:pPr eaLnBrk="0">
              <a:lnSpc>
                <a:spcPts val="1687"/>
              </a:lnSpc>
              <a:spcBef>
                <a:spcPts val="0"/>
              </a:spcBef>
              <a:spcAft>
                <a:spcPts val="0"/>
              </a:spcAft>
            </a:pPr>
            <a:r>
              <a:rPr sz="1350" b="0" u="none">
                <a:solidFill>
                  <a:srgbClr val="004EA2"/>
                </a:solidFill>
                <a:latin typeface="Noto Sans KR"/>
                <a:hlinkClick xmlns:ns17="http://schemas.openxmlformats.org/officeDocument/2006/relationships" ns17:id="rId2"/>
              </a:rPr>
              <a:t>2025-07 ~ 2026-06</a:t>
            </a:r>
          </a:p>
        </p:txBody>
      </p:sp>
      <p:sp xmlns:a="http://schemas.openxmlformats.org/drawingml/2006/main">
        <p:nvSpPr>
          <p:cNvPr id="14" name="reference-9"/>
          <p:cNvSpPr txBox="1"/>
          <p:nvPr/>
        </p:nvSpPr>
        <p:spPr>
          <a:xfrm>
            <a:off x="548640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8="http://schemas.openxmlformats.org/officeDocument/2006/relationships" ns18:id="rId2"/>
              </a:rPr>
              <a:t>관측 데이터 D10 한국관광 데이터랩 공식 다운로드 ·</a:t>
            </a:r>
          </a:p>
          <a:p>
            <a:pPr eaLnBrk="0">
              <a:lnSpc>
                <a:spcPts val="1687"/>
              </a:lnSpc>
              <a:spcBef>
                <a:spcPts val="0"/>
              </a:spcBef>
              <a:spcAft>
                <a:spcPts val="0"/>
              </a:spcAft>
            </a:pPr>
            <a:r>
              <a:rPr sz="1350" b="0" u="none">
                <a:solidFill>
                  <a:srgbClr val="004EA2"/>
                </a:solidFill>
                <a:latin typeface="Noto Sans KR"/>
                <a:hlinkClick xmlns:ns19="http://schemas.openxmlformats.org/officeDocument/2006/relationships" ns19:id="rId2"/>
              </a:rPr>
              <a:t>강원특별자치도_원주시/방문자/2025_01_12.zip</a:t>
            </a:r>
          </a:p>
          <a:p>
            <a:pPr eaLnBrk="0">
              <a:lnSpc>
                <a:spcPts val="1687"/>
              </a:lnSpc>
              <a:spcBef>
                <a:spcPts val="0"/>
              </a:spcBef>
              <a:spcAft>
                <a:spcPts val="0"/>
              </a:spcAft>
            </a:pPr>
            <a:r>
              <a:rPr sz="1350" b="0" u="none">
                <a:solidFill>
                  <a:srgbClr val="004EA2"/>
                </a:solidFill>
                <a:latin typeface="Noto Sans KR"/>
                <a:hlinkClick xmlns:ns20="http://schemas.openxmlformats.org/officeDocument/2006/relationships" ns20:id="rId2"/>
              </a:rPr>
              <a:t>2025-07 ~ 2026-06</a:t>
            </a:r>
          </a:p>
        </p:txBody>
      </p:sp>
      <p:sp xmlns:a="http://schemas.openxmlformats.org/drawingml/2006/main">
        <p:nvSpPr>
          <p:cNvPr id="15" name="reference-10"/>
          <p:cNvSpPr txBox="1"/>
          <p:nvPr/>
        </p:nvSpPr>
        <p:spPr>
          <a:xfrm>
            <a:off x="548640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1="http://schemas.openxmlformats.org/officeDocument/2006/relationships" ns21:id="rId2"/>
              </a:rPr>
              <a:t>관측 데이터 D11 한국관광 데이터랩 공식 다운로드 ·</a:t>
            </a:r>
          </a:p>
          <a:p>
            <a:pPr eaLnBrk="0">
              <a:lnSpc>
                <a:spcPts val="1687"/>
              </a:lnSpc>
              <a:spcBef>
                <a:spcPts val="0"/>
              </a:spcBef>
              <a:spcAft>
                <a:spcPts val="0"/>
              </a:spcAft>
            </a:pPr>
            <a:r>
              <a:rPr sz="1350" b="0" u="none">
                <a:solidFill>
                  <a:srgbClr val="004EA2"/>
                </a:solidFill>
                <a:latin typeface="Noto Sans KR"/>
                <a:hlinkClick xmlns:ns22="http://schemas.openxmlformats.org/officeDocument/2006/relationships" ns22:id="rId2"/>
              </a:rPr>
              <a:t>강원특별자치도_원주시/방문자/2026_01_06.zip</a:t>
            </a:r>
          </a:p>
          <a:p>
            <a:pPr eaLnBrk="0">
              <a:lnSpc>
                <a:spcPts val="1687"/>
              </a:lnSpc>
              <a:spcBef>
                <a:spcPts val="0"/>
              </a:spcBef>
              <a:spcAft>
                <a:spcPts val="0"/>
              </a:spcAft>
            </a:pPr>
            <a:r>
              <a:rPr sz="1350" b="0" u="none">
                <a:solidFill>
                  <a:srgbClr val="004EA2"/>
                </a:solidFill>
                <a:latin typeface="Noto Sans KR"/>
                <a:hlinkClick xmlns:ns23="http://schemas.openxmlformats.org/officeDocument/2006/relationships" ns23:id="rId2"/>
              </a:rPr>
              <a:t>2025-07 ~ 2026-06</a:t>
            </a:r>
          </a:p>
        </p:txBody>
      </p:sp>
      <p:sp xmlns:a="http://schemas.openxmlformats.org/drawingml/2006/main">
        <p:nvSpPr>
          <p:cNvPr id="16" name="reference-11"/>
          <p:cNvSpPr txBox="1"/>
          <p:nvPr/>
        </p:nvSpPr>
        <p:spPr>
          <a:xfrm>
            <a:off x="548640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4="http://schemas.openxmlformats.org/officeDocument/2006/relationships" ns24:id="rId2"/>
              </a:rPr>
              <a:t>관측 데이터 D12 한국관광 데이터랩 공식 다운로드 ·</a:t>
            </a:r>
          </a:p>
          <a:p>
            <a:pPr eaLnBrk="0">
              <a:lnSpc>
                <a:spcPts val="1687"/>
              </a:lnSpc>
              <a:spcBef>
                <a:spcPts val="0"/>
              </a:spcBef>
              <a:spcAft>
                <a:spcPts val="0"/>
              </a:spcAft>
            </a:pPr>
            <a:r>
              <a:rPr sz="1350" b="0" u="none">
                <a:solidFill>
                  <a:srgbClr val="004EA2"/>
                </a:solidFill>
                <a:latin typeface="Noto Sans KR"/>
                <a:hlinkClick xmlns:ns25="http://schemas.openxmlformats.org/officeDocument/2006/relationships" ns25:id="rId2"/>
              </a:rPr>
              <a:t>강원특별자치도_원주시/관광소비/2026_01_06.zip</a:t>
            </a:r>
          </a:p>
          <a:p>
            <a:pPr eaLnBrk="0">
              <a:lnSpc>
                <a:spcPts val="1687"/>
              </a:lnSpc>
              <a:spcBef>
                <a:spcPts val="0"/>
              </a:spcBef>
              <a:spcAft>
                <a:spcPts val="0"/>
              </a:spcAft>
            </a:pPr>
            <a:r>
              <a:rPr sz="1350" b="0" u="none">
                <a:solidFill>
                  <a:srgbClr val="004EA2"/>
                </a:solidFill>
                <a:latin typeface="Noto Sans KR"/>
                <a:hlinkClick xmlns:ns26="http://schemas.openxmlformats.org/officeDocument/2006/relationships" ns26:id="rId2"/>
              </a:rPr>
              <a:t>2025-07 ~ 2026-06</a:t>
            </a:r>
          </a:p>
        </p:txBody>
      </p:sp>
      <p:sp xmlns:a="http://schemas.openxmlformats.org/drawingml/2006/main">
        <p:nvSpPr>
          <p:cNvPr id="17" name="reference-12"/>
          <p:cNvSpPr txBox="1"/>
          <p:nvPr/>
        </p:nvSpPr>
        <p:spPr>
          <a:xfrm>
            <a:off x="548640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7="http://schemas.openxmlformats.org/officeDocument/2006/relationships" ns27:id="rId2"/>
              </a:rPr>
              <a:t>관측 데이터 D13 한국관광 데이터랩 공식 다운로드 ·</a:t>
            </a:r>
          </a:p>
          <a:p>
            <a:pPr eaLnBrk="0">
              <a:lnSpc>
                <a:spcPts val="1687"/>
              </a:lnSpc>
              <a:spcBef>
                <a:spcPts val="0"/>
              </a:spcBef>
              <a:spcAft>
                <a:spcPts val="0"/>
              </a:spcAft>
            </a:pPr>
            <a:r>
              <a:rPr sz="1350" b="0" u="none">
                <a:solidFill>
                  <a:srgbClr val="004EA2"/>
                </a:solidFill>
                <a:latin typeface="Noto Sans KR"/>
                <a:hlinkClick xmlns:ns28="http://schemas.openxmlformats.org/officeDocument/2006/relationships" ns28:id="rId2"/>
              </a:rPr>
              <a:t>강원특별자치도_원주시/관광소비/2025_01_12.zip</a:t>
            </a:r>
          </a:p>
          <a:p>
            <a:pPr eaLnBrk="0">
              <a:lnSpc>
                <a:spcPts val="1687"/>
              </a:lnSpc>
              <a:spcBef>
                <a:spcPts val="0"/>
              </a:spcBef>
              <a:spcAft>
                <a:spcPts val="0"/>
              </a:spcAft>
            </a:pPr>
            <a:r>
              <a:rPr sz="1350" b="0" u="none">
                <a:solidFill>
                  <a:srgbClr val="004EA2"/>
                </a:solidFill>
                <a:latin typeface="Noto Sans KR"/>
                <a:hlinkClick xmlns:ns29="http://schemas.openxmlformats.org/officeDocument/2006/relationships" ns29:id="rId2"/>
              </a:rPr>
              <a:t>2025-07 ~ 2026-06</a:t>
            </a:r>
          </a:p>
        </p:txBody>
      </p:sp>
      <p:sp xmlns:a="http://schemas.openxmlformats.org/drawingml/2006/main">
        <p:nvSpPr>
          <p:cNvPr id="18" name="reference-13"/>
          <p:cNvSpPr txBox="1"/>
          <p:nvPr/>
        </p:nvSpPr>
        <p:spPr>
          <a:xfrm>
            <a:off x="5486400" y="6643688"/>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0="http://schemas.openxmlformats.org/officeDocument/2006/relationships" ns30:id="rId2"/>
              </a:rPr>
              <a:t>관측 데이터 D14 한국관광 데이터랩 전국 빅데이터</a:t>
            </a:r>
          </a:p>
          <a:p>
            <a:pPr eaLnBrk="0">
              <a:lnSpc>
                <a:spcPts val="1687"/>
              </a:lnSpc>
              <a:spcBef>
                <a:spcPts val="0"/>
              </a:spcBef>
              <a:spcAft>
                <a:spcPts val="0"/>
              </a:spcAft>
            </a:pPr>
            <a:r>
              <a:rPr sz="1350" b="0" u="none">
                <a:solidFill>
                  <a:srgbClr val="004EA2"/>
                </a:solidFill>
                <a:latin typeface="Noto Sans KR"/>
                <a:hlinkClick xmlns:ns31="http://schemas.openxmlformats.org/officeDocument/2006/relationships" ns3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32="http://schemas.openxmlformats.org/officeDocument/2006/relationships" ns32:id="rId2"/>
              </a:rPr>
              <a:t>방문자수/20260820140607__202601-202606_데이터랩_</a:t>
            </a:r>
          </a:p>
          <a:p>
            <a:pPr eaLnBrk="0">
              <a:lnSpc>
                <a:spcPts val="1687"/>
              </a:lnSpc>
              <a:spcBef>
                <a:spcPts val="0"/>
              </a:spcBef>
              <a:spcAft>
                <a:spcPts val="0"/>
              </a:spcAft>
            </a:pPr>
            <a:r>
              <a:rPr sz="1350" b="0" u="none">
                <a:solidFill>
                  <a:srgbClr val="004EA2"/>
                </a:solidFill>
                <a:latin typeface="Noto Sans KR"/>
                <a:hlinkClick xmlns:ns33="http://schemas.openxmlformats.org/officeDocument/2006/relationships" ns33:id="rId2"/>
              </a:rPr>
              <a:t>다운로드.zip 2026-01 ~ 2026-06</a:t>
            </a:r>
          </a:p>
        </p:txBody>
      </p:sp>
      <p:sp xmlns:a="http://schemas.openxmlformats.org/drawingml/2006/main">
        <p:nvSpPr>
          <p:cNvPr id="19" name="reference-14"/>
          <p:cNvSpPr txBox="1"/>
          <p:nvPr/>
        </p:nvSpPr>
        <p:spPr>
          <a:xfrm>
            <a:off x="99631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4="http://schemas.openxmlformats.org/officeDocument/2006/relationships" ns34:id="rId2"/>
              </a:rPr>
              <a:t>관측 데이터 D15 한국관광 데이터랩 전국 빅데이터</a:t>
            </a:r>
          </a:p>
          <a:p>
            <a:pPr eaLnBrk="0">
              <a:lnSpc>
                <a:spcPts val="1687"/>
              </a:lnSpc>
              <a:spcBef>
                <a:spcPts val="0"/>
              </a:spcBef>
              <a:spcAft>
                <a:spcPts val="0"/>
              </a:spcAft>
            </a:pPr>
            <a:r>
              <a:rPr sz="1350" b="0" u="none">
                <a:solidFill>
                  <a:srgbClr val="004EA2"/>
                </a:solidFill>
                <a:latin typeface="Noto Sans KR"/>
                <a:hlinkClick xmlns:ns35="http://schemas.openxmlformats.org/officeDocument/2006/relationships" ns35:id="rId2"/>
              </a:rPr>
              <a:t>다운로드 ·</a:t>
            </a:r>
          </a:p>
          <a:p>
            <a:pPr eaLnBrk="0">
              <a:lnSpc>
                <a:spcPts val="1687"/>
              </a:lnSpc>
              <a:spcBef>
                <a:spcPts val="0"/>
              </a:spcBef>
              <a:spcAft>
                <a:spcPts val="0"/>
              </a:spcAft>
            </a:pPr>
            <a:r>
              <a:rPr sz="1350" b="0" u="none">
                <a:solidFill>
                  <a:srgbClr val="004EA2"/>
                </a:solidFill>
                <a:latin typeface="Noto Sans KR"/>
                <a:hlinkClick xmlns:ns36="http://schemas.openxmlformats.org/officeDocument/2006/relationships" ns36:id="rId2"/>
              </a:rPr>
              <a:t>이동통신/외국인/20260820141710_전국_202601-202606</a:t>
            </a:r>
          </a:p>
          <a:p>
            <a:pPr eaLnBrk="0">
              <a:lnSpc>
                <a:spcPts val="1687"/>
              </a:lnSpc>
              <a:spcBef>
                <a:spcPts val="0"/>
              </a:spcBef>
              <a:spcAft>
                <a:spcPts val="0"/>
              </a:spcAft>
            </a:pPr>
            <a:r>
              <a:rPr sz="1350" b="0" u="none">
                <a:solidFill>
                  <a:srgbClr val="004EA2"/>
                </a:solidFill>
                <a:latin typeface="Noto Sans KR"/>
                <a:hlinkClick xmlns:ns37="http://schemas.openxmlformats.org/officeDocument/2006/relationships" ns37:id="rId2"/>
              </a:rPr>
              <a:t>_데이터랩_다운로드.zip 2026-01 ~ 2026-06</a:t>
            </a:r>
          </a:p>
        </p:txBody>
      </p:sp>
      <p:sp xmlns:a="http://schemas.openxmlformats.org/drawingml/2006/main">
        <p:nvSpPr>
          <p:cNvPr id="20" name="reference-15"/>
          <p:cNvSpPr txBox="1"/>
          <p:nvPr/>
        </p:nvSpPr>
        <p:spPr>
          <a:xfrm>
            <a:off x="99631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8="http://schemas.openxmlformats.org/officeDocument/2006/relationships" ns38:id="rId2"/>
              </a:rPr>
              <a:t>관측 데이터 D16 한국관광 데이터랩 전국 빅데이터</a:t>
            </a:r>
          </a:p>
          <a:p>
            <a:pPr eaLnBrk="0">
              <a:lnSpc>
                <a:spcPts val="1687"/>
              </a:lnSpc>
              <a:spcBef>
                <a:spcPts val="0"/>
              </a:spcBef>
              <a:spcAft>
                <a:spcPts val="0"/>
              </a:spcAft>
            </a:pPr>
            <a:r>
              <a:rPr sz="1350" b="0" u="none">
                <a:solidFill>
                  <a:srgbClr val="004EA2"/>
                </a:solidFill>
                <a:latin typeface="Noto Sans KR"/>
                <a:hlinkClick xmlns:ns39="http://schemas.openxmlformats.org/officeDocument/2006/relationships" ns39: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xmlns:ns40="http://schemas.openxmlformats.org/officeDocument/2006/relationships" ns40:id="rId2"/>
              </a:rPr>
              <a:t>관광지출액/20260820140046__202601-202606_데이터랩</a:t>
            </a:r>
          </a:p>
          <a:p>
            <a:pPr eaLnBrk="0">
              <a:lnSpc>
                <a:spcPts val="1687"/>
              </a:lnSpc>
              <a:spcBef>
                <a:spcPts val="0"/>
              </a:spcBef>
              <a:spcAft>
                <a:spcPts val="0"/>
              </a:spcAft>
            </a:pPr>
            <a:r>
              <a:rPr sz="1350" b="0" u="none">
                <a:solidFill>
                  <a:srgbClr val="004EA2"/>
                </a:solidFill>
                <a:latin typeface="Noto Sans KR"/>
                <a:hlinkClick xmlns:ns41="http://schemas.openxmlformats.org/officeDocument/2006/relationships" ns41:id="rId2"/>
              </a:rPr>
              <a:t>_다운로드.zip 2026-01 ~ 2026-06</a:t>
            </a:r>
          </a:p>
        </p:txBody>
      </p:sp>
      <p:sp xmlns:a="http://schemas.openxmlformats.org/drawingml/2006/main">
        <p:nvSpPr>
          <p:cNvPr id="21" name="reference-16"/>
          <p:cNvSpPr txBox="1"/>
          <p:nvPr/>
        </p:nvSpPr>
        <p:spPr>
          <a:xfrm>
            <a:off x="99631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2="http://schemas.openxmlformats.org/officeDocument/2006/relationships" ns42:id="rId2"/>
              </a:rPr>
              <a:t>관측 데이터 D17 한국관광 데이터랩 전국 빅데이터</a:t>
            </a:r>
          </a:p>
          <a:p>
            <a:pPr eaLnBrk="0">
              <a:lnSpc>
                <a:spcPts val="1687"/>
              </a:lnSpc>
              <a:spcBef>
                <a:spcPts val="0"/>
              </a:spcBef>
              <a:spcAft>
                <a:spcPts val="0"/>
              </a:spcAft>
            </a:pPr>
            <a:r>
              <a:rPr sz="1350" b="0" u="none">
                <a:solidFill>
                  <a:srgbClr val="004EA2"/>
                </a:solidFill>
                <a:latin typeface="Noto Sans KR"/>
                <a:hlinkClick xmlns:ns43="http://schemas.openxmlformats.org/officeDocument/2006/relationships" ns43: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xmlns:ns44="http://schemas.openxmlformats.org/officeDocument/2006/relationships" ns44:id="rId2"/>
              </a:rPr>
              <a:t>관광지출액/20260820140355__202601-202606_데이터랩</a:t>
            </a:r>
          </a:p>
          <a:p>
            <a:pPr eaLnBrk="0">
              <a:lnSpc>
                <a:spcPts val="1687"/>
              </a:lnSpc>
              <a:spcBef>
                <a:spcPts val="0"/>
              </a:spcBef>
              <a:spcAft>
                <a:spcPts val="0"/>
              </a:spcAft>
            </a:pPr>
            <a:r>
              <a:rPr sz="1350" b="0" u="none">
                <a:solidFill>
                  <a:srgbClr val="004EA2"/>
                </a:solidFill>
                <a:latin typeface="Noto Sans KR"/>
                <a:hlinkClick xmlns:ns45="http://schemas.openxmlformats.org/officeDocument/2006/relationships" ns45:id="rId2"/>
              </a:rPr>
              <a:t>_다운로드.zip 2026-01 ~ 2026-06</a:t>
            </a:r>
          </a:p>
        </p:txBody>
      </p:sp>
      <p:sp xmlns:a="http://schemas.openxmlformats.org/drawingml/2006/main">
        <p:nvSpPr>
          <p:cNvPr id="22" name="reference-17"/>
          <p:cNvSpPr txBox="1"/>
          <p:nvPr/>
        </p:nvSpPr>
        <p:spPr>
          <a:xfrm>
            <a:off x="99631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6="http://schemas.openxmlformats.org/officeDocument/2006/relationships" ns46:id="rId2"/>
              </a:rPr>
              <a:t>관측 데이터 D18 한국관광 데이터랩 전국 빅데이터</a:t>
            </a:r>
          </a:p>
          <a:p>
            <a:pPr eaLnBrk="0">
              <a:lnSpc>
                <a:spcPts val="1687"/>
              </a:lnSpc>
              <a:spcBef>
                <a:spcPts val="0"/>
              </a:spcBef>
              <a:spcAft>
                <a:spcPts val="0"/>
              </a:spcAft>
            </a:pPr>
            <a:r>
              <a:rPr sz="1350" b="0" u="none">
                <a:solidFill>
                  <a:srgbClr val="004EA2"/>
                </a:solidFill>
                <a:latin typeface="Noto Sans KR"/>
                <a:hlinkClick xmlns:ns47="http://schemas.openxmlformats.org/officeDocument/2006/relationships" ns47:id="rId2"/>
              </a:rPr>
              <a:t>다운로드 · 네비게이션/지역별</a:t>
            </a:r>
          </a:p>
          <a:p>
            <a:pPr eaLnBrk="0">
              <a:lnSpc>
                <a:spcPts val="1687"/>
              </a:lnSpc>
              <a:spcBef>
                <a:spcPts val="0"/>
              </a:spcBef>
              <a:spcAft>
                <a:spcPts val="0"/>
              </a:spcAft>
            </a:pPr>
            <a:r>
              <a:rPr sz="1350" b="0" u="none">
                <a:solidFill>
                  <a:srgbClr val="004EA2"/>
                </a:solidFill>
                <a:latin typeface="Noto Sans KR"/>
                <a:hlinkClick xmlns:ns48="http://schemas.openxmlformats.org/officeDocument/2006/relationships" ns48:id="rId2"/>
              </a:rPr>
              <a:t>검색건수/20260820195507__202601-202606_데이터랩_</a:t>
            </a:r>
          </a:p>
          <a:p>
            <a:pPr eaLnBrk="0">
              <a:lnSpc>
                <a:spcPts val="1687"/>
              </a:lnSpc>
              <a:spcBef>
                <a:spcPts val="0"/>
              </a:spcBef>
              <a:spcAft>
                <a:spcPts val="0"/>
              </a:spcAft>
            </a:pPr>
            <a:r>
              <a:rPr sz="1350" b="0" u="none">
                <a:solidFill>
                  <a:srgbClr val="004EA2"/>
                </a:solidFill>
                <a:latin typeface="Noto Sans KR"/>
                <a:hlinkClick xmlns:ns49="http://schemas.openxmlformats.org/officeDocument/2006/relationships" ns49:id="rId2"/>
              </a:rPr>
              <a:t>다운로드.zip 2026-01 ~ 2026-06</a:t>
            </a:r>
          </a:p>
        </p:txBody>
      </p:sp>
      <p:sp xmlns:a="http://schemas.openxmlformats.org/drawingml/2006/main">
        <p:nvSpPr>
          <p:cNvPr id="23" name="reference-18"/>
          <p:cNvSpPr txBox="1"/>
          <p:nvPr/>
        </p:nvSpPr>
        <p:spPr>
          <a:xfrm>
            <a:off x="99631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0="http://schemas.openxmlformats.org/officeDocument/2006/relationships" ns50:id="rId2"/>
              </a:rPr>
              <a:t>관측 데이터 D19 한국관광 데이터랩 전국 빅데이터</a:t>
            </a:r>
          </a:p>
          <a:p>
            <a:pPr eaLnBrk="0">
              <a:lnSpc>
                <a:spcPts val="1687"/>
              </a:lnSpc>
              <a:spcBef>
                <a:spcPts val="0"/>
              </a:spcBef>
              <a:spcAft>
                <a:spcPts val="0"/>
              </a:spcAft>
            </a:pPr>
            <a:r>
              <a:rPr sz="1350" b="0" u="none">
                <a:solidFill>
                  <a:srgbClr val="004EA2"/>
                </a:solidFill>
                <a:latin typeface="Noto Sans KR"/>
                <a:hlinkClick xmlns:ns51="http://schemas.openxmlformats.org/officeDocument/2006/relationships" ns5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52="http://schemas.openxmlformats.org/officeDocument/2006/relationships" ns52:id="rId2"/>
              </a:rPr>
              <a:t>방문자수/20260820140614__202501-202512_데이터랩_</a:t>
            </a:r>
          </a:p>
          <a:p>
            <a:pPr eaLnBrk="0">
              <a:lnSpc>
                <a:spcPts val="1687"/>
              </a:lnSpc>
              <a:spcBef>
                <a:spcPts val="0"/>
              </a:spcBef>
              <a:spcAft>
                <a:spcPts val="0"/>
              </a:spcAft>
            </a:pPr>
            <a:r>
              <a:rPr sz="1350" b="0" u="none">
                <a:solidFill>
                  <a:srgbClr val="004EA2"/>
                </a:solidFill>
                <a:latin typeface="Noto Sans KR"/>
                <a:hlinkClick xmlns:ns53="http://schemas.openxmlformats.org/officeDocument/2006/relationships" ns53:id="rId2"/>
              </a:rPr>
              <a:t>다운로드.zip 2026-01 ~ 2026-06</a:t>
            </a:r>
          </a:p>
        </p:txBody>
      </p:sp>
    </p:spTree>
    <p:extLst>
      <p:ext uri="{BB962C8B-B14F-4D97-AF65-F5344CB8AC3E}">
        <p14:creationId xmlns:p14="http://schemas.microsoft.com/office/powerpoint/2010/main" val="930694367"/>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원주시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원주시 지역사랑 휴가지원</a:t>
            </a:r>
          </a:p>
          <a:p xmlns:a="http://schemas.openxmlformats.org/drawingml/2006/main">
            <a:pPr eaLnBrk="0">
              <a:lnSpc>
                <a:spcPts val="2625"/>
              </a:lnSpc>
              <a:spcBef>
                <a:spcPts val="0"/>
              </a:spcBef>
              <a:spcAft>
                <a:spcPts val="0"/>
              </a:spcAft>
            </a:pPr>
            <a:r>
              <a:rPr sz="2100" b="1">
                <a:solidFill>
                  <a:srgbClr val="004EA2"/>
                </a:solidFill>
                <a:latin typeface="Noto Sans KR"/>
              </a:rPr>
              <a:t>(반값여행)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D20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이동통신/외국인/20260820141649_전국_202501-202512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6" name="reference-1"/>
          <p:cNvSpPr txBox="1"/>
          <p:nvPr/>
        </p:nvSpPr>
        <p:spPr>
          <a:xfrm>
            <a:off x="10096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D21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r:id="rId2"/>
              </a:rPr>
              <a:t>관광지출액/20260820135957__202501-202512_데이터랩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7" name="reference-2"/>
          <p:cNvSpPr txBox="1"/>
          <p:nvPr/>
        </p:nvSpPr>
        <p:spPr>
          <a:xfrm>
            <a:off x="10096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D22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r:id="rId2"/>
              </a:rPr>
              <a:t>관광지출액/20260820140409__202501-202512_데이터랩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8" name="reference-3"/>
          <p:cNvSpPr txBox="1"/>
          <p:nvPr/>
        </p:nvSpPr>
        <p:spPr>
          <a:xfrm>
            <a:off x="10096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D23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네비게이션/지역별</a:t>
            </a:r>
          </a:p>
          <a:p>
            <a:pPr eaLnBrk="0">
              <a:lnSpc>
                <a:spcPts val="1687"/>
              </a:lnSpc>
              <a:spcBef>
                <a:spcPts val="0"/>
              </a:spcBef>
              <a:spcAft>
                <a:spcPts val="0"/>
              </a:spcAft>
            </a:pPr>
            <a:r>
              <a:rPr sz="1350" b="0" u="none">
                <a:solidFill>
                  <a:srgbClr val="004EA2"/>
                </a:solidFill>
                <a:latin typeface="Noto Sans KR"/>
                <a:hlinkClick r:id="rId2"/>
              </a:rPr>
              <a:t>검색건수/20260820132007__202501-202512_데이터랩_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9" name="reference-4"/>
          <p:cNvSpPr txBox="1"/>
          <p:nvPr/>
        </p:nvSpPr>
        <p:spPr>
          <a:xfrm>
            <a:off x="10096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D24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r:id="rId2"/>
              </a:rPr>
              <a:t>방문자수/20260820140624__202401-202412_데이터랩_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10" name="reference-5"/>
          <p:cNvSpPr txBox="1"/>
          <p:nvPr/>
        </p:nvSpPr>
        <p:spPr>
          <a:xfrm>
            <a:off x="548640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이동통신/외국인/20260820141639_전국_202401-202412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11" name="reference-6"/>
          <p:cNvSpPr txBox="1"/>
          <p:nvPr/>
        </p:nvSpPr>
        <p:spPr>
          <a:xfrm>
            <a:off x="5486400" y="36004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유입유출 2025-07 ~ 2026-06</a:t>
            </a:r>
          </a:p>
        </p:txBody>
      </p:sp>
      <p:sp>
        <p:nvSpPr>
          <p:cNvPr id="12" name="reference-7"/>
          <p:cNvSpPr txBox="1"/>
          <p:nvPr/>
        </p:nvSpPr>
        <p:spPr>
          <a:xfrm>
            <a:off x="5486400" y="42005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지역집중률 2025-07 ~ 2026-06</a:t>
            </a:r>
          </a:p>
        </p:txBody>
      </p:sp>
      <p:sp>
        <p:nvSpPr>
          <p:cNvPr id="13" name="reference-8"/>
          <p:cNvSpPr txBox="1"/>
          <p:nvPr/>
        </p:nvSpPr>
        <p:spPr>
          <a:xfrm>
            <a:off x="5486400" y="48006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인기관광지 2025-07 ~ 2026-06</a:t>
            </a:r>
          </a:p>
        </p:txBody>
      </p:sp>
      <p:sp>
        <p:nvSpPr>
          <p:cNvPr id="14" name="reference-9"/>
          <p:cNvSpPr txBox="1"/>
          <p:nvPr/>
        </p:nvSpPr>
        <p:spPr>
          <a:xfrm>
            <a:off x="5486400" y="54006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 RandomForestRegressor</a:t>
            </a:r>
          </a:p>
          <a:p>
            <a:pPr eaLnBrk="0">
              <a:lnSpc>
                <a:spcPts val="1687"/>
              </a:lnSpc>
              <a:spcBef>
                <a:spcPts val="0"/>
              </a:spcBef>
              <a:spcAft>
                <a:spcPts val="0"/>
              </a:spcAft>
            </a:pPr>
            <a:r>
              <a:rPr sz="1350" b="0">
                <a:solidFill>
                  <a:srgbClr val="004EA2"/>
                </a:solidFill>
                <a:latin typeface="Noto Sans KR"/>
              </a:rPr>
              <a:t>최종 월 2,632,315명</a:t>
            </a:r>
          </a:p>
        </p:txBody>
      </p:sp>
      <p:sp>
        <p:nvSpPr>
          <p:cNvPr id="15" name="reference-10"/>
          <p:cNvSpPr txBox="1"/>
          <p:nvPr/>
        </p:nvSpPr>
        <p:spPr>
          <a:xfrm>
            <a:off x="5486400" y="6000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899.48억 원</a:t>
            </a:r>
          </a:p>
        </p:txBody>
      </p:sp>
      <p:sp>
        <p:nvSpPr>
          <p:cNvPr id="16" name="reference-11"/>
          <p:cNvSpPr txBox="1"/>
          <p:nvPr/>
        </p:nvSpPr>
        <p:spPr>
          <a:xfrm>
            <a:off x="548640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1,488분</a:t>
            </a:r>
          </a:p>
        </p:txBody>
      </p:sp>
      <p:sp>
        <p:nvSpPr>
          <p:cNvPr id="17" name="reference-12"/>
          <p:cNvSpPr txBox="1"/>
          <p:nvPr/>
        </p:nvSpPr>
        <p:spPr>
          <a:xfrm>
            <a:off x="548640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LinearRegression</a:t>
            </a:r>
          </a:p>
          <a:p>
            <a:pPr eaLnBrk="0">
              <a:lnSpc>
                <a:spcPts val="1687"/>
              </a:lnSpc>
              <a:spcBef>
                <a:spcPts val="0"/>
              </a:spcBef>
              <a:spcAft>
                <a:spcPts val="0"/>
              </a:spcAft>
            </a:pPr>
            <a:r>
              <a:rPr sz="1350" b="0">
                <a:solidFill>
                  <a:srgbClr val="004EA2"/>
                </a:solidFill>
                <a:latin typeface="Noto Sans KR"/>
              </a:rPr>
              <a:t>최종 월 2.76일</a:t>
            </a:r>
          </a:p>
        </p:txBody>
      </p:sp>
      <p:sp>
        <p:nvSpPr>
          <p:cNvPr id="18" name="reference-13"/>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12%</a:t>
            </a:r>
          </a:p>
        </p:txBody>
      </p:sp>
      <p:sp>
        <p:nvSpPr>
          <p:cNvPr id="19" name="reference-14"/>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a:t>
            </a:r>
          </a:p>
          <a:p>
            <a:pPr eaLnBrk="0">
              <a:lnSpc>
                <a:spcPts val="1687"/>
              </a:lnSpc>
              <a:spcBef>
                <a:spcPts val="0"/>
              </a:spcBef>
              <a:spcAft>
                <a:spcPts val="0"/>
              </a:spcAft>
            </a:pPr>
            <a:r>
              <a:rPr sz="1350" b="0">
                <a:solidFill>
                  <a:srgbClr val="004EA2"/>
                </a:solidFill>
                <a:latin typeface="Noto Sans KR"/>
              </a:rPr>
              <a:t>RandomForestRegressor 최종 월 48,286건</a:t>
            </a:r>
          </a:p>
        </p:txBody>
      </p:sp>
      <p:sp>
        <p:nvSpPr>
          <p:cNvPr id="20" name="reference-15"/>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352,852건</a:t>
            </a:r>
          </a:p>
        </p:txBody>
      </p:sp>
      <p:sp>
        <p:nvSpPr>
          <p:cNvPr id="21" name="reference-16"/>
          <p:cNvSpPr txBox="1"/>
          <p:nvPr/>
        </p:nvSpPr>
        <p:spPr>
          <a:xfrm>
            <a:off x="996315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 연계</a:t>
            </a:r>
          </a:p>
          <a:p>
            <a:pPr eaLnBrk="0">
              <a:lnSpc>
                <a:spcPts val="1687"/>
              </a:lnSpc>
              <a:spcBef>
                <a:spcPts val="0"/>
              </a:spcBef>
              <a:spcAft>
                <a:spcPts val="0"/>
              </a:spcAft>
            </a:pPr>
            <a:r>
              <a:rPr sz="1350" b="0" u="none">
                <a:solidFill>
                  <a:srgbClr val="004EA2"/>
                </a:solidFill>
                <a:latin typeface="Noto Sans KR"/>
                <a:hlinkClick r:id="rId3"/>
              </a:rPr>
              <a:t>지역관광 활성화 방안 · PDF 44쪽 외 9쪽 (10개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22" name="reference-17"/>
          <p:cNvSpPr txBox="1"/>
          <p:nvPr/>
        </p:nvSpPr>
        <p:spPr>
          <a:xfrm>
            <a:off x="99631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전주시 2026년도 관광산업과</a:t>
            </a:r>
          </a:p>
          <a:p>
            <a:pPr eaLnBrk="0">
              <a:lnSpc>
                <a:spcPts val="1687"/>
              </a:lnSpc>
              <a:spcBef>
                <a:spcPts val="0"/>
              </a:spcBef>
              <a:spcAft>
                <a:spcPts val="0"/>
              </a:spcAft>
            </a:pPr>
            <a:r>
              <a:rPr sz="1350" b="0" u="none">
                <a:solidFill>
                  <a:srgbClr val="004EA2"/>
                </a:solidFill>
                <a:latin typeface="Noto Sans KR"/>
                <a:hlinkClick r:id="rId4"/>
              </a:rPr>
              <a:t>세출예산 사업명세서 jeonju.go.kr</a:t>
            </a:r>
          </a:p>
        </p:txBody>
      </p:sp>
      <p:sp>
        <p:nvSpPr>
          <p:cNvPr id="23" name="reference-18"/>
          <p:cNvSpPr txBox="1"/>
          <p:nvPr/>
        </p:nvSpPr>
        <p:spPr>
          <a:xfrm>
            <a:off x="996315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(기획) 인천을 즐기는 가장 쉬운(easy)</a:t>
            </a:r>
          </a:p>
          <a:p>
            <a:pPr eaLnBrk="0">
              <a:lnSpc>
                <a:spcPts val="1687"/>
              </a:lnSpc>
              <a:spcBef>
                <a:spcPts val="0"/>
              </a:spcBef>
              <a:spcAft>
                <a:spcPts val="0"/>
              </a:spcAft>
            </a:pPr>
            <a:r>
              <a:rPr sz="1350" b="0" u="none">
                <a:solidFill>
                  <a:srgbClr val="004EA2"/>
                </a:solidFill>
                <a:latin typeface="Noto Sans KR"/>
                <a:hlinkClick r:id="rId5"/>
              </a:rPr>
              <a:t>방법 인천e지 www.incheon.go.kr</a:t>
            </a:r>
          </a:p>
        </p:txBody>
      </p:sp>
      <p:sp>
        <p:nvSpPr>
          <p:cNvPr id="24" name="reference-19"/>
          <p:cNvSpPr txBox="1"/>
          <p:nvPr/>
        </p:nvSpPr>
        <p:spPr>
          <a:xfrm>
            <a:off x="996315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2024년 6월 여행가는 달 추진</a:t>
            </a:r>
          </a:p>
          <a:p>
            <a:pPr eaLnBrk="0">
              <a:lnSpc>
                <a:spcPts val="1687"/>
              </a:lnSpc>
              <a:spcBef>
                <a:spcPts val="0"/>
              </a:spcBef>
              <a:spcAft>
                <a:spcPts val="0"/>
              </a:spcAft>
            </a:pPr>
            <a:r>
              <a:rPr sz="1350" b="0" u="none">
                <a:solidFill>
                  <a:srgbClr val="004EA2"/>
                </a:solidFill>
                <a:latin typeface="Noto Sans KR"/>
                <a:hlinkClick r:id="rId6"/>
              </a:rPr>
              <a:t>보도자료 mcst.go.kr</a:t>
            </a:r>
          </a:p>
        </p:txBody>
      </p:sp>
      <p:sp>
        <p:nvSpPr>
          <p:cNvPr id="25" name="reference-20"/>
          <p:cNvSpPr txBox="1"/>
          <p:nvPr/>
        </p:nvSpPr>
        <p:spPr>
          <a:xfrm>
            <a:off x="996315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2022 대한민국 숙박대전</a:t>
            </a:r>
          </a:p>
          <a:p>
            <a:pPr eaLnBrk="0">
              <a:lnSpc>
                <a:spcPts val="1687"/>
              </a:lnSpc>
              <a:spcBef>
                <a:spcPts val="0"/>
              </a:spcBef>
              <a:spcAft>
                <a:spcPts val="0"/>
              </a:spcAft>
            </a:pPr>
            <a:r>
              <a:rPr sz="1350" b="0" u="none">
                <a:solidFill>
                  <a:srgbClr val="004EA2"/>
                </a:solidFill>
                <a:latin typeface="Noto Sans KR"/>
                <a:hlinkClick r:id="rId7"/>
              </a:rPr>
              <a:t>경제파급효과 공개자료 kto.visitkorea.or.kr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공식 사례·문서 D55 한강 밤핑(Night+Camping)</a:t>
            </a:r>
          </a:p>
          <a:p>
            <a:pPr eaLnBrk="0">
              <a:lnSpc>
                <a:spcPts val="1687"/>
              </a:lnSpc>
              <a:spcBef>
                <a:spcPts val="0"/>
              </a:spcBef>
              <a:spcAft>
                <a:spcPts val="0"/>
              </a:spcAft>
            </a:pPr>
            <a:r>
              <a:rPr sz="1350" b="0" u="none">
                <a:solidFill>
                  <a:srgbClr val="004EA2"/>
                </a:solidFill>
                <a:latin typeface="Noto Sans KR"/>
                <a:hlinkClick r:id="rId2"/>
              </a:rPr>
              <a:t>행사·공연 정보 hangang.seoul.go.kr</a:t>
            </a:r>
          </a:p>
        </p:txBody>
      </p:sp>
      <p:sp>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D56 강진 반값여행 지역경제 효과</a:t>
            </a:r>
          </a:p>
          <a:p>
            <a:pPr eaLnBrk="0">
              <a:lnSpc>
                <a:spcPts val="1687"/>
              </a:lnSpc>
              <a:spcBef>
                <a:spcPts val="0"/>
              </a:spcBef>
              <a:spcAft>
                <a:spcPts val="0"/>
              </a:spcAft>
            </a:pPr>
            <a:r>
              <a:rPr sz="1350" b="0" u="none">
                <a:solidFill>
                  <a:srgbClr val="004EA2"/>
                </a:solidFill>
                <a:latin typeface="Noto Sans KR"/>
                <a:hlinkClick r:id="rId3"/>
              </a:rPr>
              <a:t>소개 jnfarm.jeonnam.go.kr</a:t>
            </a:r>
          </a:p>
        </p:txBody>
      </p:sp>
      <p:sp>
        <p:nvSpPr>
          <p:cNvPr id="7" name="reference-2"/>
          <p:cNvSpPr txBox="1"/>
          <p:nvPr/>
        </p:nvSpPr>
        <p:spPr>
          <a:xfrm>
            <a:off x="10096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D57 지역사랑 휴가지원(반값여행) 신설 및</a:t>
            </a:r>
          </a:p>
          <a:p>
            <a:pPr eaLnBrk="0">
              <a:lnSpc>
                <a:spcPts val="1687"/>
              </a:lnSpc>
              <a:spcBef>
                <a:spcPts val="0"/>
              </a:spcBef>
              <a:spcAft>
                <a:spcPts val="0"/>
              </a:spcAft>
            </a:pPr>
            <a:r>
              <a:rPr sz="1350" b="0" u="none">
                <a:solidFill>
                  <a:srgbClr val="004EA2"/>
                </a:solidFill>
                <a:latin typeface="Noto Sans KR"/>
                <a:hlinkClick r:id="rId4"/>
              </a:rPr>
              <a:t>‘대한민국 반값여행’ 성과 분석 www.mcst.go.kr</a:t>
            </a:r>
          </a:p>
        </p:txBody>
      </p:sp>
      <p:sp>
        <p:nvSpPr>
          <p:cNvPr id="8" name="reference-3"/>
          <p:cNvSpPr txBox="1"/>
          <p:nvPr/>
        </p:nvSpPr>
        <p:spPr>
          <a:xfrm>
            <a:off x="1009650" y="43719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D58 2025 대한민국 밤밤페스타 개최 도시</a:t>
            </a:r>
          </a:p>
          <a:p>
            <a:pPr eaLnBrk="0">
              <a:lnSpc>
                <a:spcPts val="1687"/>
              </a:lnSpc>
              <a:spcBef>
                <a:spcPts val="0"/>
              </a:spcBef>
              <a:spcAft>
                <a:spcPts val="0"/>
              </a:spcAft>
            </a:pPr>
            <a:r>
              <a:rPr sz="1350" b="0" u="none">
                <a:solidFill>
                  <a:srgbClr val="004EA2"/>
                </a:solidFill>
                <a:latin typeface="Noto Sans KR"/>
                <a:hlinkClick r:id="rId5"/>
              </a:rPr>
              <a:t>및 일정 korean.visitkorea.or.kr</a:t>
            </a:r>
          </a:p>
        </p:txBody>
      </p:sp>
      <p:sp>
        <p:nvSpPr>
          <p:cNvPr id="9" name="reference-4"/>
          <p:cNvSpPr txBox="1"/>
          <p:nvPr/>
        </p:nvSpPr>
        <p:spPr>
          <a:xfrm>
            <a:off x="1009650" y="49720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D30 감악산캠핑숲</a:t>
            </a:r>
          </a:p>
        </p:txBody>
      </p:sp>
      <p:sp>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D31</a:t>
            </a:r>
          </a:p>
          <a:p>
            <a:pPr eaLnBrk="0">
              <a:lnSpc>
                <a:spcPts val="1687"/>
              </a:lnSpc>
              <a:spcBef>
                <a:spcPts val="0"/>
              </a:spcBef>
              <a:spcAft>
                <a:spcPts val="0"/>
              </a:spcAft>
            </a:pPr>
            <a:r>
              <a:rPr sz="1350" b="0" u="none">
                <a:solidFill>
                  <a:srgbClr val="004EA2"/>
                </a:solidFill>
                <a:latin typeface="Noto Sans KR"/>
                <a:hlinkClick r:id="rId6"/>
              </a:rPr>
              <a:t>강원감영관찰사·무릉고서화미술박물관</a:t>
            </a:r>
          </a:p>
        </p:txBody>
      </p:sp>
      <p:sp>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D32 강원도힐링캠핑장</a:t>
            </a:r>
          </a:p>
        </p:txBody>
      </p:sp>
      <p:sp>
        <p:nvSpPr>
          <p:cNvPr id="12" name="reference-7"/>
          <p:cNvSpPr txBox="1"/>
          <p:nvPr/>
        </p:nvSpPr>
        <p:spPr>
          <a:xfrm>
            <a:off x="1009650" y="64865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D33 경천묘</a:t>
            </a:r>
          </a:p>
        </p:txBody>
      </p:sp>
      <p:sp>
        <p:nvSpPr>
          <p:cNvPr id="13" name="reference-8"/>
          <p:cNvSpPr txBox="1"/>
          <p:nvPr/>
        </p:nvSpPr>
        <p:spPr>
          <a:xfrm>
            <a:off x="1009650" y="69437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D34 고판화박물관</a:t>
            </a:r>
          </a:p>
        </p:txBody>
      </p:sp>
      <p:sp>
        <p:nvSpPr>
          <p:cNvPr id="14" name="reference-9"/>
          <p:cNvSpPr txBox="1"/>
          <p:nvPr/>
        </p:nvSpPr>
        <p:spPr>
          <a:xfrm>
            <a:off x="1009650" y="74009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D35 관음사·국형사계곡</a:t>
            </a:r>
          </a:p>
        </p:txBody>
      </p:sp>
      <p:sp>
        <p:nvSpPr>
          <p:cNvPr id="15" name="reference-10"/>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D36 광화문갈비 원주점</a:t>
            </a:r>
          </a:p>
        </p:txBody>
      </p:sp>
      <p:sp>
        <p:nvSpPr>
          <p:cNvPr id="16" name="reference-11"/>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D37 구 조선식산은행 원주지점</a:t>
            </a:r>
          </a:p>
        </p:txBody>
      </p:sp>
      <p:sp>
        <p:nvSpPr>
          <p:cNvPr id="17" name="reference-12"/>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D38 국형사</a:t>
            </a:r>
          </a:p>
        </p:txBody>
      </p:sp>
      <p:sp>
        <p:nvSpPr>
          <p:cNvPr id="18" name="reference-13"/>
          <p:cNvSpPr txBox="1"/>
          <p:nvPr/>
        </p:nvSpPr>
        <p:spPr>
          <a:xfrm>
            <a:off x="548640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D39 금대 에코힐링 캠핑장</a:t>
            </a:r>
          </a:p>
        </p:txBody>
      </p:sp>
      <p:sp>
        <p:nvSpPr>
          <p:cNvPr id="19" name="reference-14"/>
          <p:cNvSpPr txBox="1"/>
          <p:nvPr/>
        </p:nvSpPr>
        <p:spPr>
          <a:xfrm>
            <a:off x="548640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D40 금대계곡</a:t>
            </a:r>
          </a:p>
        </p:txBody>
      </p:sp>
      <p:sp>
        <p:nvSpPr>
          <p:cNvPr id="20" name="reference-15"/>
          <p:cNvSpPr txBox="1"/>
          <p:nvPr/>
        </p:nvSpPr>
        <p:spPr>
          <a:xfrm>
            <a:off x="548640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D41 금대자동차야영장</a:t>
            </a:r>
          </a:p>
        </p:txBody>
      </p:sp>
      <p:sp>
        <p:nvSpPr>
          <p:cNvPr id="21" name="reference-16"/>
          <p:cNvSpPr txBox="1"/>
          <p:nvPr/>
        </p:nvSpPr>
        <p:spPr>
          <a:xfrm>
            <a:off x="548640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D42 기후변화홍보관</a:t>
            </a:r>
          </a:p>
        </p:txBody>
      </p:sp>
      <p:sp>
        <p:nvSpPr>
          <p:cNvPr id="22" name="reference-17"/>
          <p:cNvSpPr txBox="1"/>
          <p:nvPr/>
        </p:nvSpPr>
        <p:spPr>
          <a:xfrm>
            <a:off x="548640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D43 김가네원주추어탕</a:t>
            </a:r>
          </a:p>
        </p:txBody>
      </p:sp>
      <p:sp>
        <p:nvSpPr>
          <p:cNvPr id="23" name="reference-18"/>
          <p:cNvSpPr txBox="1"/>
          <p:nvPr/>
        </p:nvSpPr>
        <p:spPr>
          <a:xfrm>
            <a:off x="548640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D44 김제남 신도비</a:t>
            </a:r>
          </a:p>
        </p:txBody>
      </p:sp>
      <p:sp>
        <p:nvSpPr>
          <p:cNvPr id="24" name="reference-19"/>
          <p:cNvSpPr txBox="1"/>
          <p:nvPr/>
        </p:nvSpPr>
        <p:spPr>
          <a:xfrm>
            <a:off x="548640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D45 넌스키 난보드</a:t>
            </a:r>
          </a:p>
        </p:txBody>
      </p:sp>
      <p:sp>
        <p:nvSpPr>
          <p:cNvPr id="25" name="reference-20"/>
          <p:cNvSpPr txBox="1"/>
          <p:nvPr/>
        </p:nvSpPr>
        <p:spPr>
          <a:xfrm>
            <a:off x="548640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D46 단관공원</a:t>
            </a:r>
          </a:p>
        </p:txBody>
      </p:sp>
      <p:sp>
        <p:nvSpPr>
          <p:cNvPr id="26" name="reference-21"/>
          <p:cNvSpPr txBox="1"/>
          <p:nvPr/>
        </p:nvSpPr>
        <p:spPr>
          <a:xfrm>
            <a:off x="5486400" y="7600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D47 동승루</a:t>
            </a:r>
          </a:p>
        </p:txBody>
      </p:sp>
      <p:sp>
        <p:nvSpPr>
          <p:cNvPr id="27" name="reference-22"/>
          <p:cNvSpPr txBox="1"/>
          <p:nvPr/>
        </p:nvSpPr>
        <p:spPr>
          <a:xfrm>
            <a:off x="99631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D48 들꽃가든</a:t>
            </a:r>
          </a:p>
        </p:txBody>
      </p:sp>
      <p:sp>
        <p:nvSpPr>
          <p:cNvPr id="28" name="reference-23"/>
          <p:cNvSpPr txBox="1"/>
          <p:nvPr/>
        </p:nvSpPr>
        <p:spPr>
          <a:xfrm>
            <a:off x="99631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D49 들꽃이야기</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