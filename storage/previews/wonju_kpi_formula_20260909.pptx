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notesMasters/notesMaster1.xml" ContentType="application/vnd.openxmlformats-officedocument.presentationml.notesMaster+xml"/>
  <Override PartName="/ppt/notesMasters/theme/theme3.xml" ContentType="application/vnd.openxmlformats-officedocument.theme+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Masters/theme/theme2.xml" ContentType="application/vnd.openxmlformats-officedocument.theme+xml"/>
  <Override PartName="/ppt/slides/charts/chart3.xml" ContentType="application/vnd.openxmlformats-officedocument.drawingml.chart+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0c9acad3462d47f4" Type="http://schemas.openxmlformats.org/package/2006/relationships/metadata/core-properties" Target="docProps/core.xml"/><Relationship Id="R45c0ced956484f6e" Type="http://schemas.openxmlformats.org/officeDocument/2006/relationships/officeDocument" Target="ppt/presentation.xml"/><Relationship Id="Ra16f1779ee944664" Type="http://schemas.openxmlformats.org/officeDocument/2006/relationships/extended-properties" Target="docProps/app.xml"/></Relationships>
</file>

<file path=ppt/presentation.xml><?xml version="1.0" encoding="utf-8"?>
<p:presentation xmlns:p="http://schemas.openxmlformats.org/presentationml/2006/main">
  <p:sldMasterIdLst>
    <p:sldMasterId xmlns:r="http://schemas.openxmlformats.org/officeDocument/2006/relationships" id="2147483648" r:id="Rdef75127518841e9"/>
  </p:sldMasterIdLst>
  <p:notesMasterIdLst>
    <p:notesMasterId xmlns:r="http://schemas.openxmlformats.org/officeDocument/2006/relationships" r:id="R39a2950bce3543d9"/>
  </p:notesMasterIdLst>
  <p:sldIdLst>
    <p:sldId xmlns:r="http://schemas.openxmlformats.org/officeDocument/2006/relationships" id="256" r:id="R886a7c7854c24ea4"/>
    <p:sldId xmlns:r="http://schemas.openxmlformats.org/officeDocument/2006/relationships" id="257" r:id="Rf0fd60d93fe24e2b"/>
    <p:sldId xmlns:r="http://schemas.openxmlformats.org/officeDocument/2006/relationships" id="258" r:id="Rb96b5134fc1b4629"/>
    <p:sldId xmlns:r="http://schemas.openxmlformats.org/officeDocument/2006/relationships" id="259" r:id="R5b6702ccd7664af1"/>
    <p:sldId xmlns:r="http://schemas.openxmlformats.org/officeDocument/2006/relationships" id="261" r:id="Rbf371966fa964fc8"/>
    <p:sldId xmlns:ns0="http://schemas.openxmlformats.org/officeDocument/2006/relationships" id="272" ns0:id="rId21"/>
    <p:sldId xmlns:r="http://schemas.openxmlformats.org/officeDocument/2006/relationships" id="262" r:id="R4c9d0e3030fa4c5f"/>
    <p:sldId xmlns:ns0="http://schemas.openxmlformats.org/officeDocument/2006/relationships" id="270" ns0:id="rId18"/>
    <p:sldId xmlns:r="http://schemas.openxmlformats.org/officeDocument/2006/relationships" id="263" r:id="Rbbe47957bc6641c0"/>
    <p:sldId xmlns:ns0="http://schemas.openxmlformats.org/officeDocument/2006/relationships" id="271" ns0:id="rId17"/>
    <p:sldId xmlns:r="http://schemas.openxmlformats.org/officeDocument/2006/relationships" id="264" r:id="R72f63d3229d64861"/>
    <p:sldId xmlns:r="http://schemas.openxmlformats.org/officeDocument/2006/relationships" id="266" r:id="R029df0519ade4c8b"/>
    <p:sldId xmlns:ns0="http://schemas.openxmlformats.org/officeDocument/2006/relationships" id="268" ns0:id="rId19"/>
    <p:sldId xmlns:ns0="http://schemas.openxmlformats.org/officeDocument/2006/relationships" id="269" ns0:id="rId20"/>
    <p:sldId xmlns:r="http://schemas.openxmlformats.org/officeDocument/2006/relationships" id="267" r:id="R3ccf286ad0374944"/>
  </p:sldIdLst>
  <p:sldSz cx="15240000" cy="85725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2008" cy="72008"/>
</p:viewPr>
</file>

<file path=ppt/_rels/presentation.xml.rels><?xml version='1.0' encoding='UTF-8' standalone='yes'?>
<Relationships xmlns="http://schemas.openxmlformats.org/package/2006/relationships"><Relationship Id="R029df0519ade4c8b" Type="http://schemas.openxmlformats.org/officeDocument/2006/relationships/slide" Target="slides/slide11.xml"/><Relationship Id="R08a84642cb64493b" Type="http://schemas.openxmlformats.org/officeDocument/2006/relationships/tableStyles" Target="tableStyles.xml"/><Relationship Id="R0fdc956208c94083" Type="http://schemas.openxmlformats.org/officeDocument/2006/relationships/viewProps" Target="viewProps.xml"/><Relationship Id="R39a2950bce3543d9" Type="http://schemas.openxmlformats.org/officeDocument/2006/relationships/notesMaster" Target="notesMasters/notesMaster1.xml"/><Relationship Id="R3ccf286ad0374944" Type="http://schemas.openxmlformats.org/officeDocument/2006/relationships/slide" Target="slides/slide12.xml"/><Relationship Id="R4c9d0e3030fa4c5f" Type="http://schemas.openxmlformats.org/officeDocument/2006/relationships/slide" Target="slides/slide7.xml"/><Relationship Id="R5b6702ccd7664af1" Type="http://schemas.openxmlformats.org/officeDocument/2006/relationships/slide" Target="slides/slide4.xml"/><Relationship Id="R618d7671ebe14b00" Type="http://schemas.openxmlformats.org/officeDocument/2006/relationships/theme" Target="theme/theme1.xml"/><Relationship Id="R667c03bfc37b4314" Type="http://schemas.openxmlformats.org/officeDocument/2006/relationships/presProps" Target="presProps.xml"/><Relationship Id="R72f63d3229d64861" Type="http://schemas.openxmlformats.org/officeDocument/2006/relationships/slide" Target="slides/slide9.xml"/><Relationship Id="R886a7c7854c24ea4" Type="http://schemas.openxmlformats.org/officeDocument/2006/relationships/slide" Target="slides/slide1.xml"/><Relationship Id="Rb96b5134fc1b4629" Type="http://schemas.openxmlformats.org/officeDocument/2006/relationships/slide" Target="slides/slide3.xml"/><Relationship Id="Rbbe47957bc6641c0" Type="http://schemas.openxmlformats.org/officeDocument/2006/relationships/slide" Target="slides/slide8.xml"/><Relationship Id="Rbf371966fa964fc8" Type="http://schemas.openxmlformats.org/officeDocument/2006/relationships/slide" Target="slides/slide6.xml"/><Relationship Id="Rdef75127518841e9" Type="http://schemas.openxmlformats.org/officeDocument/2006/relationships/slideMaster" Target="slideMasters/slideMaster1.xml"/><Relationship Id="Rf0fd60d93fe24e2b" Type="http://schemas.openxmlformats.org/officeDocument/2006/relationships/slide" Target="slides/slide2.xml"/><Relationship Id="rId17" Type="http://schemas.openxmlformats.org/officeDocument/2006/relationships/slide" Target="slides/slide10.xml"/><Relationship Id="rId18" Type="http://schemas.openxmlformats.org/officeDocument/2006/relationships/slide" Target="slides/slide5.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0"/>
    <c:plotArea>
      <c:lineChart>
        <c:grouping val="standard"/>
        <c:varyColors val="0"/>
        <c:ser>
          <c:idx val="0"/>
          <c:order val="0"/>
          <c:tx>
            <c:strRef>
              <c:f>Sheet1!$B$1</c:f>
              <c:strCache>
                <c:ptCount val="1"/>
                <c:pt idx="0">
                  <c:v>ML 기준 전망</c:v>
                </c:pt>
              </c:strCache>
            </c:strRef>
          </c:tx>
          <c:spPr>
            <a:ln w="38100">
              <a:solidFill>
                <a:srgbClr val="004EA2"/>
              </a:solidFill>
            </a:ln>
          </c:spPr>
          <c:marker>
            <c:symbol val="circle"/>
            <c:size val="7"/>
            <c:spPr>
              <a:solidFill>
                <a:srgbClr val="004EA2"/>
              </a:solidFill>
            </c:spPr>
          </c:marker>
          <c:dLbls>
            <c:numFmt formatCode="0&quot;만&quot;" sourceLinked="0"/>
            <c:txPr>
              <a:bodyPr/>
              <a:lstStyle/>
              <a:p>
                <a:pPr>
                  <a:defRPr sz="1200" b="1">
                    <a:solidFill>
                      <a:srgbClr val="004EA2"/>
                    </a:solidFill>
                    <a:latin typeface="맑은 고딕"/>
                  </a:defRPr>
                </a:pPr>
              </a:p>
            </c:txPr>
            <c:dLblPos val="b"/>
            <c:showLegendKey val="0"/>
            <c:showVal val="1"/>
            <c:showCatName val="0"/>
            <c:showSerName val="0"/>
            <c:showPercent val="0"/>
            <c:showBubbleSize val="0"/>
            <c:showLeaderLines val="1"/>
          </c:dLbls>
          <c:cat>
            <c:strRef>
              <c:f>Sheet1!$A$2:$A$4</c:f>
              <c:strCache>
                <c:ptCount val="3"/>
                <c:pt idx="0">
                  <c:v>26.09</c:v>
                </c:pt>
                <c:pt idx="1">
                  <c:v>26.10</c:v>
                </c:pt>
                <c:pt idx="2">
                  <c:v>26.11</c:v>
                </c:pt>
              </c:strCache>
            </c:strRef>
          </c:cat>
          <c:val>
            <c:numRef>
              <c:f>Sheet1!$B$2:$B$4</c:f>
              <c:numCache>
                <c:formatCode>General</c:formatCode>
                <c:ptCount val="3"/>
                <c:pt idx="0">
                  <c:v>236.3056</c:v>
                </c:pt>
                <c:pt idx="1">
                  <c:v>263.327</c:v>
                </c:pt>
                <c:pt idx="2">
                  <c:v>263.2315</c:v>
                </c:pt>
              </c:numCache>
            </c:numRef>
          </c:val>
          <c:smooth val="0"/>
        </c:ser>
        <c:ser>
          <c:idx val="1"/>
          <c:order val="1"/>
          <c:tx>
            <c:strRef>
              <c:f>Sheet1!$C$1</c:f>
              <c:strCache>
                <c:ptCount val="1"/>
                <c:pt idx="0">
                  <c:v>목표 KPI</c:v>
                </c:pt>
              </c:strCache>
            </c:strRef>
          </c:tx>
          <c:spPr>
            <a:ln w="38100">
              <a:solidFill>
                <a:srgbClr val="FF6B00"/>
              </a:solidFill>
            </a:ln>
          </c:spPr>
          <c:marker>
            <c:symbol val="circle"/>
            <c:size val="7"/>
            <c:spPr>
              <a:solidFill>
                <a:srgbClr val="FF6B00"/>
              </a:solidFill>
            </c:spPr>
          </c:marker>
          <c:dLbls>
            <c:numFmt formatCode="0&quot;만&quot;" sourceLinked="0"/>
            <c:txPr>
              <a:bodyPr/>
              <a:lstStyle/>
              <a:p>
                <a:pPr>
                  <a:defRPr sz="1200" b="1">
                    <a:solidFill>
                      <a:srgbClr val="FF6B00"/>
                    </a:solidFill>
                    <a:latin typeface="맑은 고딕"/>
                  </a:defRPr>
                </a:pPr>
              </a:p>
            </c:txPr>
            <c:dLblPos val="t"/>
            <c:showLegendKey val="0"/>
            <c:showVal val="1"/>
            <c:showCatName val="0"/>
            <c:showSerName val="0"/>
            <c:showPercent val="0"/>
            <c:showBubbleSize val="0"/>
            <c:showLeaderLines val="1"/>
          </c:dLbls>
          <c:cat>
            <c:strRef>
              <c:f>Sheet1!$A$2:$A$4</c:f>
              <c:strCache>
                <c:ptCount val="3"/>
                <c:pt idx="0">
                  <c:v>26.09</c:v>
                </c:pt>
                <c:pt idx="1">
                  <c:v>26.10</c:v>
                </c:pt>
                <c:pt idx="2">
                  <c:v>26.11</c:v>
                </c:pt>
              </c:strCache>
            </c:strRef>
          </c:cat>
          <c:val>
            <c:numRef>
              <c:f>Sheet1!$C$2:$C$4</c:f>
              <c:numCache>
                <c:formatCode>General</c:formatCode>
                <c:ptCount val="3"/>
                <c:pt idx="0">
                  <c:v>240.24402667</c:v>
                </c:pt>
                <c:pt idx="1">
                  <c:v>272.10456667</c:v>
                </c:pt>
                <c:pt idx="2">
                  <c:v>276.393075</c:v>
                </c:pt>
              </c:numCache>
            </c:numRef>
          </c:val>
          <c:smooth val="0"/>
        </c:ser>
        <c:dLbls>
          <c:showLegendKey val="0"/>
          <c:showVal val="1"/>
          <c:showCatName val="0"/>
          <c:showSerName val="0"/>
          <c:showPercent val="0"/>
          <c:showBubbleSize val="0"/>
          <c:showLeaderLines val="1"/>
        </c:dLbls>
        <c:marker val="1"/>
        <c:smooth val="0"/>
        <c:axId val="2118791784"/>
        <c:axId val="2140495176"/>
      </c:lineChart>
      <c:catAx>
        <c:axId val="2118791784"/>
        <c:scaling>
          <c:orientation val="minMax"/>
        </c:scaling>
        <c:delete val="0"/>
        <c:axPos val="b"/>
        <c:majorTickMark val="out"/>
        <c:minorTickMark val="none"/>
        <c:tickLblPos val="low"/>
        <c:spPr>
          <a:ln>
            <a:solidFill>
              <a:srgbClr val="DCE5EF"/>
            </a:solidFill>
          </a:ln>
        </c:spPr>
        <c:txPr>
          <a:bodyPr/>
          <a:lstStyle/>
          <a:p>
            <a:pPr>
              <a:defRPr sz="1300">
                <a:solidFill>
                  <a:srgbClr val="59636E"/>
                </a:solidFill>
                <a:latin typeface="맑은 고딕"/>
              </a:defRPr>
            </a:pPr>
          </a:p>
        </c:txPr>
        <c:crossAx val="2140495176"/>
        <c:crosses val="autoZero"/>
        <c:auto val="1"/>
        <c:lblAlgn val="ctr"/>
        <c:lblOffset val="100"/>
        <c:noMultiLvlLbl val="0"/>
      </c:catAx>
      <c:valAx>
        <c:axId val="2140495176"/>
        <c:scaling>
          <c:max val="300.0"/>
          <c:min val="220.0"/>
        </c:scaling>
        <c:delete val="0"/>
        <c:axPos val="l"/>
        <c:majorGridlines>
          <c:spPr>
            <a:ln>
              <a:solidFill>
                <a:srgbClr val="DCE5EF"/>
              </a:solidFill>
            </a:ln>
          </c:spPr>
        </c:majorGridlines>
        <c:numFmt formatCode="#,##0" sourceLinked="0"/>
        <c:majorTickMark val="out"/>
        <c:minorTickMark val="none"/>
        <c:tickLblPos val="nextTo"/>
        <c:spPr>
          <a:ln>
            <a:solidFill>
              <a:srgbClr val="DCE5EF"/>
            </a:solidFill>
          </a:ln>
        </c:spPr>
        <c:txPr>
          <a:bodyPr/>
          <a:lstStyle/>
          <a:p>
            <a:pPr>
              <a:defRPr sz="1300">
                <a:solidFill>
                  <a:srgbClr val="59636E"/>
                </a:solidFill>
                <a:latin typeface="맑은 고딕"/>
              </a:defRPr>
            </a:pPr>
          </a:p>
        </c:txPr>
        <c:crossAx val="2118791784"/>
        <c:crosses val="autoZero"/>
        <c:majorUnit val="20.0"/>
      </c:valAx>
    </c:plotArea>
    <c:plotVisOnly val="1"/>
    <c:dispBlanksAs val="gap"/>
    <c:showDLblsOverMax val="0"/>
  </c:chart>
  <c:txPr>
    <a:bodyPr/>
    <a:lstStyle/>
    <a:p>
      <a:pPr>
        <a:defRPr sz="18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0"/>
    <c:plotArea>
      <c:lineChart>
        <c:grouping val="standard"/>
        <c:varyColors val="0"/>
        <c:ser>
          <c:idx val="0"/>
          <c:order val="0"/>
          <c:tx>
            <c:strRef>
              <c:f>Sheet1!$B$1</c:f>
              <c:strCache>
                <c:ptCount val="1"/>
                <c:pt idx="0">
                  <c:v>ML 기준 전망</c:v>
                </c:pt>
              </c:strCache>
            </c:strRef>
          </c:tx>
          <c:spPr>
            <a:ln w="38100">
              <a:solidFill>
                <a:srgbClr val="004EA2"/>
              </a:solidFill>
            </a:ln>
          </c:spPr>
          <c:marker>
            <c:symbol val="circle"/>
            <c:size val="7"/>
            <c:spPr>
              <a:solidFill>
                <a:srgbClr val="004EA2"/>
              </a:solidFill>
            </c:spPr>
          </c:marker>
          <c:dLbls>
            <c:numFmt formatCode="0&quot;억&quot;" sourceLinked="0"/>
            <c:txPr>
              <a:bodyPr/>
              <a:lstStyle/>
              <a:p>
                <a:pPr>
                  <a:defRPr sz="1200" b="1">
                    <a:solidFill>
                      <a:srgbClr val="004EA2"/>
                    </a:solidFill>
                    <a:latin typeface="맑은 고딕"/>
                  </a:defRPr>
                </a:pPr>
              </a:p>
            </c:txPr>
            <c:dLblPos val="b"/>
            <c:showLegendKey val="0"/>
            <c:showVal val="1"/>
            <c:showCatName val="0"/>
            <c:showSerName val="0"/>
            <c:showPercent val="0"/>
            <c:showBubbleSize val="0"/>
            <c:showLeaderLines val="1"/>
          </c:dLbls>
          <c:cat>
            <c:strRef>
              <c:f>Sheet1!$A$2:$A$4</c:f>
              <c:strCache>
                <c:ptCount val="3"/>
                <c:pt idx="0">
                  <c:v>26.09</c:v>
                </c:pt>
                <c:pt idx="1">
                  <c:v>26.10</c:v>
                </c:pt>
                <c:pt idx="2">
                  <c:v>26.11</c:v>
                </c:pt>
              </c:strCache>
            </c:strRef>
          </c:cat>
          <c:val>
            <c:numRef>
              <c:f>Sheet1!$B$2:$B$4</c:f>
              <c:numCache>
                <c:formatCode>General</c:formatCode>
                <c:ptCount val="3"/>
                <c:pt idx="0">
                  <c:v>670.47345591</c:v>
                </c:pt>
                <c:pt idx="1">
                  <c:v>839.29975649</c:v>
                </c:pt>
                <c:pt idx="2">
                  <c:v>899.47681558</c:v>
                </c:pt>
              </c:numCache>
            </c:numRef>
          </c:val>
          <c:smooth val="0"/>
        </c:ser>
        <c:ser>
          <c:idx val="1"/>
          <c:order val="1"/>
          <c:tx>
            <c:strRef>
              <c:f>Sheet1!$C$1</c:f>
              <c:strCache>
                <c:ptCount val="1"/>
                <c:pt idx="0">
                  <c:v>목표 KPI</c:v>
                </c:pt>
              </c:strCache>
            </c:strRef>
          </c:tx>
          <c:spPr>
            <a:ln w="38100">
              <a:solidFill>
                <a:srgbClr val="FF6B00"/>
              </a:solidFill>
            </a:ln>
          </c:spPr>
          <c:marker>
            <c:symbol val="circle"/>
            <c:size val="7"/>
            <c:spPr>
              <a:solidFill>
                <a:srgbClr val="FF6B00"/>
              </a:solidFill>
            </c:spPr>
          </c:marker>
          <c:dLbls>
            <c:numFmt formatCode="0&quot;억&quot;" sourceLinked="0"/>
            <c:txPr>
              <a:bodyPr/>
              <a:lstStyle/>
              <a:p>
                <a:pPr>
                  <a:defRPr sz="1200" b="1">
                    <a:solidFill>
                      <a:srgbClr val="FF6B00"/>
                    </a:solidFill>
                    <a:latin typeface="맑은 고딕"/>
                  </a:defRPr>
                </a:pPr>
              </a:p>
            </c:txPr>
            <c:dLblPos val="t"/>
            <c:showLegendKey val="0"/>
            <c:showVal val="1"/>
            <c:showCatName val="0"/>
            <c:showSerName val="0"/>
            <c:showPercent val="0"/>
            <c:showBubbleSize val="0"/>
            <c:showLeaderLines val="1"/>
          </c:dLbls>
          <c:cat>
            <c:strRef>
              <c:f>Sheet1!$A$2:$A$4</c:f>
              <c:strCache>
                <c:ptCount val="3"/>
                <c:pt idx="0">
                  <c:v>26.09</c:v>
                </c:pt>
                <c:pt idx="1">
                  <c:v>26.10</c:v>
                </c:pt>
                <c:pt idx="2">
                  <c:v>26.11</c:v>
                </c:pt>
              </c:strCache>
            </c:strRef>
          </c:cat>
          <c:val>
            <c:numRef>
              <c:f>Sheet1!$C$2:$C$4</c:f>
              <c:numCache>
                <c:formatCode>General</c:formatCode>
                <c:ptCount val="3"/>
                <c:pt idx="0">
                  <c:v>681.64801351</c:v>
                </c:pt>
                <c:pt idx="1">
                  <c:v>867.27641504</c:v>
                </c:pt>
                <c:pt idx="2">
                  <c:v>944.45065636</c:v>
                </c:pt>
              </c:numCache>
            </c:numRef>
          </c:val>
          <c:smooth val="0"/>
        </c:ser>
        <c:dLbls>
          <c:showLegendKey val="0"/>
          <c:showVal val="1"/>
          <c:showCatName val="0"/>
          <c:showSerName val="0"/>
          <c:showPercent val="0"/>
          <c:showBubbleSize val="0"/>
          <c:showLeaderLines val="1"/>
        </c:dLbls>
        <c:marker val="1"/>
        <c:smooth val="0"/>
        <c:axId val="2118791784"/>
        <c:axId val="2140495176"/>
      </c:lineChart>
      <c:catAx>
        <c:axId val="2118791784"/>
        <c:scaling>
          <c:orientation val="minMax"/>
        </c:scaling>
        <c:delete val="0"/>
        <c:axPos val="b"/>
        <c:majorTickMark val="out"/>
        <c:minorTickMark val="none"/>
        <c:tickLblPos val="low"/>
        <c:spPr>
          <a:ln>
            <a:solidFill>
              <a:srgbClr val="DCE5EF"/>
            </a:solidFill>
          </a:ln>
        </c:spPr>
        <c:txPr>
          <a:bodyPr/>
          <a:lstStyle/>
          <a:p>
            <a:pPr>
              <a:defRPr sz="1300">
                <a:solidFill>
                  <a:srgbClr val="59636E"/>
                </a:solidFill>
                <a:latin typeface="맑은 고딕"/>
              </a:defRPr>
            </a:pPr>
          </a:p>
        </c:txPr>
        <c:crossAx val="2140495176"/>
        <c:crosses val="autoZero"/>
        <c:auto val="1"/>
        <c:lblAlgn val="ctr"/>
        <c:lblOffset val="100"/>
        <c:noMultiLvlLbl val="0"/>
      </c:catAx>
      <c:valAx>
        <c:axId val="2140495176"/>
        <c:scaling>
          <c:max val="1100.0"/>
          <c:min val="500.0"/>
        </c:scaling>
        <c:delete val="0"/>
        <c:axPos val="l"/>
        <c:majorGridlines>
          <c:spPr>
            <a:ln>
              <a:solidFill>
                <a:srgbClr val="DCE5EF"/>
              </a:solidFill>
            </a:ln>
          </c:spPr>
        </c:majorGridlines>
        <c:numFmt formatCode="#,##0" sourceLinked="0"/>
        <c:majorTickMark val="out"/>
        <c:minorTickMark val="none"/>
        <c:tickLblPos val="nextTo"/>
        <c:spPr>
          <a:ln>
            <a:solidFill>
              <a:srgbClr val="DCE5EF"/>
            </a:solidFill>
          </a:ln>
        </c:spPr>
        <c:txPr>
          <a:bodyPr/>
          <a:lstStyle/>
          <a:p>
            <a:pPr>
              <a:defRPr sz="1300">
                <a:solidFill>
                  <a:srgbClr val="59636E"/>
                </a:solidFill>
                <a:latin typeface="맑은 고딕"/>
              </a:defRPr>
            </a:pPr>
          </a:p>
        </c:txPr>
        <c:crossAx val="2118791784"/>
        <c:crosses val="autoZero"/>
        <c:majorUnit val="100.0"/>
      </c:valAx>
    </c:plotArea>
    <c:plotVisOnly val="1"/>
    <c:dispBlanksAs val="gap"/>
    <c:showDLblsOverMax val="0"/>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c221e18921444c36" Type="http://schemas.openxmlformats.org/officeDocument/2006/relationships/theme" Target="theme/theme3.xml"/></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xml version='1.0' encoding='UTF-8' standalone='yes'?>
<Relationships xmlns="http://schemas.openxmlformats.org/package/2006/relationships"><Relationship Id="R24ae6f84cfdd4244" Type="http://schemas.openxmlformats.org/officeDocument/2006/relationships/notesMaster" Target="../notesMasters/notesMaster1.xml"/><Relationship Id="R88f0191c0919446c"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441d388ffb344ce3" Type="http://schemas.openxmlformats.org/officeDocument/2006/relationships/slide" Target="../slides/slide2.xml"/><Relationship Id="Ra78cbacf853a4d2c"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3ac37f364ddb4b5a" Type="http://schemas.openxmlformats.org/officeDocument/2006/relationships/notesMaster" Target="../notesMasters/notesMaster1.xml"/><Relationship Id="R533025fa502d4be3"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4df52324b55d4359" Type="http://schemas.openxmlformats.org/officeDocument/2006/relationships/slide" Target="../slides/slide4.xml"/><Relationship Id="Rc24a4727af3340de"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6.xml.rels><?xml version='1.0' encoding='UTF-8' standalone='yes'?>
<Relationships xmlns="http://schemas.openxmlformats.org/package/2006/relationships"><Relationship Id="R0f673709257246ec" Type="http://schemas.openxmlformats.org/officeDocument/2006/relationships/slide" Target="../slides/slide6.xml"/><Relationship Id="R8a8db54fee034818"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24a20545e0fc4e86" Type="http://schemas.openxmlformats.org/officeDocument/2006/relationships/slide" Target="../slides/slide7.xml"/><Relationship Id="Rfa2c23df5fe342e2"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2.xml.rels><?xml version='1.0' encoding='UTF-8' standalone='yes'?>
<Relationships xmlns="http://schemas.openxmlformats.org/package/2006/relationships"><Relationship Id="R990bca06bbea4ea5" Type="http://schemas.openxmlformats.org/officeDocument/2006/relationships/slide" Target="../slides/slide12.xml"/><Relationship Id="Rd1e7cf7dd1634167"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관측값·저장 예측·계획 목표는 별개입니다. 문서용 참고 견적이며 원 보고서의 검수 결과를 변경하지 않습니다.</a:t>
            </a:r>
          </a:p>
          <a:p xmlns:a="http://schemas.openxmlformats.org/drawingml/2006/main">
            <a:r>
              <a:t>[Sources]</a:t>
            </a:r>
          </a:p>
          <a:p xmlns:a="http://schemas.openxmlformats.org/drawingml/2006/main">
            <a:r>
              <a:t>dataset:51130:1 | 한국관광 데이터랩 · 강원특별자치도 원주시 순 방문자 수 및 숙박 비율 (이동통신 기반 외지인) | https://datalab.visitkorea.or.kr/</a:t>
            </a:r>
          </a:p>
          <a:p xmlns:a="http://schemas.openxmlformats.org/drawingml/2006/main">
            <a:r>
              <a:t>dataset:51130:2 | 한국관광 데이터랩 · 강원특별자치도 원주시 월간 순 방문자 수 (이동통신 기반 외지인) | https://datalab.visitkorea.or.kr/</a:t>
            </a:r>
          </a:p>
          <a:p xmlns:a="http://schemas.openxmlformats.org/drawingml/2006/main">
            <a:r>
              <a:t>dataset:51130:3 | 한국관광 데이터랩 · 강원특별자치도 원주시 관광소비 추이_외지인 | https://datalab.visitkorea.or.kr/</a:t>
            </a:r>
          </a:p>
          <a:p xmlns:a="http://schemas.openxmlformats.org/drawingml/2006/main">
            <a:r>
              <a:t>dataset:51130:4 | 한국관광 데이터랩 · 강원특별자치도 원주시 숙박방문자 비율 추이 (이동통신 기반 외지인) | https://datalab.visitkorea.or.kr/</a:t>
            </a:r>
          </a:p>
          <a:p xmlns:a="http://schemas.openxmlformats.org/drawingml/2006/main">
            <a:r>
              <a:t>dataset:51130:5 | 한국관광 데이터랩 · 강원특별자치도 원주시 평균 숙박일 (이동통신 기반 외지인) | https://datalab.visitkorea.or.kr/</a:t>
            </a:r>
          </a:p>
          <a:p xmlns:a="http://schemas.openxmlformats.org/drawingml/2006/main">
            <a:r>
              <a:t>dataset:51130:6 | 한국관광 데이터랩 · 강원특별자치도 원주시 내비게이션 목적지 유형별 검색량 | https://datalab.visitkorea.or.kr/</a:t>
            </a:r>
          </a:p>
          <a:p xmlns:a="http://schemas.openxmlformats.org/drawingml/2006/main">
            <a:r>
              <a:t>dataset:51130:7 | 한국관광 데이터랩 · 강원특별자치도 원주시 SNS 언급량 | https://datalab.visitkorea.or.kr/</a:t>
            </a:r>
          </a:p>
          <a:p xmlns:a="http://schemas.openxmlformats.org/drawingml/2006/main">
            <a:r>
              <a:t>datalab:16d84bd9b1d0:620b2639a268 | 한국관광 데이터랩 공식 다운로드 · 강원특별자치도_원주시/숙박_체류시간/2025_01_12.zip | https://datalab.visitkorea.or.kr/</a:t>
            </a:r>
          </a:p>
          <a:p xmlns:a="http://schemas.openxmlformats.org/drawingml/2006/main">
            <a:r>
              <a:t>datalab:242a2c1249d4:f84e1a5f3914 | 한국관광 데이터랩 공식 다운로드 · 강원특별자치도_원주시/숙박_체류시간/2026_01_06.zip | https://datalab.visitkorea.or.kr/</a:t>
            </a:r>
          </a:p>
          <a:p xmlns:a="http://schemas.openxmlformats.org/drawingml/2006/main">
            <a:r>
              <a:t>datalab:a050e5a84ef4:3906c6ac70a7 | 한국관광 데이터랩 공식 다운로드 · 강원특별자치도_원주시/방문자/2025_01_12.zip | https://datalab.visitkorea.or.kr/</a:t>
            </a:r>
          </a:p>
          <a:p xmlns:a="http://schemas.openxmlformats.org/drawingml/2006/main">
            <a:r>
              <a:t>datalab:bd9d3d26da19:991f2264ad4a | 한국관광 데이터랩 공식 다운로드 · 강원특별자치도_원주시/방문자/2026_01_06.zip | https://datalab.visitkorea.or.kr/</a:t>
            </a:r>
          </a:p>
          <a:p xmlns:a="http://schemas.openxmlformats.org/drawingml/2006/main">
            <a:r>
              <a:t>datalab:d54a3fb44037:ee4640b6178b | 한국관광 데이터랩 공식 다운로드 · 강원특별자치도_원주시/관광소비/2026_01_06.zip | https://datalab.visitkorea.or.kr/</a:t>
            </a:r>
          </a:p>
          <a:p xmlns:a="http://schemas.openxmlformats.org/drawingml/2006/main">
            <a:r>
              <a:t>datalab:ebce91b8bf02:1770c2d94cc6 | 한국관광 데이터랩 공식 다운로드 · 강원특별자치도_원주시/관광소비/2025_01_12.zip | https://datalab.visitkorea.or.kr/</a:t>
            </a:r>
          </a:p>
          <a:p xmlns:a="http://schemas.openxmlformats.org/drawingml/2006/main">
            <a:r>
              <a:t>team-bigdata:23ea68053684:6bfbcf8aabf6 | 한국관광 데이터랩 전국 빅데이터 다운로드 · 이동통신/내국인/지역별 방문자수/20260820140607__202601-202606_데이터랩_다운로드.zip | https://datalab.visitkorea.or.kr/</a:t>
            </a:r>
          </a:p>
          <a:p xmlns:a="http://schemas.openxmlformats.org/drawingml/2006/main">
            <a:r>
              <a:t>team-bigdata:98d4ae590d9a:3be52dd54323 | 한국관광 데이터랩 전국 빅데이터 다운로드 · 이동통신/외국인/20260820141710_전국_202601-202606_데이터랩_다운로드.zip | https://datalab.visitkorea.or.kr/</a:t>
            </a:r>
          </a:p>
          <a:p xmlns:a="http://schemas.openxmlformats.org/drawingml/2006/main">
            <a:r>
              <a:t>team-bigdata:367cd0294ec4:873930d645e5 | 한국관광 데이터랩 전국 빅데이터 다운로드 · 신용카드/내국인/지역별 관광지출액/20260820140046__202601-202606_데이터랩_다운로드.zip | https://datalab.visitkorea.or.kr/</a:t>
            </a:r>
          </a:p>
          <a:p xmlns:a="http://schemas.openxmlformats.org/drawingml/2006/main">
            <a:r>
              <a:t>team-bigdata:553a0dad4bb4:5a31355dffe8 | 한국관광 데이터랩 전국 빅데이터 다운로드 · 신용카드/외국인/지역별 관광지출액/20260820140355__202601-202606_데이터랩_다운로드.zip | https://datalab.visitkorea.or.kr/</a:t>
            </a:r>
          </a:p>
          <a:p xmlns:a="http://schemas.openxmlformats.org/drawingml/2006/main">
            <a:r>
              <a:t>team-bigdata:a53dbe1c21df:77a052de41d5 | 한국관광 데이터랩 전국 빅데이터 다운로드 · 네비게이션/지역별 검색건수/20260820195507__202601-202606_데이터랩_다운로드.zip | https://datalab.visitkorea.or.kr/</a:t>
            </a:r>
          </a:p>
          <a:p xmlns:a="http://schemas.openxmlformats.org/drawingml/2006/main">
            <a:r>
              <a:t>team-bigdata:823a38d1d61c:5385261d02e5 | 한국관광 데이터랩 전국 빅데이터 다운로드 · 이동통신/내국인/지역별 방문자수/20260820140614__202501-202512_데이터랩_다운로드.zip | https://datalab.visitkorea.or.kr/</a:t>
            </a:r>
          </a:p>
          <a:p xmlns:a="http://schemas.openxmlformats.org/drawingml/2006/main">
            <a:r>
              <a:t>team-bigdata:2723bdb0d589:1666a34058ed | 한국관광 데이터랩 전국 빅데이터 다운로드 · 이동통신/외국인/20260820141649_전국_202501-202512_데이터랩_다운로드.zip | https://datalab.visitkorea.or.kr/</a:t>
            </a:r>
          </a:p>
          <a:p xmlns:a="http://schemas.openxmlformats.org/drawingml/2006/main">
            <a:r>
              <a:t>team-bigdata:83177a234971:c02cb7972e0f | 한국관광 데이터랩 전국 빅데이터 다운로드 · 신용카드/내국인/지역별 관광지출액/20260820135957__202501-202512_데이터랩_다운로드.zip | https://datalab.visitkorea.or.kr/</a:t>
            </a:r>
          </a:p>
          <a:p xmlns:a="http://schemas.openxmlformats.org/drawingml/2006/main">
            <a:r>
              <a:t>team-bigdata:58ded7732251:589c76395cbc | 한국관광 데이터랩 전국 빅데이터 다운로드 · 신용카드/외국인/지역별 관광지출액/20260820140409__202501-202512_데이터랩_다운로드.zip | https://datalab.visitkorea.or.kr/</a:t>
            </a:r>
          </a:p>
          <a:p xmlns:a="http://schemas.openxmlformats.org/drawingml/2006/main">
            <a:r>
              <a:t>team-bigdata:e28c947cb52f:bb4cb344a6ba | 한국관광 데이터랩 전국 빅데이터 다운로드 · 네비게이션/지역별 검색건수/20260820132007__202501-202512_데이터랩_다운로드.zip | https://datalab.visitkorea.or.kr/</a:t>
            </a:r>
          </a:p>
          <a:p xmlns:a="http://schemas.openxmlformats.org/drawingml/2006/main">
            <a:r>
              <a:t>team-bigdata:8815bbb11a39:1a5988f5f8ec | 한국관광 데이터랩 전국 빅데이터 다운로드 · 이동통신/내국인/지역별 방문자수/20260820140624__202401-202412_데이터랩_다운로드.zip | https://datalab.visitkorea.or.kr/</a:t>
            </a:r>
          </a:p>
          <a:p xmlns:a="http://schemas.openxmlformats.org/drawingml/2006/main">
            <a:r>
              <a:t>team-bigdata:19fd67fbb73d:afa4f0f54a2f | 한국관광 데이터랩 전국 빅데이터 다운로드 · 이동통신/외국인/20260820141639_전국_202401-202412_데이터랩_다운로드.zip | https://datalab.visitkorea.or.kr/</a:t>
            </a:r>
          </a:p>
          <a:p xmlns:a="http://schemas.openxmlformats.org/drawingml/2006/main">
            <a:r>
              <a:t>regional-status:90f2be7a0f7d:b989a6c2e7bf | 한국관광 데이터랩 지역별 관광 현황 · 강원특별자치도 원주시 · 유입유출 | https://datalab.visitkorea.or.kr/</a:t>
            </a:r>
          </a:p>
          <a:p xmlns:a="http://schemas.openxmlformats.org/drawingml/2006/main">
            <a:r>
              <a:t>regional-status:c39767bd23e8:e3b081f6e6aa | 한국관광 데이터랩 지역별 관광 현황 · 강원특별자치도 원주시 · 지역집중률 | https://datalab.visitkorea.or.kr/</a:t>
            </a:r>
          </a:p>
          <a:p xmlns:a="http://schemas.openxmlformats.org/drawingml/2006/main">
            <a:r>
              <a:t>regional-status:edaf76986d99:c00fa7ffc0a7 | 한국관광 데이터랩 지역별 관광 현황 · 강원특별자치도 원주시 · 인기관광지 | https://datalab.visitkorea.or.kr/</a:t>
            </a:r>
          </a:p>
          <a:p xmlns:a="http://schemas.openxmlformats.org/drawingml/2006/main">
            <a:r>
              <a:t>ml:51130:regional-demand-v3.1:202606 | 지역 관광수요 ML 전망 · 공식 관측값 아님 | URL 미기록</a:t>
            </a:r>
          </a:p>
          <a:p xmlns:a="http://schemas.openxmlformats.org/drawingml/2006/main">
            <a:r>
              <a:t>tour-api:2732999 | 감악산캠핑숲 | https://apis.data.go.kr/B551011/KorService2</a:t>
            </a:r>
          </a:p>
          <a:p xmlns:a="http://schemas.openxmlformats.org/drawingml/2006/main">
            <a:r>
              <a:t>tour-api:2555010 | 강원감영관찰사·무릉고서화미술박물관 | https://apis.data.go.kr/B551011/KorService2</a:t>
            </a:r>
          </a:p>
          <a:p xmlns:a="http://schemas.openxmlformats.org/drawingml/2006/main">
            <a:r>
              <a:t>tour-api:2734136 | 강원도힐링캠핑장 | https://apis.data.go.kr/B551011/KorService2</a:t>
            </a:r>
          </a:p>
          <a:p xmlns:a="http://schemas.openxmlformats.org/drawingml/2006/main">
            <a:r>
              <a:t>tour-api:2702477 | 경천묘 | https://apis.data.go.kr/B551011/KorService2</a:t>
            </a:r>
          </a:p>
          <a:p xmlns:a="http://schemas.openxmlformats.org/drawingml/2006/main">
            <a:r>
              <a:t>tour-api:130539 | 고판화박물관 | https://apis.data.go.kr/B551011/KorService2</a:t>
            </a:r>
          </a:p>
          <a:p xmlns:a="http://schemas.openxmlformats.org/drawingml/2006/main">
            <a:r>
              <a:t>tour-api:125645 | 관음사·국형사계곡 | https://apis.data.go.kr/B551011/KorService2</a:t>
            </a:r>
          </a:p>
          <a:p xmlns:a="http://schemas.openxmlformats.org/drawingml/2006/main">
            <a:r>
              <a:t>tour-api:3356037 | 광화문갈비 원주점 | https://apis.data.go.kr/B551011/KorService2</a:t>
            </a:r>
          </a:p>
          <a:p xmlns:a="http://schemas.openxmlformats.org/drawingml/2006/main">
            <a:r>
              <a:t>tour-api:2762710 | 구 조선식산은행 원주지점 | https://apis.data.go.kr/B551011/KorService2</a:t>
            </a:r>
          </a:p>
          <a:p xmlns:a="http://schemas.openxmlformats.org/drawingml/2006/main">
            <a:r>
              <a:t>tour-api:125757 | 국형사 | https://apis.data.go.kr/B551011/KorService2</a:t>
            </a:r>
          </a:p>
          <a:p xmlns:a="http://schemas.openxmlformats.org/drawingml/2006/main">
            <a:r>
              <a:t>tour-api:2033279 | 금대 에코힐링 캠핑장 | https://apis.data.go.kr/B551011/KorService2</a:t>
            </a:r>
          </a:p>
          <a:p xmlns:a="http://schemas.openxmlformats.org/drawingml/2006/main">
            <a:r>
              <a:t>tour-api:129676 | 금대계곡 | https://apis.data.go.kr/B551011/KorService2</a:t>
            </a:r>
          </a:p>
          <a:p xmlns:a="http://schemas.openxmlformats.org/drawingml/2006/main">
            <a:r>
              <a:t>tour-api:2734906 | 금대자동차야영장 | https://apis.data.go.kr/B551011/KorService2</a:t>
            </a:r>
          </a:p>
          <a:p xmlns:a="http://schemas.openxmlformats.org/drawingml/2006/main">
            <a:r>
              <a:t>tour-api:2714800 | 기후변화홍보관 | https://apis.data.go.kr/B551011/KorService2</a:t>
            </a:r>
          </a:p>
          <a:p xmlns:a="http://schemas.openxmlformats.org/drawingml/2006/main">
            <a:r>
              <a:t>tour-api:2892327 | 김가네원주추어탕 | https://apis.data.go.kr/B551011/KorService2</a:t>
            </a:r>
          </a:p>
          <a:p xmlns:a="http://schemas.openxmlformats.org/drawingml/2006/main">
            <a:r>
              <a:t>tour-api:129284 | 김제남 신도비 | https://apis.data.go.kr/B551011/KorService2</a:t>
            </a:r>
          </a:p>
          <a:p xmlns:a="http://schemas.openxmlformats.org/drawingml/2006/main">
            <a:r>
              <a:t>tour-api:512084 | 넌스키 난보드 | https://apis.data.go.kr/B551011/KorService2</a:t>
            </a:r>
          </a:p>
          <a:p xmlns:a="http://schemas.openxmlformats.org/drawingml/2006/main">
            <a:r>
              <a:t>tour-api:2778036 | 단관공원 | https://apis.data.go.kr/B551011/KorService2</a:t>
            </a:r>
          </a:p>
          <a:p xmlns:a="http://schemas.openxmlformats.org/drawingml/2006/main">
            <a:r>
              <a:t>tour-api:2892320 | 동승루 | https://apis.data.go.kr/B551011/KorService2</a:t>
            </a:r>
          </a:p>
          <a:p xmlns:a="http://schemas.openxmlformats.org/drawingml/2006/main">
            <a:r>
              <a:t>tour-api:2892312 | 들꽃가든 | https://apis.data.go.kr/B551011/KorService2</a:t>
            </a:r>
          </a:p>
          <a:p xmlns:a="http://schemas.openxmlformats.org/drawingml/2006/main">
            <a:r>
              <a:t>tour-api:2809292 | 들꽃이야기 | https://apis.data.go.kr/B551011/KorService2</a:t>
            </a:r>
          </a:p>
          <a:p xmlns:a="http://schemas.openxmlformats.org/drawingml/2006/main">
            <a:r>
              <a:t>reference:kto:2026:local-airport | 요즘, 한국관광 2호 - 지방공항 연계 지역관광 활성화 방안 | PDF 44쪽, PDF 43쪽, PDF 38쪽, PDF 40쪽, PDF 41쪽, PDF 36쪽, PDF 41쪽, PDF 44쪽, PDF 43쪽, PDF 43쪽 | https://datalab.visitkorea.or.kr/site/portal/ex/bbs/View.do?bcIdx=311068&amp;cbIdx=1135&amp;pageIndex=1</a:t>
            </a:r>
          </a:p>
          <a:p xmlns:a="http://schemas.openxmlformats.org/drawingml/2006/main">
            <a:r>
              <a:t>case:jeonju_night_budget_2026 | 전주시 2026년도 관광산업과 세출예산 사업명세서 | https://jeonju.go.kr/resource/www/images/download/budget/2026/2026_31_2.pdf</a:t>
            </a:r>
          </a:p>
          <a:p xmlns:a="http://schemas.openxmlformats.org/drawingml/2006/main">
            <a:r>
              <a:t>case:4625625dcbf2ae | (기획) 인천을 즐기는 가장 쉬운(easy) 방법 … 인천e지 | https://www.incheon.go.kr/IC010205/view?beginDt=&amp;curPage=1&amp;endDt=&amp;repSeq=DOM_0000000013130282&amp;srchMainManagerDeptNm=&amp;srchRepContents=%EC%A3%BC%EC%B0%A8&amp;srchRepTitle=</a:t>
            </a:r>
          </a:p>
          <a:p xmlns:a="http://schemas.openxmlformats.org/drawingml/2006/main">
            <a:r>
              <a:t>case:digital_tourism_resident_2024 | 2024년 6월 여행가는 달 추진 보도자료 | https://mcst.go.kr/servlets/eduport/front/upload/UplDownloadFile?pFileName=%280514%29%EB%AC%B8%EC%B2%B4%EB%B6%80%EB%B3%B4%EB%8F%84%EC%9E%90%EB%A3%8C-6%EC%9B%94_%EC%97%AC%ED%96%89%EA%B0%80%EB%8A%94_%EB%8B%AC_%EC%B6%94%EC%A7%84.pdf&amp;pPath=0302000000&amp;pRealName=20240514083202149235802932_PRESS20240514083202456506.pdf</a:t>
            </a:r>
          </a:p>
          <a:p xmlns:a="http://schemas.openxmlformats.org/drawingml/2006/main">
            <a:r>
              <a:t>case:kto_stay_discount_2022 | 2022 대한민국 숙박대전 경제파급효과 공개자료 | https://kto.visitkorea.or.kr/upload/flexer/upload/ktobiz/20220928/b623b5f9-3ec0-11ed-9832-ddf31964842e.hwp.files/Sections1.html</a:t>
            </a:r>
          </a:p>
          <a:p xmlns:a="http://schemas.openxmlformats.org/drawingml/2006/main">
            <a:r>
              <a:t>case:37471b1e063812 | 한강 밤핑(Night+Camping) 행사·공연 정보 | https://hangang.seoul.go.kr/www/eventMng/detail.do?evntSn=441&amp;keyword=&amp;mid=538&amp;opt11=&amp;opt12=&amp;opt13=&amp;opt14=&amp;opt4=&amp;pageNo=2&amp;srchType=list</a:t>
            </a:r>
          </a:p>
          <a:p xmlns:a="http://schemas.openxmlformats.org/drawingml/2006/main">
            <a:r>
              <a:t>case:gangjin_half_price_2024 | 강진 반값여행 지역경제 효과 소개 | https://jnfarm.jeonnam.go.kr/board/FARM_BOARD_008/boardView.do?bdId=BD_00000000000011721&amp;menuCd=farm004002</a:t>
            </a:r>
          </a:p>
          <a:p xmlns:a="http://schemas.openxmlformats.org/drawingml/2006/main">
            <a:r>
              <a:t>case:c6d4752e1342a7 | 지역사랑 휴가지원(반값여행) 신설 및 ‘대한민국 반값여행’ 성과 분석 | https://www.mcst.go.kr/site/s_policy/govPolicy/performTotal.jsp</a:t>
            </a:r>
          </a:p>
          <a:p xmlns:a="http://schemas.openxmlformats.org/drawingml/2006/main">
            <a:r>
              <a:t>case:night_festival_2025 | 2025 대한민국 밤밤페스타 개최 도시 및 일정 | https://korean.visitkorea.or.kr/detail/rem_detail.do?cotid=f9c636b2-dd7c-4f09-af3d-6af43b33d371</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관측값·저장 예측·계획 목표는 별개입니다. 문서용 참고 견적이며 원 보고서의 검수 결과를 변경하지 않습니다.</a:t>
            </a:r>
          </a:p>
          <a:p xmlns:a="http://schemas.openxmlformats.org/drawingml/2006/main">
            <a:r>
              <a:t>[Sources]</a:t>
            </a:r>
          </a:p>
          <a:p xmlns:a="http://schemas.openxmlformats.org/drawingml/2006/main">
            <a:r>
              <a:t>dataset:51130:1 | 한국관광 데이터랩 · 강원특별자치도 원주시 순 방문자 수 및 숙박 비율 (이동통신 기반 외지인) | https://datalab.visitkorea.or.kr/</a:t>
            </a:r>
          </a:p>
          <a:p xmlns:a="http://schemas.openxmlformats.org/drawingml/2006/main">
            <a:r>
              <a:t>dataset:51130:2 | 한국관광 데이터랩 · 강원특별자치도 원주시 월간 순 방문자 수 (이동통신 기반 외지인) | https://datalab.visitkorea.or.kr/</a:t>
            </a:r>
          </a:p>
          <a:p xmlns:a="http://schemas.openxmlformats.org/drawingml/2006/main">
            <a:r>
              <a:t>dataset:51130:3 | 한국관광 데이터랩 · 강원특별자치도 원주시 관광소비 추이_외지인 | https://datalab.visitkorea.or.kr/</a:t>
            </a:r>
          </a:p>
          <a:p xmlns:a="http://schemas.openxmlformats.org/drawingml/2006/main">
            <a:r>
              <a:t>dataset:51130:4 | 한국관광 데이터랩 · 강원특별자치도 원주시 숙박방문자 비율 추이 (이동통신 기반 외지인) | https://datalab.visitkorea.or.kr/</a:t>
            </a:r>
          </a:p>
          <a:p xmlns:a="http://schemas.openxmlformats.org/drawingml/2006/main">
            <a:r>
              <a:t>dataset:51130:5 | 한국관광 데이터랩 · 강원특별자치도 원주시 평균 숙박일 (이동통신 기반 외지인) | https://datalab.visitkorea.or.kr/</a:t>
            </a:r>
          </a:p>
          <a:p xmlns:a="http://schemas.openxmlformats.org/drawingml/2006/main">
            <a:r>
              <a:t>dataset:51130:6 | 한국관광 데이터랩 · 강원특별자치도 원주시 내비게이션 목적지 유형별 검색량 | https://datalab.visitkorea.or.kr/</a:t>
            </a:r>
          </a:p>
          <a:p xmlns:a="http://schemas.openxmlformats.org/drawingml/2006/main">
            <a:r>
              <a:t>dataset:51130:7 | 한국관광 데이터랩 · 강원특별자치도 원주시 SNS 언급량 | https://datalab.visitkorea.or.kr/</a:t>
            </a:r>
          </a:p>
          <a:p xmlns:a="http://schemas.openxmlformats.org/drawingml/2006/main">
            <a:r>
              <a:t>datalab:16d84bd9b1d0:620b2639a268 | 한국관광 데이터랩 공식 다운로드 · 강원특별자치도_원주시/숙박_체류시간/2025_01_12.zip | https://datalab.visitkorea.or.kr/</a:t>
            </a:r>
          </a:p>
          <a:p xmlns:a="http://schemas.openxmlformats.org/drawingml/2006/main">
            <a:r>
              <a:t>datalab:242a2c1249d4:f84e1a5f3914 | 한국관광 데이터랩 공식 다운로드 · 강원특별자치도_원주시/숙박_체류시간/2026_01_06.zip | https://datalab.visitkorea.or.kr/</a:t>
            </a:r>
          </a:p>
          <a:p xmlns:a="http://schemas.openxmlformats.org/drawingml/2006/main">
            <a:r>
              <a:t>datalab:a050e5a84ef4:3906c6ac70a7 | 한국관광 데이터랩 공식 다운로드 · 강원특별자치도_원주시/방문자/2025_01_12.zip | https://datalab.visitkorea.or.kr/</a:t>
            </a:r>
          </a:p>
          <a:p xmlns:a="http://schemas.openxmlformats.org/drawingml/2006/main">
            <a:r>
              <a:t>datalab:bd9d3d26da19:991f2264ad4a | 한국관광 데이터랩 공식 다운로드 · 강원특별자치도_원주시/방문자/2026_01_06.zip | https://datalab.visitkorea.or.kr/</a:t>
            </a:r>
          </a:p>
          <a:p xmlns:a="http://schemas.openxmlformats.org/drawingml/2006/main">
            <a:r>
              <a:t>datalab:d54a3fb44037:ee4640b6178b | 한국관광 데이터랩 공식 다운로드 · 강원특별자치도_원주시/관광소비/2026_01_06.zip | https://datalab.visitkorea.or.kr/</a:t>
            </a:r>
          </a:p>
          <a:p xmlns:a="http://schemas.openxmlformats.org/drawingml/2006/main">
            <a:r>
              <a:t>datalab:ebce91b8bf02:1770c2d94cc6 | 한국관광 데이터랩 공식 다운로드 · 강원특별자치도_원주시/관광소비/2025_01_12.zip | https://datalab.visitkorea.or.kr/</a:t>
            </a:r>
          </a:p>
          <a:p xmlns:a="http://schemas.openxmlformats.org/drawingml/2006/main">
            <a:r>
              <a:t>team-bigdata:23ea68053684:6bfbcf8aabf6 | 한국관광 데이터랩 전국 빅데이터 다운로드 · 이동통신/내국인/지역별 방문자수/20260820140607__202601-202606_데이터랩_다운로드.zip | https://datalab.visitkorea.or.kr/</a:t>
            </a:r>
          </a:p>
          <a:p xmlns:a="http://schemas.openxmlformats.org/drawingml/2006/main">
            <a:r>
              <a:t>team-bigdata:98d4ae590d9a:3be52dd54323 | 한국관광 데이터랩 전국 빅데이터 다운로드 · 이동통신/외국인/20260820141710_전국_202601-202606_데이터랩_다운로드.zip | https://datalab.visitkorea.or.kr/</a:t>
            </a:r>
          </a:p>
          <a:p xmlns:a="http://schemas.openxmlformats.org/drawingml/2006/main">
            <a:r>
              <a:t>team-bigdata:367cd0294ec4:873930d645e5 | 한국관광 데이터랩 전국 빅데이터 다운로드 · 신용카드/내국인/지역별 관광지출액/20260820140046__202601-202606_데이터랩_다운로드.zip | https://datalab.visitkorea.or.kr/</a:t>
            </a:r>
          </a:p>
          <a:p xmlns:a="http://schemas.openxmlformats.org/drawingml/2006/main">
            <a:r>
              <a:t>team-bigdata:553a0dad4bb4:5a31355dffe8 | 한국관광 데이터랩 전국 빅데이터 다운로드 · 신용카드/외국인/지역별 관광지출액/20260820140355__202601-202606_데이터랩_다운로드.zip | https://datalab.visitkorea.or.kr/</a:t>
            </a:r>
          </a:p>
          <a:p xmlns:a="http://schemas.openxmlformats.org/drawingml/2006/main">
            <a:r>
              <a:t>team-bigdata:a53dbe1c21df:77a052de41d5 | 한국관광 데이터랩 전국 빅데이터 다운로드 · 네비게이션/지역별 검색건수/20260820195507__202601-202606_데이터랩_다운로드.zip | https://datalab.visitkorea.or.kr/</a:t>
            </a:r>
          </a:p>
          <a:p xmlns:a="http://schemas.openxmlformats.org/drawingml/2006/main">
            <a:r>
              <a:t>team-bigdata:823a38d1d61c:5385261d02e5 | 한국관광 데이터랩 전국 빅데이터 다운로드 · 이동통신/내국인/지역별 방문자수/20260820140614__202501-202512_데이터랩_다운로드.zip | https://datalab.visitkorea.or.kr/</a:t>
            </a:r>
          </a:p>
          <a:p xmlns:a="http://schemas.openxmlformats.org/drawingml/2006/main">
            <a:r>
              <a:t>team-bigdata:2723bdb0d589:1666a34058ed | 한국관광 데이터랩 전국 빅데이터 다운로드 · 이동통신/외국인/20260820141649_전국_202501-202512_데이터랩_다운로드.zip | https://datalab.visitkorea.or.kr/</a:t>
            </a:r>
          </a:p>
          <a:p xmlns:a="http://schemas.openxmlformats.org/drawingml/2006/main">
            <a:r>
              <a:t>team-bigdata:83177a234971:c02cb7972e0f | 한국관광 데이터랩 전국 빅데이터 다운로드 · 신용카드/내국인/지역별 관광지출액/20260820135957__202501-202512_데이터랩_다운로드.zip | https://datalab.visitkorea.or.kr/</a:t>
            </a:r>
          </a:p>
          <a:p xmlns:a="http://schemas.openxmlformats.org/drawingml/2006/main">
            <a:r>
              <a:t>team-bigdata:58ded7732251:589c76395cbc | 한국관광 데이터랩 전국 빅데이터 다운로드 · 신용카드/외국인/지역별 관광지출액/20260820140409__202501-202512_데이터랩_다운로드.zip | https://datalab.visitkorea.or.kr/</a:t>
            </a:r>
          </a:p>
          <a:p xmlns:a="http://schemas.openxmlformats.org/drawingml/2006/main">
            <a:r>
              <a:t>team-bigdata:e28c947cb52f:bb4cb344a6ba | 한국관광 데이터랩 전국 빅데이터 다운로드 · 네비게이션/지역별 검색건수/20260820132007__202501-202512_데이터랩_다운로드.zip | https://datalab.visitkorea.or.kr/</a:t>
            </a:r>
          </a:p>
          <a:p xmlns:a="http://schemas.openxmlformats.org/drawingml/2006/main">
            <a:r>
              <a:t>team-bigdata:8815bbb11a39:1a5988f5f8ec | 한국관광 데이터랩 전국 빅데이터 다운로드 · 이동통신/내국인/지역별 방문자수/20260820140624__202401-202412_데이터랩_다운로드.zip | https://datalab.visitkorea.or.kr/</a:t>
            </a:r>
          </a:p>
          <a:p xmlns:a="http://schemas.openxmlformats.org/drawingml/2006/main">
            <a:r>
              <a:t>team-bigdata:19fd67fbb73d:afa4f0f54a2f | 한국관광 데이터랩 전국 빅데이터 다운로드 · 이동통신/외국인/20260820141639_전국_202401-202412_데이터랩_다운로드.zip | https://datalab.visitkorea.or.kr/</a:t>
            </a:r>
          </a:p>
          <a:p xmlns:a="http://schemas.openxmlformats.org/drawingml/2006/main">
            <a:r>
              <a:t>regional-status:90f2be7a0f7d:b989a6c2e7bf | 한국관광 데이터랩 지역별 관광 현황 · 강원특별자치도 원주시 · 유입유출 | https://datalab.visitkorea.or.kr/</a:t>
            </a:r>
          </a:p>
          <a:p xmlns:a="http://schemas.openxmlformats.org/drawingml/2006/main">
            <a:r>
              <a:t>regional-status:c39767bd23e8:e3b081f6e6aa | 한국관광 데이터랩 지역별 관광 현황 · 강원특별자치도 원주시 · 지역집중률 | https://datalab.visitkorea.or.kr/</a:t>
            </a:r>
          </a:p>
          <a:p xmlns:a="http://schemas.openxmlformats.org/drawingml/2006/main">
            <a:r>
              <a:t>regional-status:edaf76986d99:c00fa7ffc0a7 | 한국관광 데이터랩 지역별 관광 현황 · 강원특별자치도 원주시 · 인기관광지 | https://datalab.visitkorea.or.kr/</a:t>
            </a:r>
          </a:p>
          <a:p xmlns:a="http://schemas.openxmlformats.org/drawingml/2006/main">
            <a:r>
              <a:t>ml:51130:regional-demand-v3.1:202606 | 지역 관광수요 ML 전망 · 공식 관측값 아님 | URL 미기록</a:t>
            </a:r>
          </a:p>
          <a:p xmlns:a="http://schemas.openxmlformats.org/drawingml/2006/main">
            <a:r>
              <a:t>tour-api:2732999 | 감악산캠핑숲 | https://apis.data.go.kr/B551011/KorService2</a:t>
            </a:r>
          </a:p>
          <a:p xmlns:a="http://schemas.openxmlformats.org/drawingml/2006/main">
            <a:r>
              <a:t>tour-api:2555010 | 강원감영관찰사·무릉고서화미술박물관 | https://apis.data.go.kr/B551011/KorService2</a:t>
            </a:r>
          </a:p>
          <a:p xmlns:a="http://schemas.openxmlformats.org/drawingml/2006/main">
            <a:r>
              <a:t>tour-api:2734136 | 강원도힐링캠핑장 | https://apis.data.go.kr/B551011/KorService2</a:t>
            </a:r>
          </a:p>
          <a:p xmlns:a="http://schemas.openxmlformats.org/drawingml/2006/main">
            <a:r>
              <a:t>tour-api:2702477 | 경천묘 | https://apis.data.go.kr/B551011/KorService2</a:t>
            </a:r>
          </a:p>
          <a:p xmlns:a="http://schemas.openxmlformats.org/drawingml/2006/main">
            <a:r>
              <a:t>tour-api:130539 | 고판화박물관 | https://apis.data.go.kr/B551011/KorService2</a:t>
            </a:r>
          </a:p>
          <a:p xmlns:a="http://schemas.openxmlformats.org/drawingml/2006/main">
            <a:r>
              <a:t>tour-api:125645 | 관음사·국형사계곡 | https://apis.data.go.kr/B551011/KorService2</a:t>
            </a:r>
          </a:p>
          <a:p xmlns:a="http://schemas.openxmlformats.org/drawingml/2006/main">
            <a:r>
              <a:t>tour-api:3356037 | 광화문갈비 원주점 | https://apis.data.go.kr/B551011/KorService2</a:t>
            </a:r>
          </a:p>
          <a:p xmlns:a="http://schemas.openxmlformats.org/drawingml/2006/main">
            <a:r>
              <a:t>tour-api:2762710 | 구 조선식산은행 원주지점 | https://apis.data.go.kr/B551011/KorService2</a:t>
            </a:r>
          </a:p>
          <a:p xmlns:a="http://schemas.openxmlformats.org/drawingml/2006/main">
            <a:r>
              <a:t>tour-api:125757 | 국형사 | https://apis.data.go.kr/B551011/KorService2</a:t>
            </a:r>
          </a:p>
          <a:p xmlns:a="http://schemas.openxmlformats.org/drawingml/2006/main">
            <a:r>
              <a:t>tour-api:2033279 | 금대 에코힐링 캠핑장 | https://apis.data.go.kr/B551011/KorService2</a:t>
            </a:r>
          </a:p>
          <a:p xmlns:a="http://schemas.openxmlformats.org/drawingml/2006/main">
            <a:r>
              <a:t>tour-api:129676 | 금대계곡 | https://apis.data.go.kr/B551011/KorService2</a:t>
            </a:r>
          </a:p>
          <a:p xmlns:a="http://schemas.openxmlformats.org/drawingml/2006/main">
            <a:r>
              <a:t>tour-api:2734906 | 금대자동차야영장 | https://apis.data.go.kr/B551011/KorService2</a:t>
            </a:r>
          </a:p>
          <a:p xmlns:a="http://schemas.openxmlformats.org/drawingml/2006/main">
            <a:r>
              <a:t>tour-api:2714800 | 기후변화홍보관 | https://apis.data.go.kr/B551011/KorService2</a:t>
            </a:r>
          </a:p>
          <a:p xmlns:a="http://schemas.openxmlformats.org/drawingml/2006/main">
            <a:r>
              <a:t>tour-api:2892327 | 김가네원주추어탕 | https://apis.data.go.kr/B551011/KorService2</a:t>
            </a:r>
          </a:p>
          <a:p xmlns:a="http://schemas.openxmlformats.org/drawingml/2006/main">
            <a:r>
              <a:t>tour-api:129284 | 김제남 신도비 | https://apis.data.go.kr/B551011/KorService2</a:t>
            </a:r>
          </a:p>
          <a:p xmlns:a="http://schemas.openxmlformats.org/drawingml/2006/main">
            <a:r>
              <a:t>tour-api:512084 | 넌스키 난보드 | https://apis.data.go.kr/B551011/KorService2</a:t>
            </a:r>
          </a:p>
          <a:p xmlns:a="http://schemas.openxmlformats.org/drawingml/2006/main">
            <a:r>
              <a:t>tour-api:2778036 | 단관공원 | https://apis.data.go.kr/B551011/KorService2</a:t>
            </a:r>
          </a:p>
          <a:p xmlns:a="http://schemas.openxmlformats.org/drawingml/2006/main">
            <a:r>
              <a:t>tour-api:2892320 | 동승루 | https://apis.data.go.kr/B551011/KorService2</a:t>
            </a:r>
          </a:p>
          <a:p xmlns:a="http://schemas.openxmlformats.org/drawingml/2006/main">
            <a:r>
              <a:t>tour-api:2892312 | 들꽃가든 | https://apis.data.go.kr/B551011/KorService2</a:t>
            </a:r>
          </a:p>
          <a:p xmlns:a="http://schemas.openxmlformats.org/drawingml/2006/main">
            <a:r>
              <a:t>tour-api:2809292 | 들꽃이야기 | https://apis.data.go.kr/B551011/KorService2</a:t>
            </a:r>
          </a:p>
          <a:p xmlns:a="http://schemas.openxmlformats.org/drawingml/2006/main">
            <a:r>
              <a:t>reference:kto:2026:local-airport | 요즘, 한국관광 2호 - 지방공항 연계 지역관광 활성화 방안 | PDF 44쪽, PDF 43쪽, PDF 38쪽, PDF 40쪽, PDF 41쪽, PDF 36쪽, PDF 41쪽, PDF 44쪽, PDF 43쪽, PDF 43쪽 | https://datalab.visitkorea.or.kr/site/portal/ex/bbs/View.do?bcIdx=311068&amp;cbIdx=1135&amp;pageIndex=1</a:t>
            </a:r>
          </a:p>
          <a:p xmlns:a="http://schemas.openxmlformats.org/drawingml/2006/main">
            <a:r>
              <a:t>case:jeonju_night_budget_2026 | 전주시 2026년도 관광산업과 세출예산 사업명세서 | https://jeonju.go.kr/resource/www/images/download/budget/2026/2026_31_2.pdf</a:t>
            </a:r>
          </a:p>
          <a:p xmlns:a="http://schemas.openxmlformats.org/drawingml/2006/main">
            <a:r>
              <a:t>case:4625625dcbf2ae | (기획) 인천을 즐기는 가장 쉬운(easy) 방법 … 인천e지 | https://www.incheon.go.kr/IC010205/view?beginDt=&amp;curPage=1&amp;endDt=&amp;repSeq=DOM_0000000013130282&amp;srchMainManagerDeptNm=&amp;srchRepContents=%EC%A3%BC%EC%B0%A8&amp;srchRepTitle=</a:t>
            </a:r>
          </a:p>
          <a:p xmlns:a="http://schemas.openxmlformats.org/drawingml/2006/main">
            <a:r>
              <a:t>case:digital_tourism_resident_2024 | 2024년 6월 여행가는 달 추진 보도자료 | https://mcst.go.kr/servlets/eduport/front/upload/UplDownloadFile?pFileName=%280514%29%EB%AC%B8%EC%B2%B4%EB%B6%80%EB%B3%B4%EB%8F%84%EC%9E%90%EB%A3%8C-6%EC%9B%94_%EC%97%AC%ED%96%89%EA%B0%80%EB%8A%94_%EB%8B%AC_%EC%B6%94%EC%A7%84.pdf&amp;pPath=0302000000&amp;pRealName=20240514083202149235802932_PRESS20240514083202456506.pdf</a:t>
            </a:r>
          </a:p>
          <a:p xmlns:a="http://schemas.openxmlformats.org/drawingml/2006/main">
            <a:r>
              <a:t>case:kto_stay_discount_2022 | 2022 대한민국 숙박대전 경제파급효과 공개자료 | https://kto.visitkorea.or.kr/upload/flexer/upload/ktobiz/20220928/b623b5f9-3ec0-11ed-9832-ddf31964842e.hwp.files/Sections1.html</a:t>
            </a:r>
          </a:p>
          <a:p xmlns:a="http://schemas.openxmlformats.org/drawingml/2006/main">
            <a:r>
              <a:t>case:37471b1e063812 | 한강 밤핑(Night+Camping) 행사·공연 정보 | https://hangang.seoul.go.kr/www/eventMng/detail.do?evntSn=441&amp;keyword=&amp;mid=538&amp;opt11=&amp;opt12=&amp;opt13=&amp;opt14=&amp;opt4=&amp;pageNo=2&amp;srchType=list</a:t>
            </a:r>
          </a:p>
          <a:p xmlns:a="http://schemas.openxmlformats.org/drawingml/2006/main">
            <a:r>
              <a:t>case:gangjin_half_price_2024 | 강진 반값여행 지역경제 효과 소개 | https://jnfarm.jeonnam.go.kr/board/FARM_BOARD_008/boardView.do?bdId=BD_00000000000011721&amp;menuCd=farm004002</a:t>
            </a:r>
          </a:p>
          <a:p xmlns:a="http://schemas.openxmlformats.org/drawingml/2006/main">
            <a:r>
              <a:t>case:c6d4752e1342a7 | 지역사랑 휴가지원(반값여행) 신설 및 ‘대한민국 반값여행’ 성과 분석 | https://www.mcst.go.kr/site/s_policy/govPolicy/performTotal.jsp</a:t>
            </a:r>
          </a:p>
          <a:p xmlns:a="http://schemas.openxmlformats.org/drawingml/2006/main">
            <a:r>
              <a:t>case:night_festival_2025 | 2025 대한민국 밤밤페스타 개최 도시 및 일정 | https://korean.visitkorea.or.kr/detail/rem_detail.do?cotid=f9c636b2-dd7c-4f09-af3d-6af43b33d371</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관측값·저장 예측·계획 목표는 별개입니다. 문서용 참고 견적이며 원 보고서의 검수 결과를 변경하지 않습니다.</a:t>
            </a:r>
          </a:p>
          <a:p xmlns:a="http://schemas.openxmlformats.org/drawingml/2006/main">
            <a:r>
              <a:t>[Sources]</a:t>
            </a:r>
          </a:p>
          <a:p xmlns:a="http://schemas.openxmlformats.org/drawingml/2006/main">
            <a:r>
              <a:t>dataset:51130:1 | 한국관광 데이터랩 · 강원특별자치도 원주시 순 방문자 수 및 숙박 비율 (이동통신 기반 외지인) | https://datalab.visitkorea.or.kr/</a:t>
            </a:r>
          </a:p>
          <a:p xmlns:a="http://schemas.openxmlformats.org/drawingml/2006/main">
            <a:r>
              <a:t>dataset:51130:2 | 한국관광 데이터랩 · 강원특별자치도 원주시 월간 순 방문자 수 (이동통신 기반 외지인) | https://datalab.visitkorea.or.kr/</a:t>
            </a:r>
          </a:p>
          <a:p xmlns:a="http://schemas.openxmlformats.org/drawingml/2006/main">
            <a:r>
              <a:t>dataset:51130:3 | 한국관광 데이터랩 · 강원특별자치도 원주시 관광소비 추이_외지인 | https://datalab.visitkorea.or.kr/</a:t>
            </a:r>
          </a:p>
          <a:p xmlns:a="http://schemas.openxmlformats.org/drawingml/2006/main">
            <a:r>
              <a:t>dataset:51130:4 | 한국관광 데이터랩 · 강원특별자치도 원주시 숙박방문자 비율 추이 (이동통신 기반 외지인) | https://datalab.visitkorea.or.kr/</a:t>
            </a:r>
          </a:p>
          <a:p xmlns:a="http://schemas.openxmlformats.org/drawingml/2006/main">
            <a:r>
              <a:t>dataset:51130:5 | 한국관광 데이터랩 · 강원특별자치도 원주시 평균 숙박일 (이동통신 기반 외지인) | https://datalab.visitkorea.or.kr/</a:t>
            </a:r>
          </a:p>
          <a:p xmlns:a="http://schemas.openxmlformats.org/drawingml/2006/main">
            <a:r>
              <a:t>dataset:51130:6 | 한국관광 데이터랩 · 강원특별자치도 원주시 내비게이션 목적지 유형별 검색량 | https://datalab.visitkorea.or.kr/</a:t>
            </a:r>
          </a:p>
          <a:p xmlns:a="http://schemas.openxmlformats.org/drawingml/2006/main">
            <a:r>
              <a:t>dataset:51130:7 | 한국관광 데이터랩 · 강원특별자치도 원주시 SNS 언급량 | https://datalab.visitkorea.or.kr/</a:t>
            </a:r>
          </a:p>
          <a:p xmlns:a="http://schemas.openxmlformats.org/drawingml/2006/main">
            <a:r>
              <a:t>datalab:16d84bd9b1d0:620b2639a268 | 한국관광 데이터랩 공식 다운로드 · 강원특별자치도_원주시/숙박_체류시간/2025_01_12.zip | https://datalab.visitkorea.or.kr/</a:t>
            </a:r>
          </a:p>
          <a:p xmlns:a="http://schemas.openxmlformats.org/drawingml/2006/main">
            <a:r>
              <a:t>datalab:242a2c1249d4:f84e1a5f3914 | 한국관광 데이터랩 공식 다운로드 · 강원특별자치도_원주시/숙박_체류시간/2026_01_06.zip | https://datalab.visitkorea.or.kr/</a:t>
            </a:r>
          </a:p>
          <a:p xmlns:a="http://schemas.openxmlformats.org/drawingml/2006/main">
            <a:r>
              <a:t>datalab:a050e5a84ef4:3906c6ac70a7 | 한국관광 데이터랩 공식 다운로드 · 강원특별자치도_원주시/방문자/2025_01_12.zip | https://datalab.visitkorea.or.kr/</a:t>
            </a:r>
          </a:p>
          <a:p xmlns:a="http://schemas.openxmlformats.org/drawingml/2006/main">
            <a:r>
              <a:t>datalab:bd9d3d26da19:991f2264ad4a | 한국관광 데이터랩 공식 다운로드 · 강원특별자치도_원주시/방문자/2026_01_06.zip | https://datalab.visitkorea.or.kr/</a:t>
            </a:r>
          </a:p>
          <a:p xmlns:a="http://schemas.openxmlformats.org/drawingml/2006/main">
            <a:r>
              <a:t>datalab:d54a3fb44037:ee4640b6178b | 한국관광 데이터랩 공식 다운로드 · 강원특별자치도_원주시/관광소비/2026_01_06.zip | https://datalab.visitkorea.or.kr/</a:t>
            </a:r>
          </a:p>
          <a:p xmlns:a="http://schemas.openxmlformats.org/drawingml/2006/main">
            <a:r>
              <a:t>datalab:ebce91b8bf02:1770c2d94cc6 | 한국관광 데이터랩 공식 다운로드 · 강원특별자치도_원주시/관광소비/2025_01_12.zip | https://datalab.visitkorea.or.kr/</a:t>
            </a:r>
          </a:p>
          <a:p xmlns:a="http://schemas.openxmlformats.org/drawingml/2006/main">
            <a:r>
              <a:t>team-bigdata:23ea68053684:6bfbcf8aabf6 | 한국관광 데이터랩 전국 빅데이터 다운로드 · 이동통신/내국인/지역별 방문자수/20260820140607__202601-202606_데이터랩_다운로드.zip | https://datalab.visitkorea.or.kr/</a:t>
            </a:r>
          </a:p>
          <a:p xmlns:a="http://schemas.openxmlformats.org/drawingml/2006/main">
            <a:r>
              <a:t>team-bigdata:98d4ae590d9a:3be52dd54323 | 한국관광 데이터랩 전국 빅데이터 다운로드 · 이동통신/외국인/20260820141710_전국_202601-202606_데이터랩_다운로드.zip | https://datalab.visitkorea.or.kr/</a:t>
            </a:r>
          </a:p>
          <a:p xmlns:a="http://schemas.openxmlformats.org/drawingml/2006/main">
            <a:r>
              <a:t>team-bigdata:367cd0294ec4:873930d645e5 | 한국관광 데이터랩 전국 빅데이터 다운로드 · 신용카드/내국인/지역별 관광지출액/20260820140046__202601-202606_데이터랩_다운로드.zip | https://datalab.visitkorea.or.kr/</a:t>
            </a:r>
          </a:p>
          <a:p xmlns:a="http://schemas.openxmlformats.org/drawingml/2006/main">
            <a:r>
              <a:t>team-bigdata:553a0dad4bb4:5a31355dffe8 | 한국관광 데이터랩 전국 빅데이터 다운로드 · 신용카드/외국인/지역별 관광지출액/20260820140355__202601-202606_데이터랩_다운로드.zip | https://datalab.visitkorea.or.kr/</a:t>
            </a:r>
          </a:p>
          <a:p xmlns:a="http://schemas.openxmlformats.org/drawingml/2006/main">
            <a:r>
              <a:t>team-bigdata:a53dbe1c21df:77a052de41d5 | 한국관광 데이터랩 전국 빅데이터 다운로드 · 네비게이션/지역별 검색건수/20260820195507__202601-202606_데이터랩_다운로드.zip | https://datalab.visitkorea.or.kr/</a:t>
            </a:r>
          </a:p>
          <a:p xmlns:a="http://schemas.openxmlformats.org/drawingml/2006/main">
            <a:r>
              <a:t>team-bigdata:823a38d1d61c:5385261d02e5 | 한국관광 데이터랩 전국 빅데이터 다운로드 · 이동통신/내국인/지역별 방문자수/20260820140614__202501-202512_데이터랩_다운로드.zip | https://datalab.visitkorea.or.kr/</a:t>
            </a:r>
          </a:p>
          <a:p xmlns:a="http://schemas.openxmlformats.org/drawingml/2006/main">
            <a:r>
              <a:t>team-bigdata:2723bdb0d589:1666a34058ed | 한국관광 데이터랩 전국 빅데이터 다운로드 · 이동통신/외국인/20260820141649_전국_202501-202512_데이터랩_다운로드.zip | https://datalab.visitkorea.or.kr/</a:t>
            </a:r>
          </a:p>
          <a:p xmlns:a="http://schemas.openxmlformats.org/drawingml/2006/main">
            <a:r>
              <a:t>team-bigdata:83177a234971:c02cb7972e0f | 한국관광 데이터랩 전국 빅데이터 다운로드 · 신용카드/내국인/지역별 관광지출액/20260820135957__202501-202512_데이터랩_다운로드.zip | https://datalab.visitkorea.or.kr/</a:t>
            </a:r>
          </a:p>
          <a:p xmlns:a="http://schemas.openxmlformats.org/drawingml/2006/main">
            <a:r>
              <a:t>team-bigdata:58ded7732251:589c76395cbc | 한국관광 데이터랩 전국 빅데이터 다운로드 · 신용카드/외국인/지역별 관광지출액/20260820140409__202501-202512_데이터랩_다운로드.zip | https://datalab.visitkorea.or.kr/</a:t>
            </a:r>
          </a:p>
          <a:p xmlns:a="http://schemas.openxmlformats.org/drawingml/2006/main">
            <a:r>
              <a:t>team-bigdata:e28c947cb52f:bb4cb344a6ba | 한국관광 데이터랩 전국 빅데이터 다운로드 · 네비게이션/지역별 검색건수/20260820132007__202501-202512_데이터랩_다운로드.zip | https://datalab.visitkorea.or.kr/</a:t>
            </a:r>
          </a:p>
          <a:p xmlns:a="http://schemas.openxmlformats.org/drawingml/2006/main">
            <a:r>
              <a:t>team-bigdata:8815bbb11a39:1a5988f5f8ec | 한국관광 데이터랩 전국 빅데이터 다운로드 · 이동통신/내국인/지역별 방문자수/20260820140624__202401-202412_데이터랩_다운로드.zip | https://datalab.visitkorea.or.kr/</a:t>
            </a:r>
          </a:p>
          <a:p xmlns:a="http://schemas.openxmlformats.org/drawingml/2006/main">
            <a:r>
              <a:t>team-bigdata:19fd67fbb73d:afa4f0f54a2f | 한국관광 데이터랩 전국 빅데이터 다운로드 · 이동통신/외국인/20260820141639_전국_202401-202412_데이터랩_다운로드.zip | https://datalab.visitkorea.or.kr/</a:t>
            </a:r>
          </a:p>
          <a:p xmlns:a="http://schemas.openxmlformats.org/drawingml/2006/main">
            <a:r>
              <a:t>regional-status:90f2be7a0f7d:b989a6c2e7bf | 한국관광 데이터랩 지역별 관광 현황 · 강원특별자치도 원주시 · 유입유출 | https://datalab.visitkorea.or.kr/</a:t>
            </a:r>
          </a:p>
          <a:p xmlns:a="http://schemas.openxmlformats.org/drawingml/2006/main">
            <a:r>
              <a:t>regional-status:c39767bd23e8:e3b081f6e6aa | 한국관광 데이터랩 지역별 관광 현황 · 강원특별자치도 원주시 · 지역집중률 | https://datalab.visitkorea.or.kr/</a:t>
            </a:r>
          </a:p>
          <a:p xmlns:a="http://schemas.openxmlformats.org/drawingml/2006/main">
            <a:r>
              <a:t>regional-status:edaf76986d99:c00fa7ffc0a7 | 한국관광 데이터랩 지역별 관광 현황 · 강원특별자치도 원주시 · 인기관광지 | https://datalab.visitkorea.or.kr/</a:t>
            </a:r>
          </a:p>
          <a:p xmlns:a="http://schemas.openxmlformats.org/drawingml/2006/main">
            <a:r>
              <a:t>ml:51130:regional-demand-v3.1:202606 | 지역 관광수요 ML 전망 · 공식 관측값 아님 | URL 미기록</a:t>
            </a:r>
          </a:p>
          <a:p xmlns:a="http://schemas.openxmlformats.org/drawingml/2006/main">
            <a:r>
              <a:t>tour-api:2732999 | 감악산캠핑숲 | https://apis.data.go.kr/B551011/KorService2</a:t>
            </a:r>
          </a:p>
          <a:p xmlns:a="http://schemas.openxmlformats.org/drawingml/2006/main">
            <a:r>
              <a:t>tour-api:2555010 | 강원감영관찰사·무릉고서화미술박물관 | https://apis.data.go.kr/B551011/KorService2</a:t>
            </a:r>
          </a:p>
          <a:p xmlns:a="http://schemas.openxmlformats.org/drawingml/2006/main">
            <a:r>
              <a:t>tour-api:2734136 | 강원도힐링캠핑장 | https://apis.data.go.kr/B551011/KorService2</a:t>
            </a:r>
          </a:p>
          <a:p xmlns:a="http://schemas.openxmlformats.org/drawingml/2006/main">
            <a:r>
              <a:t>tour-api:2702477 | 경천묘 | https://apis.data.go.kr/B551011/KorService2</a:t>
            </a:r>
          </a:p>
          <a:p xmlns:a="http://schemas.openxmlformats.org/drawingml/2006/main">
            <a:r>
              <a:t>tour-api:130539 | 고판화박물관 | https://apis.data.go.kr/B551011/KorService2</a:t>
            </a:r>
          </a:p>
          <a:p xmlns:a="http://schemas.openxmlformats.org/drawingml/2006/main">
            <a:r>
              <a:t>tour-api:125645 | 관음사·국형사계곡 | https://apis.data.go.kr/B551011/KorService2</a:t>
            </a:r>
          </a:p>
          <a:p xmlns:a="http://schemas.openxmlformats.org/drawingml/2006/main">
            <a:r>
              <a:t>tour-api:3356037 | 광화문갈비 원주점 | https://apis.data.go.kr/B551011/KorService2</a:t>
            </a:r>
          </a:p>
          <a:p xmlns:a="http://schemas.openxmlformats.org/drawingml/2006/main">
            <a:r>
              <a:t>tour-api:2762710 | 구 조선식산은행 원주지점 | https://apis.data.go.kr/B551011/KorService2</a:t>
            </a:r>
          </a:p>
          <a:p xmlns:a="http://schemas.openxmlformats.org/drawingml/2006/main">
            <a:r>
              <a:t>tour-api:125757 | 국형사 | https://apis.data.go.kr/B551011/KorService2</a:t>
            </a:r>
          </a:p>
          <a:p xmlns:a="http://schemas.openxmlformats.org/drawingml/2006/main">
            <a:r>
              <a:t>tour-api:2033279 | 금대 에코힐링 캠핑장 | https://apis.data.go.kr/B551011/KorService2</a:t>
            </a:r>
          </a:p>
          <a:p xmlns:a="http://schemas.openxmlformats.org/drawingml/2006/main">
            <a:r>
              <a:t>tour-api:129676 | 금대계곡 | https://apis.data.go.kr/B551011/KorService2</a:t>
            </a:r>
          </a:p>
          <a:p xmlns:a="http://schemas.openxmlformats.org/drawingml/2006/main">
            <a:r>
              <a:t>tour-api:2734906 | 금대자동차야영장 | https://apis.data.go.kr/B551011/KorService2</a:t>
            </a:r>
          </a:p>
          <a:p xmlns:a="http://schemas.openxmlformats.org/drawingml/2006/main">
            <a:r>
              <a:t>tour-api:2714800 | 기후변화홍보관 | https://apis.data.go.kr/B551011/KorService2</a:t>
            </a:r>
          </a:p>
          <a:p xmlns:a="http://schemas.openxmlformats.org/drawingml/2006/main">
            <a:r>
              <a:t>tour-api:2892327 | 김가네원주추어탕 | https://apis.data.go.kr/B551011/KorService2</a:t>
            </a:r>
          </a:p>
          <a:p xmlns:a="http://schemas.openxmlformats.org/drawingml/2006/main">
            <a:r>
              <a:t>tour-api:129284 | 김제남 신도비 | https://apis.data.go.kr/B551011/KorService2</a:t>
            </a:r>
          </a:p>
          <a:p xmlns:a="http://schemas.openxmlformats.org/drawingml/2006/main">
            <a:r>
              <a:t>tour-api:512084 | 넌스키 난보드 | https://apis.data.go.kr/B551011/KorService2</a:t>
            </a:r>
          </a:p>
          <a:p xmlns:a="http://schemas.openxmlformats.org/drawingml/2006/main">
            <a:r>
              <a:t>tour-api:2778036 | 단관공원 | https://apis.data.go.kr/B551011/KorService2</a:t>
            </a:r>
          </a:p>
          <a:p xmlns:a="http://schemas.openxmlformats.org/drawingml/2006/main">
            <a:r>
              <a:t>tour-api:2892320 | 동승루 | https://apis.data.go.kr/B551011/KorService2</a:t>
            </a:r>
          </a:p>
          <a:p xmlns:a="http://schemas.openxmlformats.org/drawingml/2006/main">
            <a:r>
              <a:t>tour-api:2892312 | 들꽃가든 | https://apis.data.go.kr/B551011/KorService2</a:t>
            </a:r>
          </a:p>
          <a:p xmlns:a="http://schemas.openxmlformats.org/drawingml/2006/main">
            <a:r>
              <a:t>tour-api:2809292 | 들꽃이야기 | https://apis.data.go.kr/B551011/KorService2</a:t>
            </a:r>
          </a:p>
          <a:p xmlns:a="http://schemas.openxmlformats.org/drawingml/2006/main">
            <a:r>
              <a:t>reference:kto:2026:local-airport | 요즘, 한국관광 2호 - 지방공항 연계 지역관광 활성화 방안 | PDF 44쪽, PDF 43쪽, PDF 38쪽, PDF 40쪽, PDF 41쪽, PDF 36쪽, PDF 41쪽, PDF 44쪽, PDF 43쪽, PDF 43쪽 | https://datalab.visitkorea.or.kr/site/portal/ex/bbs/View.do?bcIdx=311068&amp;cbIdx=1135&amp;pageIndex=1</a:t>
            </a:r>
          </a:p>
          <a:p xmlns:a="http://schemas.openxmlformats.org/drawingml/2006/main">
            <a:r>
              <a:t>case:jeonju_night_budget_2026 | 전주시 2026년도 관광산업과 세출예산 사업명세서 | https://jeonju.go.kr/resource/www/images/download/budget/2026/2026_31_2.pdf</a:t>
            </a:r>
          </a:p>
          <a:p xmlns:a="http://schemas.openxmlformats.org/drawingml/2006/main">
            <a:r>
              <a:t>case:4625625dcbf2ae | (기획) 인천을 즐기는 가장 쉬운(easy) 방법 … 인천e지 | https://www.incheon.go.kr/IC010205/view?beginDt=&amp;curPage=1&amp;endDt=&amp;repSeq=DOM_0000000013130282&amp;srchMainManagerDeptNm=&amp;srchRepContents=%EC%A3%BC%EC%B0%A8&amp;srchRepTitle=</a:t>
            </a:r>
          </a:p>
          <a:p xmlns:a="http://schemas.openxmlformats.org/drawingml/2006/main">
            <a:r>
              <a:t>case:digital_tourism_resident_2024 | 2024년 6월 여행가는 달 추진 보도자료 | https://mcst.go.kr/servlets/eduport/front/upload/UplDownloadFile?pFileName=%280514%29%EB%AC%B8%EC%B2%B4%EB%B6%80%EB%B3%B4%EB%8F%84%EC%9E%90%EB%A3%8C-6%EC%9B%94_%EC%97%AC%ED%96%89%EA%B0%80%EB%8A%94_%EB%8B%AC_%EC%B6%94%EC%A7%84.pdf&amp;pPath=0302000000&amp;pRealName=20240514083202149235802932_PRESS20240514083202456506.pdf</a:t>
            </a:r>
          </a:p>
          <a:p xmlns:a="http://schemas.openxmlformats.org/drawingml/2006/main">
            <a:r>
              <a:t>case:kto_stay_discount_2022 | 2022 대한민국 숙박대전 경제파급효과 공개자료 | https://kto.visitkorea.or.kr/upload/flexer/upload/ktobiz/20220928/b623b5f9-3ec0-11ed-9832-ddf31964842e.hwp.files/Sections1.html</a:t>
            </a:r>
          </a:p>
          <a:p xmlns:a="http://schemas.openxmlformats.org/drawingml/2006/main">
            <a:r>
              <a:t>case:37471b1e063812 | 한강 밤핑(Night+Camping) 행사·공연 정보 | https://hangang.seoul.go.kr/www/eventMng/detail.do?evntSn=441&amp;keyword=&amp;mid=538&amp;opt11=&amp;opt12=&amp;opt13=&amp;opt14=&amp;opt4=&amp;pageNo=2&amp;srchType=list</a:t>
            </a:r>
          </a:p>
          <a:p xmlns:a="http://schemas.openxmlformats.org/drawingml/2006/main">
            <a:r>
              <a:t>case:gangjin_half_price_2024 | 강진 반값여행 지역경제 효과 소개 | https://jnfarm.jeonnam.go.kr/board/FARM_BOARD_008/boardView.do?bdId=BD_00000000000011721&amp;menuCd=farm004002</a:t>
            </a:r>
          </a:p>
          <a:p xmlns:a="http://schemas.openxmlformats.org/drawingml/2006/main">
            <a:r>
              <a:t>case:c6d4752e1342a7 | 지역사랑 휴가지원(반값여행) 신설 및 ‘대한민국 반값여행’ 성과 분석 | https://www.mcst.go.kr/site/s_policy/govPolicy/performTotal.jsp</a:t>
            </a:r>
          </a:p>
          <a:p xmlns:a="http://schemas.openxmlformats.org/drawingml/2006/main">
            <a:r>
              <a:t>case:night_festival_2025 | 2025 대한민국 밤밤페스타 개최 도시 및 일정 | https://korean.visitkorea.or.kr/detail/rem_detail.do?cotid=f9c636b2-dd7c-4f09-af3d-6af43b33d371</a:t>
            </a:r>
          </a:p>
          <a:p xmlns:a="http://schemas.openxmlformats.org/drawingml/2006/main">
            <a:r>
              <a:t>[/Sources]</a:t>
            </a:r>
          </a:p>
          <a:p xmlns:a="http://schemas.openxmlformats.org/drawingml/2006/main">
            <a:r>
              <a:t>[Saved narrative]</a:t>
            </a:r>
          </a:p>
          <a:p xmlns:a="http://schemas.openxmlformats.org/drawingml/2006/main">
            <a:r>
              <a:t>[</a:t>
            </a:r>
          </a:p>
          <a:p xmlns:a="http://schemas.openxmlformats.org/drawingml/2006/main">
            <a:r>
              <a:t>  {</a:t>
            </a:r>
          </a:p>
          <a:p xmlns:a="http://schemas.openxmlformats.org/drawingml/2006/main">
            <a:r>
              <a:t>    "kpi": "①지역 내 소비액 증가율(분자: 사업 기간 내 원주 내 총 결제액, 분모: 전년 같은 기간 값, 산식: (이번 기간 값 - 전년 같은 기간 값) / 전년 같은 기간 값 × 100) ②지역상품권 사용률(분자: 환급 뒤 원주 내 적격 재결제액 합계, 분모: 지급한 환급액 합계) ③기준기간: 운영 기간 ④측정 주기: 매주 ⑤수집 방법: 신청·승인·결제 원장 집계 ⑥성과 판단: 위 계획 목표와 실제 집계 결과를 비교합니다.",</a:t>
            </a:r>
          </a:p>
          <a:p xmlns:a="http://schemas.openxmlformats.org/drawingml/2006/main">
            <a:r>
              <a:t>    "title": "원주시 지역사랑 휴가지원 (반값여행) 프로그램",</a:t>
            </a:r>
          </a:p>
          <a:p xmlns:a="http://schemas.openxmlformats.org/drawingml/2006/main">
            <a:r>
              <a:t>    "budget": "기획 가정/미확정 참고 견적: 운영 콘텐츠 수×콘텐츠별 비교견적 + 운영일수×일일 운영·안전 견적 + 참여업체 수×업체 준비비 견적 + 측정 원장 1식×구축 견적. 사업 담당자가 착수 전 수량을 정하고 회계 담당자가 같은 조건의 비교견적 2건 이상으로 단가·부가세·총액을 확정함.",</a:t>
            </a:r>
          </a:p>
          <a:p xmlns:a="http://schemas.openxmlformats.org/drawingml/2006/main">
            <a:r>
              <a:t>    "evidence": "case:gangjin_half_price_2024, dataset:51130:1, dataset:51130:3",</a:t>
            </a:r>
          </a:p>
          <a:p xmlns:a="http://schemas.openxmlformats.org/drawingml/2006/main">
            <a:r>
              <a:t>    "priority": 1,</a:t>
            </a:r>
          </a:p>
          <a:p xmlns:a="http://schemas.openxmlformats.org/drawingml/2006/main">
            <a:r>
              <a:t>    "solution": "원주시 내 지정된 관광·식음·숙박 가맹점에서 일정 금액 이상 결제한 외지인에게 결제액의 일부를 원주사랑상품권으로 환급하여 지역 내 재소비를 유도함.",</a:t>
            </a:r>
          </a:p>
          <a:p xmlns:a="http://schemas.openxmlformats.org/drawingml/2006/main">
            <a:r>
              <a:t>    "timeframe": "2026-09 ~ 2026-11, 3개월",</a:t>
            </a:r>
          </a:p>
          <a:p xmlns:a="http://schemas.openxmlformats.org/drawingml/2006/main">
            <a:r>
              <a:t>    "expected_effect": "ML 전망상 2026년 11월 소비액은 전년 대비 41.26% 증가할 것으로 보이나, 이는 탐색적 추세일 뿐임. 본 사업은 이 추세와 별개로 '지역 내 재결제'를 통한 추가적인 소비 순증을 목표로 함.",</a:t>
            </a:r>
          </a:p>
          <a:p xmlns:a="http://schemas.openxmlformats.org/drawingml/2006/main">
            <a:r>
              <a:t>    "problem_to_solve": "외지인 방문자 수 감소 및 지역 내 소비 유도 부족",</a:t>
            </a:r>
          </a:p>
          <a:p xmlns:a="http://schemas.openxmlformats.org/drawingml/2006/main">
            <a:r>
              <a:t>    "comparison_analysis": "강진군의 지역환급 방식(case:gangjin_half_price_2024)을 벤치마킹하여 지역 내 결제 순환에 집중하는 모델을 채택함. 이는 인천의 플랫폼 중심 방식(case:4625625dcbf2ae)보다 초기 구축 비용 부담이 적고 즉각적인 소비 유도에 유리함.",</a:t>
            </a:r>
          </a:p>
          <a:p xmlns:a="http://schemas.openxmlformats.org/drawingml/2006/main">
            <a:r>
              <a:t>    "implementation_steps": [</a:t>
            </a:r>
          </a:p>
          <a:p xmlns:a="http://schemas.openxmlformats.org/drawingml/2006/main">
            <a:r>
              <a:t>      {</a:t>
            </a:r>
          </a:p>
          <a:p xmlns:a="http://schemas.openxmlformats.org/drawingml/2006/main">
            <a:r>
              <a:t>        "step": 1,</a:t>
            </a:r>
          </a:p>
          <a:p xmlns:a="http://schemas.openxmlformats.org/drawingml/2006/main">
            <a:r>
              <a:t>        "task": "관광과 담당자가 참여 업체 명단을 확보하고 환급 운영 지침(안)을 작성함",</a:t>
            </a:r>
          </a:p>
          <a:p xmlns:a="http://schemas.openxmlformats.org/drawingml/2006/main">
            <a:r>
              <a:t>        "schedule": "2026-09",</a:t>
            </a:r>
          </a:p>
          <a:p xmlns:a="http://schemas.openxmlformats.org/drawingml/2006/main">
            <a:r>
              <a:t>        "deliverable": "참여 업체 명단 및 환급 운영 지침서(안)"</a:t>
            </a:r>
          </a:p>
          <a:p xmlns:a="http://schemas.openxmlformats.org/drawingml/2006/main">
            <a:r>
              <a:t>      },</a:t>
            </a:r>
          </a:p>
          <a:p xmlns:a="http://schemas.openxmlformats.org/drawingml/2006/main">
            <a:r>
              <a:t>      {</a:t>
            </a:r>
          </a:p>
          <a:p xmlns:a="http://schemas.openxmlformats.org/drawingml/2006/main">
            <a:r>
              <a:t>        "step": 2,</a:t>
            </a:r>
          </a:p>
          <a:p xmlns:a="http://schemas.openxmlformats.org/drawingml/2006/main">
            <a:r>
              <a:t>        "task": "회계 담당자가 결제 증빙 및 중복 수혜 방지를 위한 가이드라인을 확정함",</a:t>
            </a:r>
          </a:p>
          <a:p xmlns:a="http://schemas.openxmlformats.org/drawingml/2006/main">
            <a:r>
              <a:t>        "schedule": "2026-09",</a:t>
            </a:r>
          </a:p>
          <a:p xmlns:a="http://schemas.openxmlformats.org/drawingml/2006/main">
            <a:r>
              <a:t>        "deliverable": "결제 증빙 및 중복 수혜 방지 가이드라인"</a:t>
            </a:r>
          </a:p>
          <a:p xmlns:a="http://schemas.openxmlformats.org/drawingml/2006/main">
            <a:r>
              <a:t>      },</a:t>
            </a:r>
          </a:p>
          <a:p xmlns:a="http://schemas.openxmlformats.org/drawingml/2006/main">
            <a:r>
              <a:t>      {</a:t>
            </a:r>
          </a:p>
          <a:p xmlns:a="http://schemas.openxmlformats.org/drawingml/2006/main">
            <a:r>
              <a:t>        "step": 3,</a:t>
            </a:r>
          </a:p>
          <a:p xmlns:a="http://schemas.openxmlformats.org/drawingml/2006/main">
            <a:r>
              <a:t>        "task": "홍보 담당자가 주요 관광지 연계 홍보물을 배포하고 운영 현황을 기록함",</a:t>
            </a:r>
          </a:p>
          <a:p xmlns:a="http://schemas.openxmlformats.org/drawingml/2006/main">
            <a:r>
              <a:t>        "schedule": "2026-10",</a:t>
            </a:r>
          </a:p>
          <a:p xmlns:a="http://schemas.openxmlformats.org/drawingml/2006/main">
            <a:r>
              <a:t>        "deliverable": "주요 관광지 연계 홍보물 및 운영 현황 보고서"</a:t>
            </a:r>
          </a:p>
          <a:p xmlns:a="http://schemas.openxmlformats.org/drawingml/2006/main">
            <a:r>
              <a:t>      },</a:t>
            </a:r>
          </a:p>
          <a:p xmlns:a="http://schemas.openxmlformats.org/drawingml/2006/main">
            <a:r>
              <a:t>      {</a:t>
            </a:r>
          </a:p>
          <a:p xmlns:a="http://schemas.openxmlformats.org/drawingml/2006/main">
            <a:r>
              <a:t>        "step": 4,</a:t>
            </a:r>
          </a:p>
          <a:p xmlns:a="http://schemas.openxmlformats.org/drawingml/2006/main">
            <a:r>
              <a:t>        "task": "운영 담당자가 주간 단위로 환급 신청·승인·결제 원장을 수집·검증함",</a:t>
            </a:r>
          </a:p>
          <a:p xmlns:a="http://schemas.openxmlformats.org/drawingml/2006/main">
            <a:r>
              <a:t>        "schedule": "2026-10 ~ 2026-11",</a:t>
            </a:r>
          </a:p>
          <a:p xmlns:a="http://schemas.openxmlformats.org/drawingml/2006/main">
            <a:r>
              <a:t>        "deliverable": "주간 단위 환급 신청·승인·결제 원장"</a:t>
            </a:r>
          </a:p>
          <a:p xmlns:a="http://schemas.openxmlformats.org/drawingml/2006/main">
            <a:r>
              <a:t>      },</a:t>
            </a:r>
          </a:p>
          <a:p xmlns:a="http://schemas.openxmlformats.org/drawingml/2006/main">
            <a:r>
              <a:t>      {</a:t>
            </a:r>
          </a:p>
          <a:p xmlns:a="http://schemas.openxmlformats.org/drawingml/2006/main">
            <a:r>
              <a:t>        "step": 5,</a:t>
            </a:r>
          </a:p>
          <a:p xmlns:a="http://schemas.openxmlformats.org/drawingml/2006/main">
            <a:r>
              <a:t>        "task": "기획 담당자가 수집된 원장을 바탕으로 최종 성과 평가 보고서를 작성함",</a:t>
            </a:r>
          </a:p>
          <a:p xmlns:a="http://schemas.openxmlformats.org/drawingml/2006/main">
            <a:r>
              <a:t>        "schedule": "2026-11",</a:t>
            </a:r>
          </a:p>
          <a:p xmlns:a="http://schemas.openxmlformats.org/drawingml/2006/main">
            <a:r>
              <a:t>        "deliverable": "최종 성과 평가 보고서"</a:t>
            </a:r>
          </a:p>
          <a:p xmlns:a="http://schemas.openxmlformats.org/drawingml/2006/main">
            <a:r>
              <a:t>      }</a:t>
            </a:r>
          </a:p>
          <a:p xmlns:a="http://schemas.openxmlformats.org/drawingml/2006/main">
            <a:r>
              <a:t>    ],</a:t>
            </a:r>
          </a:p>
          <a:p xmlns:a="http://schemas.openxmlformats.org/drawingml/2006/main">
            <a:r>
              <a:t>    "visual_asset_source_ids": [</a:t>
            </a:r>
          </a:p>
          <a:p xmlns:a="http://schemas.openxmlformats.org/drawingml/2006/main">
            <a:r>
              <a:t>      "case:gangjin_half_price_2024"</a:t>
            </a:r>
          </a:p>
          <a:p xmlns:a="http://schemas.openxmlformats.org/drawingml/2006/main">
            <a:r>
              <a:t>    ]</a:t>
            </a:r>
          </a:p>
          <a:p xmlns:a="http://schemas.openxmlformats.org/drawingml/2006/main">
            <a:r>
              <a:t>  }</a:t>
            </a:r>
          </a:p>
          <a:p xmlns:a="http://schemas.openxmlformats.org/drawingml/2006/main">
            <a:r>
              <a: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관측값·저장 예측·계획 목표는 별개입니다. 문서용 참고 견적이며 원 보고서의 검수 결과를 변경하지 않습니다.</a:t>
            </a:r>
          </a:p>
          <a:p xmlns:a="http://schemas.openxmlformats.org/drawingml/2006/main">
            <a:r>
              <a:t>[Sources]</a:t>
            </a:r>
          </a:p>
          <a:p xmlns:a="http://schemas.openxmlformats.org/drawingml/2006/main">
            <a:r>
              <a:t>dataset:51130:1 | 한국관광 데이터랩 · 강원특별자치도 원주시 순 방문자 수 및 숙박 비율 (이동통신 기반 외지인) | https://datalab.visitkorea.or.kr/</a:t>
            </a:r>
          </a:p>
          <a:p xmlns:a="http://schemas.openxmlformats.org/drawingml/2006/main">
            <a:r>
              <a:t>dataset:51130:2 | 한국관광 데이터랩 · 강원특별자치도 원주시 월간 순 방문자 수 (이동통신 기반 외지인) | https://datalab.visitkorea.or.kr/</a:t>
            </a:r>
          </a:p>
          <a:p xmlns:a="http://schemas.openxmlformats.org/drawingml/2006/main">
            <a:r>
              <a:t>dataset:51130:3 | 한국관광 데이터랩 · 강원특별자치도 원주시 관광소비 추이_외지인 | https://datalab.visitkorea.or.kr/</a:t>
            </a:r>
          </a:p>
          <a:p xmlns:a="http://schemas.openxmlformats.org/drawingml/2006/main">
            <a:r>
              <a:t>dataset:51130:4 | 한국관광 데이터랩 · 강원특별자치도 원주시 숙박방문자 비율 추이 (이동통신 기반 외지인) | https://datalab.visitkorea.or.kr/</a:t>
            </a:r>
          </a:p>
          <a:p xmlns:a="http://schemas.openxmlformats.org/drawingml/2006/main">
            <a:r>
              <a:t>dataset:51130:5 | 한국관광 데이터랩 · 강원특별자치도 원주시 평균 숙박일 (이동통신 기반 외지인) | https://datalab.visitkorea.or.kr/</a:t>
            </a:r>
          </a:p>
          <a:p xmlns:a="http://schemas.openxmlformats.org/drawingml/2006/main">
            <a:r>
              <a:t>dataset:51130:6 | 한국관광 데이터랩 · 강원특별자치도 원주시 내비게이션 목적지 유형별 검색량 | https://datalab.visitkorea.or.kr/</a:t>
            </a:r>
          </a:p>
          <a:p xmlns:a="http://schemas.openxmlformats.org/drawingml/2006/main">
            <a:r>
              <a:t>dataset:51130:7 | 한국관광 데이터랩 · 강원특별자치도 원주시 SNS 언급량 | https://datalab.visitkorea.or.kr/</a:t>
            </a:r>
          </a:p>
          <a:p xmlns:a="http://schemas.openxmlformats.org/drawingml/2006/main">
            <a:r>
              <a:t>datalab:16d84bd9b1d0:620b2639a268 | 한국관광 데이터랩 공식 다운로드 · 강원특별자치도_원주시/숙박_체류시간/2025_01_12.zip | https://datalab.visitkorea.or.kr/</a:t>
            </a:r>
          </a:p>
          <a:p xmlns:a="http://schemas.openxmlformats.org/drawingml/2006/main">
            <a:r>
              <a:t>datalab:242a2c1249d4:f84e1a5f3914 | 한국관광 데이터랩 공식 다운로드 · 강원특별자치도_원주시/숙박_체류시간/2026_01_06.zip | https://datalab.visitkorea.or.kr/</a:t>
            </a:r>
          </a:p>
          <a:p xmlns:a="http://schemas.openxmlformats.org/drawingml/2006/main">
            <a:r>
              <a:t>datalab:a050e5a84ef4:3906c6ac70a7 | 한국관광 데이터랩 공식 다운로드 · 강원특별자치도_원주시/방문자/2025_01_12.zip | https://datalab.visitkorea.or.kr/</a:t>
            </a:r>
          </a:p>
          <a:p xmlns:a="http://schemas.openxmlformats.org/drawingml/2006/main">
            <a:r>
              <a:t>datalab:bd9d3d26da19:991f2264ad4a | 한국관광 데이터랩 공식 다운로드 · 강원특별자치도_원주시/방문자/2026_01_06.zip | https://datalab.visitkorea.or.kr/</a:t>
            </a:r>
          </a:p>
          <a:p xmlns:a="http://schemas.openxmlformats.org/drawingml/2006/main">
            <a:r>
              <a:t>datalab:d54a3fb44037:ee4640b6178b | 한국관광 데이터랩 공식 다운로드 · 강원특별자치도_원주시/관광소비/2026_01_06.zip | https://datalab.visitkorea.or.kr/</a:t>
            </a:r>
          </a:p>
          <a:p xmlns:a="http://schemas.openxmlformats.org/drawingml/2006/main">
            <a:r>
              <a:t>datalab:ebce91b8bf02:1770c2d94cc6 | 한국관광 데이터랩 공식 다운로드 · 강원특별자치도_원주시/관광소비/2025_01_12.zip | https://datalab.visitkorea.or.kr/</a:t>
            </a:r>
          </a:p>
          <a:p xmlns:a="http://schemas.openxmlformats.org/drawingml/2006/main">
            <a:r>
              <a:t>team-bigdata:23ea68053684:6bfbcf8aabf6 | 한국관광 데이터랩 전국 빅데이터 다운로드 · 이동통신/내국인/지역별 방문자수/20260820140607__202601-202606_데이터랩_다운로드.zip | https://datalab.visitkorea.or.kr/</a:t>
            </a:r>
          </a:p>
          <a:p xmlns:a="http://schemas.openxmlformats.org/drawingml/2006/main">
            <a:r>
              <a:t>team-bigdata:98d4ae590d9a:3be52dd54323 | 한국관광 데이터랩 전국 빅데이터 다운로드 · 이동통신/외국인/20260820141710_전국_202601-202606_데이터랩_다운로드.zip | https://datalab.visitkorea.or.kr/</a:t>
            </a:r>
          </a:p>
          <a:p xmlns:a="http://schemas.openxmlformats.org/drawingml/2006/main">
            <a:r>
              <a:t>team-bigdata:367cd0294ec4:873930d645e5 | 한국관광 데이터랩 전국 빅데이터 다운로드 · 신용카드/내국인/지역별 관광지출액/20260820140046__202601-202606_데이터랩_다운로드.zip | https://datalab.visitkorea.or.kr/</a:t>
            </a:r>
          </a:p>
          <a:p xmlns:a="http://schemas.openxmlformats.org/drawingml/2006/main">
            <a:r>
              <a:t>team-bigdata:553a0dad4bb4:5a31355dffe8 | 한국관광 데이터랩 전국 빅데이터 다운로드 · 신용카드/외국인/지역별 관광지출액/20260820140355__202601-202606_데이터랩_다운로드.zip | https://datalab.visitkorea.or.kr/</a:t>
            </a:r>
          </a:p>
          <a:p xmlns:a="http://schemas.openxmlformats.org/drawingml/2006/main">
            <a:r>
              <a:t>team-bigdata:a53dbe1c21df:77a052de41d5 | 한국관광 데이터랩 전국 빅데이터 다운로드 · 네비게이션/지역별 검색건수/20260820195507__202601-202606_데이터랩_다운로드.zip | https://datalab.visitkorea.or.kr/</a:t>
            </a:r>
          </a:p>
          <a:p xmlns:a="http://schemas.openxmlformats.org/drawingml/2006/main">
            <a:r>
              <a:t>team-bigdata:823a38d1d61c:5385261d02e5 | 한국관광 데이터랩 전국 빅데이터 다운로드 · 이동통신/내국인/지역별 방문자수/20260820140614__202501-202512_데이터랩_다운로드.zip | https://datalab.visitkorea.or.kr/</a:t>
            </a:r>
          </a:p>
          <a:p xmlns:a="http://schemas.openxmlformats.org/drawingml/2006/main">
            <a:r>
              <a:t>team-bigdata:2723bdb0d589:1666a34058ed | 한국관광 데이터랩 전국 빅데이터 다운로드 · 이동통신/외국인/20260820141649_전국_202501-202512_데이터랩_다운로드.zip | https://datalab.visitkorea.or.kr/</a:t>
            </a:r>
          </a:p>
          <a:p xmlns:a="http://schemas.openxmlformats.org/drawingml/2006/main">
            <a:r>
              <a:t>team-bigdata:83177a234971:c02cb7972e0f | 한국관광 데이터랩 전국 빅데이터 다운로드 · 신용카드/내국인/지역별 관광지출액/20260820135957__202501-202512_데이터랩_다운로드.zip | https://datalab.visitkorea.or.kr/</a:t>
            </a:r>
          </a:p>
          <a:p xmlns:a="http://schemas.openxmlformats.org/drawingml/2006/main">
            <a:r>
              <a:t>team-bigdata:58ded7732251:589c76395cbc | 한국관광 데이터랩 전국 빅데이터 다운로드 · 신용카드/외국인/지역별 관광지출액/20260820140409__202501-202512_데이터랩_다운로드.zip | https://datalab.visitkorea.or.kr/</a:t>
            </a:r>
          </a:p>
          <a:p xmlns:a="http://schemas.openxmlformats.org/drawingml/2006/main">
            <a:r>
              <a:t>team-bigdata:e28c947cb52f:bb4cb344a6ba | 한국관광 데이터랩 전국 빅데이터 다운로드 · 네비게이션/지역별 검색건수/20260820132007__202501-202512_데이터랩_다운로드.zip | https://datalab.visitkorea.or.kr/</a:t>
            </a:r>
          </a:p>
          <a:p xmlns:a="http://schemas.openxmlformats.org/drawingml/2006/main">
            <a:r>
              <a:t>team-bigdata:8815bbb11a39:1a5988f5f8ec | 한국관광 데이터랩 전국 빅데이터 다운로드 · 이동통신/내국인/지역별 방문자수/20260820140624__202401-202412_데이터랩_다운로드.zip | https://datalab.visitkorea.or.kr/</a:t>
            </a:r>
          </a:p>
          <a:p xmlns:a="http://schemas.openxmlformats.org/drawingml/2006/main">
            <a:r>
              <a:t>team-bigdata:19fd67fbb73d:afa4f0f54a2f | 한국관광 데이터랩 전국 빅데이터 다운로드 · 이동통신/외국인/20260820141639_전국_202401-202412_데이터랩_다운로드.zip | https://datalab.visitkorea.or.kr/</a:t>
            </a:r>
          </a:p>
          <a:p xmlns:a="http://schemas.openxmlformats.org/drawingml/2006/main">
            <a:r>
              <a:t>regional-status:90f2be7a0f7d:b989a6c2e7bf | 한국관광 데이터랩 지역별 관광 현황 · 강원특별자치도 원주시 · 유입유출 | https://datalab.visitkorea.or.kr/</a:t>
            </a:r>
          </a:p>
          <a:p xmlns:a="http://schemas.openxmlformats.org/drawingml/2006/main">
            <a:r>
              <a:t>regional-status:c39767bd23e8:e3b081f6e6aa | 한국관광 데이터랩 지역별 관광 현황 · 강원특별자치도 원주시 · 지역집중률 | https://datalab.visitkorea.or.kr/</a:t>
            </a:r>
          </a:p>
          <a:p xmlns:a="http://schemas.openxmlformats.org/drawingml/2006/main">
            <a:r>
              <a:t>regional-status:edaf76986d99:c00fa7ffc0a7 | 한국관광 데이터랩 지역별 관광 현황 · 강원특별자치도 원주시 · 인기관광지 | https://datalab.visitkorea.or.kr/</a:t>
            </a:r>
          </a:p>
          <a:p xmlns:a="http://schemas.openxmlformats.org/drawingml/2006/main">
            <a:r>
              <a:t>ml:51130:regional-demand-v3.1:202606 | 지역 관광수요 ML 전망 · 공식 관측값 아님 | URL 미기록</a:t>
            </a:r>
          </a:p>
          <a:p xmlns:a="http://schemas.openxmlformats.org/drawingml/2006/main">
            <a:r>
              <a:t>tour-api:2732999 | 감악산캠핑숲 | https://apis.data.go.kr/B551011/KorService2</a:t>
            </a:r>
          </a:p>
          <a:p xmlns:a="http://schemas.openxmlformats.org/drawingml/2006/main">
            <a:r>
              <a:t>tour-api:2555010 | 강원감영관찰사·무릉고서화미술박물관 | https://apis.data.go.kr/B551011/KorService2</a:t>
            </a:r>
          </a:p>
          <a:p xmlns:a="http://schemas.openxmlformats.org/drawingml/2006/main">
            <a:r>
              <a:t>tour-api:2734136 | 강원도힐링캠핑장 | https://apis.data.go.kr/B551011/KorService2</a:t>
            </a:r>
          </a:p>
          <a:p xmlns:a="http://schemas.openxmlformats.org/drawingml/2006/main">
            <a:r>
              <a:t>tour-api:2702477 | 경천묘 | https://apis.data.go.kr/B551011/KorService2</a:t>
            </a:r>
          </a:p>
          <a:p xmlns:a="http://schemas.openxmlformats.org/drawingml/2006/main">
            <a:r>
              <a:t>tour-api:130539 | 고판화박물관 | https://apis.data.go.kr/B551011/KorService2</a:t>
            </a:r>
          </a:p>
          <a:p xmlns:a="http://schemas.openxmlformats.org/drawingml/2006/main">
            <a:r>
              <a:t>tour-api:125645 | 관음사·국형사계곡 | https://apis.data.go.kr/B551011/KorService2</a:t>
            </a:r>
          </a:p>
          <a:p xmlns:a="http://schemas.openxmlformats.org/drawingml/2006/main">
            <a:r>
              <a:t>tour-api:3356037 | 광화문갈비 원주점 | https://apis.data.go.kr/B551011/KorService2</a:t>
            </a:r>
          </a:p>
          <a:p xmlns:a="http://schemas.openxmlformats.org/drawingml/2006/main">
            <a:r>
              <a:t>tour-api:2762710 | 구 조선식산은행 원주지점 | https://apis.data.go.kr/B551011/KorService2</a:t>
            </a:r>
          </a:p>
          <a:p xmlns:a="http://schemas.openxmlformats.org/drawingml/2006/main">
            <a:r>
              <a:t>tour-api:125757 | 국형사 | https://apis.data.go.kr/B551011/KorService2</a:t>
            </a:r>
          </a:p>
          <a:p xmlns:a="http://schemas.openxmlformats.org/drawingml/2006/main">
            <a:r>
              <a:t>tour-api:2033279 | 금대 에코힐링 캠핑장 | https://apis.data.go.kr/B551011/KorService2</a:t>
            </a:r>
          </a:p>
          <a:p xmlns:a="http://schemas.openxmlformats.org/drawingml/2006/main">
            <a:r>
              <a:t>tour-api:129676 | 금대계곡 | https://apis.data.go.kr/B551011/KorService2</a:t>
            </a:r>
          </a:p>
          <a:p xmlns:a="http://schemas.openxmlformats.org/drawingml/2006/main">
            <a:r>
              <a:t>tour-api:2734906 | 금대자동차야영장 | https://apis.data.go.kr/B551011/KorService2</a:t>
            </a:r>
          </a:p>
          <a:p xmlns:a="http://schemas.openxmlformats.org/drawingml/2006/main">
            <a:r>
              <a:t>tour-api:2714800 | 기후변화홍보관 | https://apis.data.go.kr/B551011/KorService2</a:t>
            </a:r>
          </a:p>
          <a:p xmlns:a="http://schemas.openxmlformats.org/drawingml/2006/main">
            <a:r>
              <a:t>tour-api:2892327 | 김가네원주추어탕 | https://apis.data.go.kr/B551011/KorService2</a:t>
            </a:r>
          </a:p>
          <a:p xmlns:a="http://schemas.openxmlformats.org/drawingml/2006/main">
            <a:r>
              <a:t>tour-api:129284 | 김제남 신도비 | https://apis.data.go.kr/B551011/KorService2</a:t>
            </a:r>
          </a:p>
          <a:p xmlns:a="http://schemas.openxmlformats.org/drawingml/2006/main">
            <a:r>
              <a:t>tour-api:512084 | 넌스키 난보드 | https://apis.data.go.kr/B551011/KorService2</a:t>
            </a:r>
          </a:p>
          <a:p xmlns:a="http://schemas.openxmlformats.org/drawingml/2006/main">
            <a:r>
              <a:t>tour-api:2778036 | 단관공원 | https://apis.data.go.kr/B551011/KorService2</a:t>
            </a:r>
          </a:p>
          <a:p xmlns:a="http://schemas.openxmlformats.org/drawingml/2006/main">
            <a:r>
              <a:t>tour-api:2892320 | 동승루 | https://apis.data.go.kr/B551011/KorService2</a:t>
            </a:r>
          </a:p>
          <a:p xmlns:a="http://schemas.openxmlformats.org/drawingml/2006/main">
            <a:r>
              <a:t>tour-api:2892312 | 들꽃가든 | https://apis.data.go.kr/B551011/KorService2</a:t>
            </a:r>
          </a:p>
          <a:p xmlns:a="http://schemas.openxmlformats.org/drawingml/2006/main">
            <a:r>
              <a:t>tour-api:2809292 | 들꽃이야기 | https://apis.data.go.kr/B551011/KorService2</a:t>
            </a:r>
          </a:p>
          <a:p xmlns:a="http://schemas.openxmlformats.org/drawingml/2006/main">
            <a:r>
              <a:t>reference:kto:2026:local-airport | 요즘, 한국관광 2호 - 지방공항 연계 지역관광 활성화 방안 | PDF 44쪽, PDF 43쪽, PDF 38쪽, PDF 40쪽, PDF 41쪽, PDF 36쪽, PDF 41쪽, PDF 44쪽, PDF 43쪽, PDF 43쪽 | https://datalab.visitkorea.or.kr/site/portal/ex/bbs/View.do?bcIdx=311068&amp;cbIdx=1135&amp;pageIndex=1</a:t>
            </a:r>
          </a:p>
          <a:p xmlns:a="http://schemas.openxmlformats.org/drawingml/2006/main">
            <a:r>
              <a:t>case:jeonju_night_budget_2026 | 전주시 2026년도 관광산업과 세출예산 사업명세서 | https://jeonju.go.kr/resource/www/images/download/budget/2026/2026_31_2.pdf</a:t>
            </a:r>
          </a:p>
          <a:p xmlns:a="http://schemas.openxmlformats.org/drawingml/2006/main">
            <a:r>
              <a:t>case:4625625dcbf2ae | (기획) 인천을 즐기는 가장 쉬운(easy) 방법 … 인천e지 | https://www.incheon.go.kr/IC010205/view?beginDt=&amp;curPage=1&amp;endDt=&amp;repSeq=DOM_0000000013130282&amp;srchMainManagerDeptNm=&amp;srchRepContents=%EC%A3%BC%EC%B0%A8&amp;srchRepTitle=</a:t>
            </a:r>
          </a:p>
          <a:p xmlns:a="http://schemas.openxmlformats.org/drawingml/2006/main">
            <a:r>
              <a:t>case:digital_tourism_resident_2024 | 2024년 6월 여행가는 달 추진 보도자료 | https://mcst.go.kr/servlets/eduport/front/upload/UplDownloadFile?pFileName=%280514%29%EB%AC%B8%EC%B2%B4%EB%B6%80%EB%B3%B4%EB%8F%84%EC%9E%90%EB%A3%8C-6%EC%9B%94_%EC%97%AC%ED%96%89%EA%B0%80%EB%8A%94_%EB%8B%AC_%EC%B6%94%EC%A7%84.pdf&amp;pPath=0302000000&amp;pRealName=20240514083202149235802932_PRESS20240514083202456506.pdf</a:t>
            </a:r>
          </a:p>
          <a:p xmlns:a="http://schemas.openxmlformats.org/drawingml/2006/main">
            <a:r>
              <a:t>case:kto_stay_discount_2022 | 2022 대한민국 숙박대전 경제파급효과 공개자료 | https://kto.visitkorea.or.kr/upload/flexer/upload/ktobiz/20220928/b623b5f9-3ec0-11ed-9832-ddf31964842e.hwp.files/Sections1.html</a:t>
            </a:r>
          </a:p>
          <a:p xmlns:a="http://schemas.openxmlformats.org/drawingml/2006/main">
            <a:r>
              <a:t>case:37471b1e063812 | 한강 밤핑(Night+Camping) 행사·공연 정보 | https://hangang.seoul.go.kr/www/eventMng/detail.do?evntSn=441&amp;keyword=&amp;mid=538&amp;opt11=&amp;opt12=&amp;opt13=&amp;opt14=&amp;opt4=&amp;pageNo=2&amp;srchType=list</a:t>
            </a:r>
          </a:p>
          <a:p xmlns:a="http://schemas.openxmlformats.org/drawingml/2006/main">
            <a:r>
              <a:t>case:gangjin_half_price_2024 | 강진 반값여행 지역경제 효과 소개 | https://jnfarm.jeonnam.go.kr/board/FARM_BOARD_008/boardView.do?bdId=BD_00000000000011721&amp;menuCd=farm004002</a:t>
            </a:r>
          </a:p>
          <a:p xmlns:a="http://schemas.openxmlformats.org/drawingml/2006/main">
            <a:r>
              <a:t>case:c6d4752e1342a7 | 지역사랑 휴가지원(반값여행) 신설 및 ‘대한민국 반값여행’ 성과 분석 | https://www.mcst.go.kr/site/s_policy/govPolicy/performTotal.jsp</a:t>
            </a:r>
          </a:p>
          <a:p xmlns:a="http://schemas.openxmlformats.org/drawingml/2006/main">
            <a:r>
              <a:t>case:night_festival_2025 | 2025 대한민국 밤밤페스타 개최 도시 및 일정 | https://korean.visitkorea.or.kr/detail/rem_detail.do?cotid=f9c636b2-dd7c-4f09-af3d-6af43b33d371</a:t>
            </a:r>
          </a:p>
          <a:p xmlns:a="http://schemas.openxmlformats.org/drawingml/2006/main">
            <a:r>
              <a:t>[/Sources]</a:t>
            </a:r>
          </a:p>
          <a:p xmlns:a="http://schemas.openxmlformats.org/drawingml/2006/main">
            <a:r>
              <a:t>[Saved narrative]</a:t>
            </a:r>
          </a:p>
          <a:p xmlns:a="http://schemas.openxmlformats.org/drawingml/2006/main">
            <a:r>
              <a:t>[</a:t>
            </a:r>
          </a:p>
          <a:p xmlns:a="http://schemas.openxmlformats.org/drawingml/2006/main">
            <a:r>
              <a:t>  {</a:t>
            </a:r>
          </a:p>
          <a:p xmlns:a="http://schemas.openxmlformats.org/drawingml/2006/main">
            <a:r>
              <a:t>    "kpi": "①지역 내 소비액 증가율(분자: 사업 기간 내 원주 내 총 결제액, 분모: 전년 같은 기간 값, 산식: (이번 기간 값 - 전년 같은 기간 값) / 전년 같은 기간 값 × 100) ②지역상품권 사용률(분자: 환급 뒤 원주 내 적격 재결제액 합계, 분모: 지급한 환급액 합계) ③기준기간: 운영 기간 ④측정 주기: 매주 ⑤수집 방법: 신청·승인·결제 원장 집계 ⑥성과 판단: 위 계획 목표와 실제 집계 결과를 비교합니다.",</a:t>
            </a:r>
          </a:p>
          <a:p xmlns:a="http://schemas.openxmlformats.org/drawingml/2006/main">
            <a:r>
              <a:t>    "title": "원주시 지역사랑 휴가지원 (반값여행) 프로그램",</a:t>
            </a:r>
          </a:p>
          <a:p xmlns:a="http://schemas.openxmlformats.org/drawingml/2006/main">
            <a:r>
              <a:t>    "budget": "기획 가정/미확정 참고 견적: 운영 콘텐츠 수×콘텐츠별 비교견적 + 운영일수×일일 운영·안전 견적 + 참여업체 수×업체 준비비 견적 + 측정 원장 1식×구축 견적. 사업 담당자가 착수 전 수량을 정하고 회계 담당자가 같은 조건의 비교견적 2건 이상으로 단가·부가세·총액을 확정함.",</a:t>
            </a:r>
          </a:p>
          <a:p xmlns:a="http://schemas.openxmlformats.org/drawingml/2006/main">
            <a:r>
              <a:t>    "evidence": "case:gangjin_half_price_2024, dataset:51130:1, dataset:51130:3",</a:t>
            </a:r>
          </a:p>
          <a:p xmlns:a="http://schemas.openxmlformats.org/drawingml/2006/main">
            <a:r>
              <a:t>    "priority": 1,</a:t>
            </a:r>
          </a:p>
          <a:p xmlns:a="http://schemas.openxmlformats.org/drawingml/2006/main">
            <a:r>
              <a:t>    "solution": "원주시 내 지정된 관광·식음·숙박 가맹점에서 일정 금액 이상 결제한 외지인에게 결제액의 일부를 원주사랑상품권으로 환급하여 지역 내 재소비를 유도함.",</a:t>
            </a:r>
          </a:p>
          <a:p xmlns:a="http://schemas.openxmlformats.org/drawingml/2006/main">
            <a:r>
              <a:t>    "timeframe": "2026-09 ~ 2026-11, 3개월",</a:t>
            </a:r>
          </a:p>
          <a:p xmlns:a="http://schemas.openxmlformats.org/drawingml/2006/main">
            <a:r>
              <a:t>    "expected_effect": "ML 전망상 2026년 11월 소비액은 전년 대비 41.26% 증가할 것으로 보이나, 이는 탐색적 추세일 뿐임. 본 사업은 이 추세와 별개로 '지역 내 재결제'를 통한 추가적인 소비 순증을 목표로 함.",</a:t>
            </a:r>
          </a:p>
          <a:p xmlns:a="http://schemas.openxmlformats.org/drawingml/2006/main">
            <a:r>
              <a:t>    "problem_to_solve": "외지인 방문자 수 감소 및 지역 내 소비 유도 부족",</a:t>
            </a:r>
          </a:p>
          <a:p xmlns:a="http://schemas.openxmlformats.org/drawingml/2006/main">
            <a:r>
              <a:t>    "comparison_analysis": "강진군의 지역환급 방식(case:gangjin_half_price_2024)을 벤치마킹하여 지역 내 결제 순환에 집중하는 모델을 채택함. 이는 인천의 플랫폼 중심 방식(case:4625625dcbf2ae)보다 초기 구축 비용 부담이 적고 즉각적인 소비 유도에 유리함.",</a:t>
            </a:r>
          </a:p>
          <a:p xmlns:a="http://schemas.openxmlformats.org/drawingml/2006/main">
            <a:r>
              <a:t>    "implementation_steps": [</a:t>
            </a:r>
          </a:p>
          <a:p xmlns:a="http://schemas.openxmlformats.org/drawingml/2006/main">
            <a:r>
              <a:t>      {</a:t>
            </a:r>
          </a:p>
          <a:p xmlns:a="http://schemas.openxmlformats.org/drawingml/2006/main">
            <a:r>
              <a:t>        "step": 1,</a:t>
            </a:r>
          </a:p>
          <a:p xmlns:a="http://schemas.openxmlformats.org/drawingml/2006/main">
            <a:r>
              <a:t>        "task": "관광과 담당자가 참여 업체 명단을 확보하고 환급 운영 지침(안)을 작성함",</a:t>
            </a:r>
          </a:p>
          <a:p xmlns:a="http://schemas.openxmlformats.org/drawingml/2006/main">
            <a:r>
              <a:t>        "schedule": "2026-09",</a:t>
            </a:r>
          </a:p>
          <a:p xmlns:a="http://schemas.openxmlformats.org/drawingml/2006/main">
            <a:r>
              <a:t>        "deliverable": "참여 업체 명단 및 환급 운영 지침서(안)"</a:t>
            </a:r>
          </a:p>
          <a:p xmlns:a="http://schemas.openxmlformats.org/drawingml/2006/main">
            <a:r>
              <a:t>      },</a:t>
            </a:r>
          </a:p>
          <a:p xmlns:a="http://schemas.openxmlformats.org/drawingml/2006/main">
            <a:r>
              <a:t>      {</a:t>
            </a:r>
          </a:p>
          <a:p xmlns:a="http://schemas.openxmlformats.org/drawingml/2006/main">
            <a:r>
              <a:t>        "step": 2,</a:t>
            </a:r>
          </a:p>
          <a:p xmlns:a="http://schemas.openxmlformats.org/drawingml/2006/main">
            <a:r>
              <a:t>        "task": "회계 담당자가 결제 증빙 및 중복 수혜 방지를 위한 가이드라인을 확정함",</a:t>
            </a:r>
          </a:p>
          <a:p xmlns:a="http://schemas.openxmlformats.org/drawingml/2006/main">
            <a:r>
              <a:t>        "schedule": "2026-09",</a:t>
            </a:r>
          </a:p>
          <a:p xmlns:a="http://schemas.openxmlformats.org/drawingml/2006/main">
            <a:r>
              <a:t>        "deliverable": "결제 증빙 및 중복 수혜 방지 가이드라인"</a:t>
            </a:r>
          </a:p>
          <a:p xmlns:a="http://schemas.openxmlformats.org/drawingml/2006/main">
            <a:r>
              <a:t>      },</a:t>
            </a:r>
          </a:p>
          <a:p xmlns:a="http://schemas.openxmlformats.org/drawingml/2006/main">
            <a:r>
              <a:t>      {</a:t>
            </a:r>
          </a:p>
          <a:p xmlns:a="http://schemas.openxmlformats.org/drawingml/2006/main">
            <a:r>
              <a:t>        "step": 3,</a:t>
            </a:r>
          </a:p>
          <a:p xmlns:a="http://schemas.openxmlformats.org/drawingml/2006/main">
            <a:r>
              <a:t>        "task": "홍보 담당자가 주요 관광지 연계 홍보물을 배포하고 운영 현황을 기록함",</a:t>
            </a:r>
          </a:p>
          <a:p xmlns:a="http://schemas.openxmlformats.org/drawingml/2006/main">
            <a:r>
              <a:t>        "schedule": "2026-10",</a:t>
            </a:r>
          </a:p>
          <a:p xmlns:a="http://schemas.openxmlformats.org/drawingml/2006/main">
            <a:r>
              <a:t>        "deliverable": "주요 관광지 연계 홍보물 및 운영 현황 보고서"</a:t>
            </a:r>
          </a:p>
          <a:p xmlns:a="http://schemas.openxmlformats.org/drawingml/2006/main">
            <a:r>
              <a:t>      },</a:t>
            </a:r>
          </a:p>
          <a:p xmlns:a="http://schemas.openxmlformats.org/drawingml/2006/main">
            <a:r>
              <a:t>      {</a:t>
            </a:r>
          </a:p>
          <a:p xmlns:a="http://schemas.openxmlformats.org/drawingml/2006/main">
            <a:r>
              <a:t>        "step": 4,</a:t>
            </a:r>
          </a:p>
          <a:p xmlns:a="http://schemas.openxmlformats.org/drawingml/2006/main">
            <a:r>
              <a:t>        "task": "운영 담당자가 주간 단위로 환급 신청·승인·결제 원장을 수집·검증함",</a:t>
            </a:r>
          </a:p>
          <a:p xmlns:a="http://schemas.openxmlformats.org/drawingml/2006/main">
            <a:r>
              <a:t>        "schedule": "2026-10 ~ 2026-11",</a:t>
            </a:r>
          </a:p>
          <a:p xmlns:a="http://schemas.openxmlformats.org/drawingml/2006/main">
            <a:r>
              <a:t>        "deliverable": "주간 단위 환급 신청·승인·결제 원장"</a:t>
            </a:r>
          </a:p>
          <a:p xmlns:a="http://schemas.openxmlformats.org/drawingml/2006/main">
            <a:r>
              <a:t>      },</a:t>
            </a:r>
          </a:p>
          <a:p xmlns:a="http://schemas.openxmlformats.org/drawingml/2006/main">
            <a:r>
              <a:t>      {</a:t>
            </a:r>
          </a:p>
          <a:p xmlns:a="http://schemas.openxmlformats.org/drawingml/2006/main">
            <a:r>
              <a:t>        "step": 5,</a:t>
            </a:r>
          </a:p>
          <a:p xmlns:a="http://schemas.openxmlformats.org/drawingml/2006/main">
            <a:r>
              <a:t>        "task": "기획 담당자가 수집된 원장을 바탕으로 최종 성과 평가 보고서를 작성함",</a:t>
            </a:r>
          </a:p>
          <a:p xmlns:a="http://schemas.openxmlformats.org/drawingml/2006/main">
            <a:r>
              <a:t>        "schedule": "2026-11",</a:t>
            </a:r>
          </a:p>
          <a:p xmlns:a="http://schemas.openxmlformats.org/drawingml/2006/main">
            <a:r>
              <a:t>        "deliverable": "최종 성과 평가 보고서"</a:t>
            </a:r>
          </a:p>
          <a:p xmlns:a="http://schemas.openxmlformats.org/drawingml/2006/main">
            <a:r>
              <a:t>      }</a:t>
            </a:r>
          </a:p>
          <a:p xmlns:a="http://schemas.openxmlformats.org/drawingml/2006/main">
            <a:r>
              <a:t>    ],</a:t>
            </a:r>
          </a:p>
          <a:p xmlns:a="http://schemas.openxmlformats.org/drawingml/2006/main">
            <a:r>
              <a:t>    "visual_asset_source_ids": [</a:t>
            </a:r>
          </a:p>
          <a:p xmlns:a="http://schemas.openxmlformats.org/drawingml/2006/main">
            <a:r>
              <a:t>      "case:gangjin_half_price_2024"</a:t>
            </a:r>
          </a:p>
          <a:p xmlns:a="http://schemas.openxmlformats.org/drawingml/2006/main">
            <a:r>
              <a:t>    ]</a:t>
            </a:r>
          </a:p>
          <a:p xmlns:a="http://schemas.openxmlformats.org/drawingml/2006/main">
            <a:r>
              <a:t>  }</a:t>
            </a:r>
          </a:p>
          <a:p xmlns:a="http://schemas.openxmlformats.org/drawingml/2006/main">
            <a:r>
              <a: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관측값·저장 예측·계획 목표는 별개입니다. 문서용 참고 견적이며 원 보고서의 검수 결과를 변경하지 않습니다.</a:t>
            </a:r>
          </a:p>
          <a:p>
            <a:r>
              <a:t>[Sources]</a:t>
            </a:r>
          </a:p>
          <a:p>
            <a:r>
              <a:t>dataset:51130:1 | 한국관광 데이터랩 · 강원특별자치도 원주시 순 방문자 수 및 숙박 비율 (이동통신 기반 외지인) | https://datalab.visitkorea.or.kr/</a:t>
            </a:r>
          </a:p>
          <a:p>
            <a:r>
              <a:t>dataset:51130:2 | 한국관광 데이터랩 · 강원특별자치도 원주시 월간 순 방문자 수 (이동통신 기반 외지인) | https://datalab.visitkorea.or.kr/</a:t>
            </a:r>
          </a:p>
          <a:p>
            <a:r>
              <a:t>dataset:51130:3 | 한국관광 데이터랩 · 강원특별자치도 원주시 관광소비 추이_외지인 | https://datalab.visitkorea.or.kr/</a:t>
            </a:r>
          </a:p>
          <a:p>
            <a:r>
              <a:t>dataset:51130:4 | 한국관광 데이터랩 · 강원특별자치도 원주시 숙박방문자 비율 추이 (이동통신 기반 외지인) | https://datalab.visitkorea.or.kr/</a:t>
            </a:r>
          </a:p>
          <a:p>
            <a:r>
              <a:t>dataset:51130:5 | 한국관광 데이터랩 · 강원특별자치도 원주시 평균 숙박일 (이동통신 기반 외지인) | https://datalab.visitkorea.or.kr/</a:t>
            </a:r>
          </a:p>
          <a:p>
            <a:r>
              <a:t>dataset:51130:6 | 한국관광 데이터랩 · 강원특별자치도 원주시 내비게이션 목적지 유형별 검색량 | https://datalab.visitkorea.or.kr/</a:t>
            </a:r>
          </a:p>
          <a:p>
            <a:r>
              <a:t>dataset:51130:7 | 한국관광 데이터랩 · 강원특별자치도 원주시 SNS 언급량 | https://datalab.visitkorea.or.kr/</a:t>
            </a:r>
          </a:p>
          <a:p>
            <a:r>
              <a:t>datalab:16d84bd9b1d0:620b2639a268 | 한국관광 데이터랩 공식 다운로드 · 강원특별자치도_원주시/숙박_체류시간/2025_01_12.zip | https://datalab.visitkorea.or.kr/</a:t>
            </a:r>
          </a:p>
          <a:p>
            <a:r>
              <a:t>datalab:242a2c1249d4:f84e1a5f3914 | 한국관광 데이터랩 공식 다운로드 · 강원특별자치도_원주시/숙박_체류시간/2026_01_06.zip | https://datalab.visitkorea.or.kr/</a:t>
            </a:r>
          </a:p>
          <a:p>
            <a:r>
              <a:t>datalab:a050e5a84ef4:3906c6ac70a7 | 한국관광 데이터랩 공식 다운로드 · 강원특별자치도_원주시/방문자/2025_01_12.zip | https://datalab.visitkorea.or.kr/</a:t>
            </a:r>
          </a:p>
          <a:p>
            <a:r>
              <a:t>datalab:bd9d3d26da19:991f2264ad4a | 한국관광 데이터랩 공식 다운로드 · 강원특별자치도_원주시/방문자/2026_01_06.zip | https://datalab.visitkorea.or.kr/</a:t>
            </a:r>
          </a:p>
          <a:p>
            <a:r>
              <a:t>datalab:d54a3fb44037:ee4640b6178b | 한국관광 데이터랩 공식 다운로드 · 강원특별자치도_원주시/관광소비/2026_01_06.zip | https://datalab.visitkorea.or.kr/</a:t>
            </a:r>
          </a:p>
          <a:p>
            <a:r>
              <a:t>datalab:ebce91b8bf02:1770c2d94cc6 | 한국관광 데이터랩 공식 다운로드 · 강원특별자치도_원주시/관광소비/2025_01_12.zip | https://datalab.visitkorea.or.kr/</a:t>
            </a:r>
          </a:p>
          <a:p>
            <a:r>
              <a:t>team-bigdata:23ea68053684:6bfbcf8aabf6 | 한국관광 데이터랩 전국 빅데이터 다운로드 · 이동통신/내국인/지역별 방문자수/20260820140607__202601-202606_데이터랩_다운로드.zip | https://datalab.visitkorea.or.kr/</a:t>
            </a:r>
          </a:p>
          <a:p>
            <a:r>
              <a:t>team-bigdata:98d4ae590d9a:3be52dd54323 | 한국관광 데이터랩 전국 빅데이터 다운로드 · 이동통신/외국인/20260820141710_전국_202601-202606_데이터랩_다운로드.zip | https://datalab.visitkorea.or.kr/</a:t>
            </a:r>
          </a:p>
          <a:p>
            <a:r>
              <a:t>team-bigdata:367cd0294ec4:873930d645e5 | 한국관광 데이터랩 전국 빅데이터 다운로드 · 신용카드/내국인/지역별 관광지출액/20260820140046__202601-202606_데이터랩_다운로드.zip | https://datalab.visitkorea.or.kr/</a:t>
            </a:r>
          </a:p>
          <a:p>
            <a:r>
              <a:t>team-bigdata:553a0dad4bb4:5a31355dffe8 | 한국관광 데이터랩 전국 빅데이터 다운로드 · 신용카드/외국인/지역별 관광지출액/20260820140355__202601-202606_데이터랩_다운로드.zip | https://datalab.visitkorea.or.kr/</a:t>
            </a:r>
          </a:p>
          <a:p>
            <a:r>
              <a:t>team-bigdata:a53dbe1c21df:77a052de41d5 | 한국관광 데이터랩 전국 빅데이터 다운로드 · 네비게이션/지역별 검색건수/20260820195507__202601-202606_데이터랩_다운로드.zip | https://datalab.visitkorea.or.kr/</a:t>
            </a:r>
          </a:p>
          <a:p>
            <a:r>
              <a:t>team-bigdata:823a38d1d61c:5385261d02e5 | 한국관광 데이터랩 전국 빅데이터 다운로드 · 이동통신/내국인/지역별 방문자수/20260820140614__202501-202512_데이터랩_다운로드.zip | https://datalab.visitkorea.or.kr/</a:t>
            </a:r>
          </a:p>
          <a:p>
            <a:r>
              <a:t>team-bigdata:2723bdb0d589:1666a34058ed | 한국관광 데이터랩 전국 빅데이터 다운로드 · 이동통신/외국인/20260820141649_전국_202501-202512_데이터랩_다운로드.zip | https://datalab.visitkorea.or.kr/</a:t>
            </a:r>
          </a:p>
          <a:p>
            <a:r>
              <a:t>team-bigdata:83177a234971:c02cb7972e0f | 한국관광 데이터랩 전국 빅데이터 다운로드 · 신용카드/내국인/지역별 관광지출액/20260820135957__202501-202512_데이터랩_다운로드.zip | https://datalab.visitkorea.or.kr/</a:t>
            </a:r>
          </a:p>
          <a:p>
            <a:r>
              <a:t>team-bigdata:58ded7732251:589c76395cbc | 한국관광 데이터랩 전국 빅데이터 다운로드 · 신용카드/외국인/지역별 관광지출액/20260820140409__202501-202512_데이터랩_다운로드.zip | https://datalab.visitkorea.or.kr/</a:t>
            </a:r>
          </a:p>
          <a:p>
            <a:r>
              <a:t>team-bigdata:e28c947cb52f:bb4cb344a6ba | 한국관광 데이터랩 전국 빅데이터 다운로드 · 네비게이션/지역별 검색건수/20260820132007__202501-202512_데이터랩_다운로드.zip | https://datalab.visitkorea.or.kr/</a:t>
            </a:r>
          </a:p>
          <a:p>
            <a:r>
              <a:t>team-bigdata:8815bbb11a39:1a5988f5f8ec | 한국관광 데이터랩 전국 빅데이터 다운로드 · 이동통신/내국인/지역별 방문자수/20260820140624__202401-202412_데이터랩_다운로드.zip | https://datalab.visitkorea.or.kr/</a:t>
            </a:r>
          </a:p>
          <a:p>
            <a:r>
              <a:t>team-bigdata:19fd67fbb73d:afa4f0f54a2f | 한국관광 데이터랩 전국 빅데이터 다운로드 · 이동통신/외국인/20260820141639_전국_202401-202412_데이터랩_다운로드.zip | https://datalab.visitkorea.or.kr/</a:t>
            </a:r>
          </a:p>
          <a:p>
            <a:r>
              <a:t>regional-status:90f2be7a0f7d:b989a6c2e7bf | 한국관광 데이터랩 지역별 관광 현황 · 강원특별자치도 원주시 · 유입유출 | https://datalab.visitkorea.or.kr/</a:t>
            </a:r>
          </a:p>
          <a:p>
            <a:r>
              <a:t>regional-status:c39767bd23e8:e3b081f6e6aa | 한국관광 데이터랩 지역별 관광 현황 · 강원특별자치도 원주시 · 지역집중률 | https://datalab.visitkorea.or.kr/</a:t>
            </a:r>
          </a:p>
          <a:p>
            <a:r>
              <a:t>regional-status:edaf76986d99:c00fa7ffc0a7 | 한국관광 데이터랩 지역별 관광 현황 · 강원특별자치도 원주시 · 인기관광지 | https://datalab.visitkorea.or.kr/</a:t>
            </a:r>
          </a:p>
          <a:p>
            <a:r>
              <a:t>ml:51130:regional-demand-v3.1:202606 | 지역 관광수요 ML 전망 · 공식 관측값 아님 | URL 미기록</a:t>
            </a:r>
          </a:p>
          <a:p>
            <a:r>
              <a:t>tour-api:2732999 | 감악산캠핑숲 | https://apis.data.go.kr/B551011/KorService2</a:t>
            </a:r>
          </a:p>
          <a:p>
            <a:r>
              <a:t>tour-api:2555010 | 강원감영관찰사·무릉고서화미술박물관 | https://apis.data.go.kr/B551011/KorService2</a:t>
            </a:r>
          </a:p>
          <a:p>
            <a:r>
              <a:t>tour-api:2734136 | 강원도힐링캠핑장 | https://apis.data.go.kr/B551011/KorService2</a:t>
            </a:r>
          </a:p>
          <a:p>
            <a:r>
              <a:t>tour-api:2702477 | 경천묘 | https://apis.data.go.kr/B551011/KorService2</a:t>
            </a:r>
          </a:p>
          <a:p>
            <a:r>
              <a:t>tour-api:130539 | 고판화박물관 | https://apis.data.go.kr/B551011/KorService2</a:t>
            </a:r>
          </a:p>
          <a:p>
            <a:r>
              <a:t>tour-api:125645 | 관음사·국형사계곡 | https://apis.data.go.kr/B551011/KorService2</a:t>
            </a:r>
          </a:p>
          <a:p>
            <a:r>
              <a:t>tour-api:3356037 | 광화문갈비 원주점 | https://apis.data.go.kr/B551011/KorService2</a:t>
            </a:r>
          </a:p>
          <a:p>
            <a:r>
              <a:t>tour-api:2762710 | 구 조선식산은행 원주지점 | https://apis.data.go.kr/B551011/KorService2</a:t>
            </a:r>
          </a:p>
          <a:p>
            <a:r>
              <a:t>tour-api:125757 | 국형사 | https://apis.data.go.kr/B551011/KorService2</a:t>
            </a:r>
          </a:p>
          <a:p>
            <a:r>
              <a:t>tour-api:2033279 | 금대 에코힐링 캠핑장 | https://apis.data.go.kr/B551011/KorService2</a:t>
            </a:r>
          </a:p>
          <a:p>
            <a:r>
              <a:t>tour-api:129676 | 금대계곡 | https://apis.data.go.kr/B551011/KorService2</a:t>
            </a:r>
          </a:p>
          <a:p>
            <a:r>
              <a:t>tour-api:2734906 | 금대자동차야영장 | https://apis.data.go.kr/B551011/KorService2</a:t>
            </a:r>
          </a:p>
          <a:p>
            <a:r>
              <a:t>tour-api:2714800 | 기후변화홍보관 | https://apis.data.go.kr/B551011/KorService2</a:t>
            </a:r>
          </a:p>
          <a:p>
            <a:r>
              <a:t>tour-api:2892327 | 김가네원주추어탕 | https://apis.data.go.kr/B551011/KorService2</a:t>
            </a:r>
          </a:p>
          <a:p>
            <a:r>
              <a:t>tour-api:129284 | 김제남 신도비 | https://apis.data.go.kr/B551011/KorService2</a:t>
            </a:r>
          </a:p>
          <a:p>
            <a:r>
              <a:t>tour-api:512084 | 넌스키 난보드 | https://apis.data.go.kr/B551011/KorService2</a:t>
            </a:r>
          </a:p>
          <a:p>
            <a:r>
              <a:t>tour-api:2778036 | 단관공원 | https://apis.data.go.kr/B551011/KorService2</a:t>
            </a:r>
          </a:p>
          <a:p>
            <a:r>
              <a:t>tour-api:2892320 | 동승루 | https://apis.data.go.kr/B551011/KorService2</a:t>
            </a:r>
          </a:p>
          <a:p>
            <a:r>
              <a:t>tour-api:2892312 | 들꽃가든 | https://apis.data.go.kr/B551011/KorService2</a:t>
            </a:r>
          </a:p>
          <a:p>
            <a:r>
              <a:t>tour-api:2809292 | 들꽃이야기 | https://apis.data.go.kr/B551011/KorService2</a:t>
            </a:r>
          </a:p>
          <a:p>
            <a:r>
              <a:t>reference:kto:2026:local-airport | 요즘, 한국관광 2호 - 지방공항 연계 지역관광 활성화 방안 | PDF 44쪽, PDF 43쪽, PDF 38쪽, PDF 40쪽, PDF 41쪽, PDF 36쪽, PDF 41쪽, PDF 44쪽, PDF 43쪽, PDF 43쪽 | https://datalab.visitkorea.or.kr/site/portal/ex/bbs/View.do?bcIdx=311068&amp;cbIdx=1135&amp;pageIndex=1</a:t>
            </a:r>
          </a:p>
          <a:p>
            <a:r>
              <a:t>case:jeonju_night_budget_2026 | 전주시 2026년도 관광산업과 세출예산 사업명세서 | https://jeonju.go.kr/resource/www/images/download/budget/2026/2026_31_2.pdf</a:t>
            </a:r>
          </a:p>
          <a:p>
            <a:r>
              <a:t>case:4625625dcbf2ae | (기획) 인천을 즐기는 가장 쉬운(easy) 방법 … 인천e지 | https://www.incheon.go.kr/IC010205/view?beginDt=&amp;curPage=1&amp;endDt=&amp;repSeq=DOM_0000000013130282&amp;srchMainManagerDeptNm=&amp;srchRepContents=%EC%A3%BC%EC%B0%A8&amp;srchRepTitle=</a:t>
            </a:r>
          </a:p>
          <a:p>
            <a:r>
              <a:t>case:digital_tourism_resident_2024 | 2024년 6월 여행가는 달 추진 보도자료 | https://mcst.go.kr/servlets/eduport/front/upload/UplDownloadFile?pFileName=%280514%29%EB%AC%B8%EC%B2%B4%EB%B6%80%EB%B3%B4%EB%8F%84%EC%9E%90%EB%A3%8C-6%EC%9B%94_%EC%97%AC%ED%96%89%EA%B0%80%EB%8A%94_%EB%8B%AC_%EC%B6%94%EC%A7%84.pdf&amp;pPath=0302000000&amp;pRealName=20240514083202149235802932_PRESS20240514083202456506.pdf</a:t>
            </a:r>
          </a:p>
          <a:p>
            <a:r>
              <a:t>case:kto_stay_discount_2022 | 2022 대한민국 숙박대전 경제파급효과 공개자료 | https://kto.visitkorea.or.kr/upload/flexer/upload/ktobiz/20220928/b623b5f9-3ec0-11ed-9832-ddf31964842e.hwp.files/Sections1.html</a:t>
            </a:r>
          </a:p>
          <a:p>
            <a:r>
              <a:t>case:37471b1e063812 | 한강 밤핑(Night+Camping) 행사·공연 정보 | https://hangang.seoul.go.kr/www/eventMng/detail.do?evntSn=441&amp;keyword=&amp;mid=538&amp;opt11=&amp;opt12=&amp;opt13=&amp;opt14=&amp;opt4=&amp;pageNo=2&amp;srchType=list</a:t>
            </a:r>
          </a:p>
          <a:p>
            <a:r>
              <a:t>case:gangjin_half_price_2024 | 강진 반값여행 지역경제 효과 소개 | https://jnfarm.jeonnam.go.kr/board/FARM_BOARD_008/boardView.do?bdId=BD_00000000000011721&amp;menuCd=farm004002</a:t>
            </a:r>
          </a:p>
          <a:p>
            <a:r>
              <a:t>case:c6d4752e1342a7 | 지역사랑 휴가지원(반값여행) 신설 및 ‘대한민국 반값여행’ 성과 분석 | https://www.mcst.go.kr/site/s_policy/govPolicy/performTotal.jsp</a:t>
            </a:r>
          </a:p>
          <a:p>
            <a:r>
              <a:t>case:night_festival_2025 | 2025 대한민국 밤밤페스타 개최 도시 및 일정 | https://korean.visitkorea.or.kr/detail/rem_detail.do?cotid=f9c636b2-dd7c-4f09-af3d-6af43b33d371</a:t>
            </a:r>
          </a:p>
          <a:p>
            <a:r>
              <a:t>[/Sources]</a:t>
            </a:r>
          </a:p>
          <a:p>
            <a:r>
              <a:t>[Calculation audit]</a:t>
            </a:r>
          </a:p>
          <a:p>
            <a:r>
              <a:t>{</a:t>
            </a:r>
          </a:p>
          <a:p>
            <a:r>
              <a:t>  "source_inventory": [</a:t>
            </a:r>
          </a:p>
          <a:p>
            <a:r>
              <a:t>    {</a:t>
            </a:r>
          </a:p>
          <a:p>
            <a:r>
              <a:t>      "title": "한국관광 데이터랩 · 강원특별자치도 원주시 순 방문자 수 및 숙박 비율 (이동통신 기반 외지인)",</a:t>
            </a:r>
          </a:p>
          <a:p>
            <a:r>
              <a:t>      "summary": "월간 순 방문자 수: 2,285,734명 (관측 기준월: 2026-06)",</a:t>
            </a:r>
          </a:p>
          <a:p>
            <a:r>
              <a:t>      "source_id": "dataset:51130:1",</a:t>
            </a:r>
          </a:p>
          <a:p>
            <a:r>
              <a:t>      "source_url": "https://datalab.visitkorea.or.kr/",</a:t>
            </a:r>
          </a:p>
          <a:p>
            <a:r>
              <a:t>      "source_type": "dataset",</a:t>
            </a:r>
          </a:p>
          <a:p>
            <a:r>
              <a:t>      "observation_period": "2026-06",</a:t>
            </a:r>
          </a:p>
          <a:p>
            <a:r>
              <a:t>      "published_or_updated_at": "2026-06"</a:t>
            </a:r>
          </a:p>
          <a:p>
            <a:r>
              <a:t>    },</a:t>
            </a:r>
          </a:p>
          <a:p>
            <a:r>
              <a:t>    {</a:t>
            </a:r>
          </a:p>
          <a:p>
            <a:r>
              <a:t>      "title": "한국관광 데이터랩 · 강원특별자치도 원주시 월간 순 방문자 수 (이동통신 기반 외지인)",</a:t>
            </a:r>
          </a:p>
          <a:p>
            <a:r>
              <a:t>      "summary": "전년동월 외지인 방문자 증감률: -2.7% (관측 기준월: 2026-06)",</a:t>
            </a:r>
          </a:p>
          <a:p>
            <a:r>
              <a:t>      "source_id": "dataset:51130:2",</a:t>
            </a:r>
          </a:p>
          <a:p>
            <a:r>
              <a:t>      "source_url": "https://datalab.visitkorea.or.kr/",</a:t>
            </a:r>
          </a:p>
          <a:p>
            <a:r>
              <a:t>      "source_type": "dataset",</a:t>
            </a:r>
          </a:p>
          <a:p>
            <a:r>
              <a:t>      "observation_period": "2026-06",</a:t>
            </a:r>
          </a:p>
          <a:p>
            <a:r>
              <a:t>      "published_or_updated_at": "2026-06"</a:t>
            </a:r>
          </a:p>
          <a:p>
            <a:r>
              <a:t>    },</a:t>
            </a:r>
          </a:p>
          <a:p>
            <a:r>
              <a:t>    {</a:t>
            </a:r>
          </a:p>
          <a:p>
            <a:r>
              <a:t>      "title": "한국관광 데이터랩 · 강원특별자치도 원주시 관광소비 추이_외지인",</a:t>
            </a:r>
          </a:p>
          <a:p>
            <a:r>
              <a:t>      "summary": "월간 외지인 관광소비 총액: 60,562,672,000원 (관측 기준월: 2026-06)",</a:t>
            </a:r>
          </a:p>
          <a:p>
            <a:r>
              <a:t>      "source_id": "dataset:51130:3",</a:t>
            </a:r>
          </a:p>
          <a:p>
            <a:r>
              <a:t>      "source_url": "https://datalab.visitkorea.or.kr/",</a:t>
            </a:r>
          </a:p>
          <a:p>
            <a:r>
              <a:t>      "source_type": "dataset",</a:t>
            </a:r>
          </a:p>
          <a:p>
            <a:r>
              <a:t>      "observation_period": "2026-06",</a:t>
            </a:r>
          </a:p>
          <a:p>
            <a:r>
              <a:t>      "published_or_updated_at": "2026-06"</a:t>
            </a:r>
          </a:p>
          <a:p>
            <a:r>
              <a:t>    },</a:t>
            </a:r>
          </a:p>
          <a:p>
            <a:r>
              <a:t>    {</a:t>
            </a:r>
          </a:p>
          <a:p>
            <a:r>
              <a:t>      "title": "한국관광 데이터랩 · 강원특별자치도 원주시 숙박방문자 비율 추이 (이동통신 기반 외지인)",</a:t>
            </a:r>
          </a:p>
          <a:p>
            <a:r>
              <a:t>      "summary": "외지인 숙박 방문 비율: 12.5% (관측 기준월: 2026-06)",</a:t>
            </a:r>
          </a:p>
          <a:p>
            <a:r>
              <a:t>      "source_id": "dataset:51130:4",</a:t>
            </a:r>
          </a:p>
          <a:p>
            <a:r>
              <a:t>      "source_url": "https://datalab.visitkorea.or.kr/",</a:t>
            </a:r>
          </a:p>
          <a:p>
            <a:r>
              <a:t>      "source_type": "dataset",</a:t>
            </a:r>
          </a:p>
          <a:p>
            <a:r>
              <a:t>      "observation_period": "2026-06",</a:t>
            </a:r>
          </a:p>
          <a:p>
            <a:r>
              <a:t>      "published_or_updated_at": "2026-06"</a:t>
            </a:r>
          </a:p>
          <a:p>
            <a:r>
              <a:t>    },</a:t>
            </a:r>
          </a:p>
          <a:p>
            <a:r>
              <a:t>    {</a:t>
            </a:r>
          </a:p>
          <a:p>
            <a:r>
              <a:t>      "title": "한국관광 데이터랩 · 강원특별자치도 원주시 평균 숙박일 (이동통신 기반 외지인)",</a:t>
            </a:r>
          </a:p>
          <a:p>
            <a:r>
              <a:t>      "summary": "외지인 평균 숙박일수: 2.76일 (관측 기준월: 2026-06)",</a:t>
            </a:r>
          </a:p>
          <a:p>
            <a:r>
              <a:t>      "source_id": "dataset:51130:5",</a:t>
            </a:r>
          </a:p>
          <a:p>
            <a:r>
              <a:t>      "source_url": "https://datalab.visitkorea.or.kr/",</a:t>
            </a:r>
          </a:p>
          <a:p>
            <a:r>
              <a:t>      "source_type": "dataset",</a:t>
            </a:r>
          </a:p>
          <a:p>
            <a:r>
              <a:t>      "observation_period": "2026-06",</a:t>
            </a:r>
          </a:p>
          <a:p>
            <a:r>
              <a:t>      "published_or_updated_at": "2026-06"</a:t>
            </a:r>
          </a:p>
          <a:p>
            <a:r>
              <a:t>    },</a:t>
            </a:r>
          </a:p>
          <a:p>
            <a:r>
              <a:t>    {</a:t>
            </a:r>
          </a:p>
          <a:p>
            <a:r>
              <a:t>      "title": "한국관광 데이터랩 · 강원특별자치도 원주시 내비게이션 목적지 유형별 검색량",</a:t>
            </a:r>
          </a:p>
          <a:p>
            <a:r>
              <a:t>      "summary": "내비게이션 목적지 검색량: 303,921건 (관측 기준월: 2026-06)",</a:t>
            </a:r>
          </a:p>
          <a:p>
            <a:r>
              <a:t>      "source_id": "dataset:51130:6",</a:t>
            </a:r>
          </a:p>
          <a:p>
            <a:r>
              <a:t>      "source_url": "https://datalab.visitkorea.or.kr/",</a:t>
            </a:r>
          </a:p>
          <a:p>
            <a:r>
              <a:t>      "source_type": "dataset",</a:t>
            </a:r>
          </a:p>
          <a:p>
            <a:r>
              <a:t>      "observation_period": "2026-06",</a:t>
            </a:r>
          </a:p>
          <a:p>
            <a:r>
              <a:t>      "published_or_updated_at": "2026-06"</a:t>
            </a:r>
          </a:p>
          <a:p>
            <a:r>
              <a:t>    },</a:t>
            </a:r>
          </a:p>
          <a:p>
            <a:r>
              <a:t>    {</a:t>
            </a:r>
          </a:p>
          <a:p>
            <a:r>
              <a:t>      "title": "한국관광 데이터랩 · 강원특별자치도 원주시 SNS 언급량",</a:t>
            </a:r>
          </a:p>
          <a:p>
            <a:r>
              <a:t>      "summary": "SNS 언급량: 41,121건 (관측 기준월: 2026-06)",</a:t>
            </a:r>
          </a:p>
          <a:p>
            <a:r>
              <a:t>      "source_id": "dataset:51130:7",</a:t>
            </a:r>
          </a:p>
          <a:p>
            <a:r>
              <a:t>      "source_url": "https://datalab.visitkorea.or.kr/",</a:t>
            </a:r>
          </a:p>
          <a:p>
            <a:r>
              <a:t>      "source_type": "dataset",</a:t>
            </a:r>
          </a:p>
          <a:p>
            <a:r>
              <a:t>      "observation_period": "2026-06",</a:t>
            </a:r>
          </a:p>
          <a:p>
            <a:r>
              <a:t>      "published_or_updated_at": "2026-06"</a:t>
            </a:r>
          </a:p>
          <a:p>
            <a:r>
              <a:t>    },</a:t>
            </a:r>
          </a:p>
          <a:p>
            <a:r>
              <a:t>    {</a:t>
            </a:r>
          </a:p>
          <a:p>
            <a:r>
              <a:t>      "title": "한국관광 데이터랩 공식 다운로드 · 강원특별자치도_원주시/숙박_체류시간/2025_01_12.zip",</a:t>
            </a:r>
          </a:p>
          <a:p>
            <a:r>
              <a:t>      "summary": "전국 비교 기준 기간: 2025-07 ~ 2026-06",</a:t>
            </a:r>
          </a:p>
          <a:p>
            <a:r>
              <a:t>      "source_id": "datalab:16d84bd9b1d0:620b2639a268",</a:t>
            </a:r>
          </a:p>
          <a:p>
            <a:r>
              <a:t>      "source_url": "https://datalab.visitkorea.or.kr/",</a:t>
            </a:r>
          </a:p>
          <a:p>
            <a:r>
              <a:t>      "source_type": "nationwide_dataset",</a:t>
            </a:r>
          </a:p>
          <a:p>
            <a:r>
              <a:t>      "observation_period": "2025-07 ~ 2026-06",</a:t>
            </a:r>
          </a:p>
          <a:p>
            <a:r>
              <a:t>      "published_or_updated_at": "2024-07 ~ 2025-06"</a:t>
            </a:r>
          </a:p>
          <a:p>
            <a:r>
              <a:t>    },</a:t>
            </a:r>
          </a:p>
          <a:p>
            <a:r>
              <a:t>    {</a:t>
            </a:r>
          </a:p>
          <a:p>
            <a:r>
              <a:t>      "title": "한국관광 데이터랩 공식 다운로드 · 강원특별자치도_원주시/숙박_체류시간/2026_01_06.zip",</a:t>
            </a:r>
          </a:p>
          <a:p>
            <a:r>
              <a:t>      "summary": "전국 비교 기준 기간: 2025-07 ~ 2026-06",</a:t>
            </a:r>
          </a:p>
          <a:p>
            <a:r>
              <a:t>      "source_id": "datalab:242a2c1249d4:f84e1a5f3914",</a:t>
            </a:r>
          </a:p>
          <a:p>
            <a:r>
              <a:t>      "source_url": "https://datalab.visitkorea.or.kr/",</a:t>
            </a:r>
          </a:p>
          <a:p>
            <a:r>
              <a:t>      "source_type": "nationwide_dataset",</a:t>
            </a:r>
          </a:p>
          <a:p>
            <a:r>
              <a:t>      "observation_period": "2025-07 ~ 2026-06",</a:t>
            </a:r>
          </a:p>
          <a:p>
            <a:r>
              <a:t>      "published_or_updated_at": "2024-07 ~ 2025-06"</a:t>
            </a:r>
          </a:p>
          <a:p>
            <a:r>
              <a:t>    },</a:t>
            </a:r>
          </a:p>
          <a:p>
            <a:r>
              <a:t>    {</a:t>
            </a:r>
          </a:p>
          <a:p>
            <a:r>
              <a:t>      "title": "한국관광 데이터랩 공식 다운로드 · 강원특별자치도_원주시/방문자/2025_01_12.zip",</a:t>
            </a:r>
          </a:p>
          <a:p>
            <a:r>
              <a:t>      "summary": "전국 비교 기준 기간: 2025-07 ~ 2026-06",</a:t>
            </a:r>
          </a:p>
          <a:p>
            <a:r>
              <a:t>      "source_id": "datalab:a050e5a84ef4:3906c6ac70a7",</a:t>
            </a:r>
          </a:p>
          <a:p>
            <a:r>
              <a:t>      "source_url": "https://datalab.visitkorea.or.kr/",</a:t>
            </a:r>
          </a:p>
          <a:p>
            <a:r>
              <a:t>      "source_type": "nationwide_dataset",</a:t>
            </a:r>
          </a:p>
          <a:p>
            <a:r>
              <a:t>      "observation_period": "2025-07 ~ 2026-06",</a:t>
            </a:r>
          </a:p>
          <a:p>
            <a:r>
              <a:t>      "published_or_updated_at": "2024-07 ~ 2025-06"</a:t>
            </a:r>
          </a:p>
          <a:p>
            <a:r>
              <a:t>    },</a:t>
            </a:r>
          </a:p>
          <a:p>
            <a:r>
              <a:t>    {</a:t>
            </a:r>
          </a:p>
          <a:p>
            <a:r>
              <a:t>      "title": "한국관광 데이터랩 공식 다운로드 · 강원특별자치도_원주시/방문자/2026_01_06.zip",</a:t>
            </a:r>
          </a:p>
          <a:p>
            <a:r>
              <a:t>      "summary": "전국 비교 기준 기간: 2025-07 ~ 2026-06",</a:t>
            </a:r>
          </a:p>
          <a:p>
            <a:r>
              <a:t>      "source_id": "datalab:bd9d3d26da19:991f2264ad4a",</a:t>
            </a:r>
          </a:p>
          <a:p>
            <a:r>
              <a:t>      "source_url": "https://datalab.visitkorea.or.kr/",</a:t>
            </a:r>
          </a:p>
          <a:p>
            <a:r>
              <a:t>      "source_type": "nationwide_dataset",</a:t>
            </a:r>
          </a:p>
          <a:p>
            <a:r>
              <a:t>      "observation_period": "2025-07 ~ 2026-06",</a:t>
            </a:r>
          </a:p>
          <a:p>
            <a:r>
              <a:t>      "published_or_updated_at": "2024-07 ~ 2025-06"</a:t>
            </a:r>
          </a:p>
          <a:p>
            <a:r>
              <a:t>    },</a:t>
            </a:r>
          </a:p>
          <a:p>
            <a:r>
              <a:t>    {</a:t>
            </a:r>
          </a:p>
          <a:p>
            <a:r>
              <a:t>      "title": "한국관광 데이터랩 공식 다운로드 · 강원특별자치도_원주시/관광소비/2026_01_06.zip",</a:t>
            </a:r>
          </a:p>
          <a:p>
            <a:r>
              <a:t>      "summary": "전국 비교 기준 기간: 2025-07 ~ 2026-06",</a:t>
            </a:r>
          </a:p>
          <a:p>
            <a:r>
              <a:t>      "source_id": "datalab:d54a3fb44037:ee4640b6178b",</a:t>
            </a:r>
          </a:p>
          <a:p>
            <a:r>
              <a:t>      "source_url": "https://datalab.visitkorea.or.kr/",</a:t>
            </a:r>
          </a:p>
          <a:p>
            <a:r>
              <a:t>      "source_type": "nationwide_dataset",</a:t>
            </a:r>
          </a:p>
          <a:p>
            <a:r>
              <a:t>      "observation_period": "2025-07 ~ 2026-06",</a:t>
            </a:r>
          </a:p>
          <a:p>
            <a:r>
              <a:t>      "published_or_updated_at": "2024-07 ~ 2025-06"</a:t>
            </a:r>
          </a:p>
          <a:p>
            <a:r>
              <a:t>    },</a:t>
            </a:r>
          </a:p>
          <a:p>
            <a:r>
              <a:t>    {</a:t>
            </a:r>
          </a:p>
          <a:p>
            <a:r>
              <a:t>      "title": "한국관광 데이터랩 공식 다운로드 · 강원특별자치도_원주시/관광소비/2025_01_12.zip",</a:t>
            </a:r>
          </a:p>
          <a:p>
            <a:r>
              <a:t>      "summary": "전국 비교 기준 기간: 2025-07 ~ 2026-06",</a:t>
            </a:r>
          </a:p>
          <a:p>
            <a:r>
              <a:t>      "source_id": "datalab:ebce91b8bf02:1770c2d94cc6",</a:t>
            </a:r>
          </a:p>
          <a:p>
            <a:r>
              <a:t>      "source_url": "https://datalab.visitkorea.or.kr/",</a:t>
            </a:r>
          </a:p>
          <a:p>
            <a:r>
              <a:t>      "source_type": "nationwide_dataset",</a:t>
            </a:r>
          </a:p>
          <a:p>
            <a:r>
              <a:t>      "observation_period": "2025-07 ~ 2026-06",</a:t>
            </a:r>
          </a:p>
          <a:p>
            <a:r>
              <a:t>      "published_or_updated_at": "2024-07 ~ 2025-06"</a:t>
            </a:r>
          </a:p>
          <a:p>
            <a:r>
              <a:t>    },</a:t>
            </a:r>
          </a:p>
          <a:p>
            <a:r>
              <a:t>    {</a:t>
            </a:r>
          </a:p>
          <a:p>
            <a:r>
              <a:t>      "title": "한국관광 데이터랩 전국 빅데이터 다운로드 · 이동통신/내국인/지역별 방문자수/20260820140607__202601-202606_데이터랩_다운로드.zip",</a:t>
            </a:r>
          </a:p>
          <a:p>
            <a:r>
              <a:t>      "summary": "시군구 기간합계·비중 또는 전국 월별 추이. 지역 월별 ML·정책 효과가 아닌 보조 근거.",</a:t>
            </a:r>
          </a:p>
          <a:p>
            <a:r>
              <a:t>      "source_id": "team-bigdata:23ea68053684:6bfbcf8aabf6",</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이동통신/외국인/20260820141710_전국_202601-202606_데이터랩_다운로드.zip",</a:t>
            </a:r>
          </a:p>
          <a:p>
            <a:r>
              <a:t>      "summary": "시군구 기간합계·비중 또는 전국 월별 추이. 지역 월별 ML·정책 효과가 아닌 보조 근거.",</a:t>
            </a:r>
          </a:p>
          <a:p>
            <a:r>
              <a:t>      "source_id": "team-bigdata:98d4ae590d9a:3be52dd54323",</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신용카드/내국인/지역별 관광지출액/20260820140046__202601-202606_데이터랩_다운로드.zip",</a:t>
            </a:r>
          </a:p>
          <a:p>
            <a:r>
              <a:t>      "summary": "시군구 기간합계·비중 또는 전국 월별 추이. 지역 월별 ML·정책 효과가 아닌 보조 근거.",</a:t>
            </a:r>
          </a:p>
          <a:p>
            <a:r>
              <a:t>      "source_id": "team-bigdata:367cd0294ec4:873930d645e5",</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신용카드/외국인/지역별 관광지출액/20260820140355__202601-202606_데이터랩_다운로드.zip",</a:t>
            </a:r>
          </a:p>
          <a:p>
            <a:r>
              <a:t>      "summary": "시군구 기간합계·비중 또는 전국 월별 추이. 지역 월별 ML·정책 효과가 아닌 보조 근거.",</a:t>
            </a:r>
          </a:p>
          <a:p>
            <a:r>
              <a:t>      "source_id": "team-bigdata:553a0dad4bb4:5a31355dffe8",</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네비게이션/지역별 검색건수/20260820195507__202601-202606_데이터랩_다운로드.zip",</a:t>
            </a:r>
          </a:p>
          <a:p>
            <a:r>
              <a:t>      "summary": "시군구 기간합계·비중 또는 전국 월별 추이. 지역 월별 ML·정책 효과가 아닌 보조 근거.",</a:t>
            </a:r>
          </a:p>
          <a:p>
            <a:r>
              <a:t>      "source_id": "team-bigdata:a53dbe1c21df:77a052de41d5",</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이동통신/내국인/지역별 방문자수/20260820140614__202501-202512_데이터랩_다운로드.zip",</a:t>
            </a:r>
          </a:p>
          <a:p>
            <a:r>
              <a:t>      "summary": "시군구 기간합계·비중 또는 전국 월별 추이. 지역 월별 ML·정책 효과가 아닌 보조 근거.",</a:t>
            </a:r>
          </a:p>
          <a:p>
            <a:r>
              <a:t>      "source_id": "team-bigdata:823a38d1d61c:5385261d02e5",</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이동통신/외국인/20260820141649_전국_202501-202512_데이터랩_다운로드.zip",</a:t>
            </a:r>
          </a:p>
          <a:p>
            <a:r>
              <a:t>      "summary": "시군구 기간합계·비중 또는 전국 월별 추이. 지역 월별 ML·정책 효과가 아닌 보조 근거.",</a:t>
            </a:r>
          </a:p>
          <a:p>
            <a:r>
              <a:t>      "source_id": "team-bigdata:2723bdb0d589:1666a34058ed",</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신용카드/내국인/지역별 관광지출액/20260820135957__202501-202512_데이터랩_다운로드.zip",</a:t>
            </a:r>
          </a:p>
          <a:p>
            <a:r>
              <a:t>      "summary": "시군구 기간합계·비중 또는 전국 월별 추이. 지역 월별 ML·정책 효과가 아닌 보조 근거.",</a:t>
            </a:r>
          </a:p>
          <a:p>
            <a:r>
              <a:t>      "source_id": "team-bigdata:83177a234971:c02cb7972e0f",</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신용카드/외국인/지역별 관광지출액/20260820140409__202501-202512_데이터랩_다운로드.zip",</a:t>
            </a:r>
          </a:p>
          <a:p>
            <a:r>
              <a:t>      "summary": "시군구 기간합계·비중 또는 전국 월별 추이. 지역 월별 ML·정책 효과가 아닌 보조 근거.",</a:t>
            </a:r>
          </a:p>
          <a:p>
            <a:r>
              <a:t>      "source_id": "team-bigdata:58ded7732251:589c76395cbc",</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네비게이션/지역별 검색건수/20260820132007__202501-202512_데이터랩_다운로드.zip",</a:t>
            </a:r>
          </a:p>
          <a:p>
            <a:r>
              <a:t>      "summary": "시군구 기간합계·비중 또는 전국 월별 추이. 지역 월별 ML·정책 효과가 아닌 보조 근거.",</a:t>
            </a:r>
          </a:p>
          <a:p>
            <a:r>
              <a:t>      "source_id": "team-bigdata:e28c947cb52f:bb4cb344a6ba",</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이동통신/내국인/지역별 방문자수/20260820140624__202401-202412_데이터랩_다운로드.zip",</a:t>
            </a:r>
          </a:p>
          <a:p>
            <a:r>
              <a:t>      "summary": "시군구 기간합계·비중 또는 전국 월별 추이. 지역 월별 ML·정책 효과가 아닌 보조 근거.",</a:t>
            </a:r>
          </a:p>
          <a:p>
            <a:r>
              <a:t>      "source_id": "team-bigdata:8815bbb11a39:1a5988f5f8ec",</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이동통신/외국인/20260820141639_전국_202401-202412_데이터랩_다운로드.zip",</a:t>
            </a:r>
          </a:p>
          <a:p>
            <a:r>
              <a:t>      "summary": "시군구 기간합계·비중 또는 전국 월별 추이. 지역 월별 ML·정책 효과가 아닌 보조 근거.",</a:t>
            </a:r>
          </a:p>
          <a:p>
            <a:r>
              <a:t>      "source_id": "team-bigdata:19fd67fbb73d:afa4f0f54a2f",</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지역별 관광 현황 · 강원특별자치도 원주시 · 유입유출",</a:t>
            </a:r>
          </a:p>
          <a:p>
            <a:r>
              <a:t>      "summary": "관측 기간: 2025-07 ~ 2026-06. 유입·유출·인기장소 또는 30일 집중 운영 신호.",</a:t>
            </a:r>
          </a:p>
          <a:p>
            <a:r>
              <a:t>      "source_id": "regional-status:90f2be7a0f7d:b989a6c2e7bf",</a:t>
            </a:r>
          </a:p>
          <a:p>
            <a:r>
              <a:t>      "source_url": "https://datalab.visitkorea.or.kr/",</a:t>
            </a:r>
          </a:p>
          <a:p>
            <a:r>
              <a:t>      "source_type": "regional_tourism_status",</a:t>
            </a:r>
          </a:p>
          <a:p>
            <a:r>
              <a:t>      "observation_period": "2025-07 ~ 2026-06",</a:t>
            </a:r>
          </a:p>
          <a:p>
            <a:r>
              <a:t>      "published_or_updated_at": ""</a:t>
            </a:r>
          </a:p>
          <a:p>
            <a:r>
              <a:t>    },</a:t>
            </a:r>
          </a:p>
          <a:p>
            <a:r>
              <a:t>    {</a:t>
            </a:r>
          </a:p>
          <a:p>
            <a:r>
              <a:t>      "title": "한국관광 데이터랩 지역별 관광 현황 · 강원특별자치도 원주시 · 지역집중률",</a:t>
            </a:r>
          </a:p>
          <a:p>
            <a:r>
              <a:t>      "summary": "관측 기간: 2025-07 ~ 2026-06. 유입·유출·인기장소 또는 30일 집중 운영 신호.",</a:t>
            </a:r>
          </a:p>
          <a:p>
            <a:r>
              <a:t>      "source_id": "regional-status:c39767bd23e8:e3b081f6e6aa",</a:t>
            </a:r>
          </a:p>
          <a:p>
            <a:r>
              <a:t>      "source_url": "https://datalab.visitkorea.or.kr/",</a:t>
            </a:r>
          </a:p>
          <a:p>
            <a:r>
              <a:t>      "source_type": "regional_tourism_status",</a:t>
            </a:r>
          </a:p>
          <a:p>
            <a:r>
              <a:t>      "observation_period": "2025-07 ~ 2026-06",</a:t>
            </a:r>
          </a:p>
          <a:p>
            <a:r>
              <a:t>      "published_or_updated_at": ""</a:t>
            </a:r>
          </a:p>
          <a:p>
            <a:r>
              <a:t>    },</a:t>
            </a:r>
          </a:p>
          <a:p>
            <a:r>
              <a:t>    {</a:t>
            </a:r>
          </a:p>
          <a:p>
            <a:r>
              <a:t>      "title": "한국관광 데이터랩 지역별 관광 현황 · 강원특별자치도 원주시 · 인기관광지",</a:t>
            </a:r>
          </a:p>
          <a:p>
            <a:r>
              <a:t>      "summary": "관측 기간: 2025-07 ~ 2026-06. 유입·유출·인기장소 또는 30일 집중 운영 신호.",</a:t>
            </a:r>
          </a:p>
          <a:p>
            <a:r>
              <a:t>      "source_id": "regional-status:edaf76986d99:c00fa7ffc0a7",</a:t>
            </a:r>
          </a:p>
          <a:p>
            <a:r>
              <a:t>      "source_url": "https://datalab.visitkorea.or.kr/",</a:t>
            </a:r>
          </a:p>
          <a:p>
            <a:r>
              <a:t>      "source_type": "regional_tourism_status",</a:t>
            </a:r>
          </a:p>
          <a:p>
            <a:r>
              <a:t>      "observation_period": "2025-07 ~ 2026-06",</a:t>
            </a:r>
          </a:p>
          <a:p>
            <a:r>
              <a:t>      "published_or_updated_at": ""</a:t>
            </a:r>
          </a:p>
          <a:p>
            <a:r>
              <a:t>    },</a:t>
            </a:r>
          </a:p>
          <a:p>
            <a:r>
              <a:t>    {</a:t>
            </a:r>
          </a:p>
          <a:p>
            <a:r>
              <a:t>      "title": "지역 관광수요 ML 전망 · 공식 관측값 아님",</a:t>
            </a:r>
          </a:p>
          <a:p>
            <a:r>
              <a:t>      "summary": "학습 202401~202606 · 모델 regional-demand-v3.1 · 자연 추세 예측",</a:t>
            </a:r>
          </a:p>
          <a:p>
            <a:r>
              <a:t>      "source_id": "ml:51130:regional-demand-v3.1:202606",</a:t>
            </a:r>
          </a:p>
          <a:p>
            <a:r>
              <a:t>      "source_url": "",</a:t>
            </a:r>
          </a:p>
          <a:p>
            <a:r>
              <a:t>      "source_type": "model_forecast",</a:t>
            </a:r>
          </a:p>
          <a:p>
            <a:r>
              <a:t>      "model_version": "regional-demand-v3.1",</a:t>
            </a:r>
          </a:p>
          <a:p>
            <a:r>
              <a:t>      "data_fingerprint": "1f7caf31818b53f22347c7318503ea14cbef8a3765f5b75b8191fe8ca2193349"</a:t>
            </a:r>
          </a:p>
          <a:p>
            <a:r>
              <a:t>    },</a:t>
            </a:r>
          </a:p>
          <a:p>
            <a:r>
              <a:t>    {</a:t>
            </a:r>
          </a:p>
          <a:p>
            <a:r>
              <a:t>      "title": "감악산캠핑숲",</a:t>
            </a:r>
          </a:p>
          <a:p>
            <a:r>
              <a:t>      "address": "강원특별자치도 원주시 신림면 신림황둔로 714",</a:t>
            </a:r>
          </a:p>
          <a:p>
            <a:r>
              <a:t>      "summary": "한국관광공사 국문관광정보 API가 반환한 선택 지역 관광자원",</a:t>
            </a:r>
          </a:p>
          <a:p>
            <a:r>
              <a:t>      "image_url": "http://tong.visitkorea.or.kr/cms/resource/64/2732964_image2_1.JPG",</a:t>
            </a:r>
          </a:p>
          <a:p>
            <a:r>
              <a:t>      "source_id": "tour-api:2732999",</a:t>
            </a:r>
          </a:p>
          <a:p>
            <a:r>
              <a:t>      "content_id": "2732999",</a:t>
            </a:r>
          </a:p>
          <a:p>
            <a:r>
              <a:t>      "source_url": "https://apis.data.go.kr/B551011/KorService2",</a:t>
            </a:r>
          </a:p>
          <a:p>
            <a:r>
              <a:t>      "source_type": "open_api",</a:t>
            </a:r>
          </a:p>
          <a:p>
            <a:r>
              <a:t>      "content_type_id": "28"</a:t>
            </a:r>
          </a:p>
          <a:p>
            <a:r>
              <a:t>    },</a:t>
            </a:r>
          </a:p>
          <a:p>
            <a:r>
              <a:t>    {</a:t>
            </a:r>
          </a:p>
          <a:p>
            <a:r>
              <a:t>      "title": "강원감영관찰사·무릉고서화미술박물관",</a:t>
            </a:r>
          </a:p>
          <a:p>
            <a:r>
              <a:t>      "address": "강원특별자치도 원주시 흥업면 사제로 399-10",</a:t>
            </a:r>
          </a:p>
          <a:p>
            <a:r>
              <a:t>      "summary": "한국관광공사 국문관광정보 API가 반환한 선택 지역 관광자원",</a:t>
            </a:r>
          </a:p>
          <a:p>
            <a:r>
              <a:t>      "image_url": "http://tong.visitkorea.or.kr/cms/resource/64/3437164_image2_1.jpg",</a:t>
            </a:r>
          </a:p>
          <a:p>
            <a:r>
              <a:t>      "source_id": "tour-api:2555010",</a:t>
            </a:r>
          </a:p>
          <a:p>
            <a:r>
              <a:t>      "content_id": "2555010",</a:t>
            </a:r>
          </a:p>
          <a:p>
            <a:r>
              <a:t>      "source_url": "https://apis.data.go.kr/B551011/KorService2",</a:t>
            </a:r>
          </a:p>
          <a:p>
            <a:r>
              <a:t>      "source_type": "open_api",</a:t>
            </a:r>
          </a:p>
          <a:p>
            <a:r>
              <a:t>      "content_type_id": "14"</a:t>
            </a:r>
          </a:p>
          <a:p>
            <a:r>
              <a:t>    },</a:t>
            </a:r>
          </a:p>
          <a:p>
            <a:r>
              <a:t>    {</a:t>
            </a:r>
          </a:p>
          <a:p>
            <a:r>
              <a:t>      "title": "강원도힐링캠핑장",</a:t>
            </a:r>
          </a:p>
          <a:p>
            <a:r>
              <a:t>      "address": "강원특별자치도 원주시 신림면 재사동길 10-38",</a:t>
            </a:r>
          </a:p>
          <a:p>
            <a:r>
              <a:t>      "summary": "한국관광공사 국문관광정보 API가 반환한 선택 지역 관광자원",</a:t>
            </a:r>
          </a:p>
          <a:p>
            <a:r>
              <a:t>      "image_url": "http://tong.visitkorea.or.kr/cms/resource/98/2733998_image2_1.JPG",</a:t>
            </a:r>
          </a:p>
          <a:p>
            <a:r>
              <a:t>      "source_id": "tour-api:2734136",</a:t>
            </a:r>
          </a:p>
          <a:p>
            <a:r>
              <a:t>      "content_id": "2734136",</a:t>
            </a:r>
          </a:p>
          <a:p>
            <a:r>
              <a:t>      "source_url": "https://apis.data.go.kr/B551011/KorService2",</a:t>
            </a:r>
          </a:p>
          <a:p>
            <a:r>
              <a:t>      "source_type": "open_api",</a:t>
            </a:r>
          </a:p>
          <a:p>
            <a:r>
              <a:t>      "content_type_id": "28"</a:t>
            </a:r>
          </a:p>
          <a:p>
            <a:r>
              <a:t>    },</a:t>
            </a:r>
          </a:p>
          <a:p>
            <a:r>
              <a:t>    {</a:t>
            </a:r>
          </a:p>
          <a:p>
            <a:r>
              <a:t>      "title": "경천묘",</a:t>
            </a:r>
          </a:p>
          <a:p>
            <a:r>
              <a:t>      "address": "강원특별자치도 원주시 귀래면 미륵산길 200",</a:t>
            </a:r>
          </a:p>
          <a:p>
            <a:r>
              <a:t>      "summary": "한국관광공사 국문관광정보 API가 반환한 선택 지역 관광자원",</a:t>
            </a:r>
          </a:p>
          <a:p>
            <a:r>
              <a:t>      "image_url": "http://tong.visitkorea.or.kr/cms/resource/56/3379256_image2_1.JPG",</a:t>
            </a:r>
          </a:p>
          <a:p>
            <a:r>
              <a:t>      "source_id": "tour-api:2702477",</a:t>
            </a:r>
          </a:p>
          <a:p>
            <a:r>
              <a:t>      "content_id": "2702477",</a:t>
            </a:r>
          </a:p>
          <a:p>
            <a:r>
              <a:t>      "source_url": "https://apis.data.go.kr/B551011/KorService2",</a:t>
            </a:r>
          </a:p>
          <a:p>
            <a:r>
              <a:t>      "source_type": "open_api",</a:t>
            </a:r>
          </a:p>
          <a:p>
            <a:r>
              <a:t>      "content_type_id": "12"</a:t>
            </a:r>
          </a:p>
          <a:p>
            <a:r>
              <a:t>    },</a:t>
            </a:r>
          </a:p>
          <a:p>
            <a:r>
              <a:t>    {</a:t>
            </a:r>
          </a:p>
          <a:p>
            <a:r>
              <a:t>      "title": "고판화박물관",</a:t>
            </a:r>
          </a:p>
          <a:p>
            <a:r>
              <a:t>      "address": "강원특별자치도 원주시 신림면 물안길 62",</a:t>
            </a:r>
          </a:p>
          <a:p>
            <a:r>
              <a:t>      "summary": "한국관광공사 국문관광정보 API가 반환한 선택 지역 관광자원",</a:t>
            </a:r>
          </a:p>
          <a:p>
            <a:r>
              <a:t>      "image_url": "http://tong.visitkorea.or.kr/cms/resource/36/3375236_image2_1.JPG",</a:t>
            </a:r>
          </a:p>
          <a:p>
            <a:r>
              <a:t>      "source_id": "tour-api:130539",</a:t>
            </a:r>
          </a:p>
          <a:p>
            <a:r>
              <a:t>      "content_id": "130539",</a:t>
            </a:r>
          </a:p>
          <a:p>
            <a:r>
              <a:t>      "source_url": "https://apis.data.go.kr/B551011/KorService2",</a:t>
            </a:r>
          </a:p>
          <a:p>
            <a:r>
              <a:t>      "source_type": "open_api",</a:t>
            </a:r>
          </a:p>
          <a:p>
            <a:r>
              <a:t>      "content_type_id": "14"</a:t>
            </a:r>
          </a:p>
          <a:p>
            <a:r>
              <a:t>    },</a:t>
            </a:r>
          </a:p>
          <a:p>
            <a:r>
              <a:t>    {</a:t>
            </a:r>
          </a:p>
          <a:p>
            <a:r>
              <a:t>      "title": "관음사·국형사계곡",</a:t>
            </a:r>
          </a:p>
          <a:p>
            <a:r>
              <a:t>      "address": "강원특별자치도 원주시 고문골길 169 (행구동)",</a:t>
            </a:r>
          </a:p>
          <a:p>
            <a:r>
              <a:t>      "summary": "한국관광공사 국문관광정보 API가 반환한 선택 지역 관광자원",</a:t>
            </a:r>
          </a:p>
          <a:p>
            <a:r>
              <a:t>      "image_url": "http://tong.visitkorea.or.kr/cms/resource/29/3045629_image2_1.jpg",</a:t>
            </a:r>
          </a:p>
          <a:p>
            <a:r>
              <a:t>      "source_id": "tour-api:125645",</a:t>
            </a:r>
          </a:p>
          <a:p>
            <a:r>
              <a:t>      "content_id": "125645",</a:t>
            </a:r>
          </a:p>
          <a:p>
            <a:r>
              <a:t>      "source_url": "https://apis.data.go.kr/B551011/KorService2",</a:t>
            </a:r>
          </a:p>
          <a:p>
            <a:r>
              <a:t>      "source_type": "open_api",</a:t>
            </a:r>
          </a:p>
          <a:p>
            <a:r>
              <a:t>      "content_type_id": "12"</a:t>
            </a:r>
          </a:p>
          <a:p>
            <a:r>
              <a:t>    },</a:t>
            </a:r>
          </a:p>
          <a:p>
            <a:r>
              <a:t>    {</a:t>
            </a:r>
          </a:p>
          <a:p>
            <a:r>
              <a:t>      "title": "광화문갈비 원주점",</a:t>
            </a:r>
          </a:p>
          <a:p>
            <a:r>
              <a:t>      "address": "강원특별자치도 원주시 능라동길 48 (무실동)",</a:t>
            </a:r>
          </a:p>
          <a:p>
            <a:r>
              <a:t>      "summary": "한국관광공사 국문관광정보 API가 반환한 선택 지역 관광자원",</a:t>
            </a:r>
          </a:p>
          <a:p>
            <a:r>
              <a:t>      "image_url": "http://tong.visitkorea.or.kr/cms/resource/86/3421686_image2_1.jpg",</a:t>
            </a:r>
          </a:p>
          <a:p>
            <a:r>
              <a:t>      "source_id": "tour-api:3356037",</a:t>
            </a:r>
          </a:p>
          <a:p>
            <a:r>
              <a:t>      "content_id": "3356037",</a:t>
            </a:r>
          </a:p>
          <a:p>
            <a:r>
              <a:t>      "source_url": "https://apis.data.go.kr/B551011/KorService2",</a:t>
            </a:r>
          </a:p>
          <a:p>
            <a:r>
              <a:t>      "source_type": "open_api",</a:t>
            </a:r>
          </a:p>
          <a:p>
            <a:r>
              <a:t>      "content_type_id": "39"</a:t>
            </a:r>
          </a:p>
          <a:p>
            <a:r>
              <a:t>    },</a:t>
            </a:r>
          </a:p>
          <a:p>
            <a:r>
              <a:t>    {</a:t>
            </a:r>
          </a:p>
          <a:p>
            <a:r>
              <a:t>      "title": "구 조선식산은행 원주지점",</a:t>
            </a:r>
          </a:p>
          <a:p>
            <a:r>
              <a:t>      "address": "강원특별자치도 원주시 중앙로 88 (중앙동)",</a:t>
            </a:r>
          </a:p>
          <a:p>
            <a:r>
              <a:t>      "summary": "한국관광공사 국문관광정보 API가 반환한 선택 지역 관광자원",</a:t>
            </a:r>
          </a:p>
          <a:p>
            <a:r>
              <a:t>      "image_url": "http://tong.visitkorea.or.kr/cms/resource/78/3379278_image2_1.JPG",</a:t>
            </a:r>
          </a:p>
          <a:p>
            <a:r>
              <a:t>      "source_id": "tour-api:2762710",</a:t>
            </a:r>
          </a:p>
          <a:p>
            <a:r>
              <a:t>      "content_id": "2762710",</a:t>
            </a:r>
          </a:p>
          <a:p>
            <a:r>
              <a:t>      "source_url": "https://apis.data.go.kr/B551011/KorService2",</a:t>
            </a:r>
          </a:p>
          <a:p>
            <a:r>
              <a:t>      "source_type": "open_api",</a:t>
            </a:r>
          </a:p>
          <a:p>
            <a:r>
              <a:t>      "content_type_id": "12"</a:t>
            </a:r>
          </a:p>
          <a:p>
            <a:r>
              <a:t>    },</a:t>
            </a:r>
          </a:p>
          <a:p>
            <a:r>
              <a:t>    {</a:t>
            </a:r>
          </a:p>
          <a:p>
            <a:r>
              <a:t>      "title": "국형사",</a:t>
            </a:r>
          </a:p>
          <a:p>
            <a:r>
              <a:t>      "address": "강원특별자치도 원주시 고문골길 155 (행구동)",</a:t>
            </a:r>
          </a:p>
          <a:p>
            <a:r>
              <a:t>      "summary": "한국관광공사 국문관광정보 API가 반환한 선택 지역 관광자원",</a:t>
            </a:r>
          </a:p>
          <a:p>
            <a:r>
              <a:t>      "image_url": "http://tong.visitkorea.or.kr/cms/resource/87/3559187_image2_1.jpeg",</a:t>
            </a:r>
          </a:p>
          <a:p>
            <a:r>
              <a:t>      "source_id": "tour-api:125757",</a:t>
            </a:r>
          </a:p>
          <a:p>
            <a:r>
              <a:t>      "content_id": "125757",</a:t>
            </a:r>
          </a:p>
          <a:p>
            <a:r>
              <a:t>      "source_url": "https://apis.data.go.kr/B551011/KorService2",</a:t>
            </a:r>
          </a:p>
          <a:p>
            <a:r>
              <a:t>      "source_type": "open_api",</a:t>
            </a:r>
          </a:p>
          <a:p>
            <a:r>
              <a:t>      "content_type_id": "12"</a:t>
            </a:r>
          </a:p>
          <a:p>
            <a:r>
              <a:t>    },</a:t>
            </a:r>
          </a:p>
          <a:p>
            <a:r>
              <a:t>    {</a:t>
            </a:r>
          </a:p>
          <a:p>
            <a:r>
              <a:t>      "title": "금대 에코힐링 캠핑장",</a:t>
            </a:r>
          </a:p>
          <a:p>
            <a:r>
              <a:t>      "address": "강원특별자치도 원주시 판부면 영원산성길 372",</a:t>
            </a:r>
          </a:p>
          <a:p>
            <a:r>
              <a:t>      "summary": "한국관광공사 국문관광정보 API가 반환한 선택 지역 관광자원",</a:t>
            </a:r>
          </a:p>
          <a:p>
            <a:r>
              <a:t>      "image_url": "http://tong.visitkorea.or.kr/cms/resource/95/2011295_image2_1.jpg",</a:t>
            </a:r>
          </a:p>
          <a:p>
            <a:r>
              <a:t>      "source_id": "tour-api:2033279",</a:t>
            </a:r>
          </a:p>
          <a:p>
            <a:r>
              <a:t>      "content_id": "2033279",</a:t>
            </a:r>
          </a:p>
          <a:p>
            <a:r>
              <a:t>      "source_url": "https://apis.data.go.kr/B551011/KorService2",</a:t>
            </a:r>
          </a:p>
          <a:p>
            <a:r>
              <a:t>      "source_type": "open_api",</a:t>
            </a:r>
          </a:p>
          <a:p>
            <a:r>
              <a:t>      "content_type_id": "28"</a:t>
            </a:r>
          </a:p>
          <a:p>
            <a:r>
              <a:t>    },</a:t>
            </a:r>
          </a:p>
          <a:p>
            <a:r>
              <a:t>    {</a:t>
            </a:r>
          </a:p>
          <a:p>
            <a:r>
              <a:t>      "title": "금대계곡",</a:t>
            </a:r>
          </a:p>
          <a:p>
            <a:r>
              <a:t>      "address": "강원특별자치도 원주시 판부면 치악로 546-22",</a:t>
            </a:r>
          </a:p>
          <a:p>
            <a:r>
              <a:t>      "summary": "한국관광공사 국문관광정보 API가 반환한 선택 지역 관광자원",</a:t>
            </a:r>
          </a:p>
          <a:p>
            <a:r>
              <a:t>      "image_url": "http://tong.visitkorea.or.kr/cms/resource/85/3045285_image2_1.jpg",</a:t>
            </a:r>
          </a:p>
          <a:p>
            <a:r>
              <a:t>      "source_id": "tour-api:129676",</a:t>
            </a:r>
          </a:p>
          <a:p>
            <a:r>
              <a:t>      "content_id": "129676",</a:t>
            </a:r>
          </a:p>
          <a:p>
            <a:r>
              <a:t>      "source_url": "https://apis.data.go.kr/B551011/KorService2",</a:t>
            </a:r>
          </a:p>
          <a:p>
            <a:r>
              <a:t>      "source_type": "open_api",</a:t>
            </a:r>
          </a:p>
          <a:p>
            <a:r>
              <a:t>      "content_type_id": "12"</a:t>
            </a:r>
          </a:p>
          <a:p>
            <a:r>
              <a:t>    },</a:t>
            </a:r>
          </a:p>
          <a:p>
            <a:r>
              <a:t>    {</a:t>
            </a:r>
          </a:p>
          <a:p>
            <a:r>
              <a:t>      "title": "금대자동차야영장",</a:t>
            </a:r>
          </a:p>
          <a:p>
            <a:r>
              <a:t>      "address": "강원특별자치도 원주시 판부면 영원산성길 372",</a:t>
            </a:r>
          </a:p>
          <a:p>
            <a:r>
              <a:t>      "summary": "한국관광공사 국문관광정보 API가 반환한 선택 지역 관광자원",</a:t>
            </a:r>
          </a:p>
          <a:p>
            <a:r>
              <a:t>      "image_url": "http://tong.visitkorea.or.kr/cms/resource/97/2734897_image2_1.JPG",</a:t>
            </a:r>
          </a:p>
          <a:p>
            <a:r>
              <a:t>      "source_id": "tour-api:2734906",</a:t>
            </a:r>
          </a:p>
          <a:p>
            <a:r>
              <a:t>      "content_id": "2734906",</a:t>
            </a:r>
          </a:p>
          <a:p>
            <a:r>
              <a:t>      "source_url": "https://apis.data.go.kr/B551011/KorService2",</a:t>
            </a:r>
          </a:p>
          <a:p>
            <a:r>
              <a:t>      "source_type": "open_api",</a:t>
            </a:r>
          </a:p>
          <a:p>
            <a:r>
              <a:t>      "content_type_id": "28"</a:t>
            </a:r>
          </a:p>
          <a:p>
            <a:r>
              <a:t>    },</a:t>
            </a:r>
          </a:p>
          <a:p>
            <a:r>
              <a:t>    {</a:t>
            </a:r>
          </a:p>
          <a:p>
            <a:r>
              <a:t>      "title": "기후변화홍보관",</a:t>
            </a:r>
          </a:p>
          <a:p>
            <a:r>
              <a:t>      "address": "강원특별자치도 원주시 행구로 362",</a:t>
            </a:r>
          </a:p>
          <a:p>
            <a:r>
              <a:t>      "summary": "한국관광공사 국문관광정보 API가 반환한 선택 지역 관광자원",</a:t>
            </a:r>
          </a:p>
          <a:p>
            <a:r>
              <a:t>      "image_url": "http://tong.visitkorea.or.kr/cms/resource/40/3533840_image2_1.JPG",</a:t>
            </a:r>
          </a:p>
          <a:p>
            <a:r>
              <a:t>      "source_id": "tour-api:2714800",</a:t>
            </a:r>
          </a:p>
          <a:p>
            <a:r>
              <a:t>      "content_id": "2714800",</a:t>
            </a:r>
          </a:p>
          <a:p>
            <a:r>
              <a:t>      "source_url": "https://apis.data.go.kr/B551011/KorService2",</a:t>
            </a:r>
          </a:p>
          <a:p>
            <a:r>
              <a:t>      "source_type": "open_api",</a:t>
            </a:r>
          </a:p>
          <a:p>
            <a:r>
              <a:t>      "content_type_id": "14"</a:t>
            </a:r>
          </a:p>
          <a:p>
            <a:r>
              <a:t>    },</a:t>
            </a:r>
          </a:p>
          <a:p>
            <a:r>
              <a:t>    {</a:t>
            </a:r>
          </a:p>
          <a:p>
            <a:r>
              <a:t>      "title": "김가네원주추어탕",</a:t>
            </a:r>
          </a:p>
          <a:p>
            <a:r>
              <a:t>      "address": "강원특별자치도 원주시 단관공원길 90-3",</a:t>
            </a:r>
          </a:p>
          <a:p>
            <a:r>
              <a:t>      "summary": "한국관광공사 국문관광정보 API가 반환한 선택 지역 관광자원",</a:t>
            </a:r>
          </a:p>
          <a:p>
            <a:r>
              <a:t>      "image_url": "http://tong.visitkorea.or.kr/cms/resource/25/2892325_image2_1.jpg",</a:t>
            </a:r>
          </a:p>
          <a:p>
            <a:r>
              <a:t>      "source_id": "tour-api:2892327",</a:t>
            </a:r>
          </a:p>
          <a:p>
            <a:r>
              <a:t>      "content_id": "2892327",</a:t>
            </a:r>
          </a:p>
          <a:p>
            <a:r>
              <a:t>      "source_url": "https://apis.data.go.kr/B551011/KorService2",</a:t>
            </a:r>
          </a:p>
          <a:p>
            <a:r>
              <a:t>      "source_type": "open_api",</a:t>
            </a:r>
          </a:p>
          <a:p>
            <a:r>
              <a:t>      "content_type_id": "39"</a:t>
            </a:r>
          </a:p>
          <a:p>
            <a:r>
              <a:t>    },</a:t>
            </a:r>
          </a:p>
          <a:p>
            <a:r>
              <a:t>    {</a:t>
            </a:r>
          </a:p>
          <a:p>
            <a:r>
              <a:t>      "title": "김제남 신도비",</a:t>
            </a:r>
          </a:p>
          <a:p>
            <a:r>
              <a:t>      "address": "강원특별자치도 원주시 지정면 흥법사지길 18",</a:t>
            </a:r>
          </a:p>
          <a:p>
            <a:r>
              <a:t>      "summary": "한국관광공사 국문관광정보 API가 반환한 선택 지역 관광자원",</a:t>
            </a:r>
          </a:p>
          <a:p>
            <a:r>
              <a:t>      "image_url": "http://tong.visitkorea.or.kr/cms/resource/28/3376528_image2_1.JPG",</a:t>
            </a:r>
          </a:p>
          <a:p>
            <a:r>
              <a:t>      "source_id": "tour-api:129284",</a:t>
            </a:r>
          </a:p>
          <a:p>
            <a:r>
              <a:t>      "content_id": "129284",</a:t>
            </a:r>
          </a:p>
          <a:p>
            <a:r>
              <a:t>      "source_url": "https://apis.data.go.kr/B551011/KorService2",</a:t>
            </a:r>
          </a:p>
          <a:p>
            <a:r>
              <a:t>      "source_type": "open_api",</a:t>
            </a:r>
          </a:p>
          <a:p>
            <a:r>
              <a:t>      "content_type_id": "12"</a:t>
            </a:r>
          </a:p>
          <a:p>
            <a:r>
              <a:t>    },</a:t>
            </a:r>
          </a:p>
          <a:p>
            <a:r>
              <a:t>    {</a:t>
            </a:r>
          </a:p>
          <a:p>
            <a:r>
              <a:t>      "title": "넌스키 난보드",</a:t>
            </a:r>
          </a:p>
          <a:p>
            <a:r>
              <a:t>      "address": "강원특별자치도 원주시 지정면 구재로 132",</a:t>
            </a:r>
          </a:p>
          <a:p>
            <a:r>
              <a:t>      "summary": "한국관광공사 국문관광정보 API가 반환한 선택 지역 관광자원",</a:t>
            </a:r>
          </a:p>
          <a:p>
            <a:r>
              <a:t>      "image_url": "http://tong.visitkorea.or.kr/cms/resource/73/3562173_image2_1.jpg",</a:t>
            </a:r>
          </a:p>
          <a:p>
            <a:r>
              <a:t>      "source_id": "tour-api:512084",</a:t>
            </a:r>
          </a:p>
          <a:p>
            <a:r>
              <a:t>      "content_id": "512084",</a:t>
            </a:r>
          </a:p>
          <a:p>
            <a:r>
              <a:t>      "source_url": "https://apis.data.go.kr/B551011/KorService2",</a:t>
            </a:r>
          </a:p>
          <a:p>
            <a:r>
              <a:t>      "source_type": "open_api",</a:t>
            </a:r>
          </a:p>
          <a:p>
            <a:r>
              <a:t>      "content_type_id": "28"</a:t>
            </a:r>
          </a:p>
          <a:p>
            <a:r>
              <a:t>    },</a:t>
            </a:r>
          </a:p>
          <a:p>
            <a:r>
              <a:t>    {</a:t>
            </a:r>
          </a:p>
          <a:p>
            <a:r>
              <a:t>      "title": "단관공원",</a:t>
            </a:r>
          </a:p>
          <a:p>
            <a:r>
              <a:t>      "address": "강원특별자치도 원주시 단관공원길 63",</a:t>
            </a:r>
          </a:p>
          <a:p>
            <a:r>
              <a:t>      "summary": "한국관광공사 국문관광정보 API가 반환한 선택 지역 관광자원",</a:t>
            </a:r>
          </a:p>
          <a:p>
            <a:r>
              <a:t>      "image_url": "http://tong.visitkorea.or.kr/cms/resource/43/3334543_image2_1.jpg",</a:t>
            </a:r>
          </a:p>
          <a:p>
            <a:r>
              <a:t>      "source_id": "tour-api:2778036",</a:t>
            </a:r>
          </a:p>
          <a:p>
            <a:r>
              <a:t>      "content_id": "2778036",</a:t>
            </a:r>
          </a:p>
          <a:p>
            <a:r>
              <a:t>      "source_url": "https://apis.data.go.kr/B551011/KorService2",</a:t>
            </a:r>
          </a:p>
          <a:p>
            <a:r>
              <a:t>      "source_type": "open_api",</a:t>
            </a:r>
          </a:p>
          <a:p>
            <a:r>
              <a:t>      "content_type_id": "12"</a:t>
            </a:r>
          </a:p>
          <a:p>
            <a:r>
              <a:t>    },</a:t>
            </a:r>
          </a:p>
          <a:p>
            <a:r>
              <a:t>    {</a:t>
            </a:r>
          </a:p>
          <a:p>
            <a:r>
              <a:t>      "title": "동승루",</a:t>
            </a:r>
          </a:p>
          <a:p>
            <a:r>
              <a:t>      "address": "강원특별자치도 원주시 이화4길 30",</a:t>
            </a:r>
          </a:p>
          <a:p>
            <a:r>
              <a:t>      "summary": "한국관광공사 국문관광정보 API가 반환한 선택 지역 관광자원",</a:t>
            </a:r>
          </a:p>
          <a:p>
            <a:r>
              <a:t>      "image_url": "http://tong.visitkorea.or.kr/cms/resource/15/2892315_image2_1.jpg",</a:t>
            </a:r>
          </a:p>
          <a:p>
            <a:r>
              <a:t>      "source_id": "tour-api:2892320",</a:t>
            </a:r>
          </a:p>
          <a:p>
            <a:r>
              <a:t>      "content_id": "2892320",</a:t>
            </a:r>
          </a:p>
          <a:p>
            <a:r>
              <a:t>      "source_url": "https://apis.data.go.kr/B551011/KorService2",</a:t>
            </a:r>
          </a:p>
          <a:p>
            <a:r>
              <a:t>      "source_type": "open_api",</a:t>
            </a:r>
          </a:p>
          <a:p>
            <a:r>
              <a:t>      "content_type_id": "39"</a:t>
            </a:r>
          </a:p>
          <a:p>
            <a:r>
              <a:t>    },</a:t>
            </a:r>
          </a:p>
          <a:p>
            <a:r>
              <a:t>    {</a:t>
            </a:r>
          </a:p>
          <a:p>
            <a:r>
              <a:t>      "title": "들꽃가든",</a:t>
            </a:r>
          </a:p>
          <a:p>
            <a:r>
              <a:t>      "address": "강원특별자치도 원주시 월송석화로 488",</a:t>
            </a:r>
          </a:p>
          <a:p>
            <a:r>
              <a:t>      "summary": "한국관광공사 국문관광정보 API가 반환한 선택 지역 관광자원",</a:t>
            </a:r>
          </a:p>
          <a:p>
            <a:r>
              <a:t>      "image_url": "http://tong.visitkorea.or.kr/cms/resource/04/2892304_image2_1.jpg",</a:t>
            </a:r>
          </a:p>
          <a:p>
            <a:r>
              <a:t>      "source_id": "tour-api:2892312",</a:t>
            </a:r>
          </a:p>
          <a:p>
            <a:r>
              <a:t>      "content_id": "2892312",</a:t>
            </a:r>
          </a:p>
          <a:p>
            <a:r>
              <a:t>      "source_url": "https://apis.data.go.kr/B551011/KorService2",</a:t>
            </a:r>
          </a:p>
          <a:p>
            <a:r>
              <a:t>      "source_type": "open_api",</a:t>
            </a:r>
          </a:p>
          <a:p>
            <a:r>
              <a:t>      "content_type_id": "39"</a:t>
            </a:r>
          </a:p>
          <a:p>
            <a:r>
              <a:t>    },</a:t>
            </a:r>
          </a:p>
          <a:p>
            <a:r>
              <a:t>    {</a:t>
            </a:r>
          </a:p>
          <a:p>
            <a:r>
              <a:t>      "title": "들꽃이야기",</a:t>
            </a:r>
          </a:p>
          <a:p>
            <a:r>
              <a:t>      "address": "강원특별자치도 원주시 신림면 성남로 323-12",</a:t>
            </a:r>
          </a:p>
          <a:p>
            <a:r>
              <a:t>      "summary": "한국관광공사 국문관광정보 API가 반환한 선택 지역 관광자원",</a:t>
            </a:r>
          </a:p>
          <a:p>
            <a:r>
              <a:t>      "image_url": "http://tong.visitkorea.or.kr/cms/resource/60/3557060_image2_1.jpg",</a:t>
            </a:r>
          </a:p>
          <a:p>
            <a:r>
              <a:t>      "source_id": "tour-api:2809292",</a:t>
            </a:r>
          </a:p>
          <a:p>
            <a:r>
              <a:t>      "content_id": "2809292",</a:t>
            </a:r>
          </a:p>
          <a:p>
            <a:r>
              <a:t>      "source_url": "https://apis.data.go.kr/B551011/KorService2",</a:t>
            </a:r>
          </a:p>
          <a:p>
            <a:r>
              <a:t>      "source_type": "open_api",</a:t>
            </a:r>
          </a:p>
          <a:p>
            <a:r>
              <a:t>      "content_type_id": "39"</a:t>
            </a:r>
          </a:p>
          <a:p>
            <a:r>
              <a:t>    },</a:t>
            </a:r>
          </a:p>
          <a:p>
            <a:r>
              <a:t>    {</a:t>
            </a:r>
          </a:p>
          <a:p>
            <a:r>
              <a:t>      "title": "요즘, 한국관광 2호 - 지방공항 연계 지역관광 활성화 방안",</a:t>
            </a:r>
          </a:p>
          <a:p>
            <a:r>
              <a:t>      "summary": "44제 2장 지방공항 연계 지역관광 활성화 방안 요즘, 한국관광 한국관광공사는 본래의 기능인 해외 홍보마케팅을 통한 인지 형성, 지역 관광생태계 육성, 관광사업 추진을 여정 단계에 맞춰 재배치해야 한다. 해외지사와 국내지사를 연결한 중점지사제를 '관문-연계도시' 단위로 운영하고, 글로벌 OTA 와 현지 여행사가 실제 상품을 만들 수 있도록 상품화 모듈과 전세·임시편 유치를 고도화하며, 선상 마케팅처럼 항공사 기내·LCC 채널을 활용한 권역 홍보를 확대할 수 있어야 할 것이다. 특히 성과지표를 입국자 수와 공급석 중심에서 '입국객의 권역 내 첫 숙박률이나, 1인당 권역 내 소비, 지방 이동 비중' 중심으로 전환하고, 통신·카드 데이터에 소셜 담론 데이터를 결합한 공항-권역 대시보드를 상시 운영해 데이터 기반 성과관리를 지속적으로 보여주는 데이터 기반의 지방공항 중심 관광권 상황실을 구축하여야 한다. 지방자치단체와 한국공항공사는 공항에서 지역 상권까지 이어지는 현장 수용태세를 보다 면밀히 고려하는 정책과 사업이 필요하다. 공항 접근 교통과 안내·결제, 다국어 환경, 터미널과 도심·거점 관광지를 잇는 셔틀, 권역 내 숙박과 야간 콘텐츠는 지자체의 실행력이 좌우하는 영역이다. 공항 소재 지자체 단위 협의를 넘어 청주는 대전·세종·충남, 대구는 경북과 함께 상품·교통·마케팅 예산을 묶는 관광권 협의체를 구성하고, 중장기적으로는 일본의 광역연계 DMO처럼 권역 단위의 상설 조직과 재원으로 발전시켜야 한다. 민관협력은 이 체계를 지속 가능하게 만드는 가장 중요한 동인이라 할 수 있다. 항공사·LCC에는 신규 노선의 초기 리스크를 지방정부·공사와 분담하는 노선 개발 협약과 기내 권역 홍보를, 글로벌 OTA·현지 여행사에는 권역 루트 상품의",</a:t>
            </a:r>
          </a:p>
          <a:p>
            <a:r>
              <a:t>      "chunk_id": "reference:kto:2026:local-airport:page:044:chunk:01",</a:t>
            </a:r>
          </a:p>
          <a:p>
            <a:r>
              <a:t>      "source_id": "reference:kto:2026:local-airport",</a:t>
            </a:r>
          </a:p>
          <a:p>
            <a:r>
              <a:t>      "source_url": "https://datalab.visitkorea.or.kr/site/portal/ex/bbs/View.do?bcIdx=311068&amp;cbIdx=1135&amp;pageIndex=1",</a:t>
            </a:r>
          </a:p>
          <a:p>
            <a:r>
              <a:t>      "case_region": "",</a:t>
            </a:r>
          </a:p>
          <a:p>
            <a:r>
              <a:t>      "region_code": "ALL",</a:t>
            </a:r>
          </a:p>
          <a:p>
            <a:r>
              <a:t>      "region_name": "전국 공통",</a:t>
            </a:r>
          </a:p>
          <a:p>
            <a:r>
              <a:t>      "source_note": "지방공항·연계 지역에 관한 자료입니다. 다른 시군구의 사업 효과·예산을 보장하는 근거로 사용하지 않습니다.",</a:t>
            </a:r>
          </a:p>
          <a:p>
            <a:r>
              <a:t>      "source_type": "rag",</a:t>
            </a:r>
          </a:p>
          <a:p>
            <a:r>
              <a:t>      "intervention": "",</a:t>
            </a:r>
          </a:p>
          <a:p>
            <a:r>
              <a:t>      "document_type": "policy",</a:t>
            </a:r>
          </a:p>
          <a:p>
            <a:r>
              <a:t>      "matched_terms": [</a:t>
            </a:r>
          </a:p>
          <a:p>
            <a:r>
              <a:t>        "결제",</a:t>
            </a:r>
          </a:p>
          <a:p>
            <a:r>
              <a:t>        "관광사업",</a:t>
            </a:r>
          </a:p>
          <a:p>
            <a:r>
              <a:t>        "상권",</a:t>
            </a:r>
          </a:p>
          <a:p>
            <a:r>
              <a:t>        "성과",</a:t>
            </a:r>
          </a:p>
          <a:p>
            <a:r>
              <a:t>        "소비",</a:t>
            </a:r>
          </a:p>
          <a:p>
            <a:r>
              <a:t>        "수와",</a:t>
            </a:r>
          </a:p>
          <a:p>
            <a:r>
              <a:t>        "숙박",</a:t>
            </a:r>
          </a:p>
          <a:p>
            <a:r>
              <a:t>        "실제",</a:t>
            </a:r>
          </a:p>
          <a:p>
            <a:r>
              <a:t>        "실행",</a:t>
            </a:r>
          </a:p>
          <a:p>
            <a:r>
              <a:t>        "연결한",</a:t>
            </a:r>
          </a:p>
          <a:p>
            <a:r>
              <a:t>        "연계",</a:t>
            </a:r>
          </a:p>
          <a:p>
            <a:r>
              <a:t>        "예산",</a:t>
            </a:r>
          </a:p>
          <a:p>
            <a:r>
              <a:t>        "운영",</a:t>
            </a:r>
          </a:p>
          <a:p>
            <a:r>
              <a:t>        "이어지는",</a:t>
            </a:r>
          </a:p>
          <a:p>
            <a:r>
              <a:t>        "전환",</a:t>
            </a:r>
          </a:p>
          <a:p>
            <a:r>
              <a:t>        "중심으로",</a:t>
            </a:r>
          </a:p>
          <a:p>
            <a:r>
              <a:t>        "지역",</a:t>
            </a:r>
          </a:p>
          <a:p>
            <a:r>
              <a:t>        "체류",</a:t>
            </a:r>
          </a:p>
          <a:p>
            <a:r>
              <a:t>        "함께",</a:t>
            </a:r>
          </a:p>
          <a:p>
            <a:r>
              <a:t>        "현장",</a:t>
            </a:r>
          </a:p>
          <a:p>
            <a:r>
              <a:t>        "협약"</a:t>
            </a:r>
          </a:p>
          <a:p>
            <a:r>
              <a:t>      ],</a:t>
            </a:r>
          </a:p>
          <a:p>
            <a:r>
              <a:t>      "page_references": "PDF 44쪽, PDF 43쪽, PDF 38쪽, PDF 40쪽, PDF 41쪽, PDF 36쪽, PDF 41쪽, PDF 44쪽, PDF 43쪽, PDF 43쪽",</a:t>
            </a:r>
          </a:p>
          <a:p>
            <a:r>
              <a:t>      "parent_source_id": "reference:kto:2026:local-airport",</a:t>
            </a:r>
          </a:p>
          <a:p>
            <a:r>
              <a:t>      "retrieval_method": "local_curated_chunk",</a:t>
            </a:r>
          </a:p>
          <a:p>
            <a:r>
              <a:t>      "evidence_strength": "medium",</a:t>
            </a:r>
          </a:p>
          <a:p>
            <a:r>
              <a:t>      "published_or_updated_at": "2026-08",</a:t>
            </a:r>
          </a:p>
          <a:p>
            <a:r>
              <a:t>      "chunk_ids": [</a:t>
            </a:r>
          </a:p>
          <a:p>
            <a:r>
              <a:t>        "reference:kto:2026:local-airport:page:036:chunk:01",</a:t>
            </a:r>
          </a:p>
          <a:p>
            <a:r>
              <a:t>        "reference:kto:2026:local-airport:page:038:chunk:01",</a:t>
            </a:r>
          </a:p>
          <a:p>
            <a:r>
              <a:t>        "reference:kto:2026:local-airport:page:040:chunk:02",</a:t>
            </a:r>
          </a:p>
          <a:p>
            <a:r>
              <a:t>        "reference:kto:2026:local-airport:page:041:chunk:01",</a:t>
            </a:r>
          </a:p>
          <a:p>
            <a:r>
              <a:t>        "reference:kto:2026:local-airport:page:041:chunk:02",</a:t>
            </a:r>
          </a:p>
          <a:p>
            <a:r>
              <a:t>        "reference:kto:2026:local-airport:page:043:chunk:01",</a:t>
            </a:r>
          </a:p>
          <a:p>
            <a:r>
              <a:t>        "reference:kto:2026:local-airport:page:043:chunk:02",</a:t>
            </a:r>
          </a:p>
          <a:p>
            <a:r>
              <a:t>        "reference:kto:2026:local-airport:page:043:chunk:03",</a:t>
            </a:r>
          </a:p>
          <a:p>
            <a:r>
              <a:t>        "reference:kto:2026:local-airport:page:044:chunk:01",</a:t>
            </a:r>
          </a:p>
          <a:p>
            <a:r>
              <a:t>        "reference:kto:2026:local-airport:page:044:chunk:02"</a:t>
            </a:r>
          </a:p>
          <a:p>
            <a:r>
              <a:t>      ],</a:t>
            </a:r>
          </a:p>
          <a:p>
            <a:r>
              <a:t>      "source_chunk_count": 10</a:t>
            </a:r>
          </a:p>
          <a:p>
            <a:r>
              <a:t>    },</a:t>
            </a:r>
          </a:p>
          <a:p>
            <a:r>
              <a:t>    {</a:t>
            </a:r>
          </a:p>
          <a:p>
            <a:r>
              <a:t>      "title": "전주시 2026년도 관광산업과 세출예산 사업명세서",</a:t>
            </a:r>
          </a:p>
          <a:p>
            <a:r>
              <a:t>      "summary": "전북특별자치도 전주시 · 야간관광 특화도시 예산 편성 · 예산서이므로 방문·소비 성과는 확인되지 않음",</a:t>
            </a:r>
          </a:p>
          <a:p>
            <a:r>
              <a:t>      "source_id": "case:jeonju_night_budget_2026",</a:t>
            </a:r>
          </a:p>
          <a:p>
            <a:r>
              <a:t>      "source_url": "https://jeonju.go.kr/resource/www/images/download/budget/2026/2026_31_2.pdf",</a:t>
            </a:r>
          </a:p>
          <a:p>
            <a:r>
              <a:t>      "case_region": "전북특별자치도 전주시",</a:t>
            </a:r>
          </a:p>
          <a:p>
            <a:r>
              <a:t>      "source_type": "benchmark_case",</a:t>
            </a:r>
          </a:p>
          <a:p>
            <a:r>
              <a:t>      "intervention": "야간관광 특화도시 예산 편성",</a:t>
            </a:r>
          </a:p>
          <a:p>
            <a:r>
              <a:t>      "operating_model": "사무관리, 행사운영, 연구용역, 민간경상보조 등으로 사업비를 항목별 편성",</a:t>
            </a:r>
          </a:p>
          <a:p>
            <a:r>
              <a:t>      "evidence_strength": "high",</a:t>
            </a:r>
          </a:p>
          <a:p>
            <a:r>
              <a:t>      "published_or_updated_at": "2026",</a:t>
            </a:r>
          </a:p>
          <a:p>
            <a:r>
              <a:t>      "quantitative_result_approved": null</a:t>
            </a:r>
          </a:p>
          <a:p>
            <a:r>
              <a:t>    },</a:t>
            </a:r>
          </a:p>
          <a:p>
            <a:r>
              <a:t>    {</a:t>
            </a:r>
          </a:p>
          <a:p>
            <a:r>
              <a:t>      "title": "(기획) 인천을 즐기는 가장 쉬운(easy) 방법 … 인천e지",</a:t>
            </a:r>
          </a:p>
          <a:p>
            <a:r>
              <a:t>      "summary": "인천광역시 · 스마트관광 플랫폼 ‘인천e지’의 추천·동선·스탬프·가맹점 쿠폰 통합 운영 · 2025년 9월 7일 기준 회원 10만 명, 누적 다운로드 29만 건이었다. 2025년 1~8월 프로모션 참여 18,499건, 쿠폰 이용 33,514건으로 전년 대비 각각 107%, 251% 증가했다. 다만 다운로드·쿠폰 증가가 지역 전체 관광소비의 순증 효과라는 의미는 아니다. ([incheon.go.kr](https://www.incheon.go.kr/IC010205/view?beginDt=&amp;curPage=1&amp;endDt=&amp;repSeq=DOM_0000000013130282&amp;srchMainManagerDeptNm=&amp;srchRepContents=%EC%A3%BC%EC%B0%A8&amp;srchRepTitle=))",</a:t>
            </a:r>
          </a:p>
          <a:p>
            <a:r>
              <a:t>      "source_id": "case:4625625dcbf2ae",</a:t>
            </a:r>
          </a:p>
          <a:p>
            <a:r>
              <a:t>      "source_url": "https://www.incheon.go.kr/IC010205/view?beginDt=&amp;curPage=1&amp;endDt=&amp;repSeq=DOM_0000000013130282&amp;srchMainManagerDeptNm=&amp;srchRepContents=%EC%A3%BC%EC%B0%A8&amp;srchRepTitle=",</a:t>
            </a:r>
          </a:p>
          <a:p>
            <a:r>
              <a:t>      "case_region": "인천광역시",</a:t>
            </a:r>
          </a:p>
          <a:p>
            <a:r>
              <a:t>      "source_type": "benchmark_case",</a:t>
            </a:r>
          </a:p>
          <a:p>
            <a:r>
              <a:t>      "intervention": "스마트관광 플랫폼 ‘인천e지’의 추천·동선·스탬프·가맹점 쿠폰 통합 운영",</a:t>
            </a:r>
          </a:p>
          <a:p>
            <a:r>
              <a:t>      "operating_model": "개인 맞춤형 여행 추천, 지도·교통·주차 정보, 축제 연계 스탬프투어와 스마트 쿠폰을 하나의 앱에서 제공한다. 2025년에는 가맹 서점 할인쿠폰과 책방 패스, 오프라인 행사를 결합해 기존 관광 동선을 문화상권으로 확장했다.",</a:t>
            </a:r>
          </a:p>
          <a:p>
            <a:r>
              <a:t>      "evidence_strength": "medium",</a:t>
            </a:r>
          </a:p>
          <a:p>
            <a:r>
              <a:t>      "published_or_updated_at": "2025-09-16",</a:t>
            </a:r>
          </a:p>
          <a:p>
            <a:r>
              <a:t>      "quantitative_result_approved": null</a:t>
            </a:r>
          </a:p>
          <a:p>
            <a:r>
              <a:t>    },</a:t>
            </a:r>
          </a:p>
          <a:p>
            <a:r>
              <a:t>    {</a:t>
            </a:r>
          </a:p>
          <a:p>
            <a:r>
              <a:t>      "title": "2024년 6월 여행가는 달 추진 보도자료",</a:t>
            </a:r>
          </a:p>
          <a:p>
            <a:r>
              <a:t>      "summary": "전국 인구감소지역 34곳 · 디지털 관광주민증과 교통·숙박·상점 할인 결합 · 2024년 34개 지역 약 800개 관광업체에 혜택 구조를 적용",</a:t>
            </a:r>
          </a:p>
          <a:p>
            <a:r>
              <a:t>      "source_id": "case:digital_tourism_resident_2024",</a:t>
            </a:r>
          </a:p>
          <a:p>
            <a:r>
              <a:t>      "source_url": "https://mcst.go.kr/servlets/eduport/front/upload/UplDownloadFile?pFileName=%280514%29%EB%AC%B8%EC%B2%B4%EB%B6%80%EB%B3%B4%EB%8F%84%EC%9E%90%EB%A3%8C-6%EC%9B%94_%EC%97%AC%ED%96%89%EA%B0%80%EB%8A%94_%EB%8B%AC_%EC%B6%94%EC%A7%84.pdf&amp;pPath=0302000000&amp;pRealName=20240514083202149235802932_PRESS20240514083202456506.pdf",</a:t>
            </a:r>
          </a:p>
          <a:p>
            <a:r>
              <a:t>      "case_region": "전국 인구감소지역 34곳",</a:t>
            </a:r>
          </a:p>
          <a:p>
            <a:r>
              <a:t>      "source_type": "benchmark_case",</a:t>
            </a:r>
          </a:p>
          <a:p>
            <a:r>
              <a:t>      "intervention": "디지털 관광주민증과 교통·숙박·상점 할인 결합",</a:t>
            </a:r>
          </a:p>
          <a:p>
            <a:r>
              <a:t>      "operating_model": "디지털 관광주민증 참여업체 현장 인증과 숙박·식음·관람·체험 할인, 특정 시간대 KTX 할인과 방문 후 교통 할인권을 결합",</a:t>
            </a:r>
          </a:p>
          <a:p>
            <a:r>
              <a:t>      "evidence_strength": "medium",</a:t>
            </a:r>
          </a:p>
          <a:p>
            <a:r>
              <a:t>      "published_or_updated_at": "2024-05-14",</a:t>
            </a:r>
          </a:p>
          <a:p>
            <a:r>
              <a:t>      "quantitative_result_approved": null</a:t>
            </a:r>
          </a:p>
          <a:p>
            <a:r>
              <a:t>    },</a:t>
            </a:r>
          </a:p>
          <a:p>
            <a:r>
              <a:t>    {</a:t>
            </a:r>
          </a:p>
          <a:p>
            <a:r>
              <a:t>      "title": "2022 대한민국 숙박대전 경제파급효과 공개자료",</a:t>
            </a:r>
          </a:p>
          <a:p>
            <a:r>
              <a:t>      "summary": "전국 숙박할인쿠폰 지원사업 · 온라인 예약 채널 숙박할인쿠폰 · 한국관광공사 자료는 약 104만 명이 할인혜택을 이용했고 서울·제주를 제외한 지역 사용 비율이 76%였다고 소개함",</a:t>
            </a:r>
          </a:p>
          <a:p>
            <a:r>
              <a:t>      "source_id": "case:kto_stay_discount_2022",</a:t>
            </a:r>
          </a:p>
          <a:p>
            <a:r>
              <a:t>      "source_url": "https://kto.visitkorea.or.kr/upload/flexer/upload/ktobiz/20220928/b623b5f9-3ec0-11ed-9832-ddf31964842e.hwp.files/Sections1.html",</a:t>
            </a:r>
          </a:p>
          <a:p>
            <a:r>
              <a:t>      "case_region": "전국 숙박할인쿠폰 지원사업",</a:t>
            </a:r>
          </a:p>
          <a:p>
            <a:r>
              <a:t>      "source_type": "benchmark_case",</a:t>
            </a:r>
          </a:p>
          <a:p>
            <a:r>
              <a:t>      "intervention": "온라인 예약 채널 숙박할인쿠폰",</a:t>
            </a:r>
          </a:p>
          <a:p>
            <a:r>
              <a:t>      "operating_model": "온라인 여행사 예약 단계에서 할인쿠폰을 제공하고, 지역 숙소에서 사용할 수 있도록 참여 채널과 기간을 통합 운영",</a:t>
            </a:r>
          </a:p>
          <a:p>
            <a:r>
              <a:t>      "evidence_strength": "medium",</a:t>
            </a:r>
          </a:p>
          <a:p>
            <a:r>
              <a:t>      "published_or_updated_at": "2022-09-28",</a:t>
            </a:r>
          </a:p>
          <a:p>
            <a:r>
              <a:t>      "quantitative_result_approved": null</a:t>
            </a:r>
          </a:p>
          <a:p>
            <a:r>
              <a:t>    },</a:t>
            </a:r>
          </a:p>
          <a:p>
            <a:r>
              <a:t>    {</a:t>
            </a:r>
          </a:p>
          <a:p>
            <a:r>
              <a:t>      "title": "한강 밤핑(Night+Camping) 행사·공연 정보",</a:t>
            </a:r>
          </a:p>
          <a:p>
            <a:r>
              <a:t>      "summary": "서울특별시 여의도·뚝섬·망원 한강공원 일대 · 한강 밤핑의 시간대 예약·노쇼 보증금·야간 콘텐츠·주변 상권 결합 · 사전예약 규모, 보증금·환급 조건, 할인 및 상권 연계 구조는 확인되지만 실제 참석률, 노쇼 감소율, 쿠폰 사용액과 인근 상권 매출 결과는 공식 자료에서 확인되지 않음. ([hangang.seoul.go.kr](https://hangang.seoul.go.kr/www/eventMng/detail.do?evntSn=441&amp;keyword=&amp;mid=538&amp;opt11=&amp;opt12=&amp;opt13=&amp;opt14=&amp;opt4=&amp;pageNo=2&amp;srchType=list))",</a:t>
            </a:r>
          </a:p>
          <a:p>
            <a:r>
              <a:t>      "source_id": "case:37471b1e063812",</a:t>
            </a:r>
          </a:p>
          <a:p>
            <a:r>
              <a:t>      "source_url": "https://hangang.seoul.go.kr/www/eventMng/detail.do?evntSn=441&amp;keyword=&amp;mid=538&amp;opt11=&amp;opt12=&amp;opt13=&amp;opt14=&amp;opt4=&amp;pageNo=2&amp;srchType=list",</a:t>
            </a:r>
          </a:p>
          <a:p>
            <a:r>
              <a:t>      "case_region": "서울특별시 여의도·뚝섬·망원 한강공원 일대",</a:t>
            </a:r>
          </a:p>
          <a:p>
            <a:r>
              <a:t>      "source_type": "benchmark_case",</a:t>
            </a:r>
          </a:p>
          <a:p>
            <a:r>
              <a:t>      "intervention": "한강 밤핑의 시간대 예약·노쇼 보증금·야간 콘텐츠·주변 상권 결합",</a:t>
            </a:r>
          </a:p>
          <a:p>
            <a:r>
              <a:t>      "operating_model": "총 200개 사이트를 사전예약제로 운영하고 1만 원 보증금을 받아 정상 참석 시 전액 환급했다. 연박과 취사를 제한해 참여 기회를 분산하고 주변 상권 이용을 유도했다. 야간 수영·공연·영화 등 기존 프로그램과 배달앱 즉시할인, 서울사랑상품권 페이백, 인근 21개 전통시장·골목상권 안내를 결합했다.",</a:t>
            </a:r>
          </a:p>
          <a:p>
            <a:r>
              <a:t>      "evidence_strength": "low",</a:t>
            </a:r>
          </a:p>
          <a:p>
            <a:r>
              <a:t>      "published_or_updated_at": "2026-07",</a:t>
            </a:r>
          </a:p>
          <a:p>
            <a:r>
              <a:t>      "quantitative_result_approved": null</a:t>
            </a:r>
          </a:p>
          <a:p>
            <a:r>
              <a:t>    },</a:t>
            </a:r>
          </a:p>
          <a:p>
            <a:r>
              <a:t>    {</a:t>
            </a:r>
          </a:p>
          <a:p>
            <a:r>
              <a:t>      "title": "강진 반값여행 지역경제 효과 소개",</a:t>
            </a:r>
          </a:p>
          <a:p>
            <a:r>
              <a:t>      "summary": "전라남도 강진군 · 반값여행 지역환급 · 상품권 결제 변화에 관한 소개 자료는 있으나, 사업 참여자 범위·정확한 비교 기간·원자료를 확인하지 못해 성과 수치 인용을 보류한다.",</a:t>
            </a:r>
          </a:p>
          <a:p>
            <a:r>
              <a:t>      "source_id": "case:gangjin_half_price_2024",</a:t>
            </a:r>
          </a:p>
          <a:p>
            <a:r>
              <a:t>      "source_url": "https://jnfarm.jeonnam.go.kr/board/FARM_BOARD_008/boardView.do?bdId=BD_00000000000011721&amp;menuCd=farm004002",</a:t>
            </a:r>
          </a:p>
          <a:p>
            <a:r>
              <a:t>      "case_region": "전라남도 강진군",</a:t>
            </a:r>
          </a:p>
          <a:p>
            <a:r>
              <a:t>      "source_type": "benchmark_case",</a:t>
            </a:r>
          </a:p>
          <a:p>
            <a:r>
              <a:t>      "intervention": "반값여행 지역환급",</a:t>
            </a:r>
          </a:p>
          <a:p>
            <a:r>
              <a:t>      "operating_model": "여행자가 지역에서 지출한 비용의 일부를 지역상품권으로 돌려받게 하여 혜택이 다시 지역 상점에서 사용되도록 설계",</a:t>
            </a:r>
          </a:p>
          <a:p>
            <a:r>
              <a:t>      "evidence_strength": "low",</a:t>
            </a:r>
          </a:p>
          <a:p>
            <a:r>
              <a:t>      "published_or_updated_at": "2025-01-02",</a:t>
            </a:r>
          </a:p>
          <a:p>
            <a:r>
              <a:t>      "quantitative_result_approved": false</a:t>
            </a:r>
          </a:p>
          <a:p>
            <a:r>
              <a:t>    },</a:t>
            </a:r>
          </a:p>
          <a:p>
            <a:r>
              <a:t>    {</a:t>
            </a:r>
          </a:p>
          <a:p>
            <a:r>
              <a:t>      "title": "지역사랑 휴가지원(반값여행) 신설 및 ‘대한민국 반값여행’ 성과 분석",</a:t>
            </a:r>
          </a:p>
          <a:p>
            <a:r>
              <a:t>      "summary": "전국 인구감소지역 중 2026년 상반기 선정 16개 지역 · 지역사랑 휴가지원 ‘대한민국 반값여행’ · 문체부는 2026년 6월 22일 상반기 성과 분석과 하반기 운영 방향을 논의했다고 공개했다. 확보된 공식 페이지에서 지역별 신청·방문·소비·환급 수치와 비교집단 결과는 확인되지 않아 정량 성과는 인용하지 않는다. ([mcst.go.kr](https://www.mcst.go.kr/site/s_notice/press/pressView.jsp?pSeq=22528))",</a:t>
            </a:r>
          </a:p>
          <a:p>
            <a:r>
              <a:t>      "source_id": "case:c6d4752e1342a7",</a:t>
            </a:r>
          </a:p>
          <a:p>
            <a:r>
              <a:t>      "source_url": "https://www.mcst.go.kr/site/s_policy/govPolicy/performTotal.jsp",</a:t>
            </a:r>
          </a:p>
          <a:p>
            <a:r>
              <a:t>      "case_region": "전국 인구감소지역 중 2026년 상반기 선정 16개 지역",</a:t>
            </a:r>
          </a:p>
          <a:p>
            <a:r>
              <a:t>      "source_type": "benchmark_case",</a:t>
            </a:r>
          </a:p>
          <a:p>
            <a:r>
              <a:t>      "intervention": "지역사랑 휴가지원 ‘대한민국 반값여행’",</a:t>
            </a:r>
          </a:p>
          <a:p>
            <a:r>
              <a:t>      "operating_model": "대상 지역에서 여행경비를 지출하고 요건을 충족한 방문객에게 지역사랑상품권을 환급한다. 개인은 최대 10만 원, 단체는 최대 20만 원 한도로 설계했으며, 부정수급 방지 지침과 지자체 공모·사전준비 절차를 두었다.",</a:t>
            </a:r>
          </a:p>
          <a:p>
            <a:r>
              <a:t>      "evidence_strength": "medium",</a:t>
            </a:r>
          </a:p>
          <a:p>
            <a:r>
              <a:t>      "published_or_updated_at": "2026-06-22",</a:t>
            </a:r>
          </a:p>
          <a:p>
            <a:r>
              <a:t>      "quantitative_result_approved": null</a:t>
            </a:r>
          </a:p>
          <a:p>
            <a:r>
              <a:t>    },</a:t>
            </a:r>
          </a:p>
          <a:p>
            <a:r>
              <a:t>    {</a:t>
            </a:r>
          </a:p>
          <a:p>
            <a:r>
              <a:t>      "title": "2025 대한민국 밤밤페스타 개최 도시 및 일정",</a:t>
            </a:r>
          </a:p>
          <a:p>
            <a:r>
              <a:t>      "summary": "야간관광 특화도시 10곳 · 도시별 야간 콘텐츠를 순회형 축제로 묶는 운영 · 공식 여행기사는 개최 도시·장소·운영 시간과 콘텐츠만 제시하며 방문·소비 성과 수치는 제시하지 않음",</a:t>
            </a:r>
          </a:p>
          <a:p>
            <a:r>
              <a:t>      "source_id": "case:night_festival_2025",</a:t>
            </a:r>
          </a:p>
          <a:p>
            <a:r>
              <a:t>      "source_url": "https://korean.visitkorea.or.kr/detail/rem_detail.do?cotid=f9c636b2-dd7c-4f09-af3d-6af43b33d371",</a:t>
            </a:r>
          </a:p>
          <a:p>
            <a:r>
              <a:t>      "case_region": "야간관광 특화도시 10곳",</a:t>
            </a:r>
          </a:p>
          <a:p>
            <a:r>
              <a:t>      "source_type": "benchmark_case",</a:t>
            </a:r>
          </a:p>
          <a:p>
            <a:r>
              <a:t>      "intervention": "도시별 야간 콘텐츠를 순회형 축제로 묶는 운영",</a:t>
            </a:r>
          </a:p>
          <a:p>
            <a:r>
              <a:t>      "operating_model": "10개 야간관광 특화도시의 대표 장소와 시간대를 연결하고, 공연·체험·지역 디저트·판매상품 등 도시별 콘텐츠를 순회 일정으로 운영",</a:t>
            </a:r>
          </a:p>
          <a:p>
            <a:r>
              <a:t>      "evidence_strength": "medium",</a:t>
            </a:r>
          </a:p>
          <a:p>
            <a:r>
              <a:t>      "published_or_updated_at": "2025",</a:t>
            </a:r>
          </a:p>
          <a:p>
            <a:r>
              <a:t>      "quantitative_result_approved": null</a:t>
            </a:r>
          </a:p>
          <a:p>
            <a:r>
              <a:t>    }</a:t>
            </a:r>
          </a:p>
          <a:p>
            <a:r>
              <a:t>  ],</a:t>
            </a:r>
          </a:p>
          <a:p>
            <a:r>
              <a:t>  "selected_forecast": {</a:t>
            </a:r>
          </a:p>
          <a:p>
            <a:r>
              <a:t>    "rows": [</a:t>
            </a:r>
          </a:p>
          <a:p>
            <a:r>
              <a:t>      {</a:t>
            </a:r>
          </a:p>
          <a:p>
            <a:r>
              <a:t>        "month": "202609",</a:t>
            </a:r>
          </a:p>
          <a:p>
            <a:r>
              <a:t>        "visitors": 2363056.0,</a:t>
            </a:r>
          </a:p>
          <a:p>
            <a:r>
              <a:t>        "is_forecast": true,</a:t>
            </a:r>
          </a:p>
          <a:p>
            <a:r>
              <a:t>        "spending_krw": 67047345591.0,</a:t>
            </a:r>
          </a:p>
          <a:p>
            <a:r>
              <a:t>        "stay_minutes": 2518.0,</a:t>
            </a:r>
          </a:p>
          <a:p>
            <a:r>
              <a:t>        "lodging_nights": 2.98,</a:t>
            </a:r>
          </a:p>
          <a:p>
            <a:r>
              <a:t>        "lodging_rate_pct": 13.1,</a:t>
            </a:r>
          </a:p>
          <a:p>
            <a:r>
              <a:t>        "lodging_searches": 34529,</a:t>
            </a:r>
          </a:p>
          <a:p>
            <a:r>
              <a:t>        "navigation_searches": 259153,</a:t>
            </a:r>
          </a:p>
          <a:p>
            <a:r>
              <a:t>        "visitor_yoy_percent": 3.0,</a:t>
            </a:r>
          </a:p>
          <a:p>
            <a:r>
              <a:t>        "spending_yoy_percent": 22.29,</a:t>
            </a:r>
          </a:p>
          <a:p>
            <a:r>
              <a:t>        "metric_changes_percent": {</a:t>
            </a:r>
          </a:p>
          <a:p>
            <a:r>
              <a:t>          "stay_minutes": 0.0,</a:t>
            </a:r>
          </a:p>
          <a:p>
            <a:r>
              <a:t>          "lodging_nights": 1.02,</a:t>
            </a:r>
          </a:p>
          <a:p>
            <a:r>
              <a:t>          "lodging_rate_pct": 0.0,</a:t>
            </a:r>
          </a:p>
          <a:p>
            <a:r>
              <a:t>          "lodging_searches": 8.97,</a:t>
            </a:r>
          </a:p>
          <a:p>
            <a:r>
              <a:t>          "navigation_searches": 0.0</a:t>
            </a:r>
          </a:p>
          <a:p>
            <a:r>
              <a:t>        },</a:t>
            </a:r>
          </a:p>
          <a:p>
            <a:r>
              <a:t>        "previous_year_visitors": 2294130,</a:t>
            </a:r>
          </a:p>
          <a:p>
            <a:r>
              <a:t>        "previous_year_spending_krw": 54826341000,</a:t>
            </a:r>
          </a:p>
          <a:p>
            <a:r>
              <a:t>        "previous_year_stay_minutes": 2518.0,</a:t>
            </a:r>
          </a:p>
          <a:p>
            <a:r>
              <a:t>        "previous_year_lodging_nights": 2.95,</a:t>
            </a:r>
          </a:p>
          <a:p>
            <a:r>
              <a:t>        "previous_year_lodging_rate_pct": 13.1,</a:t>
            </a:r>
          </a:p>
          <a:p>
            <a:r>
              <a:t>        "previous_year_lodging_searches": 31686,</a:t>
            </a:r>
          </a:p>
          <a:p>
            <a:r>
              <a:t>        "previous_year_navigation_searches": 259153</a:t>
            </a:r>
          </a:p>
          <a:p>
            <a:r>
              <a:t>      },</a:t>
            </a:r>
          </a:p>
          <a:p>
            <a:r>
              <a:t>      {</a:t>
            </a:r>
          </a:p>
          <a:p>
            <a:r>
              <a:t>        "month": "202610",</a:t>
            </a:r>
          </a:p>
          <a:p>
            <a:r>
              <a:t>        "visitors": 2633270.0,</a:t>
            </a:r>
          </a:p>
          <a:p>
            <a:r>
              <a:t>        "is_forecast": true,</a:t>
            </a:r>
          </a:p>
          <a:p>
            <a:r>
              <a:t>        "spending_krw": 83929975649.0,</a:t>
            </a:r>
          </a:p>
          <a:p>
            <a:r>
              <a:t>        "stay_minutes": 1683.0,</a:t>
            </a:r>
          </a:p>
          <a:p>
            <a:r>
              <a:t>        "lodging_nights": 2.87,</a:t>
            </a:r>
          </a:p>
          <a:p>
            <a:r>
              <a:t>        "lodging_rate_pct": 15.5,</a:t>
            </a:r>
          </a:p>
          <a:p>
            <a:r>
              <a:t>        "lodging_searches": 50011,</a:t>
            </a:r>
          </a:p>
          <a:p>
            <a:r>
              <a:t>        "navigation_searches": 519488,</a:t>
            </a:r>
          </a:p>
          <a:p>
            <a:r>
              <a:t>        "visitor_yoy_percent": -5.94,</a:t>
            </a:r>
          </a:p>
          <a:p>
            <a:r>
              <a:t>        "spending_yoy_percent": 21.43,</a:t>
            </a:r>
          </a:p>
          <a:p>
            <a:r>
              <a:t>        "metric_changes_percent": {</a:t>
            </a:r>
          </a:p>
          <a:p>
            <a:r>
              <a:t>          "stay_minutes": 0.0,</a:t>
            </a:r>
          </a:p>
          <a:p>
            <a:r>
              <a:t>          "lodging_nights": 1.77,</a:t>
            </a:r>
          </a:p>
          <a:p>
            <a:r>
              <a:t>          "lodging_rate_pct": 0.0,</a:t>
            </a:r>
          </a:p>
          <a:p>
            <a:r>
              <a:t>          "lodging_searches": -21.42,</a:t>
            </a:r>
          </a:p>
          <a:p>
            <a:r>
              <a:t>          "navigation_searches": 0.0</a:t>
            </a:r>
          </a:p>
          <a:p>
            <a:r>
              <a:t>        },</a:t>
            </a:r>
          </a:p>
          <a:p>
            <a:r>
              <a:t>        "previous_year_visitors": 2799509,</a:t>
            </a:r>
          </a:p>
          <a:p>
            <a:r>
              <a:t>        "previous_year_spending_krw": 69118387000,</a:t>
            </a:r>
          </a:p>
          <a:p>
            <a:r>
              <a:t>        "previous_year_stay_minutes": 1683.0,</a:t>
            </a:r>
          </a:p>
          <a:p>
            <a:r>
              <a:t>        "previous_year_lodging_nights": 2.82,</a:t>
            </a:r>
          </a:p>
          <a:p>
            <a:r>
              <a:t>        "previous_year_lodging_rate_pct": 15.5,</a:t>
            </a:r>
          </a:p>
          <a:p>
            <a:r>
              <a:t>        "previous_year_lodging_searches": 63645,</a:t>
            </a:r>
          </a:p>
          <a:p>
            <a:r>
              <a:t>        "previous_year_navigation_searches": 519488</a:t>
            </a:r>
          </a:p>
          <a:p>
            <a:r>
              <a:t>      },</a:t>
            </a:r>
          </a:p>
          <a:p>
            <a:r>
              <a:t>      {</a:t>
            </a:r>
          </a:p>
          <a:p>
            <a:r>
              <a:t>        "month": "202611",</a:t>
            </a:r>
          </a:p>
          <a:p>
            <a:r>
              <a:t>        "visitors": 2632315.0,</a:t>
            </a:r>
          </a:p>
          <a:p>
            <a:r>
              <a:t>        "is_forecast": true,</a:t>
            </a:r>
          </a:p>
          <a:p>
            <a:r>
              <a:t>        "spending_krw": 89947681558.0,</a:t>
            </a:r>
          </a:p>
          <a:p>
            <a:r>
              <a:t>        "stay_minutes": 1488.0,</a:t>
            </a:r>
          </a:p>
          <a:p>
            <a:r>
              <a:t>        "lodging_nights": 2.76,</a:t>
            </a:r>
          </a:p>
          <a:p>
            <a:r>
              <a:t>        "lodging_rate_pct": 12.4,</a:t>
            </a:r>
          </a:p>
          <a:p>
            <a:r>
              <a:t>        "lodging_searches": 48286,</a:t>
            </a:r>
          </a:p>
          <a:p>
            <a:r>
              <a:t>        "navigation_searches": 352852,</a:t>
            </a:r>
          </a:p>
          <a:p>
            <a:r>
              <a:t>        "visitor_yoy_percent": 4.18,</a:t>
            </a:r>
          </a:p>
          <a:p>
            <a:r>
              <a:t>        "spending_yoy_percent": 41.26,</a:t>
            </a:r>
          </a:p>
          <a:p>
            <a:r>
              <a:t>        "metric_changes_percent": {</a:t>
            </a:r>
          </a:p>
          <a:p>
            <a:r>
              <a:t>          "stay_minutes": 0.0,</a:t>
            </a:r>
          </a:p>
          <a:p>
            <a:r>
              <a:t>          "lodging_nights": 2.22,</a:t>
            </a:r>
          </a:p>
          <a:p>
            <a:r>
              <a:t>          "lodging_rate_pct": 0.0,</a:t>
            </a:r>
          </a:p>
          <a:p>
            <a:r>
              <a:t>          "lodging_searches": 21.22,</a:t>
            </a:r>
          </a:p>
          <a:p>
            <a:r>
              <a:t>          "navigation_searches": 0.0</a:t>
            </a:r>
          </a:p>
          <a:p>
            <a:r>
              <a:t>        },</a:t>
            </a:r>
          </a:p>
          <a:p>
            <a:r>
              <a:t>        "previous_year_visitors": 2526699,</a:t>
            </a:r>
          </a:p>
          <a:p>
            <a:r>
              <a:t>        "previous_year_spending_krw": 63675989000,</a:t>
            </a:r>
          </a:p>
          <a:p>
            <a:r>
              <a:t>        "previous_year_stay_minutes": 1488.0,</a:t>
            </a:r>
          </a:p>
          <a:p>
            <a:r>
              <a:t>        "previous_year_lodging_nights": 2.7,</a:t>
            </a:r>
          </a:p>
          <a:p>
            <a:r>
              <a:t>        "previous_year_lodging_rate_pct": 12.4,</a:t>
            </a:r>
          </a:p>
          <a:p>
            <a:r>
              <a:t>        "previous_year_lodging_searches": 39833,</a:t>
            </a:r>
          </a:p>
          <a:p>
            <a:r>
              <a:t>        "previous_year_navigation_searches": 352852</a:t>
            </a:r>
          </a:p>
          <a:p>
            <a:r>
              <a:t>      }</a:t>
            </a:r>
          </a:p>
          <a:p>
            <a:r>
              <a:t>    ],</a:t>
            </a:r>
          </a:p>
          <a:p>
            <a:r>
              <a:t>    "period": "202609~202611",</a:t>
            </a:r>
          </a:p>
          <a:p>
            <a:r>
              <a:t>    "complete": true,</a:t>
            </a:r>
          </a:p>
          <a:p>
            <a:r>
              <a:t>    "notes": [</a:t>
            </a:r>
          </a:p>
          <a:p>
            <a:r>
              <a:t>      "3개월 초과 예측 거리는 재귀 검증 범위 밖의 탐색 전망입니다."</a:t>
            </a:r>
          </a:p>
          <a:p>
            <a:r>
              <a:t>    ],</a:t>
            </a:r>
          </a:p>
          <a:p>
            <a:r>
              <a:t>    "selection_basis": "strategy_timeframe",</a:t>
            </a:r>
          </a:p>
          <a:p>
            <a:r>
              <a:t>    "requested_period": "202609~202611"</a:t>
            </a:r>
          </a:p>
          <a:p>
            <a:r>
              <a:t>  },</a:t>
            </a:r>
          </a:p>
          <a:p>
            <a:r>
              <a:t>  "all_ml_forecasts": [</a:t>
            </a:r>
          </a:p>
          <a:p>
            <a:r>
              <a:t>    {</a:t>
            </a:r>
          </a:p>
          <a:p>
            <a:r>
              <a:t>      "month": "202607",</a:t>
            </a:r>
          </a:p>
          <a:p>
            <a:r>
              <a:t>      "visitors": 2366862,</a:t>
            </a:r>
          </a:p>
          <a:p>
            <a:r>
              <a:t>      "is_forecast": true,</a:t>
            </a:r>
          </a:p>
          <a:p>
            <a:r>
              <a:t>      "spending_krw": 67735223997,</a:t>
            </a:r>
          </a:p>
          <a:p>
            <a:r>
              <a:t>      "stay_minutes": 1944.0,</a:t>
            </a:r>
          </a:p>
          <a:p>
            <a:r>
              <a:t>      "lodging_nights": 2.83,</a:t>
            </a:r>
          </a:p>
          <a:p>
            <a:r>
              <a:t>      "lodging_rate_pct": 13.8,</a:t>
            </a:r>
          </a:p>
          <a:p>
            <a:r>
              <a:t>      "lodging_searches": 46511,</a:t>
            </a:r>
          </a:p>
          <a:p>
            <a:r>
              <a:t>      "navigation_searches": 297924,</a:t>
            </a:r>
          </a:p>
          <a:p>
            <a:r>
              <a:t>      "visitor_yoy_percent": -1.04,</a:t>
            </a:r>
          </a:p>
          <a:p>
            <a:r>
              <a:t>      "spending_yoy_percent": 14.97,</a:t>
            </a:r>
          </a:p>
          <a:p>
            <a:r>
              <a:t>      "metric_changes_percent": {</a:t>
            </a:r>
          </a:p>
          <a:p>
            <a:r>
              <a:t>        "stay_minutes": 0.0,</a:t>
            </a:r>
          </a:p>
          <a:p>
            <a:r>
              <a:t>        "lodging_nights": 0.35,</a:t>
            </a:r>
          </a:p>
          <a:p>
            <a:r>
              <a:t>        "lodging_rate_pct": 0.0,</a:t>
            </a:r>
          </a:p>
          <a:p>
            <a:r>
              <a:t>        "lodging_searches": 17.21,</a:t>
            </a:r>
          </a:p>
          <a:p>
            <a:r>
              <a:t>        "navigation_searches": 0.0</a:t>
            </a:r>
          </a:p>
          <a:p>
            <a:r>
              <a:t>      },</a:t>
            </a:r>
          </a:p>
          <a:p>
            <a:r>
              <a:t>      "previous_year_visitors": 2391642,</a:t>
            </a:r>
          </a:p>
          <a:p>
            <a:r>
              <a:t>      "previous_year_spending_krw": 58914875000,</a:t>
            </a:r>
          </a:p>
          <a:p>
            <a:r>
              <a:t>      "previous_year_stay_minutes": 1944.0,</a:t>
            </a:r>
          </a:p>
          <a:p>
            <a:r>
              <a:t>      "previous_year_lodging_nights": 2.82,</a:t>
            </a:r>
          </a:p>
          <a:p>
            <a:r>
              <a:t>      "previous_year_lodging_rate_pct": 13.8,</a:t>
            </a:r>
          </a:p>
          <a:p>
            <a:r>
              <a:t>      "previous_year_lodging_searches": 39682,</a:t>
            </a:r>
          </a:p>
          <a:p>
            <a:r>
              <a:t>      "previous_year_navigation_searches": 297924</a:t>
            </a:r>
          </a:p>
          <a:p>
            <a:r>
              <a:t>    },</a:t>
            </a:r>
          </a:p>
          <a:p>
            <a:r>
              <a:t>    {</a:t>
            </a:r>
          </a:p>
          <a:p>
            <a:r>
              <a:t>      "month": "202608",</a:t>
            </a:r>
          </a:p>
          <a:p>
            <a:r>
              <a:t>      "visitors": 2642874,</a:t>
            </a:r>
          </a:p>
          <a:p>
            <a:r>
              <a:t>      "is_forecast": true,</a:t>
            </a:r>
          </a:p>
          <a:p>
            <a:r>
              <a:t>      "spending_krw": 76161639833,</a:t>
            </a:r>
          </a:p>
          <a:p>
            <a:r>
              <a:t>      "stay_minutes": 1672.0,</a:t>
            </a:r>
          </a:p>
          <a:p>
            <a:r>
              <a:t>      "lodging_nights": 2.76,</a:t>
            </a:r>
          </a:p>
          <a:p>
            <a:r>
              <a:t>      "lodging_rate_pct": 14.7,</a:t>
            </a:r>
          </a:p>
          <a:p>
            <a:r>
              <a:t>      "lodging_searches": 49759,</a:t>
            </a:r>
          </a:p>
          <a:p>
            <a:r>
              <a:t>      "navigation_searches": 346177,</a:t>
            </a:r>
          </a:p>
          <a:p>
            <a:r>
              <a:t>      "visitor_yoy_percent": 0.13,</a:t>
            </a:r>
          </a:p>
          <a:p>
            <a:r>
              <a:t>      "spending_yoy_percent": 18.85,</a:t>
            </a:r>
          </a:p>
          <a:p>
            <a:r>
              <a:t>      "metric_changes_percent": {</a:t>
            </a:r>
          </a:p>
          <a:p>
            <a:r>
              <a:t>        "stay_minutes": 0.0,</a:t>
            </a:r>
          </a:p>
          <a:p>
            <a:r>
              <a:t>        "lodging_nights": 1.1,</a:t>
            </a:r>
          </a:p>
          <a:p>
            <a:r>
              <a:t>        "lodging_rate_pct": 0.0,</a:t>
            </a:r>
          </a:p>
          <a:p>
            <a:r>
              <a:t>        "lodging_searches": -0.93,</a:t>
            </a:r>
          </a:p>
          <a:p>
            <a:r>
              <a:t>        "navigation_searches": 0.0</a:t>
            </a:r>
          </a:p>
          <a:p>
            <a:r>
              <a:t>      },</a:t>
            </a:r>
          </a:p>
          <a:p>
            <a:r>
              <a:t>      "previous_year_visitors": 2639487,</a:t>
            </a:r>
          </a:p>
          <a:p>
            <a:r>
              <a:t>      "previous_year_spending_krw": 64083943000,</a:t>
            </a:r>
          </a:p>
          <a:p>
            <a:r>
              <a:t>      "previous_year_stay_minutes": 1672.0,</a:t>
            </a:r>
          </a:p>
          <a:p>
            <a:r>
              <a:t>      "previous_year_lodging_nights": 2.73,</a:t>
            </a:r>
          </a:p>
          <a:p>
            <a:r>
              <a:t>      "previous_year_lodging_rate_pct": 14.7,</a:t>
            </a:r>
          </a:p>
          <a:p>
            <a:r>
              <a:t>      "previous_year_lodging_searches": 50224,</a:t>
            </a:r>
          </a:p>
          <a:p>
            <a:r>
              <a:t>      "previous_year_navigation_searches": 346177</a:t>
            </a:r>
          </a:p>
          <a:p>
            <a:r>
              <a:t>    },</a:t>
            </a:r>
          </a:p>
          <a:p>
            <a:r>
              <a:t>    {</a:t>
            </a:r>
          </a:p>
          <a:p>
            <a:r>
              <a:t>      "month": "202609",</a:t>
            </a:r>
          </a:p>
          <a:p>
            <a:r>
              <a:t>      "visitors": 2363056,</a:t>
            </a:r>
          </a:p>
          <a:p>
            <a:r>
              <a:t>      "is_forecast": true,</a:t>
            </a:r>
          </a:p>
          <a:p>
            <a:r>
              <a:t>      "spending_krw": 67047345591,</a:t>
            </a:r>
          </a:p>
          <a:p>
            <a:r>
              <a:t>      "stay_minutes": 2518.0,</a:t>
            </a:r>
          </a:p>
          <a:p>
            <a:r>
              <a:t>      "lodging_nights": 2.98,</a:t>
            </a:r>
          </a:p>
          <a:p>
            <a:r>
              <a:t>      "lodging_rate_pct": 13.1,</a:t>
            </a:r>
          </a:p>
          <a:p>
            <a:r>
              <a:t>      "lodging_searches": 34529,</a:t>
            </a:r>
          </a:p>
          <a:p>
            <a:r>
              <a:t>      "navigation_searches": 259153,</a:t>
            </a:r>
          </a:p>
          <a:p>
            <a:r>
              <a:t>      "visitor_yoy_percent": 3.0,</a:t>
            </a:r>
          </a:p>
          <a:p>
            <a:r>
              <a:t>      "spending_yoy_percent": 22.29,</a:t>
            </a:r>
          </a:p>
          <a:p>
            <a:r>
              <a:t>      "metric_changes_percent": {</a:t>
            </a:r>
          </a:p>
          <a:p>
            <a:r>
              <a:t>        "stay_minutes": 0.0,</a:t>
            </a:r>
          </a:p>
          <a:p>
            <a:r>
              <a:t>        "lodging_nights": 1.02,</a:t>
            </a:r>
          </a:p>
          <a:p>
            <a:r>
              <a:t>        "lodging_rate_pct": 0.0,</a:t>
            </a:r>
          </a:p>
          <a:p>
            <a:r>
              <a:t>        "lodging_searches": 8.97,</a:t>
            </a:r>
          </a:p>
          <a:p>
            <a:r>
              <a:t>        "navigation_searches": 0.0</a:t>
            </a:r>
          </a:p>
          <a:p>
            <a:r>
              <a:t>      },</a:t>
            </a:r>
          </a:p>
          <a:p>
            <a:r>
              <a:t>      "previous_year_visitors": 2294130,</a:t>
            </a:r>
          </a:p>
          <a:p>
            <a:r>
              <a:t>      "previous_year_spending_krw": 54826341000,</a:t>
            </a:r>
          </a:p>
          <a:p>
            <a:r>
              <a:t>      "previous_year_stay_minutes": 2518.0,</a:t>
            </a:r>
          </a:p>
          <a:p>
            <a:r>
              <a:t>      "previous_year_lodging_nights": 2.95,</a:t>
            </a:r>
          </a:p>
          <a:p>
            <a:r>
              <a:t>      "previous_year_lodging_rate_pct": 13.1,</a:t>
            </a:r>
          </a:p>
          <a:p>
            <a:r>
              <a:t>      "previous_year_lodging_searches": 31686,</a:t>
            </a:r>
          </a:p>
          <a:p>
            <a:r>
              <a:t>      "previous_year_navigation_searches": 259153</a:t>
            </a:r>
          </a:p>
          <a:p>
            <a:r>
              <a:t>    },</a:t>
            </a:r>
          </a:p>
          <a:p>
            <a:r>
              <a:t>    {</a:t>
            </a:r>
          </a:p>
          <a:p>
            <a:r>
              <a:t>      "month": "202610",</a:t>
            </a:r>
          </a:p>
          <a:p>
            <a:r>
              <a:t>      "visitors": 2633270,</a:t>
            </a:r>
          </a:p>
          <a:p>
            <a:r>
              <a:t>      "is_forecast": true,</a:t>
            </a:r>
          </a:p>
          <a:p>
            <a:r>
              <a:t>      "spending_krw": 83929975649,</a:t>
            </a:r>
          </a:p>
          <a:p>
            <a:r>
              <a:t>      "stay_minutes": 1683.0,</a:t>
            </a:r>
          </a:p>
          <a:p>
            <a:r>
              <a:t>      "lodging_nights": 2.87,</a:t>
            </a:r>
          </a:p>
          <a:p>
            <a:r>
              <a:t>      "lodging_rate_pct": 15.5,</a:t>
            </a:r>
          </a:p>
          <a:p>
            <a:r>
              <a:t>      "lodging_searches": 50011,</a:t>
            </a:r>
          </a:p>
          <a:p>
            <a:r>
              <a:t>      "navigation_searches": 519488,</a:t>
            </a:r>
          </a:p>
          <a:p>
            <a:r>
              <a:t>      "visitor_yoy_percent": -5.94,</a:t>
            </a:r>
          </a:p>
          <a:p>
            <a:r>
              <a:t>      "spending_yoy_percent": 21.43,</a:t>
            </a:r>
          </a:p>
          <a:p>
            <a:r>
              <a:t>      "metric_changes_percent": {</a:t>
            </a:r>
          </a:p>
          <a:p>
            <a:r>
              <a:t>        "stay_minutes": 0.0,</a:t>
            </a:r>
          </a:p>
          <a:p>
            <a:r>
              <a:t>        "lodging_nights": 1.77,</a:t>
            </a:r>
          </a:p>
          <a:p>
            <a:r>
              <a:t>        "lodging_rate_pct": 0.0,</a:t>
            </a:r>
          </a:p>
          <a:p>
            <a:r>
              <a:t>        "lodging_searches": -21.42,</a:t>
            </a:r>
          </a:p>
          <a:p>
            <a:r>
              <a:t>        "navigation_searches": 0.0</a:t>
            </a:r>
          </a:p>
          <a:p>
            <a:r>
              <a:t>      },</a:t>
            </a:r>
          </a:p>
          <a:p>
            <a:r>
              <a:t>      "previous_year_visitors": 2799509,</a:t>
            </a:r>
          </a:p>
          <a:p>
            <a:r>
              <a:t>      "previous_year_spending_krw": 69118387000,</a:t>
            </a:r>
          </a:p>
          <a:p>
            <a:r>
              <a:t>      "previous_year_stay_minutes": 1683.0,</a:t>
            </a:r>
          </a:p>
          <a:p>
            <a:r>
              <a:t>      "previous_year_lodging_nights": 2.82,</a:t>
            </a:r>
          </a:p>
          <a:p>
            <a:r>
              <a:t>      "previous_year_lodging_rate_pct": 15.5,</a:t>
            </a:r>
          </a:p>
          <a:p>
            <a:r>
              <a:t>      "previous_year_lodging_searches": 63645,</a:t>
            </a:r>
          </a:p>
          <a:p>
            <a:r>
              <a:t>      "previous_year_navigation_searches": 519488</a:t>
            </a:r>
          </a:p>
          <a:p>
            <a:r>
              <a:t>    },</a:t>
            </a:r>
          </a:p>
          <a:p>
            <a:r>
              <a:t>    {</a:t>
            </a:r>
          </a:p>
          <a:p>
            <a:r>
              <a:t>      "month": "202611",</a:t>
            </a:r>
          </a:p>
          <a:p>
            <a:r>
              <a:t>      "visitors": 2632315,</a:t>
            </a:r>
          </a:p>
          <a:p>
            <a:r>
              <a:t>      "is_forecast": true,</a:t>
            </a:r>
          </a:p>
          <a:p>
            <a:r>
              <a:t>      "spending_krw": 89947681558,</a:t>
            </a:r>
          </a:p>
          <a:p>
            <a:r>
              <a:t>      "stay_minutes": 1488.0,</a:t>
            </a:r>
          </a:p>
          <a:p>
            <a:r>
              <a:t>      "lodging_nights": 2.76,</a:t>
            </a:r>
          </a:p>
          <a:p>
            <a:r>
              <a:t>      "lodging_rate_pct": 12.4,</a:t>
            </a:r>
          </a:p>
          <a:p>
            <a:r>
              <a:t>      "lodging_searches": 48286,</a:t>
            </a:r>
          </a:p>
          <a:p>
            <a:r>
              <a:t>      "navigation_searches": 352852,</a:t>
            </a:r>
          </a:p>
          <a:p>
            <a:r>
              <a:t>      "visitor_yoy_percent": 4.18,</a:t>
            </a:r>
          </a:p>
          <a:p>
            <a:r>
              <a:t>      "spending_yoy_percent": 41.26,</a:t>
            </a:r>
          </a:p>
          <a:p>
            <a:r>
              <a:t>      "metric_changes_percent": {</a:t>
            </a:r>
          </a:p>
          <a:p>
            <a:r>
              <a:t>        "stay_minutes": 0.0,</a:t>
            </a:r>
          </a:p>
          <a:p>
            <a:r>
              <a:t>        "lodging_nights": 2.22,</a:t>
            </a:r>
          </a:p>
          <a:p>
            <a:r>
              <a:t>        "lodging_rate_pct": 0.0,</a:t>
            </a:r>
          </a:p>
          <a:p>
            <a:r>
              <a:t>        "lodging_searches": 21.22,</a:t>
            </a:r>
          </a:p>
          <a:p>
            <a:r>
              <a:t>        "navigation_searches": 0.0</a:t>
            </a:r>
          </a:p>
          <a:p>
            <a:r>
              <a:t>      },</a:t>
            </a:r>
          </a:p>
          <a:p>
            <a:r>
              <a:t>      "previous_year_visitors": 2526699,</a:t>
            </a:r>
          </a:p>
          <a:p>
            <a:r>
              <a:t>      "previous_year_spending_krw": 63675989000,</a:t>
            </a:r>
          </a:p>
          <a:p>
            <a:r>
              <a:t>      "previous_year_stay_minutes": 1488.0,</a:t>
            </a:r>
          </a:p>
          <a:p>
            <a:r>
              <a:t>      "previous_year_lodging_nights": 2.7,</a:t>
            </a:r>
          </a:p>
          <a:p>
            <a:r>
              <a:t>      "previous_year_lodging_rate_pct": 12.4,</a:t>
            </a:r>
          </a:p>
          <a:p>
            <a:r>
              <a:t>      "previous_year_lodging_searches": 39833,</a:t>
            </a:r>
          </a:p>
          <a:p>
            <a:r>
              <a:t>      "previous_year_navigation_searches": 352852</a:t>
            </a:r>
          </a:p>
          <a:p>
            <a:r>
              <a:t>    },</a:t>
            </a:r>
          </a:p>
          <a:p>
            <a:r>
              <a:t>    {</a:t>
            </a:r>
          </a:p>
          <a:p>
            <a:r>
              <a:t>      "month": "202612",</a:t>
            </a:r>
          </a:p>
          <a:p>
            <a:r>
              <a:t>      "visitors": 2098615,</a:t>
            </a:r>
          </a:p>
          <a:p>
            <a:r>
              <a:t>      "is_forecast": true,</a:t>
            </a:r>
          </a:p>
          <a:p>
            <a:r>
              <a:t>      "spending_krw": 82896802464,</a:t>
            </a:r>
          </a:p>
          <a:p>
            <a:r>
              <a:t>      "stay_minutes": 1866.0,</a:t>
            </a:r>
          </a:p>
          <a:p>
            <a:r>
              <a:t>      "lodging_nights": 2.85,</a:t>
            </a:r>
          </a:p>
          <a:p>
            <a:r>
              <a:t>      "lodging_rate_pct": 14.1,</a:t>
            </a:r>
          </a:p>
          <a:p>
            <a:r>
              <a:t>      "lodging_searches": 28484,</a:t>
            </a:r>
          </a:p>
          <a:p>
            <a:r>
              <a:t>      "navigation_searches": 221560,</a:t>
            </a:r>
          </a:p>
          <a:p>
            <a:r>
              <a:t>      "visitor_yoy_percent": -0.06,</a:t>
            </a:r>
          </a:p>
          <a:p>
            <a:r>
              <a:t>      "spending_yoy_percent": 54.2,</a:t>
            </a:r>
          </a:p>
          <a:p>
            <a:r>
              <a:t>      "metric_changes_percent": {</a:t>
            </a:r>
          </a:p>
          <a:p>
            <a:r>
              <a:t>        "stay_minutes": 0.0,</a:t>
            </a:r>
          </a:p>
          <a:p>
            <a:r>
              <a:t>        "lodging_nights": 2.15,</a:t>
            </a:r>
          </a:p>
          <a:p>
            <a:r>
              <a:t>        "lodging_rate_pct": 0.0,</a:t>
            </a:r>
          </a:p>
          <a:p>
            <a:r>
              <a:t>        "lodging_searches": -1.09,</a:t>
            </a:r>
          </a:p>
          <a:p>
            <a:r>
              <a:t>        "navigation_searches": 0.0</a:t>
            </a:r>
          </a:p>
          <a:p>
            <a:r>
              <a:t>      },</a:t>
            </a:r>
          </a:p>
          <a:p>
            <a:r>
              <a:t>      "previous_year_visitors": 2099852,</a:t>
            </a:r>
          </a:p>
          <a:p>
            <a:r>
              <a:t>      "previous_year_spending_krw": 53760591000,</a:t>
            </a:r>
          </a:p>
          <a:p>
            <a:r>
              <a:t>      "previous_year_stay_minutes": 1866.0,</a:t>
            </a:r>
          </a:p>
          <a:p>
            <a:r>
              <a:t>      "previous_year_lodging_nights": 2.79,</a:t>
            </a:r>
          </a:p>
          <a:p>
            <a:r>
              <a:t>      "previous_year_lodging_rate_pct": 14.1,</a:t>
            </a:r>
          </a:p>
          <a:p>
            <a:r>
              <a:t>      "previous_year_lodging_searches": 28798,</a:t>
            </a:r>
          </a:p>
          <a:p>
            <a:r>
              <a:t>      "previous_year_navigation_searches": 221560</a:t>
            </a:r>
          </a:p>
          <a:p>
            <a:r>
              <a:t>    },</a:t>
            </a:r>
          </a:p>
          <a:p>
            <a:r>
              <a:t>    {</a:t>
            </a:r>
          </a:p>
          <a:p>
            <a:r>
              <a:t>      "month": "202701",</a:t>
            </a:r>
          </a:p>
          <a:p>
            <a:r>
              <a:t>      "visitors": 2042060,</a:t>
            </a:r>
          </a:p>
          <a:p>
            <a:r>
              <a:t>      "is_forecast": true,</a:t>
            </a:r>
          </a:p>
          <a:p>
            <a:r>
              <a:t>      "spending_krw": 92579612143,</a:t>
            </a:r>
          </a:p>
          <a:p>
            <a:r>
              <a:t>      "stay_minutes": 1936.0,</a:t>
            </a:r>
          </a:p>
          <a:p>
            <a:r>
              <a:t>      "lodging_nights": 2.87,</a:t>
            </a:r>
          </a:p>
          <a:p>
            <a:r>
              <a:t>      "lodging_rate_pct": 13.7,</a:t>
            </a:r>
          </a:p>
          <a:p>
            <a:r>
              <a:t>      "lodging_searches": 26563,</a:t>
            </a:r>
          </a:p>
          <a:p>
            <a:r>
              <a:t>      "navigation_searches": 205632,</a:t>
            </a:r>
          </a:p>
          <a:p>
            <a:r>
              <a:t>      "visitor_yoy_percent": -2.23,</a:t>
            </a:r>
          </a:p>
          <a:p>
            <a:r>
              <a:t>      "spending_yoy_percent": 80.91,</a:t>
            </a:r>
          </a:p>
          <a:p>
            <a:r>
              <a:t>      "metric_changes_percent": {</a:t>
            </a:r>
          </a:p>
          <a:p>
            <a:r>
              <a:t>        "stay_minutes": 0.0,</a:t>
            </a:r>
          </a:p>
          <a:p>
            <a:r>
              <a:t>        "lodging_nights": 1.06,</a:t>
            </a:r>
          </a:p>
          <a:p>
            <a:r>
              <a:t>        "lodging_rate_pct": 0.0,</a:t>
            </a:r>
          </a:p>
          <a:p>
            <a:r>
              <a:t>        "lodging_searches": -0.09,</a:t>
            </a:r>
          </a:p>
          <a:p>
            <a:r>
              <a:t>        "navigation_searches": 0.0</a:t>
            </a:r>
          </a:p>
          <a:p>
            <a:r>
              <a:t>      },</a:t>
            </a:r>
          </a:p>
          <a:p>
            <a:r>
              <a:t>      "previous_year_visitors": 2088569,</a:t>
            </a:r>
          </a:p>
          <a:p>
            <a:r>
              <a:t>      "previous_year_spending_krw": 51173582000,</a:t>
            </a:r>
          </a:p>
          <a:p>
            <a:r>
              <a:t>      "previous_year_stay_minutes": 1936.0,</a:t>
            </a:r>
          </a:p>
          <a:p>
            <a:r>
              <a:t>      "previous_year_lodging_nights": 2.84,</a:t>
            </a:r>
          </a:p>
          <a:p>
            <a:r>
              <a:t>      "previous_year_lodging_rate_pct": 13.7,</a:t>
            </a:r>
          </a:p>
          <a:p>
            <a:r>
              <a:t>      "previous_year_lodging_searches": 26588,</a:t>
            </a:r>
          </a:p>
          <a:p>
            <a:r>
              <a:t>      "previous_year_navigation_searches": 205632</a:t>
            </a:r>
          </a:p>
          <a:p>
            <a:r>
              <a:t>    },</a:t>
            </a:r>
          </a:p>
          <a:p>
            <a:r>
              <a:t>    {</a:t>
            </a:r>
          </a:p>
          <a:p>
            <a:r>
              <a:t>      "month": "202702",</a:t>
            </a:r>
          </a:p>
          <a:p>
            <a:r>
              <a:t>      "visitors": 2227050,</a:t>
            </a:r>
          </a:p>
          <a:p>
            <a:r>
              <a:t>      "is_forecast": true,</a:t>
            </a:r>
          </a:p>
          <a:p>
            <a:r>
              <a:t>      "spending_krw": 103534829257,</a:t>
            </a:r>
          </a:p>
          <a:p>
            <a:r>
              <a:t>      "stay_minutes": 1714.0,</a:t>
            </a:r>
          </a:p>
          <a:p>
            <a:r>
              <a:t>      "lodging_nights": 2.82,</a:t>
            </a:r>
          </a:p>
          <a:p>
            <a:r>
              <a:t>      "lodging_rate_pct": 15.7,</a:t>
            </a:r>
          </a:p>
          <a:p>
            <a:r>
              <a:t>      "lodging_searches": 25082,</a:t>
            </a:r>
          </a:p>
          <a:p>
            <a:r>
              <a:t>      "navigation_searches": 210385,</a:t>
            </a:r>
          </a:p>
          <a:p>
            <a:r>
              <a:t>      "visitor_yoy_percent": 3.2,</a:t>
            </a:r>
          </a:p>
          <a:p>
            <a:r>
              <a:t>      "spending_yoy_percent": 104.79,</a:t>
            </a:r>
          </a:p>
          <a:p>
            <a:r>
              <a:t>      "metric_changes_percent": {</a:t>
            </a:r>
          </a:p>
          <a:p>
            <a:r>
              <a:t>        "stay_minutes": 0.0,</a:t>
            </a:r>
          </a:p>
          <a:p>
            <a:r>
              <a:t>        "lodging_nights": 0.36,</a:t>
            </a:r>
          </a:p>
          <a:p>
            <a:r>
              <a:t>        "lodging_rate_pct": 0.0,</a:t>
            </a:r>
          </a:p>
          <a:p>
            <a:r>
              <a:t>        "lodging_searches": 2.79,</a:t>
            </a:r>
          </a:p>
          <a:p>
            <a:r>
              <a:t>        "navigation_searches": 0.0</a:t>
            </a:r>
          </a:p>
          <a:p>
            <a:r>
              <a:t>      },</a:t>
            </a:r>
          </a:p>
          <a:p>
            <a:r>
              <a:t>      "previous_year_visitors": 2157943,</a:t>
            </a:r>
          </a:p>
          <a:p>
            <a:r>
              <a:t>      "previous_year_spending_krw": 50557418000,</a:t>
            </a:r>
          </a:p>
          <a:p>
            <a:r>
              <a:t>      "previous_year_stay_minutes": 1714.0,</a:t>
            </a:r>
          </a:p>
          <a:p>
            <a:r>
              <a:t>      "previous_year_lodging_nights": 2.81,</a:t>
            </a:r>
          </a:p>
          <a:p>
            <a:r>
              <a:t>      "previous_year_lodging_rate_pct": 15.7,</a:t>
            </a:r>
          </a:p>
          <a:p>
            <a:r>
              <a:t>      "previous_year_lodging_searches": 24402,</a:t>
            </a:r>
          </a:p>
          <a:p>
            <a:r>
              <a:t>      "previous_year_navigation_searches": 210385</a:t>
            </a:r>
          </a:p>
          <a:p>
            <a:r>
              <a:t>    }</a:t>
            </a:r>
          </a:p>
          <a:p>
            <a:r>
              <a:t>  ],</a:t>
            </a:r>
          </a:p>
          <a:p>
            <a:r>
              <a:t>  "evaluation": {</a:t>
            </a:r>
          </a:p>
          <a:p>
            <a:r>
              <a:t>    "metrics": {</a:t>
            </a:r>
          </a:p>
          <a:p>
            <a:r>
              <a:t>      "visitors": {</a:t>
            </a:r>
          </a:p>
          <a:p>
            <a:r>
              <a:t>        "test_mae": 103646.64,</a:t>
            </a:r>
          </a:p>
          <a:p>
            <a:r>
              <a:t>        "recursive_mae": {</a:t>
            </a:r>
          </a:p>
          <a:p>
            <a:r>
              <a:t>          "1": {</a:t>
            </a:r>
          </a:p>
          <a:p>
            <a:r>
              <a:t>            "baseline": 123311.5,</a:t>
            </a:r>
          </a:p>
          <a:p>
            <a:r>
              <a:t>            "selected": 95222.0,</a:t>
            </a:r>
          </a:p>
          <a:p>
            <a:r>
              <a:t>            "sample_count": 2</a:t>
            </a:r>
          </a:p>
          <a:p>
            <a:r>
              <a:t>          },</a:t>
            </a:r>
          </a:p>
          <a:p>
            <a:r>
              <a:t>          "2": {</a:t>
            </a:r>
          </a:p>
          <a:p>
            <a:r>
              <a:t>            "baseline": 90511.0,</a:t>
            </a:r>
          </a:p>
          <a:p>
            <a:r>
              <a:t>            "selected": 105947.5,</a:t>
            </a:r>
          </a:p>
          <a:p>
            <a:r>
              <a:t>            "sample_count": 2</a:t>
            </a:r>
          </a:p>
          <a:p>
            <a:r>
              <a:t>          },</a:t>
            </a:r>
          </a:p>
          <a:p>
            <a:r>
              <a:t>          "3": {</a:t>
            </a:r>
          </a:p>
          <a:p>
            <a:r>
              <a:t>            "baseline": 61165.0,</a:t>
            </a:r>
          </a:p>
          <a:p>
            <a:r>
              <a:t>            "selected": 93227.0,</a:t>
            </a:r>
          </a:p>
          <a:p>
            <a:r>
              <a:t>            "sample_count": 2</a:t>
            </a:r>
          </a:p>
          <a:p>
            <a:r>
              <a:t>          }</a:t>
            </a:r>
          </a:p>
          <a:p>
            <a:r>
              <a:t>        },</a:t>
            </a:r>
          </a:p>
          <a:p>
            <a:r>
              <a:t>        "selected_model": "RandomForestRegressor",</a:t>
            </a:r>
          </a:p>
          <a:p>
            <a:r>
              <a:t>        "baseline_test_mae": 92238.25,</a:t>
            </a:r>
          </a:p>
          <a:p>
            <a:r>
              <a:t>        "model_reliability": "below_baseline_on_test",</a:t>
            </a:r>
          </a:p>
          <a:p>
            <a:r>
              <a:t>        "beats_baseline_on_test": false,</a:t>
            </a:r>
          </a:p>
          <a:p>
            <a:r>
              <a:t>        "recursive_horizons_worse_than_baseline": [</a:t>
            </a:r>
          </a:p>
          <a:p>
            <a:r>
              <a:t>          "2",</a:t>
            </a:r>
          </a:p>
          <a:p>
            <a:r>
              <a:t>          "3"</a:t>
            </a:r>
          </a:p>
          <a:p>
            <a:r>
              <a:t>        ]</a:t>
            </a:r>
          </a:p>
          <a:p>
            <a:r>
              <a:t>      },</a:t>
            </a:r>
          </a:p>
          <a:p>
            <a:r>
              <a:t>      "spending_krw": {</a:t>
            </a:r>
          </a:p>
          <a:p>
            <a:r>
              <a:t>        "test_mae": 8003403761.33,</a:t>
            </a:r>
          </a:p>
          <a:p>
            <a:r>
              <a:t>        "recursive_mae": {</a:t>
            </a:r>
          </a:p>
          <a:p>
            <a:r>
              <a:t>          "1": {</a:t>
            </a:r>
          </a:p>
          <a:p>
            <a:r>
              <a:t>            "baseline": 5076101500.0,</a:t>
            </a:r>
          </a:p>
          <a:p>
            <a:r>
              <a:t>            "selected": 7122970056.0,</a:t>
            </a:r>
          </a:p>
          <a:p>
            <a:r>
              <a:t>            "sample_count": 2</a:t>
            </a:r>
          </a:p>
          <a:p>
            <a:r>
              <a:t>          },</a:t>
            </a:r>
          </a:p>
          <a:p>
            <a:r>
              <a:t>          "2": {</a:t>
            </a:r>
          </a:p>
          <a:p>
            <a:r>
              <a:t>            "baseline": 6206652500.0,</a:t>
            </a:r>
          </a:p>
          <a:p>
            <a:r>
              <a:t>            "selected": 11322988654.0,</a:t>
            </a:r>
          </a:p>
          <a:p>
            <a:r>
              <a:t>            "sample_count": 2</a:t>
            </a:r>
          </a:p>
          <a:p>
            <a:r>
              <a:t>          },</a:t>
            </a:r>
          </a:p>
          <a:p>
            <a:r>
              <a:t>          "3": {</a:t>
            </a:r>
          </a:p>
          <a:p>
            <a:r>
              <a:t>            "baseline": 4379312000.0,</a:t>
            </a:r>
          </a:p>
          <a:p>
            <a:r>
              <a:t>            "selected": 12415950624.0,</a:t>
            </a:r>
          </a:p>
          <a:p>
            <a:r>
              <a:t>            "sample_count": 2</a:t>
            </a:r>
          </a:p>
          <a:p>
            <a:r>
              <a:t>          }</a:t>
            </a:r>
          </a:p>
          <a:p>
            <a:r>
              <a:t>        },</a:t>
            </a:r>
          </a:p>
          <a:p>
            <a:r>
              <a:t>        "selected_model": "LinearRegression",</a:t>
            </a:r>
          </a:p>
          <a:p>
            <a:r>
              <a:t>        "baseline_test_mae": 4727706750.0,</a:t>
            </a:r>
          </a:p>
          <a:p>
            <a:r>
              <a:t>        "model_reliability": "below_baseline_on_test",</a:t>
            </a:r>
          </a:p>
          <a:p>
            <a:r>
              <a:t>        "beats_baseline_on_test": false,</a:t>
            </a:r>
          </a:p>
          <a:p>
            <a:r>
              <a:t>        "recursive_horizons_worse_than_baseline": [</a:t>
            </a:r>
          </a:p>
          <a:p>
            <a:r>
              <a:t>          "1",</a:t>
            </a:r>
          </a:p>
          <a:p>
            <a:r>
              <a:t>          "2",</a:t>
            </a:r>
          </a:p>
          <a:p>
            <a:r>
              <a:t>          "3"</a:t>
            </a:r>
          </a:p>
          <a:p>
            <a:r>
              <a:t>        ]</a:t>
            </a:r>
          </a:p>
          <a:p>
            <a:r>
              <a:t>      },</a:t>
            </a:r>
          </a:p>
          <a:p>
            <a:r>
              <a:t>      "stay_minutes": {</a:t>
            </a:r>
          </a:p>
          <a:p>
            <a:r>
              <a:t>        "test_mae": 208.5,</a:t>
            </a:r>
          </a:p>
          <a:p>
            <a:r>
              <a:t>        "recursive_mae": {</a:t>
            </a:r>
          </a:p>
          <a:p>
            <a:r>
              <a:t>          "1": {</a:t>
            </a:r>
          </a:p>
          <a:p>
            <a:r>
              <a:t>            "baseline": 107.5,</a:t>
            </a:r>
          </a:p>
          <a:p>
            <a:r>
              <a:t>            "selected": 107.5,</a:t>
            </a:r>
          </a:p>
          <a:p>
            <a:r>
              <a:t>            "sample_count": 2</a:t>
            </a:r>
          </a:p>
          <a:p>
            <a:r>
              <a:t>          },</a:t>
            </a:r>
          </a:p>
          <a:p>
            <a:r>
              <a:t>          "2": {</a:t>
            </a:r>
          </a:p>
          <a:p>
            <a:r>
              <a:t>            "baseline": 360.0,</a:t>
            </a:r>
          </a:p>
          <a:p>
            <a:r>
              <a:t>            "selected": 360.0,</a:t>
            </a:r>
          </a:p>
          <a:p>
            <a:r>
              <a:t>            "sample_count": 2</a:t>
            </a:r>
          </a:p>
          <a:p>
            <a:r>
              <a:t>          },</a:t>
            </a:r>
          </a:p>
          <a:p>
            <a:r>
              <a:t>          "3": {</a:t>
            </a:r>
          </a:p>
          <a:p>
            <a:r>
              <a:t>            "baseline": 309.5,</a:t>
            </a:r>
          </a:p>
          <a:p>
            <a:r>
              <a:t>            "selected": 309.5,</a:t>
            </a:r>
          </a:p>
          <a:p>
            <a:r>
              <a:t>            "sample_count": 2</a:t>
            </a:r>
          </a:p>
          <a:p>
            <a:r>
              <a:t>          }</a:t>
            </a:r>
          </a:p>
          <a:p>
            <a:r>
              <a:t>        },</a:t>
            </a:r>
          </a:p>
          <a:p>
            <a:r>
              <a:t>        "selected_model": "seasonal_naive_previous_year_same_month",</a:t>
            </a:r>
          </a:p>
          <a:p>
            <a:r>
              <a:t>        "baseline_test_mae": 208.5,</a:t>
            </a:r>
          </a:p>
          <a:p>
            <a:r>
              <a:t>        "model_reliability": "seasonal_baseline",</a:t>
            </a:r>
          </a:p>
          <a:p>
            <a:r>
              <a:t>        "beats_baseline_on_test": false,</a:t>
            </a:r>
          </a:p>
          <a:p>
            <a:r>
              <a:t>        "recursive_horizons_worse_than_baseline": []</a:t>
            </a:r>
          </a:p>
          <a:p>
            <a:r>
              <a:t>      },</a:t>
            </a:r>
          </a:p>
          <a:p>
            <a:r>
              <a:t>      "lodging_nights": {</a:t>
            </a:r>
          </a:p>
          <a:p>
            <a:r>
              <a:t>        "test_mae": 0.1,</a:t>
            </a:r>
          </a:p>
          <a:p>
            <a:r>
              <a:t>        "recursive_mae": {</a:t>
            </a:r>
          </a:p>
          <a:p>
            <a:r>
              <a:t>          "1": {</a:t>
            </a:r>
          </a:p>
          <a:p>
            <a:r>
              <a:t>            "baseline": 0.06,</a:t>
            </a:r>
          </a:p>
          <a:p>
            <a:r>
              <a:t>            "selected": 0.09,</a:t>
            </a:r>
          </a:p>
          <a:p>
            <a:r>
              <a:t>            "sample_count": 2</a:t>
            </a:r>
          </a:p>
          <a:p>
            <a:r>
              <a:t>          },</a:t>
            </a:r>
          </a:p>
          <a:p>
            <a:r>
              <a:t>          "2": {</a:t>
            </a:r>
          </a:p>
          <a:p>
            <a:r>
              <a:t>            "baseline": 0.08,</a:t>
            </a:r>
          </a:p>
          <a:p>
            <a:r>
              <a:t>            "selected": 0.11,</a:t>
            </a:r>
          </a:p>
          <a:p>
            <a:r>
              <a:t>            "sample_count": 2</a:t>
            </a:r>
          </a:p>
          <a:p>
            <a:r>
              <a:t>          },</a:t>
            </a:r>
          </a:p>
          <a:p>
            <a:r>
              <a:t>          "3": {</a:t>
            </a:r>
          </a:p>
          <a:p>
            <a:r>
              <a:t>            "baseline": 0.07,</a:t>
            </a:r>
          </a:p>
          <a:p>
            <a:r>
              <a:t>            "selected": 0.11,</a:t>
            </a:r>
          </a:p>
          <a:p>
            <a:r>
              <a:t>            "sample_count": 2</a:t>
            </a:r>
          </a:p>
          <a:p>
            <a:r>
              <a:t>          }</a:t>
            </a:r>
          </a:p>
          <a:p>
            <a:r>
              <a:t>        },</a:t>
            </a:r>
          </a:p>
          <a:p>
            <a:r>
              <a:t>        "selected_model": "LinearRegression",</a:t>
            </a:r>
          </a:p>
          <a:p>
            <a:r>
              <a:t>        "baseline_test_mae": 0.07,</a:t>
            </a:r>
          </a:p>
          <a:p>
            <a:r>
              <a:t>        "model_reliability": "below_baseline_on_test",</a:t>
            </a:r>
          </a:p>
          <a:p>
            <a:r>
              <a:t>        "beats_baseline_on_test": false,</a:t>
            </a:r>
          </a:p>
          <a:p>
            <a:r>
              <a:t>        "recursive_horizons_worse_than_baseline": [</a:t>
            </a:r>
          </a:p>
          <a:p>
            <a:r>
              <a:t>          "1",</a:t>
            </a:r>
          </a:p>
          <a:p>
            <a:r>
              <a:t>          "2",</a:t>
            </a:r>
          </a:p>
          <a:p>
            <a:r>
              <a:t>          "3"</a:t>
            </a:r>
          </a:p>
          <a:p>
            <a:r>
              <a:t>        ]</a:t>
            </a:r>
          </a:p>
          <a:p>
            <a:r>
              <a:t>      },</a:t>
            </a:r>
          </a:p>
          <a:p>
            <a:r>
              <a:t>      "lodging_rate_pct": {</a:t>
            </a:r>
          </a:p>
          <a:p>
            <a:r>
              <a:t>        "test_mae": 0.57,</a:t>
            </a:r>
          </a:p>
          <a:p>
            <a:r>
              <a:t>        "recursive_mae": {</a:t>
            </a:r>
          </a:p>
          <a:p>
            <a:r>
              <a:t>          "1": {</a:t>
            </a:r>
          </a:p>
          <a:p>
            <a:r>
              <a:t>            "baseline": 0.8,</a:t>
            </a:r>
          </a:p>
          <a:p>
            <a:r>
              <a:t>            "selected": 0.8,</a:t>
            </a:r>
          </a:p>
          <a:p>
            <a:r>
              <a:t>            "sample_count": 2</a:t>
            </a:r>
          </a:p>
          <a:p>
            <a:r>
              <a:t>          },</a:t>
            </a:r>
          </a:p>
          <a:p>
            <a:r>
              <a:t>          "2": {</a:t>
            </a:r>
          </a:p>
          <a:p>
            <a:r>
              <a:t>            "baseline": 0.3,</a:t>
            </a:r>
          </a:p>
          <a:p>
            <a:r>
              <a:t>            "selected": 0.3,</a:t>
            </a:r>
          </a:p>
          <a:p>
            <a:r>
              <a:t>            "sample_count": 2</a:t>
            </a:r>
          </a:p>
          <a:p>
            <a:r>
              <a:t>          },</a:t>
            </a:r>
          </a:p>
          <a:p>
            <a:r>
              <a:t>          "3": {</a:t>
            </a:r>
          </a:p>
          <a:p>
            <a:r>
              <a:t>            "baseline": 0.35,</a:t>
            </a:r>
          </a:p>
          <a:p>
            <a:r>
              <a:t>            "selected": 0.35,</a:t>
            </a:r>
          </a:p>
          <a:p>
            <a:r>
              <a:t>            "sample_count": 2</a:t>
            </a:r>
          </a:p>
          <a:p>
            <a:r>
              <a:t>          }</a:t>
            </a:r>
          </a:p>
          <a:p>
            <a:r>
              <a:t>        },</a:t>
            </a:r>
          </a:p>
          <a:p>
            <a:r>
              <a:t>        "selected_model": "seasonal_naive_previous_year_same_month",</a:t>
            </a:r>
          </a:p>
          <a:p>
            <a:r>
              <a:t>        "baseline_test_mae": 0.57,</a:t>
            </a:r>
          </a:p>
          <a:p>
            <a:r>
              <a:t>        "model_reliability": "seasonal_baseline",</a:t>
            </a:r>
          </a:p>
          <a:p>
            <a:r>
              <a:t>        "beats_baseline_on_test": false,</a:t>
            </a:r>
          </a:p>
          <a:p>
            <a:r>
              <a:t>        "recursive_horizons_worse_than_baseline": []</a:t>
            </a:r>
          </a:p>
          <a:p>
            <a:r>
              <a:t>      },</a:t>
            </a:r>
          </a:p>
          <a:p>
            <a:r>
              <a:t>      "lodging_searches": {</a:t>
            </a:r>
          </a:p>
          <a:p>
            <a:r>
              <a:t>        "test_mae": 3695.69,</a:t>
            </a:r>
          </a:p>
          <a:p>
            <a:r>
              <a:t>        "recursive_mae": {</a:t>
            </a:r>
          </a:p>
          <a:p>
            <a:r>
              <a:t>          "1": {</a:t>
            </a:r>
          </a:p>
          <a:p>
            <a:r>
              <a:t>            "baseline": 2404.0,</a:t>
            </a:r>
          </a:p>
          <a:p>
            <a:r>
              <a:t>            "selected": 3550.0,</a:t>
            </a:r>
          </a:p>
          <a:p>
            <a:r>
              <a:t>            "sample_count": 2</a:t>
            </a:r>
          </a:p>
          <a:p>
            <a:r>
              <a:t>          },</a:t>
            </a:r>
          </a:p>
          <a:p>
            <a:r>
              <a:t>          "2": {</a:t>
            </a:r>
          </a:p>
          <a:p>
            <a:r>
              <a:t>            "baseline": 2584.5,</a:t>
            </a:r>
          </a:p>
          <a:p>
            <a:r>
              <a:t>            "selected": 3318.0,</a:t>
            </a:r>
          </a:p>
          <a:p>
            <a:r>
              <a:t>            "sample_count": 2</a:t>
            </a:r>
          </a:p>
          <a:p>
            <a:r>
              <a:t>          },</a:t>
            </a:r>
          </a:p>
          <a:p>
            <a:r>
              <a:t>          "3": {</a:t>
            </a:r>
          </a:p>
          <a:p>
            <a:r>
              <a:t>            "baseline": 2765.5,</a:t>
            </a:r>
          </a:p>
          <a:p>
            <a:r>
              <a:t>            "selected": 3897.5,</a:t>
            </a:r>
          </a:p>
          <a:p>
            <a:r>
              <a:t>            "sample_count": 2</a:t>
            </a:r>
          </a:p>
          <a:p>
            <a:r>
              <a:t>          }</a:t>
            </a:r>
          </a:p>
          <a:p>
            <a:r>
              <a:t>        },</a:t>
            </a:r>
          </a:p>
          <a:p>
            <a:r>
              <a:t>        "selected_model": "RandomForestRegressor",</a:t>
            </a:r>
          </a:p>
          <a:p>
            <a:r>
              <a:t>        "baseline_test_mae": 2584.75,</a:t>
            </a:r>
          </a:p>
          <a:p>
            <a:r>
              <a:t>        "model_reliability": "below_baseline_on_test",</a:t>
            </a:r>
          </a:p>
          <a:p>
            <a:r>
              <a:t>        "beats_baseline_on_test": false,</a:t>
            </a:r>
          </a:p>
          <a:p>
            <a:r>
              <a:t>        "recursive_horizons_worse_than_baseline": [</a:t>
            </a:r>
          </a:p>
          <a:p>
            <a:r>
              <a:t>          "1",</a:t>
            </a:r>
          </a:p>
          <a:p>
            <a:r>
              <a:t>          "2",</a:t>
            </a:r>
          </a:p>
          <a:p>
            <a:r>
              <a:t>          "3"</a:t>
            </a:r>
          </a:p>
          <a:p>
            <a:r>
              <a:t>        ]</a:t>
            </a:r>
          </a:p>
          <a:p>
            <a:r>
              <a:t>      },</a:t>
            </a:r>
          </a:p>
          <a:p>
            <a:r>
              <a:t>      "navigation_searches": {</a:t>
            </a:r>
          </a:p>
          <a:p>
            <a:r>
              <a:t>        "test_mae": 26562.0,</a:t>
            </a:r>
          </a:p>
          <a:p>
            <a:r>
              <a:t>        "recursive_mae": {</a:t>
            </a:r>
          </a:p>
          <a:p>
            <a:r>
              <a:t>          "1": {</a:t>
            </a:r>
          </a:p>
          <a:p>
            <a:r>
              <a:t>            "baseline": 30053.5,</a:t>
            </a:r>
          </a:p>
          <a:p>
            <a:r>
              <a:t>            "selected": 30053.5,</a:t>
            </a:r>
          </a:p>
          <a:p>
            <a:r>
              <a:t>            "sample_count": 2</a:t>
            </a:r>
          </a:p>
          <a:p>
            <a:r>
              <a:t>          },</a:t>
            </a:r>
          </a:p>
          <a:p>
            <a:r>
              <a:t>          "2": {</a:t>
            </a:r>
          </a:p>
          <a:p>
            <a:r>
              <a:t>            "baseline": 40942.5,</a:t>
            </a:r>
          </a:p>
          <a:p>
            <a:r>
              <a:t>            "selected": 40942.5,</a:t>
            </a:r>
          </a:p>
          <a:p>
            <a:r>
              <a:t>            "sample_count": 2</a:t>
            </a:r>
          </a:p>
          <a:p>
            <a:r>
              <a:t>          },</a:t>
            </a:r>
          </a:p>
          <a:p>
            <a:r>
              <a:t>          "3": {</a:t>
            </a:r>
          </a:p>
          <a:p>
            <a:r>
              <a:t>            "baseline": 23070.5,</a:t>
            </a:r>
          </a:p>
          <a:p>
            <a:r>
              <a:t>            "selected": 23070.5,</a:t>
            </a:r>
          </a:p>
          <a:p>
            <a:r>
              <a:t>            "sample_count": 2</a:t>
            </a:r>
          </a:p>
          <a:p>
            <a:r>
              <a:t>          }</a:t>
            </a:r>
          </a:p>
          <a:p>
            <a:r>
              <a:t>        },</a:t>
            </a:r>
          </a:p>
          <a:p>
            <a:r>
              <a:t>        "selected_model": "seasonal_naive_previous_year_same_month",</a:t>
            </a:r>
          </a:p>
          <a:p>
            <a:r>
              <a:t>        "baseline_test_mae": 26562.0,</a:t>
            </a:r>
          </a:p>
          <a:p>
            <a:r>
              <a:t>        "model_reliability": "seasonal_baseline",</a:t>
            </a:r>
          </a:p>
          <a:p>
            <a:r>
              <a:t>        "beats_baseline_on_test": false,</a:t>
            </a:r>
          </a:p>
          <a:p>
            <a:r>
              <a:t>        "recursive_horizons_worse_than_baseline": []</a:t>
            </a:r>
          </a:p>
          <a:p>
            <a:r>
              <a:t>      }</a:t>
            </a:r>
          </a:p>
          <a:p>
            <a:r>
              <a:t>    },</a:t>
            </a:r>
          </a:p>
          <a:p>
            <a:r>
              <a:t>    "test_period": "202603~202606",</a:t>
            </a:r>
          </a:p>
          <a:p>
            <a:r>
              <a:t>    "selection_basis": "validation_mae_only",</a:t>
            </a:r>
          </a:p>
          <a:p>
            <a:r>
              <a:t>    "validation_period": "202512~202602",</a:t>
            </a:r>
          </a:p>
          <a:p>
            <a:r>
              <a:t>    "longer_horizon_status": "exploratory_not_recursively_backtested",</a:t>
            </a:r>
          </a:p>
          <a:p>
            <a:r>
              <a:t>    "forecast_horizon_months": 8,</a:t>
            </a:r>
          </a:p>
          <a:p>
            <a:r>
              <a:t>    "recursive_backtest_horizon_months": [</a:t>
            </a:r>
          </a:p>
          <a:p>
            <a:r>
              <a:t>      1,</a:t>
            </a:r>
          </a:p>
          <a:p>
            <a:r>
              <a:t>      2,</a:t>
            </a:r>
          </a:p>
          <a:p>
            <a:r>
              <a:t>      3</a:t>
            </a:r>
          </a:p>
          <a:p>
            <a:r>
              <a:t>    ]</a:t>
            </a:r>
          </a:p>
          <a:p>
            <a:r>
              <a:t>  },</a:t>
            </a:r>
          </a:p>
          <a:p>
            <a:r>
              <a:t>  "execution_scenario": {</a:t>
            </a:r>
          </a:p>
          <a:p>
            <a:r>
              <a:t>    "visitor_target_pct": 5.0,</a:t>
            </a:r>
          </a:p>
          <a:p>
            <a:r>
              <a:t>    "spending_target_pct": 5.0</a:t>
            </a:r>
          </a:p>
          <a:p>
            <a:r>
              <a:t>  },</a:t>
            </a:r>
          </a:p>
          <a:p>
            <a:r>
              <a:t>  "reference_estimate": {</a:t>
            </a:r>
          </a:p>
          <a:p>
            <a:r>
              <a:t>    "status": "saved_report_budget",</a:t>
            </a:r>
          </a:p>
          <a:p>
            <a:r>
              <a:t>    "total_label": "총액 미확정",</a:t>
            </a:r>
          </a:p>
          <a:p>
            <a:r>
              <a:t>    "rows": [</a:t>
            </a:r>
          </a:p>
          <a:p>
            <a:r>
              <a:t>      [</a:t>
            </a:r>
          </a:p>
          <a:p>
            <a:r>
              <a:t>        "산정 내역 1",</a:t>
            </a:r>
          </a:p>
          <a:p>
            <a:r>
              <a:t>        "기획 가정/미확정 참고 견적: 운영 콘텐츠 수×콘텐츠별 비교견적 + 운영일수×일일 운영·안전 견적 + 참여업체 수×업체 준비비 견적 + 측정 원장 1식×구축 견적. 사업 담당자가 착수 전 수량을 정하고 회계 담당자가 같은 조건의 비교견적 2건 이상으로 단가·부가세·총액을 확정함.",</a:t>
            </a:r>
          </a:p>
          <a:p>
            <a:r>
              <a:t>        "본문 기준"</a:t>
            </a:r>
          </a:p>
          <a:p>
            <a:r>
              <a:t>      ]</a:t>
            </a:r>
          </a:p>
          <a:p>
            <a:r>
              <a:t>    ],</a:t>
            </a:r>
          </a:p>
          <a:p>
            <a:r>
              <a:t>    "original_text": "기획 가정/미확정 참고 견적: 운영 콘텐츠 수×콘텐츠별 비교견적 + 운영일수×일일 운영·안전 견적 + 참여업체 수×업체 준비비 견적 + 측정 원장 1식×구축 견적. 사업 담당자가 착수 전 수량을 정하고 회계 담당자가 같은 조건의 비교견적 2건 이상으로 단가·부가세·총액을 확정함.",</a:t>
            </a:r>
          </a:p>
          <a:p>
            <a:r>
              <a:t>    "sources": [],</a:t>
            </a:r>
          </a:p>
          <a:p>
            <a:r>
              <a:t>    "note": "저장 기획안의 예산 산정 내용을 그대로 표시합니다. 확정 견적이 아니며 계약 전 수량·단가·세금과 합계를 확인합니다."</a:t>
            </a:r>
          </a:p>
          <a:p>
            <a:r>
              <a:t>  }</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관측값·저장 예측·계획 목표는 별개입니다. 문서용 참고 견적이며 원 보고서의 검수 결과를 변경하지 않습니다.</a:t>
            </a:r>
          </a:p>
          <a:p xmlns:a="http://schemas.openxmlformats.org/drawingml/2006/main">
            <a:r>
              <a:t>[Sources]</a:t>
            </a:r>
          </a:p>
          <a:p xmlns:a="http://schemas.openxmlformats.org/drawingml/2006/main">
            <a:r>
              <a:t>dataset:51130:1 | 한국관광 데이터랩 · 강원특별자치도 원주시 순 방문자 수 및 숙박 비율 (이동통신 기반 외지인) | https://datalab.visitkorea.or.kr/</a:t>
            </a:r>
          </a:p>
          <a:p xmlns:a="http://schemas.openxmlformats.org/drawingml/2006/main">
            <a:r>
              <a:t>dataset:51130:2 | 한국관광 데이터랩 · 강원특별자치도 원주시 월간 순 방문자 수 (이동통신 기반 외지인) | https://datalab.visitkorea.or.kr/</a:t>
            </a:r>
          </a:p>
          <a:p xmlns:a="http://schemas.openxmlformats.org/drawingml/2006/main">
            <a:r>
              <a:t>dataset:51130:3 | 한국관광 데이터랩 · 강원특별자치도 원주시 관광소비 추이_외지인 | https://datalab.visitkorea.or.kr/</a:t>
            </a:r>
          </a:p>
          <a:p xmlns:a="http://schemas.openxmlformats.org/drawingml/2006/main">
            <a:r>
              <a:t>dataset:51130:4 | 한국관광 데이터랩 · 강원특별자치도 원주시 숙박방문자 비율 추이 (이동통신 기반 외지인) | https://datalab.visitkorea.or.kr/</a:t>
            </a:r>
          </a:p>
          <a:p xmlns:a="http://schemas.openxmlformats.org/drawingml/2006/main">
            <a:r>
              <a:t>dataset:51130:5 | 한국관광 데이터랩 · 강원특별자치도 원주시 평균 숙박일 (이동통신 기반 외지인) | https://datalab.visitkorea.or.kr/</a:t>
            </a:r>
          </a:p>
          <a:p xmlns:a="http://schemas.openxmlformats.org/drawingml/2006/main">
            <a:r>
              <a:t>dataset:51130:6 | 한국관광 데이터랩 · 강원특별자치도 원주시 내비게이션 목적지 유형별 검색량 | https://datalab.visitkorea.or.kr/</a:t>
            </a:r>
          </a:p>
          <a:p xmlns:a="http://schemas.openxmlformats.org/drawingml/2006/main">
            <a:r>
              <a:t>dataset:51130:7 | 한국관광 데이터랩 · 강원특별자치도 원주시 SNS 언급량 | https://datalab.visitkorea.or.kr/</a:t>
            </a:r>
          </a:p>
          <a:p xmlns:a="http://schemas.openxmlformats.org/drawingml/2006/main">
            <a:r>
              <a:t>datalab:16d84bd9b1d0:620b2639a268 | 한국관광 데이터랩 공식 다운로드 · 강원특별자치도_원주시/숙박_체류시간/2025_01_12.zip | https://datalab.visitkorea.or.kr/</a:t>
            </a:r>
          </a:p>
          <a:p xmlns:a="http://schemas.openxmlformats.org/drawingml/2006/main">
            <a:r>
              <a:t>datalab:242a2c1249d4:f84e1a5f3914 | 한국관광 데이터랩 공식 다운로드 · 강원특별자치도_원주시/숙박_체류시간/2026_01_06.zip | https://datalab.visitkorea.or.kr/</a:t>
            </a:r>
          </a:p>
          <a:p xmlns:a="http://schemas.openxmlformats.org/drawingml/2006/main">
            <a:r>
              <a:t>datalab:a050e5a84ef4:3906c6ac70a7 | 한국관광 데이터랩 공식 다운로드 · 강원특별자치도_원주시/방문자/2025_01_12.zip | https://datalab.visitkorea.or.kr/</a:t>
            </a:r>
          </a:p>
          <a:p xmlns:a="http://schemas.openxmlformats.org/drawingml/2006/main">
            <a:r>
              <a:t>datalab:bd9d3d26da19:991f2264ad4a | 한국관광 데이터랩 공식 다운로드 · 강원특별자치도_원주시/방문자/2026_01_06.zip | https://datalab.visitkorea.or.kr/</a:t>
            </a:r>
          </a:p>
          <a:p xmlns:a="http://schemas.openxmlformats.org/drawingml/2006/main">
            <a:r>
              <a:t>datalab:d54a3fb44037:ee4640b6178b | 한국관광 데이터랩 공식 다운로드 · 강원특별자치도_원주시/관광소비/2026_01_06.zip | https://datalab.visitkorea.or.kr/</a:t>
            </a:r>
          </a:p>
          <a:p xmlns:a="http://schemas.openxmlformats.org/drawingml/2006/main">
            <a:r>
              <a:t>datalab:ebce91b8bf02:1770c2d94cc6 | 한국관광 데이터랩 공식 다운로드 · 강원특별자치도_원주시/관광소비/2025_01_12.zip | https://datalab.visitkorea.or.kr/</a:t>
            </a:r>
          </a:p>
          <a:p xmlns:a="http://schemas.openxmlformats.org/drawingml/2006/main">
            <a:r>
              <a:t>team-bigdata:23ea68053684:6bfbcf8aabf6 | 한국관광 데이터랩 전국 빅데이터 다운로드 · 이동통신/내국인/지역별 방문자수/20260820140607__202601-202606_데이터랩_다운로드.zip | https://datalab.visitkorea.or.kr/</a:t>
            </a:r>
          </a:p>
          <a:p xmlns:a="http://schemas.openxmlformats.org/drawingml/2006/main">
            <a:r>
              <a:t>team-bigdata:98d4ae590d9a:3be52dd54323 | 한국관광 데이터랩 전국 빅데이터 다운로드 · 이동통신/외국인/20260820141710_전국_202601-202606_데이터랩_다운로드.zip | https://datalab.visitkorea.or.kr/</a:t>
            </a:r>
          </a:p>
          <a:p xmlns:a="http://schemas.openxmlformats.org/drawingml/2006/main">
            <a:r>
              <a:t>team-bigdata:367cd0294ec4:873930d645e5 | 한국관광 데이터랩 전국 빅데이터 다운로드 · 신용카드/내국인/지역별 관광지출액/20260820140046__202601-202606_데이터랩_다운로드.zip | https://datalab.visitkorea.or.kr/</a:t>
            </a:r>
          </a:p>
          <a:p xmlns:a="http://schemas.openxmlformats.org/drawingml/2006/main">
            <a:r>
              <a:t>team-bigdata:553a0dad4bb4:5a31355dffe8 | 한국관광 데이터랩 전국 빅데이터 다운로드 · 신용카드/외국인/지역별 관광지출액/20260820140355__202601-202606_데이터랩_다운로드.zip | https://datalab.visitkorea.or.kr/</a:t>
            </a:r>
          </a:p>
          <a:p xmlns:a="http://schemas.openxmlformats.org/drawingml/2006/main">
            <a:r>
              <a:t>team-bigdata:a53dbe1c21df:77a052de41d5 | 한국관광 데이터랩 전국 빅데이터 다운로드 · 네비게이션/지역별 검색건수/20260820195507__202601-202606_데이터랩_다운로드.zip | https://datalab.visitkorea.or.kr/</a:t>
            </a:r>
          </a:p>
          <a:p xmlns:a="http://schemas.openxmlformats.org/drawingml/2006/main">
            <a:r>
              <a:t>team-bigdata:823a38d1d61c:5385261d02e5 | 한국관광 데이터랩 전국 빅데이터 다운로드 · 이동통신/내국인/지역별 방문자수/20260820140614__202501-202512_데이터랩_다운로드.zip | https://datalab.visitkorea.or.kr/</a:t>
            </a:r>
          </a:p>
          <a:p xmlns:a="http://schemas.openxmlformats.org/drawingml/2006/main">
            <a:r>
              <a:t>team-bigdata:2723bdb0d589:1666a34058ed | 한국관광 데이터랩 전국 빅데이터 다운로드 · 이동통신/외국인/20260820141649_전국_202501-202512_데이터랩_다운로드.zip | https://datalab.visitkorea.or.kr/</a:t>
            </a:r>
          </a:p>
          <a:p xmlns:a="http://schemas.openxmlformats.org/drawingml/2006/main">
            <a:r>
              <a:t>team-bigdata:83177a234971:c02cb7972e0f | 한국관광 데이터랩 전국 빅데이터 다운로드 · 신용카드/내국인/지역별 관광지출액/20260820135957__202501-202512_데이터랩_다운로드.zip | https://datalab.visitkorea.or.kr/</a:t>
            </a:r>
          </a:p>
          <a:p xmlns:a="http://schemas.openxmlformats.org/drawingml/2006/main">
            <a:r>
              <a:t>team-bigdata:58ded7732251:589c76395cbc | 한국관광 데이터랩 전국 빅데이터 다운로드 · 신용카드/외국인/지역별 관광지출액/20260820140409__202501-202512_데이터랩_다운로드.zip | https://datalab.visitkorea.or.kr/</a:t>
            </a:r>
          </a:p>
          <a:p xmlns:a="http://schemas.openxmlformats.org/drawingml/2006/main">
            <a:r>
              <a:t>team-bigdata:e28c947cb52f:bb4cb344a6ba | 한국관광 데이터랩 전국 빅데이터 다운로드 · 네비게이션/지역별 검색건수/20260820132007__202501-202512_데이터랩_다운로드.zip | https://datalab.visitkorea.or.kr/</a:t>
            </a:r>
          </a:p>
          <a:p xmlns:a="http://schemas.openxmlformats.org/drawingml/2006/main">
            <a:r>
              <a:t>team-bigdata:8815bbb11a39:1a5988f5f8ec | 한국관광 데이터랩 전국 빅데이터 다운로드 · 이동통신/내국인/지역별 방문자수/20260820140624__202401-202412_데이터랩_다운로드.zip | https://datalab.visitkorea.or.kr/</a:t>
            </a:r>
          </a:p>
          <a:p xmlns:a="http://schemas.openxmlformats.org/drawingml/2006/main">
            <a:r>
              <a:t>team-bigdata:19fd67fbb73d:afa4f0f54a2f | 한국관광 데이터랩 전국 빅데이터 다운로드 · 이동통신/외국인/20260820141639_전국_202401-202412_데이터랩_다운로드.zip | https://datalab.visitkorea.or.kr/</a:t>
            </a:r>
          </a:p>
          <a:p xmlns:a="http://schemas.openxmlformats.org/drawingml/2006/main">
            <a:r>
              <a:t>regional-status:90f2be7a0f7d:b989a6c2e7bf | 한국관광 데이터랩 지역별 관광 현황 · 강원특별자치도 원주시 · 유입유출 | https://datalab.visitkorea.or.kr/</a:t>
            </a:r>
          </a:p>
          <a:p xmlns:a="http://schemas.openxmlformats.org/drawingml/2006/main">
            <a:r>
              <a:t>regional-status:c39767bd23e8:e3b081f6e6aa | 한국관광 데이터랩 지역별 관광 현황 · 강원특별자치도 원주시 · 지역집중률 | https://datalab.visitkorea.or.kr/</a:t>
            </a:r>
          </a:p>
          <a:p xmlns:a="http://schemas.openxmlformats.org/drawingml/2006/main">
            <a:r>
              <a:t>regional-status:edaf76986d99:c00fa7ffc0a7 | 한국관광 데이터랩 지역별 관광 현황 · 강원특별자치도 원주시 · 인기관광지 | https://datalab.visitkorea.or.kr/</a:t>
            </a:r>
          </a:p>
          <a:p xmlns:a="http://schemas.openxmlformats.org/drawingml/2006/main">
            <a:r>
              <a:t>ml:51130:regional-demand-v3.1:202606 | 지역 관광수요 ML 전망 · 공식 관측값 아님 | URL 미기록</a:t>
            </a:r>
          </a:p>
          <a:p xmlns:a="http://schemas.openxmlformats.org/drawingml/2006/main">
            <a:r>
              <a:t>tour-api:2732999 | 감악산캠핑숲 | https://apis.data.go.kr/B551011/KorService2</a:t>
            </a:r>
          </a:p>
          <a:p xmlns:a="http://schemas.openxmlformats.org/drawingml/2006/main">
            <a:r>
              <a:t>tour-api:2555010 | 강원감영관찰사·무릉고서화미술박물관 | https://apis.data.go.kr/B551011/KorService2</a:t>
            </a:r>
          </a:p>
          <a:p xmlns:a="http://schemas.openxmlformats.org/drawingml/2006/main">
            <a:r>
              <a:t>tour-api:2734136 | 강원도힐링캠핑장 | https://apis.data.go.kr/B551011/KorService2</a:t>
            </a:r>
          </a:p>
          <a:p xmlns:a="http://schemas.openxmlformats.org/drawingml/2006/main">
            <a:r>
              <a:t>tour-api:2702477 | 경천묘 | https://apis.data.go.kr/B551011/KorService2</a:t>
            </a:r>
          </a:p>
          <a:p xmlns:a="http://schemas.openxmlformats.org/drawingml/2006/main">
            <a:r>
              <a:t>tour-api:130539 | 고판화박물관 | https://apis.data.go.kr/B551011/KorService2</a:t>
            </a:r>
          </a:p>
          <a:p xmlns:a="http://schemas.openxmlformats.org/drawingml/2006/main">
            <a:r>
              <a:t>tour-api:125645 | 관음사·국형사계곡 | https://apis.data.go.kr/B551011/KorService2</a:t>
            </a:r>
          </a:p>
          <a:p xmlns:a="http://schemas.openxmlformats.org/drawingml/2006/main">
            <a:r>
              <a:t>tour-api:3356037 | 광화문갈비 원주점 | https://apis.data.go.kr/B551011/KorService2</a:t>
            </a:r>
          </a:p>
          <a:p xmlns:a="http://schemas.openxmlformats.org/drawingml/2006/main">
            <a:r>
              <a:t>tour-api:2762710 | 구 조선식산은행 원주지점 | https://apis.data.go.kr/B551011/KorService2</a:t>
            </a:r>
          </a:p>
          <a:p xmlns:a="http://schemas.openxmlformats.org/drawingml/2006/main">
            <a:r>
              <a:t>tour-api:125757 | 국형사 | https://apis.data.go.kr/B551011/KorService2</a:t>
            </a:r>
          </a:p>
          <a:p xmlns:a="http://schemas.openxmlformats.org/drawingml/2006/main">
            <a:r>
              <a:t>tour-api:2033279 | 금대 에코힐링 캠핑장 | https://apis.data.go.kr/B551011/KorService2</a:t>
            </a:r>
          </a:p>
          <a:p xmlns:a="http://schemas.openxmlformats.org/drawingml/2006/main">
            <a:r>
              <a:t>tour-api:129676 | 금대계곡 | https://apis.data.go.kr/B551011/KorService2</a:t>
            </a:r>
          </a:p>
          <a:p xmlns:a="http://schemas.openxmlformats.org/drawingml/2006/main">
            <a:r>
              <a:t>tour-api:2734906 | 금대자동차야영장 | https://apis.data.go.kr/B551011/KorService2</a:t>
            </a:r>
          </a:p>
          <a:p xmlns:a="http://schemas.openxmlformats.org/drawingml/2006/main">
            <a:r>
              <a:t>tour-api:2714800 | 기후변화홍보관 | https://apis.data.go.kr/B551011/KorService2</a:t>
            </a:r>
          </a:p>
          <a:p xmlns:a="http://schemas.openxmlformats.org/drawingml/2006/main">
            <a:r>
              <a:t>tour-api:2892327 | 김가네원주추어탕 | https://apis.data.go.kr/B551011/KorService2</a:t>
            </a:r>
          </a:p>
          <a:p xmlns:a="http://schemas.openxmlformats.org/drawingml/2006/main">
            <a:r>
              <a:t>tour-api:129284 | 김제남 신도비 | https://apis.data.go.kr/B551011/KorService2</a:t>
            </a:r>
          </a:p>
          <a:p xmlns:a="http://schemas.openxmlformats.org/drawingml/2006/main">
            <a:r>
              <a:t>tour-api:512084 | 넌스키 난보드 | https://apis.data.go.kr/B551011/KorService2</a:t>
            </a:r>
          </a:p>
          <a:p xmlns:a="http://schemas.openxmlformats.org/drawingml/2006/main">
            <a:r>
              <a:t>tour-api:2778036 | 단관공원 | https://apis.data.go.kr/B551011/KorService2</a:t>
            </a:r>
          </a:p>
          <a:p xmlns:a="http://schemas.openxmlformats.org/drawingml/2006/main">
            <a:r>
              <a:t>tour-api:2892320 | 동승루 | https://apis.data.go.kr/B551011/KorService2</a:t>
            </a:r>
          </a:p>
          <a:p xmlns:a="http://schemas.openxmlformats.org/drawingml/2006/main">
            <a:r>
              <a:t>tour-api:2892312 | 들꽃가든 | https://apis.data.go.kr/B551011/KorService2</a:t>
            </a:r>
          </a:p>
          <a:p xmlns:a="http://schemas.openxmlformats.org/drawingml/2006/main">
            <a:r>
              <a:t>tour-api:2809292 | 들꽃이야기 | https://apis.data.go.kr/B551011/KorService2</a:t>
            </a:r>
          </a:p>
          <a:p xmlns:a="http://schemas.openxmlformats.org/drawingml/2006/main">
            <a:r>
              <a:t>reference:kto:2026:local-airport | 요즘, 한국관광 2호 - 지방공항 연계 지역관광 활성화 방안 | PDF 44쪽, PDF 43쪽, PDF 38쪽, PDF 40쪽, PDF 41쪽, PDF 36쪽, PDF 41쪽, PDF 44쪽, PDF 43쪽, PDF 43쪽 | https://datalab.visitkorea.or.kr/site/portal/ex/bbs/View.do?bcIdx=311068&amp;cbIdx=1135&amp;pageIndex=1</a:t>
            </a:r>
          </a:p>
          <a:p xmlns:a="http://schemas.openxmlformats.org/drawingml/2006/main">
            <a:r>
              <a:t>case:jeonju_night_budget_2026 | 전주시 2026년도 관광산업과 세출예산 사업명세서 | https://jeonju.go.kr/resource/www/images/download/budget/2026/2026_31_2.pdf</a:t>
            </a:r>
          </a:p>
          <a:p xmlns:a="http://schemas.openxmlformats.org/drawingml/2006/main">
            <a:r>
              <a:t>case:4625625dcbf2ae | (기획) 인천을 즐기는 가장 쉬운(easy) 방법 … 인천e지 | https://www.incheon.go.kr/IC010205/view?beginDt=&amp;curPage=1&amp;endDt=&amp;repSeq=DOM_0000000013130282&amp;srchMainManagerDeptNm=&amp;srchRepContents=%EC%A3%BC%EC%B0%A8&amp;srchRepTitle=</a:t>
            </a:r>
          </a:p>
          <a:p xmlns:a="http://schemas.openxmlformats.org/drawingml/2006/main">
            <a:r>
              <a:t>case:digital_tourism_resident_2024 | 2024년 6월 여행가는 달 추진 보도자료 | https://mcst.go.kr/servlets/eduport/front/upload/UplDownloadFile?pFileName=%280514%29%EB%AC%B8%EC%B2%B4%EB%B6%80%EB%B3%B4%EB%8F%84%EC%9E%90%EB%A3%8C-6%EC%9B%94_%EC%97%AC%ED%96%89%EA%B0%80%EB%8A%94_%EB%8B%AC_%EC%B6%94%EC%A7%84.pdf&amp;pPath=0302000000&amp;pRealName=20240514083202149235802932_PRESS20240514083202456506.pdf</a:t>
            </a:r>
          </a:p>
          <a:p xmlns:a="http://schemas.openxmlformats.org/drawingml/2006/main">
            <a:r>
              <a:t>case:kto_stay_discount_2022 | 2022 대한민국 숙박대전 경제파급효과 공개자료 | https://kto.visitkorea.or.kr/upload/flexer/upload/ktobiz/20220928/b623b5f9-3ec0-11ed-9832-ddf31964842e.hwp.files/Sections1.html</a:t>
            </a:r>
          </a:p>
          <a:p xmlns:a="http://schemas.openxmlformats.org/drawingml/2006/main">
            <a:r>
              <a:t>case:37471b1e063812 | 한강 밤핑(Night+Camping) 행사·공연 정보 | https://hangang.seoul.go.kr/www/eventMng/detail.do?evntSn=441&amp;keyword=&amp;mid=538&amp;opt11=&amp;opt12=&amp;opt13=&amp;opt14=&amp;opt4=&amp;pageNo=2&amp;srchType=list</a:t>
            </a:r>
          </a:p>
          <a:p xmlns:a="http://schemas.openxmlformats.org/drawingml/2006/main">
            <a:r>
              <a:t>case:gangjin_half_price_2024 | 강진 반값여행 지역경제 효과 소개 | https://jnfarm.jeonnam.go.kr/board/FARM_BOARD_008/boardView.do?bdId=BD_00000000000011721&amp;menuCd=farm004002</a:t>
            </a:r>
          </a:p>
          <a:p xmlns:a="http://schemas.openxmlformats.org/drawingml/2006/main">
            <a:r>
              <a:t>case:c6d4752e1342a7 | 지역사랑 휴가지원(반값여행) 신설 및 ‘대한민국 반값여행’ 성과 분석 | https://www.mcst.go.kr/site/s_policy/govPolicy/performTotal.jsp</a:t>
            </a:r>
          </a:p>
          <a:p xmlns:a="http://schemas.openxmlformats.org/drawingml/2006/main">
            <a:r>
              <a:t>case:night_festival_2025 | 2025 대한민국 밤밤페스타 개최 도시 및 일정 | https://korean.visitkorea.or.kr/detail/rem_detail.do?cotid=f9c636b2-dd7c-4f09-af3d-6af43b33d371</a:t>
            </a:r>
          </a:p>
          <a:p xmlns:a="http://schemas.openxmlformats.org/drawingml/2006/main">
            <a:r>
              <a:t>[/Sources]</a:t>
            </a:r>
          </a:p>
          <a:p xmlns:a="http://schemas.openxmlformats.org/drawingml/2006/main">
            <a:r>
              <a:t>[Saved narrative]</a:t>
            </a:r>
          </a:p>
          <a:p xmlns:a="http://schemas.openxmlformats.org/drawingml/2006/main">
            <a:r>
              <a:t>[</a:t>
            </a:r>
          </a:p>
          <a:p xmlns:a="http://schemas.openxmlformats.org/drawingml/2006/main">
            <a:r>
              <a:t>  {</a:t>
            </a:r>
          </a:p>
          <a:p xmlns:a="http://schemas.openxmlformats.org/drawingml/2006/main">
            <a:r>
              <a:t>    "kpi": "①지역 내 소비액 증가율(분자: 사업 기간 내 원주 내 총 결제액, 분모: 전년 같은 기간 값, 산식: (이번 기간 값 - 전년 같은 기간 값) / 전년 같은 기간 값 × 100) ②지역상품권 사용률(분자: 환급 뒤 원주 내 적격 재결제액 합계, 분모: 지급한 환급액 합계) ③기준기간: 운영 기간 ④측정 주기: 매주 ⑤수집 방법: 신청·승인·결제 원장 집계 ⑥성과 판단: 위 계획 목표와 실제 집계 결과를 비교합니다.",</a:t>
            </a:r>
          </a:p>
          <a:p xmlns:a="http://schemas.openxmlformats.org/drawingml/2006/main">
            <a:r>
              <a:t>    "title": "원주시 지역사랑 휴가지원 (반값여행) 프로그램",</a:t>
            </a:r>
          </a:p>
          <a:p xmlns:a="http://schemas.openxmlformats.org/drawingml/2006/main">
            <a:r>
              <a:t>    "budget": "기획 가정/미확정 참고 견적: 운영 콘텐츠 수×콘텐츠별 비교견적 + 운영일수×일일 운영·안전 견적 + 참여업체 수×업체 준비비 견적 + 측정 원장 1식×구축 견적. 사업 담당자가 착수 전 수량을 정하고 회계 담당자가 같은 조건의 비교견적 2건 이상으로 단가·부가세·총액을 확정함.",</a:t>
            </a:r>
          </a:p>
          <a:p xmlns:a="http://schemas.openxmlformats.org/drawingml/2006/main">
            <a:r>
              <a:t>    "evidence": "case:gangjin_half_price_2024, dataset:51130:1, dataset:51130:3",</a:t>
            </a:r>
          </a:p>
          <a:p xmlns:a="http://schemas.openxmlformats.org/drawingml/2006/main">
            <a:r>
              <a:t>    "priority": 1,</a:t>
            </a:r>
          </a:p>
          <a:p xmlns:a="http://schemas.openxmlformats.org/drawingml/2006/main">
            <a:r>
              <a:t>    "solution": "원주시 내 지정된 관광·식음·숙박 가맹점에서 일정 금액 이상 결제한 외지인에게 결제액의 일부를 원주사랑상품권으로 환급하여 지역 내 재소비를 유도함.",</a:t>
            </a:r>
          </a:p>
          <a:p xmlns:a="http://schemas.openxmlformats.org/drawingml/2006/main">
            <a:r>
              <a:t>    "timeframe": "2026-09 ~ 2026-11, 3개월",</a:t>
            </a:r>
          </a:p>
          <a:p xmlns:a="http://schemas.openxmlformats.org/drawingml/2006/main">
            <a:r>
              <a:t>    "expected_effect": "ML 전망상 2026년 11월 소비액은 전년 대비 41.26% 증가할 것으로 보이나, 이는 탐색적 추세일 뿐임. 본 사업은 이 추세와 별개로 '지역 내 재결제'를 통한 추가적인 소비 순증을 목표로 함.",</a:t>
            </a:r>
          </a:p>
          <a:p xmlns:a="http://schemas.openxmlformats.org/drawingml/2006/main">
            <a:r>
              <a:t>    "problem_to_solve": "외지인 방문자 수 감소 및 지역 내 소비 유도 부족",</a:t>
            </a:r>
          </a:p>
          <a:p xmlns:a="http://schemas.openxmlformats.org/drawingml/2006/main">
            <a:r>
              <a:t>    "comparison_analysis": "강진군의 지역환급 방식(case:gangjin_half_price_2024)을 벤치마킹하여 지역 내 결제 순환에 집중하는 모델을 채택함. 이는 인천의 플랫폼 중심 방식(case:4625625dcbf2ae)보다 초기 구축 비용 부담이 적고 즉각적인 소비 유도에 유리함.",</a:t>
            </a:r>
          </a:p>
          <a:p xmlns:a="http://schemas.openxmlformats.org/drawingml/2006/main">
            <a:r>
              <a:t>    "implementation_steps": [</a:t>
            </a:r>
          </a:p>
          <a:p xmlns:a="http://schemas.openxmlformats.org/drawingml/2006/main">
            <a:r>
              <a:t>      {</a:t>
            </a:r>
          </a:p>
          <a:p xmlns:a="http://schemas.openxmlformats.org/drawingml/2006/main">
            <a:r>
              <a:t>        "step": 1,</a:t>
            </a:r>
          </a:p>
          <a:p xmlns:a="http://schemas.openxmlformats.org/drawingml/2006/main">
            <a:r>
              <a:t>        "task": "관광과 담당자가 참여 업체 명단을 확보하고 환급 운영 지침(안)을 작성함",</a:t>
            </a:r>
          </a:p>
          <a:p xmlns:a="http://schemas.openxmlformats.org/drawingml/2006/main">
            <a:r>
              <a:t>        "schedule": "2026-09",</a:t>
            </a:r>
          </a:p>
          <a:p xmlns:a="http://schemas.openxmlformats.org/drawingml/2006/main">
            <a:r>
              <a:t>        "deliverable": "참여 업체 명단 및 환급 운영 지침서(안)"</a:t>
            </a:r>
          </a:p>
          <a:p xmlns:a="http://schemas.openxmlformats.org/drawingml/2006/main">
            <a:r>
              <a:t>      },</a:t>
            </a:r>
          </a:p>
          <a:p xmlns:a="http://schemas.openxmlformats.org/drawingml/2006/main">
            <a:r>
              <a:t>      {</a:t>
            </a:r>
          </a:p>
          <a:p xmlns:a="http://schemas.openxmlformats.org/drawingml/2006/main">
            <a:r>
              <a:t>        "step": 2,</a:t>
            </a:r>
          </a:p>
          <a:p xmlns:a="http://schemas.openxmlformats.org/drawingml/2006/main">
            <a:r>
              <a:t>        "task": "회계 담당자가 결제 증빙 및 중복 수혜 방지를 위한 가이드라인을 확정함",</a:t>
            </a:r>
          </a:p>
          <a:p xmlns:a="http://schemas.openxmlformats.org/drawingml/2006/main">
            <a:r>
              <a:t>        "schedule": "2026-09",</a:t>
            </a:r>
          </a:p>
          <a:p xmlns:a="http://schemas.openxmlformats.org/drawingml/2006/main">
            <a:r>
              <a:t>        "deliverable": "결제 증빙 및 중복 수혜 방지 가이드라인"</a:t>
            </a:r>
          </a:p>
          <a:p xmlns:a="http://schemas.openxmlformats.org/drawingml/2006/main">
            <a:r>
              <a:t>      },</a:t>
            </a:r>
          </a:p>
          <a:p xmlns:a="http://schemas.openxmlformats.org/drawingml/2006/main">
            <a:r>
              <a:t>      {</a:t>
            </a:r>
          </a:p>
          <a:p xmlns:a="http://schemas.openxmlformats.org/drawingml/2006/main">
            <a:r>
              <a:t>        "step": 3,</a:t>
            </a:r>
          </a:p>
          <a:p xmlns:a="http://schemas.openxmlformats.org/drawingml/2006/main">
            <a:r>
              <a:t>        "task": "홍보 담당자가 주요 관광지 연계 홍보물을 배포하고 운영 현황을 기록함",</a:t>
            </a:r>
          </a:p>
          <a:p xmlns:a="http://schemas.openxmlformats.org/drawingml/2006/main">
            <a:r>
              <a:t>        "schedule": "2026-10",</a:t>
            </a:r>
          </a:p>
          <a:p xmlns:a="http://schemas.openxmlformats.org/drawingml/2006/main">
            <a:r>
              <a:t>        "deliverable": "주요 관광지 연계 홍보물 및 운영 현황 보고서"</a:t>
            </a:r>
          </a:p>
          <a:p xmlns:a="http://schemas.openxmlformats.org/drawingml/2006/main">
            <a:r>
              <a:t>      },</a:t>
            </a:r>
          </a:p>
          <a:p xmlns:a="http://schemas.openxmlformats.org/drawingml/2006/main">
            <a:r>
              <a:t>      {</a:t>
            </a:r>
          </a:p>
          <a:p xmlns:a="http://schemas.openxmlformats.org/drawingml/2006/main">
            <a:r>
              <a:t>        "step": 4,</a:t>
            </a:r>
          </a:p>
          <a:p xmlns:a="http://schemas.openxmlformats.org/drawingml/2006/main">
            <a:r>
              <a:t>        "task": "운영 담당자가 주간 단위로 환급 신청·승인·결제 원장을 수집·검증함",</a:t>
            </a:r>
          </a:p>
          <a:p xmlns:a="http://schemas.openxmlformats.org/drawingml/2006/main">
            <a:r>
              <a:t>        "schedule": "2026-10 ~ 2026-11",</a:t>
            </a:r>
          </a:p>
          <a:p xmlns:a="http://schemas.openxmlformats.org/drawingml/2006/main">
            <a:r>
              <a:t>        "deliverable": "주간 단위 환급 신청·승인·결제 원장"</a:t>
            </a:r>
          </a:p>
          <a:p xmlns:a="http://schemas.openxmlformats.org/drawingml/2006/main">
            <a:r>
              <a:t>      },</a:t>
            </a:r>
          </a:p>
          <a:p xmlns:a="http://schemas.openxmlformats.org/drawingml/2006/main">
            <a:r>
              <a:t>      {</a:t>
            </a:r>
          </a:p>
          <a:p xmlns:a="http://schemas.openxmlformats.org/drawingml/2006/main">
            <a:r>
              <a:t>        "step": 5,</a:t>
            </a:r>
          </a:p>
          <a:p xmlns:a="http://schemas.openxmlformats.org/drawingml/2006/main">
            <a:r>
              <a:t>        "task": "기획 담당자가 수집된 원장을 바탕으로 최종 성과 평가 보고서를 작성함",</a:t>
            </a:r>
          </a:p>
          <a:p xmlns:a="http://schemas.openxmlformats.org/drawingml/2006/main">
            <a:r>
              <a:t>        "schedule": "2026-11",</a:t>
            </a:r>
          </a:p>
          <a:p xmlns:a="http://schemas.openxmlformats.org/drawingml/2006/main">
            <a:r>
              <a:t>        "deliverable": "최종 성과 평가 보고서"</a:t>
            </a:r>
          </a:p>
          <a:p xmlns:a="http://schemas.openxmlformats.org/drawingml/2006/main">
            <a:r>
              <a:t>      }</a:t>
            </a:r>
          </a:p>
          <a:p xmlns:a="http://schemas.openxmlformats.org/drawingml/2006/main">
            <a:r>
              <a:t>    ],</a:t>
            </a:r>
          </a:p>
          <a:p xmlns:a="http://schemas.openxmlformats.org/drawingml/2006/main">
            <a:r>
              <a:t>    "visual_asset_source_ids": [</a:t>
            </a:r>
          </a:p>
          <a:p xmlns:a="http://schemas.openxmlformats.org/drawingml/2006/main">
            <a:r>
              <a:t>      "case:gangjin_half_price_2024"</a:t>
            </a:r>
          </a:p>
          <a:p xmlns:a="http://schemas.openxmlformats.org/drawingml/2006/main">
            <a:r>
              <a:t>    ]</a:t>
            </a:r>
          </a:p>
          <a:p xmlns:a="http://schemas.openxmlformats.org/drawingml/2006/main">
            <a:r>
              <a:t>  }</a:t>
            </a:r>
          </a:p>
          <a:p xmlns:a="http://schemas.openxmlformats.org/drawingml/2006/main">
            <a:r>
              <a: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관측값·저장 예측·계획 목표는 별개입니다. 문서용 참고 견적이며 원 보고서의 검수 결과를 변경하지 않습니다.</a:t>
            </a:r>
          </a:p>
          <a:p xmlns:a="http://schemas.openxmlformats.org/drawingml/2006/main">
            <a:r>
              <a:t>[Sources]</a:t>
            </a:r>
          </a:p>
          <a:p xmlns:a="http://schemas.openxmlformats.org/drawingml/2006/main">
            <a:r>
              <a:t>dataset:51130:1 | 한국관광 데이터랩 · 강원특별자치도 원주시 순 방문자 수 및 숙박 비율 (이동통신 기반 외지인) | https://datalab.visitkorea.or.kr/</a:t>
            </a:r>
          </a:p>
          <a:p xmlns:a="http://schemas.openxmlformats.org/drawingml/2006/main">
            <a:r>
              <a:t>dataset:51130:2 | 한국관광 데이터랩 · 강원특별자치도 원주시 월간 순 방문자 수 (이동통신 기반 외지인) | https://datalab.visitkorea.or.kr/</a:t>
            </a:r>
          </a:p>
          <a:p xmlns:a="http://schemas.openxmlformats.org/drawingml/2006/main">
            <a:r>
              <a:t>dataset:51130:3 | 한국관광 데이터랩 · 강원특별자치도 원주시 관광소비 추이_외지인 | https://datalab.visitkorea.or.kr/</a:t>
            </a:r>
          </a:p>
          <a:p xmlns:a="http://schemas.openxmlformats.org/drawingml/2006/main">
            <a:r>
              <a:t>dataset:51130:4 | 한국관광 데이터랩 · 강원특별자치도 원주시 숙박방문자 비율 추이 (이동통신 기반 외지인) | https://datalab.visitkorea.or.kr/</a:t>
            </a:r>
          </a:p>
          <a:p xmlns:a="http://schemas.openxmlformats.org/drawingml/2006/main">
            <a:r>
              <a:t>dataset:51130:5 | 한국관광 데이터랩 · 강원특별자치도 원주시 평균 숙박일 (이동통신 기반 외지인) | https://datalab.visitkorea.or.kr/</a:t>
            </a:r>
          </a:p>
          <a:p xmlns:a="http://schemas.openxmlformats.org/drawingml/2006/main">
            <a:r>
              <a:t>dataset:51130:6 | 한국관광 데이터랩 · 강원특별자치도 원주시 내비게이션 목적지 유형별 검색량 | https://datalab.visitkorea.or.kr/</a:t>
            </a:r>
          </a:p>
          <a:p xmlns:a="http://schemas.openxmlformats.org/drawingml/2006/main">
            <a:r>
              <a:t>dataset:51130:7 | 한국관광 데이터랩 · 강원특별자치도 원주시 SNS 언급량 | https://datalab.visitkorea.or.kr/</a:t>
            </a:r>
          </a:p>
          <a:p xmlns:a="http://schemas.openxmlformats.org/drawingml/2006/main">
            <a:r>
              <a:t>datalab:16d84bd9b1d0:620b2639a268 | 한국관광 데이터랩 공식 다운로드 · 강원특별자치도_원주시/숙박_체류시간/2025_01_12.zip | https://datalab.visitkorea.or.kr/</a:t>
            </a:r>
          </a:p>
          <a:p xmlns:a="http://schemas.openxmlformats.org/drawingml/2006/main">
            <a:r>
              <a:t>datalab:242a2c1249d4:f84e1a5f3914 | 한국관광 데이터랩 공식 다운로드 · 강원특별자치도_원주시/숙박_체류시간/2026_01_06.zip | https://datalab.visitkorea.or.kr/</a:t>
            </a:r>
          </a:p>
          <a:p xmlns:a="http://schemas.openxmlformats.org/drawingml/2006/main">
            <a:r>
              <a:t>datalab:a050e5a84ef4:3906c6ac70a7 | 한국관광 데이터랩 공식 다운로드 · 강원특별자치도_원주시/방문자/2025_01_12.zip | https://datalab.visitkorea.or.kr/</a:t>
            </a:r>
          </a:p>
          <a:p xmlns:a="http://schemas.openxmlformats.org/drawingml/2006/main">
            <a:r>
              <a:t>datalab:bd9d3d26da19:991f2264ad4a | 한국관광 데이터랩 공식 다운로드 · 강원특별자치도_원주시/방문자/2026_01_06.zip | https://datalab.visitkorea.or.kr/</a:t>
            </a:r>
          </a:p>
          <a:p xmlns:a="http://schemas.openxmlformats.org/drawingml/2006/main">
            <a:r>
              <a:t>datalab:d54a3fb44037:ee4640b6178b | 한국관광 데이터랩 공식 다운로드 · 강원특별자치도_원주시/관광소비/2026_01_06.zip | https://datalab.visitkorea.or.kr/</a:t>
            </a:r>
          </a:p>
          <a:p xmlns:a="http://schemas.openxmlformats.org/drawingml/2006/main">
            <a:r>
              <a:t>datalab:ebce91b8bf02:1770c2d94cc6 | 한국관광 데이터랩 공식 다운로드 · 강원특별자치도_원주시/관광소비/2025_01_12.zip | https://datalab.visitkorea.or.kr/</a:t>
            </a:r>
          </a:p>
          <a:p xmlns:a="http://schemas.openxmlformats.org/drawingml/2006/main">
            <a:r>
              <a:t>team-bigdata:23ea68053684:6bfbcf8aabf6 | 한국관광 데이터랩 전국 빅데이터 다운로드 · 이동통신/내국인/지역별 방문자수/20260820140607__202601-202606_데이터랩_다운로드.zip | https://datalab.visitkorea.or.kr/</a:t>
            </a:r>
          </a:p>
          <a:p xmlns:a="http://schemas.openxmlformats.org/drawingml/2006/main">
            <a:r>
              <a:t>team-bigdata:98d4ae590d9a:3be52dd54323 | 한국관광 데이터랩 전국 빅데이터 다운로드 · 이동통신/외국인/20260820141710_전국_202601-202606_데이터랩_다운로드.zip | https://datalab.visitkorea.or.kr/</a:t>
            </a:r>
          </a:p>
          <a:p xmlns:a="http://schemas.openxmlformats.org/drawingml/2006/main">
            <a:r>
              <a:t>team-bigdata:367cd0294ec4:873930d645e5 | 한국관광 데이터랩 전국 빅데이터 다운로드 · 신용카드/내국인/지역별 관광지출액/20260820140046__202601-202606_데이터랩_다운로드.zip | https://datalab.visitkorea.or.kr/</a:t>
            </a:r>
          </a:p>
          <a:p xmlns:a="http://schemas.openxmlformats.org/drawingml/2006/main">
            <a:r>
              <a:t>team-bigdata:553a0dad4bb4:5a31355dffe8 | 한국관광 데이터랩 전국 빅데이터 다운로드 · 신용카드/외국인/지역별 관광지출액/20260820140355__202601-202606_데이터랩_다운로드.zip | https://datalab.visitkorea.or.kr/</a:t>
            </a:r>
          </a:p>
          <a:p xmlns:a="http://schemas.openxmlformats.org/drawingml/2006/main">
            <a:r>
              <a:t>team-bigdata:a53dbe1c21df:77a052de41d5 | 한국관광 데이터랩 전국 빅데이터 다운로드 · 네비게이션/지역별 검색건수/20260820195507__202601-202606_데이터랩_다운로드.zip | https://datalab.visitkorea.or.kr/</a:t>
            </a:r>
          </a:p>
          <a:p xmlns:a="http://schemas.openxmlformats.org/drawingml/2006/main">
            <a:r>
              <a:t>team-bigdata:823a38d1d61c:5385261d02e5 | 한국관광 데이터랩 전국 빅데이터 다운로드 · 이동통신/내국인/지역별 방문자수/20260820140614__202501-202512_데이터랩_다운로드.zip | https://datalab.visitkorea.or.kr/</a:t>
            </a:r>
          </a:p>
          <a:p xmlns:a="http://schemas.openxmlformats.org/drawingml/2006/main">
            <a:r>
              <a:t>team-bigdata:2723bdb0d589:1666a34058ed | 한국관광 데이터랩 전국 빅데이터 다운로드 · 이동통신/외국인/20260820141649_전국_202501-202512_데이터랩_다운로드.zip | https://datalab.visitkorea.or.kr/</a:t>
            </a:r>
          </a:p>
          <a:p xmlns:a="http://schemas.openxmlformats.org/drawingml/2006/main">
            <a:r>
              <a:t>team-bigdata:83177a234971:c02cb7972e0f | 한국관광 데이터랩 전국 빅데이터 다운로드 · 신용카드/내국인/지역별 관광지출액/20260820135957__202501-202512_데이터랩_다운로드.zip | https://datalab.visitkorea.or.kr/</a:t>
            </a:r>
          </a:p>
          <a:p xmlns:a="http://schemas.openxmlformats.org/drawingml/2006/main">
            <a:r>
              <a:t>team-bigdata:58ded7732251:589c76395cbc | 한국관광 데이터랩 전국 빅데이터 다운로드 · 신용카드/외국인/지역별 관광지출액/20260820140409__202501-202512_데이터랩_다운로드.zip | https://datalab.visitkorea.or.kr/</a:t>
            </a:r>
          </a:p>
          <a:p xmlns:a="http://schemas.openxmlformats.org/drawingml/2006/main">
            <a:r>
              <a:t>team-bigdata:e28c947cb52f:bb4cb344a6ba | 한국관광 데이터랩 전국 빅데이터 다운로드 · 네비게이션/지역별 검색건수/20260820132007__202501-202512_데이터랩_다운로드.zip | https://datalab.visitkorea.or.kr/</a:t>
            </a:r>
          </a:p>
          <a:p xmlns:a="http://schemas.openxmlformats.org/drawingml/2006/main">
            <a:r>
              <a:t>team-bigdata:8815bbb11a39:1a5988f5f8ec | 한국관광 데이터랩 전국 빅데이터 다운로드 · 이동통신/내국인/지역별 방문자수/20260820140624__202401-202412_데이터랩_다운로드.zip | https://datalab.visitkorea.or.kr/</a:t>
            </a:r>
          </a:p>
          <a:p xmlns:a="http://schemas.openxmlformats.org/drawingml/2006/main">
            <a:r>
              <a:t>team-bigdata:19fd67fbb73d:afa4f0f54a2f | 한국관광 데이터랩 전국 빅데이터 다운로드 · 이동통신/외국인/20260820141639_전국_202401-202412_데이터랩_다운로드.zip | https://datalab.visitkorea.or.kr/</a:t>
            </a:r>
          </a:p>
          <a:p xmlns:a="http://schemas.openxmlformats.org/drawingml/2006/main">
            <a:r>
              <a:t>regional-status:90f2be7a0f7d:b989a6c2e7bf | 한국관광 데이터랩 지역별 관광 현황 · 강원특별자치도 원주시 · 유입유출 | https://datalab.visitkorea.or.kr/</a:t>
            </a:r>
          </a:p>
          <a:p xmlns:a="http://schemas.openxmlformats.org/drawingml/2006/main">
            <a:r>
              <a:t>regional-status:c39767bd23e8:e3b081f6e6aa | 한국관광 데이터랩 지역별 관광 현황 · 강원특별자치도 원주시 · 지역집중률 | https://datalab.visitkorea.or.kr/</a:t>
            </a:r>
          </a:p>
          <a:p xmlns:a="http://schemas.openxmlformats.org/drawingml/2006/main">
            <a:r>
              <a:t>regional-status:edaf76986d99:c00fa7ffc0a7 | 한국관광 데이터랩 지역별 관광 현황 · 강원특별자치도 원주시 · 인기관광지 | https://datalab.visitkorea.or.kr/</a:t>
            </a:r>
          </a:p>
          <a:p xmlns:a="http://schemas.openxmlformats.org/drawingml/2006/main">
            <a:r>
              <a:t>ml:51130:regional-demand-v3.1:202606 | 지역 관광수요 ML 전망 · 공식 관측값 아님 | URL 미기록</a:t>
            </a:r>
          </a:p>
          <a:p xmlns:a="http://schemas.openxmlformats.org/drawingml/2006/main">
            <a:r>
              <a:t>tour-api:2732999 | 감악산캠핑숲 | https://apis.data.go.kr/B551011/KorService2</a:t>
            </a:r>
          </a:p>
          <a:p xmlns:a="http://schemas.openxmlformats.org/drawingml/2006/main">
            <a:r>
              <a:t>tour-api:2555010 | 강원감영관찰사·무릉고서화미술박물관 | https://apis.data.go.kr/B551011/KorService2</a:t>
            </a:r>
          </a:p>
          <a:p xmlns:a="http://schemas.openxmlformats.org/drawingml/2006/main">
            <a:r>
              <a:t>tour-api:2734136 | 강원도힐링캠핑장 | https://apis.data.go.kr/B551011/KorService2</a:t>
            </a:r>
          </a:p>
          <a:p xmlns:a="http://schemas.openxmlformats.org/drawingml/2006/main">
            <a:r>
              <a:t>tour-api:2702477 | 경천묘 | https://apis.data.go.kr/B551011/KorService2</a:t>
            </a:r>
          </a:p>
          <a:p xmlns:a="http://schemas.openxmlformats.org/drawingml/2006/main">
            <a:r>
              <a:t>tour-api:130539 | 고판화박물관 | https://apis.data.go.kr/B551011/KorService2</a:t>
            </a:r>
          </a:p>
          <a:p xmlns:a="http://schemas.openxmlformats.org/drawingml/2006/main">
            <a:r>
              <a:t>tour-api:125645 | 관음사·국형사계곡 | https://apis.data.go.kr/B551011/KorService2</a:t>
            </a:r>
          </a:p>
          <a:p xmlns:a="http://schemas.openxmlformats.org/drawingml/2006/main">
            <a:r>
              <a:t>tour-api:3356037 | 광화문갈비 원주점 | https://apis.data.go.kr/B551011/KorService2</a:t>
            </a:r>
          </a:p>
          <a:p xmlns:a="http://schemas.openxmlformats.org/drawingml/2006/main">
            <a:r>
              <a:t>tour-api:2762710 | 구 조선식산은행 원주지점 | https://apis.data.go.kr/B551011/KorService2</a:t>
            </a:r>
          </a:p>
          <a:p xmlns:a="http://schemas.openxmlformats.org/drawingml/2006/main">
            <a:r>
              <a:t>tour-api:125757 | 국형사 | https://apis.data.go.kr/B551011/KorService2</a:t>
            </a:r>
          </a:p>
          <a:p xmlns:a="http://schemas.openxmlformats.org/drawingml/2006/main">
            <a:r>
              <a:t>tour-api:2033279 | 금대 에코힐링 캠핑장 | https://apis.data.go.kr/B551011/KorService2</a:t>
            </a:r>
          </a:p>
          <a:p xmlns:a="http://schemas.openxmlformats.org/drawingml/2006/main">
            <a:r>
              <a:t>tour-api:129676 | 금대계곡 | https://apis.data.go.kr/B551011/KorService2</a:t>
            </a:r>
          </a:p>
          <a:p xmlns:a="http://schemas.openxmlformats.org/drawingml/2006/main">
            <a:r>
              <a:t>tour-api:2734906 | 금대자동차야영장 | https://apis.data.go.kr/B551011/KorService2</a:t>
            </a:r>
          </a:p>
          <a:p xmlns:a="http://schemas.openxmlformats.org/drawingml/2006/main">
            <a:r>
              <a:t>tour-api:2714800 | 기후변화홍보관 | https://apis.data.go.kr/B551011/KorService2</a:t>
            </a:r>
          </a:p>
          <a:p xmlns:a="http://schemas.openxmlformats.org/drawingml/2006/main">
            <a:r>
              <a:t>tour-api:2892327 | 김가네원주추어탕 | https://apis.data.go.kr/B551011/KorService2</a:t>
            </a:r>
          </a:p>
          <a:p xmlns:a="http://schemas.openxmlformats.org/drawingml/2006/main">
            <a:r>
              <a:t>tour-api:129284 | 김제남 신도비 | https://apis.data.go.kr/B551011/KorService2</a:t>
            </a:r>
          </a:p>
          <a:p xmlns:a="http://schemas.openxmlformats.org/drawingml/2006/main">
            <a:r>
              <a:t>tour-api:512084 | 넌스키 난보드 | https://apis.data.go.kr/B551011/KorService2</a:t>
            </a:r>
          </a:p>
          <a:p xmlns:a="http://schemas.openxmlformats.org/drawingml/2006/main">
            <a:r>
              <a:t>tour-api:2778036 | 단관공원 | https://apis.data.go.kr/B551011/KorService2</a:t>
            </a:r>
          </a:p>
          <a:p xmlns:a="http://schemas.openxmlformats.org/drawingml/2006/main">
            <a:r>
              <a:t>tour-api:2892320 | 동승루 | https://apis.data.go.kr/B551011/KorService2</a:t>
            </a:r>
          </a:p>
          <a:p xmlns:a="http://schemas.openxmlformats.org/drawingml/2006/main">
            <a:r>
              <a:t>tour-api:2892312 | 들꽃가든 | https://apis.data.go.kr/B551011/KorService2</a:t>
            </a:r>
          </a:p>
          <a:p xmlns:a="http://schemas.openxmlformats.org/drawingml/2006/main">
            <a:r>
              <a:t>tour-api:2809292 | 들꽃이야기 | https://apis.data.go.kr/B551011/KorService2</a:t>
            </a:r>
          </a:p>
          <a:p xmlns:a="http://schemas.openxmlformats.org/drawingml/2006/main">
            <a:r>
              <a:t>reference:kto:2026:local-airport | 요즘, 한국관광 2호 - 지방공항 연계 지역관광 활성화 방안 | PDF 44쪽, PDF 43쪽, PDF 38쪽, PDF 40쪽, PDF 41쪽, PDF 36쪽, PDF 41쪽, PDF 44쪽, PDF 43쪽, PDF 43쪽 | https://datalab.visitkorea.or.kr/site/portal/ex/bbs/View.do?bcIdx=311068&amp;cbIdx=1135&amp;pageIndex=1</a:t>
            </a:r>
          </a:p>
          <a:p xmlns:a="http://schemas.openxmlformats.org/drawingml/2006/main">
            <a:r>
              <a:t>case:jeonju_night_budget_2026 | 전주시 2026년도 관광산업과 세출예산 사업명세서 | https://jeonju.go.kr/resource/www/images/download/budget/2026/2026_31_2.pdf</a:t>
            </a:r>
          </a:p>
          <a:p xmlns:a="http://schemas.openxmlformats.org/drawingml/2006/main">
            <a:r>
              <a:t>case:4625625dcbf2ae | (기획) 인천을 즐기는 가장 쉬운(easy) 방법 … 인천e지 | https://www.incheon.go.kr/IC010205/view?beginDt=&amp;curPage=1&amp;endDt=&amp;repSeq=DOM_0000000013130282&amp;srchMainManagerDeptNm=&amp;srchRepContents=%EC%A3%BC%EC%B0%A8&amp;srchRepTitle=</a:t>
            </a:r>
          </a:p>
          <a:p xmlns:a="http://schemas.openxmlformats.org/drawingml/2006/main">
            <a:r>
              <a:t>case:digital_tourism_resident_2024 | 2024년 6월 여행가는 달 추진 보도자료 | https://mcst.go.kr/servlets/eduport/front/upload/UplDownloadFile?pFileName=%280514%29%EB%AC%B8%EC%B2%B4%EB%B6%80%EB%B3%B4%EB%8F%84%EC%9E%90%EB%A3%8C-6%EC%9B%94_%EC%97%AC%ED%96%89%EA%B0%80%EB%8A%94_%EB%8B%AC_%EC%B6%94%EC%A7%84.pdf&amp;pPath=0302000000&amp;pRealName=20240514083202149235802932_PRESS20240514083202456506.pdf</a:t>
            </a:r>
          </a:p>
          <a:p xmlns:a="http://schemas.openxmlformats.org/drawingml/2006/main">
            <a:r>
              <a:t>case:kto_stay_discount_2022 | 2022 대한민국 숙박대전 경제파급효과 공개자료 | https://kto.visitkorea.or.kr/upload/flexer/upload/ktobiz/20220928/b623b5f9-3ec0-11ed-9832-ddf31964842e.hwp.files/Sections1.html</a:t>
            </a:r>
          </a:p>
          <a:p xmlns:a="http://schemas.openxmlformats.org/drawingml/2006/main">
            <a:r>
              <a:t>case:37471b1e063812 | 한강 밤핑(Night+Camping) 행사·공연 정보 | https://hangang.seoul.go.kr/www/eventMng/detail.do?evntSn=441&amp;keyword=&amp;mid=538&amp;opt11=&amp;opt12=&amp;opt13=&amp;opt14=&amp;opt4=&amp;pageNo=2&amp;srchType=list</a:t>
            </a:r>
          </a:p>
          <a:p xmlns:a="http://schemas.openxmlformats.org/drawingml/2006/main">
            <a:r>
              <a:t>case:gangjin_half_price_2024 | 강진 반값여행 지역경제 효과 소개 | https://jnfarm.jeonnam.go.kr/board/FARM_BOARD_008/boardView.do?bdId=BD_00000000000011721&amp;menuCd=farm004002</a:t>
            </a:r>
          </a:p>
          <a:p xmlns:a="http://schemas.openxmlformats.org/drawingml/2006/main">
            <a:r>
              <a:t>case:c6d4752e1342a7 | 지역사랑 휴가지원(반값여행) 신설 및 ‘대한민국 반값여행’ 성과 분석 | https://www.mcst.go.kr/site/s_policy/govPolicy/performTotal.jsp</a:t>
            </a:r>
          </a:p>
          <a:p xmlns:a="http://schemas.openxmlformats.org/drawingml/2006/main">
            <a:r>
              <a:t>case:night_festival_2025 | 2025 대한민국 밤밤페스타 개최 도시 및 일정 | https://korean.visitkorea.or.kr/detail/rem_detail.do?cotid=f9c636b2-dd7c-4f09-af3d-6af43b33d371</a:t>
            </a:r>
          </a:p>
          <a:p xmlns:a="http://schemas.openxmlformats.org/drawingml/2006/main">
            <a:r>
              <a:t>[/Sources]</a:t>
            </a:r>
          </a:p>
          <a:p xmlns:a="http://schemas.openxmlformats.org/drawingml/2006/main">
            <a:r>
              <a:t>[Saved narrative]</a:t>
            </a:r>
          </a:p>
          <a:p xmlns:a="http://schemas.openxmlformats.org/drawingml/2006/main">
            <a:r>
              <a:t>[</a:t>
            </a:r>
          </a:p>
          <a:p xmlns:a="http://schemas.openxmlformats.org/drawingml/2006/main">
            <a:r>
              <a:t>  {</a:t>
            </a:r>
          </a:p>
          <a:p xmlns:a="http://schemas.openxmlformats.org/drawingml/2006/main">
            <a:r>
              <a:t>    "kpi": "①지역 내 소비액 증가율(분자: 사업 기간 내 원주 내 총 결제액, 분모: 전년 같은 기간 값, 산식: (이번 기간 값 - 전년 같은 기간 값) / 전년 같은 기간 값 × 100) ②지역상품권 사용률(분자: 환급 뒤 원주 내 적격 재결제액 합계, 분모: 지급한 환급액 합계) ③기준기간: 운영 기간 ④측정 주기: 매주 ⑤수집 방법: 신청·승인·결제 원장 집계 ⑥성과 판단: 위 계획 목표와 실제 집계 결과를 비교합니다.",</a:t>
            </a:r>
          </a:p>
          <a:p xmlns:a="http://schemas.openxmlformats.org/drawingml/2006/main">
            <a:r>
              <a:t>    "title": "원주시 지역사랑 휴가지원 (반값여행) 프로그램",</a:t>
            </a:r>
          </a:p>
          <a:p xmlns:a="http://schemas.openxmlformats.org/drawingml/2006/main">
            <a:r>
              <a:t>    "budget": "기획 가정/미확정 참고 견적: 운영 콘텐츠 수×콘텐츠별 비교견적 + 운영일수×일일 운영·안전 견적 + 참여업체 수×업체 준비비 견적 + 측정 원장 1식×구축 견적. 사업 담당자가 착수 전 수량을 정하고 회계 담당자가 같은 조건의 비교견적 2건 이상으로 단가·부가세·총액을 확정함.",</a:t>
            </a:r>
          </a:p>
          <a:p xmlns:a="http://schemas.openxmlformats.org/drawingml/2006/main">
            <a:r>
              <a:t>    "evidence": "case:gangjin_half_price_2024, dataset:51130:1, dataset:51130:3",</a:t>
            </a:r>
          </a:p>
          <a:p xmlns:a="http://schemas.openxmlformats.org/drawingml/2006/main">
            <a:r>
              <a:t>    "priority": 1,</a:t>
            </a:r>
          </a:p>
          <a:p xmlns:a="http://schemas.openxmlformats.org/drawingml/2006/main">
            <a:r>
              <a:t>    "solution": "원주시 내 지정된 관광·식음·숙박 가맹점에서 일정 금액 이상 결제한 외지인에게 결제액의 일부를 원주사랑상품권으로 환급하여 지역 내 재소비를 유도함.",</a:t>
            </a:r>
          </a:p>
          <a:p xmlns:a="http://schemas.openxmlformats.org/drawingml/2006/main">
            <a:r>
              <a:t>    "timeframe": "2026-09 ~ 2026-11, 3개월",</a:t>
            </a:r>
          </a:p>
          <a:p xmlns:a="http://schemas.openxmlformats.org/drawingml/2006/main">
            <a:r>
              <a:t>    "expected_effect": "ML 전망상 2026년 11월 소비액은 전년 대비 41.26% 증가할 것으로 보이나, 이는 탐색적 추세일 뿐임. 본 사업은 이 추세와 별개로 '지역 내 재결제'를 통한 추가적인 소비 순증을 목표로 함.",</a:t>
            </a:r>
          </a:p>
          <a:p xmlns:a="http://schemas.openxmlformats.org/drawingml/2006/main">
            <a:r>
              <a:t>    "problem_to_solve": "외지인 방문자 수 감소 및 지역 내 소비 유도 부족",</a:t>
            </a:r>
          </a:p>
          <a:p xmlns:a="http://schemas.openxmlformats.org/drawingml/2006/main">
            <a:r>
              <a:t>    "comparison_analysis": "강진군의 지역환급 방식(case:gangjin_half_price_2024)을 벤치마킹하여 지역 내 결제 순환에 집중하는 모델을 채택함. 이는 인천의 플랫폼 중심 방식(case:4625625dcbf2ae)보다 초기 구축 비용 부담이 적고 즉각적인 소비 유도에 유리함.",</a:t>
            </a:r>
          </a:p>
          <a:p xmlns:a="http://schemas.openxmlformats.org/drawingml/2006/main">
            <a:r>
              <a:t>    "implementation_steps": [</a:t>
            </a:r>
          </a:p>
          <a:p xmlns:a="http://schemas.openxmlformats.org/drawingml/2006/main">
            <a:r>
              <a:t>      {</a:t>
            </a:r>
          </a:p>
          <a:p xmlns:a="http://schemas.openxmlformats.org/drawingml/2006/main">
            <a:r>
              <a:t>        "step": 1,</a:t>
            </a:r>
          </a:p>
          <a:p xmlns:a="http://schemas.openxmlformats.org/drawingml/2006/main">
            <a:r>
              <a:t>        "task": "관광과 담당자가 참여 업체 명단을 확보하고 환급 운영 지침(안)을 작성함",</a:t>
            </a:r>
          </a:p>
          <a:p xmlns:a="http://schemas.openxmlformats.org/drawingml/2006/main">
            <a:r>
              <a:t>        "schedule": "2026-09",</a:t>
            </a:r>
          </a:p>
          <a:p xmlns:a="http://schemas.openxmlformats.org/drawingml/2006/main">
            <a:r>
              <a:t>        "deliverable": "참여 업체 명단 및 환급 운영 지침서(안)"</a:t>
            </a:r>
          </a:p>
          <a:p xmlns:a="http://schemas.openxmlformats.org/drawingml/2006/main">
            <a:r>
              <a:t>      },</a:t>
            </a:r>
          </a:p>
          <a:p xmlns:a="http://schemas.openxmlformats.org/drawingml/2006/main">
            <a:r>
              <a:t>      {</a:t>
            </a:r>
          </a:p>
          <a:p xmlns:a="http://schemas.openxmlformats.org/drawingml/2006/main">
            <a:r>
              <a:t>        "step": 2,</a:t>
            </a:r>
          </a:p>
          <a:p xmlns:a="http://schemas.openxmlformats.org/drawingml/2006/main">
            <a:r>
              <a:t>        "task": "회계 담당자가 결제 증빙 및 중복 수혜 방지를 위한 가이드라인을 확정함",</a:t>
            </a:r>
          </a:p>
          <a:p xmlns:a="http://schemas.openxmlformats.org/drawingml/2006/main">
            <a:r>
              <a:t>        "schedule": "2026-09",</a:t>
            </a:r>
          </a:p>
          <a:p xmlns:a="http://schemas.openxmlformats.org/drawingml/2006/main">
            <a:r>
              <a:t>        "deliverable": "결제 증빙 및 중복 수혜 방지 가이드라인"</a:t>
            </a:r>
          </a:p>
          <a:p xmlns:a="http://schemas.openxmlformats.org/drawingml/2006/main">
            <a:r>
              <a:t>      },</a:t>
            </a:r>
          </a:p>
          <a:p xmlns:a="http://schemas.openxmlformats.org/drawingml/2006/main">
            <a:r>
              <a:t>      {</a:t>
            </a:r>
          </a:p>
          <a:p xmlns:a="http://schemas.openxmlformats.org/drawingml/2006/main">
            <a:r>
              <a:t>        "step": 3,</a:t>
            </a:r>
          </a:p>
          <a:p xmlns:a="http://schemas.openxmlformats.org/drawingml/2006/main">
            <a:r>
              <a:t>        "task": "홍보 담당자가 주요 관광지 연계 홍보물을 배포하고 운영 현황을 기록함",</a:t>
            </a:r>
          </a:p>
          <a:p xmlns:a="http://schemas.openxmlformats.org/drawingml/2006/main">
            <a:r>
              <a:t>        "schedule": "2026-10",</a:t>
            </a:r>
          </a:p>
          <a:p xmlns:a="http://schemas.openxmlformats.org/drawingml/2006/main">
            <a:r>
              <a:t>        "deliverable": "주요 관광지 연계 홍보물 및 운영 현황 보고서"</a:t>
            </a:r>
          </a:p>
          <a:p xmlns:a="http://schemas.openxmlformats.org/drawingml/2006/main">
            <a:r>
              <a:t>      },</a:t>
            </a:r>
          </a:p>
          <a:p xmlns:a="http://schemas.openxmlformats.org/drawingml/2006/main">
            <a:r>
              <a:t>      {</a:t>
            </a:r>
          </a:p>
          <a:p xmlns:a="http://schemas.openxmlformats.org/drawingml/2006/main">
            <a:r>
              <a:t>        "step": 4,</a:t>
            </a:r>
          </a:p>
          <a:p xmlns:a="http://schemas.openxmlformats.org/drawingml/2006/main">
            <a:r>
              <a:t>        "task": "운영 담당자가 주간 단위로 환급 신청·승인·결제 원장을 수집·검증함",</a:t>
            </a:r>
          </a:p>
          <a:p xmlns:a="http://schemas.openxmlformats.org/drawingml/2006/main">
            <a:r>
              <a:t>        "schedule": "2026-10 ~ 2026-11",</a:t>
            </a:r>
          </a:p>
          <a:p xmlns:a="http://schemas.openxmlformats.org/drawingml/2006/main">
            <a:r>
              <a:t>        "deliverable": "주간 단위 환급 신청·승인·결제 원장"</a:t>
            </a:r>
          </a:p>
          <a:p xmlns:a="http://schemas.openxmlformats.org/drawingml/2006/main">
            <a:r>
              <a:t>      },</a:t>
            </a:r>
          </a:p>
          <a:p xmlns:a="http://schemas.openxmlformats.org/drawingml/2006/main">
            <a:r>
              <a:t>      {</a:t>
            </a:r>
          </a:p>
          <a:p xmlns:a="http://schemas.openxmlformats.org/drawingml/2006/main">
            <a:r>
              <a:t>        "step": 5,</a:t>
            </a:r>
          </a:p>
          <a:p xmlns:a="http://schemas.openxmlformats.org/drawingml/2006/main">
            <a:r>
              <a:t>        "task": "기획 담당자가 수집된 원장을 바탕으로 최종 성과 평가 보고서를 작성함",</a:t>
            </a:r>
          </a:p>
          <a:p xmlns:a="http://schemas.openxmlformats.org/drawingml/2006/main">
            <a:r>
              <a:t>        "schedule": "2026-11",</a:t>
            </a:r>
          </a:p>
          <a:p xmlns:a="http://schemas.openxmlformats.org/drawingml/2006/main">
            <a:r>
              <a:t>        "deliverable": "최종 성과 평가 보고서"</a:t>
            </a:r>
          </a:p>
          <a:p xmlns:a="http://schemas.openxmlformats.org/drawingml/2006/main">
            <a:r>
              <a:t>      }</a:t>
            </a:r>
          </a:p>
          <a:p xmlns:a="http://schemas.openxmlformats.org/drawingml/2006/main">
            <a:r>
              <a:t>    ],</a:t>
            </a:r>
          </a:p>
          <a:p xmlns:a="http://schemas.openxmlformats.org/drawingml/2006/main">
            <a:r>
              <a:t>    "visual_asset_source_ids": [</a:t>
            </a:r>
          </a:p>
          <a:p xmlns:a="http://schemas.openxmlformats.org/drawingml/2006/main">
            <a:r>
              <a:t>      "case:gangjin_half_price_2024"</a:t>
            </a:r>
          </a:p>
          <a:p xmlns:a="http://schemas.openxmlformats.org/drawingml/2006/main">
            <a:r>
              <a:t>    ]</a:t>
            </a:r>
          </a:p>
          <a:p xmlns:a="http://schemas.openxmlformats.org/drawingml/2006/main">
            <a:r>
              <a:t>  }</a:t>
            </a:r>
          </a:p>
          <a:p xmlns:a="http://schemas.openxmlformats.org/drawingml/2006/main">
            <a:r>
              <a: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관측값·저장 예측·계획 목표는 별개입니다. 문서용 참고 견적이며 원 보고서의 검수 결과를 변경하지 않습니다. 목표율 입력 시 최종 월의 자연추세와 목표를 비교합니다. 미입력 시 견적에 기반한 별도 참여 목표만 제안합니다.</a:t>
            </a:r>
          </a:p>
          <a:p>
            <a:r>
              <a:t>[Sources]</a:t>
            </a:r>
          </a:p>
          <a:p>
            <a:r>
              <a:t>dataset:51130:1 | 한국관광 데이터랩 · 강원특별자치도 원주시 순 방문자 수 및 숙박 비율 (이동통신 기반 외지인) | https://datalab.visitkorea.or.kr/</a:t>
            </a:r>
          </a:p>
          <a:p>
            <a:r>
              <a:t>dataset:51130:2 | 한국관광 데이터랩 · 강원특별자치도 원주시 월간 순 방문자 수 (이동통신 기반 외지인) | https://datalab.visitkorea.or.kr/</a:t>
            </a:r>
          </a:p>
          <a:p>
            <a:r>
              <a:t>dataset:51130:3 | 한국관광 데이터랩 · 강원특별자치도 원주시 관광소비 추이_외지인 | https://datalab.visitkorea.or.kr/</a:t>
            </a:r>
          </a:p>
          <a:p>
            <a:r>
              <a:t>dataset:51130:4 | 한국관광 데이터랩 · 강원특별자치도 원주시 숙박방문자 비율 추이 (이동통신 기반 외지인) | https://datalab.visitkorea.or.kr/</a:t>
            </a:r>
          </a:p>
          <a:p>
            <a:r>
              <a:t>dataset:51130:5 | 한국관광 데이터랩 · 강원특별자치도 원주시 평균 숙박일 (이동통신 기반 외지인) | https://datalab.visitkorea.or.kr/</a:t>
            </a:r>
          </a:p>
          <a:p>
            <a:r>
              <a:t>dataset:51130:6 | 한국관광 데이터랩 · 강원특별자치도 원주시 내비게이션 목적지 유형별 검색량 | https://datalab.visitkorea.or.kr/</a:t>
            </a:r>
          </a:p>
          <a:p>
            <a:r>
              <a:t>dataset:51130:7 | 한국관광 데이터랩 · 강원특별자치도 원주시 SNS 언급량 | https://datalab.visitkorea.or.kr/</a:t>
            </a:r>
          </a:p>
          <a:p>
            <a:r>
              <a:t>datalab:16d84bd9b1d0:620b2639a268 | 한국관광 데이터랩 공식 다운로드 · 강원특별자치도_원주시/숙박_체류시간/2025_01_12.zip | https://datalab.visitkorea.or.kr/</a:t>
            </a:r>
          </a:p>
          <a:p>
            <a:r>
              <a:t>datalab:242a2c1249d4:f84e1a5f3914 | 한국관광 데이터랩 공식 다운로드 · 강원특별자치도_원주시/숙박_체류시간/2026_01_06.zip | https://datalab.visitkorea.or.kr/</a:t>
            </a:r>
          </a:p>
          <a:p>
            <a:r>
              <a:t>datalab:a050e5a84ef4:3906c6ac70a7 | 한국관광 데이터랩 공식 다운로드 · 강원특별자치도_원주시/방문자/2025_01_12.zip | https://datalab.visitkorea.or.kr/</a:t>
            </a:r>
          </a:p>
          <a:p>
            <a:r>
              <a:t>datalab:bd9d3d26da19:991f2264ad4a | 한국관광 데이터랩 공식 다운로드 · 강원특별자치도_원주시/방문자/2026_01_06.zip | https://datalab.visitkorea.or.kr/</a:t>
            </a:r>
          </a:p>
          <a:p>
            <a:r>
              <a:t>datalab:d54a3fb44037:ee4640b6178b | 한국관광 데이터랩 공식 다운로드 · 강원특별자치도_원주시/관광소비/2026_01_06.zip | https://datalab.visitkorea.or.kr/</a:t>
            </a:r>
          </a:p>
          <a:p>
            <a:r>
              <a:t>datalab:ebce91b8bf02:1770c2d94cc6 | 한국관광 데이터랩 공식 다운로드 · 강원특별자치도_원주시/관광소비/2025_01_12.zip | https://datalab.visitkorea.or.kr/</a:t>
            </a:r>
          </a:p>
          <a:p>
            <a:r>
              <a:t>team-bigdata:23ea68053684:6bfbcf8aabf6 | 한국관광 데이터랩 전국 빅데이터 다운로드 · 이동통신/내국인/지역별 방문자수/20260820140607__202601-202606_데이터랩_다운로드.zip | https://datalab.visitkorea.or.kr/</a:t>
            </a:r>
          </a:p>
          <a:p>
            <a:r>
              <a:t>team-bigdata:98d4ae590d9a:3be52dd54323 | 한국관광 데이터랩 전국 빅데이터 다운로드 · 이동통신/외국인/20260820141710_전국_202601-202606_데이터랩_다운로드.zip | https://datalab.visitkorea.or.kr/</a:t>
            </a:r>
          </a:p>
          <a:p>
            <a:r>
              <a:t>team-bigdata:367cd0294ec4:873930d645e5 | 한국관광 데이터랩 전국 빅데이터 다운로드 · 신용카드/내국인/지역별 관광지출액/20260820140046__202601-202606_데이터랩_다운로드.zip | https://datalab.visitkorea.or.kr/</a:t>
            </a:r>
          </a:p>
          <a:p>
            <a:r>
              <a:t>team-bigdata:553a0dad4bb4:5a31355dffe8 | 한국관광 데이터랩 전국 빅데이터 다운로드 · 신용카드/외국인/지역별 관광지출액/20260820140355__202601-202606_데이터랩_다운로드.zip | https://datalab.visitkorea.or.kr/</a:t>
            </a:r>
          </a:p>
          <a:p>
            <a:r>
              <a:t>team-bigdata:a53dbe1c21df:77a052de41d5 | 한국관광 데이터랩 전국 빅데이터 다운로드 · 네비게이션/지역별 검색건수/20260820195507__202601-202606_데이터랩_다운로드.zip | https://datalab.visitkorea.or.kr/</a:t>
            </a:r>
          </a:p>
          <a:p>
            <a:r>
              <a:t>team-bigdata:823a38d1d61c:5385261d02e5 | 한국관광 데이터랩 전국 빅데이터 다운로드 · 이동통신/내국인/지역별 방문자수/20260820140614__202501-202512_데이터랩_다운로드.zip | https://datalab.visitkorea.or.kr/</a:t>
            </a:r>
          </a:p>
          <a:p>
            <a:r>
              <a:t>team-bigdata:2723bdb0d589:1666a34058ed | 한국관광 데이터랩 전국 빅데이터 다운로드 · 이동통신/외국인/20260820141649_전국_202501-202512_데이터랩_다운로드.zip | https://datalab.visitkorea.or.kr/</a:t>
            </a:r>
          </a:p>
          <a:p>
            <a:r>
              <a:t>team-bigdata:83177a234971:c02cb7972e0f | 한국관광 데이터랩 전국 빅데이터 다운로드 · 신용카드/내국인/지역별 관광지출액/20260820135957__202501-202512_데이터랩_다운로드.zip | https://datalab.visitkorea.or.kr/</a:t>
            </a:r>
          </a:p>
          <a:p>
            <a:r>
              <a:t>team-bigdata:58ded7732251:589c76395cbc | 한국관광 데이터랩 전국 빅데이터 다운로드 · 신용카드/외국인/지역별 관광지출액/20260820140409__202501-202512_데이터랩_다운로드.zip | https://datalab.visitkorea.or.kr/</a:t>
            </a:r>
          </a:p>
          <a:p>
            <a:r>
              <a:t>team-bigdata:e28c947cb52f:bb4cb344a6ba | 한국관광 데이터랩 전국 빅데이터 다운로드 · 네비게이션/지역별 검색건수/20260820132007__202501-202512_데이터랩_다운로드.zip | https://datalab.visitkorea.or.kr/</a:t>
            </a:r>
          </a:p>
          <a:p>
            <a:r>
              <a:t>team-bigdata:8815bbb11a39:1a5988f5f8ec | 한국관광 데이터랩 전국 빅데이터 다운로드 · 이동통신/내국인/지역별 방문자수/20260820140624__202401-202412_데이터랩_다운로드.zip | https://datalab.visitkorea.or.kr/</a:t>
            </a:r>
          </a:p>
          <a:p>
            <a:r>
              <a:t>team-bigdata:19fd67fbb73d:afa4f0f54a2f | 한국관광 데이터랩 전국 빅데이터 다운로드 · 이동통신/외국인/20260820141639_전국_202401-202412_데이터랩_다운로드.zip | https://datalab.visitkorea.or.kr/</a:t>
            </a:r>
          </a:p>
          <a:p>
            <a:r>
              <a:t>regional-status:90f2be7a0f7d:b989a6c2e7bf | 한국관광 데이터랩 지역별 관광 현황 · 강원특별자치도 원주시 · 유입유출 | https://datalab.visitkorea.or.kr/</a:t>
            </a:r>
          </a:p>
          <a:p>
            <a:r>
              <a:t>regional-status:c39767bd23e8:e3b081f6e6aa | 한국관광 데이터랩 지역별 관광 현황 · 강원특별자치도 원주시 · 지역집중률 | https://datalab.visitkorea.or.kr/</a:t>
            </a:r>
          </a:p>
          <a:p>
            <a:r>
              <a:t>regional-status:edaf76986d99:c00fa7ffc0a7 | 한국관광 데이터랩 지역별 관광 현황 · 강원특별자치도 원주시 · 인기관광지 | https://datalab.visitkorea.or.kr/</a:t>
            </a:r>
          </a:p>
          <a:p>
            <a:r>
              <a:t>ml:51130:regional-demand-v3.1:202606 | 지역 관광수요 ML 전망 · 공식 관측값 아님 | URL 미기록</a:t>
            </a:r>
          </a:p>
          <a:p>
            <a:r>
              <a:t>tour-api:2732999 | 감악산캠핑숲 | https://apis.data.go.kr/B551011/KorService2</a:t>
            </a:r>
          </a:p>
          <a:p>
            <a:r>
              <a:t>tour-api:2555010 | 강원감영관찰사·무릉고서화미술박물관 | https://apis.data.go.kr/B551011/KorService2</a:t>
            </a:r>
          </a:p>
          <a:p>
            <a:r>
              <a:t>tour-api:2734136 | 강원도힐링캠핑장 | https://apis.data.go.kr/B551011/KorService2</a:t>
            </a:r>
          </a:p>
          <a:p>
            <a:r>
              <a:t>tour-api:2702477 | 경천묘 | https://apis.data.go.kr/B551011/KorService2</a:t>
            </a:r>
          </a:p>
          <a:p>
            <a:r>
              <a:t>tour-api:130539 | 고판화박물관 | https://apis.data.go.kr/B551011/KorService2</a:t>
            </a:r>
          </a:p>
          <a:p>
            <a:r>
              <a:t>tour-api:125645 | 관음사·국형사계곡 | https://apis.data.go.kr/B551011/KorService2</a:t>
            </a:r>
          </a:p>
          <a:p>
            <a:r>
              <a:t>tour-api:3356037 | 광화문갈비 원주점 | https://apis.data.go.kr/B551011/KorService2</a:t>
            </a:r>
          </a:p>
          <a:p>
            <a:r>
              <a:t>tour-api:2762710 | 구 조선식산은행 원주지점 | https://apis.data.go.kr/B551011/KorService2</a:t>
            </a:r>
          </a:p>
          <a:p>
            <a:r>
              <a:t>tour-api:125757 | 국형사 | https://apis.data.go.kr/B551011/KorService2</a:t>
            </a:r>
          </a:p>
          <a:p>
            <a:r>
              <a:t>tour-api:2033279 | 금대 에코힐링 캠핑장 | https://apis.data.go.kr/B551011/KorService2</a:t>
            </a:r>
          </a:p>
          <a:p>
            <a:r>
              <a:t>tour-api:129676 | 금대계곡 | https://apis.data.go.kr/B551011/KorService2</a:t>
            </a:r>
          </a:p>
          <a:p>
            <a:r>
              <a:t>tour-api:2734906 | 금대자동차야영장 | https://apis.data.go.kr/B551011/KorService2</a:t>
            </a:r>
          </a:p>
          <a:p>
            <a:r>
              <a:t>tour-api:2714800 | 기후변화홍보관 | https://apis.data.go.kr/B551011/KorService2</a:t>
            </a:r>
          </a:p>
          <a:p>
            <a:r>
              <a:t>tour-api:2892327 | 김가네원주추어탕 | https://apis.data.go.kr/B551011/KorService2</a:t>
            </a:r>
          </a:p>
          <a:p>
            <a:r>
              <a:t>tour-api:129284 | 김제남 신도비 | https://apis.data.go.kr/B551011/KorService2</a:t>
            </a:r>
          </a:p>
          <a:p>
            <a:r>
              <a:t>tour-api:512084 | 넌스키 난보드 | https://apis.data.go.kr/B551011/KorService2</a:t>
            </a:r>
          </a:p>
          <a:p>
            <a:r>
              <a:t>tour-api:2778036 | 단관공원 | https://apis.data.go.kr/B551011/KorService2</a:t>
            </a:r>
          </a:p>
          <a:p>
            <a:r>
              <a:t>tour-api:2892320 | 동승루 | https://apis.data.go.kr/B551011/KorService2</a:t>
            </a:r>
          </a:p>
          <a:p>
            <a:r>
              <a:t>tour-api:2892312 | 들꽃가든 | https://apis.data.go.kr/B551011/KorService2</a:t>
            </a:r>
          </a:p>
          <a:p>
            <a:r>
              <a:t>tour-api:2809292 | 들꽃이야기 | https://apis.data.go.kr/B551011/KorService2</a:t>
            </a:r>
          </a:p>
          <a:p>
            <a:r>
              <a:t>reference:kto:2026:local-airport | 요즘, 한국관광 2호 - 지방공항 연계 지역관광 활성화 방안 | PDF 44쪽, PDF 43쪽, PDF 38쪽, PDF 40쪽, PDF 41쪽, PDF 36쪽, PDF 41쪽, PDF 44쪽, PDF 43쪽, PDF 43쪽 | https://datalab.visitkorea.or.kr/site/portal/ex/bbs/View.do?bcIdx=311068&amp;cbIdx=1135&amp;pageIndex=1</a:t>
            </a:r>
          </a:p>
          <a:p>
            <a:r>
              <a:t>case:jeonju_night_budget_2026 | 전주시 2026년도 관광산업과 세출예산 사업명세서 | https://jeonju.go.kr/resource/www/images/download/budget/2026/2026_31_2.pdf</a:t>
            </a:r>
          </a:p>
          <a:p>
            <a:r>
              <a:t>case:4625625dcbf2ae | (기획) 인천을 즐기는 가장 쉬운(easy) 방법 … 인천e지 | https://www.incheon.go.kr/IC010205/view?beginDt=&amp;curPage=1&amp;endDt=&amp;repSeq=DOM_0000000013130282&amp;srchMainManagerDeptNm=&amp;srchRepContents=%EC%A3%BC%EC%B0%A8&amp;srchRepTitle=</a:t>
            </a:r>
          </a:p>
          <a:p>
            <a:r>
              <a:t>case:digital_tourism_resident_2024 | 2024년 6월 여행가는 달 추진 보도자료 | https://mcst.go.kr/servlets/eduport/front/upload/UplDownloadFile?pFileName=%280514%29%EB%AC%B8%EC%B2%B4%EB%B6%80%EB%B3%B4%EB%8F%84%EC%9E%90%EB%A3%8C-6%EC%9B%94_%EC%97%AC%ED%96%89%EA%B0%80%EB%8A%94_%EB%8B%AC_%EC%B6%94%EC%A7%84.pdf&amp;pPath=0302000000&amp;pRealName=20240514083202149235802932_PRESS20240514083202456506.pdf</a:t>
            </a:r>
          </a:p>
          <a:p>
            <a:r>
              <a:t>case:kto_stay_discount_2022 | 2022 대한민국 숙박대전 경제파급효과 공개자료 | https://kto.visitkorea.or.kr/upload/flexer/upload/ktobiz/20220928/b623b5f9-3ec0-11ed-9832-ddf31964842e.hwp.files/Sections1.html</a:t>
            </a:r>
          </a:p>
          <a:p>
            <a:r>
              <a:t>case:37471b1e063812 | 한강 밤핑(Night+Camping) 행사·공연 정보 | https://hangang.seoul.go.kr/www/eventMng/detail.do?evntSn=441&amp;keyword=&amp;mid=538&amp;opt11=&amp;opt12=&amp;opt13=&amp;opt14=&amp;opt4=&amp;pageNo=2&amp;srchType=list</a:t>
            </a:r>
          </a:p>
          <a:p>
            <a:r>
              <a:t>case:gangjin_half_price_2024 | 강진 반값여행 지역경제 효과 소개 | https://jnfarm.jeonnam.go.kr/board/FARM_BOARD_008/boardView.do?bdId=BD_00000000000011721&amp;menuCd=farm004002</a:t>
            </a:r>
          </a:p>
          <a:p>
            <a:r>
              <a:t>case:c6d4752e1342a7 | 지역사랑 휴가지원(반값여행) 신설 및 ‘대한민국 반값여행’ 성과 분석 | https://www.mcst.go.kr/site/s_policy/govPolicy/performTotal.jsp</a:t>
            </a:r>
          </a:p>
          <a:p>
            <a:r>
              <a:t>case:night_festival_2025 | 2025 대한민국 밤밤페스타 개최 도시 및 일정 | https://korean.visitkorea.or.kr/detail/rem_detail.do?cotid=f9c636b2-dd7c-4f09-af3d-6af43b33d371</a:t>
            </a:r>
          </a:p>
          <a:p>
            <a:r>
              <a:t>[/Sources]</a:t>
            </a:r>
          </a:p>
          <a:p>
            <a:r>
              <a:t>[Calculation audit]</a:t>
            </a:r>
          </a:p>
          <a:p>
            <a:r>
              <a:t>{</a:t>
            </a:r>
          </a:p>
          <a:p>
            <a:r>
              <a:t>  "source_inventory": [</a:t>
            </a:r>
          </a:p>
          <a:p>
            <a:r>
              <a:t>    {</a:t>
            </a:r>
          </a:p>
          <a:p>
            <a:r>
              <a:t>      "title": "한국관광 데이터랩 · 강원특별자치도 원주시 순 방문자 수 및 숙박 비율 (이동통신 기반 외지인)",</a:t>
            </a:r>
          </a:p>
          <a:p>
            <a:r>
              <a:t>      "summary": "월간 순 방문자 수: 2,285,734명 (관측 기준월: 2026-06)",</a:t>
            </a:r>
          </a:p>
          <a:p>
            <a:r>
              <a:t>      "source_id": "dataset:51130:1",</a:t>
            </a:r>
          </a:p>
          <a:p>
            <a:r>
              <a:t>      "source_url": "https://datalab.visitkorea.or.kr/",</a:t>
            </a:r>
          </a:p>
          <a:p>
            <a:r>
              <a:t>      "source_type": "dataset",</a:t>
            </a:r>
          </a:p>
          <a:p>
            <a:r>
              <a:t>      "observation_period": "2026-06",</a:t>
            </a:r>
          </a:p>
          <a:p>
            <a:r>
              <a:t>      "published_or_updated_at": "2026-06"</a:t>
            </a:r>
          </a:p>
          <a:p>
            <a:r>
              <a:t>    },</a:t>
            </a:r>
          </a:p>
          <a:p>
            <a:r>
              <a:t>    {</a:t>
            </a:r>
          </a:p>
          <a:p>
            <a:r>
              <a:t>      "title": "한국관광 데이터랩 · 강원특별자치도 원주시 월간 순 방문자 수 (이동통신 기반 외지인)",</a:t>
            </a:r>
          </a:p>
          <a:p>
            <a:r>
              <a:t>      "summary": "전년동월 외지인 방문자 증감률: -2.7% (관측 기준월: 2026-06)",</a:t>
            </a:r>
          </a:p>
          <a:p>
            <a:r>
              <a:t>      "source_id": "dataset:51130:2",</a:t>
            </a:r>
          </a:p>
          <a:p>
            <a:r>
              <a:t>      "source_url": "https://datalab.visitkorea.or.kr/",</a:t>
            </a:r>
          </a:p>
          <a:p>
            <a:r>
              <a:t>      "source_type": "dataset",</a:t>
            </a:r>
          </a:p>
          <a:p>
            <a:r>
              <a:t>      "observation_period": "2026-06",</a:t>
            </a:r>
          </a:p>
          <a:p>
            <a:r>
              <a:t>      "published_or_updated_at": "2026-06"</a:t>
            </a:r>
          </a:p>
          <a:p>
            <a:r>
              <a:t>    },</a:t>
            </a:r>
          </a:p>
          <a:p>
            <a:r>
              <a:t>    {</a:t>
            </a:r>
          </a:p>
          <a:p>
            <a:r>
              <a:t>      "title": "한국관광 데이터랩 · 강원특별자치도 원주시 관광소비 추이_외지인",</a:t>
            </a:r>
          </a:p>
          <a:p>
            <a:r>
              <a:t>      "summary": "월간 외지인 관광소비 총액: 60,562,672,000원 (관측 기준월: 2026-06)",</a:t>
            </a:r>
          </a:p>
          <a:p>
            <a:r>
              <a:t>      "source_id": "dataset:51130:3",</a:t>
            </a:r>
          </a:p>
          <a:p>
            <a:r>
              <a:t>      "source_url": "https://datalab.visitkorea.or.kr/",</a:t>
            </a:r>
          </a:p>
          <a:p>
            <a:r>
              <a:t>      "source_type": "dataset",</a:t>
            </a:r>
          </a:p>
          <a:p>
            <a:r>
              <a:t>      "observation_period": "2026-06",</a:t>
            </a:r>
          </a:p>
          <a:p>
            <a:r>
              <a:t>      "published_or_updated_at": "2026-06"</a:t>
            </a:r>
          </a:p>
          <a:p>
            <a:r>
              <a:t>    },</a:t>
            </a:r>
          </a:p>
          <a:p>
            <a:r>
              <a:t>    {</a:t>
            </a:r>
          </a:p>
          <a:p>
            <a:r>
              <a:t>      "title": "한국관광 데이터랩 · 강원특별자치도 원주시 숙박방문자 비율 추이 (이동통신 기반 외지인)",</a:t>
            </a:r>
          </a:p>
          <a:p>
            <a:r>
              <a:t>      "summary": "외지인 숙박 방문 비율: 12.5% (관측 기준월: 2026-06)",</a:t>
            </a:r>
          </a:p>
          <a:p>
            <a:r>
              <a:t>      "source_id": "dataset:51130:4",</a:t>
            </a:r>
          </a:p>
          <a:p>
            <a:r>
              <a:t>      "source_url": "https://datalab.visitkorea.or.kr/",</a:t>
            </a:r>
          </a:p>
          <a:p>
            <a:r>
              <a:t>      "source_type": "dataset",</a:t>
            </a:r>
          </a:p>
          <a:p>
            <a:r>
              <a:t>      "observation_period": "2026-06",</a:t>
            </a:r>
          </a:p>
          <a:p>
            <a:r>
              <a:t>      "published_or_updated_at": "2026-06"</a:t>
            </a:r>
          </a:p>
          <a:p>
            <a:r>
              <a:t>    },</a:t>
            </a:r>
          </a:p>
          <a:p>
            <a:r>
              <a:t>    {</a:t>
            </a:r>
          </a:p>
          <a:p>
            <a:r>
              <a:t>      "title": "한국관광 데이터랩 · 강원특별자치도 원주시 평균 숙박일 (이동통신 기반 외지인)",</a:t>
            </a:r>
          </a:p>
          <a:p>
            <a:r>
              <a:t>      "summary": "외지인 평균 숙박일수: 2.76일 (관측 기준월: 2026-06)",</a:t>
            </a:r>
          </a:p>
          <a:p>
            <a:r>
              <a:t>      "source_id": "dataset:51130:5",</a:t>
            </a:r>
          </a:p>
          <a:p>
            <a:r>
              <a:t>      "source_url": "https://datalab.visitkorea.or.kr/",</a:t>
            </a:r>
          </a:p>
          <a:p>
            <a:r>
              <a:t>      "source_type": "dataset",</a:t>
            </a:r>
          </a:p>
          <a:p>
            <a:r>
              <a:t>      "observation_period": "2026-06",</a:t>
            </a:r>
          </a:p>
          <a:p>
            <a:r>
              <a:t>      "published_or_updated_at": "2026-06"</a:t>
            </a:r>
          </a:p>
          <a:p>
            <a:r>
              <a:t>    },</a:t>
            </a:r>
          </a:p>
          <a:p>
            <a:r>
              <a:t>    {</a:t>
            </a:r>
          </a:p>
          <a:p>
            <a:r>
              <a:t>      "title": "한국관광 데이터랩 · 강원특별자치도 원주시 내비게이션 목적지 유형별 검색량",</a:t>
            </a:r>
          </a:p>
          <a:p>
            <a:r>
              <a:t>      "summary": "내비게이션 목적지 검색량: 303,921건 (관측 기준월: 2026-06)",</a:t>
            </a:r>
          </a:p>
          <a:p>
            <a:r>
              <a:t>      "source_id": "dataset:51130:6",</a:t>
            </a:r>
          </a:p>
          <a:p>
            <a:r>
              <a:t>      "source_url": "https://datalab.visitkorea.or.kr/",</a:t>
            </a:r>
          </a:p>
          <a:p>
            <a:r>
              <a:t>      "source_type": "dataset",</a:t>
            </a:r>
          </a:p>
          <a:p>
            <a:r>
              <a:t>      "observation_period": "2026-06",</a:t>
            </a:r>
          </a:p>
          <a:p>
            <a:r>
              <a:t>      "published_or_updated_at": "2026-06"</a:t>
            </a:r>
          </a:p>
          <a:p>
            <a:r>
              <a:t>    },</a:t>
            </a:r>
          </a:p>
          <a:p>
            <a:r>
              <a:t>    {</a:t>
            </a:r>
          </a:p>
          <a:p>
            <a:r>
              <a:t>      "title": "한국관광 데이터랩 · 강원특별자치도 원주시 SNS 언급량",</a:t>
            </a:r>
          </a:p>
          <a:p>
            <a:r>
              <a:t>      "summary": "SNS 언급량: 41,121건 (관측 기준월: 2026-06)",</a:t>
            </a:r>
          </a:p>
          <a:p>
            <a:r>
              <a:t>      "source_id": "dataset:51130:7",</a:t>
            </a:r>
          </a:p>
          <a:p>
            <a:r>
              <a:t>      "source_url": "https://datalab.visitkorea.or.kr/",</a:t>
            </a:r>
          </a:p>
          <a:p>
            <a:r>
              <a:t>      "source_type": "dataset",</a:t>
            </a:r>
          </a:p>
          <a:p>
            <a:r>
              <a:t>      "observation_period": "2026-06",</a:t>
            </a:r>
          </a:p>
          <a:p>
            <a:r>
              <a:t>      "published_or_updated_at": "2026-06"</a:t>
            </a:r>
          </a:p>
          <a:p>
            <a:r>
              <a:t>    },</a:t>
            </a:r>
          </a:p>
          <a:p>
            <a:r>
              <a:t>    {</a:t>
            </a:r>
          </a:p>
          <a:p>
            <a:r>
              <a:t>      "title": "한국관광 데이터랩 공식 다운로드 · 강원특별자치도_원주시/숙박_체류시간/2025_01_12.zip",</a:t>
            </a:r>
          </a:p>
          <a:p>
            <a:r>
              <a:t>      "summary": "전국 비교 기준 기간: 2025-07 ~ 2026-06",</a:t>
            </a:r>
          </a:p>
          <a:p>
            <a:r>
              <a:t>      "source_id": "datalab:16d84bd9b1d0:620b2639a268",</a:t>
            </a:r>
          </a:p>
          <a:p>
            <a:r>
              <a:t>      "source_url": "https://datalab.visitkorea.or.kr/",</a:t>
            </a:r>
          </a:p>
          <a:p>
            <a:r>
              <a:t>      "source_type": "nationwide_dataset",</a:t>
            </a:r>
          </a:p>
          <a:p>
            <a:r>
              <a:t>      "observation_period": "2025-07 ~ 2026-06",</a:t>
            </a:r>
          </a:p>
          <a:p>
            <a:r>
              <a:t>      "published_or_updated_at": "2024-07 ~ 2025-06"</a:t>
            </a:r>
          </a:p>
          <a:p>
            <a:r>
              <a:t>    },</a:t>
            </a:r>
          </a:p>
          <a:p>
            <a:r>
              <a:t>    {</a:t>
            </a:r>
          </a:p>
          <a:p>
            <a:r>
              <a:t>      "title": "한국관광 데이터랩 공식 다운로드 · 강원특별자치도_원주시/숙박_체류시간/2026_01_06.zip",</a:t>
            </a:r>
          </a:p>
          <a:p>
            <a:r>
              <a:t>      "summary": "전국 비교 기준 기간: 2025-07 ~ 2026-06",</a:t>
            </a:r>
          </a:p>
          <a:p>
            <a:r>
              <a:t>      "source_id": "datalab:242a2c1249d4:f84e1a5f3914",</a:t>
            </a:r>
          </a:p>
          <a:p>
            <a:r>
              <a:t>      "source_url": "https://datalab.visitkorea.or.kr/",</a:t>
            </a:r>
          </a:p>
          <a:p>
            <a:r>
              <a:t>      "source_type": "nationwide_dataset",</a:t>
            </a:r>
          </a:p>
          <a:p>
            <a:r>
              <a:t>      "observation_period": "2025-07 ~ 2026-06",</a:t>
            </a:r>
          </a:p>
          <a:p>
            <a:r>
              <a:t>      "published_or_updated_at": "2024-07 ~ 2025-06"</a:t>
            </a:r>
          </a:p>
          <a:p>
            <a:r>
              <a:t>    },</a:t>
            </a:r>
          </a:p>
          <a:p>
            <a:r>
              <a:t>    {</a:t>
            </a:r>
          </a:p>
          <a:p>
            <a:r>
              <a:t>      "title": "한국관광 데이터랩 공식 다운로드 · 강원특별자치도_원주시/방문자/2025_01_12.zip",</a:t>
            </a:r>
          </a:p>
          <a:p>
            <a:r>
              <a:t>      "summary": "전국 비교 기준 기간: 2025-07 ~ 2026-06",</a:t>
            </a:r>
          </a:p>
          <a:p>
            <a:r>
              <a:t>      "source_id": "datalab:a050e5a84ef4:3906c6ac70a7",</a:t>
            </a:r>
          </a:p>
          <a:p>
            <a:r>
              <a:t>      "source_url": "https://datalab.visitkorea.or.kr/",</a:t>
            </a:r>
          </a:p>
          <a:p>
            <a:r>
              <a:t>      "source_type": "nationwide_dataset",</a:t>
            </a:r>
          </a:p>
          <a:p>
            <a:r>
              <a:t>      "observation_period": "2025-07 ~ 2026-06",</a:t>
            </a:r>
          </a:p>
          <a:p>
            <a:r>
              <a:t>      "published_or_updated_at": "2024-07 ~ 2025-06"</a:t>
            </a:r>
          </a:p>
          <a:p>
            <a:r>
              <a:t>    },</a:t>
            </a:r>
          </a:p>
          <a:p>
            <a:r>
              <a:t>    {</a:t>
            </a:r>
          </a:p>
          <a:p>
            <a:r>
              <a:t>      "title": "한국관광 데이터랩 공식 다운로드 · 강원특별자치도_원주시/방문자/2026_01_06.zip",</a:t>
            </a:r>
          </a:p>
          <a:p>
            <a:r>
              <a:t>      "summary": "전국 비교 기준 기간: 2025-07 ~ 2026-06",</a:t>
            </a:r>
          </a:p>
          <a:p>
            <a:r>
              <a:t>      "source_id": "datalab:bd9d3d26da19:991f2264ad4a",</a:t>
            </a:r>
          </a:p>
          <a:p>
            <a:r>
              <a:t>      "source_url": "https://datalab.visitkorea.or.kr/",</a:t>
            </a:r>
          </a:p>
          <a:p>
            <a:r>
              <a:t>      "source_type": "nationwide_dataset",</a:t>
            </a:r>
          </a:p>
          <a:p>
            <a:r>
              <a:t>      "observation_period": "2025-07 ~ 2026-06",</a:t>
            </a:r>
          </a:p>
          <a:p>
            <a:r>
              <a:t>      "published_or_updated_at": "2024-07 ~ 2025-06"</a:t>
            </a:r>
          </a:p>
          <a:p>
            <a:r>
              <a:t>    },</a:t>
            </a:r>
          </a:p>
          <a:p>
            <a:r>
              <a:t>    {</a:t>
            </a:r>
          </a:p>
          <a:p>
            <a:r>
              <a:t>      "title": "한국관광 데이터랩 공식 다운로드 · 강원특별자치도_원주시/관광소비/2026_01_06.zip",</a:t>
            </a:r>
          </a:p>
          <a:p>
            <a:r>
              <a:t>      "summary": "전국 비교 기준 기간: 2025-07 ~ 2026-06",</a:t>
            </a:r>
          </a:p>
          <a:p>
            <a:r>
              <a:t>      "source_id": "datalab:d54a3fb44037:ee4640b6178b",</a:t>
            </a:r>
          </a:p>
          <a:p>
            <a:r>
              <a:t>      "source_url": "https://datalab.visitkorea.or.kr/",</a:t>
            </a:r>
          </a:p>
          <a:p>
            <a:r>
              <a:t>      "source_type": "nationwide_dataset",</a:t>
            </a:r>
          </a:p>
          <a:p>
            <a:r>
              <a:t>      "observation_period": "2025-07 ~ 2026-06",</a:t>
            </a:r>
          </a:p>
          <a:p>
            <a:r>
              <a:t>      "published_or_updated_at": "2024-07 ~ 2025-06"</a:t>
            </a:r>
          </a:p>
          <a:p>
            <a:r>
              <a:t>    },</a:t>
            </a:r>
          </a:p>
          <a:p>
            <a:r>
              <a:t>    {</a:t>
            </a:r>
          </a:p>
          <a:p>
            <a:r>
              <a:t>      "title": "한국관광 데이터랩 공식 다운로드 · 강원특별자치도_원주시/관광소비/2025_01_12.zip",</a:t>
            </a:r>
          </a:p>
          <a:p>
            <a:r>
              <a:t>      "summary": "전국 비교 기준 기간: 2025-07 ~ 2026-06",</a:t>
            </a:r>
          </a:p>
          <a:p>
            <a:r>
              <a:t>      "source_id": "datalab:ebce91b8bf02:1770c2d94cc6",</a:t>
            </a:r>
          </a:p>
          <a:p>
            <a:r>
              <a:t>      "source_url": "https://datalab.visitkorea.or.kr/",</a:t>
            </a:r>
          </a:p>
          <a:p>
            <a:r>
              <a:t>      "source_type": "nationwide_dataset",</a:t>
            </a:r>
          </a:p>
          <a:p>
            <a:r>
              <a:t>      "observation_period": "2025-07 ~ 2026-06",</a:t>
            </a:r>
          </a:p>
          <a:p>
            <a:r>
              <a:t>      "published_or_updated_at": "2024-07 ~ 2025-06"</a:t>
            </a:r>
          </a:p>
          <a:p>
            <a:r>
              <a:t>    },</a:t>
            </a:r>
          </a:p>
          <a:p>
            <a:r>
              <a:t>    {</a:t>
            </a:r>
          </a:p>
          <a:p>
            <a:r>
              <a:t>      "title": "한국관광 데이터랩 전국 빅데이터 다운로드 · 이동통신/내국인/지역별 방문자수/20260820140607__202601-202606_데이터랩_다운로드.zip",</a:t>
            </a:r>
          </a:p>
          <a:p>
            <a:r>
              <a:t>      "summary": "시군구 기간합계·비중 또는 전국 월별 추이. 지역 월별 ML·정책 효과가 아닌 보조 근거.",</a:t>
            </a:r>
          </a:p>
          <a:p>
            <a:r>
              <a:t>      "source_id": "team-bigdata:23ea68053684:6bfbcf8aabf6",</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이동통신/외국인/20260820141710_전국_202601-202606_데이터랩_다운로드.zip",</a:t>
            </a:r>
          </a:p>
          <a:p>
            <a:r>
              <a:t>      "summary": "시군구 기간합계·비중 또는 전국 월별 추이. 지역 월별 ML·정책 효과가 아닌 보조 근거.",</a:t>
            </a:r>
          </a:p>
          <a:p>
            <a:r>
              <a:t>      "source_id": "team-bigdata:98d4ae590d9a:3be52dd54323",</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신용카드/내국인/지역별 관광지출액/20260820140046__202601-202606_데이터랩_다운로드.zip",</a:t>
            </a:r>
          </a:p>
          <a:p>
            <a:r>
              <a:t>      "summary": "시군구 기간합계·비중 또는 전국 월별 추이. 지역 월별 ML·정책 효과가 아닌 보조 근거.",</a:t>
            </a:r>
          </a:p>
          <a:p>
            <a:r>
              <a:t>      "source_id": "team-bigdata:367cd0294ec4:873930d645e5",</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신용카드/외국인/지역별 관광지출액/20260820140355__202601-202606_데이터랩_다운로드.zip",</a:t>
            </a:r>
          </a:p>
          <a:p>
            <a:r>
              <a:t>      "summary": "시군구 기간합계·비중 또는 전국 월별 추이. 지역 월별 ML·정책 효과가 아닌 보조 근거.",</a:t>
            </a:r>
          </a:p>
          <a:p>
            <a:r>
              <a:t>      "source_id": "team-bigdata:553a0dad4bb4:5a31355dffe8",</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네비게이션/지역별 검색건수/20260820195507__202601-202606_데이터랩_다운로드.zip",</a:t>
            </a:r>
          </a:p>
          <a:p>
            <a:r>
              <a:t>      "summary": "시군구 기간합계·비중 또는 전국 월별 추이. 지역 월별 ML·정책 효과가 아닌 보조 근거.",</a:t>
            </a:r>
          </a:p>
          <a:p>
            <a:r>
              <a:t>      "source_id": "team-bigdata:a53dbe1c21df:77a052de41d5",</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이동통신/내국인/지역별 방문자수/20260820140614__202501-202512_데이터랩_다운로드.zip",</a:t>
            </a:r>
          </a:p>
          <a:p>
            <a:r>
              <a:t>      "summary": "시군구 기간합계·비중 또는 전국 월별 추이. 지역 월별 ML·정책 효과가 아닌 보조 근거.",</a:t>
            </a:r>
          </a:p>
          <a:p>
            <a:r>
              <a:t>      "source_id": "team-bigdata:823a38d1d61c:5385261d02e5",</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이동통신/외국인/20260820141649_전국_202501-202512_데이터랩_다운로드.zip",</a:t>
            </a:r>
          </a:p>
          <a:p>
            <a:r>
              <a:t>      "summary": "시군구 기간합계·비중 또는 전국 월별 추이. 지역 월별 ML·정책 효과가 아닌 보조 근거.",</a:t>
            </a:r>
          </a:p>
          <a:p>
            <a:r>
              <a:t>      "source_id": "team-bigdata:2723bdb0d589:1666a34058ed",</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신용카드/내국인/지역별 관광지출액/20260820135957__202501-202512_데이터랩_다운로드.zip",</a:t>
            </a:r>
          </a:p>
          <a:p>
            <a:r>
              <a:t>      "summary": "시군구 기간합계·비중 또는 전국 월별 추이. 지역 월별 ML·정책 효과가 아닌 보조 근거.",</a:t>
            </a:r>
          </a:p>
          <a:p>
            <a:r>
              <a:t>      "source_id": "team-bigdata:83177a234971:c02cb7972e0f",</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신용카드/외국인/지역별 관광지출액/20260820140409__202501-202512_데이터랩_다운로드.zip",</a:t>
            </a:r>
          </a:p>
          <a:p>
            <a:r>
              <a:t>      "summary": "시군구 기간합계·비중 또는 전국 월별 추이. 지역 월별 ML·정책 효과가 아닌 보조 근거.",</a:t>
            </a:r>
          </a:p>
          <a:p>
            <a:r>
              <a:t>      "source_id": "team-bigdata:58ded7732251:589c76395cbc",</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네비게이션/지역별 검색건수/20260820132007__202501-202512_데이터랩_다운로드.zip",</a:t>
            </a:r>
          </a:p>
          <a:p>
            <a:r>
              <a:t>      "summary": "시군구 기간합계·비중 또는 전국 월별 추이. 지역 월별 ML·정책 효과가 아닌 보조 근거.",</a:t>
            </a:r>
          </a:p>
          <a:p>
            <a:r>
              <a:t>      "source_id": "team-bigdata:e28c947cb52f:bb4cb344a6ba",</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이동통신/내국인/지역별 방문자수/20260820140624__202401-202412_데이터랩_다운로드.zip",</a:t>
            </a:r>
          </a:p>
          <a:p>
            <a:r>
              <a:t>      "summary": "시군구 기간합계·비중 또는 전국 월별 추이. 지역 월별 ML·정책 효과가 아닌 보조 근거.",</a:t>
            </a:r>
          </a:p>
          <a:p>
            <a:r>
              <a:t>      "source_id": "team-bigdata:8815bbb11a39:1a5988f5f8ec",</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이동통신/외국인/20260820141639_전국_202401-202412_데이터랩_다운로드.zip",</a:t>
            </a:r>
          </a:p>
          <a:p>
            <a:r>
              <a:t>      "summary": "시군구 기간합계·비중 또는 전국 월별 추이. 지역 월별 ML·정책 효과가 아닌 보조 근거.",</a:t>
            </a:r>
          </a:p>
          <a:p>
            <a:r>
              <a:t>      "source_id": "team-bigdata:19fd67fbb73d:afa4f0f54a2f",</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지역별 관광 현황 · 강원특별자치도 원주시 · 유입유출",</a:t>
            </a:r>
          </a:p>
          <a:p>
            <a:r>
              <a:t>      "summary": "관측 기간: 2025-07 ~ 2026-06. 유입·유출·인기장소 또는 30일 집중 운영 신호.",</a:t>
            </a:r>
          </a:p>
          <a:p>
            <a:r>
              <a:t>      "source_id": "regional-status:90f2be7a0f7d:b989a6c2e7bf",</a:t>
            </a:r>
          </a:p>
          <a:p>
            <a:r>
              <a:t>      "source_url": "https://datalab.visitkorea.or.kr/",</a:t>
            </a:r>
          </a:p>
          <a:p>
            <a:r>
              <a:t>      "source_type": "regional_tourism_status",</a:t>
            </a:r>
          </a:p>
          <a:p>
            <a:r>
              <a:t>      "observation_period": "2025-07 ~ 2026-06",</a:t>
            </a:r>
          </a:p>
          <a:p>
            <a:r>
              <a:t>      "published_or_updated_at": ""</a:t>
            </a:r>
          </a:p>
          <a:p>
            <a:r>
              <a:t>    },</a:t>
            </a:r>
          </a:p>
          <a:p>
            <a:r>
              <a:t>    {</a:t>
            </a:r>
          </a:p>
          <a:p>
            <a:r>
              <a:t>      "title": "한국관광 데이터랩 지역별 관광 현황 · 강원특별자치도 원주시 · 지역집중률",</a:t>
            </a:r>
          </a:p>
          <a:p>
            <a:r>
              <a:t>      "summary": "관측 기간: 2025-07 ~ 2026-06. 유입·유출·인기장소 또는 30일 집중 운영 신호.",</a:t>
            </a:r>
          </a:p>
          <a:p>
            <a:r>
              <a:t>      "source_id": "regional-status:c39767bd23e8:e3b081f6e6aa",</a:t>
            </a:r>
          </a:p>
          <a:p>
            <a:r>
              <a:t>      "source_url": "https://datalab.visitkorea.or.kr/",</a:t>
            </a:r>
          </a:p>
          <a:p>
            <a:r>
              <a:t>      "source_type": "regional_tourism_status",</a:t>
            </a:r>
          </a:p>
          <a:p>
            <a:r>
              <a:t>      "observation_period": "2025-07 ~ 2026-06",</a:t>
            </a:r>
          </a:p>
          <a:p>
            <a:r>
              <a:t>      "published_or_updated_at": ""</a:t>
            </a:r>
          </a:p>
          <a:p>
            <a:r>
              <a:t>    },</a:t>
            </a:r>
          </a:p>
          <a:p>
            <a:r>
              <a:t>    {</a:t>
            </a:r>
          </a:p>
          <a:p>
            <a:r>
              <a:t>      "title": "한국관광 데이터랩 지역별 관광 현황 · 강원특별자치도 원주시 · 인기관광지",</a:t>
            </a:r>
          </a:p>
          <a:p>
            <a:r>
              <a:t>      "summary": "관측 기간: 2025-07 ~ 2026-06. 유입·유출·인기장소 또는 30일 집중 운영 신호.",</a:t>
            </a:r>
          </a:p>
          <a:p>
            <a:r>
              <a:t>      "source_id": "regional-status:edaf76986d99:c00fa7ffc0a7",</a:t>
            </a:r>
          </a:p>
          <a:p>
            <a:r>
              <a:t>      "source_url": "https://datalab.visitkorea.or.kr/",</a:t>
            </a:r>
          </a:p>
          <a:p>
            <a:r>
              <a:t>      "source_type": "regional_tourism_status",</a:t>
            </a:r>
          </a:p>
          <a:p>
            <a:r>
              <a:t>      "observation_period": "2025-07 ~ 2026-06",</a:t>
            </a:r>
          </a:p>
          <a:p>
            <a:r>
              <a:t>      "published_or_updated_at": ""</a:t>
            </a:r>
          </a:p>
          <a:p>
            <a:r>
              <a:t>    },</a:t>
            </a:r>
          </a:p>
          <a:p>
            <a:r>
              <a:t>    {</a:t>
            </a:r>
          </a:p>
          <a:p>
            <a:r>
              <a:t>      "title": "지역 관광수요 ML 전망 · 공식 관측값 아님",</a:t>
            </a:r>
          </a:p>
          <a:p>
            <a:r>
              <a:t>      "summary": "학습 202401~202606 · 모델 regional-demand-v3.1 · 자연 추세 예측",</a:t>
            </a:r>
          </a:p>
          <a:p>
            <a:r>
              <a:t>      "source_id": "ml:51130:regional-demand-v3.1:202606",</a:t>
            </a:r>
          </a:p>
          <a:p>
            <a:r>
              <a:t>      "source_url": "",</a:t>
            </a:r>
          </a:p>
          <a:p>
            <a:r>
              <a:t>      "source_type": "model_forecast",</a:t>
            </a:r>
          </a:p>
          <a:p>
            <a:r>
              <a:t>      "model_version": "regional-demand-v3.1",</a:t>
            </a:r>
          </a:p>
          <a:p>
            <a:r>
              <a:t>      "data_fingerprint": "1f7caf31818b53f22347c7318503ea14cbef8a3765f5b75b8191fe8ca2193349"</a:t>
            </a:r>
          </a:p>
          <a:p>
            <a:r>
              <a:t>    },</a:t>
            </a:r>
          </a:p>
          <a:p>
            <a:r>
              <a:t>    {</a:t>
            </a:r>
          </a:p>
          <a:p>
            <a:r>
              <a:t>      "title": "감악산캠핑숲",</a:t>
            </a:r>
          </a:p>
          <a:p>
            <a:r>
              <a:t>      "address": "강원특별자치도 원주시 신림면 신림황둔로 714",</a:t>
            </a:r>
          </a:p>
          <a:p>
            <a:r>
              <a:t>      "summary": "한국관광공사 국문관광정보 API가 반환한 선택 지역 관광자원",</a:t>
            </a:r>
          </a:p>
          <a:p>
            <a:r>
              <a:t>      "image_url": "http://tong.visitkorea.or.kr/cms/resource/64/2732964_image2_1.JPG",</a:t>
            </a:r>
          </a:p>
          <a:p>
            <a:r>
              <a:t>      "source_id": "tour-api:2732999",</a:t>
            </a:r>
          </a:p>
          <a:p>
            <a:r>
              <a:t>      "content_id": "2732999",</a:t>
            </a:r>
          </a:p>
          <a:p>
            <a:r>
              <a:t>      "source_url": "https://apis.data.go.kr/B551011/KorService2",</a:t>
            </a:r>
          </a:p>
          <a:p>
            <a:r>
              <a:t>      "source_type": "open_api",</a:t>
            </a:r>
          </a:p>
          <a:p>
            <a:r>
              <a:t>      "content_type_id": "28"</a:t>
            </a:r>
          </a:p>
          <a:p>
            <a:r>
              <a:t>    },</a:t>
            </a:r>
          </a:p>
          <a:p>
            <a:r>
              <a:t>    {</a:t>
            </a:r>
          </a:p>
          <a:p>
            <a:r>
              <a:t>      "title": "강원감영관찰사·무릉고서화미술박물관",</a:t>
            </a:r>
          </a:p>
          <a:p>
            <a:r>
              <a:t>      "address": "강원특별자치도 원주시 흥업면 사제로 399-10",</a:t>
            </a:r>
          </a:p>
          <a:p>
            <a:r>
              <a:t>      "summary": "한국관광공사 국문관광정보 API가 반환한 선택 지역 관광자원",</a:t>
            </a:r>
          </a:p>
          <a:p>
            <a:r>
              <a:t>      "image_url": "http://tong.visitkorea.or.kr/cms/resource/64/3437164_image2_1.jpg",</a:t>
            </a:r>
          </a:p>
          <a:p>
            <a:r>
              <a:t>      "source_id": "tour-api:2555010",</a:t>
            </a:r>
          </a:p>
          <a:p>
            <a:r>
              <a:t>      "content_id": "2555010",</a:t>
            </a:r>
          </a:p>
          <a:p>
            <a:r>
              <a:t>      "source_url": "https://apis.data.go.kr/B551011/KorService2",</a:t>
            </a:r>
          </a:p>
          <a:p>
            <a:r>
              <a:t>      "source_type": "open_api",</a:t>
            </a:r>
          </a:p>
          <a:p>
            <a:r>
              <a:t>      "content_type_id": "14"</a:t>
            </a:r>
          </a:p>
          <a:p>
            <a:r>
              <a:t>    },</a:t>
            </a:r>
          </a:p>
          <a:p>
            <a:r>
              <a:t>    {</a:t>
            </a:r>
          </a:p>
          <a:p>
            <a:r>
              <a:t>      "title": "강원도힐링캠핑장",</a:t>
            </a:r>
          </a:p>
          <a:p>
            <a:r>
              <a:t>      "address": "강원특별자치도 원주시 신림면 재사동길 10-38",</a:t>
            </a:r>
          </a:p>
          <a:p>
            <a:r>
              <a:t>      "summary": "한국관광공사 국문관광정보 API가 반환한 선택 지역 관광자원",</a:t>
            </a:r>
          </a:p>
          <a:p>
            <a:r>
              <a:t>      "image_url": "http://tong.visitkorea.or.kr/cms/resource/98/2733998_image2_1.JPG",</a:t>
            </a:r>
          </a:p>
          <a:p>
            <a:r>
              <a:t>      "source_id": "tour-api:2734136",</a:t>
            </a:r>
          </a:p>
          <a:p>
            <a:r>
              <a:t>      "content_id": "2734136",</a:t>
            </a:r>
          </a:p>
          <a:p>
            <a:r>
              <a:t>      "source_url": "https://apis.data.go.kr/B551011/KorService2",</a:t>
            </a:r>
          </a:p>
          <a:p>
            <a:r>
              <a:t>      "source_type": "open_api",</a:t>
            </a:r>
          </a:p>
          <a:p>
            <a:r>
              <a:t>      "content_type_id": "28"</a:t>
            </a:r>
          </a:p>
          <a:p>
            <a:r>
              <a:t>    },</a:t>
            </a:r>
          </a:p>
          <a:p>
            <a:r>
              <a:t>    {</a:t>
            </a:r>
          </a:p>
          <a:p>
            <a:r>
              <a:t>      "title": "경천묘",</a:t>
            </a:r>
          </a:p>
          <a:p>
            <a:r>
              <a:t>      "address": "강원특별자치도 원주시 귀래면 미륵산길 200",</a:t>
            </a:r>
          </a:p>
          <a:p>
            <a:r>
              <a:t>      "summary": "한국관광공사 국문관광정보 API가 반환한 선택 지역 관광자원",</a:t>
            </a:r>
          </a:p>
          <a:p>
            <a:r>
              <a:t>      "image_url": "http://tong.visitkorea.or.kr/cms/resource/56/3379256_image2_1.JPG",</a:t>
            </a:r>
          </a:p>
          <a:p>
            <a:r>
              <a:t>      "source_id": "tour-api:2702477",</a:t>
            </a:r>
          </a:p>
          <a:p>
            <a:r>
              <a:t>      "content_id": "2702477",</a:t>
            </a:r>
          </a:p>
          <a:p>
            <a:r>
              <a:t>      "source_url": "https://apis.data.go.kr/B551011/KorService2",</a:t>
            </a:r>
          </a:p>
          <a:p>
            <a:r>
              <a:t>      "source_type": "open_api",</a:t>
            </a:r>
          </a:p>
          <a:p>
            <a:r>
              <a:t>      "content_type_id": "12"</a:t>
            </a:r>
          </a:p>
          <a:p>
            <a:r>
              <a:t>    },</a:t>
            </a:r>
          </a:p>
          <a:p>
            <a:r>
              <a:t>    {</a:t>
            </a:r>
          </a:p>
          <a:p>
            <a:r>
              <a:t>      "title": "고판화박물관",</a:t>
            </a:r>
          </a:p>
          <a:p>
            <a:r>
              <a:t>      "address": "강원특별자치도 원주시 신림면 물안길 62",</a:t>
            </a:r>
          </a:p>
          <a:p>
            <a:r>
              <a:t>      "summary": "한국관광공사 국문관광정보 API가 반환한 선택 지역 관광자원",</a:t>
            </a:r>
          </a:p>
          <a:p>
            <a:r>
              <a:t>      "image_url": "http://tong.visitkorea.or.kr/cms/resource/36/3375236_image2_1.JPG",</a:t>
            </a:r>
          </a:p>
          <a:p>
            <a:r>
              <a:t>      "source_id": "tour-api:130539",</a:t>
            </a:r>
          </a:p>
          <a:p>
            <a:r>
              <a:t>      "content_id": "130539",</a:t>
            </a:r>
          </a:p>
          <a:p>
            <a:r>
              <a:t>      "source_url": "https://apis.data.go.kr/B551011/KorService2",</a:t>
            </a:r>
          </a:p>
          <a:p>
            <a:r>
              <a:t>      "source_type": "open_api",</a:t>
            </a:r>
          </a:p>
          <a:p>
            <a:r>
              <a:t>      "content_type_id": "14"</a:t>
            </a:r>
          </a:p>
          <a:p>
            <a:r>
              <a:t>    },</a:t>
            </a:r>
          </a:p>
          <a:p>
            <a:r>
              <a:t>    {</a:t>
            </a:r>
          </a:p>
          <a:p>
            <a:r>
              <a:t>      "title": "관음사·국형사계곡",</a:t>
            </a:r>
          </a:p>
          <a:p>
            <a:r>
              <a:t>      "address": "강원특별자치도 원주시 고문골길 169 (행구동)",</a:t>
            </a:r>
          </a:p>
          <a:p>
            <a:r>
              <a:t>      "summary": "한국관광공사 국문관광정보 API가 반환한 선택 지역 관광자원",</a:t>
            </a:r>
          </a:p>
          <a:p>
            <a:r>
              <a:t>      "image_url": "http://tong.visitkorea.or.kr/cms/resource/29/3045629_image2_1.jpg",</a:t>
            </a:r>
          </a:p>
          <a:p>
            <a:r>
              <a:t>      "source_id": "tour-api:125645",</a:t>
            </a:r>
          </a:p>
          <a:p>
            <a:r>
              <a:t>      "content_id": "125645",</a:t>
            </a:r>
          </a:p>
          <a:p>
            <a:r>
              <a:t>      "source_url": "https://apis.data.go.kr/B551011/KorService2",</a:t>
            </a:r>
          </a:p>
          <a:p>
            <a:r>
              <a:t>      "source_type": "open_api",</a:t>
            </a:r>
          </a:p>
          <a:p>
            <a:r>
              <a:t>      "content_type_id": "12"</a:t>
            </a:r>
          </a:p>
          <a:p>
            <a:r>
              <a:t>    },</a:t>
            </a:r>
          </a:p>
          <a:p>
            <a:r>
              <a:t>    {</a:t>
            </a:r>
          </a:p>
          <a:p>
            <a:r>
              <a:t>      "title": "광화문갈비 원주점",</a:t>
            </a:r>
          </a:p>
          <a:p>
            <a:r>
              <a:t>      "address": "강원특별자치도 원주시 능라동길 48 (무실동)",</a:t>
            </a:r>
          </a:p>
          <a:p>
            <a:r>
              <a:t>      "summary": "한국관광공사 국문관광정보 API가 반환한 선택 지역 관광자원",</a:t>
            </a:r>
          </a:p>
          <a:p>
            <a:r>
              <a:t>      "image_url": "http://tong.visitkorea.or.kr/cms/resource/86/3421686_image2_1.jpg",</a:t>
            </a:r>
          </a:p>
          <a:p>
            <a:r>
              <a:t>      "source_id": "tour-api:3356037",</a:t>
            </a:r>
          </a:p>
          <a:p>
            <a:r>
              <a:t>      "content_id": "3356037",</a:t>
            </a:r>
          </a:p>
          <a:p>
            <a:r>
              <a:t>      "source_url": "https://apis.data.go.kr/B551011/KorService2",</a:t>
            </a:r>
          </a:p>
          <a:p>
            <a:r>
              <a:t>      "source_type": "open_api",</a:t>
            </a:r>
          </a:p>
          <a:p>
            <a:r>
              <a:t>      "content_type_id": "39"</a:t>
            </a:r>
          </a:p>
          <a:p>
            <a:r>
              <a:t>    },</a:t>
            </a:r>
          </a:p>
          <a:p>
            <a:r>
              <a:t>    {</a:t>
            </a:r>
          </a:p>
          <a:p>
            <a:r>
              <a:t>      "title": "구 조선식산은행 원주지점",</a:t>
            </a:r>
          </a:p>
          <a:p>
            <a:r>
              <a:t>      "address": "강원특별자치도 원주시 중앙로 88 (중앙동)",</a:t>
            </a:r>
          </a:p>
          <a:p>
            <a:r>
              <a:t>      "summary": "한국관광공사 국문관광정보 API가 반환한 선택 지역 관광자원",</a:t>
            </a:r>
          </a:p>
          <a:p>
            <a:r>
              <a:t>      "image_url": "http://tong.visitkorea.or.kr/cms/resource/78/3379278_image2_1.JPG",</a:t>
            </a:r>
          </a:p>
          <a:p>
            <a:r>
              <a:t>      "source_id": "tour-api:2762710",</a:t>
            </a:r>
          </a:p>
          <a:p>
            <a:r>
              <a:t>      "content_id": "2762710",</a:t>
            </a:r>
          </a:p>
          <a:p>
            <a:r>
              <a:t>      "source_url": "https://apis.data.go.kr/B551011/KorService2",</a:t>
            </a:r>
          </a:p>
          <a:p>
            <a:r>
              <a:t>      "source_type": "open_api",</a:t>
            </a:r>
          </a:p>
          <a:p>
            <a:r>
              <a:t>      "content_type_id": "12"</a:t>
            </a:r>
          </a:p>
          <a:p>
            <a:r>
              <a:t>    },</a:t>
            </a:r>
          </a:p>
          <a:p>
            <a:r>
              <a:t>    {</a:t>
            </a:r>
          </a:p>
          <a:p>
            <a:r>
              <a:t>      "title": "국형사",</a:t>
            </a:r>
          </a:p>
          <a:p>
            <a:r>
              <a:t>      "address": "강원특별자치도 원주시 고문골길 155 (행구동)",</a:t>
            </a:r>
          </a:p>
          <a:p>
            <a:r>
              <a:t>      "summary": "한국관광공사 국문관광정보 API가 반환한 선택 지역 관광자원",</a:t>
            </a:r>
          </a:p>
          <a:p>
            <a:r>
              <a:t>      "image_url": "http://tong.visitkorea.or.kr/cms/resource/87/3559187_image2_1.jpeg",</a:t>
            </a:r>
          </a:p>
          <a:p>
            <a:r>
              <a:t>      "source_id": "tour-api:125757",</a:t>
            </a:r>
          </a:p>
          <a:p>
            <a:r>
              <a:t>      "content_id": "125757",</a:t>
            </a:r>
          </a:p>
          <a:p>
            <a:r>
              <a:t>      "source_url": "https://apis.data.go.kr/B551011/KorService2",</a:t>
            </a:r>
          </a:p>
          <a:p>
            <a:r>
              <a:t>      "source_type": "open_api",</a:t>
            </a:r>
          </a:p>
          <a:p>
            <a:r>
              <a:t>      "content_type_id": "12"</a:t>
            </a:r>
          </a:p>
          <a:p>
            <a:r>
              <a:t>    },</a:t>
            </a:r>
          </a:p>
          <a:p>
            <a:r>
              <a:t>    {</a:t>
            </a:r>
          </a:p>
          <a:p>
            <a:r>
              <a:t>      "title": "금대 에코힐링 캠핑장",</a:t>
            </a:r>
          </a:p>
          <a:p>
            <a:r>
              <a:t>      "address": "강원특별자치도 원주시 판부면 영원산성길 372",</a:t>
            </a:r>
          </a:p>
          <a:p>
            <a:r>
              <a:t>      "summary": "한국관광공사 국문관광정보 API가 반환한 선택 지역 관광자원",</a:t>
            </a:r>
          </a:p>
          <a:p>
            <a:r>
              <a:t>      "image_url": "http://tong.visitkorea.or.kr/cms/resource/95/2011295_image2_1.jpg",</a:t>
            </a:r>
          </a:p>
          <a:p>
            <a:r>
              <a:t>      "source_id": "tour-api:2033279",</a:t>
            </a:r>
          </a:p>
          <a:p>
            <a:r>
              <a:t>      "content_id": "2033279",</a:t>
            </a:r>
          </a:p>
          <a:p>
            <a:r>
              <a:t>      "source_url": "https://apis.data.go.kr/B551011/KorService2",</a:t>
            </a:r>
          </a:p>
          <a:p>
            <a:r>
              <a:t>      "source_type": "open_api",</a:t>
            </a:r>
          </a:p>
          <a:p>
            <a:r>
              <a:t>      "content_type_id": "28"</a:t>
            </a:r>
          </a:p>
          <a:p>
            <a:r>
              <a:t>    },</a:t>
            </a:r>
          </a:p>
          <a:p>
            <a:r>
              <a:t>    {</a:t>
            </a:r>
          </a:p>
          <a:p>
            <a:r>
              <a:t>      "title": "금대계곡",</a:t>
            </a:r>
          </a:p>
          <a:p>
            <a:r>
              <a:t>      "address": "강원특별자치도 원주시 판부면 치악로 546-22",</a:t>
            </a:r>
          </a:p>
          <a:p>
            <a:r>
              <a:t>      "summary": "한국관광공사 국문관광정보 API가 반환한 선택 지역 관광자원",</a:t>
            </a:r>
          </a:p>
          <a:p>
            <a:r>
              <a:t>      "image_url": "http://tong.visitkorea.or.kr/cms/resource/85/3045285_image2_1.jpg",</a:t>
            </a:r>
          </a:p>
          <a:p>
            <a:r>
              <a:t>      "source_id": "tour-api:129676",</a:t>
            </a:r>
          </a:p>
          <a:p>
            <a:r>
              <a:t>      "content_id": "129676",</a:t>
            </a:r>
          </a:p>
          <a:p>
            <a:r>
              <a:t>      "source_url": "https://apis.data.go.kr/B551011/KorService2",</a:t>
            </a:r>
          </a:p>
          <a:p>
            <a:r>
              <a:t>      "source_type": "open_api",</a:t>
            </a:r>
          </a:p>
          <a:p>
            <a:r>
              <a:t>      "content_type_id": "12"</a:t>
            </a:r>
          </a:p>
          <a:p>
            <a:r>
              <a:t>    },</a:t>
            </a:r>
          </a:p>
          <a:p>
            <a:r>
              <a:t>    {</a:t>
            </a:r>
          </a:p>
          <a:p>
            <a:r>
              <a:t>      "title": "금대자동차야영장",</a:t>
            </a:r>
          </a:p>
          <a:p>
            <a:r>
              <a:t>      "address": "강원특별자치도 원주시 판부면 영원산성길 372",</a:t>
            </a:r>
          </a:p>
          <a:p>
            <a:r>
              <a:t>      "summary": "한국관광공사 국문관광정보 API가 반환한 선택 지역 관광자원",</a:t>
            </a:r>
          </a:p>
          <a:p>
            <a:r>
              <a:t>      "image_url": "http://tong.visitkorea.or.kr/cms/resource/97/2734897_image2_1.JPG",</a:t>
            </a:r>
          </a:p>
          <a:p>
            <a:r>
              <a:t>      "source_id": "tour-api:2734906",</a:t>
            </a:r>
          </a:p>
          <a:p>
            <a:r>
              <a:t>      "content_id": "2734906",</a:t>
            </a:r>
          </a:p>
          <a:p>
            <a:r>
              <a:t>      "source_url": "https://apis.data.go.kr/B551011/KorService2",</a:t>
            </a:r>
          </a:p>
          <a:p>
            <a:r>
              <a:t>      "source_type": "open_api",</a:t>
            </a:r>
          </a:p>
          <a:p>
            <a:r>
              <a:t>      "content_type_id": "28"</a:t>
            </a:r>
          </a:p>
          <a:p>
            <a:r>
              <a:t>    },</a:t>
            </a:r>
          </a:p>
          <a:p>
            <a:r>
              <a:t>    {</a:t>
            </a:r>
          </a:p>
          <a:p>
            <a:r>
              <a:t>      "title": "기후변화홍보관",</a:t>
            </a:r>
          </a:p>
          <a:p>
            <a:r>
              <a:t>      "address": "강원특별자치도 원주시 행구로 362",</a:t>
            </a:r>
          </a:p>
          <a:p>
            <a:r>
              <a:t>      "summary": "한국관광공사 국문관광정보 API가 반환한 선택 지역 관광자원",</a:t>
            </a:r>
          </a:p>
          <a:p>
            <a:r>
              <a:t>      "image_url": "http://tong.visitkorea.or.kr/cms/resource/40/3533840_image2_1.JPG",</a:t>
            </a:r>
          </a:p>
          <a:p>
            <a:r>
              <a:t>      "source_id": "tour-api:2714800",</a:t>
            </a:r>
          </a:p>
          <a:p>
            <a:r>
              <a:t>      "content_id": "2714800",</a:t>
            </a:r>
          </a:p>
          <a:p>
            <a:r>
              <a:t>      "source_url": "https://apis.data.go.kr/B551011/KorService2",</a:t>
            </a:r>
          </a:p>
          <a:p>
            <a:r>
              <a:t>      "source_type": "open_api",</a:t>
            </a:r>
          </a:p>
          <a:p>
            <a:r>
              <a:t>      "content_type_id": "14"</a:t>
            </a:r>
          </a:p>
          <a:p>
            <a:r>
              <a:t>    },</a:t>
            </a:r>
          </a:p>
          <a:p>
            <a:r>
              <a:t>    {</a:t>
            </a:r>
          </a:p>
          <a:p>
            <a:r>
              <a:t>      "title": "김가네원주추어탕",</a:t>
            </a:r>
          </a:p>
          <a:p>
            <a:r>
              <a:t>      "address": "강원특별자치도 원주시 단관공원길 90-3",</a:t>
            </a:r>
          </a:p>
          <a:p>
            <a:r>
              <a:t>      "summary": "한국관광공사 국문관광정보 API가 반환한 선택 지역 관광자원",</a:t>
            </a:r>
          </a:p>
          <a:p>
            <a:r>
              <a:t>      "image_url": "http://tong.visitkorea.or.kr/cms/resource/25/2892325_image2_1.jpg",</a:t>
            </a:r>
          </a:p>
          <a:p>
            <a:r>
              <a:t>      "source_id": "tour-api:2892327",</a:t>
            </a:r>
          </a:p>
          <a:p>
            <a:r>
              <a:t>      "content_id": "2892327",</a:t>
            </a:r>
          </a:p>
          <a:p>
            <a:r>
              <a:t>      "source_url": "https://apis.data.go.kr/B551011/KorService2",</a:t>
            </a:r>
          </a:p>
          <a:p>
            <a:r>
              <a:t>      "source_type": "open_api",</a:t>
            </a:r>
          </a:p>
          <a:p>
            <a:r>
              <a:t>      "content_type_id": "39"</a:t>
            </a:r>
          </a:p>
          <a:p>
            <a:r>
              <a:t>    },</a:t>
            </a:r>
          </a:p>
          <a:p>
            <a:r>
              <a:t>    {</a:t>
            </a:r>
          </a:p>
          <a:p>
            <a:r>
              <a:t>      "title": "김제남 신도비",</a:t>
            </a:r>
          </a:p>
          <a:p>
            <a:r>
              <a:t>      "address": "강원특별자치도 원주시 지정면 흥법사지길 18",</a:t>
            </a:r>
          </a:p>
          <a:p>
            <a:r>
              <a:t>      "summary": "한국관광공사 국문관광정보 API가 반환한 선택 지역 관광자원",</a:t>
            </a:r>
          </a:p>
          <a:p>
            <a:r>
              <a:t>      "image_url": "http://tong.visitkorea.or.kr/cms/resource/28/3376528_image2_1.JPG",</a:t>
            </a:r>
          </a:p>
          <a:p>
            <a:r>
              <a:t>      "source_id": "tour-api:129284",</a:t>
            </a:r>
          </a:p>
          <a:p>
            <a:r>
              <a:t>      "content_id": "129284",</a:t>
            </a:r>
          </a:p>
          <a:p>
            <a:r>
              <a:t>      "source_url": "https://apis.data.go.kr/B551011/KorService2",</a:t>
            </a:r>
          </a:p>
          <a:p>
            <a:r>
              <a:t>      "source_type": "open_api",</a:t>
            </a:r>
          </a:p>
          <a:p>
            <a:r>
              <a:t>      "content_type_id": "12"</a:t>
            </a:r>
          </a:p>
          <a:p>
            <a:r>
              <a:t>    },</a:t>
            </a:r>
          </a:p>
          <a:p>
            <a:r>
              <a:t>    {</a:t>
            </a:r>
          </a:p>
          <a:p>
            <a:r>
              <a:t>      "title": "넌스키 난보드",</a:t>
            </a:r>
          </a:p>
          <a:p>
            <a:r>
              <a:t>      "address": "강원특별자치도 원주시 지정면 구재로 132",</a:t>
            </a:r>
          </a:p>
          <a:p>
            <a:r>
              <a:t>      "summary": "한국관광공사 국문관광정보 API가 반환한 선택 지역 관광자원",</a:t>
            </a:r>
          </a:p>
          <a:p>
            <a:r>
              <a:t>      "image_url": "http://tong.visitkorea.or.kr/cms/resource/73/3562173_image2_1.jpg",</a:t>
            </a:r>
          </a:p>
          <a:p>
            <a:r>
              <a:t>      "source_id": "tour-api:512084",</a:t>
            </a:r>
          </a:p>
          <a:p>
            <a:r>
              <a:t>      "content_id": "512084",</a:t>
            </a:r>
          </a:p>
          <a:p>
            <a:r>
              <a:t>      "source_url": "https://apis.data.go.kr/B551011/KorService2",</a:t>
            </a:r>
          </a:p>
          <a:p>
            <a:r>
              <a:t>      "source_type": "open_api",</a:t>
            </a:r>
          </a:p>
          <a:p>
            <a:r>
              <a:t>      "content_type_id": "28"</a:t>
            </a:r>
          </a:p>
          <a:p>
            <a:r>
              <a:t>    },</a:t>
            </a:r>
          </a:p>
          <a:p>
            <a:r>
              <a:t>    {</a:t>
            </a:r>
          </a:p>
          <a:p>
            <a:r>
              <a:t>      "title": "단관공원",</a:t>
            </a:r>
          </a:p>
          <a:p>
            <a:r>
              <a:t>      "address": "강원특별자치도 원주시 단관공원길 63",</a:t>
            </a:r>
          </a:p>
          <a:p>
            <a:r>
              <a:t>      "summary": "한국관광공사 국문관광정보 API가 반환한 선택 지역 관광자원",</a:t>
            </a:r>
          </a:p>
          <a:p>
            <a:r>
              <a:t>      "image_url": "http://tong.visitkorea.or.kr/cms/resource/43/3334543_image2_1.jpg",</a:t>
            </a:r>
          </a:p>
          <a:p>
            <a:r>
              <a:t>      "source_id": "tour-api:2778036",</a:t>
            </a:r>
          </a:p>
          <a:p>
            <a:r>
              <a:t>      "content_id": "2778036",</a:t>
            </a:r>
          </a:p>
          <a:p>
            <a:r>
              <a:t>      "source_url": "https://apis.data.go.kr/B551011/KorService2",</a:t>
            </a:r>
          </a:p>
          <a:p>
            <a:r>
              <a:t>      "source_type": "open_api",</a:t>
            </a:r>
          </a:p>
          <a:p>
            <a:r>
              <a:t>      "content_type_id": "12"</a:t>
            </a:r>
          </a:p>
          <a:p>
            <a:r>
              <a:t>    },</a:t>
            </a:r>
          </a:p>
          <a:p>
            <a:r>
              <a:t>    {</a:t>
            </a:r>
          </a:p>
          <a:p>
            <a:r>
              <a:t>      "title": "동승루",</a:t>
            </a:r>
          </a:p>
          <a:p>
            <a:r>
              <a:t>      "address": "강원특별자치도 원주시 이화4길 30",</a:t>
            </a:r>
          </a:p>
          <a:p>
            <a:r>
              <a:t>      "summary": "한국관광공사 국문관광정보 API가 반환한 선택 지역 관광자원",</a:t>
            </a:r>
          </a:p>
          <a:p>
            <a:r>
              <a:t>      "image_url": "http://tong.visitkorea.or.kr/cms/resource/15/2892315_image2_1.jpg",</a:t>
            </a:r>
          </a:p>
          <a:p>
            <a:r>
              <a:t>      "source_id": "tour-api:2892320",</a:t>
            </a:r>
          </a:p>
          <a:p>
            <a:r>
              <a:t>      "content_id": "2892320",</a:t>
            </a:r>
          </a:p>
          <a:p>
            <a:r>
              <a:t>      "source_url": "https://apis.data.go.kr/B551011/KorService2",</a:t>
            </a:r>
          </a:p>
          <a:p>
            <a:r>
              <a:t>      "source_type": "open_api",</a:t>
            </a:r>
          </a:p>
          <a:p>
            <a:r>
              <a:t>      "content_type_id": "39"</a:t>
            </a:r>
          </a:p>
          <a:p>
            <a:r>
              <a:t>    },</a:t>
            </a:r>
          </a:p>
          <a:p>
            <a:r>
              <a:t>    {</a:t>
            </a:r>
          </a:p>
          <a:p>
            <a:r>
              <a:t>      "title": "들꽃가든",</a:t>
            </a:r>
          </a:p>
          <a:p>
            <a:r>
              <a:t>      "address": "강원특별자치도 원주시 월송석화로 488",</a:t>
            </a:r>
          </a:p>
          <a:p>
            <a:r>
              <a:t>      "summary": "한국관광공사 국문관광정보 API가 반환한 선택 지역 관광자원",</a:t>
            </a:r>
          </a:p>
          <a:p>
            <a:r>
              <a:t>      "image_url": "http://tong.visitkorea.or.kr/cms/resource/04/2892304_image2_1.jpg",</a:t>
            </a:r>
          </a:p>
          <a:p>
            <a:r>
              <a:t>      "source_id": "tour-api:2892312",</a:t>
            </a:r>
          </a:p>
          <a:p>
            <a:r>
              <a:t>      "content_id": "2892312",</a:t>
            </a:r>
          </a:p>
          <a:p>
            <a:r>
              <a:t>      "source_url": "https://apis.data.go.kr/B551011/KorService2",</a:t>
            </a:r>
          </a:p>
          <a:p>
            <a:r>
              <a:t>      "source_type": "open_api",</a:t>
            </a:r>
          </a:p>
          <a:p>
            <a:r>
              <a:t>      "content_type_id": "39"</a:t>
            </a:r>
          </a:p>
          <a:p>
            <a:r>
              <a:t>    },</a:t>
            </a:r>
          </a:p>
          <a:p>
            <a:r>
              <a:t>    {</a:t>
            </a:r>
          </a:p>
          <a:p>
            <a:r>
              <a:t>      "title": "들꽃이야기",</a:t>
            </a:r>
          </a:p>
          <a:p>
            <a:r>
              <a:t>      "address": "강원특별자치도 원주시 신림면 성남로 323-12",</a:t>
            </a:r>
          </a:p>
          <a:p>
            <a:r>
              <a:t>      "summary": "한국관광공사 국문관광정보 API가 반환한 선택 지역 관광자원",</a:t>
            </a:r>
          </a:p>
          <a:p>
            <a:r>
              <a:t>      "image_url": "http://tong.visitkorea.or.kr/cms/resource/60/3557060_image2_1.jpg",</a:t>
            </a:r>
          </a:p>
          <a:p>
            <a:r>
              <a:t>      "source_id": "tour-api:2809292",</a:t>
            </a:r>
          </a:p>
          <a:p>
            <a:r>
              <a:t>      "content_id": "2809292",</a:t>
            </a:r>
          </a:p>
          <a:p>
            <a:r>
              <a:t>      "source_url": "https://apis.data.go.kr/B551011/KorService2",</a:t>
            </a:r>
          </a:p>
          <a:p>
            <a:r>
              <a:t>      "source_type": "open_api",</a:t>
            </a:r>
          </a:p>
          <a:p>
            <a:r>
              <a:t>      "content_type_id": "39"</a:t>
            </a:r>
          </a:p>
          <a:p>
            <a:r>
              <a:t>    },</a:t>
            </a:r>
          </a:p>
          <a:p>
            <a:r>
              <a:t>    {</a:t>
            </a:r>
          </a:p>
          <a:p>
            <a:r>
              <a:t>      "title": "요즘, 한국관광 2호 - 지방공항 연계 지역관광 활성화 방안",</a:t>
            </a:r>
          </a:p>
          <a:p>
            <a:r>
              <a:t>      "summary": "44제 2장 지방공항 연계 지역관광 활성화 방안 요즘, 한국관광 한국관광공사는 본래의 기능인 해외 홍보마케팅을 통한 인지 형성, 지역 관광생태계 육성, 관광사업 추진을 여정 단계에 맞춰 재배치해야 한다. 해외지사와 국내지사를 연결한 중점지사제를 '관문-연계도시' 단위로 운영하고, 글로벌 OTA 와 현지 여행사가 실제 상품을 만들 수 있도록 상품화 모듈과 전세·임시편 유치를 고도화하며, 선상 마케팅처럼 항공사 기내·LCC 채널을 활용한 권역 홍보를 확대할 수 있어야 할 것이다. 특히 성과지표를 입국자 수와 공급석 중심에서 '입국객의 권역 내 첫 숙박률이나, 1인당 권역 내 소비, 지방 이동 비중' 중심으로 전환하고, 통신·카드 데이터에 소셜 담론 데이터를 결합한 공항-권역 대시보드를 상시 운영해 데이터 기반 성과관리를 지속적으로 보여주는 데이터 기반의 지방공항 중심 관광권 상황실을 구축하여야 한다. 지방자치단체와 한국공항공사는 공항에서 지역 상권까지 이어지는 현장 수용태세를 보다 면밀히 고려하는 정책과 사업이 필요하다. 공항 접근 교통과 안내·결제, 다국어 환경, 터미널과 도심·거점 관광지를 잇는 셔틀, 권역 내 숙박과 야간 콘텐츠는 지자체의 실행력이 좌우하는 영역이다. 공항 소재 지자체 단위 협의를 넘어 청주는 대전·세종·충남, 대구는 경북과 함께 상품·교통·마케팅 예산을 묶는 관광권 협의체를 구성하고, 중장기적으로는 일본의 광역연계 DMO처럼 권역 단위의 상설 조직과 재원으로 발전시켜야 한다. 민관협력은 이 체계를 지속 가능하게 만드는 가장 중요한 동인이라 할 수 있다. 항공사·LCC에는 신규 노선의 초기 리스크를 지방정부·공사와 분담하는 노선 개발 협약과 기내 권역 홍보를, 글로벌 OTA·현지 여행사에는 권역 루트 상품의",</a:t>
            </a:r>
          </a:p>
          <a:p>
            <a:r>
              <a:t>      "chunk_id": "reference:kto:2026:local-airport:page:044:chunk:01",</a:t>
            </a:r>
          </a:p>
          <a:p>
            <a:r>
              <a:t>      "source_id": "reference:kto:2026:local-airport",</a:t>
            </a:r>
          </a:p>
          <a:p>
            <a:r>
              <a:t>      "source_url": "https://datalab.visitkorea.or.kr/site/portal/ex/bbs/View.do?bcIdx=311068&amp;cbIdx=1135&amp;pageIndex=1",</a:t>
            </a:r>
          </a:p>
          <a:p>
            <a:r>
              <a:t>      "case_region": "",</a:t>
            </a:r>
          </a:p>
          <a:p>
            <a:r>
              <a:t>      "region_code": "ALL",</a:t>
            </a:r>
          </a:p>
          <a:p>
            <a:r>
              <a:t>      "region_name": "전국 공통",</a:t>
            </a:r>
          </a:p>
          <a:p>
            <a:r>
              <a:t>      "source_note": "지방공항·연계 지역에 관한 자료입니다. 다른 시군구의 사업 효과·예산을 보장하는 근거로 사용하지 않습니다.",</a:t>
            </a:r>
          </a:p>
          <a:p>
            <a:r>
              <a:t>      "source_type": "rag",</a:t>
            </a:r>
          </a:p>
          <a:p>
            <a:r>
              <a:t>      "intervention": "",</a:t>
            </a:r>
          </a:p>
          <a:p>
            <a:r>
              <a:t>      "document_type": "policy",</a:t>
            </a:r>
          </a:p>
          <a:p>
            <a:r>
              <a:t>      "matched_terms": [</a:t>
            </a:r>
          </a:p>
          <a:p>
            <a:r>
              <a:t>        "결제",</a:t>
            </a:r>
          </a:p>
          <a:p>
            <a:r>
              <a:t>        "관광사업",</a:t>
            </a:r>
          </a:p>
          <a:p>
            <a:r>
              <a:t>        "상권",</a:t>
            </a:r>
          </a:p>
          <a:p>
            <a:r>
              <a:t>        "성과",</a:t>
            </a:r>
          </a:p>
          <a:p>
            <a:r>
              <a:t>        "소비",</a:t>
            </a:r>
          </a:p>
          <a:p>
            <a:r>
              <a:t>        "수와",</a:t>
            </a:r>
          </a:p>
          <a:p>
            <a:r>
              <a:t>        "숙박",</a:t>
            </a:r>
          </a:p>
          <a:p>
            <a:r>
              <a:t>        "실제",</a:t>
            </a:r>
          </a:p>
          <a:p>
            <a:r>
              <a:t>        "실행",</a:t>
            </a:r>
          </a:p>
          <a:p>
            <a:r>
              <a:t>        "연결한",</a:t>
            </a:r>
          </a:p>
          <a:p>
            <a:r>
              <a:t>        "연계",</a:t>
            </a:r>
          </a:p>
          <a:p>
            <a:r>
              <a:t>        "예산",</a:t>
            </a:r>
          </a:p>
          <a:p>
            <a:r>
              <a:t>        "운영",</a:t>
            </a:r>
          </a:p>
          <a:p>
            <a:r>
              <a:t>        "이어지는",</a:t>
            </a:r>
          </a:p>
          <a:p>
            <a:r>
              <a:t>        "전환",</a:t>
            </a:r>
          </a:p>
          <a:p>
            <a:r>
              <a:t>        "중심으로",</a:t>
            </a:r>
          </a:p>
          <a:p>
            <a:r>
              <a:t>        "지역",</a:t>
            </a:r>
          </a:p>
          <a:p>
            <a:r>
              <a:t>        "체류",</a:t>
            </a:r>
          </a:p>
          <a:p>
            <a:r>
              <a:t>        "함께",</a:t>
            </a:r>
          </a:p>
          <a:p>
            <a:r>
              <a:t>        "현장",</a:t>
            </a:r>
          </a:p>
          <a:p>
            <a:r>
              <a:t>        "협약"</a:t>
            </a:r>
          </a:p>
          <a:p>
            <a:r>
              <a:t>      ],</a:t>
            </a:r>
          </a:p>
          <a:p>
            <a:r>
              <a:t>      "page_references": "PDF 44쪽, PDF 43쪽, PDF 38쪽, PDF 40쪽, PDF 41쪽, PDF 36쪽, PDF 41쪽, PDF 44쪽, PDF 43쪽, PDF 43쪽",</a:t>
            </a:r>
          </a:p>
          <a:p>
            <a:r>
              <a:t>      "parent_source_id": "reference:kto:2026:local-airport",</a:t>
            </a:r>
          </a:p>
          <a:p>
            <a:r>
              <a:t>      "retrieval_method": "local_curated_chunk",</a:t>
            </a:r>
          </a:p>
          <a:p>
            <a:r>
              <a:t>      "evidence_strength": "medium",</a:t>
            </a:r>
          </a:p>
          <a:p>
            <a:r>
              <a:t>      "published_or_updated_at": "2026-08",</a:t>
            </a:r>
          </a:p>
          <a:p>
            <a:r>
              <a:t>      "chunk_ids": [</a:t>
            </a:r>
          </a:p>
          <a:p>
            <a:r>
              <a:t>        "reference:kto:2026:local-airport:page:036:chunk:01",</a:t>
            </a:r>
          </a:p>
          <a:p>
            <a:r>
              <a:t>        "reference:kto:2026:local-airport:page:038:chunk:01",</a:t>
            </a:r>
          </a:p>
          <a:p>
            <a:r>
              <a:t>        "reference:kto:2026:local-airport:page:040:chunk:02",</a:t>
            </a:r>
          </a:p>
          <a:p>
            <a:r>
              <a:t>        "reference:kto:2026:local-airport:page:041:chunk:01",</a:t>
            </a:r>
          </a:p>
          <a:p>
            <a:r>
              <a:t>        "reference:kto:2026:local-airport:page:041:chunk:02",</a:t>
            </a:r>
          </a:p>
          <a:p>
            <a:r>
              <a:t>        "reference:kto:2026:local-airport:page:043:chunk:01",</a:t>
            </a:r>
          </a:p>
          <a:p>
            <a:r>
              <a:t>        "reference:kto:2026:local-airport:page:043:chunk:02",</a:t>
            </a:r>
          </a:p>
          <a:p>
            <a:r>
              <a:t>        "reference:kto:2026:local-airport:page:043:chunk:03",</a:t>
            </a:r>
          </a:p>
          <a:p>
            <a:r>
              <a:t>        "reference:kto:2026:local-airport:page:044:chunk:01",</a:t>
            </a:r>
          </a:p>
          <a:p>
            <a:r>
              <a:t>        "reference:kto:2026:local-airport:page:044:chunk:02"</a:t>
            </a:r>
          </a:p>
          <a:p>
            <a:r>
              <a:t>      ],</a:t>
            </a:r>
          </a:p>
          <a:p>
            <a:r>
              <a:t>      "source_chunk_count": 10</a:t>
            </a:r>
          </a:p>
          <a:p>
            <a:r>
              <a:t>    },</a:t>
            </a:r>
          </a:p>
          <a:p>
            <a:r>
              <a:t>    {</a:t>
            </a:r>
          </a:p>
          <a:p>
            <a:r>
              <a:t>      "title": "전주시 2026년도 관광산업과 세출예산 사업명세서",</a:t>
            </a:r>
          </a:p>
          <a:p>
            <a:r>
              <a:t>      "summary": "전북특별자치도 전주시 · 야간관광 특화도시 예산 편성 · 예산서이므로 방문·소비 성과는 확인되지 않음",</a:t>
            </a:r>
          </a:p>
          <a:p>
            <a:r>
              <a:t>      "source_id": "case:jeonju_night_budget_2026",</a:t>
            </a:r>
          </a:p>
          <a:p>
            <a:r>
              <a:t>      "source_url": "https://jeonju.go.kr/resource/www/images/download/budget/2026/2026_31_2.pdf",</a:t>
            </a:r>
          </a:p>
          <a:p>
            <a:r>
              <a:t>      "case_region": "전북특별자치도 전주시",</a:t>
            </a:r>
          </a:p>
          <a:p>
            <a:r>
              <a:t>      "source_type": "benchmark_case",</a:t>
            </a:r>
          </a:p>
          <a:p>
            <a:r>
              <a:t>      "intervention": "야간관광 특화도시 예산 편성",</a:t>
            </a:r>
          </a:p>
          <a:p>
            <a:r>
              <a:t>      "operating_model": "사무관리, 행사운영, 연구용역, 민간경상보조 등으로 사업비를 항목별 편성",</a:t>
            </a:r>
          </a:p>
          <a:p>
            <a:r>
              <a:t>      "evidence_strength": "high",</a:t>
            </a:r>
          </a:p>
          <a:p>
            <a:r>
              <a:t>      "published_or_updated_at": "2026",</a:t>
            </a:r>
          </a:p>
          <a:p>
            <a:r>
              <a:t>      "quantitative_result_approved": null</a:t>
            </a:r>
          </a:p>
          <a:p>
            <a:r>
              <a:t>    },</a:t>
            </a:r>
          </a:p>
          <a:p>
            <a:r>
              <a:t>    {</a:t>
            </a:r>
          </a:p>
          <a:p>
            <a:r>
              <a:t>      "title": "(기획) 인천을 즐기는 가장 쉬운(easy) 방법 … 인천e지",</a:t>
            </a:r>
          </a:p>
          <a:p>
            <a:r>
              <a:t>      "summary": "인천광역시 · 스마트관광 플랫폼 ‘인천e지’의 추천·동선·스탬프·가맹점 쿠폰 통합 운영 · 2025년 9월 7일 기준 회원 10만 명, 누적 다운로드 29만 건이었다. 2025년 1~8월 프로모션 참여 18,499건, 쿠폰 이용 33,514건으로 전년 대비 각각 107%, 251% 증가했다. 다만 다운로드·쿠폰 증가가 지역 전체 관광소비의 순증 효과라는 의미는 아니다. ([incheon.go.kr](https://www.incheon.go.kr/IC010205/view?beginDt=&amp;curPage=1&amp;endDt=&amp;repSeq=DOM_0000000013130282&amp;srchMainManagerDeptNm=&amp;srchRepContents=%EC%A3%BC%EC%B0%A8&amp;srchRepTitle=))",</a:t>
            </a:r>
          </a:p>
          <a:p>
            <a:r>
              <a:t>      "source_id": "case:4625625dcbf2ae",</a:t>
            </a:r>
          </a:p>
          <a:p>
            <a:r>
              <a:t>      "source_url": "https://www.incheon.go.kr/IC010205/view?beginDt=&amp;curPage=1&amp;endDt=&amp;repSeq=DOM_0000000013130282&amp;srchMainManagerDeptNm=&amp;srchRepContents=%EC%A3%BC%EC%B0%A8&amp;srchRepTitle=",</a:t>
            </a:r>
          </a:p>
          <a:p>
            <a:r>
              <a:t>      "case_region": "인천광역시",</a:t>
            </a:r>
          </a:p>
          <a:p>
            <a:r>
              <a:t>      "source_type": "benchmark_case",</a:t>
            </a:r>
          </a:p>
          <a:p>
            <a:r>
              <a:t>      "intervention": "스마트관광 플랫폼 ‘인천e지’의 추천·동선·스탬프·가맹점 쿠폰 통합 운영",</a:t>
            </a:r>
          </a:p>
          <a:p>
            <a:r>
              <a:t>      "operating_model": "개인 맞춤형 여행 추천, 지도·교통·주차 정보, 축제 연계 스탬프투어와 스마트 쿠폰을 하나의 앱에서 제공한다. 2025년에는 가맹 서점 할인쿠폰과 책방 패스, 오프라인 행사를 결합해 기존 관광 동선을 문화상권으로 확장했다.",</a:t>
            </a:r>
          </a:p>
          <a:p>
            <a:r>
              <a:t>      "evidence_strength": "medium",</a:t>
            </a:r>
          </a:p>
          <a:p>
            <a:r>
              <a:t>      "published_or_updated_at": "2025-09-16",</a:t>
            </a:r>
          </a:p>
          <a:p>
            <a:r>
              <a:t>      "quantitative_result_approved": null</a:t>
            </a:r>
          </a:p>
          <a:p>
            <a:r>
              <a:t>    },</a:t>
            </a:r>
          </a:p>
          <a:p>
            <a:r>
              <a:t>    {</a:t>
            </a:r>
          </a:p>
          <a:p>
            <a:r>
              <a:t>      "title": "2024년 6월 여행가는 달 추진 보도자료",</a:t>
            </a:r>
          </a:p>
          <a:p>
            <a:r>
              <a:t>      "summary": "전국 인구감소지역 34곳 · 디지털 관광주민증과 교통·숙박·상점 할인 결합 · 2024년 34개 지역 약 800개 관광업체에 혜택 구조를 적용",</a:t>
            </a:r>
          </a:p>
          <a:p>
            <a:r>
              <a:t>      "source_id": "case:digital_tourism_resident_2024",</a:t>
            </a:r>
          </a:p>
          <a:p>
            <a:r>
              <a:t>      "source_url": "https://mcst.go.kr/servlets/eduport/front/upload/UplDownloadFile?pFileName=%280514%29%EB%AC%B8%EC%B2%B4%EB%B6%80%EB%B3%B4%EB%8F%84%EC%9E%90%EB%A3%8C-6%EC%9B%94_%EC%97%AC%ED%96%89%EA%B0%80%EB%8A%94_%EB%8B%AC_%EC%B6%94%EC%A7%84.pdf&amp;pPath=0302000000&amp;pRealName=20240514083202149235802932_PRESS20240514083202456506.pdf",</a:t>
            </a:r>
          </a:p>
          <a:p>
            <a:r>
              <a:t>      "case_region": "전국 인구감소지역 34곳",</a:t>
            </a:r>
          </a:p>
          <a:p>
            <a:r>
              <a:t>      "source_type": "benchmark_case",</a:t>
            </a:r>
          </a:p>
          <a:p>
            <a:r>
              <a:t>      "intervention": "디지털 관광주민증과 교통·숙박·상점 할인 결합",</a:t>
            </a:r>
          </a:p>
          <a:p>
            <a:r>
              <a:t>      "operating_model": "디지털 관광주민증 참여업체 현장 인증과 숙박·식음·관람·체험 할인, 특정 시간대 KTX 할인과 방문 후 교통 할인권을 결합",</a:t>
            </a:r>
          </a:p>
          <a:p>
            <a:r>
              <a:t>      "evidence_strength": "medium",</a:t>
            </a:r>
          </a:p>
          <a:p>
            <a:r>
              <a:t>      "published_or_updated_at": "2024-05-14",</a:t>
            </a:r>
          </a:p>
          <a:p>
            <a:r>
              <a:t>      "quantitative_result_approved": null</a:t>
            </a:r>
          </a:p>
          <a:p>
            <a:r>
              <a:t>    },</a:t>
            </a:r>
          </a:p>
          <a:p>
            <a:r>
              <a:t>    {</a:t>
            </a:r>
          </a:p>
          <a:p>
            <a:r>
              <a:t>      "title": "2022 대한민국 숙박대전 경제파급효과 공개자료",</a:t>
            </a:r>
          </a:p>
          <a:p>
            <a:r>
              <a:t>      "summary": "전국 숙박할인쿠폰 지원사업 · 온라인 예약 채널 숙박할인쿠폰 · 한국관광공사 자료는 약 104만 명이 할인혜택을 이용했고 서울·제주를 제외한 지역 사용 비율이 76%였다고 소개함",</a:t>
            </a:r>
          </a:p>
          <a:p>
            <a:r>
              <a:t>      "source_id": "case:kto_stay_discount_2022",</a:t>
            </a:r>
          </a:p>
          <a:p>
            <a:r>
              <a:t>      "source_url": "https://kto.visitkorea.or.kr/upload/flexer/upload/ktobiz/20220928/b623b5f9-3ec0-11ed-9832-ddf31964842e.hwp.files/Sections1.html",</a:t>
            </a:r>
          </a:p>
          <a:p>
            <a:r>
              <a:t>      "case_region": "전국 숙박할인쿠폰 지원사업",</a:t>
            </a:r>
          </a:p>
          <a:p>
            <a:r>
              <a:t>      "source_type": "benchmark_case",</a:t>
            </a:r>
          </a:p>
          <a:p>
            <a:r>
              <a:t>      "intervention": "온라인 예약 채널 숙박할인쿠폰",</a:t>
            </a:r>
          </a:p>
          <a:p>
            <a:r>
              <a:t>      "operating_model": "온라인 여행사 예약 단계에서 할인쿠폰을 제공하고, 지역 숙소에서 사용할 수 있도록 참여 채널과 기간을 통합 운영",</a:t>
            </a:r>
          </a:p>
          <a:p>
            <a:r>
              <a:t>      "evidence_strength": "medium",</a:t>
            </a:r>
          </a:p>
          <a:p>
            <a:r>
              <a:t>      "published_or_updated_at": "2022-09-28",</a:t>
            </a:r>
          </a:p>
          <a:p>
            <a:r>
              <a:t>      "quantitative_result_approved": null</a:t>
            </a:r>
          </a:p>
          <a:p>
            <a:r>
              <a:t>    },</a:t>
            </a:r>
          </a:p>
          <a:p>
            <a:r>
              <a:t>    {</a:t>
            </a:r>
          </a:p>
          <a:p>
            <a:r>
              <a:t>      "title": "한강 밤핑(Night+Camping) 행사·공연 정보",</a:t>
            </a:r>
          </a:p>
          <a:p>
            <a:r>
              <a:t>      "summary": "서울특별시 여의도·뚝섬·망원 한강공원 일대 · 한강 밤핑의 시간대 예약·노쇼 보증금·야간 콘텐츠·주변 상권 결합 · 사전예약 규모, 보증금·환급 조건, 할인 및 상권 연계 구조는 확인되지만 실제 참석률, 노쇼 감소율, 쿠폰 사용액과 인근 상권 매출 결과는 공식 자료에서 확인되지 않음. ([hangang.seoul.go.kr](https://hangang.seoul.go.kr/www/eventMng/detail.do?evntSn=441&amp;keyword=&amp;mid=538&amp;opt11=&amp;opt12=&amp;opt13=&amp;opt14=&amp;opt4=&amp;pageNo=2&amp;srchType=list))",</a:t>
            </a:r>
          </a:p>
          <a:p>
            <a:r>
              <a:t>      "source_id": "case:37471b1e063812",</a:t>
            </a:r>
          </a:p>
          <a:p>
            <a:r>
              <a:t>      "source_url": "https://hangang.seoul.go.kr/www/eventMng/detail.do?evntSn=441&amp;keyword=&amp;mid=538&amp;opt11=&amp;opt12=&amp;opt13=&amp;opt14=&amp;opt4=&amp;pageNo=2&amp;srchType=list",</a:t>
            </a:r>
          </a:p>
          <a:p>
            <a:r>
              <a:t>      "case_region": "서울특별시 여의도·뚝섬·망원 한강공원 일대",</a:t>
            </a:r>
          </a:p>
          <a:p>
            <a:r>
              <a:t>      "source_type": "benchmark_case",</a:t>
            </a:r>
          </a:p>
          <a:p>
            <a:r>
              <a:t>      "intervention": "한강 밤핑의 시간대 예약·노쇼 보증금·야간 콘텐츠·주변 상권 결합",</a:t>
            </a:r>
          </a:p>
          <a:p>
            <a:r>
              <a:t>      "operating_model": "총 200개 사이트를 사전예약제로 운영하고 1만 원 보증금을 받아 정상 참석 시 전액 환급했다. 연박과 취사를 제한해 참여 기회를 분산하고 주변 상권 이용을 유도했다. 야간 수영·공연·영화 등 기존 프로그램과 배달앱 즉시할인, 서울사랑상품권 페이백, 인근 21개 전통시장·골목상권 안내를 결합했다.",</a:t>
            </a:r>
          </a:p>
          <a:p>
            <a:r>
              <a:t>      "evidence_strength": "low",</a:t>
            </a:r>
          </a:p>
          <a:p>
            <a:r>
              <a:t>      "published_or_updated_at": "2026-07",</a:t>
            </a:r>
          </a:p>
          <a:p>
            <a:r>
              <a:t>      "quantitative_result_approved": null</a:t>
            </a:r>
          </a:p>
          <a:p>
            <a:r>
              <a:t>    },</a:t>
            </a:r>
          </a:p>
          <a:p>
            <a:r>
              <a:t>    {</a:t>
            </a:r>
          </a:p>
          <a:p>
            <a:r>
              <a:t>      "title": "강진 반값여행 지역경제 효과 소개",</a:t>
            </a:r>
          </a:p>
          <a:p>
            <a:r>
              <a:t>      "summary": "전라남도 강진군 · 반값여행 지역환급 · 상품권 결제 변화에 관한 소개 자료는 있으나, 사업 참여자 범위·정확한 비교 기간·원자료를 확인하지 못해 성과 수치 인용을 보류한다.",</a:t>
            </a:r>
          </a:p>
          <a:p>
            <a:r>
              <a:t>      "source_id": "case:gangjin_half_price_2024",</a:t>
            </a:r>
          </a:p>
          <a:p>
            <a:r>
              <a:t>      "source_url": "https://jnfarm.jeonnam.go.kr/board/FARM_BOARD_008/boardView.do?bdId=BD_00000000000011721&amp;menuCd=farm004002",</a:t>
            </a:r>
          </a:p>
          <a:p>
            <a:r>
              <a:t>      "case_region": "전라남도 강진군",</a:t>
            </a:r>
          </a:p>
          <a:p>
            <a:r>
              <a:t>      "source_type": "benchmark_case",</a:t>
            </a:r>
          </a:p>
          <a:p>
            <a:r>
              <a:t>      "intervention": "반값여행 지역환급",</a:t>
            </a:r>
          </a:p>
          <a:p>
            <a:r>
              <a:t>      "operating_model": "여행자가 지역에서 지출한 비용의 일부를 지역상품권으로 돌려받게 하여 혜택이 다시 지역 상점에서 사용되도록 설계",</a:t>
            </a:r>
          </a:p>
          <a:p>
            <a:r>
              <a:t>      "evidence_strength": "low",</a:t>
            </a:r>
          </a:p>
          <a:p>
            <a:r>
              <a:t>      "published_or_updated_at": "2025-01-02",</a:t>
            </a:r>
          </a:p>
          <a:p>
            <a:r>
              <a:t>      "quantitative_result_approved": false</a:t>
            </a:r>
          </a:p>
          <a:p>
            <a:r>
              <a:t>    },</a:t>
            </a:r>
          </a:p>
          <a:p>
            <a:r>
              <a:t>    {</a:t>
            </a:r>
          </a:p>
          <a:p>
            <a:r>
              <a:t>      "title": "지역사랑 휴가지원(반값여행) 신설 및 ‘대한민국 반값여행’ 성과 분석",</a:t>
            </a:r>
          </a:p>
          <a:p>
            <a:r>
              <a:t>      "summary": "전국 인구감소지역 중 2026년 상반기 선정 16개 지역 · 지역사랑 휴가지원 ‘대한민국 반값여행’ · 문체부는 2026년 6월 22일 상반기 성과 분석과 하반기 운영 방향을 논의했다고 공개했다. 확보된 공식 페이지에서 지역별 신청·방문·소비·환급 수치와 비교집단 결과는 확인되지 않아 정량 성과는 인용하지 않는다. ([mcst.go.kr](https://www.mcst.go.kr/site/s_notice/press/pressView.jsp?pSeq=22528))",</a:t>
            </a:r>
          </a:p>
          <a:p>
            <a:r>
              <a:t>      "source_id": "case:c6d4752e1342a7",</a:t>
            </a:r>
          </a:p>
          <a:p>
            <a:r>
              <a:t>      "source_url": "https://www.mcst.go.kr/site/s_policy/govPolicy/performTotal.jsp",</a:t>
            </a:r>
          </a:p>
          <a:p>
            <a:r>
              <a:t>      "case_region": "전국 인구감소지역 중 2026년 상반기 선정 16개 지역",</a:t>
            </a:r>
          </a:p>
          <a:p>
            <a:r>
              <a:t>      "source_type": "benchmark_case",</a:t>
            </a:r>
          </a:p>
          <a:p>
            <a:r>
              <a:t>      "intervention": "지역사랑 휴가지원 ‘대한민국 반값여행’",</a:t>
            </a:r>
          </a:p>
          <a:p>
            <a:r>
              <a:t>      "operating_model": "대상 지역에서 여행경비를 지출하고 요건을 충족한 방문객에게 지역사랑상품권을 환급한다. 개인은 최대 10만 원, 단체는 최대 20만 원 한도로 설계했으며, 부정수급 방지 지침과 지자체 공모·사전준비 절차를 두었다.",</a:t>
            </a:r>
          </a:p>
          <a:p>
            <a:r>
              <a:t>      "evidence_strength": "medium",</a:t>
            </a:r>
          </a:p>
          <a:p>
            <a:r>
              <a:t>      "published_or_updated_at": "2026-06-22",</a:t>
            </a:r>
          </a:p>
          <a:p>
            <a:r>
              <a:t>      "quantitative_result_approved": null</a:t>
            </a:r>
          </a:p>
          <a:p>
            <a:r>
              <a:t>    },</a:t>
            </a:r>
          </a:p>
          <a:p>
            <a:r>
              <a:t>    {</a:t>
            </a:r>
          </a:p>
          <a:p>
            <a:r>
              <a:t>      "title": "2025 대한민국 밤밤페스타 개최 도시 및 일정",</a:t>
            </a:r>
          </a:p>
          <a:p>
            <a:r>
              <a:t>      "summary": "야간관광 특화도시 10곳 · 도시별 야간 콘텐츠를 순회형 축제로 묶는 운영 · 공식 여행기사는 개최 도시·장소·운영 시간과 콘텐츠만 제시하며 방문·소비 성과 수치는 제시하지 않음",</a:t>
            </a:r>
          </a:p>
          <a:p>
            <a:r>
              <a:t>      "source_id": "case:night_festival_2025",</a:t>
            </a:r>
          </a:p>
          <a:p>
            <a:r>
              <a:t>      "source_url": "https://korean.visitkorea.or.kr/detail/rem_detail.do?cotid=f9c636b2-dd7c-4f09-af3d-6af43b33d371",</a:t>
            </a:r>
          </a:p>
          <a:p>
            <a:r>
              <a:t>      "case_region": "야간관광 특화도시 10곳",</a:t>
            </a:r>
          </a:p>
          <a:p>
            <a:r>
              <a:t>      "source_type": "benchmark_case",</a:t>
            </a:r>
          </a:p>
          <a:p>
            <a:r>
              <a:t>      "intervention": "도시별 야간 콘텐츠를 순회형 축제로 묶는 운영",</a:t>
            </a:r>
          </a:p>
          <a:p>
            <a:r>
              <a:t>      "operating_model": "10개 야간관광 특화도시의 대표 장소와 시간대를 연결하고, 공연·체험·지역 디저트·판매상품 등 도시별 콘텐츠를 순회 일정으로 운영",</a:t>
            </a:r>
          </a:p>
          <a:p>
            <a:r>
              <a:t>      "evidence_strength": "medium",</a:t>
            </a:r>
          </a:p>
          <a:p>
            <a:r>
              <a:t>      "published_or_updated_at": "2025",</a:t>
            </a:r>
          </a:p>
          <a:p>
            <a:r>
              <a:t>      "quantitative_result_approved": null</a:t>
            </a:r>
          </a:p>
          <a:p>
            <a:r>
              <a:t>    }</a:t>
            </a:r>
          </a:p>
          <a:p>
            <a:r>
              <a:t>  ],</a:t>
            </a:r>
          </a:p>
          <a:p>
            <a:r>
              <a:t>  "selected_forecast": {</a:t>
            </a:r>
          </a:p>
          <a:p>
            <a:r>
              <a:t>    "rows": [</a:t>
            </a:r>
          </a:p>
          <a:p>
            <a:r>
              <a:t>      {</a:t>
            </a:r>
          </a:p>
          <a:p>
            <a:r>
              <a:t>        "month": "202609",</a:t>
            </a:r>
          </a:p>
          <a:p>
            <a:r>
              <a:t>        "visitors": 2363056.0,</a:t>
            </a:r>
          </a:p>
          <a:p>
            <a:r>
              <a:t>        "is_forecast": true,</a:t>
            </a:r>
          </a:p>
          <a:p>
            <a:r>
              <a:t>        "spending_krw": 67047345591.0,</a:t>
            </a:r>
          </a:p>
          <a:p>
            <a:r>
              <a:t>        "stay_minutes": 2518.0,</a:t>
            </a:r>
          </a:p>
          <a:p>
            <a:r>
              <a:t>        "lodging_nights": 2.98,</a:t>
            </a:r>
          </a:p>
          <a:p>
            <a:r>
              <a:t>        "lodging_rate_pct": 13.1,</a:t>
            </a:r>
          </a:p>
          <a:p>
            <a:r>
              <a:t>        "lodging_searches": 34529,</a:t>
            </a:r>
          </a:p>
          <a:p>
            <a:r>
              <a:t>        "navigation_searches": 259153,</a:t>
            </a:r>
          </a:p>
          <a:p>
            <a:r>
              <a:t>        "visitor_yoy_percent": 3.0,</a:t>
            </a:r>
          </a:p>
          <a:p>
            <a:r>
              <a:t>        "spending_yoy_percent": 22.29,</a:t>
            </a:r>
          </a:p>
          <a:p>
            <a:r>
              <a:t>        "metric_changes_percent": {</a:t>
            </a:r>
          </a:p>
          <a:p>
            <a:r>
              <a:t>          "stay_minutes": 0.0,</a:t>
            </a:r>
          </a:p>
          <a:p>
            <a:r>
              <a:t>          "lodging_nights": 1.02,</a:t>
            </a:r>
          </a:p>
          <a:p>
            <a:r>
              <a:t>          "lodging_rate_pct": 0.0,</a:t>
            </a:r>
          </a:p>
          <a:p>
            <a:r>
              <a:t>          "lodging_searches": 8.97,</a:t>
            </a:r>
          </a:p>
          <a:p>
            <a:r>
              <a:t>          "navigation_searches": 0.0</a:t>
            </a:r>
          </a:p>
          <a:p>
            <a:r>
              <a:t>        },</a:t>
            </a:r>
          </a:p>
          <a:p>
            <a:r>
              <a:t>        "previous_year_visitors": 2294130,</a:t>
            </a:r>
          </a:p>
          <a:p>
            <a:r>
              <a:t>        "previous_year_spending_krw": 54826341000,</a:t>
            </a:r>
          </a:p>
          <a:p>
            <a:r>
              <a:t>        "previous_year_stay_minutes": 2518.0,</a:t>
            </a:r>
          </a:p>
          <a:p>
            <a:r>
              <a:t>        "previous_year_lodging_nights": 2.95,</a:t>
            </a:r>
          </a:p>
          <a:p>
            <a:r>
              <a:t>        "previous_year_lodging_rate_pct": 13.1,</a:t>
            </a:r>
          </a:p>
          <a:p>
            <a:r>
              <a:t>        "previous_year_lodging_searches": 31686,</a:t>
            </a:r>
          </a:p>
          <a:p>
            <a:r>
              <a:t>        "previous_year_navigation_searches": 259153</a:t>
            </a:r>
          </a:p>
          <a:p>
            <a:r>
              <a:t>      },</a:t>
            </a:r>
          </a:p>
          <a:p>
            <a:r>
              <a:t>      {</a:t>
            </a:r>
          </a:p>
          <a:p>
            <a:r>
              <a:t>        "month": "202610",</a:t>
            </a:r>
          </a:p>
          <a:p>
            <a:r>
              <a:t>        "visitors": 2633270.0,</a:t>
            </a:r>
          </a:p>
          <a:p>
            <a:r>
              <a:t>        "is_forecast": true,</a:t>
            </a:r>
          </a:p>
          <a:p>
            <a:r>
              <a:t>        "spending_krw": 83929975649.0,</a:t>
            </a:r>
          </a:p>
          <a:p>
            <a:r>
              <a:t>        "stay_minutes": 1683.0,</a:t>
            </a:r>
          </a:p>
          <a:p>
            <a:r>
              <a:t>        "lodging_nights": 2.87,</a:t>
            </a:r>
          </a:p>
          <a:p>
            <a:r>
              <a:t>        "lodging_rate_pct": 15.5,</a:t>
            </a:r>
          </a:p>
          <a:p>
            <a:r>
              <a:t>        "lodging_searches": 50011,</a:t>
            </a:r>
          </a:p>
          <a:p>
            <a:r>
              <a:t>        "navigation_searches": 519488,</a:t>
            </a:r>
          </a:p>
          <a:p>
            <a:r>
              <a:t>        "visitor_yoy_percent": -5.94,</a:t>
            </a:r>
          </a:p>
          <a:p>
            <a:r>
              <a:t>        "spending_yoy_percent": 21.43,</a:t>
            </a:r>
          </a:p>
          <a:p>
            <a:r>
              <a:t>        "metric_changes_percent": {</a:t>
            </a:r>
          </a:p>
          <a:p>
            <a:r>
              <a:t>          "stay_minutes": 0.0,</a:t>
            </a:r>
          </a:p>
          <a:p>
            <a:r>
              <a:t>          "lodging_nights": 1.77,</a:t>
            </a:r>
          </a:p>
          <a:p>
            <a:r>
              <a:t>          "lodging_rate_pct": 0.0,</a:t>
            </a:r>
          </a:p>
          <a:p>
            <a:r>
              <a:t>          "lodging_searches": -21.42,</a:t>
            </a:r>
          </a:p>
          <a:p>
            <a:r>
              <a:t>          "navigation_searches": 0.0</a:t>
            </a:r>
          </a:p>
          <a:p>
            <a:r>
              <a:t>        },</a:t>
            </a:r>
          </a:p>
          <a:p>
            <a:r>
              <a:t>        "previous_year_visitors": 2799509,</a:t>
            </a:r>
          </a:p>
          <a:p>
            <a:r>
              <a:t>        "previous_year_spending_krw": 69118387000,</a:t>
            </a:r>
          </a:p>
          <a:p>
            <a:r>
              <a:t>        "previous_year_stay_minutes": 1683.0,</a:t>
            </a:r>
          </a:p>
          <a:p>
            <a:r>
              <a:t>        "previous_year_lodging_nights": 2.82,</a:t>
            </a:r>
          </a:p>
          <a:p>
            <a:r>
              <a:t>        "previous_year_lodging_rate_pct": 15.5,</a:t>
            </a:r>
          </a:p>
          <a:p>
            <a:r>
              <a:t>        "previous_year_lodging_searches": 63645,</a:t>
            </a:r>
          </a:p>
          <a:p>
            <a:r>
              <a:t>        "previous_year_navigation_searches": 519488</a:t>
            </a:r>
          </a:p>
          <a:p>
            <a:r>
              <a:t>      },</a:t>
            </a:r>
          </a:p>
          <a:p>
            <a:r>
              <a:t>      {</a:t>
            </a:r>
          </a:p>
          <a:p>
            <a:r>
              <a:t>        "month": "202611",</a:t>
            </a:r>
          </a:p>
          <a:p>
            <a:r>
              <a:t>        "visitors": 2632315.0,</a:t>
            </a:r>
          </a:p>
          <a:p>
            <a:r>
              <a:t>        "is_forecast": true,</a:t>
            </a:r>
          </a:p>
          <a:p>
            <a:r>
              <a:t>        "spending_krw": 89947681558.0,</a:t>
            </a:r>
          </a:p>
          <a:p>
            <a:r>
              <a:t>        "stay_minutes": 1488.0,</a:t>
            </a:r>
          </a:p>
          <a:p>
            <a:r>
              <a:t>        "lodging_nights": 2.76,</a:t>
            </a:r>
          </a:p>
          <a:p>
            <a:r>
              <a:t>        "lodging_rate_pct": 12.4,</a:t>
            </a:r>
          </a:p>
          <a:p>
            <a:r>
              <a:t>        "lodging_searches": 48286,</a:t>
            </a:r>
          </a:p>
          <a:p>
            <a:r>
              <a:t>        "navigation_searches": 352852,</a:t>
            </a:r>
          </a:p>
          <a:p>
            <a:r>
              <a:t>        "visitor_yoy_percent": 4.18,</a:t>
            </a:r>
          </a:p>
          <a:p>
            <a:r>
              <a:t>        "spending_yoy_percent": 41.26,</a:t>
            </a:r>
          </a:p>
          <a:p>
            <a:r>
              <a:t>        "metric_changes_percent": {</a:t>
            </a:r>
          </a:p>
          <a:p>
            <a:r>
              <a:t>          "stay_minutes": 0.0,</a:t>
            </a:r>
          </a:p>
          <a:p>
            <a:r>
              <a:t>          "lodging_nights": 2.22,</a:t>
            </a:r>
          </a:p>
          <a:p>
            <a:r>
              <a:t>          "lodging_rate_pct": 0.0,</a:t>
            </a:r>
          </a:p>
          <a:p>
            <a:r>
              <a:t>          "lodging_searches": 21.22,</a:t>
            </a:r>
          </a:p>
          <a:p>
            <a:r>
              <a:t>          "navigation_searches": 0.0</a:t>
            </a:r>
          </a:p>
          <a:p>
            <a:r>
              <a:t>        },</a:t>
            </a:r>
          </a:p>
          <a:p>
            <a:r>
              <a:t>        "previous_year_visitors": 2526699,</a:t>
            </a:r>
          </a:p>
          <a:p>
            <a:r>
              <a:t>        "previous_year_spending_krw": 63675989000,</a:t>
            </a:r>
          </a:p>
          <a:p>
            <a:r>
              <a:t>        "previous_year_stay_minutes": 1488.0,</a:t>
            </a:r>
          </a:p>
          <a:p>
            <a:r>
              <a:t>        "previous_year_lodging_nights": 2.7,</a:t>
            </a:r>
          </a:p>
          <a:p>
            <a:r>
              <a:t>        "previous_year_lodging_rate_pct": 12.4,</a:t>
            </a:r>
          </a:p>
          <a:p>
            <a:r>
              <a:t>        "previous_year_lodging_searches": 39833,</a:t>
            </a:r>
          </a:p>
          <a:p>
            <a:r>
              <a:t>        "previous_year_navigation_searches": 352852</a:t>
            </a:r>
          </a:p>
          <a:p>
            <a:r>
              <a:t>      }</a:t>
            </a:r>
          </a:p>
          <a:p>
            <a:r>
              <a:t>    ],</a:t>
            </a:r>
          </a:p>
          <a:p>
            <a:r>
              <a:t>    "period": "202609~202611",</a:t>
            </a:r>
          </a:p>
          <a:p>
            <a:r>
              <a:t>    "complete": true,</a:t>
            </a:r>
          </a:p>
          <a:p>
            <a:r>
              <a:t>    "notes": [</a:t>
            </a:r>
          </a:p>
          <a:p>
            <a:r>
              <a:t>      "3개월 초과 예측 거리는 재귀 검증 범위 밖의 탐색 전망입니다."</a:t>
            </a:r>
          </a:p>
          <a:p>
            <a:r>
              <a:t>    ],</a:t>
            </a:r>
          </a:p>
          <a:p>
            <a:r>
              <a:t>    "selection_basis": "strategy_timeframe",</a:t>
            </a:r>
          </a:p>
          <a:p>
            <a:r>
              <a:t>    "requested_period": "202609~202611"</a:t>
            </a:r>
          </a:p>
          <a:p>
            <a:r>
              <a:t>  },</a:t>
            </a:r>
          </a:p>
          <a:p>
            <a:r>
              <a:t>  "all_ml_forecasts": [</a:t>
            </a:r>
          </a:p>
          <a:p>
            <a:r>
              <a:t>    {</a:t>
            </a:r>
          </a:p>
          <a:p>
            <a:r>
              <a:t>      "month": "202607",</a:t>
            </a:r>
          </a:p>
          <a:p>
            <a:r>
              <a:t>      "visitors": 2366862,</a:t>
            </a:r>
          </a:p>
          <a:p>
            <a:r>
              <a:t>      "is_forecast": true,</a:t>
            </a:r>
          </a:p>
          <a:p>
            <a:r>
              <a:t>      "spending_krw": 67735223997,</a:t>
            </a:r>
          </a:p>
          <a:p>
            <a:r>
              <a:t>      "stay_minutes": 1944.0,</a:t>
            </a:r>
          </a:p>
          <a:p>
            <a:r>
              <a:t>      "lodging_nights": 2.83,</a:t>
            </a:r>
          </a:p>
          <a:p>
            <a:r>
              <a:t>      "lodging_rate_pct": 13.8,</a:t>
            </a:r>
          </a:p>
          <a:p>
            <a:r>
              <a:t>      "lodging_searches": 46511,</a:t>
            </a:r>
          </a:p>
          <a:p>
            <a:r>
              <a:t>      "navigation_searches": 297924,</a:t>
            </a:r>
          </a:p>
          <a:p>
            <a:r>
              <a:t>      "visitor_yoy_percent": -1.04,</a:t>
            </a:r>
          </a:p>
          <a:p>
            <a:r>
              <a:t>      "spending_yoy_percent": 14.97,</a:t>
            </a:r>
          </a:p>
          <a:p>
            <a:r>
              <a:t>      "metric_changes_percent": {</a:t>
            </a:r>
          </a:p>
          <a:p>
            <a:r>
              <a:t>        "stay_minutes": 0.0,</a:t>
            </a:r>
          </a:p>
          <a:p>
            <a:r>
              <a:t>        "lodging_nights": 0.35,</a:t>
            </a:r>
          </a:p>
          <a:p>
            <a:r>
              <a:t>        "lodging_rate_pct": 0.0,</a:t>
            </a:r>
          </a:p>
          <a:p>
            <a:r>
              <a:t>        "lodging_searches": 17.21,</a:t>
            </a:r>
          </a:p>
          <a:p>
            <a:r>
              <a:t>        "navigation_searches": 0.0</a:t>
            </a:r>
          </a:p>
          <a:p>
            <a:r>
              <a:t>      },</a:t>
            </a:r>
          </a:p>
          <a:p>
            <a:r>
              <a:t>      "previous_year_visitors": 2391642,</a:t>
            </a:r>
          </a:p>
          <a:p>
            <a:r>
              <a:t>      "previous_year_spending_krw": 58914875000,</a:t>
            </a:r>
          </a:p>
          <a:p>
            <a:r>
              <a:t>      "previous_year_stay_minutes": 1944.0,</a:t>
            </a:r>
          </a:p>
          <a:p>
            <a:r>
              <a:t>      "previous_year_lodging_nights": 2.82,</a:t>
            </a:r>
          </a:p>
          <a:p>
            <a:r>
              <a:t>      "previous_year_lodging_rate_pct": 13.8,</a:t>
            </a:r>
          </a:p>
          <a:p>
            <a:r>
              <a:t>      "previous_year_lodging_searches": 39682,</a:t>
            </a:r>
          </a:p>
          <a:p>
            <a:r>
              <a:t>      "previous_year_navigation_searches": 297924</a:t>
            </a:r>
          </a:p>
          <a:p>
            <a:r>
              <a:t>    },</a:t>
            </a:r>
          </a:p>
          <a:p>
            <a:r>
              <a:t>    {</a:t>
            </a:r>
          </a:p>
          <a:p>
            <a:r>
              <a:t>      "month": "202608",</a:t>
            </a:r>
          </a:p>
          <a:p>
            <a:r>
              <a:t>      "visitors": 2642874,</a:t>
            </a:r>
          </a:p>
          <a:p>
            <a:r>
              <a:t>      "is_forecast": true,</a:t>
            </a:r>
          </a:p>
          <a:p>
            <a:r>
              <a:t>      "spending_krw": 76161639833,</a:t>
            </a:r>
          </a:p>
          <a:p>
            <a:r>
              <a:t>      "stay_minutes": 1672.0,</a:t>
            </a:r>
          </a:p>
          <a:p>
            <a:r>
              <a:t>      "lodging_nights": 2.76,</a:t>
            </a:r>
          </a:p>
          <a:p>
            <a:r>
              <a:t>      "lodging_rate_pct": 14.7,</a:t>
            </a:r>
          </a:p>
          <a:p>
            <a:r>
              <a:t>      "lodging_searches": 49759,</a:t>
            </a:r>
          </a:p>
          <a:p>
            <a:r>
              <a:t>      "navigation_searches": 346177,</a:t>
            </a:r>
          </a:p>
          <a:p>
            <a:r>
              <a:t>      "visitor_yoy_percent": 0.13,</a:t>
            </a:r>
          </a:p>
          <a:p>
            <a:r>
              <a:t>      "spending_yoy_percent": 18.85,</a:t>
            </a:r>
          </a:p>
          <a:p>
            <a:r>
              <a:t>      "metric_changes_percent": {</a:t>
            </a:r>
          </a:p>
          <a:p>
            <a:r>
              <a:t>        "stay_minutes": 0.0,</a:t>
            </a:r>
          </a:p>
          <a:p>
            <a:r>
              <a:t>        "lodging_nights": 1.1,</a:t>
            </a:r>
          </a:p>
          <a:p>
            <a:r>
              <a:t>        "lodging_rate_pct": 0.0,</a:t>
            </a:r>
          </a:p>
          <a:p>
            <a:r>
              <a:t>        "lodging_searches": -0.93,</a:t>
            </a:r>
          </a:p>
          <a:p>
            <a:r>
              <a:t>        "navigation_searches": 0.0</a:t>
            </a:r>
          </a:p>
          <a:p>
            <a:r>
              <a:t>      },</a:t>
            </a:r>
          </a:p>
          <a:p>
            <a:r>
              <a:t>      "previous_year_visitors": 2639487,</a:t>
            </a:r>
          </a:p>
          <a:p>
            <a:r>
              <a:t>      "previous_year_spending_krw": 64083943000,</a:t>
            </a:r>
          </a:p>
          <a:p>
            <a:r>
              <a:t>      "previous_year_stay_minutes": 1672.0,</a:t>
            </a:r>
          </a:p>
          <a:p>
            <a:r>
              <a:t>      "previous_year_lodging_nights": 2.73,</a:t>
            </a:r>
          </a:p>
          <a:p>
            <a:r>
              <a:t>      "previous_year_lodging_rate_pct": 14.7,</a:t>
            </a:r>
          </a:p>
          <a:p>
            <a:r>
              <a:t>      "previous_year_lodging_searches": 50224,</a:t>
            </a:r>
          </a:p>
          <a:p>
            <a:r>
              <a:t>      "previous_year_navigation_searches": 346177</a:t>
            </a:r>
          </a:p>
          <a:p>
            <a:r>
              <a:t>    },</a:t>
            </a:r>
          </a:p>
          <a:p>
            <a:r>
              <a:t>    {</a:t>
            </a:r>
          </a:p>
          <a:p>
            <a:r>
              <a:t>      "month": "202609",</a:t>
            </a:r>
          </a:p>
          <a:p>
            <a:r>
              <a:t>      "visitors": 2363056,</a:t>
            </a:r>
          </a:p>
          <a:p>
            <a:r>
              <a:t>      "is_forecast": true,</a:t>
            </a:r>
          </a:p>
          <a:p>
            <a:r>
              <a:t>      "spending_krw": 67047345591,</a:t>
            </a:r>
          </a:p>
          <a:p>
            <a:r>
              <a:t>      "stay_minutes": 2518.0,</a:t>
            </a:r>
          </a:p>
          <a:p>
            <a:r>
              <a:t>      "lodging_nights": 2.98,</a:t>
            </a:r>
          </a:p>
          <a:p>
            <a:r>
              <a:t>      "lodging_rate_pct": 13.1,</a:t>
            </a:r>
          </a:p>
          <a:p>
            <a:r>
              <a:t>      "lodging_searches": 34529,</a:t>
            </a:r>
          </a:p>
          <a:p>
            <a:r>
              <a:t>      "navigation_searches": 259153,</a:t>
            </a:r>
          </a:p>
          <a:p>
            <a:r>
              <a:t>      "visitor_yoy_percent": 3.0,</a:t>
            </a:r>
          </a:p>
          <a:p>
            <a:r>
              <a:t>      "spending_yoy_percent": 22.29,</a:t>
            </a:r>
          </a:p>
          <a:p>
            <a:r>
              <a:t>      "metric_changes_percent": {</a:t>
            </a:r>
          </a:p>
          <a:p>
            <a:r>
              <a:t>        "stay_minutes": 0.0,</a:t>
            </a:r>
          </a:p>
          <a:p>
            <a:r>
              <a:t>        "lodging_nights": 1.02,</a:t>
            </a:r>
          </a:p>
          <a:p>
            <a:r>
              <a:t>        "lodging_rate_pct": 0.0,</a:t>
            </a:r>
          </a:p>
          <a:p>
            <a:r>
              <a:t>        "lodging_searches": 8.97,</a:t>
            </a:r>
          </a:p>
          <a:p>
            <a:r>
              <a:t>        "navigation_searches": 0.0</a:t>
            </a:r>
          </a:p>
          <a:p>
            <a:r>
              <a:t>      },</a:t>
            </a:r>
          </a:p>
          <a:p>
            <a:r>
              <a:t>      "previous_year_visitors": 2294130,</a:t>
            </a:r>
          </a:p>
          <a:p>
            <a:r>
              <a:t>      "previous_year_spending_krw": 54826341000,</a:t>
            </a:r>
          </a:p>
          <a:p>
            <a:r>
              <a:t>      "previous_year_stay_minutes": 2518.0,</a:t>
            </a:r>
          </a:p>
          <a:p>
            <a:r>
              <a:t>      "previous_year_lodging_nights": 2.95,</a:t>
            </a:r>
          </a:p>
          <a:p>
            <a:r>
              <a:t>      "previous_year_lodging_rate_pct": 13.1,</a:t>
            </a:r>
          </a:p>
          <a:p>
            <a:r>
              <a:t>      "previous_year_lodging_searches": 31686,</a:t>
            </a:r>
          </a:p>
          <a:p>
            <a:r>
              <a:t>      "previous_year_navigation_searches": 259153</a:t>
            </a:r>
          </a:p>
          <a:p>
            <a:r>
              <a:t>    },</a:t>
            </a:r>
          </a:p>
          <a:p>
            <a:r>
              <a:t>    {</a:t>
            </a:r>
          </a:p>
          <a:p>
            <a:r>
              <a:t>      "month": "202610",</a:t>
            </a:r>
          </a:p>
          <a:p>
            <a:r>
              <a:t>      "visitors": 2633270,</a:t>
            </a:r>
          </a:p>
          <a:p>
            <a:r>
              <a:t>      "is_forecast": true,</a:t>
            </a:r>
          </a:p>
          <a:p>
            <a:r>
              <a:t>      "spending_krw": 83929975649,</a:t>
            </a:r>
          </a:p>
          <a:p>
            <a:r>
              <a:t>      "stay_minutes": 1683.0,</a:t>
            </a:r>
          </a:p>
          <a:p>
            <a:r>
              <a:t>      "lodging_nights": 2.87,</a:t>
            </a:r>
          </a:p>
          <a:p>
            <a:r>
              <a:t>      "lodging_rate_pct": 15.5,</a:t>
            </a:r>
          </a:p>
          <a:p>
            <a:r>
              <a:t>      "lodging_searches": 50011,</a:t>
            </a:r>
          </a:p>
          <a:p>
            <a:r>
              <a:t>      "navigation_searches": 519488,</a:t>
            </a:r>
          </a:p>
          <a:p>
            <a:r>
              <a:t>      "visitor_yoy_percent": -5.94,</a:t>
            </a:r>
          </a:p>
          <a:p>
            <a:r>
              <a:t>      "spending_yoy_percent": 21.43,</a:t>
            </a:r>
          </a:p>
          <a:p>
            <a:r>
              <a:t>      "metric_changes_percent": {</a:t>
            </a:r>
          </a:p>
          <a:p>
            <a:r>
              <a:t>        "stay_minutes": 0.0,</a:t>
            </a:r>
          </a:p>
          <a:p>
            <a:r>
              <a:t>        "lodging_nights": 1.77,</a:t>
            </a:r>
          </a:p>
          <a:p>
            <a:r>
              <a:t>        "lodging_rate_pct": 0.0,</a:t>
            </a:r>
          </a:p>
          <a:p>
            <a:r>
              <a:t>        "lodging_searches": -21.42,</a:t>
            </a:r>
          </a:p>
          <a:p>
            <a:r>
              <a:t>        "navigation_searches": 0.0</a:t>
            </a:r>
          </a:p>
          <a:p>
            <a:r>
              <a:t>      },</a:t>
            </a:r>
          </a:p>
          <a:p>
            <a:r>
              <a:t>      "previous_year_visitors": 2799509,</a:t>
            </a:r>
          </a:p>
          <a:p>
            <a:r>
              <a:t>      "previous_year_spending_krw": 69118387000,</a:t>
            </a:r>
          </a:p>
          <a:p>
            <a:r>
              <a:t>      "previous_year_stay_minutes": 1683.0,</a:t>
            </a:r>
          </a:p>
          <a:p>
            <a:r>
              <a:t>      "previous_year_lodging_nights": 2.82,</a:t>
            </a:r>
          </a:p>
          <a:p>
            <a:r>
              <a:t>      "previous_year_lodging_rate_pct": 15.5,</a:t>
            </a:r>
          </a:p>
          <a:p>
            <a:r>
              <a:t>      "previous_year_lodging_searches": 63645,</a:t>
            </a:r>
          </a:p>
          <a:p>
            <a:r>
              <a:t>      "previous_year_navigation_searches": 519488</a:t>
            </a:r>
          </a:p>
          <a:p>
            <a:r>
              <a:t>    },</a:t>
            </a:r>
          </a:p>
          <a:p>
            <a:r>
              <a:t>    {</a:t>
            </a:r>
          </a:p>
          <a:p>
            <a:r>
              <a:t>      "month": "202611",</a:t>
            </a:r>
          </a:p>
          <a:p>
            <a:r>
              <a:t>      "visitors": 2632315,</a:t>
            </a:r>
          </a:p>
          <a:p>
            <a:r>
              <a:t>      "is_forecast": true,</a:t>
            </a:r>
          </a:p>
          <a:p>
            <a:r>
              <a:t>      "spending_krw": 89947681558,</a:t>
            </a:r>
          </a:p>
          <a:p>
            <a:r>
              <a:t>      "stay_minutes": 1488.0,</a:t>
            </a:r>
          </a:p>
          <a:p>
            <a:r>
              <a:t>      "lodging_nights": 2.76,</a:t>
            </a:r>
          </a:p>
          <a:p>
            <a:r>
              <a:t>      "lodging_rate_pct": 12.4,</a:t>
            </a:r>
          </a:p>
          <a:p>
            <a:r>
              <a:t>      "lodging_searches": 48286,</a:t>
            </a:r>
          </a:p>
          <a:p>
            <a:r>
              <a:t>      "navigation_searches": 352852,</a:t>
            </a:r>
          </a:p>
          <a:p>
            <a:r>
              <a:t>      "visitor_yoy_percent": 4.18,</a:t>
            </a:r>
          </a:p>
          <a:p>
            <a:r>
              <a:t>      "spending_yoy_percent": 41.26,</a:t>
            </a:r>
          </a:p>
          <a:p>
            <a:r>
              <a:t>      "metric_changes_percent": {</a:t>
            </a:r>
          </a:p>
          <a:p>
            <a:r>
              <a:t>        "stay_minutes": 0.0,</a:t>
            </a:r>
          </a:p>
          <a:p>
            <a:r>
              <a:t>        "lodging_nights": 2.22,</a:t>
            </a:r>
          </a:p>
          <a:p>
            <a:r>
              <a:t>        "lodging_rate_pct": 0.0,</a:t>
            </a:r>
          </a:p>
          <a:p>
            <a:r>
              <a:t>        "lodging_searches": 21.22,</a:t>
            </a:r>
          </a:p>
          <a:p>
            <a:r>
              <a:t>        "navigation_searches": 0.0</a:t>
            </a:r>
          </a:p>
          <a:p>
            <a:r>
              <a:t>      },</a:t>
            </a:r>
          </a:p>
          <a:p>
            <a:r>
              <a:t>      "previous_year_visitors": 2526699,</a:t>
            </a:r>
          </a:p>
          <a:p>
            <a:r>
              <a:t>      "previous_year_spending_krw": 63675989000,</a:t>
            </a:r>
          </a:p>
          <a:p>
            <a:r>
              <a:t>      "previous_year_stay_minutes": 1488.0,</a:t>
            </a:r>
          </a:p>
          <a:p>
            <a:r>
              <a:t>      "previous_year_lodging_nights": 2.7,</a:t>
            </a:r>
          </a:p>
          <a:p>
            <a:r>
              <a:t>      "previous_year_lodging_rate_pct": 12.4,</a:t>
            </a:r>
          </a:p>
          <a:p>
            <a:r>
              <a:t>      "previous_year_lodging_searches": 39833,</a:t>
            </a:r>
          </a:p>
          <a:p>
            <a:r>
              <a:t>      "previous_year_navigation_searches": 352852</a:t>
            </a:r>
          </a:p>
          <a:p>
            <a:r>
              <a:t>    },</a:t>
            </a:r>
          </a:p>
          <a:p>
            <a:r>
              <a:t>    {</a:t>
            </a:r>
          </a:p>
          <a:p>
            <a:r>
              <a:t>      "month": "202612",</a:t>
            </a:r>
          </a:p>
          <a:p>
            <a:r>
              <a:t>      "visitors": 2098615,</a:t>
            </a:r>
          </a:p>
          <a:p>
            <a:r>
              <a:t>      "is_forecast": true,</a:t>
            </a:r>
          </a:p>
          <a:p>
            <a:r>
              <a:t>      "spending_krw": 82896802464,</a:t>
            </a:r>
          </a:p>
          <a:p>
            <a:r>
              <a:t>      "stay_minutes": 1866.0,</a:t>
            </a:r>
          </a:p>
          <a:p>
            <a:r>
              <a:t>      "lodging_nights": 2.85,</a:t>
            </a:r>
          </a:p>
          <a:p>
            <a:r>
              <a:t>      "lodging_rate_pct": 14.1,</a:t>
            </a:r>
          </a:p>
          <a:p>
            <a:r>
              <a:t>      "lodging_searches": 28484,</a:t>
            </a:r>
          </a:p>
          <a:p>
            <a:r>
              <a:t>      "navigation_searches": 221560,</a:t>
            </a:r>
          </a:p>
          <a:p>
            <a:r>
              <a:t>      "visitor_yoy_percent": -0.06,</a:t>
            </a:r>
          </a:p>
          <a:p>
            <a:r>
              <a:t>      "spending_yoy_percent": 54.2,</a:t>
            </a:r>
          </a:p>
          <a:p>
            <a:r>
              <a:t>      "metric_changes_percent": {</a:t>
            </a:r>
          </a:p>
          <a:p>
            <a:r>
              <a:t>        "stay_minutes": 0.0,</a:t>
            </a:r>
          </a:p>
          <a:p>
            <a:r>
              <a:t>        "lodging_nights": 2.15,</a:t>
            </a:r>
          </a:p>
          <a:p>
            <a:r>
              <a:t>        "lodging_rate_pct": 0.0,</a:t>
            </a:r>
          </a:p>
          <a:p>
            <a:r>
              <a:t>        "lodging_searches": -1.09,</a:t>
            </a:r>
          </a:p>
          <a:p>
            <a:r>
              <a:t>        "navigation_searches": 0.0</a:t>
            </a:r>
          </a:p>
          <a:p>
            <a:r>
              <a:t>      },</a:t>
            </a:r>
          </a:p>
          <a:p>
            <a:r>
              <a:t>      "previous_year_visitors": 2099852,</a:t>
            </a:r>
          </a:p>
          <a:p>
            <a:r>
              <a:t>      "previous_year_spending_krw": 53760591000,</a:t>
            </a:r>
          </a:p>
          <a:p>
            <a:r>
              <a:t>      "previous_year_stay_minutes": 1866.0,</a:t>
            </a:r>
          </a:p>
          <a:p>
            <a:r>
              <a:t>      "previous_year_lodging_nights": 2.79,</a:t>
            </a:r>
          </a:p>
          <a:p>
            <a:r>
              <a:t>      "previous_year_lodging_rate_pct": 14.1,</a:t>
            </a:r>
          </a:p>
          <a:p>
            <a:r>
              <a:t>      "previous_year_lodging_searches": 28798,</a:t>
            </a:r>
          </a:p>
          <a:p>
            <a:r>
              <a:t>      "previous_year_navigation_searches": 221560</a:t>
            </a:r>
          </a:p>
          <a:p>
            <a:r>
              <a:t>    },</a:t>
            </a:r>
          </a:p>
          <a:p>
            <a:r>
              <a:t>    {</a:t>
            </a:r>
          </a:p>
          <a:p>
            <a:r>
              <a:t>      "month": "202701",</a:t>
            </a:r>
          </a:p>
          <a:p>
            <a:r>
              <a:t>      "visitors": 2042060,</a:t>
            </a:r>
          </a:p>
          <a:p>
            <a:r>
              <a:t>      "is_forecast": true,</a:t>
            </a:r>
          </a:p>
          <a:p>
            <a:r>
              <a:t>      "spending_krw": 92579612143,</a:t>
            </a:r>
          </a:p>
          <a:p>
            <a:r>
              <a:t>      "stay_minutes": 1936.0,</a:t>
            </a:r>
          </a:p>
          <a:p>
            <a:r>
              <a:t>      "lodging_nights": 2.87,</a:t>
            </a:r>
          </a:p>
          <a:p>
            <a:r>
              <a:t>      "lodging_rate_pct": 13.7,</a:t>
            </a:r>
          </a:p>
          <a:p>
            <a:r>
              <a:t>      "lodging_searches": 26563,</a:t>
            </a:r>
          </a:p>
          <a:p>
            <a:r>
              <a:t>      "navigation_searches": 205632,</a:t>
            </a:r>
          </a:p>
          <a:p>
            <a:r>
              <a:t>      "visitor_yoy_percent": -2.23,</a:t>
            </a:r>
          </a:p>
          <a:p>
            <a:r>
              <a:t>      "spending_yoy_percent": 80.91,</a:t>
            </a:r>
          </a:p>
          <a:p>
            <a:r>
              <a:t>      "metric_changes_percent": {</a:t>
            </a:r>
          </a:p>
          <a:p>
            <a:r>
              <a:t>        "stay_minutes": 0.0,</a:t>
            </a:r>
          </a:p>
          <a:p>
            <a:r>
              <a:t>        "lodging_nights": 1.06,</a:t>
            </a:r>
          </a:p>
          <a:p>
            <a:r>
              <a:t>        "lodging_rate_pct": 0.0,</a:t>
            </a:r>
          </a:p>
          <a:p>
            <a:r>
              <a:t>        "lodging_searches": -0.09,</a:t>
            </a:r>
          </a:p>
          <a:p>
            <a:r>
              <a:t>        "navigation_searches": 0.0</a:t>
            </a:r>
          </a:p>
          <a:p>
            <a:r>
              <a:t>      },</a:t>
            </a:r>
          </a:p>
          <a:p>
            <a:r>
              <a:t>      "previous_year_visitors": 2088569,</a:t>
            </a:r>
          </a:p>
          <a:p>
            <a:r>
              <a:t>      "previous_year_spending_krw": 51173582000,</a:t>
            </a:r>
          </a:p>
          <a:p>
            <a:r>
              <a:t>      "previous_year_stay_minutes": 1936.0,</a:t>
            </a:r>
          </a:p>
          <a:p>
            <a:r>
              <a:t>      "previous_year_lodging_nights": 2.84,</a:t>
            </a:r>
          </a:p>
          <a:p>
            <a:r>
              <a:t>      "previous_year_lodging_rate_pct": 13.7,</a:t>
            </a:r>
          </a:p>
          <a:p>
            <a:r>
              <a:t>      "previous_year_lodging_searches": 26588,</a:t>
            </a:r>
          </a:p>
          <a:p>
            <a:r>
              <a:t>      "previous_year_navigation_searches": 205632</a:t>
            </a:r>
          </a:p>
          <a:p>
            <a:r>
              <a:t>    },</a:t>
            </a:r>
          </a:p>
          <a:p>
            <a:r>
              <a:t>    {</a:t>
            </a:r>
          </a:p>
          <a:p>
            <a:r>
              <a:t>      "month": "202702",</a:t>
            </a:r>
          </a:p>
          <a:p>
            <a:r>
              <a:t>      "visitors": 2227050,</a:t>
            </a:r>
          </a:p>
          <a:p>
            <a:r>
              <a:t>      "is_forecast": true,</a:t>
            </a:r>
          </a:p>
          <a:p>
            <a:r>
              <a:t>      "spending_krw": 103534829257,</a:t>
            </a:r>
          </a:p>
          <a:p>
            <a:r>
              <a:t>      "stay_minutes": 1714.0,</a:t>
            </a:r>
          </a:p>
          <a:p>
            <a:r>
              <a:t>      "lodging_nights": 2.82,</a:t>
            </a:r>
          </a:p>
          <a:p>
            <a:r>
              <a:t>      "lodging_rate_pct": 15.7,</a:t>
            </a:r>
          </a:p>
          <a:p>
            <a:r>
              <a:t>      "lodging_searches": 25082,</a:t>
            </a:r>
          </a:p>
          <a:p>
            <a:r>
              <a:t>      "navigation_searches": 210385,</a:t>
            </a:r>
          </a:p>
          <a:p>
            <a:r>
              <a:t>      "visitor_yoy_percent": 3.2,</a:t>
            </a:r>
          </a:p>
          <a:p>
            <a:r>
              <a:t>      "spending_yoy_percent": 104.79,</a:t>
            </a:r>
          </a:p>
          <a:p>
            <a:r>
              <a:t>      "metric_changes_percent": {</a:t>
            </a:r>
          </a:p>
          <a:p>
            <a:r>
              <a:t>        "stay_minutes": 0.0,</a:t>
            </a:r>
          </a:p>
          <a:p>
            <a:r>
              <a:t>        "lodging_nights": 0.36,</a:t>
            </a:r>
          </a:p>
          <a:p>
            <a:r>
              <a:t>        "lodging_rate_pct": 0.0,</a:t>
            </a:r>
          </a:p>
          <a:p>
            <a:r>
              <a:t>        "lodging_searches": 2.79,</a:t>
            </a:r>
          </a:p>
          <a:p>
            <a:r>
              <a:t>        "navigation_searches": 0.0</a:t>
            </a:r>
          </a:p>
          <a:p>
            <a:r>
              <a:t>      },</a:t>
            </a:r>
          </a:p>
          <a:p>
            <a:r>
              <a:t>      "previous_year_visitors": 2157943,</a:t>
            </a:r>
          </a:p>
          <a:p>
            <a:r>
              <a:t>      "previous_year_spending_krw": 50557418000,</a:t>
            </a:r>
          </a:p>
          <a:p>
            <a:r>
              <a:t>      "previous_year_stay_minutes": 1714.0,</a:t>
            </a:r>
          </a:p>
          <a:p>
            <a:r>
              <a:t>      "previous_year_lodging_nights": 2.81,</a:t>
            </a:r>
          </a:p>
          <a:p>
            <a:r>
              <a:t>      "previous_year_lodging_rate_pct": 15.7,</a:t>
            </a:r>
          </a:p>
          <a:p>
            <a:r>
              <a:t>      "previous_year_lodging_searches": 24402,</a:t>
            </a:r>
          </a:p>
          <a:p>
            <a:r>
              <a:t>      "previous_year_navigation_searches": 210385</a:t>
            </a:r>
          </a:p>
          <a:p>
            <a:r>
              <a:t>    }</a:t>
            </a:r>
          </a:p>
          <a:p>
            <a:r>
              <a:t>  ],</a:t>
            </a:r>
          </a:p>
          <a:p>
            <a:r>
              <a:t>  "evaluation": {</a:t>
            </a:r>
          </a:p>
          <a:p>
            <a:r>
              <a:t>    "metrics": {</a:t>
            </a:r>
          </a:p>
          <a:p>
            <a:r>
              <a:t>      "visitors": {</a:t>
            </a:r>
          </a:p>
          <a:p>
            <a:r>
              <a:t>        "test_mae": 103646.64,</a:t>
            </a:r>
          </a:p>
          <a:p>
            <a:r>
              <a:t>        "recursive_mae": {</a:t>
            </a:r>
          </a:p>
          <a:p>
            <a:r>
              <a:t>          "1": {</a:t>
            </a:r>
          </a:p>
          <a:p>
            <a:r>
              <a:t>            "baseline": 123311.5,</a:t>
            </a:r>
          </a:p>
          <a:p>
            <a:r>
              <a:t>            "selected": 95222.0,</a:t>
            </a:r>
          </a:p>
          <a:p>
            <a:r>
              <a:t>            "sample_count": 2</a:t>
            </a:r>
          </a:p>
          <a:p>
            <a:r>
              <a:t>          },</a:t>
            </a:r>
          </a:p>
          <a:p>
            <a:r>
              <a:t>          "2": {</a:t>
            </a:r>
          </a:p>
          <a:p>
            <a:r>
              <a:t>            "baseline": 90511.0,</a:t>
            </a:r>
          </a:p>
          <a:p>
            <a:r>
              <a:t>            "selected": 105947.5,</a:t>
            </a:r>
          </a:p>
          <a:p>
            <a:r>
              <a:t>            "sample_count": 2</a:t>
            </a:r>
          </a:p>
          <a:p>
            <a:r>
              <a:t>          },</a:t>
            </a:r>
          </a:p>
          <a:p>
            <a:r>
              <a:t>          "3": {</a:t>
            </a:r>
          </a:p>
          <a:p>
            <a:r>
              <a:t>            "baseline": 61165.0,</a:t>
            </a:r>
          </a:p>
          <a:p>
            <a:r>
              <a:t>            "selected": 93227.0,</a:t>
            </a:r>
          </a:p>
          <a:p>
            <a:r>
              <a:t>            "sample_count": 2</a:t>
            </a:r>
          </a:p>
          <a:p>
            <a:r>
              <a:t>          }</a:t>
            </a:r>
          </a:p>
          <a:p>
            <a:r>
              <a:t>        },</a:t>
            </a:r>
          </a:p>
          <a:p>
            <a:r>
              <a:t>        "selected_model": "RandomForestRegressor",</a:t>
            </a:r>
          </a:p>
          <a:p>
            <a:r>
              <a:t>        "baseline_test_mae": 92238.25,</a:t>
            </a:r>
          </a:p>
          <a:p>
            <a:r>
              <a:t>        "model_reliability": "below_baseline_on_test",</a:t>
            </a:r>
          </a:p>
          <a:p>
            <a:r>
              <a:t>        "beats_baseline_on_test": false,</a:t>
            </a:r>
          </a:p>
          <a:p>
            <a:r>
              <a:t>        "recursive_horizons_worse_than_baseline": [</a:t>
            </a:r>
          </a:p>
          <a:p>
            <a:r>
              <a:t>          "2",</a:t>
            </a:r>
          </a:p>
          <a:p>
            <a:r>
              <a:t>          "3"</a:t>
            </a:r>
          </a:p>
          <a:p>
            <a:r>
              <a:t>        ]</a:t>
            </a:r>
          </a:p>
          <a:p>
            <a:r>
              <a:t>      },</a:t>
            </a:r>
          </a:p>
          <a:p>
            <a:r>
              <a:t>      "spending_krw": {</a:t>
            </a:r>
          </a:p>
          <a:p>
            <a:r>
              <a:t>        "test_mae": 8003403761.33,</a:t>
            </a:r>
          </a:p>
          <a:p>
            <a:r>
              <a:t>        "recursive_mae": {</a:t>
            </a:r>
          </a:p>
          <a:p>
            <a:r>
              <a:t>          "1": {</a:t>
            </a:r>
          </a:p>
          <a:p>
            <a:r>
              <a:t>            "baseline": 5076101500.0,</a:t>
            </a:r>
          </a:p>
          <a:p>
            <a:r>
              <a:t>            "selected": 7122970056.0,</a:t>
            </a:r>
          </a:p>
          <a:p>
            <a:r>
              <a:t>            "sample_count": 2</a:t>
            </a:r>
          </a:p>
          <a:p>
            <a:r>
              <a:t>          },</a:t>
            </a:r>
          </a:p>
          <a:p>
            <a:r>
              <a:t>          "2": {</a:t>
            </a:r>
          </a:p>
          <a:p>
            <a:r>
              <a:t>            "baseline": 6206652500.0,</a:t>
            </a:r>
          </a:p>
          <a:p>
            <a:r>
              <a:t>            "selected": 11322988654.0,</a:t>
            </a:r>
          </a:p>
          <a:p>
            <a:r>
              <a:t>            "sample_count": 2</a:t>
            </a:r>
          </a:p>
          <a:p>
            <a:r>
              <a:t>          },</a:t>
            </a:r>
          </a:p>
          <a:p>
            <a:r>
              <a:t>          "3": {</a:t>
            </a:r>
          </a:p>
          <a:p>
            <a:r>
              <a:t>            "baseline": 4379312000.0,</a:t>
            </a:r>
          </a:p>
          <a:p>
            <a:r>
              <a:t>            "selected": 12415950624.0,</a:t>
            </a:r>
          </a:p>
          <a:p>
            <a:r>
              <a:t>            "sample_count": 2</a:t>
            </a:r>
          </a:p>
          <a:p>
            <a:r>
              <a:t>          }</a:t>
            </a:r>
          </a:p>
          <a:p>
            <a:r>
              <a:t>        },</a:t>
            </a:r>
          </a:p>
          <a:p>
            <a:r>
              <a:t>        "selected_model": "LinearRegression",</a:t>
            </a:r>
          </a:p>
          <a:p>
            <a:r>
              <a:t>        "baseline_test_mae": 4727706750.0,</a:t>
            </a:r>
          </a:p>
          <a:p>
            <a:r>
              <a:t>        "model_reliability": "below_baseline_on_test",</a:t>
            </a:r>
          </a:p>
          <a:p>
            <a:r>
              <a:t>        "beats_baseline_on_test": false,</a:t>
            </a:r>
          </a:p>
          <a:p>
            <a:r>
              <a:t>        "recursive_horizons_worse_than_baseline": [</a:t>
            </a:r>
          </a:p>
          <a:p>
            <a:r>
              <a:t>          "1",</a:t>
            </a:r>
          </a:p>
          <a:p>
            <a:r>
              <a:t>          "2",</a:t>
            </a:r>
          </a:p>
          <a:p>
            <a:r>
              <a:t>          "3"</a:t>
            </a:r>
          </a:p>
          <a:p>
            <a:r>
              <a:t>        ]</a:t>
            </a:r>
          </a:p>
          <a:p>
            <a:r>
              <a:t>      },</a:t>
            </a:r>
          </a:p>
          <a:p>
            <a:r>
              <a:t>      "stay_minutes": {</a:t>
            </a:r>
          </a:p>
          <a:p>
            <a:r>
              <a:t>        "test_mae": 208.5,</a:t>
            </a:r>
          </a:p>
          <a:p>
            <a:r>
              <a:t>        "recursive_mae": {</a:t>
            </a:r>
          </a:p>
          <a:p>
            <a:r>
              <a:t>          "1": {</a:t>
            </a:r>
          </a:p>
          <a:p>
            <a:r>
              <a:t>            "baseline": 107.5,</a:t>
            </a:r>
          </a:p>
          <a:p>
            <a:r>
              <a:t>            "selected": 107.5,</a:t>
            </a:r>
          </a:p>
          <a:p>
            <a:r>
              <a:t>            "sample_count": 2</a:t>
            </a:r>
          </a:p>
          <a:p>
            <a:r>
              <a:t>          },</a:t>
            </a:r>
          </a:p>
          <a:p>
            <a:r>
              <a:t>          "2": {</a:t>
            </a:r>
          </a:p>
          <a:p>
            <a:r>
              <a:t>            "baseline": 360.0,</a:t>
            </a:r>
          </a:p>
          <a:p>
            <a:r>
              <a:t>            "selected": 360.0,</a:t>
            </a:r>
          </a:p>
          <a:p>
            <a:r>
              <a:t>            "sample_count": 2</a:t>
            </a:r>
          </a:p>
          <a:p>
            <a:r>
              <a:t>          },</a:t>
            </a:r>
          </a:p>
          <a:p>
            <a:r>
              <a:t>          "3": {</a:t>
            </a:r>
          </a:p>
          <a:p>
            <a:r>
              <a:t>            "baseline": 309.5,</a:t>
            </a:r>
          </a:p>
          <a:p>
            <a:r>
              <a:t>            "selected": 309.5,</a:t>
            </a:r>
          </a:p>
          <a:p>
            <a:r>
              <a:t>            "sample_count": 2</a:t>
            </a:r>
          </a:p>
          <a:p>
            <a:r>
              <a:t>          }</a:t>
            </a:r>
          </a:p>
          <a:p>
            <a:r>
              <a:t>        },</a:t>
            </a:r>
          </a:p>
          <a:p>
            <a:r>
              <a:t>        "selected_model": "seasonal_naive_previous_year_same_month",</a:t>
            </a:r>
          </a:p>
          <a:p>
            <a:r>
              <a:t>        "baseline_test_mae": 208.5,</a:t>
            </a:r>
          </a:p>
          <a:p>
            <a:r>
              <a:t>        "model_reliability": "seasonal_baseline",</a:t>
            </a:r>
          </a:p>
          <a:p>
            <a:r>
              <a:t>        "beats_baseline_on_test": false,</a:t>
            </a:r>
          </a:p>
          <a:p>
            <a:r>
              <a:t>        "recursive_horizons_worse_than_baseline": []</a:t>
            </a:r>
          </a:p>
          <a:p>
            <a:r>
              <a:t>      },</a:t>
            </a:r>
          </a:p>
          <a:p>
            <a:r>
              <a:t>      "lodging_nights": {</a:t>
            </a:r>
          </a:p>
          <a:p>
            <a:r>
              <a:t>        "test_mae": 0.1,</a:t>
            </a:r>
          </a:p>
          <a:p>
            <a:r>
              <a:t>        "recursive_mae": {</a:t>
            </a:r>
          </a:p>
          <a:p>
            <a:r>
              <a:t>          "1": {</a:t>
            </a:r>
          </a:p>
          <a:p>
            <a:r>
              <a:t>            "baseline": 0.06,</a:t>
            </a:r>
          </a:p>
          <a:p>
            <a:r>
              <a:t>            "selected": 0.09,</a:t>
            </a:r>
          </a:p>
          <a:p>
            <a:r>
              <a:t>            "sample_count": 2</a:t>
            </a:r>
          </a:p>
          <a:p>
            <a:r>
              <a:t>          },</a:t>
            </a:r>
          </a:p>
          <a:p>
            <a:r>
              <a:t>          "2": {</a:t>
            </a:r>
          </a:p>
          <a:p>
            <a:r>
              <a:t>            "baseline": 0.08,</a:t>
            </a:r>
          </a:p>
          <a:p>
            <a:r>
              <a:t>            "selected": 0.11,</a:t>
            </a:r>
          </a:p>
          <a:p>
            <a:r>
              <a:t>            "sample_count": 2</a:t>
            </a:r>
          </a:p>
          <a:p>
            <a:r>
              <a:t>          },</a:t>
            </a:r>
          </a:p>
          <a:p>
            <a:r>
              <a:t>          "3": {</a:t>
            </a:r>
          </a:p>
          <a:p>
            <a:r>
              <a:t>            "baseline": 0.07,</a:t>
            </a:r>
          </a:p>
          <a:p>
            <a:r>
              <a:t>            "selected": 0.11,</a:t>
            </a:r>
          </a:p>
          <a:p>
            <a:r>
              <a:t>            "sample_count": 2</a:t>
            </a:r>
          </a:p>
          <a:p>
            <a:r>
              <a:t>          }</a:t>
            </a:r>
          </a:p>
          <a:p>
            <a:r>
              <a:t>        },</a:t>
            </a:r>
          </a:p>
          <a:p>
            <a:r>
              <a:t>        "selected_model": "LinearRegression",</a:t>
            </a:r>
          </a:p>
          <a:p>
            <a:r>
              <a:t>        "baseline_test_mae": 0.07,</a:t>
            </a:r>
          </a:p>
          <a:p>
            <a:r>
              <a:t>        "model_reliability": "below_baseline_on_test",</a:t>
            </a:r>
          </a:p>
          <a:p>
            <a:r>
              <a:t>        "beats_baseline_on_test": false,</a:t>
            </a:r>
          </a:p>
          <a:p>
            <a:r>
              <a:t>        "recursive_horizons_worse_than_baseline": [</a:t>
            </a:r>
          </a:p>
          <a:p>
            <a:r>
              <a:t>          "1",</a:t>
            </a:r>
          </a:p>
          <a:p>
            <a:r>
              <a:t>          "2",</a:t>
            </a:r>
          </a:p>
          <a:p>
            <a:r>
              <a:t>          "3"</a:t>
            </a:r>
          </a:p>
          <a:p>
            <a:r>
              <a:t>        ]</a:t>
            </a:r>
          </a:p>
          <a:p>
            <a:r>
              <a:t>      },</a:t>
            </a:r>
          </a:p>
          <a:p>
            <a:r>
              <a:t>      "lodging_rate_pct": {</a:t>
            </a:r>
          </a:p>
          <a:p>
            <a:r>
              <a:t>        "test_mae": 0.57,</a:t>
            </a:r>
          </a:p>
          <a:p>
            <a:r>
              <a:t>        "recursive_mae": {</a:t>
            </a:r>
          </a:p>
          <a:p>
            <a:r>
              <a:t>          "1": {</a:t>
            </a:r>
          </a:p>
          <a:p>
            <a:r>
              <a:t>            "baseline": 0.8,</a:t>
            </a:r>
          </a:p>
          <a:p>
            <a:r>
              <a:t>            "selected": 0.8,</a:t>
            </a:r>
          </a:p>
          <a:p>
            <a:r>
              <a:t>            "sample_count": 2</a:t>
            </a:r>
          </a:p>
          <a:p>
            <a:r>
              <a:t>          },</a:t>
            </a:r>
          </a:p>
          <a:p>
            <a:r>
              <a:t>          "2": {</a:t>
            </a:r>
          </a:p>
          <a:p>
            <a:r>
              <a:t>            "baseline": 0.3,</a:t>
            </a:r>
          </a:p>
          <a:p>
            <a:r>
              <a:t>            "selected": 0.3,</a:t>
            </a:r>
          </a:p>
          <a:p>
            <a:r>
              <a:t>            "sample_count": 2</a:t>
            </a:r>
          </a:p>
          <a:p>
            <a:r>
              <a:t>          },</a:t>
            </a:r>
          </a:p>
          <a:p>
            <a:r>
              <a:t>          "3": {</a:t>
            </a:r>
          </a:p>
          <a:p>
            <a:r>
              <a:t>            "baseline": 0.35,</a:t>
            </a:r>
          </a:p>
          <a:p>
            <a:r>
              <a:t>            "selected": 0.35,</a:t>
            </a:r>
          </a:p>
          <a:p>
            <a:r>
              <a:t>            "sample_count": 2</a:t>
            </a:r>
          </a:p>
          <a:p>
            <a:r>
              <a:t>          }</a:t>
            </a:r>
          </a:p>
          <a:p>
            <a:r>
              <a:t>        },</a:t>
            </a:r>
          </a:p>
          <a:p>
            <a:r>
              <a:t>        "selected_model": "seasonal_naive_previous_year_same_month",</a:t>
            </a:r>
          </a:p>
          <a:p>
            <a:r>
              <a:t>        "baseline_test_mae": 0.57,</a:t>
            </a:r>
          </a:p>
          <a:p>
            <a:r>
              <a:t>        "model_reliability": "seasonal_baseline",</a:t>
            </a:r>
          </a:p>
          <a:p>
            <a:r>
              <a:t>        "beats_baseline_on_test": false,</a:t>
            </a:r>
          </a:p>
          <a:p>
            <a:r>
              <a:t>        "recursive_horizons_worse_than_baseline": []</a:t>
            </a:r>
          </a:p>
          <a:p>
            <a:r>
              <a:t>      },</a:t>
            </a:r>
          </a:p>
          <a:p>
            <a:r>
              <a:t>      "lodging_searches": {</a:t>
            </a:r>
          </a:p>
          <a:p>
            <a:r>
              <a:t>        "test_mae": 3695.69,</a:t>
            </a:r>
          </a:p>
          <a:p>
            <a:r>
              <a:t>        "recursive_mae": {</a:t>
            </a:r>
          </a:p>
          <a:p>
            <a:r>
              <a:t>          "1": {</a:t>
            </a:r>
          </a:p>
          <a:p>
            <a:r>
              <a:t>            "baseline": 2404.0,</a:t>
            </a:r>
          </a:p>
          <a:p>
            <a:r>
              <a:t>            "selected": 3550.0,</a:t>
            </a:r>
          </a:p>
          <a:p>
            <a:r>
              <a:t>            "sample_count": 2</a:t>
            </a:r>
          </a:p>
          <a:p>
            <a:r>
              <a:t>          },</a:t>
            </a:r>
          </a:p>
          <a:p>
            <a:r>
              <a:t>          "2": {</a:t>
            </a:r>
          </a:p>
          <a:p>
            <a:r>
              <a:t>            "baseline": 2584.5,</a:t>
            </a:r>
          </a:p>
          <a:p>
            <a:r>
              <a:t>            "selected": 3318.0,</a:t>
            </a:r>
          </a:p>
          <a:p>
            <a:r>
              <a:t>            "sample_count": 2</a:t>
            </a:r>
          </a:p>
          <a:p>
            <a:r>
              <a:t>          },</a:t>
            </a:r>
          </a:p>
          <a:p>
            <a:r>
              <a:t>          "3": {</a:t>
            </a:r>
          </a:p>
          <a:p>
            <a:r>
              <a:t>            "baseline": 2765.5,</a:t>
            </a:r>
          </a:p>
          <a:p>
            <a:r>
              <a:t>            "selected": 3897.5,</a:t>
            </a:r>
          </a:p>
          <a:p>
            <a:r>
              <a:t>            "sample_count": 2</a:t>
            </a:r>
          </a:p>
          <a:p>
            <a:r>
              <a:t>          }</a:t>
            </a:r>
          </a:p>
          <a:p>
            <a:r>
              <a:t>        },</a:t>
            </a:r>
          </a:p>
          <a:p>
            <a:r>
              <a:t>        "selected_model": "RandomForestRegressor",</a:t>
            </a:r>
          </a:p>
          <a:p>
            <a:r>
              <a:t>        "baseline_test_mae": 2584.75,</a:t>
            </a:r>
          </a:p>
          <a:p>
            <a:r>
              <a:t>        "model_reliability": "below_baseline_on_test",</a:t>
            </a:r>
          </a:p>
          <a:p>
            <a:r>
              <a:t>        "beats_baseline_on_test": false,</a:t>
            </a:r>
          </a:p>
          <a:p>
            <a:r>
              <a:t>        "recursive_horizons_worse_than_baseline": [</a:t>
            </a:r>
          </a:p>
          <a:p>
            <a:r>
              <a:t>          "1",</a:t>
            </a:r>
          </a:p>
          <a:p>
            <a:r>
              <a:t>          "2",</a:t>
            </a:r>
          </a:p>
          <a:p>
            <a:r>
              <a:t>          "3"</a:t>
            </a:r>
          </a:p>
          <a:p>
            <a:r>
              <a:t>        ]</a:t>
            </a:r>
          </a:p>
          <a:p>
            <a:r>
              <a:t>      },</a:t>
            </a:r>
          </a:p>
          <a:p>
            <a:r>
              <a:t>      "navigation_searches": {</a:t>
            </a:r>
          </a:p>
          <a:p>
            <a:r>
              <a:t>        "test_mae": 26562.0,</a:t>
            </a:r>
          </a:p>
          <a:p>
            <a:r>
              <a:t>        "recursive_mae": {</a:t>
            </a:r>
          </a:p>
          <a:p>
            <a:r>
              <a:t>          "1": {</a:t>
            </a:r>
          </a:p>
          <a:p>
            <a:r>
              <a:t>            "baseline": 30053.5,</a:t>
            </a:r>
          </a:p>
          <a:p>
            <a:r>
              <a:t>            "selected": 30053.5,</a:t>
            </a:r>
          </a:p>
          <a:p>
            <a:r>
              <a:t>            "sample_count": 2</a:t>
            </a:r>
          </a:p>
          <a:p>
            <a:r>
              <a:t>          },</a:t>
            </a:r>
          </a:p>
          <a:p>
            <a:r>
              <a:t>          "2": {</a:t>
            </a:r>
          </a:p>
          <a:p>
            <a:r>
              <a:t>            "baseline": 40942.5,</a:t>
            </a:r>
          </a:p>
          <a:p>
            <a:r>
              <a:t>            "selected": 40942.5,</a:t>
            </a:r>
          </a:p>
          <a:p>
            <a:r>
              <a:t>            "sample_count": 2</a:t>
            </a:r>
          </a:p>
          <a:p>
            <a:r>
              <a:t>          },</a:t>
            </a:r>
          </a:p>
          <a:p>
            <a:r>
              <a:t>          "3": {</a:t>
            </a:r>
          </a:p>
          <a:p>
            <a:r>
              <a:t>            "baseline": 23070.5,</a:t>
            </a:r>
          </a:p>
          <a:p>
            <a:r>
              <a:t>            "selected": 23070.5,</a:t>
            </a:r>
          </a:p>
          <a:p>
            <a:r>
              <a:t>            "sample_count": 2</a:t>
            </a:r>
          </a:p>
          <a:p>
            <a:r>
              <a:t>          }</a:t>
            </a:r>
          </a:p>
          <a:p>
            <a:r>
              <a:t>        },</a:t>
            </a:r>
          </a:p>
          <a:p>
            <a:r>
              <a:t>        "selected_model": "seasonal_naive_previous_year_same_month",</a:t>
            </a:r>
          </a:p>
          <a:p>
            <a:r>
              <a:t>        "baseline_test_mae": 26562.0,</a:t>
            </a:r>
          </a:p>
          <a:p>
            <a:r>
              <a:t>        "model_reliability": "seasonal_baseline",</a:t>
            </a:r>
          </a:p>
          <a:p>
            <a:r>
              <a:t>        "beats_baseline_on_test": false,</a:t>
            </a:r>
          </a:p>
          <a:p>
            <a:r>
              <a:t>        "recursive_horizons_worse_than_baseline": []</a:t>
            </a:r>
          </a:p>
          <a:p>
            <a:r>
              <a:t>      }</a:t>
            </a:r>
          </a:p>
          <a:p>
            <a:r>
              <a:t>    },</a:t>
            </a:r>
          </a:p>
          <a:p>
            <a:r>
              <a:t>    "test_period": "202603~202606",</a:t>
            </a:r>
          </a:p>
          <a:p>
            <a:r>
              <a:t>    "selection_basis": "validation_mae_only",</a:t>
            </a:r>
          </a:p>
          <a:p>
            <a:r>
              <a:t>    "validation_period": "202512~202602",</a:t>
            </a:r>
          </a:p>
          <a:p>
            <a:r>
              <a:t>    "longer_horizon_status": "exploratory_not_recursively_backtested",</a:t>
            </a:r>
          </a:p>
          <a:p>
            <a:r>
              <a:t>    "forecast_horizon_months": 8,</a:t>
            </a:r>
          </a:p>
          <a:p>
            <a:r>
              <a:t>    "recursive_backtest_horizon_months": [</a:t>
            </a:r>
          </a:p>
          <a:p>
            <a:r>
              <a:t>      1,</a:t>
            </a:r>
          </a:p>
          <a:p>
            <a:r>
              <a:t>      2,</a:t>
            </a:r>
          </a:p>
          <a:p>
            <a:r>
              <a:t>      3</a:t>
            </a:r>
          </a:p>
          <a:p>
            <a:r>
              <a:t>    ]</a:t>
            </a:r>
          </a:p>
          <a:p>
            <a:r>
              <a:t>  },</a:t>
            </a:r>
          </a:p>
          <a:p>
            <a:r>
              <a:t>  "execution_scenario": {</a:t>
            </a:r>
          </a:p>
          <a:p>
            <a:r>
              <a:t>    "visitor_target_pct": 5.0,</a:t>
            </a:r>
          </a:p>
          <a:p>
            <a:r>
              <a:t>    "spending_target_pct": 5.0</a:t>
            </a:r>
          </a:p>
          <a:p>
            <a:r>
              <a:t>  },</a:t>
            </a:r>
          </a:p>
          <a:p>
            <a:r>
              <a:t>  "reference_estimate": {</a:t>
            </a:r>
          </a:p>
          <a:p>
            <a:r>
              <a:t>    "status": "saved_report_budget",</a:t>
            </a:r>
          </a:p>
          <a:p>
            <a:r>
              <a:t>    "total_label": "총액 미확정",</a:t>
            </a:r>
          </a:p>
          <a:p>
            <a:r>
              <a:t>    "rows": [</a:t>
            </a:r>
          </a:p>
          <a:p>
            <a:r>
              <a:t>      [</a:t>
            </a:r>
          </a:p>
          <a:p>
            <a:r>
              <a:t>        "산정 내역 1",</a:t>
            </a:r>
          </a:p>
          <a:p>
            <a:r>
              <a:t>        "기획 가정/미확정 참고 견적: 운영 콘텐츠 수×콘텐츠별 비교견적 + 운영일수×일일 운영·안전 견적 + 참여업체 수×업체 준비비 견적 + 측정 원장 1식×구축 견적. 사업 담당자가 착수 전 수량을 정하고 회계 담당자가 같은 조건의 비교견적 2건 이상으로 단가·부가세·총액을 확정함.",</a:t>
            </a:r>
          </a:p>
          <a:p>
            <a:r>
              <a:t>        "본문 기준"</a:t>
            </a:r>
          </a:p>
          <a:p>
            <a:r>
              <a:t>      ]</a:t>
            </a:r>
          </a:p>
          <a:p>
            <a:r>
              <a:t>    ],</a:t>
            </a:r>
          </a:p>
          <a:p>
            <a:r>
              <a:t>    "original_text": "기획 가정/미확정 참고 견적: 운영 콘텐츠 수×콘텐츠별 비교견적 + 운영일수×일일 운영·안전 견적 + 참여업체 수×업체 준비비 견적 + 측정 원장 1식×구축 견적. 사업 담당자가 착수 전 수량을 정하고 회계 담당자가 같은 조건의 비교견적 2건 이상으로 단가·부가세·총액을 확정함.",</a:t>
            </a:r>
          </a:p>
          <a:p>
            <a:r>
              <a:t>    "sources": [],</a:t>
            </a:r>
          </a:p>
          <a:p>
            <a:r>
              <a:t>    "note": "저장 기획안의 예산 산정 내용을 그대로 표시합니다. 확정 견적이 아니며 계약 전 수량·단가·세금과 합계를 확인합니다."</a:t>
            </a:r>
          </a:p>
          <a:p>
            <a:r>
              <a:t>  }</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강진군의회 2024-11-20 시정연설: 10월 말 관광객 약 248만 명, 전년 대비 25% 증가. 전년 규모 역산: 248만÷1.25≈198.4만 명, 차이≈49.6만 명. 역산값은 별도 관측 원자료가 아니다. 반값여행과 축제의 동시기 실적이며 사업 단독 효과·ML 대비 증가율은 아니다. 원주는 초기 시범으로 최종월 방문 +5%를 제안한다(발표 증가율의 1/5를 선택한 기획 판단). 기본 소비 목표는 월별 소비/방문 비율을 추가 방문 수에 적용한 계획 가정이며 강진 소비 실적으로 계산한 값이 아니다. 방문 수가 0보다 큰 월은 ML 소비액÷ML 방문 수를 추가 방문 수에 곱한다. 같은 월의 두 증가율은 같으며, 이 비율은 실제 1인당 소비액이 아니다.</a:t>
            </a:r>
          </a:p>
          <a:p>
            <a:r>
              <a:t>https://clik.nanet.go.kr/minutes/viewer.do?DOCID=CLIKC3524169218564260&amp;collection=minutes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실행 방법 제안. 저장된 사업 내용에 맞춰 작성한 운영 절차이며 확정 협약이나 공식 지침이 아닙니다.</a:t>
            </a:r>
          </a:p>
          <a:p>
            <a:r>
              <a:t>{'kpi': '①지역 내 소비액 증가율(분자: 사업 기간 내 원주 내 총 결제액, 분모: 전년 같은 기간 값, 산식: (이번 기간 값 - 전년 같은 기간 값) / 전년 같은 기간 값 × 100) ②지역상품권 사용률(분자: 환급 뒤 원주 내 적격 재결제액 합계, 분모: 지급한 환급액 합계) ③기준기간: 운영 기간 ④측정 주기: 매주 ⑤수집 방법: 신청·승인·결제 원장 집계 ⑥성과 판단: 위 계획 목표와 실제 집계 결과를 비교합니다.', 'title': '원주시 지역사랑 휴가지원 (반값여행) 프로그램', 'budget': '기획 가정/미확정 참고 견적: 운영 콘텐츠 수×콘텐츠별 비교견적 + 운영일수×일일 운영·안전 견적 + 참여업체 수×업체 준비비 견적 + 측정 원장 1식×구축 견적. 사업 담당자가 착수 전 수량을 정하고 회계 담당자가 같은 조건의 비교견적 2건 이상으로 단가·부가세·총액을 확정함.', 'evidence': 'case:gangjin_half_price_2024, dataset:51130:1, dataset:51130:3', 'priority': 1, 'solution': '원주시 내 지정된 관광·식음·숙박 가맹점에서 일정 금액 이상 결제한 외지인에게 결제액의 일부를 원주사랑상품권으로 환급하여 지역 내 재소비를 유도함.', 'timeframe': '2026-09 ~ 2026-11, 3개월', 'expected_effect': "ML 전망상 2026년 11월 소비액은 전년 대비 41.26% 증가할 것으로 보이나, 이는 탐색적 추세일 뿐임. 본 사업은 이 추세와 별개로 '지역 내 재결제'를 통한 추가적인 소비 순증을 목표로 함.", 'problem_to_solve': '외지인 방문자 수 감소 및 지역 내 소비 유도 부족', 'comparison_analysis': '강진군의 지역환급 방식(case:gangjin_half_price_2024)을 벤치마킹하여 지역 내 결제 순환에 집중하는 모델을 채택함. 이는 인천의 플랫폼 중심 방식(case:4625625dcbf2ae)보다 초기 구축 비용 부담이 적고 즉각적인 소비 유도에 유리함.', 'implementation_steps': [{'step': 1, 'task': '관광과 담당자가 참여 업체 명단을 확보하고 환급 운영 지침(안)을 작성함', 'schedule': '2026-09', 'deliverable': '참여 업체 명단 및 환급 운영 지침서(안)'}, {'step': 2, 'task': '회계 담당자가 결제 증빙 및 중복 수혜 방지를 위한 가이드라인을 확정함', 'schedule': '2026-09', 'deliverable': '결제 증빙 및 중복 수혜 방지 가이드라인'}, {'step': 3, 'task': '홍보 담당자가 주요 관광지 연계 홍보물을 배포하고 운영 현황을 기록함', 'schedule': '2026-10', 'deliverable': '주요 관광지 연계 홍보물 및 운영 현황 보고서'}, {'step': 4, 'task': '운영 담당자가 주간 단위로 환급 신청·승인·결제 원장을 수집·검증함', 'schedule': '2026-10 ~ 2026-11', 'deliverable': '주간 단위 환급 신청·승인·결제 원장'}, {'step': 5, 'task': '기획 담당자가 수집된 원장을 바탕으로 최종 성과 평가 보고서를 작성함', 'schedule': '2026-11', 'deliverable': '최종 성과 평가 보고서'}], 'visual_asset_source_ids': ['case:gangjin_half_price_2024']}</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관측값·저장 예측·계획 목표는 별개입니다. 문서용 참고 견적이며 원 보고서의 검수 결과를 변경하지 않습니다.</a:t>
            </a:r>
          </a:p>
          <a:p>
            <a:r>
              <a:t>[Sources]</a:t>
            </a:r>
          </a:p>
          <a:p>
            <a:r>
              <a:t>dataset:51130:1 | 한국관광 데이터랩 · 강원특별자치도 원주시 순 방문자 수 및 숙박 비율 (이동통신 기반 외지인) | https://datalab.visitkorea.or.kr/</a:t>
            </a:r>
          </a:p>
          <a:p>
            <a:r>
              <a:t>dataset:51130:2 | 한국관광 데이터랩 · 강원특별자치도 원주시 월간 순 방문자 수 (이동통신 기반 외지인) | https://datalab.visitkorea.or.kr/</a:t>
            </a:r>
          </a:p>
          <a:p>
            <a:r>
              <a:t>dataset:51130:3 | 한국관광 데이터랩 · 강원특별자치도 원주시 관광소비 추이_외지인 | https://datalab.visitkorea.or.kr/</a:t>
            </a:r>
          </a:p>
          <a:p>
            <a:r>
              <a:t>dataset:51130:4 | 한국관광 데이터랩 · 강원특별자치도 원주시 숙박방문자 비율 추이 (이동통신 기반 외지인) | https://datalab.visitkorea.or.kr/</a:t>
            </a:r>
          </a:p>
          <a:p>
            <a:r>
              <a:t>dataset:51130:5 | 한국관광 데이터랩 · 강원특별자치도 원주시 평균 숙박일 (이동통신 기반 외지인) | https://datalab.visitkorea.or.kr/</a:t>
            </a:r>
          </a:p>
          <a:p>
            <a:r>
              <a:t>dataset:51130:6 | 한국관광 데이터랩 · 강원특별자치도 원주시 내비게이션 목적지 유형별 검색량 | https://datalab.visitkorea.or.kr/</a:t>
            </a:r>
          </a:p>
          <a:p>
            <a:r>
              <a:t>dataset:51130:7 | 한국관광 데이터랩 · 강원특별자치도 원주시 SNS 언급량 | https://datalab.visitkorea.or.kr/</a:t>
            </a:r>
          </a:p>
          <a:p>
            <a:r>
              <a:t>datalab:16d84bd9b1d0:620b2639a268 | 한국관광 데이터랩 공식 다운로드 · 강원특별자치도_원주시/숙박_체류시간/2025_01_12.zip | https://datalab.visitkorea.or.kr/</a:t>
            </a:r>
          </a:p>
          <a:p>
            <a:r>
              <a:t>datalab:242a2c1249d4:f84e1a5f3914 | 한국관광 데이터랩 공식 다운로드 · 강원특별자치도_원주시/숙박_체류시간/2026_01_06.zip | https://datalab.visitkorea.or.kr/</a:t>
            </a:r>
          </a:p>
          <a:p>
            <a:r>
              <a:t>datalab:a050e5a84ef4:3906c6ac70a7 | 한국관광 데이터랩 공식 다운로드 · 강원특별자치도_원주시/방문자/2025_01_12.zip | https://datalab.visitkorea.or.kr/</a:t>
            </a:r>
          </a:p>
          <a:p>
            <a:r>
              <a:t>datalab:bd9d3d26da19:991f2264ad4a | 한국관광 데이터랩 공식 다운로드 · 강원특별자치도_원주시/방문자/2026_01_06.zip | https://datalab.visitkorea.or.kr/</a:t>
            </a:r>
          </a:p>
          <a:p>
            <a:r>
              <a:t>datalab:d54a3fb44037:ee4640b6178b | 한국관광 데이터랩 공식 다운로드 · 강원특별자치도_원주시/관광소비/2026_01_06.zip | https://datalab.visitkorea.or.kr/</a:t>
            </a:r>
          </a:p>
          <a:p>
            <a:r>
              <a:t>datalab:ebce91b8bf02:1770c2d94cc6 | 한국관광 데이터랩 공식 다운로드 · 강원특별자치도_원주시/관광소비/2025_01_12.zip | https://datalab.visitkorea.or.kr/</a:t>
            </a:r>
          </a:p>
          <a:p>
            <a:r>
              <a:t>team-bigdata:23ea68053684:6bfbcf8aabf6 | 한국관광 데이터랩 전국 빅데이터 다운로드 · 이동통신/내국인/지역별 방문자수/20260820140607__202601-202606_데이터랩_다운로드.zip | https://datalab.visitkorea.or.kr/</a:t>
            </a:r>
          </a:p>
          <a:p>
            <a:r>
              <a:t>team-bigdata:98d4ae590d9a:3be52dd54323 | 한국관광 데이터랩 전국 빅데이터 다운로드 · 이동통신/외국인/20260820141710_전국_202601-202606_데이터랩_다운로드.zip | https://datalab.visitkorea.or.kr/</a:t>
            </a:r>
          </a:p>
          <a:p>
            <a:r>
              <a:t>team-bigdata:367cd0294ec4:873930d645e5 | 한국관광 데이터랩 전국 빅데이터 다운로드 · 신용카드/내국인/지역별 관광지출액/20260820140046__202601-202606_데이터랩_다운로드.zip | https://datalab.visitkorea.or.kr/</a:t>
            </a:r>
          </a:p>
          <a:p>
            <a:r>
              <a:t>team-bigdata:553a0dad4bb4:5a31355dffe8 | 한국관광 데이터랩 전국 빅데이터 다운로드 · 신용카드/외국인/지역별 관광지출액/20260820140355__202601-202606_데이터랩_다운로드.zip | https://datalab.visitkorea.or.kr/</a:t>
            </a:r>
          </a:p>
          <a:p>
            <a:r>
              <a:t>team-bigdata:a53dbe1c21df:77a052de41d5 | 한국관광 데이터랩 전국 빅데이터 다운로드 · 네비게이션/지역별 검색건수/20260820195507__202601-202606_데이터랩_다운로드.zip | https://datalab.visitkorea.or.kr/</a:t>
            </a:r>
          </a:p>
          <a:p>
            <a:r>
              <a:t>team-bigdata:823a38d1d61c:5385261d02e5 | 한국관광 데이터랩 전국 빅데이터 다운로드 · 이동통신/내국인/지역별 방문자수/20260820140614__202501-202512_데이터랩_다운로드.zip | https://datalab.visitkorea.or.kr/</a:t>
            </a:r>
          </a:p>
          <a:p>
            <a:r>
              <a:t>team-bigdata:2723bdb0d589:1666a34058ed | 한국관광 데이터랩 전국 빅데이터 다운로드 · 이동통신/외국인/20260820141649_전국_202501-202512_데이터랩_다운로드.zip | https://datalab.visitkorea.or.kr/</a:t>
            </a:r>
          </a:p>
          <a:p>
            <a:r>
              <a:t>team-bigdata:83177a234971:c02cb7972e0f | 한국관광 데이터랩 전국 빅데이터 다운로드 · 신용카드/내국인/지역별 관광지출액/20260820135957__202501-202512_데이터랩_다운로드.zip | https://datalab.visitkorea.or.kr/</a:t>
            </a:r>
          </a:p>
          <a:p>
            <a:r>
              <a:t>team-bigdata:58ded7732251:589c76395cbc | 한국관광 데이터랩 전국 빅데이터 다운로드 · 신용카드/외국인/지역별 관광지출액/20260820140409__202501-202512_데이터랩_다운로드.zip | https://datalab.visitkorea.or.kr/</a:t>
            </a:r>
          </a:p>
          <a:p>
            <a:r>
              <a:t>team-bigdata:e28c947cb52f:bb4cb344a6ba | 한국관광 데이터랩 전국 빅데이터 다운로드 · 네비게이션/지역별 검색건수/20260820132007__202501-202512_데이터랩_다운로드.zip | https://datalab.visitkorea.or.kr/</a:t>
            </a:r>
          </a:p>
          <a:p>
            <a:r>
              <a:t>team-bigdata:8815bbb11a39:1a5988f5f8ec | 한국관광 데이터랩 전국 빅데이터 다운로드 · 이동통신/내국인/지역별 방문자수/20260820140624__202401-202412_데이터랩_다운로드.zip | https://datalab.visitkorea.or.kr/</a:t>
            </a:r>
          </a:p>
          <a:p>
            <a:r>
              <a:t>team-bigdata:19fd67fbb73d:afa4f0f54a2f | 한국관광 데이터랩 전국 빅데이터 다운로드 · 이동통신/외국인/20260820141639_전국_202401-202412_데이터랩_다운로드.zip | https://datalab.visitkorea.or.kr/</a:t>
            </a:r>
          </a:p>
          <a:p>
            <a:r>
              <a:t>regional-status:90f2be7a0f7d:b989a6c2e7bf | 한국관광 데이터랩 지역별 관광 현황 · 강원특별자치도 원주시 · 유입유출 | https://datalab.visitkorea.or.kr/</a:t>
            </a:r>
          </a:p>
          <a:p>
            <a:r>
              <a:t>regional-status:c39767bd23e8:e3b081f6e6aa | 한국관광 데이터랩 지역별 관광 현황 · 강원특별자치도 원주시 · 지역집중률 | https://datalab.visitkorea.or.kr/</a:t>
            </a:r>
          </a:p>
          <a:p>
            <a:r>
              <a:t>regional-status:edaf76986d99:c00fa7ffc0a7 | 한국관광 데이터랩 지역별 관광 현황 · 강원특별자치도 원주시 · 인기관광지 | https://datalab.visitkorea.or.kr/</a:t>
            </a:r>
          </a:p>
          <a:p>
            <a:r>
              <a:t>ml:51130:regional-demand-v3.1:202606 | 지역 관광수요 ML 전망 · 공식 관측값 아님 | URL 미기록</a:t>
            </a:r>
          </a:p>
          <a:p>
            <a:r>
              <a:t>tour-api:2732999 | 감악산캠핑숲 | https://apis.data.go.kr/B551011/KorService2</a:t>
            </a:r>
          </a:p>
          <a:p>
            <a:r>
              <a:t>tour-api:2555010 | 강원감영관찰사·무릉고서화미술박물관 | https://apis.data.go.kr/B551011/KorService2</a:t>
            </a:r>
          </a:p>
          <a:p>
            <a:r>
              <a:t>tour-api:2734136 | 강원도힐링캠핑장 | https://apis.data.go.kr/B551011/KorService2</a:t>
            </a:r>
          </a:p>
          <a:p>
            <a:r>
              <a:t>tour-api:2702477 | 경천묘 | https://apis.data.go.kr/B551011/KorService2</a:t>
            </a:r>
          </a:p>
          <a:p>
            <a:r>
              <a:t>tour-api:130539 | 고판화박물관 | https://apis.data.go.kr/B551011/KorService2</a:t>
            </a:r>
          </a:p>
          <a:p>
            <a:r>
              <a:t>tour-api:125645 | 관음사·국형사계곡 | https://apis.data.go.kr/B551011/KorService2</a:t>
            </a:r>
          </a:p>
          <a:p>
            <a:r>
              <a:t>tour-api:3356037 | 광화문갈비 원주점 | https://apis.data.go.kr/B551011/KorService2</a:t>
            </a:r>
          </a:p>
          <a:p>
            <a:r>
              <a:t>tour-api:2762710 | 구 조선식산은행 원주지점 | https://apis.data.go.kr/B551011/KorService2</a:t>
            </a:r>
          </a:p>
          <a:p>
            <a:r>
              <a:t>tour-api:125757 | 국형사 | https://apis.data.go.kr/B551011/KorService2</a:t>
            </a:r>
          </a:p>
          <a:p>
            <a:r>
              <a:t>tour-api:2033279 | 금대 에코힐링 캠핑장 | https://apis.data.go.kr/B551011/KorService2</a:t>
            </a:r>
          </a:p>
          <a:p>
            <a:r>
              <a:t>tour-api:129676 | 금대계곡 | https://apis.data.go.kr/B551011/KorService2</a:t>
            </a:r>
          </a:p>
          <a:p>
            <a:r>
              <a:t>tour-api:2734906 | 금대자동차야영장 | https://apis.data.go.kr/B551011/KorService2</a:t>
            </a:r>
          </a:p>
          <a:p>
            <a:r>
              <a:t>tour-api:2714800 | 기후변화홍보관 | https://apis.data.go.kr/B551011/KorService2</a:t>
            </a:r>
          </a:p>
          <a:p>
            <a:r>
              <a:t>tour-api:2892327 | 김가네원주추어탕 | https://apis.data.go.kr/B551011/KorService2</a:t>
            </a:r>
          </a:p>
          <a:p>
            <a:r>
              <a:t>tour-api:129284 | 김제남 신도비 | https://apis.data.go.kr/B551011/KorService2</a:t>
            </a:r>
          </a:p>
          <a:p>
            <a:r>
              <a:t>tour-api:512084 | 넌스키 난보드 | https://apis.data.go.kr/B551011/KorService2</a:t>
            </a:r>
          </a:p>
          <a:p>
            <a:r>
              <a:t>tour-api:2778036 | 단관공원 | https://apis.data.go.kr/B551011/KorService2</a:t>
            </a:r>
          </a:p>
          <a:p>
            <a:r>
              <a:t>tour-api:2892320 | 동승루 | https://apis.data.go.kr/B551011/KorService2</a:t>
            </a:r>
          </a:p>
          <a:p>
            <a:r>
              <a:t>tour-api:2892312 | 들꽃가든 | https://apis.data.go.kr/B551011/KorService2</a:t>
            </a:r>
          </a:p>
          <a:p>
            <a:r>
              <a:t>tour-api:2809292 | 들꽃이야기 | https://apis.data.go.kr/B551011/KorService2</a:t>
            </a:r>
          </a:p>
          <a:p>
            <a:r>
              <a:t>reference:kto:2026:local-airport | 요즘, 한국관광 2호 - 지방공항 연계 지역관광 활성화 방안 | PDF 44쪽, PDF 43쪽, PDF 38쪽, PDF 40쪽, PDF 41쪽, PDF 36쪽, PDF 41쪽, PDF 44쪽, PDF 43쪽, PDF 43쪽 | https://datalab.visitkorea.or.kr/site/portal/ex/bbs/View.do?bcIdx=311068&amp;cbIdx=1135&amp;pageIndex=1</a:t>
            </a:r>
          </a:p>
          <a:p>
            <a:r>
              <a:t>case:jeonju_night_budget_2026 | 전주시 2026년도 관광산업과 세출예산 사업명세서 | https://jeonju.go.kr/resource/www/images/download/budget/2026/2026_31_2.pdf</a:t>
            </a:r>
          </a:p>
          <a:p>
            <a:r>
              <a:t>case:4625625dcbf2ae | (기획) 인천을 즐기는 가장 쉬운(easy) 방법 … 인천e지 | https://www.incheon.go.kr/IC010205/view?beginDt=&amp;curPage=1&amp;endDt=&amp;repSeq=DOM_0000000013130282&amp;srchMainManagerDeptNm=&amp;srchRepContents=%EC%A3%BC%EC%B0%A8&amp;srchRepTitle=</a:t>
            </a:r>
          </a:p>
          <a:p>
            <a:r>
              <a:t>case:digital_tourism_resident_2024 | 2024년 6월 여행가는 달 추진 보도자료 | https://mcst.go.kr/servlets/eduport/front/upload/UplDownloadFile?pFileName=%280514%29%EB%AC%B8%EC%B2%B4%EB%B6%80%EB%B3%B4%EB%8F%84%EC%9E%90%EB%A3%8C-6%EC%9B%94_%EC%97%AC%ED%96%89%EA%B0%80%EB%8A%94_%EB%8B%AC_%EC%B6%94%EC%A7%84.pdf&amp;pPath=0302000000&amp;pRealName=20240514083202149235802932_PRESS20240514083202456506.pdf</a:t>
            </a:r>
          </a:p>
          <a:p>
            <a:r>
              <a:t>case:kto_stay_discount_2022 | 2022 대한민국 숙박대전 경제파급효과 공개자료 | https://kto.visitkorea.or.kr/upload/flexer/upload/ktobiz/20220928/b623b5f9-3ec0-11ed-9832-ddf31964842e.hwp.files/Sections1.html</a:t>
            </a:r>
          </a:p>
          <a:p>
            <a:r>
              <a:t>case:37471b1e063812 | 한강 밤핑(Night+Camping) 행사·공연 정보 | https://hangang.seoul.go.kr/www/eventMng/detail.do?evntSn=441&amp;keyword=&amp;mid=538&amp;opt11=&amp;opt12=&amp;opt13=&amp;opt14=&amp;opt4=&amp;pageNo=2&amp;srchType=list</a:t>
            </a:r>
          </a:p>
          <a:p>
            <a:r>
              <a:t>case:gangjin_half_price_2024 | 강진 반값여행 지역경제 효과 소개 | https://jnfarm.jeonnam.go.kr/board/FARM_BOARD_008/boardView.do?bdId=BD_00000000000011721&amp;menuCd=farm004002</a:t>
            </a:r>
          </a:p>
          <a:p>
            <a:r>
              <a:t>case:c6d4752e1342a7 | 지역사랑 휴가지원(반값여행) 신설 및 ‘대한민국 반값여행’ 성과 분석 | https://www.mcst.go.kr/site/s_policy/govPolicy/performTotal.jsp</a:t>
            </a:r>
          </a:p>
          <a:p>
            <a:r>
              <a:t>case:night_festival_2025 | 2025 대한민국 밤밤페스타 개최 도시 및 일정 | https://korean.visitkorea.or.kr/detail/rem_detail.do?cotid=f9c636b2-dd7c-4f09-af3d-6af43b33d371</a:t>
            </a:r>
          </a:p>
          <a:p>
            <a:r>
              <a:t>[/Sources]</a:t>
            </a:r>
          </a:p>
          <a:p>
            <a:r>
              <a:t>[Calculation audit]</a:t>
            </a:r>
          </a:p>
          <a:p>
            <a:r>
              <a:t>{</a:t>
            </a:r>
          </a:p>
          <a:p>
            <a:r>
              <a:t>  "source_inventory": [</a:t>
            </a:r>
          </a:p>
          <a:p>
            <a:r>
              <a:t>    {</a:t>
            </a:r>
          </a:p>
          <a:p>
            <a:r>
              <a:t>      "title": "한국관광 데이터랩 · 강원특별자치도 원주시 순 방문자 수 및 숙박 비율 (이동통신 기반 외지인)",</a:t>
            </a:r>
          </a:p>
          <a:p>
            <a:r>
              <a:t>      "summary": "월간 순 방문자 수: 2,285,734명 (관측 기준월: 2026-06)",</a:t>
            </a:r>
          </a:p>
          <a:p>
            <a:r>
              <a:t>      "source_id": "dataset:51130:1",</a:t>
            </a:r>
          </a:p>
          <a:p>
            <a:r>
              <a:t>      "source_url": "https://datalab.visitkorea.or.kr/",</a:t>
            </a:r>
          </a:p>
          <a:p>
            <a:r>
              <a:t>      "source_type": "dataset",</a:t>
            </a:r>
          </a:p>
          <a:p>
            <a:r>
              <a:t>      "observation_period": "2026-06",</a:t>
            </a:r>
          </a:p>
          <a:p>
            <a:r>
              <a:t>      "published_or_updated_at": "2026-06"</a:t>
            </a:r>
          </a:p>
          <a:p>
            <a:r>
              <a:t>    },</a:t>
            </a:r>
          </a:p>
          <a:p>
            <a:r>
              <a:t>    {</a:t>
            </a:r>
          </a:p>
          <a:p>
            <a:r>
              <a:t>      "title": "한국관광 데이터랩 · 강원특별자치도 원주시 월간 순 방문자 수 (이동통신 기반 외지인)",</a:t>
            </a:r>
          </a:p>
          <a:p>
            <a:r>
              <a:t>      "summary": "전년동월 외지인 방문자 증감률: -2.7% (관측 기준월: 2026-06)",</a:t>
            </a:r>
          </a:p>
          <a:p>
            <a:r>
              <a:t>      "source_id": "dataset:51130:2",</a:t>
            </a:r>
          </a:p>
          <a:p>
            <a:r>
              <a:t>      "source_url": "https://datalab.visitkorea.or.kr/",</a:t>
            </a:r>
          </a:p>
          <a:p>
            <a:r>
              <a:t>      "source_type": "dataset",</a:t>
            </a:r>
          </a:p>
          <a:p>
            <a:r>
              <a:t>      "observation_period": "2026-06",</a:t>
            </a:r>
          </a:p>
          <a:p>
            <a:r>
              <a:t>      "published_or_updated_at": "2026-06"</a:t>
            </a:r>
          </a:p>
          <a:p>
            <a:r>
              <a:t>    },</a:t>
            </a:r>
          </a:p>
          <a:p>
            <a:r>
              <a:t>    {</a:t>
            </a:r>
          </a:p>
          <a:p>
            <a:r>
              <a:t>      "title": "한국관광 데이터랩 · 강원특별자치도 원주시 관광소비 추이_외지인",</a:t>
            </a:r>
          </a:p>
          <a:p>
            <a:r>
              <a:t>      "summary": "월간 외지인 관광소비 총액: 60,562,672,000원 (관측 기준월: 2026-06)",</a:t>
            </a:r>
          </a:p>
          <a:p>
            <a:r>
              <a:t>      "source_id": "dataset:51130:3",</a:t>
            </a:r>
          </a:p>
          <a:p>
            <a:r>
              <a:t>      "source_url": "https://datalab.visitkorea.or.kr/",</a:t>
            </a:r>
          </a:p>
          <a:p>
            <a:r>
              <a:t>      "source_type": "dataset",</a:t>
            </a:r>
          </a:p>
          <a:p>
            <a:r>
              <a:t>      "observation_period": "2026-06",</a:t>
            </a:r>
          </a:p>
          <a:p>
            <a:r>
              <a:t>      "published_or_updated_at": "2026-06"</a:t>
            </a:r>
          </a:p>
          <a:p>
            <a:r>
              <a:t>    },</a:t>
            </a:r>
          </a:p>
          <a:p>
            <a:r>
              <a:t>    {</a:t>
            </a:r>
          </a:p>
          <a:p>
            <a:r>
              <a:t>      "title": "한국관광 데이터랩 · 강원특별자치도 원주시 숙박방문자 비율 추이 (이동통신 기반 외지인)",</a:t>
            </a:r>
          </a:p>
          <a:p>
            <a:r>
              <a:t>      "summary": "외지인 숙박 방문 비율: 12.5% (관측 기준월: 2026-06)",</a:t>
            </a:r>
          </a:p>
          <a:p>
            <a:r>
              <a:t>      "source_id": "dataset:51130:4",</a:t>
            </a:r>
          </a:p>
          <a:p>
            <a:r>
              <a:t>      "source_url": "https://datalab.visitkorea.or.kr/",</a:t>
            </a:r>
          </a:p>
          <a:p>
            <a:r>
              <a:t>      "source_type": "dataset",</a:t>
            </a:r>
          </a:p>
          <a:p>
            <a:r>
              <a:t>      "observation_period": "2026-06",</a:t>
            </a:r>
          </a:p>
          <a:p>
            <a:r>
              <a:t>      "published_or_updated_at": "2026-06"</a:t>
            </a:r>
          </a:p>
          <a:p>
            <a:r>
              <a:t>    },</a:t>
            </a:r>
          </a:p>
          <a:p>
            <a:r>
              <a:t>    {</a:t>
            </a:r>
          </a:p>
          <a:p>
            <a:r>
              <a:t>      "title": "한국관광 데이터랩 · 강원특별자치도 원주시 평균 숙박일 (이동통신 기반 외지인)",</a:t>
            </a:r>
          </a:p>
          <a:p>
            <a:r>
              <a:t>      "summary": "외지인 평균 숙박일수: 2.76일 (관측 기준월: 2026-06)",</a:t>
            </a:r>
          </a:p>
          <a:p>
            <a:r>
              <a:t>      "source_id": "dataset:51130:5",</a:t>
            </a:r>
          </a:p>
          <a:p>
            <a:r>
              <a:t>      "source_url": "https://datalab.visitkorea.or.kr/",</a:t>
            </a:r>
          </a:p>
          <a:p>
            <a:r>
              <a:t>      "source_type": "dataset",</a:t>
            </a:r>
          </a:p>
          <a:p>
            <a:r>
              <a:t>      "observation_period": "2026-06",</a:t>
            </a:r>
          </a:p>
          <a:p>
            <a:r>
              <a:t>      "published_or_updated_at": "2026-06"</a:t>
            </a:r>
          </a:p>
          <a:p>
            <a:r>
              <a:t>    },</a:t>
            </a:r>
          </a:p>
          <a:p>
            <a:r>
              <a:t>    {</a:t>
            </a:r>
          </a:p>
          <a:p>
            <a:r>
              <a:t>      "title": "한국관광 데이터랩 · 강원특별자치도 원주시 내비게이션 목적지 유형별 검색량",</a:t>
            </a:r>
          </a:p>
          <a:p>
            <a:r>
              <a:t>      "summary": "내비게이션 목적지 검색량: 303,921건 (관측 기준월: 2026-06)",</a:t>
            </a:r>
          </a:p>
          <a:p>
            <a:r>
              <a:t>      "source_id": "dataset:51130:6",</a:t>
            </a:r>
          </a:p>
          <a:p>
            <a:r>
              <a:t>      "source_url": "https://datalab.visitkorea.or.kr/",</a:t>
            </a:r>
          </a:p>
          <a:p>
            <a:r>
              <a:t>      "source_type": "dataset",</a:t>
            </a:r>
          </a:p>
          <a:p>
            <a:r>
              <a:t>      "observation_period": "2026-06",</a:t>
            </a:r>
          </a:p>
          <a:p>
            <a:r>
              <a:t>      "published_or_updated_at": "2026-06"</a:t>
            </a:r>
          </a:p>
          <a:p>
            <a:r>
              <a:t>    },</a:t>
            </a:r>
          </a:p>
          <a:p>
            <a:r>
              <a:t>    {</a:t>
            </a:r>
          </a:p>
          <a:p>
            <a:r>
              <a:t>      "title": "한국관광 데이터랩 · 강원특별자치도 원주시 SNS 언급량",</a:t>
            </a:r>
          </a:p>
          <a:p>
            <a:r>
              <a:t>      "summary": "SNS 언급량: 41,121건 (관측 기준월: 2026-06)",</a:t>
            </a:r>
          </a:p>
          <a:p>
            <a:r>
              <a:t>      "source_id": "dataset:51130:7",</a:t>
            </a:r>
          </a:p>
          <a:p>
            <a:r>
              <a:t>      "source_url": "https://datalab.visitkorea.or.kr/",</a:t>
            </a:r>
          </a:p>
          <a:p>
            <a:r>
              <a:t>      "source_type": "dataset",</a:t>
            </a:r>
          </a:p>
          <a:p>
            <a:r>
              <a:t>      "observation_period": "2026-06",</a:t>
            </a:r>
          </a:p>
          <a:p>
            <a:r>
              <a:t>      "published_or_updated_at": "2026-06"</a:t>
            </a:r>
          </a:p>
          <a:p>
            <a:r>
              <a:t>    },</a:t>
            </a:r>
          </a:p>
          <a:p>
            <a:r>
              <a:t>    {</a:t>
            </a:r>
          </a:p>
          <a:p>
            <a:r>
              <a:t>      "title": "한국관광 데이터랩 공식 다운로드 · 강원특별자치도_원주시/숙박_체류시간/2025_01_12.zip",</a:t>
            </a:r>
          </a:p>
          <a:p>
            <a:r>
              <a:t>      "summary": "전국 비교 기준 기간: 2025-07 ~ 2026-06",</a:t>
            </a:r>
          </a:p>
          <a:p>
            <a:r>
              <a:t>      "source_id": "datalab:16d84bd9b1d0:620b2639a268",</a:t>
            </a:r>
          </a:p>
          <a:p>
            <a:r>
              <a:t>      "source_url": "https://datalab.visitkorea.or.kr/",</a:t>
            </a:r>
          </a:p>
          <a:p>
            <a:r>
              <a:t>      "source_type": "nationwide_dataset",</a:t>
            </a:r>
          </a:p>
          <a:p>
            <a:r>
              <a:t>      "observation_period": "2025-07 ~ 2026-06",</a:t>
            </a:r>
          </a:p>
          <a:p>
            <a:r>
              <a:t>      "published_or_updated_at": "2024-07 ~ 2025-06"</a:t>
            </a:r>
          </a:p>
          <a:p>
            <a:r>
              <a:t>    },</a:t>
            </a:r>
          </a:p>
          <a:p>
            <a:r>
              <a:t>    {</a:t>
            </a:r>
          </a:p>
          <a:p>
            <a:r>
              <a:t>      "title": "한국관광 데이터랩 공식 다운로드 · 강원특별자치도_원주시/숙박_체류시간/2026_01_06.zip",</a:t>
            </a:r>
          </a:p>
          <a:p>
            <a:r>
              <a:t>      "summary": "전국 비교 기준 기간: 2025-07 ~ 2026-06",</a:t>
            </a:r>
          </a:p>
          <a:p>
            <a:r>
              <a:t>      "source_id": "datalab:242a2c1249d4:f84e1a5f3914",</a:t>
            </a:r>
          </a:p>
          <a:p>
            <a:r>
              <a:t>      "source_url": "https://datalab.visitkorea.or.kr/",</a:t>
            </a:r>
          </a:p>
          <a:p>
            <a:r>
              <a:t>      "source_type": "nationwide_dataset",</a:t>
            </a:r>
          </a:p>
          <a:p>
            <a:r>
              <a:t>      "observation_period": "2025-07 ~ 2026-06",</a:t>
            </a:r>
          </a:p>
          <a:p>
            <a:r>
              <a:t>      "published_or_updated_at": "2024-07 ~ 2025-06"</a:t>
            </a:r>
          </a:p>
          <a:p>
            <a:r>
              <a:t>    },</a:t>
            </a:r>
          </a:p>
          <a:p>
            <a:r>
              <a:t>    {</a:t>
            </a:r>
          </a:p>
          <a:p>
            <a:r>
              <a:t>      "title": "한국관광 데이터랩 공식 다운로드 · 강원특별자치도_원주시/방문자/2025_01_12.zip",</a:t>
            </a:r>
          </a:p>
          <a:p>
            <a:r>
              <a:t>      "summary": "전국 비교 기준 기간: 2025-07 ~ 2026-06",</a:t>
            </a:r>
          </a:p>
          <a:p>
            <a:r>
              <a:t>      "source_id": "datalab:a050e5a84ef4:3906c6ac70a7",</a:t>
            </a:r>
          </a:p>
          <a:p>
            <a:r>
              <a:t>      "source_url": "https://datalab.visitkorea.or.kr/",</a:t>
            </a:r>
          </a:p>
          <a:p>
            <a:r>
              <a:t>      "source_type": "nationwide_dataset",</a:t>
            </a:r>
          </a:p>
          <a:p>
            <a:r>
              <a:t>      "observation_period": "2025-07 ~ 2026-06",</a:t>
            </a:r>
          </a:p>
          <a:p>
            <a:r>
              <a:t>      "published_or_updated_at": "2024-07 ~ 2025-06"</a:t>
            </a:r>
          </a:p>
          <a:p>
            <a:r>
              <a:t>    },</a:t>
            </a:r>
          </a:p>
          <a:p>
            <a:r>
              <a:t>    {</a:t>
            </a:r>
          </a:p>
          <a:p>
            <a:r>
              <a:t>      "title": "한국관광 데이터랩 공식 다운로드 · 강원특별자치도_원주시/방문자/2026_01_06.zip",</a:t>
            </a:r>
          </a:p>
          <a:p>
            <a:r>
              <a:t>      "summary": "전국 비교 기준 기간: 2025-07 ~ 2026-06",</a:t>
            </a:r>
          </a:p>
          <a:p>
            <a:r>
              <a:t>      "source_id": "datalab:bd9d3d26da19:991f2264ad4a",</a:t>
            </a:r>
          </a:p>
          <a:p>
            <a:r>
              <a:t>      "source_url": "https://datalab.visitkorea.or.kr/",</a:t>
            </a:r>
          </a:p>
          <a:p>
            <a:r>
              <a:t>      "source_type": "nationwide_dataset",</a:t>
            </a:r>
          </a:p>
          <a:p>
            <a:r>
              <a:t>      "observation_period": "2025-07 ~ 2026-06",</a:t>
            </a:r>
          </a:p>
          <a:p>
            <a:r>
              <a:t>      "published_or_updated_at": "2024-07 ~ 2025-06"</a:t>
            </a:r>
          </a:p>
          <a:p>
            <a:r>
              <a:t>    },</a:t>
            </a:r>
          </a:p>
          <a:p>
            <a:r>
              <a:t>    {</a:t>
            </a:r>
          </a:p>
          <a:p>
            <a:r>
              <a:t>      "title": "한국관광 데이터랩 공식 다운로드 · 강원특별자치도_원주시/관광소비/2026_01_06.zip",</a:t>
            </a:r>
          </a:p>
          <a:p>
            <a:r>
              <a:t>      "summary": "전국 비교 기준 기간: 2025-07 ~ 2026-06",</a:t>
            </a:r>
          </a:p>
          <a:p>
            <a:r>
              <a:t>      "source_id": "datalab:d54a3fb44037:ee4640b6178b",</a:t>
            </a:r>
          </a:p>
          <a:p>
            <a:r>
              <a:t>      "source_url": "https://datalab.visitkorea.or.kr/",</a:t>
            </a:r>
          </a:p>
          <a:p>
            <a:r>
              <a:t>      "source_type": "nationwide_dataset",</a:t>
            </a:r>
          </a:p>
          <a:p>
            <a:r>
              <a:t>      "observation_period": "2025-07 ~ 2026-06",</a:t>
            </a:r>
          </a:p>
          <a:p>
            <a:r>
              <a:t>      "published_or_updated_at": "2024-07 ~ 2025-06"</a:t>
            </a:r>
          </a:p>
          <a:p>
            <a:r>
              <a:t>    },</a:t>
            </a:r>
          </a:p>
          <a:p>
            <a:r>
              <a:t>    {</a:t>
            </a:r>
          </a:p>
          <a:p>
            <a:r>
              <a:t>      "title": "한국관광 데이터랩 공식 다운로드 · 강원특별자치도_원주시/관광소비/2025_01_12.zip",</a:t>
            </a:r>
          </a:p>
          <a:p>
            <a:r>
              <a:t>      "summary": "전국 비교 기준 기간: 2025-07 ~ 2026-06",</a:t>
            </a:r>
          </a:p>
          <a:p>
            <a:r>
              <a:t>      "source_id": "datalab:ebce91b8bf02:1770c2d94cc6",</a:t>
            </a:r>
          </a:p>
          <a:p>
            <a:r>
              <a:t>      "source_url": "https://datalab.visitkorea.or.kr/",</a:t>
            </a:r>
          </a:p>
          <a:p>
            <a:r>
              <a:t>      "source_type": "nationwide_dataset",</a:t>
            </a:r>
          </a:p>
          <a:p>
            <a:r>
              <a:t>      "observation_period": "2025-07 ~ 2026-06",</a:t>
            </a:r>
          </a:p>
          <a:p>
            <a:r>
              <a:t>      "published_or_updated_at": "2024-07 ~ 2025-06"</a:t>
            </a:r>
          </a:p>
          <a:p>
            <a:r>
              <a:t>    },</a:t>
            </a:r>
          </a:p>
          <a:p>
            <a:r>
              <a:t>    {</a:t>
            </a:r>
          </a:p>
          <a:p>
            <a:r>
              <a:t>      "title": "한국관광 데이터랩 전국 빅데이터 다운로드 · 이동통신/내국인/지역별 방문자수/20260820140607__202601-202606_데이터랩_다운로드.zip",</a:t>
            </a:r>
          </a:p>
          <a:p>
            <a:r>
              <a:t>      "summary": "시군구 기간합계·비중 또는 전국 월별 추이. 지역 월별 ML·정책 효과가 아닌 보조 근거.",</a:t>
            </a:r>
          </a:p>
          <a:p>
            <a:r>
              <a:t>      "source_id": "team-bigdata:23ea68053684:6bfbcf8aabf6",</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이동통신/외국인/20260820141710_전국_202601-202606_데이터랩_다운로드.zip",</a:t>
            </a:r>
          </a:p>
          <a:p>
            <a:r>
              <a:t>      "summary": "시군구 기간합계·비중 또는 전국 월별 추이. 지역 월별 ML·정책 효과가 아닌 보조 근거.",</a:t>
            </a:r>
          </a:p>
          <a:p>
            <a:r>
              <a:t>      "source_id": "team-bigdata:98d4ae590d9a:3be52dd54323",</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신용카드/내국인/지역별 관광지출액/20260820140046__202601-202606_데이터랩_다운로드.zip",</a:t>
            </a:r>
          </a:p>
          <a:p>
            <a:r>
              <a:t>      "summary": "시군구 기간합계·비중 또는 전국 월별 추이. 지역 월별 ML·정책 효과가 아닌 보조 근거.",</a:t>
            </a:r>
          </a:p>
          <a:p>
            <a:r>
              <a:t>      "source_id": "team-bigdata:367cd0294ec4:873930d645e5",</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신용카드/외국인/지역별 관광지출액/20260820140355__202601-202606_데이터랩_다운로드.zip",</a:t>
            </a:r>
          </a:p>
          <a:p>
            <a:r>
              <a:t>      "summary": "시군구 기간합계·비중 또는 전국 월별 추이. 지역 월별 ML·정책 효과가 아닌 보조 근거.",</a:t>
            </a:r>
          </a:p>
          <a:p>
            <a:r>
              <a:t>      "source_id": "team-bigdata:553a0dad4bb4:5a31355dffe8",</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네비게이션/지역별 검색건수/20260820195507__202601-202606_데이터랩_다운로드.zip",</a:t>
            </a:r>
          </a:p>
          <a:p>
            <a:r>
              <a:t>      "summary": "시군구 기간합계·비중 또는 전국 월별 추이. 지역 월별 ML·정책 효과가 아닌 보조 근거.",</a:t>
            </a:r>
          </a:p>
          <a:p>
            <a:r>
              <a:t>      "source_id": "team-bigdata:a53dbe1c21df:77a052de41d5",</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이동통신/내국인/지역별 방문자수/20260820140614__202501-202512_데이터랩_다운로드.zip",</a:t>
            </a:r>
          </a:p>
          <a:p>
            <a:r>
              <a:t>      "summary": "시군구 기간합계·비중 또는 전국 월별 추이. 지역 월별 ML·정책 효과가 아닌 보조 근거.",</a:t>
            </a:r>
          </a:p>
          <a:p>
            <a:r>
              <a:t>      "source_id": "team-bigdata:823a38d1d61c:5385261d02e5",</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이동통신/외국인/20260820141649_전국_202501-202512_데이터랩_다운로드.zip",</a:t>
            </a:r>
          </a:p>
          <a:p>
            <a:r>
              <a:t>      "summary": "시군구 기간합계·비중 또는 전국 월별 추이. 지역 월별 ML·정책 효과가 아닌 보조 근거.",</a:t>
            </a:r>
          </a:p>
          <a:p>
            <a:r>
              <a:t>      "source_id": "team-bigdata:2723bdb0d589:1666a34058ed",</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신용카드/내국인/지역별 관광지출액/20260820135957__202501-202512_데이터랩_다운로드.zip",</a:t>
            </a:r>
          </a:p>
          <a:p>
            <a:r>
              <a:t>      "summary": "시군구 기간합계·비중 또는 전국 월별 추이. 지역 월별 ML·정책 효과가 아닌 보조 근거.",</a:t>
            </a:r>
          </a:p>
          <a:p>
            <a:r>
              <a:t>      "source_id": "team-bigdata:83177a234971:c02cb7972e0f",</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신용카드/외국인/지역별 관광지출액/20260820140409__202501-202512_데이터랩_다운로드.zip",</a:t>
            </a:r>
          </a:p>
          <a:p>
            <a:r>
              <a:t>      "summary": "시군구 기간합계·비중 또는 전국 월별 추이. 지역 월별 ML·정책 효과가 아닌 보조 근거.",</a:t>
            </a:r>
          </a:p>
          <a:p>
            <a:r>
              <a:t>      "source_id": "team-bigdata:58ded7732251:589c76395cbc",</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네비게이션/지역별 검색건수/20260820132007__202501-202512_데이터랩_다운로드.zip",</a:t>
            </a:r>
          </a:p>
          <a:p>
            <a:r>
              <a:t>      "summary": "시군구 기간합계·비중 또는 전국 월별 추이. 지역 월별 ML·정책 효과가 아닌 보조 근거.",</a:t>
            </a:r>
          </a:p>
          <a:p>
            <a:r>
              <a:t>      "source_id": "team-bigdata:e28c947cb52f:bb4cb344a6ba",</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이동통신/내국인/지역별 방문자수/20260820140624__202401-202412_데이터랩_다운로드.zip",</a:t>
            </a:r>
          </a:p>
          <a:p>
            <a:r>
              <a:t>      "summary": "시군구 기간합계·비중 또는 전국 월별 추이. 지역 월별 ML·정책 효과가 아닌 보조 근거.",</a:t>
            </a:r>
          </a:p>
          <a:p>
            <a:r>
              <a:t>      "source_id": "team-bigdata:8815bbb11a39:1a5988f5f8ec",</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이동통신/외국인/20260820141639_전국_202401-202412_데이터랩_다운로드.zip",</a:t>
            </a:r>
          </a:p>
          <a:p>
            <a:r>
              <a:t>      "summary": "시군구 기간합계·비중 또는 전국 월별 추이. 지역 월별 ML·정책 효과가 아닌 보조 근거.",</a:t>
            </a:r>
          </a:p>
          <a:p>
            <a:r>
              <a:t>      "source_id": "team-bigdata:19fd67fbb73d:afa4f0f54a2f",</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지역별 관광 현황 · 강원특별자치도 원주시 · 유입유출",</a:t>
            </a:r>
          </a:p>
          <a:p>
            <a:r>
              <a:t>      "summary": "관측 기간: 2025-07 ~ 2026-06. 유입·유출·인기장소 또는 30일 집중 운영 신호.",</a:t>
            </a:r>
          </a:p>
          <a:p>
            <a:r>
              <a:t>      "source_id": "regional-status:90f2be7a0f7d:b989a6c2e7bf",</a:t>
            </a:r>
          </a:p>
          <a:p>
            <a:r>
              <a:t>      "source_url": "https://datalab.visitkorea.or.kr/",</a:t>
            </a:r>
          </a:p>
          <a:p>
            <a:r>
              <a:t>      "source_type": "regional_tourism_status",</a:t>
            </a:r>
          </a:p>
          <a:p>
            <a:r>
              <a:t>      "observation_period": "2025-07 ~ 2026-06",</a:t>
            </a:r>
          </a:p>
          <a:p>
            <a:r>
              <a:t>      "published_or_updated_at": ""</a:t>
            </a:r>
          </a:p>
          <a:p>
            <a:r>
              <a:t>    },</a:t>
            </a:r>
          </a:p>
          <a:p>
            <a:r>
              <a:t>    {</a:t>
            </a:r>
          </a:p>
          <a:p>
            <a:r>
              <a:t>      "title": "한국관광 데이터랩 지역별 관광 현황 · 강원특별자치도 원주시 · 지역집중률",</a:t>
            </a:r>
          </a:p>
          <a:p>
            <a:r>
              <a:t>      "summary": "관측 기간: 2025-07 ~ 2026-06. 유입·유출·인기장소 또는 30일 집중 운영 신호.",</a:t>
            </a:r>
          </a:p>
          <a:p>
            <a:r>
              <a:t>      "source_id": "regional-status:c39767bd23e8:e3b081f6e6aa",</a:t>
            </a:r>
          </a:p>
          <a:p>
            <a:r>
              <a:t>      "source_url": "https://datalab.visitkorea.or.kr/",</a:t>
            </a:r>
          </a:p>
          <a:p>
            <a:r>
              <a:t>      "source_type": "regional_tourism_status",</a:t>
            </a:r>
          </a:p>
          <a:p>
            <a:r>
              <a:t>      "observation_period": "2025-07 ~ 2026-06",</a:t>
            </a:r>
          </a:p>
          <a:p>
            <a:r>
              <a:t>      "published_or_updated_at": ""</a:t>
            </a:r>
          </a:p>
          <a:p>
            <a:r>
              <a:t>    },</a:t>
            </a:r>
          </a:p>
          <a:p>
            <a:r>
              <a:t>    {</a:t>
            </a:r>
          </a:p>
          <a:p>
            <a:r>
              <a:t>      "title": "한국관광 데이터랩 지역별 관광 현황 · 강원특별자치도 원주시 · 인기관광지",</a:t>
            </a:r>
          </a:p>
          <a:p>
            <a:r>
              <a:t>      "summary": "관측 기간: 2025-07 ~ 2026-06. 유입·유출·인기장소 또는 30일 집중 운영 신호.",</a:t>
            </a:r>
          </a:p>
          <a:p>
            <a:r>
              <a:t>      "source_id": "regional-status:edaf76986d99:c00fa7ffc0a7",</a:t>
            </a:r>
          </a:p>
          <a:p>
            <a:r>
              <a:t>      "source_url": "https://datalab.visitkorea.or.kr/",</a:t>
            </a:r>
          </a:p>
          <a:p>
            <a:r>
              <a:t>      "source_type": "regional_tourism_status",</a:t>
            </a:r>
          </a:p>
          <a:p>
            <a:r>
              <a:t>      "observation_period": "2025-07 ~ 2026-06",</a:t>
            </a:r>
          </a:p>
          <a:p>
            <a:r>
              <a:t>      "published_or_updated_at": ""</a:t>
            </a:r>
          </a:p>
          <a:p>
            <a:r>
              <a:t>    },</a:t>
            </a:r>
          </a:p>
          <a:p>
            <a:r>
              <a:t>    {</a:t>
            </a:r>
          </a:p>
          <a:p>
            <a:r>
              <a:t>      "title": "지역 관광수요 ML 전망 · 공식 관측값 아님",</a:t>
            </a:r>
          </a:p>
          <a:p>
            <a:r>
              <a:t>      "summary": "학습 202401~202606 · 모델 regional-demand-v3.1 · 자연 추세 예측",</a:t>
            </a:r>
          </a:p>
          <a:p>
            <a:r>
              <a:t>      "source_id": "ml:51130:regional-demand-v3.1:202606",</a:t>
            </a:r>
          </a:p>
          <a:p>
            <a:r>
              <a:t>      "source_url": "",</a:t>
            </a:r>
          </a:p>
          <a:p>
            <a:r>
              <a:t>      "source_type": "model_forecast",</a:t>
            </a:r>
          </a:p>
          <a:p>
            <a:r>
              <a:t>      "model_version": "regional-demand-v3.1",</a:t>
            </a:r>
          </a:p>
          <a:p>
            <a:r>
              <a:t>      "data_fingerprint": "1f7caf31818b53f22347c7318503ea14cbef8a3765f5b75b8191fe8ca2193349"</a:t>
            </a:r>
          </a:p>
          <a:p>
            <a:r>
              <a:t>    },</a:t>
            </a:r>
          </a:p>
          <a:p>
            <a:r>
              <a:t>    {</a:t>
            </a:r>
          </a:p>
          <a:p>
            <a:r>
              <a:t>      "title": "감악산캠핑숲",</a:t>
            </a:r>
          </a:p>
          <a:p>
            <a:r>
              <a:t>      "address": "강원특별자치도 원주시 신림면 신림황둔로 714",</a:t>
            </a:r>
          </a:p>
          <a:p>
            <a:r>
              <a:t>      "summary": "한국관광공사 국문관광정보 API가 반환한 선택 지역 관광자원",</a:t>
            </a:r>
          </a:p>
          <a:p>
            <a:r>
              <a:t>      "image_url": "http://tong.visitkorea.or.kr/cms/resource/64/2732964_image2_1.JPG",</a:t>
            </a:r>
          </a:p>
          <a:p>
            <a:r>
              <a:t>      "source_id": "tour-api:2732999",</a:t>
            </a:r>
          </a:p>
          <a:p>
            <a:r>
              <a:t>      "content_id": "2732999",</a:t>
            </a:r>
          </a:p>
          <a:p>
            <a:r>
              <a:t>      "source_url": "https://apis.data.go.kr/B551011/KorService2",</a:t>
            </a:r>
          </a:p>
          <a:p>
            <a:r>
              <a:t>      "source_type": "open_api",</a:t>
            </a:r>
          </a:p>
          <a:p>
            <a:r>
              <a:t>      "content_type_id": "28"</a:t>
            </a:r>
          </a:p>
          <a:p>
            <a:r>
              <a:t>    },</a:t>
            </a:r>
          </a:p>
          <a:p>
            <a:r>
              <a:t>    {</a:t>
            </a:r>
          </a:p>
          <a:p>
            <a:r>
              <a:t>      "title": "강원감영관찰사·무릉고서화미술박물관",</a:t>
            </a:r>
          </a:p>
          <a:p>
            <a:r>
              <a:t>      "address": "강원특별자치도 원주시 흥업면 사제로 399-10",</a:t>
            </a:r>
          </a:p>
          <a:p>
            <a:r>
              <a:t>      "summary": "한국관광공사 국문관광정보 API가 반환한 선택 지역 관광자원",</a:t>
            </a:r>
          </a:p>
          <a:p>
            <a:r>
              <a:t>      "image_url": "http://tong.visitkorea.or.kr/cms/resource/64/3437164_image2_1.jpg",</a:t>
            </a:r>
          </a:p>
          <a:p>
            <a:r>
              <a:t>      "source_id": "tour-api:2555010",</a:t>
            </a:r>
          </a:p>
          <a:p>
            <a:r>
              <a:t>      "content_id": "2555010",</a:t>
            </a:r>
          </a:p>
          <a:p>
            <a:r>
              <a:t>      "source_url": "https://apis.data.go.kr/B551011/KorService2",</a:t>
            </a:r>
          </a:p>
          <a:p>
            <a:r>
              <a:t>      "source_type": "open_api",</a:t>
            </a:r>
          </a:p>
          <a:p>
            <a:r>
              <a:t>      "content_type_id": "14"</a:t>
            </a:r>
          </a:p>
          <a:p>
            <a:r>
              <a:t>    },</a:t>
            </a:r>
          </a:p>
          <a:p>
            <a:r>
              <a:t>    {</a:t>
            </a:r>
          </a:p>
          <a:p>
            <a:r>
              <a:t>      "title": "강원도힐링캠핑장",</a:t>
            </a:r>
          </a:p>
          <a:p>
            <a:r>
              <a:t>      "address": "강원특별자치도 원주시 신림면 재사동길 10-38",</a:t>
            </a:r>
          </a:p>
          <a:p>
            <a:r>
              <a:t>      "summary": "한국관광공사 국문관광정보 API가 반환한 선택 지역 관광자원",</a:t>
            </a:r>
          </a:p>
          <a:p>
            <a:r>
              <a:t>      "image_url": "http://tong.visitkorea.or.kr/cms/resource/98/2733998_image2_1.JPG",</a:t>
            </a:r>
          </a:p>
          <a:p>
            <a:r>
              <a:t>      "source_id": "tour-api:2734136",</a:t>
            </a:r>
          </a:p>
          <a:p>
            <a:r>
              <a:t>      "content_id": "2734136",</a:t>
            </a:r>
          </a:p>
          <a:p>
            <a:r>
              <a:t>      "source_url": "https://apis.data.go.kr/B551011/KorService2",</a:t>
            </a:r>
          </a:p>
          <a:p>
            <a:r>
              <a:t>      "source_type": "open_api",</a:t>
            </a:r>
          </a:p>
          <a:p>
            <a:r>
              <a:t>      "content_type_id": "28"</a:t>
            </a:r>
          </a:p>
          <a:p>
            <a:r>
              <a:t>    },</a:t>
            </a:r>
          </a:p>
          <a:p>
            <a:r>
              <a:t>    {</a:t>
            </a:r>
          </a:p>
          <a:p>
            <a:r>
              <a:t>      "title": "경천묘",</a:t>
            </a:r>
          </a:p>
          <a:p>
            <a:r>
              <a:t>      "address": "강원특별자치도 원주시 귀래면 미륵산길 200",</a:t>
            </a:r>
          </a:p>
          <a:p>
            <a:r>
              <a:t>      "summary": "한국관광공사 국문관광정보 API가 반환한 선택 지역 관광자원",</a:t>
            </a:r>
          </a:p>
          <a:p>
            <a:r>
              <a:t>      "image_url": "http://tong.visitkorea.or.kr/cms/resource/56/3379256_image2_1.JPG",</a:t>
            </a:r>
          </a:p>
          <a:p>
            <a:r>
              <a:t>      "source_id": "tour-api:2702477",</a:t>
            </a:r>
          </a:p>
          <a:p>
            <a:r>
              <a:t>      "content_id": "2702477",</a:t>
            </a:r>
          </a:p>
          <a:p>
            <a:r>
              <a:t>      "source_url": "https://apis.data.go.kr/B551011/KorService2",</a:t>
            </a:r>
          </a:p>
          <a:p>
            <a:r>
              <a:t>      "source_type": "open_api",</a:t>
            </a:r>
          </a:p>
          <a:p>
            <a:r>
              <a:t>      "content_type_id": "12"</a:t>
            </a:r>
          </a:p>
          <a:p>
            <a:r>
              <a:t>    },</a:t>
            </a:r>
          </a:p>
          <a:p>
            <a:r>
              <a:t>    {</a:t>
            </a:r>
          </a:p>
          <a:p>
            <a:r>
              <a:t>      "title": "고판화박물관",</a:t>
            </a:r>
          </a:p>
          <a:p>
            <a:r>
              <a:t>      "address": "강원특별자치도 원주시 신림면 물안길 62",</a:t>
            </a:r>
          </a:p>
          <a:p>
            <a:r>
              <a:t>      "summary": "한국관광공사 국문관광정보 API가 반환한 선택 지역 관광자원",</a:t>
            </a:r>
          </a:p>
          <a:p>
            <a:r>
              <a:t>      "image_url": "http://tong.visitkorea.or.kr/cms/resource/36/3375236_image2_1.JPG",</a:t>
            </a:r>
          </a:p>
          <a:p>
            <a:r>
              <a:t>      "source_id": "tour-api:130539",</a:t>
            </a:r>
          </a:p>
          <a:p>
            <a:r>
              <a:t>      "content_id": "130539",</a:t>
            </a:r>
          </a:p>
          <a:p>
            <a:r>
              <a:t>      "source_url": "https://apis.data.go.kr/B551011/KorService2",</a:t>
            </a:r>
          </a:p>
          <a:p>
            <a:r>
              <a:t>      "source_type": "open_api",</a:t>
            </a:r>
          </a:p>
          <a:p>
            <a:r>
              <a:t>      "content_type_id": "14"</a:t>
            </a:r>
          </a:p>
          <a:p>
            <a:r>
              <a:t>    },</a:t>
            </a:r>
          </a:p>
          <a:p>
            <a:r>
              <a:t>    {</a:t>
            </a:r>
          </a:p>
          <a:p>
            <a:r>
              <a:t>      "title": "관음사·국형사계곡",</a:t>
            </a:r>
          </a:p>
          <a:p>
            <a:r>
              <a:t>      "address": "강원특별자치도 원주시 고문골길 169 (행구동)",</a:t>
            </a:r>
          </a:p>
          <a:p>
            <a:r>
              <a:t>      "summary": "한국관광공사 국문관광정보 API가 반환한 선택 지역 관광자원",</a:t>
            </a:r>
          </a:p>
          <a:p>
            <a:r>
              <a:t>      "image_url": "http://tong.visitkorea.or.kr/cms/resource/29/3045629_image2_1.jpg",</a:t>
            </a:r>
          </a:p>
          <a:p>
            <a:r>
              <a:t>      "source_id": "tour-api:125645",</a:t>
            </a:r>
          </a:p>
          <a:p>
            <a:r>
              <a:t>      "content_id": "125645",</a:t>
            </a:r>
          </a:p>
          <a:p>
            <a:r>
              <a:t>      "source_url": "https://apis.data.go.kr/B551011/KorService2",</a:t>
            </a:r>
          </a:p>
          <a:p>
            <a:r>
              <a:t>      "source_type": "open_api",</a:t>
            </a:r>
          </a:p>
          <a:p>
            <a:r>
              <a:t>      "content_type_id": "12"</a:t>
            </a:r>
          </a:p>
          <a:p>
            <a:r>
              <a:t>    },</a:t>
            </a:r>
          </a:p>
          <a:p>
            <a:r>
              <a:t>    {</a:t>
            </a:r>
          </a:p>
          <a:p>
            <a:r>
              <a:t>      "title": "광화문갈비 원주점",</a:t>
            </a:r>
          </a:p>
          <a:p>
            <a:r>
              <a:t>      "address": "강원특별자치도 원주시 능라동길 48 (무실동)",</a:t>
            </a:r>
          </a:p>
          <a:p>
            <a:r>
              <a:t>      "summary": "한국관광공사 국문관광정보 API가 반환한 선택 지역 관광자원",</a:t>
            </a:r>
          </a:p>
          <a:p>
            <a:r>
              <a:t>      "image_url": "http://tong.visitkorea.or.kr/cms/resource/86/3421686_image2_1.jpg",</a:t>
            </a:r>
          </a:p>
          <a:p>
            <a:r>
              <a:t>      "source_id": "tour-api:3356037",</a:t>
            </a:r>
          </a:p>
          <a:p>
            <a:r>
              <a:t>      "content_id": "3356037",</a:t>
            </a:r>
          </a:p>
          <a:p>
            <a:r>
              <a:t>      "source_url": "https://apis.data.go.kr/B551011/KorService2",</a:t>
            </a:r>
          </a:p>
          <a:p>
            <a:r>
              <a:t>      "source_type": "open_api",</a:t>
            </a:r>
          </a:p>
          <a:p>
            <a:r>
              <a:t>      "content_type_id": "39"</a:t>
            </a:r>
          </a:p>
          <a:p>
            <a:r>
              <a:t>    },</a:t>
            </a:r>
          </a:p>
          <a:p>
            <a:r>
              <a:t>    {</a:t>
            </a:r>
          </a:p>
          <a:p>
            <a:r>
              <a:t>      "title": "구 조선식산은행 원주지점",</a:t>
            </a:r>
          </a:p>
          <a:p>
            <a:r>
              <a:t>      "address": "강원특별자치도 원주시 중앙로 88 (중앙동)",</a:t>
            </a:r>
          </a:p>
          <a:p>
            <a:r>
              <a:t>      "summary": "한국관광공사 국문관광정보 API가 반환한 선택 지역 관광자원",</a:t>
            </a:r>
          </a:p>
          <a:p>
            <a:r>
              <a:t>      "image_url": "http://tong.visitkorea.or.kr/cms/resource/78/3379278_image2_1.JPG",</a:t>
            </a:r>
          </a:p>
          <a:p>
            <a:r>
              <a:t>      "source_id": "tour-api:2762710",</a:t>
            </a:r>
          </a:p>
          <a:p>
            <a:r>
              <a:t>      "content_id": "2762710",</a:t>
            </a:r>
          </a:p>
          <a:p>
            <a:r>
              <a:t>      "source_url": "https://apis.data.go.kr/B551011/KorService2",</a:t>
            </a:r>
          </a:p>
          <a:p>
            <a:r>
              <a:t>      "source_type": "open_api",</a:t>
            </a:r>
          </a:p>
          <a:p>
            <a:r>
              <a:t>      "content_type_id": "12"</a:t>
            </a:r>
          </a:p>
          <a:p>
            <a:r>
              <a:t>    },</a:t>
            </a:r>
          </a:p>
          <a:p>
            <a:r>
              <a:t>    {</a:t>
            </a:r>
          </a:p>
          <a:p>
            <a:r>
              <a:t>      "title": "국형사",</a:t>
            </a:r>
          </a:p>
          <a:p>
            <a:r>
              <a:t>      "address": "강원특별자치도 원주시 고문골길 155 (행구동)",</a:t>
            </a:r>
          </a:p>
          <a:p>
            <a:r>
              <a:t>      "summary": "한국관광공사 국문관광정보 API가 반환한 선택 지역 관광자원",</a:t>
            </a:r>
          </a:p>
          <a:p>
            <a:r>
              <a:t>      "image_url": "http://tong.visitkorea.or.kr/cms/resource/87/3559187_image2_1.jpeg",</a:t>
            </a:r>
          </a:p>
          <a:p>
            <a:r>
              <a:t>      "source_id": "tour-api:125757",</a:t>
            </a:r>
          </a:p>
          <a:p>
            <a:r>
              <a:t>      "content_id": "125757",</a:t>
            </a:r>
          </a:p>
          <a:p>
            <a:r>
              <a:t>      "source_url": "https://apis.data.go.kr/B551011/KorService2",</a:t>
            </a:r>
          </a:p>
          <a:p>
            <a:r>
              <a:t>      "source_type": "open_api",</a:t>
            </a:r>
          </a:p>
          <a:p>
            <a:r>
              <a:t>      "content_type_id": "12"</a:t>
            </a:r>
          </a:p>
          <a:p>
            <a:r>
              <a:t>    },</a:t>
            </a:r>
          </a:p>
          <a:p>
            <a:r>
              <a:t>    {</a:t>
            </a:r>
          </a:p>
          <a:p>
            <a:r>
              <a:t>      "title": "금대 에코힐링 캠핑장",</a:t>
            </a:r>
          </a:p>
          <a:p>
            <a:r>
              <a:t>      "address": "강원특별자치도 원주시 판부면 영원산성길 372",</a:t>
            </a:r>
          </a:p>
          <a:p>
            <a:r>
              <a:t>      "summary": "한국관광공사 국문관광정보 API가 반환한 선택 지역 관광자원",</a:t>
            </a:r>
          </a:p>
          <a:p>
            <a:r>
              <a:t>      "image_url": "http://tong.visitkorea.or.kr/cms/resource/95/2011295_image2_1.jpg",</a:t>
            </a:r>
          </a:p>
          <a:p>
            <a:r>
              <a:t>      "source_id": "tour-api:2033279",</a:t>
            </a:r>
          </a:p>
          <a:p>
            <a:r>
              <a:t>      "content_id": "2033279",</a:t>
            </a:r>
          </a:p>
          <a:p>
            <a:r>
              <a:t>      "source_url": "https://apis.data.go.kr/B551011/KorService2",</a:t>
            </a:r>
          </a:p>
          <a:p>
            <a:r>
              <a:t>      "source_type": "open_api",</a:t>
            </a:r>
          </a:p>
          <a:p>
            <a:r>
              <a:t>      "content_type_id": "28"</a:t>
            </a:r>
          </a:p>
          <a:p>
            <a:r>
              <a:t>    },</a:t>
            </a:r>
          </a:p>
          <a:p>
            <a:r>
              <a:t>    {</a:t>
            </a:r>
          </a:p>
          <a:p>
            <a:r>
              <a:t>      "title": "금대계곡",</a:t>
            </a:r>
          </a:p>
          <a:p>
            <a:r>
              <a:t>      "address": "강원특별자치도 원주시 판부면 치악로 546-22",</a:t>
            </a:r>
          </a:p>
          <a:p>
            <a:r>
              <a:t>      "summary": "한국관광공사 국문관광정보 API가 반환한 선택 지역 관광자원",</a:t>
            </a:r>
          </a:p>
          <a:p>
            <a:r>
              <a:t>      "image_url": "http://tong.visitkorea.or.kr/cms/resource/85/3045285_image2_1.jpg",</a:t>
            </a:r>
          </a:p>
          <a:p>
            <a:r>
              <a:t>      "source_id": "tour-api:129676",</a:t>
            </a:r>
          </a:p>
          <a:p>
            <a:r>
              <a:t>      "content_id": "129676",</a:t>
            </a:r>
          </a:p>
          <a:p>
            <a:r>
              <a:t>      "source_url": "https://apis.data.go.kr/B551011/KorService2",</a:t>
            </a:r>
          </a:p>
          <a:p>
            <a:r>
              <a:t>      "source_type": "open_api",</a:t>
            </a:r>
          </a:p>
          <a:p>
            <a:r>
              <a:t>      "content_type_id": "12"</a:t>
            </a:r>
          </a:p>
          <a:p>
            <a:r>
              <a:t>    },</a:t>
            </a:r>
          </a:p>
          <a:p>
            <a:r>
              <a:t>    {</a:t>
            </a:r>
          </a:p>
          <a:p>
            <a:r>
              <a:t>      "title": "금대자동차야영장",</a:t>
            </a:r>
          </a:p>
          <a:p>
            <a:r>
              <a:t>      "address": "강원특별자치도 원주시 판부면 영원산성길 372",</a:t>
            </a:r>
          </a:p>
          <a:p>
            <a:r>
              <a:t>      "summary": "한국관광공사 국문관광정보 API가 반환한 선택 지역 관광자원",</a:t>
            </a:r>
          </a:p>
          <a:p>
            <a:r>
              <a:t>      "image_url": "http://tong.visitkorea.or.kr/cms/resource/97/2734897_image2_1.JPG",</a:t>
            </a:r>
          </a:p>
          <a:p>
            <a:r>
              <a:t>      "source_id": "tour-api:2734906",</a:t>
            </a:r>
          </a:p>
          <a:p>
            <a:r>
              <a:t>      "content_id": "2734906",</a:t>
            </a:r>
          </a:p>
          <a:p>
            <a:r>
              <a:t>      "source_url": "https://apis.data.go.kr/B551011/KorService2",</a:t>
            </a:r>
          </a:p>
          <a:p>
            <a:r>
              <a:t>      "source_type": "open_api",</a:t>
            </a:r>
          </a:p>
          <a:p>
            <a:r>
              <a:t>      "content_type_id": "28"</a:t>
            </a:r>
          </a:p>
          <a:p>
            <a:r>
              <a:t>    },</a:t>
            </a:r>
          </a:p>
          <a:p>
            <a:r>
              <a:t>    {</a:t>
            </a:r>
          </a:p>
          <a:p>
            <a:r>
              <a:t>      "title": "기후변화홍보관",</a:t>
            </a:r>
          </a:p>
          <a:p>
            <a:r>
              <a:t>      "address": "강원특별자치도 원주시 행구로 362",</a:t>
            </a:r>
          </a:p>
          <a:p>
            <a:r>
              <a:t>      "summary": "한국관광공사 국문관광정보 API가 반환한 선택 지역 관광자원",</a:t>
            </a:r>
          </a:p>
          <a:p>
            <a:r>
              <a:t>      "image_url": "http://tong.visitkorea.or.kr/cms/resource/40/3533840_image2_1.JPG",</a:t>
            </a:r>
          </a:p>
          <a:p>
            <a:r>
              <a:t>      "source_id": "tour-api:2714800",</a:t>
            </a:r>
          </a:p>
          <a:p>
            <a:r>
              <a:t>      "content_id": "2714800",</a:t>
            </a:r>
          </a:p>
          <a:p>
            <a:r>
              <a:t>      "source_url": "https://apis.data.go.kr/B551011/KorService2",</a:t>
            </a:r>
          </a:p>
          <a:p>
            <a:r>
              <a:t>      "source_type": "open_api",</a:t>
            </a:r>
          </a:p>
          <a:p>
            <a:r>
              <a:t>      "content_type_id": "14"</a:t>
            </a:r>
          </a:p>
          <a:p>
            <a:r>
              <a:t>    },</a:t>
            </a:r>
          </a:p>
          <a:p>
            <a:r>
              <a:t>    {</a:t>
            </a:r>
          </a:p>
          <a:p>
            <a:r>
              <a:t>      "title": "김가네원주추어탕",</a:t>
            </a:r>
          </a:p>
          <a:p>
            <a:r>
              <a:t>      "address": "강원특별자치도 원주시 단관공원길 90-3",</a:t>
            </a:r>
          </a:p>
          <a:p>
            <a:r>
              <a:t>      "summary": "한국관광공사 국문관광정보 API가 반환한 선택 지역 관광자원",</a:t>
            </a:r>
          </a:p>
          <a:p>
            <a:r>
              <a:t>      "image_url": "http://tong.visitkorea.or.kr/cms/resource/25/2892325_image2_1.jpg",</a:t>
            </a:r>
          </a:p>
          <a:p>
            <a:r>
              <a:t>      "source_id": "tour-api:2892327",</a:t>
            </a:r>
          </a:p>
          <a:p>
            <a:r>
              <a:t>      "content_id": "2892327",</a:t>
            </a:r>
          </a:p>
          <a:p>
            <a:r>
              <a:t>      "source_url": "https://apis.data.go.kr/B551011/KorService2",</a:t>
            </a:r>
          </a:p>
          <a:p>
            <a:r>
              <a:t>      "source_type": "open_api",</a:t>
            </a:r>
          </a:p>
          <a:p>
            <a:r>
              <a:t>      "content_type_id": "39"</a:t>
            </a:r>
          </a:p>
          <a:p>
            <a:r>
              <a:t>    },</a:t>
            </a:r>
          </a:p>
          <a:p>
            <a:r>
              <a:t>    {</a:t>
            </a:r>
          </a:p>
          <a:p>
            <a:r>
              <a:t>      "title": "김제남 신도비",</a:t>
            </a:r>
          </a:p>
          <a:p>
            <a:r>
              <a:t>      "address": "강원특별자치도 원주시 지정면 흥법사지길 18",</a:t>
            </a:r>
          </a:p>
          <a:p>
            <a:r>
              <a:t>      "summary": "한국관광공사 국문관광정보 API가 반환한 선택 지역 관광자원",</a:t>
            </a:r>
          </a:p>
          <a:p>
            <a:r>
              <a:t>      "image_url": "http://tong.visitkorea.or.kr/cms/resource/28/3376528_image2_1.JPG",</a:t>
            </a:r>
          </a:p>
          <a:p>
            <a:r>
              <a:t>      "source_id": "tour-api:129284",</a:t>
            </a:r>
          </a:p>
          <a:p>
            <a:r>
              <a:t>      "content_id": "129284",</a:t>
            </a:r>
          </a:p>
          <a:p>
            <a:r>
              <a:t>      "source_url": "https://apis.data.go.kr/B551011/KorService2",</a:t>
            </a:r>
          </a:p>
          <a:p>
            <a:r>
              <a:t>      "source_type": "open_api",</a:t>
            </a:r>
          </a:p>
          <a:p>
            <a:r>
              <a:t>      "content_type_id": "12"</a:t>
            </a:r>
          </a:p>
          <a:p>
            <a:r>
              <a:t>    },</a:t>
            </a:r>
          </a:p>
          <a:p>
            <a:r>
              <a:t>    {</a:t>
            </a:r>
          </a:p>
          <a:p>
            <a:r>
              <a:t>      "title": "넌스키 난보드",</a:t>
            </a:r>
          </a:p>
          <a:p>
            <a:r>
              <a:t>      "address": "강원특별자치도 원주시 지정면 구재로 132",</a:t>
            </a:r>
          </a:p>
          <a:p>
            <a:r>
              <a:t>      "summary": "한국관광공사 국문관광정보 API가 반환한 선택 지역 관광자원",</a:t>
            </a:r>
          </a:p>
          <a:p>
            <a:r>
              <a:t>      "image_url": "http://tong.visitkorea.or.kr/cms/resource/73/3562173_image2_1.jpg",</a:t>
            </a:r>
          </a:p>
          <a:p>
            <a:r>
              <a:t>      "source_id": "tour-api:512084",</a:t>
            </a:r>
          </a:p>
          <a:p>
            <a:r>
              <a:t>      "content_id": "512084",</a:t>
            </a:r>
          </a:p>
          <a:p>
            <a:r>
              <a:t>      "source_url": "https://apis.data.go.kr/B551011/KorService2",</a:t>
            </a:r>
          </a:p>
          <a:p>
            <a:r>
              <a:t>      "source_type": "open_api",</a:t>
            </a:r>
          </a:p>
          <a:p>
            <a:r>
              <a:t>      "content_type_id": "28"</a:t>
            </a:r>
          </a:p>
          <a:p>
            <a:r>
              <a:t>    },</a:t>
            </a:r>
          </a:p>
          <a:p>
            <a:r>
              <a:t>    {</a:t>
            </a:r>
          </a:p>
          <a:p>
            <a:r>
              <a:t>      "title": "단관공원",</a:t>
            </a:r>
          </a:p>
          <a:p>
            <a:r>
              <a:t>      "address": "강원특별자치도 원주시 단관공원길 63",</a:t>
            </a:r>
          </a:p>
          <a:p>
            <a:r>
              <a:t>      "summary": "한국관광공사 국문관광정보 API가 반환한 선택 지역 관광자원",</a:t>
            </a:r>
          </a:p>
          <a:p>
            <a:r>
              <a:t>      "image_url": "http://tong.visitkorea.or.kr/cms/resource/43/3334543_image2_1.jpg",</a:t>
            </a:r>
          </a:p>
          <a:p>
            <a:r>
              <a:t>      "source_id": "tour-api:2778036",</a:t>
            </a:r>
          </a:p>
          <a:p>
            <a:r>
              <a:t>      "content_id": "2778036",</a:t>
            </a:r>
          </a:p>
          <a:p>
            <a:r>
              <a:t>      "source_url": "https://apis.data.go.kr/B551011/KorService2",</a:t>
            </a:r>
          </a:p>
          <a:p>
            <a:r>
              <a:t>      "source_type": "open_api",</a:t>
            </a:r>
          </a:p>
          <a:p>
            <a:r>
              <a:t>      "content_type_id": "12"</a:t>
            </a:r>
          </a:p>
          <a:p>
            <a:r>
              <a:t>    },</a:t>
            </a:r>
          </a:p>
          <a:p>
            <a:r>
              <a:t>    {</a:t>
            </a:r>
          </a:p>
          <a:p>
            <a:r>
              <a:t>      "title": "동승루",</a:t>
            </a:r>
          </a:p>
          <a:p>
            <a:r>
              <a:t>      "address": "강원특별자치도 원주시 이화4길 30",</a:t>
            </a:r>
          </a:p>
          <a:p>
            <a:r>
              <a:t>      "summary": "한국관광공사 국문관광정보 API가 반환한 선택 지역 관광자원",</a:t>
            </a:r>
          </a:p>
          <a:p>
            <a:r>
              <a:t>      "image_url": "http://tong.visitkorea.or.kr/cms/resource/15/2892315_image2_1.jpg",</a:t>
            </a:r>
          </a:p>
          <a:p>
            <a:r>
              <a:t>      "source_id": "tour-api:2892320",</a:t>
            </a:r>
          </a:p>
          <a:p>
            <a:r>
              <a:t>      "content_id": "2892320",</a:t>
            </a:r>
          </a:p>
          <a:p>
            <a:r>
              <a:t>      "source_url": "https://apis.data.go.kr/B551011/KorService2",</a:t>
            </a:r>
          </a:p>
          <a:p>
            <a:r>
              <a:t>      "source_type": "open_api",</a:t>
            </a:r>
          </a:p>
          <a:p>
            <a:r>
              <a:t>      "content_type_id": "39"</a:t>
            </a:r>
          </a:p>
          <a:p>
            <a:r>
              <a:t>    },</a:t>
            </a:r>
          </a:p>
          <a:p>
            <a:r>
              <a:t>    {</a:t>
            </a:r>
          </a:p>
          <a:p>
            <a:r>
              <a:t>      "title": "들꽃가든",</a:t>
            </a:r>
          </a:p>
          <a:p>
            <a:r>
              <a:t>      "address": "강원특별자치도 원주시 월송석화로 488",</a:t>
            </a:r>
          </a:p>
          <a:p>
            <a:r>
              <a:t>      "summary": "한국관광공사 국문관광정보 API가 반환한 선택 지역 관광자원",</a:t>
            </a:r>
          </a:p>
          <a:p>
            <a:r>
              <a:t>      "image_url": "http://tong.visitkorea.or.kr/cms/resource/04/2892304_image2_1.jpg",</a:t>
            </a:r>
          </a:p>
          <a:p>
            <a:r>
              <a:t>      "source_id": "tour-api:2892312",</a:t>
            </a:r>
          </a:p>
          <a:p>
            <a:r>
              <a:t>      "content_id": "2892312",</a:t>
            </a:r>
          </a:p>
          <a:p>
            <a:r>
              <a:t>      "source_url": "https://apis.data.go.kr/B551011/KorService2",</a:t>
            </a:r>
          </a:p>
          <a:p>
            <a:r>
              <a:t>      "source_type": "open_api",</a:t>
            </a:r>
          </a:p>
          <a:p>
            <a:r>
              <a:t>      "content_type_id": "39"</a:t>
            </a:r>
          </a:p>
          <a:p>
            <a:r>
              <a:t>    },</a:t>
            </a:r>
          </a:p>
          <a:p>
            <a:r>
              <a:t>    {</a:t>
            </a:r>
          </a:p>
          <a:p>
            <a:r>
              <a:t>      "title": "들꽃이야기",</a:t>
            </a:r>
          </a:p>
          <a:p>
            <a:r>
              <a:t>      "address": "강원특별자치도 원주시 신림면 성남로 323-12",</a:t>
            </a:r>
          </a:p>
          <a:p>
            <a:r>
              <a:t>      "summary": "한국관광공사 국문관광정보 API가 반환한 선택 지역 관광자원",</a:t>
            </a:r>
          </a:p>
          <a:p>
            <a:r>
              <a:t>      "image_url": "http://tong.visitkorea.or.kr/cms/resource/60/3557060_image2_1.jpg",</a:t>
            </a:r>
          </a:p>
          <a:p>
            <a:r>
              <a:t>      "source_id": "tour-api:2809292",</a:t>
            </a:r>
          </a:p>
          <a:p>
            <a:r>
              <a:t>      "content_id": "2809292",</a:t>
            </a:r>
          </a:p>
          <a:p>
            <a:r>
              <a:t>      "source_url": "https://apis.data.go.kr/B551011/KorService2",</a:t>
            </a:r>
          </a:p>
          <a:p>
            <a:r>
              <a:t>      "source_type": "open_api",</a:t>
            </a:r>
          </a:p>
          <a:p>
            <a:r>
              <a:t>      "content_type_id": "39"</a:t>
            </a:r>
          </a:p>
          <a:p>
            <a:r>
              <a:t>    },</a:t>
            </a:r>
          </a:p>
          <a:p>
            <a:r>
              <a:t>    {</a:t>
            </a:r>
          </a:p>
          <a:p>
            <a:r>
              <a:t>      "title": "요즘, 한국관광 2호 - 지방공항 연계 지역관광 활성화 방안",</a:t>
            </a:r>
          </a:p>
          <a:p>
            <a:r>
              <a:t>      "summary": "44제 2장 지방공항 연계 지역관광 활성화 방안 요즘, 한국관광 한국관광공사는 본래의 기능인 해외 홍보마케팅을 통한 인지 형성, 지역 관광생태계 육성, 관광사업 추진을 여정 단계에 맞춰 재배치해야 한다. 해외지사와 국내지사를 연결한 중점지사제를 '관문-연계도시' 단위로 운영하고, 글로벌 OTA 와 현지 여행사가 실제 상품을 만들 수 있도록 상품화 모듈과 전세·임시편 유치를 고도화하며, 선상 마케팅처럼 항공사 기내·LCC 채널을 활용한 권역 홍보를 확대할 수 있어야 할 것이다. 특히 성과지표를 입국자 수와 공급석 중심에서 '입국객의 권역 내 첫 숙박률이나, 1인당 권역 내 소비, 지방 이동 비중' 중심으로 전환하고, 통신·카드 데이터에 소셜 담론 데이터를 결합한 공항-권역 대시보드를 상시 운영해 데이터 기반 성과관리를 지속적으로 보여주는 데이터 기반의 지방공항 중심 관광권 상황실을 구축하여야 한다. 지방자치단체와 한국공항공사는 공항에서 지역 상권까지 이어지는 현장 수용태세를 보다 면밀히 고려하는 정책과 사업이 필요하다. 공항 접근 교통과 안내·결제, 다국어 환경, 터미널과 도심·거점 관광지를 잇는 셔틀, 권역 내 숙박과 야간 콘텐츠는 지자체의 실행력이 좌우하는 영역이다. 공항 소재 지자체 단위 협의를 넘어 청주는 대전·세종·충남, 대구는 경북과 함께 상품·교통·마케팅 예산을 묶는 관광권 협의체를 구성하고, 중장기적으로는 일본의 광역연계 DMO처럼 권역 단위의 상설 조직과 재원으로 발전시켜야 한다. 민관협력은 이 체계를 지속 가능하게 만드는 가장 중요한 동인이라 할 수 있다. 항공사·LCC에는 신규 노선의 초기 리스크를 지방정부·공사와 분담하는 노선 개발 협약과 기내 권역 홍보를, 글로벌 OTA·현지 여행사에는 권역 루트 상품의",</a:t>
            </a:r>
          </a:p>
          <a:p>
            <a:r>
              <a:t>      "chunk_id": "reference:kto:2026:local-airport:page:044:chunk:01",</a:t>
            </a:r>
          </a:p>
          <a:p>
            <a:r>
              <a:t>      "source_id": "reference:kto:2026:local-airport",</a:t>
            </a:r>
          </a:p>
          <a:p>
            <a:r>
              <a:t>      "source_url": "https://datalab.visitkorea.or.kr/site/portal/ex/bbs/View.do?bcIdx=311068&amp;cbIdx=1135&amp;pageIndex=1",</a:t>
            </a:r>
          </a:p>
          <a:p>
            <a:r>
              <a:t>      "case_region": "",</a:t>
            </a:r>
          </a:p>
          <a:p>
            <a:r>
              <a:t>      "region_code": "ALL",</a:t>
            </a:r>
          </a:p>
          <a:p>
            <a:r>
              <a:t>      "region_name": "전국 공통",</a:t>
            </a:r>
          </a:p>
          <a:p>
            <a:r>
              <a:t>      "source_note": "지방공항·연계 지역에 관한 자료입니다. 다른 시군구의 사업 효과·예산을 보장하는 근거로 사용하지 않습니다.",</a:t>
            </a:r>
          </a:p>
          <a:p>
            <a:r>
              <a:t>      "source_type": "rag",</a:t>
            </a:r>
          </a:p>
          <a:p>
            <a:r>
              <a:t>      "intervention": "",</a:t>
            </a:r>
          </a:p>
          <a:p>
            <a:r>
              <a:t>      "document_type": "policy",</a:t>
            </a:r>
          </a:p>
          <a:p>
            <a:r>
              <a:t>      "matched_terms": [</a:t>
            </a:r>
          </a:p>
          <a:p>
            <a:r>
              <a:t>        "결제",</a:t>
            </a:r>
          </a:p>
          <a:p>
            <a:r>
              <a:t>        "관광사업",</a:t>
            </a:r>
          </a:p>
          <a:p>
            <a:r>
              <a:t>        "상권",</a:t>
            </a:r>
          </a:p>
          <a:p>
            <a:r>
              <a:t>        "성과",</a:t>
            </a:r>
          </a:p>
          <a:p>
            <a:r>
              <a:t>        "소비",</a:t>
            </a:r>
          </a:p>
          <a:p>
            <a:r>
              <a:t>        "수와",</a:t>
            </a:r>
          </a:p>
          <a:p>
            <a:r>
              <a:t>        "숙박",</a:t>
            </a:r>
          </a:p>
          <a:p>
            <a:r>
              <a:t>        "실제",</a:t>
            </a:r>
          </a:p>
          <a:p>
            <a:r>
              <a:t>        "실행",</a:t>
            </a:r>
          </a:p>
          <a:p>
            <a:r>
              <a:t>        "연결한",</a:t>
            </a:r>
          </a:p>
          <a:p>
            <a:r>
              <a:t>        "연계",</a:t>
            </a:r>
          </a:p>
          <a:p>
            <a:r>
              <a:t>        "예산",</a:t>
            </a:r>
          </a:p>
          <a:p>
            <a:r>
              <a:t>        "운영",</a:t>
            </a:r>
          </a:p>
          <a:p>
            <a:r>
              <a:t>        "이어지는",</a:t>
            </a:r>
          </a:p>
          <a:p>
            <a:r>
              <a:t>        "전환",</a:t>
            </a:r>
          </a:p>
          <a:p>
            <a:r>
              <a:t>        "중심으로",</a:t>
            </a:r>
          </a:p>
          <a:p>
            <a:r>
              <a:t>        "지역",</a:t>
            </a:r>
          </a:p>
          <a:p>
            <a:r>
              <a:t>        "체류",</a:t>
            </a:r>
          </a:p>
          <a:p>
            <a:r>
              <a:t>        "함께",</a:t>
            </a:r>
          </a:p>
          <a:p>
            <a:r>
              <a:t>        "현장",</a:t>
            </a:r>
          </a:p>
          <a:p>
            <a:r>
              <a:t>        "협약"</a:t>
            </a:r>
          </a:p>
          <a:p>
            <a:r>
              <a:t>      ],</a:t>
            </a:r>
          </a:p>
          <a:p>
            <a:r>
              <a:t>      "page_references": "PDF 44쪽, PDF 43쪽, PDF 38쪽, PDF 40쪽, PDF 41쪽, PDF 36쪽, PDF 41쪽, PDF 44쪽, PDF 43쪽, PDF 43쪽",</a:t>
            </a:r>
          </a:p>
          <a:p>
            <a:r>
              <a:t>      "parent_source_id": "reference:kto:2026:local-airport",</a:t>
            </a:r>
          </a:p>
          <a:p>
            <a:r>
              <a:t>      "retrieval_method": "local_curated_chunk",</a:t>
            </a:r>
          </a:p>
          <a:p>
            <a:r>
              <a:t>      "evidence_strength": "medium",</a:t>
            </a:r>
          </a:p>
          <a:p>
            <a:r>
              <a:t>      "published_or_updated_at": "2026-08",</a:t>
            </a:r>
          </a:p>
          <a:p>
            <a:r>
              <a:t>      "chunk_ids": [</a:t>
            </a:r>
          </a:p>
          <a:p>
            <a:r>
              <a:t>        "reference:kto:2026:local-airport:page:036:chunk:01",</a:t>
            </a:r>
          </a:p>
          <a:p>
            <a:r>
              <a:t>        "reference:kto:2026:local-airport:page:038:chunk:01",</a:t>
            </a:r>
          </a:p>
          <a:p>
            <a:r>
              <a:t>        "reference:kto:2026:local-airport:page:040:chunk:02",</a:t>
            </a:r>
          </a:p>
          <a:p>
            <a:r>
              <a:t>        "reference:kto:2026:local-airport:page:041:chunk:01",</a:t>
            </a:r>
          </a:p>
          <a:p>
            <a:r>
              <a:t>        "reference:kto:2026:local-airport:page:041:chunk:02",</a:t>
            </a:r>
          </a:p>
          <a:p>
            <a:r>
              <a:t>        "reference:kto:2026:local-airport:page:043:chunk:01",</a:t>
            </a:r>
          </a:p>
          <a:p>
            <a:r>
              <a:t>        "reference:kto:2026:local-airport:page:043:chunk:02",</a:t>
            </a:r>
          </a:p>
          <a:p>
            <a:r>
              <a:t>        "reference:kto:2026:local-airport:page:043:chunk:03",</a:t>
            </a:r>
          </a:p>
          <a:p>
            <a:r>
              <a:t>        "reference:kto:2026:local-airport:page:044:chunk:01",</a:t>
            </a:r>
          </a:p>
          <a:p>
            <a:r>
              <a:t>        "reference:kto:2026:local-airport:page:044:chunk:02"</a:t>
            </a:r>
          </a:p>
          <a:p>
            <a:r>
              <a:t>      ],</a:t>
            </a:r>
          </a:p>
          <a:p>
            <a:r>
              <a:t>      "source_chunk_count": 10</a:t>
            </a:r>
          </a:p>
          <a:p>
            <a:r>
              <a:t>    },</a:t>
            </a:r>
          </a:p>
          <a:p>
            <a:r>
              <a:t>    {</a:t>
            </a:r>
          </a:p>
          <a:p>
            <a:r>
              <a:t>      "title": "전주시 2026년도 관광산업과 세출예산 사업명세서",</a:t>
            </a:r>
          </a:p>
          <a:p>
            <a:r>
              <a:t>      "summary": "전북특별자치도 전주시 · 야간관광 특화도시 예산 편성 · 예산서이므로 방문·소비 성과는 확인되지 않음",</a:t>
            </a:r>
          </a:p>
          <a:p>
            <a:r>
              <a:t>      "source_id": "case:jeonju_night_budget_2026",</a:t>
            </a:r>
          </a:p>
          <a:p>
            <a:r>
              <a:t>      "source_url": "https://jeonju.go.kr/resource/www/images/download/budget/2026/2026_31_2.pdf",</a:t>
            </a:r>
          </a:p>
          <a:p>
            <a:r>
              <a:t>      "case_region": "전북특별자치도 전주시",</a:t>
            </a:r>
          </a:p>
          <a:p>
            <a:r>
              <a:t>      "source_type": "benchmark_case",</a:t>
            </a:r>
          </a:p>
          <a:p>
            <a:r>
              <a:t>      "intervention": "야간관광 특화도시 예산 편성",</a:t>
            </a:r>
          </a:p>
          <a:p>
            <a:r>
              <a:t>      "operating_model": "사무관리, 행사운영, 연구용역, 민간경상보조 등으로 사업비를 항목별 편성",</a:t>
            </a:r>
          </a:p>
          <a:p>
            <a:r>
              <a:t>      "evidence_strength": "high",</a:t>
            </a:r>
          </a:p>
          <a:p>
            <a:r>
              <a:t>      "published_or_updated_at": "2026",</a:t>
            </a:r>
          </a:p>
          <a:p>
            <a:r>
              <a:t>      "quantitative_result_approved": null</a:t>
            </a:r>
          </a:p>
          <a:p>
            <a:r>
              <a:t>    },</a:t>
            </a:r>
          </a:p>
          <a:p>
            <a:r>
              <a:t>    {</a:t>
            </a:r>
          </a:p>
          <a:p>
            <a:r>
              <a:t>      "title": "(기획) 인천을 즐기는 가장 쉬운(easy) 방법 … 인천e지",</a:t>
            </a:r>
          </a:p>
          <a:p>
            <a:r>
              <a:t>      "summary": "인천광역시 · 스마트관광 플랫폼 ‘인천e지’의 추천·동선·스탬프·가맹점 쿠폰 통합 운영 · 2025년 9월 7일 기준 회원 10만 명, 누적 다운로드 29만 건이었다. 2025년 1~8월 프로모션 참여 18,499건, 쿠폰 이용 33,514건으로 전년 대비 각각 107%, 251% 증가했다. 다만 다운로드·쿠폰 증가가 지역 전체 관광소비의 순증 효과라는 의미는 아니다. ([incheon.go.kr](https://www.incheon.go.kr/IC010205/view?beginDt=&amp;curPage=1&amp;endDt=&amp;repSeq=DOM_0000000013130282&amp;srchMainManagerDeptNm=&amp;srchRepContents=%EC%A3%BC%EC%B0%A8&amp;srchRepTitle=))",</a:t>
            </a:r>
          </a:p>
          <a:p>
            <a:r>
              <a:t>      "source_id": "case:4625625dcbf2ae",</a:t>
            </a:r>
          </a:p>
          <a:p>
            <a:r>
              <a:t>      "source_url": "https://www.incheon.go.kr/IC010205/view?beginDt=&amp;curPage=1&amp;endDt=&amp;repSeq=DOM_0000000013130282&amp;srchMainManagerDeptNm=&amp;srchRepContents=%EC%A3%BC%EC%B0%A8&amp;srchRepTitle=",</a:t>
            </a:r>
          </a:p>
          <a:p>
            <a:r>
              <a:t>      "case_region": "인천광역시",</a:t>
            </a:r>
          </a:p>
          <a:p>
            <a:r>
              <a:t>      "source_type": "benchmark_case",</a:t>
            </a:r>
          </a:p>
          <a:p>
            <a:r>
              <a:t>      "intervention": "스마트관광 플랫폼 ‘인천e지’의 추천·동선·스탬프·가맹점 쿠폰 통합 운영",</a:t>
            </a:r>
          </a:p>
          <a:p>
            <a:r>
              <a:t>      "operating_model": "개인 맞춤형 여행 추천, 지도·교통·주차 정보, 축제 연계 스탬프투어와 스마트 쿠폰을 하나의 앱에서 제공한다. 2025년에는 가맹 서점 할인쿠폰과 책방 패스, 오프라인 행사를 결합해 기존 관광 동선을 문화상권으로 확장했다.",</a:t>
            </a:r>
          </a:p>
          <a:p>
            <a:r>
              <a:t>      "evidence_strength": "medium",</a:t>
            </a:r>
          </a:p>
          <a:p>
            <a:r>
              <a:t>      "published_or_updated_at": "2025-09-16",</a:t>
            </a:r>
          </a:p>
          <a:p>
            <a:r>
              <a:t>      "quantitative_result_approved": null</a:t>
            </a:r>
          </a:p>
          <a:p>
            <a:r>
              <a:t>    },</a:t>
            </a:r>
          </a:p>
          <a:p>
            <a:r>
              <a:t>    {</a:t>
            </a:r>
          </a:p>
          <a:p>
            <a:r>
              <a:t>      "title": "2024년 6월 여행가는 달 추진 보도자료",</a:t>
            </a:r>
          </a:p>
          <a:p>
            <a:r>
              <a:t>      "summary": "전국 인구감소지역 34곳 · 디지털 관광주민증과 교통·숙박·상점 할인 결합 · 2024년 34개 지역 약 800개 관광업체에 혜택 구조를 적용",</a:t>
            </a:r>
          </a:p>
          <a:p>
            <a:r>
              <a:t>      "source_id": "case:digital_tourism_resident_2024",</a:t>
            </a:r>
          </a:p>
          <a:p>
            <a:r>
              <a:t>      "source_url": "https://mcst.go.kr/servlets/eduport/front/upload/UplDownloadFile?pFileName=%280514%29%EB%AC%B8%EC%B2%B4%EB%B6%80%EB%B3%B4%EB%8F%84%EC%9E%90%EB%A3%8C-6%EC%9B%94_%EC%97%AC%ED%96%89%EA%B0%80%EB%8A%94_%EB%8B%AC_%EC%B6%94%EC%A7%84.pdf&amp;pPath=0302000000&amp;pRealName=20240514083202149235802932_PRESS20240514083202456506.pdf",</a:t>
            </a:r>
          </a:p>
          <a:p>
            <a:r>
              <a:t>      "case_region": "전국 인구감소지역 34곳",</a:t>
            </a:r>
          </a:p>
          <a:p>
            <a:r>
              <a:t>      "source_type": "benchmark_case",</a:t>
            </a:r>
          </a:p>
          <a:p>
            <a:r>
              <a:t>      "intervention": "디지털 관광주민증과 교통·숙박·상점 할인 결합",</a:t>
            </a:r>
          </a:p>
          <a:p>
            <a:r>
              <a:t>      "operating_model": "디지털 관광주민증 참여업체 현장 인증과 숙박·식음·관람·체험 할인, 특정 시간대 KTX 할인과 방문 후 교통 할인권을 결합",</a:t>
            </a:r>
          </a:p>
          <a:p>
            <a:r>
              <a:t>      "evidence_strength": "medium",</a:t>
            </a:r>
          </a:p>
          <a:p>
            <a:r>
              <a:t>      "published_or_updated_at": "2024-05-14",</a:t>
            </a:r>
          </a:p>
          <a:p>
            <a:r>
              <a:t>      "quantitative_result_approved": null</a:t>
            </a:r>
          </a:p>
          <a:p>
            <a:r>
              <a:t>    },</a:t>
            </a:r>
          </a:p>
          <a:p>
            <a:r>
              <a:t>    {</a:t>
            </a:r>
          </a:p>
          <a:p>
            <a:r>
              <a:t>      "title": "2022 대한민국 숙박대전 경제파급효과 공개자료",</a:t>
            </a:r>
          </a:p>
          <a:p>
            <a:r>
              <a:t>      "summary": "전국 숙박할인쿠폰 지원사업 · 온라인 예약 채널 숙박할인쿠폰 · 한국관광공사 자료는 약 104만 명이 할인혜택을 이용했고 서울·제주를 제외한 지역 사용 비율이 76%였다고 소개함",</a:t>
            </a:r>
          </a:p>
          <a:p>
            <a:r>
              <a:t>      "source_id": "case:kto_stay_discount_2022",</a:t>
            </a:r>
          </a:p>
          <a:p>
            <a:r>
              <a:t>      "source_url": "https://kto.visitkorea.or.kr/upload/flexer/upload/ktobiz/20220928/b623b5f9-3ec0-11ed-9832-ddf31964842e.hwp.files/Sections1.html",</a:t>
            </a:r>
          </a:p>
          <a:p>
            <a:r>
              <a:t>      "case_region": "전국 숙박할인쿠폰 지원사업",</a:t>
            </a:r>
          </a:p>
          <a:p>
            <a:r>
              <a:t>      "source_type": "benchmark_case",</a:t>
            </a:r>
          </a:p>
          <a:p>
            <a:r>
              <a:t>      "intervention": "온라인 예약 채널 숙박할인쿠폰",</a:t>
            </a:r>
          </a:p>
          <a:p>
            <a:r>
              <a:t>      "operating_model": "온라인 여행사 예약 단계에서 할인쿠폰을 제공하고, 지역 숙소에서 사용할 수 있도록 참여 채널과 기간을 통합 운영",</a:t>
            </a:r>
          </a:p>
          <a:p>
            <a:r>
              <a:t>      "evidence_strength": "medium",</a:t>
            </a:r>
          </a:p>
          <a:p>
            <a:r>
              <a:t>      "published_or_updated_at": "2022-09-28",</a:t>
            </a:r>
          </a:p>
          <a:p>
            <a:r>
              <a:t>      "quantitative_result_approved": null</a:t>
            </a:r>
          </a:p>
          <a:p>
            <a:r>
              <a:t>    },</a:t>
            </a:r>
          </a:p>
          <a:p>
            <a:r>
              <a:t>    {</a:t>
            </a:r>
          </a:p>
          <a:p>
            <a:r>
              <a:t>      "title": "한강 밤핑(Night+Camping) 행사·공연 정보",</a:t>
            </a:r>
          </a:p>
          <a:p>
            <a:r>
              <a:t>      "summary": "서울특별시 여의도·뚝섬·망원 한강공원 일대 · 한강 밤핑의 시간대 예약·노쇼 보증금·야간 콘텐츠·주변 상권 결합 · 사전예약 규모, 보증금·환급 조건, 할인 및 상권 연계 구조는 확인되지만 실제 참석률, 노쇼 감소율, 쿠폰 사용액과 인근 상권 매출 결과는 공식 자료에서 확인되지 않음. ([hangang.seoul.go.kr](https://hangang.seoul.go.kr/www/eventMng/detail.do?evntSn=441&amp;keyword=&amp;mid=538&amp;opt11=&amp;opt12=&amp;opt13=&amp;opt14=&amp;opt4=&amp;pageNo=2&amp;srchType=list))",</a:t>
            </a:r>
          </a:p>
          <a:p>
            <a:r>
              <a:t>      "source_id": "case:37471b1e063812",</a:t>
            </a:r>
          </a:p>
          <a:p>
            <a:r>
              <a:t>      "source_url": "https://hangang.seoul.go.kr/www/eventMng/detail.do?evntSn=441&amp;keyword=&amp;mid=538&amp;opt11=&amp;opt12=&amp;opt13=&amp;opt14=&amp;opt4=&amp;pageNo=2&amp;srchType=list",</a:t>
            </a:r>
          </a:p>
          <a:p>
            <a:r>
              <a:t>      "case_region": "서울특별시 여의도·뚝섬·망원 한강공원 일대",</a:t>
            </a:r>
          </a:p>
          <a:p>
            <a:r>
              <a:t>      "source_type": "benchmark_case",</a:t>
            </a:r>
          </a:p>
          <a:p>
            <a:r>
              <a:t>      "intervention": "한강 밤핑의 시간대 예약·노쇼 보증금·야간 콘텐츠·주변 상권 결합",</a:t>
            </a:r>
          </a:p>
          <a:p>
            <a:r>
              <a:t>      "operating_model": "총 200개 사이트를 사전예약제로 운영하고 1만 원 보증금을 받아 정상 참석 시 전액 환급했다. 연박과 취사를 제한해 참여 기회를 분산하고 주변 상권 이용을 유도했다. 야간 수영·공연·영화 등 기존 프로그램과 배달앱 즉시할인, 서울사랑상품권 페이백, 인근 21개 전통시장·골목상권 안내를 결합했다.",</a:t>
            </a:r>
          </a:p>
          <a:p>
            <a:r>
              <a:t>      "evidence_strength": "low",</a:t>
            </a:r>
          </a:p>
          <a:p>
            <a:r>
              <a:t>      "published_or_updated_at": "2026-07",</a:t>
            </a:r>
          </a:p>
          <a:p>
            <a:r>
              <a:t>      "quantitative_result_approved": null</a:t>
            </a:r>
          </a:p>
          <a:p>
            <a:r>
              <a:t>    },</a:t>
            </a:r>
          </a:p>
          <a:p>
            <a:r>
              <a:t>    {</a:t>
            </a:r>
          </a:p>
          <a:p>
            <a:r>
              <a:t>      "title": "강진 반값여행 지역경제 효과 소개",</a:t>
            </a:r>
          </a:p>
          <a:p>
            <a:r>
              <a:t>      "summary": "전라남도 강진군 · 반값여행 지역환급 · 상품권 결제 변화에 관한 소개 자료는 있으나, 사업 참여자 범위·정확한 비교 기간·원자료를 확인하지 못해 성과 수치 인용을 보류한다.",</a:t>
            </a:r>
          </a:p>
          <a:p>
            <a:r>
              <a:t>      "source_id": "case:gangjin_half_price_2024",</a:t>
            </a:r>
          </a:p>
          <a:p>
            <a:r>
              <a:t>      "source_url": "https://jnfarm.jeonnam.go.kr/board/FARM_BOARD_008/boardView.do?bdId=BD_00000000000011721&amp;menuCd=farm004002",</a:t>
            </a:r>
          </a:p>
          <a:p>
            <a:r>
              <a:t>      "case_region": "전라남도 강진군",</a:t>
            </a:r>
          </a:p>
          <a:p>
            <a:r>
              <a:t>      "source_type": "benchmark_case",</a:t>
            </a:r>
          </a:p>
          <a:p>
            <a:r>
              <a:t>      "intervention": "반값여행 지역환급",</a:t>
            </a:r>
          </a:p>
          <a:p>
            <a:r>
              <a:t>      "operating_model": "여행자가 지역에서 지출한 비용의 일부를 지역상품권으로 돌려받게 하여 혜택이 다시 지역 상점에서 사용되도록 설계",</a:t>
            </a:r>
          </a:p>
          <a:p>
            <a:r>
              <a:t>      "evidence_strength": "low",</a:t>
            </a:r>
          </a:p>
          <a:p>
            <a:r>
              <a:t>      "published_or_updated_at": "2025-01-02",</a:t>
            </a:r>
          </a:p>
          <a:p>
            <a:r>
              <a:t>      "quantitative_result_approved": false</a:t>
            </a:r>
          </a:p>
          <a:p>
            <a:r>
              <a:t>    },</a:t>
            </a:r>
          </a:p>
          <a:p>
            <a:r>
              <a:t>    {</a:t>
            </a:r>
          </a:p>
          <a:p>
            <a:r>
              <a:t>      "title": "지역사랑 휴가지원(반값여행) 신설 및 ‘대한민국 반값여행’ 성과 분석",</a:t>
            </a:r>
          </a:p>
          <a:p>
            <a:r>
              <a:t>      "summary": "전국 인구감소지역 중 2026년 상반기 선정 16개 지역 · 지역사랑 휴가지원 ‘대한민국 반값여행’ · 문체부는 2026년 6월 22일 상반기 성과 분석과 하반기 운영 방향을 논의했다고 공개했다. 확보된 공식 페이지에서 지역별 신청·방문·소비·환급 수치와 비교집단 결과는 확인되지 않아 정량 성과는 인용하지 않는다. ([mcst.go.kr](https://www.mcst.go.kr/site/s_notice/press/pressView.jsp?pSeq=22528))",</a:t>
            </a:r>
          </a:p>
          <a:p>
            <a:r>
              <a:t>      "source_id": "case:c6d4752e1342a7",</a:t>
            </a:r>
          </a:p>
          <a:p>
            <a:r>
              <a:t>      "source_url": "https://www.mcst.go.kr/site/s_policy/govPolicy/performTotal.jsp",</a:t>
            </a:r>
          </a:p>
          <a:p>
            <a:r>
              <a:t>      "case_region": "전국 인구감소지역 중 2026년 상반기 선정 16개 지역",</a:t>
            </a:r>
          </a:p>
          <a:p>
            <a:r>
              <a:t>      "source_type": "benchmark_case",</a:t>
            </a:r>
          </a:p>
          <a:p>
            <a:r>
              <a:t>      "intervention": "지역사랑 휴가지원 ‘대한민국 반값여행’",</a:t>
            </a:r>
          </a:p>
          <a:p>
            <a:r>
              <a:t>      "operating_model": "대상 지역에서 여행경비를 지출하고 요건을 충족한 방문객에게 지역사랑상품권을 환급한다. 개인은 최대 10만 원, 단체는 최대 20만 원 한도로 설계했으며, 부정수급 방지 지침과 지자체 공모·사전준비 절차를 두었다.",</a:t>
            </a:r>
          </a:p>
          <a:p>
            <a:r>
              <a:t>      "evidence_strength": "medium",</a:t>
            </a:r>
          </a:p>
          <a:p>
            <a:r>
              <a:t>      "published_or_updated_at": "2026-06-22",</a:t>
            </a:r>
          </a:p>
          <a:p>
            <a:r>
              <a:t>      "quantitative_result_approved": null</a:t>
            </a:r>
          </a:p>
          <a:p>
            <a:r>
              <a:t>    },</a:t>
            </a:r>
          </a:p>
          <a:p>
            <a:r>
              <a:t>    {</a:t>
            </a:r>
          </a:p>
          <a:p>
            <a:r>
              <a:t>      "title": "2025 대한민국 밤밤페스타 개최 도시 및 일정",</a:t>
            </a:r>
          </a:p>
          <a:p>
            <a:r>
              <a:t>      "summary": "야간관광 특화도시 10곳 · 도시별 야간 콘텐츠를 순회형 축제로 묶는 운영 · 공식 여행기사는 개최 도시·장소·운영 시간과 콘텐츠만 제시하며 방문·소비 성과 수치는 제시하지 않음",</a:t>
            </a:r>
          </a:p>
          <a:p>
            <a:r>
              <a:t>      "source_id": "case:night_festival_2025",</a:t>
            </a:r>
          </a:p>
          <a:p>
            <a:r>
              <a:t>      "source_url": "https://korean.visitkorea.or.kr/detail/rem_detail.do?cotid=f9c636b2-dd7c-4f09-af3d-6af43b33d371",</a:t>
            </a:r>
          </a:p>
          <a:p>
            <a:r>
              <a:t>      "case_region": "야간관광 특화도시 10곳",</a:t>
            </a:r>
          </a:p>
          <a:p>
            <a:r>
              <a:t>      "source_type": "benchmark_case",</a:t>
            </a:r>
          </a:p>
          <a:p>
            <a:r>
              <a:t>      "intervention": "도시별 야간 콘텐츠를 순회형 축제로 묶는 운영",</a:t>
            </a:r>
          </a:p>
          <a:p>
            <a:r>
              <a:t>      "operating_model": "10개 야간관광 특화도시의 대표 장소와 시간대를 연결하고, 공연·체험·지역 디저트·판매상품 등 도시별 콘텐츠를 순회 일정으로 운영",</a:t>
            </a:r>
          </a:p>
          <a:p>
            <a:r>
              <a:t>      "evidence_strength": "medium",</a:t>
            </a:r>
          </a:p>
          <a:p>
            <a:r>
              <a:t>      "published_or_updated_at": "2025",</a:t>
            </a:r>
          </a:p>
          <a:p>
            <a:r>
              <a:t>      "quantitative_result_approved": null</a:t>
            </a:r>
          </a:p>
          <a:p>
            <a:r>
              <a:t>    }</a:t>
            </a:r>
          </a:p>
          <a:p>
            <a:r>
              <a:t>  ],</a:t>
            </a:r>
          </a:p>
          <a:p>
            <a:r>
              <a:t>  "selected_forecast": {</a:t>
            </a:r>
          </a:p>
          <a:p>
            <a:r>
              <a:t>    "rows": [</a:t>
            </a:r>
          </a:p>
          <a:p>
            <a:r>
              <a:t>      {</a:t>
            </a:r>
          </a:p>
          <a:p>
            <a:r>
              <a:t>        "month": "202609",</a:t>
            </a:r>
          </a:p>
          <a:p>
            <a:r>
              <a:t>        "visitors": 2363056.0,</a:t>
            </a:r>
          </a:p>
          <a:p>
            <a:r>
              <a:t>        "is_forecast": true,</a:t>
            </a:r>
          </a:p>
          <a:p>
            <a:r>
              <a:t>        "spending_krw": 67047345591.0,</a:t>
            </a:r>
          </a:p>
          <a:p>
            <a:r>
              <a:t>        "stay_minutes": 2518.0,</a:t>
            </a:r>
          </a:p>
          <a:p>
            <a:r>
              <a:t>        "lodging_nights": 2.98,</a:t>
            </a:r>
          </a:p>
          <a:p>
            <a:r>
              <a:t>        "lodging_rate_pct": 13.1,</a:t>
            </a:r>
          </a:p>
          <a:p>
            <a:r>
              <a:t>        "lodging_searches": 34529,</a:t>
            </a:r>
          </a:p>
          <a:p>
            <a:r>
              <a:t>        "navigation_searches": 259153,</a:t>
            </a:r>
          </a:p>
          <a:p>
            <a:r>
              <a:t>        "visitor_yoy_percent": 3.0,</a:t>
            </a:r>
          </a:p>
          <a:p>
            <a:r>
              <a:t>        "spending_yoy_percent": 22.29,</a:t>
            </a:r>
          </a:p>
          <a:p>
            <a:r>
              <a:t>        "metric_changes_percent": {</a:t>
            </a:r>
          </a:p>
          <a:p>
            <a:r>
              <a:t>          "stay_minutes": 0.0,</a:t>
            </a:r>
          </a:p>
          <a:p>
            <a:r>
              <a:t>          "lodging_nights": 1.02,</a:t>
            </a:r>
          </a:p>
          <a:p>
            <a:r>
              <a:t>          "lodging_rate_pct": 0.0,</a:t>
            </a:r>
          </a:p>
          <a:p>
            <a:r>
              <a:t>          "lodging_searches": 8.97,</a:t>
            </a:r>
          </a:p>
          <a:p>
            <a:r>
              <a:t>          "navigation_searches": 0.0</a:t>
            </a:r>
          </a:p>
          <a:p>
            <a:r>
              <a:t>        },</a:t>
            </a:r>
          </a:p>
          <a:p>
            <a:r>
              <a:t>        "previous_year_visitors": 2294130,</a:t>
            </a:r>
          </a:p>
          <a:p>
            <a:r>
              <a:t>        "previous_year_spending_krw": 54826341000,</a:t>
            </a:r>
          </a:p>
          <a:p>
            <a:r>
              <a:t>        "previous_year_stay_minutes": 2518.0,</a:t>
            </a:r>
          </a:p>
          <a:p>
            <a:r>
              <a:t>        "previous_year_lodging_nights": 2.95,</a:t>
            </a:r>
          </a:p>
          <a:p>
            <a:r>
              <a:t>        "previous_year_lodging_rate_pct": 13.1,</a:t>
            </a:r>
          </a:p>
          <a:p>
            <a:r>
              <a:t>        "previous_year_lodging_searches": 31686,</a:t>
            </a:r>
          </a:p>
          <a:p>
            <a:r>
              <a:t>        "previous_year_navigation_searches": 259153</a:t>
            </a:r>
          </a:p>
          <a:p>
            <a:r>
              <a:t>      },</a:t>
            </a:r>
          </a:p>
          <a:p>
            <a:r>
              <a:t>      {</a:t>
            </a:r>
          </a:p>
          <a:p>
            <a:r>
              <a:t>        "month": "202610",</a:t>
            </a:r>
          </a:p>
          <a:p>
            <a:r>
              <a:t>        "visitors": 2633270.0,</a:t>
            </a:r>
          </a:p>
          <a:p>
            <a:r>
              <a:t>        "is_forecast": true,</a:t>
            </a:r>
          </a:p>
          <a:p>
            <a:r>
              <a:t>        "spending_krw": 83929975649.0,</a:t>
            </a:r>
          </a:p>
          <a:p>
            <a:r>
              <a:t>        "stay_minutes": 1683.0,</a:t>
            </a:r>
          </a:p>
          <a:p>
            <a:r>
              <a:t>        "lodging_nights": 2.87,</a:t>
            </a:r>
          </a:p>
          <a:p>
            <a:r>
              <a:t>        "lodging_rate_pct": 15.5,</a:t>
            </a:r>
          </a:p>
          <a:p>
            <a:r>
              <a:t>        "lodging_searches": 50011,</a:t>
            </a:r>
          </a:p>
          <a:p>
            <a:r>
              <a:t>        "navigation_searches": 519488,</a:t>
            </a:r>
          </a:p>
          <a:p>
            <a:r>
              <a:t>        "visitor_yoy_percent": -5.94,</a:t>
            </a:r>
          </a:p>
          <a:p>
            <a:r>
              <a:t>        "spending_yoy_percent": 21.43,</a:t>
            </a:r>
          </a:p>
          <a:p>
            <a:r>
              <a:t>        "metric_changes_percent": {</a:t>
            </a:r>
          </a:p>
          <a:p>
            <a:r>
              <a:t>          "stay_minutes": 0.0,</a:t>
            </a:r>
          </a:p>
          <a:p>
            <a:r>
              <a:t>          "lodging_nights": 1.77,</a:t>
            </a:r>
          </a:p>
          <a:p>
            <a:r>
              <a:t>          "lodging_rate_pct": 0.0,</a:t>
            </a:r>
          </a:p>
          <a:p>
            <a:r>
              <a:t>          "lodging_searches": -21.42,</a:t>
            </a:r>
          </a:p>
          <a:p>
            <a:r>
              <a:t>          "navigation_searches": 0.0</a:t>
            </a:r>
          </a:p>
          <a:p>
            <a:r>
              <a:t>        },</a:t>
            </a:r>
          </a:p>
          <a:p>
            <a:r>
              <a:t>        "previous_year_visitors": 2799509,</a:t>
            </a:r>
          </a:p>
          <a:p>
            <a:r>
              <a:t>        "previous_year_spending_krw": 69118387000,</a:t>
            </a:r>
          </a:p>
          <a:p>
            <a:r>
              <a:t>        "previous_year_stay_minutes": 1683.0,</a:t>
            </a:r>
          </a:p>
          <a:p>
            <a:r>
              <a:t>        "previous_year_lodging_nights": 2.82,</a:t>
            </a:r>
          </a:p>
          <a:p>
            <a:r>
              <a:t>        "previous_year_lodging_rate_pct": 15.5,</a:t>
            </a:r>
          </a:p>
          <a:p>
            <a:r>
              <a:t>        "previous_year_lodging_searches": 63645,</a:t>
            </a:r>
          </a:p>
          <a:p>
            <a:r>
              <a:t>        "previous_year_navigation_searches": 519488</a:t>
            </a:r>
          </a:p>
          <a:p>
            <a:r>
              <a:t>      },</a:t>
            </a:r>
          </a:p>
          <a:p>
            <a:r>
              <a:t>      {</a:t>
            </a:r>
          </a:p>
          <a:p>
            <a:r>
              <a:t>        "month": "202611",</a:t>
            </a:r>
          </a:p>
          <a:p>
            <a:r>
              <a:t>        "visitors": 2632315.0,</a:t>
            </a:r>
          </a:p>
          <a:p>
            <a:r>
              <a:t>        "is_forecast": true,</a:t>
            </a:r>
          </a:p>
          <a:p>
            <a:r>
              <a:t>        "spending_krw": 89947681558.0,</a:t>
            </a:r>
          </a:p>
          <a:p>
            <a:r>
              <a:t>        "stay_minutes": 1488.0,</a:t>
            </a:r>
          </a:p>
          <a:p>
            <a:r>
              <a:t>        "lodging_nights": 2.76,</a:t>
            </a:r>
          </a:p>
          <a:p>
            <a:r>
              <a:t>        "lodging_rate_pct": 12.4,</a:t>
            </a:r>
          </a:p>
          <a:p>
            <a:r>
              <a:t>        "lodging_searches": 48286,</a:t>
            </a:r>
          </a:p>
          <a:p>
            <a:r>
              <a:t>        "navigation_searches": 352852,</a:t>
            </a:r>
          </a:p>
          <a:p>
            <a:r>
              <a:t>        "visitor_yoy_percent": 4.18,</a:t>
            </a:r>
          </a:p>
          <a:p>
            <a:r>
              <a:t>        "spending_yoy_percent": 41.26,</a:t>
            </a:r>
          </a:p>
          <a:p>
            <a:r>
              <a:t>        "metric_changes_percent": {</a:t>
            </a:r>
          </a:p>
          <a:p>
            <a:r>
              <a:t>          "stay_minutes": 0.0,</a:t>
            </a:r>
          </a:p>
          <a:p>
            <a:r>
              <a:t>          "lodging_nights": 2.22,</a:t>
            </a:r>
          </a:p>
          <a:p>
            <a:r>
              <a:t>          "lodging_rate_pct": 0.0,</a:t>
            </a:r>
          </a:p>
          <a:p>
            <a:r>
              <a:t>          "lodging_searches": 21.22,</a:t>
            </a:r>
          </a:p>
          <a:p>
            <a:r>
              <a:t>          "navigation_searches": 0.0</a:t>
            </a:r>
          </a:p>
          <a:p>
            <a:r>
              <a:t>        },</a:t>
            </a:r>
          </a:p>
          <a:p>
            <a:r>
              <a:t>        "previous_year_visitors": 2526699,</a:t>
            </a:r>
          </a:p>
          <a:p>
            <a:r>
              <a:t>        "previous_year_spending_krw": 63675989000,</a:t>
            </a:r>
          </a:p>
          <a:p>
            <a:r>
              <a:t>        "previous_year_stay_minutes": 1488.0,</a:t>
            </a:r>
          </a:p>
          <a:p>
            <a:r>
              <a:t>        "previous_year_lodging_nights": 2.7,</a:t>
            </a:r>
          </a:p>
          <a:p>
            <a:r>
              <a:t>        "previous_year_lodging_rate_pct": 12.4,</a:t>
            </a:r>
          </a:p>
          <a:p>
            <a:r>
              <a:t>        "previous_year_lodging_searches": 39833,</a:t>
            </a:r>
          </a:p>
          <a:p>
            <a:r>
              <a:t>        "previous_year_navigation_searches": 352852</a:t>
            </a:r>
          </a:p>
          <a:p>
            <a:r>
              <a:t>      }</a:t>
            </a:r>
          </a:p>
          <a:p>
            <a:r>
              <a:t>    ],</a:t>
            </a:r>
          </a:p>
          <a:p>
            <a:r>
              <a:t>    "period": "202609~202611",</a:t>
            </a:r>
          </a:p>
          <a:p>
            <a:r>
              <a:t>    "complete": true,</a:t>
            </a:r>
          </a:p>
          <a:p>
            <a:r>
              <a:t>    "notes": [</a:t>
            </a:r>
          </a:p>
          <a:p>
            <a:r>
              <a:t>      "3개월 초과 예측 거리는 재귀 검증 범위 밖의 탐색 전망입니다."</a:t>
            </a:r>
          </a:p>
          <a:p>
            <a:r>
              <a:t>    ],</a:t>
            </a:r>
          </a:p>
          <a:p>
            <a:r>
              <a:t>    "selection_basis": "strategy_timeframe",</a:t>
            </a:r>
          </a:p>
          <a:p>
            <a:r>
              <a:t>    "requested_period": "202609~202611"</a:t>
            </a:r>
          </a:p>
          <a:p>
            <a:r>
              <a:t>  },</a:t>
            </a:r>
          </a:p>
          <a:p>
            <a:r>
              <a:t>  "all_ml_forecasts": [</a:t>
            </a:r>
          </a:p>
          <a:p>
            <a:r>
              <a:t>    {</a:t>
            </a:r>
          </a:p>
          <a:p>
            <a:r>
              <a:t>      "month": "202607",</a:t>
            </a:r>
          </a:p>
          <a:p>
            <a:r>
              <a:t>      "visitors": 2366862,</a:t>
            </a:r>
          </a:p>
          <a:p>
            <a:r>
              <a:t>      "is_forecast": true,</a:t>
            </a:r>
          </a:p>
          <a:p>
            <a:r>
              <a:t>      "spending_krw": 67735223997,</a:t>
            </a:r>
          </a:p>
          <a:p>
            <a:r>
              <a:t>      "stay_minutes": 1944.0,</a:t>
            </a:r>
          </a:p>
          <a:p>
            <a:r>
              <a:t>      "lodging_nights": 2.83,</a:t>
            </a:r>
          </a:p>
          <a:p>
            <a:r>
              <a:t>      "lodging_rate_pct": 13.8,</a:t>
            </a:r>
          </a:p>
          <a:p>
            <a:r>
              <a:t>      "lodging_searches": 46511,</a:t>
            </a:r>
          </a:p>
          <a:p>
            <a:r>
              <a:t>      "navigation_searches": 297924,</a:t>
            </a:r>
          </a:p>
          <a:p>
            <a:r>
              <a:t>      "visitor_yoy_percent": -1.04,</a:t>
            </a:r>
          </a:p>
          <a:p>
            <a:r>
              <a:t>      "spending_yoy_percent": 14.97,</a:t>
            </a:r>
          </a:p>
          <a:p>
            <a:r>
              <a:t>      "metric_changes_percent": {</a:t>
            </a:r>
          </a:p>
          <a:p>
            <a:r>
              <a:t>        "stay_minutes": 0.0,</a:t>
            </a:r>
          </a:p>
          <a:p>
            <a:r>
              <a:t>        "lodging_nights": 0.35,</a:t>
            </a:r>
          </a:p>
          <a:p>
            <a:r>
              <a:t>        "lodging_rate_pct": 0.0,</a:t>
            </a:r>
          </a:p>
          <a:p>
            <a:r>
              <a:t>        "lodging_searches": 17.21,</a:t>
            </a:r>
          </a:p>
          <a:p>
            <a:r>
              <a:t>        "navigation_searches": 0.0</a:t>
            </a:r>
          </a:p>
          <a:p>
            <a:r>
              <a:t>      },</a:t>
            </a:r>
          </a:p>
          <a:p>
            <a:r>
              <a:t>      "previous_year_visitors": 2391642,</a:t>
            </a:r>
          </a:p>
          <a:p>
            <a:r>
              <a:t>      "previous_year_spending_krw": 58914875000,</a:t>
            </a:r>
          </a:p>
          <a:p>
            <a:r>
              <a:t>      "previous_year_stay_minutes": 1944.0,</a:t>
            </a:r>
          </a:p>
          <a:p>
            <a:r>
              <a:t>      "previous_year_lodging_nights": 2.82,</a:t>
            </a:r>
          </a:p>
          <a:p>
            <a:r>
              <a:t>      "previous_year_lodging_rate_pct": 13.8,</a:t>
            </a:r>
          </a:p>
          <a:p>
            <a:r>
              <a:t>      "previous_year_lodging_searches": 39682,</a:t>
            </a:r>
          </a:p>
          <a:p>
            <a:r>
              <a:t>      "previous_year_navigation_searches": 297924</a:t>
            </a:r>
          </a:p>
          <a:p>
            <a:r>
              <a:t>    },</a:t>
            </a:r>
          </a:p>
          <a:p>
            <a:r>
              <a:t>    {</a:t>
            </a:r>
          </a:p>
          <a:p>
            <a:r>
              <a:t>      "month": "202608",</a:t>
            </a:r>
          </a:p>
          <a:p>
            <a:r>
              <a:t>      "visitors": 2642874,</a:t>
            </a:r>
          </a:p>
          <a:p>
            <a:r>
              <a:t>      "is_forecast": true,</a:t>
            </a:r>
          </a:p>
          <a:p>
            <a:r>
              <a:t>      "spending_krw": 76161639833,</a:t>
            </a:r>
          </a:p>
          <a:p>
            <a:r>
              <a:t>      "stay_minutes": 1672.0,</a:t>
            </a:r>
          </a:p>
          <a:p>
            <a:r>
              <a:t>      "lodging_nights": 2.76,</a:t>
            </a:r>
          </a:p>
          <a:p>
            <a:r>
              <a:t>      "lodging_rate_pct": 14.7,</a:t>
            </a:r>
          </a:p>
          <a:p>
            <a:r>
              <a:t>      "lodging_searches": 49759,</a:t>
            </a:r>
          </a:p>
          <a:p>
            <a:r>
              <a:t>      "navigation_searches": 346177,</a:t>
            </a:r>
          </a:p>
          <a:p>
            <a:r>
              <a:t>      "visitor_yoy_percent": 0.13,</a:t>
            </a:r>
          </a:p>
          <a:p>
            <a:r>
              <a:t>      "spending_yoy_percent": 18.85,</a:t>
            </a:r>
          </a:p>
          <a:p>
            <a:r>
              <a:t>      "metric_changes_percent": {</a:t>
            </a:r>
          </a:p>
          <a:p>
            <a:r>
              <a:t>        "stay_minutes": 0.0,</a:t>
            </a:r>
          </a:p>
          <a:p>
            <a:r>
              <a:t>        "lodging_nights": 1.1,</a:t>
            </a:r>
          </a:p>
          <a:p>
            <a:r>
              <a:t>        "lodging_rate_pct": 0.0,</a:t>
            </a:r>
          </a:p>
          <a:p>
            <a:r>
              <a:t>        "lodging_searches": -0.93,</a:t>
            </a:r>
          </a:p>
          <a:p>
            <a:r>
              <a:t>        "navigation_searches": 0.0</a:t>
            </a:r>
          </a:p>
          <a:p>
            <a:r>
              <a:t>      },</a:t>
            </a:r>
          </a:p>
          <a:p>
            <a:r>
              <a:t>      "previous_year_visitors": 2639487,</a:t>
            </a:r>
          </a:p>
          <a:p>
            <a:r>
              <a:t>      "previous_year_spending_krw": 64083943000,</a:t>
            </a:r>
          </a:p>
          <a:p>
            <a:r>
              <a:t>      "previous_year_stay_minutes": 1672.0,</a:t>
            </a:r>
          </a:p>
          <a:p>
            <a:r>
              <a:t>      "previous_year_lodging_nights": 2.73,</a:t>
            </a:r>
          </a:p>
          <a:p>
            <a:r>
              <a:t>      "previous_year_lodging_rate_pct": 14.7,</a:t>
            </a:r>
          </a:p>
          <a:p>
            <a:r>
              <a:t>      "previous_year_lodging_searches": 50224,</a:t>
            </a:r>
          </a:p>
          <a:p>
            <a:r>
              <a:t>      "previous_year_navigation_searches": 346177</a:t>
            </a:r>
          </a:p>
          <a:p>
            <a:r>
              <a:t>    },</a:t>
            </a:r>
          </a:p>
          <a:p>
            <a:r>
              <a:t>    {</a:t>
            </a:r>
          </a:p>
          <a:p>
            <a:r>
              <a:t>      "month": "202609",</a:t>
            </a:r>
          </a:p>
          <a:p>
            <a:r>
              <a:t>      "visitors": 2363056,</a:t>
            </a:r>
          </a:p>
          <a:p>
            <a:r>
              <a:t>      "is_forecast": true,</a:t>
            </a:r>
          </a:p>
          <a:p>
            <a:r>
              <a:t>      "spending_krw": 67047345591,</a:t>
            </a:r>
          </a:p>
          <a:p>
            <a:r>
              <a:t>      "stay_minutes": 2518.0,</a:t>
            </a:r>
          </a:p>
          <a:p>
            <a:r>
              <a:t>      "lodging_nights": 2.98,</a:t>
            </a:r>
          </a:p>
          <a:p>
            <a:r>
              <a:t>      "lodging_rate_pct": 13.1,</a:t>
            </a:r>
          </a:p>
          <a:p>
            <a:r>
              <a:t>      "lodging_searches": 34529,</a:t>
            </a:r>
          </a:p>
          <a:p>
            <a:r>
              <a:t>      "navigation_searches": 259153,</a:t>
            </a:r>
          </a:p>
          <a:p>
            <a:r>
              <a:t>      "visitor_yoy_percent": 3.0,</a:t>
            </a:r>
          </a:p>
          <a:p>
            <a:r>
              <a:t>      "spending_yoy_percent": 22.29,</a:t>
            </a:r>
          </a:p>
          <a:p>
            <a:r>
              <a:t>      "metric_changes_percent": {</a:t>
            </a:r>
          </a:p>
          <a:p>
            <a:r>
              <a:t>        "stay_minutes": 0.0,</a:t>
            </a:r>
          </a:p>
          <a:p>
            <a:r>
              <a:t>        "lodging_nights": 1.02,</a:t>
            </a:r>
          </a:p>
          <a:p>
            <a:r>
              <a:t>        "lodging_rate_pct": 0.0,</a:t>
            </a:r>
          </a:p>
          <a:p>
            <a:r>
              <a:t>        "lodging_searches": 8.97,</a:t>
            </a:r>
          </a:p>
          <a:p>
            <a:r>
              <a:t>        "navigation_searches": 0.0</a:t>
            </a:r>
          </a:p>
          <a:p>
            <a:r>
              <a:t>      },</a:t>
            </a:r>
          </a:p>
          <a:p>
            <a:r>
              <a:t>      "previous_year_visitors": 2294130,</a:t>
            </a:r>
          </a:p>
          <a:p>
            <a:r>
              <a:t>      "previous_year_spending_krw": 54826341000,</a:t>
            </a:r>
          </a:p>
          <a:p>
            <a:r>
              <a:t>      "previous_year_stay_minutes": 2518.0,</a:t>
            </a:r>
          </a:p>
          <a:p>
            <a:r>
              <a:t>      "previous_year_lodging_nights": 2.95,</a:t>
            </a:r>
          </a:p>
          <a:p>
            <a:r>
              <a:t>      "previous_year_lodging_rate_pct": 13.1,</a:t>
            </a:r>
          </a:p>
          <a:p>
            <a:r>
              <a:t>      "previous_year_lodging_searches": 31686,</a:t>
            </a:r>
          </a:p>
          <a:p>
            <a:r>
              <a:t>      "previous_year_navigation_searches": 259153</a:t>
            </a:r>
          </a:p>
          <a:p>
            <a:r>
              <a:t>    },</a:t>
            </a:r>
          </a:p>
          <a:p>
            <a:r>
              <a:t>    {</a:t>
            </a:r>
          </a:p>
          <a:p>
            <a:r>
              <a:t>      "month": "202610",</a:t>
            </a:r>
          </a:p>
          <a:p>
            <a:r>
              <a:t>      "visitors": 2633270,</a:t>
            </a:r>
          </a:p>
          <a:p>
            <a:r>
              <a:t>      "is_forecast": true,</a:t>
            </a:r>
          </a:p>
          <a:p>
            <a:r>
              <a:t>      "spending_krw": 83929975649,</a:t>
            </a:r>
          </a:p>
          <a:p>
            <a:r>
              <a:t>      "stay_minutes": 1683.0,</a:t>
            </a:r>
          </a:p>
          <a:p>
            <a:r>
              <a:t>      "lodging_nights": 2.87,</a:t>
            </a:r>
          </a:p>
          <a:p>
            <a:r>
              <a:t>      "lodging_rate_pct": 15.5,</a:t>
            </a:r>
          </a:p>
          <a:p>
            <a:r>
              <a:t>      "lodging_searches": 50011,</a:t>
            </a:r>
          </a:p>
          <a:p>
            <a:r>
              <a:t>      "navigation_searches": 519488,</a:t>
            </a:r>
          </a:p>
          <a:p>
            <a:r>
              <a:t>      "visitor_yoy_percent": -5.94,</a:t>
            </a:r>
          </a:p>
          <a:p>
            <a:r>
              <a:t>      "spending_yoy_percent": 21.43,</a:t>
            </a:r>
          </a:p>
          <a:p>
            <a:r>
              <a:t>      "metric_changes_percent": {</a:t>
            </a:r>
          </a:p>
          <a:p>
            <a:r>
              <a:t>        "stay_minutes": 0.0,</a:t>
            </a:r>
          </a:p>
          <a:p>
            <a:r>
              <a:t>        "lodging_nights": 1.77,</a:t>
            </a:r>
          </a:p>
          <a:p>
            <a:r>
              <a:t>        "lodging_rate_pct": 0.0,</a:t>
            </a:r>
          </a:p>
          <a:p>
            <a:r>
              <a:t>        "lodging_searches": -21.42,</a:t>
            </a:r>
          </a:p>
          <a:p>
            <a:r>
              <a:t>        "navigation_searches": 0.0</a:t>
            </a:r>
          </a:p>
          <a:p>
            <a:r>
              <a:t>      },</a:t>
            </a:r>
          </a:p>
          <a:p>
            <a:r>
              <a:t>      "previous_year_visitors": 2799509,</a:t>
            </a:r>
          </a:p>
          <a:p>
            <a:r>
              <a:t>      "previous_year_spending_krw": 69118387000,</a:t>
            </a:r>
          </a:p>
          <a:p>
            <a:r>
              <a:t>      "previous_year_stay_minutes": 1683.0,</a:t>
            </a:r>
          </a:p>
          <a:p>
            <a:r>
              <a:t>      "previous_year_lodging_nights": 2.82,</a:t>
            </a:r>
          </a:p>
          <a:p>
            <a:r>
              <a:t>      "previous_year_lodging_rate_pct": 15.5,</a:t>
            </a:r>
          </a:p>
          <a:p>
            <a:r>
              <a:t>      "previous_year_lodging_searches": 63645,</a:t>
            </a:r>
          </a:p>
          <a:p>
            <a:r>
              <a:t>      "previous_year_navigation_searches": 519488</a:t>
            </a:r>
          </a:p>
          <a:p>
            <a:r>
              <a:t>    },</a:t>
            </a:r>
          </a:p>
          <a:p>
            <a:r>
              <a:t>    {</a:t>
            </a:r>
          </a:p>
          <a:p>
            <a:r>
              <a:t>      "month": "202611",</a:t>
            </a:r>
          </a:p>
          <a:p>
            <a:r>
              <a:t>      "visitors": 2632315,</a:t>
            </a:r>
          </a:p>
          <a:p>
            <a:r>
              <a:t>      "is_forecast": true,</a:t>
            </a:r>
          </a:p>
          <a:p>
            <a:r>
              <a:t>      "spending_krw": 89947681558,</a:t>
            </a:r>
          </a:p>
          <a:p>
            <a:r>
              <a:t>      "stay_minutes": 1488.0,</a:t>
            </a:r>
          </a:p>
          <a:p>
            <a:r>
              <a:t>      "lodging_nights": 2.76,</a:t>
            </a:r>
          </a:p>
          <a:p>
            <a:r>
              <a:t>      "lodging_rate_pct": 12.4,</a:t>
            </a:r>
          </a:p>
          <a:p>
            <a:r>
              <a:t>      "lodging_searches": 48286,</a:t>
            </a:r>
          </a:p>
          <a:p>
            <a:r>
              <a:t>      "navigation_searches": 352852,</a:t>
            </a:r>
          </a:p>
          <a:p>
            <a:r>
              <a:t>      "visitor_yoy_percent": 4.18,</a:t>
            </a:r>
          </a:p>
          <a:p>
            <a:r>
              <a:t>      "spending_yoy_percent": 41.26,</a:t>
            </a:r>
          </a:p>
          <a:p>
            <a:r>
              <a:t>      "metric_changes_percent": {</a:t>
            </a:r>
          </a:p>
          <a:p>
            <a:r>
              <a:t>        "stay_minutes": 0.0,</a:t>
            </a:r>
          </a:p>
          <a:p>
            <a:r>
              <a:t>        "lodging_nights": 2.22,</a:t>
            </a:r>
          </a:p>
          <a:p>
            <a:r>
              <a:t>        "lodging_rate_pct": 0.0,</a:t>
            </a:r>
          </a:p>
          <a:p>
            <a:r>
              <a:t>        "lodging_searches": 21.22,</a:t>
            </a:r>
          </a:p>
          <a:p>
            <a:r>
              <a:t>        "navigation_searches": 0.0</a:t>
            </a:r>
          </a:p>
          <a:p>
            <a:r>
              <a:t>      },</a:t>
            </a:r>
          </a:p>
          <a:p>
            <a:r>
              <a:t>      "previous_year_visitors": 2526699,</a:t>
            </a:r>
          </a:p>
          <a:p>
            <a:r>
              <a:t>      "previous_year_spending_krw": 63675989000,</a:t>
            </a:r>
          </a:p>
          <a:p>
            <a:r>
              <a:t>      "previous_year_stay_minutes": 1488.0,</a:t>
            </a:r>
          </a:p>
          <a:p>
            <a:r>
              <a:t>      "previous_year_lodging_nights": 2.7,</a:t>
            </a:r>
          </a:p>
          <a:p>
            <a:r>
              <a:t>      "previous_year_lodging_rate_pct": 12.4,</a:t>
            </a:r>
          </a:p>
          <a:p>
            <a:r>
              <a:t>      "previous_year_lodging_searches": 39833,</a:t>
            </a:r>
          </a:p>
          <a:p>
            <a:r>
              <a:t>      "previous_year_navigation_searches": 352852</a:t>
            </a:r>
          </a:p>
          <a:p>
            <a:r>
              <a:t>    },</a:t>
            </a:r>
          </a:p>
          <a:p>
            <a:r>
              <a:t>    {</a:t>
            </a:r>
          </a:p>
          <a:p>
            <a:r>
              <a:t>      "month": "202612",</a:t>
            </a:r>
          </a:p>
          <a:p>
            <a:r>
              <a:t>      "visitors": 2098615,</a:t>
            </a:r>
          </a:p>
          <a:p>
            <a:r>
              <a:t>      "is_forecast": true,</a:t>
            </a:r>
          </a:p>
          <a:p>
            <a:r>
              <a:t>      "spending_krw": 82896802464,</a:t>
            </a:r>
          </a:p>
          <a:p>
            <a:r>
              <a:t>      "stay_minutes": 1866.0,</a:t>
            </a:r>
          </a:p>
          <a:p>
            <a:r>
              <a:t>      "lodging_nights": 2.85,</a:t>
            </a:r>
          </a:p>
          <a:p>
            <a:r>
              <a:t>      "lodging_rate_pct": 14.1,</a:t>
            </a:r>
          </a:p>
          <a:p>
            <a:r>
              <a:t>      "lodging_searches": 28484,</a:t>
            </a:r>
          </a:p>
          <a:p>
            <a:r>
              <a:t>      "navigation_searches": 221560,</a:t>
            </a:r>
          </a:p>
          <a:p>
            <a:r>
              <a:t>      "visitor_yoy_percent": -0.06,</a:t>
            </a:r>
          </a:p>
          <a:p>
            <a:r>
              <a:t>      "spending_yoy_percent": 54.2,</a:t>
            </a:r>
          </a:p>
          <a:p>
            <a:r>
              <a:t>      "metric_changes_percent": {</a:t>
            </a:r>
          </a:p>
          <a:p>
            <a:r>
              <a:t>        "stay_minutes": 0.0,</a:t>
            </a:r>
          </a:p>
          <a:p>
            <a:r>
              <a:t>        "lodging_nights": 2.15,</a:t>
            </a:r>
          </a:p>
          <a:p>
            <a:r>
              <a:t>        "lodging_rate_pct": 0.0,</a:t>
            </a:r>
          </a:p>
          <a:p>
            <a:r>
              <a:t>        "lodging_searches": -1.09,</a:t>
            </a:r>
          </a:p>
          <a:p>
            <a:r>
              <a:t>        "navigation_searches": 0.0</a:t>
            </a:r>
          </a:p>
          <a:p>
            <a:r>
              <a:t>      },</a:t>
            </a:r>
          </a:p>
          <a:p>
            <a:r>
              <a:t>      "previous_year_visitors": 2099852,</a:t>
            </a:r>
          </a:p>
          <a:p>
            <a:r>
              <a:t>      "previous_year_spending_krw": 53760591000,</a:t>
            </a:r>
          </a:p>
          <a:p>
            <a:r>
              <a:t>      "previous_year_stay_minutes": 1866.0,</a:t>
            </a:r>
          </a:p>
          <a:p>
            <a:r>
              <a:t>      "previous_year_lodging_nights": 2.79,</a:t>
            </a:r>
          </a:p>
          <a:p>
            <a:r>
              <a:t>      "previous_year_lodging_rate_pct": 14.1,</a:t>
            </a:r>
          </a:p>
          <a:p>
            <a:r>
              <a:t>      "previous_year_lodging_searches": 28798,</a:t>
            </a:r>
          </a:p>
          <a:p>
            <a:r>
              <a:t>      "previous_year_navigation_searches": 221560</a:t>
            </a:r>
          </a:p>
          <a:p>
            <a:r>
              <a:t>    },</a:t>
            </a:r>
          </a:p>
          <a:p>
            <a:r>
              <a:t>    {</a:t>
            </a:r>
          </a:p>
          <a:p>
            <a:r>
              <a:t>      "month": "202701",</a:t>
            </a:r>
          </a:p>
          <a:p>
            <a:r>
              <a:t>      "visitors": 2042060,</a:t>
            </a:r>
          </a:p>
          <a:p>
            <a:r>
              <a:t>      "is_forecast": true,</a:t>
            </a:r>
          </a:p>
          <a:p>
            <a:r>
              <a:t>      "spending_krw": 92579612143,</a:t>
            </a:r>
          </a:p>
          <a:p>
            <a:r>
              <a:t>      "stay_minutes": 1936.0,</a:t>
            </a:r>
          </a:p>
          <a:p>
            <a:r>
              <a:t>      "lodging_nights": 2.87,</a:t>
            </a:r>
          </a:p>
          <a:p>
            <a:r>
              <a:t>      "lodging_rate_pct": 13.7,</a:t>
            </a:r>
          </a:p>
          <a:p>
            <a:r>
              <a:t>      "lodging_searches": 26563,</a:t>
            </a:r>
          </a:p>
          <a:p>
            <a:r>
              <a:t>      "navigation_searches": 205632,</a:t>
            </a:r>
          </a:p>
          <a:p>
            <a:r>
              <a:t>      "visitor_yoy_percent": -2.23,</a:t>
            </a:r>
          </a:p>
          <a:p>
            <a:r>
              <a:t>      "spending_yoy_percent": 80.91,</a:t>
            </a:r>
          </a:p>
          <a:p>
            <a:r>
              <a:t>      "metric_changes_percent": {</a:t>
            </a:r>
          </a:p>
          <a:p>
            <a:r>
              <a:t>        "stay_minutes": 0.0,</a:t>
            </a:r>
          </a:p>
          <a:p>
            <a:r>
              <a:t>        "lodging_nights": 1.06,</a:t>
            </a:r>
          </a:p>
          <a:p>
            <a:r>
              <a:t>        "lodging_rate_pct": 0.0,</a:t>
            </a:r>
          </a:p>
          <a:p>
            <a:r>
              <a:t>        "lodging_searches": -0.09,</a:t>
            </a:r>
          </a:p>
          <a:p>
            <a:r>
              <a:t>        "navigation_searches": 0.0</a:t>
            </a:r>
          </a:p>
          <a:p>
            <a:r>
              <a:t>      },</a:t>
            </a:r>
          </a:p>
          <a:p>
            <a:r>
              <a:t>      "previous_year_visitors": 2088569,</a:t>
            </a:r>
          </a:p>
          <a:p>
            <a:r>
              <a:t>      "previous_year_spending_krw": 51173582000,</a:t>
            </a:r>
          </a:p>
          <a:p>
            <a:r>
              <a:t>      "previous_year_stay_minutes": 1936.0,</a:t>
            </a:r>
          </a:p>
          <a:p>
            <a:r>
              <a:t>      "previous_year_lodging_nights": 2.84,</a:t>
            </a:r>
          </a:p>
          <a:p>
            <a:r>
              <a:t>      "previous_year_lodging_rate_pct": 13.7,</a:t>
            </a:r>
          </a:p>
          <a:p>
            <a:r>
              <a:t>      "previous_year_lodging_searches": 26588,</a:t>
            </a:r>
          </a:p>
          <a:p>
            <a:r>
              <a:t>      "previous_year_navigation_searches": 205632</a:t>
            </a:r>
          </a:p>
          <a:p>
            <a:r>
              <a:t>    },</a:t>
            </a:r>
          </a:p>
          <a:p>
            <a:r>
              <a:t>    {</a:t>
            </a:r>
          </a:p>
          <a:p>
            <a:r>
              <a:t>      "month": "202702",</a:t>
            </a:r>
          </a:p>
          <a:p>
            <a:r>
              <a:t>      "visitors": 2227050,</a:t>
            </a:r>
          </a:p>
          <a:p>
            <a:r>
              <a:t>      "is_forecast": true,</a:t>
            </a:r>
          </a:p>
          <a:p>
            <a:r>
              <a:t>      "spending_krw": 103534829257,</a:t>
            </a:r>
          </a:p>
          <a:p>
            <a:r>
              <a:t>      "stay_minutes": 1714.0,</a:t>
            </a:r>
          </a:p>
          <a:p>
            <a:r>
              <a:t>      "lodging_nights": 2.82,</a:t>
            </a:r>
          </a:p>
          <a:p>
            <a:r>
              <a:t>      "lodging_rate_pct": 15.7,</a:t>
            </a:r>
          </a:p>
          <a:p>
            <a:r>
              <a:t>      "lodging_searches": 25082,</a:t>
            </a:r>
          </a:p>
          <a:p>
            <a:r>
              <a:t>      "navigation_searches": 210385,</a:t>
            </a:r>
          </a:p>
          <a:p>
            <a:r>
              <a:t>      "visitor_yoy_percent": 3.2,</a:t>
            </a:r>
          </a:p>
          <a:p>
            <a:r>
              <a:t>      "spending_yoy_percent": 104.79,</a:t>
            </a:r>
          </a:p>
          <a:p>
            <a:r>
              <a:t>      "metric_changes_percent": {</a:t>
            </a:r>
          </a:p>
          <a:p>
            <a:r>
              <a:t>        "stay_minutes": 0.0,</a:t>
            </a:r>
          </a:p>
          <a:p>
            <a:r>
              <a:t>        "lodging_nights": 0.36,</a:t>
            </a:r>
          </a:p>
          <a:p>
            <a:r>
              <a:t>        "lodging_rate_pct": 0.0,</a:t>
            </a:r>
          </a:p>
          <a:p>
            <a:r>
              <a:t>        "lodging_searches": 2.79,</a:t>
            </a:r>
          </a:p>
          <a:p>
            <a:r>
              <a:t>        "navigation_searches": 0.0</a:t>
            </a:r>
          </a:p>
          <a:p>
            <a:r>
              <a:t>      },</a:t>
            </a:r>
          </a:p>
          <a:p>
            <a:r>
              <a:t>      "previous_year_visitors": 2157943,</a:t>
            </a:r>
          </a:p>
          <a:p>
            <a:r>
              <a:t>      "previous_year_spending_krw": 50557418000,</a:t>
            </a:r>
          </a:p>
          <a:p>
            <a:r>
              <a:t>      "previous_year_stay_minutes": 1714.0,</a:t>
            </a:r>
          </a:p>
          <a:p>
            <a:r>
              <a:t>      "previous_year_lodging_nights": 2.81,</a:t>
            </a:r>
          </a:p>
          <a:p>
            <a:r>
              <a:t>      "previous_year_lodging_rate_pct": 15.7,</a:t>
            </a:r>
          </a:p>
          <a:p>
            <a:r>
              <a:t>      "previous_year_lodging_searches": 24402,</a:t>
            </a:r>
          </a:p>
          <a:p>
            <a:r>
              <a:t>      "previous_year_navigation_searches": 210385</a:t>
            </a:r>
          </a:p>
          <a:p>
            <a:r>
              <a:t>    }</a:t>
            </a:r>
          </a:p>
          <a:p>
            <a:r>
              <a:t>  ],</a:t>
            </a:r>
          </a:p>
          <a:p>
            <a:r>
              <a:t>  "evaluation": {</a:t>
            </a:r>
          </a:p>
          <a:p>
            <a:r>
              <a:t>    "metrics": {</a:t>
            </a:r>
          </a:p>
          <a:p>
            <a:r>
              <a:t>      "visitors": {</a:t>
            </a:r>
          </a:p>
          <a:p>
            <a:r>
              <a:t>        "test_mae": 103646.64,</a:t>
            </a:r>
          </a:p>
          <a:p>
            <a:r>
              <a:t>        "recursive_mae": {</a:t>
            </a:r>
          </a:p>
          <a:p>
            <a:r>
              <a:t>          "1": {</a:t>
            </a:r>
          </a:p>
          <a:p>
            <a:r>
              <a:t>            "baseline": 123311.5,</a:t>
            </a:r>
          </a:p>
          <a:p>
            <a:r>
              <a:t>            "selected": 95222.0,</a:t>
            </a:r>
          </a:p>
          <a:p>
            <a:r>
              <a:t>            "sample_count": 2</a:t>
            </a:r>
          </a:p>
          <a:p>
            <a:r>
              <a:t>          },</a:t>
            </a:r>
          </a:p>
          <a:p>
            <a:r>
              <a:t>          "2": {</a:t>
            </a:r>
          </a:p>
          <a:p>
            <a:r>
              <a:t>            "baseline": 90511.0,</a:t>
            </a:r>
          </a:p>
          <a:p>
            <a:r>
              <a:t>            "selected": 105947.5,</a:t>
            </a:r>
          </a:p>
          <a:p>
            <a:r>
              <a:t>            "sample_count": 2</a:t>
            </a:r>
          </a:p>
          <a:p>
            <a:r>
              <a:t>          },</a:t>
            </a:r>
          </a:p>
          <a:p>
            <a:r>
              <a:t>          "3": {</a:t>
            </a:r>
          </a:p>
          <a:p>
            <a:r>
              <a:t>            "baseline": 61165.0,</a:t>
            </a:r>
          </a:p>
          <a:p>
            <a:r>
              <a:t>            "selected": 93227.0,</a:t>
            </a:r>
          </a:p>
          <a:p>
            <a:r>
              <a:t>            "sample_count": 2</a:t>
            </a:r>
          </a:p>
          <a:p>
            <a:r>
              <a:t>          }</a:t>
            </a:r>
          </a:p>
          <a:p>
            <a:r>
              <a:t>        },</a:t>
            </a:r>
          </a:p>
          <a:p>
            <a:r>
              <a:t>        "selected_model": "RandomForestRegressor",</a:t>
            </a:r>
          </a:p>
          <a:p>
            <a:r>
              <a:t>        "baseline_test_mae": 92238.25,</a:t>
            </a:r>
          </a:p>
          <a:p>
            <a:r>
              <a:t>        "model_reliability": "below_baseline_on_test",</a:t>
            </a:r>
          </a:p>
          <a:p>
            <a:r>
              <a:t>        "beats_baseline_on_test": false,</a:t>
            </a:r>
          </a:p>
          <a:p>
            <a:r>
              <a:t>        "recursive_horizons_worse_than_baseline": [</a:t>
            </a:r>
          </a:p>
          <a:p>
            <a:r>
              <a:t>          "2",</a:t>
            </a:r>
          </a:p>
          <a:p>
            <a:r>
              <a:t>          "3"</a:t>
            </a:r>
          </a:p>
          <a:p>
            <a:r>
              <a:t>        ]</a:t>
            </a:r>
          </a:p>
          <a:p>
            <a:r>
              <a:t>      },</a:t>
            </a:r>
          </a:p>
          <a:p>
            <a:r>
              <a:t>      "spending_krw": {</a:t>
            </a:r>
          </a:p>
          <a:p>
            <a:r>
              <a:t>        "test_mae": 8003403761.33,</a:t>
            </a:r>
          </a:p>
          <a:p>
            <a:r>
              <a:t>        "recursive_mae": {</a:t>
            </a:r>
          </a:p>
          <a:p>
            <a:r>
              <a:t>          "1": {</a:t>
            </a:r>
          </a:p>
          <a:p>
            <a:r>
              <a:t>            "baseline": 5076101500.0,</a:t>
            </a:r>
          </a:p>
          <a:p>
            <a:r>
              <a:t>            "selected": 7122970056.0,</a:t>
            </a:r>
          </a:p>
          <a:p>
            <a:r>
              <a:t>            "sample_count": 2</a:t>
            </a:r>
          </a:p>
          <a:p>
            <a:r>
              <a:t>          },</a:t>
            </a:r>
          </a:p>
          <a:p>
            <a:r>
              <a:t>          "2": {</a:t>
            </a:r>
          </a:p>
          <a:p>
            <a:r>
              <a:t>            "baseline": 6206652500.0,</a:t>
            </a:r>
          </a:p>
          <a:p>
            <a:r>
              <a:t>            "selected": 11322988654.0,</a:t>
            </a:r>
          </a:p>
          <a:p>
            <a:r>
              <a:t>            "sample_count": 2</a:t>
            </a:r>
          </a:p>
          <a:p>
            <a:r>
              <a:t>          },</a:t>
            </a:r>
          </a:p>
          <a:p>
            <a:r>
              <a:t>          "3": {</a:t>
            </a:r>
          </a:p>
          <a:p>
            <a:r>
              <a:t>            "baseline": 4379312000.0,</a:t>
            </a:r>
          </a:p>
          <a:p>
            <a:r>
              <a:t>            "selected": 12415950624.0,</a:t>
            </a:r>
          </a:p>
          <a:p>
            <a:r>
              <a:t>            "sample_count": 2</a:t>
            </a:r>
          </a:p>
          <a:p>
            <a:r>
              <a:t>          }</a:t>
            </a:r>
          </a:p>
          <a:p>
            <a:r>
              <a:t>        },</a:t>
            </a:r>
          </a:p>
          <a:p>
            <a:r>
              <a:t>        "selected_model": "LinearRegression",</a:t>
            </a:r>
          </a:p>
          <a:p>
            <a:r>
              <a:t>        "baseline_test_mae": 4727706750.0,</a:t>
            </a:r>
          </a:p>
          <a:p>
            <a:r>
              <a:t>        "model_reliability": "below_baseline_on_test",</a:t>
            </a:r>
          </a:p>
          <a:p>
            <a:r>
              <a:t>        "beats_baseline_on_test": false,</a:t>
            </a:r>
          </a:p>
          <a:p>
            <a:r>
              <a:t>        "recursive_horizons_worse_than_baseline": [</a:t>
            </a:r>
          </a:p>
          <a:p>
            <a:r>
              <a:t>          "1",</a:t>
            </a:r>
          </a:p>
          <a:p>
            <a:r>
              <a:t>          "2",</a:t>
            </a:r>
          </a:p>
          <a:p>
            <a:r>
              <a:t>          "3"</a:t>
            </a:r>
          </a:p>
          <a:p>
            <a:r>
              <a:t>        ]</a:t>
            </a:r>
          </a:p>
          <a:p>
            <a:r>
              <a:t>      },</a:t>
            </a:r>
          </a:p>
          <a:p>
            <a:r>
              <a:t>      "stay_minutes": {</a:t>
            </a:r>
          </a:p>
          <a:p>
            <a:r>
              <a:t>        "test_mae": 208.5,</a:t>
            </a:r>
          </a:p>
          <a:p>
            <a:r>
              <a:t>        "recursive_mae": {</a:t>
            </a:r>
          </a:p>
          <a:p>
            <a:r>
              <a:t>          "1": {</a:t>
            </a:r>
          </a:p>
          <a:p>
            <a:r>
              <a:t>            "baseline": 107.5,</a:t>
            </a:r>
          </a:p>
          <a:p>
            <a:r>
              <a:t>            "selected": 107.5,</a:t>
            </a:r>
          </a:p>
          <a:p>
            <a:r>
              <a:t>            "sample_count": 2</a:t>
            </a:r>
          </a:p>
          <a:p>
            <a:r>
              <a:t>          },</a:t>
            </a:r>
          </a:p>
          <a:p>
            <a:r>
              <a:t>          "2": {</a:t>
            </a:r>
          </a:p>
          <a:p>
            <a:r>
              <a:t>            "baseline": 360.0,</a:t>
            </a:r>
          </a:p>
          <a:p>
            <a:r>
              <a:t>            "selected": 360.0,</a:t>
            </a:r>
          </a:p>
          <a:p>
            <a:r>
              <a:t>            "sample_count": 2</a:t>
            </a:r>
          </a:p>
          <a:p>
            <a:r>
              <a:t>          },</a:t>
            </a:r>
          </a:p>
          <a:p>
            <a:r>
              <a:t>          "3": {</a:t>
            </a:r>
          </a:p>
          <a:p>
            <a:r>
              <a:t>            "baseline": 309.5,</a:t>
            </a:r>
          </a:p>
          <a:p>
            <a:r>
              <a:t>            "selected": 309.5,</a:t>
            </a:r>
          </a:p>
          <a:p>
            <a:r>
              <a:t>            "sample_count": 2</a:t>
            </a:r>
          </a:p>
          <a:p>
            <a:r>
              <a:t>          }</a:t>
            </a:r>
          </a:p>
          <a:p>
            <a:r>
              <a:t>        },</a:t>
            </a:r>
          </a:p>
          <a:p>
            <a:r>
              <a:t>        "selected_model": "seasonal_naive_previous_year_same_month",</a:t>
            </a:r>
          </a:p>
          <a:p>
            <a:r>
              <a:t>        "baseline_test_mae": 208.5,</a:t>
            </a:r>
          </a:p>
          <a:p>
            <a:r>
              <a:t>        "model_reliability": "seasonal_baseline",</a:t>
            </a:r>
          </a:p>
          <a:p>
            <a:r>
              <a:t>        "beats_baseline_on_test": false,</a:t>
            </a:r>
          </a:p>
          <a:p>
            <a:r>
              <a:t>        "recursive_horizons_worse_than_baseline": []</a:t>
            </a:r>
          </a:p>
          <a:p>
            <a:r>
              <a:t>      },</a:t>
            </a:r>
          </a:p>
          <a:p>
            <a:r>
              <a:t>      "lodging_nights": {</a:t>
            </a:r>
          </a:p>
          <a:p>
            <a:r>
              <a:t>        "test_mae": 0.1,</a:t>
            </a:r>
          </a:p>
          <a:p>
            <a:r>
              <a:t>        "recursive_mae": {</a:t>
            </a:r>
          </a:p>
          <a:p>
            <a:r>
              <a:t>          "1": {</a:t>
            </a:r>
          </a:p>
          <a:p>
            <a:r>
              <a:t>            "baseline": 0.06,</a:t>
            </a:r>
          </a:p>
          <a:p>
            <a:r>
              <a:t>            "selected": 0.09,</a:t>
            </a:r>
          </a:p>
          <a:p>
            <a:r>
              <a:t>            "sample_count": 2</a:t>
            </a:r>
          </a:p>
          <a:p>
            <a:r>
              <a:t>          },</a:t>
            </a:r>
          </a:p>
          <a:p>
            <a:r>
              <a:t>          "2": {</a:t>
            </a:r>
          </a:p>
          <a:p>
            <a:r>
              <a:t>            "baseline": 0.08,</a:t>
            </a:r>
          </a:p>
          <a:p>
            <a:r>
              <a:t>            "selected": 0.11,</a:t>
            </a:r>
          </a:p>
          <a:p>
            <a:r>
              <a:t>            "sample_count": 2</a:t>
            </a:r>
          </a:p>
          <a:p>
            <a:r>
              <a:t>          },</a:t>
            </a:r>
          </a:p>
          <a:p>
            <a:r>
              <a:t>          "3": {</a:t>
            </a:r>
          </a:p>
          <a:p>
            <a:r>
              <a:t>            "baseline": 0.07,</a:t>
            </a:r>
          </a:p>
          <a:p>
            <a:r>
              <a:t>            "selected": 0.11,</a:t>
            </a:r>
          </a:p>
          <a:p>
            <a:r>
              <a:t>            "sample_count": 2</a:t>
            </a:r>
          </a:p>
          <a:p>
            <a:r>
              <a:t>          }</a:t>
            </a:r>
          </a:p>
          <a:p>
            <a:r>
              <a:t>        },</a:t>
            </a:r>
          </a:p>
          <a:p>
            <a:r>
              <a:t>        "selected_model": "LinearRegression",</a:t>
            </a:r>
          </a:p>
          <a:p>
            <a:r>
              <a:t>        "baseline_test_mae": 0.07,</a:t>
            </a:r>
          </a:p>
          <a:p>
            <a:r>
              <a:t>        "model_reliability": "below_baseline_on_test",</a:t>
            </a:r>
          </a:p>
          <a:p>
            <a:r>
              <a:t>        "beats_baseline_on_test": false,</a:t>
            </a:r>
          </a:p>
          <a:p>
            <a:r>
              <a:t>        "recursive_horizons_worse_than_baseline": [</a:t>
            </a:r>
          </a:p>
          <a:p>
            <a:r>
              <a:t>          "1",</a:t>
            </a:r>
          </a:p>
          <a:p>
            <a:r>
              <a:t>          "2",</a:t>
            </a:r>
          </a:p>
          <a:p>
            <a:r>
              <a:t>          "3"</a:t>
            </a:r>
          </a:p>
          <a:p>
            <a:r>
              <a:t>        ]</a:t>
            </a:r>
          </a:p>
          <a:p>
            <a:r>
              <a:t>      },</a:t>
            </a:r>
          </a:p>
          <a:p>
            <a:r>
              <a:t>      "lodging_rate_pct": {</a:t>
            </a:r>
          </a:p>
          <a:p>
            <a:r>
              <a:t>        "test_mae": 0.57,</a:t>
            </a:r>
          </a:p>
          <a:p>
            <a:r>
              <a:t>        "recursive_mae": {</a:t>
            </a:r>
          </a:p>
          <a:p>
            <a:r>
              <a:t>          "1": {</a:t>
            </a:r>
          </a:p>
          <a:p>
            <a:r>
              <a:t>            "baseline": 0.8,</a:t>
            </a:r>
          </a:p>
          <a:p>
            <a:r>
              <a:t>            "selected": 0.8,</a:t>
            </a:r>
          </a:p>
          <a:p>
            <a:r>
              <a:t>            "sample_count": 2</a:t>
            </a:r>
          </a:p>
          <a:p>
            <a:r>
              <a:t>          },</a:t>
            </a:r>
          </a:p>
          <a:p>
            <a:r>
              <a:t>          "2": {</a:t>
            </a:r>
          </a:p>
          <a:p>
            <a:r>
              <a:t>            "baseline": 0.3,</a:t>
            </a:r>
          </a:p>
          <a:p>
            <a:r>
              <a:t>            "selected": 0.3,</a:t>
            </a:r>
          </a:p>
          <a:p>
            <a:r>
              <a:t>            "sample_count": 2</a:t>
            </a:r>
          </a:p>
          <a:p>
            <a:r>
              <a:t>          },</a:t>
            </a:r>
          </a:p>
          <a:p>
            <a:r>
              <a:t>          "3": {</a:t>
            </a:r>
          </a:p>
          <a:p>
            <a:r>
              <a:t>            "baseline": 0.35,</a:t>
            </a:r>
          </a:p>
          <a:p>
            <a:r>
              <a:t>            "selected": 0.35,</a:t>
            </a:r>
          </a:p>
          <a:p>
            <a:r>
              <a:t>            "sample_count": 2</a:t>
            </a:r>
          </a:p>
          <a:p>
            <a:r>
              <a:t>          }</a:t>
            </a:r>
          </a:p>
          <a:p>
            <a:r>
              <a:t>        },</a:t>
            </a:r>
          </a:p>
          <a:p>
            <a:r>
              <a:t>        "selected_model": "seasonal_naive_previous_year_same_month",</a:t>
            </a:r>
          </a:p>
          <a:p>
            <a:r>
              <a:t>        "baseline_test_mae": 0.57,</a:t>
            </a:r>
          </a:p>
          <a:p>
            <a:r>
              <a:t>        "model_reliability": "seasonal_baseline",</a:t>
            </a:r>
          </a:p>
          <a:p>
            <a:r>
              <a:t>        "beats_baseline_on_test": false,</a:t>
            </a:r>
          </a:p>
          <a:p>
            <a:r>
              <a:t>        "recursive_horizons_worse_than_baseline": []</a:t>
            </a:r>
          </a:p>
          <a:p>
            <a:r>
              <a:t>      },</a:t>
            </a:r>
          </a:p>
          <a:p>
            <a:r>
              <a:t>      "lodging_searches": {</a:t>
            </a:r>
          </a:p>
          <a:p>
            <a:r>
              <a:t>        "test_mae": 3695.69,</a:t>
            </a:r>
          </a:p>
          <a:p>
            <a:r>
              <a:t>        "recursive_mae": {</a:t>
            </a:r>
          </a:p>
          <a:p>
            <a:r>
              <a:t>          "1": {</a:t>
            </a:r>
          </a:p>
          <a:p>
            <a:r>
              <a:t>            "baseline": 2404.0,</a:t>
            </a:r>
          </a:p>
          <a:p>
            <a:r>
              <a:t>            "selected": 3550.0,</a:t>
            </a:r>
          </a:p>
          <a:p>
            <a:r>
              <a:t>            "sample_count": 2</a:t>
            </a:r>
          </a:p>
          <a:p>
            <a:r>
              <a:t>          },</a:t>
            </a:r>
          </a:p>
          <a:p>
            <a:r>
              <a:t>          "2": {</a:t>
            </a:r>
          </a:p>
          <a:p>
            <a:r>
              <a:t>            "baseline": 2584.5,</a:t>
            </a:r>
          </a:p>
          <a:p>
            <a:r>
              <a:t>            "selected": 3318.0,</a:t>
            </a:r>
          </a:p>
          <a:p>
            <a:r>
              <a:t>            "sample_count": 2</a:t>
            </a:r>
          </a:p>
          <a:p>
            <a:r>
              <a:t>          },</a:t>
            </a:r>
          </a:p>
          <a:p>
            <a:r>
              <a:t>          "3": {</a:t>
            </a:r>
          </a:p>
          <a:p>
            <a:r>
              <a:t>            "baseline": 2765.5,</a:t>
            </a:r>
          </a:p>
          <a:p>
            <a:r>
              <a:t>            "selected": 3897.5,</a:t>
            </a:r>
          </a:p>
          <a:p>
            <a:r>
              <a:t>            "sample_count": 2</a:t>
            </a:r>
          </a:p>
          <a:p>
            <a:r>
              <a:t>          }</a:t>
            </a:r>
          </a:p>
          <a:p>
            <a:r>
              <a:t>        },</a:t>
            </a:r>
          </a:p>
          <a:p>
            <a:r>
              <a:t>        "selected_model": "RandomForestRegressor",</a:t>
            </a:r>
          </a:p>
          <a:p>
            <a:r>
              <a:t>        "baseline_test_mae": 2584.75,</a:t>
            </a:r>
          </a:p>
          <a:p>
            <a:r>
              <a:t>        "model_reliability": "below_baseline_on_test",</a:t>
            </a:r>
          </a:p>
          <a:p>
            <a:r>
              <a:t>        "beats_baseline_on_test": false,</a:t>
            </a:r>
          </a:p>
          <a:p>
            <a:r>
              <a:t>        "recursive_horizons_worse_than_baseline": [</a:t>
            </a:r>
          </a:p>
          <a:p>
            <a:r>
              <a:t>          "1",</a:t>
            </a:r>
          </a:p>
          <a:p>
            <a:r>
              <a:t>          "2",</a:t>
            </a:r>
          </a:p>
          <a:p>
            <a:r>
              <a:t>          "3"</a:t>
            </a:r>
          </a:p>
          <a:p>
            <a:r>
              <a:t>        ]</a:t>
            </a:r>
          </a:p>
          <a:p>
            <a:r>
              <a:t>      },</a:t>
            </a:r>
          </a:p>
          <a:p>
            <a:r>
              <a:t>      "navigation_searches": {</a:t>
            </a:r>
          </a:p>
          <a:p>
            <a:r>
              <a:t>        "test_mae": 26562.0,</a:t>
            </a:r>
          </a:p>
          <a:p>
            <a:r>
              <a:t>        "recursive_mae": {</a:t>
            </a:r>
          </a:p>
          <a:p>
            <a:r>
              <a:t>          "1": {</a:t>
            </a:r>
          </a:p>
          <a:p>
            <a:r>
              <a:t>            "baseline": 30053.5,</a:t>
            </a:r>
          </a:p>
          <a:p>
            <a:r>
              <a:t>            "selected": 30053.5,</a:t>
            </a:r>
          </a:p>
          <a:p>
            <a:r>
              <a:t>            "sample_count": 2</a:t>
            </a:r>
          </a:p>
          <a:p>
            <a:r>
              <a:t>          },</a:t>
            </a:r>
          </a:p>
          <a:p>
            <a:r>
              <a:t>          "2": {</a:t>
            </a:r>
          </a:p>
          <a:p>
            <a:r>
              <a:t>            "baseline": 40942.5,</a:t>
            </a:r>
          </a:p>
          <a:p>
            <a:r>
              <a:t>            "selected": 40942.5,</a:t>
            </a:r>
          </a:p>
          <a:p>
            <a:r>
              <a:t>            "sample_count": 2</a:t>
            </a:r>
          </a:p>
          <a:p>
            <a:r>
              <a:t>          },</a:t>
            </a:r>
          </a:p>
          <a:p>
            <a:r>
              <a:t>          "3": {</a:t>
            </a:r>
          </a:p>
          <a:p>
            <a:r>
              <a:t>            "baseline": 23070.5,</a:t>
            </a:r>
          </a:p>
          <a:p>
            <a:r>
              <a:t>            "selected": 23070.5,</a:t>
            </a:r>
          </a:p>
          <a:p>
            <a:r>
              <a:t>            "sample_count": 2</a:t>
            </a:r>
          </a:p>
          <a:p>
            <a:r>
              <a:t>          }</a:t>
            </a:r>
          </a:p>
          <a:p>
            <a:r>
              <a:t>        },</a:t>
            </a:r>
          </a:p>
          <a:p>
            <a:r>
              <a:t>        "selected_model": "seasonal_naive_previous_year_same_month",</a:t>
            </a:r>
          </a:p>
          <a:p>
            <a:r>
              <a:t>        "baseline_test_mae": 26562.0,</a:t>
            </a:r>
          </a:p>
          <a:p>
            <a:r>
              <a:t>        "model_reliability": "seasonal_baseline",</a:t>
            </a:r>
          </a:p>
          <a:p>
            <a:r>
              <a:t>        "beats_baseline_on_test": false,</a:t>
            </a:r>
          </a:p>
          <a:p>
            <a:r>
              <a:t>        "recursive_horizons_worse_than_baseline": []</a:t>
            </a:r>
          </a:p>
          <a:p>
            <a:r>
              <a:t>      }</a:t>
            </a:r>
          </a:p>
          <a:p>
            <a:r>
              <a:t>    },</a:t>
            </a:r>
          </a:p>
          <a:p>
            <a:r>
              <a:t>    "test_period": "202603~202606",</a:t>
            </a:r>
          </a:p>
          <a:p>
            <a:r>
              <a:t>    "selection_basis": "validation_mae_only",</a:t>
            </a:r>
          </a:p>
          <a:p>
            <a:r>
              <a:t>    "validation_period": "202512~202602",</a:t>
            </a:r>
          </a:p>
          <a:p>
            <a:r>
              <a:t>    "longer_horizon_status": "exploratory_not_recursively_backtested",</a:t>
            </a:r>
          </a:p>
          <a:p>
            <a:r>
              <a:t>    "forecast_horizon_months": 8,</a:t>
            </a:r>
          </a:p>
          <a:p>
            <a:r>
              <a:t>    "recursive_backtest_horizon_months": [</a:t>
            </a:r>
          </a:p>
          <a:p>
            <a:r>
              <a:t>      1,</a:t>
            </a:r>
          </a:p>
          <a:p>
            <a:r>
              <a:t>      2,</a:t>
            </a:r>
          </a:p>
          <a:p>
            <a:r>
              <a:t>      3</a:t>
            </a:r>
          </a:p>
          <a:p>
            <a:r>
              <a:t>    ]</a:t>
            </a:r>
          </a:p>
          <a:p>
            <a:r>
              <a:t>  },</a:t>
            </a:r>
          </a:p>
          <a:p>
            <a:r>
              <a:t>  "execution_scenario": {</a:t>
            </a:r>
          </a:p>
          <a:p>
            <a:r>
              <a:t>    "visitor_target_pct": 5.0,</a:t>
            </a:r>
          </a:p>
          <a:p>
            <a:r>
              <a:t>    "spending_target_pct": 5.0</a:t>
            </a:r>
          </a:p>
          <a:p>
            <a:r>
              <a:t>  },</a:t>
            </a:r>
          </a:p>
          <a:p>
            <a:r>
              <a:t>  "reference_estimate": {</a:t>
            </a:r>
          </a:p>
          <a:p>
            <a:r>
              <a:t>    "status": "saved_report_budget",</a:t>
            </a:r>
          </a:p>
          <a:p>
            <a:r>
              <a:t>    "total_label": "총액 미확정",</a:t>
            </a:r>
          </a:p>
          <a:p>
            <a:r>
              <a:t>    "rows": [</a:t>
            </a:r>
          </a:p>
          <a:p>
            <a:r>
              <a:t>      [</a:t>
            </a:r>
          </a:p>
          <a:p>
            <a:r>
              <a:t>        "산정 내역 1",</a:t>
            </a:r>
          </a:p>
          <a:p>
            <a:r>
              <a:t>        "기획 가정/미확정 참고 견적: 운영 콘텐츠 수×콘텐츠별 비교견적 + 운영일수×일일 운영·안전 견적 + 참여업체 수×업체 준비비 견적 + 측정 원장 1식×구축 견적. 사업 담당자가 착수 전 수량을 정하고 회계 담당자가 같은 조건의 비교견적 2건 이상으로 단가·부가세·총액을 확정함.",</a:t>
            </a:r>
          </a:p>
          <a:p>
            <a:r>
              <a:t>        "본문 기준"</a:t>
            </a:r>
          </a:p>
          <a:p>
            <a:r>
              <a:t>      ]</a:t>
            </a:r>
          </a:p>
          <a:p>
            <a:r>
              <a:t>    ],</a:t>
            </a:r>
          </a:p>
          <a:p>
            <a:r>
              <a:t>    "original_text": "기획 가정/미확정 참고 견적: 운영 콘텐츠 수×콘텐츠별 비교견적 + 운영일수×일일 운영·안전 견적 + 참여업체 수×업체 준비비 견적 + 측정 원장 1식×구축 견적. 사업 담당자가 착수 전 수량을 정하고 회계 담당자가 같은 조건의 비교견적 2건 이상으로 단가·부가세·총액을 확정함.",</a:t>
            </a:r>
          </a:p>
          <a:p>
            <a:r>
              <a:t>    "sources": [],</a:t>
            </a:r>
          </a:p>
          <a:p>
            <a:r>
              <a:t>    "note": "저장 기획안의 예산 산정 내용을 그대로 표시합니다. 확정 견적이 아니며 계약 전 수량·단가·세금과 합계를 확인합니다."</a:t>
            </a:r>
          </a:p>
          <a:p>
            <a:r>
              <a:t>  }</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관측값·저장 예측·계획 목표는 별개입니다. 문서용 참고 견적이며 원 보고서의 검수 결과를 변경하지 않습니다.</a:t>
            </a:r>
          </a:p>
          <a:p xmlns:a="http://schemas.openxmlformats.org/drawingml/2006/main">
            <a:r>
              <a:t>[Sources]</a:t>
            </a:r>
          </a:p>
          <a:p xmlns:a="http://schemas.openxmlformats.org/drawingml/2006/main">
            <a:r>
              <a:t>dataset:51130:1 | 한국관광 데이터랩 · 강원특별자치도 원주시 순 방문자 수 및 숙박 비율 (이동통신 기반 외지인) | https://datalab.visitkorea.or.kr/</a:t>
            </a:r>
          </a:p>
          <a:p xmlns:a="http://schemas.openxmlformats.org/drawingml/2006/main">
            <a:r>
              <a:t>dataset:51130:2 | 한국관광 데이터랩 · 강원특별자치도 원주시 월간 순 방문자 수 (이동통신 기반 외지인) | https://datalab.visitkorea.or.kr/</a:t>
            </a:r>
          </a:p>
          <a:p xmlns:a="http://schemas.openxmlformats.org/drawingml/2006/main">
            <a:r>
              <a:t>dataset:51130:3 | 한국관광 데이터랩 · 강원특별자치도 원주시 관광소비 추이_외지인 | https://datalab.visitkorea.or.kr/</a:t>
            </a:r>
          </a:p>
          <a:p xmlns:a="http://schemas.openxmlformats.org/drawingml/2006/main">
            <a:r>
              <a:t>dataset:51130:4 | 한국관광 데이터랩 · 강원특별자치도 원주시 숙박방문자 비율 추이 (이동통신 기반 외지인) | https://datalab.visitkorea.or.kr/</a:t>
            </a:r>
          </a:p>
          <a:p xmlns:a="http://schemas.openxmlformats.org/drawingml/2006/main">
            <a:r>
              <a:t>dataset:51130:5 | 한국관광 데이터랩 · 강원특별자치도 원주시 평균 숙박일 (이동통신 기반 외지인) | https://datalab.visitkorea.or.kr/</a:t>
            </a:r>
          </a:p>
          <a:p xmlns:a="http://schemas.openxmlformats.org/drawingml/2006/main">
            <a:r>
              <a:t>dataset:51130:6 | 한국관광 데이터랩 · 강원특별자치도 원주시 내비게이션 목적지 유형별 검색량 | https://datalab.visitkorea.or.kr/</a:t>
            </a:r>
          </a:p>
          <a:p xmlns:a="http://schemas.openxmlformats.org/drawingml/2006/main">
            <a:r>
              <a:t>dataset:51130:7 | 한국관광 데이터랩 · 강원특별자치도 원주시 SNS 언급량 | https://datalab.visitkorea.or.kr/</a:t>
            </a:r>
          </a:p>
          <a:p xmlns:a="http://schemas.openxmlformats.org/drawingml/2006/main">
            <a:r>
              <a:t>datalab:16d84bd9b1d0:620b2639a268 | 한국관광 데이터랩 공식 다운로드 · 강원특별자치도_원주시/숙박_체류시간/2025_01_12.zip | https://datalab.visitkorea.or.kr/</a:t>
            </a:r>
          </a:p>
          <a:p xmlns:a="http://schemas.openxmlformats.org/drawingml/2006/main">
            <a:r>
              <a:t>datalab:242a2c1249d4:f84e1a5f3914 | 한국관광 데이터랩 공식 다운로드 · 강원특별자치도_원주시/숙박_체류시간/2026_01_06.zip | https://datalab.visitkorea.or.kr/</a:t>
            </a:r>
          </a:p>
          <a:p xmlns:a="http://schemas.openxmlformats.org/drawingml/2006/main">
            <a:r>
              <a:t>datalab:a050e5a84ef4:3906c6ac70a7 | 한국관광 데이터랩 공식 다운로드 · 강원특별자치도_원주시/방문자/2025_01_12.zip | https://datalab.visitkorea.or.kr/</a:t>
            </a:r>
          </a:p>
          <a:p xmlns:a="http://schemas.openxmlformats.org/drawingml/2006/main">
            <a:r>
              <a:t>datalab:bd9d3d26da19:991f2264ad4a | 한국관광 데이터랩 공식 다운로드 · 강원특별자치도_원주시/방문자/2026_01_06.zip | https://datalab.visitkorea.or.kr/</a:t>
            </a:r>
          </a:p>
          <a:p xmlns:a="http://schemas.openxmlformats.org/drawingml/2006/main">
            <a:r>
              <a:t>datalab:d54a3fb44037:ee4640b6178b | 한국관광 데이터랩 공식 다운로드 · 강원특별자치도_원주시/관광소비/2026_01_06.zip | https://datalab.visitkorea.or.kr/</a:t>
            </a:r>
          </a:p>
          <a:p xmlns:a="http://schemas.openxmlformats.org/drawingml/2006/main">
            <a:r>
              <a:t>datalab:ebce91b8bf02:1770c2d94cc6 | 한국관광 데이터랩 공식 다운로드 · 강원특별자치도_원주시/관광소비/2025_01_12.zip | https://datalab.visitkorea.or.kr/</a:t>
            </a:r>
          </a:p>
          <a:p xmlns:a="http://schemas.openxmlformats.org/drawingml/2006/main">
            <a:r>
              <a:t>team-bigdata:23ea68053684:6bfbcf8aabf6 | 한국관광 데이터랩 전국 빅데이터 다운로드 · 이동통신/내국인/지역별 방문자수/20260820140607__202601-202606_데이터랩_다운로드.zip | https://datalab.visitkorea.or.kr/</a:t>
            </a:r>
          </a:p>
          <a:p xmlns:a="http://schemas.openxmlformats.org/drawingml/2006/main">
            <a:r>
              <a:t>team-bigdata:98d4ae590d9a:3be52dd54323 | 한국관광 데이터랩 전국 빅데이터 다운로드 · 이동통신/외국인/20260820141710_전국_202601-202606_데이터랩_다운로드.zip | https://datalab.visitkorea.or.kr/</a:t>
            </a:r>
          </a:p>
          <a:p xmlns:a="http://schemas.openxmlformats.org/drawingml/2006/main">
            <a:r>
              <a:t>team-bigdata:367cd0294ec4:873930d645e5 | 한국관광 데이터랩 전국 빅데이터 다운로드 · 신용카드/내국인/지역별 관광지출액/20260820140046__202601-202606_데이터랩_다운로드.zip | https://datalab.visitkorea.or.kr/</a:t>
            </a:r>
          </a:p>
          <a:p xmlns:a="http://schemas.openxmlformats.org/drawingml/2006/main">
            <a:r>
              <a:t>team-bigdata:553a0dad4bb4:5a31355dffe8 | 한국관광 데이터랩 전국 빅데이터 다운로드 · 신용카드/외국인/지역별 관광지출액/20260820140355__202601-202606_데이터랩_다운로드.zip | https://datalab.visitkorea.or.kr/</a:t>
            </a:r>
          </a:p>
          <a:p xmlns:a="http://schemas.openxmlformats.org/drawingml/2006/main">
            <a:r>
              <a:t>team-bigdata:a53dbe1c21df:77a052de41d5 | 한국관광 데이터랩 전국 빅데이터 다운로드 · 네비게이션/지역별 검색건수/20260820195507__202601-202606_데이터랩_다운로드.zip | https://datalab.visitkorea.or.kr/</a:t>
            </a:r>
          </a:p>
          <a:p xmlns:a="http://schemas.openxmlformats.org/drawingml/2006/main">
            <a:r>
              <a:t>team-bigdata:823a38d1d61c:5385261d02e5 | 한국관광 데이터랩 전국 빅데이터 다운로드 · 이동통신/내국인/지역별 방문자수/20260820140614__202501-202512_데이터랩_다운로드.zip | https://datalab.visitkorea.or.kr/</a:t>
            </a:r>
          </a:p>
          <a:p xmlns:a="http://schemas.openxmlformats.org/drawingml/2006/main">
            <a:r>
              <a:t>team-bigdata:2723bdb0d589:1666a34058ed | 한국관광 데이터랩 전국 빅데이터 다운로드 · 이동통신/외국인/20260820141649_전국_202501-202512_데이터랩_다운로드.zip | https://datalab.visitkorea.or.kr/</a:t>
            </a:r>
          </a:p>
          <a:p xmlns:a="http://schemas.openxmlformats.org/drawingml/2006/main">
            <a:r>
              <a:t>team-bigdata:83177a234971:c02cb7972e0f | 한국관광 데이터랩 전국 빅데이터 다운로드 · 신용카드/내국인/지역별 관광지출액/20260820135957__202501-202512_데이터랩_다운로드.zip | https://datalab.visitkorea.or.kr/</a:t>
            </a:r>
          </a:p>
          <a:p xmlns:a="http://schemas.openxmlformats.org/drawingml/2006/main">
            <a:r>
              <a:t>team-bigdata:58ded7732251:589c76395cbc | 한국관광 데이터랩 전국 빅데이터 다운로드 · 신용카드/외국인/지역별 관광지출액/20260820140409__202501-202512_데이터랩_다운로드.zip | https://datalab.visitkorea.or.kr/</a:t>
            </a:r>
          </a:p>
          <a:p xmlns:a="http://schemas.openxmlformats.org/drawingml/2006/main">
            <a:r>
              <a:t>team-bigdata:e28c947cb52f:bb4cb344a6ba | 한국관광 데이터랩 전국 빅데이터 다운로드 · 네비게이션/지역별 검색건수/20260820132007__202501-202512_데이터랩_다운로드.zip | https://datalab.visitkorea.or.kr/</a:t>
            </a:r>
          </a:p>
          <a:p xmlns:a="http://schemas.openxmlformats.org/drawingml/2006/main">
            <a:r>
              <a:t>team-bigdata:8815bbb11a39:1a5988f5f8ec | 한국관광 데이터랩 전국 빅데이터 다운로드 · 이동통신/내국인/지역별 방문자수/20260820140624__202401-202412_데이터랩_다운로드.zip | https://datalab.visitkorea.or.kr/</a:t>
            </a:r>
          </a:p>
          <a:p xmlns:a="http://schemas.openxmlformats.org/drawingml/2006/main">
            <a:r>
              <a:t>team-bigdata:19fd67fbb73d:afa4f0f54a2f | 한국관광 데이터랩 전국 빅데이터 다운로드 · 이동통신/외국인/20260820141639_전국_202401-202412_데이터랩_다운로드.zip | https://datalab.visitkorea.or.kr/</a:t>
            </a:r>
          </a:p>
          <a:p xmlns:a="http://schemas.openxmlformats.org/drawingml/2006/main">
            <a:r>
              <a:t>regional-status:90f2be7a0f7d:b989a6c2e7bf | 한국관광 데이터랩 지역별 관광 현황 · 강원특별자치도 원주시 · 유입유출 | https://datalab.visitkorea.or.kr/</a:t>
            </a:r>
          </a:p>
          <a:p xmlns:a="http://schemas.openxmlformats.org/drawingml/2006/main">
            <a:r>
              <a:t>regional-status:c39767bd23e8:e3b081f6e6aa | 한국관광 데이터랩 지역별 관광 현황 · 강원특별자치도 원주시 · 지역집중률 | https://datalab.visitkorea.or.kr/</a:t>
            </a:r>
          </a:p>
          <a:p xmlns:a="http://schemas.openxmlformats.org/drawingml/2006/main">
            <a:r>
              <a:t>regional-status:edaf76986d99:c00fa7ffc0a7 | 한국관광 데이터랩 지역별 관광 현황 · 강원특별자치도 원주시 · 인기관광지 | https://datalab.visitkorea.or.kr/</a:t>
            </a:r>
          </a:p>
          <a:p xmlns:a="http://schemas.openxmlformats.org/drawingml/2006/main">
            <a:r>
              <a:t>ml:51130:regional-demand-v3.1:202606 | 지역 관광수요 ML 전망 · 공식 관측값 아님 | URL 미기록</a:t>
            </a:r>
          </a:p>
          <a:p xmlns:a="http://schemas.openxmlformats.org/drawingml/2006/main">
            <a:r>
              <a:t>tour-api:2732999 | 감악산캠핑숲 | https://apis.data.go.kr/B551011/KorService2</a:t>
            </a:r>
          </a:p>
          <a:p xmlns:a="http://schemas.openxmlformats.org/drawingml/2006/main">
            <a:r>
              <a:t>tour-api:2555010 | 강원감영관찰사·무릉고서화미술박물관 | https://apis.data.go.kr/B551011/KorService2</a:t>
            </a:r>
          </a:p>
          <a:p xmlns:a="http://schemas.openxmlformats.org/drawingml/2006/main">
            <a:r>
              <a:t>tour-api:2734136 | 강원도힐링캠핑장 | https://apis.data.go.kr/B551011/KorService2</a:t>
            </a:r>
          </a:p>
          <a:p xmlns:a="http://schemas.openxmlformats.org/drawingml/2006/main">
            <a:r>
              <a:t>tour-api:2702477 | 경천묘 | https://apis.data.go.kr/B551011/KorService2</a:t>
            </a:r>
          </a:p>
          <a:p xmlns:a="http://schemas.openxmlformats.org/drawingml/2006/main">
            <a:r>
              <a:t>tour-api:130539 | 고판화박물관 | https://apis.data.go.kr/B551011/KorService2</a:t>
            </a:r>
          </a:p>
          <a:p xmlns:a="http://schemas.openxmlformats.org/drawingml/2006/main">
            <a:r>
              <a:t>tour-api:125645 | 관음사·국형사계곡 | https://apis.data.go.kr/B551011/KorService2</a:t>
            </a:r>
          </a:p>
          <a:p xmlns:a="http://schemas.openxmlformats.org/drawingml/2006/main">
            <a:r>
              <a:t>tour-api:3356037 | 광화문갈비 원주점 | https://apis.data.go.kr/B551011/KorService2</a:t>
            </a:r>
          </a:p>
          <a:p xmlns:a="http://schemas.openxmlformats.org/drawingml/2006/main">
            <a:r>
              <a:t>tour-api:2762710 | 구 조선식산은행 원주지점 | https://apis.data.go.kr/B551011/KorService2</a:t>
            </a:r>
          </a:p>
          <a:p xmlns:a="http://schemas.openxmlformats.org/drawingml/2006/main">
            <a:r>
              <a:t>tour-api:125757 | 국형사 | https://apis.data.go.kr/B551011/KorService2</a:t>
            </a:r>
          </a:p>
          <a:p xmlns:a="http://schemas.openxmlformats.org/drawingml/2006/main">
            <a:r>
              <a:t>tour-api:2033279 | 금대 에코힐링 캠핑장 | https://apis.data.go.kr/B551011/KorService2</a:t>
            </a:r>
          </a:p>
          <a:p xmlns:a="http://schemas.openxmlformats.org/drawingml/2006/main">
            <a:r>
              <a:t>tour-api:129676 | 금대계곡 | https://apis.data.go.kr/B551011/KorService2</a:t>
            </a:r>
          </a:p>
          <a:p xmlns:a="http://schemas.openxmlformats.org/drawingml/2006/main">
            <a:r>
              <a:t>tour-api:2734906 | 금대자동차야영장 | https://apis.data.go.kr/B551011/KorService2</a:t>
            </a:r>
          </a:p>
          <a:p xmlns:a="http://schemas.openxmlformats.org/drawingml/2006/main">
            <a:r>
              <a:t>tour-api:2714800 | 기후변화홍보관 | https://apis.data.go.kr/B551011/KorService2</a:t>
            </a:r>
          </a:p>
          <a:p xmlns:a="http://schemas.openxmlformats.org/drawingml/2006/main">
            <a:r>
              <a:t>tour-api:2892327 | 김가네원주추어탕 | https://apis.data.go.kr/B551011/KorService2</a:t>
            </a:r>
          </a:p>
          <a:p xmlns:a="http://schemas.openxmlformats.org/drawingml/2006/main">
            <a:r>
              <a:t>tour-api:129284 | 김제남 신도비 | https://apis.data.go.kr/B551011/KorService2</a:t>
            </a:r>
          </a:p>
          <a:p xmlns:a="http://schemas.openxmlformats.org/drawingml/2006/main">
            <a:r>
              <a:t>tour-api:512084 | 넌스키 난보드 | https://apis.data.go.kr/B551011/KorService2</a:t>
            </a:r>
          </a:p>
          <a:p xmlns:a="http://schemas.openxmlformats.org/drawingml/2006/main">
            <a:r>
              <a:t>tour-api:2778036 | 단관공원 | https://apis.data.go.kr/B551011/KorService2</a:t>
            </a:r>
          </a:p>
          <a:p xmlns:a="http://schemas.openxmlformats.org/drawingml/2006/main">
            <a:r>
              <a:t>tour-api:2892320 | 동승루 | https://apis.data.go.kr/B551011/KorService2</a:t>
            </a:r>
          </a:p>
          <a:p xmlns:a="http://schemas.openxmlformats.org/drawingml/2006/main">
            <a:r>
              <a:t>tour-api:2892312 | 들꽃가든 | https://apis.data.go.kr/B551011/KorService2</a:t>
            </a:r>
          </a:p>
          <a:p xmlns:a="http://schemas.openxmlformats.org/drawingml/2006/main">
            <a:r>
              <a:t>tour-api:2809292 | 들꽃이야기 | https://apis.data.go.kr/B551011/KorService2</a:t>
            </a:r>
          </a:p>
          <a:p xmlns:a="http://schemas.openxmlformats.org/drawingml/2006/main">
            <a:r>
              <a:t>reference:kto:2026:local-airport | 요즘, 한국관광 2호 - 지방공항 연계 지역관광 활성화 방안 | PDF 44쪽, PDF 43쪽, PDF 38쪽, PDF 40쪽, PDF 41쪽, PDF 36쪽, PDF 41쪽, PDF 44쪽, PDF 43쪽, PDF 43쪽 | https://datalab.visitkorea.or.kr/site/portal/ex/bbs/View.do?bcIdx=311068&amp;cbIdx=1135&amp;pageIndex=1</a:t>
            </a:r>
          </a:p>
          <a:p xmlns:a="http://schemas.openxmlformats.org/drawingml/2006/main">
            <a:r>
              <a:t>case:jeonju_night_budget_2026 | 전주시 2026년도 관광산업과 세출예산 사업명세서 | https://jeonju.go.kr/resource/www/images/download/budget/2026/2026_31_2.pdf</a:t>
            </a:r>
          </a:p>
          <a:p xmlns:a="http://schemas.openxmlformats.org/drawingml/2006/main">
            <a:r>
              <a:t>case:4625625dcbf2ae | (기획) 인천을 즐기는 가장 쉬운(easy) 방법 … 인천e지 | https://www.incheon.go.kr/IC010205/view?beginDt=&amp;curPage=1&amp;endDt=&amp;repSeq=DOM_0000000013130282&amp;srchMainManagerDeptNm=&amp;srchRepContents=%EC%A3%BC%EC%B0%A8&amp;srchRepTitle=</a:t>
            </a:r>
          </a:p>
          <a:p xmlns:a="http://schemas.openxmlformats.org/drawingml/2006/main">
            <a:r>
              <a:t>case:digital_tourism_resident_2024 | 2024년 6월 여행가는 달 추진 보도자료 | https://mcst.go.kr/servlets/eduport/front/upload/UplDownloadFile?pFileName=%280514%29%EB%AC%B8%EC%B2%B4%EB%B6%80%EB%B3%B4%EB%8F%84%EC%9E%90%EB%A3%8C-6%EC%9B%94_%EC%97%AC%ED%96%89%EA%B0%80%EB%8A%94_%EB%8B%AC_%EC%B6%94%EC%A7%84.pdf&amp;pPath=0302000000&amp;pRealName=20240514083202149235802932_PRESS20240514083202456506.pdf</a:t>
            </a:r>
          </a:p>
          <a:p xmlns:a="http://schemas.openxmlformats.org/drawingml/2006/main">
            <a:r>
              <a:t>case:kto_stay_discount_2022 | 2022 대한민국 숙박대전 경제파급효과 공개자료 | https://kto.visitkorea.or.kr/upload/flexer/upload/ktobiz/20220928/b623b5f9-3ec0-11ed-9832-ddf31964842e.hwp.files/Sections1.html</a:t>
            </a:r>
          </a:p>
          <a:p xmlns:a="http://schemas.openxmlformats.org/drawingml/2006/main">
            <a:r>
              <a:t>case:37471b1e063812 | 한강 밤핑(Night+Camping) 행사·공연 정보 | https://hangang.seoul.go.kr/www/eventMng/detail.do?evntSn=441&amp;keyword=&amp;mid=538&amp;opt11=&amp;opt12=&amp;opt13=&amp;opt14=&amp;opt4=&amp;pageNo=2&amp;srchType=list</a:t>
            </a:r>
          </a:p>
          <a:p xmlns:a="http://schemas.openxmlformats.org/drawingml/2006/main">
            <a:r>
              <a:t>case:gangjin_half_price_2024 | 강진 반값여행 지역경제 효과 소개 | https://jnfarm.jeonnam.go.kr/board/FARM_BOARD_008/boardView.do?bdId=BD_00000000000011721&amp;menuCd=farm004002</a:t>
            </a:r>
          </a:p>
          <a:p xmlns:a="http://schemas.openxmlformats.org/drawingml/2006/main">
            <a:r>
              <a:t>case:c6d4752e1342a7 | 지역사랑 휴가지원(반값여행) 신설 및 ‘대한민국 반값여행’ 성과 분석 | https://www.mcst.go.kr/site/s_policy/govPolicy/performTotal.jsp</a:t>
            </a:r>
          </a:p>
          <a:p xmlns:a="http://schemas.openxmlformats.org/drawingml/2006/main">
            <a:r>
              <a:t>case:night_festival_2025 | 2025 대한민국 밤밤페스타 개최 도시 및 일정 | https://korean.visitkorea.or.kr/detail/rem_detail.do?cotid=f9c636b2-dd7c-4f09-af3d-6af43b33d371</a:t>
            </a:r>
          </a:p>
          <a:p xmlns:a="http://schemas.openxmlformats.org/drawingml/2006/main">
            <a:r>
              <a:t>[/Sources]</a:t>
            </a:r>
          </a:p>
          <a:p xmlns:a="http://schemas.openxmlformats.org/drawingml/2006/main">
            <a:r>
              <a:t>[Calculation audit]</a:t>
            </a:r>
          </a:p>
          <a:p xmlns:a="http://schemas.openxmlformats.org/drawingml/2006/main">
            <a:r>
              <a:t>{</a:t>
            </a:r>
          </a:p>
          <a:p xmlns:a="http://schemas.openxmlformats.org/drawingml/2006/main">
            <a:r>
              <a:t>  "source_inventory": [</a:t>
            </a:r>
          </a:p>
          <a:p xmlns:a="http://schemas.openxmlformats.org/drawingml/2006/main">
            <a:r>
              <a:t>    {</a:t>
            </a:r>
          </a:p>
          <a:p xmlns:a="http://schemas.openxmlformats.org/drawingml/2006/main">
            <a:r>
              <a:t>      "title": "한국관광 데이터랩 · 강원특별자치도 원주시 순 방문자 수 및 숙박 비율 (이동통신 기반 외지인)",</a:t>
            </a:r>
          </a:p>
          <a:p xmlns:a="http://schemas.openxmlformats.org/drawingml/2006/main">
            <a:r>
              <a:t>      "summary": "월간 순 방문자 수: 2,285,734명 (관측 기준월: 2026-06)",</a:t>
            </a:r>
          </a:p>
          <a:p xmlns:a="http://schemas.openxmlformats.org/drawingml/2006/main">
            <a:r>
              <a:t>      "source_id": "dataset:51130:1",</a:t>
            </a:r>
          </a:p>
          <a:p xmlns:a="http://schemas.openxmlformats.org/drawingml/2006/main">
            <a:r>
              <a:t>      "source_url": "https://datalab.visitkorea.or.kr/",</a:t>
            </a:r>
          </a:p>
          <a:p xmlns:a="http://schemas.openxmlformats.org/drawingml/2006/main">
            <a:r>
              <a:t>      "source_type": "dataset",</a:t>
            </a:r>
          </a:p>
          <a:p xmlns:a="http://schemas.openxmlformats.org/drawingml/2006/main">
            <a:r>
              <a:t>      "observation_period": "2026-06",</a:t>
            </a:r>
          </a:p>
          <a:p xmlns:a="http://schemas.openxmlformats.org/drawingml/2006/main">
            <a:r>
              <a:t>      "published_or_updated_at": "2026-06"</a:t>
            </a:r>
          </a:p>
          <a:p xmlns:a="http://schemas.openxmlformats.org/drawingml/2006/main">
            <a:r>
              <a:t>    },</a:t>
            </a:r>
          </a:p>
          <a:p xmlns:a="http://schemas.openxmlformats.org/drawingml/2006/main">
            <a:r>
              <a:t>    {</a:t>
            </a:r>
          </a:p>
          <a:p xmlns:a="http://schemas.openxmlformats.org/drawingml/2006/main">
            <a:r>
              <a:t>      "title": "한국관광 데이터랩 · 강원특별자치도 원주시 월간 순 방문자 수 (이동통신 기반 외지인)",</a:t>
            </a:r>
          </a:p>
          <a:p xmlns:a="http://schemas.openxmlformats.org/drawingml/2006/main">
            <a:r>
              <a:t>      "summary": "전년동월 외지인 방문자 증감률: -2.7% (관측 기준월: 2026-06)",</a:t>
            </a:r>
          </a:p>
          <a:p xmlns:a="http://schemas.openxmlformats.org/drawingml/2006/main">
            <a:r>
              <a:t>      "source_id": "dataset:51130:2",</a:t>
            </a:r>
          </a:p>
          <a:p xmlns:a="http://schemas.openxmlformats.org/drawingml/2006/main">
            <a:r>
              <a:t>      "source_url": "https://datalab.visitkorea.or.kr/",</a:t>
            </a:r>
          </a:p>
          <a:p xmlns:a="http://schemas.openxmlformats.org/drawingml/2006/main">
            <a:r>
              <a:t>      "source_type": "dataset",</a:t>
            </a:r>
          </a:p>
          <a:p xmlns:a="http://schemas.openxmlformats.org/drawingml/2006/main">
            <a:r>
              <a:t>      "observation_period": "2026-06",</a:t>
            </a:r>
          </a:p>
          <a:p xmlns:a="http://schemas.openxmlformats.org/drawingml/2006/main">
            <a:r>
              <a:t>      "published_or_updated_at": "2026-06"</a:t>
            </a:r>
          </a:p>
          <a:p xmlns:a="http://schemas.openxmlformats.org/drawingml/2006/main">
            <a:r>
              <a:t>    },</a:t>
            </a:r>
          </a:p>
          <a:p xmlns:a="http://schemas.openxmlformats.org/drawingml/2006/main">
            <a:r>
              <a:t>    {</a:t>
            </a:r>
          </a:p>
          <a:p xmlns:a="http://schemas.openxmlformats.org/drawingml/2006/main">
            <a:r>
              <a:t>      "title": "한국관광 데이터랩 · 강원특별자치도 원주시 관광소비 추이_외지인",</a:t>
            </a:r>
          </a:p>
          <a:p xmlns:a="http://schemas.openxmlformats.org/drawingml/2006/main">
            <a:r>
              <a:t>      "summary": "월간 외지인 관광소비 총액: 60,562,672,000원 (관측 기준월: 2026-06)",</a:t>
            </a:r>
          </a:p>
          <a:p xmlns:a="http://schemas.openxmlformats.org/drawingml/2006/main">
            <a:r>
              <a:t>      "source_id": "dataset:51130:3",</a:t>
            </a:r>
          </a:p>
          <a:p xmlns:a="http://schemas.openxmlformats.org/drawingml/2006/main">
            <a:r>
              <a:t>      "source_url": "https://datalab.visitkorea.or.kr/",</a:t>
            </a:r>
          </a:p>
          <a:p xmlns:a="http://schemas.openxmlformats.org/drawingml/2006/main">
            <a:r>
              <a:t>      "source_type": "dataset",</a:t>
            </a:r>
          </a:p>
          <a:p xmlns:a="http://schemas.openxmlformats.org/drawingml/2006/main">
            <a:r>
              <a:t>      "observation_period": "2026-06",</a:t>
            </a:r>
          </a:p>
          <a:p xmlns:a="http://schemas.openxmlformats.org/drawingml/2006/main">
            <a:r>
              <a:t>      "published_or_updated_at": "2026-06"</a:t>
            </a:r>
          </a:p>
          <a:p xmlns:a="http://schemas.openxmlformats.org/drawingml/2006/main">
            <a:r>
              <a:t>    },</a:t>
            </a:r>
          </a:p>
          <a:p xmlns:a="http://schemas.openxmlformats.org/drawingml/2006/main">
            <a:r>
              <a:t>    {</a:t>
            </a:r>
          </a:p>
          <a:p xmlns:a="http://schemas.openxmlformats.org/drawingml/2006/main">
            <a:r>
              <a:t>      "title": "한국관광 데이터랩 · 강원특별자치도 원주시 숙박방문자 비율 추이 (이동통신 기반 외지인)",</a:t>
            </a:r>
          </a:p>
          <a:p xmlns:a="http://schemas.openxmlformats.org/drawingml/2006/main">
            <a:r>
              <a:t>      "summary": "외지인 숙박 방문 비율: 12.5% (관측 기준월: 2026-06)",</a:t>
            </a:r>
          </a:p>
          <a:p xmlns:a="http://schemas.openxmlformats.org/drawingml/2006/main">
            <a:r>
              <a:t>      "source_id": "dataset:51130:4",</a:t>
            </a:r>
          </a:p>
          <a:p xmlns:a="http://schemas.openxmlformats.org/drawingml/2006/main">
            <a:r>
              <a:t>      "source_url": "https://datalab.visitkorea.or.kr/",</a:t>
            </a:r>
          </a:p>
          <a:p xmlns:a="http://schemas.openxmlformats.org/drawingml/2006/main">
            <a:r>
              <a:t>      "source_type": "dataset",</a:t>
            </a:r>
          </a:p>
          <a:p xmlns:a="http://schemas.openxmlformats.org/drawingml/2006/main">
            <a:r>
              <a:t>      "observation_period": "2026-06",</a:t>
            </a:r>
          </a:p>
          <a:p xmlns:a="http://schemas.openxmlformats.org/drawingml/2006/main">
            <a:r>
              <a:t>      "published_or_updated_at": "2026-06"</a:t>
            </a:r>
          </a:p>
          <a:p xmlns:a="http://schemas.openxmlformats.org/drawingml/2006/main">
            <a:r>
              <a:t>    },</a:t>
            </a:r>
          </a:p>
          <a:p xmlns:a="http://schemas.openxmlformats.org/drawingml/2006/main">
            <a:r>
              <a:t>    {</a:t>
            </a:r>
          </a:p>
          <a:p xmlns:a="http://schemas.openxmlformats.org/drawingml/2006/main">
            <a:r>
              <a:t>      "title": "한국관광 데이터랩 · 강원특별자치도 원주시 평균 숙박일 (이동통신 기반 외지인)",</a:t>
            </a:r>
          </a:p>
          <a:p xmlns:a="http://schemas.openxmlformats.org/drawingml/2006/main">
            <a:r>
              <a:t>      "summary": "외지인 평균 숙박일수: 2.76일 (관측 기준월: 2026-06)",</a:t>
            </a:r>
          </a:p>
          <a:p xmlns:a="http://schemas.openxmlformats.org/drawingml/2006/main">
            <a:r>
              <a:t>      "source_id": "dataset:51130:5",</a:t>
            </a:r>
          </a:p>
          <a:p xmlns:a="http://schemas.openxmlformats.org/drawingml/2006/main">
            <a:r>
              <a:t>      "source_url": "https://datalab.visitkorea.or.kr/",</a:t>
            </a:r>
          </a:p>
          <a:p xmlns:a="http://schemas.openxmlformats.org/drawingml/2006/main">
            <a:r>
              <a:t>      "source_type": "dataset",</a:t>
            </a:r>
          </a:p>
          <a:p xmlns:a="http://schemas.openxmlformats.org/drawingml/2006/main">
            <a:r>
              <a:t>      "observation_period": "2026-06",</a:t>
            </a:r>
          </a:p>
          <a:p xmlns:a="http://schemas.openxmlformats.org/drawingml/2006/main">
            <a:r>
              <a:t>      "published_or_updated_at": "2026-06"</a:t>
            </a:r>
          </a:p>
          <a:p xmlns:a="http://schemas.openxmlformats.org/drawingml/2006/main">
            <a:r>
              <a:t>    },</a:t>
            </a:r>
          </a:p>
          <a:p xmlns:a="http://schemas.openxmlformats.org/drawingml/2006/main">
            <a:r>
              <a:t>    {</a:t>
            </a:r>
          </a:p>
          <a:p xmlns:a="http://schemas.openxmlformats.org/drawingml/2006/main">
            <a:r>
              <a:t>      "title": "한국관광 데이터랩 · 강원특별자치도 원주시 내비게이션 목적지 유형별 검색량",</a:t>
            </a:r>
          </a:p>
          <a:p xmlns:a="http://schemas.openxmlformats.org/drawingml/2006/main">
            <a:r>
              <a:t>      "summary": "내비게이션 목적지 검색량: 303,921건 (관측 기준월: 2026-06)",</a:t>
            </a:r>
          </a:p>
          <a:p xmlns:a="http://schemas.openxmlformats.org/drawingml/2006/main">
            <a:r>
              <a:t>      "source_id": "dataset:51130:6",</a:t>
            </a:r>
          </a:p>
          <a:p xmlns:a="http://schemas.openxmlformats.org/drawingml/2006/main">
            <a:r>
              <a:t>      "source_url": "https://datalab.visitkorea.or.kr/",</a:t>
            </a:r>
          </a:p>
          <a:p xmlns:a="http://schemas.openxmlformats.org/drawingml/2006/main">
            <a:r>
              <a:t>      "source_type": "dataset",</a:t>
            </a:r>
          </a:p>
          <a:p xmlns:a="http://schemas.openxmlformats.org/drawingml/2006/main">
            <a:r>
              <a:t>      "observation_period": "2026-06",</a:t>
            </a:r>
          </a:p>
          <a:p xmlns:a="http://schemas.openxmlformats.org/drawingml/2006/main">
            <a:r>
              <a:t>      "published_or_updated_at": "2026-06"</a:t>
            </a:r>
          </a:p>
          <a:p xmlns:a="http://schemas.openxmlformats.org/drawingml/2006/main">
            <a:r>
              <a:t>    },</a:t>
            </a:r>
          </a:p>
          <a:p xmlns:a="http://schemas.openxmlformats.org/drawingml/2006/main">
            <a:r>
              <a:t>    {</a:t>
            </a:r>
          </a:p>
          <a:p xmlns:a="http://schemas.openxmlformats.org/drawingml/2006/main">
            <a:r>
              <a:t>      "title": "한국관광 데이터랩 · 강원특별자치도 원주시 SNS 언급량",</a:t>
            </a:r>
          </a:p>
          <a:p xmlns:a="http://schemas.openxmlformats.org/drawingml/2006/main">
            <a:r>
              <a:t>      "summary": "SNS 언급량: 41,121건 (관측 기준월: 2026-06)",</a:t>
            </a:r>
          </a:p>
          <a:p xmlns:a="http://schemas.openxmlformats.org/drawingml/2006/main">
            <a:r>
              <a:t>      "source_id": "dataset:51130:7",</a:t>
            </a:r>
          </a:p>
          <a:p xmlns:a="http://schemas.openxmlformats.org/drawingml/2006/main">
            <a:r>
              <a:t>      "source_url": "https://datalab.visitkorea.or.kr/",</a:t>
            </a:r>
          </a:p>
          <a:p xmlns:a="http://schemas.openxmlformats.org/drawingml/2006/main">
            <a:r>
              <a:t>      "source_type": "dataset",</a:t>
            </a:r>
          </a:p>
          <a:p xmlns:a="http://schemas.openxmlformats.org/drawingml/2006/main">
            <a:r>
              <a:t>      "observation_period": "2026-06",</a:t>
            </a:r>
          </a:p>
          <a:p xmlns:a="http://schemas.openxmlformats.org/drawingml/2006/main">
            <a:r>
              <a:t>      "published_or_updated_at": "2026-06"</a:t>
            </a:r>
          </a:p>
          <a:p xmlns:a="http://schemas.openxmlformats.org/drawingml/2006/main">
            <a:r>
              <a:t>    },</a:t>
            </a:r>
          </a:p>
          <a:p xmlns:a="http://schemas.openxmlformats.org/drawingml/2006/main">
            <a:r>
              <a:t>    {</a:t>
            </a:r>
          </a:p>
          <a:p xmlns:a="http://schemas.openxmlformats.org/drawingml/2006/main">
            <a:r>
              <a:t>      "title": "한국관광 데이터랩 공식 다운로드 · 강원특별자치도_원주시/숙박_체류시간/2025_01_12.zip",</a:t>
            </a:r>
          </a:p>
          <a:p xmlns:a="http://schemas.openxmlformats.org/drawingml/2006/main">
            <a:r>
              <a:t>      "summary": "전국 비교 기준 기간: 2025-07 ~ 2026-06",</a:t>
            </a:r>
          </a:p>
          <a:p xmlns:a="http://schemas.openxmlformats.org/drawingml/2006/main">
            <a:r>
              <a:t>      "source_id": "datalab:16d84bd9b1d0:620b2639a268",</a:t>
            </a:r>
          </a:p>
          <a:p xmlns:a="http://schemas.openxmlformats.org/drawingml/2006/main">
            <a:r>
              <a:t>      "source_url": "https://datalab.visitkorea.or.kr/",</a:t>
            </a:r>
          </a:p>
          <a:p xmlns:a="http://schemas.openxmlformats.org/drawingml/2006/main">
            <a:r>
              <a:t>      "source_type": "nationwide_dataset",</a:t>
            </a:r>
          </a:p>
          <a:p xmlns:a="http://schemas.openxmlformats.org/drawingml/2006/main">
            <a:r>
              <a:t>      "observation_period": "2025-07 ~ 2026-06",</a:t>
            </a:r>
          </a:p>
          <a:p xmlns:a="http://schemas.openxmlformats.org/drawingml/2006/main">
            <a:r>
              <a:t>      "published_or_updated_at": "2024-07 ~ 2025-06"</a:t>
            </a:r>
          </a:p>
          <a:p xmlns:a="http://schemas.openxmlformats.org/drawingml/2006/main">
            <a:r>
              <a:t>    },</a:t>
            </a:r>
          </a:p>
          <a:p xmlns:a="http://schemas.openxmlformats.org/drawingml/2006/main">
            <a:r>
              <a:t>    {</a:t>
            </a:r>
          </a:p>
          <a:p xmlns:a="http://schemas.openxmlformats.org/drawingml/2006/main">
            <a:r>
              <a:t>      "title": "한국관광 데이터랩 공식 다운로드 · 강원특별자치도_원주시/숙박_체류시간/2026_01_06.zip",</a:t>
            </a:r>
          </a:p>
          <a:p xmlns:a="http://schemas.openxmlformats.org/drawingml/2006/main">
            <a:r>
              <a:t>      "summary": "전국 비교 기준 기간: 2025-07 ~ 2026-06",</a:t>
            </a:r>
          </a:p>
          <a:p xmlns:a="http://schemas.openxmlformats.org/drawingml/2006/main">
            <a:r>
              <a:t>      "source_id": "datalab:242a2c1249d4:f84e1a5f3914",</a:t>
            </a:r>
          </a:p>
          <a:p xmlns:a="http://schemas.openxmlformats.org/drawingml/2006/main">
            <a:r>
              <a:t>      "source_url": "https://datalab.visitkorea.or.kr/",</a:t>
            </a:r>
          </a:p>
          <a:p xmlns:a="http://schemas.openxmlformats.org/drawingml/2006/main">
            <a:r>
              <a:t>      "source_type": "nationwide_dataset",</a:t>
            </a:r>
          </a:p>
          <a:p xmlns:a="http://schemas.openxmlformats.org/drawingml/2006/main">
            <a:r>
              <a:t>      "observation_period": "2025-07 ~ 2026-06",</a:t>
            </a:r>
          </a:p>
          <a:p xmlns:a="http://schemas.openxmlformats.org/drawingml/2006/main">
            <a:r>
              <a:t>      "published_or_updated_at": "2024-07 ~ 2025-06"</a:t>
            </a:r>
          </a:p>
          <a:p xmlns:a="http://schemas.openxmlformats.org/drawingml/2006/main">
            <a:r>
              <a:t>    },</a:t>
            </a:r>
          </a:p>
          <a:p xmlns:a="http://schemas.openxmlformats.org/drawingml/2006/main">
            <a:r>
              <a:t>    {</a:t>
            </a:r>
          </a:p>
          <a:p xmlns:a="http://schemas.openxmlformats.org/drawingml/2006/main">
            <a:r>
              <a:t>      "title": "한국관광 데이터랩 공식 다운로드 · 강원특별자치도_원주시/방문자/2025_01_12.zip",</a:t>
            </a:r>
          </a:p>
          <a:p xmlns:a="http://schemas.openxmlformats.org/drawingml/2006/main">
            <a:r>
              <a:t>      "summary": "전국 비교 기준 기간: 2025-07 ~ 2026-06",</a:t>
            </a:r>
          </a:p>
          <a:p xmlns:a="http://schemas.openxmlformats.org/drawingml/2006/main">
            <a:r>
              <a:t>      "source_id": "datalab:a050e5a84ef4:3906c6ac70a7",</a:t>
            </a:r>
          </a:p>
          <a:p xmlns:a="http://schemas.openxmlformats.org/drawingml/2006/main">
            <a:r>
              <a:t>      "source_url": "https://datalab.visitkorea.or.kr/",</a:t>
            </a:r>
          </a:p>
          <a:p xmlns:a="http://schemas.openxmlformats.org/drawingml/2006/main">
            <a:r>
              <a:t>      "source_type": "nationwide_dataset",</a:t>
            </a:r>
          </a:p>
          <a:p xmlns:a="http://schemas.openxmlformats.org/drawingml/2006/main">
            <a:r>
              <a:t>      "observation_period": "2025-07 ~ 2026-06",</a:t>
            </a:r>
          </a:p>
          <a:p xmlns:a="http://schemas.openxmlformats.org/drawingml/2006/main">
            <a:r>
              <a:t>      "published_or_updated_at": "2024-07 ~ 2025-06"</a:t>
            </a:r>
          </a:p>
          <a:p xmlns:a="http://schemas.openxmlformats.org/drawingml/2006/main">
            <a:r>
              <a:t>    },</a:t>
            </a:r>
          </a:p>
          <a:p xmlns:a="http://schemas.openxmlformats.org/drawingml/2006/main">
            <a:r>
              <a:t>    {</a:t>
            </a:r>
          </a:p>
          <a:p xmlns:a="http://schemas.openxmlformats.org/drawingml/2006/main">
            <a:r>
              <a:t>      "title": "한국관광 데이터랩 공식 다운로드 · 강원특별자치도_원주시/방문자/2026_01_06.zip",</a:t>
            </a:r>
          </a:p>
          <a:p xmlns:a="http://schemas.openxmlformats.org/drawingml/2006/main">
            <a:r>
              <a:t>      "summary": "전국 비교 기준 기간: 2025-07 ~ 2026-06",</a:t>
            </a:r>
          </a:p>
          <a:p xmlns:a="http://schemas.openxmlformats.org/drawingml/2006/main">
            <a:r>
              <a:t>      "source_id": "datalab:bd9d3d26da19:991f2264ad4a",</a:t>
            </a:r>
          </a:p>
          <a:p xmlns:a="http://schemas.openxmlformats.org/drawingml/2006/main">
            <a:r>
              <a:t>      "source_url": "https://datalab.visitkorea.or.kr/",</a:t>
            </a:r>
          </a:p>
          <a:p xmlns:a="http://schemas.openxmlformats.org/drawingml/2006/main">
            <a:r>
              <a:t>      "source_type": "nationwide_dataset",</a:t>
            </a:r>
          </a:p>
          <a:p xmlns:a="http://schemas.openxmlformats.org/drawingml/2006/main">
            <a:r>
              <a:t>      "observation_period": "2025-07 ~ 2026-06",</a:t>
            </a:r>
          </a:p>
          <a:p xmlns:a="http://schemas.openxmlformats.org/drawingml/2006/main">
            <a:r>
              <a:t>      "published_or_updated_at": "2024-07 ~ 2025-06"</a:t>
            </a:r>
          </a:p>
          <a:p xmlns:a="http://schemas.openxmlformats.org/drawingml/2006/main">
            <a:r>
              <a:t>    },</a:t>
            </a:r>
          </a:p>
          <a:p xmlns:a="http://schemas.openxmlformats.org/drawingml/2006/main">
            <a:r>
              <a:t>    {</a:t>
            </a:r>
          </a:p>
          <a:p xmlns:a="http://schemas.openxmlformats.org/drawingml/2006/main">
            <a:r>
              <a:t>      "title": "한국관광 데이터랩 공식 다운로드 · 강원특별자치도_원주시/관광소비/2026_01_06.zip",</a:t>
            </a:r>
          </a:p>
          <a:p xmlns:a="http://schemas.openxmlformats.org/drawingml/2006/main">
            <a:r>
              <a:t>      "summary": "전국 비교 기준 기간: 2025-07 ~ 2026-06",</a:t>
            </a:r>
          </a:p>
          <a:p xmlns:a="http://schemas.openxmlformats.org/drawingml/2006/main">
            <a:r>
              <a:t>      "source_id": "datalab:d54a3fb44037:ee4640b6178b",</a:t>
            </a:r>
          </a:p>
          <a:p xmlns:a="http://schemas.openxmlformats.org/drawingml/2006/main">
            <a:r>
              <a:t>      "source_url": "https://datalab.visitkorea.or.kr/",</a:t>
            </a:r>
          </a:p>
          <a:p xmlns:a="http://schemas.openxmlformats.org/drawingml/2006/main">
            <a:r>
              <a:t>      "source_type": "nationwide_dataset",</a:t>
            </a:r>
          </a:p>
          <a:p xmlns:a="http://schemas.openxmlformats.org/drawingml/2006/main">
            <a:r>
              <a:t>      "observation_period": "2025-07 ~ 2026-06",</a:t>
            </a:r>
          </a:p>
          <a:p xmlns:a="http://schemas.openxmlformats.org/drawingml/2006/main">
            <a:r>
              <a:t>      "published_or_updated_at": "2024-07 ~ 2025-06"</a:t>
            </a:r>
          </a:p>
          <a:p xmlns:a="http://schemas.openxmlformats.org/drawingml/2006/main">
            <a:r>
              <a:t>    },</a:t>
            </a:r>
          </a:p>
          <a:p xmlns:a="http://schemas.openxmlformats.org/drawingml/2006/main">
            <a:r>
              <a:t>    {</a:t>
            </a:r>
          </a:p>
          <a:p xmlns:a="http://schemas.openxmlformats.org/drawingml/2006/main">
            <a:r>
              <a:t>      "title": "한국관광 데이터랩 공식 다운로드 · 강원특별자치도_원주시/관광소비/2025_01_12.zip",</a:t>
            </a:r>
          </a:p>
          <a:p xmlns:a="http://schemas.openxmlformats.org/drawingml/2006/main">
            <a:r>
              <a:t>      "summary": "전국 비교 기준 기간: 2025-07 ~ 2026-06",</a:t>
            </a:r>
          </a:p>
          <a:p xmlns:a="http://schemas.openxmlformats.org/drawingml/2006/main">
            <a:r>
              <a:t>      "source_id": "datalab:ebce91b8bf02:1770c2d94cc6",</a:t>
            </a:r>
          </a:p>
          <a:p xmlns:a="http://schemas.openxmlformats.org/drawingml/2006/main">
            <a:r>
              <a:t>      "source_url": "https://datalab.visitkorea.or.kr/",</a:t>
            </a:r>
          </a:p>
          <a:p xmlns:a="http://schemas.openxmlformats.org/drawingml/2006/main">
            <a:r>
              <a:t>      "source_type": "nationwide_dataset",</a:t>
            </a:r>
          </a:p>
          <a:p xmlns:a="http://schemas.openxmlformats.org/drawingml/2006/main">
            <a:r>
              <a:t>      "observation_period": "2025-07 ~ 2026-06",</a:t>
            </a:r>
          </a:p>
          <a:p xmlns:a="http://schemas.openxmlformats.org/drawingml/2006/main">
            <a:r>
              <a:t>      "published_or_updated_at": "2024-07 ~ 2025-06"</a:t>
            </a:r>
          </a:p>
          <a:p xmlns:a="http://schemas.openxmlformats.org/drawingml/2006/main">
            <a:r>
              <a:t>    },</a:t>
            </a:r>
          </a:p>
          <a:p xmlns:a="http://schemas.openxmlformats.org/drawingml/2006/main">
            <a:r>
              <a:t>    {</a:t>
            </a:r>
          </a:p>
          <a:p xmlns:a="http://schemas.openxmlformats.org/drawingml/2006/main">
            <a:r>
              <a:t>      "title": "한국관광 데이터랩 전국 빅데이터 다운로드 · 이동통신/내국인/지역별 방문자수/20260820140607__202601-202606_데이터랩_다운로드.zip",</a:t>
            </a:r>
          </a:p>
          <a:p xmlns:a="http://schemas.openxmlformats.org/drawingml/2006/main">
            <a:r>
              <a:t>      "summary": "시군구 기간합계·비중 또는 전국 월별 추이. 지역 월별 ML·정책 효과가 아닌 보조 근거.",</a:t>
            </a:r>
          </a:p>
          <a:p xmlns:a="http://schemas.openxmlformats.org/drawingml/2006/main">
            <a:r>
              <a:t>      "source_id": "team-bigdata:23ea68053684:6bfbcf8aabf6",</a:t>
            </a:r>
          </a:p>
          <a:p xmlns:a="http://schemas.openxmlformats.org/drawingml/2006/main">
            <a:r>
              <a:t>      "source_url": "https://datalab.visitkorea.or.kr/",</a:t>
            </a:r>
          </a:p>
          <a:p xmlns:a="http://schemas.openxmlformats.org/drawingml/2006/main">
            <a:r>
              <a:t>      "source_type": "nationwide_bigdata_dataset",</a:t>
            </a:r>
          </a:p>
          <a:p xmlns:a="http://schemas.openxmlformats.org/drawingml/2006/main">
            <a:r>
              <a:t>      "observation_period": "2026-01 ~ 2026-06",</a:t>
            </a:r>
          </a:p>
          <a:p xmlns:a="http://schemas.openxmlformats.org/drawingml/2006/main">
            <a:r>
              <a:t>      "source_review_status": "needs_exact_download_url",</a:t>
            </a:r>
          </a:p>
          <a:p xmlns:a="http://schemas.openxmlformats.org/drawingml/2006/main">
            <a:r>
              <a:t>      "published_or_updated_at": ""</a:t>
            </a:r>
          </a:p>
          <a:p xmlns:a="http://schemas.openxmlformats.org/drawingml/2006/main">
            <a:r>
              <a:t>    },</a:t>
            </a:r>
          </a:p>
          <a:p xmlns:a="http://schemas.openxmlformats.org/drawingml/2006/main">
            <a:r>
              <a:t>    {</a:t>
            </a:r>
          </a:p>
          <a:p xmlns:a="http://schemas.openxmlformats.org/drawingml/2006/main">
            <a:r>
              <a:t>      "title": "한국관광 데이터랩 전국 빅데이터 다운로드 · 이동통신/외국인/20260820141710_전국_202601-202606_데이터랩_다운로드.zip",</a:t>
            </a:r>
          </a:p>
          <a:p xmlns:a="http://schemas.openxmlformats.org/drawingml/2006/main">
            <a:r>
              <a:t>      "summary": "시군구 기간합계·비중 또는 전국 월별 추이. 지역 월별 ML·정책 효과가 아닌 보조 근거.",</a:t>
            </a:r>
          </a:p>
          <a:p xmlns:a="http://schemas.openxmlformats.org/drawingml/2006/main">
            <a:r>
              <a:t>      "source_id": "team-bigdata:98d4ae590d9a:3be52dd54323",</a:t>
            </a:r>
          </a:p>
          <a:p xmlns:a="http://schemas.openxmlformats.org/drawingml/2006/main">
            <a:r>
              <a:t>      "source_url": "https://datalab.visitkorea.or.kr/",</a:t>
            </a:r>
          </a:p>
          <a:p xmlns:a="http://schemas.openxmlformats.org/drawingml/2006/main">
            <a:r>
              <a:t>      "source_type": "nationwide_bigdata_dataset",</a:t>
            </a:r>
          </a:p>
          <a:p xmlns:a="http://schemas.openxmlformats.org/drawingml/2006/main">
            <a:r>
              <a:t>      "observation_period": "2026-01 ~ 2026-06",</a:t>
            </a:r>
          </a:p>
          <a:p xmlns:a="http://schemas.openxmlformats.org/drawingml/2006/main">
            <a:r>
              <a:t>      "source_review_status": "needs_exact_download_url",</a:t>
            </a:r>
          </a:p>
          <a:p xmlns:a="http://schemas.openxmlformats.org/drawingml/2006/main">
            <a:r>
              <a:t>      "published_or_updated_at": ""</a:t>
            </a:r>
          </a:p>
          <a:p xmlns:a="http://schemas.openxmlformats.org/drawingml/2006/main">
            <a:r>
              <a:t>    },</a:t>
            </a:r>
          </a:p>
          <a:p xmlns:a="http://schemas.openxmlformats.org/drawingml/2006/main">
            <a:r>
              <a:t>    {</a:t>
            </a:r>
          </a:p>
          <a:p xmlns:a="http://schemas.openxmlformats.org/drawingml/2006/main">
            <a:r>
              <a:t>      "title": "한국관광 데이터랩 전국 빅데이터 다운로드 · 신용카드/내국인/지역별 관광지출액/20260820140046__202601-202606_데이터랩_다운로드.zip",</a:t>
            </a:r>
          </a:p>
          <a:p xmlns:a="http://schemas.openxmlformats.org/drawingml/2006/main">
            <a:r>
              <a:t>      "summary": "시군구 기간합계·비중 또는 전국 월별 추이. 지역 월별 ML·정책 효과가 아닌 보조 근거.",</a:t>
            </a:r>
          </a:p>
          <a:p xmlns:a="http://schemas.openxmlformats.org/drawingml/2006/main">
            <a:r>
              <a:t>      "source_id": "team-bigdata:367cd0294ec4:873930d645e5",</a:t>
            </a:r>
          </a:p>
          <a:p xmlns:a="http://schemas.openxmlformats.org/drawingml/2006/main">
            <a:r>
              <a:t>      "source_url": "https://datalab.visitkorea.or.kr/",</a:t>
            </a:r>
          </a:p>
          <a:p xmlns:a="http://schemas.openxmlformats.org/drawingml/2006/main">
            <a:r>
              <a:t>      "source_type": "nationwide_bigdata_dataset",</a:t>
            </a:r>
          </a:p>
          <a:p xmlns:a="http://schemas.openxmlformats.org/drawingml/2006/main">
            <a:r>
              <a:t>      "observation_period": "2026-01 ~ 2026-06",</a:t>
            </a:r>
          </a:p>
          <a:p xmlns:a="http://schemas.openxmlformats.org/drawingml/2006/main">
            <a:r>
              <a:t>      "source_review_status": "needs_exact_download_url",</a:t>
            </a:r>
          </a:p>
          <a:p xmlns:a="http://schemas.openxmlformats.org/drawingml/2006/main">
            <a:r>
              <a:t>      "published_or_updated_at": ""</a:t>
            </a:r>
          </a:p>
          <a:p xmlns:a="http://schemas.openxmlformats.org/drawingml/2006/main">
            <a:r>
              <a:t>    },</a:t>
            </a:r>
          </a:p>
          <a:p xmlns:a="http://schemas.openxmlformats.org/drawingml/2006/main">
            <a:r>
              <a:t>    {</a:t>
            </a:r>
          </a:p>
          <a:p xmlns:a="http://schemas.openxmlformats.org/drawingml/2006/main">
            <a:r>
              <a:t>      "title": "한국관광 데이터랩 전국 빅데이터 다운로드 · 신용카드/외국인/지역별 관광지출액/20260820140355__202601-202606_데이터랩_다운로드.zip",</a:t>
            </a:r>
          </a:p>
          <a:p xmlns:a="http://schemas.openxmlformats.org/drawingml/2006/main">
            <a:r>
              <a:t>      "summary": "시군구 기간합계·비중 또는 전국 월별 추이. 지역 월별 ML·정책 효과가 아닌 보조 근거.",</a:t>
            </a:r>
          </a:p>
          <a:p xmlns:a="http://schemas.openxmlformats.org/drawingml/2006/main">
            <a:r>
              <a:t>      "source_id": "team-bigdata:553a0dad4bb4:5a31355dffe8",</a:t>
            </a:r>
          </a:p>
          <a:p xmlns:a="http://schemas.openxmlformats.org/drawingml/2006/main">
            <a:r>
              <a:t>      "source_url": "https://datalab.visitkorea.or.kr/",</a:t>
            </a:r>
          </a:p>
          <a:p xmlns:a="http://schemas.openxmlformats.org/drawingml/2006/main">
            <a:r>
              <a:t>      "source_type": "nationwide_bigdata_dataset",</a:t>
            </a:r>
          </a:p>
          <a:p xmlns:a="http://schemas.openxmlformats.org/drawingml/2006/main">
            <a:r>
              <a:t>      "observation_period": "2026-01 ~ 2026-06",</a:t>
            </a:r>
          </a:p>
          <a:p xmlns:a="http://schemas.openxmlformats.org/drawingml/2006/main">
            <a:r>
              <a:t>      "source_review_status": "needs_exact_download_url",</a:t>
            </a:r>
          </a:p>
          <a:p xmlns:a="http://schemas.openxmlformats.org/drawingml/2006/main">
            <a:r>
              <a:t>      "published_or_updated_at": ""</a:t>
            </a:r>
          </a:p>
          <a:p xmlns:a="http://schemas.openxmlformats.org/drawingml/2006/main">
            <a:r>
              <a:t>    },</a:t>
            </a:r>
          </a:p>
          <a:p xmlns:a="http://schemas.openxmlformats.org/drawingml/2006/main">
            <a:r>
              <a:t>    {</a:t>
            </a:r>
          </a:p>
          <a:p xmlns:a="http://schemas.openxmlformats.org/drawingml/2006/main">
            <a:r>
              <a:t>      "title": "한국관광 데이터랩 전국 빅데이터 다운로드 · 네비게이션/지역별 검색건수/20260820195507__202601-202606_데이터랩_다운로드.zip",</a:t>
            </a:r>
          </a:p>
          <a:p xmlns:a="http://schemas.openxmlformats.org/drawingml/2006/main">
            <a:r>
              <a:t>      "summary": "시군구 기간합계·비중 또는 전국 월별 추이. 지역 월별 ML·정책 효과가 아닌 보조 근거.",</a:t>
            </a:r>
          </a:p>
          <a:p xmlns:a="http://schemas.openxmlformats.org/drawingml/2006/main">
            <a:r>
              <a:t>      "source_id": "team-bigdata:a53dbe1c21df:77a052de41d5",</a:t>
            </a:r>
          </a:p>
          <a:p xmlns:a="http://schemas.openxmlformats.org/drawingml/2006/main">
            <a:r>
              <a:t>      "source_url": "https://datalab.visitkorea.or.kr/",</a:t>
            </a:r>
          </a:p>
          <a:p xmlns:a="http://schemas.openxmlformats.org/drawingml/2006/main">
            <a:r>
              <a:t>      "source_type": "nationwide_bigdata_dataset",</a:t>
            </a:r>
          </a:p>
          <a:p xmlns:a="http://schemas.openxmlformats.org/drawingml/2006/main">
            <a:r>
              <a:t>      "observation_period": "2026-01 ~ 2026-06",</a:t>
            </a:r>
          </a:p>
          <a:p xmlns:a="http://schemas.openxmlformats.org/drawingml/2006/main">
            <a:r>
              <a:t>      "source_review_status": "needs_exact_download_url",</a:t>
            </a:r>
          </a:p>
          <a:p xmlns:a="http://schemas.openxmlformats.org/drawingml/2006/main">
            <a:r>
              <a:t>      "published_or_updated_at": ""</a:t>
            </a:r>
          </a:p>
          <a:p xmlns:a="http://schemas.openxmlformats.org/drawingml/2006/main">
            <a:r>
              <a:t>    },</a:t>
            </a:r>
          </a:p>
          <a:p xmlns:a="http://schemas.openxmlformats.org/drawingml/2006/main">
            <a:r>
              <a:t>    {</a:t>
            </a:r>
          </a:p>
          <a:p xmlns:a="http://schemas.openxmlformats.org/drawingml/2006/main">
            <a:r>
              <a:t>      "title": "한국관광 데이터랩 전국 빅데이터 다운로드 · 이동통신/내국인/지역별 방문자수/20260820140614__202501-202512_데이터랩_다운로드.zip",</a:t>
            </a:r>
          </a:p>
          <a:p xmlns:a="http://schemas.openxmlformats.org/drawingml/2006/main">
            <a:r>
              <a:t>      "summary": "시군구 기간합계·비중 또는 전국 월별 추이. 지역 월별 ML·정책 효과가 아닌 보조 근거.",</a:t>
            </a:r>
          </a:p>
          <a:p xmlns:a="http://schemas.openxmlformats.org/drawingml/2006/main">
            <a:r>
              <a:t>      "source_id": "team-bigdata:823a38d1d61c:5385261d02e5",</a:t>
            </a:r>
          </a:p>
          <a:p xmlns:a="http://schemas.openxmlformats.org/drawingml/2006/main">
            <a:r>
              <a:t>      "source_url": "https://datalab.visitkorea.or.kr/",</a:t>
            </a:r>
          </a:p>
          <a:p xmlns:a="http://schemas.openxmlformats.org/drawingml/2006/main">
            <a:r>
              <a:t>      "source_type": "nationwide_bigdata_dataset",</a:t>
            </a:r>
          </a:p>
          <a:p xmlns:a="http://schemas.openxmlformats.org/drawingml/2006/main">
            <a:r>
              <a:t>      "observation_period": "2026-01 ~ 2026-06",</a:t>
            </a:r>
          </a:p>
          <a:p xmlns:a="http://schemas.openxmlformats.org/drawingml/2006/main">
            <a:r>
              <a:t>      "source_review_status": "needs_exact_download_url",</a:t>
            </a:r>
          </a:p>
          <a:p xmlns:a="http://schemas.openxmlformats.org/drawingml/2006/main">
            <a:r>
              <a:t>      "published_or_updated_at": ""</a:t>
            </a:r>
          </a:p>
          <a:p xmlns:a="http://schemas.openxmlformats.org/drawingml/2006/main">
            <a:r>
              <a:t>    },</a:t>
            </a:r>
          </a:p>
          <a:p xmlns:a="http://schemas.openxmlformats.org/drawingml/2006/main">
            <a:r>
              <a:t>    {</a:t>
            </a:r>
          </a:p>
          <a:p xmlns:a="http://schemas.openxmlformats.org/drawingml/2006/main">
            <a:r>
              <a:t>      "title": "한국관광 데이터랩 전국 빅데이터 다운로드 · 이동통신/외국인/20260820141649_전국_202501-202512_데이터랩_다운로드.zip",</a:t>
            </a:r>
          </a:p>
          <a:p xmlns:a="http://schemas.openxmlformats.org/drawingml/2006/main">
            <a:r>
              <a:t>      "summary": "시군구 기간합계·비중 또는 전국 월별 추이. 지역 월별 ML·정책 효과가 아닌 보조 근거.",</a:t>
            </a:r>
          </a:p>
          <a:p xmlns:a="http://schemas.openxmlformats.org/drawingml/2006/main">
            <a:r>
              <a:t>      "source_id": "team-bigdata:2723bdb0d589:1666a34058ed",</a:t>
            </a:r>
          </a:p>
          <a:p xmlns:a="http://schemas.openxmlformats.org/drawingml/2006/main">
            <a:r>
              <a:t>      "source_url": "https://datalab.visitkorea.or.kr/",</a:t>
            </a:r>
          </a:p>
          <a:p xmlns:a="http://schemas.openxmlformats.org/drawingml/2006/main">
            <a:r>
              <a:t>      "source_type": "nationwide_bigdata_dataset",</a:t>
            </a:r>
          </a:p>
          <a:p xmlns:a="http://schemas.openxmlformats.org/drawingml/2006/main">
            <a:r>
              <a:t>      "observation_period": "2026-01 ~ 2026-06",</a:t>
            </a:r>
          </a:p>
          <a:p xmlns:a="http://schemas.openxmlformats.org/drawingml/2006/main">
            <a:r>
              <a:t>      "source_review_status": "needs_exact_download_url",</a:t>
            </a:r>
          </a:p>
          <a:p xmlns:a="http://schemas.openxmlformats.org/drawingml/2006/main">
            <a:r>
              <a:t>      "published_or_updated_at": ""</a:t>
            </a:r>
          </a:p>
          <a:p xmlns:a="http://schemas.openxmlformats.org/drawingml/2006/main">
            <a:r>
              <a:t>    },</a:t>
            </a:r>
          </a:p>
          <a:p xmlns:a="http://schemas.openxmlformats.org/drawingml/2006/main">
            <a:r>
              <a:t>    {</a:t>
            </a:r>
          </a:p>
          <a:p xmlns:a="http://schemas.openxmlformats.org/drawingml/2006/main">
            <a:r>
              <a:t>      "title": "한국관광 데이터랩 전국 빅데이터 다운로드 · 신용카드/내국인/지역별 관광지출액/20260820135957__202501-202512_데이터랩_다운로드.zip",</a:t>
            </a:r>
          </a:p>
          <a:p xmlns:a="http://schemas.openxmlformats.org/drawingml/2006/main">
            <a:r>
              <a:t>      "summary": "시군구 기간합계·비중 또는 전국 월별 추이. 지역 월별 ML·정책 효과가 아닌 보조 근거.",</a:t>
            </a:r>
          </a:p>
          <a:p xmlns:a="http://schemas.openxmlformats.org/drawingml/2006/main">
            <a:r>
              <a:t>      "source_id": "team-bigdata:83177a234971:c02cb7972e0f",</a:t>
            </a:r>
          </a:p>
          <a:p xmlns:a="http://schemas.openxmlformats.org/drawingml/2006/main">
            <a:r>
              <a:t>      "source_url": "https://datalab.visitkorea.or.kr/",</a:t>
            </a:r>
          </a:p>
          <a:p xmlns:a="http://schemas.openxmlformats.org/drawingml/2006/main">
            <a:r>
              <a:t>      "source_type": "nationwide_bigdata_dataset",</a:t>
            </a:r>
          </a:p>
          <a:p xmlns:a="http://schemas.openxmlformats.org/drawingml/2006/main">
            <a:r>
              <a:t>      "observation_period": "2026-01 ~ 2026-06",</a:t>
            </a:r>
          </a:p>
          <a:p xmlns:a="http://schemas.openxmlformats.org/drawingml/2006/main">
            <a:r>
              <a:t>      "source_review_status": "needs_exact_download_url",</a:t>
            </a:r>
          </a:p>
          <a:p xmlns:a="http://schemas.openxmlformats.org/drawingml/2006/main">
            <a:r>
              <a:t>      "published_or_updated_at": ""</a:t>
            </a:r>
          </a:p>
          <a:p xmlns:a="http://schemas.openxmlformats.org/drawingml/2006/main">
            <a:r>
              <a:t>    },</a:t>
            </a:r>
          </a:p>
          <a:p xmlns:a="http://schemas.openxmlformats.org/drawingml/2006/main">
            <a:r>
              <a:t>    {</a:t>
            </a:r>
          </a:p>
          <a:p xmlns:a="http://schemas.openxmlformats.org/drawingml/2006/main">
            <a:r>
              <a:t>      "title": "한국관광 데이터랩 전국 빅데이터 다운로드 · 신용카드/외국인/지역별 관광지출액/20260820140409__202501-202512_데이터랩_다운로드.zip",</a:t>
            </a:r>
          </a:p>
          <a:p xmlns:a="http://schemas.openxmlformats.org/drawingml/2006/main">
            <a:r>
              <a:t>      "summary": "시군구 기간합계·비중 또는 전국 월별 추이. 지역 월별 ML·정책 효과가 아닌 보조 근거.",</a:t>
            </a:r>
          </a:p>
          <a:p xmlns:a="http://schemas.openxmlformats.org/drawingml/2006/main">
            <a:r>
              <a:t>      "source_id": "team-bigdata:58ded7732251:589c76395cbc",</a:t>
            </a:r>
          </a:p>
          <a:p xmlns:a="http://schemas.openxmlformats.org/drawingml/2006/main">
            <a:r>
              <a:t>      "source_url": "https://datalab.visitkorea.or.kr/",</a:t>
            </a:r>
          </a:p>
          <a:p xmlns:a="http://schemas.openxmlformats.org/drawingml/2006/main">
            <a:r>
              <a:t>      "source_type": "nationwide_bigdata_dataset",</a:t>
            </a:r>
          </a:p>
          <a:p xmlns:a="http://schemas.openxmlformats.org/drawingml/2006/main">
            <a:r>
              <a:t>      "observation_period": "2026-01 ~ 2026-06",</a:t>
            </a:r>
          </a:p>
          <a:p xmlns:a="http://schemas.openxmlformats.org/drawingml/2006/main">
            <a:r>
              <a:t>      "source_review_status": "needs_exact_download_url",</a:t>
            </a:r>
          </a:p>
          <a:p xmlns:a="http://schemas.openxmlformats.org/drawingml/2006/main">
            <a:r>
              <a:t>      "published_or_updated_at": ""</a:t>
            </a:r>
          </a:p>
          <a:p xmlns:a="http://schemas.openxmlformats.org/drawingml/2006/main">
            <a:r>
              <a:t>    },</a:t>
            </a:r>
          </a:p>
          <a:p xmlns:a="http://schemas.openxmlformats.org/drawingml/2006/main">
            <a:r>
              <a:t>    {</a:t>
            </a:r>
          </a:p>
          <a:p xmlns:a="http://schemas.openxmlformats.org/drawingml/2006/main">
            <a:r>
              <a:t>      "title": "한국관광 데이터랩 전국 빅데이터 다운로드 · 네비게이션/지역별 검색건수/20260820132007__202501-202512_데이터랩_다운로드.zip",</a:t>
            </a:r>
          </a:p>
          <a:p xmlns:a="http://schemas.openxmlformats.org/drawingml/2006/main">
            <a:r>
              <a:t>      "summary": "시군구 기간합계·비중 또는 전국 월별 추이. 지역 월별 ML·정책 효과가 아닌 보조 근거.",</a:t>
            </a:r>
          </a:p>
          <a:p xmlns:a="http://schemas.openxmlformats.org/drawingml/2006/main">
            <a:r>
              <a:t>      "source_id": "team-bigdata:e28c947cb52f:bb4cb344a6ba",</a:t>
            </a:r>
          </a:p>
          <a:p xmlns:a="http://schemas.openxmlformats.org/drawingml/2006/main">
            <a:r>
              <a:t>      "source_url": "https://datalab.visitkorea.or.kr/",</a:t>
            </a:r>
          </a:p>
          <a:p xmlns:a="http://schemas.openxmlformats.org/drawingml/2006/main">
            <a:r>
              <a:t>      "source_type": "nationwide_bigdata_dataset",</a:t>
            </a:r>
          </a:p>
          <a:p xmlns:a="http://schemas.openxmlformats.org/drawingml/2006/main">
            <a:r>
              <a:t>      "observation_period": "2026-01 ~ 2026-06",</a:t>
            </a:r>
          </a:p>
          <a:p xmlns:a="http://schemas.openxmlformats.org/drawingml/2006/main">
            <a:r>
              <a:t>      "source_review_status": "needs_exact_download_url",</a:t>
            </a:r>
          </a:p>
          <a:p xmlns:a="http://schemas.openxmlformats.org/drawingml/2006/main">
            <a:r>
              <a:t>      "published_or_updated_at": ""</a:t>
            </a:r>
          </a:p>
          <a:p xmlns:a="http://schemas.openxmlformats.org/drawingml/2006/main">
            <a:r>
              <a:t>    },</a:t>
            </a:r>
          </a:p>
          <a:p xmlns:a="http://schemas.openxmlformats.org/drawingml/2006/main">
            <a:r>
              <a:t>    {</a:t>
            </a:r>
          </a:p>
          <a:p xmlns:a="http://schemas.openxmlformats.org/drawingml/2006/main">
            <a:r>
              <a:t>      "title": "한국관광 데이터랩 전국 빅데이터 다운로드 · 이동통신/내국인/지역별 방문자수/20260820140624__202401-202412_데이터랩_다운로드.zip",</a:t>
            </a:r>
          </a:p>
          <a:p xmlns:a="http://schemas.openxmlformats.org/drawingml/2006/main">
            <a:r>
              <a:t>      "summary": "시군구 기간합계·비중 또는 전국 월별 추이. 지역 월별 ML·정책 효과가 아닌 보조 근거.",</a:t>
            </a:r>
          </a:p>
          <a:p xmlns:a="http://schemas.openxmlformats.org/drawingml/2006/main">
            <a:r>
              <a:t>      "source_id": "team-bigdata:8815bbb11a39:1a5988f5f8ec",</a:t>
            </a:r>
          </a:p>
          <a:p xmlns:a="http://schemas.openxmlformats.org/drawingml/2006/main">
            <a:r>
              <a:t>      "source_url": "https://datalab.visitkorea.or.kr/",</a:t>
            </a:r>
          </a:p>
          <a:p xmlns:a="http://schemas.openxmlformats.org/drawingml/2006/main">
            <a:r>
              <a:t>      "source_type": "nationwide_bigdata_dataset",</a:t>
            </a:r>
          </a:p>
          <a:p xmlns:a="http://schemas.openxmlformats.org/drawingml/2006/main">
            <a:r>
              <a:t>      "observation_period": "2026-01 ~ 2026-06",</a:t>
            </a:r>
          </a:p>
          <a:p xmlns:a="http://schemas.openxmlformats.org/drawingml/2006/main">
            <a:r>
              <a:t>      "source_review_status": "needs_exact_download_url",</a:t>
            </a:r>
          </a:p>
          <a:p xmlns:a="http://schemas.openxmlformats.org/drawingml/2006/main">
            <a:r>
              <a:t>      "published_or_updated_at": ""</a:t>
            </a:r>
          </a:p>
          <a:p xmlns:a="http://schemas.openxmlformats.org/drawingml/2006/main">
            <a:r>
              <a:t>    },</a:t>
            </a:r>
          </a:p>
          <a:p xmlns:a="http://schemas.openxmlformats.org/drawingml/2006/main">
            <a:r>
              <a:t>    {</a:t>
            </a:r>
          </a:p>
          <a:p xmlns:a="http://schemas.openxmlformats.org/drawingml/2006/main">
            <a:r>
              <a:t>      "title": "한국관광 데이터랩 전국 빅데이터 다운로드 · 이동통신/외국인/20260820141639_전국_202401-202412_데이터랩_다운로드.zip",</a:t>
            </a:r>
          </a:p>
          <a:p xmlns:a="http://schemas.openxmlformats.org/drawingml/2006/main">
            <a:r>
              <a:t>      "summary": "시군구 기간합계·비중 또는 전국 월별 추이. 지역 월별 ML·정책 효과가 아닌 보조 근거.",</a:t>
            </a:r>
          </a:p>
          <a:p xmlns:a="http://schemas.openxmlformats.org/drawingml/2006/main">
            <a:r>
              <a:t>      "source_id": "team-bigdata:19fd67fbb73d:afa4f0f54a2f",</a:t>
            </a:r>
          </a:p>
          <a:p xmlns:a="http://schemas.openxmlformats.org/drawingml/2006/main">
            <a:r>
              <a:t>      "source_url": "https://datalab.visitkorea.or.kr/",</a:t>
            </a:r>
          </a:p>
          <a:p xmlns:a="http://schemas.openxmlformats.org/drawingml/2006/main">
            <a:r>
              <a:t>      "source_type": "nationwide_bigdata_dataset",</a:t>
            </a:r>
          </a:p>
          <a:p xmlns:a="http://schemas.openxmlformats.org/drawingml/2006/main">
            <a:r>
              <a:t>      "observation_period": "2026-01 ~ 2026-06",</a:t>
            </a:r>
          </a:p>
          <a:p xmlns:a="http://schemas.openxmlformats.org/drawingml/2006/main">
            <a:r>
              <a:t>      "source_review_status": "needs_exact_download_url",</a:t>
            </a:r>
          </a:p>
          <a:p xmlns:a="http://schemas.openxmlformats.org/drawingml/2006/main">
            <a:r>
              <a:t>      "published_or_updated_at": ""</a:t>
            </a:r>
          </a:p>
          <a:p xmlns:a="http://schemas.openxmlformats.org/drawingml/2006/main">
            <a:r>
              <a:t>    },</a:t>
            </a:r>
          </a:p>
          <a:p xmlns:a="http://schemas.openxmlformats.org/drawingml/2006/main">
            <a:r>
              <a:t>    {</a:t>
            </a:r>
          </a:p>
          <a:p xmlns:a="http://schemas.openxmlformats.org/drawingml/2006/main">
            <a:r>
              <a:t>      "title": "한국관광 데이터랩 지역별 관광 현황 · 강원특별자치도 원주시 · 유입유출",</a:t>
            </a:r>
          </a:p>
          <a:p xmlns:a="http://schemas.openxmlformats.org/drawingml/2006/main">
            <a:r>
              <a:t>      "summary": "관측 기간: 2025-07 ~ 2026-06. 유입·유출·인기장소 또는 30일 집중 운영 신호.",</a:t>
            </a:r>
          </a:p>
          <a:p xmlns:a="http://schemas.openxmlformats.org/drawingml/2006/main">
            <a:r>
              <a:t>      "source_id": "regional-status:90f2be7a0f7d:b989a6c2e7bf",</a:t>
            </a:r>
          </a:p>
          <a:p xmlns:a="http://schemas.openxmlformats.org/drawingml/2006/main">
            <a:r>
              <a:t>      "source_url": "https://datalab.visitkorea.or.kr/",</a:t>
            </a:r>
          </a:p>
          <a:p xmlns:a="http://schemas.openxmlformats.org/drawingml/2006/main">
            <a:r>
              <a:t>      "source_type": "regional_tourism_status",</a:t>
            </a:r>
          </a:p>
          <a:p xmlns:a="http://schemas.openxmlformats.org/drawingml/2006/main">
            <a:r>
              <a:t>      "observation_period": "2025-07 ~ 2026-06",</a:t>
            </a:r>
          </a:p>
          <a:p xmlns:a="http://schemas.openxmlformats.org/drawingml/2006/main">
            <a:r>
              <a:t>      "published_or_updated_at": ""</a:t>
            </a:r>
          </a:p>
          <a:p xmlns:a="http://schemas.openxmlformats.org/drawingml/2006/main">
            <a:r>
              <a:t>    },</a:t>
            </a:r>
          </a:p>
          <a:p xmlns:a="http://schemas.openxmlformats.org/drawingml/2006/main">
            <a:r>
              <a:t>    {</a:t>
            </a:r>
          </a:p>
          <a:p xmlns:a="http://schemas.openxmlformats.org/drawingml/2006/main">
            <a:r>
              <a:t>      "title": "한국관광 데이터랩 지역별 관광 현황 · 강원특별자치도 원주시 · 지역집중률",</a:t>
            </a:r>
          </a:p>
          <a:p xmlns:a="http://schemas.openxmlformats.org/drawingml/2006/main">
            <a:r>
              <a:t>      "summary": "관측 기간: 2025-07 ~ 2026-06. 유입·유출·인기장소 또는 30일 집중 운영 신호.",</a:t>
            </a:r>
          </a:p>
          <a:p xmlns:a="http://schemas.openxmlformats.org/drawingml/2006/main">
            <a:r>
              <a:t>      "source_id": "regional-status:c39767bd23e8:e3b081f6e6aa",</a:t>
            </a:r>
          </a:p>
          <a:p xmlns:a="http://schemas.openxmlformats.org/drawingml/2006/main">
            <a:r>
              <a:t>      "source_url": "https://datalab.visitkorea.or.kr/",</a:t>
            </a:r>
          </a:p>
          <a:p xmlns:a="http://schemas.openxmlformats.org/drawingml/2006/main">
            <a:r>
              <a:t>      "source_type": "regional_tourism_status",</a:t>
            </a:r>
          </a:p>
          <a:p xmlns:a="http://schemas.openxmlformats.org/drawingml/2006/main">
            <a:r>
              <a:t>      "observation_period": "2025-07 ~ 2026-06",</a:t>
            </a:r>
          </a:p>
          <a:p xmlns:a="http://schemas.openxmlformats.org/drawingml/2006/main">
            <a:r>
              <a:t>      "published_or_updated_at": ""</a:t>
            </a:r>
          </a:p>
          <a:p xmlns:a="http://schemas.openxmlformats.org/drawingml/2006/main">
            <a:r>
              <a:t>    },</a:t>
            </a:r>
          </a:p>
          <a:p xmlns:a="http://schemas.openxmlformats.org/drawingml/2006/main">
            <a:r>
              <a:t>    {</a:t>
            </a:r>
          </a:p>
          <a:p xmlns:a="http://schemas.openxmlformats.org/drawingml/2006/main">
            <a:r>
              <a:t>      "title": "한국관광 데이터랩 지역별 관광 현황 · 강원특별자치도 원주시 · 인기관광지",</a:t>
            </a:r>
          </a:p>
          <a:p xmlns:a="http://schemas.openxmlformats.org/drawingml/2006/main">
            <a:r>
              <a:t>      "summary": "관측 기간: 2025-07 ~ 2026-06. 유입·유출·인기장소 또는 30일 집중 운영 신호.",</a:t>
            </a:r>
          </a:p>
          <a:p xmlns:a="http://schemas.openxmlformats.org/drawingml/2006/main">
            <a:r>
              <a:t>      "source_id": "regional-status:edaf76986d99:c00fa7ffc0a7",</a:t>
            </a:r>
          </a:p>
          <a:p xmlns:a="http://schemas.openxmlformats.org/drawingml/2006/main">
            <a:r>
              <a:t>      "source_url": "https://datalab.visitkorea.or.kr/",</a:t>
            </a:r>
          </a:p>
          <a:p xmlns:a="http://schemas.openxmlformats.org/drawingml/2006/main">
            <a:r>
              <a:t>      "source_type": "regional_tourism_status",</a:t>
            </a:r>
          </a:p>
          <a:p xmlns:a="http://schemas.openxmlformats.org/drawingml/2006/main">
            <a:r>
              <a:t>      "observation_period": "2025-07 ~ 2026-06",</a:t>
            </a:r>
          </a:p>
          <a:p xmlns:a="http://schemas.openxmlformats.org/drawingml/2006/main">
            <a:r>
              <a:t>      "published_or_updated_at": ""</a:t>
            </a:r>
          </a:p>
          <a:p xmlns:a="http://schemas.openxmlformats.org/drawingml/2006/main">
            <a:r>
              <a:t>    },</a:t>
            </a:r>
          </a:p>
          <a:p xmlns:a="http://schemas.openxmlformats.org/drawingml/2006/main">
            <a:r>
              <a:t>    {</a:t>
            </a:r>
          </a:p>
          <a:p xmlns:a="http://schemas.openxmlformats.org/drawingml/2006/main">
            <a:r>
              <a:t>      "title": "지역 관광수요 ML 전망 · 공식 관측값 아님",</a:t>
            </a:r>
          </a:p>
          <a:p xmlns:a="http://schemas.openxmlformats.org/drawingml/2006/main">
            <a:r>
              <a:t>      "summary": "학습 202401~202606 · 모델 regional-demand-v3.1 · 자연 추세 예측",</a:t>
            </a:r>
          </a:p>
          <a:p xmlns:a="http://schemas.openxmlformats.org/drawingml/2006/main">
            <a:r>
              <a:t>      "source_id": "ml:51130:regional-demand-v3.1:202606",</a:t>
            </a:r>
          </a:p>
          <a:p xmlns:a="http://schemas.openxmlformats.org/drawingml/2006/main">
            <a:r>
              <a:t>      "source_url": "",</a:t>
            </a:r>
          </a:p>
          <a:p xmlns:a="http://schemas.openxmlformats.org/drawingml/2006/main">
            <a:r>
              <a:t>      "source_type": "model_forecast",</a:t>
            </a:r>
          </a:p>
          <a:p xmlns:a="http://schemas.openxmlformats.org/drawingml/2006/main">
            <a:r>
              <a:t>      "model_version": "regional-demand-v3.1",</a:t>
            </a:r>
          </a:p>
          <a:p xmlns:a="http://schemas.openxmlformats.org/drawingml/2006/main">
            <a:r>
              <a:t>      "data_fingerprint": "1f7caf31818b53f22347c7318503ea14cbef8a3765f5b75b8191fe8ca2193349"</a:t>
            </a:r>
          </a:p>
          <a:p xmlns:a="http://schemas.openxmlformats.org/drawingml/2006/main">
            <a:r>
              <a:t>    },</a:t>
            </a:r>
          </a:p>
          <a:p xmlns:a="http://schemas.openxmlformats.org/drawingml/2006/main">
            <a:r>
              <a:t>    {</a:t>
            </a:r>
          </a:p>
          <a:p xmlns:a="http://schemas.openxmlformats.org/drawingml/2006/main">
            <a:r>
              <a:t>      "title": "감악산캠핑숲",</a:t>
            </a:r>
          </a:p>
          <a:p xmlns:a="http://schemas.openxmlformats.org/drawingml/2006/main">
            <a:r>
              <a:t>      "address": "강원특별자치도 원주시 신림면 신림황둔로 714",</a:t>
            </a:r>
          </a:p>
          <a:p xmlns:a="http://schemas.openxmlformats.org/drawingml/2006/main">
            <a:r>
              <a:t>      "summary": "한국관광공사 국문관광정보 API가 반환한 선택 지역 관광자원",</a:t>
            </a:r>
          </a:p>
          <a:p xmlns:a="http://schemas.openxmlformats.org/drawingml/2006/main">
            <a:r>
              <a:t>      "image_url": "http://tong.visitkorea.or.kr/cms/resource/64/2732964_image2_1.JPG",</a:t>
            </a:r>
          </a:p>
          <a:p xmlns:a="http://schemas.openxmlformats.org/drawingml/2006/main">
            <a:r>
              <a:t>      "source_id": "tour-api:2732999",</a:t>
            </a:r>
          </a:p>
          <a:p xmlns:a="http://schemas.openxmlformats.org/drawingml/2006/main">
            <a:r>
              <a:t>      "content_id": "2732999",</a:t>
            </a:r>
          </a:p>
          <a:p xmlns:a="http://schemas.openxmlformats.org/drawingml/2006/main">
            <a:r>
              <a:t>      "source_url": "https://apis.data.go.kr/B551011/KorService2",</a:t>
            </a:r>
          </a:p>
          <a:p xmlns:a="http://schemas.openxmlformats.org/drawingml/2006/main">
            <a:r>
              <a:t>      "source_type": "open_api",</a:t>
            </a:r>
          </a:p>
          <a:p xmlns:a="http://schemas.openxmlformats.org/drawingml/2006/main">
            <a:r>
              <a:t>      "content_type_id": "28"</a:t>
            </a:r>
          </a:p>
          <a:p xmlns:a="http://schemas.openxmlformats.org/drawingml/2006/main">
            <a:r>
              <a:t>    },</a:t>
            </a:r>
          </a:p>
          <a:p xmlns:a="http://schemas.openxmlformats.org/drawingml/2006/main">
            <a:r>
              <a:t>    {</a:t>
            </a:r>
          </a:p>
          <a:p xmlns:a="http://schemas.openxmlformats.org/drawingml/2006/main">
            <a:r>
              <a:t>      "title": "강원감영관찰사·무릉고서화미술박물관",</a:t>
            </a:r>
          </a:p>
          <a:p xmlns:a="http://schemas.openxmlformats.org/drawingml/2006/main">
            <a:r>
              <a:t>      "address": "강원특별자치도 원주시 흥업면 사제로 399-10",</a:t>
            </a:r>
          </a:p>
          <a:p xmlns:a="http://schemas.openxmlformats.org/drawingml/2006/main">
            <a:r>
              <a:t>      "summary": "한국관광공사 국문관광정보 API가 반환한 선택 지역 관광자원",</a:t>
            </a:r>
          </a:p>
          <a:p xmlns:a="http://schemas.openxmlformats.org/drawingml/2006/main">
            <a:r>
              <a:t>      "image_url": "http://tong.visitkorea.or.kr/cms/resource/64/3437164_image2_1.jpg",</a:t>
            </a:r>
          </a:p>
          <a:p xmlns:a="http://schemas.openxmlformats.org/drawingml/2006/main">
            <a:r>
              <a:t>      "source_id": "tour-api:2555010",</a:t>
            </a:r>
          </a:p>
          <a:p xmlns:a="http://schemas.openxmlformats.org/drawingml/2006/main">
            <a:r>
              <a:t>      "content_id": "2555010",</a:t>
            </a:r>
          </a:p>
          <a:p xmlns:a="http://schemas.openxmlformats.org/drawingml/2006/main">
            <a:r>
              <a:t>      "source_url": "https://apis.data.go.kr/B551011/KorService2",</a:t>
            </a:r>
          </a:p>
          <a:p xmlns:a="http://schemas.openxmlformats.org/drawingml/2006/main">
            <a:r>
              <a:t>      "source_type": "open_api",</a:t>
            </a:r>
          </a:p>
          <a:p xmlns:a="http://schemas.openxmlformats.org/drawingml/2006/main">
            <a:r>
              <a:t>      "content_type_id": "14"</a:t>
            </a:r>
          </a:p>
          <a:p xmlns:a="http://schemas.openxmlformats.org/drawingml/2006/main">
            <a:r>
              <a:t>    },</a:t>
            </a:r>
          </a:p>
          <a:p xmlns:a="http://schemas.openxmlformats.org/drawingml/2006/main">
            <a:r>
              <a:t>    {</a:t>
            </a:r>
          </a:p>
          <a:p xmlns:a="http://schemas.openxmlformats.org/drawingml/2006/main">
            <a:r>
              <a:t>      "title": "강원도힐링캠핑장",</a:t>
            </a:r>
          </a:p>
          <a:p xmlns:a="http://schemas.openxmlformats.org/drawingml/2006/main">
            <a:r>
              <a:t>      "address": "강원특별자치도 원주시 신림면 재사동길 10-38",</a:t>
            </a:r>
          </a:p>
          <a:p xmlns:a="http://schemas.openxmlformats.org/drawingml/2006/main">
            <a:r>
              <a:t>      "summary": "한국관광공사 국문관광정보 API가 반환한 선택 지역 관광자원",</a:t>
            </a:r>
          </a:p>
          <a:p xmlns:a="http://schemas.openxmlformats.org/drawingml/2006/main">
            <a:r>
              <a:t>      "image_url": "http://tong.visitkorea.or.kr/cms/resource/98/2733998_image2_1.JPG",</a:t>
            </a:r>
          </a:p>
          <a:p xmlns:a="http://schemas.openxmlformats.org/drawingml/2006/main">
            <a:r>
              <a:t>      "source_id": "tour-api:2734136",</a:t>
            </a:r>
          </a:p>
          <a:p xmlns:a="http://schemas.openxmlformats.org/drawingml/2006/main">
            <a:r>
              <a:t>      "content_id": "2734136",</a:t>
            </a:r>
          </a:p>
          <a:p xmlns:a="http://schemas.openxmlformats.org/drawingml/2006/main">
            <a:r>
              <a:t>      "source_url": "https://apis.data.go.kr/B551011/KorService2",</a:t>
            </a:r>
          </a:p>
          <a:p xmlns:a="http://schemas.openxmlformats.org/drawingml/2006/main">
            <a:r>
              <a:t>      "source_type": "open_api",</a:t>
            </a:r>
          </a:p>
          <a:p xmlns:a="http://schemas.openxmlformats.org/drawingml/2006/main">
            <a:r>
              <a:t>      "content_type_id": "28"</a:t>
            </a:r>
          </a:p>
          <a:p xmlns:a="http://schemas.openxmlformats.org/drawingml/2006/main">
            <a:r>
              <a:t>    },</a:t>
            </a:r>
          </a:p>
          <a:p xmlns:a="http://schemas.openxmlformats.org/drawingml/2006/main">
            <a:r>
              <a:t>    {</a:t>
            </a:r>
          </a:p>
          <a:p xmlns:a="http://schemas.openxmlformats.org/drawingml/2006/main">
            <a:r>
              <a:t>      "title": "경천묘",</a:t>
            </a:r>
          </a:p>
          <a:p xmlns:a="http://schemas.openxmlformats.org/drawingml/2006/main">
            <a:r>
              <a:t>      "address": "강원특별자치도 원주시 귀래면 미륵산길 200",</a:t>
            </a:r>
          </a:p>
          <a:p xmlns:a="http://schemas.openxmlformats.org/drawingml/2006/main">
            <a:r>
              <a:t>      "summary": "한국관광공사 국문관광정보 API가 반환한 선택 지역 관광자원",</a:t>
            </a:r>
          </a:p>
          <a:p xmlns:a="http://schemas.openxmlformats.org/drawingml/2006/main">
            <a:r>
              <a:t>      "image_url": "http://tong.visitkorea.or.kr/cms/resource/56/3379256_image2_1.JPG",</a:t>
            </a:r>
          </a:p>
          <a:p xmlns:a="http://schemas.openxmlformats.org/drawingml/2006/main">
            <a:r>
              <a:t>      "source_id": "tour-api:2702477",</a:t>
            </a:r>
          </a:p>
          <a:p xmlns:a="http://schemas.openxmlformats.org/drawingml/2006/main">
            <a:r>
              <a:t>      "content_id": "2702477",</a:t>
            </a:r>
          </a:p>
          <a:p xmlns:a="http://schemas.openxmlformats.org/drawingml/2006/main">
            <a:r>
              <a:t>      "source_url": "https://apis.data.go.kr/B551011/KorService2",</a:t>
            </a:r>
          </a:p>
          <a:p xmlns:a="http://schemas.openxmlformats.org/drawingml/2006/main">
            <a:r>
              <a:t>      "source_type": "open_api",</a:t>
            </a:r>
          </a:p>
          <a:p xmlns:a="http://schemas.openxmlformats.org/drawingml/2006/main">
            <a:r>
              <a:t>      "content_type_id": "12"</a:t>
            </a:r>
          </a:p>
          <a:p xmlns:a="http://schemas.openxmlformats.org/drawingml/2006/main">
            <a:r>
              <a:t>    },</a:t>
            </a:r>
          </a:p>
          <a:p xmlns:a="http://schemas.openxmlformats.org/drawingml/2006/main">
            <a:r>
              <a:t>    {</a:t>
            </a:r>
          </a:p>
          <a:p xmlns:a="http://schemas.openxmlformats.org/drawingml/2006/main">
            <a:r>
              <a:t>      "title": "고판화박물관",</a:t>
            </a:r>
          </a:p>
          <a:p xmlns:a="http://schemas.openxmlformats.org/drawingml/2006/main">
            <a:r>
              <a:t>      "address": "강원특별자치도 원주시 신림면 물안길 62",</a:t>
            </a:r>
          </a:p>
          <a:p xmlns:a="http://schemas.openxmlformats.org/drawingml/2006/main">
            <a:r>
              <a:t>      "summary": "한국관광공사 국문관광정보 API가 반환한 선택 지역 관광자원",</a:t>
            </a:r>
          </a:p>
          <a:p xmlns:a="http://schemas.openxmlformats.org/drawingml/2006/main">
            <a:r>
              <a:t>      "image_url": "http://tong.visitkorea.or.kr/cms/resource/36/3375236_image2_1.JPG",</a:t>
            </a:r>
          </a:p>
          <a:p xmlns:a="http://schemas.openxmlformats.org/drawingml/2006/main">
            <a:r>
              <a:t>      "source_id": "tour-api:130539",</a:t>
            </a:r>
          </a:p>
          <a:p xmlns:a="http://schemas.openxmlformats.org/drawingml/2006/main">
            <a:r>
              <a:t>      "content_id": "130539",</a:t>
            </a:r>
          </a:p>
          <a:p xmlns:a="http://schemas.openxmlformats.org/drawingml/2006/main">
            <a:r>
              <a:t>      "source_url": "https://apis.data.go.kr/B551011/KorService2",</a:t>
            </a:r>
          </a:p>
          <a:p xmlns:a="http://schemas.openxmlformats.org/drawingml/2006/main">
            <a:r>
              <a:t>      "source_type": "open_api",</a:t>
            </a:r>
          </a:p>
          <a:p xmlns:a="http://schemas.openxmlformats.org/drawingml/2006/main">
            <a:r>
              <a:t>      "content_type_id": "14"</a:t>
            </a:r>
          </a:p>
          <a:p xmlns:a="http://schemas.openxmlformats.org/drawingml/2006/main">
            <a:r>
              <a:t>    },</a:t>
            </a:r>
          </a:p>
          <a:p xmlns:a="http://schemas.openxmlformats.org/drawingml/2006/main">
            <a:r>
              <a:t>    {</a:t>
            </a:r>
          </a:p>
          <a:p xmlns:a="http://schemas.openxmlformats.org/drawingml/2006/main">
            <a:r>
              <a:t>      "title": "관음사·국형사계곡",</a:t>
            </a:r>
          </a:p>
          <a:p xmlns:a="http://schemas.openxmlformats.org/drawingml/2006/main">
            <a:r>
              <a:t>      "address": "강원특별자치도 원주시 고문골길 169 (행구동)",</a:t>
            </a:r>
          </a:p>
          <a:p xmlns:a="http://schemas.openxmlformats.org/drawingml/2006/main">
            <a:r>
              <a:t>      "summary": "한국관광공사 국문관광정보 API가 반환한 선택 지역 관광자원",</a:t>
            </a:r>
          </a:p>
          <a:p xmlns:a="http://schemas.openxmlformats.org/drawingml/2006/main">
            <a:r>
              <a:t>      "image_url": "http://tong.visitkorea.or.kr/cms/resource/29/3045629_image2_1.jpg",</a:t>
            </a:r>
          </a:p>
          <a:p xmlns:a="http://schemas.openxmlformats.org/drawingml/2006/main">
            <a:r>
              <a:t>      "source_id": "tour-api:125645",</a:t>
            </a:r>
          </a:p>
          <a:p xmlns:a="http://schemas.openxmlformats.org/drawingml/2006/main">
            <a:r>
              <a:t>      "content_id": "125645",</a:t>
            </a:r>
          </a:p>
          <a:p xmlns:a="http://schemas.openxmlformats.org/drawingml/2006/main">
            <a:r>
              <a:t>      "source_url": "https://apis.data.go.kr/B551011/KorService2",</a:t>
            </a:r>
          </a:p>
          <a:p xmlns:a="http://schemas.openxmlformats.org/drawingml/2006/main">
            <a:r>
              <a:t>      "source_type": "open_api",</a:t>
            </a:r>
          </a:p>
          <a:p xmlns:a="http://schemas.openxmlformats.org/drawingml/2006/main">
            <a:r>
              <a:t>      "content_type_id": "12"</a:t>
            </a:r>
          </a:p>
          <a:p xmlns:a="http://schemas.openxmlformats.org/drawingml/2006/main">
            <a:r>
              <a:t>    },</a:t>
            </a:r>
          </a:p>
          <a:p xmlns:a="http://schemas.openxmlformats.org/drawingml/2006/main">
            <a:r>
              <a:t>    {</a:t>
            </a:r>
          </a:p>
          <a:p xmlns:a="http://schemas.openxmlformats.org/drawingml/2006/main">
            <a:r>
              <a:t>      "title": "광화문갈비 원주점",</a:t>
            </a:r>
          </a:p>
          <a:p xmlns:a="http://schemas.openxmlformats.org/drawingml/2006/main">
            <a:r>
              <a:t>      "address": "강원특별자치도 원주시 능라동길 48 (무실동)",</a:t>
            </a:r>
          </a:p>
          <a:p xmlns:a="http://schemas.openxmlformats.org/drawingml/2006/main">
            <a:r>
              <a:t>      "summary": "한국관광공사 국문관광정보 API가 반환한 선택 지역 관광자원",</a:t>
            </a:r>
          </a:p>
          <a:p xmlns:a="http://schemas.openxmlformats.org/drawingml/2006/main">
            <a:r>
              <a:t>      "image_url": "http://tong.visitkorea.or.kr/cms/resource/86/3421686_image2_1.jpg",</a:t>
            </a:r>
          </a:p>
          <a:p xmlns:a="http://schemas.openxmlformats.org/drawingml/2006/main">
            <a:r>
              <a:t>      "source_id": "tour-api:3356037",</a:t>
            </a:r>
          </a:p>
          <a:p xmlns:a="http://schemas.openxmlformats.org/drawingml/2006/main">
            <a:r>
              <a:t>      "content_id": "3356037",</a:t>
            </a:r>
          </a:p>
          <a:p xmlns:a="http://schemas.openxmlformats.org/drawingml/2006/main">
            <a:r>
              <a:t>      "source_url": "https://apis.data.go.kr/B551011/KorService2",</a:t>
            </a:r>
          </a:p>
          <a:p xmlns:a="http://schemas.openxmlformats.org/drawingml/2006/main">
            <a:r>
              <a:t>      "source_type": "open_api",</a:t>
            </a:r>
          </a:p>
          <a:p xmlns:a="http://schemas.openxmlformats.org/drawingml/2006/main">
            <a:r>
              <a:t>      "content_type_id": "39"</a:t>
            </a:r>
          </a:p>
          <a:p xmlns:a="http://schemas.openxmlformats.org/drawingml/2006/main">
            <a:r>
              <a:t>    },</a:t>
            </a:r>
          </a:p>
          <a:p xmlns:a="http://schemas.openxmlformats.org/drawingml/2006/main">
            <a:r>
              <a:t>    {</a:t>
            </a:r>
          </a:p>
          <a:p xmlns:a="http://schemas.openxmlformats.org/drawingml/2006/main">
            <a:r>
              <a:t>      "title": "구 조선식산은행 원주지점",</a:t>
            </a:r>
          </a:p>
          <a:p xmlns:a="http://schemas.openxmlformats.org/drawingml/2006/main">
            <a:r>
              <a:t>      "address": "강원특별자치도 원주시 중앙로 88 (중앙동)",</a:t>
            </a:r>
          </a:p>
          <a:p xmlns:a="http://schemas.openxmlformats.org/drawingml/2006/main">
            <a:r>
              <a:t>      "summary": "한국관광공사 국문관광정보 API가 반환한 선택 지역 관광자원",</a:t>
            </a:r>
          </a:p>
          <a:p xmlns:a="http://schemas.openxmlformats.org/drawingml/2006/main">
            <a:r>
              <a:t>      "image_url": "http://tong.visitkorea.or.kr/cms/resource/78/3379278_image2_1.JPG",</a:t>
            </a:r>
          </a:p>
          <a:p xmlns:a="http://schemas.openxmlformats.org/drawingml/2006/main">
            <a:r>
              <a:t>      "source_id": "tour-api:2762710",</a:t>
            </a:r>
          </a:p>
          <a:p xmlns:a="http://schemas.openxmlformats.org/drawingml/2006/main">
            <a:r>
              <a:t>      "content_id": "2762710",</a:t>
            </a:r>
          </a:p>
          <a:p xmlns:a="http://schemas.openxmlformats.org/drawingml/2006/main">
            <a:r>
              <a:t>      "source_url": "https://apis.data.go.kr/B551011/KorService2",</a:t>
            </a:r>
          </a:p>
          <a:p xmlns:a="http://schemas.openxmlformats.org/drawingml/2006/main">
            <a:r>
              <a:t>      "source_type": "open_api",</a:t>
            </a:r>
          </a:p>
          <a:p xmlns:a="http://schemas.openxmlformats.org/drawingml/2006/main">
            <a:r>
              <a:t>      "content_type_id": "12"</a:t>
            </a:r>
          </a:p>
          <a:p xmlns:a="http://schemas.openxmlformats.org/drawingml/2006/main">
            <a:r>
              <a:t>    },</a:t>
            </a:r>
          </a:p>
          <a:p xmlns:a="http://schemas.openxmlformats.org/drawingml/2006/main">
            <a:r>
              <a:t>    {</a:t>
            </a:r>
          </a:p>
          <a:p xmlns:a="http://schemas.openxmlformats.org/drawingml/2006/main">
            <a:r>
              <a:t>      "title": "국형사",</a:t>
            </a:r>
          </a:p>
          <a:p xmlns:a="http://schemas.openxmlformats.org/drawingml/2006/main">
            <a:r>
              <a:t>      "address": "강원특별자치도 원주시 고문골길 155 (행구동)",</a:t>
            </a:r>
          </a:p>
          <a:p xmlns:a="http://schemas.openxmlformats.org/drawingml/2006/main">
            <a:r>
              <a:t>      "summary": "한국관광공사 국문관광정보 API가 반환한 선택 지역 관광자원",</a:t>
            </a:r>
          </a:p>
          <a:p xmlns:a="http://schemas.openxmlformats.org/drawingml/2006/main">
            <a:r>
              <a:t>      "image_url": "http://tong.visitkorea.or.kr/cms/resource/87/3559187_image2_1.jpeg",</a:t>
            </a:r>
          </a:p>
          <a:p xmlns:a="http://schemas.openxmlformats.org/drawingml/2006/main">
            <a:r>
              <a:t>      "source_id": "tour-api:125757",</a:t>
            </a:r>
          </a:p>
          <a:p xmlns:a="http://schemas.openxmlformats.org/drawingml/2006/main">
            <a:r>
              <a:t>      "content_id": "125757",</a:t>
            </a:r>
          </a:p>
          <a:p xmlns:a="http://schemas.openxmlformats.org/drawingml/2006/main">
            <a:r>
              <a:t>      "source_url": "https://apis.data.go.kr/B551011/KorService2",</a:t>
            </a:r>
          </a:p>
          <a:p xmlns:a="http://schemas.openxmlformats.org/drawingml/2006/main">
            <a:r>
              <a:t>      "source_type": "open_api",</a:t>
            </a:r>
          </a:p>
          <a:p xmlns:a="http://schemas.openxmlformats.org/drawingml/2006/main">
            <a:r>
              <a:t>      "content_type_id": "12"</a:t>
            </a:r>
          </a:p>
          <a:p xmlns:a="http://schemas.openxmlformats.org/drawingml/2006/main">
            <a:r>
              <a:t>    },</a:t>
            </a:r>
          </a:p>
          <a:p xmlns:a="http://schemas.openxmlformats.org/drawingml/2006/main">
            <a:r>
              <a:t>    {</a:t>
            </a:r>
          </a:p>
          <a:p xmlns:a="http://schemas.openxmlformats.org/drawingml/2006/main">
            <a:r>
              <a:t>      "title": "금대 에코힐링 캠핑장",</a:t>
            </a:r>
          </a:p>
          <a:p xmlns:a="http://schemas.openxmlformats.org/drawingml/2006/main">
            <a:r>
              <a:t>      "address": "강원특별자치도 원주시 판부면 영원산성길 372",</a:t>
            </a:r>
          </a:p>
          <a:p xmlns:a="http://schemas.openxmlformats.org/drawingml/2006/main">
            <a:r>
              <a:t>      "summary": "한국관광공사 국문관광정보 API가 반환한 선택 지역 관광자원",</a:t>
            </a:r>
          </a:p>
          <a:p xmlns:a="http://schemas.openxmlformats.org/drawingml/2006/main">
            <a:r>
              <a:t>      "image_url": "http://tong.visitkorea.or.kr/cms/resource/95/2011295_image2_1.jpg",</a:t>
            </a:r>
          </a:p>
          <a:p xmlns:a="http://schemas.openxmlformats.org/drawingml/2006/main">
            <a:r>
              <a:t>      "source_id": "tour-api:2033279",</a:t>
            </a:r>
          </a:p>
          <a:p xmlns:a="http://schemas.openxmlformats.org/drawingml/2006/main">
            <a:r>
              <a:t>      "content_id": "2033279",</a:t>
            </a:r>
          </a:p>
          <a:p xmlns:a="http://schemas.openxmlformats.org/drawingml/2006/main">
            <a:r>
              <a:t>      "source_url": "https://apis.data.go.kr/B551011/KorService2",</a:t>
            </a:r>
          </a:p>
          <a:p xmlns:a="http://schemas.openxmlformats.org/drawingml/2006/main">
            <a:r>
              <a:t>      "source_type": "open_api",</a:t>
            </a:r>
          </a:p>
          <a:p xmlns:a="http://schemas.openxmlformats.org/drawingml/2006/main">
            <a:r>
              <a:t>      "content_type_id": "28"</a:t>
            </a:r>
          </a:p>
          <a:p xmlns:a="http://schemas.openxmlformats.org/drawingml/2006/main">
            <a:r>
              <a:t>    },</a:t>
            </a:r>
          </a:p>
          <a:p xmlns:a="http://schemas.openxmlformats.org/drawingml/2006/main">
            <a:r>
              <a:t>    {</a:t>
            </a:r>
          </a:p>
          <a:p xmlns:a="http://schemas.openxmlformats.org/drawingml/2006/main">
            <a:r>
              <a:t>      "title": "금대계곡",</a:t>
            </a:r>
          </a:p>
          <a:p xmlns:a="http://schemas.openxmlformats.org/drawingml/2006/main">
            <a:r>
              <a:t>      "address": "강원특별자치도 원주시 판부면 치악로 546-22",</a:t>
            </a:r>
          </a:p>
          <a:p xmlns:a="http://schemas.openxmlformats.org/drawingml/2006/main">
            <a:r>
              <a:t>      "summary": "한국관광공사 국문관광정보 API가 반환한 선택 지역 관광자원",</a:t>
            </a:r>
          </a:p>
          <a:p xmlns:a="http://schemas.openxmlformats.org/drawingml/2006/main">
            <a:r>
              <a:t>      "image_url": "http://tong.visitkorea.or.kr/cms/resource/85/3045285_image2_1.jpg",</a:t>
            </a:r>
          </a:p>
          <a:p xmlns:a="http://schemas.openxmlformats.org/drawingml/2006/main">
            <a:r>
              <a:t>      "source_id": "tour-api:129676",</a:t>
            </a:r>
          </a:p>
          <a:p xmlns:a="http://schemas.openxmlformats.org/drawingml/2006/main">
            <a:r>
              <a:t>      "content_id": "129676",</a:t>
            </a:r>
          </a:p>
          <a:p xmlns:a="http://schemas.openxmlformats.org/drawingml/2006/main">
            <a:r>
              <a:t>      "source_url": "https://apis.data.go.kr/B551011/KorService2",</a:t>
            </a:r>
          </a:p>
          <a:p xmlns:a="http://schemas.openxmlformats.org/drawingml/2006/main">
            <a:r>
              <a:t>      "source_type": "open_api",</a:t>
            </a:r>
          </a:p>
          <a:p xmlns:a="http://schemas.openxmlformats.org/drawingml/2006/main">
            <a:r>
              <a:t>      "content_type_id": "12"</a:t>
            </a:r>
          </a:p>
          <a:p xmlns:a="http://schemas.openxmlformats.org/drawingml/2006/main">
            <a:r>
              <a:t>    },</a:t>
            </a:r>
          </a:p>
          <a:p xmlns:a="http://schemas.openxmlformats.org/drawingml/2006/main">
            <a:r>
              <a:t>    {</a:t>
            </a:r>
          </a:p>
          <a:p xmlns:a="http://schemas.openxmlformats.org/drawingml/2006/main">
            <a:r>
              <a:t>      "title": "금대자동차야영장",</a:t>
            </a:r>
          </a:p>
          <a:p xmlns:a="http://schemas.openxmlformats.org/drawingml/2006/main">
            <a:r>
              <a:t>      "address": "강원특별자치도 원주시 판부면 영원산성길 372",</a:t>
            </a:r>
          </a:p>
          <a:p xmlns:a="http://schemas.openxmlformats.org/drawingml/2006/main">
            <a:r>
              <a:t>      "summary": "한국관광공사 국문관광정보 API가 반환한 선택 지역 관광자원",</a:t>
            </a:r>
          </a:p>
          <a:p xmlns:a="http://schemas.openxmlformats.org/drawingml/2006/main">
            <a:r>
              <a:t>      "image_url": "http://tong.visitkorea.or.kr/cms/resource/97/2734897_image2_1.JPG",</a:t>
            </a:r>
          </a:p>
          <a:p xmlns:a="http://schemas.openxmlformats.org/drawingml/2006/main">
            <a:r>
              <a:t>      "source_id": "tour-api:2734906",</a:t>
            </a:r>
          </a:p>
          <a:p xmlns:a="http://schemas.openxmlformats.org/drawingml/2006/main">
            <a:r>
              <a:t>      "content_id": "2734906",</a:t>
            </a:r>
          </a:p>
          <a:p xmlns:a="http://schemas.openxmlformats.org/drawingml/2006/main">
            <a:r>
              <a:t>      "source_url": "https://apis.data.go.kr/B551011/KorService2",</a:t>
            </a:r>
          </a:p>
          <a:p xmlns:a="http://schemas.openxmlformats.org/drawingml/2006/main">
            <a:r>
              <a:t>      "source_type": "open_api",</a:t>
            </a:r>
          </a:p>
          <a:p xmlns:a="http://schemas.openxmlformats.org/drawingml/2006/main">
            <a:r>
              <a:t>      "content_type_id": "28"</a:t>
            </a:r>
          </a:p>
          <a:p xmlns:a="http://schemas.openxmlformats.org/drawingml/2006/main">
            <a:r>
              <a:t>    },</a:t>
            </a:r>
          </a:p>
          <a:p xmlns:a="http://schemas.openxmlformats.org/drawingml/2006/main">
            <a:r>
              <a:t>    {</a:t>
            </a:r>
          </a:p>
          <a:p xmlns:a="http://schemas.openxmlformats.org/drawingml/2006/main">
            <a:r>
              <a:t>      "title": "기후변화홍보관",</a:t>
            </a:r>
          </a:p>
          <a:p xmlns:a="http://schemas.openxmlformats.org/drawingml/2006/main">
            <a:r>
              <a:t>      "address": "강원특별자치도 원주시 행구로 362",</a:t>
            </a:r>
          </a:p>
          <a:p xmlns:a="http://schemas.openxmlformats.org/drawingml/2006/main">
            <a:r>
              <a:t>      "summary": "한국관광공사 국문관광정보 API가 반환한 선택 지역 관광자원",</a:t>
            </a:r>
          </a:p>
          <a:p xmlns:a="http://schemas.openxmlformats.org/drawingml/2006/main">
            <a:r>
              <a:t>      "image_url": "http://tong.visitkorea.or.kr/cms/resource/40/3533840_image2_1.JPG",</a:t>
            </a:r>
          </a:p>
          <a:p xmlns:a="http://schemas.openxmlformats.org/drawingml/2006/main">
            <a:r>
              <a:t>      "source_id": "tour-api:2714800",</a:t>
            </a:r>
          </a:p>
          <a:p xmlns:a="http://schemas.openxmlformats.org/drawingml/2006/main">
            <a:r>
              <a:t>      "content_id": "2714800",</a:t>
            </a:r>
          </a:p>
          <a:p xmlns:a="http://schemas.openxmlformats.org/drawingml/2006/main">
            <a:r>
              <a:t>      "source_url": "https://apis.data.go.kr/B551011/KorService2",</a:t>
            </a:r>
          </a:p>
          <a:p xmlns:a="http://schemas.openxmlformats.org/drawingml/2006/main">
            <a:r>
              <a:t>      "source_type": "open_api",</a:t>
            </a:r>
          </a:p>
          <a:p xmlns:a="http://schemas.openxmlformats.org/drawingml/2006/main">
            <a:r>
              <a:t>      "content_type_id": "14"</a:t>
            </a:r>
          </a:p>
          <a:p xmlns:a="http://schemas.openxmlformats.org/drawingml/2006/main">
            <a:r>
              <a:t>    },</a:t>
            </a:r>
          </a:p>
          <a:p xmlns:a="http://schemas.openxmlformats.org/drawingml/2006/main">
            <a:r>
              <a:t>    {</a:t>
            </a:r>
          </a:p>
          <a:p xmlns:a="http://schemas.openxmlformats.org/drawingml/2006/main">
            <a:r>
              <a:t>      "title": "김가네원주추어탕",</a:t>
            </a:r>
          </a:p>
          <a:p xmlns:a="http://schemas.openxmlformats.org/drawingml/2006/main">
            <a:r>
              <a:t>      "address": "강원특별자치도 원주시 단관공원길 90-3",</a:t>
            </a:r>
          </a:p>
          <a:p xmlns:a="http://schemas.openxmlformats.org/drawingml/2006/main">
            <a:r>
              <a:t>      "summary": "한국관광공사 국문관광정보 API가 반환한 선택 지역 관광자원",</a:t>
            </a:r>
          </a:p>
          <a:p xmlns:a="http://schemas.openxmlformats.org/drawingml/2006/main">
            <a:r>
              <a:t>      "image_url": "http://tong.visitkorea.or.kr/cms/resource/25/2892325_image2_1.jpg",</a:t>
            </a:r>
          </a:p>
          <a:p xmlns:a="http://schemas.openxmlformats.org/drawingml/2006/main">
            <a:r>
              <a:t>      "source_id": "tour-api:2892327",</a:t>
            </a:r>
          </a:p>
          <a:p xmlns:a="http://schemas.openxmlformats.org/drawingml/2006/main">
            <a:r>
              <a:t>      "content_id": "2892327",</a:t>
            </a:r>
          </a:p>
          <a:p xmlns:a="http://schemas.openxmlformats.org/drawingml/2006/main">
            <a:r>
              <a:t>      "source_url": "https://apis.data.go.kr/B551011/KorService2",</a:t>
            </a:r>
          </a:p>
          <a:p xmlns:a="http://schemas.openxmlformats.org/drawingml/2006/main">
            <a:r>
              <a:t>      "source_type": "open_api",</a:t>
            </a:r>
          </a:p>
          <a:p xmlns:a="http://schemas.openxmlformats.org/drawingml/2006/main">
            <a:r>
              <a:t>      "content_type_id": "39"</a:t>
            </a:r>
          </a:p>
          <a:p xmlns:a="http://schemas.openxmlformats.org/drawingml/2006/main">
            <a:r>
              <a:t>    },</a:t>
            </a:r>
          </a:p>
          <a:p xmlns:a="http://schemas.openxmlformats.org/drawingml/2006/main">
            <a:r>
              <a:t>    {</a:t>
            </a:r>
          </a:p>
          <a:p xmlns:a="http://schemas.openxmlformats.org/drawingml/2006/main">
            <a:r>
              <a:t>      "title": "김제남 신도비",</a:t>
            </a:r>
          </a:p>
          <a:p xmlns:a="http://schemas.openxmlformats.org/drawingml/2006/main">
            <a:r>
              <a:t>      "address": "강원특별자치도 원주시 지정면 흥법사지길 18",</a:t>
            </a:r>
          </a:p>
          <a:p xmlns:a="http://schemas.openxmlformats.org/drawingml/2006/main">
            <a:r>
              <a:t>      "summary": "한국관광공사 국문관광정보 API가 반환한 선택 지역 관광자원",</a:t>
            </a:r>
          </a:p>
          <a:p xmlns:a="http://schemas.openxmlformats.org/drawingml/2006/main">
            <a:r>
              <a:t>      "image_url": "http://tong.visitkorea.or.kr/cms/resource/28/3376528_image2_1.JPG",</a:t>
            </a:r>
          </a:p>
          <a:p xmlns:a="http://schemas.openxmlformats.org/drawingml/2006/main">
            <a:r>
              <a:t>      "source_id": "tour-api:129284",</a:t>
            </a:r>
          </a:p>
          <a:p xmlns:a="http://schemas.openxmlformats.org/drawingml/2006/main">
            <a:r>
              <a:t>      "content_id": "129284",</a:t>
            </a:r>
          </a:p>
          <a:p xmlns:a="http://schemas.openxmlformats.org/drawingml/2006/main">
            <a:r>
              <a:t>      "source_url": "https://apis.data.go.kr/B551011/KorService2",</a:t>
            </a:r>
          </a:p>
          <a:p xmlns:a="http://schemas.openxmlformats.org/drawingml/2006/main">
            <a:r>
              <a:t>      "source_type": "open_api",</a:t>
            </a:r>
          </a:p>
          <a:p xmlns:a="http://schemas.openxmlformats.org/drawingml/2006/main">
            <a:r>
              <a:t>      "content_type_id": "12"</a:t>
            </a:r>
          </a:p>
          <a:p xmlns:a="http://schemas.openxmlformats.org/drawingml/2006/main">
            <a:r>
              <a:t>    },</a:t>
            </a:r>
          </a:p>
          <a:p xmlns:a="http://schemas.openxmlformats.org/drawingml/2006/main">
            <a:r>
              <a:t>    {</a:t>
            </a:r>
          </a:p>
          <a:p xmlns:a="http://schemas.openxmlformats.org/drawingml/2006/main">
            <a:r>
              <a:t>      "title": "넌스키 난보드",</a:t>
            </a:r>
          </a:p>
          <a:p xmlns:a="http://schemas.openxmlformats.org/drawingml/2006/main">
            <a:r>
              <a:t>      "address": "강원특별자치도 원주시 지정면 구재로 132",</a:t>
            </a:r>
          </a:p>
          <a:p xmlns:a="http://schemas.openxmlformats.org/drawingml/2006/main">
            <a:r>
              <a:t>      "summary": "한국관광공사 국문관광정보 API가 반환한 선택 지역 관광자원",</a:t>
            </a:r>
          </a:p>
          <a:p xmlns:a="http://schemas.openxmlformats.org/drawingml/2006/main">
            <a:r>
              <a:t>      "image_url": "http://tong.visitkorea.or.kr/cms/resource/73/3562173_image2_1.jpg",</a:t>
            </a:r>
          </a:p>
          <a:p xmlns:a="http://schemas.openxmlformats.org/drawingml/2006/main">
            <a:r>
              <a:t>      "source_id": "tour-api:512084",</a:t>
            </a:r>
          </a:p>
          <a:p xmlns:a="http://schemas.openxmlformats.org/drawingml/2006/main">
            <a:r>
              <a:t>      "content_id": "512084",</a:t>
            </a:r>
          </a:p>
          <a:p xmlns:a="http://schemas.openxmlformats.org/drawingml/2006/main">
            <a:r>
              <a:t>      "source_url": "https://apis.data.go.kr/B551011/KorService2",</a:t>
            </a:r>
          </a:p>
          <a:p xmlns:a="http://schemas.openxmlformats.org/drawingml/2006/main">
            <a:r>
              <a:t>      "source_type": "open_api",</a:t>
            </a:r>
          </a:p>
          <a:p xmlns:a="http://schemas.openxmlformats.org/drawingml/2006/main">
            <a:r>
              <a:t>      "content_type_id": "28"</a:t>
            </a:r>
          </a:p>
          <a:p xmlns:a="http://schemas.openxmlformats.org/drawingml/2006/main">
            <a:r>
              <a:t>    },</a:t>
            </a:r>
          </a:p>
          <a:p xmlns:a="http://schemas.openxmlformats.org/drawingml/2006/main">
            <a:r>
              <a:t>    {</a:t>
            </a:r>
          </a:p>
          <a:p xmlns:a="http://schemas.openxmlformats.org/drawingml/2006/main">
            <a:r>
              <a:t>      "title": "단관공원",</a:t>
            </a:r>
          </a:p>
          <a:p xmlns:a="http://schemas.openxmlformats.org/drawingml/2006/main">
            <a:r>
              <a:t>      "address": "강원특별자치도 원주시 단관공원길 63",</a:t>
            </a:r>
          </a:p>
          <a:p xmlns:a="http://schemas.openxmlformats.org/drawingml/2006/main">
            <a:r>
              <a:t>      "summary": "한국관광공사 국문관광정보 API가 반환한 선택 지역 관광자원",</a:t>
            </a:r>
          </a:p>
          <a:p xmlns:a="http://schemas.openxmlformats.org/drawingml/2006/main">
            <a:r>
              <a:t>      "image_url": "http://tong.visitkorea.or.kr/cms/resource/43/3334543_image2_1.jpg",</a:t>
            </a:r>
          </a:p>
          <a:p xmlns:a="http://schemas.openxmlformats.org/drawingml/2006/main">
            <a:r>
              <a:t>      "source_id": "tour-api:2778036",</a:t>
            </a:r>
          </a:p>
          <a:p xmlns:a="http://schemas.openxmlformats.org/drawingml/2006/main">
            <a:r>
              <a:t>      "content_id": "2778036",</a:t>
            </a:r>
          </a:p>
          <a:p xmlns:a="http://schemas.openxmlformats.org/drawingml/2006/main">
            <a:r>
              <a:t>      "source_url": "https://apis.data.go.kr/B551011/KorService2",</a:t>
            </a:r>
          </a:p>
          <a:p xmlns:a="http://schemas.openxmlformats.org/drawingml/2006/main">
            <a:r>
              <a:t>      "source_type": "open_api",</a:t>
            </a:r>
          </a:p>
          <a:p xmlns:a="http://schemas.openxmlformats.org/drawingml/2006/main">
            <a:r>
              <a:t>      "content_type_id": "12"</a:t>
            </a:r>
          </a:p>
          <a:p xmlns:a="http://schemas.openxmlformats.org/drawingml/2006/main">
            <a:r>
              <a:t>    },</a:t>
            </a:r>
          </a:p>
          <a:p xmlns:a="http://schemas.openxmlformats.org/drawingml/2006/main">
            <a:r>
              <a:t>    {</a:t>
            </a:r>
          </a:p>
          <a:p xmlns:a="http://schemas.openxmlformats.org/drawingml/2006/main">
            <a:r>
              <a:t>      "title": "동승루",</a:t>
            </a:r>
          </a:p>
          <a:p xmlns:a="http://schemas.openxmlformats.org/drawingml/2006/main">
            <a:r>
              <a:t>      "address": "강원특별자치도 원주시 이화4길 30",</a:t>
            </a:r>
          </a:p>
          <a:p xmlns:a="http://schemas.openxmlformats.org/drawingml/2006/main">
            <a:r>
              <a:t>      "summary": "한국관광공사 국문관광정보 API가 반환한 선택 지역 관광자원",</a:t>
            </a:r>
          </a:p>
          <a:p xmlns:a="http://schemas.openxmlformats.org/drawingml/2006/main">
            <a:r>
              <a:t>      "image_url": "http://tong.visitkorea.or.kr/cms/resource/15/2892315_image2_1.jpg",</a:t>
            </a:r>
          </a:p>
          <a:p xmlns:a="http://schemas.openxmlformats.org/drawingml/2006/main">
            <a:r>
              <a:t>      "source_id": "tour-api:2892320",</a:t>
            </a:r>
          </a:p>
          <a:p xmlns:a="http://schemas.openxmlformats.org/drawingml/2006/main">
            <a:r>
              <a:t>      "content_id": "2892320",</a:t>
            </a:r>
          </a:p>
          <a:p xmlns:a="http://schemas.openxmlformats.org/drawingml/2006/main">
            <a:r>
              <a:t>      "source_url": "https://apis.data.go.kr/B551011/KorService2",</a:t>
            </a:r>
          </a:p>
          <a:p xmlns:a="http://schemas.openxmlformats.org/drawingml/2006/main">
            <a:r>
              <a:t>      "source_type": "open_api",</a:t>
            </a:r>
          </a:p>
          <a:p xmlns:a="http://schemas.openxmlformats.org/drawingml/2006/main">
            <a:r>
              <a:t>      "content_type_id": "39"</a:t>
            </a:r>
          </a:p>
          <a:p xmlns:a="http://schemas.openxmlformats.org/drawingml/2006/main">
            <a:r>
              <a:t>    },</a:t>
            </a:r>
          </a:p>
          <a:p xmlns:a="http://schemas.openxmlformats.org/drawingml/2006/main">
            <a:r>
              <a:t>    {</a:t>
            </a:r>
          </a:p>
          <a:p xmlns:a="http://schemas.openxmlformats.org/drawingml/2006/main">
            <a:r>
              <a:t>      "title": "들꽃가든",</a:t>
            </a:r>
          </a:p>
          <a:p xmlns:a="http://schemas.openxmlformats.org/drawingml/2006/main">
            <a:r>
              <a:t>      "address": "강원특별자치도 원주시 월송석화로 488",</a:t>
            </a:r>
          </a:p>
          <a:p xmlns:a="http://schemas.openxmlformats.org/drawingml/2006/main">
            <a:r>
              <a:t>      "summary": "한국관광공사 국문관광정보 API가 반환한 선택 지역 관광자원",</a:t>
            </a:r>
          </a:p>
          <a:p xmlns:a="http://schemas.openxmlformats.org/drawingml/2006/main">
            <a:r>
              <a:t>      "image_url": "http://tong.visitkorea.or.kr/cms/resource/04/2892304_image2_1.jpg",</a:t>
            </a:r>
          </a:p>
          <a:p xmlns:a="http://schemas.openxmlformats.org/drawingml/2006/main">
            <a:r>
              <a:t>      "source_id": "tour-api:2892312",</a:t>
            </a:r>
          </a:p>
          <a:p xmlns:a="http://schemas.openxmlformats.org/drawingml/2006/main">
            <a:r>
              <a:t>      "content_id": "2892312",</a:t>
            </a:r>
          </a:p>
          <a:p xmlns:a="http://schemas.openxmlformats.org/drawingml/2006/main">
            <a:r>
              <a:t>      "source_url": "https://apis.data.go.kr/B551011/KorService2",</a:t>
            </a:r>
          </a:p>
          <a:p xmlns:a="http://schemas.openxmlformats.org/drawingml/2006/main">
            <a:r>
              <a:t>      "source_type": "open_api",</a:t>
            </a:r>
          </a:p>
          <a:p xmlns:a="http://schemas.openxmlformats.org/drawingml/2006/main">
            <a:r>
              <a:t>      "content_type_id": "39"</a:t>
            </a:r>
          </a:p>
          <a:p xmlns:a="http://schemas.openxmlformats.org/drawingml/2006/main">
            <a:r>
              <a:t>    },</a:t>
            </a:r>
          </a:p>
          <a:p xmlns:a="http://schemas.openxmlformats.org/drawingml/2006/main">
            <a:r>
              <a:t>    {</a:t>
            </a:r>
          </a:p>
          <a:p xmlns:a="http://schemas.openxmlformats.org/drawingml/2006/main">
            <a:r>
              <a:t>      "title": "들꽃이야기",</a:t>
            </a:r>
          </a:p>
          <a:p xmlns:a="http://schemas.openxmlformats.org/drawingml/2006/main">
            <a:r>
              <a:t>      "address": "강원특별자치도 원주시 신림면 성남로 323-12",</a:t>
            </a:r>
          </a:p>
          <a:p xmlns:a="http://schemas.openxmlformats.org/drawingml/2006/main">
            <a:r>
              <a:t>      "summary": "한국관광공사 국문관광정보 API가 반환한 선택 지역 관광자원",</a:t>
            </a:r>
          </a:p>
          <a:p xmlns:a="http://schemas.openxmlformats.org/drawingml/2006/main">
            <a:r>
              <a:t>      "image_url": "http://tong.visitkorea.or.kr/cms/resource/60/3557060_image2_1.jpg",</a:t>
            </a:r>
          </a:p>
          <a:p xmlns:a="http://schemas.openxmlformats.org/drawingml/2006/main">
            <a:r>
              <a:t>      "source_id": "tour-api:2809292",</a:t>
            </a:r>
          </a:p>
          <a:p xmlns:a="http://schemas.openxmlformats.org/drawingml/2006/main">
            <a:r>
              <a:t>      "content_id": "2809292",</a:t>
            </a:r>
          </a:p>
          <a:p xmlns:a="http://schemas.openxmlformats.org/drawingml/2006/main">
            <a:r>
              <a:t>      "source_url": "https://apis.data.go.kr/B551011/KorService2",</a:t>
            </a:r>
          </a:p>
          <a:p xmlns:a="http://schemas.openxmlformats.org/drawingml/2006/main">
            <a:r>
              <a:t>      "source_type": "open_api",</a:t>
            </a:r>
          </a:p>
          <a:p xmlns:a="http://schemas.openxmlformats.org/drawingml/2006/main">
            <a:r>
              <a:t>      "content_type_id": "39"</a:t>
            </a:r>
          </a:p>
          <a:p xmlns:a="http://schemas.openxmlformats.org/drawingml/2006/main">
            <a:r>
              <a:t>    },</a:t>
            </a:r>
          </a:p>
          <a:p xmlns:a="http://schemas.openxmlformats.org/drawingml/2006/main">
            <a:r>
              <a:t>    {</a:t>
            </a:r>
          </a:p>
          <a:p xmlns:a="http://schemas.openxmlformats.org/drawingml/2006/main">
            <a:r>
              <a:t>      "title": "요즘, 한국관광 2호 - 지방공항 연계 지역관광 활성화 방안",</a:t>
            </a:r>
          </a:p>
          <a:p xmlns:a="http://schemas.openxmlformats.org/drawingml/2006/main">
            <a:r>
              <a:t>      "summary": "44제 2장 지방공항 연계 지역관광 활성화 방안 요즘, 한국관광 한국관광공사는 본래의 기능인 해외 홍보마케팅을 통한 인지 형성, 지역 관광생태계 육성, 관광사업 추진을 여정 단계에 맞춰 재배치해야 한다. 해외지사와 국내지사를 연결한 중점지사제를 '관문-연계도시' 단위로 운영하고, 글로벌 OTA 와 현지 여행사가 실제 상품을 만들 수 있도록 상품화 모듈과 전세·임시편 유치를 고도화하며, 선상 마케팅처럼 항공사 기내·LCC 채널을 활용한 권역 홍보를 확대할 수 있어야 할 것이다. 특히 성과지표를 입국자 수와 공급석 중심에서 '입국객의 권역 내 첫 숙박률이나, 1인당 권역 내 소비, 지방 이동 비중' 중심으로 전환하고, 통신·카드 데이터에 소셜 담론 데이터를 결합한 공항-권역 대시보드를 상시 운영해 데이터 기반 성과관리를 지속적으로 보여주는 데이터 기반의 지방공항 중심 관광권 상황실을 구축하여야 한다. 지방자치단체와 한국공항공사는 공항에서 지역 상권까지 이어지는 현장 수용태세를 보다 면밀히 고려하는 정책과 사업이 필요하다. 공항 접근 교통과 안내·결제, 다국어 환경, 터미널과 도심·거점 관광지를 잇는 셔틀, 권역 내 숙박과 야간 콘텐츠는 지자체의 실행력이 좌우하는 영역이다. 공항 소재 지자체 단위 협의를 넘어 청주는 대전·세종·충남, 대구는 경북과 함께 상품·교통·마케팅 예산을 묶는 관광권 협의체를 구성하고, 중장기적으로는 일본의 광역연계 DMO처럼 권역 단위의 상설 조직과 재원으로 발전시켜야 한다. 민관협력은 이 체계를 지속 가능하게 만드는 가장 중요한 동인이라 할 수 있다. 항공사·LCC에는 신규 노선의 초기 리스크를 지방정부·공사와 분담하는 노선 개발 협약과 기내 권역 홍보를, 글로벌 OTA·현지 여행사에는 권역 루트 상품의",</a:t>
            </a:r>
          </a:p>
          <a:p xmlns:a="http://schemas.openxmlformats.org/drawingml/2006/main">
            <a:r>
              <a:t>      "chunk_id": "reference:kto:2026:local-airport:page:044:chunk:01",</a:t>
            </a:r>
          </a:p>
          <a:p xmlns:a="http://schemas.openxmlformats.org/drawingml/2006/main">
            <a:r>
              <a:t>      "source_id": "reference:kto:2026:local-airport",</a:t>
            </a:r>
          </a:p>
          <a:p xmlns:a="http://schemas.openxmlformats.org/drawingml/2006/main">
            <a:r>
              <a:t>      "source_url": "https://datalab.visitkorea.or.kr/site/portal/ex/bbs/View.do?bcIdx=311068&amp;cbIdx=1135&amp;pageIndex=1",</a:t>
            </a:r>
          </a:p>
          <a:p xmlns:a="http://schemas.openxmlformats.org/drawingml/2006/main">
            <a:r>
              <a:t>      "case_region": "",</a:t>
            </a:r>
          </a:p>
          <a:p xmlns:a="http://schemas.openxmlformats.org/drawingml/2006/main">
            <a:r>
              <a:t>      "region_code": "ALL",</a:t>
            </a:r>
          </a:p>
          <a:p xmlns:a="http://schemas.openxmlformats.org/drawingml/2006/main">
            <a:r>
              <a:t>      "region_name": "전국 공통",</a:t>
            </a:r>
          </a:p>
          <a:p xmlns:a="http://schemas.openxmlformats.org/drawingml/2006/main">
            <a:r>
              <a:t>      "source_note": "지방공항·연계 지역에 관한 자료입니다. 다른 시군구의 사업 효과·예산을 보장하는 근거로 사용하지 않습니다.",</a:t>
            </a:r>
          </a:p>
          <a:p xmlns:a="http://schemas.openxmlformats.org/drawingml/2006/main">
            <a:r>
              <a:t>      "source_type": "rag",</a:t>
            </a:r>
          </a:p>
          <a:p xmlns:a="http://schemas.openxmlformats.org/drawingml/2006/main">
            <a:r>
              <a:t>      "intervention": "",</a:t>
            </a:r>
          </a:p>
          <a:p xmlns:a="http://schemas.openxmlformats.org/drawingml/2006/main">
            <a:r>
              <a:t>      "document_type": "policy",</a:t>
            </a:r>
          </a:p>
          <a:p xmlns:a="http://schemas.openxmlformats.org/drawingml/2006/main">
            <a:r>
              <a:t>      "matched_terms": [</a:t>
            </a:r>
          </a:p>
          <a:p xmlns:a="http://schemas.openxmlformats.org/drawingml/2006/main">
            <a:r>
              <a:t>        "결제",</a:t>
            </a:r>
          </a:p>
          <a:p xmlns:a="http://schemas.openxmlformats.org/drawingml/2006/main">
            <a:r>
              <a:t>        "관광사업",</a:t>
            </a:r>
          </a:p>
          <a:p xmlns:a="http://schemas.openxmlformats.org/drawingml/2006/main">
            <a:r>
              <a:t>        "상권",</a:t>
            </a:r>
          </a:p>
          <a:p xmlns:a="http://schemas.openxmlformats.org/drawingml/2006/main">
            <a:r>
              <a:t>        "성과",</a:t>
            </a:r>
          </a:p>
          <a:p xmlns:a="http://schemas.openxmlformats.org/drawingml/2006/main">
            <a:r>
              <a:t>        "소비",</a:t>
            </a:r>
          </a:p>
          <a:p xmlns:a="http://schemas.openxmlformats.org/drawingml/2006/main">
            <a:r>
              <a:t>        "수와",</a:t>
            </a:r>
          </a:p>
          <a:p xmlns:a="http://schemas.openxmlformats.org/drawingml/2006/main">
            <a:r>
              <a:t>        "숙박",</a:t>
            </a:r>
          </a:p>
          <a:p xmlns:a="http://schemas.openxmlformats.org/drawingml/2006/main">
            <a:r>
              <a:t>        "실제",</a:t>
            </a:r>
          </a:p>
          <a:p xmlns:a="http://schemas.openxmlformats.org/drawingml/2006/main">
            <a:r>
              <a:t>        "실행",</a:t>
            </a:r>
          </a:p>
          <a:p xmlns:a="http://schemas.openxmlformats.org/drawingml/2006/main">
            <a:r>
              <a:t>        "연결한",</a:t>
            </a:r>
          </a:p>
          <a:p xmlns:a="http://schemas.openxmlformats.org/drawingml/2006/main">
            <a:r>
              <a:t>        "연계",</a:t>
            </a:r>
          </a:p>
          <a:p xmlns:a="http://schemas.openxmlformats.org/drawingml/2006/main">
            <a:r>
              <a:t>        "예산",</a:t>
            </a:r>
          </a:p>
          <a:p xmlns:a="http://schemas.openxmlformats.org/drawingml/2006/main">
            <a:r>
              <a:t>        "운영",</a:t>
            </a:r>
          </a:p>
          <a:p xmlns:a="http://schemas.openxmlformats.org/drawingml/2006/main">
            <a:r>
              <a:t>        "이어지는",</a:t>
            </a:r>
          </a:p>
          <a:p xmlns:a="http://schemas.openxmlformats.org/drawingml/2006/main">
            <a:r>
              <a:t>        "전환",</a:t>
            </a:r>
          </a:p>
          <a:p xmlns:a="http://schemas.openxmlformats.org/drawingml/2006/main">
            <a:r>
              <a:t>        "중심으로",</a:t>
            </a:r>
          </a:p>
          <a:p xmlns:a="http://schemas.openxmlformats.org/drawingml/2006/main">
            <a:r>
              <a:t>        "지역",</a:t>
            </a:r>
          </a:p>
          <a:p xmlns:a="http://schemas.openxmlformats.org/drawingml/2006/main">
            <a:r>
              <a:t>        "체류",</a:t>
            </a:r>
          </a:p>
          <a:p xmlns:a="http://schemas.openxmlformats.org/drawingml/2006/main">
            <a:r>
              <a:t>        "함께",</a:t>
            </a:r>
          </a:p>
          <a:p xmlns:a="http://schemas.openxmlformats.org/drawingml/2006/main">
            <a:r>
              <a:t>        "현장",</a:t>
            </a:r>
          </a:p>
          <a:p xmlns:a="http://schemas.openxmlformats.org/drawingml/2006/main">
            <a:r>
              <a:t>        "협약"</a:t>
            </a:r>
          </a:p>
          <a:p xmlns:a="http://schemas.openxmlformats.org/drawingml/2006/main">
            <a:r>
              <a:t>      ],</a:t>
            </a:r>
          </a:p>
          <a:p xmlns:a="http://schemas.openxmlformats.org/drawingml/2006/main">
            <a:r>
              <a:t>      "page_references": "PDF 44쪽, PDF 43쪽, PDF 38쪽, PDF 40쪽, PDF 41쪽, PDF 36쪽, PDF 41쪽, PDF 44쪽, PDF 43쪽, PDF 43쪽",</a:t>
            </a:r>
          </a:p>
          <a:p xmlns:a="http://schemas.openxmlformats.org/drawingml/2006/main">
            <a:r>
              <a:t>      "parent_source_id": "reference:kto:2026:local-airport",</a:t>
            </a:r>
          </a:p>
          <a:p xmlns:a="http://schemas.openxmlformats.org/drawingml/2006/main">
            <a:r>
              <a:t>      "retrieval_method": "local_curated_chunk",</a:t>
            </a:r>
          </a:p>
          <a:p xmlns:a="http://schemas.openxmlformats.org/drawingml/2006/main">
            <a:r>
              <a:t>      "evidence_strength": "medium",</a:t>
            </a:r>
          </a:p>
          <a:p xmlns:a="http://schemas.openxmlformats.org/drawingml/2006/main">
            <a:r>
              <a:t>      "published_or_updated_at": "2026-08",</a:t>
            </a:r>
          </a:p>
          <a:p xmlns:a="http://schemas.openxmlformats.org/drawingml/2006/main">
            <a:r>
              <a:t>      "chunk_ids": [</a:t>
            </a:r>
          </a:p>
          <a:p xmlns:a="http://schemas.openxmlformats.org/drawingml/2006/main">
            <a:r>
              <a:t>        "reference:kto:2026:local-airport:page:036:chunk:01",</a:t>
            </a:r>
          </a:p>
          <a:p xmlns:a="http://schemas.openxmlformats.org/drawingml/2006/main">
            <a:r>
              <a:t>        "reference:kto:2026:local-airport:page:038:chunk:01",</a:t>
            </a:r>
          </a:p>
          <a:p xmlns:a="http://schemas.openxmlformats.org/drawingml/2006/main">
            <a:r>
              <a:t>        "reference:kto:2026:local-airport:page:040:chunk:02",</a:t>
            </a:r>
          </a:p>
          <a:p xmlns:a="http://schemas.openxmlformats.org/drawingml/2006/main">
            <a:r>
              <a:t>        "reference:kto:2026:local-airport:page:041:chunk:01",</a:t>
            </a:r>
          </a:p>
          <a:p xmlns:a="http://schemas.openxmlformats.org/drawingml/2006/main">
            <a:r>
              <a:t>        "reference:kto:2026:local-airport:page:041:chunk:02",</a:t>
            </a:r>
          </a:p>
          <a:p xmlns:a="http://schemas.openxmlformats.org/drawingml/2006/main">
            <a:r>
              <a:t>        "reference:kto:2026:local-airport:page:043:chunk:01",</a:t>
            </a:r>
          </a:p>
          <a:p xmlns:a="http://schemas.openxmlformats.org/drawingml/2006/main">
            <a:r>
              <a:t>        "reference:kto:2026:local-airport:page:043:chunk:02",</a:t>
            </a:r>
          </a:p>
          <a:p xmlns:a="http://schemas.openxmlformats.org/drawingml/2006/main">
            <a:r>
              <a:t>        "reference:kto:2026:local-airport:page:043:chunk:03",</a:t>
            </a:r>
          </a:p>
          <a:p xmlns:a="http://schemas.openxmlformats.org/drawingml/2006/main">
            <a:r>
              <a:t>        "reference:kto:2026:local-airport:page:044:chunk:01",</a:t>
            </a:r>
          </a:p>
          <a:p xmlns:a="http://schemas.openxmlformats.org/drawingml/2006/main">
            <a:r>
              <a:t>        "reference:kto:2026:local-airport:page:044:chunk:02"</a:t>
            </a:r>
          </a:p>
          <a:p xmlns:a="http://schemas.openxmlformats.org/drawingml/2006/main">
            <a:r>
              <a:t>      ],</a:t>
            </a:r>
          </a:p>
          <a:p xmlns:a="http://schemas.openxmlformats.org/drawingml/2006/main">
            <a:r>
              <a:t>      "source_chunk_count": 10</a:t>
            </a:r>
          </a:p>
          <a:p xmlns:a="http://schemas.openxmlformats.org/drawingml/2006/main">
            <a:r>
              <a:t>    },</a:t>
            </a:r>
          </a:p>
          <a:p xmlns:a="http://schemas.openxmlformats.org/drawingml/2006/main">
            <a:r>
              <a:t>    {</a:t>
            </a:r>
          </a:p>
          <a:p xmlns:a="http://schemas.openxmlformats.org/drawingml/2006/main">
            <a:r>
              <a:t>      "title": "전주시 2026년도 관광산업과 세출예산 사업명세서",</a:t>
            </a:r>
          </a:p>
          <a:p xmlns:a="http://schemas.openxmlformats.org/drawingml/2006/main">
            <a:r>
              <a:t>      "summary": "전북특별자치도 전주시 · 야간관광 특화도시 예산 편성 · 예산서이므로 방문·소비 성과는 확인되지 않음",</a:t>
            </a:r>
          </a:p>
          <a:p xmlns:a="http://schemas.openxmlformats.org/drawingml/2006/main">
            <a:r>
              <a:t>      "source_id": "case:jeonju_night_budget_2026",</a:t>
            </a:r>
          </a:p>
          <a:p xmlns:a="http://schemas.openxmlformats.org/drawingml/2006/main">
            <a:r>
              <a:t>      "source_url": "https://jeonju.go.kr/resource/www/images/download/budget/2026/2026_31_2.pdf",</a:t>
            </a:r>
          </a:p>
          <a:p xmlns:a="http://schemas.openxmlformats.org/drawingml/2006/main">
            <a:r>
              <a:t>      "case_region": "전북특별자치도 전주시",</a:t>
            </a:r>
          </a:p>
          <a:p xmlns:a="http://schemas.openxmlformats.org/drawingml/2006/main">
            <a:r>
              <a:t>      "source_type": "benchmark_case",</a:t>
            </a:r>
          </a:p>
          <a:p xmlns:a="http://schemas.openxmlformats.org/drawingml/2006/main">
            <a:r>
              <a:t>      "intervention": "야간관광 특화도시 예산 편성",</a:t>
            </a:r>
          </a:p>
          <a:p xmlns:a="http://schemas.openxmlformats.org/drawingml/2006/main">
            <a:r>
              <a:t>      "operating_model": "사무관리, 행사운영, 연구용역, 민간경상보조 등으로 사업비를 항목별 편성",</a:t>
            </a:r>
          </a:p>
          <a:p xmlns:a="http://schemas.openxmlformats.org/drawingml/2006/main">
            <a:r>
              <a:t>      "evidence_strength": "high",</a:t>
            </a:r>
          </a:p>
          <a:p xmlns:a="http://schemas.openxmlformats.org/drawingml/2006/main">
            <a:r>
              <a:t>      "published_or_updated_at": "2026",</a:t>
            </a:r>
          </a:p>
          <a:p xmlns:a="http://schemas.openxmlformats.org/drawingml/2006/main">
            <a:r>
              <a:t>      "quantitative_result_approved": null</a:t>
            </a:r>
          </a:p>
          <a:p xmlns:a="http://schemas.openxmlformats.org/drawingml/2006/main">
            <a:r>
              <a:t>    },</a:t>
            </a:r>
          </a:p>
          <a:p xmlns:a="http://schemas.openxmlformats.org/drawingml/2006/main">
            <a:r>
              <a:t>    {</a:t>
            </a:r>
          </a:p>
          <a:p xmlns:a="http://schemas.openxmlformats.org/drawingml/2006/main">
            <a:r>
              <a:t>      "title": "(기획) 인천을 즐기는 가장 쉬운(easy) 방법 … 인천e지",</a:t>
            </a:r>
          </a:p>
          <a:p xmlns:a="http://schemas.openxmlformats.org/drawingml/2006/main">
            <a:r>
              <a:t>      "summary": "인천광역시 · 스마트관광 플랫폼 ‘인천e지’의 추천·동선·스탬프·가맹점 쿠폰 통합 운영 · 2025년 9월 7일 기준 회원 10만 명, 누적 다운로드 29만 건이었다. 2025년 1~8월 프로모션 참여 18,499건, 쿠폰 이용 33,514건으로 전년 대비 각각 107%, 251% 증가했다. 다만 다운로드·쿠폰 증가가 지역 전체 관광소비의 순증 효과라는 의미는 아니다. ([incheon.go.kr](https://www.incheon.go.kr/IC010205/view?beginDt=&amp;curPage=1&amp;endDt=&amp;repSeq=DOM_0000000013130282&amp;srchMainManagerDeptNm=&amp;srchRepContents=%EC%A3%BC%EC%B0%A8&amp;srchRepTitle=))",</a:t>
            </a:r>
          </a:p>
          <a:p xmlns:a="http://schemas.openxmlformats.org/drawingml/2006/main">
            <a:r>
              <a:t>      "source_id": "case:4625625dcbf2ae",</a:t>
            </a:r>
          </a:p>
          <a:p xmlns:a="http://schemas.openxmlformats.org/drawingml/2006/main">
            <a:r>
              <a:t>      "source_url": "https://www.incheon.go.kr/IC010205/view?beginDt=&amp;curPage=1&amp;endDt=&amp;repSeq=DOM_0000000013130282&amp;srchMainManagerDeptNm=&amp;srchRepContents=%EC%A3%BC%EC%B0%A8&amp;srchRepTitle=",</a:t>
            </a:r>
          </a:p>
          <a:p xmlns:a="http://schemas.openxmlformats.org/drawingml/2006/main">
            <a:r>
              <a:t>      "case_region": "인천광역시",</a:t>
            </a:r>
          </a:p>
          <a:p xmlns:a="http://schemas.openxmlformats.org/drawingml/2006/main">
            <a:r>
              <a:t>      "source_type": "benchmark_case",</a:t>
            </a:r>
          </a:p>
          <a:p xmlns:a="http://schemas.openxmlformats.org/drawingml/2006/main">
            <a:r>
              <a:t>      "intervention": "스마트관광 플랫폼 ‘인천e지’의 추천·동선·스탬프·가맹점 쿠폰 통합 운영",</a:t>
            </a:r>
          </a:p>
          <a:p xmlns:a="http://schemas.openxmlformats.org/drawingml/2006/main">
            <a:r>
              <a:t>      "operating_model": "개인 맞춤형 여행 추천, 지도·교통·주차 정보, 축제 연계 스탬프투어와 스마트 쿠폰을 하나의 앱에서 제공한다. 2025년에는 가맹 서점 할인쿠폰과 책방 패스, 오프라인 행사를 결합해 기존 관광 동선을 문화상권으로 확장했다.",</a:t>
            </a:r>
          </a:p>
          <a:p xmlns:a="http://schemas.openxmlformats.org/drawingml/2006/main">
            <a:r>
              <a:t>      "evidence_strength": "medium",</a:t>
            </a:r>
          </a:p>
          <a:p xmlns:a="http://schemas.openxmlformats.org/drawingml/2006/main">
            <a:r>
              <a:t>      "published_or_updated_at": "2025-09-16",</a:t>
            </a:r>
          </a:p>
          <a:p xmlns:a="http://schemas.openxmlformats.org/drawingml/2006/main">
            <a:r>
              <a:t>      "quantitative_result_approved": null</a:t>
            </a:r>
          </a:p>
          <a:p xmlns:a="http://schemas.openxmlformats.org/drawingml/2006/main">
            <a:r>
              <a:t>    },</a:t>
            </a:r>
          </a:p>
          <a:p xmlns:a="http://schemas.openxmlformats.org/drawingml/2006/main">
            <a:r>
              <a:t>    {</a:t>
            </a:r>
          </a:p>
          <a:p xmlns:a="http://schemas.openxmlformats.org/drawingml/2006/main">
            <a:r>
              <a:t>      "title": "2024년 6월 여행가는 달 추진 보도자료",</a:t>
            </a:r>
          </a:p>
          <a:p xmlns:a="http://schemas.openxmlformats.org/drawingml/2006/main">
            <a:r>
              <a:t>      "summary": "전국 인구감소지역 34곳 · 디지털 관광주민증과 교통·숙박·상점 할인 결합 · 2024년 34개 지역 약 800개 관광업체에 혜택 구조를 적용",</a:t>
            </a:r>
          </a:p>
          <a:p xmlns:a="http://schemas.openxmlformats.org/drawingml/2006/main">
            <a:r>
              <a:t>      "source_id": "case:digital_tourism_resident_2024",</a:t>
            </a:r>
          </a:p>
          <a:p xmlns:a="http://schemas.openxmlformats.org/drawingml/2006/main">
            <a:r>
              <a:t>      "source_url": "https://mcst.go.kr/servlets/eduport/front/upload/UplDownloadFile?pFileName=%280514%29%EB%AC%B8%EC%B2%B4%EB%B6%80%EB%B3%B4%EB%8F%84%EC%9E%90%EB%A3%8C-6%EC%9B%94_%EC%97%AC%ED%96%89%EA%B0%80%EB%8A%94_%EB%8B%AC_%EC%B6%94%EC%A7%84.pdf&amp;pPath=0302000000&amp;pRealName=20240514083202149235802932_PRESS20240514083202456506.pdf",</a:t>
            </a:r>
          </a:p>
          <a:p xmlns:a="http://schemas.openxmlformats.org/drawingml/2006/main">
            <a:r>
              <a:t>      "case_region": "전국 인구감소지역 34곳",</a:t>
            </a:r>
          </a:p>
          <a:p xmlns:a="http://schemas.openxmlformats.org/drawingml/2006/main">
            <a:r>
              <a:t>      "source_type": "benchmark_case",</a:t>
            </a:r>
          </a:p>
          <a:p xmlns:a="http://schemas.openxmlformats.org/drawingml/2006/main">
            <a:r>
              <a:t>      "intervention": "디지털 관광주민증과 교통·숙박·상점 할인 결합",</a:t>
            </a:r>
          </a:p>
          <a:p xmlns:a="http://schemas.openxmlformats.org/drawingml/2006/main">
            <a:r>
              <a:t>      "operating_model": "디지털 관광주민증 참여업체 현장 인증과 숙박·식음·관람·체험 할인, 특정 시간대 KTX 할인과 방문 후 교통 할인권을 결합",</a:t>
            </a:r>
          </a:p>
          <a:p xmlns:a="http://schemas.openxmlformats.org/drawingml/2006/main">
            <a:r>
              <a:t>      "evidence_strength": "medium",</a:t>
            </a:r>
          </a:p>
          <a:p xmlns:a="http://schemas.openxmlformats.org/drawingml/2006/main">
            <a:r>
              <a:t>      "published_or_updated_at": "2024-05-14",</a:t>
            </a:r>
          </a:p>
          <a:p xmlns:a="http://schemas.openxmlformats.org/drawingml/2006/main">
            <a:r>
              <a:t>      "quantitative_result_approved": null</a:t>
            </a:r>
          </a:p>
          <a:p xmlns:a="http://schemas.openxmlformats.org/drawingml/2006/main">
            <a:r>
              <a:t>    },</a:t>
            </a:r>
          </a:p>
          <a:p xmlns:a="http://schemas.openxmlformats.org/drawingml/2006/main">
            <a:r>
              <a:t>    {</a:t>
            </a:r>
          </a:p>
          <a:p xmlns:a="http://schemas.openxmlformats.org/drawingml/2006/main">
            <a:r>
              <a:t>      "title": "2022 대한민국 숙박대전 경제파급효과 공개자료",</a:t>
            </a:r>
          </a:p>
          <a:p xmlns:a="http://schemas.openxmlformats.org/drawingml/2006/main">
            <a:r>
              <a:t>      "summary": "전국 숙박할인쿠폰 지원사업 · 온라인 예약 채널 숙박할인쿠폰 · 한국관광공사 자료는 약 104만 명이 할인혜택을 이용했고 서울·제주를 제외한 지역 사용 비율이 76%였다고 소개함",</a:t>
            </a:r>
          </a:p>
          <a:p xmlns:a="http://schemas.openxmlformats.org/drawingml/2006/main">
            <a:r>
              <a:t>      "source_id": "case:kto_stay_discount_2022",</a:t>
            </a:r>
          </a:p>
          <a:p xmlns:a="http://schemas.openxmlformats.org/drawingml/2006/main">
            <a:r>
              <a:t>      "source_url": "https://kto.visitkorea.or.kr/upload/flexer/upload/ktobiz/20220928/b623b5f9-3ec0-11ed-9832-ddf31964842e.hwp.files/Sections1.html",</a:t>
            </a:r>
          </a:p>
          <a:p xmlns:a="http://schemas.openxmlformats.org/drawingml/2006/main">
            <a:r>
              <a:t>      "case_region": "전국 숙박할인쿠폰 지원사업",</a:t>
            </a:r>
          </a:p>
          <a:p xmlns:a="http://schemas.openxmlformats.org/drawingml/2006/main">
            <a:r>
              <a:t>      "source_type": "benchmark_case",</a:t>
            </a:r>
          </a:p>
          <a:p xmlns:a="http://schemas.openxmlformats.org/drawingml/2006/main">
            <a:r>
              <a:t>      "intervention": "온라인 예약 채널 숙박할인쿠폰",</a:t>
            </a:r>
          </a:p>
          <a:p xmlns:a="http://schemas.openxmlformats.org/drawingml/2006/main">
            <a:r>
              <a:t>      "operating_model": "온라인 여행사 예약 단계에서 할인쿠폰을 제공하고, 지역 숙소에서 사용할 수 있도록 참여 채널과 기간을 통합 운영",</a:t>
            </a:r>
          </a:p>
          <a:p xmlns:a="http://schemas.openxmlformats.org/drawingml/2006/main">
            <a:r>
              <a:t>      "evidence_strength": "medium",</a:t>
            </a:r>
          </a:p>
          <a:p xmlns:a="http://schemas.openxmlformats.org/drawingml/2006/main">
            <a:r>
              <a:t>      "published_or_updated_at": "2022-09-28",</a:t>
            </a:r>
          </a:p>
          <a:p xmlns:a="http://schemas.openxmlformats.org/drawingml/2006/main">
            <a:r>
              <a:t>      "quantitative_result_approved": null</a:t>
            </a:r>
          </a:p>
          <a:p xmlns:a="http://schemas.openxmlformats.org/drawingml/2006/main">
            <a:r>
              <a:t>    },</a:t>
            </a:r>
          </a:p>
          <a:p xmlns:a="http://schemas.openxmlformats.org/drawingml/2006/main">
            <a:r>
              <a:t>    {</a:t>
            </a:r>
          </a:p>
          <a:p xmlns:a="http://schemas.openxmlformats.org/drawingml/2006/main">
            <a:r>
              <a:t>      "title": "한강 밤핑(Night+Camping) 행사·공연 정보",</a:t>
            </a:r>
          </a:p>
          <a:p xmlns:a="http://schemas.openxmlformats.org/drawingml/2006/main">
            <a:r>
              <a:t>      "summary": "서울특별시 여의도·뚝섬·망원 한강공원 일대 · 한강 밤핑의 시간대 예약·노쇼 보증금·야간 콘텐츠·주변 상권 결합 · 사전예약 규모, 보증금·환급 조건, 할인 및 상권 연계 구조는 확인되지만 실제 참석률, 노쇼 감소율, 쿠폰 사용액과 인근 상권 매출 결과는 공식 자료에서 확인되지 않음. ([hangang.seoul.go.kr](https://hangang.seoul.go.kr/www/eventMng/detail.do?evntSn=441&amp;keyword=&amp;mid=538&amp;opt11=&amp;opt12=&amp;opt13=&amp;opt14=&amp;opt4=&amp;pageNo=2&amp;srchType=list))",</a:t>
            </a:r>
          </a:p>
          <a:p xmlns:a="http://schemas.openxmlformats.org/drawingml/2006/main">
            <a:r>
              <a:t>      "source_id": "case:37471b1e063812",</a:t>
            </a:r>
          </a:p>
          <a:p xmlns:a="http://schemas.openxmlformats.org/drawingml/2006/main">
            <a:r>
              <a:t>      "source_url": "https://hangang.seoul.go.kr/www/eventMng/detail.do?evntSn=441&amp;keyword=&amp;mid=538&amp;opt11=&amp;opt12=&amp;opt13=&amp;opt14=&amp;opt4=&amp;pageNo=2&amp;srchType=list",</a:t>
            </a:r>
          </a:p>
          <a:p xmlns:a="http://schemas.openxmlformats.org/drawingml/2006/main">
            <a:r>
              <a:t>      "case_region": "서울특별시 여의도·뚝섬·망원 한강공원 일대",</a:t>
            </a:r>
          </a:p>
          <a:p xmlns:a="http://schemas.openxmlformats.org/drawingml/2006/main">
            <a:r>
              <a:t>      "source_type": "benchmark_case",</a:t>
            </a:r>
          </a:p>
          <a:p xmlns:a="http://schemas.openxmlformats.org/drawingml/2006/main">
            <a:r>
              <a:t>      "intervention": "한강 밤핑의 시간대 예약·노쇼 보증금·야간 콘텐츠·주변 상권 결합",</a:t>
            </a:r>
          </a:p>
          <a:p xmlns:a="http://schemas.openxmlformats.org/drawingml/2006/main">
            <a:r>
              <a:t>      "operating_model": "총 200개 사이트를 사전예약제로 운영하고 1만 원 보증금을 받아 정상 참석 시 전액 환급했다. 연박과 취사를 제한해 참여 기회를 분산하고 주변 상권 이용을 유도했다. 야간 수영·공연·영화 등 기존 프로그램과 배달앱 즉시할인, 서울사랑상품권 페이백, 인근 21개 전통시장·골목상권 안내를 결합했다.",</a:t>
            </a:r>
          </a:p>
          <a:p xmlns:a="http://schemas.openxmlformats.org/drawingml/2006/main">
            <a:r>
              <a:t>      "evidence_strength": "low",</a:t>
            </a:r>
          </a:p>
          <a:p xmlns:a="http://schemas.openxmlformats.org/drawingml/2006/main">
            <a:r>
              <a:t>      "published_or_updated_at": "2026-07",</a:t>
            </a:r>
          </a:p>
          <a:p xmlns:a="http://schemas.openxmlformats.org/drawingml/2006/main">
            <a:r>
              <a:t>      "quantitative_result_approved": null</a:t>
            </a:r>
          </a:p>
          <a:p xmlns:a="http://schemas.openxmlformats.org/drawingml/2006/main">
            <a:r>
              <a:t>    },</a:t>
            </a:r>
          </a:p>
          <a:p xmlns:a="http://schemas.openxmlformats.org/drawingml/2006/main">
            <a:r>
              <a:t>    {</a:t>
            </a:r>
          </a:p>
          <a:p xmlns:a="http://schemas.openxmlformats.org/drawingml/2006/main">
            <a:r>
              <a:t>      "title": "강진 반값여행 지역경제 효과 소개",</a:t>
            </a:r>
          </a:p>
          <a:p xmlns:a="http://schemas.openxmlformats.org/drawingml/2006/main">
            <a:r>
              <a:t>      "summary": "전라남도 강진군 · 반값여행 지역환급 · 상품권 결제 변화에 관한 소개 자료는 있으나, 사업 참여자 범위·정확한 비교 기간·원자료를 확인하지 못해 성과 수치 인용을 보류한다.",</a:t>
            </a:r>
          </a:p>
          <a:p xmlns:a="http://schemas.openxmlformats.org/drawingml/2006/main">
            <a:r>
              <a:t>      "source_id": "case:gangjin_half_price_2024",</a:t>
            </a:r>
          </a:p>
          <a:p xmlns:a="http://schemas.openxmlformats.org/drawingml/2006/main">
            <a:r>
              <a:t>      "source_url": "https://jnfarm.jeonnam.go.kr/board/FARM_BOARD_008/boardView.do?bdId=BD_00000000000011721&amp;menuCd=farm004002",</a:t>
            </a:r>
          </a:p>
          <a:p xmlns:a="http://schemas.openxmlformats.org/drawingml/2006/main">
            <a:r>
              <a:t>      "case_region": "전라남도 강진군",</a:t>
            </a:r>
          </a:p>
          <a:p xmlns:a="http://schemas.openxmlformats.org/drawingml/2006/main">
            <a:r>
              <a:t>      "source_type": "benchmark_case",</a:t>
            </a:r>
          </a:p>
          <a:p xmlns:a="http://schemas.openxmlformats.org/drawingml/2006/main">
            <a:r>
              <a:t>      "intervention": "반값여행 지역환급",</a:t>
            </a:r>
          </a:p>
          <a:p xmlns:a="http://schemas.openxmlformats.org/drawingml/2006/main">
            <a:r>
              <a:t>      "operating_model": "여행자가 지역에서 지출한 비용의 일부를 지역상품권으로 돌려받게 하여 혜택이 다시 지역 상점에서 사용되도록 설계",</a:t>
            </a:r>
          </a:p>
          <a:p xmlns:a="http://schemas.openxmlformats.org/drawingml/2006/main">
            <a:r>
              <a:t>      "evidence_strength": "low",</a:t>
            </a:r>
          </a:p>
          <a:p xmlns:a="http://schemas.openxmlformats.org/drawingml/2006/main">
            <a:r>
              <a:t>      "published_or_updated_at": "2025-01-02",</a:t>
            </a:r>
          </a:p>
          <a:p xmlns:a="http://schemas.openxmlformats.org/drawingml/2006/main">
            <a:r>
              <a:t>      "quantitative_result_approved": false</a:t>
            </a:r>
          </a:p>
          <a:p xmlns:a="http://schemas.openxmlformats.org/drawingml/2006/main">
            <a:r>
              <a:t>    },</a:t>
            </a:r>
          </a:p>
          <a:p xmlns:a="http://schemas.openxmlformats.org/drawingml/2006/main">
            <a:r>
              <a:t>    {</a:t>
            </a:r>
          </a:p>
          <a:p xmlns:a="http://schemas.openxmlformats.org/drawingml/2006/main">
            <a:r>
              <a:t>      "title": "지역사랑 휴가지원(반값여행) 신설 및 ‘대한민국 반값여행’ 성과 분석",</a:t>
            </a:r>
          </a:p>
          <a:p xmlns:a="http://schemas.openxmlformats.org/drawingml/2006/main">
            <a:r>
              <a:t>      "summary": "전국 인구감소지역 중 2026년 상반기 선정 16개 지역 · 지역사랑 휴가지원 ‘대한민국 반값여행’ · 문체부는 2026년 6월 22일 상반기 성과 분석과 하반기 운영 방향을 논의했다고 공개했다. 확보된 공식 페이지에서 지역별 신청·방문·소비·환급 수치와 비교집단 결과는 확인되지 않아 정량 성과는 인용하지 않는다. ([mcst.go.kr](https://www.mcst.go.kr/site/s_notice/press/pressView.jsp?pSeq=22528))",</a:t>
            </a:r>
          </a:p>
          <a:p xmlns:a="http://schemas.openxmlformats.org/drawingml/2006/main">
            <a:r>
              <a:t>      "source_id": "case:c6d4752e1342a7",</a:t>
            </a:r>
          </a:p>
          <a:p xmlns:a="http://schemas.openxmlformats.org/drawingml/2006/main">
            <a:r>
              <a:t>      "source_url": "https://www.mcst.go.kr/site/s_policy/govPolicy/performTotal.jsp",</a:t>
            </a:r>
          </a:p>
          <a:p xmlns:a="http://schemas.openxmlformats.org/drawingml/2006/main">
            <a:r>
              <a:t>      "case_region": "전국 인구감소지역 중 2026년 상반기 선정 16개 지역",</a:t>
            </a:r>
          </a:p>
          <a:p xmlns:a="http://schemas.openxmlformats.org/drawingml/2006/main">
            <a:r>
              <a:t>      "source_type": "benchmark_case",</a:t>
            </a:r>
          </a:p>
          <a:p xmlns:a="http://schemas.openxmlformats.org/drawingml/2006/main">
            <a:r>
              <a:t>      "intervention": "지역사랑 휴가지원 ‘대한민국 반값여행’",</a:t>
            </a:r>
          </a:p>
          <a:p xmlns:a="http://schemas.openxmlformats.org/drawingml/2006/main">
            <a:r>
              <a:t>      "operating_model": "대상 지역에서 여행경비를 지출하고 요건을 충족한 방문객에게 지역사랑상품권을 환급한다. 개인은 최대 10만 원, 단체는 최대 20만 원 한도로 설계했으며, 부정수급 방지 지침과 지자체 공모·사전준비 절차를 두었다.",</a:t>
            </a:r>
          </a:p>
          <a:p xmlns:a="http://schemas.openxmlformats.org/drawingml/2006/main">
            <a:r>
              <a:t>      "evidence_strength": "medium",</a:t>
            </a:r>
          </a:p>
          <a:p xmlns:a="http://schemas.openxmlformats.org/drawingml/2006/main">
            <a:r>
              <a:t>      "published_or_updated_at": "2026-06-22",</a:t>
            </a:r>
          </a:p>
          <a:p xmlns:a="http://schemas.openxmlformats.org/drawingml/2006/main">
            <a:r>
              <a:t>      "quantitative_result_approved": null</a:t>
            </a:r>
          </a:p>
          <a:p xmlns:a="http://schemas.openxmlformats.org/drawingml/2006/main">
            <a:r>
              <a:t>    },</a:t>
            </a:r>
          </a:p>
          <a:p xmlns:a="http://schemas.openxmlformats.org/drawingml/2006/main">
            <a:r>
              <a:t>    {</a:t>
            </a:r>
          </a:p>
          <a:p xmlns:a="http://schemas.openxmlformats.org/drawingml/2006/main">
            <a:r>
              <a:t>      "title": "2025 대한민국 밤밤페스타 개최 도시 및 일정",</a:t>
            </a:r>
          </a:p>
          <a:p xmlns:a="http://schemas.openxmlformats.org/drawingml/2006/main">
            <a:r>
              <a:t>      "summary": "야간관광 특화도시 10곳 · 도시별 야간 콘텐츠를 순회형 축제로 묶는 운영 · 공식 여행기사는 개최 도시·장소·운영 시간과 콘텐츠만 제시하며 방문·소비 성과 수치는 제시하지 않음",</a:t>
            </a:r>
          </a:p>
          <a:p xmlns:a="http://schemas.openxmlformats.org/drawingml/2006/main">
            <a:r>
              <a:t>      "source_id": "case:night_festival_2025",</a:t>
            </a:r>
          </a:p>
          <a:p xmlns:a="http://schemas.openxmlformats.org/drawingml/2006/main">
            <a:r>
              <a:t>      "source_url": "https://korean.visitkorea.or.kr/detail/rem_detail.do?cotid=f9c636b2-dd7c-4f09-af3d-6af43b33d371",</a:t>
            </a:r>
          </a:p>
          <a:p xmlns:a="http://schemas.openxmlformats.org/drawingml/2006/main">
            <a:r>
              <a:t>      "case_region": "야간관광 특화도시 10곳",</a:t>
            </a:r>
          </a:p>
          <a:p xmlns:a="http://schemas.openxmlformats.org/drawingml/2006/main">
            <a:r>
              <a:t>      "source_type": "benchmark_case",</a:t>
            </a:r>
          </a:p>
          <a:p xmlns:a="http://schemas.openxmlformats.org/drawingml/2006/main">
            <a:r>
              <a:t>      "intervention": "도시별 야간 콘텐츠를 순회형 축제로 묶는 운영",</a:t>
            </a:r>
          </a:p>
          <a:p xmlns:a="http://schemas.openxmlformats.org/drawingml/2006/main">
            <a:r>
              <a:t>      "operating_model": "10개 야간관광 특화도시의 대표 장소와 시간대를 연결하고, 공연·체험·지역 디저트·판매상품 등 도시별 콘텐츠를 순회 일정으로 운영",</a:t>
            </a:r>
          </a:p>
          <a:p xmlns:a="http://schemas.openxmlformats.org/drawingml/2006/main">
            <a:r>
              <a:t>      "evidence_strength": "medium",</a:t>
            </a:r>
          </a:p>
          <a:p xmlns:a="http://schemas.openxmlformats.org/drawingml/2006/main">
            <a:r>
              <a:t>      "published_or_updated_at": "2025",</a:t>
            </a:r>
          </a:p>
          <a:p xmlns:a="http://schemas.openxmlformats.org/drawingml/2006/main">
            <a:r>
              <a:t>      "quantitative_result_approved": null</a:t>
            </a:r>
          </a:p>
          <a:p xmlns:a="http://schemas.openxmlformats.org/drawingml/2006/main">
            <a:r>
              <a:t>    }</a:t>
            </a:r>
          </a:p>
          <a:p xmlns:a="http://schemas.openxmlformats.org/drawingml/2006/main">
            <a:r>
              <a:t>  ],</a:t>
            </a:r>
          </a:p>
          <a:p xmlns:a="http://schemas.openxmlformats.org/drawingml/2006/main">
            <a:r>
              <a:t>  "selected_forecast": {</a:t>
            </a:r>
          </a:p>
          <a:p xmlns:a="http://schemas.openxmlformats.org/drawingml/2006/main">
            <a:r>
              <a:t>    "rows": [</a:t>
            </a:r>
          </a:p>
          <a:p xmlns:a="http://schemas.openxmlformats.org/drawingml/2006/main">
            <a:r>
              <a:t>      {</a:t>
            </a:r>
          </a:p>
          <a:p xmlns:a="http://schemas.openxmlformats.org/drawingml/2006/main">
            <a:r>
              <a:t>        "month": "202609",</a:t>
            </a:r>
          </a:p>
          <a:p xmlns:a="http://schemas.openxmlformats.org/drawingml/2006/main">
            <a:r>
              <a:t>        "visitors": 2363056.0,</a:t>
            </a:r>
          </a:p>
          <a:p xmlns:a="http://schemas.openxmlformats.org/drawingml/2006/main">
            <a:r>
              <a:t>        "is_forecast": true,</a:t>
            </a:r>
          </a:p>
          <a:p xmlns:a="http://schemas.openxmlformats.org/drawingml/2006/main">
            <a:r>
              <a:t>        "spending_krw": 67047345591.0,</a:t>
            </a:r>
          </a:p>
          <a:p xmlns:a="http://schemas.openxmlformats.org/drawingml/2006/main">
            <a:r>
              <a:t>        "stay_minutes": 2518.0,</a:t>
            </a:r>
          </a:p>
          <a:p xmlns:a="http://schemas.openxmlformats.org/drawingml/2006/main">
            <a:r>
              <a:t>        "lodging_nights": 2.98,</a:t>
            </a:r>
          </a:p>
          <a:p xmlns:a="http://schemas.openxmlformats.org/drawingml/2006/main">
            <a:r>
              <a:t>        "lodging_rate_pct": 13.1,</a:t>
            </a:r>
          </a:p>
          <a:p xmlns:a="http://schemas.openxmlformats.org/drawingml/2006/main">
            <a:r>
              <a:t>        "lodging_searches": 34529,</a:t>
            </a:r>
          </a:p>
          <a:p xmlns:a="http://schemas.openxmlformats.org/drawingml/2006/main">
            <a:r>
              <a:t>        "navigation_searches": 259153,</a:t>
            </a:r>
          </a:p>
          <a:p xmlns:a="http://schemas.openxmlformats.org/drawingml/2006/main">
            <a:r>
              <a:t>        "visitor_yoy_percent": 3.0,</a:t>
            </a:r>
          </a:p>
          <a:p xmlns:a="http://schemas.openxmlformats.org/drawingml/2006/main">
            <a:r>
              <a:t>        "spending_yoy_percent": 22.29,</a:t>
            </a:r>
          </a:p>
          <a:p xmlns:a="http://schemas.openxmlformats.org/drawingml/2006/main">
            <a:r>
              <a:t>        "metric_changes_percent": {</a:t>
            </a:r>
          </a:p>
          <a:p xmlns:a="http://schemas.openxmlformats.org/drawingml/2006/main">
            <a:r>
              <a:t>          "stay_minutes": 0.0,</a:t>
            </a:r>
          </a:p>
          <a:p xmlns:a="http://schemas.openxmlformats.org/drawingml/2006/main">
            <a:r>
              <a:t>          "lodging_nights": 1.02,</a:t>
            </a:r>
          </a:p>
          <a:p xmlns:a="http://schemas.openxmlformats.org/drawingml/2006/main">
            <a:r>
              <a:t>          "lodging_rate_pct": 0.0,</a:t>
            </a:r>
          </a:p>
          <a:p xmlns:a="http://schemas.openxmlformats.org/drawingml/2006/main">
            <a:r>
              <a:t>          "lodging_searches": 8.97,</a:t>
            </a:r>
          </a:p>
          <a:p xmlns:a="http://schemas.openxmlformats.org/drawingml/2006/main">
            <a:r>
              <a:t>          "navigation_searches": 0.0</a:t>
            </a:r>
          </a:p>
          <a:p xmlns:a="http://schemas.openxmlformats.org/drawingml/2006/main">
            <a:r>
              <a:t>        },</a:t>
            </a:r>
          </a:p>
          <a:p xmlns:a="http://schemas.openxmlformats.org/drawingml/2006/main">
            <a:r>
              <a:t>        "previous_year_visitors": 2294130,</a:t>
            </a:r>
          </a:p>
          <a:p xmlns:a="http://schemas.openxmlformats.org/drawingml/2006/main">
            <a:r>
              <a:t>        "previous_year_spending_krw": 54826341000,</a:t>
            </a:r>
          </a:p>
          <a:p xmlns:a="http://schemas.openxmlformats.org/drawingml/2006/main">
            <a:r>
              <a:t>        "previous_year_stay_minutes": 2518.0,</a:t>
            </a:r>
          </a:p>
          <a:p xmlns:a="http://schemas.openxmlformats.org/drawingml/2006/main">
            <a:r>
              <a:t>        "previous_year_lodging_nights": 2.95,</a:t>
            </a:r>
          </a:p>
          <a:p xmlns:a="http://schemas.openxmlformats.org/drawingml/2006/main">
            <a:r>
              <a:t>        "previous_year_lodging_rate_pct": 13.1,</a:t>
            </a:r>
          </a:p>
          <a:p xmlns:a="http://schemas.openxmlformats.org/drawingml/2006/main">
            <a:r>
              <a:t>        "previous_year_lodging_searches": 31686,</a:t>
            </a:r>
          </a:p>
          <a:p xmlns:a="http://schemas.openxmlformats.org/drawingml/2006/main">
            <a:r>
              <a:t>        "previous_year_navigation_searches": 259153</a:t>
            </a:r>
          </a:p>
          <a:p xmlns:a="http://schemas.openxmlformats.org/drawingml/2006/main">
            <a:r>
              <a:t>      },</a:t>
            </a:r>
          </a:p>
          <a:p xmlns:a="http://schemas.openxmlformats.org/drawingml/2006/main">
            <a:r>
              <a:t>      {</a:t>
            </a:r>
          </a:p>
          <a:p xmlns:a="http://schemas.openxmlformats.org/drawingml/2006/main">
            <a:r>
              <a:t>        "month": "202610",</a:t>
            </a:r>
          </a:p>
          <a:p xmlns:a="http://schemas.openxmlformats.org/drawingml/2006/main">
            <a:r>
              <a:t>        "visitors": 2633270.0,</a:t>
            </a:r>
          </a:p>
          <a:p xmlns:a="http://schemas.openxmlformats.org/drawingml/2006/main">
            <a:r>
              <a:t>        "is_forecast": true,</a:t>
            </a:r>
          </a:p>
          <a:p xmlns:a="http://schemas.openxmlformats.org/drawingml/2006/main">
            <a:r>
              <a:t>        "spending_krw": 83929975649.0,</a:t>
            </a:r>
          </a:p>
          <a:p xmlns:a="http://schemas.openxmlformats.org/drawingml/2006/main">
            <a:r>
              <a:t>        "stay_minutes": 1683.0,</a:t>
            </a:r>
          </a:p>
          <a:p xmlns:a="http://schemas.openxmlformats.org/drawingml/2006/main">
            <a:r>
              <a:t>        "lodging_nights": 2.87,</a:t>
            </a:r>
          </a:p>
          <a:p xmlns:a="http://schemas.openxmlformats.org/drawingml/2006/main">
            <a:r>
              <a:t>        "lodging_rate_pct": 15.5,</a:t>
            </a:r>
          </a:p>
          <a:p xmlns:a="http://schemas.openxmlformats.org/drawingml/2006/main">
            <a:r>
              <a:t>        "lodging_searches": 50011,</a:t>
            </a:r>
          </a:p>
          <a:p xmlns:a="http://schemas.openxmlformats.org/drawingml/2006/main">
            <a:r>
              <a:t>        "navigation_searches": 519488,</a:t>
            </a:r>
          </a:p>
          <a:p xmlns:a="http://schemas.openxmlformats.org/drawingml/2006/main">
            <a:r>
              <a:t>        "visitor_yoy_percent": -5.94,</a:t>
            </a:r>
          </a:p>
          <a:p xmlns:a="http://schemas.openxmlformats.org/drawingml/2006/main">
            <a:r>
              <a:t>        "spending_yoy_percent": 21.43,</a:t>
            </a:r>
          </a:p>
          <a:p xmlns:a="http://schemas.openxmlformats.org/drawingml/2006/main">
            <a:r>
              <a:t>        "metric_changes_percent": {</a:t>
            </a:r>
          </a:p>
          <a:p xmlns:a="http://schemas.openxmlformats.org/drawingml/2006/main">
            <a:r>
              <a:t>          "stay_minutes": 0.0,</a:t>
            </a:r>
          </a:p>
          <a:p xmlns:a="http://schemas.openxmlformats.org/drawingml/2006/main">
            <a:r>
              <a:t>          "lodging_nights": 1.77,</a:t>
            </a:r>
          </a:p>
          <a:p xmlns:a="http://schemas.openxmlformats.org/drawingml/2006/main">
            <a:r>
              <a:t>          "lodging_rate_pct": 0.0,</a:t>
            </a:r>
          </a:p>
          <a:p xmlns:a="http://schemas.openxmlformats.org/drawingml/2006/main">
            <a:r>
              <a:t>          "lodging_searches": -21.42,</a:t>
            </a:r>
          </a:p>
          <a:p xmlns:a="http://schemas.openxmlformats.org/drawingml/2006/main">
            <a:r>
              <a:t>          "navigation_searches": 0.0</a:t>
            </a:r>
          </a:p>
          <a:p xmlns:a="http://schemas.openxmlformats.org/drawingml/2006/main">
            <a:r>
              <a:t>        },</a:t>
            </a:r>
          </a:p>
          <a:p xmlns:a="http://schemas.openxmlformats.org/drawingml/2006/main">
            <a:r>
              <a:t>        "previous_year_visitors": 2799509,</a:t>
            </a:r>
          </a:p>
          <a:p xmlns:a="http://schemas.openxmlformats.org/drawingml/2006/main">
            <a:r>
              <a:t>        "previous_year_spending_krw": 69118387000,</a:t>
            </a:r>
          </a:p>
          <a:p xmlns:a="http://schemas.openxmlformats.org/drawingml/2006/main">
            <a:r>
              <a:t>        "previous_year_stay_minutes": 1683.0,</a:t>
            </a:r>
          </a:p>
          <a:p xmlns:a="http://schemas.openxmlformats.org/drawingml/2006/main">
            <a:r>
              <a:t>        "previous_year_lodging_nights": 2.82,</a:t>
            </a:r>
          </a:p>
          <a:p xmlns:a="http://schemas.openxmlformats.org/drawingml/2006/main">
            <a:r>
              <a:t>        "previous_year_lodging_rate_pct": 15.5,</a:t>
            </a:r>
          </a:p>
          <a:p xmlns:a="http://schemas.openxmlformats.org/drawingml/2006/main">
            <a:r>
              <a:t>        "previous_year_lodging_searches": 63645,</a:t>
            </a:r>
          </a:p>
          <a:p xmlns:a="http://schemas.openxmlformats.org/drawingml/2006/main">
            <a:r>
              <a:t>        "previous_year_navigation_searches": 519488</a:t>
            </a:r>
          </a:p>
          <a:p xmlns:a="http://schemas.openxmlformats.org/drawingml/2006/main">
            <a:r>
              <a:t>      },</a:t>
            </a:r>
          </a:p>
          <a:p xmlns:a="http://schemas.openxmlformats.org/drawingml/2006/main">
            <a:r>
              <a:t>      {</a:t>
            </a:r>
          </a:p>
          <a:p xmlns:a="http://schemas.openxmlformats.org/drawingml/2006/main">
            <a:r>
              <a:t>        "month": "202611",</a:t>
            </a:r>
          </a:p>
          <a:p xmlns:a="http://schemas.openxmlformats.org/drawingml/2006/main">
            <a:r>
              <a:t>        "visitors": 2632315.0,</a:t>
            </a:r>
          </a:p>
          <a:p xmlns:a="http://schemas.openxmlformats.org/drawingml/2006/main">
            <a:r>
              <a:t>        "is_forecast": true,</a:t>
            </a:r>
          </a:p>
          <a:p xmlns:a="http://schemas.openxmlformats.org/drawingml/2006/main">
            <a:r>
              <a:t>        "spending_krw": 89947681558.0,</a:t>
            </a:r>
          </a:p>
          <a:p xmlns:a="http://schemas.openxmlformats.org/drawingml/2006/main">
            <a:r>
              <a:t>        "stay_minutes": 1488.0,</a:t>
            </a:r>
          </a:p>
          <a:p xmlns:a="http://schemas.openxmlformats.org/drawingml/2006/main">
            <a:r>
              <a:t>        "lodging_nights": 2.76,</a:t>
            </a:r>
          </a:p>
          <a:p xmlns:a="http://schemas.openxmlformats.org/drawingml/2006/main">
            <a:r>
              <a:t>        "lodging_rate_pct": 12.4,</a:t>
            </a:r>
          </a:p>
          <a:p xmlns:a="http://schemas.openxmlformats.org/drawingml/2006/main">
            <a:r>
              <a:t>        "lodging_searches": 48286,</a:t>
            </a:r>
          </a:p>
          <a:p xmlns:a="http://schemas.openxmlformats.org/drawingml/2006/main">
            <a:r>
              <a:t>        "navigation_searches": 352852,</a:t>
            </a:r>
          </a:p>
          <a:p xmlns:a="http://schemas.openxmlformats.org/drawingml/2006/main">
            <a:r>
              <a:t>        "visitor_yoy_percent": 4.18,</a:t>
            </a:r>
          </a:p>
          <a:p xmlns:a="http://schemas.openxmlformats.org/drawingml/2006/main">
            <a:r>
              <a:t>        "spending_yoy_percent": 41.26,</a:t>
            </a:r>
          </a:p>
          <a:p xmlns:a="http://schemas.openxmlformats.org/drawingml/2006/main">
            <a:r>
              <a:t>        "metric_changes_percent": {</a:t>
            </a:r>
          </a:p>
          <a:p xmlns:a="http://schemas.openxmlformats.org/drawingml/2006/main">
            <a:r>
              <a:t>          "stay_minutes": 0.0,</a:t>
            </a:r>
          </a:p>
          <a:p xmlns:a="http://schemas.openxmlformats.org/drawingml/2006/main">
            <a:r>
              <a:t>          "lodging_nights": 2.22,</a:t>
            </a:r>
          </a:p>
          <a:p xmlns:a="http://schemas.openxmlformats.org/drawingml/2006/main">
            <a:r>
              <a:t>          "lodging_rate_pct": 0.0,</a:t>
            </a:r>
          </a:p>
          <a:p xmlns:a="http://schemas.openxmlformats.org/drawingml/2006/main">
            <a:r>
              <a:t>          "lodging_searches": 21.22,</a:t>
            </a:r>
          </a:p>
          <a:p xmlns:a="http://schemas.openxmlformats.org/drawingml/2006/main">
            <a:r>
              <a:t>          "navigation_searches": 0.0</a:t>
            </a:r>
          </a:p>
          <a:p xmlns:a="http://schemas.openxmlformats.org/drawingml/2006/main">
            <a:r>
              <a:t>        },</a:t>
            </a:r>
          </a:p>
          <a:p xmlns:a="http://schemas.openxmlformats.org/drawingml/2006/main">
            <a:r>
              <a:t>        "previous_year_visitors": 2526699,</a:t>
            </a:r>
          </a:p>
          <a:p xmlns:a="http://schemas.openxmlformats.org/drawingml/2006/main">
            <a:r>
              <a:t>        "previous_year_spending_krw": 63675989000,</a:t>
            </a:r>
          </a:p>
          <a:p xmlns:a="http://schemas.openxmlformats.org/drawingml/2006/main">
            <a:r>
              <a:t>        "previous_year_stay_minutes": 1488.0,</a:t>
            </a:r>
          </a:p>
          <a:p xmlns:a="http://schemas.openxmlformats.org/drawingml/2006/main">
            <a:r>
              <a:t>        "previous_year_lodging_nights": 2.7,</a:t>
            </a:r>
          </a:p>
          <a:p xmlns:a="http://schemas.openxmlformats.org/drawingml/2006/main">
            <a:r>
              <a:t>        "previous_year_lodging_rate_pct": 12.4,</a:t>
            </a:r>
          </a:p>
          <a:p xmlns:a="http://schemas.openxmlformats.org/drawingml/2006/main">
            <a:r>
              <a:t>        "previous_year_lodging_searches": 39833,</a:t>
            </a:r>
          </a:p>
          <a:p xmlns:a="http://schemas.openxmlformats.org/drawingml/2006/main">
            <a:r>
              <a:t>        "previous_year_navigation_searches": 352852</a:t>
            </a:r>
          </a:p>
          <a:p xmlns:a="http://schemas.openxmlformats.org/drawingml/2006/main">
            <a:r>
              <a:t>      }</a:t>
            </a:r>
          </a:p>
          <a:p xmlns:a="http://schemas.openxmlformats.org/drawingml/2006/main">
            <a:r>
              <a:t>    ],</a:t>
            </a:r>
          </a:p>
          <a:p xmlns:a="http://schemas.openxmlformats.org/drawingml/2006/main">
            <a:r>
              <a:t>    "period": "202609~202611",</a:t>
            </a:r>
          </a:p>
          <a:p xmlns:a="http://schemas.openxmlformats.org/drawingml/2006/main">
            <a:r>
              <a:t>    "complete": true,</a:t>
            </a:r>
          </a:p>
          <a:p xmlns:a="http://schemas.openxmlformats.org/drawingml/2006/main">
            <a:r>
              <a:t>    "notes": [</a:t>
            </a:r>
          </a:p>
          <a:p xmlns:a="http://schemas.openxmlformats.org/drawingml/2006/main">
            <a:r>
              <a:t>      "3개월 초과 예측 거리는 재귀 검증 범위 밖의 탐색 전망입니다."</a:t>
            </a:r>
          </a:p>
          <a:p xmlns:a="http://schemas.openxmlformats.org/drawingml/2006/main">
            <a:r>
              <a:t>    ],</a:t>
            </a:r>
          </a:p>
          <a:p xmlns:a="http://schemas.openxmlformats.org/drawingml/2006/main">
            <a:r>
              <a:t>    "selection_basis": "strategy_timeframe",</a:t>
            </a:r>
          </a:p>
          <a:p xmlns:a="http://schemas.openxmlformats.org/drawingml/2006/main">
            <a:r>
              <a:t>    "requested_period": "202609~202611"</a:t>
            </a:r>
          </a:p>
          <a:p xmlns:a="http://schemas.openxmlformats.org/drawingml/2006/main">
            <a:r>
              <a:t>  },</a:t>
            </a:r>
          </a:p>
          <a:p xmlns:a="http://schemas.openxmlformats.org/drawingml/2006/main">
            <a:r>
              <a:t>  "all_ml_forecasts": [</a:t>
            </a:r>
          </a:p>
          <a:p xmlns:a="http://schemas.openxmlformats.org/drawingml/2006/main">
            <a:r>
              <a:t>    {</a:t>
            </a:r>
          </a:p>
          <a:p xmlns:a="http://schemas.openxmlformats.org/drawingml/2006/main">
            <a:r>
              <a:t>      "month": "202607",</a:t>
            </a:r>
          </a:p>
          <a:p xmlns:a="http://schemas.openxmlformats.org/drawingml/2006/main">
            <a:r>
              <a:t>      "visitors": 2366862,</a:t>
            </a:r>
          </a:p>
          <a:p xmlns:a="http://schemas.openxmlformats.org/drawingml/2006/main">
            <a:r>
              <a:t>      "is_forecast": true,</a:t>
            </a:r>
          </a:p>
          <a:p xmlns:a="http://schemas.openxmlformats.org/drawingml/2006/main">
            <a:r>
              <a:t>      "spending_krw": 67735223997,</a:t>
            </a:r>
          </a:p>
          <a:p xmlns:a="http://schemas.openxmlformats.org/drawingml/2006/main">
            <a:r>
              <a:t>      "stay_minutes": 1944.0,</a:t>
            </a:r>
          </a:p>
          <a:p xmlns:a="http://schemas.openxmlformats.org/drawingml/2006/main">
            <a:r>
              <a:t>      "lodging_nights": 2.83,</a:t>
            </a:r>
          </a:p>
          <a:p xmlns:a="http://schemas.openxmlformats.org/drawingml/2006/main">
            <a:r>
              <a:t>      "lodging_rate_pct": 13.8,</a:t>
            </a:r>
          </a:p>
          <a:p xmlns:a="http://schemas.openxmlformats.org/drawingml/2006/main">
            <a:r>
              <a:t>      "lodging_searches": 46511,</a:t>
            </a:r>
          </a:p>
          <a:p xmlns:a="http://schemas.openxmlformats.org/drawingml/2006/main">
            <a:r>
              <a:t>      "navigation_searches": 297924,</a:t>
            </a:r>
          </a:p>
          <a:p xmlns:a="http://schemas.openxmlformats.org/drawingml/2006/main">
            <a:r>
              <a:t>      "visitor_yoy_percent": -1.04,</a:t>
            </a:r>
          </a:p>
          <a:p xmlns:a="http://schemas.openxmlformats.org/drawingml/2006/main">
            <a:r>
              <a:t>      "spending_yoy_percent": 14.97,</a:t>
            </a:r>
          </a:p>
          <a:p xmlns:a="http://schemas.openxmlformats.org/drawingml/2006/main">
            <a:r>
              <a:t>      "metric_changes_percent": {</a:t>
            </a:r>
          </a:p>
          <a:p xmlns:a="http://schemas.openxmlformats.org/drawingml/2006/main">
            <a:r>
              <a:t>        "stay_minutes": 0.0,</a:t>
            </a:r>
          </a:p>
          <a:p xmlns:a="http://schemas.openxmlformats.org/drawingml/2006/main">
            <a:r>
              <a:t>        "lodging_nights": 0.35,</a:t>
            </a:r>
          </a:p>
          <a:p xmlns:a="http://schemas.openxmlformats.org/drawingml/2006/main">
            <a:r>
              <a:t>        "lodging_rate_pct": 0.0,</a:t>
            </a:r>
          </a:p>
          <a:p xmlns:a="http://schemas.openxmlformats.org/drawingml/2006/main">
            <a:r>
              <a:t>        "lodging_searches": 17.21,</a:t>
            </a:r>
          </a:p>
          <a:p xmlns:a="http://schemas.openxmlformats.org/drawingml/2006/main">
            <a:r>
              <a:t>        "navigation_searches": 0.0</a:t>
            </a:r>
          </a:p>
          <a:p xmlns:a="http://schemas.openxmlformats.org/drawingml/2006/main">
            <a:r>
              <a:t>      },</a:t>
            </a:r>
          </a:p>
          <a:p xmlns:a="http://schemas.openxmlformats.org/drawingml/2006/main">
            <a:r>
              <a:t>      "previous_year_visitors": 2391642,</a:t>
            </a:r>
          </a:p>
          <a:p xmlns:a="http://schemas.openxmlformats.org/drawingml/2006/main">
            <a:r>
              <a:t>      "previous_year_spending_krw": 58914875000,</a:t>
            </a:r>
          </a:p>
          <a:p xmlns:a="http://schemas.openxmlformats.org/drawingml/2006/main">
            <a:r>
              <a:t>      "previous_year_stay_minutes": 1944.0,</a:t>
            </a:r>
          </a:p>
          <a:p xmlns:a="http://schemas.openxmlformats.org/drawingml/2006/main">
            <a:r>
              <a:t>      "previous_year_lodging_nights": 2.82,</a:t>
            </a:r>
          </a:p>
          <a:p xmlns:a="http://schemas.openxmlformats.org/drawingml/2006/main">
            <a:r>
              <a:t>      "previous_year_lodging_rate_pct": 13.8,</a:t>
            </a:r>
          </a:p>
          <a:p xmlns:a="http://schemas.openxmlformats.org/drawingml/2006/main">
            <a:r>
              <a:t>      "previous_year_lodging_searches": 39682,</a:t>
            </a:r>
          </a:p>
          <a:p xmlns:a="http://schemas.openxmlformats.org/drawingml/2006/main">
            <a:r>
              <a:t>      "previous_year_navigation_searches": 297924</a:t>
            </a:r>
          </a:p>
          <a:p xmlns:a="http://schemas.openxmlformats.org/drawingml/2006/main">
            <a:r>
              <a:t>    },</a:t>
            </a:r>
          </a:p>
          <a:p xmlns:a="http://schemas.openxmlformats.org/drawingml/2006/main">
            <a:r>
              <a:t>    {</a:t>
            </a:r>
          </a:p>
          <a:p xmlns:a="http://schemas.openxmlformats.org/drawingml/2006/main">
            <a:r>
              <a:t>      "month": "202608",</a:t>
            </a:r>
          </a:p>
          <a:p xmlns:a="http://schemas.openxmlformats.org/drawingml/2006/main">
            <a:r>
              <a:t>      "visitors": 2642874,</a:t>
            </a:r>
          </a:p>
          <a:p xmlns:a="http://schemas.openxmlformats.org/drawingml/2006/main">
            <a:r>
              <a:t>      "is_forecast": true,</a:t>
            </a:r>
          </a:p>
          <a:p xmlns:a="http://schemas.openxmlformats.org/drawingml/2006/main">
            <a:r>
              <a:t>      "spending_krw": 76161639833,</a:t>
            </a:r>
          </a:p>
          <a:p xmlns:a="http://schemas.openxmlformats.org/drawingml/2006/main">
            <a:r>
              <a:t>      "stay_minutes": 1672.0,</a:t>
            </a:r>
          </a:p>
          <a:p xmlns:a="http://schemas.openxmlformats.org/drawingml/2006/main">
            <a:r>
              <a:t>      "lodging_nights": 2.76,</a:t>
            </a:r>
          </a:p>
          <a:p xmlns:a="http://schemas.openxmlformats.org/drawingml/2006/main">
            <a:r>
              <a:t>      "lodging_rate_pct": 14.7,</a:t>
            </a:r>
          </a:p>
          <a:p xmlns:a="http://schemas.openxmlformats.org/drawingml/2006/main">
            <a:r>
              <a:t>      "lodging_searches": 49759,</a:t>
            </a:r>
          </a:p>
          <a:p xmlns:a="http://schemas.openxmlformats.org/drawingml/2006/main">
            <a:r>
              <a:t>      "navigation_searches": 346177,</a:t>
            </a:r>
          </a:p>
          <a:p xmlns:a="http://schemas.openxmlformats.org/drawingml/2006/main">
            <a:r>
              <a:t>      "visitor_yoy_percent": 0.13,</a:t>
            </a:r>
          </a:p>
          <a:p xmlns:a="http://schemas.openxmlformats.org/drawingml/2006/main">
            <a:r>
              <a:t>      "spending_yoy_percent": 18.85,</a:t>
            </a:r>
          </a:p>
          <a:p xmlns:a="http://schemas.openxmlformats.org/drawingml/2006/main">
            <a:r>
              <a:t>      "metric_changes_percent": {</a:t>
            </a:r>
          </a:p>
          <a:p xmlns:a="http://schemas.openxmlformats.org/drawingml/2006/main">
            <a:r>
              <a:t>        "stay_minutes": 0.0,</a:t>
            </a:r>
          </a:p>
          <a:p xmlns:a="http://schemas.openxmlformats.org/drawingml/2006/main">
            <a:r>
              <a:t>        "lodging_nights": 1.1,</a:t>
            </a:r>
          </a:p>
          <a:p xmlns:a="http://schemas.openxmlformats.org/drawingml/2006/main">
            <a:r>
              <a:t>        "lodging_rate_pct": 0.0,</a:t>
            </a:r>
          </a:p>
          <a:p xmlns:a="http://schemas.openxmlformats.org/drawingml/2006/main">
            <a:r>
              <a:t>        "lodging_searches": -0.93,</a:t>
            </a:r>
          </a:p>
          <a:p xmlns:a="http://schemas.openxmlformats.org/drawingml/2006/main">
            <a:r>
              <a:t>        "navigation_searches": 0.0</a:t>
            </a:r>
          </a:p>
          <a:p xmlns:a="http://schemas.openxmlformats.org/drawingml/2006/main">
            <a:r>
              <a:t>      },</a:t>
            </a:r>
          </a:p>
          <a:p xmlns:a="http://schemas.openxmlformats.org/drawingml/2006/main">
            <a:r>
              <a:t>      "previous_year_visitors": 2639487,</a:t>
            </a:r>
          </a:p>
          <a:p xmlns:a="http://schemas.openxmlformats.org/drawingml/2006/main">
            <a:r>
              <a:t>      "previous_year_spending_krw": 64083943000,</a:t>
            </a:r>
          </a:p>
          <a:p xmlns:a="http://schemas.openxmlformats.org/drawingml/2006/main">
            <a:r>
              <a:t>      "previous_year_stay_minutes": 1672.0,</a:t>
            </a:r>
          </a:p>
          <a:p xmlns:a="http://schemas.openxmlformats.org/drawingml/2006/main">
            <a:r>
              <a:t>      "previous_year_lodging_nights": 2.73,</a:t>
            </a:r>
          </a:p>
          <a:p xmlns:a="http://schemas.openxmlformats.org/drawingml/2006/main">
            <a:r>
              <a:t>      "previous_year_lodging_rate_pct": 14.7,</a:t>
            </a:r>
          </a:p>
          <a:p xmlns:a="http://schemas.openxmlformats.org/drawingml/2006/main">
            <a:r>
              <a:t>      "previous_year_lodging_searches": 50224,</a:t>
            </a:r>
          </a:p>
          <a:p xmlns:a="http://schemas.openxmlformats.org/drawingml/2006/main">
            <a:r>
              <a:t>      "previous_year_navigation_searches": 346177</a:t>
            </a:r>
          </a:p>
          <a:p xmlns:a="http://schemas.openxmlformats.org/drawingml/2006/main">
            <a:r>
              <a:t>    },</a:t>
            </a:r>
          </a:p>
          <a:p xmlns:a="http://schemas.openxmlformats.org/drawingml/2006/main">
            <a:r>
              <a:t>    {</a:t>
            </a:r>
          </a:p>
          <a:p xmlns:a="http://schemas.openxmlformats.org/drawingml/2006/main">
            <a:r>
              <a:t>      "month": "202609",</a:t>
            </a:r>
          </a:p>
          <a:p xmlns:a="http://schemas.openxmlformats.org/drawingml/2006/main">
            <a:r>
              <a:t>      "visitors": 2363056,</a:t>
            </a:r>
          </a:p>
          <a:p xmlns:a="http://schemas.openxmlformats.org/drawingml/2006/main">
            <a:r>
              <a:t>      "is_forecast": true,</a:t>
            </a:r>
          </a:p>
          <a:p xmlns:a="http://schemas.openxmlformats.org/drawingml/2006/main">
            <a:r>
              <a:t>      "spending_krw": 67047345591,</a:t>
            </a:r>
          </a:p>
          <a:p xmlns:a="http://schemas.openxmlformats.org/drawingml/2006/main">
            <a:r>
              <a:t>      "stay_minutes": 2518.0,</a:t>
            </a:r>
          </a:p>
          <a:p xmlns:a="http://schemas.openxmlformats.org/drawingml/2006/main">
            <a:r>
              <a:t>      "lodging_nights": 2.98,</a:t>
            </a:r>
          </a:p>
          <a:p xmlns:a="http://schemas.openxmlformats.org/drawingml/2006/main">
            <a:r>
              <a:t>      "lodging_rate_pct": 13.1,</a:t>
            </a:r>
          </a:p>
          <a:p xmlns:a="http://schemas.openxmlformats.org/drawingml/2006/main">
            <a:r>
              <a:t>      "lodging_searches": 34529,</a:t>
            </a:r>
          </a:p>
          <a:p xmlns:a="http://schemas.openxmlformats.org/drawingml/2006/main">
            <a:r>
              <a:t>      "navigation_searches": 259153,</a:t>
            </a:r>
          </a:p>
          <a:p xmlns:a="http://schemas.openxmlformats.org/drawingml/2006/main">
            <a:r>
              <a:t>      "visitor_yoy_percent": 3.0,</a:t>
            </a:r>
          </a:p>
          <a:p xmlns:a="http://schemas.openxmlformats.org/drawingml/2006/main">
            <a:r>
              <a:t>      "spending_yoy_percent": 22.29,</a:t>
            </a:r>
          </a:p>
          <a:p xmlns:a="http://schemas.openxmlformats.org/drawingml/2006/main">
            <a:r>
              <a:t>      "metric_changes_percent": {</a:t>
            </a:r>
          </a:p>
          <a:p xmlns:a="http://schemas.openxmlformats.org/drawingml/2006/main">
            <a:r>
              <a:t>        "stay_minutes": 0.0,</a:t>
            </a:r>
          </a:p>
          <a:p xmlns:a="http://schemas.openxmlformats.org/drawingml/2006/main">
            <a:r>
              <a:t>        "lodging_nights": 1.02,</a:t>
            </a:r>
          </a:p>
          <a:p xmlns:a="http://schemas.openxmlformats.org/drawingml/2006/main">
            <a:r>
              <a:t>        "lodging_rate_pct": 0.0,</a:t>
            </a:r>
          </a:p>
          <a:p xmlns:a="http://schemas.openxmlformats.org/drawingml/2006/main">
            <a:r>
              <a:t>        "lodging_searches": 8.97,</a:t>
            </a:r>
          </a:p>
          <a:p xmlns:a="http://schemas.openxmlformats.org/drawingml/2006/main">
            <a:r>
              <a:t>        "navigation_searches": 0.0</a:t>
            </a:r>
          </a:p>
          <a:p xmlns:a="http://schemas.openxmlformats.org/drawingml/2006/main">
            <a:r>
              <a:t>      },</a:t>
            </a:r>
          </a:p>
          <a:p xmlns:a="http://schemas.openxmlformats.org/drawingml/2006/main">
            <a:r>
              <a:t>      "previous_year_visitors": 2294130,</a:t>
            </a:r>
          </a:p>
          <a:p xmlns:a="http://schemas.openxmlformats.org/drawingml/2006/main">
            <a:r>
              <a:t>      "previous_year_spending_krw": 54826341000,</a:t>
            </a:r>
          </a:p>
          <a:p xmlns:a="http://schemas.openxmlformats.org/drawingml/2006/main">
            <a:r>
              <a:t>      "previous_year_stay_minutes": 2518.0,</a:t>
            </a:r>
          </a:p>
          <a:p xmlns:a="http://schemas.openxmlformats.org/drawingml/2006/main">
            <a:r>
              <a:t>      "previous_year_lodging_nights": 2.95,</a:t>
            </a:r>
          </a:p>
          <a:p xmlns:a="http://schemas.openxmlformats.org/drawingml/2006/main">
            <a:r>
              <a:t>      "previous_year_lodging_rate_pct": 13.1,</a:t>
            </a:r>
          </a:p>
          <a:p xmlns:a="http://schemas.openxmlformats.org/drawingml/2006/main">
            <a:r>
              <a:t>      "previous_year_lodging_searches": 31686,</a:t>
            </a:r>
          </a:p>
          <a:p xmlns:a="http://schemas.openxmlformats.org/drawingml/2006/main">
            <a:r>
              <a:t>      "previous_year_navigation_searches": 259153</a:t>
            </a:r>
          </a:p>
          <a:p xmlns:a="http://schemas.openxmlformats.org/drawingml/2006/main">
            <a:r>
              <a:t>    },</a:t>
            </a:r>
          </a:p>
          <a:p xmlns:a="http://schemas.openxmlformats.org/drawingml/2006/main">
            <a:r>
              <a:t>    {</a:t>
            </a:r>
          </a:p>
          <a:p xmlns:a="http://schemas.openxmlformats.org/drawingml/2006/main">
            <a:r>
              <a:t>      "month": "202610",</a:t>
            </a:r>
          </a:p>
          <a:p xmlns:a="http://schemas.openxmlformats.org/drawingml/2006/main">
            <a:r>
              <a:t>      "visitors": 2633270,</a:t>
            </a:r>
          </a:p>
          <a:p xmlns:a="http://schemas.openxmlformats.org/drawingml/2006/main">
            <a:r>
              <a:t>      "is_forecast": true,</a:t>
            </a:r>
          </a:p>
          <a:p xmlns:a="http://schemas.openxmlformats.org/drawingml/2006/main">
            <a:r>
              <a:t>      "spending_krw": 83929975649,</a:t>
            </a:r>
          </a:p>
          <a:p xmlns:a="http://schemas.openxmlformats.org/drawingml/2006/main">
            <a:r>
              <a:t>      "stay_minutes": 1683.0,</a:t>
            </a:r>
          </a:p>
          <a:p xmlns:a="http://schemas.openxmlformats.org/drawingml/2006/main">
            <a:r>
              <a:t>      "lodging_nights": 2.87,</a:t>
            </a:r>
          </a:p>
          <a:p xmlns:a="http://schemas.openxmlformats.org/drawingml/2006/main">
            <a:r>
              <a:t>      "lodging_rate_pct": 15.5,</a:t>
            </a:r>
          </a:p>
          <a:p xmlns:a="http://schemas.openxmlformats.org/drawingml/2006/main">
            <a:r>
              <a:t>      "lodging_searches": 50011,</a:t>
            </a:r>
          </a:p>
          <a:p xmlns:a="http://schemas.openxmlformats.org/drawingml/2006/main">
            <a:r>
              <a:t>      "navigation_searches": 519488,</a:t>
            </a:r>
          </a:p>
          <a:p xmlns:a="http://schemas.openxmlformats.org/drawingml/2006/main">
            <a:r>
              <a:t>      "visitor_yoy_percent": -5.94,</a:t>
            </a:r>
          </a:p>
          <a:p xmlns:a="http://schemas.openxmlformats.org/drawingml/2006/main">
            <a:r>
              <a:t>      "spending_yoy_percent": 21.43,</a:t>
            </a:r>
          </a:p>
          <a:p xmlns:a="http://schemas.openxmlformats.org/drawingml/2006/main">
            <a:r>
              <a:t>      "metric_changes_percent": {</a:t>
            </a:r>
          </a:p>
          <a:p xmlns:a="http://schemas.openxmlformats.org/drawingml/2006/main">
            <a:r>
              <a:t>        "stay_minutes": 0.0,</a:t>
            </a:r>
          </a:p>
          <a:p xmlns:a="http://schemas.openxmlformats.org/drawingml/2006/main">
            <a:r>
              <a:t>        "lodging_nights": 1.77,</a:t>
            </a:r>
          </a:p>
          <a:p xmlns:a="http://schemas.openxmlformats.org/drawingml/2006/main">
            <a:r>
              <a:t>        "lodging_rate_pct": 0.0,</a:t>
            </a:r>
          </a:p>
          <a:p xmlns:a="http://schemas.openxmlformats.org/drawingml/2006/main">
            <a:r>
              <a:t>        "lodging_searches": -21.42,</a:t>
            </a:r>
          </a:p>
          <a:p xmlns:a="http://schemas.openxmlformats.org/drawingml/2006/main">
            <a:r>
              <a:t>        "navigation_searches": 0.0</a:t>
            </a:r>
          </a:p>
          <a:p xmlns:a="http://schemas.openxmlformats.org/drawingml/2006/main">
            <a:r>
              <a:t>      },</a:t>
            </a:r>
          </a:p>
          <a:p xmlns:a="http://schemas.openxmlformats.org/drawingml/2006/main">
            <a:r>
              <a:t>      "previous_year_visitors": 2799509,</a:t>
            </a:r>
          </a:p>
          <a:p xmlns:a="http://schemas.openxmlformats.org/drawingml/2006/main">
            <a:r>
              <a:t>      "previous_year_spending_krw": 69118387000,</a:t>
            </a:r>
          </a:p>
          <a:p xmlns:a="http://schemas.openxmlformats.org/drawingml/2006/main">
            <a:r>
              <a:t>      "previous_year_stay_minutes": 1683.0,</a:t>
            </a:r>
          </a:p>
          <a:p xmlns:a="http://schemas.openxmlformats.org/drawingml/2006/main">
            <a:r>
              <a:t>      "previous_year_lodging_nights": 2.82,</a:t>
            </a:r>
          </a:p>
          <a:p xmlns:a="http://schemas.openxmlformats.org/drawingml/2006/main">
            <a:r>
              <a:t>      "previous_year_lodging_rate_pct": 15.5,</a:t>
            </a:r>
          </a:p>
          <a:p xmlns:a="http://schemas.openxmlformats.org/drawingml/2006/main">
            <a:r>
              <a:t>      "previous_year_lodging_searches": 63645,</a:t>
            </a:r>
          </a:p>
          <a:p xmlns:a="http://schemas.openxmlformats.org/drawingml/2006/main">
            <a:r>
              <a:t>      "previous_year_navigation_searches": 519488</a:t>
            </a:r>
          </a:p>
          <a:p xmlns:a="http://schemas.openxmlformats.org/drawingml/2006/main">
            <a:r>
              <a:t>    },</a:t>
            </a:r>
          </a:p>
          <a:p xmlns:a="http://schemas.openxmlformats.org/drawingml/2006/main">
            <a:r>
              <a:t>    {</a:t>
            </a:r>
          </a:p>
          <a:p xmlns:a="http://schemas.openxmlformats.org/drawingml/2006/main">
            <a:r>
              <a:t>      "month": "202611",</a:t>
            </a:r>
          </a:p>
          <a:p xmlns:a="http://schemas.openxmlformats.org/drawingml/2006/main">
            <a:r>
              <a:t>      "visitors": 2632315,</a:t>
            </a:r>
          </a:p>
          <a:p xmlns:a="http://schemas.openxmlformats.org/drawingml/2006/main">
            <a:r>
              <a:t>      "is_forecast": true,</a:t>
            </a:r>
          </a:p>
          <a:p xmlns:a="http://schemas.openxmlformats.org/drawingml/2006/main">
            <a:r>
              <a:t>      "spending_krw": 89947681558,</a:t>
            </a:r>
          </a:p>
          <a:p xmlns:a="http://schemas.openxmlformats.org/drawingml/2006/main">
            <a:r>
              <a:t>      "stay_minutes": 1488.0,</a:t>
            </a:r>
          </a:p>
          <a:p xmlns:a="http://schemas.openxmlformats.org/drawingml/2006/main">
            <a:r>
              <a:t>      "lodging_nights": 2.76,</a:t>
            </a:r>
          </a:p>
          <a:p xmlns:a="http://schemas.openxmlformats.org/drawingml/2006/main">
            <a:r>
              <a:t>      "lodging_rate_pct": 12.4,</a:t>
            </a:r>
          </a:p>
          <a:p xmlns:a="http://schemas.openxmlformats.org/drawingml/2006/main">
            <a:r>
              <a:t>      "lodging_searches": 48286,</a:t>
            </a:r>
          </a:p>
          <a:p xmlns:a="http://schemas.openxmlformats.org/drawingml/2006/main">
            <a:r>
              <a:t>      "navigation_searches": 352852,</a:t>
            </a:r>
          </a:p>
          <a:p xmlns:a="http://schemas.openxmlformats.org/drawingml/2006/main">
            <a:r>
              <a:t>      "visitor_yoy_percent": 4.18,</a:t>
            </a:r>
          </a:p>
          <a:p xmlns:a="http://schemas.openxmlformats.org/drawingml/2006/main">
            <a:r>
              <a:t>      "spending_yoy_percent": 41.26,</a:t>
            </a:r>
          </a:p>
          <a:p xmlns:a="http://schemas.openxmlformats.org/drawingml/2006/main">
            <a:r>
              <a:t>      "metric_changes_percent": {</a:t>
            </a:r>
          </a:p>
          <a:p xmlns:a="http://schemas.openxmlformats.org/drawingml/2006/main">
            <a:r>
              <a:t>        "stay_minutes": 0.0,</a:t>
            </a:r>
          </a:p>
          <a:p xmlns:a="http://schemas.openxmlformats.org/drawingml/2006/main">
            <a:r>
              <a:t>        "lodging_nights": 2.22,</a:t>
            </a:r>
          </a:p>
          <a:p xmlns:a="http://schemas.openxmlformats.org/drawingml/2006/main">
            <a:r>
              <a:t>        "lodging_rate_pct": 0.0,</a:t>
            </a:r>
          </a:p>
          <a:p xmlns:a="http://schemas.openxmlformats.org/drawingml/2006/main">
            <a:r>
              <a:t>        "lodging_searches": 21.22,</a:t>
            </a:r>
          </a:p>
          <a:p xmlns:a="http://schemas.openxmlformats.org/drawingml/2006/main">
            <a:r>
              <a:t>        "navigation_searches": 0.0</a:t>
            </a:r>
          </a:p>
          <a:p xmlns:a="http://schemas.openxmlformats.org/drawingml/2006/main">
            <a:r>
              <a:t>      },</a:t>
            </a:r>
          </a:p>
          <a:p xmlns:a="http://schemas.openxmlformats.org/drawingml/2006/main">
            <a:r>
              <a:t>      "previous_year_visitors": 2526699,</a:t>
            </a:r>
          </a:p>
          <a:p xmlns:a="http://schemas.openxmlformats.org/drawingml/2006/main">
            <a:r>
              <a:t>      "previous_year_spending_krw": 63675989000,</a:t>
            </a:r>
          </a:p>
          <a:p xmlns:a="http://schemas.openxmlformats.org/drawingml/2006/main">
            <a:r>
              <a:t>      "previous_year_stay_minutes": 1488.0,</a:t>
            </a:r>
          </a:p>
          <a:p xmlns:a="http://schemas.openxmlformats.org/drawingml/2006/main">
            <a:r>
              <a:t>      "previous_year_lodging_nights": 2.7,</a:t>
            </a:r>
          </a:p>
          <a:p xmlns:a="http://schemas.openxmlformats.org/drawingml/2006/main">
            <a:r>
              <a:t>      "previous_year_lodging_rate_pct": 12.4,</a:t>
            </a:r>
          </a:p>
          <a:p xmlns:a="http://schemas.openxmlformats.org/drawingml/2006/main">
            <a:r>
              <a:t>      "previous_year_lodging_searches": 39833,</a:t>
            </a:r>
          </a:p>
          <a:p xmlns:a="http://schemas.openxmlformats.org/drawingml/2006/main">
            <a:r>
              <a:t>      "previous_year_navigation_searches": 352852</a:t>
            </a:r>
          </a:p>
          <a:p xmlns:a="http://schemas.openxmlformats.org/drawingml/2006/main">
            <a:r>
              <a:t>    },</a:t>
            </a:r>
          </a:p>
          <a:p xmlns:a="http://schemas.openxmlformats.org/drawingml/2006/main">
            <a:r>
              <a:t>    {</a:t>
            </a:r>
          </a:p>
          <a:p xmlns:a="http://schemas.openxmlformats.org/drawingml/2006/main">
            <a:r>
              <a:t>      "month": "202612",</a:t>
            </a:r>
          </a:p>
          <a:p xmlns:a="http://schemas.openxmlformats.org/drawingml/2006/main">
            <a:r>
              <a:t>      "visitors": 2098615,</a:t>
            </a:r>
          </a:p>
          <a:p xmlns:a="http://schemas.openxmlformats.org/drawingml/2006/main">
            <a:r>
              <a:t>      "is_forecast": true,</a:t>
            </a:r>
          </a:p>
          <a:p xmlns:a="http://schemas.openxmlformats.org/drawingml/2006/main">
            <a:r>
              <a:t>      "spending_krw": 82896802464,</a:t>
            </a:r>
          </a:p>
          <a:p xmlns:a="http://schemas.openxmlformats.org/drawingml/2006/main">
            <a:r>
              <a:t>      "stay_minutes": 1866.0,</a:t>
            </a:r>
          </a:p>
          <a:p xmlns:a="http://schemas.openxmlformats.org/drawingml/2006/main">
            <a:r>
              <a:t>      "lodging_nights": 2.85,</a:t>
            </a:r>
          </a:p>
          <a:p xmlns:a="http://schemas.openxmlformats.org/drawingml/2006/main">
            <a:r>
              <a:t>      "lodging_rate_pct": 14.1,</a:t>
            </a:r>
          </a:p>
          <a:p xmlns:a="http://schemas.openxmlformats.org/drawingml/2006/main">
            <a:r>
              <a:t>      "lodging_searches": 28484,</a:t>
            </a:r>
          </a:p>
          <a:p xmlns:a="http://schemas.openxmlformats.org/drawingml/2006/main">
            <a:r>
              <a:t>      "navigation_searches": 221560,</a:t>
            </a:r>
          </a:p>
          <a:p xmlns:a="http://schemas.openxmlformats.org/drawingml/2006/main">
            <a:r>
              <a:t>      "visitor_yoy_percent": -0.06,</a:t>
            </a:r>
          </a:p>
          <a:p xmlns:a="http://schemas.openxmlformats.org/drawingml/2006/main">
            <a:r>
              <a:t>      "spending_yoy_percent": 54.2,</a:t>
            </a:r>
          </a:p>
          <a:p xmlns:a="http://schemas.openxmlformats.org/drawingml/2006/main">
            <a:r>
              <a:t>      "metric_changes_percent": {</a:t>
            </a:r>
          </a:p>
          <a:p xmlns:a="http://schemas.openxmlformats.org/drawingml/2006/main">
            <a:r>
              <a:t>        "stay_minutes": 0.0,</a:t>
            </a:r>
          </a:p>
          <a:p xmlns:a="http://schemas.openxmlformats.org/drawingml/2006/main">
            <a:r>
              <a:t>        "lodging_nights": 2.15,</a:t>
            </a:r>
          </a:p>
          <a:p xmlns:a="http://schemas.openxmlformats.org/drawingml/2006/main">
            <a:r>
              <a:t>        "lodging_rate_pct": 0.0,</a:t>
            </a:r>
          </a:p>
          <a:p xmlns:a="http://schemas.openxmlformats.org/drawingml/2006/main">
            <a:r>
              <a:t>        "lodging_searches": -1.09,</a:t>
            </a:r>
          </a:p>
          <a:p xmlns:a="http://schemas.openxmlformats.org/drawingml/2006/main">
            <a:r>
              <a:t>        "navigation_searches": 0.0</a:t>
            </a:r>
          </a:p>
          <a:p xmlns:a="http://schemas.openxmlformats.org/drawingml/2006/main">
            <a:r>
              <a:t>      },</a:t>
            </a:r>
          </a:p>
          <a:p xmlns:a="http://schemas.openxmlformats.org/drawingml/2006/main">
            <a:r>
              <a:t>      "previous_year_visitors": 2099852,</a:t>
            </a:r>
          </a:p>
          <a:p xmlns:a="http://schemas.openxmlformats.org/drawingml/2006/main">
            <a:r>
              <a:t>      "previous_year_spending_krw": 53760591000,</a:t>
            </a:r>
          </a:p>
          <a:p xmlns:a="http://schemas.openxmlformats.org/drawingml/2006/main">
            <a:r>
              <a:t>      "previous_year_stay_minutes": 1866.0,</a:t>
            </a:r>
          </a:p>
          <a:p xmlns:a="http://schemas.openxmlformats.org/drawingml/2006/main">
            <a:r>
              <a:t>      "previous_year_lodging_nights": 2.79,</a:t>
            </a:r>
          </a:p>
          <a:p xmlns:a="http://schemas.openxmlformats.org/drawingml/2006/main">
            <a:r>
              <a:t>      "previous_year_lodging_rate_pct": 14.1,</a:t>
            </a:r>
          </a:p>
          <a:p xmlns:a="http://schemas.openxmlformats.org/drawingml/2006/main">
            <a:r>
              <a:t>      "previous_year_lodging_searches": 28798,</a:t>
            </a:r>
          </a:p>
          <a:p xmlns:a="http://schemas.openxmlformats.org/drawingml/2006/main">
            <a:r>
              <a:t>      "previous_year_navigation_searches": 221560</a:t>
            </a:r>
          </a:p>
          <a:p xmlns:a="http://schemas.openxmlformats.org/drawingml/2006/main">
            <a:r>
              <a:t>    },</a:t>
            </a:r>
          </a:p>
          <a:p xmlns:a="http://schemas.openxmlformats.org/drawingml/2006/main">
            <a:r>
              <a:t>    {</a:t>
            </a:r>
          </a:p>
          <a:p xmlns:a="http://schemas.openxmlformats.org/drawingml/2006/main">
            <a:r>
              <a:t>      "month": "202701",</a:t>
            </a:r>
          </a:p>
          <a:p xmlns:a="http://schemas.openxmlformats.org/drawingml/2006/main">
            <a:r>
              <a:t>      "visitors": 2042060,</a:t>
            </a:r>
          </a:p>
          <a:p xmlns:a="http://schemas.openxmlformats.org/drawingml/2006/main">
            <a:r>
              <a:t>      "is_forecast": true,</a:t>
            </a:r>
          </a:p>
          <a:p xmlns:a="http://schemas.openxmlformats.org/drawingml/2006/main">
            <a:r>
              <a:t>      "spending_krw": 92579612143,</a:t>
            </a:r>
          </a:p>
          <a:p xmlns:a="http://schemas.openxmlformats.org/drawingml/2006/main">
            <a:r>
              <a:t>      "stay_minutes": 1936.0,</a:t>
            </a:r>
          </a:p>
          <a:p xmlns:a="http://schemas.openxmlformats.org/drawingml/2006/main">
            <a:r>
              <a:t>      "lodging_nights": 2.87,</a:t>
            </a:r>
          </a:p>
          <a:p xmlns:a="http://schemas.openxmlformats.org/drawingml/2006/main">
            <a:r>
              <a:t>      "lodging_rate_pct": 13.7,</a:t>
            </a:r>
          </a:p>
          <a:p xmlns:a="http://schemas.openxmlformats.org/drawingml/2006/main">
            <a:r>
              <a:t>      "lodging_searches": 26563,</a:t>
            </a:r>
          </a:p>
          <a:p xmlns:a="http://schemas.openxmlformats.org/drawingml/2006/main">
            <a:r>
              <a:t>      "navigation_searches": 205632,</a:t>
            </a:r>
          </a:p>
          <a:p xmlns:a="http://schemas.openxmlformats.org/drawingml/2006/main">
            <a:r>
              <a:t>      "visitor_yoy_percent": -2.23,</a:t>
            </a:r>
          </a:p>
          <a:p xmlns:a="http://schemas.openxmlformats.org/drawingml/2006/main">
            <a:r>
              <a:t>      "spending_yoy_percent": 80.91,</a:t>
            </a:r>
          </a:p>
          <a:p xmlns:a="http://schemas.openxmlformats.org/drawingml/2006/main">
            <a:r>
              <a:t>      "metric_changes_percent": {</a:t>
            </a:r>
          </a:p>
          <a:p xmlns:a="http://schemas.openxmlformats.org/drawingml/2006/main">
            <a:r>
              <a:t>        "stay_minutes": 0.0,</a:t>
            </a:r>
          </a:p>
          <a:p xmlns:a="http://schemas.openxmlformats.org/drawingml/2006/main">
            <a:r>
              <a:t>        "lodging_nights": 1.06,</a:t>
            </a:r>
          </a:p>
          <a:p xmlns:a="http://schemas.openxmlformats.org/drawingml/2006/main">
            <a:r>
              <a:t>        "lodging_rate_pct": 0.0,</a:t>
            </a:r>
          </a:p>
          <a:p xmlns:a="http://schemas.openxmlformats.org/drawingml/2006/main">
            <a:r>
              <a:t>        "lodging_searches": -0.09,</a:t>
            </a:r>
          </a:p>
          <a:p xmlns:a="http://schemas.openxmlformats.org/drawingml/2006/main">
            <a:r>
              <a:t>        "navigation_searches": 0.0</a:t>
            </a:r>
          </a:p>
          <a:p xmlns:a="http://schemas.openxmlformats.org/drawingml/2006/main">
            <a:r>
              <a:t>      },</a:t>
            </a:r>
          </a:p>
          <a:p xmlns:a="http://schemas.openxmlformats.org/drawingml/2006/main">
            <a:r>
              <a:t>      "previous_year_visitors": 2088569,</a:t>
            </a:r>
          </a:p>
          <a:p xmlns:a="http://schemas.openxmlformats.org/drawingml/2006/main">
            <a:r>
              <a:t>      "previous_year_spending_krw": 51173582000,</a:t>
            </a:r>
          </a:p>
          <a:p xmlns:a="http://schemas.openxmlformats.org/drawingml/2006/main">
            <a:r>
              <a:t>      "previous_year_stay_minutes": 1936.0,</a:t>
            </a:r>
          </a:p>
          <a:p xmlns:a="http://schemas.openxmlformats.org/drawingml/2006/main">
            <a:r>
              <a:t>      "previous_year_lodging_nights": 2.84,</a:t>
            </a:r>
          </a:p>
          <a:p xmlns:a="http://schemas.openxmlformats.org/drawingml/2006/main">
            <a:r>
              <a:t>      "previous_year_lodging_rate_pct": 13.7,</a:t>
            </a:r>
          </a:p>
          <a:p xmlns:a="http://schemas.openxmlformats.org/drawingml/2006/main">
            <a:r>
              <a:t>      "previous_year_lodging_searches": 26588,</a:t>
            </a:r>
          </a:p>
          <a:p xmlns:a="http://schemas.openxmlformats.org/drawingml/2006/main">
            <a:r>
              <a:t>      "previous_year_navigation_searches": 205632</a:t>
            </a:r>
          </a:p>
          <a:p xmlns:a="http://schemas.openxmlformats.org/drawingml/2006/main">
            <a:r>
              <a:t>    },</a:t>
            </a:r>
          </a:p>
          <a:p xmlns:a="http://schemas.openxmlformats.org/drawingml/2006/main">
            <a:r>
              <a:t>    {</a:t>
            </a:r>
          </a:p>
          <a:p xmlns:a="http://schemas.openxmlformats.org/drawingml/2006/main">
            <a:r>
              <a:t>      "month": "202702",</a:t>
            </a:r>
          </a:p>
          <a:p xmlns:a="http://schemas.openxmlformats.org/drawingml/2006/main">
            <a:r>
              <a:t>      "visitors": 2227050,</a:t>
            </a:r>
          </a:p>
          <a:p xmlns:a="http://schemas.openxmlformats.org/drawingml/2006/main">
            <a:r>
              <a:t>      "is_forecast": true,</a:t>
            </a:r>
          </a:p>
          <a:p xmlns:a="http://schemas.openxmlformats.org/drawingml/2006/main">
            <a:r>
              <a:t>      "spending_krw": 103534829257,</a:t>
            </a:r>
          </a:p>
          <a:p xmlns:a="http://schemas.openxmlformats.org/drawingml/2006/main">
            <a:r>
              <a:t>      "stay_minutes": 1714.0,</a:t>
            </a:r>
          </a:p>
          <a:p xmlns:a="http://schemas.openxmlformats.org/drawingml/2006/main">
            <a:r>
              <a:t>      "lodging_nights": 2.82,</a:t>
            </a:r>
          </a:p>
          <a:p xmlns:a="http://schemas.openxmlformats.org/drawingml/2006/main">
            <a:r>
              <a:t>      "lodging_rate_pct": 15.7,</a:t>
            </a:r>
          </a:p>
          <a:p xmlns:a="http://schemas.openxmlformats.org/drawingml/2006/main">
            <a:r>
              <a:t>      "lodging_searches": 25082,</a:t>
            </a:r>
          </a:p>
          <a:p xmlns:a="http://schemas.openxmlformats.org/drawingml/2006/main">
            <a:r>
              <a:t>      "navigation_searches": 210385,</a:t>
            </a:r>
          </a:p>
          <a:p xmlns:a="http://schemas.openxmlformats.org/drawingml/2006/main">
            <a:r>
              <a:t>      "visitor_yoy_percent": 3.2,</a:t>
            </a:r>
          </a:p>
          <a:p xmlns:a="http://schemas.openxmlformats.org/drawingml/2006/main">
            <a:r>
              <a:t>      "spending_yoy_percent": 104.79,</a:t>
            </a:r>
          </a:p>
          <a:p xmlns:a="http://schemas.openxmlformats.org/drawingml/2006/main">
            <a:r>
              <a:t>      "metric_changes_percent": {</a:t>
            </a:r>
          </a:p>
          <a:p xmlns:a="http://schemas.openxmlformats.org/drawingml/2006/main">
            <a:r>
              <a:t>        "stay_minutes": 0.0,</a:t>
            </a:r>
          </a:p>
          <a:p xmlns:a="http://schemas.openxmlformats.org/drawingml/2006/main">
            <a:r>
              <a:t>        "lodging_nights": 0.36,</a:t>
            </a:r>
          </a:p>
          <a:p xmlns:a="http://schemas.openxmlformats.org/drawingml/2006/main">
            <a:r>
              <a:t>        "lodging_rate_pct": 0.0,</a:t>
            </a:r>
          </a:p>
          <a:p xmlns:a="http://schemas.openxmlformats.org/drawingml/2006/main">
            <a:r>
              <a:t>        "lodging_searches": 2.79,</a:t>
            </a:r>
          </a:p>
          <a:p xmlns:a="http://schemas.openxmlformats.org/drawingml/2006/main">
            <a:r>
              <a:t>        "navigation_searches": 0.0</a:t>
            </a:r>
          </a:p>
          <a:p xmlns:a="http://schemas.openxmlformats.org/drawingml/2006/main">
            <a:r>
              <a:t>      },</a:t>
            </a:r>
          </a:p>
          <a:p xmlns:a="http://schemas.openxmlformats.org/drawingml/2006/main">
            <a:r>
              <a:t>      "previous_year_visitors": 2157943,</a:t>
            </a:r>
          </a:p>
          <a:p xmlns:a="http://schemas.openxmlformats.org/drawingml/2006/main">
            <a:r>
              <a:t>      "previous_year_spending_krw": 50557418000,</a:t>
            </a:r>
          </a:p>
          <a:p xmlns:a="http://schemas.openxmlformats.org/drawingml/2006/main">
            <a:r>
              <a:t>      "previous_year_stay_minutes": 1714.0,</a:t>
            </a:r>
          </a:p>
          <a:p xmlns:a="http://schemas.openxmlformats.org/drawingml/2006/main">
            <a:r>
              <a:t>      "previous_year_lodging_nights": 2.81,</a:t>
            </a:r>
          </a:p>
          <a:p xmlns:a="http://schemas.openxmlformats.org/drawingml/2006/main">
            <a:r>
              <a:t>      "previous_year_lodging_rate_pct": 15.7,</a:t>
            </a:r>
          </a:p>
          <a:p xmlns:a="http://schemas.openxmlformats.org/drawingml/2006/main">
            <a:r>
              <a:t>      "previous_year_lodging_searches": 24402,</a:t>
            </a:r>
          </a:p>
          <a:p xmlns:a="http://schemas.openxmlformats.org/drawingml/2006/main">
            <a:r>
              <a:t>      "previous_year_navigation_searches": 210385</a:t>
            </a:r>
          </a:p>
          <a:p xmlns:a="http://schemas.openxmlformats.org/drawingml/2006/main">
            <a:r>
              <a:t>    }</a:t>
            </a:r>
          </a:p>
          <a:p xmlns:a="http://schemas.openxmlformats.org/drawingml/2006/main">
            <a:r>
              <a:t>  ],</a:t>
            </a:r>
          </a:p>
          <a:p xmlns:a="http://schemas.openxmlformats.org/drawingml/2006/main">
            <a:r>
              <a:t>  "evaluation": {</a:t>
            </a:r>
          </a:p>
          <a:p xmlns:a="http://schemas.openxmlformats.org/drawingml/2006/main">
            <a:r>
              <a:t>    "metrics": {</a:t>
            </a:r>
          </a:p>
          <a:p xmlns:a="http://schemas.openxmlformats.org/drawingml/2006/main">
            <a:r>
              <a:t>      "visitors": {</a:t>
            </a:r>
          </a:p>
          <a:p xmlns:a="http://schemas.openxmlformats.org/drawingml/2006/main">
            <a:r>
              <a:t>        "test_mae": 103646.64,</a:t>
            </a:r>
          </a:p>
          <a:p xmlns:a="http://schemas.openxmlformats.org/drawingml/2006/main">
            <a:r>
              <a:t>        "recursive_mae": {</a:t>
            </a:r>
          </a:p>
          <a:p xmlns:a="http://schemas.openxmlformats.org/drawingml/2006/main">
            <a:r>
              <a:t>          "1": {</a:t>
            </a:r>
          </a:p>
          <a:p xmlns:a="http://schemas.openxmlformats.org/drawingml/2006/main">
            <a:r>
              <a:t>            "baseline": 123311.5,</a:t>
            </a:r>
          </a:p>
          <a:p xmlns:a="http://schemas.openxmlformats.org/drawingml/2006/main">
            <a:r>
              <a:t>            "selected": 95222.0,</a:t>
            </a:r>
          </a:p>
          <a:p xmlns:a="http://schemas.openxmlformats.org/drawingml/2006/main">
            <a:r>
              <a:t>            "sample_count": 2</a:t>
            </a:r>
          </a:p>
          <a:p xmlns:a="http://schemas.openxmlformats.org/drawingml/2006/main">
            <a:r>
              <a:t>          },</a:t>
            </a:r>
          </a:p>
          <a:p xmlns:a="http://schemas.openxmlformats.org/drawingml/2006/main">
            <a:r>
              <a:t>          "2": {</a:t>
            </a:r>
          </a:p>
          <a:p xmlns:a="http://schemas.openxmlformats.org/drawingml/2006/main">
            <a:r>
              <a:t>            "baseline": 90511.0,</a:t>
            </a:r>
          </a:p>
          <a:p xmlns:a="http://schemas.openxmlformats.org/drawingml/2006/main">
            <a:r>
              <a:t>            "selected": 105947.5,</a:t>
            </a:r>
          </a:p>
          <a:p xmlns:a="http://schemas.openxmlformats.org/drawingml/2006/main">
            <a:r>
              <a:t>            "sample_count": 2</a:t>
            </a:r>
          </a:p>
          <a:p xmlns:a="http://schemas.openxmlformats.org/drawingml/2006/main">
            <a:r>
              <a:t>          },</a:t>
            </a:r>
          </a:p>
          <a:p xmlns:a="http://schemas.openxmlformats.org/drawingml/2006/main">
            <a:r>
              <a:t>          "3": {</a:t>
            </a:r>
          </a:p>
          <a:p xmlns:a="http://schemas.openxmlformats.org/drawingml/2006/main">
            <a:r>
              <a:t>            "baseline": 61165.0,</a:t>
            </a:r>
          </a:p>
          <a:p xmlns:a="http://schemas.openxmlformats.org/drawingml/2006/main">
            <a:r>
              <a:t>            "selected": 93227.0,</a:t>
            </a:r>
          </a:p>
          <a:p xmlns:a="http://schemas.openxmlformats.org/drawingml/2006/main">
            <a:r>
              <a:t>            "sample_count": 2</a:t>
            </a:r>
          </a:p>
          <a:p xmlns:a="http://schemas.openxmlformats.org/drawingml/2006/main">
            <a:r>
              <a:t>          }</a:t>
            </a:r>
          </a:p>
          <a:p xmlns:a="http://schemas.openxmlformats.org/drawingml/2006/main">
            <a:r>
              <a:t>        },</a:t>
            </a:r>
          </a:p>
          <a:p xmlns:a="http://schemas.openxmlformats.org/drawingml/2006/main">
            <a:r>
              <a:t>        "selected_model": "RandomForestRegressor",</a:t>
            </a:r>
          </a:p>
          <a:p xmlns:a="http://schemas.openxmlformats.org/drawingml/2006/main">
            <a:r>
              <a:t>        "baseline_test_mae": 92238.25,</a:t>
            </a:r>
          </a:p>
          <a:p xmlns:a="http://schemas.openxmlformats.org/drawingml/2006/main">
            <a:r>
              <a:t>        "model_reliability": "below_baseline_on_test",</a:t>
            </a:r>
          </a:p>
          <a:p xmlns:a="http://schemas.openxmlformats.org/drawingml/2006/main">
            <a:r>
              <a:t>        "beats_baseline_on_test": false,</a:t>
            </a:r>
          </a:p>
          <a:p xmlns:a="http://schemas.openxmlformats.org/drawingml/2006/main">
            <a:r>
              <a:t>        "recursive_horizons_worse_than_baseline": [</a:t>
            </a:r>
          </a:p>
          <a:p xmlns:a="http://schemas.openxmlformats.org/drawingml/2006/main">
            <a:r>
              <a:t>          "2",</a:t>
            </a:r>
          </a:p>
          <a:p xmlns:a="http://schemas.openxmlformats.org/drawingml/2006/main">
            <a:r>
              <a:t>          "3"</a:t>
            </a:r>
          </a:p>
          <a:p xmlns:a="http://schemas.openxmlformats.org/drawingml/2006/main">
            <a:r>
              <a:t>        ]</a:t>
            </a:r>
          </a:p>
          <a:p xmlns:a="http://schemas.openxmlformats.org/drawingml/2006/main">
            <a:r>
              <a:t>      },</a:t>
            </a:r>
          </a:p>
          <a:p xmlns:a="http://schemas.openxmlformats.org/drawingml/2006/main">
            <a:r>
              <a:t>      "spending_krw": {</a:t>
            </a:r>
          </a:p>
          <a:p xmlns:a="http://schemas.openxmlformats.org/drawingml/2006/main">
            <a:r>
              <a:t>        "test_mae": 8003403761.33,</a:t>
            </a:r>
          </a:p>
          <a:p xmlns:a="http://schemas.openxmlformats.org/drawingml/2006/main">
            <a:r>
              <a:t>        "recursive_mae": {</a:t>
            </a:r>
          </a:p>
          <a:p xmlns:a="http://schemas.openxmlformats.org/drawingml/2006/main">
            <a:r>
              <a:t>          "1": {</a:t>
            </a:r>
          </a:p>
          <a:p xmlns:a="http://schemas.openxmlformats.org/drawingml/2006/main">
            <a:r>
              <a:t>            "baseline": 5076101500.0,</a:t>
            </a:r>
          </a:p>
          <a:p xmlns:a="http://schemas.openxmlformats.org/drawingml/2006/main">
            <a:r>
              <a:t>            "selected": 7122970056.0,</a:t>
            </a:r>
          </a:p>
          <a:p xmlns:a="http://schemas.openxmlformats.org/drawingml/2006/main">
            <a:r>
              <a:t>            "sample_count": 2</a:t>
            </a:r>
          </a:p>
          <a:p xmlns:a="http://schemas.openxmlformats.org/drawingml/2006/main">
            <a:r>
              <a:t>          },</a:t>
            </a:r>
          </a:p>
          <a:p xmlns:a="http://schemas.openxmlformats.org/drawingml/2006/main">
            <a:r>
              <a:t>          "2": {</a:t>
            </a:r>
          </a:p>
          <a:p xmlns:a="http://schemas.openxmlformats.org/drawingml/2006/main">
            <a:r>
              <a:t>            "baseline": 6206652500.0,</a:t>
            </a:r>
          </a:p>
          <a:p xmlns:a="http://schemas.openxmlformats.org/drawingml/2006/main">
            <a:r>
              <a:t>            "selected": 11322988654.0,</a:t>
            </a:r>
          </a:p>
          <a:p xmlns:a="http://schemas.openxmlformats.org/drawingml/2006/main">
            <a:r>
              <a:t>            "sample_count": 2</a:t>
            </a:r>
          </a:p>
          <a:p xmlns:a="http://schemas.openxmlformats.org/drawingml/2006/main">
            <a:r>
              <a:t>          },</a:t>
            </a:r>
          </a:p>
          <a:p xmlns:a="http://schemas.openxmlformats.org/drawingml/2006/main">
            <a:r>
              <a:t>          "3": {</a:t>
            </a:r>
          </a:p>
          <a:p xmlns:a="http://schemas.openxmlformats.org/drawingml/2006/main">
            <a:r>
              <a:t>            "baseline": 4379312000.0,</a:t>
            </a:r>
          </a:p>
          <a:p xmlns:a="http://schemas.openxmlformats.org/drawingml/2006/main">
            <a:r>
              <a:t>            "selected": 12415950624.0,</a:t>
            </a:r>
          </a:p>
          <a:p xmlns:a="http://schemas.openxmlformats.org/drawingml/2006/main">
            <a:r>
              <a:t>            "sample_count": 2</a:t>
            </a:r>
          </a:p>
          <a:p xmlns:a="http://schemas.openxmlformats.org/drawingml/2006/main">
            <a:r>
              <a:t>          }</a:t>
            </a:r>
          </a:p>
          <a:p xmlns:a="http://schemas.openxmlformats.org/drawingml/2006/main">
            <a:r>
              <a:t>        },</a:t>
            </a:r>
          </a:p>
          <a:p xmlns:a="http://schemas.openxmlformats.org/drawingml/2006/main">
            <a:r>
              <a:t>        "selected_model": "LinearRegression",</a:t>
            </a:r>
          </a:p>
          <a:p xmlns:a="http://schemas.openxmlformats.org/drawingml/2006/main">
            <a:r>
              <a:t>        "baseline_test_mae": 4727706750.0,</a:t>
            </a:r>
          </a:p>
          <a:p xmlns:a="http://schemas.openxmlformats.org/drawingml/2006/main">
            <a:r>
              <a:t>        "model_reliability": "below_baseline_on_test",</a:t>
            </a:r>
          </a:p>
          <a:p xmlns:a="http://schemas.openxmlformats.org/drawingml/2006/main">
            <a:r>
              <a:t>        "beats_baseline_on_test": false,</a:t>
            </a:r>
          </a:p>
          <a:p xmlns:a="http://schemas.openxmlformats.org/drawingml/2006/main">
            <a:r>
              <a:t>        "recursive_horizons_worse_than_baseline": [</a:t>
            </a:r>
          </a:p>
          <a:p xmlns:a="http://schemas.openxmlformats.org/drawingml/2006/main">
            <a:r>
              <a:t>          "1",</a:t>
            </a:r>
          </a:p>
          <a:p xmlns:a="http://schemas.openxmlformats.org/drawingml/2006/main">
            <a:r>
              <a:t>          "2",</a:t>
            </a:r>
          </a:p>
          <a:p xmlns:a="http://schemas.openxmlformats.org/drawingml/2006/main">
            <a:r>
              <a:t>          "3"</a:t>
            </a:r>
          </a:p>
          <a:p xmlns:a="http://schemas.openxmlformats.org/drawingml/2006/main">
            <a:r>
              <a:t>        ]</a:t>
            </a:r>
          </a:p>
          <a:p xmlns:a="http://schemas.openxmlformats.org/drawingml/2006/main">
            <a:r>
              <a:t>      },</a:t>
            </a:r>
          </a:p>
          <a:p xmlns:a="http://schemas.openxmlformats.org/drawingml/2006/main">
            <a:r>
              <a:t>      "stay_minutes": {</a:t>
            </a:r>
          </a:p>
          <a:p xmlns:a="http://schemas.openxmlformats.org/drawingml/2006/main">
            <a:r>
              <a:t>        "test_mae": 208.5,</a:t>
            </a:r>
          </a:p>
          <a:p xmlns:a="http://schemas.openxmlformats.org/drawingml/2006/main">
            <a:r>
              <a:t>        "recursive_mae": {</a:t>
            </a:r>
          </a:p>
          <a:p xmlns:a="http://schemas.openxmlformats.org/drawingml/2006/main">
            <a:r>
              <a:t>          "1": {</a:t>
            </a:r>
          </a:p>
          <a:p xmlns:a="http://schemas.openxmlformats.org/drawingml/2006/main">
            <a:r>
              <a:t>            "baseline": 107.5,</a:t>
            </a:r>
          </a:p>
          <a:p xmlns:a="http://schemas.openxmlformats.org/drawingml/2006/main">
            <a:r>
              <a:t>            "selected": 107.5,</a:t>
            </a:r>
          </a:p>
          <a:p xmlns:a="http://schemas.openxmlformats.org/drawingml/2006/main">
            <a:r>
              <a:t>            "sample_count": 2</a:t>
            </a:r>
          </a:p>
          <a:p xmlns:a="http://schemas.openxmlformats.org/drawingml/2006/main">
            <a:r>
              <a:t>          },</a:t>
            </a:r>
          </a:p>
          <a:p xmlns:a="http://schemas.openxmlformats.org/drawingml/2006/main">
            <a:r>
              <a:t>          "2": {</a:t>
            </a:r>
          </a:p>
          <a:p xmlns:a="http://schemas.openxmlformats.org/drawingml/2006/main">
            <a:r>
              <a:t>            "baseline": 360.0,</a:t>
            </a:r>
          </a:p>
          <a:p xmlns:a="http://schemas.openxmlformats.org/drawingml/2006/main">
            <a:r>
              <a:t>            "selected": 360.0,</a:t>
            </a:r>
          </a:p>
          <a:p xmlns:a="http://schemas.openxmlformats.org/drawingml/2006/main">
            <a:r>
              <a:t>            "sample_count": 2</a:t>
            </a:r>
          </a:p>
          <a:p xmlns:a="http://schemas.openxmlformats.org/drawingml/2006/main">
            <a:r>
              <a:t>          },</a:t>
            </a:r>
          </a:p>
          <a:p xmlns:a="http://schemas.openxmlformats.org/drawingml/2006/main">
            <a:r>
              <a:t>          "3": {</a:t>
            </a:r>
          </a:p>
          <a:p xmlns:a="http://schemas.openxmlformats.org/drawingml/2006/main">
            <a:r>
              <a:t>            "baseline": 309.5,</a:t>
            </a:r>
          </a:p>
          <a:p xmlns:a="http://schemas.openxmlformats.org/drawingml/2006/main">
            <a:r>
              <a:t>            "selected": 309.5,</a:t>
            </a:r>
          </a:p>
          <a:p xmlns:a="http://schemas.openxmlformats.org/drawingml/2006/main">
            <a:r>
              <a:t>            "sample_count": 2</a:t>
            </a:r>
          </a:p>
          <a:p xmlns:a="http://schemas.openxmlformats.org/drawingml/2006/main">
            <a:r>
              <a:t>          }</a:t>
            </a:r>
          </a:p>
          <a:p xmlns:a="http://schemas.openxmlformats.org/drawingml/2006/main">
            <a:r>
              <a:t>        },</a:t>
            </a:r>
          </a:p>
          <a:p xmlns:a="http://schemas.openxmlformats.org/drawingml/2006/main">
            <a:r>
              <a:t>        "selected_model": "seasonal_naive_previous_year_same_month",</a:t>
            </a:r>
          </a:p>
          <a:p xmlns:a="http://schemas.openxmlformats.org/drawingml/2006/main">
            <a:r>
              <a:t>        "baseline_test_mae": 208.5,</a:t>
            </a:r>
          </a:p>
          <a:p xmlns:a="http://schemas.openxmlformats.org/drawingml/2006/main">
            <a:r>
              <a:t>        "model_reliability": "seasonal_baseline",</a:t>
            </a:r>
          </a:p>
          <a:p xmlns:a="http://schemas.openxmlformats.org/drawingml/2006/main">
            <a:r>
              <a:t>        "beats_baseline_on_test": false,</a:t>
            </a:r>
          </a:p>
          <a:p xmlns:a="http://schemas.openxmlformats.org/drawingml/2006/main">
            <a:r>
              <a:t>        "recursive_horizons_worse_than_baseline": []</a:t>
            </a:r>
          </a:p>
          <a:p xmlns:a="http://schemas.openxmlformats.org/drawingml/2006/main">
            <a:r>
              <a:t>      },</a:t>
            </a:r>
          </a:p>
          <a:p xmlns:a="http://schemas.openxmlformats.org/drawingml/2006/main">
            <a:r>
              <a:t>      "lodging_nights": {</a:t>
            </a:r>
          </a:p>
          <a:p xmlns:a="http://schemas.openxmlformats.org/drawingml/2006/main">
            <a:r>
              <a:t>        "test_mae": 0.1,</a:t>
            </a:r>
          </a:p>
          <a:p xmlns:a="http://schemas.openxmlformats.org/drawingml/2006/main">
            <a:r>
              <a:t>        "recursive_mae": {</a:t>
            </a:r>
          </a:p>
          <a:p xmlns:a="http://schemas.openxmlformats.org/drawingml/2006/main">
            <a:r>
              <a:t>          "1": {</a:t>
            </a:r>
          </a:p>
          <a:p xmlns:a="http://schemas.openxmlformats.org/drawingml/2006/main">
            <a:r>
              <a:t>            "baseline": 0.06,</a:t>
            </a:r>
          </a:p>
          <a:p xmlns:a="http://schemas.openxmlformats.org/drawingml/2006/main">
            <a:r>
              <a:t>            "selected": 0.09,</a:t>
            </a:r>
          </a:p>
          <a:p xmlns:a="http://schemas.openxmlformats.org/drawingml/2006/main">
            <a:r>
              <a:t>            "sample_count": 2</a:t>
            </a:r>
          </a:p>
          <a:p xmlns:a="http://schemas.openxmlformats.org/drawingml/2006/main">
            <a:r>
              <a:t>          },</a:t>
            </a:r>
          </a:p>
          <a:p xmlns:a="http://schemas.openxmlformats.org/drawingml/2006/main">
            <a:r>
              <a:t>          "2": {</a:t>
            </a:r>
          </a:p>
          <a:p xmlns:a="http://schemas.openxmlformats.org/drawingml/2006/main">
            <a:r>
              <a:t>            "baseline": 0.08,</a:t>
            </a:r>
          </a:p>
          <a:p xmlns:a="http://schemas.openxmlformats.org/drawingml/2006/main">
            <a:r>
              <a:t>            "selected": 0.11,</a:t>
            </a:r>
          </a:p>
          <a:p xmlns:a="http://schemas.openxmlformats.org/drawingml/2006/main">
            <a:r>
              <a:t>            "sample_count": 2</a:t>
            </a:r>
          </a:p>
          <a:p xmlns:a="http://schemas.openxmlformats.org/drawingml/2006/main">
            <a:r>
              <a:t>          },</a:t>
            </a:r>
          </a:p>
          <a:p xmlns:a="http://schemas.openxmlformats.org/drawingml/2006/main">
            <a:r>
              <a:t>          "3": {</a:t>
            </a:r>
          </a:p>
          <a:p xmlns:a="http://schemas.openxmlformats.org/drawingml/2006/main">
            <a:r>
              <a:t>            "baseline": 0.07,</a:t>
            </a:r>
          </a:p>
          <a:p xmlns:a="http://schemas.openxmlformats.org/drawingml/2006/main">
            <a:r>
              <a:t>            "selected": 0.11,</a:t>
            </a:r>
          </a:p>
          <a:p xmlns:a="http://schemas.openxmlformats.org/drawingml/2006/main">
            <a:r>
              <a:t>            "sample_count": 2</a:t>
            </a:r>
          </a:p>
          <a:p xmlns:a="http://schemas.openxmlformats.org/drawingml/2006/main">
            <a:r>
              <a:t>          }</a:t>
            </a:r>
          </a:p>
          <a:p xmlns:a="http://schemas.openxmlformats.org/drawingml/2006/main">
            <a:r>
              <a:t>        },</a:t>
            </a:r>
          </a:p>
          <a:p xmlns:a="http://schemas.openxmlformats.org/drawingml/2006/main">
            <a:r>
              <a:t>        "selected_model": "LinearRegression",</a:t>
            </a:r>
          </a:p>
          <a:p xmlns:a="http://schemas.openxmlformats.org/drawingml/2006/main">
            <a:r>
              <a:t>        "baseline_test_mae": 0.07,</a:t>
            </a:r>
          </a:p>
          <a:p xmlns:a="http://schemas.openxmlformats.org/drawingml/2006/main">
            <a:r>
              <a:t>        "model_reliability": "below_baseline_on_test",</a:t>
            </a:r>
          </a:p>
          <a:p xmlns:a="http://schemas.openxmlformats.org/drawingml/2006/main">
            <a:r>
              <a:t>        "beats_baseline_on_test": false,</a:t>
            </a:r>
          </a:p>
          <a:p xmlns:a="http://schemas.openxmlformats.org/drawingml/2006/main">
            <a:r>
              <a:t>        "recursive_horizons_worse_than_baseline": [</a:t>
            </a:r>
          </a:p>
          <a:p xmlns:a="http://schemas.openxmlformats.org/drawingml/2006/main">
            <a:r>
              <a:t>          "1",</a:t>
            </a:r>
          </a:p>
          <a:p xmlns:a="http://schemas.openxmlformats.org/drawingml/2006/main">
            <a:r>
              <a:t>          "2",</a:t>
            </a:r>
          </a:p>
          <a:p xmlns:a="http://schemas.openxmlformats.org/drawingml/2006/main">
            <a:r>
              <a:t>          "3"</a:t>
            </a:r>
          </a:p>
          <a:p xmlns:a="http://schemas.openxmlformats.org/drawingml/2006/main">
            <a:r>
              <a:t>        ]</a:t>
            </a:r>
          </a:p>
          <a:p xmlns:a="http://schemas.openxmlformats.org/drawingml/2006/main">
            <a:r>
              <a:t>      },</a:t>
            </a:r>
          </a:p>
          <a:p xmlns:a="http://schemas.openxmlformats.org/drawingml/2006/main">
            <a:r>
              <a:t>      "lodging_rate_pct": {</a:t>
            </a:r>
          </a:p>
          <a:p xmlns:a="http://schemas.openxmlformats.org/drawingml/2006/main">
            <a:r>
              <a:t>        "test_mae": 0.57,</a:t>
            </a:r>
          </a:p>
          <a:p xmlns:a="http://schemas.openxmlformats.org/drawingml/2006/main">
            <a:r>
              <a:t>        "recursive_mae": {</a:t>
            </a:r>
          </a:p>
          <a:p xmlns:a="http://schemas.openxmlformats.org/drawingml/2006/main">
            <a:r>
              <a:t>          "1": {</a:t>
            </a:r>
          </a:p>
          <a:p xmlns:a="http://schemas.openxmlformats.org/drawingml/2006/main">
            <a:r>
              <a:t>            "baseline": 0.8,</a:t>
            </a:r>
          </a:p>
          <a:p xmlns:a="http://schemas.openxmlformats.org/drawingml/2006/main">
            <a:r>
              <a:t>            "selected": 0.8,</a:t>
            </a:r>
          </a:p>
          <a:p xmlns:a="http://schemas.openxmlformats.org/drawingml/2006/main">
            <a:r>
              <a:t>            "sample_count": 2</a:t>
            </a:r>
          </a:p>
          <a:p xmlns:a="http://schemas.openxmlformats.org/drawingml/2006/main">
            <a:r>
              <a:t>          },</a:t>
            </a:r>
          </a:p>
          <a:p xmlns:a="http://schemas.openxmlformats.org/drawingml/2006/main">
            <a:r>
              <a:t>          "2": {</a:t>
            </a:r>
          </a:p>
          <a:p xmlns:a="http://schemas.openxmlformats.org/drawingml/2006/main">
            <a:r>
              <a:t>            "baseline": 0.3,</a:t>
            </a:r>
          </a:p>
          <a:p xmlns:a="http://schemas.openxmlformats.org/drawingml/2006/main">
            <a:r>
              <a:t>            "selected": 0.3,</a:t>
            </a:r>
          </a:p>
          <a:p xmlns:a="http://schemas.openxmlformats.org/drawingml/2006/main">
            <a:r>
              <a:t>            "sample_count": 2</a:t>
            </a:r>
          </a:p>
          <a:p xmlns:a="http://schemas.openxmlformats.org/drawingml/2006/main">
            <a:r>
              <a:t>          },</a:t>
            </a:r>
          </a:p>
          <a:p xmlns:a="http://schemas.openxmlformats.org/drawingml/2006/main">
            <a:r>
              <a:t>          "3": {</a:t>
            </a:r>
          </a:p>
          <a:p xmlns:a="http://schemas.openxmlformats.org/drawingml/2006/main">
            <a:r>
              <a:t>            "baseline": 0.35,</a:t>
            </a:r>
          </a:p>
          <a:p xmlns:a="http://schemas.openxmlformats.org/drawingml/2006/main">
            <a:r>
              <a:t>            "selected": 0.35,</a:t>
            </a:r>
          </a:p>
          <a:p xmlns:a="http://schemas.openxmlformats.org/drawingml/2006/main">
            <a:r>
              <a:t>            "sample_count": 2</a:t>
            </a:r>
          </a:p>
          <a:p xmlns:a="http://schemas.openxmlformats.org/drawingml/2006/main">
            <a:r>
              <a:t>          }</a:t>
            </a:r>
          </a:p>
          <a:p xmlns:a="http://schemas.openxmlformats.org/drawingml/2006/main">
            <a:r>
              <a:t>        },</a:t>
            </a:r>
          </a:p>
          <a:p xmlns:a="http://schemas.openxmlformats.org/drawingml/2006/main">
            <a:r>
              <a:t>        "selected_model": "seasonal_naive_previous_year_same_month",</a:t>
            </a:r>
          </a:p>
          <a:p xmlns:a="http://schemas.openxmlformats.org/drawingml/2006/main">
            <a:r>
              <a:t>        "baseline_test_mae": 0.57,</a:t>
            </a:r>
          </a:p>
          <a:p xmlns:a="http://schemas.openxmlformats.org/drawingml/2006/main">
            <a:r>
              <a:t>        "model_reliability": "seasonal_baseline",</a:t>
            </a:r>
          </a:p>
          <a:p xmlns:a="http://schemas.openxmlformats.org/drawingml/2006/main">
            <a:r>
              <a:t>        "beats_baseline_on_test": false,</a:t>
            </a:r>
          </a:p>
          <a:p xmlns:a="http://schemas.openxmlformats.org/drawingml/2006/main">
            <a:r>
              <a:t>        "recursive_horizons_worse_than_baseline": []</a:t>
            </a:r>
          </a:p>
          <a:p xmlns:a="http://schemas.openxmlformats.org/drawingml/2006/main">
            <a:r>
              <a:t>      },</a:t>
            </a:r>
          </a:p>
          <a:p xmlns:a="http://schemas.openxmlformats.org/drawingml/2006/main">
            <a:r>
              <a:t>      "lodging_searches": {</a:t>
            </a:r>
          </a:p>
          <a:p xmlns:a="http://schemas.openxmlformats.org/drawingml/2006/main">
            <a:r>
              <a:t>        "test_mae": 3695.69,</a:t>
            </a:r>
          </a:p>
          <a:p xmlns:a="http://schemas.openxmlformats.org/drawingml/2006/main">
            <a:r>
              <a:t>        "recursive_mae": {</a:t>
            </a:r>
          </a:p>
          <a:p xmlns:a="http://schemas.openxmlformats.org/drawingml/2006/main">
            <a:r>
              <a:t>          "1": {</a:t>
            </a:r>
          </a:p>
          <a:p xmlns:a="http://schemas.openxmlformats.org/drawingml/2006/main">
            <a:r>
              <a:t>            "baseline": 2404.0,</a:t>
            </a:r>
          </a:p>
          <a:p xmlns:a="http://schemas.openxmlformats.org/drawingml/2006/main">
            <a:r>
              <a:t>            "selected": 3550.0,</a:t>
            </a:r>
          </a:p>
          <a:p xmlns:a="http://schemas.openxmlformats.org/drawingml/2006/main">
            <a:r>
              <a:t>            "sample_count": 2</a:t>
            </a:r>
          </a:p>
          <a:p xmlns:a="http://schemas.openxmlformats.org/drawingml/2006/main">
            <a:r>
              <a:t>          },</a:t>
            </a:r>
          </a:p>
          <a:p xmlns:a="http://schemas.openxmlformats.org/drawingml/2006/main">
            <a:r>
              <a:t>          "2": {</a:t>
            </a:r>
          </a:p>
          <a:p xmlns:a="http://schemas.openxmlformats.org/drawingml/2006/main">
            <a:r>
              <a:t>            "baseline": 2584.5,</a:t>
            </a:r>
          </a:p>
          <a:p xmlns:a="http://schemas.openxmlformats.org/drawingml/2006/main">
            <a:r>
              <a:t>            "selected": 3318.0,</a:t>
            </a:r>
          </a:p>
          <a:p xmlns:a="http://schemas.openxmlformats.org/drawingml/2006/main">
            <a:r>
              <a:t>            "sample_count": 2</a:t>
            </a:r>
          </a:p>
          <a:p xmlns:a="http://schemas.openxmlformats.org/drawingml/2006/main">
            <a:r>
              <a:t>          },</a:t>
            </a:r>
          </a:p>
          <a:p xmlns:a="http://schemas.openxmlformats.org/drawingml/2006/main">
            <a:r>
              <a:t>          "3": {</a:t>
            </a:r>
          </a:p>
          <a:p xmlns:a="http://schemas.openxmlformats.org/drawingml/2006/main">
            <a:r>
              <a:t>            "baseline": 2765.5,</a:t>
            </a:r>
          </a:p>
          <a:p xmlns:a="http://schemas.openxmlformats.org/drawingml/2006/main">
            <a:r>
              <a:t>            "selected": 3897.5,</a:t>
            </a:r>
          </a:p>
          <a:p xmlns:a="http://schemas.openxmlformats.org/drawingml/2006/main">
            <a:r>
              <a:t>            "sample_count": 2</a:t>
            </a:r>
          </a:p>
          <a:p xmlns:a="http://schemas.openxmlformats.org/drawingml/2006/main">
            <a:r>
              <a:t>          }</a:t>
            </a:r>
          </a:p>
          <a:p xmlns:a="http://schemas.openxmlformats.org/drawingml/2006/main">
            <a:r>
              <a:t>        },</a:t>
            </a:r>
          </a:p>
          <a:p xmlns:a="http://schemas.openxmlformats.org/drawingml/2006/main">
            <a:r>
              <a:t>        "selected_model": "RandomForestRegressor",</a:t>
            </a:r>
          </a:p>
          <a:p xmlns:a="http://schemas.openxmlformats.org/drawingml/2006/main">
            <a:r>
              <a:t>        "baseline_test_mae": 2584.75,</a:t>
            </a:r>
          </a:p>
          <a:p xmlns:a="http://schemas.openxmlformats.org/drawingml/2006/main">
            <a:r>
              <a:t>        "model_reliability": "below_baseline_on_test",</a:t>
            </a:r>
          </a:p>
          <a:p xmlns:a="http://schemas.openxmlformats.org/drawingml/2006/main">
            <a:r>
              <a:t>        "beats_baseline_on_test": false,</a:t>
            </a:r>
          </a:p>
          <a:p xmlns:a="http://schemas.openxmlformats.org/drawingml/2006/main">
            <a:r>
              <a:t>        "recursive_horizons_worse_than_baseline": [</a:t>
            </a:r>
          </a:p>
          <a:p xmlns:a="http://schemas.openxmlformats.org/drawingml/2006/main">
            <a:r>
              <a:t>          "1",</a:t>
            </a:r>
          </a:p>
          <a:p xmlns:a="http://schemas.openxmlformats.org/drawingml/2006/main">
            <a:r>
              <a:t>          "2",</a:t>
            </a:r>
          </a:p>
          <a:p xmlns:a="http://schemas.openxmlformats.org/drawingml/2006/main">
            <a:r>
              <a:t>          "3"</a:t>
            </a:r>
          </a:p>
          <a:p xmlns:a="http://schemas.openxmlformats.org/drawingml/2006/main">
            <a:r>
              <a:t>        ]</a:t>
            </a:r>
          </a:p>
          <a:p xmlns:a="http://schemas.openxmlformats.org/drawingml/2006/main">
            <a:r>
              <a:t>      },</a:t>
            </a:r>
          </a:p>
          <a:p xmlns:a="http://schemas.openxmlformats.org/drawingml/2006/main">
            <a:r>
              <a:t>      "navigation_searches": {</a:t>
            </a:r>
          </a:p>
          <a:p xmlns:a="http://schemas.openxmlformats.org/drawingml/2006/main">
            <a:r>
              <a:t>        "test_mae": 26562.0,</a:t>
            </a:r>
          </a:p>
          <a:p xmlns:a="http://schemas.openxmlformats.org/drawingml/2006/main">
            <a:r>
              <a:t>        "recursive_mae": {</a:t>
            </a:r>
          </a:p>
          <a:p xmlns:a="http://schemas.openxmlformats.org/drawingml/2006/main">
            <a:r>
              <a:t>          "1": {</a:t>
            </a:r>
          </a:p>
          <a:p xmlns:a="http://schemas.openxmlformats.org/drawingml/2006/main">
            <a:r>
              <a:t>            "baseline": 30053.5,</a:t>
            </a:r>
          </a:p>
          <a:p xmlns:a="http://schemas.openxmlformats.org/drawingml/2006/main">
            <a:r>
              <a:t>            "selected": 30053.5,</a:t>
            </a:r>
          </a:p>
          <a:p xmlns:a="http://schemas.openxmlformats.org/drawingml/2006/main">
            <a:r>
              <a:t>            "sample_count": 2</a:t>
            </a:r>
          </a:p>
          <a:p xmlns:a="http://schemas.openxmlformats.org/drawingml/2006/main">
            <a:r>
              <a:t>          },</a:t>
            </a:r>
          </a:p>
          <a:p xmlns:a="http://schemas.openxmlformats.org/drawingml/2006/main">
            <a:r>
              <a:t>          "2": {</a:t>
            </a:r>
          </a:p>
          <a:p xmlns:a="http://schemas.openxmlformats.org/drawingml/2006/main">
            <a:r>
              <a:t>            "baseline": 40942.5,</a:t>
            </a:r>
          </a:p>
          <a:p xmlns:a="http://schemas.openxmlformats.org/drawingml/2006/main">
            <a:r>
              <a:t>            "selected": 40942.5,</a:t>
            </a:r>
          </a:p>
          <a:p xmlns:a="http://schemas.openxmlformats.org/drawingml/2006/main">
            <a:r>
              <a:t>            "sample_count": 2</a:t>
            </a:r>
          </a:p>
          <a:p xmlns:a="http://schemas.openxmlformats.org/drawingml/2006/main">
            <a:r>
              <a:t>          },</a:t>
            </a:r>
          </a:p>
          <a:p xmlns:a="http://schemas.openxmlformats.org/drawingml/2006/main">
            <a:r>
              <a:t>          "3": {</a:t>
            </a:r>
          </a:p>
          <a:p xmlns:a="http://schemas.openxmlformats.org/drawingml/2006/main">
            <a:r>
              <a:t>            "baseline": 23070.5,</a:t>
            </a:r>
          </a:p>
          <a:p xmlns:a="http://schemas.openxmlformats.org/drawingml/2006/main">
            <a:r>
              <a:t>            "selected": 23070.5,</a:t>
            </a:r>
          </a:p>
          <a:p xmlns:a="http://schemas.openxmlformats.org/drawingml/2006/main">
            <a:r>
              <a:t>            "sample_count": 2</a:t>
            </a:r>
          </a:p>
          <a:p xmlns:a="http://schemas.openxmlformats.org/drawingml/2006/main">
            <a:r>
              <a:t>          }</a:t>
            </a:r>
          </a:p>
          <a:p xmlns:a="http://schemas.openxmlformats.org/drawingml/2006/main">
            <a:r>
              <a:t>        },</a:t>
            </a:r>
          </a:p>
          <a:p xmlns:a="http://schemas.openxmlformats.org/drawingml/2006/main">
            <a:r>
              <a:t>        "selected_model": "seasonal_naive_previous_year_same_month",</a:t>
            </a:r>
          </a:p>
          <a:p xmlns:a="http://schemas.openxmlformats.org/drawingml/2006/main">
            <a:r>
              <a:t>        "baseline_test_mae": 26562.0,</a:t>
            </a:r>
          </a:p>
          <a:p xmlns:a="http://schemas.openxmlformats.org/drawingml/2006/main">
            <a:r>
              <a:t>        "model_reliability": "seasonal_baseline",</a:t>
            </a:r>
          </a:p>
          <a:p xmlns:a="http://schemas.openxmlformats.org/drawingml/2006/main">
            <a:r>
              <a:t>        "beats_baseline_on_test": false,</a:t>
            </a:r>
          </a:p>
          <a:p xmlns:a="http://schemas.openxmlformats.org/drawingml/2006/main">
            <a:r>
              <a:t>        "recursive_horizons_worse_than_baseline": []</a:t>
            </a:r>
          </a:p>
          <a:p xmlns:a="http://schemas.openxmlformats.org/drawingml/2006/main">
            <a:r>
              <a:t>      }</a:t>
            </a:r>
          </a:p>
          <a:p xmlns:a="http://schemas.openxmlformats.org/drawingml/2006/main">
            <a:r>
              <a:t>    },</a:t>
            </a:r>
          </a:p>
          <a:p xmlns:a="http://schemas.openxmlformats.org/drawingml/2006/main">
            <a:r>
              <a:t>    "test_period": "202603~202606",</a:t>
            </a:r>
          </a:p>
          <a:p xmlns:a="http://schemas.openxmlformats.org/drawingml/2006/main">
            <a:r>
              <a:t>    "selection_basis": "validation_mae_only",</a:t>
            </a:r>
          </a:p>
          <a:p xmlns:a="http://schemas.openxmlformats.org/drawingml/2006/main">
            <a:r>
              <a:t>    "validation_period": "202512~202602",</a:t>
            </a:r>
          </a:p>
          <a:p xmlns:a="http://schemas.openxmlformats.org/drawingml/2006/main">
            <a:r>
              <a:t>    "longer_horizon_status": "exploratory_not_recursively_backtested",</a:t>
            </a:r>
          </a:p>
          <a:p xmlns:a="http://schemas.openxmlformats.org/drawingml/2006/main">
            <a:r>
              <a:t>    "forecast_horizon_months": 8,</a:t>
            </a:r>
          </a:p>
          <a:p xmlns:a="http://schemas.openxmlformats.org/drawingml/2006/main">
            <a:r>
              <a:t>    "recursive_backtest_horizon_months": [</a:t>
            </a:r>
          </a:p>
          <a:p xmlns:a="http://schemas.openxmlformats.org/drawingml/2006/main">
            <a:r>
              <a:t>      1,</a:t>
            </a:r>
          </a:p>
          <a:p xmlns:a="http://schemas.openxmlformats.org/drawingml/2006/main">
            <a:r>
              <a:t>      2,</a:t>
            </a:r>
          </a:p>
          <a:p xmlns:a="http://schemas.openxmlformats.org/drawingml/2006/main">
            <a:r>
              <a:t>      3</a:t>
            </a:r>
          </a:p>
          <a:p xmlns:a="http://schemas.openxmlformats.org/drawingml/2006/main">
            <a:r>
              <a:t>    ]</a:t>
            </a:r>
          </a:p>
          <a:p xmlns:a="http://schemas.openxmlformats.org/drawingml/2006/main">
            <a:r>
              <a:t>  },</a:t>
            </a:r>
          </a:p>
          <a:p xmlns:a="http://schemas.openxmlformats.org/drawingml/2006/main">
            <a:r>
              <a:t>  "execution_scenario": {</a:t>
            </a:r>
          </a:p>
          <a:p xmlns:a="http://schemas.openxmlformats.org/drawingml/2006/main">
            <a:r>
              <a:t>    "visitor_target_pct": 5.0,</a:t>
            </a:r>
          </a:p>
          <a:p xmlns:a="http://schemas.openxmlformats.org/drawingml/2006/main">
            <a:r>
              <a:t>    "spending_target_pct": 5.0</a:t>
            </a:r>
          </a:p>
          <a:p xmlns:a="http://schemas.openxmlformats.org/drawingml/2006/main">
            <a:r>
              <a:t>  },</a:t>
            </a:r>
          </a:p>
          <a:p xmlns:a="http://schemas.openxmlformats.org/drawingml/2006/main">
            <a:r>
              <a:t>  "reference_estimate": {</a:t>
            </a:r>
          </a:p>
          <a:p xmlns:a="http://schemas.openxmlformats.org/drawingml/2006/main">
            <a:r>
              <a:t>    "status": "saved_report_budget",</a:t>
            </a:r>
          </a:p>
          <a:p xmlns:a="http://schemas.openxmlformats.org/drawingml/2006/main">
            <a:r>
              <a:t>    "total_label": "총액 미확정",</a:t>
            </a:r>
          </a:p>
          <a:p xmlns:a="http://schemas.openxmlformats.org/drawingml/2006/main">
            <a:r>
              <a:t>    "rows": [</a:t>
            </a:r>
          </a:p>
          <a:p xmlns:a="http://schemas.openxmlformats.org/drawingml/2006/main">
            <a:r>
              <a:t>      [</a:t>
            </a:r>
          </a:p>
          <a:p xmlns:a="http://schemas.openxmlformats.org/drawingml/2006/main">
            <a:r>
              <a:t>        "산정 내역 1",</a:t>
            </a:r>
          </a:p>
          <a:p xmlns:a="http://schemas.openxmlformats.org/drawingml/2006/main">
            <a:r>
              <a:t>        "기획 가정/미확정 참고 견적: 운영 콘텐츠 수×콘텐츠별 비교견적 + 운영일수×일일 운영·안전 견적 + 참여업체 수×업체 준비비 견적 + 측정 원장 1식×구축 견적. 사업 담당자가 착수 전 수량을 정하고 회계 담당자가 같은 조건의 비교견적 2건 이상으로 단가·부가세·총액을 확정함.",</a:t>
            </a:r>
          </a:p>
          <a:p xmlns:a="http://schemas.openxmlformats.org/drawingml/2006/main">
            <a:r>
              <a:t>        "본문 기준"</a:t>
            </a:r>
          </a:p>
          <a:p xmlns:a="http://schemas.openxmlformats.org/drawingml/2006/main">
            <a:r>
              <a:t>      ]</a:t>
            </a:r>
          </a:p>
          <a:p xmlns:a="http://schemas.openxmlformats.org/drawingml/2006/main">
            <a:r>
              <a:t>    ],</a:t>
            </a:r>
          </a:p>
          <a:p xmlns:a="http://schemas.openxmlformats.org/drawingml/2006/main">
            <a:r>
              <a:t>    "original_text": "기획 가정/미확정 참고 견적: 운영 콘텐츠 수×콘텐츠별 비교견적 + 운영일수×일일 운영·안전 견적 + 참여업체 수×업체 준비비 견적 + 측정 원장 1식×구축 견적. 사업 담당자가 착수 전 수량을 정하고 회계 담당자가 같은 조건의 비교견적 2건 이상으로 단가·부가세·총액을 확정함.",</a:t>
            </a:r>
          </a:p>
          <a:p xmlns:a="http://schemas.openxmlformats.org/drawingml/2006/main">
            <a:r>
              <a:t>    "sources": [],</a:t>
            </a:r>
          </a:p>
          <a:p xmlns:a="http://schemas.openxmlformats.org/drawingml/2006/main">
            <a:r>
              <a:t>    "note": "저장 기획안의 예산 산정 내용을 그대로 표시합니다. 확정 견적이 아니며 계약 전 수량·단가·세금과 합계를 확인합니다."</a:t>
            </a:r>
          </a:p>
          <a:p xmlns:a="http://schemas.openxmlformats.org/drawingml/2006/main">
            <a:r>
              <a:t>  }</a:t>
            </a:r>
          </a:p>
          <a:p xmlns:a="http://schemas.openxmlformats.org/drawingml/2006/main">
            <a:r>
              <a: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관측값·저장 예측·계획 목표는 별개입니다. 문서용 참고 견적이며 원 보고서의 검수 결과를 변경하지 않습니다.</a:t>
            </a:r>
          </a:p>
          <a:p>
            <a:r>
              <a:t>[Sources]</a:t>
            </a:r>
          </a:p>
          <a:p>
            <a:r>
              <a:t>dataset:51130:1 | 한국관광 데이터랩 · 강원특별자치도 원주시 순 방문자 수 및 숙박 비율 (이동통신 기반 외지인) | https://datalab.visitkorea.or.kr/</a:t>
            </a:r>
          </a:p>
          <a:p>
            <a:r>
              <a:t>dataset:51130:2 | 한국관광 데이터랩 · 강원특별자치도 원주시 월간 순 방문자 수 (이동통신 기반 외지인) | https://datalab.visitkorea.or.kr/</a:t>
            </a:r>
          </a:p>
          <a:p>
            <a:r>
              <a:t>dataset:51130:3 | 한국관광 데이터랩 · 강원특별자치도 원주시 관광소비 추이_외지인 | https://datalab.visitkorea.or.kr/</a:t>
            </a:r>
          </a:p>
          <a:p>
            <a:r>
              <a:t>dataset:51130:4 | 한국관광 데이터랩 · 강원특별자치도 원주시 숙박방문자 비율 추이 (이동통신 기반 외지인) | https://datalab.visitkorea.or.kr/</a:t>
            </a:r>
          </a:p>
          <a:p>
            <a:r>
              <a:t>dataset:51130:5 | 한국관광 데이터랩 · 강원특별자치도 원주시 평균 숙박일 (이동통신 기반 외지인) | https://datalab.visitkorea.or.kr/</a:t>
            </a:r>
          </a:p>
          <a:p>
            <a:r>
              <a:t>dataset:51130:6 | 한국관광 데이터랩 · 강원특별자치도 원주시 내비게이션 목적지 유형별 검색량 | https://datalab.visitkorea.or.kr/</a:t>
            </a:r>
          </a:p>
          <a:p>
            <a:r>
              <a:t>dataset:51130:7 | 한국관광 데이터랩 · 강원특별자치도 원주시 SNS 언급량 | https://datalab.visitkorea.or.kr/</a:t>
            </a:r>
          </a:p>
          <a:p>
            <a:r>
              <a:t>datalab:16d84bd9b1d0:620b2639a268 | 한국관광 데이터랩 공식 다운로드 · 강원특별자치도_원주시/숙박_체류시간/2025_01_12.zip | https://datalab.visitkorea.or.kr/</a:t>
            </a:r>
          </a:p>
          <a:p>
            <a:r>
              <a:t>datalab:242a2c1249d4:f84e1a5f3914 | 한국관광 데이터랩 공식 다운로드 · 강원특별자치도_원주시/숙박_체류시간/2026_01_06.zip | https://datalab.visitkorea.or.kr/</a:t>
            </a:r>
          </a:p>
          <a:p>
            <a:r>
              <a:t>datalab:a050e5a84ef4:3906c6ac70a7 | 한국관광 데이터랩 공식 다운로드 · 강원특별자치도_원주시/방문자/2025_01_12.zip | https://datalab.visitkorea.or.kr/</a:t>
            </a:r>
          </a:p>
          <a:p>
            <a:r>
              <a:t>datalab:bd9d3d26da19:991f2264ad4a | 한국관광 데이터랩 공식 다운로드 · 강원특별자치도_원주시/방문자/2026_01_06.zip | https://datalab.visitkorea.or.kr/</a:t>
            </a:r>
          </a:p>
          <a:p>
            <a:r>
              <a:t>datalab:d54a3fb44037:ee4640b6178b | 한국관광 데이터랩 공식 다운로드 · 강원특별자치도_원주시/관광소비/2026_01_06.zip | https://datalab.visitkorea.or.kr/</a:t>
            </a:r>
          </a:p>
          <a:p>
            <a:r>
              <a:t>datalab:ebce91b8bf02:1770c2d94cc6 | 한국관광 데이터랩 공식 다운로드 · 강원특별자치도_원주시/관광소비/2025_01_12.zip | https://datalab.visitkorea.or.kr/</a:t>
            </a:r>
          </a:p>
          <a:p>
            <a:r>
              <a:t>team-bigdata:23ea68053684:6bfbcf8aabf6 | 한국관광 데이터랩 전국 빅데이터 다운로드 · 이동통신/내국인/지역별 방문자수/20260820140607__202601-202606_데이터랩_다운로드.zip | https://datalab.visitkorea.or.kr/</a:t>
            </a:r>
          </a:p>
          <a:p>
            <a:r>
              <a:t>team-bigdata:98d4ae590d9a:3be52dd54323 | 한국관광 데이터랩 전국 빅데이터 다운로드 · 이동통신/외국인/20260820141710_전국_202601-202606_데이터랩_다운로드.zip | https://datalab.visitkorea.or.kr/</a:t>
            </a:r>
          </a:p>
          <a:p>
            <a:r>
              <a:t>team-bigdata:367cd0294ec4:873930d645e5 | 한국관광 데이터랩 전국 빅데이터 다운로드 · 신용카드/내국인/지역별 관광지출액/20260820140046__202601-202606_데이터랩_다운로드.zip | https://datalab.visitkorea.or.kr/</a:t>
            </a:r>
          </a:p>
          <a:p>
            <a:r>
              <a:t>team-bigdata:553a0dad4bb4:5a31355dffe8 | 한국관광 데이터랩 전국 빅데이터 다운로드 · 신용카드/외국인/지역별 관광지출액/20260820140355__202601-202606_데이터랩_다운로드.zip | https://datalab.visitkorea.or.kr/</a:t>
            </a:r>
          </a:p>
          <a:p>
            <a:r>
              <a:t>team-bigdata:a53dbe1c21df:77a052de41d5 | 한국관광 데이터랩 전국 빅데이터 다운로드 · 네비게이션/지역별 검색건수/20260820195507__202601-202606_데이터랩_다운로드.zip | https://datalab.visitkorea.or.kr/</a:t>
            </a:r>
          </a:p>
          <a:p>
            <a:r>
              <a:t>team-bigdata:823a38d1d61c:5385261d02e5 | 한국관광 데이터랩 전국 빅데이터 다운로드 · 이동통신/내국인/지역별 방문자수/20260820140614__202501-202512_데이터랩_다운로드.zip | https://datalab.visitkorea.or.kr/</a:t>
            </a:r>
          </a:p>
          <a:p>
            <a:r>
              <a:t>team-bigdata:2723bdb0d589:1666a34058ed | 한국관광 데이터랩 전국 빅데이터 다운로드 · 이동통신/외국인/20260820141649_전국_202501-202512_데이터랩_다운로드.zip | https://datalab.visitkorea.or.kr/</a:t>
            </a:r>
          </a:p>
          <a:p>
            <a:r>
              <a:t>team-bigdata:83177a234971:c02cb7972e0f | 한국관광 데이터랩 전국 빅데이터 다운로드 · 신용카드/내국인/지역별 관광지출액/20260820135957__202501-202512_데이터랩_다운로드.zip | https://datalab.visitkorea.or.kr/</a:t>
            </a:r>
          </a:p>
          <a:p>
            <a:r>
              <a:t>team-bigdata:58ded7732251:589c76395cbc | 한국관광 데이터랩 전국 빅데이터 다운로드 · 신용카드/외국인/지역별 관광지출액/20260820140409__202501-202512_데이터랩_다운로드.zip | https://datalab.visitkorea.or.kr/</a:t>
            </a:r>
          </a:p>
          <a:p>
            <a:r>
              <a:t>team-bigdata:e28c947cb52f:bb4cb344a6ba | 한국관광 데이터랩 전국 빅데이터 다운로드 · 네비게이션/지역별 검색건수/20260820132007__202501-202512_데이터랩_다운로드.zip | https://datalab.visitkorea.or.kr/</a:t>
            </a:r>
          </a:p>
          <a:p>
            <a:r>
              <a:t>team-bigdata:8815bbb11a39:1a5988f5f8ec | 한국관광 데이터랩 전국 빅데이터 다운로드 · 이동통신/내국인/지역별 방문자수/20260820140624__202401-202412_데이터랩_다운로드.zip | https://datalab.visitkorea.or.kr/</a:t>
            </a:r>
          </a:p>
          <a:p>
            <a:r>
              <a:t>team-bigdata:19fd67fbb73d:afa4f0f54a2f | 한국관광 데이터랩 전국 빅데이터 다운로드 · 이동통신/외국인/20260820141639_전국_202401-202412_데이터랩_다운로드.zip | https://datalab.visitkorea.or.kr/</a:t>
            </a:r>
          </a:p>
          <a:p>
            <a:r>
              <a:t>regional-status:90f2be7a0f7d:b989a6c2e7bf | 한국관광 데이터랩 지역별 관광 현황 · 강원특별자치도 원주시 · 유입유출 | https://datalab.visitkorea.or.kr/</a:t>
            </a:r>
          </a:p>
          <a:p>
            <a:r>
              <a:t>regional-status:c39767bd23e8:e3b081f6e6aa | 한국관광 데이터랩 지역별 관광 현황 · 강원특별자치도 원주시 · 지역집중률 | https://datalab.visitkorea.or.kr/</a:t>
            </a:r>
          </a:p>
          <a:p>
            <a:r>
              <a:t>regional-status:edaf76986d99:c00fa7ffc0a7 | 한국관광 데이터랩 지역별 관광 현황 · 강원특별자치도 원주시 · 인기관광지 | https://datalab.visitkorea.or.kr/</a:t>
            </a:r>
          </a:p>
          <a:p>
            <a:r>
              <a:t>ml:51130:regional-demand-v3.1:202606 | 지역 관광수요 ML 전망 · 공식 관측값 아님 | URL 미기록</a:t>
            </a:r>
          </a:p>
          <a:p>
            <a:r>
              <a:t>tour-api:2732999 | 감악산캠핑숲 | https://apis.data.go.kr/B551011/KorService2</a:t>
            </a:r>
          </a:p>
          <a:p>
            <a:r>
              <a:t>tour-api:2555010 | 강원감영관찰사·무릉고서화미술박물관 | https://apis.data.go.kr/B551011/KorService2</a:t>
            </a:r>
          </a:p>
          <a:p>
            <a:r>
              <a:t>tour-api:2734136 | 강원도힐링캠핑장 | https://apis.data.go.kr/B551011/KorService2</a:t>
            </a:r>
          </a:p>
          <a:p>
            <a:r>
              <a:t>tour-api:2702477 | 경천묘 | https://apis.data.go.kr/B551011/KorService2</a:t>
            </a:r>
          </a:p>
          <a:p>
            <a:r>
              <a:t>tour-api:130539 | 고판화박물관 | https://apis.data.go.kr/B551011/KorService2</a:t>
            </a:r>
          </a:p>
          <a:p>
            <a:r>
              <a:t>tour-api:125645 | 관음사·국형사계곡 | https://apis.data.go.kr/B551011/KorService2</a:t>
            </a:r>
          </a:p>
          <a:p>
            <a:r>
              <a:t>tour-api:3356037 | 광화문갈비 원주점 | https://apis.data.go.kr/B551011/KorService2</a:t>
            </a:r>
          </a:p>
          <a:p>
            <a:r>
              <a:t>tour-api:2762710 | 구 조선식산은행 원주지점 | https://apis.data.go.kr/B551011/KorService2</a:t>
            </a:r>
          </a:p>
          <a:p>
            <a:r>
              <a:t>tour-api:125757 | 국형사 | https://apis.data.go.kr/B551011/KorService2</a:t>
            </a:r>
          </a:p>
          <a:p>
            <a:r>
              <a:t>tour-api:2033279 | 금대 에코힐링 캠핑장 | https://apis.data.go.kr/B551011/KorService2</a:t>
            </a:r>
          </a:p>
          <a:p>
            <a:r>
              <a:t>tour-api:129676 | 금대계곡 | https://apis.data.go.kr/B551011/KorService2</a:t>
            </a:r>
          </a:p>
          <a:p>
            <a:r>
              <a:t>tour-api:2734906 | 금대자동차야영장 | https://apis.data.go.kr/B551011/KorService2</a:t>
            </a:r>
          </a:p>
          <a:p>
            <a:r>
              <a:t>tour-api:2714800 | 기후변화홍보관 | https://apis.data.go.kr/B551011/KorService2</a:t>
            </a:r>
          </a:p>
          <a:p>
            <a:r>
              <a:t>tour-api:2892327 | 김가네원주추어탕 | https://apis.data.go.kr/B551011/KorService2</a:t>
            </a:r>
          </a:p>
          <a:p>
            <a:r>
              <a:t>tour-api:129284 | 김제남 신도비 | https://apis.data.go.kr/B551011/KorService2</a:t>
            </a:r>
          </a:p>
          <a:p>
            <a:r>
              <a:t>tour-api:512084 | 넌스키 난보드 | https://apis.data.go.kr/B551011/KorService2</a:t>
            </a:r>
          </a:p>
          <a:p>
            <a:r>
              <a:t>tour-api:2778036 | 단관공원 | https://apis.data.go.kr/B551011/KorService2</a:t>
            </a:r>
          </a:p>
          <a:p>
            <a:r>
              <a:t>tour-api:2892320 | 동승루 | https://apis.data.go.kr/B551011/KorService2</a:t>
            </a:r>
          </a:p>
          <a:p>
            <a:r>
              <a:t>tour-api:2892312 | 들꽃가든 | https://apis.data.go.kr/B551011/KorService2</a:t>
            </a:r>
          </a:p>
          <a:p>
            <a:r>
              <a:t>tour-api:2809292 | 들꽃이야기 | https://apis.data.go.kr/B551011/KorService2</a:t>
            </a:r>
          </a:p>
          <a:p>
            <a:r>
              <a:t>reference:kto:2026:local-airport | 요즘, 한국관광 2호 - 지방공항 연계 지역관광 활성화 방안 | PDF 44쪽, PDF 43쪽, PDF 38쪽, PDF 40쪽, PDF 41쪽, PDF 36쪽, PDF 41쪽, PDF 44쪽, PDF 43쪽, PDF 43쪽 | https://datalab.visitkorea.or.kr/site/portal/ex/bbs/View.do?bcIdx=311068&amp;cbIdx=1135&amp;pageIndex=1</a:t>
            </a:r>
          </a:p>
          <a:p>
            <a:r>
              <a:t>case:jeonju_night_budget_2026 | 전주시 2026년도 관광산업과 세출예산 사업명세서 | https://jeonju.go.kr/resource/www/images/download/budget/2026/2026_31_2.pdf</a:t>
            </a:r>
          </a:p>
          <a:p>
            <a:r>
              <a:t>case:4625625dcbf2ae | (기획) 인천을 즐기는 가장 쉬운(easy) 방법 … 인천e지 | https://www.incheon.go.kr/IC010205/view?beginDt=&amp;curPage=1&amp;endDt=&amp;repSeq=DOM_0000000013130282&amp;srchMainManagerDeptNm=&amp;srchRepContents=%EC%A3%BC%EC%B0%A8&amp;srchRepTitle=</a:t>
            </a:r>
          </a:p>
          <a:p>
            <a:r>
              <a:t>case:digital_tourism_resident_2024 | 2024년 6월 여행가는 달 추진 보도자료 | https://mcst.go.kr/servlets/eduport/front/upload/UplDownloadFile?pFileName=%280514%29%EB%AC%B8%EC%B2%B4%EB%B6%80%EB%B3%B4%EB%8F%84%EC%9E%90%EB%A3%8C-6%EC%9B%94_%EC%97%AC%ED%96%89%EA%B0%80%EB%8A%94_%EB%8B%AC_%EC%B6%94%EC%A7%84.pdf&amp;pPath=0302000000&amp;pRealName=20240514083202149235802932_PRESS20240514083202456506.pdf</a:t>
            </a:r>
          </a:p>
          <a:p>
            <a:r>
              <a:t>case:kto_stay_discount_2022 | 2022 대한민국 숙박대전 경제파급효과 공개자료 | https://kto.visitkorea.or.kr/upload/flexer/upload/ktobiz/20220928/b623b5f9-3ec0-11ed-9832-ddf31964842e.hwp.files/Sections1.html</a:t>
            </a:r>
          </a:p>
          <a:p>
            <a:r>
              <a:t>case:37471b1e063812 | 한강 밤핑(Night+Camping) 행사·공연 정보 | https://hangang.seoul.go.kr/www/eventMng/detail.do?evntSn=441&amp;keyword=&amp;mid=538&amp;opt11=&amp;opt12=&amp;opt13=&amp;opt14=&amp;opt4=&amp;pageNo=2&amp;srchType=list</a:t>
            </a:r>
          </a:p>
          <a:p>
            <a:r>
              <a:t>case:gangjin_half_price_2024 | 강진 반값여행 지역경제 효과 소개 | https://jnfarm.jeonnam.go.kr/board/FARM_BOARD_008/boardView.do?bdId=BD_00000000000011721&amp;menuCd=farm004002</a:t>
            </a:r>
          </a:p>
          <a:p>
            <a:r>
              <a:t>case:c6d4752e1342a7 | 지역사랑 휴가지원(반값여행) 신설 및 ‘대한민국 반값여행’ 성과 분석 | https://www.mcst.go.kr/site/s_policy/govPolicy/performTotal.jsp</a:t>
            </a:r>
          </a:p>
          <a:p>
            <a:r>
              <a:t>case:night_festival_2025 | 2025 대한민국 밤밤페스타 개최 도시 및 일정 | https://korean.visitkorea.or.kr/detail/rem_detail.do?cotid=f9c636b2-dd7c-4f09-af3d-6af43b33d371</a:t>
            </a:r>
          </a:p>
          <a:p>
            <a:r>
              <a:t>[/Sources]</a:t>
            </a:r>
          </a:p>
          <a:p>
            <a:r>
              <a:t>[Calculation audit]</a:t>
            </a:r>
          </a:p>
          <a:p>
            <a:r>
              <a:t>{</a:t>
            </a:r>
          </a:p>
          <a:p>
            <a:r>
              <a:t>  "source_inventory": [</a:t>
            </a:r>
          </a:p>
          <a:p>
            <a:r>
              <a:t>    {</a:t>
            </a:r>
          </a:p>
          <a:p>
            <a:r>
              <a:t>      "title": "한국관광 데이터랩 · 강원특별자치도 원주시 순 방문자 수 및 숙박 비율 (이동통신 기반 외지인)",</a:t>
            </a:r>
          </a:p>
          <a:p>
            <a:r>
              <a:t>      "summary": "월간 순 방문자 수: 2,285,734명 (관측 기준월: 2026-06)",</a:t>
            </a:r>
          </a:p>
          <a:p>
            <a:r>
              <a:t>      "source_id": "dataset:51130:1",</a:t>
            </a:r>
          </a:p>
          <a:p>
            <a:r>
              <a:t>      "source_url": "https://datalab.visitkorea.or.kr/",</a:t>
            </a:r>
          </a:p>
          <a:p>
            <a:r>
              <a:t>      "source_type": "dataset",</a:t>
            </a:r>
          </a:p>
          <a:p>
            <a:r>
              <a:t>      "observation_period": "2026-06",</a:t>
            </a:r>
          </a:p>
          <a:p>
            <a:r>
              <a:t>      "published_or_updated_at": "2026-06"</a:t>
            </a:r>
          </a:p>
          <a:p>
            <a:r>
              <a:t>    },</a:t>
            </a:r>
          </a:p>
          <a:p>
            <a:r>
              <a:t>    {</a:t>
            </a:r>
          </a:p>
          <a:p>
            <a:r>
              <a:t>      "title": "한국관광 데이터랩 · 강원특별자치도 원주시 월간 순 방문자 수 (이동통신 기반 외지인)",</a:t>
            </a:r>
          </a:p>
          <a:p>
            <a:r>
              <a:t>      "summary": "전년동월 외지인 방문자 증감률: -2.7% (관측 기준월: 2026-06)",</a:t>
            </a:r>
          </a:p>
          <a:p>
            <a:r>
              <a:t>      "source_id": "dataset:51130:2",</a:t>
            </a:r>
          </a:p>
          <a:p>
            <a:r>
              <a:t>      "source_url": "https://datalab.visitkorea.or.kr/",</a:t>
            </a:r>
          </a:p>
          <a:p>
            <a:r>
              <a:t>      "source_type": "dataset",</a:t>
            </a:r>
          </a:p>
          <a:p>
            <a:r>
              <a:t>      "observation_period": "2026-06",</a:t>
            </a:r>
          </a:p>
          <a:p>
            <a:r>
              <a:t>      "published_or_updated_at": "2026-06"</a:t>
            </a:r>
          </a:p>
          <a:p>
            <a:r>
              <a:t>    },</a:t>
            </a:r>
          </a:p>
          <a:p>
            <a:r>
              <a:t>    {</a:t>
            </a:r>
          </a:p>
          <a:p>
            <a:r>
              <a:t>      "title": "한국관광 데이터랩 · 강원특별자치도 원주시 관광소비 추이_외지인",</a:t>
            </a:r>
          </a:p>
          <a:p>
            <a:r>
              <a:t>      "summary": "월간 외지인 관광소비 총액: 60,562,672,000원 (관측 기준월: 2026-06)",</a:t>
            </a:r>
          </a:p>
          <a:p>
            <a:r>
              <a:t>      "source_id": "dataset:51130:3",</a:t>
            </a:r>
          </a:p>
          <a:p>
            <a:r>
              <a:t>      "source_url": "https://datalab.visitkorea.or.kr/",</a:t>
            </a:r>
          </a:p>
          <a:p>
            <a:r>
              <a:t>      "source_type": "dataset",</a:t>
            </a:r>
          </a:p>
          <a:p>
            <a:r>
              <a:t>      "observation_period": "2026-06",</a:t>
            </a:r>
          </a:p>
          <a:p>
            <a:r>
              <a:t>      "published_or_updated_at": "2026-06"</a:t>
            </a:r>
          </a:p>
          <a:p>
            <a:r>
              <a:t>    },</a:t>
            </a:r>
          </a:p>
          <a:p>
            <a:r>
              <a:t>    {</a:t>
            </a:r>
          </a:p>
          <a:p>
            <a:r>
              <a:t>      "title": "한국관광 데이터랩 · 강원특별자치도 원주시 숙박방문자 비율 추이 (이동통신 기반 외지인)",</a:t>
            </a:r>
          </a:p>
          <a:p>
            <a:r>
              <a:t>      "summary": "외지인 숙박 방문 비율: 12.5% (관측 기준월: 2026-06)",</a:t>
            </a:r>
          </a:p>
          <a:p>
            <a:r>
              <a:t>      "source_id": "dataset:51130:4",</a:t>
            </a:r>
          </a:p>
          <a:p>
            <a:r>
              <a:t>      "source_url": "https://datalab.visitkorea.or.kr/",</a:t>
            </a:r>
          </a:p>
          <a:p>
            <a:r>
              <a:t>      "source_type": "dataset",</a:t>
            </a:r>
          </a:p>
          <a:p>
            <a:r>
              <a:t>      "observation_period": "2026-06",</a:t>
            </a:r>
          </a:p>
          <a:p>
            <a:r>
              <a:t>      "published_or_updated_at": "2026-06"</a:t>
            </a:r>
          </a:p>
          <a:p>
            <a:r>
              <a:t>    },</a:t>
            </a:r>
          </a:p>
          <a:p>
            <a:r>
              <a:t>    {</a:t>
            </a:r>
          </a:p>
          <a:p>
            <a:r>
              <a:t>      "title": "한국관광 데이터랩 · 강원특별자치도 원주시 평균 숙박일 (이동통신 기반 외지인)",</a:t>
            </a:r>
          </a:p>
          <a:p>
            <a:r>
              <a:t>      "summary": "외지인 평균 숙박일수: 2.76일 (관측 기준월: 2026-06)",</a:t>
            </a:r>
          </a:p>
          <a:p>
            <a:r>
              <a:t>      "source_id": "dataset:51130:5",</a:t>
            </a:r>
          </a:p>
          <a:p>
            <a:r>
              <a:t>      "source_url": "https://datalab.visitkorea.or.kr/",</a:t>
            </a:r>
          </a:p>
          <a:p>
            <a:r>
              <a:t>      "source_type": "dataset",</a:t>
            </a:r>
          </a:p>
          <a:p>
            <a:r>
              <a:t>      "observation_period": "2026-06",</a:t>
            </a:r>
          </a:p>
          <a:p>
            <a:r>
              <a:t>      "published_or_updated_at": "2026-06"</a:t>
            </a:r>
          </a:p>
          <a:p>
            <a:r>
              <a:t>    },</a:t>
            </a:r>
          </a:p>
          <a:p>
            <a:r>
              <a:t>    {</a:t>
            </a:r>
          </a:p>
          <a:p>
            <a:r>
              <a:t>      "title": "한국관광 데이터랩 · 강원특별자치도 원주시 내비게이션 목적지 유형별 검색량",</a:t>
            </a:r>
          </a:p>
          <a:p>
            <a:r>
              <a:t>      "summary": "내비게이션 목적지 검색량: 303,921건 (관측 기준월: 2026-06)",</a:t>
            </a:r>
          </a:p>
          <a:p>
            <a:r>
              <a:t>      "source_id": "dataset:51130:6",</a:t>
            </a:r>
          </a:p>
          <a:p>
            <a:r>
              <a:t>      "source_url": "https://datalab.visitkorea.or.kr/",</a:t>
            </a:r>
          </a:p>
          <a:p>
            <a:r>
              <a:t>      "source_type": "dataset",</a:t>
            </a:r>
          </a:p>
          <a:p>
            <a:r>
              <a:t>      "observation_period": "2026-06",</a:t>
            </a:r>
          </a:p>
          <a:p>
            <a:r>
              <a:t>      "published_or_updated_at": "2026-06"</a:t>
            </a:r>
          </a:p>
          <a:p>
            <a:r>
              <a:t>    },</a:t>
            </a:r>
          </a:p>
          <a:p>
            <a:r>
              <a:t>    {</a:t>
            </a:r>
          </a:p>
          <a:p>
            <a:r>
              <a:t>      "title": "한국관광 데이터랩 · 강원특별자치도 원주시 SNS 언급량",</a:t>
            </a:r>
          </a:p>
          <a:p>
            <a:r>
              <a:t>      "summary": "SNS 언급량: 41,121건 (관측 기준월: 2026-06)",</a:t>
            </a:r>
          </a:p>
          <a:p>
            <a:r>
              <a:t>      "source_id": "dataset:51130:7",</a:t>
            </a:r>
          </a:p>
          <a:p>
            <a:r>
              <a:t>      "source_url": "https://datalab.visitkorea.or.kr/",</a:t>
            </a:r>
          </a:p>
          <a:p>
            <a:r>
              <a:t>      "source_type": "dataset",</a:t>
            </a:r>
          </a:p>
          <a:p>
            <a:r>
              <a:t>      "observation_period": "2026-06",</a:t>
            </a:r>
          </a:p>
          <a:p>
            <a:r>
              <a:t>      "published_or_updated_at": "2026-06"</a:t>
            </a:r>
          </a:p>
          <a:p>
            <a:r>
              <a:t>    },</a:t>
            </a:r>
          </a:p>
          <a:p>
            <a:r>
              <a:t>    {</a:t>
            </a:r>
          </a:p>
          <a:p>
            <a:r>
              <a:t>      "title": "한국관광 데이터랩 공식 다운로드 · 강원특별자치도_원주시/숙박_체류시간/2025_01_12.zip",</a:t>
            </a:r>
          </a:p>
          <a:p>
            <a:r>
              <a:t>      "summary": "전국 비교 기준 기간: 2025-07 ~ 2026-06",</a:t>
            </a:r>
          </a:p>
          <a:p>
            <a:r>
              <a:t>      "source_id": "datalab:16d84bd9b1d0:620b2639a268",</a:t>
            </a:r>
          </a:p>
          <a:p>
            <a:r>
              <a:t>      "source_url": "https://datalab.visitkorea.or.kr/",</a:t>
            </a:r>
          </a:p>
          <a:p>
            <a:r>
              <a:t>      "source_type": "nationwide_dataset",</a:t>
            </a:r>
          </a:p>
          <a:p>
            <a:r>
              <a:t>      "observation_period": "2025-07 ~ 2026-06",</a:t>
            </a:r>
          </a:p>
          <a:p>
            <a:r>
              <a:t>      "published_or_updated_at": "2024-07 ~ 2025-06"</a:t>
            </a:r>
          </a:p>
          <a:p>
            <a:r>
              <a:t>    },</a:t>
            </a:r>
          </a:p>
          <a:p>
            <a:r>
              <a:t>    {</a:t>
            </a:r>
          </a:p>
          <a:p>
            <a:r>
              <a:t>      "title": "한국관광 데이터랩 공식 다운로드 · 강원특별자치도_원주시/숙박_체류시간/2026_01_06.zip",</a:t>
            </a:r>
          </a:p>
          <a:p>
            <a:r>
              <a:t>      "summary": "전국 비교 기준 기간: 2025-07 ~ 2026-06",</a:t>
            </a:r>
          </a:p>
          <a:p>
            <a:r>
              <a:t>      "source_id": "datalab:242a2c1249d4:f84e1a5f3914",</a:t>
            </a:r>
          </a:p>
          <a:p>
            <a:r>
              <a:t>      "source_url": "https://datalab.visitkorea.or.kr/",</a:t>
            </a:r>
          </a:p>
          <a:p>
            <a:r>
              <a:t>      "source_type": "nationwide_dataset",</a:t>
            </a:r>
          </a:p>
          <a:p>
            <a:r>
              <a:t>      "observation_period": "2025-07 ~ 2026-06",</a:t>
            </a:r>
          </a:p>
          <a:p>
            <a:r>
              <a:t>      "published_or_updated_at": "2024-07 ~ 2025-06"</a:t>
            </a:r>
          </a:p>
          <a:p>
            <a:r>
              <a:t>    },</a:t>
            </a:r>
          </a:p>
          <a:p>
            <a:r>
              <a:t>    {</a:t>
            </a:r>
          </a:p>
          <a:p>
            <a:r>
              <a:t>      "title": "한국관광 데이터랩 공식 다운로드 · 강원특별자치도_원주시/방문자/2025_01_12.zip",</a:t>
            </a:r>
          </a:p>
          <a:p>
            <a:r>
              <a:t>      "summary": "전국 비교 기준 기간: 2025-07 ~ 2026-06",</a:t>
            </a:r>
          </a:p>
          <a:p>
            <a:r>
              <a:t>      "source_id": "datalab:a050e5a84ef4:3906c6ac70a7",</a:t>
            </a:r>
          </a:p>
          <a:p>
            <a:r>
              <a:t>      "source_url": "https://datalab.visitkorea.or.kr/",</a:t>
            </a:r>
          </a:p>
          <a:p>
            <a:r>
              <a:t>      "source_type": "nationwide_dataset",</a:t>
            </a:r>
          </a:p>
          <a:p>
            <a:r>
              <a:t>      "observation_period": "2025-07 ~ 2026-06",</a:t>
            </a:r>
          </a:p>
          <a:p>
            <a:r>
              <a:t>      "published_or_updated_at": "2024-07 ~ 2025-06"</a:t>
            </a:r>
          </a:p>
          <a:p>
            <a:r>
              <a:t>    },</a:t>
            </a:r>
          </a:p>
          <a:p>
            <a:r>
              <a:t>    {</a:t>
            </a:r>
          </a:p>
          <a:p>
            <a:r>
              <a:t>      "title": "한국관광 데이터랩 공식 다운로드 · 강원특별자치도_원주시/방문자/2026_01_06.zip",</a:t>
            </a:r>
          </a:p>
          <a:p>
            <a:r>
              <a:t>      "summary": "전국 비교 기준 기간: 2025-07 ~ 2026-06",</a:t>
            </a:r>
          </a:p>
          <a:p>
            <a:r>
              <a:t>      "source_id": "datalab:bd9d3d26da19:991f2264ad4a",</a:t>
            </a:r>
          </a:p>
          <a:p>
            <a:r>
              <a:t>      "source_url": "https://datalab.visitkorea.or.kr/",</a:t>
            </a:r>
          </a:p>
          <a:p>
            <a:r>
              <a:t>      "source_type": "nationwide_dataset",</a:t>
            </a:r>
          </a:p>
          <a:p>
            <a:r>
              <a:t>      "observation_period": "2025-07 ~ 2026-06",</a:t>
            </a:r>
          </a:p>
          <a:p>
            <a:r>
              <a:t>      "published_or_updated_at": "2024-07 ~ 2025-06"</a:t>
            </a:r>
          </a:p>
          <a:p>
            <a:r>
              <a:t>    },</a:t>
            </a:r>
          </a:p>
          <a:p>
            <a:r>
              <a:t>    {</a:t>
            </a:r>
          </a:p>
          <a:p>
            <a:r>
              <a:t>      "title": "한국관광 데이터랩 공식 다운로드 · 강원특별자치도_원주시/관광소비/2026_01_06.zip",</a:t>
            </a:r>
          </a:p>
          <a:p>
            <a:r>
              <a:t>      "summary": "전국 비교 기준 기간: 2025-07 ~ 2026-06",</a:t>
            </a:r>
          </a:p>
          <a:p>
            <a:r>
              <a:t>      "source_id": "datalab:d54a3fb44037:ee4640b6178b",</a:t>
            </a:r>
          </a:p>
          <a:p>
            <a:r>
              <a:t>      "source_url": "https://datalab.visitkorea.or.kr/",</a:t>
            </a:r>
          </a:p>
          <a:p>
            <a:r>
              <a:t>      "source_type": "nationwide_dataset",</a:t>
            </a:r>
          </a:p>
          <a:p>
            <a:r>
              <a:t>      "observation_period": "2025-07 ~ 2026-06",</a:t>
            </a:r>
          </a:p>
          <a:p>
            <a:r>
              <a:t>      "published_or_updated_at": "2024-07 ~ 2025-06"</a:t>
            </a:r>
          </a:p>
          <a:p>
            <a:r>
              <a:t>    },</a:t>
            </a:r>
          </a:p>
          <a:p>
            <a:r>
              <a:t>    {</a:t>
            </a:r>
          </a:p>
          <a:p>
            <a:r>
              <a:t>      "title": "한국관광 데이터랩 공식 다운로드 · 강원특별자치도_원주시/관광소비/2025_01_12.zip",</a:t>
            </a:r>
          </a:p>
          <a:p>
            <a:r>
              <a:t>      "summary": "전국 비교 기준 기간: 2025-07 ~ 2026-06",</a:t>
            </a:r>
          </a:p>
          <a:p>
            <a:r>
              <a:t>      "source_id": "datalab:ebce91b8bf02:1770c2d94cc6",</a:t>
            </a:r>
          </a:p>
          <a:p>
            <a:r>
              <a:t>      "source_url": "https://datalab.visitkorea.or.kr/",</a:t>
            </a:r>
          </a:p>
          <a:p>
            <a:r>
              <a:t>      "source_type": "nationwide_dataset",</a:t>
            </a:r>
          </a:p>
          <a:p>
            <a:r>
              <a:t>      "observation_period": "2025-07 ~ 2026-06",</a:t>
            </a:r>
          </a:p>
          <a:p>
            <a:r>
              <a:t>      "published_or_updated_at": "2024-07 ~ 2025-06"</a:t>
            </a:r>
          </a:p>
          <a:p>
            <a:r>
              <a:t>    },</a:t>
            </a:r>
          </a:p>
          <a:p>
            <a:r>
              <a:t>    {</a:t>
            </a:r>
          </a:p>
          <a:p>
            <a:r>
              <a:t>      "title": "한국관광 데이터랩 전국 빅데이터 다운로드 · 이동통신/내국인/지역별 방문자수/20260820140607__202601-202606_데이터랩_다운로드.zip",</a:t>
            </a:r>
          </a:p>
          <a:p>
            <a:r>
              <a:t>      "summary": "시군구 기간합계·비중 또는 전국 월별 추이. 지역 월별 ML·정책 효과가 아닌 보조 근거.",</a:t>
            </a:r>
          </a:p>
          <a:p>
            <a:r>
              <a:t>      "source_id": "team-bigdata:23ea68053684:6bfbcf8aabf6",</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이동통신/외국인/20260820141710_전국_202601-202606_데이터랩_다운로드.zip",</a:t>
            </a:r>
          </a:p>
          <a:p>
            <a:r>
              <a:t>      "summary": "시군구 기간합계·비중 또는 전국 월별 추이. 지역 월별 ML·정책 효과가 아닌 보조 근거.",</a:t>
            </a:r>
          </a:p>
          <a:p>
            <a:r>
              <a:t>      "source_id": "team-bigdata:98d4ae590d9a:3be52dd54323",</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신용카드/내국인/지역별 관광지출액/20260820140046__202601-202606_데이터랩_다운로드.zip",</a:t>
            </a:r>
          </a:p>
          <a:p>
            <a:r>
              <a:t>      "summary": "시군구 기간합계·비중 또는 전국 월별 추이. 지역 월별 ML·정책 효과가 아닌 보조 근거.",</a:t>
            </a:r>
          </a:p>
          <a:p>
            <a:r>
              <a:t>      "source_id": "team-bigdata:367cd0294ec4:873930d645e5",</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신용카드/외국인/지역별 관광지출액/20260820140355__202601-202606_데이터랩_다운로드.zip",</a:t>
            </a:r>
          </a:p>
          <a:p>
            <a:r>
              <a:t>      "summary": "시군구 기간합계·비중 또는 전국 월별 추이. 지역 월별 ML·정책 효과가 아닌 보조 근거.",</a:t>
            </a:r>
          </a:p>
          <a:p>
            <a:r>
              <a:t>      "source_id": "team-bigdata:553a0dad4bb4:5a31355dffe8",</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네비게이션/지역별 검색건수/20260820195507__202601-202606_데이터랩_다운로드.zip",</a:t>
            </a:r>
          </a:p>
          <a:p>
            <a:r>
              <a:t>      "summary": "시군구 기간합계·비중 또는 전국 월별 추이. 지역 월별 ML·정책 효과가 아닌 보조 근거.",</a:t>
            </a:r>
          </a:p>
          <a:p>
            <a:r>
              <a:t>      "source_id": "team-bigdata:a53dbe1c21df:77a052de41d5",</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이동통신/내국인/지역별 방문자수/20260820140614__202501-202512_데이터랩_다운로드.zip",</a:t>
            </a:r>
          </a:p>
          <a:p>
            <a:r>
              <a:t>      "summary": "시군구 기간합계·비중 또는 전국 월별 추이. 지역 월별 ML·정책 효과가 아닌 보조 근거.",</a:t>
            </a:r>
          </a:p>
          <a:p>
            <a:r>
              <a:t>      "source_id": "team-bigdata:823a38d1d61c:5385261d02e5",</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이동통신/외국인/20260820141649_전국_202501-202512_데이터랩_다운로드.zip",</a:t>
            </a:r>
          </a:p>
          <a:p>
            <a:r>
              <a:t>      "summary": "시군구 기간합계·비중 또는 전국 월별 추이. 지역 월별 ML·정책 효과가 아닌 보조 근거.",</a:t>
            </a:r>
          </a:p>
          <a:p>
            <a:r>
              <a:t>      "source_id": "team-bigdata:2723bdb0d589:1666a34058ed",</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신용카드/내국인/지역별 관광지출액/20260820135957__202501-202512_데이터랩_다운로드.zip",</a:t>
            </a:r>
          </a:p>
          <a:p>
            <a:r>
              <a:t>      "summary": "시군구 기간합계·비중 또는 전국 월별 추이. 지역 월별 ML·정책 효과가 아닌 보조 근거.",</a:t>
            </a:r>
          </a:p>
          <a:p>
            <a:r>
              <a:t>      "source_id": "team-bigdata:83177a234971:c02cb7972e0f",</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신용카드/외국인/지역별 관광지출액/20260820140409__202501-202512_데이터랩_다운로드.zip",</a:t>
            </a:r>
          </a:p>
          <a:p>
            <a:r>
              <a:t>      "summary": "시군구 기간합계·비중 또는 전국 월별 추이. 지역 월별 ML·정책 효과가 아닌 보조 근거.",</a:t>
            </a:r>
          </a:p>
          <a:p>
            <a:r>
              <a:t>      "source_id": "team-bigdata:58ded7732251:589c76395cbc",</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네비게이션/지역별 검색건수/20260820132007__202501-202512_데이터랩_다운로드.zip",</a:t>
            </a:r>
          </a:p>
          <a:p>
            <a:r>
              <a:t>      "summary": "시군구 기간합계·비중 또는 전국 월별 추이. 지역 월별 ML·정책 효과가 아닌 보조 근거.",</a:t>
            </a:r>
          </a:p>
          <a:p>
            <a:r>
              <a:t>      "source_id": "team-bigdata:e28c947cb52f:bb4cb344a6ba",</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이동통신/내국인/지역별 방문자수/20260820140624__202401-202412_데이터랩_다운로드.zip",</a:t>
            </a:r>
          </a:p>
          <a:p>
            <a:r>
              <a:t>      "summary": "시군구 기간합계·비중 또는 전국 월별 추이. 지역 월별 ML·정책 효과가 아닌 보조 근거.",</a:t>
            </a:r>
          </a:p>
          <a:p>
            <a:r>
              <a:t>      "source_id": "team-bigdata:8815bbb11a39:1a5988f5f8ec",</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이동통신/외국인/20260820141639_전국_202401-202412_데이터랩_다운로드.zip",</a:t>
            </a:r>
          </a:p>
          <a:p>
            <a:r>
              <a:t>      "summary": "시군구 기간합계·비중 또는 전국 월별 추이. 지역 월별 ML·정책 효과가 아닌 보조 근거.",</a:t>
            </a:r>
          </a:p>
          <a:p>
            <a:r>
              <a:t>      "source_id": "team-bigdata:19fd67fbb73d:afa4f0f54a2f",</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지역별 관광 현황 · 강원특별자치도 원주시 · 유입유출",</a:t>
            </a:r>
          </a:p>
          <a:p>
            <a:r>
              <a:t>      "summary": "관측 기간: 2025-07 ~ 2026-06. 유입·유출·인기장소 또는 30일 집중 운영 신호.",</a:t>
            </a:r>
          </a:p>
          <a:p>
            <a:r>
              <a:t>      "source_id": "regional-status:90f2be7a0f7d:b989a6c2e7bf",</a:t>
            </a:r>
          </a:p>
          <a:p>
            <a:r>
              <a:t>      "source_url": "https://datalab.visitkorea.or.kr/",</a:t>
            </a:r>
          </a:p>
          <a:p>
            <a:r>
              <a:t>      "source_type": "regional_tourism_status",</a:t>
            </a:r>
          </a:p>
          <a:p>
            <a:r>
              <a:t>      "observation_period": "2025-07 ~ 2026-06",</a:t>
            </a:r>
          </a:p>
          <a:p>
            <a:r>
              <a:t>      "published_or_updated_at": ""</a:t>
            </a:r>
          </a:p>
          <a:p>
            <a:r>
              <a:t>    },</a:t>
            </a:r>
          </a:p>
          <a:p>
            <a:r>
              <a:t>    {</a:t>
            </a:r>
          </a:p>
          <a:p>
            <a:r>
              <a:t>      "title": "한국관광 데이터랩 지역별 관광 현황 · 강원특별자치도 원주시 · 지역집중률",</a:t>
            </a:r>
          </a:p>
          <a:p>
            <a:r>
              <a:t>      "summary": "관측 기간: 2025-07 ~ 2026-06. 유입·유출·인기장소 또는 30일 집중 운영 신호.",</a:t>
            </a:r>
          </a:p>
          <a:p>
            <a:r>
              <a:t>      "source_id": "regional-status:c39767bd23e8:e3b081f6e6aa",</a:t>
            </a:r>
          </a:p>
          <a:p>
            <a:r>
              <a:t>      "source_url": "https://datalab.visitkorea.or.kr/",</a:t>
            </a:r>
          </a:p>
          <a:p>
            <a:r>
              <a:t>      "source_type": "regional_tourism_status",</a:t>
            </a:r>
          </a:p>
          <a:p>
            <a:r>
              <a:t>      "observation_period": "2025-07 ~ 2026-06",</a:t>
            </a:r>
          </a:p>
          <a:p>
            <a:r>
              <a:t>      "published_or_updated_at": ""</a:t>
            </a:r>
          </a:p>
          <a:p>
            <a:r>
              <a:t>    },</a:t>
            </a:r>
          </a:p>
          <a:p>
            <a:r>
              <a:t>    {</a:t>
            </a:r>
          </a:p>
          <a:p>
            <a:r>
              <a:t>      "title": "한국관광 데이터랩 지역별 관광 현황 · 강원특별자치도 원주시 · 인기관광지",</a:t>
            </a:r>
          </a:p>
          <a:p>
            <a:r>
              <a:t>      "summary": "관측 기간: 2025-07 ~ 2026-06. 유입·유출·인기장소 또는 30일 집중 운영 신호.",</a:t>
            </a:r>
          </a:p>
          <a:p>
            <a:r>
              <a:t>      "source_id": "regional-status:edaf76986d99:c00fa7ffc0a7",</a:t>
            </a:r>
          </a:p>
          <a:p>
            <a:r>
              <a:t>      "source_url": "https://datalab.visitkorea.or.kr/",</a:t>
            </a:r>
          </a:p>
          <a:p>
            <a:r>
              <a:t>      "source_type": "regional_tourism_status",</a:t>
            </a:r>
          </a:p>
          <a:p>
            <a:r>
              <a:t>      "observation_period": "2025-07 ~ 2026-06",</a:t>
            </a:r>
          </a:p>
          <a:p>
            <a:r>
              <a:t>      "published_or_updated_at": ""</a:t>
            </a:r>
          </a:p>
          <a:p>
            <a:r>
              <a:t>    },</a:t>
            </a:r>
          </a:p>
          <a:p>
            <a:r>
              <a:t>    {</a:t>
            </a:r>
          </a:p>
          <a:p>
            <a:r>
              <a:t>      "title": "지역 관광수요 ML 전망 · 공식 관측값 아님",</a:t>
            </a:r>
          </a:p>
          <a:p>
            <a:r>
              <a:t>      "summary": "학습 202401~202606 · 모델 regional-demand-v3.1 · 자연 추세 예측",</a:t>
            </a:r>
          </a:p>
          <a:p>
            <a:r>
              <a:t>      "source_id": "ml:51130:regional-demand-v3.1:202606",</a:t>
            </a:r>
          </a:p>
          <a:p>
            <a:r>
              <a:t>      "source_url": "",</a:t>
            </a:r>
          </a:p>
          <a:p>
            <a:r>
              <a:t>      "source_type": "model_forecast",</a:t>
            </a:r>
          </a:p>
          <a:p>
            <a:r>
              <a:t>      "model_version": "regional-demand-v3.1",</a:t>
            </a:r>
          </a:p>
          <a:p>
            <a:r>
              <a:t>      "data_fingerprint": "1f7caf31818b53f22347c7318503ea14cbef8a3765f5b75b8191fe8ca2193349"</a:t>
            </a:r>
          </a:p>
          <a:p>
            <a:r>
              <a:t>    },</a:t>
            </a:r>
          </a:p>
          <a:p>
            <a:r>
              <a:t>    {</a:t>
            </a:r>
          </a:p>
          <a:p>
            <a:r>
              <a:t>      "title": "감악산캠핑숲",</a:t>
            </a:r>
          </a:p>
          <a:p>
            <a:r>
              <a:t>      "address": "강원특별자치도 원주시 신림면 신림황둔로 714",</a:t>
            </a:r>
          </a:p>
          <a:p>
            <a:r>
              <a:t>      "summary": "한국관광공사 국문관광정보 API가 반환한 선택 지역 관광자원",</a:t>
            </a:r>
          </a:p>
          <a:p>
            <a:r>
              <a:t>      "image_url": "http://tong.visitkorea.or.kr/cms/resource/64/2732964_image2_1.JPG",</a:t>
            </a:r>
          </a:p>
          <a:p>
            <a:r>
              <a:t>      "source_id": "tour-api:2732999",</a:t>
            </a:r>
          </a:p>
          <a:p>
            <a:r>
              <a:t>      "content_id": "2732999",</a:t>
            </a:r>
          </a:p>
          <a:p>
            <a:r>
              <a:t>      "source_url": "https://apis.data.go.kr/B551011/KorService2",</a:t>
            </a:r>
          </a:p>
          <a:p>
            <a:r>
              <a:t>      "source_type": "open_api",</a:t>
            </a:r>
          </a:p>
          <a:p>
            <a:r>
              <a:t>      "content_type_id": "28"</a:t>
            </a:r>
          </a:p>
          <a:p>
            <a:r>
              <a:t>    },</a:t>
            </a:r>
          </a:p>
          <a:p>
            <a:r>
              <a:t>    {</a:t>
            </a:r>
          </a:p>
          <a:p>
            <a:r>
              <a:t>      "title": "강원감영관찰사·무릉고서화미술박물관",</a:t>
            </a:r>
          </a:p>
          <a:p>
            <a:r>
              <a:t>      "address": "강원특별자치도 원주시 흥업면 사제로 399-10",</a:t>
            </a:r>
          </a:p>
          <a:p>
            <a:r>
              <a:t>      "summary": "한국관광공사 국문관광정보 API가 반환한 선택 지역 관광자원",</a:t>
            </a:r>
          </a:p>
          <a:p>
            <a:r>
              <a:t>      "image_url": "http://tong.visitkorea.or.kr/cms/resource/64/3437164_image2_1.jpg",</a:t>
            </a:r>
          </a:p>
          <a:p>
            <a:r>
              <a:t>      "source_id": "tour-api:2555010",</a:t>
            </a:r>
          </a:p>
          <a:p>
            <a:r>
              <a:t>      "content_id": "2555010",</a:t>
            </a:r>
          </a:p>
          <a:p>
            <a:r>
              <a:t>      "source_url": "https://apis.data.go.kr/B551011/KorService2",</a:t>
            </a:r>
          </a:p>
          <a:p>
            <a:r>
              <a:t>      "source_type": "open_api",</a:t>
            </a:r>
          </a:p>
          <a:p>
            <a:r>
              <a:t>      "content_type_id": "14"</a:t>
            </a:r>
          </a:p>
          <a:p>
            <a:r>
              <a:t>    },</a:t>
            </a:r>
          </a:p>
          <a:p>
            <a:r>
              <a:t>    {</a:t>
            </a:r>
          </a:p>
          <a:p>
            <a:r>
              <a:t>      "title": "강원도힐링캠핑장",</a:t>
            </a:r>
          </a:p>
          <a:p>
            <a:r>
              <a:t>      "address": "강원특별자치도 원주시 신림면 재사동길 10-38",</a:t>
            </a:r>
          </a:p>
          <a:p>
            <a:r>
              <a:t>      "summary": "한국관광공사 국문관광정보 API가 반환한 선택 지역 관광자원",</a:t>
            </a:r>
          </a:p>
          <a:p>
            <a:r>
              <a:t>      "image_url": "http://tong.visitkorea.or.kr/cms/resource/98/2733998_image2_1.JPG",</a:t>
            </a:r>
          </a:p>
          <a:p>
            <a:r>
              <a:t>      "source_id": "tour-api:2734136",</a:t>
            </a:r>
          </a:p>
          <a:p>
            <a:r>
              <a:t>      "content_id": "2734136",</a:t>
            </a:r>
          </a:p>
          <a:p>
            <a:r>
              <a:t>      "source_url": "https://apis.data.go.kr/B551011/KorService2",</a:t>
            </a:r>
          </a:p>
          <a:p>
            <a:r>
              <a:t>      "source_type": "open_api",</a:t>
            </a:r>
          </a:p>
          <a:p>
            <a:r>
              <a:t>      "content_type_id": "28"</a:t>
            </a:r>
          </a:p>
          <a:p>
            <a:r>
              <a:t>    },</a:t>
            </a:r>
          </a:p>
          <a:p>
            <a:r>
              <a:t>    {</a:t>
            </a:r>
          </a:p>
          <a:p>
            <a:r>
              <a:t>      "title": "경천묘",</a:t>
            </a:r>
          </a:p>
          <a:p>
            <a:r>
              <a:t>      "address": "강원특별자치도 원주시 귀래면 미륵산길 200",</a:t>
            </a:r>
          </a:p>
          <a:p>
            <a:r>
              <a:t>      "summary": "한국관광공사 국문관광정보 API가 반환한 선택 지역 관광자원",</a:t>
            </a:r>
          </a:p>
          <a:p>
            <a:r>
              <a:t>      "image_url": "http://tong.visitkorea.or.kr/cms/resource/56/3379256_image2_1.JPG",</a:t>
            </a:r>
          </a:p>
          <a:p>
            <a:r>
              <a:t>      "source_id": "tour-api:2702477",</a:t>
            </a:r>
          </a:p>
          <a:p>
            <a:r>
              <a:t>      "content_id": "2702477",</a:t>
            </a:r>
          </a:p>
          <a:p>
            <a:r>
              <a:t>      "source_url": "https://apis.data.go.kr/B551011/KorService2",</a:t>
            </a:r>
          </a:p>
          <a:p>
            <a:r>
              <a:t>      "source_type": "open_api",</a:t>
            </a:r>
          </a:p>
          <a:p>
            <a:r>
              <a:t>      "content_type_id": "12"</a:t>
            </a:r>
          </a:p>
          <a:p>
            <a:r>
              <a:t>    },</a:t>
            </a:r>
          </a:p>
          <a:p>
            <a:r>
              <a:t>    {</a:t>
            </a:r>
          </a:p>
          <a:p>
            <a:r>
              <a:t>      "title": "고판화박물관",</a:t>
            </a:r>
          </a:p>
          <a:p>
            <a:r>
              <a:t>      "address": "강원특별자치도 원주시 신림면 물안길 62",</a:t>
            </a:r>
          </a:p>
          <a:p>
            <a:r>
              <a:t>      "summary": "한국관광공사 국문관광정보 API가 반환한 선택 지역 관광자원",</a:t>
            </a:r>
          </a:p>
          <a:p>
            <a:r>
              <a:t>      "image_url": "http://tong.visitkorea.or.kr/cms/resource/36/3375236_image2_1.JPG",</a:t>
            </a:r>
          </a:p>
          <a:p>
            <a:r>
              <a:t>      "source_id": "tour-api:130539",</a:t>
            </a:r>
          </a:p>
          <a:p>
            <a:r>
              <a:t>      "content_id": "130539",</a:t>
            </a:r>
          </a:p>
          <a:p>
            <a:r>
              <a:t>      "source_url": "https://apis.data.go.kr/B551011/KorService2",</a:t>
            </a:r>
          </a:p>
          <a:p>
            <a:r>
              <a:t>      "source_type": "open_api",</a:t>
            </a:r>
          </a:p>
          <a:p>
            <a:r>
              <a:t>      "content_type_id": "14"</a:t>
            </a:r>
          </a:p>
          <a:p>
            <a:r>
              <a:t>    },</a:t>
            </a:r>
          </a:p>
          <a:p>
            <a:r>
              <a:t>    {</a:t>
            </a:r>
          </a:p>
          <a:p>
            <a:r>
              <a:t>      "title": "관음사·국형사계곡",</a:t>
            </a:r>
          </a:p>
          <a:p>
            <a:r>
              <a:t>      "address": "강원특별자치도 원주시 고문골길 169 (행구동)",</a:t>
            </a:r>
          </a:p>
          <a:p>
            <a:r>
              <a:t>      "summary": "한국관광공사 국문관광정보 API가 반환한 선택 지역 관광자원",</a:t>
            </a:r>
          </a:p>
          <a:p>
            <a:r>
              <a:t>      "image_url": "http://tong.visitkorea.or.kr/cms/resource/29/3045629_image2_1.jpg",</a:t>
            </a:r>
          </a:p>
          <a:p>
            <a:r>
              <a:t>      "source_id": "tour-api:125645",</a:t>
            </a:r>
          </a:p>
          <a:p>
            <a:r>
              <a:t>      "content_id": "125645",</a:t>
            </a:r>
          </a:p>
          <a:p>
            <a:r>
              <a:t>      "source_url": "https://apis.data.go.kr/B551011/KorService2",</a:t>
            </a:r>
          </a:p>
          <a:p>
            <a:r>
              <a:t>      "source_type": "open_api",</a:t>
            </a:r>
          </a:p>
          <a:p>
            <a:r>
              <a:t>      "content_type_id": "12"</a:t>
            </a:r>
          </a:p>
          <a:p>
            <a:r>
              <a:t>    },</a:t>
            </a:r>
          </a:p>
          <a:p>
            <a:r>
              <a:t>    {</a:t>
            </a:r>
          </a:p>
          <a:p>
            <a:r>
              <a:t>      "title": "광화문갈비 원주점",</a:t>
            </a:r>
          </a:p>
          <a:p>
            <a:r>
              <a:t>      "address": "강원특별자치도 원주시 능라동길 48 (무실동)",</a:t>
            </a:r>
          </a:p>
          <a:p>
            <a:r>
              <a:t>      "summary": "한국관광공사 국문관광정보 API가 반환한 선택 지역 관광자원",</a:t>
            </a:r>
          </a:p>
          <a:p>
            <a:r>
              <a:t>      "image_url": "http://tong.visitkorea.or.kr/cms/resource/86/3421686_image2_1.jpg",</a:t>
            </a:r>
          </a:p>
          <a:p>
            <a:r>
              <a:t>      "source_id": "tour-api:3356037",</a:t>
            </a:r>
          </a:p>
          <a:p>
            <a:r>
              <a:t>      "content_id": "3356037",</a:t>
            </a:r>
          </a:p>
          <a:p>
            <a:r>
              <a:t>      "source_url": "https://apis.data.go.kr/B551011/KorService2",</a:t>
            </a:r>
          </a:p>
          <a:p>
            <a:r>
              <a:t>      "source_type": "open_api",</a:t>
            </a:r>
          </a:p>
          <a:p>
            <a:r>
              <a:t>      "content_type_id": "39"</a:t>
            </a:r>
          </a:p>
          <a:p>
            <a:r>
              <a:t>    },</a:t>
            </a:r>
          </a:p>
          <a:p>
            <a:r>
              <a:t>    {</a:t>
            </a:r>
          </a:p>
          <a:p>
            <a:r>
              <a:t>      "title": "구 조선식산은행 원주지점",</a:t>
            </a:r>
          </a:p>
          <a:p>
            <a:r>
              <a:t>      "address": "강원특별자치도 원주시 중앙로 88 (중앙동)",</a:t>
            </a:r>
          </a:p>
          <a:p>
            <a:r>
              <a:t>      "summary": "한국관광공사 국문관광정보 API가 반환한 선택 지역 관광자원",</a:t>
            </a:r>
          </a:p>
          <a:p>
            <a:r>
              <a:t>      "image_url": "http://tong.visitkorea.or.kr/cms/resource/78/3379278_image2_1.JPG",</a:t>
            </a:r>
          </a:p>
          <a:p>
            <a:r>
              <a:t>      "source_id": "tour-api:2762710",</a:t>
            </a:r>
          </a:p>
          <a:p>
            <a:r>
              <a:t>      "content_id": "2762710",</a:t>
            </a:r>
          </a:p>
          <a:p>
            <a:r>
              <a:t>      "source_url": "https://apis.data.go.kr/B551011/KorService2",</a:t>
            </a:r>
          </a:p>
          <a:p>
            <a:r>
              <a:t>      "source_type": "open_api",</a:t>
            </a:r>
          </a:p>
          <a:p>
            <a:r>
              <a:t>      "content_type_id": "12"</a:t>
            </a:r>
          </a:p>
          <a:p>
            <a:r>
              <a:t>    },</a:t>
            </a:r>
          </a:p>
          <a:p>
            <a:r>
              <a:t>    {</a:t>
            </a:r>
          </a:p>
          <a:p>
            <a:r>
              <a:t>      "title": "국형사",</a:t>
            </a:r>
          </a:p>
          <a:p>
            <a:r>
              <a:t>      "address": "강원특별자치도 원주시 고문골길 155 (행구동)",</a:t>
            </a:r>
          </a:p>
          <a:p>
            <a:r>
              <a:t>      "summary": "한국관광공사 국문관광정보 API가 반환한 선택 지역 관광자원",</a:t>
            </a:r>
          </a:p>
          <a:p>
            <a:r>
              <a:t>      "image_url": "http://tong.visitkorea.or.kr/cms/resource/87/3559187_image2_1.jpeg",</a:t>
            </a:r>
          </a:p>
          <a:p>
            <a:r>
              <a:t>      "source_id": "tour-api:125757",</a:t>
            </a:r>
          </a:p>
          <a:p>
            <a:r>
              <a:t>      "content_id": "125757",</a:t>
            </a:r>
          </a:p>
          <a:p>
            <a:r>
              <a:t>      "source_url": "https://apis.data.go.kr/B551011/KorService2",</a:t>
            </a:r>
          </a:p>
          <a:p>
            <a:r>
              <a:t>      "source_type": "open_api",</a:t>
            </a:r>
          </a:p>
          <a:p>
            <a:r>
              <a:t>      "content_type_id": "12"</a:t>
            </a:r>
          </a:p>
          <a:p>
            <a:r>
              <a:t>    },</a:t>
            </a:r>
          </a:p>
          <a:p>
            <a:r>
              <a:t>    {</a:t>
            </a:r>
          </a:p>
          <a:p>
            <a:r>
              <a:t>      "title": "금대 에코힐링 캠핑장",</a:t>
            </a:r>
          </a:p>
          <a:p>
            <a:r>
              <a:t>      "address": "강원특별자치도 원주시 판부면 영원산성길 372",</a:t>
            </a:r>
          </a:p>
          <a:p>
            <a:r>
              <a:t>      "summary": "한국관광공사 국문관광정보 API가 반환한 선택 지역 관광자원",</a:t>
            </a:r>
          </a:p>
          <a:p>
            <a:r>
              <a:t>      "image_url": "http://tong.visitkorea.or.kr/cms/resource/95/2011295_image2_1.jpg",</a:t>
            </a:r>
          </a:p>
          <a:p>
            <a:r>
              <a:t>      "source_id": "tour-api:2033279",</a:t>
            </a:r>
          </a:p>
          <a:p>
            <a:r>
              <a:t>      "content_id": "2033279",</a:t>
            </a:r>
          </a:p>
          <a:p>
            <a:r>
              <a:t>      "source_url": "https://apis.data.go.kr/B551011/KorService2",</a:t>
            </a:r>
          </a:p>
          <a:p>
            <a:r>
              <a:t>      "source_type": "open_api",</a:t>
            </a:r>
          </a:p>
          <a:p>
            <a:r>
              <a:t>      "content_type_id": "28"</a:t>
            </a:r>
          </a:p>
          <a:p>
            <a:r>
              <a:t>    },</a:t>
            </a:r>
          </a:p>
          <a:p>
            <a:r>
              <a:t>    {</a:t>
            </a:r>
          </a:p>
          <a:p>
            <a:r>
              <a:t>      "title": "금대계곡",</a:t>
            </a:r>
          </a:p>
          <a:p>
            <a:r>
              <a:t>      "address": "강원특별자치도 원주시 판부면 치악로 546-22",</a:t>
            </a:r>
          </a:p>
          <a:p>
            <a:r>
              <a:t>      "summary": "한국관광공사 국문관광정보 API가 반환한 선택 지역 관광자원",</a:t>
            </a:r>
          </a:p>
          <a:p>
            <a:r>
              <a:t>      "image_url": "http://tong.visitkorea.or.kr/cms/resource/85/3045285_image2_1.jpg",</a:t>
            </a:r>
          </a:p>
          <a:p>
            <a:r>
              <a:t>      "source_id": "tour-api:129676",</a:t>
            </a:r>
          </a:p>
          <a:p>
            <a:r>
              <a:t>      "content_id": "129676",</a:t>
            </a:r>
          </a:p>
          <a:p>
            <a:r>
              <a:t>      "source_url": "https://apis.data.go.kr/B551011/KorService2",</a:t>
            </a:r>
          </a:p>
          <a:p>
            <a:r>
              <a:t>      "source_type": "open_api",</a:t>
            </a:r>
          </a:p>
          <a:p>
            <a:r>
              <a:t>      "content_type_id": "12"</a:t>
            </a:r>
          </a:p>
          <a:p>
            <a:r>
              <a:t>    },</a:t>
            </a:r>
          </a:p>
          <a:p>
            <a:r>
              <a:t>    {</a:t>
            </a:r>
          </a:p>
          <a:p>
            <a:r>
              <a:t>      "title": "금대자동차야영장",</a:t>
            </a:r>
          </a:p>
          <a:p>
            <a:r>
              <a:t>      "address": "강원특별자치도 원주시 판부면 영원산성길 372",</a:t>
            </a:r>
          </a:p>
          <a:p>
            <a:r>
              <a:t>      "summary": "한국관광공사 국문관광정보 API가 반환한 선택 지역 관광자원",</a:t>
            </a:r>
          </a:p>
          <a:p>
            <a:r>
              <a:t>      "image_url": "http://tong.visitkorea.or.kr/cms/resource/97/2734897_image2_1.JPG",</a:t>
            </a:r>
          </a:p>
          <a:p>
            <a:r>
              <a:t>      "source_id": "tour-api:2734906",</a:t>
            </a:r>
          </a:p>
          <a:p>
            <a:r>
              <a:t>      "content_id": "2734906",</a:t>
            </a:r>
          </a:p>
          <a:p>
            <a:r>
              <a:t>      "source_url": "https://apis.data.go.kr/B551011/KorService2",</a:t>
            </a:r>
          </a:p>
          <a:p>
            <a:r>
              <a:t>      "source_type": "open_api",</a:t>
            </a:r>
          </a:p>
          <a:p>
            <a:r>
              <a:t>      "content_type_id": "28"</a:t>
            </a:r>
          </a:p>
          <a:p>
            <a:r>
              <a:t>    },</a:t>
            </a:r>
          </a:p>
          <a:p>
            <a:r>
              <a:t>    {</a:t>
            </a:r>
          </a:p>
          <a:p>
            <a:r>
              <a:t>      "title": "기후변화홍보관",</a:t>
            </a:r>
          </a:p>
          <a:p>
            <a:r>
              <a:t>      "address": "강원특별자치도 원주시 행구로 362",</a:t>
            </a:r>
          </a:p>
          <a:p>
            <a:r>
              <a:t>      "summary": "한국관광공사 국문관광정보 API가 반환한 선택 지역 관광자원",</a:t>
            </a:r>
          </a:p>
          <a:p>
            <a:r>
              <a:t>      "image_url": "http://tong.visitkorea.or.kr/cms/resource/40/3533840_image2_1.JPG",</a:t>
            </a:r>
          </a:p>
          <a:p>
            <a:r>
              <a:t>      "source_id": "tour-api:2714800",</a:t>
            </a:r>
          </a:p>
          <a:p>
            <a:r>
              <a:t>      "content_id": "2714800",</a:t>
            </a:r>
          </a:p>
          <a:p>
            <a:r>
              <a:t>      "source_url": "https://apis.data.go.kr/B551011/KorService2",</a:t>
            </a:r>
          </a:p>
          <a:p>
            <a:r>
              <a:t>      "source_type": "open_api",</a:t>
            </a:r>
          </a:p>
          <a:p>
            <a:r>
              <a:t>      "content_type_id": "14"</a:t>
            </a:r>
          </a:p>
          <a:p>
            <a:r>
              <a:t>    },</a:t>
            </a:r>
          </a:p>
          <a:p>
            <a:r>
              <a:t>    {</a:t>
            </a:r>
          </a:p>
          <a:p>
            <a:r>
              <a:t>      "title": "김가네원주추어탕",</a:t>
            </a:r>
          </a:p>
          <a:p>
            <a:r>
              <a:t>      "address": "강원특별자치도 원주시 단관공원길 90-3",</a:t>
            </a:r>
          </a:p>
          <a:p>
            <a:r>
              <a:t>      "summary": "한국관광공사 국문관광정보 API가 반환한 선택 지역 관광자원",</a:t>
            </a:r>
          </a:p>
          <a:p>
            <a:r>
              <a:t>      "image_url": "http://tong.visitkorea.or.kr/cms/resource/25/2892325_image2_1.jpg",</a:t>
            </a:r>
          </a:p>
          <a:p>
            <a:r>
              <a:t>      "source_id": "tour-api:2892327",</a:t>
            </a:r>
          </a:p>
          <a:p>
            <a:r>
              <a:t>      "content_id": "2892327",</a:t>
            </a:r>
          </a:p>
          <a:p>
            <a:r>
              <a:t>      "source_url": "https://apis.data.go.kr/B551011/KorService2",</a:t>
            </a:r>
          </a:p>
          <a:p>
            <a:r>
              <a:t>      "source_type": "open_api",</a:t>
            </a:r>
          </a:p>
          <a:p>
            <a:r>
              <a:t>      "content_type_id": "39"</a:t>
            </a:r>
          </a:p>
          <a:p>
            <a:r>
              <a:t>    },</a:t>
            </a:r>
          </a:p>
          <a:p>
            <a:r>
              <a:t>    {</a:t>
            </a:r>
          </a:p>
          <a:p>
            <a:r>
              <a:t>      "title": "김제남 신도비",</a:t>
            </a:r>
          </a:p>
          <a:p>
            <a:r>
              <a:t>      "address": "강원특별자치도 원주시 지정면 흥법사지길 18",</a:t>
            </a:r>
          </a:p>
          <a:p>
            <a:r>
              <a:t>      "summary": "한국관광공사 국문관광정보 API가 반환한 선택 지역 관광자원",</a:t>
            </a:r>
          </a:p>
          <a:p>
            <a:r>
              <a:t>      "image_url": "http://tong.visitkorea.or.kr/cms/resource/28/3376528_image2_1.JPG",</a:t>
            </a:r>
          </a:p>
          <a:p>
            <a:r>
              <a:t>      "source_id": "tour-api:129284",</a:t>
            </a:r>
          </a:p>
          <a:p>
            <a:r>
              <a:t>      "content_id": "129284",</a:t>
            </a:r>
          </a:p>
          <a:p>
            <a:r>
              <a:t>      "source_url": "https://apis.data.go.kr/B551011/KorService2",</a:t>
            </a:r>
          </a:p>
          <a:p>
            <a:r>
              <a:t>      "source_type": "open_api",</a:t>
            </a:r>
          </a:p>
          <a:p>
            <a:r>
              <a:t>      "content_type_id": "12"</a:t>
            </a:r>
          </a:p>
          <a:p>
            <a:r>
              <a:t>    },</a:t>
            </a:r>
          </a:p>
          <a:p>
            <a:r>
              <a:t>    {</a:t>
            </a:r>
          </a:p>
          <a:p>
            <a:r>
              <a:t>      "title": "넌스키 난보드",</a:t>
            </a:r>
          </a:p>
          <a:p>
            <a:r>
              <a:t>      "address": "강원특별자치도 원주시 지정면 구재로 132",</a:t>
            </a:r>
          </a:p>
          <a:p>
            <a:r>
              <a:t>      "summary": "한국관광공사 국문관광정보 API가 반환한 선택 지역 관광자원",</a:t>
            </a:r>
          </a:p>
          <a:p>
            <a:r>
              <a:t>      "image_url": "http://tong.visitkorea.or.kr/cms/resource/73/3562173_image2_1.jpg",</a:t>
            </a:r>
          </a:p>
          <a:p>
            <a:r>
              <a:t>      "source_id": "tour-api:512084",</a:t>
            </a:r>
          </a:p>
          <a:p>
            <a:r>
              <a:t>      "content_id": "512084",</a:t>
            </a:r>
          </a:p>
          <a:p>
            <a:r>
              <a:t>      "source_url": "https://apis.data.go.kr/B551011/KorService2",</a:t>
            </a:r>
          </a:p>
          <a:p>
            <a:r>
              <a:t>      "source_type": "open_api",</a:t>
            </a:r>
          </a:p>
          <a:p>
            <a:r>
              <a:t>      "content_type_id": "28"</a:t>
            </a:r>
          </a:p>
          <a:p>
            <a:r>
              <a:t>    },</a:t>
            </a:r>
          </a:p>
          <a:p>
            <a:r>
              <a:t>    {</a:t>
            </a:r>
          </a:p>
          <a:p>
            <a:r>
              <a:t>      "title": "단관공원",</a:t>
            </a:r>
          </a:p>
          <a:p>
            <a:r>
              <a:t>      "address": "강원특별자치도 원주시 단관공원길 63",</a:t>
            </a:r>
          </a:p>
          <a:p>
            <a:r>
              <a:t>      "summary": "한국관광공사 국문관광정보 API가 반환한 선택 지역 관광자원",</a:t>
            </a:r>
          </a:p>
          <a:p>
            <a:r>
              <a:t>      "image_url": "http://tong.visitkorea.or.kr/cms/resource/43/3334543_image2_1.jpg",</a:t>
            </a:r>
          </a:p>
          <a:p>
            <a:r>
              <a:t>      "source_id": "tour-api:2778036",</a:t>
            </a:r>
          </a:p>
          <a:p>
            <a:r>
              <a:t>      "content_id": "2778036",</a:t>
            </a:r>
          </a:p>
          <a:p>
            <a:r>
              <a:t>      "source_url": "https://apis.data.go.kr/B551011/KorService2",</a:t>
            </a:r>
          </a:p>
          <a:p>
            <a:r>
              <a:t>      "source_type": "open_api",</a:t>
            </a:r>
          </a:p>
          <a:p>
            <a:r>
              <a:t>      "content_type_id": "12"</a:t>
            </a:r>
          </a:p>
          <a:p>
            <a:r>
              <a:t>    },</a:t>
            </a:r>
          </a:p>
          <a:p>
            <a:r>
              <a:t>    {</a:t>
            </a:r>
          </a:p>
          <a:p>
            <a:r>
              <a:t>      "title": "동승루",</a:t>
            </a:r>
          </a:p>
          <a:p>
            <a:r>
              <a:t>      "address": "강원특별자치도 원주시 이화4길 30",</a:t>
            </a:r>
          </a:p>
          <a:p>
            <a:r>
              <a:t>      "summary": "한국관광공사 국문관광정보 API가 반환한 선택 지역 관광자원",</a:t>
            </a:r>
          </a:p>
          <a:p>
            <a:r>
              <a:t>      "image_url": "http://tong.visitkorea.or.kr/cms/resource/15/2892315_image2_1.jpg",</a:t>
            </a:r>
          </a:p>
          <a:p>
            <a:r>
              <a:t>      "source_id": "tour-api:2892320",</a:t>
            </a:r>
          </a:p>
          <a:p>
            <a:r>
              <a:t>      "content_id": "2892320",</a:t>
            </a:r>
          </a:p>
          <a:p>
            <a:r>
              <a:t>      "source_url": "https://apis.data.go.kr/B551011/KorService2",</a:t>
            </a:r>
          </a:p>
          <a:p>
            <a:r>
              <a:t>      "source_type": "open_api",</a:t>
            </a:r>
          </a:p>
          <a:p>
            <a:r>
              <a:t>      "content_type_id": "39"</a:t>
            </a:r>
          </a:p>
          <a:p>
            <a:r>
              <a:t>    },</a:t>
            </a:r>
          </a:p>
          <a:p>
            <a:r>
              <a:t>    {</a:t>
            </a:r>
          </a:p>
          <a:p>
            <a:r>
              <a:t>      "title": "들꽃가든",</a:t>
            </a:r>
          </a:p>
          <a:p>
            <a:r>
              <a:t>      "address": "강원특별자치도 원주시 월송석화로 488",</a:t>
            </a:r>
          </a:p>
          <a:p>
            <a:r>
              <a:t>      "summary": "한국관광공사 국문관광정보 API가 반환한 선택 지역 관광자원",</a:t>
            </a:r>
          </a:p>
          <a:p>
            <a:r>
              <a:t>      "image_url": "http://tong.visitkorea.or.kr/cms/resource/04/2892304_image2_1.jpg",</a:t>
            </a:r>
          </a:p>
          <a:p>
            <a:r>
              <a:t>      "source_id": "tour-api:2892312",</a:t>
            </a:r>
          </a:p>
          <a:p>
            <a:r>
              <a:t>      "content_id": "2892312",</a:t>
            </a:r>
          </a:p>
          <a:p>
            <a:r>
              <a:t>      "source_url": "https://apis.data.go.kr/B551011/KorService2",</a:t>
            </a:r>
          </a:p>
          <a:p>
            <a:r>
              <a:t>      "source_type": "open_api",</a:t>
            </a:r>
          </a:p>
          <a:p>
            <a:r>
              <a:t>      "content_type_id": "39"</a:t>
            </a:r>
          </a:p>
          <a:p>
            <a:r>
              <a:t>    },</a:t>
            </a:r>
          </a:p>
          <a:p>
            <a:r>
              <a:t>    {</a:t>
            </a:r>
          </a:p>
          <a:p>
            <a:r>
              <a:t>      "title": "들꽃이야기",</a:t>
            </a:r>
          </a:p>
          <a:p>
            <a:r>
              <a:t>      "address": "강원특별자치도 원주시 신림면 성남로 323-12",</a:t>
            </a:r>
          </a:p>
          <a:p>
            <a:r>
              <a:t>      "summary": "한국관광공사 국문관광정보 API가 반환한 선택 지역 관광자원",</a:t>
            </a:r>
          </a:p>
          <a:p>
            <a:r>
              <a:t>      "image_url": "http://tong.visitkorea.or.kr/cms/resource/60/3557060_image2_1.jpg",</a:t>
            </a:r>
          </a:p>
          <a:p>
            <a:r>
              <a:t>      "source_id": "tour-api:2809292",</a:t>
            </a:r>
          </a:p>
          <a:p>
            <a:r>
              <a:t>      "content_id": "2809292",</a:t>
            </a:r>
          </a:p>
          <a:p>
            <a:r>
              <a:t>      "source_url": "https://apis.data.go.kr/B551011/KorService2",</a:t>
            </a:r>
          </a:p>
          <a:p>
            <a:r>
              <a:t>      "source_type": "open_api",</a:t>
            </a:r>
          </a:p>
          <a:p>
            <a:r>
              <a:t>      "content_type_id": "39"</a:t>
            </a:r>
          </a:p>
          <a:p>
            <a:r>
              <a:t>    },</a:t>
            </a:r>
          </a:p>
          <a:p>
            <a:r>
              <a:t>    {</a:t>
            </a:r>
          </a:p>
          <a:p>
            <a:r>
              <a:t>      "title": "요즘, 한국관광 2호 - 지방공항 연계 지역관광 활성화 방안",</a:t>
            </a:r>
          </a:p>
          <a:p>
            <a:r>
              <a:t>      "summary": "44제 2장 지방공항 연계 지역관광 활성화 방안 요즘, 한국관광 한국관광공사는 본래의 기능인 해외 홍보마케팅을 통한 인지 형성, 지역 관광생태계 육성, 관광사업 추진을 여정 단계에 맞춰 재배치해야 한다. 해외지사와 국내지사를 연결한 중점지사제를 '관문-연계도시' 단위로 운영하고, 글로벌 OTA 와 현지 여행사가 실제 상품을 만들 수 있도록 상품화 모듈과 전세·임시편 유치를 고도화하며, 선상 마케팅처럼 항공사 기내·LCC 채널을 활용한 권역 홍보를 확대할 수 있어야 할 것이다. 특히 성과지표를 입국자 수와 공급석 중심에서 '입국객의 권역 내 첫 숙박률이나, 1인당 권역 내 소비, 지방 이동 비중' 중심으로 전환하고, 통신·카드 데이터에 소셜 담론 데이터를 결합한 공항-권역 대시보드를 상시 운영해 데이터 기반 성과관리를 지속적으로 보여주는 데이터 기반의 지방공항 중심 관광권 상황실을 구축하여야 한다. 지방자치단체와 한국공항공사는 공항에서 지역 상권까지 이어지는 현장 수용태세를 보다 면밀히 고려하는 정책과 사업이 필요하다. 공항 접근 교통과 안내·결제, 다국어 환경, 터미널과 도심·거점 관광지를 잇는 셔틀, 권역 내 숙박과 야간 콘텐츠는 지자체의 실행력이 좌우하는 영역이다. 공항 소재 지자체 단위 협의를 넘어 청주는 대전·세종·충남, 대구는 경북과 함께 상품·교통·마케팅 예산을 묶는 관광권 협의체를 구성하고, 중장기적으로는 일본의 광역연계 DMO처럼 권역 단위의 상설 조직과 재원으로 발전시켜야 한다. 민관협력은 이 체계를 지속 가능하게 만드는 가장 중요한 동인이라 할 수 있다. 항공사·LCC에는 신규 노선의 초기 리스크를 지방정부·공사와 분담하는 노선 개발 협약과 기내 권역 홍보를, 글로벌 OTA·현지 여행사에는 권역 루트 상품의",</a:t>
            </a:r>
          </a:p>
          <a:p>
            <a:r>
              <a:t>      "chunk_id": "reference:kto:2026:local-airport:page:044:chunk:01",</a:t>
            </a:r>
          </a:p>
          <a:p>
            <a:r>
              <a:t>      "source_id": "reference:kto:2026:local-airport",</a:t>
            </a:r>
          </a:p>
          <a:p>
            <a:r>
              <a:t>      "source_url": "https://datalab.visitkorea.or.kr/site/portal/ex/bbs/View.do?bcIdx=311068&amp;cbIdx=1135&amp;pageIndex=1",</a:t>
            </a:r>
          </a:p>
          <a:p>
            <a:r>
              <a:t>      "case_region": "",</a:t>
            </a:r>
          </a:p>
          <a:p>
            <a:r>
              <a:t>      "region_code": "ALL",</a:t>
            </a:r>
          </a:p>
          <a:p>
            <a:r>
              <a:t>      "region_name": "전국 공통",</a:t>
            </a:r>
          </a:p>
          <a:p>
            <a:r>
              <a:t>      "source_note": "지방공항·연계 지역에 관한 자료입니다. 다른 시군구의 사업 효과·예산을 보장하는 근거로 사용하지 않습니다.",</a:t>
            </a:r>
          </a:p>
          <a:p>
            <a:r>
              <a:t>      "source_type": "rag",</a:t>
            </a:r>
          </a:p>
          <a:p>
            <a:r>
              <a:t>      "intervention": "",</a:t>
            </a:r>
          </a:p>
          <a:p>
            <a:r>
              <a:t>      "document_type": "policy",</a:t>
            </a:r>
          </a:p>
          <a:p>
            <a:r>
              <a:t>      "matched_terms": [</a:t>
            </a:r>
          </a:p>
          <a:p>
            <a:r>
              <a:t>        "결제",</a:t>
            </a:r>
          </a:p>
          <a:p>
            <a:r>
              <a:t>        "관광사업",</a:t>
            </a:r>
          </a:p>
          <a:p>
            <a:r>
              <a:t>        "상권",</a:t>
            </a:r>
          </a:p>
          <a:p>
            <a:r>
              <a:t>        "성과",</a:t>
            </a:r>
          </a:p>
          <a:p>
            <a:r>
              <a:t>        "소비",</a:t>
            </a:r>
          </a:p>
          <a:p>
            <a:r>
              <a:t>        "수와",</a:t>
            </a:r>
          </a:p>
          <a:p>
            <a:r>
              <a:t>        "숙박",</a:t>
            </a:r>
          </a:p>
          <a:p>
            <a:r>
              <a:t>        "실제",</a:t>
            </a:r>
          </a:p>
          <a:p>
            <a:r>
              <a:t>        "실행",</a:t>
            </a:r>
          </a:p>
          <a:p>
            <a:r>
              <a:t>        "연결한",</a:t>
            </a:r>
          </a:p>
          <a:p>
            <a:r>
              <a:t>        "연계",</a:t>
            </a:r>
          </a:p>
          <a:p>
            <a:r>
              <a:t>        "예산",</a:t>
            </a:r>
          </a:p>
          <a:p>
            <a:r>
              <a:t>        "운영",</a:t>
            </a:r>
          </a:p>
          <a:p>
            <a:r>
              <a:t>        "이어지는",</a:t>
            </a:r>
          </a:p>
          <a:p>
            <a:r>
              <a:t>        "전환",</a:t>
            </a:r>
          </a:p>
          <a:p>
            <a:r>
              <a:t>        "중심으로",</a:t>
            </a:r>
          </a:p>
          <a:p>
            <a:r>
              <a:t>        "지역",</a:t>
            </a:r>
          </a:p>
          <a:p>
            <a:r>
              <a:t>        "체류",</a:t>
            </a:r>
          </a:p>
          <a:p>
            <a:r>
              <a:t>        "함께",</a:t>
            </a:r>
          </a:p>
          <a:p>
            <a:r>
              <a:t>        "현장",</a:t>
            </a:r>
          </a:p>
          <a:p>
            <a:r>
              <a:t>        "협약"</a:t>
            </a:r>
          </a:p>
          <a:p>
            <a:r>
              <a:t>      ],</a:t>
            </a:r>
          </a:p>
          <a:p>
            <a:r>
              <a:t>      "page_references": "PDF 44쪽, PDF 43쪽, PDF 38쪽, PDF 40쪽, PDF 41쪽, PDF 36쪽, PDF 41쪽, PDF 44쪽, PDF 43쪽, PDF 43쪽",</a:t>
            </a:r>
          </a:p>
          <a:p>
            <a:r>
              <a:t>      "parent_source_id": "reference:kto:2026:local-airport",</a:t>
            </a:r>
          </a:p>
          <a:p>
            <a:r>
              <a:t>      "retrieval_method": "local_curated_chunk",</a:t>
            </a:r>
          </a:p>
          <a:p>
            <a:r>
              <a:t>      "evidence_strength": "medium",</a:t>
            </a:r>
          </a:p>
          <a:p>
            <a:r>
              <a:t>      "published_or_updated_at": "2026-08",</a:t>
            </a:r>
          </a:p>
          <a:p>
            <a:r>
              <a:t>      "chunk_ids": [</a:t>
            </a:r>
          </a:p>
          <a:p>
            <a:r>
              <a:t>        "reference:kto:2026:local-airport:page:036:chunk:01",</a:t>
            </a:r>
          </a:p>
          <a:p>
            <a:r>
              <a:t>        "reference:kto:2026:local-airport:page:038:chunk:01",</a:t>
            </a:r>
          </a:p>
          <a:p>
            <a:r>
              <a:t>        "reference:kto:2026:local-airport:page:040:chunk:02",</a:t>
            </a:r>
          </a:p>
          <a:p>
            <a:r>
              <a:t>        "reference:kto:2026:local-airport:page:041:chunk:01",</a:t>
            </a:r>
          </a:p>
          <a:p>
            <a:r>
              <a:t>        "reference:kto:2026:local-airport:page:041:chunk:02",</a:t>
            </a:r>
          </a:p>
          <a:p>
            <a:r>
              <a:t>        "reference:kto:2026:local-airport:page:043:chunk:01",</a:t>
            </a:r>
          </a:p>
          <a:p>
            <a:r>
              <a:t>        "reference:kto:2026:local-airport:page:043:chunk:02",</a:t>
            </a:r>
          </a:p>
          <a:p>
            <a:r>
              <a:t>        "reference:kto:2026:local-airport:page:043:chunk:03",</a:t>
            </a:r>
          </a:p>
          <a:p>
            <a:r>
              <a:t>        "reference:kto:2026:local-airport:page:044:chunk:01",</a:t>
            </a:r>
          </a:p>
          <a:p>
            <a:r>
              <a:t>        "reference:kto:2026:local-airport:page:044:chunk:02"</a:t>
            </a:r>
          </a:p>
          <a:p>
            <a:r>
              <a:t>      ],</a:t>
            </a:r>
          </a:p>
          <a:p>
            <a:r>
              <a:t>      "source_chunk_count": 10</a:t>
            </a:r>
          </a:p>
          <a:p>
            <a:r>
              <a:t>    },</a:t>
            </a:r>
          </a:p>
          <a:p>
            <a:r>
              <a:t>    {</a:t>
            </a:r>
          </a:p>
          <a:p>
            <a:r>
              <a:t>      "title": "전주시 2026년도 관광산업과 세출예산 사업명세서",</a:t>
            </a:r>
          </a:p>
          <a:p>
            <a:r>
              <a:t>      "summary": "전북특별자치도 전주시 · 야간관광 특화도시 예산 편성 · 예산서이므로 방문·소비 성과는 확인되지 않음",</a:t>
            </a:r>
          </a:p>
          <a:p>
            <a:r>
              <a:t>      "source_id": "case:jeonju_night_budget_2026",</a:t>
            </a:r>
          </a:p>
          <a:p>
            <a:r>
              <a:t>      "source_url": "https://jeonju.go.kr/resource/www/images/download/budget/2026/2026_31_2.pdf",</a:t>
            </a:r>
          </a:p>
          <a:p>
            <a:r>
              <a:t>      "case_region": "전북특별자치도 전주시",</a:t>
            </a:r>
          </a:p>
          <a:p>
            <a:r>
              <a:t>      "source_type": "benchmark_case",</a:t>
            </a:r>
          </a:p>
          <a:p>
            <a:r>
              <a:t>      "intervention": "야간관광 특화도시 예산 편성",</a:t>
            </a:r>
          </a:p>
          <a:p>
            <a:r>
              <a:t>      "operating_model": "사무관리, 행사운영, 연구용역, 민간경상보조 등으로 사업비를 항목별 편성",</a:t>
            </a:r>
          </a:p>
          <a:p>
            <a:r>
              <a:t>      "evidence_strength": "high",</a:t>
            </a:r>
          </a:p>
          <a:p>
            <a:r>
              <a:t>      "published_or_updated_at": "2026",</a:t>
            </a:r>
          </a:p>
          <a:p>
            <a:r>
              <a:t>      "quantitative_result_approved": null</a:t>
            </a:r>
          </a:p>
          <a:p>
            <a:r>
              <a:t>    },</a:t>
            </a:r>
          </a:p>
          <a:p>
            <a:r>
              <a:t>    {</a:t>
            </a:r>
          </a:p>
          <a:p>
            <a:r>
              <a:t>      "title": "(기획) 인천을 즐기는 가장 쉬운(easy) 방법 … 인천e지",</a:t>
            </a:r>
          </a:p>
          <a:p>
            <a:r>
              <a:t>      "summary": "인천광역시 · 스마트관광 플랫폼 ‘인천e지’의 추천·동선·스탬프·가맹점 쿠폰 통합 운영 · 2025년 9월 7일 기준 회원 10만 명, 누적 다운로드 29만 건이었다. 2025년 1~8월 프로모션 참여 18,499건, 쿠폰 이용 33,514건으로 전년 대비 각각 107%, 251% 증가했다. 다만 다운로드·쿠폰 증가가 지역 전체 관광소비의 순증 효과라는 의미는 아니다. ([incheon.go.kr](https://www.incheon.go.kr/IC010205/view?beginDt=&amp;curPage=1&amp;endDt=&amp;repSeq=DOM_0000000013130282&amp;srchMainManagerDeptNm=&amp;srchRepContents=%EC%A3%BC%EC%B0%A8&amp;srchRepTitle=))",</a:t>
            </a:r>
          </a:p>
          <a:p>
            <a:r>
              <a:t>      "source_id": "case:4625625dcbf2ae",</a:t>
            </a:r>
          </a:p>
          <a:p>
            <a:r>
              <a:t>      "source_url": "https://www.incheon.go.kr/IC010205/view?beginDt=&amp;curPage=1&amp;endDt=&amp;repSeq=DOM_0000000013130282&amp;srchMainManagerDeptNm=&amp;srchRepContents=%EC%A3%BC%EC%B0%A8&amp;srchRepTitle=",</a:t>
            </a:r>
          </a:p>
          <a:p>
            <a:r>
              <a:t>      "case_region": "인천광역시",</a:t>
            </a:r>
          </a:p>
          <a:p>
            <a:r>
              <a:t>      "source_type": "benchmark_case",</a:t>
            </a:r>
          </a:p>
          <a:p>
            <a:r>
              <a:t>      "intervention": "스마트관광 플랫폼 ‘인천e지’의 추천·동선·스탬프·가맹점 쿠폰 통합 운영",</a:t>
            </a:r>
          </a:p>
          <a:p>
            <a:r>
              <a:t>      "operating_model": "개인 맞춤형 여행 추천, 지도·교통·주차 정보, 축제 연계 스탬프투어와 스마트 쿠폰을 하나의 앱에서 제공한다. 2025년에는 가맹 서점 할인쿠폰과 책방 패스, 오프라인 행사를 결합해 기존 관광 동선을 문화상권으로 확장했다.",</a:t>
            </a:r>
          </a:p>
          <a:p>
            <a:r>
              <a:t>      "evidence_strength": "medium",</a:t>
            </a:r>
          </a:p>
          <a:p>
            <a:r>
              <a:t>      "published_or_updated_at": "2025-09-16",</a:t>
            </a:r>
          </a:p>
          <a:p>
            <a:r>
              <a:t>      "quantitative_result_approved": null</a:t>
            </a:r>
          </a:p>
          <a:p>
            <a:r>
              <a:t>    },</a:t>
            </a:r>
          </a:p>
          <a:p>
            <a:r>
              <a:t>    {</a:t>
            </a:r>
          </a:p>
          <a:p>
            <a:r>
              <a:t>      "title": "2024년 6월 여행가는 달 추진 보도자료",</a:t>
            </a:r>
          </a:p>
          <a:p>
            <a:r>
              <a:t>      "summary": "전국 인구감소지역 34곳 · 디지털 관광주민증과 교통·숙박·상점 할인 결합 · 2024년 34개 지역 약 800개 관광업체에 혜택 구조를 적용",</a:t>
            </a:r>
          </a:p>
          <a:p>
            <a:r>
              <a:t>      "source_id": "case:digital_tourism_resident_2024",</a:t>
            </a:r>
          </a:p>
          <a:p>
            <a:r>
              <a:t>      "source_url": "https://mcst.go.kr/servlets/eduport/front/upload/UplDownloadFile?pFileName=%280514%29%EB%AC%B8%EC%B2%B4%EB%B6%80%EB%B3%B4%EB%8F%84%EC%9E%90%EB%A3%8C-6%EC%9B%94_%EC%97%AC%ED%96%89%EA%B0%80%EB%8A%94_%EB%8B%AC_%EC%B6%94%EC%A7%84.pdf&amp;pPath=0302000000&amp;pRealName=20240514083202149235802932_PRESS20240514083202456506.pdf",</a:t>
            </a:r>
          </a:p>
          <a:p>
            <a:r>
              <a:t>      "case_region": "전국 인구감소지역 34곳",</a:t>
            </a:r>
          </a:p>
          <a:p>
            <a:r>
              <a:t>      "source_type": "benchmark_case",</a:t>
            </a:r>
          </a:p>
          <a:p>
            <a:r>
              <a:t>      "intervention": "디지털 관광주민증과 교통·숙박·상점 할인 결합",</a:t>
            </a:r>
          </a:p>
          <a:p>
            <a:r>
              <a:t>      "operating_model": "디지털 관광주민증 참여업체 현장 인증과 숙박·식음·관람·체험 할인, 특정 시간대 KTX 할인과 방문 후 교통 할인권을 결합",</a:t>
            </a:r>
          </a:p>
          <a:p>
            <a:r>
              <a:t>      "evidence_strength": "medium",</a:t>
            </a:r>
          </a:p>
          <a:p>
            <a:r>
              <a:t>      "published_or_updated_at": "2024-05-14",</a:t>
            </a:r>
          </a:p>
          <a:p>
            <a:r>
              <a:t>      "quantitative_result_approved": null</a:t>
            </a:r>
          </a:p>
          <a:p>
            <a:r>
              <a:t>    },</a:t>
            </a:r>
          </a:p>
          <a:p>
            <a:r>
              <a:t>    {</a:t>
            </a:r>
          </a:p>
          <a:p>
            <a:r>
              <a:t>      "title": "2022 대한민국 숙박대전 경제파급효과 공개자료",</a:t>
            </a:r>
          </a:p>
          <a:p>
            <a:r>
              <a:t>      "summary": "전국 숙박할인쿠폰 지원사업 · 온라인 예약 채널 숙박할인쿠폰 · 한국관광공사 자료는 약 104만 명이 할인혜택을 이용했고 서울·제주를 제외한 지역 사용 비율이 76%였다고 소개함",</a:t>
            </a:r>
          </a:p>
          <a:p>
            <a:r>
              <a:t>      "source_id": "case:kto_stay_discount_2022",</a:t>
            </a:r>
          </a:p>
          <a:p>
            <a:r>
              <a:t>      "source_url": "https://kto.visitkorea.or.kr/upload/flexer/upload/ktobiz/20220928/b623b5f9-3ec0-11ed-9832-ddf31964842e.hwp.files/Sections1.html",</a:t>
            </a:r>
          </a:p>
          <a:p>
            <a:r>
              <a:t>      "case_region": "전국 숙박할인쿠폰 지원사업",</a:t>
            </a:r>
          </a:p>
          <a:p>
            <a:r>
              <a:t>      "source_type": "benchmark_case",</a:t>
            </a:r>
          </a:p>
          <a:p>
            <a:r>
              <a:t>      "intervention": "온라인 예약 채널 숙박할인쿠폰",</a:t>
            </a:r>
          </a:p>
          <a:p>
            <a:r>
              <a:t>      "operating_model": "온라인 여행사 예약 단계에서 할인쿠폰을 제공하고, 지역 숙소에서 사용할 수 있도록 참여 채널과 기간을 통합 운영",</a:t>
            </a:r>
          </a:p>
          <a:p>
            <a:r>
              <a:t>      "evidence_strength": "medium",</a:t>
            </a:r>
          </a:p>
          <a:p>
            <a:r>
              <a:t>      "published_or_updated_at": "2022-09-28",</a:t>
            </a:r>
          </a:p>
          <a:p>
            <a:r>
              <a:t>      "quantitative_result_approved": null</a:t>
            </a:r>
          </a:p>
          <a:p>
            <a:r>
              <a:t>    },</a:t>
            </a:r>
          </a:p>
          <a:p>
            <a:r>
              <a:t>    {</a:t>
            </a:r>
          </a:p>
          <a:p>
            <a:r>
              <a:t>      "title": "한강 밤핑(Night+Camping) 행사·공연 정보",</a:t>
            </a:r>
          </a:p>
          <a:p>
            <a:r>
              <a:t>      "summary": "서울특별시 여의도·뚝섬·망원 한강공원 일대 · 한강 밤핑의 시간대 예약·노쇼 보증금·야간 콘텐츠·주변 상권 결합 · 사전예약 규모, 보증금·환급 조건, 할인 및 상권 연계 구조는 확인되지만 실제 참석률, 노쇼 감소율, 쿠폰 사용액과 인근 상권 매출 결과는 공식 자료에서 확인되지 않음. ([hangang.seoul.go.kr](https://hangang.seoul.go.kr/www/eventMng/detail.do?evntSn=441&amp;keyword=&amp;mid=538&amp;opt11=&amp;opt12=&amp;opt13=&amp;opt14=&amp;opt4=&amp;pageNo=2&amp;srchType=list))",</a:t>
            </a:r>
          </a:p>
          <a:p>
            <a:r>
              <a:t>      "source_id": "case:37471b1e063812",</a:t>
            </a:r>
          </a:p>
          <a:p>
            <a:r>
              <a:t>      "source_url": "https://hangang.seoul.go.kr/www/eventMng/detail.do?evntSn=441&amp;keyword=&amp;mid=538&amp;opt11=&amp;opt12=&amp;opt13=&amp;opt14=&amp;opt4=&amp;pageNo=2&amp;srchType=list",</a:t>
            </a:r>
          </a:p>
          <a:p>
            <a:r>
              <a:t>      "case_region": "서울특별시 여의도·뚝섬·망원 한강공원 일대",</a:t>
            </a:r>
          </a:p>
          <a:p>
            <a:r>
              <a:t>      "source_type": "benchmark_case",</a:t>
            </a:r>
          </a:p>
          <a:p>
            <a:r>
              <a:t>      "intervention": "한강 밤핑의 시간대 예약·노쇼 보증금·야간 콘텐츠·주변 상권 결합",</a:t>
            </a:r>
          </a:p>
          <a:p>
            <a:r>
              <a:t>      "operating_model": "총 200개 사이트를 사전예약제로 운영하고 1만 원 보증금을 받아 정상 참석 시 전액 환급했다. 연박과 취사를 제한해 참여 기회를 분산하고 주변 상권 이용을 유도했다. 야간 수영·공연·영화 등 기존 프로그램과 배달앱 즉시할인, 서울사랑상품권 페이백, 인근 21개 전통시장·골목상권 안내를 결합했다.",</a:t>
            </a:r>
          </a:p>
          <a:p>
            <a:r>
              <a:t>      "evidence_strength": "low",</a:t>
            </a:r>
          </a:p>
          <a:p>
            <a:r>
              <a:t>      "published_or_updated_at": "2026-07",</a:t>
            </a:r>
          </a:p>
          <a:p>
            <a:r>
              <a:t>      "quantitative_result_approved": null</a:t>
            </a:r>
          </a:p>
          <a:p>
            <a:r>
              <a:t>    },</a:t>
            </a:r>
          </a:p>
          <a:p>
            <a:r>
              <a:t>    {</a:t>
            </a:r>
          </a:p>
          <a:p>
            <a:r>
              <a:t>      "title": "강진 반값여행 지역경제 효과 소개",</a:t>
            </a:r>
          </a:p>
          <a:p>
            <a:r>
              <a:t>      "summary": "전라남도 강진군 · 반값여행 지역환급 · 상품권 결제 변화에 관한 소개 자료는 있으나, 사업 참여자 범위·정확한 비교 기간·원자료를 확인하지 못해 성과 수치 인용을 보류한다.",</a:t>
            </a:r>
          </a:p>
          <a:p>
            <a:r>
              <a:t>      "source_id": "case:gangjin_half_price_2024",</a:t>
            </a:r>
          </a:p>
          <a:p>
            <a:r>
              <a:t>      "source_url": "https://jnfarm.jeonnam.go.kr/board/FARM_BOARD_008/boardView.do?bdId=BD_00000000000011721&amp;menuCd=farm004002",</a:t>
            </a:r>
          </a:p>
          <a:p>
            <a:r>
              <a:t>      "case_region": "전라남도 강진군",</a:t>
            </a:r>
          </a:p>
          <a:p>
            <a:r>
              <a:t>      "source_type": "benchmark_case",</a:t>
            </a:r>
          </a:p>
          <a:p>
            <a:r>
              <a:t>      "intervention": "반값여행 지역환급",</a:t>
            </a:r>
          </a:p>
          <a:p>
            <a:r>
              <a:t>      "operating_model": "여행자가 지역에서 지출한 비용의 일부를 지역상품권으로 돌려받게 하여 혜택이 다시 지역 상점에서 사용되도록 설계",</a:t>
            </a:r>
          </a:p>
          <a:p>
            <a:r>
              <a:t>      "evidence_strength": "low",</a:t>
            </a:r>
          </a:p>
          <a:p>
            <a:r>
              <a:t>      "published_or_updated_at": "2025-01-02",</a:t>
            </a:r>
          </a:p>
          <a:p>
            <a:r>
              <a:t>      "quantitative_result_approved": false</a:t>
            </a:r>
          </a:p>
          <a:p>
            <a:r>
              <a:t>    },</a:t>
            </a:r>
          </a:p>
          <a:p>
            <a:r>
              <a:t>    {</a:t>
            </a:r>
          </a:p>
          <a:p>
            <a:r>
              <a:t>      "title": "지역사랑 휴가지원(반값여행) 신설 및 ‘대한민국 반값여행’ 성과 분석",</a:t>
            </a:r>
          </a:p>
          <a:p>
            <a:r>
              <a:t>      "summary": "전국 인구감소지역 중 2026년 상반기 선정 16개 지역 · 지역사랑 휴가지원 ‘대한민국 반값여행’ · 문체부는 2026년 6월 22일 상반기 성과 분석과 하반기 운영 방향을 논의했다고 공개했다. 확보된 공식 페이지에서 지역별 신청·방문·소비·환급 수치와 비교집단 결과는 확인되지 않아 정량 성과는 인용하지 않는다. ([mcst.go.kr](https://www.mcst.go.kr/site/s_notice/press/pressView.jsp?pSeq=22528))",</a:t>
            </a:r>
          </a:p>
          <a:p>
            <a:r>
              <a:t>      "source_id": "case:c6d4752e1342a7",</a:t>
            </a:r>
          </a:p>
          <a:p>
            <a:r>
              <a:t>      "source_url": "https://www.mcst.go.kr/site/s_policy/govPolicy/performTotal.jsp",</a:t>
            </a:r>
          </a:p>
          <a:p>
            <a:r>
              <a:t>      "case_region": "전국 인구감소지역 중 2026년 상반기 선정 16개 지역",</a:t>
            </a:r>
          </a:p>
          <a:p>
            <a:r>
              <a:t>      "source_type": "benchmark_case",</a:t>
            </a:r>
          </a:p>
          <a:p>
            <a:r>
              <a:t>      "intervention": "지역사랑 휴가지원 ‘대한민국 반값여행’",</a:t>
            </a:r>
          </a:p>
          <a:p>
            <a:r>
              <a:t>      "operating_model": "대상 지역에서 여행경비를 지출하고 요건을 충족한 방문객에게 지역사랑상품권을 환급한다. 개인은 최대 10만 원, 단체는 최대 20만 원 한도로 설계했으며, 부정수급 방지 지침과 지자체 공모·사전준비 절차를 두었다.",</a:t>
            </a:r>
          </a:p>
          <a:p>
            <a:r>
              <a:t>      "evidence_strength": "medium",</a:t>
            </a:r>
          </a:p>
          <a:p>
            <a:r>
              <a:t>      "published_or_updated_at": "2026-06-22",</a:t>
            </a:r>
          </a:p>
          <a:p>
            <a:r>
              <a:t>      "quantitative_result_approved": null</a:t>
            </a:r>
          </a:p>
          <a:p>
            <a:r>
              <a:t>    },</a:t>
            </a:r>
          </a:p>
          <a:p>
            <a:r>
              <a:t>    {</a:t>
            </a:r>
          </a:p>
          <a:p>
            <a:r>
              <a:t>      "title": "2025 대한민국 밤밤페스타 개최 도시 및 일정",</a:t>
            </a:r>
          </a:p>
          <a:p>
            <a:r>
              <a:t>      "summary": "야간관광 특화도시 10곳 · 도시별 야간 콘텐츠를 순회형 축제로 묶는 운영 · 공식 여행기사는 개최 도시·장소·운영 시간과 콘텐츠만 제시하며 방문·소비 성과 수치는 제시하지 않음",</a:t>
            </a:r>
          </a:p>
          <a:p>
            <a:r>
              <a:t>      "source_id": "case:night_festival_2025",</a:t>
            </a:r>
          </a:p>
          <a:p>
            <a:r>
              <a:t>      "source_url": "https://korean.visitkorea.or.kr/detail/rem_detail.do?cotid=f9c636b2-dd7c-4f09-af3d-6af43b33d371",</a:t>
            </a:r>
          </a:p>
          <a:p>
            <a:r>
              <a:t>      "case_region": "야간관광 특화도시 10곳",</a:t>
            </a:r>
          </a:p>
          <a:p>
            <a:r>
              <a:t>      "source_type": "benchmark_case",</a:t>
            </a:r>
          </a:p>
          <a:p>
            <a:r>
              <a:t>      "intervention": "도시별 야간 콘텐츠를 순회형 축제로 묶는 운영",</a:t>
            </a:r>
          </a:p>
          <a:p>
            <a:r>
              <a:t>      "operating_model": "10개 야간관광 특화도시의 대표 장소와 시간대를 연결하고, 공연·체험·지역 디저트·판매상품 등 도시별 콘텐츠를 순회 일정으로 운영",</a:t>
            </a:r>
          </a:p>
          <a:p>
            <a:r>
              <a:t>      "evidence_strength": "medium",</a:t>
            </a:r>
          </a:p>
          <a:p>
            <a:r>
              <a:t>      "published_or_updated_at": "2025",</a:t>
            </a:r>
          </a:p>
          <a:p>
            <a:r>
              <a:t>      "quantitative_result_approved": null</a:t>
            </a:r>
          </a:p>
          <a:p>
            <a:r>
              <a:t>    }</a:t>
            </a:r>
          </a:p>
          <a:p>
            <a:r>
              <a:t>  ],</a:t>
            </a:r>
          </a:p>
          <a:p>
            <a:r>
              <a:t>  "selected_forecast": {</a:t>
            </a:r>
          </a:p>
          <a:p>
            <a:r>
              <a:t>    "rows": [</a:t>
            </a:r>
          </a:p>
          <a:p>
            <a:r>
              <a:t>      {</a:t>
            </a:r>
          </a:p>
          <a:p>
            <a:r>
              <a:t>        "month": "202609",</a:t>
            </a:r>
          </a:p>
          <a:p>
            <a:r>
              <a:t>        "visitors": 2363056.0,</a:t>
            </a:r>
          </a:p>
          <a:p>
            <a:r>
              <a:t>        "is_forecast": true,</a:t>
            </a:r>
          </a:p>
          <a:p>
            <a:r>
              <a:t>        "spending_krw": 67047345591.0,</a:t>
            </a:r>
          </a:p>
          <a:p>
            <a:r>
              <a:t>        "stay_minutes": 2518.0,</a:t>
            </a:r>
          </a:p>
          <a:p>
            <a:r>
              <a:t>        "lodging_nights": 2.98,</a:t>
            </a:r>
          </a:p>
          <a:p>
            <a:r>
              <a:t>        "lodging_rate_pct": 13.1,</a:t>
            </a:r>
          </a:p>
          <a:p>
            <a:r>
              <a:t>        "lodging_searches": 34529,</a:t>
            </a:r>
          </a:p>
          <a:p>
            <a:r>
              <a:t>        "navigation_searches": 259153,</a:t>
            </a:r>
          </a:p>
          <a:p>
            <a:r>
              <a:t>        "visitor_yoy_percent": 3.0,</a:t>
            </a:r>
          </a:p>
          <a:p>
            <a:r>
              <a:t>        "spending_yoy_percent": 22.29,</a:t>
            </a:r>
          </a:p>
          <a:p>
            <a:r>
              <a:t>        "metric_changes_percent": {</a:t>
            </a:r>
          </a:p>
          <a:p>
            <a:r>
              <a:t>          "stay_minutes": 0.0,</a:t>
            </a:r>
          </a:p>
          <a:p>
            <a:r>
              <a:t>          "lodging_nights": 1.02,</a:t>
            </a:r>
          </a:p>
          <a:p>
            <a:r>
              <a:t>          "lodging_rate_pct": 0.0,</a:t>
            </a:r>
          </a:p>
          <a:p>
            <a:r>
              <a:t>          "lodging_searches": 8.97,</a:t>
            </a:r>
          </a:p>
          <a:p>
            <a:r>
              <a:t>          "navigation_searches": 0.0</a:t>
            </a:r>
          </a:p>
          <a:p>
            <a:r>
              <a:t>        },</a:t>
            </a:r>
          </a:p>
          <a:p>
            <a:r>
              <a:t>        "previous_year_visitors": 2294130,</a:t>
            </a:r>
          </a:p>
          <a:p>
            <a:r>
              <a:t>        "previous_year_spending_krw": 54826341000,</a:t>
            </a:r>
          </a:p>
          <a:p>
            <a:r>
              <a:t>        "previous_year_stay_minutes": 2518.0,</a:t>
            </a:r>
          </a:p>
          <a:p>
            <a:r>
              <a:t>        "previous_year_lodging_nights": 2.95,</a:t>
            </a:r>
          </a:p>
          <a:p>
            <a:r>
              <a:t>        "previous_year_lodging_rate_pct": 13.1,</a:t>
            </a:r>
          </a:p>
          <a:p>
            <a:r>
              <a:t>        "previous_year_lodging_searches": 31686,</a:t>
            </a:r>
          </a:p>
          <a:p>
            <a:r>
              <a:t>        "previous_year_navigation_searches": 259153</a:t>
            </a:r>
          </a:p>
          <a:p>
            <a:r>
              <a:t>      },</a:t>
            </a:r>
          </a:p>
          <a:p>
            <a:r>
              <a:t>      {</a:t>
            </a:r>
          </a:p>
          <a:p>
            <a:r>
              <a:t>        "month": "202610",</a:t>
            </a:r>
          </a:p>
          <a:p>
            <a:r>
              <a:t>        "visitors": 2633270.0,</a:t>
            </a:r>
          </a:p>
          <a:p>
            <a:r>
              <a:t>        "is_forecast": true,</a:t>
            </a:r>
          </a:p>
          <a:p>
            <a:r>
              <a:t>        "spending_krw": 83929975649.0,</a:t>
            </a:r>
          </a:p>
          <a:p>
            <a:r>
              <a:t>        "stay_minutes": 1683.0,</a:t>
            </a:r>
          </a:p>
          <a:p>
            <a:r>
              <a:t>        "lodging_nights": 2.87,</a:t>
            </a:r>
          </a:p>
          <a:p>
            <a:r>
              <a:t>        "lodging_rate_pct": 15.5,</a:t>
            </a:r>
          </a:p>
          <a:p>
            <a:r>
              <a:t>        "lodging_searches": 50011,</a:t>
            </a:r>
          </a:p>
          <a:p>
            <a:r>
              <a:t>        "navigation_searches": 519488,</a:t>
            </a:r>
          </a:p>
          <a:p>
            <a:r>
              <a:t>        "visitor_yoy_percent": -5.94,</a:t>
            </a:r>
          </a:p>
          <a:p>
            <a:r>
              <a:t>        "spending_yoy_percent": 21.43,</a:t>
            </a:r>
          </a:p>
          <a:p>
            <a:r>
              <a:t>        "metric_changes_percent": {</a:t>
            </a:r>
          </a:p>
          <a:p>
            <a:r>
              <a:t>          "stay_minutes": 0.0,</a:t>
            </a:r>
          </a:p>
          <a:p>
            <a:r>
              <a:t>          "lodging_nights": 1.77,</a:t>
            </a:r>
          </a:p>
          <a:p>
            <a:r>
              <a:t>          "lodging_rate_pct": 0.0,</a:t>
            </a:r>
          </a:p>
          <a:p>
            <a:r>
              <a:t>          "lodging_searches": -21.42,</a:t>
            </a:r>
          </a:p>
          <a:p>
            <a:r>
              <a:t>          "navigation_searches": 0.0</a:t>
            </a:r>
          </a:p>
          <a:p>
            <a:r>
              <a:t>        },</a:t>
            </a:r>
          </a:p>
          <a:p>
            <a:r>
              <a:t>        "previous_year_visitors": 2799509,</a:t>
            </a:r>
          </a:p>
          <a:p>
            <a:r>
              <a:t>        "previous_year_spending_krw": 69118387000,</a:t>
            </a:r>
          </a:p>
          <a:p>
            <a:r>
              <a:t>        "previous_year_stay_minutes": 1683.0,</a:t>
            </a:r>
          </a:p>
          <a:p>
            <a:r>
              <a:t>        "previous_year_lodging_nights": 2.82,</a:t>
            </a:r>
          </a:p>
          <a:p>
            <a:r>
              <a:t>        "previous_year_lodging_rate_pct": 15.5,</a:t>
            </a:r>
          </a:p>
          <a:p>
            <a:r>
              <a:t>        "previous_year_lodging_searches": 63645,</a:t>
            </a:r>
          </a:p>
          <a:p>
            <a:r>
              <a:t>        "previous_year_navigation_searches": 519488</a:t>
            </a:r>
          </a:p>
          <a:p>
            <a:r>
              <a:t>      },</a:t>
            </a:r>
          </a:p>
          <a:p>
            <a:r>
              <a:t>      {</a:t>
            </a:r>
          </a:p>
          <a:p>
            <a:r>
              <a:t>        "month": "202611",</a:t>
            </a:r>
          </a:p>
          <a:p>
            <a:r>
              <a:t>        "visitors": 2632315.0,</a:t>
            </a:r>
          </a:p>
          <a:p>
            <a:r>
              <a:t>        "is_forecast": true,</a:t>
            </a:r>
          </a:p>
          <a:p>
            <a:r>
              <a:t>        "spending_krw": 89947681558.0,</a:t>
            </a:r>
          </a:p>
          <a:p>
            <a:r>
              <a:t>        "stay_minutes": 1488.0,</a:t>
            </a:r>
          </a:p>
          <a:p>
            <a:r>
              <a:t>        "lodging_nights": 2.76,</a:t>
            </a:r>
          </a:p>
          <a:p>
            <a:r>
              <a:t>        "lodging_rate_pct": 12.4,</a:t>
            </a:r>
          </a:p>
          <a:p>
            <a:r>
              <a:t>        "lodging_searches": 48286,</a:t>
            </a:r>
          </a:p>
          <a:p>
            <a:r>
              <a:t>        "navigation_searches": 352852,</a:t>
            </a:r>
          </a:p>
          <a:p>
            <a:r>
              <a:t>        "visitor_yoy_percent": 4.18,</a:t>
            </a:r>
          </a:p>
          <a:p>
            <a:r>
              <a:t>        "spending_yoy_percent": 41.26,</a:t>
            </a:r>
          </a:p>
          <a:p>
            <a:r>
              <a:t>        "metric_changes_percent": {</a:t>
            </a:r>
          </a:p>
          <a:p>
            <a:r>
              <a:t>          "stay_minutes": 0.0,</a:t>
            </a:r>
          </a:p>
          <a:p>
            <a:r>
              <a:t>          "lodging_nights": 2.22,</a:t>
            </a:r>
          </a:p>
          <a:p>
            <a:r>
              <a:t>          "lodging_rate_pct": 0.0,</a:t>
            </a:r>
          </a:p>
          <a:p>
            <a:r>
              <a:t>          "lodging_searches": 21.22,</a:t>
            </a:r>
          </a:p>
          <a:p>
            <a:r>
              <a:t>          "navigation_searches": 0.0</a:t>
            </a:r>
          </a:p>
          <a:p>
            <a:r>
              <a:t>        },</a:t>
            </a:r>
          </a:p>
          <a:p>
            <a:r>
              <a:t>        "previous_year_visitors": 2526699,</a:t>
            </a:r>
          </a:p>
          <a:p>
            <a:r>
              <a:t>        "previous_year_spending_krw": 63675989000,</a:t>
            </a:r>
          </a:p>
          <a:p>
            <a:r>
              <a:t>        "previous_year_stay_minutes": 1488.0,</a:t>
            </a:r>
          </a:p>
          <a:p>
            <a:r>
              <a:t>        "previous_year_lodging_nights": 2.7,</a:t>
            </a:r>
          </a:p>
          <a:p>
            <a:r>
              <a:t>        "previous_year_lodging_rate_pct": 12.4,</a:t>
            </a:r>
          </a:p>
          <a:p>
            <a:r>
              <a:t>        "previous_year_lodging_searches": 39833,</a:t>
            </a:r>
          </a:p>
          <a:p>
            <a:r>
              <a:t>        "previous_year_navigation_searches": 352852</a:t>
            </a:r>
          </a:p>
          <a:p>
            <a:r>
              <a:t>      }</a:t>
            </a:r>
          </a:p>
          <a:p>
            <a:r>
              <a:t>    ],</a:t>
            </a:r>
          </a:p>
          <a:p>
            <a:r>
              <a:t>    "period": "202609~202611",</a:t>
            </a:r>
          </a:p>
          <a:p>
            <a:r>
              <a:t>    "complete": true,</a:t>
            </a:r>
          </a:p>
          <a:p>
            <a:r>
              <a:t>    "notes": [</a:t>
            </a:r>
          </a:p>
          <a:p>
            <a:r>
              <a:t>      "3개월 초과 예측 거리는 재귀 검증 범위 밖의 탐색 전망입니다."</a:t>
            </a:r>
          </a:p>
          <a:p>
            <a:r>
              <a:t>    ],</a:t>
            </a:r>
          </a:p>
          <a:p>
            <a:r>
              <a:t>    "selection_basis": "strategy_timeframe",</a:t>
            </a:r>
          </a:p>
          <a:p>
            <a:r>
              <a:t>    "requested_period": "202609~202611"</a:t>
            </a:r>
          </a:p>
          <a:p>
            <a:r>
              <a:t>  },</a:t>
            </a:r>
          </a:p>
          <a:p>
            <a:r>
              <a:t>  "all_ml_forecasts": [</a:t>
            </a:r>
          </a:p>
          <a:p>
            <a:r>
              <a:t>    {</a:t>
            </a:r>
          </a:p>
          <a:p>
            <a:r>
              <a:t>      "month": "202607",</a:t>
            </a:r>
          </a:p>
          <a:p>
            <a:r>
              <a:t>      "visitors": 2366862,</a:t>
            </a:r>
          </a:p>
          <a:p>
            <a:r>
              <a:t>      "is_forecast": true,</a:t>
            </a:r>
          </a:p>
          <a:p>
            <a:r>
              <a:t>      "spending_krw": 67735223997,</a:t>
            </a:r>
          </a:p>
          <a:p>
            <a:r>
              <a:t>      "stay_minutes": 1944.0,</a:t>
            </a:r>
          </a:p>
          <a:p>
            <a:r>
              <a:t>      "lodging_nights": 2.83,</a:t>
            </a:r>
          </a:p>
          <a:p>
            <a:r>
              <a:t>      "lodging_rate_pct": 13.8,</a:t>
            </a:r>
          </a:p>
          <a:p>
            <a:r>
              <a:t>      "lodging_searches": 46511,</a:t>
            </a:r>
          </a:p>
          <a:p>
            <a:r>
              <a:t>      "navigation_searches": 297924,</a:t>
            </a:r>
          </a:p>
          <a:p>
            <a:r>
              <a:t>      "visitor_yoy_percent": -1.04,</a:t>
            </a:r>
          </a:p>
          <a:p>
            <a:r>
              <a:t>      "spending_yoy_percent": 14.97,</a:t>
            </a:r>
          </a:p>
          <a:p>
            <a:r>
              <a:t>      "metric_changes_percent": {</a:t>
            </a:r>
          </a:p>
          <a:p>
            <a:r>
              <a:t>        "stay_minutes": 0.0,</a:t>
            </a:r>
          </a:p>
          <a:p>
            <a:r>
              <a:t>        "lodging_nights": 0.35,</a:t>
            </a:r>
          </a:p>
          <a:p>
            <a:r>
              <a:t>        "lodging_rate_pct": 0.0,</a:t>
            </a:r>
          </a:p>
          <a:p>
            <a:r>
              <a:t>        "lodging_searches": 17.21,</a:t>
            </a:r>
          </a:p>
          <a:p>
            <a:r>
              <a:t>        "navigation_searches": 0.0</a:t>
            </a:r>
          </a:p>
          <a:p>
            <a:r>
              <a:t>      },</a:t>
            </a:r>
          </a:p>
          <a:p>
            <a:r>
              <a:t>      "previous_year_visitors": 2391642,</a:t>
            </a:r>
          </a:p>
          <a:p>
            <a:r>
              <a:t>      "previous_year_spending_krw": 58914875000,</a:t>
            </a:r>
          </a:p>
          <a:p>
            <a:r>
              <a:t>      "previous_year_stay_minutes": 1944.0,</a:t>
            </a:r>
          </a:p>
          <a:p>
            <a:r>
              <a:t>      "previous_year_lodging_nights": 2.82,</a:t>
            </a:r>
          </a:p>
          <a:p>
            <a:r>
              <a:t>      "previous_year_lodging_rate_pct": 13.8,</a:t>
            </a:r>
          </a:p>
          <a:p>
            <a:r>
              <a:t>      "previous_year_lodging_searches": 39682,</a:t>
            </a:r>
          </a:p>
          <a:p>
            <a:r>
              <a:t>      "previous_year_navigation_searches": 297924</a:t>
            </a:r>
          </a:p>
          <a:p>
            <a:r>
              <a:t>    },</a:t>
            </a:r>
          </a:p>
          <a:p>
            <a:r>
              <a:t>    {</a:t>
            </a:r>
          </a:p>
          <a:p>
            <a:r>
              <a:t>      "month": "202608",</a:t>
            </a:r>
          </a:p>
          <a:p>
            <a:r>
              <a:t>      "visitors": 2642874,</a:t>
            </a:r>
          </a:p>
          <a:p>
            <a:r>
              <a:t>      "is_forecast": true,</a:t>
            </a:r>
          </a:p>
          <a:p>
            <a:r>
              <a:t>      "spending_krw": 76161639833,</a:t>
            </a:r>
          </a:p>
          <a:p>
            <a:r>
              <a:t>      "stay_minutes": 1672.0,</a:t>
            </a:r>
          </a:p>
          <a:p>
            <a:r>
              <a:t>      "lodging_nights": 2.76,</a:t>
            </a:r>
          </a:p>
          <a:p>
            <a:r>
              <a:t>      "lodging_rate_pct": 14.7,</a:t>
            </a:r>
          </a:p>
          <a:p>
            <a:r>
              <a:t>      "lodging_searches": 49759,</a:t>
            </a:r>
          </a:p>
          <a:p>
            <a:r>
              <a:t>      "navigation_searches": 346177,</a:t>
            </a:r>
          </a:p>
          <a:p>
            <a:r>
              <a:t>      "visitor_yoy_percent": 0.13,</a:t>
            </a:r>
          </a:p>
          <a:p>
            <a:r>
              <a:t>      "spending_yoy_percent": 18.85,</a:t>
            </a:r>
          </a:p>
          <a:p>
            <a:r>
              <a:t>      "metric_changes_percent": {</a:t>
            </a:r>
          </a:p>
          <a:p>
            <a:r>
              <a:t>        "stay_minutes": 0.0,</a:t>
            </a:r>
          </a:p>
          <a:p>
            <a:r>
              <a:t>        "lodging_nights": 1.1,</a:t>
            </a:r>
          </a:p>
          <a:p>
            <a:r>
              <a:t>        "lodging_rate_pct": 0.0,</a:t>
            </a:r>
          </a:p>
          <a:p>
            <a:r>
              <a:t>        "lodging_searches": -0.93,</a:t>
            </a:r>
          </a:p>
          <a:p>
            <a:r>
              <a:t>        "navigation_searches": 0.0</a:t>
            </a:r>
          </a:p>
          <a:p>
            <a:r>
              <a:t>      },</a:t>
            </a:r>
          </a:p>
          <a:p>
            <a:r>
              <a:t>      "previous_year_visitors": 2639487,</a:t>
            </a:r>
          </a:p>
          <a:p>
            <a:r>
              <a:t>      "previous_year_spending_krw": 64083943000,</a:t>
            </a:r>
          </a:p>
          <a:p>
            <a:r>
              <a:t>      "previous_year_stay_minutes": 1672.0,</a:t>
            </a:r>
          </a:p>
          <a:p>
            <a:r>
              <a:t>      "previous_year_lodging_nights": 2.73,</a:t>
            </a:r>
          </a:p>
          <a:p>
            <a:r>
              <a:t>      "previous_year_lodging_rate_pct": 14.7,</a:t>
            </a:r>
          </a:p>
          <a:p>
            <a:r>
              <a:t>      "previous_year_lodging_searches": 50224,</a:t>
            </a:r>
          </a:p>
          <a:p>
            <a:r>
              <a:t>      "previous_year_navigation_searches": 346177</a:t>
            </a:r>
          </a:p>
          <a:p>
            <a:r>
              <a:t>    },</a:t>
            </a:r>
          </a:p>
          <a:p>
            <a:r>
              <a:t>    {</a:t>
            </a:r>
          </a:p>
          <a:p>
            <a:r>
              <a:t>      "month": "202609",</a:t>
            </a:r>
          </a:p>
          <a:p>
            <a:r>
              <a:t>      "visitors": 2363056,</a:t>
            </a:r>
          </a:p>
          <a:p>
            <a:r>
              <a:t>      "is_forecast": true,</a:t>
            </a:r>
          </a:p>
          <a:p>
            <a:r>
              <a:t>      "spending_krw": 67047345591,</a:t>
            </a:r>
          </a:p>
          <a:p>
            <a:r>
              <a:t>      "stay_minutes": 2518.0,</a:t>
            </a:r>
          </a:p>
          <a:p>
            <a:r>
              <a:t>      "lodging_nights": 2.98,</a:t>
            </a:r>
          </a:p>
          <a:p>
            <a:r>
              <a:t>      "lodging_rate_pct": 13.1,</a:t>
            </a:r>
          </a:p>
          <a:p>
            <a:r>
              <a:t>      "lodging_searches": 34529,</a:t>
            </a:r>
          </a:p>
          <a:p>
            <a:r>
              <a:t>      "navigation_searches": 259153,</a:t>
            </a:r>
          </a:p>
          <a:p>
            <a:r>
              <a:t>      "visitor_yoy_percent": 3.0,</a:t>
            </a:r>
          </a:p>
          <a:p>
            <a:r>
              <a:t>      "spending_yoy_percent": 22.29,</a:t>
            </a:r>
          </a:p>
          <a:p>
            <a:r>
              <a:t>      "metric_changes_percent": {</a:t>
            </a:r>
          </a:p>
          <a:p>
            <a:r>
              <a:t>        "stay_minutes": 0.0,</a:t>
            </a:r>
          </a:p>
          <a:p>
            <a:r>
              <a:t>        "lodging_nights": 1.02,</a:t>
            </a:r>
          </a:p>
          <a:p>
            <a:r>
              <a:t>        "lodging_rate_pct": 0.0,</a:t>
            </a:r>
          </a:p>
          <a:p>
            <a:r>
              <a:t>        "lodging_searches": 8.97,</a:t>
            </a:r>
          </a:p>
          <a:p>
            <a:r>
              <a:t>        "navigation_searches": 0.0</a:t>
            </a:r>
          </a:p>
          <a:p>
            <a:r>
              <a:t>      },</a:t>
            </a:r>
          </a:p>
          <a:p>
            <a:r>
              <a:t>      "previous_year_visitors": 2294130,</a:t>
            </a:r>
          </a:p>
          <a:p>
            <a:r>
              <a:t>      "previous_year_spending_krw": 54826341000,</a:t>
            </a:r>
          </a:p>
          <a:p>
            <a:r>
              <a:t>      "previous_year_stay_minutes": 2518.0,</a:t>
            </a:r>
          </a:p>
          <a:p>
            <a:r>
              <a:t>      "previous_year_lodging_nights": 2.95,</a:t>
            </a:r>
          </a:p>
          <a:p>
            <a:r>
              <a:t>      "previous_year_lodging_rate_pct": 13.1,</a:t>
            </a:r>
          </a:p>
          <a:p>
            <a:r>
              <a:t>      "previous_year_lodging_searches": 31686,</a:t>
            </a:r>
          </a:p>
          <a:p>
            <a:r>
              <a:t>      "previous_year_navigation_searches": 259153</a:t>
            </a:r>
          </a:p>
          <a:p>
            <a:r>
              <a:t>    },</a:t>
            </a:r>
          </a:p>
          <a:p>
            <a:r>
              <a:t>    {</a:t>
            </a:r>
          </a:p>
          <a:p>
            <a:r>
              <a:t>      "month": "202610",</a:t>
            </a:r>
          </a:p>
          <a:p>
            <a:r>
              <a:t>      "visitors": 2633270,</a:t>
            </a:r>
          </a:p>
          <a:p>
            <a:r>
              <a:t>      "is_forecast": true,</a:t>
            </a:r>
          </a:p>
          <a:p>
            <a:r>
              <a:t>      "spending_krw": 83929975649,</a:t>
            </a:r>
          </a:p>
          <a:p>
            <a:r>
              <a:t>      "stay_minutes": 1683.0,</a:t>
            </a:r>
          </a:p>
          <a:p>
            <a:r>
              <a:t>      "lodging_nights": 2.87,</a:t>
            </a:r>
          </a:p>
          <a:p>
            <a:r>
              <a:t>      "lodging_rate_pct": 15.5,</a:t>
            </a:r>
          </a:p>
          <a:p>
            <a:r>
              <a:t>      "lodging_searches": 50011,</a:t>
            </a:r>
          </a:p>
          <a:p>
            <a:r>
              <a:t>      "navigation_searches": 519488,</a:t>
            </a:r>
          </a:p>
          <a:p>
            <a:r>
              <a:t>      "visitor_yoy_percent": -5.94,</a:t>
            </a:r>
          </a:p>
          <a:p>
            <a:r>
              <a:t>      "spending_yoy_percent": 21.43,</a:t>
            </a:r>
          </a:p>
          <a:p>
            <a:r>
              <a:t>      "metric_changes_percent": {</a:t>
            </a:r>
          </a:p>
          <a:p>
            <a:r>
              <a:t>        "stay_minutes": 0.0,</a:t>
            </a:r>
          </a:p>
          <a:p>
            <a:r>
              <a:t>        "lodging_nights": 1.77,</a:t>
            </a:r>
          </a:p>
          <a:p>
            <a:r>
              <a:t>        "lodging_rate_pct": 0.0,</a:t>
            </a:r>
          </a:p>
          <a:p>
            <a:r>
              <a:t>        "lodging_searches": -21.42,</a:t>
            </a:r>
          </a:p>
          <a:p>
            <a:r>
              <a:t>        "navigation_searches": 0.0</a:t>
            </a:r>
          </a:p>
          <a:p>
            <a:r>
              <a:t>      },</a:t>
            </a:r>
          </a:p>
          <a:p>
            <a:r>
              <a:t>      "previous_year_visitors": 2799509,</a:t>
            </a:r>
          </a:p>
          <a:p>
            <a:r>
              <a:t>      "previous_year_spending_krw": 69118387000,</a:t>
            </a:r>
          </a:p>
          <a:p>
            <a:r>
              <a:t>      "previous_year_stay_minutes": 1683.0,</a:t>
            </a:r>
          </a:p>
          <a:p>
            <a:r>
              <a:t>      "previous_year_lodging_nights": 2.82,</a:t>
            </a:r>
          </a:p>
          <a:p>
            <a:r>
              <a:t>      "previous_year_lodging_rate_pct": 15.5,</a:t>
            </a:r>
          </a:p>
          <a:p>
            <a:r>
              <a:t>      "previous_year_lodging_searches": 63645,</a:t>
            </a:r>
          </a:p>
          <a:p>
            <a:r>
              <a:t>      "previous_year_navigation_searches": 519488</a:t>
            </a:r>
          </a:p>
          <a:p>
            <a:r>
              <a:t>    },</a:t>
            </a:r>
          </a:p>
          <a:p>
            <a:r>
              <a:t>    {</a:t>
            </a:r>
          </a:p>
          <a:p>
            <a:r>
              <a:t>      "month": "202611",</a:t>
            </a:r>
          </a:p>
          <a:p>
            <a:r>
              <a:t>      "visitors": 2632315,</a:t>
            </a:r>
          </a:p>
          <a:p>
            <a:r>
              <a:t>      "is_forecast": true,</a:t>
            </a:r>
          </a:p>
          <a:p>
            <a:r>
              <a:t>      "spending_krw": 89947681558,</a:t>
            </a:r>
          </a:p>
          <a:p>
            <a:r>
              <a:t>      "stay_minutes": 1488.0,</a:t>
            </a:r>
          </a:p>
          <a:p>
            <a:r>
              <a:t>      "lodging_nights": 2.76,</a:t>
            </a:r>
          </a:p>
          <a:p>
            <a:r>
              <a:t>      "lodging_rate_pct": 12.4,</a:t>
            </a:r>
          </a:p>
          <a:p>
            <a:r>
              <a:t>      "lodging_searches": 48286,</a:t>
            </a:r>
          </a:p>
          <a:p>
            <a:r>
              <a:t>      "navigation_searches": 352852,</a:t>
            </a:r>
          </a:p>
          <a:p>
            <a:r>
              <a:t>      "visitor_yoy_percent": 4.18,</a:t>
            </a:r>
          </a:p>
          <a:p>
            <a:r>
              <a:t>      "spending_yoy_percent": 41.26,</a:t>
            </a:r>
          </a:p>
          <a:p>
            <a:r>
              <a:t>      "metric_changes_percent": {</a:t>
            </a:r>
          </a:p>
          <a:p>
            <a:r>
              <a:t>        "stay_minutes": 0.0,</a:t>
            </a:r>
          </a:p>
          <a:p>
            <a:r>
              <a:t>        "lodging_nights": 2.22,</a:t>
            </a:r>
          </a:p>
          <a:p>
            <a:r>
              <a:t>        "lodging_rate_pct": 0.0,</a:t>
            </a:r>
          </a:p>
          <a:p>
            <a:r>
              <a:t>        "lodging_searches": 21.22,</a:t>
            </a:r>
          </a:p>
          <a:p>
            <a:r>
              <a:t>        "navigation_searches": 0.0</a:t>
            </a:r>
          </a:p>
          <a:p>
            <a:r>
              <a:t>      },</a:t>
            </a:r>
          </a:p>
          <a:p>
            <a:r>
              <a:t>      "previous_year_visitors": 2526699,</a:t>
            </a:r>
          </a:p>
          <a:p>
            <a:r>
              <a:t>      "previous_year_spending_krw": 63675989000,</a:t>
            </a:r>
          </a:p>
          <a:p>
            <a:r>
              <a:t>      "previous_year_stay_minutes": 1488.0,</a:t>
            </a:r>
          </a:p>
          <a:p>
            <a:r>
              <a:t>      "previous_year_lodging_nights": 2.7,</a:t>
            </a:r>
          </a:p>
          <a:p>
            <a:r>
              <a:t>      "previous_year_lodging_rate_pct": 12.4,</a:t>
            </a:r>
          </a:p>
          <a:p>
            <a:r>
              <a:t>      "previous_year_lodging_searches": 39833,</a:t>
            </a:r>
          </a:p>
          <a:p>
            <a:r>
              <a:t>      "previous_year_navigation_searches": 352852</a:t>
            </a:r>
          </a:p>
          <a:p>
            <a:r>
              <a:t>    },</a:t>
            </a:r>
          </a:p>
          <a:p>
            <a:r>
              <a:t>    {</a:t>
            </a:r>
          </a:p>
          <a:p>
            <a:r>
              <a:t>      "month": "202612",</a:t>
            </a:r>
          </a:p>
          <a:p>
            <a:r>
              <a:t>      "visitors": 2098615,</a:t>
            </a:r>
          </a:p>
          <a:p>
            <a:r>
              <a:t>      "is_forecast": true,</a:t>
            </a:r>
          </a:p>
          <a:p>
            <a:r>
              <a:t>      "spending_krw": 82896802464,</a:t>
            </a:r>
          </a:p>
          <a:p>
            <a:r>
              <a:t>      "stay_minutes": 1866.0,</a:t>
            </a:r>
          </a:p>
          <a:p>
            <a:r>
              <a:t>      "lodging_nights": 2.85,</a:t>
            </a:r>
          </a:p>
          <a:p>
            <a:r>
              <a:t>      "lodging_rate_pct": 14.1,</a:t>
            </a:r>
          </a:p>
          <a:p>
            <a:r>
              <a:t>      "lodging_searches": 28484,</a:t>
            </a:r>
          </a:p>
          <a:p>
            <a:r>
              <a:t>      "navigation_searches": 221560,</a:t>
            </a:r>
          </a:p>
          <a:p>
            <a:r>
              <a:t>      "visitor_yoy_percent": -0.06,</a:t>
            </a:r>
          </a:p>
          <a:p>
            <a:r>
              <a:t>      "spending_yoy_percent": 54.2,</a:t>
            </a:r>
          </a:p>
          <a:p>
            <a:r>
              <a:t>      "metric_changes_percent": {</a:t>
            </a:r>
          </a:p>
          <a:p>
            <a:r>
              <a:t>        "stay_minutes": 0.0,</a:t>
            </a:r>
          </a:p>
          <a:p>
            <a:r>
              <a:t>        "lodging_nights": 2.15,</a:t>
            </a:r>
          </a:p>
          <a:p>
            <a:r>
              <a:t>        "lodging_rate_pct": 0.0,</a:t>
            </a:r>
          </a:p>
          <a:p>
            <a:r>
              <a:t>        "lodging_searches": -1.09,</a:t>
            </a:r>
          </a:p>
          <a:p>
            <a:r>
              <a:t>        "navigation_searches": 0.0</a:t>
            </a:r>
          </a:p>
          <a:p>
            <a:r>
              <a:t>      },</a:t>
            </a:r>
          </a:p>
          <a:p>
            <a:r>
              <a:t>      "previous_year_visitors": 2099852,</a:t>
            </a:r>
          </a:p>
          <a:p>
            <a:r>
              <a:t>      "previous_year_spending_krw": 53760591000,</a:t>
            </a:r>
          </a:p>
          <a:p>
            <a:r>
              <a:t>      "previous_year_stay_minutes": 1866.0,</a:t>
            </a:r>
          </a:p>
          <a:p>
            <a:r>
              <a:t>      "previous_year_lodging_nights": 2.79,</a:t>
            </a:r>
          </a:p>
          <a:p>
            <a:r>
              <a:t>      "previous_year_lodging_rate_pct": 14.1,</a:t>
            </a:r>
          </a:p>
          <a:p>
            <a:r>
              <a:t>      "previous_year_lodging_searches": 28798,</a:t>
            </a:r>
          </a:p>
          <a:p>
            <a:r>
              <a:t>      "previous_year_navigation_searches": 221560</a:t>
            </a:r>
          </a:p>
          <a:p>
            <a:r>
              <a:t>    },</a:t>
            </a:r>
          </a:p>
          <a:p>
            <a:r>
              <a:t>    {</a:t>
            </a:r>
          </a:p>
          <a:p>
            <a:r>
              <a:t>      "month": "202701",</a:t>
            </a:r>
          </a:p>
          <a:p>
            <a:r>
              <a:t>      "visitors": 2042060,</a:t>
            </a:r>
          </a:p>
          <a:p>
            <a:r>
              <a:t>      "is_forecast": true,</a:t>
            </a:r>
          </a:p>
          <a:p>
            <a:r>
              <a:t>      "spending_krw": 92579612143,</a:t>
            </a:r>
          </a:p>
          <a:p>
            <a:r>
              <a:t>      "stay_minutes": 1936.0,</a:t>
            </a:r>
          </a:p>
          <a:p>
            <a:r>
              <a:t>      "lodging_nights": 2.87,</a:t>
            </a:r>
          </a:p>
          <a:p>
            <a:r>
              <a:t>      "lodging_rate_pct": 13.7,</a:t>
            </a:r>
          </a:p>
          <a:p>
            <a:r>
              <a:t>      "lodging_searches": 26563,</a:t>
            </a:r>
          </a:p>
          <a:p>
            <a:r>
              <a:t>      "navigation_searches": 205632,</a:t>
            </a:r>
          </a:p>
          <a:p>
            <a:r>
              <a:t>      "visitor_yoy_percent": -2.23,</a:t>
            </a:r>
          </a:p>
          <a:p>
            <a:r>
              <a:t>      "spending_yoy_percent": 80.91,</a:t>
            </a:r>
          </a:p>
          <a:p>
            <a:r>
              <a:t>      "metric_changes_percent": {</a:t>
            </a:r>
          </a:p>
          <a:p>
            <a:r>
              <a:t>        "stay_minutes": 0.0,</a:t>
            </a:r>
          </a:p>
          <a:p>
            <a:r>
              <a:t>        "lodging_nights": 1.06,</a:t>
            </a:r>
          </a:p>
          <a:p>
            <a:r>
              <a:t>        "lodging_rate_pct": 0.0,</a:t>
            </a:r>
          </a:p>
          <a:p>
            <a:r>
              <a:t>        "lodging_searches": -0.09,</a:t>
            </a:r>
          </a:p>
          <a:p>
            <a:r>
              <a:t>        "navigation_searches": 0.0</a:t>
            </a:r>
          </a:p>
          <a:p>
            <a:r>
              <a:t>      },</a:t>
            </a:r>
          </a:p>
          <a:p>
            <a:r>
              <a:t>      "previous_year_visitors": 2088569,</a:t>
            </a:r>
          </a:p>
          <a:p>
            <a:r>
              <a:t>      "previous_year_spending_krw": 51173582000,</a:t>
            </a:r>
          </a:p>
          <a:p>
            <a:r>
              <a:t>      "previous_year_stay_minutes": 1936.0,</a:t>
            </a:r>
          </a:p>
          <a:p>
            <a:r>
              <a:t>      "previous_year_lodging_nights": 2.84,</a:t>
            </a:r>
          </a:p>
          <a:p>
            <a:r>
              <a:t>      "previous_year_lodging_rate_pct": 13.7,</a:t>
            </a:r>
          </a:p>
          <a:p>
            <a:r>
              <a:t>      "previous_year_lodging_searches": 26588,</a:t>
            </a:r>
          </a:p>
          <a:p>
            <a:r>
              <a:t>      "previous_year_navigation_searches": 205632</a:t>
            </a:r>
          </a:p>
          <a:p>
            <a:r>
              <a:t>    },</a:t>
            </a:r>
          </a:p>
          <a:p>
            <a:r>
              <a:t>    {</a:t>
            </a:r>
          </a:p>
          <a:p>
            <a:r>
              <a:t>      "month": "202702",</a:t>
            </a:r>
          </a:p>
          <a:p>
            <a:r>
              <a:t>      "visitors": 2227050,</a:t>
            </a:r>
          </a:p>
          <a:p>
            <a:r>
              <a:t>      "is_forecast": true,</a:t>
            </a:r>
          </a:p>
          <a:p>
            <a:r>
              <a:t>      "spending_krw": 103534829257,</a:t>
            </a:r>
          </a:p>
          <a:p>
            <a:r>
              <a:t>      "stay_minutes": 1714.0,</a:t>
            </a:r>
          </a:p>
          <a:p>
            <a:r>
              <a:t>      "lodging_nights": 2.82,</a:t>
            </a:r>
          </a:p>
          <a:p>
            <a:r>
              <a:t>      "lodging_rate_pct": 15.7,</a:t>
            </a:r>
          </a:p>
          <a:p>
            <a:r>
              <a:t>      "lodging_searches": 25082,</a:t>
            </a:r>
          </a:p>
          <a:p>
            <a:r>
              <a:t>      "navigation_searches": 210385,</a:t>
            </a:r>
          </a:p>
          <a:p>
            <a:r>
              <a:t>      "visitor_yoy_percent": 3.2,</a:t>
            </a:r>
          </a:p>
          <a:p>
            <a:r>
              <a:t>      "spending_yoy_percent": 104.79,</a:t>
            </a:r>
          </a:p>
          <a:p>
            <a:r>
              <a:t>      "metric_changes_percent": {</a:t>
            </a:r>
          </a:p>
          <a:p>
            <a:r>
              <a:t>        "stay_minutes": 0.0,</a:t>
            </a:r>
          </a:p>
          <a:p>
            <a:r>
              <a:t>        "lodging_nights": 0.36,</a:t>
            </a:r>
          </a:p>
          <a:p>
            <a:r>
              <a:t>        "lodging_rate_pct": 0.0,</a:t>
            </a:r>
          </a:p>
          <a:p>
            <a:r>
              <a:t>        "lodging_searches": 2.79,</a:t>
            </a:r>
          </a:p>
          <a:p>
            <a:r>
              <a:t>        "navigation_searches": 0.0</a:t>
            </a:r>
          </a:p>
          <a:p>
            <a:r>
              <a:t>      },</a:t>
            </a:r>
          </a:p>
          <a:p>
            <a:r>
              <a:t>      "previous_year_visitors": 2157943,</a:t>
            </a:r>
          </a:p>
          <a:p>
            <a:r>
              <a:t>      "previous_year_spending_krw": 50557418000,</a:t>
            </a:r>
          </a:p>
          <a:p>
            <a:r>
              <a:t>      "previous_year_stay_minutes": 1714.0,</a:t>
            </a:r>
          </a:p>
          <a:p>
            <a:r>
              <a:t>      "previous_year_lodging_nights": 2.81,</a:t>
            </a:r>
          </a:p>
          <a:p>
            <a:r>
              <a:t>      "previous_year_lodging_rate_pct": 15.7,</a:t>
            </a:r>
          </a:p>
          <a:p>
            <a:r>
              <a:t>      "previous_year_lodging_searches": 24402,</a:t>
            </a:r>
          </a:p>
          <a:p>
            <a:r>
              <a:t>      "previous_year_navigation_searches": 210385</a:t>
            </a:r>
          </a:p>
          <a:p>
            <a:r>
              <a:t>    }</a:t>
            </a:r>
          </a:p>
          <a:p>
            <a:r>
              <a:t>  ],</a:t>
            </a:r>
          </a:p>
          <a:p>
            <a:r>
              <a:t>  "evaluation": {</a:t>
            </a:r>
          </a:p>
          <a:p>
            <a:r>
              <a:t>    "metrics": {</a:t>
            </a:r>
          </a:p>
          <a:p>
            <a:r>
              <a:t>      "visitors": {</a:t>
            </a:r>
          </a:p>
          <a:p>
            <a:r>
              <a:t>        "test_mae": 103646.64,</a:t>
            </a:r>
          </a:p>
          <a:p>
            <a:r>
              <a:t>        "recursive_mae": {</a:t>
            </a:r>
          </a:p>
          <a:p>
            <a:r>
              <a:t>          "1": {</a:t>
            </a:r>
          </a:p>
          <a:p>
            <a:r>
              <a:t>            "baseline": 123311.5,</a:t>
            </a:r>
          </a:p>
          <a:p>
            <a:r>
              <a:t>            "selected": 95222.0,</a:t>
            </a:r>
          </a:p>
          <a:p>
            <a:r>
              <a:t>            "sample_count": 2</a:t>
            </a:r>
          </a:p>
          <a:p>
            <a:r>
              <a:t>          },</a:t>
            </a:r>
          </a:p>
          <a:p>
            <a:r>
              <a:t>          "2": {</a:t>
            </a:r>
          </a:p>
          <a:p>
            <a:r>
              <a:t>            "baseline": 90511.0,</a:t>
            </a:r>
          </a:p>
          <a:p>
            <a:r>
              <a:t>            "selected": 105947.5,</a:t>
            </a:r>
          </a:p>
          <a:p>
            <a:r>
              <a:t>            "sample_count": 2</a:t>
            </a:r>
          </a:p>
          <a:p>
            <a:r>
              <a:t>          },</a:t>
            </a:r>
          </a:p>
          <a:p>
            <a:r>
              <a:t>          "3": {</a:t>
            </a:r>
          </a:p>
          <a:p>
            <a:r>
              <a:t>            "baseline": 61165.0,</a:t>
            </a:r>
          </a:p>
          <a:p>
            <a:r>
              <a:t>            "selected": 93227.0,</a:t>
            </a:r>
          </a:p>
          <a:p>
            <a:r>
              <a:t>            "sample_count": 2</a:t>
            </a:r>
          </a:p>
          <a:p>
            <a:r>
              <a:t>          }</a:t>
            </a:r>
          </a:p>
          <a:p>
            <a:r>
              <a:t>        },</a:t>
            </a:r>
          </a:p>
          <a:p>
            <a:r>
              <a:t>        "selected_model": "RandomForestRegressor",</a:t>
            </a:r>
          </a:p>
          <a:p>
            <a:r>
              <a:t>        "baseline_test_mae": 92238.25,</a:t>
            </a:r>
          </a:p>
          <a:p>
            <a:r>
              <a:t>        "model_reliability": "below_baseline_on_test",</a:t>
            </a:r>
          </a:p>
          <a:p>
            <a:r>
              <a:t>        "beats_baseline_on_test": false,</a:t>
            </a:r>
          </a:p>
          <a:p>
            <a:r>
              <a:t>        "recursive_horizons_worse_than_baseline": [</a:t>
            </a:r>
          </a:p>
          <a:p>
            <a:r>
              <a:t>          "2",</a:t>
            </a:r>
          </a:p>
          <a:p>
            <a:r>
              <a:t>          "3"</a:t>
            </a:r>
          </a:p>
          <a:p>
            <a:r>
              <a:t>        ]</a:t>
            </a:r>
          </a:p>
          <a:p>
            <a:r>
              <a:t>      },</a:t>
            </a:r>
          </a:p>
          <a:p>
            <a:r>
              <a:t>      "spending_krw": {</a:t>
            </a:r>
          </a:p>
          <a:p>
            <a:r>
              <a:t>        "test_mae": 8003403761.33,</a:t>
            </a:r>
          </a:p>
          <a:p>
            <a:r>
              <a:t>        "recursive_mae": {</a:t>
            </a:r>
          </a:p>
          <a:p>
            <a:r>
              <a:t>          "1": {</a:t>
            </a:r>
          </a:p>
          <a:p>
            <a:r>
              <a:t>            "baseline": 5076101500.0,</a:t>
            </a:r>
          </a:p>
          <a:p>
            <a:r>
              <a:t>            "selected": 7122970056.0,</a:t>
            </a:r>
          </a:p>
          <a:p>
            <a:r>
              <a:t>            "sample_count": 2</a:t>
            </a:r>
          </a:p>
          <a:p>
            <a:r>
              <a:t>          },</a:t>
            </a:r>
          </a:p>
          <a:p>
            <a:r>
              <a:t>          "2": {</a:t>
            </a:r>
          </a:p>
          <a:p>
            <a:r>
              <a:t>            "baseline": 6206652500.0,</a:t>
            </a:r>
          </a:p>
          <a:p>
            <a:r>
              <a:t>            "selected": 11322988654.0,</a:t>
            </a:r>
          </a:p>
          <a:p>
            <a:r>
              <a:t>            "sample_count": 2</a:t>
            </a:r>
          </a:p>
          <a:p>
            <a:r>
              <a:t>          },</a:t>
            </a:r>
          </a:p>
          <a:p>
            <a:r>
              <a:t>          "3": {</a:t>
            </a:r>
          </a:p>
          <a:p>
            <a:r>
              <a:t>            "baseline": 4379312000.0,</a:t>
            </a:r>
          </a:p>
          <a:p>
            <a:r>
              <a:t>            "selected": 12415950624.0,</a:t>
            </a:r>
          </a:p>
          <a:p>
            <a:r>
              <a:t>            "sample_count": 2</a:t>
            </a:r>
          </a:p>
          <a:p>
            <a:r>
              <a:t>          }</a:t>
            </a:r>
          </a:p>
          <a:p>
            <a:r>
              <a:t>        },</a:t>
            </a:r>
          </a:p>
          <a:p>
            <a:r>
              <a:t>        "selected_model": "LinearRegression",</a:t>
            </a:r>
          </a:p>
          <a:p>
            <a:r>
              <a:t>        "baseline_test_mae": 4727706750.0,</a:t>
            </a:r>
          </a:p>
          <a:p>
            <a:r>
              <a:t>        "model_reliability": "below_baseline_on_test",</a:t>
            </a:r>
          </a:p>
          <a:p>
            <a:r>
              <a:t>        "beats_baseline_on_test": false,</a:t>
            </a:r>
          </a:p>
          <a:p>
            <a:r>
              <a:t>        "recursive_horizons_worse_than_baseline": [</a:t>
            </a:r>
          </a:p>
          <a:p>
            <a:r>
              <a:t>          "1",</a:t>
            </a:r>
          </a:p>
          <a:p>
            <a:r>
              <a:t>          "2",</a:t>
            </a:r>
          </a:p>
          <a:p>
            <a:r>
              <a:t>          "3"</a:t>
            </a:r>
          </a:p>
          <a:p>
            <a:r>
              <a:t>        ]</a:t>
            </a:r>
          </a:p>
          <a:p>
            <a:r>
              <a:t>      },</a:t>
            </a:r>
          </a:p>
          <a:p>
            <a:r>
              <a:t>      "stay_minutes": {</a:t>
            </a:r>
          </a:p>
          <a:p>
            <a:r>
              <a:t>        "test_mae": 208.5,</a:t>
            </a:r>
          </a:p>
          <a:p>
            <a:r>
              <a:t>        "recursive_mae": {</a:t>
            </a:r>
          </a:p>
          <a:p>
            <a:r>
              <a:t>          "1": {</a:t>
            </a:r>
          </a:p>
          <a:p>
            <a:r>
              <a:t>            "baseline": 107.5,</a:t>
            </a:r>
          </a:p>
          <a:p>
            <a:r>
              <a:t>            "selected": 107.5,</a:t>
            </a:r>
          </a:p>
          <a:p>
            <a:r>
              <a:t>            "sample_count": 2</a:t>
            </a:r>
          </a:p>
          <a:p>
            <a:r>
              <a:t>          },</a:t>
            </a:r>
          </a:p>
          <a:p>
            <a:r>
              <a:t>          "2": {</a:t>
            </a:r>
          </a:p>
          <a:p>
            <a:r>
              <a:t>            "baseline": 360.0,</a:t>
            </a:r>
          </a:p>
          <a:p>
            <a:r>
              <a:t>            "selected": 360.0,</a:t>
            </a:r>
          </a:p>
          <a:p>
            <a:r>
              <a:t>            "sample_count": 2</a:t>
            </a:r>
          </a:p>
          <a:p>
            <a:r>
              <a:t>          },</a:t>
            </a:r>
          </a:p>
          <a:p>
            <a:r>
              <a:t>          "3": {</a:t>
            </a:r>
          </a:p>
          <a:p>
            <a:r>
              <a:t>            "baseline": 309.5,</a:t>
            </a:r>
          </a:p>
          <a:p>
            <a:r>
              <a:t>            "selected": 309.5,</a:t>
            </a:r>
          </a:p>
          <a:p>
            <a:r>
              <a:t>            "sample_count": 2</a:t>
            </a:r>
          </a:p>
          <a:p>
            <a:r>
              <a:t>          }</a:t>
            </a:r>
          </a:p>
          <a:p>
            <a:r>
              <a:t>        },</a:t>
            </a:r>
          </a:p>
          <a:p>
            <a:r>
              <a:t>        "selected_model": "seasonal_naive_previous_year_same_month",</a:t>
            </a:r>
          </a:p>
          <a:p>
            <a:r>
              <a:t>        "baseline_test_mae": 208.5,</a:t>
            </a:r>
          </a:p>
          <a:p>
            <a:r>
              <a:t>        "model_reliability": "seasonal_baseline",</a:t>
            </a:r>
          </a:p>
          <a:p>
            <a:r>
              <a:t>        "beats_baseline_on_test": false,</a:t>
            </a:r>
          </a:p>
          <a:p>
            <a:r>
              <a:t>        "recursive_horizons_worse_than_baseline": []</a:t>
            </a:r>
          </a:p>
          <a:p>
            <a:r>
              <a:t>      },</a:t>
            </a:r>
          </a:p>
          <a:p>
            <a:r>
              <a:t>      "lodging_nights": {</a:t>
            </a:r>
          </a:p>
          <a:p>
            <a:r>
              <a:t>        "test_mae": 0.1,</a:t>
            </a:r>
          </a:p>
          <a:p>
            <a:r>
              <a:t>        "recursive_mae": {</a:t>
            </a:r>
          </a:p>
          <a:p>
            <a:r>
              <a:t>          "1": {</a:t>
            </a:r>
          </a:p>
          <a:p>
            <a:r>
              <a:t>            "baseline": 0.06,</a:t>
            </a:r>
          </a:p>
          <a:p>
            <a:r>
              <a:t>            "selected": 0.09,</a:t>
            </a:r>
          </a:p>
          <a:p>
            <a:r>
              <a:t>            "sample_count": 2</a:t>
            </a:r>
          </a:p>
          <a:p>
            <a:r>
              <a:t>          },</a:t>
            </a:r>
          </a:p>
          <a:p>
            <a:r>
              <a:t>          "2": {</a:t>
            </a:r>
          </a:p>
          <a:p>
            <a:r>
              <a:t>            "baseline": 0.08,</a:t>
            </a:r>
          </a:p>
          <a:p>
            <a:r>
              <a:t>            "selected": 0.11,</a:t>
            </a:r>
          </a:p>
          <a:p>
            <a:r>
              <a:t>            "sample_count": 2</a:t>
            </a:r>
          </a:p>
          <a:p>
            <a:r>
              <a:t>          },</a:t>
            </a:r>
          </a:p>
          <a:p>
            <a:r>
              <a:t>          "3": {</a:t>
            </a:r>
          </a:p>
          <a:p>
            <a:r>
              <a:t>            "baseline": 0.07,</a:t>
            </a:r>
          </a:p>
          <a:p>
            <a:r>
              <a:t>            "selected": 0.11,</a:t>
            </a:r>
          </a:p>
          <a:p>
            <a:r>
              <a:t>            "sample_count": 2</a:t>
            </a:r>
          </a:p>
          <a:p>
            <a:r>
              <a:t>          }</a:t>
            </a:r>
          </a:p>
          <a:p>
            <a:r>
              <a:t>        },</a:t>
            </a:r>
          </a:p>
          <a:p>
            <a:r>
              <a:t>        "selected_model": "LinearRegression",</a:t>
            </a:r>
          </a:p>
          <a:p>
            <a:r>
              <a:t>        "baseline_test_mae": 0.07,</a:t>
            </a:r>
          </a:p>
          <a:p>
            <a:r>
              <a:t>        "model_reliability": "below_baseline_on_test",</a:t>
            </a:r>
          </a:p>
          <a:p>
            <a:r>
              <a:t>        "beats_baseline_on_test": false,</a:t>
            </a:r>
          </a:p>
          <a:p>
            <a:r>
              <a:t>        "recursive_horizons_worse_than_baseline": [</a:t>
            </a:r>
          </a:p>
          <a:p>
            <a:r>
              <a:t>          "1",</a:t>
            </a:r>
          </a:p>
          <a:p>
            <a:r>
              <a:t>          "2",</a:t>
            </a:r>
          </a:p>
          <a:p>
            <a:r>
              <a:t>          "3"</a:t>
            </a:r>
          </a:p>
          <a:p>
            <a:r>
              <a:t>        ]</a:t>
            </a:r>
          </a:p>
          <a:p>
            <a:r>
              <a:t>      },</a:t>
            </a:r>
          </a:p>
          <a:p>
            <a:r>
              <a:t>      "lodging_rate_pct": {</a:t>
            </a:r>
          </a:p>
          <a:p>
            <a:r>
              <a:t>        "test_mae": 0.57,</a:t>
            </a:r>
          </a:p>
          <a:p>
            <a:r>
              <a:t>        "recursive_mae": {</a:t>
            </a:r>
          </a:p>
          <a:p>
            <a:r>
              <a:t>          "1": {</a:t>
            </a:r>
          </a:p>
          <a:p>
            <a:r>
              <a:t>            "baseline": 0.8,</a:t>
            </a:r>
          </a:p>
          <a:p>
            <a:r>
              <a:t>            "selected": 0.8,</a:t>
            </a:r>
          </a:p>
          <a:p>
            <a:r>
              <a:t>            "sample_count": 2</a:t>
            </a:r>
          </a:p>
          <a:p>
            <a:r>
              <a:t>          },</a:t>
            </a:r>
          </a:p>
          <a:p>
            <a:r>
              <a:t>          "2": {</a:t>
            </a:r>
          </a:p>
          <a:p>
            <a:r>
              <a:t>            "baseline": 0.3,</a:t>
            </a:r>
          </a:p>
          <a:p>
            <a:r>
              <a:t>            "selected": 0.3,</a:t>
            </a:r>
          </a:p>
          <a:p>
            <a:r>
              <a:t>            "sample_count": 2</a:t>
            </a:r>
          </a:p>
          <a:p>
            <a:r>
              <a:t>          },</a:t>
            </a:r>
          </a:p>
          <a:p>
            <a:r>
              <a:t>          "3": {</a:t>
            </a:r>
          </a:p>
          <a:p>
            <a:r>
              <a:t>            "baseline": 0.35,</a:t>
            </a:r>
          </a:p>
          <a:p>
            <a:r>
              <a:t>            "selected": 0.35,</a:t>
            </a:r>
          </a:p>
          <a:p>
            <a:r>
              <a:t>            "sample_count": 2</a:t>
            </a:r>
          </a:p>
          <a:p>
            <a:r>
              <a:t>          }</a:t>
            </a:r>
          </a:p>
          <a:p>
            <a:r>
              <a:t>        },</a:t>
            </a:r>
          </a:p>
          <a:p>
            <a:r>
              <a:t>        "selected_model": "seasonal_naive_previous_year_same_month",</a:t>
            </a:r>
          </a:p>
          <a:p>
            <a:r>
              <a:t>        "baseline_test_mae": 0.57,</a:t>
            </a:r>
          </a:p>
          <a:p>
            <a:r>
              <a:t>        "model_reliability": "seasonal_baseline",</a:t>
            </a:r>
          </a:p>
          <a:p>
            <a:r>
              <a:t>        "beats_baseline_on_test": false,</a:t>
            </a:r>
          </a:p>
          <a:p>
            <a:r>
              <a:t>        "recursive_horizons_worse_than_baseline": []</a:t>
            </a:r>
          </a:p>
          <a:p>
            <a:r>
              <a:t>      },</a:t>
            </a:r>
          </a:p>
          <a:p>
            <a:r>
              <a:t>      "lodging_searches": {</a:t>
            </a:r>
          </a:p>
          <a:p>
            <a:r>
              <a:t>        "test_mae": 3695.69,</a:t>
            </a:r>
          </a:p>
          <a:p>
            <a:r>
              <a:t>        "recursive_mae": {</a:t>
            </a:r>
          </a:p>
          <a:p>
            <a:r>
              <a:t>          "1": {</a:t>
            </a:r>
          </a:p>
          <a:p>
            <a:r>
              <a:t>            "baseline": 2404.0,</a:t>
            </a:r>
          </a:p>
          <a:p>
            <a:r>
              <a:t>            "selected": 3550.0,</a:t>
            </a:r>
          </a:p>
          <a:p>
            <a:r>
              <a:t>            "sample_count": 2</a:t>
            </a:r>
          </a:p>
          <a:p>
            <a:r>
              <a:t>          },</a:t>
            </a:r>
          </a:p>
          <a:p>
            <a:r>
              <a:t>          "2": {</a:t>
            </a:r>
          </a:p>
          <a:p>
            <a:r>
              <a:t>            "baseline": 2584.5,</a:t>
            </a:r>
          </a:p>
          <a:p>
            <a:r>
              <a:t>            "selected": 3318.0,</a:t>
            </a:r>
          </a:p>
          <a:p>
            <a:r>
              <a:t>            "sample_count": 2</a:t>
            </a:r>
          </a:p>
          <a:p>
            <a:r>
              <a:t>          },</a:t>
            </a:r>
          </a:p>
          <a:p>
            <a:r>
              <a:t>          "3": {</a:t>
            </a:r>
          </a:p>
          <a:p>
            <a:r>
              <a:t>            "baseline": 2765.5,</a:t>
            </a:r>
          </a:p>
          <a:p>
            <a:r>
              <a:t>            "selected": 3897.5,</a:t>
            </a:r>
          </a:p>
          <a:p>
            <a:r>
              <a:t>            "sample_count": 2</a:t>
            </a:r>
          </a:p>
          <a:p>
            <a:r>
              <a:t>          }</a:t>
            </a:r>
          </a:p>
          <a:p>
            <a:r>
              <a:t>        },</a:t>
            </a:r>
          </a:p>
          <a:p>
            <a:r>
              <a:t>        "selected_model": "RandomForestRegressor",</a:t>
            </a:r>
          </a:p>
          <a:p>
            <a:r>
              <a:t>        "baseline_test_mae": 2584.75,</a:t>
            </a:r>
          </a:p>
          <a:p>
            <a:r>
              <a:t>        "model_reliability": "below_baseline_on_test",</a:t>
            </a:r>
          </a:p>
          <a:p>
            <a:r>
              <a:t>        "beats_baseline_on_test": false,</a:t>
            </a:r>
          </a:p>
          <a:p>
            <a:r>
              <a:t>        "recursive_horizons_worse_than_baseline": [</a:t>
            </a:r>
          </a:p>
          <a:p>
            <a:r>
              <a:t>          "1",</a:t>
            </a:r>
          </a:p>
          <a:p>
            <a:r>
              <a:t>          "2",</a:t>
            </a:r>
          </a:p>
          <a:p>
            <a:r>
              <a:t>          "3"</a:t>
            </a:r>
          </a:p>
          <a:p>
            <a:r>
              <a:t>        ]</a:t>
            </a:r>
          </a:p>
          <a:p>
            <a:r>
              <a:t>      },</a:t>
            </a:r>
          </a:p>
          <a:p>
            <a:r>
              <a:t>      "navigation_searches": {</a:t>
            </a:r>
          </a:p>
          <a:p>
            <a:r>
              <a:t>        "test_mae": 26562.0,</a:t>
            </a:r>
          </a:p>
          <a:p>
            <a:r>
              <a:t>        "recursive_mae": {</a:t>
            </a:r>
          </a:p>
          <a:p>
            <a:r>
              <a:t>          "1": {</a:t>
            </a:r>
          </a:p>
          <a:p>
            <a:r>
              <a:t>            "baseline": 30053.5,</a:t>
            </a:r>
          </a:p>
          <a:p>
            <a:r>
              <a:t>            "selected": 30053.5,</a:t>
            </a:r>
          </a:p>
          <a:p>
            <a:r>
              <a:t>            "sample_count": 2</a:t>
            </a:r>
          </a:p>
          <a:p>
            <a:r>
              <a:t>          },</a:t>
            </a:r>
          </a:p>
          <a:p>
            <a:r>
              <a:t>          "2": {</a:t>
            </a:r>
          </a:p>
          <a:p>
            <a:r>
              <a:t>            "baseline": 40942.5,</a:t>
            </a:r>
          </a:p>
          <a:p>
            <a:r>
              <a:t>            "selected": 40942.5,</a:t>
            </a:r>
          </a:p>
          <a:p>
            <a:r>
              <a:t>            "sample_count": 2</a:t>
            </a:r>
          </a:p>
          <a:p>
            <a:r>
              <a:t>          },</a:t>
            </a:r>
          </a:p>
          <a:p>
            <a:r>
              <a:t>          "3": {</a:t>
            </a:r>
          </a:p>
          <a:p>
            <a:r>
              <a:t>            "baseline": 23070.5,</a:t>
            </a:r>
          </a:p>
          <a:p>
            <a:r>
              <a:t>            "selected": 23070.5,</a:t>
            </a:r>
          </a:p>
          <a:p>
            <a:r>
              <a:t>            "sample_count": 2</a:t>
            </a:r>
          </a:p>
          <a:p>
            <a:r>
              <a:t>          }</a:t>
            </a:r>
          </a:p>
          <a:p>
            <a:r>
              <a:t>        },</a:t>
            </a:r>
          </a:p>
          <a:p>
            <a:r>
              <a:t>        "selected_model": "seasonal_naive_previous_year_same_month",</a:t>
            </a:r>
          </a:p>
          <a:p>
            <a:r>
              <a:t>        "baseline_test_mae": 26562.0,</a:t>
            </a:r>
          </a:p>
          <a:p>
            <a:r>
              <a:t>        "model_reliability": "seasonal_baseline",</a:t>
            </a:r>
          </a:p>
          <a:p>
            <a:r>
              <a:t>        "beats_baseline_on_test": false,</a:t>
            </a:r>
          </a:p>
          <a:p>
            <a:r>
              <a:t>        "recursive_horizons_worse_than_baseline": []</a:t>
            </a:r>
          </a:p>
          <a:p>
            <a:r>
              <a:t>      }</a:t>
            </a:r>
          </a:p>
          <a:p>
            <a:r>
              <a:t>    },</a:t>
            </a:r>
          </a:p>
          <a:p>
            <a:r>
              <a:t>    "test_period": "202603~202606",</a:t>
            </a:r>
          </a:p>
          <a:p>
            <a:r>
              <a:t>    "selection_basis": "validation_mae_only",</a:t>
            </a:r>
          </a:p>
          <a:p>
            <a:r>
              <a:t>    "validation_period": "202512~202602",</a:t>
            </a:r>
          </a:p>
          <a:p>
            <a:r>
              <a:t>    "longer_horizon_status": "exploratory_not_recursively_backtested",</a:t>
            </a:r>
          </a:p>
          <a:p>
            <a:r>
              <a:t>    "forecast_horizon_months": 8,</a:t>
            </a:r>
          </a:p>
          <a:p>
            <a:r>
              <a:t>    "recursive_backtest_horizon_months": [</a:t>
            </a:r>
          </a:p>
          <a:p>
            <a:r>
              <a:t>      1,</a:t>
            </a:r>
          </a:p>
          <a:p>
            <a:r>
              <a:t>      2,</a:t>
            </a:r>
          </a:p>
          <a:p>
            <a:r>
              <a:t>      3</a:t>
            </a:r>
          </a:p>
          <a:p>
            <a:r>
              <a:t>    ]</a:t>
            </a:r>
          </a:p>
          <a:p>
            <a:r>
              <a:t>  },</a:t>
            </a:r>
          </a:p>
          <a:p>
            <a:r>
              <a:t>  "execution_scenario": {</a:t>
            </a:r>
          </a:p>
          <a:p>
            <a:r>
              <a:t>    "visitor_target_pct": 5.0,</a:t>
            </a:r>
          </a:p>
          <a:p>
            <a:r>
              <a:t>    "spending_target_pct": 5.0</a:t>
            </a:r>
          </a:p>
          <a:p>
            <a:r>
              <a:t>  },</a:t>
            </a:r>
          </a:p>
          <a:p>
            <a:r>
              <a:t>  "reference_estimate": {</a:t>
            </a:r>
          </a:p>
          <a:p>
            <a:r>
              <a:t>    "status": "saved_report_budget",</a:t>
            </a:r>
          </a:p>
          <a:p>
            <a:r>
              <a:t>    "total_label": "총액 미확정",</a:t>
            </a:r>
          </a:p>
          <a:p>
            <a:r>
              <a:t>    "rows": [</a:t>
            </a:r>
          </a:p>
          <a:p>
            <a:r>
              <a:t>      [</a:t>
            </a:r>
          </a:p>
          <a:p>
            <a:r>
              <a:t>        "산정 내역 1",</a:t>
            </a:r>
          </a:p>
          <a:p>
            <a:r>
              <a:t>        "기획 가정/미확정 참고 견적: 운영 콘텐츠 수×콘텐츠별 비교견적 + 운영일수×일일 운영·안전 견적 + 참여업체 수×업체 준비비 견적 + 측정 원장 1식×구축 견적. 사업 담당자가 착수 전 수량을 정하고 회계 담당자가 같은 조건의 비교견적 2건 이상으로 단가·부가세·총액을 확정함.",</a:t>
            </a:r>
          </a:p>
          <a:p>
            <a:r>
              <a:t>        "본문 기준"</a:t>
            </a:r>
          </a:p>
          <a:p>
            <a:r>
              <a:t>      ]</a:t>
            </a:r>
          </a:p>
          <a:p>
            <a:r>
              <a:t>    ],</a:t>
            </a:r>
          </a:p>
          <a:p>
            <a:r>
              <a:t>    "original_text": "기획 가정/미확정 참고 견적: 운영 콘텐츠 수×콘텐츠별 비교견적 + 운영일수×일일 운영·안전 견적 + 참여업체 수×업체 준비비 견적 + 측정 원장 1식×구축 견적. 사업 담당자가 착수 전 수량을 정하고 회계 담당자가 같은 조건의 비교견적 2건 이상으로 단가·부가세·총액을 확정함.",</a:t>
            </a:r>
          </a:p>
          <a:p>
            <a:r>
              <a:t>    "sources": [],</a:t>
            </a:r>
          </a:p>
          <a:p>
            <a:r>
              <a:t>    "note": "저장 기획안의 예산 산정 내용을 그대로 표시합니다. 확정 견적이 아니며 계약 전 수량·단가·세금과 합계를 확인합니다."</a:t>
            </a:r>
          </a:p>
          <a:p>
            <a:r>
              <a:t>  }</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관측값·저장 예측·계획 목표는 별개입니다. 문서용 참고 견적이며 원 보고서의 검수 결과를 변경하지 않습니다.</a:t>
            </a:r>
          </a:p>
          <a:p>
            <a:r>
              <a:t>[Sources]</a:t>
            </a:r>
          </a:p>
          <a:p>
            <a:r>
              <a:t>dataset:51130:1 | 한국관광 데이터랩 · 강원특별자치도 원주시 순 방문자 수 및 숙박 비율 (이동통신 기반 외지인) | https://datalab.visitkorea.or.kr/</a:t>
            </a:r>
          </a:p>
          <a:p>
            <a:r>
              <a:t>dataset:51130:2 | 한국관광 데이터랩 · 강원특별자치도 원주시 월간 순 방문자 수 (이동통신 기반 외지인) | https://datalab.visitkorea.or.kr/</a:t>
            </a:r>
          </a:p>
          <a:p>
            <a:r>
              <a:t>dataset:51130:3 | 한국관광 데이터랩 · 강원특별자치도 원주시 관광소비 추이_외지인 | https://datalab.visitkorea.or.kr/</a:t>
            </a:r>
          </a:p>
          <a:p>
            <a:r>
              <a:t>dataset:51130:4 | 한국관광 데이터랩 · 강원특별자치도 원주시 숙박방문자 비율 추이 (이동통신 기반 외지인) | https://datalab.visitkorea.or.kr/</a:t>
            </a:r>
          </a:p>
          <a:p>
            <a:r>
              <a:t>dataset:51130:5 | 한국관광 데이터랩 · 강원특별자치도 원주시 평균 숙박일 (이동통신 기반 외지인) | https://datalab.visitkorea.or.kr/</a:t>
            </a:r>
          </a:p>
          <a:p>
            <a:r>
              <a:t>dataset:51130:6 | 한국관광 데이터랩 · 강원특별자치도 원주시 내비게이션 목적지 유형별 검색량 | https://datalab.visitkorea.or.kr/</a:t>
            </a:r>
          </a:p>
          <a:p>
            <a:r>
              <a:t>dataset:51130:7 | 한국관광 데이터랩 · 강원특별자치도 원주시 SNS 언급량 | https://datalab.visitkorea.or.kr/</a:t>
            </a:r>
          </a:p>
          <a:p>
            <a:r>
              <a:t>datalab:16d84bd9b1d0:620b2639a268 | 한국관광 데이터랩 공식 다운로드 · 강원특별자치도_원주시/숙박_체류시간/2025_01_12.zip | https://datalab.visitkorea.or.kr/</a:t>
            </a:r>
          </a:p>
          <a:p>
            <a:r>
              <a:t>datalab:242a2c1249d4:f84e1a5f3914 | 한국관광 데이터랩 공식 다운로드 · 강원특별자치도_원주시/숙박_체류시간/2026_01_06.zip | https://datalab.visitkorea.or.kr/</a:t>
            </a:r>
          </a:p>
          <a:p>
            <a:r>
              <a:t>datalab:a050e5a84ef4:3906c6ac70a7 | 한국관광 데이터랩 공식 다운로드 · 강원특별자치도_원주시/방문자/2025_01_12.zip | https://datalab.visitkorea.or.kr/</a:t>
            </a:r>
          </a:p>
          <a:p>
            <a:r>
              <a:t>datalab:bd9d3d26da19:991f2264ad4a | 한국관광 데이터랩 공식 다운로드 · 강원특별자치도_원주시/방문자/2026_01_06.zip | https://datalab.visitkorea.or.kr/</a:t>
            </a:r>
          </a:p>
          <a:p>
            <a:r>
              <a:t>datalab:d54a3fb44037:ee4640b6178b | 한국관광 데이터랩 공식 다운로드 · 강원특별자치도_원주시/관광소비/2026_01_06.zip | https://datalab.visitkorea.or.kr/</a:t>
            </a:r>
          </a:p>
          <a:p>
            <a:r>
              <a:t>datalab:ebce91b8bf02:1770c2d94cc6 | 한국관광 데이터랩 공식 다운로드 · 강원특별자치도_원주시/관광소비/2025_01_12.zip | https://datalab.visitkorea.or.kr/</a:t>
            </a:r>
          </a:p>
          <a:p>
            <a:r>
              <a:t>team-bigdata:23ea68053684:6bfbcf8aabf6 | 한국관광 데이터랩 전국 빅데이터 다운로드 · 이동통신/내국인/지역별 방문자수/20260820140607__202601-202606_데이터랩_다운로드.zip | https://datalab.visitkorea.or.kr/</a:t>
            </a:r>
          </a:p>
          <a:p>
            <a:r>
              <a:t>team-bigdata:98d4ae590d9a:3be52dd54323 | 한국관광 데이터랩 전국 빅데이터 다운로드 · 이동통신/외국인/20260820141710_전국_202601-202606_데이터랩_다운로드.zip | https://datalab.visitkorea.or.kr/</a:t>
            </a:r>
          </a:p>
          <a:p>
            <a:r>
              <a:t>team-bigdata:367cd0294ec4:873930d645e5 | 한국관광 데이터랩 전국 빅데이터 다운로드 · 신용카드/내국인/지역별 관광지출액/20260820140046__202601-202606_데이터랩_다운로드.zip | https://datalab.visitkorea.or.kr/</a:t>
            </a:r>
          </a:p>
          <a:p>
            <a:r>
              <a:t>team-bigdata:553a0dad4bb4:5a31355dffe8 | 한국관광 데이터랩 전국 빅데이터 다운로드 · 신용카드/외국인/지역별 관광지출액/20260820140355__202601-202606_데이터랩_다운로드.zip | https://datalab.visitkorea.or.kr/</a:t>
            </a:r>
          </a:p>
          <a:p>
            <a:r>
              <a:t>team-bigdata:a53dbe1c21df:77a052de41d5 | 한국관광 데이터랩 전국 빅데이터 다운로드 · 네비게이션/지역별 검색건수/20260820195507__202601-202606_데이터랩_다운로드.zip | https://datalab.visitkorea.or.kr/</a:t>
            </a:r>
          </a:p>
          <a:p>
            <a:r>
              <a:t>team-bigdata:823a38d1d61c:5385261d02e5 | 한국관광 데이터랩 전국 빅데이터 다운로드 · 이동통신/내국인/지역별 방문자수/20260820140614__202501-202512_데이터랩_다운로드.zip | https://datalab.visitkorea.or.kr/</a:t>
            </a:r>
          </a:p>
          <a:p>
            <a:r>
              <a:t>team-bigdata:2723bdb0d589:1666a34058ed | 한국관광 데이터랩 전국 빅데이터 다운로드 · 이동통신/외국인/20260820141649_전국_202501-202512_데이터랩_다운로드.zip | https://datalab.visitkorea.or.kr/</a:t>
            </a:r>
          </a:p>
          <a:p>
            <a:r>
              <a:t>team-bigdata:83177a234971:c02cb7972e0f | 한국관광 데이터랩 전국 빅데이터 다운로드 · 신용카드/내국인/지역별 관광지출액/20260820135957__202501-202512_데이터랩_다운로드.zip | https://datalab.visitkorea.or.kr/</a:t>
            </a:r>
          </a:p>
          <a:p>
            <a:r>
              <a:t>team-bigdata:58ded7732251:589c76395cbc | 한국관광 데이터랩 전국 빅데이터 다운로드 · 신용카드/외국인/지역별 관광지출액/20260820140409__202501-202512_데이터랩_다운로드.zip | https://datalab.visitkorea.or.kr/</a:t>
            </a:r>
          </a:p>
          <a:p>
            <a:r>
              <a:t>team-bigdata:e28c947cb52f:bb4cb344a6ba | 한국관광 데이터랩 전국 빅데이터 다운로드 · 네비게이션/지역별 검색건수/20260820132007__202501-202512_데이터랩_다운로드.zip | https://datalab.visitkorea.or.kr/</a:t>
            </a:r>
          </a:p>
          <a:p>
            <a:r>
              <a:t>team-bigdata:8815bbb11a39:1a5988f5f8ec | 한국관광 데이터랩 전국 빅데이터 다운로드 · 이동통신/내국인/지역별 방문자수/20260820140624__202401-202412_데이터랩_다운로드.zip | https://datalab.visitkorea.or.kr/</a:t>
            </a:r>
          </a:p>
          <a:p>
            <a:r>
              <a:t>team-bigdata:19fd67fbb73d:afa4f0f54a2f | 한국관광 데이터랩 전국 빅데이터 다운로드 · 이동통신/외국인/20260820141639_전국_202401-202412_데이터랩_다운로드.zip | https://datalab.visitkorea.or.kr/</a:t>
            </a:r>
          </a:p>
          <a:p>
            <a:r>
              <a:t>regional-status:90f2be7a0f7d:b989a6c2e7bf | 한국관광 데이터랩 지역별 관광 현황 · 강원특별자치도 원주시 · 유입유출 | https://datalab.visitkorea.or.kr/</a:t>
            </a:r>
          </a:p>
          <a:p>
            <a:r>
              <a:t>regional-status:c39767bd23e8:e3b081f6e6aa | 한국관광 데이터랩 지역별 관광 현황 · 강원특별자치도 원주시 · 지역집중률 | https://datalab.visitkorea.or.kr/</a:t>
            </a:r>
          </a:p>
          <a:p>
            <a:r>
              <a:t>regional-status:edaf76986d99:c00fa7ffc0a7 | 한국관광 데이터랩 지역별 관광 현황 · 강원특별자치도 원주시 · 인기관광지 | https://datalab.visitkorea.or.kr/</a:t>
            </a:r>
          </a:p>
          <a:p>
            <a:r>
              <a:t>ml:51130:regional-demand-v3.1:202606 | 지역 관광수요 ML 전망 · 공식 관측값 아님 | URL 미기록</a:t>
            </a:r>
          </a:p>
          <a:p>
            <a:r>
              <a:t>tour-api:2732999 | 감악산캠핑숲 | https://apis.data.go.kr/B551011/KorService2</a:t>
            </a:r>
          </a:p>
          <a:p>
            <a:r>
              <a:t>tour-api:2555010 | 강원감영관찰사·무릉고서화미술박물관 | https://apis.data.go.kr/B551011/KorService2</a:t>
            </a:r>
          </a:p>
          <a:p>
            <a:r>
              <a:t>tour-api:2734136 | 강원도힐링캠핑장 | https://apis.data.go.kr/B551011/KorService2</a:t>
            </a:r>
          </a:p>
          <a:p>
            <a:r>
              <a:t>tour-api:2702477 | 경천묘 | https://apis.data.go.kr/B551011/KorService2</a:t>
            </a:r>
          </a:p>
          <a:p>
            <a:r>
              <a:t>tour-api:130539 | 고판화박물관 | https://apis.data.go.kr/B551011/KorService2</a:t>
            </a:r>
          </a:p>
          <a:p>
            <a:r>
              <a:t>tour-api:125645 | 관음사·국형사계곡 | https://apis.data.go.kr/B551011/KorService2</a:t>
            </a:r>
          </a:p>
          <a:p>
            <a:r>
              <a:t>tour-api:3356037 | 광화문갈비 원주점 | https://apis.data.go.kr/B551011/KorService2</a:t>
            </a:r>
          </a:p>
          <a:p>
            <a:r>
              <a:t>tour-api:2762710 | 구 조선식산은행 원주지점 | https://apis.data.go.kr/B551011/KorService2</a:t>
            </a:r>
          </a:p>
          <a:p>
            <a:r>
              <a:t>tour-api:125757 | 국형사 | https://apis.data.go.kr/B551011/KorService2</a:t>
            </a:r>
          </a:p>
          <a:p>
            <a:r>
              <a:t>tour-api:2033279 | 금대 에코힐링 캠핑장 | https://apis.data.go.kr/B551011/KorService2</a:t>
            </a:r>
          </a:p>
          <a:p>
            <a:r>
              <a:t>tour-api:129676 | 금대계곡 | https://apis.data.go.kr/B551011/KorService2</a:t>
            </a:r>
          </a:p>
          <a:p>
            <a:r>
              <a:t>tour-api:2734906 | 금대자동차야영장 | https://apis.data.go.kr/B551011/KorService2</a:t>
            </a:r>
          </a:p>
          <a:p>
            <a:r>
              <a:t>tour-api:2714800 | 기후변화홍보관 | https://apis.data.go.kr/B551011/KorService2</a:t>
            </a:r>
          </a:p>
          <a:p>
            <a:r>
              <a:t>tour-api:2892327 | 김가네원주추어탕 | https://apis.data.go.kr/B551011/KorService2</a:t>
            </a:r>
          </a:p>
          <a:p>
            <a:r>
              <a:t>tour-api:129284 | 김제남 신도비 | https://apis.data.go.kr/B551011/KorService2</a:t>
            </a:r>
          </a:p>
          <a:p>
            <a:r>
              <a:t>tour-api:512084 | 넌스키 난보드 | https://apis.data.go.kr/B551011/KorService2</a:t>
            </a:r>
          </a:p>
          <a:p>
            <a:r>
              <a:t>tour-api:2778036 | 단관공원 | https://apis.data.go.kr/B551011/KorService2</a:t>
            </a:r>
          </a:p>
          <a:p>
            <a:r>
              <a:t>tour-api:2892320 | 동승루 | https://apis.data.go.kr/B551011/KorService2</a:t>
            </a:r>
          </a:p>
          <a:p>
            <a:r>
              <a:t>tour-api:2892312 | 들꽃가든 | https://apis.data.go.kr/B551011/KorService2</a:t>
            </a:r>
          </a:p>
          <a:p>
            <a:r>
              <a:t>tour-api:2809292 | 들꽃이야기 | https://apis.data.go.kr/B551011/KorService2</a:t>
            </a:r>
          </a:p>
          <a:p>
            <a:r>
              <a:t>reference:kto:2026:local-airport | 요즘, 한국관광 2호 - 지방공항 연계 지역관광 활성화 방안 | PDF 44쪽, PDF 43쪽, PDF 38쪽, PDF 40쪽, PDF 41쪽, PDF 36쪽, PDF 41쪽, PDF 44쪽, PDF 43쪽, PDF 43쪽 | https://datalab.visitkorea.or.kr/site/portal/ex/bbs/View.do?bcIdx=311068&amp;cbIdx=1135&amp;pageIndex=1</a:t>
            </a:r>
          </a:p>
          <a:p>
            <a:r>
              <a:t>case:jeonju_night_budget_2026 | 전주시 2026년도 관광산업과 세출예산 사업명세서 | https://jeonju.go.kr/resource/www/images/download/budget/2026/2026_31_2.pdf</a:t>
            </a:r>
          </a:p>
          <a:p>
            <a:r>
              <a:t>case:4625625dcbf2ae | (기획) 인천을 즐기는 가장 쉬운(easy) 방법 … 인천e지 | https://www.incheon.go.kr/IC010205/view?beginDt=&amp;curPage=1&amp;endDt=&amp;repSeq=DOM_0000000013130282&amp;srchMainManagerDeptNm=&amp;srchRepContents=%EC%A3%BC%EC%B0%A8&amp;srchRepTitle=</a:t>
            </a:r>
          </a:p>
          <a:p>
            <a:r>
              <a:t>case:digital_tourism_resident_2024 | 2024년 6월 여행가는 달 추진 보도자료 | https://mcst.go.kr/servlets/eduport/front/upload/UplDownloadFile?pFileName=%280514%29%EB%AC%B8%EC%B2%B4%EB%B6%80%EB%B3%B4%EB%8F%84%EC%9E%90%EB%A3%8C-6%EC%9B%94_%EC%97%AC%ED%96%89%EA%B0%80%EB%8A%94_%EB%8B%AC_%EC%B6%94%EC%A7%84.pdf&amp;pPath=0302000000&amp;pRealName=20240514083202149235802932_PRESS20240514083202456506.pdf</a:t>
            </a:r>
          </a:p>
          <a:p>
            <a:r>
              <a:t>case:kto_stay_discount_2022 | 2022 대한민국 숙박대전 경제파급효과 공개자료 | https://kto.visitkorea.or.kr/upload/flexer/upload/ktobiz/20220928/b623b5f9-3ec0-11ed-9832-ddf31964842e.hwp.files/Sections1.html</a:t>
            </a:r>
          </a:p>
          <a:p>
            <a:r>
              <a:t>case:37471b1e063812 | 한강 밤핑(Night+Camping) 행사·공연 정보 | https://hangang.seoul.go.kr/www/eventMng/detail.do?evntSn=441&amp;keyword=&amp;mid=538&amp;opt11=&amp;opt12=&amp;opt13=&amp;opt14=&amp;opt4=&amp;pageNo=2&amp;srchType=list</a:t>
            </a:r>
          </a:p>
          <a:p>
            <a:r>
              <a:t>case:gangjin_half_price_2024 | 강진 반값여행 지역경제 효과 소개 | https://jnfarm.jeonnam.go.kr/board/FARM_BOARD_008/boardView.do?bdId=BD_00000000000011721&amp;menuCd=farm004002</a:t>
            </a:r>
          </a:p>
          <a:p>
            <a:r>
              <a:t>case:c6d4752e1342a7 | 지역사랑 휴가지원(반값여행) 신설 및 ‘대한민국 반값여행’ 성과 분석 | https://www.mcst.go.kr/site/s_policy/govPolicy/performTotal.jsp</a:t>
            </a:r>
          </a:p>
          <a:p>
            <a:r>
              <a:t>case:night_festival_2025 | 2025 대한민국 밤밤페스타 개최 도시 및 일정 | https://korean.visitkorea.or.kr/detail/rem_detail.do?cotid=f9c636b2-dd7c-4f09-af3d-6af43b33d371</a:t>
            </a:r>
          </a:p>
          <a:p>
            <a:r>
              <a:t>[/Sources]</a:t>
            </a:r>
          </a:p>
          <a:p>
            <a:r>
              <a:t>[Calculation audit]</a:t>
            </a:r>
          </a:p>
          <a:p>
            <a:r>
              <a:t>{</a:t>
            </a:r>
          </a:p>
          <a:p>
            <a:r>
              <a:t>  "source_inventory": [</a:t>
            </a:r>
          </a:p>
          <a:p>
            <a:r>
              <a:t>    {</a:t>
            </a:r>
          </a:p>
          <a:p>
            <a:r>
              <a:t>      "title": "한국관광 데이터랩 · 강원특별자치도 원주시 순 방문자 수 및 숙박 비율 (이동통신 기반 외지인)",</a:t>
            </a:r>
          </a:p>
          <a:p>
            <a:r>
              <a:t>      "summary": "월간 순 방문자 수: 2,285,734명 (관측 기준월: 2026-06)",</a:t>
            </a:r>
          </a:p>
          <a:p>
            <a:r>
              <a:t>      "source_id": "dataset:51130:1",</a:t>
            </a:r>
          </a:p>
          <a:p>
            <a:r>
              <a:t>      "source_url": "https://datalab.visitkorea.or.kr/",</a:t>
            </a:r>
          </a:p>
          <a:p>
            <a:r>
              <a:t>      "source_type": "dataset",</a:t>
            </a:r>
          </a:p>
          <a:p>
            <a:r>
              <a:t>      "observation_period": "2026-06",</a:t>
            </a:r>
          </a:p>
          <a:p>
            <a:r>
              <a:t>      "published_or_updated_at": "2026-06"</a:t>
            </a:r>
          </a:p>
          <a:p>
            <a:r>
              <a:t>    },</a:t>
            </a:r>
          </a:p>
          <a:p>
            <a:r>
              <a:t>    {</a:t>
            </a:r>
          </a:p>
          <a:p>
            <a:r>
              <a:t>      "title": "한국관광 데이터랩 · 강원특별자치도 원주시 월간 순 방문자 수 (이동통신 기반 외지인)",</a:t>
            </a:r>
          </a:p>
          <a:p>
            <a:r>
              <a:t>      "summary": "전년동월 외지인 방문자 증감률: -2.7% (관측 기준월: 2026-06)",</a:t>
            </a:r>
          </a:p>
          <a:p>
            <a:r>
              <a:t>      "source_id": "dataset:51130:2",</a:t>
            </a:r>
          </a:p>
          <a:p>
            <a:r>
              <a:t>      "source_url": "https://datalab.visitkorea.or.kr/",</a:t>
            </a:r>
          </a:p>
          <a:p>
            <a:r>
              <a:t>      "source_type": "dataset",</a:t>
            </a:r>
          </a:p>
          <a:p>
            <a:r>
              <a:t>      "observation_period": "2026-06",</a:t>
            </a:r>
          </a:p>
          <a:p>
            <a:r>
              <a:t>      "published_or_updated_at": "2026-06"</a:t>
            </a:r>
          </a:p>
          <a:p>
            <a:r>
              <a:t>    },</a:t>
            </a:r>
          </a:p>
          <a:p>
            <a:r>
              <a:t>    {</a:t>
            </a:r>
          </a:p>
          <a:p>
            <a:r>
              <a:t>      "title": "한국관광 데이터랩 · 강원특별자치도 원주시 관광소비 추이_외지인",</a:t>
            </a:r>
          </a:p>
          <a:p>
            <a:r>
              <a:t>      "summary": "월간 외지인 관광소비 총액: 60,562,672,000원 (관측 기준월: 2026-06)",</a:t>
            </a:r>
          </a:p>
          <a:p>
            <a:r>
              <a:t>      "source_id": "dataset:51130:3",</a:t>
            </a:r>
          </a:p>
          <a:p>
            <a:r>
              <a:t>      "source_url": "https://datalab.visitkorea.or.kr/",</a:t>
            </a:r>
          </a:p>
          <a:p>
            <a:r>
              <a:t>      "source_type": "dataset",</a:t>
            </a:r>
          </a:p>
          <a:p>
            <a:r>
              <a:t>      "observation_period": "2026-06",</a:t>
            </a:r>
          </a:p>
          <a:p>
            <a:r>
              <a:t>      "published_or_updated_at": "2026-06"</a:t>
            </a:r>
          </a:p>
          <a:p>
            <a:r>
              <a:t>    },</a:t>
            </a:r>
          </a:p>
          <a:p>
            <a:r>
              <a:t>    {</a:t>
            </a:r>
          </a:p>
          <a:p>
            <a:r>
              <a:t>      "title": "한국관광 데이터랩 · 강원특별자치도 원주시 숙박방문자 비율 추이 (이동통신 기반 외지인)",</a:t>
            </a:r>
          </a:p>
          <a:p>
            <a:r>
              <a:t>      "summary": "외지인 숙박 방문 비율: 12.5% (관측 기준월: 2026-06)",</a:t>
            </a:r>
          </a:p>
          <a:p>
            <a:r>
              <a:t>      "source_id": "dataset:51130:4",</a:t>
            </a:r>
          </a:p>
          <a:p>
            <a:r>
              <a:t>      "source_url": "https://datalab.visitkorea.or.kr/",</a:t>
            </a:r>
          </a:p>
          <a:p>
            <a:r>
              <a:t>      "source_type": "dataset",</a:t>
            </a:r>
          </a:p>
          <a:p>
            <a:r>
              <a:t>      "observation_period": "2026-06",</a:t>
            </a:r>
          </a:p>
          <a:p>
            <a:r>
              <a:t>      "published_or_updated_at": "2026-06"</a:t>
            </a:r>
          </a:p>
          <a:p>
            <a:r>
              <a:t>    },</a:t>
            </a:r>
          </a:p>
          <a:p>
            <a:r>
              <a:t>    {</a:t>
            </a:r>
          </a:p>
          <a:p>
            <a:r>
              <a:t>      "title": "한국관광 데이터랩 · 강원특별자치도 원주시 평균 숙박일 (이동통신 기반 외지인)",</a:t>
            </a:r>
          </a:p>
          <a:p>
            <a:r>
              <a:t>      "summary": "외지인 평균 숙박일수: 2.76일 (관측 기준월: 2026-06)",</a:t>
            </a:r>
          </a:p>
          <a:p>
            <a:r>
              <a:t>      "source_id": "dataset:51130:5",</a:t>
            </a:r>
          </a:p>
          <a:p>
            <a:r>
              <a:t>      "source_url": "https://datalab.visitkorea.or.kr/",</a:t>
            </a:r>
          </a:p>
          <a:p>
            <a:r>
              <a:t>      "source_type": "dataset",</a:t>
            </a:r>
          </a:p>
          <a:p>
            <a:r>
              <a:t>      "observation_period": "2026-06",</a:t>
            </a:r>
          </a:p>
          <a:p>
            <a:r>
              <a:t>      "published_or_updated_at": "2026-06"</a:t>
            </a:r>
          </a:p>
          <a:p>
            <a:r>
              <a:t>    },</a:t>
            </a:r>
          </a:p>
          <a:p>
            <a:r>
              <a:t>    {</a:t>
            </a:r>
          </a:p>
          <a:p>
            <a:r>
              <a:t>      "title": "한국관광 데이터랩 · 강원특별자치도 원주시 내비게이션 목적지 유형별 검색량",</a:t>
            </a:r>
          </a:p>
          <a:p>
            <a:r>
              <a:t>      "summary": "내비게이션 목적지 검색량: 303,921건 (관측 기준월: 2026-06)",</a:t>
            </a:r>
          </a:p>
          <a:p>
            <a:r>
              <a:t>      "source_id": "dataset:51130:6",</a:t>
            </a:r>
          </a:p>
          <a:p>
            <a:r>
              <a:t>      "source_url": "https://datalab.visitkorea.or.kr/",</a:t>
            </a:r>
          </a:p>
          <a:p>
            <a:r>
              <a:t>      "source_type": "dataset",</a:t>
            </a:r>
          </a:p>
          <a:p>
            <a:r>
              <a:t>      "observation_period": "2026-06",</a:t>
            </a:r>
          </a:p>
          <a:p>
            <a:r>
              <a:t>      "published_or_updated_at": "2026-06"</a:t>
            </a:r>
          </a:p>
          <a:p>
            <a:r>
              <a:t>    },</a:t>
            </a:r>
          </a:p>
          <a:p>
            <a:r>
              <a:t>    {</a:t>
            </a:r>
          </a:p>
          <a:p>
            <a:r>
              <a:t>      "title": "한국관광 데이터랩 · 강원특별자치도 원주시 SNS 언급량",</a:t>
            </a:r>
          </a:p>
          <a:p>
            <a:r>
              <a:t>      "summary": "SNS 언급량: 41,121건 (관측 기준월: 2026-06)",</a:t>
            </a:r>
          </a:p>
          <a:p>
            <a:r>
              <a:t>      "source_id": "dataset:51130:7",</a:t>
            </a:r>
          </a:p>
          <a:p>
            <a:r>
              <a:t>      "source_url": "https://datalab.visitkorea.or.kr/",</a:t>
            </a:r>
          </a:p>
          <a:p>
            <a:r>
              <a:t>      "source_type": "dataset",</a:t>
            </a:r>
          </a:p>
          <a:p>
            <a:r>
              <a:t>      "observation_period": "2026-06",</a:t>
            </a:r>
          </a:p>
          <a:p>
            <a:r>
              <a:t>      "published_or_updated_at": "2026-06"</a:t>
            </a:r>
          </a:p>
          <a:p>
            <a:r>
              <a:t>    },</a:t>
            </a:r>
          </a:p>
          <a:p>
            <a:r>
              <a:t>    {</a:t>
            </a:r>
          </a:p>
          <a:p>
            <a:r>
              <a:t>      "title": "한국관광 데이터랩 공식 다운로드 · 강원특별자치도_원주시/숙박_체류시간/2025_01_12.zip",</a:t>
            </a:r>
          </a:p>
          <a:p>
            <a:r>
              <a:t>      "summary": "전국 비교 기준 기간: 2025-07 ~ 2026-06",</a:t>
            </a:r>
          </a:p>
          <a:p>
            <a:r>
              <a:t>      "source_id": "datalab:16d84bd9b1d0:620b2639a268",</a:t>
            </a:r>
          </a:p>
          <a:p>
            <a:r>
              <a:t>      "source_url": "https://datalab.visitkorea.or.kr/",</a:t>
            </a:r>
          </a:p>
          <a:p>
            <a:r>
              <a:t>      "source_type": "nationwide_dataset",</a:t>
            </a:r>
          </a:p>
          <a:p>
            <a:r>
              <a:t>      "observation_period": "2025-07 ~ 2026-06",</a:t>
            </a:r>
          </a:p>
          <a:p>
            <a:r>
              <a:t>      "published_or_updated_at": "2024-07 ~ 2025-06"</a:t>
            </a:r>
          </a:p>
          <a:p>
            <a:r>
              <a:t>    },</a:t>
            </a:r>
          </a:p>
          <a:p>
            <a:r>
              <a:t>    {</a:t>
            </a:r>
          </a:p>
          <a:p>
            <a:r>
              <a:t>      "title": "한국관광 데이터랩 공식 다운로드 · 강원특별자치도_원주시/숙박_체류시간/2026_01_06.zip",</a:t>
            </a:r>
          </a:p>
          <a:p>
            <a:r>
              <a:t>      "summary": "전국 비교 기준 기간: 2025-07 ~ 2026-06",</a:t>
            </a:r>
          </a:p>
          <a:p>
            <a:r>
              <a:t>      "source_id": "datalab:242a2c1249d4:f84e1a5f3914",</a:t>
            </a:r>
          </a:p>
          <a:p>
            <a:r>
              <a:t>      "source_url": "https://datalab.visitkorea.or.kr/",</a:t>
            </a:r>
          </a:p>
          <a:p>
            <a:r>
              <a:t>      "source_type": "nationwide_dataset",</a:t>
            </a:r>
          </a:p>
          <a:p>
            <a:r>
              <a:t>      "observation_period": "2025-07 ~ 2026-06",</a:t>
            </a:r>
          </a:p>
          <a:p>
            <a:r>
              <a:t>      "published_or_updated_at": "2024-07 ~ 2025-06"</a:t>
            </a:r>
          </a:p>
          <a:p>
            <a:r>
              <a:t>    },</a:t>
            </a:r>
          </a:p>
          <a:p>
            <a:r>
              <a:t>    {</a:t>
            </a:r>
          </a:p>
          <a:p>
            <a:r>
              <a:t>      "title": "한국관광 데이터랩 공식 다운로드 · 강원특별자치도_원주시/방문자/2025_01_12.zip",</a:t>
            </a:r>
          </a:p>
          <a:p>
            <a:r>
              <a:t>      "summary": "전국 비교 기준 기간: 2025-07 ~ 2026-06",</a:t>
            </a:r>
          </a:p>
          <a:p>
            <a:r>
              <a:t>      "source_id": "datalab:a050e5a84ef4:3906c6ac70a7",</a:t>
            </a:r>
          </a:p>
          <a:p>
            <a:r>
              <a:t>      "source_url": "https://datalab.visitkorea.or.kr/",</a:t>
            </a:r>
          </a:p>
          <a:p>
            <a:r>
              <a:t>      "source_type": "nationwide_dataset",</a:t>
            </a:r>
          </a:p>
          <a:p>
            <a:r>
              <a:t>      "observation_period": "2025-07 ~ 2026-06",</a:t>
            </a:r>
          </a:p>
          <a:p>
            <a:r>
              <a:t>      "published_or_updated_at": "2024-07 ~ 2025-06"</a:t>
            </a:r>
          </a:p>
          <a:p>
            <a:r>
              <a:t>    },</a:t>
            </a:r>
          </a:p>
          <a:p>
            <a:r>
              <a:t>    {</a:t>
            </a:r>
          </a:p>
          <a:p>
            <a:r>
              <a:t>      "title": "한국관광 데이터랩 공식 다운로드 · 강원특별자치도_원주시/방문자/2026_01_06.zip",</a:t>
            </a:r>
          </a:p>
          <a:p>
            <a:r>
              <a:t>      "summary": "전국 비교 기준 기간: 2025-07 ~ 2026-06",</a:t>
            </a:r>
          </a:p>
          <a:p>
            <a:r>
              <a:t>      "source_id": "datalab:bd9d3d26da19:991f2264ad4a",</a:t>
            </a:r>
          </a:p>
          <a:p>
            <a:r>
              <a:t>      "source_url": "https://datalab.visitkorea.or.kr/",</a:t>
            </a:r>
          </a:p>
          <a:p>
            <a:r>
              <a:t>      "source_type": "nationwide_dataset",</a:t>
            </a:r>
          </a:p>
          <a:p>
            <a:r>
              <a:t>      "observation_period": "2025-07 ~ 2026-06",</a:t>
            </a:r>
          </a:p>
          <a:p>
            <a:r>
              <a:t>      "published_or_updated_at": "2024-07 ~ 2025-06"</a:t>
            </a:r>
          </a:p>
          <a:p>
            <a:r>
              <a:t>    },</a:t>
            </a:r>
          </a:p>
          <a:p>
            <a:r>
              <a:t>    {</a:t>
            </a:r>
          </a:p>
          <a:p>
            <a:r>
              <a:t>      "title": "한국관광 데이터랩 공식 다운로드 · 강원특별자치도_원주시/관광소비/2026_01_06.zip",</a:t>
            </a:r>
          </a:p>
          <a:p>
            <a:r>
              <a:t>      "summary": "전국 비교 기준 기간: 2025-07 ~ 2026-06",</a:t>
            </a:r>
          </a:p>
          <a:p>
            <a:r>
              <a:t>      "source_id": "datalab:d54a3fb44037:ee4640b6178b",</a:t>
            </a:r>
          </a:p>
          <a:p>
            <a:r>
              <a:t>      "source_url": "https://datalab.visitkorea.or.kr/",</a:t>
            </a:r>
          </a:p>
          <a:p>
            <a:r>
              <a:t>      "source_type": "nationwide_dataset",</a:t>
            </a:r>
          </a:p>
          <a:p>
            <a:r>
              <a:t>      "observation_period": "2025-07 ~ 2026-06",</a:t>
            </a:r>
          </a:p>
          <a:p>
            <a:r>
              <a:t>      "published_or_updated_at": "2024-07 ~ 2025-06"</a:t>
            </a:r>
          </a:p>
          <a:p>
            <a:r>
              <a:t>    },</a:t>
            </a:r>
          </a:p>
          <a:p>
            <a:r>
              <a:t>    {</a:t>
            </a:r>
          </a:p>
          <a:p>
            <a:r>
              <a:t>      "title": "한국관광 데이터랩 공식 다운로드 · 강원특별자치도_원주시/관광소비/2025_01_12.zip",</a:t>
            </a:r>
          </a:p>
          <a:p>
            <a:r>
              <a:t>      "summary": "전국 비교 기준 기간: 2025-07 ~ 2026-06",</a:t>
            </a:r>
          </a:p>
          <a:p>
            <a:r>
              <a:t>      "source_id": "datalab:ebce91b8bf02:1770c2d94cc6",</a:t>
            </a:r>
          </a:p>
          <a:p>
            <a:r>
              <a:t>      "source_url": "https://datalab.visitkorea.or.kr/",</a:t>
            </a:r>
          </a:p>
          <a:p>
            <a:r>
              <a:t>      "source_type": "nationwide_dataset",</a:t>
            </a:r>
          </a:p>
          <a:p>
            <a:r>
              <a:t>      "observation_period": "2025-07 ~ 2026-06",</a:t>
            </a:r>
          </a:p>
          <a:p>
            <a:r>
              <a:t>      "published_or_updated_at": "2024-07 ~ 2025-06"</a:t>
            </a:r>
          </a:p>
          <a:p>
            <a:r>
              <a:t>    },</a:t>
            </a:r>
          </a:p>
          <a:p>
            <a:r>
              <a:t>    {</a:t>
            </a:r>
          </a:p>
          <a:p>
            <a:r>
              <a:t>      "title": "한국관광 데이터랩 전국 빅데이터 다운로드 · 이동통신/내국인/지역별 방문자수/20260820140607__202601-202606_데이터랩_다운로드.zip",</a:t>
            </a:r>
          </a:p>
          <a:p>
            <a:r>
              <a:t>      "summary": "시군구 기간합계·비중 또는 전국 월별 추이. 지역 월별 ML·정책 효과가 아닌 보조 근거.",</a:t>
            </a:r>
          </a:p>
          <a:p>
            <a:r>
              <a:t>      "source_id": "team-bigdata:23ea68053684:6bfbcf8aabf6",</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이동통신/외국인/20260820141710_전국_202601-202606_데이터랩_다운로드.zip",</a:t>
            </a:r>
          </a:p>
          <a:p>
            <a:r>
              <a:t>      "summary": "시군구 기간합계·비중 또는 전국 월별 추이. 지역 월별 ML·정책 효과가 아닌 보조 근거.",</a:t>
            </a:r>
          </a:p>
          <a:p>
            <a:r>
              <a:t>      "source_id": "team-bigdata:98d4ae590d9a:3be52dd54323",</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신용카드/내국인/지역별 관광지출액/20260820140046__202601-202606_데이터랩_다운로드.zip",</a:t>
            </a:r>
          </a:p>
          <a:p>
            <a:r>
              <a:t>      "summary": "시군구 기간합계·비중 또는 전국 월별 추이. 지역 월별 ML·정책 효과가 아닌 보조 근거.",</a:t>
            </a:r>
          </a:p>
          <a:p>
            <a:r>
              <a:t>      "source_id": "team-bigdata:367cd0294ec4:873930d645e5",</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신용카드/외국인/지역별 관광지출액/20260820140355__202601-202606_데이터랩_다운로드.zip",</a:t>
            </a:r>
          </a:p>
          <a:p>
            <a:r>
              <a:t>      "summary": "시군구 기간합계·비중 또는 전국 월별 추이. 지역 월별 ML·정책 효과가 아닌 보조 근거.",</a:t>
            </a:r>
          </a:p>
          <a:p>
            <a:r>
              <a:t>      "source_id": "team-bigdata:553a0dad4bb4:5a31355dffe8",</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네비게이션/지역별 검색건수/20260820195507__202601-202606_데이터랩_다운로드.zip",</a:t>
            </a:r>
          </a:p>
          <a:p>
            <a:r>
              <a:t>      "summary": "시군구 기간합계·비중 또는 전국 월별 추이. 지역 월별 ML·정책 효과가 아닌 보조 근거.",</a:t>
            </a:r>
          </a:p>
          <a:p>
            <a:r>
              <a:t>      "source_id": "team-bigdata:a53dbe1c21df:77a052de41d5",</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이동통신/내국인/지역별 방문자수/20260820140614__202501-202512_데이터랩_다운로드.zip",</a:t>
            </a:r>
          </a:p>
          <a:p>
            <a:r>
              <a:t>      "summary": "시군구 기간합계·비중 또는 전국 월별 추이. 지역 월별 ML·정책 효과가 아닌 보조 근거.",</a:t>
            </a:r>
          </a:p>
          <a:p>
            <a:r>
              <a:t>      "source_id": "team-bigdata:823a38d1d61c:5385261d02e5",</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이동통신/외국인/20260820141649_전국_202501-202512_데이터랩_다운로드.zip",</a:t>
            </a:r>
          </a:p>
          <a:p>
            <a:r>
              <a:t>      "summary": "시군구 기간합계·비중 또는 전국 월별 추이. 지역 월별 ML·정책 효과가 아닌 보조 근거.",</a:t>
            </a:r>
          </a:p>
          <a:p>
            <a:r>
              <a:t>      "source_id": "team-bigdata:2723bdb0d589:1666a34058ed",</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신용카드/내국인/지역별 관광지출액/20260820135957__202501-202512_데이터랩_다운로드.zip",</a:t>
            </a:r>
          </a:p>
          <a:p>
            <a:r>
              <a:t>      "summary": "시군구 기간합계·비중 또는 전국 월별 추이. 지역 월별 ML·정책 효과가 아닌 보조 근거.",</a:t>
            </a:r>
          </a:p>
          <a:p>
            <a:r>
              <a:t>      "source_id": "team-bigdata:83177a234971:c02cb7972e0f",</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신용카드/외국인/지역별 관광지출액/20260820140409__202501-202512_데이터랩_다운로드.zip",</a:t>
            </a:r>
          </a:p>
          <a:p>
            <a:r>
              <a:t>      "summary": "시군구 기간합계·비중 또는 전국 월별 추이. 지역 월별 ML·정책 효과가 아닌 보조 근거.",</a:t>
            </a:r>
          </a:p>
          <a:p>
            <a:r>
              <a:t>      "source_id": "team-bigdata:58ded7732251:589c76395cbc",</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네비게이션/지역별 검색건수/20260820132007__202501-202512_데이터랩_다운로드.zip",</a:t>
            </a:r>
          </a:p>
          <a:p>
            <a:r>
              <a:t>      "summary": "시군구 기간합계·비중 또는 전국 월별 추이. 지역 월별 ML·정책 효과가 아닌 보조 근거.",</a:t>
            </a:r>
          </a:p>
          <a:p>
            <a:r>
              <a:t>      "source_id": "team-bigdata:e28c947cb52f:bb4cb344a6ba",</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이동통신/내국인/지역별 방문자수/20260820140624__202401-202412_데이터랩_다운로드.zip",</a:t>
            </a:r>
          </a:p>
          <a:p>
            <a:r>
              <a:t>      "summary": "시군구 기간합계·비중 또는 전국 월별 추이. 지역 월별 ML·정책 효과가 아닌 보조 근거.",</a:t>
            </a:r>
          </a:p>
          <a:p>
            <a:r>
              <a:t>      "source_id": "team-bigdata:8815bbb11a39:1a5988f5f8ec",</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이동통신/외국인/20260820141639_전국_202401-202412_데이터랩_다운로드.zip",</a:t>
            </a:r>
          </a:p>
          <a:p>
            <a:r>
              <a:t>      "summary": "시군구 기간합계·비중 또는 전국 월별 추이. 지역 월별 ML·정책 효과가 아닌 보조 근거.",</a:t>
            </a:r>
          </a:p>
          <a:p>
            <a:r>
              <a:t>      "source_id": "team-bigdata:19fd67fbb73d:afa4f0f54a2f",</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지역별 관광 현황 · 강원특별자치도 원주시 · 유입유출",</a:t>
            </a:r>
          </a:p>
          <a:p>
            <a:r>
              <a:t>      "summary": "관측 기간: 2025-07 ~ 2026-06. 유입·유출·인기장소 또는 30일 집중 운영 신호.",</a:t>
            </a:r>
          </a:p>
          <a:p>
            <a:r>
              <a:t>      "source_id": "regional-status:90f2be7a0f7d:b989a6c2e7bf",</a:t>
            </a:r>
          </a:p>
          <a:p>
            <a:r>
              <a:t>      "source_url": "https://datalab.visitkorea.or.kr/",</a:t>
            </a:r>
          </a:p>
          <a:p>
            <a:r>
              <a:t>      "source_type": "regional_tourism_status",</a:t>
            </a:r>
          </a:p>
          <a:p>
            <a:r>
              <a:t>      "observation_period": "2025-07 ~ 2026-06",</a:t>
            </a:r>
          </a:p>
          <a:p>
            <a:r>
              <a:t>      "published_or_updated_at": ""</a:t>
            </a:r>
          </a:p>
          <a:p>
            <a:r>
              <a:t>    },</a:t>
            </a:r>
          </a:p>
          <a:p>
            <a:r>
              <a:t>    {</a:t>
            </a:r>
          </a:p>
          <a:p>
            <a:r>
              <a:t>      "title": "한국관광 데이터랩 지역별 관광 현황 · 강원특별자치도 원주시 · 지역집중률",</a:t>
            </a:r>
          </a:p>
          <a:p>
            <a:r>
              <a:t>      "summary": "관측 기간: 2025-07 ~ 2026-06. 유입·유출·인기장소 또는 30일 집중 운영 신호.",</a:t>
            </a:r>
          </a:p>
          <a:p>
            <a:r>
              <a:t>      "source_id": "regional-status:c39767bd23e8:e3b081f6e6aa",</a:t>
            </a:r>
          </a:p>
          <a:p>
            <a:r>
              <a:t>      "source_url": "https://datalab.visitkorea.or.kr/",</a:t>
            </a:r>
          </a:p>
          <a:p>
            <a:r>
              <a:t>      "source_type": "regional_tourism_status",</a:t>
            </a:r>
          </a:p>
          <a:p>
            <a:r>
              <a:t>      "observation_period": "2025-07 ~ 2026-06",</a:t>
            </a:r>
          </a:p>
          <a:p>
            <a:r>
              <a:t>      "published_or_updated_at": ""</a:t>
            </a:r>
          </a:p>
          <a:p>
            <a:r>
              <a:t>    },</a:t>
            </a:r>
          </a:p>
          <a:p>
            <a:r>
              <a:t>    {</a:t>
            </a:r>
          </a:p>
          <a:p>
            <a:r>
              <a:t>      "title": "한국관광 데이터랩 지역별 관광 현황 · 강원특별자치도 원주시 · 인기관광지",</a:t>
            </a:r>
          </a:p>
          <a:p>
            <a:r>
              <a:t>      "summary": "관측 기간: 2025-07 ~ 2026-06. 유입·유출·인기장소 또는 30일 집중 운영 신호.",</a:t>
            </a:r>
          </a:p>
          <a:p>
            <a:r>
              <a:t>      "source_id": "regional-status:edaf76986d99:c00fa7ffc0a7",</a:t>
            </a:r>
          </a:p>
          <a:p>
            <a:r>
              <a:t>      "source_url": "https://datalab.visitkorea.or.kr/",</a:t>
            </a:r>
          </a:p>
          <a:p>
            <a:r>
              <a:t>      "source_type": "regional_tourism_status",</a:t>
            </a:r>
          </a:p>
          <a:p>
            <a:r>
              <a:t>      "observation_period": "2025-07 ~ 2026-06",</a:t>
            </a:r>
          </a:p>
          <a:p>
            <a:r>
              <a:t>      "published_or_updated_at": ""</a:t>
            </a:r>
          </a:p>
          <a:p>
            <a:r>
              <a:t>    },</a:t>
            </a:r>
          </a:p>
          <a:p>
            <a:r>
              <a:t>    {</a:t>
            </a:r>
          </a:p>
          <a:p>
            <a:r>
              <a:t>      "title": "지역 관광수요 ML 전망 · 공식 관측값 아님",</a:t>
            </a:r>
          </a:p>
          <a:p>
            <a:r>
              <a:t>      "summary": "학습 202401~202606 · 모델 regional-demand-v3.1 · 자연 추세 예측",</a:t>
            </a:r>
          </a:p>
          <a:p>
            <a:r>
              <a:t>      "source_id": "ml:51130:regional-demand-v3.1:202606",</a:t>
            </a:r>
          </a:p>
          <a:p>
            <a:r>
              <a:t>      "source_url": "",</a:t>
            </a:r>
          </a:p>
          <a:p>
            <a:r>
              <a:t>      "source_type": "model_forecast",</a:t>
            </a:r>
          </a:p>
          <a:p>
            <a:r>
              <a:t>      "model_version": "regional-demand-v3.1",</a:t>
            </a:r>
          </a:p>
          <a:p>
            <a:r>
              <a:t>      "data_fingerprint": "1f7caf31818b53f22347c7318503ea14cbef8a3765f5b75b8191fe8ca2193349"</a:t>
            </a:r>
          </a:p>
          <a:p>
            <a:r>
              <a:t>    },</a:t>
            </a:r>
          </a:p>
          <a:p>
            <a:r>
              <a:t>    {</a:t>
            </a:r>
          </a:p>
          <a:p>
            <a:r>
              <a:t>      "title": "감악산캠핑숲",</a:t>
            </a:r>
          </a:p>
          <a:p>
            <a:r>
              <a:t>      "address": "강원특별자치도 원주시 신림면 신림황둔로 714",</a:t>
            </a:r>
          </a:p>
          <a:p>
            <a:r>
              <a:t>      "summary": "한국관광공사 국문관광정보 API가 반환한 선택 지역 관광자원",</a:t>
            </a:r>
          </a:p>
          <a:p>
            <a:r>
              <a:t>      "image_url": "http://tong.visitkorea.or.kr/cms/resource/64/2732964_image2_1.JPG",</a:t>
            </a:r>
          </a:p>
          <a:p>
            <a:r>
              <a:t>      "source_id": "tour-api:2732999",</a:t>
            </a:r>
          </a:p>
          <a:p>
            <a:r>
              <a:t>      "content_id": "2732999",</a:t>
            </a:r>
          </a:p>
          <a:p>
            <a:r>
              <a:t>      "source_url": "https://apis.data.go.kr/B551011/KorService2",</a:t>
            </a:r>
          </a:p>
          <a:p>
            <a:r>
              <a:t>      "source_type": "open_api",</a:t>
            </a:r>
          </a:p>
          <a:p>
            <a:r>
              <a:t>      "content_type_id": "28"</a:t>
            </a:r>
          </a:p>
          <a:p>
            <a:r>
              <a:t>    },</a:t>
            </a:r>
          </a:p>
          <a:p>
            <a:r>
              <a:t>    {</a:t>
            </a:r>
          </a:p>
          <a:p>
            <a:r>
              <a:t>      "title": "강원감영관찰사·무릉고서화미술박물관",</a:t>
            </a:r>
          </a:p>
          <a:p>
            <a:r>
              <a:t>      "address": "강원특별자치도 원주시 흥업면 사제로 399-10",</a:t>
            </a:r>
          </a:p>
          <a:p>
            <a:r>
              <a:t>      "summary": "한국관광공사 국문관광정보 API가 반환한 선택 지역 관광자원",</a:t>
            </a:r>
          </a:p>
          <a:p>
            <a:r>
              <a:t>      "image_url": "http://tong.visitkorea.or.kr/cms/resource/64/3437164_image2_1.jpg",</a:t>
            </a:r>
          </a:p>
          <a:p>
            <a:r>
              <a:t>      "source_id": "tour-api:2555010",</a:t>
            </a:r>
          </a:p>
          <a:p>
            <a:r>
              <a:t>      "content_id": "2555010",</a:t>
            </a:r>
          </a:p>
          <a:p>
            <a:r>
              <a:t>      "source_url": "https://apis.data.go.kr/B551011/KorService2",</a:t>
            </a:r>
          </a:p>
          <a:p>
            <a:r>
              <a:t>      "source_type": "open_api",</a:t>
            </a:r>
          </a:p>
          <a:p>
            <a:r>
              <a:t>      "content_type_id": "14"</a:t>
            </a:r>
          </a:p>
          <a:p>
            <a:r>
              <a:t>    },</a:t>
            </a:r>
          </a:p>
          <a:p>
            <a:r>
              <a:t>    {</a:t>
            </a:r>
          </a:p>
          <a:p>
            <a:r>
              <a:t>      "title": "강원도힐링캠핑장",</a:t>
            </a:r>
          </a:p>
          <a:p>
            <a:r>
              <a:t>      "address": "강원특별자치도 원주시 신림면 재사동길 10-38",</a:t>
            </a:r>
          </a:p>
          <a:p>
            <a:r>
              <a:t>      "summary": "한국관광공사 국문관광정보 API가 반환한 선택 지역 관광자원",</a:t>
            </a:r>
          </a:p>
          <a:p>
            <a:r>
              <a:t>      "image_url": "http://tong.visitkorea.or.kr/cms/resource/98/2733998_image2_1.JPG",</a:t>
            </a:r>
          </a:p>
          <a:p>
            <a:r>
              <a:t>      "source_id": "tour-api:2734136",</a:t>
            </a:r>
          </a:p>
          <a:p>
            <a:r>
              <a:t>      "content_id": "2734136",</a:t>
            </a:r>
          </a:p>
          <a:p>
            <a:r>
              <a:t>      "source_url": "https://apis.data.go.kr/B551011/KorService2",</a:t>
            </a:r>
          </a:p>
          <a:p>
            <a:r>
              <a:t>      "source_type": "open_api",</a:t>
            </a:r>
          </a:p>
          <a:p>
            <a:r>
              <a:t>      "content_type_id": "28"</a:t>
            </a:r>
          </a:p>
          <a:p>
            <a:r>
              <a:t>    },</a:t>
            </a:r>
          </a:p>
          <a:p>
            <a:r>
              <a:t>    {</a:t>
            </a:r>
          </a:p>
          <a:p>
            <a:r>
              <a:t>      "title": "경천묘",</a:t>
            </a:r>
          </a:p>
          <a:p>
            <a:r>
              <a:t>      "address": "강원특별자치도 원주시 귀래면 미륵산길 200",</a:t>
            </a:r>
          </a:p>
          <a:p>
            <a:r>
              <a:t>      "summary": "한국관광공사 국문관광정보 API가 반환한 선택 지역 관광자원",</a:t>
            </a:r>
          </a:p>
          <a:p>
            <a:r>
              <a:t>      "image_url": "http://tong.visitkorea.or.kr/cms/resource/56/3379256_image2_1.JPG",</a:t>
            </a:r>
          </a:p>
          <a:p>
            <a:r>
              <a:t>      "source_id": "tour-api:2702477",</a:t>
            </a:r>
          </a:p>
          <a:p>
            <a:r>
              <a:t>      "content_id": "2702477",</a:t>
            </a:r>
          </a:p>
          <a:p>
            <a:r>
              <a:t>      "source_url": "https://apis.data.go.kr/B551011/KorService2",</a:t>
            </a:r>
          </a:p>
          <a:p>
            <a:r>
              <a:t>      "source_type": "open_api",</a:t>
            </a:r>
          </a:p>
          <a:p>
            <a:r>
              <a:t>      "content_type_id": "12"</a:t>
            </a:r>
          </a:p>
          <a:p>
            <a:r>
              <a:t>    },</a:t>
            </a:r>
          </a:p>
          <a:p>
            <a:r>
              <a:t>    {</a:t>
            </a:r>
          </a:p>
          <a:p>
            <a:r>
              <a:t>      "title": "고판화박물관",</a:t>
            </a:r>
          </a:p>
          <a:p>
            <a:r>
              <a:t>      "address": "강원특별자치도 원주시 신림면 물안길 62",</a:t>
            </a:r>
          </a:p>
          <a:p>
            <a:r>
              <a:t>      "summary": "한국관광공사 국문관광정보 API가 반환한 선택 지역 관광자원",</a:t>
            </a:r>
          </a:p>
          <a:p>
            <a:r>
              <a:t>      "image_url": "http://tong.visitkorea.or.kr/cms/resource/36/3375236_image2_1.JPG",</a:t>
            </a:r>
          </a:p>
          <a:p>
            <a:r>
              <a:t>      "source_id": "tour-api:130539",</a:t>
            </a:r>
          </a:p>
          <a:p>
            <a:r>
              <a:t>      "content_id": "130539",</a:t>
            </a:r>
          </a:p>
          <a:p>
            <a:r>
              <a:t>      "source_url": "https://apis.data.go.kr/B551011/KorService2",</a:t>
            </a:r>
          </a:p>
          <a:p>
            <a:r>
              <a:t>      "source_type": "open_api",</a:t>
            </a:r>
          </a:p>
          <a:p>
            <a:r>
              <a:t>      "content_type_id": "14"</a:t>
            </a:r>
          </a:p>
          <a:p>
            <a:r>
              <a:t>    },</a:t>
            </a:r>
          </a:p>
          <a:p>
            <a:r>
              <a:t>    {</a:t>
            </a:r>
          </a:p>
          <a:p>
            <a:r>
              <a:t>      "title": "관음사·국형사계곡",</a:t>
            </a:r>
          </a:p>
          <a:p>
            <a:r>
              <a:t>      "address": "강원특별자치도 원주시 고문골길 169 (행구동)",</a:t>
            </a:r>
          </a:p>
          <a:p>
            <a:r>
              <a:t>      "summary": "한국관광공사 국문관광정보 API가 반환한 선택 지역 관광자원",</a:t>
            </a:r>
          </a:p>
          <a:p>
            <a:r>
              <a:t>      "image_url": "http://tong.visitkorea.or.kr/cms/resource/29/3045629_image2_1.jpg",</a:t>
            </a:r>
          </a:p>
          <a:p>
            <a:r>
              <a:t>      "source_id": "tour-api:125645",</a:t>
            </a:r>
          </a:p>
          <a:p>
            <a:r>
              <a:t>      "content_id": "125645",</a:t>
            </a:r>
          </a:p>
          <a:p>
            <a:r>
              <a:t>      "source_url": "https://apis.data.go.kr/B551011/KorService2",</a:t>
            </a:r>
          </a:p>
          <a:p>
            <a:r>
              <a:t>      "source_type": "open_api",</a:t>
            </a:r>
          </a:p>
          <a:p>
            <a:r>
              <a:t>      "content_type_id": "12"</a:t>
            </a:r>
          </a:p>
          <a:p>
            <a:r>
              <a:t>    },</a:t>
            </a:r>
          </a:p>
          <a:p>
            <a:r>
              <a:t>    {</a:t>
            </a:r>
          </a:p>
          <a:p>
            <a:r>
              <a:t>      "title": "광화문갈비 원주점",</a:t>
            </a:r>
          </a:p>
          <a:p>
            <a:r>
              <a:t>      "address": "강원특별자치도 원주시 능라동길 48 (무실동)",</a:t>
            </a:r>
          </a:p>
          <a:p>
            <a:r>
              <a:t>      "summary": "한국관광공사 국문관광정보 API가 반환한 선택 지역 관광자원",</a:t>
            </a:r>
          </a:p>
          <a:p>
            <a:r>
              <a:t>      "image_url": "http://tong.visitkorea.or.kr/cms/resource/86/3421686_image2_1.jpg",</a:t>
            </a:r>
          </a:p>
          <a:p>
            <a:r>
              <a:t>      "source_id": "tour-api:3356037",</a:t>
            </a:r>
          </a:p>
          <a:p>
            <a:r>
              <a:t>      "content_id": "3356037",</a:t>
            </a:r>
          </a:p>
          <a:p>
            <a:r>
              <a:t>      "source_url": "https://apis.data.go.kr/B551011/KorService2",</a:t>
            </a:r>
          </a:p>
          <a:p>
            <a:r>
              <a:t>      "source_type": "open_api",</a:t>
            </a:r>
          </a:p>
          <a:p>
            <a:r>
              <a:t>      "content_type_id": "39"</a:t>
            </a:r>
          </a:p>
          <a:p>
            <a:r>
              <a:t>    },</a:t>
            </a:r>
          </a:p>
          <a:p>
            <a:r>
              <a:t>    {</a:t>
            </a:r>
          </a:p>
          <a:p>
            <a:r>
              <a:t>      "title": "구 조선식산은행 원주지점",</a:t>
            </a:r>
          </a:p>
          <a:p>
            <a:r>
              <a:t>      "address": "강원특별자치도 원주시 중앙로 88 (중앙동)",</a:t>
            </a:r>
          </a:p>
          <a:p>
            <a:r>
              <a:t>      "summary": "한국관광공사 국문관광정보 API가 반환한 선택 지역 관광자원",</a:t>
            </a:r>
          </a:p>
          <a:p>
            <a:r>
              <a:t>      "image_url": "http://tong.visitkorea.or.kr/cms/resource/78/3379278_image2_1.JPG",</a:t>
            </a:r>
          </a:p>
          <a:p>
            <a:r>
              <a:t>      "source_id": "tour-api:2762710",</a:t>
            </a:r>
          </a:p>
          <a:p>
            <a:r>
              <a:t>      "content_id": "2762710",</a:t>
            </a:r>
          </a:p>
          <a:p>
            <a:r>
              <a:t>      "source_url": "https://apis.data.go.kr/B551011/KorService2",</a:t>
            </a:r>
          </a:p>
          <a:p>
            <a:r>
              <a:t>      "source_type": "open_api",</a:t>
            </a:r>
          </a:p>
          <a:p>
            <a:r>
              <a:t>      "content_type_id": "12"</a:t>
            </a:r>
          </a:p>
          <a:p>
            <a:r>
              <a:t>    },</a:t>
            </a:r>
          </a:p>
          <a:p>
            <a:r>
              <a:t>    {</a:t>
            </a:r>
          </a:p>
          <a:p>
            <a:r>
              <a:t>      "title": "국형사",</a:t>
            </a:r>
          </a:p>
          <a:p>
            <a:r>
              <a:t>      "address": "강원특별자치도 원주시 고문골길 155 (행구동)",</a:t>
            </a:r>
          </a:p>
          <a:p>
            <a:r>
              <a:t>      "summary": "한국관광공사 국문관광정보 API가 반환한 선택 지역 관광자원",</a:t>
            </a:r>
          </a:p>
          <a:p>
            <a:r>
              <a:t>      "image_url": "http://tong.visitkorea.or.kr/cms/resource/87/3559187_image2_1.jpeg",</a:t>
            </a:r>
          </a:p>
          <a:p>
            <a:r>
              <a:t>      "source_id": "tour-api:125757",</a:t>
            </a:r>
          </a:p>
          <a:p>
            <a:r>
              <a:t>      "content_id": "125757",</a:t>
            </a:r>
          </a:p>
          <a:p>
            <a:r>
              <a:t>      "source_url": "https://apis.data.go.kr/B551011/KorService2",</a:t>
            </a:r>
          </a:p>
          <a:p>
            <a:r>
              <a:t>      "source_type": "open_api",</a:t>
            </a:r>
          </a:p>
          <a:p>
            <a:r>
              <a:t>      "content_type_id": "12"</a:t>
            </a:r>
          </a:p>
          <a:p>
            <a:r>
              <a:t>    },</a:t>
            </a:r>
          </a:p>
          <a:p>
            <a:r>
              <a:t>    {</a:t>
            </a:r>
          </a:p>
          <a:p>
            <a:r>
              <a:t>      "title": "금대 에코힐링 캠핑장",</a:t>
            </a:r>
          </a:p>
          <a:p>
            <a:r>
              <a:t>      "address": "강원특별자치도 원주시 판부면 영원산성길 372",</a:t>
            </a:r>
          </a:p>
          <a:p>
            <a:r>
              <a:t>      "summary": "한국관광공사 국문관광정보 API가 반환한 선택 지역 관광자원",</a:t>
            </a:r>
          </a:p>
          <a:p>
            <a:r>
              <a:t>      "image_url": "http://tong.visitkorea.or.kr/cms/resource/95/2011295_image2_1.jpg",</a:t>
            </a:r>
          </a:p>
          <a:p>
            <a:r>
              <a:t>      "source_id": "tour-api:2033279",</a:t>
            </a:r>
          </a:p>
          <a:p>
            <a:r>
              <a:t>      "content_id": "2033279",</a:t>
            </a:r>
          </a:p>
          <a:p>
            <a:r>
              <a:t>      "source_url": "https://apis.data.go.kr/B551011/KorService2",</a:t>
            </a:r>
          </a:p>
          <a:p>
            <a:r>
              <a:t>      "source_type": "open_api",</a:t>
            </a:r>
          </a:p>
          <a:p>
            <a:r>
              <a:t>      "content_type_id": "28"</a:t>
            </a:r>
          </a:p>
          <a:p>
            <a:r>
              <a:t>    },</a:t>
            </a:r>
          </a:p>
          <a:p>
            <a:r>
              <a:t>    {</a:t>
            </a:r>
          </a:p>
          <a:p>
            <a:r>
              <a:t>      "title": "금대계곡",</a:t>
            </a:r>
          </a:p>
          <a:p>
            <a:r>
              <a:t>      "address": "강원특별자치도 원주시 판부면 치악로 546-22",</a:t>
            </a:r>
          </a:p>
          <a:p>
            <a:r>
              <a:t>      "summary": "한국관광공사 국문관광정보 API가 반환한 선택 지역 관광자원",</a:t>
            </a:r>
          </a:p>
          <a:p>
            <a:r>
              <a:t>      "image_url": "http://tong.visitkorea.or.kr/cms/resource/85/3045285_image2_1.jpg",</a:t>
            </a:r>
          </a:p>
          <a:p>
            <a:r>
              <a:t>      "source_id": "tour-api:129676",</a:t>
            </a:r>
          </a:p>
          <a:p>
            <a:r>
              <a:t>      "content_id": "129676",</a:t>
            </a:r>
          </a:p>
          <a:p>
            <a:r>
              <a:t>      "source_url": "https://apis.data.go.kr/B551011/KorService2",</a:t>
            </a:r>
          </a:p>
          <a:p>
            <a:r>
              <a:t>      "source_type": "open_api",</a:t>
            </a:r>
          </a:p>
          <a:p>
            <a:r>
              <a:t>      "content_type_id": "12"</a:t>
            </a:r>
          </a:p>
          <a:p>
            <a:r>
              <a:t>    },</a:t>
            </a:r>
          </a:p>
          <a:p>
            <a:r>
              <a:t>    {</a:t>
            </a:r>
          </a:p>
          <a:p>
            <a:r>
              <a:t>      "title": "금대자동차야영장",</a:t>
            </a:r>
          </a:p>
          <a:p>
            <a:r>
              <a:t>      "address": "강원특별자치도 원주시 판부면 영원산성길 372",</a:t>
            </a:r>
          </a:p>
          <a:p>
            <a:r>
              <a:t>      "summary": "한국관광공사 국문관광정보 API가 반환한 선택 지역 관광자원",</a:t>
            </a:r>
          </a:p>
          <a:p>
            <a:r>
              <a:t>      "image_url": "http://tong.visitkorea.or.kr/cms/resource/97/2734897_image2_1.JPG",</a:t>
            </a:r>
          </a:p>
          <a:p>
            <a:r>
              <a:t>      "source_id": "tour-api:2734906",</a:t>
            </a:r>
          </a:p>
          <a:p>
            <a:r>
              <a:t>      "content_id": "2734906",</a:t>
            </a:r>
          </a:p>
          <a:p>
            <a:r>
              <a:t>      "source_url": "https://apis.data.go.kr/B551011/KorService2",</a:t>
            </a:r>
          </a:p>
          <a:p>
            <a:r>
              <a:t>      "source_type": "open_api",</a:t>
            </a:r>
          </a:p>
          <a:p>
            <a:r>
              <a:t>      "content_type_id": "28"</a:t>
            </a:r>
          </a:p>
          <a:p>
            <a:r>
              <a:t>    },</a:t>
            </a:r>
          </a:p>
          <a:p>
            <a:r>
              <a:t>    {</a:t>
            </a:r>
          </a:p>
          <a:p>
            <a:r>
              <a:t>      "title": "기후변화홍보관",</a:t>
            </a:r>
          </a:p>
          <a:p>
            <a:r>
              <a:t>      "address": "강원특별자치도 원주시 행구로 362",</a:t>
            </a:r>
          </a:p>
          <a:p>
            <a:r>
              <a:t>      "summary": "한국관광공사 국문관광정보 API가 반환한 선택 지역 관광자원",</a:t>
            </a:r>
          </a:p>
          <a:p>
            <a:r>
              <a:t>      "image_url": "http://tong.visitkorea.or.kr/cms/resource/40/3533840_image2_1.JPG",</a:t>
            </a:r>
          </a:p>
          <a:p>
            <a:r>
              <a:t>      "source_id": "tour-api:2714800",</a:t>
            </a:r>
          </a:p>
          <a:p>
            <a:r>
              <a:t>      "content_id": "2714800",</a:t>
            </a:r>
          </a:p>
          <a:p>
            <a:r>
              <a:t>      "source_url": "https://apis.data.go.kr/B551011/KorService2",</a:t>
            </a:r>
          </a:p>
          <a:p>
            <a:r>
              <a:t>      "source_type": "open_api",</a:t>
            </a:r>
          </a:p>
          <a:p>
            <a:r>
              <a:t>      "content_type_id": "14"</a:t>
            </a:r>
          </a:p>
          <a:p>
            <a:r>
              <a:t>    },</a:t>
            </a:r>
          </a:p>
          <a:p>
            <a:r>
              <a:t>    {</a:t>
            </a:r>
          </a:p>
          <a:p>
            <a:r>
              <a:t>      "title": "김가네원주추어탕",</a:t>
            </a:r>
          </a:p>
          <a:p>
            <a:r>
              <a:t>      "address": "강원특별자치도 원주시 단관공원길 90-3",</a:t>
            </a:r>
          </a:p>
          <a:p>
            <a:r>
              <a:t>      "summary": "한국관광공사 국문관광정보 API가 반환한 선택 지역 관광자원",</a:t>
            </a:r>
          </a:p>
          <a:p>
            <a:r>
              <a:t>      "image_url": "http://tong.visitkorea.or.kr/cms/resource/25/2892325_image2_1.jpg",</a:t>
            </a:r>
          </a:p>
          <a:p>
            <a:r>
              <a:t>      "source_id": "tour-api:2892327",</a:t>
            </a:r>
          </a:p>
          <a:p>
            <a:r>
              <a:t>      "content_id": "2892327",</a:t>
            </a:r>
          </a:p>
          <a:p>
            <a:r>
              <a:t>      "source_url": "https://apis.data.go.kr/B551011/KorService2",</a:t>
            </a:r>
          </a:p>
          <a:p>
            <a:r>
              <a:t>      "source_type": "open_api",</a:t>
            </a:r>
          </a:p>
          <a:p>
            <a:r>
              <a:t>      "content_type_id": "39"</a:t>
            </a:r>
          </a:p>
          <a:p>
            <a:r>
              <a:t>    },</a:t>
            </a:r>
          </a:p>
          <a:p>
            <a:r>
              <a:t>    {</a:t>
            </a:r>
          </a:p>
          <a:p>
            <a:r>
              <a:t>      "title": "김제남 신도비",</a:t>
            </a:r>
          </a:p>
          <a:p>
            <a:r>
              <a:t>      "address": "강원특별자치도 원주시 지정면 흥법사지길 18",</a:t>
            </a:r>
          </a:p>
          <a:p>
            <a:r>
              <a:t>      "summary": "한국관광공사 국문관광정보 API가 반환한 선택 지역 관광자원",</a:t>
            </a:r>
          </a:p>
          <a:p>
            <a:r>
              <a:t>      "image_url": "http://tong.visitkorea.or.kr/cms/resource/28/3376528_image2_1.JPG",</a:t>
            </a:r>
          </a:p>
          <a:p>
            <a:r>
              <a:t>      "source_id": "tour-api:129284",</a:t>
            </a:r>
          </a:p>
          <a:p>
            <a:r>
              <a:t>      "content_id": "129284",</a:t>
            </a:r>
          </a:p>
          <a:p>
            <a:r>
              <a:t>      "source_url": "https://apis.data.go.kr/B551011/KorService2",</a:t>
            </a:r>
          </a:p>
          <a:p>
            <a:r>
              <a:t>      "source_type": "open_api",</a:t>
            </a:r>
          </a:p>
          <a:p>
            <a:r>
              <a:t>      "content_type_id": "12"</a:t>
            </a:r>
          </a:p>
          <a:p>
            <a:r>
              <a:t>    },</a:t>
            </a:r>
          </a:p>
          <a:p>
            <a:r>
              <a:t>    {</a:t>
            </a:r>
          </a:p>
          <a:p>
            <a:r>
              <a:t>      "title": "넌스키 난보드",</a:t>
            </a:r>
          </a:p>
          <a:p>
            <a:r>
              <a:t>      "address": "강원특별자치도 원주시 지정면 구재로 132",</a:t>
            </a:r>
          </a:p>
          <a:p>
            <a:r>
              <a:t>      "summary": "한국관광공사 국문관광정보 API가 반환한 선택 지역 관광자원",</a:t>
            </a:r>
          </a:p>
          <a:p>
            <a:r>
              <a:t>      "image_url": "http://tong.visitkorea.or.kr/cms/resource/73/3562173_image2_1.jpg",</a:t>
            </a:r>
          </a:p>
          <a:p>
            <a:r>
              <a:t>      "source_id": "tour-api:512084",</a:t>
            </a:r>
          </a:p>
          <a:p>
            <a:r>
              <a:t>      "content_id": "512084",</a:t>
            </a:r>
          </a:p>
          <a:p>
            <a:r>
              <a:t>      "source_url": "https://apis.data.go.kr/B551011/KorService2",</a:t>
            </a:r>
          </a:p>
          <a:p>
            <a:r>
              <a:t>      "source_type": "open_api",</a:t>
            </a:r>
          </a:p>
          <a:p>
            <a:r>
              <a:t>      "content_type_id": "28"</a:t>
            </a:r>
          </a:p>
          <a:p>
            <a:r>
              <a:t>    },</a:t>
            </a:r>
          </a:p>
          <a:p>
            <a:r>
              <a:t>    {</a:t>
            </a:r>
          </a:p>
          <a:p>
            <a:r>
              <a:t>      "title": "단관공원",</a:t>
            </a:r>
          </a:p>
          <a:p>
            <a:r>
              <a:t>      "address": "강원특별자치도 원주시 단관공원길 63",</a:t>
            </a:r>
          </a:p>
          <a:p>
            <a:r>
              <a:t>      "summary": "한국관광공사 국문관광정보 API가 반환한 선택 지역 관광자원",</a:t>
            </a:r>
          </a:p>
          <a:p>
            <a:r>
              <a:t>      "image_url": "http://tong.visitkorea.or.kr/cms/resource/43/3334543_image2_1.jpg",</a:t>
            </a:r>
          </a:p>
          <a:p>
            <a:r>
              <a:t>      "source_id": "tour-api:2778036",</a:t>
            </a:r>
          </a:p>
          <a:p>
            <a:r>
              <a:t>      "content_id": "2778036",</a:t>
            </a:r>
          </a:p>
          <a:p>
            <a:r>
              <a:t>      "source_url": "https://apis.data.go.kr/B551011/KorService2",</a:t>
            </a:r>
          </a:p>
          <a:p>
            <a:r>
              <a:t>      "source_type": "open_api",</a:t>
            </a:r>
          </a:p>
          <a:p>
            <a:r>
              <a:t>      "content_type_id": "12"</a:t>
            </a:r>
          </a:p>
          <a:p>
            <a:r>
              <a:t>    },</a:t>
            </a:r>
          </a:p>
          <a:p>
            <a:r>
              <a:t>    {</a:t>
            </a:r>
          </a:p>
          <a:p>
            <a:r>
              <a:t>      "title": "동승루",</a:t>
            </a:r>
          </a:p>
          <a:p>
            <a:r>
              <a:t>      "address": "강원특별자치도 원주시 이화4길 30",</a:t>
            </a:r>
          </a:p>
          <a:p>
            <a:r>
              <a:t>      "summary": "한국관광공사 국문관광정보 API가 반환한 선택 지역 관광자원",</a:t>
            </a:r>
          </a:p>
          <a:p>
            <a:r>
              <a:t>      "image_url": "http://tong.visitkorea.or.kr/cms/resource/15/2892315_image2_1.jpg",</a:t>
            </a:r>
          </a:p>
          <a:p>
            <a:r>
              <a:t>      "source_id": "tour-api:2892320",</a:t>
            </a:r>
          </a:p>
          <a:p>
            <a:r>
              <a:t>      "content_id": "2892320",</a:t>
            </a:r>
          </a:p>
          <a:p>
            <a:r>
              <a:t>      "source_url": "https://apis.data.go.kr/B551011/KorService2",</a:t>
            </a:r>
          </a:p>
          <a:p>
            <a:r>
              <a:t>      "source_type": "open_api",</a:t>
            </a:r>
          </a:p>
          <a:p>
            <a:r>
              <a:t>      "content_type_id": "39"</a:t>
            </a:r>
          </a:p>
          <a:p>
            <a:r>
              <a:t>    },</a:t>
            </a:r>
          </a:p>
          <a:p>
            <a:r>
              <a:t>    {</a:t>
            </a:r>
          </a:p>
          <a:p>
            <a:r>
              <a:t>      "title": "들꽃가든",</a:t>
            </a:r>
          </a:p>
          <a:p>
            <a:r>
              <a:t>      "address": "강원특별자치도 원주시 월송석화로 488",</a:t>
            </a:r>
          </a:p>
          <a:p>
            <a:r>
              <a:t>      "summary": "한국관광공사 국문관광정보 API가 반환한 선택 지역 관광자원",</a:t>
            </a:r>
          </a:p>
          <a:p>
            <a:r>
              <a:t>      "image_url": "http://tong.visitkorea.or.kr/cms/resource/04/2892304_image2_1.jpg",</a:t>
            </a:r>
          </a:p>
          <a:p>
            <a:r>
              <a:t>      "source_id": "tour-api:2892312",</a:t>
            </a:r>
          </a:p>
          <a:p>
            <a:r>
              <a:t>      "content_id": "2892312",</a:t>
            </a:r>
          </a:p>
          <a:p>
            <a:r>
              <a:t>      "source_url": "https://apis.data.go.kr/B551011/KorService2",</a:t>
            </a:r>
          </a:p>
          <a:p>
            <a:r>
              <a:t>      "source_type": "open_api",</a:t>
            </a:r>
          </a:p>
          <a:p>
            <a:r>
              <a:t>      "content_type_id": "39"</a:t>
            </a:r>
          </a:p>
          <a:p>
            <a:r>
              <a:t>    },</a:t>
            </a:r>
          </a:p>
          <a:p>
            <a:r>
              <a:t>    {</a:t>
            </a:r>
          </a:p>
          <a:p>
            <a:r>
              <a:t>      "title": "들꽃이야기",</a:t>
            </a:r>
          </a:p>
          <a:p>
            <a:r>
              <a:t>      "address": "강원특별자치도 원주시 신림면 성남로 323-12",</a:t>
            </a:r>
          </a:p>
          <a:p>
            <a:r>
              <a:t>      "summary": "한국관광공사 국문관광정보 API가 반환한 선택 지역 관광자원",</a:t>
            </a:r>
          </a:p>
          <a:p>
            <a:r>
              <a:t>      "image_url": "http://tong.visitkorea.or.kr/cms/resource/60/3557060_image2_1.jpg",</a:t>
            </a:r>
          </a:p>
          <a:p>
            <a:r>
              <a:t>      "source_id": "tour-api:2809292",</a:t>
            </a:r>
          </a:p>
          <a:p>
            <a:r>
              <a:t>      "content_id": "2809292",</a:t>
            </a:r>
          </a:p>
          <a:p>
            <a:r>
              <a:t>      "source_url": "https://apis.data.go.kr/B551011/KorService2",</a:t>
            </a:r>
          </a:p>
          <a:p>
            <a:r>
              <a:t>      "source_type": "open_api",</a:t>
            </a:r>
          </a:p>
          <a:p>
            <a:r>
              <a:t>      "content_type_id": "39"</a:t>
            </a:r>
          </a:p>
          <a:p>
            <a:r>
              <a:t>    },</a:t>
            </a:r>
          </a:p>
          <a:p>
            <a:r>
              <a:t>    {</a:t>
            </a:r>
          </a:p>
          <a:p>
            <a:r>
              <a:t>      "title": "요즘, 한국관광 2호 - 지방공항 연계 지역관광 활성화 방안",</a:t>
            </a:r>
          </a:p>
          <a:p>
            <a:r>
              <a:t>      "summary": "44제 2장 지방공항 연계 지역관광 활성화 방안 요즘, 한국관광 한국관광공사는 본래의 기능인 해외 홍보마케팅을 통한 인지 형성, 지역 관광생태계 육성, 관광사업 추진을 여정 단계에 맞춰 재배치해야 한다. 해외지사와 국내지사를 연결한 중점지사제를 '관문-연계도시' 단위로 운영하고, 글로벌 OTA 와 현지 여행사가 실제 상품을 만들 수 있도록 상품화 모듈과 전세·임시편 유치를 고도화하며, 선상 마케팅처럼 항공사 기내·LCC 채널을 활용한 권역 홍보를 확대할 수 있어야 할 것이다. 특히 성과지표를 입국자 수와 공급석 중심에서 '입국객의 권역 내 첫 숙박률이나, 1인당 권역 내 소비, 지방 이동 비중' 중심으로 전환하고, 통신·카드 데이터에 소셜 담론 데이터를 결합한 공항-권역 대시보드를 상시 운영해 데이터 기반 성과관리를 지속적으로 보여주는 데이터 기반의 지방공항 중심 관광권 상황실을 구축하여야 한다. 지방자치단체와 한국공항공사는 공항에서 지역 상권까지 이어지는 현장 수용태세를 보다 면밀히 고려하는 정책과 사업이 필요하다. 공항 접근 교통과 안내·결제, 다국어 환경, 터미널과 도심·거점 관광지를 잇는 셔틀, 권역 내 숙박과 야간 콘텐츠는 지자체의 실행력이 좌우하는 영역이다. 공항 소재 지자체 단위 협의를 넘어 청주는 대전·세종·충남, 대구는 경북과 함께 상품·교통·마케팅 예산을 묶는 관광권 협의체를 구성하고, 중장기적으로는 일본의 광역연계 DMO처럼 권역 단위의 상설 조직과 재원으로 발전시켜야 한다. 민관협력은 이 체계를 지속 가능하게 만드는 가장 중요한 동인이라 할 수 있다. 항공사·LCC에는 신규 노선의 초기 리스크를 지방정부·공사와 분담하는 노선 개발 협약과 기내 권역 홍보를, 글로벌 OTA·현지 여행사에는 권역 루트 상품의",</a:t>
            </a:r>
          </a:p>
          <a:p>
            <a:r>
              <a:t>      "chunk_id": "reference:kto:2026:local-airport:page:044:chunk:01",</a:t>
            </a:r>
          </a:p>
          <a:p>
            <a:r>
              <a:t>      "source_id": "reference:kto:2026:local-airport",</a:t>
            </a:r>
          </a:p>
          <a:p>
            <a:r>
              <a:t>      "source_url": "https://datalab.visitkorea.or.kr/site/portal/ex/bbs/View.do?bcIdx=311068&amp;cbIdx=1135&amp;pageIndex=1",</a:t>
            </a:r>
          </a:p>
          <a:p>
            <a:r>
              <a:t>      "case_region": "",</a:t>
            </a:r>
          </a:p>
          <a:p>
            <a:r>
              <a:t>      "region_code": "ALL",</a:t>
            </a:r>
          </a:p>
          <a:p>
            <a:r>
              <a:t>      "region_name": "전국 공통",</a:t>
            </a:r>
          </a:p>
          <a:p>
            <a:r>
              <a:t>      "source_note": "지방공항·연계 지역에 관한 자료입니다. 다른 시군구의 사업 효과·예산을 보장하는 근거로 사용하지 않습니다.",</a:t>
            </a:r>
          </a:p>
          <a:p>
            <a:r>
              <a:t>      "source_type": "rag",</a:t>
            </a:r>
          </a:p>
          <a:p>
            <a:r>
              <a:t>      "intervention": "",</a:t>
            </a:r>
          </a:p>
          <a:p>
            <a:r>
              <a:t>      "document_type": "policy",</a:t>
            </a:r>
          </a:p>
          <a:p>
            <a:r>
              <a:t>      "matched_terms": [</a:t>
            </a:r>
          </a:p>
          <a:p>
            <a:r>
              <a:t>        "결제",</a:t>
            </a:r>
          </a:p>
          <a:p>
            <a:r>
              <a:t>        "관광사업",</a:t>
            </a:r>
          </a:p>
          <a:p>
            <a:r>
              <a:t>        "상권",</a:t>
            </a:r>
          </a:p>
          <a:p>
            <a:r>
              <a:t>        "성과",</a:t>
            </a:r>
          </a:p>
          <a:p>
            <a:r>
              <a:t>        "소비",</a:t>
            </a:r>
          </a:p>
          <a:p>
            <a:r>
              <a:t>        "수와",</a:t>
            </a:r>
          </a:p>
          <a:p>
            <a:r>
              <a:t>        "숙박",</a:t>
            </a:r>
          </a:p>
          <a:p>
            <a:r>
              <a:t>        "실제",</a:t>
            </a:r>
          </a:p>
          <a:p>
            <a:r>
              <a:t>        "실행",</a:t>
            </a:r>
          </a:p>
          <a:p>
            <a:r>
              <a:t>        "연결한",</a:t>
            </a:r>
          </a:p>
          <a:p>
            <a:r>
              <a:t>        "연계",</a:t>
            </a:r>
          </a:p>
          <a:p>
            <a:r>
              <a:t>        "예산",</a:t>
            </a:r>
          </a:p>
          <a:p>
            <a:r>
              <a:t>        "운영",</a:t>
            </a:r>
          </a:p>
          <a:p>
            <a:r>
              <a:t>        "이어지는",</a:t>
            </a:r>
          </a:p>
          <a:p>
            <a:r>
              <a:t>        "전환",</a:t>
            </a:r>
          </a:p>
          <a:p>
            <a:r>
              <a:t>        "중심으로",</a:t>
            </a:r>
          </a:p>
          <a:p>
            <a:r>
              <a:t>        "지역",</a:t>
            </a:r>
          </a:p>
          <a:p>
            <a:r>
              <a:t>        "체류",</a:t>
            </a:r>
          </a:p>
          <a:p>
            <a:r>
              <a:t>        "함께",</a:t>
            </a:r>
          </a:p>
          <a:p>
            <a:r>
              <a:t>        "현장",</a:t>
            </a:r>
          </a:p>
          <a:p>
            <a:r>
              <a:t>        "협약"</a:t>
            </a:r>
          </a:p>
          <a:p>
            <a:r>
              <a:t>      ],</a:t>
            </a:r>
          </a:p>
          <a:p>
            <a:r>
              <a:t>      "page_references": "PDF 44쪽, PDF 43쪽, PDF 38쪽, PDF 40쪽, PDF 41쪽, PDF 36쪽, PDF 41쪽, PDF 44쪽, PDF 43쪽, PDF 43쪽",</a:t>
            </a:r>
          </a:p>
          <a:p>
            <a:r>
              <a:t>      "parent_source_id": "reference:kto:2026:local-airport",</a:t>
            </a:r>
          </a:p>
          <a:p>
            <a:r>
              <a:t>      "retrieval_method": "local_curated_chunk",</a:t>
            </a:r>
          </a:p>
          <a:p>
            <a:r>
              <a:t>      "evidence_strength": "medium",</a:t>
            </a:r>
          </a:p>
          <a:p>
            <a:r>
              <a:t>      "published_or_updated_at": "2026-08",</a:t>
            </a:r>
          </a:p>
          <a:p>
            <a:r>
              <a:t>      "chunk_ids": [</a:t>
            </a:r>
          </a:p>
          <a:p>
            <a:r>
              <a:t>        "reference:kto:2026:local-airport:page:036:chunk:01",</a:t>
            </a:r>
          </a:p>
          <a:p>
            <a:r>
              <a:t>        "reference:kto:2026:local-airport:page:038:chunk:01",</a:t>
            </a:r>
          </a:p>
          <a:p>
            <a:r>
              <a:t>        "reference:kto:2026:local-airport:page:040:chunk:02",</a:t>
            </a:r>
          </a:p>
          <a:p>
            <a:r>
              <a:t>        "reference:kto:2026:local-airport:page:041:chunk:01",</a:t>
            </a:r>
          </a:p>
          <a:p>
            <a:r>
              <a:t>        "reference:kto:2026:local-airport:page:041:chunk:02",</a:t>
            </a:r>
          </a:p>
          <a:p>
            <a:r>
              <a:t>        "reference:kto:2026:local-airport:page:043:chunk:01",</a:t>
            </a:r>
          </a:p>
          <a:p>
            <a:r>
              <a:t>        "reference:kto:2026:local-airport:page:043:chunk:02",</a:t>
            </a:r>
          </a:p>
          <a:p>
            <a:r>
              <a:t>        "reference:kto:2026:local-airport:page:043:chunk:03",</a:t>
            </a:r>
          </a:p>
          <a:p>
            <a:r>
              <a:t>        "reference:kto:2026:local-airport:page:044:chunk:01",</a:t>
            </a:r>
          </a:p>
          <a:p>
            <a:r>
              <a:t>        "reference:kto:2026:local-airport:page:044:chunk:02"</a:t>
            </a:r>
          </a:p>
          <a:p>
            <a:r>
              <a:t>      ],</a:t>
            </a:r>
          </a:p>
          <a:p>
            <a:r>
              <a:t>      "source_chunk_count": 10</a:t>
            </a:r>
          </a:p>
          <a:p>
            <a:r>
              <a:t>    },</a:t>
            </a:r>
          </a:p>
          <a:p>
            <a:r>
              <a:t>    {</a:t>
            </a:r>
          </a:p>
          <a:p>
            <a:r>
              <a:t>      "title": "전주시 2026년도 관광산업과 세출예산 사업명세서",</a:t>
            </a:r>
          </a:p>
          <a:p>
            <a:r>
              <a:t>      "summary": "전북특별자치도 전주시 · 야간관광 특화도시 예산 편성 · 예산서이므로 방문·소비 성과는 확인되지 않음",</a:t>
            </a:r>
          </a:p>
          <a:p>
            <a:r>
              <a:t>      "source_id": "case:jeonju_night_budget_2026",</a:t>
            </a:r>
          </a:p>
          <a:p>
            <a:r>
              <a:t>      "source_url": "https://jeonju.go.kr/resource/www/images/download/budget/2026/2026_31_2.pdf",</a:t>
            </a:r>
          </a:p>
          <a:p>
            <a:r>
              <a:t>      "case_region": "전북특별자치도 전주시",</a:t>
            </a:r>
          </a:p>
          <a:p>
            <a:r>
              <a:t>      "source_type": "benchmark_case",</a:t>
            </a:r>
          </a:p>
          <a:p>
            <a:r>
              <a:t>      "intervention": "야간관광 특화도시 예산 편성",</a:t>
            </a:r>
          </a:p>
          <a:p>
            <a:r>
              <a:t>      "operating_model": "사무관리, 행사운영, 연구용역, 민간경상보조 등으로 사업비를 항목별 편성",</a:t>
            </a:r>
          </a:p>
          <a:p>
            <a:r>
              <a:t>      "evidence_strength": "high",</a:t>
            </a:r>
          </a:p>
          <a:p>
            <a:r>
              <a:t>      "published_or_updated_at": "2026",</a:t>
            </a:r>
          </a:p>
          <a:p>
            <a:r>
              <a:t>      "quantitative_result_approved": null</a:t>
            </a:r>
          </a:p>
          <a:p>
            <a:r>
              <a:t>    },</a:t>
            </a:r>
          </a:p>
          <a:p>
            <a:r>
              <a:t>    {</a:t>
            </a:r>
          </a:p>
          <a:p>
            <a:r>
              <a:t>      "title": "(기획) 인천을 즐기는 가장 쉬운(easy) 방법 … 인천e지",</a:t>
            </a:r>
          </a:p>
          <a:p>
            <a:r>
              <a:t>      "summary": "인천광역시 · 스마트관광 플랫폼 ‘인천e지’의 추천·동선·스탬프·가맹점 쿠폰 통합 운영 · 2025년 9월 7일 기준 회원 10만 명, 누적 다운로드 29만 건이었다. 2025년 1~8월 프로모션 참여 18,499건, 쿠폰 이용 33,514건으로 전년 대비 각각 107%, 251% 증가했다. 다만 다운로드·쿠폰 증가가 지역 전체 관광소비의 순증 효과라는 의미는 아니다. ([incheon.go.kr](https://www.incheon.go.kr/IC010205/view?beginDt=&amp;curPage=1&amp;endDt=&amp;repSeq=DOM_0000000013130282&amp;srchMainManagerDeptNm=&amp;srchRepContents=%EC%A3%BC%EC%B0%A8&amp;srchRepTitle=))",</a:t>
            </a:r>
          </a:p>
          <a:p>
            <a:r>
              <a:t>      "source_id": "case:4625625dcbf2ae",</a:t>
            </a:r>
          </a:p>
          <a:p>
            <a:r>
              <a:t>      "source_url": "https://www.incheon.go.kr/IC010205/view?beginDt=&amp;curPage=1&amp;endDt=&amp;repSeq=DOM_0000000013130282&amp;srchMainManagerDeptNm=&amp;srchRepContents=%EC%A3%BC%EC%B0%A8&amp;srchRepTitle=",</a:t>
            </a:r>
          </a:p>
          <a:p>
            <a:r>
              <a:t>      "case_region": "인천광역시",</a:t>
            </a:r>
          </a:p>
          <a:p>
            <a:r>
              <a:t>      "source_type": "benchmark_case",</a:t>
            </a:r>
          </a:p>
          <a:p>
            <a:r>
              <a:t>      "intervention": "스마트관광 플랫폼 ‘인천e지’의 추천·동선·스탬프·가맹점 쿠폰 통합 운영",</a:t>
            </a:r>
          </a:p>
          <a:p>
            <a:r>
              <a:t>      "operating_model": "개인 맞춤형 여행 추천, 지도·교통·주차 정보, 축제 연계 스탬프투어와 스마트 쿠폰을 하나의 앱에서 제공한다. 2025년에는 가맹 서점 할인쿠폰과 책방 패스, 오프라인 행사를 결합해 기존 관광 동선을 문화상권으로 확장했다.",</a:t>
            </a:r>
          </a:p>
          <a:p>
            <a:r>
              <a:t>      "evidence_strength": "medium",</a:t>
            </a:r>
          </a:p>
          <a:p>
            <a:r>
              <a:t>      "published_or_updated_at": "2025-09-16",</a:t>
            </a:r>
          </a:p>
          <a:p>
            <a:r>
              <a:t>      "quantitative_result_approved": null</a:t>
            </a:r>
          </a:p>
          <a:p>
            <a:r>
              <a:t>    },</a:t>
            </a:r>
          </a:p>
          <a:p>
            <a:r>
              <a:t>    {</a:t>
            </a:r>
          </a:p>
          <a:p>
            <a:r>
              <a:t>      "title": "2024년 6월 여행가는 달 추진 보도자료",</a:t>
            </a:r>
          </a:p>
          <a:p>
            <a:r>
              <a:t>      "summary": "전국 인구감소지역 34곳 · 디지털 관광주민증과 교통·숙박·상점 할인 결합 · 2024년 34개 지역 약 800개 관광업체에 혜택 구조를 적용",</a:t>
            </a:r>
          </a:p>
          <a:p>
            <a:r>
              <a:t>      "source_id": "case:digital_tourism_resident_2024",</a:t>
            </a:r>
          </a:p>
          <a:p>
            <a:r>
              <a:t>      "source_url": "https://mcst.go.kr/servlets/eduport/front/upload/UplDownloadFile?pFileName=%280514%29%EB%AC%B8%EC%B2%B4%EB%B6%80%EB%B3%B4%EB%8F%84%EC%9E%90%EB%A3%8C-6%EC%9B%94_%EC%97%AC%ED%96%89%EA%B0%80%EB%8A%94_%EB%8B%AC_%EC%B6%94%EC%A7%84.pdf&amp;pPath=0302000000&amp;pRealName=20240514083202149235802932_PRESS20240514083202456506.pdf",</a:t>
            </a:r>
          </a:p>
          <a:p>
            <a:r>
              <a:t>      "case_region": "전국 인구감소지역 34곳",</a:t>
            </a:r>
          </a:p>
          <a:p>
            <a:r>
              <a:t>      "source_type": "benchmark_case",</a:t>
            </a:r>
          </a:p>
          <a:p>
            <a:r>
              <a:t>      "intervention": "디지털 관광주민증과 교통·숙박·상점 할인 결합",</a:t>
            </a:r>
          </a:p>
          <a:p>
            <a:r>
              <a:t>      "operating_model": "디지털 관광주민증 참여업체 현장 인증과 숙박·식음·관람·체험 할인, 특정 시간대 KTX 할인과 방문 후 교통 할인권을 결합",</a:t>
            </a:r>
          </a:p>
          <a:p>
            <a:r>
              <a:t>      "evidence_strength": "medium",</a:t>
            </a:r>
          </a:p>
          <a:p>
            <a:r>
              <a:t>      "published_or_updated_at": "2024-05-14",</a:t>
            </a:r>
          </a:p>
          <a:p>
            <a:r>
              <a:t>      "quantitative_result_approved": null</a:t>
            </a:r>
          </a:p>
          <a:p>
            <a:r>
              <a:t>    },</a:t>
            </a:r>
          </a:p>
          <a:p>
            <a:r>
              <a:t>    {</a:t>
            </a:r>
          </a:p>
          <a:p>
            <a:r>
              <a:t>      "title": "2022 대한민국 숙박대전 경제파급효과 공개자료",</a:t>
            </a:r>
          </a:p>
          <a:p>
            <a:r>
              <a:t>      "summary": "전국 숙박할인쿠폰 지원사업 · 온라인 예약 채널 숙박할인쿠폰 · 한국관광공사 자료는 약 104만 명이 할인혜택을 이용했고 서울·제주를 제외한 지역 사용 비율이 76%였다고 소개함",</a:t>
            </a:r>
          </a:p>
          <a:p>
            <a:r>
              <a:t>      "source_id": "case:kto_stay_discount_2022",</a:t>
            </a:r>
          </a:p>
          <a:p>
            <a:r>
              <a:t>      "source_url": "https://kto.visitkorea.or.kr/upload/flexer/upload/ktobiz/20220928/b623b5f9-3ec0-11ed-9832-ddf31964842e.hwp.files/Sections1.html",</a:t>
            </a:r>
          </a:p>
          <a:p>
            <a:r>
              <a:t>      "case_region": "전국 숙박할인쿠폰 지원사업",</a:t>
            </a:r>
          </a:p>
          <a:p>
            <a:r>
              <a:t>      "source_type": "benchmark_case",</a:t>
            </a:r>
          </a:p>
          <a:p>
            <a:r>
              <a:t>      "intervention": "온라인 예약 채널 숙박할인쿠폰",</a:t>
            </a:r>
          </a:p>
          <a:p>
            <a:r>
              <a:t>      "operating_model": "온라인 여행사 예약 단계에서 할인쿠폰을 제공하고, 지역 숙소에서 사용할 수 있도록 참여 채널과 기간을 통합 운영",</a:t>
            </a:r>
          </a:p>
          <a:p>
            <a:r>
              <a:t>      "evidence_strength": "medium",</a:t>
            </a:r>
          </a:p>
          <a:p>
            <a:r>
              <a:t>      "published_or_updated_at": "2022-09-28",</a:t>
            </a:r>
          </a:p>
          <a:p>
            <a:r>
              <a:t>      "quantitative_result_approved": null</a:t>
            </a:r>
          </a:p>
          <a:p>
            <a:r>
              <a:t>    },</a:t>
            </a:r>
          </a:p>
          <a:p>
            <a:r>
              <a:t>    {</a:t>
            </a:r>
          </a:p>
          <a:p>
            <a:r>
              <a:t>      "title": "한강 밤핑(Night+Camping) 행사·공연 정보",</a:t>
            </a:r>
          </a:p>
          <a:p>
            <a:r>
              <a:t>      "summary": "서울특별시 여의도·뚝섬·망원 한강공원 일대 · 한강 밤핑의 시간대 예약·노쇼 보증금·야간 콘텐츠·주변 상권 결합 · 사전예약 규모, 보증금·환급 조건, 할인 및 상권 연계 구조는 확인되지만 실제 참석률, 노쇼 감소율, 쿠폰 사용액과 인근 상권 매출 결과는 공식 자료에서 확인되지 않음. ([hangang.seoul.go.kr](https://hangang.seoul.go.kr/www/eventMng/detail.do?evntSn=441&amp;keyword=&amp;mid=538&amp;opt11=&amp;opt12=&amp;opt13=&amp;opt14=&amp;opt4=&amp;pageNo=2&amp;srchType=list))",</a:t>
            </a:r>
          </a:p>
          <a:p>
            <a:r>
              <a:t>      "source_id": "case:37471b1e063812",</a:t>
            </a:r>
          </a:p>
          <a:p>
            <a:r>
              <a:t>      "source_url": "https://hangang.seoul.go.kr/www/eventMng/detail.do?evntSn=441&amp;keyword=&amp;mid=538&amp;opt11=&amp;opt12=&amp;opt13=&amp;opt14=&amp;opt4=&amp;pageNo=2&amp;srchType=list",</a:t>
            </a:r>
          </a:p>
          <a:p>
            <a:r>
              <a:t>      "case_region": "서울특별시 여의도·뚝섬·망원 한강공원 일대",</a:t>
            </a:r>
          </a:p>
          <a:p>
            <a:r>
              <a:t>      "source_type": "benchmark_case",</a:t>
            </a:r>
          </a:p>
          <a:p>
            <a:r>
              <a:t>      "intervention": "한강 밤핑의 시간대 예약·노쇼 보증금·야간 콘텐츠·주변 상권 결합",</a:t>
            </a:r>
          </a:p>
          <a:p>
            <a:r>
              <a:t>      "operating_model": "총 200개 사이트를 사전예약제로 운영하고 1만 원 보증금을 받아 정상 참석 시 전액 환급했다. 연박과 취사를 제한해 참여 기회를 분산하고 주변 상권 이용을 유도했다. 야간 수영·공연·영화 등 기존 프로그램과 배달앱 즉시할인, 서울사랑상품권 페이백, 인근 21개 전통시장·골목상권 안내를 결합했다.",</a:t>
            </a:r>
          </a:p>
          <a:p>
            <a:r>
              <a:t>      "evidence_strength": "low",</a:t>
            </a:r>
          </a:p>
          <a:p>
            <a:r>
              <a:t>      "published_or_updated_at": "2026-07",</a:t>
            </a:r>
          </a:p>
          <a:p>
            <a:r>
              <a:t>      "quantitative_result_approved": null</a:t>
            </a:r>
          </a:p>
          <a:p>
            <a:r>
              <a:t>    },</a:t>
            </a:r>
          </a:p>
          <a:p>
            <a:r>
              <a:t>    {</a:t>
            </a:r>
          </a:p>
          <a:p>
            <a:r>
              <a:t>      "title": "강진 반값여행 지역경제 효과 소개",</a:t>
            </a:r>
          </a:p>
          <a:p>
            <a:r>
              <a:t>      "summary": "전라남도 강진군 · 반값여행 지역환급 · 상품권 결제 변화에 관한 소개 자료는 있으나, 사업 참여자 범위·정확한 비교 기간·원자료를 확인하지 못해 성과 수치 인용을 보류한다.",</a:t>
            </a:r>
          </a:p>
          <a:p>
            <a:r>
              <a:t>      "source_id": "case:gangjin_half_price_2024",</a:t>
            </a:r>
          </a:p>
          <a:p>
            <a:r>
              <a:t>      "source_url": "https://jnfarm.jeonnam.go.kr/board/FARM_BOARD_008/boardView.do?bdId=BD_00000000000011721&amp;menuCd=farm004002",</a:t>
            </a:r>
          </a:p>
          <a:p>
            <a:r>
              <a:t>      "case_region": "전라남도 강진군",</a:t>
            </a:r>
          </a:p>
          <a:p>
            <a:r>
              <a:t>      "source_type": "benchmark_case",</a:t>
            </a:r>
          </a:p>
          <a:p>
            <a:r>
              <a:t>      "intervention": "반값여행 지역환급",</a:t>
            </a:r>
          </a:p>
          <a:p>
            <a:r>
              <a:t>      "operating_model": "여행자가 지역에서 지출한 비용의 일부를 지역상품권으로 돌려받게 하여 혜택이 다시 지역 상점에서 사용되도록 설계",</a:t>
            </a:r>
          </a:p>
          <a:p>
            <a:r>
              <a:t>      "evidence_strength": "low",</a:t>
            </a:r>
          </a:p>
          <a:p>
            <a:r>
              <a:t>      "published_or_updated_at": "2025-01-02",</a:t>
            </a:r>
          </a:p>
          <a:p>
            <a:r>
              <a:t>      "quantitative_result_approved": false</a:t>
            </a:r>
          </a:p>
          <a:p>
            <a:r>
              <a:t>    },</a:t>
            </a:r>
          </a:p>
          <a:p>
            <a:r>
              <a:t>    {</a:t>
            </a:r>
          </a:p>
          <a:p>
            <a:r>
              <a:t>      "title": "지역사랑 휴가지원(반값여행) 신설 및 ‘대한민국 반값여행’ 성과 분석",</a:t>
            </a:r>
          </a:p>
          <a:p>
            <a:r>
              <a:t>      "summary": "전국 인구감소지역 중 2026년 상반기 선정 16개 지역 · 지역사랑 휴가지원 ‘대한민국 반값여행’ · 문체부는 2026년 6월 22일 상반기 성과 분석과 하반기 운영 방향을 논의했다고 공개했다. 확보된 공식 페이지에서 지역별 신청·방문·소비·환급 수치와 비교집단 결과는 확인되지 않아 정량 성과는 인용하지 않는다. ([mcst.go.kr](https://www.mcst.go.kr/site/s_notice/press/pressView.jsp?pSeq=22528))",</a:t>
            </a:r>
          </a:p>
          <a:p>
            <a:r>
              <a:t>      "source_id": "case:c6d4752e1342a7",</a:t>
            </a:r>
          </a:p>
          <a:p>
            <a:r>
              <a:t>      "source_url": "https://www.mcst.go.kr/site/s_policy/govPolicy/performTotal.jsp",</a:t>
            </a:r>
          </a:p>
          <a:p>
            <a:r>
              <a:t>      "case_region": "전국 인구감소지역 중 2026년 상반기 선정 16개 지역",</a:t>
            </a:r>
          </a:p>
          <a:p>
            <a:r>
              <a:t>      "source_type": "benchmark_case",</a:t>
            </a:r>
          </a:p>
          <a:p>
            <a:r>
              <a:t>      "intervention": "지역사랑 휴가지원 ‘대한민국 반값여행’",</a:t>
            </a:r>
          </a:p>
          <a:p>
            <a:r>
              <a:t>      "operating_model": "대상 지역에서 여행경비를 지출하고 요건을 충족한 방문객에게 지역사랑상품권을 환급한다. 개인은 최대 10만 원, 단체는 최대 20만 원 한도로 설계했으며, 부정수급 방지 지침과 지자체 공모·사전준비 절차를 두었다.",</a:t>
            </a:r>
          </a:p>
          <a:p>
            <a:r>
              <a:t>      "evidence_strength": "medium",</a:t>
            </a:r>
          </a:p>
          <a:p>
            <a:r>
              <a:t>      "published_or_updated_at": "2026-06-22",</a:t>
            </a:r>
          </a:p>
          <a:p>
            <a:r>
              <a:t>      "quantitative_result_approved": null</a:t>
            </a:r>
          </a:p>
          <a:p>
            <a:r>
              <a:t>    },</a:t>
            </a:r>
          </a:p>
          <a:p>
            <a:r>
              <a:t>    {</a:t>
            </a:r>
          </a:p>
          <a:p>
            <a:r>
              <a:t>      "title": "2025 대한민국 밤밤페스타 개최 도시 및 일정",</a:t>
            </a:r>
          </a:p>
          <a:p>
            <a:r>
              <a:t>      "summary": "야간관광 특화도시 10곳 · 도시별 야간 콘텐츠를 순회형 축제로 묶는 운영 · 공식 여행기사는 개최 도시·장소·운영 시간과 콘텐츠만 제시하며 방문·소비 성과 수치는 제시하지 않음",</a:t>
            </a:r>
          </a:p>
          <a:p>
            <a:r>
              <a:t>      "source_id": "case:night_festival_2025",</a:t>
            </a:r>
          </a:p>
          <a:p>
            <a:r>
              <a:t>      "source_url": "https://korean.visitkorea.or.kr/detail/rem_detail.do?cotid=f9c636b2-dd7c-4f09-af3d-6af43b33d371",</a:t>
            </a:r>
          </a:p>
          <a:p>
            <a:r>
              <a:t>      "case_region": "야간관광 특화도시 10곳",</a:t>
            </a:r>
          </a:p>
          <a:p>
            <a:r>
              <a:t>      "source_type": "benchmark_case",</a:t>
            </a:r>
          </a:p>
          <a:p>
            <a:r>
              <a:t>      "intervention": "도시별 야간 콘텐츠를 순회형 축제로 묶는 운영",</a:t>
            </a:r>
          </a:p>
          <a:p>
            <a:r>
              <a:t>      "operating_model": "10개 야간관광 특화도시의 대표 장소와 시간대를 연결하고, 공연·체험·지역 디저트·판매상품 등 도시별 콘텐츠를 순회 일정으로 운영",</a:t>
            </a:r>
          </a:p>
          <a:p>
            <a:r>
              <a:t>      "evidence_strength": "medium",</a:t>
            </a:r>
          </a:p>
          <a:p>
            <a:r>
              <a:t>      "published_or_updated_at": "2025",</a:t>
            </a:r>
          </a:p>
          <a:p>
            <a:r>
              <a:t>      "quantitative_result_approved": null</a:t>
            </a:r>
          </a:p>
          <a:p>
            <a:r>
              <a:t>    }</a:t>
            </a:r>
          </a:p>
          <a:p>
            <a:r>
              <a:t>  ],</a:t>
            </a:r>
          </a:p>
          <a:p>
            <a:r>
              <a:t>  "selected_forecast": {</a:t>
            </a:r>
          </a:p>
          <a:p>
            <a:r>
              <a:t>    "rows": [</a:t>
            </a:r>
          </a:p>
          <a:p>
            <a:r>
              <a:t>      {</a:t>
            </a:r>
          </a:p>
          <a:p>
            <a:r>
              <a:t>        "month": "202609",</a:t>
            </a:r>
          </a:p>
          <a:p>
            <a:r>
              <a:t>        "visitors": 2363056.0,</a:t>
            </a:r>
          </a:p>
          <a:p>
            <a:r>
              <a:t>        "is_forecast": true,</a:t>
            </a:r>
          </a:p>
          <a:p>
            <a:r>
              <a:t>        "spending_krw": 67047345591.0,</a:t>
            </a:r>
          </a:p>
          <a:p>
            <a:r>
              <a:t>        "stay_minutes": 2518.0,</a:t>
            </a:r>
          </a:p>
          <a:p>
            <a:r>
              <a:t>        "lodging_nights": 2.98,</a:t>
            </a:r>
          </a:p>
          <a:p>
            <a:r>
              <a:t>        "lodging_rate_pct": 13.1,</a:t>
            </a:r>
          </a:p>
          <a:p>
            <a:r>
              <a:t>        "lodging_searches": 34529,</a:t>
            </a:r>
          </a:p>
          <a:p>
            <a:r>
              <a:t>        "navigation_searches": 259153,</a:t>
            </a:r>
          </a:p>
          <a:p>
            <a:r>
              <a:t>        "visitor_yoy_percent": 3.0,</a:t>
            </a:r>
          </a:p>
          <a:p>
            <a:r>
              <a:t>        "spending_yoy_percent": 22.29,</a:t>
            </a:r>
          </a:p>
          <a:p>
            <a:r>
              <a:t>        "metric_changes_percent": {</a:t>
            </a:r>
          </a:p>
          <a:p>
            <a:r>
              <a:t>          "stay_minutes": 0.0,</a:t>
            </a:r>
          </a:p>
          <a:p>
            <a:r>
              <a:t>          "lodging_nights": 1.02,</a:t>
            </a:r>
          </a:p>
          <a:p>
            <a:r>
              <a:t>          "lodging_rate_pct": 0.0,</a:t>
            </a:r>
          </a:p>
          <a:p>
            <a:r>
              <a:t>          "lodging_searches": 8.97,</a:t>
            </a:r>
          </a:p>
          <a:p>
            <a:r>
              <a:t>          "navigation_searches": 0.0</a:t>
            </a:r>
          </a:p>
          <a:p>
            <a:r>
              <a:t>        },</a:t>
            </a:r>
          </a:p>
          <a:p>
            <a:r>
              <a:t>        "previous_year_visitors": 2294130,</a:t>
            </a:r>
          </a:p>
          <a:p>
            <a:r>
              <a:t>        "previous_year_spending_krw": 54826341000,</a:t>
            </a:r>
          </a:p>
          <a:p>
            <a:r>
              <a:t>        "previous_year_stay_minutes": 2518.0,</a:t>
            </a:r>
          </a:p>
          <a:p>
            <a:r>
              <a:t>        "previous_year_lodging_nights": 2.95,</a:t>
            </a:r>
          </a:p>
          <a:p>
            <a:r>
              <a:t>        "previous_year_lodging_rate_pct": 13.1,</a:t>
            </a:r>
          </a:p>
          <a:p>
            <a:r>
              <a:t>        "previous_year_lodging_searches": 31686,</a:t>
            </a:r>
          </a:p>
          <a:p>
            <a:r>
              <a:t>        "previous_year_navigation_searches": 259153</a:t>
            </a:r>
          </a:p>
          <a:p>
            <a:r>
              <a:t>      },</a:t>
            </a:r>
          </a:p>
          <a:p>
            <a:r>
              <a:t>      {</a:t>
            </a:r>
          </a:p>
          <a:p>
            <a:r>
              <a:t>        "month": "202610",</a:t>
            </a:r>
          </a:p>
          <a:p>
            <a:r>
              <a:t>        "visitors": 2633270.0,</a:t>
            </a:r>
          </a:p>
          <a:p>
            <a:r>
              <a:t>        "is_forecast": true,</a:t>
            </a:r>
          </a:p>
          <a:p>
            <a:r>
              <a:t>        "spending_krw": 83929975649.0,</a:t>
            </a:r>
          </a:p>
          <a:p>
            <a:r>
              <a:t>        "stay_minutes": 1683.0,</a:t>
            </a:r>
          </a:p>
          <a:p>
            <a:r>
              <a:t>        "lodging_nights": 2.87,</a:t>
            </a:r>
          </a:p>
          <a:p>
            <a:r>
              <a:t>        "lodging_rate_pct": 15.5,</a:t>
            </a:r>
          </a:p>
          <a:p>
            <a:r>
              <a:t>        "lodging_searches": 50011,</a:t>
            </a:r>
          </a:p>
          <a:p>
            <a:r>
              <a:t>        "navigation_searches": 519488,</a:t>
            </a:r>
          </a:p>
          <a:p>
            <a:r>
              <a:t>        "visitor_yoy_percent": -5.94,</a:t>
            </a:r>
          </a:p>
          <a:p>
            <a:r>
              <a:t>        "spending_yoy_percent": 21.43,</a:t>
            </a:r>
          </a:p>
          <a:p>
            <a:r>
              <a:t>        "metric_changes_percent": {</a:t>
            </a:r>
          </a:p>
          <a:p>
            <a:r>
              <a:t>          "stay_minutes": 0.0,</a:t>
            </a:r>
          </a:p>
          <a:p>
            <a:r>
              <a:t>          "lodging_nights": 1.77,</a:t>
            </a:r>
          </a:p>
          <a:p>
            <a:r>
              <a:t>          "lodging_rate_pct": 0.0,</a:t>
            </a:r>
          </a:p>
          <a:p>
            <a:r>
              <a:t>          "lodging_searches": -21.42,</a:t>
            </a:r>
          </a:p>
          <a:p>
            <a:r>
              <a:t>          "navigation_searches": 0.0</a:t>
            </a:r>
          </a:p>
          <a:p>
            <a:r>
              <a:t>        },</a:t>
            </a:r>
          </a:p>
          <a:p>
            <a:r>
              <a:t>        "previous_year_visitors": 2799509,</a:t>
            </a:r>
          </a:p>
          <a:p>
            <a:r>
              <a:t>        "previous_year_spending_krw": 69118387000,</a:t>
            </a:r>
          </a:p>
          <a:p>
            <a:r>
              <a:t>        "previous_year_stay_minutes": 1683.0,</a:t>
            </a:r>
          </a:p>
          <a:p>
            <a:r>
              <a:t>        "previous_year_lodging_nights": 2.82,</a:t>
            </a:r>
          </a:p>
          <a:p>
            <a:r>
              <a:t>        "previous_year_lodging_rate_pct": 15.5,</a:t>
            </a:r>
          </a:p>
          <a:p>
            <a:r>
              <a:t>        "previous_year_lodging_searches": 63645,</a:t>
            </a:r>
          </a:p>
          <a:p>
            <a:r>
              <a:t>        "previous_year_navigation_searches": 519488</a:t>
            </a:r>
          </a:p>
          <a:p>
            <a:r>
              <a:t>      },</a:t>
            </a:r>
          </a:p>
          <a:p>
            <a:r>
              <a:t>      {</a:t>
            </a:r>
          </a:p>
          <a:p>
            <a:r>
              <a:t>        "month": "202611",</a:t>
            </a:r>
          </a:p>
          <a:p>
            <a:r>
              <a:t>        "visitors": 2632315.0,</a:t>
            </a:r>
          </a:p>
          <a:p>
            <a:r>
              <a:t>        "is_forecast": true,</a:t>
            </a:r>
          </a:p>
          <a:p>
            <a:r>
              <a:t>        "spending_krw": 89947681558.0,</a:t>
            </a:r>
          </a:p>
          <a:p>
            <a:r>
              <a:t>        "stay_minutes": 1488.0,</a:t>
            </a:r>
          </a:p>
          <a:p>
            <a:r>
              <a:t>        "lodging_nights": 2.76,</a:t>
            </a:r>
          </a:p>
          <a:p>
            <a:r>
              <a:t>        "lodging_rate_pct": 12.4,</a:t>
            </a:r>
          </a:p>
          <a:p>
            <a:r>
              <a:t>        "lodging_searches": 48286,</a:t>
            </a:r>
          </a:p>
          <a:p>
            <a:r>
              <a:t>        "navigation_searches": 352852,</a:t>
            </a:r>
          </a:p>
          <a:p>
            <a:r>
              <a:t>        "visitor_yoy_percent": 4.18,</a:t>
            </a:r>
          </a:p>
          <a:p>
            <a:r>
              <a:t>        "spending_yoy_percent": 41.26,</a:t>
            </a:r>
          </a:p>
          <a:p>
            <a:r>
              <a:t>        "metric_changes_percent": {</a:t>
            </a:r>
          </a:p>
          <a:p>
            <a:r>
              <a:t>          "stay_minutes": 0.0,</a:t>
            </a:r>
          </a:p>
          <a:p>
            <a:r>
              <a:t>          "lodging_nights": 2.22,</a:t>
            </a:r>
          </a:p>
          <a:p>
            <a:r>
              <a:t>          "lodging_rate_pct": 0.0,</a:t>
            </a:r>
          </a:p>
          <a:p>
            <a:r>
              <a:t>          "lodging_searches": 21.22,</a:t>
            </a:r>
          </a:p>
          <a:p>
            <a:r>
              <a:t>          "navigation_searches": 0.0</a:t>
            </a:r>
          </a:p>
          <a:p>
            <a:r>
              <a:t>        },</a:t>
            </a:r>
          </a:p>
          <a:p>
            <a:r>
              <a:t>        "previous_year_visitors": 2526699,</a:t>
            </a:r>
          </a:p>
          <a:p>
            <a:r>
              <a:t>        "previous_year_spending_krw": 63675989000,</a:t>
            </a:r>
          </a:p>
          <a:p>
            <a:r>
              <a:t>        "previous_year_stay_minutes": 1488.0,</a:t>
            </a:r>
          </a:p>
          <a:p>
            <a:r>
              <a:t>        "previous_year_lodging_nights": 2.7,</a:t>
            </a:r>
          </a:p>
          <a:p>
            <a:r>
              <a:t>        "previous_year_lodging_rate_pct": 12.4,</a:t>
            </a:r>
          </a:p>
          <a:p>
            <a:r>
              <a:t>        "previous_year_lodging_searches": 39833,</a:t>
            </a:r>
          </a:p>
          <a:p>
            <a:r>
              <a:t>        "previous_year_navigation_searches": 352852</a:t>
            </a:r>
          </a:p>
          <a:p>
            <a:r>
              <a:t>      }</a:t>
            </a:r>
          </a:p>
          <a:p>
            <a:r>
              <a:t>    ],</a:t>
            </a:r>
          </a:p>
          <a:p>
            <a:r>
              <a:t>    "period": "202609~202611",</a:t>
            </a:r>
          </a:p>
          <a:p>
            <a:r>
              <a:t>    "complete": true,</a:t>
            </a:r>
          </a:p>
          <a:p>
            <a:r>
              <a:t>    "notes": [</a:t>
            </a:r>
          </a:p>
          <a:p>
            <a:r>
              <a:t>      "3개월 초과 예측 거리는 재귀 검증 범위 밖의 탐색 전망입니다."</a:t>
            </a:r>
          </a:p>
          <a:p>
            <a:r>
              <a:t>    ],</a:t>
            </a:r>
          </a:p>
          <a:p>
            <a:r>
              <a:t>    "selection_basis": "strategy_timeframe",</a:t>
            </a:r>
          </a:p>
          <a:p>
            <a:r>
              <a:t>    "requested_period": "202609~202611"</a:t>
            </a:r>
          </a:p>
          <a:p>
            <a:r>
              <a:t>  },</a:t>
            </a:r>
          </a:p>
          <a:p>
            <a:r>
              <a:t>  "all_ml_forecasts": [</a:t>
            </a:r>
          </a:p>
          <a:p>
            <a:r>
              <a:t>    {</a:t>
            </a:r>
          </a:p>
          <a:p>
            <a:r>
              <a:t>      "month": "202607",</a:t>
            </a:r>
          </a:p>
          <a:p>
            <a:r>
              <a:t>      "visitors": 2366862,</a:t>
            </a:r>
          </a:p>
          <a:p>
            <a:r>
              <a:t>      "is_forecast": true,</a:t>
            </a:r>
          </a:p>
          <a:p>
            <a:r>
              <a:t>      "spending_krw": 67735223997,</a:t>
            </a:r>
          </a:p>
          <a:p>
            <a:r>
              <a:t>      "stay_minutes": 1944.0,</a:t>
            </a:r>
          </a:p>
          <a:p>
            <a:r>
              <a:t>      "lodging_nights": 2.83,</a:t>
            </a:r>
          </a:p>
          <a:p>
            <a:r>
              <a:t>      "lodging_rate_pct": 13.8,</a:t>
            </a:r>
          </a:p>
          <a:p>
            <a:r>
              <a:t>      "lodging_searches": 46511,</a:t>
            </a:r>
          </a:p>
          <a:p>
            <a:r>
              <a:t>      "navigation_searches": 297924,</a:t>
            </a:r>
          </a:p>
          <a:p>
            <a:r>
              <a:t>      "visitor_yoy_percent": -1.04,</a:t>
            </a:r>
          </a:p>
          <a:p>
            <a:r>
              <a:t>      "spending_yoy_percent": 14.97,</a:t>
            </a:r>
          </a:p>
          <a:p>
            <a:r>
              <a:t>      "metric_changes_percent": {</a:t>
            </a:r>
          </a:p>
          <a:p>
            <a:r>
              <a:t>        "stay_minutes": 0.0,</a:t>
            </a:r>
          </a:p>
          <a:p>
            <a:r>
              <a:t>        "lodging_nights": 0.35,</a:t>
            </a:r>
          </a:p>
          <a:p>
            <a:r>
              <a:t>        "lodging_rate_pct": 0.0,</a:t>
            </a:r>
          </a:p>
          <a:p>
            <a:r>
              <a:t>        "lodging_searches": 17.21,</a:t>
            </a:r>
          </a:p>
          <a:p>
            <a:r>
              <a:t>        "navigation_searches": 0.0</a:t>
            </a:r>
          </a:p>
          <a:p>
            <a:r>
              <a:t>      },</a:t>
            </a:r>
          </a:p>
          <a:p>
            <a:r>
              <a:t>      "previous_year_visitors": 2391642,</a:t>
            </a:r>
          </a:p>
          <a:p>
            <a:r>
              <a:t>      "previous_year_spending_krw": 58914875000,</a:t>
            </a:r>
          </a:p>
          <a:p>
            <a:r>
              <a:t>      "previous_year_stay_minutes": 1944.0,</a:t>
            </a:r>
          </a:p>
          <a:p>
            <a:r>
              <a:t>      "previous_year_lodging_nights": 2.82,</a:t>
            </a:r>
          </a:p>
          <a:p>
            <a:r>
              <a:t>      "previous_year_lodging_rate_pct": 13.8,</a:t>
            </a:r>
          </a:p>
          <a:p>
            <a:r>
              <a:t>      "previous_year_lodging_searches": 39682,</a:t>
            </a:r>
          </a:p>
          <a:p>
            <a:r>
              <a:t>      "previous_year_navigation_searches": 297924</a:t>
            </a:r>
          </a:p>
          <a:p>
            <a:r>
              <a:t>    },</a:t>
            </a:r>
          </a:p>
          <a:p>
            <a:r>
              <a:t>    {</a:t>
            </a:r>
          </a:p>
          <a:p>
            <a:r>
              <a:t>      "month": "202608",</a:t>
            </a:r>
          </a:p>
          <a:p>
            <a:r>
              <a:t>      "visitors": 2642874,</a:t>
            </a:r>
          </a:p>
          <a:p>
            <a:r>
              <a:t>      "is_forecast": true,</a:t>
            </a:r>
          </a:p>
          <a:p>
            <a:r>
              <a:t>      "spending_krw": 76161639833,</a:t>
            </a:r>
          </a:p>
          <a:p>
            <a:r>
              <a:t>      "stay_minutes": 1672.0,</a:t>
            </a:r>
          </a:p>
          <a:p>
            <a:r>
              <a:t>      "lodging_nights": 2.76,</a:t>
            </a:r>
          </a:p>
          <a:p>
            <a:r>
              <a:t>      "lodging_rate_pct": 14.7,</a:t>
            </a:r>
          </a:p>
          <a:p>
            <a:r>
              <a:t>      "lodging_searches": 49759,</a:t>
            </a:r>
          </a:p>
          <a:p>
            <a:r>
              <a:t>      "navigation_searches": 346177,</a:t>
            </a:r>
          </a:p>
          <a:p>
            <a:r>
              <a:t>      "visitor_yoy_percent": 0.13,</a:t>
            </a:r>
          </a:p>
          <a:p>
            <a:r>
              <a:t>      "spending_yoy_percent": 18.85,</a:t>
            </a:r>
          </a:p>
          <a:p>
            <a:r>
              <a:t>      "metric_changes_percent": {</a:t>
            </a:r>
          </a:p>
          <a:p>
            <a:r>
              <a:t>        "stay_minutes": 0.0,</a:t>
            </a:r>
          </a:p>
          <a:p>
            <a:r>
              <a:t>        "lodging_nights": 1.1,</a:t>
            </a:r>
          </a:p>
          <a:p>
            <a:r>
              <a:t>        "lodging_rate_pct": 0.0,</a:t>
            </a:r>
          </a:p>
          <a:p>
            <a:r>
              <a:t>        "lodging_searches": -0.93,</a:t>
            </a:r>
          </a:p>
          <a:p>
            <a:r>
              <a:t>        "navigation_searches": 0.0</a:t>
            </a:r>
          </a:p>
          <a:p>
            <a:r>
              <a:t>      },</a:t>
            </a:r>
          </a:p>
          <a:p>
            <a:r>
              <a:t>      "previous_year_visitors": 2639487,</a:t>
            </a:r>
          </a:p>
          <a:p>
            <a:r>
              <a:t>      "previous_year_spending_krw": 64083943000,</a:t>
            </a:r>
          </a:p>
          <a:p>
            <a:r>
              <a:t>      "previous_year_stay_minutes": 1672.0,</a:t>
            </a:r>
          </a:p>
          <a:p>
            <a:r>
              <a:t>      "previous_year_lodging_nights": 2.73,</a:t>
            </a:r>
          </a:p>
          <a:p>
            <a:r>
              <a:t>      "previous_year_lodging_rate_pct": 14.7,</a:t>
            </a:r>
          </a:p>
          <a:p>
            <a:r>
              <a:t>      "previous_year_lodging_searches": 50224,</a:t>
            </a:r>
          </a:p>
          <a:p>
            <a:r>
              <a:t>      "previous_year_navigation_searches": 346177</a:t>
            </a:r>
          </a:p>
          <a:p>
            <a:r>
              <a:t>    },</a:t>
            </a:r>
          </a:p>
          <a:p>
            <a:r>
              <a:t>    {</a:t>
            </a:r>
          </a:p>
          <a:p>
            <a:r>
              <a:t>      "month": "202609",</a:t>
            </a:r>
          </a:p>
          <a:p>
            <a:r>
              <a:t>      "visitors": 2363056,</a:t>
            </a:r>
          </a:p>
          <a:p>
            <a:r>
              <a:t>      "is_forecast": true,</a:t>
            </a:r>
          </a:p>
          <a:p>
            <a:r>
              <a:t>      "spending_krw": 67047345591,</a:t>
            </a:r>
          </a:p>
          <a:p>
            <a:r>
              <a:t>      "stay_minutes": 2518.0,</a:t>
            </a:r>
          </a:p>
          <a:p>
            <a:r>
              <a:t>      "lodging_nights": 2.98,</a:t>
            </a:r>
          </a:p>
          <a:p>
            <a:r>
              <a:t>      "lodging_rate_pct": 13.1,</a:t>
            </a:r>
          </a:p>
          <a:p>
            <a:r>
              <a:t>      "lodging_searches": 34529,</a:t>
            </a:r>
          </a:p>
          <a:p>
            <a:r>
              <a:t>      "navigation_searches": 259153,</a:t>
            </a:r>
          </a:p>
          <a:p>
            <a:r>
              <a:t>      "visitor_yoy_percent": 3.0,</a:t>
            </a:r>
          </a:p>
          <a:p>
            <a:r>
              <a:t>      "spending_yoy_percent": 22.29,</a:t>
            </a:r>
          </a:p>
          <a:p>
            <a:r>
              <a:t>      "metric_changes_percent": {</a:t>
            </a:r>
          </a:p>
          <a:p>
            <a:r>
              <a:t>        "stay_minutes": 0.0,</a:t>
            </a:r>
          </a:p>
          <a:p>
            <a:r>
              <a:t>        "lodging_nights": 1.02,</a:t>
            </a:r>
          </a:p>
          <a:p>
            <a:r>
              <a:t>        "lodging_rate_pct": 0.0,</a:t>
            </a:r>
          </a:p>
          <a:p>
            <a:r>
              <a:t>        "lodging_searches": 8.97,</a:t>
            </a:r>
          </a:p>
          <a:p>
            <a:r>
              <a:t>        "navigation_searches": 0.0</a:t>
            </a:r>
          </a:p>
          <a:p>
            <a:r>
              <a:t>      },</a:t>
            </a:r>
          </a:p>
          <a:p>
            <a:r>
              <a:t>      "previous_year_visitors": 2294130,</a:t>
            </a:r>
          </a:p>
          <a:p>
            <a:r>
              <a:t>      "previous_year_spending_krw": 54826341000,</a:t>
            </a:r>
          </a:p>
          <a:p>
            <a:r>
              <a:t>      "previous_year_stay_minutes": 2518.0,</a:t>
            </a:r>
          </a:p>
          <a:p>
            <a:r>
              <a:t>      "previous_year_lodging_nights": 2.95,</a:t>
            </a:r>
          </a:p>
          <a:p>
            <a:r>
              <a:t>      "previous_year_lodging_rate_pct": 13.1,</a:t>
            </a:r>
          </a:p>
          <a:p>
            <a:r>
              <a:t>      "previous_year_lodging_searches": 31686,</a:t>
            </a:r>
          </a:p>
          <a:p>
            <a:r>
              <a:t>      "previous_year_navigation_searches": 259153</a:t>
            </a:r>
          </a:p>
          <a:p>
            <a:r>
              <a:t>    },</a:t>
            </a:r>
          </a:p>
          <a:p>
            <a:r>
              <a:t>    {</a:t>
            </a:r>
          </a:p>
          <a:p>
            <a:r>
              <a:t>      "month": "202610",</a:t>
            </a:r>
          </a:p>
          <a:p>
            <a:r>
              <a:t>      "visitors": 2633270,</a:t>
            </a:r>
          </a:p>
          <a:p>
            <a:r>
              <a:t>      "is_forecast": true,</a:t>
            </a:r>
          </a:p>
          <a:p>
            <a:r>
              <a:t>      "spending_krw": 83929975649,</a:t>
            </a:r>
          </a:p>
          <a:p>
            <a:r>
              <a:t>      "stay_minutes": 1683.0,</a:t>
            </a:r>
          </a:p>
          <a:p>
            <a:r>
              <a:t>      "lodging_nights": 2.87,</a:t>
            </a:r>
          </a:p>
          <a:p>
            <a:r>
              <a:t>      "lodging_rate_pct": 15.5,</a:t>
            </a:r>
          </a:p>
          <a:p>
            <a:r>
              <a:t>      "lodging_searches": 50011,</a:t>
            </a:r>
          </a:p>
          <a:p>
            <a:r>
              <a:t>      "navigation_searches": 519488,</a:t>
            </a:r>
          </a:p>
          <a:p>
            <a:r>
              <a:t>      "visitor_yoy_percent": -5.94,</a:t>
            </a:r>
          </a:p>
          <a:p>
            <a:r>
              <a:t>      "spending_yoy_percent": 21.43,</a:t>
            </a:r>
          </a:p>
          <a:p>
            <a:r>
              <a:t>      "metric_changes_percent": {</a:t>
            </a:r>
          </a:p>
          <a:p>
            <a:r>
              <a:t>        "stay_minutes": 0.0,</a:t>
            </a:r>
          </a:p>
          <a:p>
            <a:r>
              <a:t>        "lodging_nights": 1.77,</a:t>
            </a:r>
          </a:p>
          <a:p>
            <a:r>
              <a:t>        "lodging_rate_pct": 0.0,</a:t>
            </a:r>
          </a:p>
          <a:p>
            <a:r>
              <a:t>        "lodging_searches": -21.42,</a:t>
            </a:r>
          </a:p>
          <a:p>
            <a:r>
              <a:t>        "navigation_searches": 0.0</a:t>
            </a:r>
          </a:p>
          <a:p>
            <a:r>
              <a:t>      },</a:t>
            </a:r>
          </a:p>
          <a:p>
            <a:r>
              <a:t>      "previous_year_visitors": 2799509,</a:t>
            </a:r>
          </a:p>
          <a:p>
            <a:r>
              <a:t>      "previous_year_spending_krw": 69118387000,</a:t>
            </a:r>
          </a:p>
          <a:p>
            <a:r>
              <a:t>      "previous_year_stay_minutes": 1683.0,</a:t>
            </a:r>
          </a:p>
          <a:p>
            <a:r>
              <a:t>      "previous_year_lodging_nights": 2.82,</a:t>
            </a:r>
          </a:p>
          <a:p>
            <a:r>
              <a:t>      "previous_year_lodging_rate_pct": 15.5,</a:t>
            </a:r>
          </a:p>
          <a:p>
            <a:r>
              <a:t>      "previous_year_lodging_searches": 63645,</a:t>
            </a:r>
          </a:p>
          <a:p>
            <a:r>
              <a:t>      "previous_year_navigation_searches": 519488</a:t>
            </a:r>
          </a:p>
          <a:p>
            <a:r>
              <a:t>    },</a:t>
            </a:r>
          </a:p>
          <a:p>
            <a:r>
              <a:t>    {</a:t>
            </a:r>
          </a:p>
          <a:p>
            <a:r>
              <a:t>      "month": "202611",</a:t>
            </a:r>
          </a:p>
          <a:p>
            <a:r>
              <a:t>      "visitors": 2632315,</a:t>
            </a:r>
          </a:p>
          <a:p>
            <a:r>
              <a:t>      "is_forecast": true,</a:t>
            </a:r>
          </a:p>
          <a:p>
            <a:r>
              <a:t>      "spending_krw": 89947681558,</a:t>
            </a:r>
          </a:p>
          <a:p>
            <a:r>
              <a:t>      "stay_minutes": 1488.0,</a:t>
            </a:r>
          </a:p>
          <a:p>
            <a:r>
              <a:t>      "lodging_nights": 2.76,</a:t>
            </a:r>
          </a:p>
          <a:p>
            <a:r>
              <a:t>      "lodging_rate_pct": 12.4,</a:t>
            </a:r>
          </a:p>
          <a:p>
            <a:r>
              <a:t>      "lodging_searches": 48286,</a:t>
            </a:r>
          </a:p>
          <a:p>
            <a:r>
              <a:t>      "navigation_searches": 352852,</a:t>
            </a:r>
          </a:p>
          <a:p>
            <a:r>
              <a:t>      "visitor_yoy_percent": 4.18,</a:t>
            </a:r>
          </a:p>
          <a:p>
            <a:r>
              <a:t>      "spending_yoy_percent": 41.26,</a:t>
            </a:r>
          </a:p>
          <a:p>
            <a:r>
              <a:t>      "metric_changes_percent": {</a:t>
            </a:r>
          </a:p>
          <a:p>
            <a:r>
              <a:t>        "stay_minutes": 0.0,</a:t>
            </a:r>
          </a:p>
          <a:p>
            <a:r>
              <a:t>        "lodging_nights": 2.22,</a:t>
            </a:r>
          </a:p>
          <a:p>
            <a:r>
              <a:t>        "lodging_rate_pct": 0.0,</a:t>
            </a:r>
          </a:p>
          <a:p>
            <a:r>
              <a:t>        "lodging_searches": 21.22,</a:t>
            </a:r>
          </a:p>
          <a:p>
            <a:r>
              <a:t>        "navigation_searches": 0.0</a:t>
            </a:r>
          </a:p>
          <a:p>
            <a:r>
              <a:t>      },</a:t>
            </a:r>
          </a:p>
          <a:p>
            <a:r>
              <a:t>      "previous_year_visitors": 2526699,</a:t>
            </a:r>
          </a:p>
          <a:p>
            <a:r>
              <a:t>      "previous_year_spending_krw": 63675989000,</a:t>
            </a:r>
          </a:p>
          <a:p>
            <a:r>
              <a:t>      "previous_year_stay_minutes": 1488.0,</a:t>
            </a:r>
          </a:p>
          <a:p>
            <a:r>
              <a:t>      "previous_year_lodging_nights": 2.7,</a:t>
            </a:r>
          </a:p>
          <a:p>
            <a:r>
              <a:t>      "previous_year_lodging_rate_pct": 12.4,</a:t>
            </a:r>
          </a:p>
          <a:p>
            <a:r>
              <a:t>      "previous_year_lodging_searches": 39833,</a:t>
            </a:r>
          </a:p>
          <a:p>
            <a:r>
              <a:t>      "previous_year_navigation_searches": 352852</a:t>
            </a:r>
          </a:p>
          <a:p>
            <a:r>
              <a:t>    },</a:t>
            </a:r>
          </a:p>
          <a:p>
            <a:r>
              <a:t>    {</a:t>
            </a:r>
          </a:p>
          <a:p>
            <a:r>
              <a:t>      "month": "202612",</a:t>
            </a:r>
          </a:p>
          <a:p>
            <a:r>
              <a:t>      "visitors": 2098615,</a:t>
            </a:r>
          </a:p>
          <a:p>
            <a:r>
              <a:t>      "is_forecast": true,</a:t>
            </a:r>
          </a:p>
          <a:p>
            <a:r>
              <a:t>      "spending_krw": 82896802464,</a:t>
            </a:r>
          </a:p>
          <a:p>
            <a:r>
              <a:t>      "stay_minutes": 1866.0,</a:t>
            </a:r>
          </a:p>
          <a:p>
            <a:r>
              <a:t>      "lodging_nights": 2.85,</a:t>
            </a:r>
          </a:p>
          <a:p>
            <a:r>
              <a:t>      "lodging_rate_pct": 14.1,</a:t>
            </a:r>
          </a:p>
          <a:p>
            <a:r>
              <a:t>      "lodging_searches": 28484,</a:t>
            </a:r>
          </a:p>
          <a:p>
            <a:r>
              <a:t>      "navigation_searches": 221560,</a:t>
            </a:r>
          </a:p>
          <a:p>
            <a:r>
              <a:t>      "visitor_yoy_percent": -0.06,</a:t>
            </a:r>
          </a:p>
          <a:p>
            <a:r>
              <a:t>      "spending_yoy_percent": 54.2,</a:t>
            </a:r>
          </a:p>
          <a:p>
            <a:r>
              <a:t>      "metric_changes_percent": {</a:t>
            </a:r>
          </a:p>
          <a:p>
            <a:r>
              <a:t>        "stay_minutes": 0.0,</a:t>
            </a:r>
          </a:p>
          <a:p>
            <a:r>
              <a:t>        "lodging_nights": 2.15,</a:t>
            </a:r>
          </a:p>
          <a:p>
            <a:r>
              <a:t>        "lodging_rate_pct": 0.0,</a:t>
            </a:r>
          </a:p>
          <a:p>
            <a:r>
              <a:t>        "lodging_searches": -1.09,</a:t>
            </a:r>
          </a:p>
          <a:p>
            <a:r>
              <a:t>        "navigation_searches": 0.0</a:t>
            </a:r>
          </a:p>
          <a:p>
            <a:r>
              <a:t>      },</a:t>
            </a:r>
          </a:p>
          <a:p>
            <a:r>
              <a:t>      "previous_year_visitors": 2099852,</a:t>
            </a:r>
          </a:p>
          <a:p>
            <a:r>
              <a:t>      "previous_year_spending_krw": 53760591000,</a:t>
            </a:r>
          </a:p>
          <a:p>
            <a:r>
              <a:t>      "previous_year_stay_minutes": 1866.0,</a:t>
            </a:r>
          </a:p>
          <a:p>
            <a:r>
              <a:t>      "previous_year_lodging_nights": 2.79,</a:t>
            </a:r>
          </a:p>
          <a:p>
            <a:r>
              <a:t>      "previous_year_lodging_rate_pct": 14.1,</a:t>
            </a:r>
          </a:p>
          <a:p>
            <a:r>
              <a:t>      "previous_year_lodging_searches": 28798,</a:t>
            </a:r>
          </a:p>
          <a:p>
            <a:r>
              <a:t>      "previous_year_navigation_searches": 221560</a:t>
            </a:r>
          </a:p>
          <a:p>
            <a:r>
              <a:t>    },</a:t>
            </a:r>
          </a:p>
          <a:p>
            <a:r>
              <a:t>    {</a:t>
            </a:r>
          </a:p>
          <a:p>
            <a:r>
              <a:t>      "month": "202701",</a:t>
            </a:r>
          </a:p>
          <a:p>
            <a:r>
              <a:t>      "visitors": 2042060,</a:t>
            </a:r>
          </a:p>
          <a:p>
            <a:r>
              <a:t>      "is_forecast": true,</a:t>
            </a:r>
          </a:p>
          <a:p>
            <a:r>
              <a:t>      "spending_krw": 92579612143,</a:t>
            </a:r>
          </a:p>
          <a:p>
            <a:r>
              <a:t>      "stay_minutes": 1936.0,</a:t>
            </a:r>
          </a:p>
          <a:p>
            <a:r>
              <a:t>      "lodging_nights": 2.87,</a:t>
            </a:r>
          </a:p>
          <a:p>
            <a:r>
              <a:t>      "lodging_rate_pct": 13.7,</a:t>
            </a:r>
          </a:p>
          <a:p>
            <a:r>
              <a:t>      "lodging_searches": 26563,</a:t>
            </a:r>
          </a:p>
          <a:p>
            <a:r>
              <a:t>      "navigation_searches": 205632,</a:t>
            </a:r>
          </a:p>
          <a:p>
            <a:r>
              <a:t>      "visitor_yoy_percent": -2.23,</a:t>
            </a:r>
          </a:p>
          <a:p>
            <a:r>
              <a:t>      "spending_yoy_percent": 80.91,</a:t>
            </a:r>
          </a:p>
          <a:p>
            <a:r>
              <a:t>      "metric_changes_percent": {</a:t>
            </a:r>
          </a:p>
          <a:p>
            <a:r>
              <a:t>        "stay_minutes": 0.0,</a:t>
            </a:r>
          </a:p>
          <a:p>
            <a:r>
              <a:t>        "lodging_nights": 1.06,</a:t>
            </a:r>
          </a:p>
          <a:p>
            <a:r>
              <a:t>        "lodging_rate_pct": 0.0,</a:t>
            </a:r>
          </a:p>
          <a:p>
            <a:r>
              <a:t>        "lodging_searches": -0.09,</a:t>
            </a:r>
          </a:p>
          <a:p>
            <a:r>
              <a:t>        "navigation_searches": 0.0</a:t>
            </a:r>
          </a:p>
          <a:p>
            <a:r>
              <a:t>      },</a:t>
            </a:r>
          </a:p>
          <a:p>
            <a:r>
              <a:t>      "previous_year_visitors": 2088569,</a:t>
            </a:r>
          </a:p>
          <a:p>
            <a:r>
              <a:t>      "previous_year_spending_krw": 51173582000,</a:t>
            </a:r>
          </a:p>
          <a:p>
            <a:r>
              <a:t>      "previous_year_stay_minutes": 1936.0,</a:t>
            </a:r>
          </a:p>
          <a:p>
            <a:r>
              <a:t>      "previous_year_lodging_nights": 2.84,</a:t>
            </a:r>
          </a:p>
          <a:p>
            <a:r>
              <a:t>      "previous_year_lodging_rate_pct": 13.7,</a:t>
            </a:r>
          </a:p>
          <a:p>
            <a:r>
              <a:t>      "previous_year_lodging_searches": 26588,</a:t>
            </a:r>
          </a:p>
          <a:p>
            <a:r>
              <a:t>      "previous_year_navigation_searches": 205632</a:t>
            </a:r>
          </a:p>
          <a:p>
            <a:r>
              <a:t>    },</a:t>
            </a:r>
          </a:p>
          <a:p>
            <a:r>
              <a:t>    {</a:t>
            </a:r>
          </a:p>
          <a:p>
            <a:r>
              <a:t>      "month": "202702",</a:t>
            </a:r>
          </a:p>
          <a:p>
            <a:r>
              <a:t>      "visitors": 2227050,</a:t>
            </a:r>
          </a:p>
          <a:p>
            <a:r>
              <a:t>      "is_forecast": true,</a:t>
            </a:r>
          </a:p>
          <a:p>
            <a:r>
              <a:t>      "spending_krw": 103534829257,</a:t>
            </a:r>
          </a:p>
          <a:p>
            <a:r>
              <a:t>      "stay_minutes": 1714.0,</a:t>
            </a:r>
          </a:p>
          <a:p>
            <a:r>
              <a:t>      "lodging_nights": 2.82,</a:t>
            </a:r>
          </a:p>
          <a:p>
            <a:r>
              <a:t>      "lodging_rate_pct": 15.7,</a:t>
            </a:r>
          </a:p>
          <a:p>
            <a:r>
              <a:t>      "lodging_searches": 25082,</a:t>
            </a:r>
          </a:p>
          <a:p>
            <a:r>
              <a:t>      "navigation_searches": 210385,</a:t>
            </a:r>
          </a:p>
          <a:p>
            <a:r>
              <a:t>      "visitor_yoy_percent": 3.2,</a:t>
            </a:r>
          </a:p>
          <a:p>
            <a:r>
              <a:t>      "spending_yoy_percent": 104.79,</a:t>
            </a:r>
          </a:p>
          <a:p>
            <a:r>
              <a:t>      "metric_changes_percent": {</a:t>
            </a:r>
          </a:p>
          <a:p>
            <a:r>
              <a:t>        "stay_minutes": 0.0,</a:t>
            </a:r>
          </a:p>
          <a:p>
            <a:r>
              <a:t>        "lodging_nights": 0.36,</a:t>
            </a:r>
          </a:p>
          <a:p>
            <a:r>
              <a:t>        "lodging_rate_pct": 0.0,</a:t>
            </a:r>
          </a:p>
          <a:p>
            <a:r>
              <a:t>        "lodging_searches": 2.79,</a:t>
            </a:r>
          </a:p>
          <a:p>
            <a:r>
              <a:t>        "navigation_searches": 0.0</a:t>
            </a:r>
          </a:p>
          <a:p>
            <a:r>
              <a:t>      },</a:t>
            </a:r>
          </a:p>
          <a:p>
            <a:r>
              <a:t>      "previous_year_visitors": 2157943,</a:t>
            </a:r>
          </a:p>
          <a:p>
            <a:r>
              <a:t>      "previous_year_spending_krw": 50557418000,</a:t>
            </a:r>
          </a:p>
          <a:p>
            <a:r>
              <a:t>      "previous_year_stay_minutes": 1714.0,</a:t>
            </a:r>
          </a:p>
          <a:p>
            <a:r>
              <a:t>      "previous_year_lodging_nights": 2.81,</a:t>
            </a:r>
          </a:p>
          <a:p>
            <a:r>
              <a:t>      "previous_year_lodging_rate_pct": 15.7,</a:t>
            </a:r>
          </a:p>
          <a:p>
            <a:r>
              <a:t>      "previous_year_lodging_searches": 24402,</a:t>
            </a:r>
          </a:p>
          <a:p>
            <a:r>
              <a:t>      "previous_year_navigation_searches": 210385</a:t>
            </a:r>
          </a:p>
          <a:p>
            <a:r>
              <a:t>    }</a:t>
            </a:r>
          </a:p>
          <a:p>
            <a:r>
              <a:t>  ],</a:t>
            </a:r>
          </a:p>
          <a:p>
            <a:r>
              <a:t>  "evaluation": {</a:t>
            </a:r>
          </a:p>
          <a:p>
            <a:r>
              <a:t>    "metrics": {</a:t>
            </a:r>
          </a:p>
          <a:p>
            <a:r>
              <a:t>      "visitors": {</a:t>
            </a:r>
          </a:p>
          <a:p>
            <a:r>
              <a:t>        "test_mae": 103646.64,</a:t>
            </a:r>
          </a:p>
          <a:p>
            <a:r>
              <a:t>        "recursive_mae": {</a:t>
            </a:r>
          </a:p>
          <a:p>
            <a:r>
              <a:t>          "1": {</a:t>
            </a:r>
          </a:p>
          <a:p>
            <a:r>
              <a:t>            "baseline": 123311.5,</a:t>
            </a:r>
          </a:p>
          <a:p>
            <a:r>
              <a:t>            "selected": 95222.0,</a:t>
            </a:r>
          </a:p>
          <a:p>
            <a:r>
              <a:t>            "sample_count": 2</a:t>
            </a:r>
          </a:p>
          <a:p>
            <a:r>
              <a:t>          },</a:t>
            </a:r>
          </a:p>
          <a:p>
            <a:r>
              <a:t>          "2": {</a:t>
            </a:r>
          </a:p>
          <a:p>
            <a:r>
              <a:t>            "baseline": 90511.0,</a:t>
            </a:r>
          </a:p>
          <a:p>
            <a:r>
              <a:t>            "selected": 105947.5,</a:t>
            </a:r>
          </a:p>
          <a:p>
            <a:r>
              <a:t>            "sample_count": 2</a:t>
            </a:r>
          </a:p>
          <a:p>
            <a:r>
              <a:t>          },</a:t>
            </a:r>
          </a:p>
          <a:p>
            <a:r>
              <a:t>          "3": {</a:t>
            </a:r>
          </a:p>
          <a:p>
            <a:r>
              <a:t>            "baseline": 61165.0,</a:t>
            </a:r>
          </a:p>
          <a:p>
            <a:r>
              <a:t>            "selected": 93227.0,</a:t>
            </a:r>
          </a:p>
          <a:p>
            <a:r>
              <a:t>            "sample_count": 2</a:t>
            </a:r>
          </a:p>
          <a:p>
            <a:r>
              <a:t>          }</a:t>
            </a:r>
          </a:p>
          <a:p>
            <a:r>
              <a:t>        },</a:t>
            </a:r>
          </a:p>
          <a:p>
            <a:r>
              <a:t>        "selected_model": "RandomForestRegressor",</a:t>
            </a:r>
          </a:p>
          <a:p>
            <a:r>
              <a:t>        "baseline_test_mae": 92238.25,</a:t>
            </a:r>
          </a:p>
          <a:p>
            <a:r>
              <a:t>        "model_reliability": "below_baseline_on_test",</a:t>
            </a:r>
          </a:p>
          <a:p>
            <a:r>
              <a:t>        "beats_baseline_on_test": false,</a:t>
            </a:r>
          </a:p>
          <a:p>
            <a:r>
              <a:t>        "recursive_horizons_worse_than_baseline": [</a:t>
            </a:r>
          </a:p>
          <a:p>
            <a:r>
              <a:t>          "2",</a:t>
            </a:r>
          </a:p>
          <a:p>
            <a:r>
              <a:t>          "3"</a:t>
            </a:r>
          </a:p>
          <a:p>
            <a:r>
              <a:t>        ]</a:t>
            </a:r>
          </a:p>
          <a:p>
            <a:r>
              <a:t>      },</a:t>
            </a:r>
          </a:p>
          <a:p>
            <a:r>
              <a:t>      "spending_krw": {</a:t>
            </a:r>
          </a:p>
          <a:p>
            <a:r>
              <a:t>        "test_mae": 8003403761.33,</a:t>
            </a:r>
          </a:p>
          <a:p>
            <a:r>
              <a:t>        "recursive_mae": {</a:t>
            </a:r>
          </a:p>
          <a:p>
            <a:r>
              <a:t>          "1": {</a:t>
            </a:r>
          </a:p>
          <a:p>
            <a:r>
              <a:t>            "baseline": 5076101500.0,</a:t>
            </a:r>
          </a:p>
          <a:p>
            <a:r>
              <a:t>            "selected": 7122970056.0,</a:t>
            </a:r>
          </a:p>
          <a:p>
            <a:r>
              <a:t>            "sample_count": 2</a:t>
            </a:r>
          </a:p>
          <a:p>
            <a:r>
              <a:t>          },</a:t>
            </a:r>
          </a:p>
          <a:p>
            <a:r>
              <a:t>          "2": {</a:t>
            </a:r>
          </a:p>
          <a:p>
            <a:r>
              <a:t>            "baseline": 6206652500.0,</a:t>
            </a:r>
          </a:p>
          <a:p>
            <a:r>
              <a:t>            "selected": 11322988654.0,</a:t>
            </a:r>
          </a:p>
          <a:p>
            <a:r>
              <a:t>            "sample_count": 2</a:t>
            </a:r>
          </a:p>
          <a:p>
            <a:r>
              <a:t>          },</a:t>
            </a:r>
          </a:p>
          <a:p>
            <a:r>
              <a:t>          "3": {</a:t>
            </a:r>
          </a:p>
          <a:p>
            <a:r>
              <a:t>            "baseline": 4379312000.0,</a:t>
            </a:r>
          </a:p>
          <a:p>
            <a:r>
              <a:t>            "selected": 12415950624.0,</a:t>
            </a:r>
          </a:p>
          <a:p>
            <a:r>
              <a:t>            "sample_count": 2</a:t>
            </a:r>
          </a:p>
          <a:p>
            <a:r>
              <a:t>          }</a:t>
            </a:r>
          </a:p>
          <a:p>
            <a:r>
              <a:t>        },</a:t>
            </a:r>
          </a:p>
          <a:p>
            <a:r>
              <a:t>        "selected_model": "LinearRegression",</a:t>
            </a:r>
          </a:p>
          <a:p>
            <a:r>
              <a:t>        "baseline_test_mae": 4727706750.0,</a:t>
            </a:r>
          </a:p>
          <a:p>
            <a:r>
              <a:t>        "model_reliability": "below_baseline_on_test",</a:t>
            </a:r>
          </a:p>
          <a:p>
            <a:r>
              <a:t>        "beats_baseline_on_test": false,</a:t>
            </a:r>
          </a:p>
          <a:p>
            <a:r>
              <a:t>        "recursive_horizons_worse_than_baseline": [</a:t>
            </a:r>
          </a:p>
          <a:p>
            <a:r>
              <a:t>          "1",</a:t>
            </a:r>
          </a:p>
          <a:p>
            <a:r>
              <a:t>          "2",</a:t>
            </a:r>
          </a:p>
          <a:p>
            <a:r>
              <a:t>          "3"</a:t>
            </a:r>
          </a:p>
          <a:p>
            <a:r>
              <a:t>        ]</a:t>
            </a:r>
          </a:p>
          <a:p>
            <a:r>
              <a:t>      },</a:t>
            </a:r>
          </a:p>
          <a:p>
            <a:r>
              <a:t>      "stay_minutes": {</a:t>
            </a:r>
          </a:p>
          <a:p>
            <a:r>
              <a:t>        "test_mae": 208.5,</a:t>
            </a:r>
          </a:p>
          <a:p>
            <a:r>
              <a:t>        "recursive_mae": {</a:t>
            </a:r>
          </a:p>
          <a:p>
            <a:r>
              <a:t>          "1": {</a:t>
            </a:r>
          </a:p>
          <a:p>
            <a:r>
              <a:t>            "baseline": 107.5,</a:t>
            </a:r>
          </a:p>
          <a:p>
            <a:r>
              <a:t>            "selected": 107.5,</a:t>
            </a:r>
          </a:p>
          <a:p>
            <a:r>
              <a:t>            "sample_count": 2</a:t>
            </a:r>
          </a:p>
          <a:p>
            <a:r>
              <a:t>          },</a:t>
            </a:r>
          </a:p>
          <a:p>
            <a:r>
              <a:t>          "2": {</a:t>
            </a:r>
          </a:p>
          <a:p>
            <a:r>
              <a:t>            "baseline": 360.0,</a:t>
            </a:r>
          </a:p>
          <a:p>
            <a:r>
              <a:t>            "selected": 360.0,</a:t>
            </a:r>
          </a:p>
          <a:p>
            <a:r>
              <a:t>            "sample_count": 2</a:t>
            </a:r>
          </a:p>
          <a:p>
            <a:r>
              <a:t>          },</a:t>
            </a:r>
          </a:p>
          <a:p>
            <a:r>
              <a:t>          "3": {</a:t>
            </a:r>
          </a:p>
          <a:p>
            <a:r>
              <a:t>            "baseline": 309.5,</a:t>
            </a:r>
          </a:p>
          <a:p>
            <a:r>
              <a:t>            "selected": 309.5,</a:t>
            </a:r>
          </a:p>
          <a:p>
            <a:r>
              <a:t>            "sample_count": 2</a:t>
            </a:r>
          </a:p>
          <a:p>
            <a:r>
              <a:t>          }</a:t>
            </a:r>
          </a:p>
          <a:p>
            <a:r>
              <a:t>        },</a:t>
            </a:r>
          </a:p>
          <a:p>
            <a:r>
              <a:t>        "selected_model": "seasonal_naive_previous_year_same_month",</a:t>
            </a:r>
          </a:p>
          <a:p>
            <a:r>
              <a:t>        "baseline_test_mae": 208.5,</a:t>
            </a:r>
          </a:p>
          <a:p>
            <a:r>
              <a:t>        "model_reliability": "seasonal_baseline",</a:t>
            </a:r>
          </a:p>
          <a:p>
            <a:r>
              <a:t>        "beats_baseline_on_test": false,</a:t>
            </a:r>
          </a:p>
          <a:p>
            <a:r>
              <a:t>        "recursive_horizons_worse_than_baseline": []</a:t>
            </a:r>
          </a:p>
          <a:p>
            <a:r>
              <a:t>      },</a:t>
            </a:r>
          </a:p>
          <a:p>
            <a:r>
              <a:t>      "lodging_nights": {</a:t>
            </a:r>
          </a:p>
          <a:p>
            <a:r>
              <a:t>        "test_mae": 0.1,</a:t>
            </a:r>
          </a:p>
          <a:p>
            <a:r>
              <a:t>        "recursive_mae": {</a:t>
            </a:r>
          </a:p>
          <a:p>
            <a:r>
              <a:t>          "1": {</a:t>
            </a:r>
          </a:p>
          <a:p>
            <a:r>
              <a:t>            "baseline": 0.06,</a:t>
            </a:r>
          </a:p>
          <a:p>
            <a:r>
              <a:t>            "selected": 0.09,</a:t>
            </a:r>
          </a:p>
          <a:p>
            <a:r>
              <a:t>            "sample_count": 2</a:t>
            </a:r>
          </a:p>
          <a:p>
            <a:r>
              <a:t>          },</a:t>
            </a:r>
          </a:p>
          <a:p>
            <a:r>
              <a:t>          "2": {</a:t>
            </a:r>
          </a:p>
          <a:p>
            <a:r>
              <a:t>            "baseline": 0.08,</a:t>
            </a:r>
          </a:p>
          <a:p>
            <a:r>
              <a:t>            "selected": 0.11,</a:t>
            </a:r>
          </a:p>
          <a:p>
            <a:r>
              <a:t>            "sample_count": 2</a:t>
            </a:r>
          </a:p>
          <a:p>
            <a:r>
              <a:t>          },</a:t>
            </a:r>
          </a:p>
          <a:p>
            <a:r>
              <a:t>          "3": {</a:t>
            </a:r>
          </a:p>
          <a:p>
            <a:r>
              <a:t>            "baseline": 0.07,</a:t>
            </a:r>
          </a:p>
          <a:p>
            <a:r>
              <a:t>            "selected": 0.11,</a:t>
            </a:r>
          </a:p>
          <a:p>
            <a:r>
              <a:t>            "sample_count": 2</a:t>
            </a:r>
          </a:p>
          <a:p>
            <a:r>
              <a:t>          }</a:t>
            </a:r>
          </a:p>
          <a:p>
            <a:r>
              <a:t>        },</a:t>
            </a:r>
          </a:p>
          <a:p>
            <a:r>
              <a:t>        "selected_model": "LinearRegression",</a:t>
            </a:r>
          </a:p>
          <a:p>
            <a:r>
              <a:t>        "baseline_test_mae": 0.07,</a:t>
            </a:r>
          </a:p>
          <a:p>
            <a:r>
              <a:t>        "model_reliability": "below_baseline_on_test",</a:t>
            </a:r>
          </a:p>
          <a:p>
            <a:r>
              <a:t>        "beats_baseline_on_test": false,</a:t>
            </a:r>
          </a:p>
          <a:p>
            <a:r>
              <a:t>        "recursive_horizons_worse_than_baseline": [</a:t>
            </a:r>
          </a:p>
          <a:p>
            <a:r>
              <a:t>          "1",</a:t>
            </a:r>
          </a:p>
          <a:p>
            <a:r>
              <a:t>          "2",</a:t>
            </a:r>
          </a:p>
          <a:p>
            <a:r>
              <a:t>          "3"</a:t>
            </a:r>
          </a:p>
          <a:p>
            <a:r>
              <a:t>        ]</a:t>
            </a:r>
          </a:p>
          <a:p>
            <a:r>
              <a:t>      },</a:t>
            </a:r>
          </a:p>
          <a:p>
            <a:r>
              <a:t>      "lodging_rate_pct": {</a:t>
            </a:r>
          </a:p>
          <a:p>
            <a:r>
              <a:t>        "test_mae": 0.57,</a:t>
            </a:r>
          </a:p>
          <a:p>
            <a:r>
              <a:t>        "recursive_mae": {</a:t>
            </a:r>
          </a:p>
          <a:p>
            <a:r>
              <a:t>          "1": {</a:t>
            </a:r>
          </a:p>
          <a:p>
            <a:r>
              <a:t>            "baseline": 0.8,</a:t>
            </a:r>
          </a:p>
          <a:p>
            <a:r>
              <a:t>            "selected": 0.8,</a:t>
            </a:r>
          </a:p>
          <a:p>
            <a:r>
              <a:t>            "sample_count": 2</a:t>
            </a:r>
          </a:p>
          <a:p>
            <a:r>
              <a:t>          },</a:t>
            </a:r>
          </a:p>
          <a:p>
            <a:r>
              <a:t>          "2": {</a:t>
            </a:r>
          </a:p>
          <a:p>
            <a:r>
              <a:t>            "baseline": 0.3,</a:t>
            </a:r>
          </a:p>
          <a:p>
            <a:r>
              <a:t>            "selected": 0.3,</a:t>
            </a:r>
          </a:p>
          <a:p>
            <a:r>
              <a:t>            "sample_count": 2</a:t>
            </a:r>
          </a:p>
          <a:p>
            <a:r>
              <a:t>          },</a:t>
            </a:r>
          </a:p>
          <a:p>
            <a:r>
              <a:t>          "3": {</a:t>
            </a:r>
          </a:p>
          <a:p>
            <a:r>
              <a:t>            "baseline": 0.35,</a:t>
            </a:r>
          </a:p>
          <a:p>
            <a:r>
              <a:t>            "selected": 0.35,</a:t>
            </a:r>
          </a:p>
          <a:p>
            <a:r>
              <a:t>            "sample_count": 2</a:t>
            </a:r>
          </a:p>
          <a:p>
            <a:r>
              <a:t>          }</a:t>
            </a:r>
          </a:p>
          <a:p>
            <a:r>
              <a:t>        },</a:t>
            </a:r>
          </a:p>
          <a:p>
            <a:r>
              <a:t>        "selected_model": "seasonal_naive_previous_year_same_month",</a:t>
            </a:r>
          </a:p>
          <a:p>
            <a:r>
              <a:t>        "baseline_test_mae": 0.57,</a:t>
            </a:r>
          </a:p>
          <a:p>
            <a:r>
              <a:t>        "model_reliability": "seasonal_baseline",</a:t>
            </a:r>
          </a:p>
          <a:p>
            <a:r>
              <a:t>        "beats_baseline_on_test": false,</a:t>
            </a:r>
          </a:p>
          <a:p>
            <a:r>
              <a:t>        "recursive_horizons_worse_than_baseline": []</a:t>
            </a:r>
          </a:p>
          <a:p>
            <a:r>
              <a:t>      },</a:t>
            </a:r>
          </a:p>
          <a:p>
            <a:r>
              <a:t>      "lodging_searches": {</a:t>
            </a:r>
          </a:p>
          <a:p>
            <a:r>
              <a:t>        "test_mae": 3695.69,</a:t>
            </a:r>
          </a:p>
          <a:p>
            <a:r>
              <a:t>        "recursive_mae": {</a:t>
            </a:r>
          </a:p>
          <a:p>
            <a:r>
              <a:t>          "1": {</a:t>
            </a:r>
          </a:p>
          <a:p>
            <a:r>
              <a:t>            "baseline": 2404.0,</a:t>
            </a:r>
          </a:p>
          <a:p>
            <a:r>
              <a:t>            "selected": 3550.0,</a:t>
            </a:r>
          </a:p>
          <a:p>
            <a:r>
              <a:t>            "sample_count": 2</a:t>
            </a:r>
          </a:p>
          <a:p>
            <a:r>
              <a:t>          },</a:t>
            </a:r>
          </a:p>
          <a:p>
            <a:r>
              <a:t>          "2": {</a:t>
            </a:r>
          </a:p>
          <a:p>
            <a:r>
              <a:t>            "baseline": 2584.5,</a:t>
            </a:r>
          </a:p>
          <a:p>
            <a:r>
              <a:t>            "selected": 3318.0,</a:t>
            </a:r>
          </a:p>
          <a:p>
            <a:r>
              <a:t>            "sample_count": 2</a:t>
            </a:r>
          </a:p>
          <a:p>
            <a:r>
              <a:t>          },</a:t>
            </a:r>
          </a:p>
          <a:p>
            <a:r>
              <a:t>          "3": {</a:t>
            </a:r>
          </a:p>
          <a:p>
            <a:r>
              <a:t>            "baseline": 2765.5,</a:t>
            </a:r>
          </a:p>
          <a:p>
            <a:r>
              <a:t>            "selected": 3897.5,</a:t>
            </a:r>
          </a:p>
          <a:p>
            <a:r>
              <a:t>            "sample_count": 2</a:t>
            </a:r>
          </a:p>
          <a:p>
            <a:r>
              <a:t>          }</a:t>
            </a:r>
          </a:p>
          <a:p>
            <a:r>
              <a:t>        },</a:t>
            </a:r>
          </a:p>
          <a:p>
            <a:r>
              <a:t>        "selected_model": "RandomForestRegressor",</a:t>
            </a:r>
          </a:p>
          <a:p>
            <a:r>
              <a:t>        "baseline_test_mae": 2584.75,</a:t>
            </a:r>
          </a:p>
          <a:p>
            <a:r>
              <a:t>        "model_reliability": "below_baseline_on_test",</a:t>
            </a:r>
          </a:p>
          <a:p>
            <a:r>
              <a:t>        "beats_baseline_on_test": false,</a:t>
            </a:r>
          </a:p>
          <a:p>
            <a:r>
              <a:t>        "recursive_horizons_worse_than_baseline": [</a:t>
            </a:r>
          </a:p>
          <a:p>
            <a:r>
              <a:t>          "1",</a:t>
            </a:r>
          </a:p>
          <a:p>
            <a:r>
              <a:t>          "2",</a:t>
            </a:r>
          </a:p>
          <a:p>
            <a:r>
              <a:t>          "3"</a:t>
            </a:r>
          </a:p>
          <a:p>
            <a:r>
              <a:t>        ]</a:t>
            </a:r>
          </a:p>
          <a:p>
            <a:r>
              <a:t>      },</a:t>
            </a:r>
          </a:p>
          <a:p>
            <a:r>
              <a:t>      "navigation_searches": {</a:t>
            </a:r>
          </a:p>
          <a:p>
            <a:r>
              <a:t>        "test_mae": 26562.0,</a:t>
            </a:r>
          </a:p>
          <a:p>
            <a:r>
              <a:t>        "recursive_mae": {</a:t>
            </a:r>
          </a:p>
          <a:p>
            <a:r>
              <a:t>          "1": {</a:t>
            </a:r>
          </a:p>
          <a:p>
            <a:r>
              <a:t>            "baseline": 30053.5,</a:t>
            </a:r>
          </a:p>
          <a:p>
            <a:r>
              <a:t>            "selected": 30053.5,</a:t>
            </a:r>
          </a:p>
          <a:p>
            <a:r>
              <a:t>            "sample_count": 2</a:t>
            </a:r>
          </a:p>
          <a:p>
            <a:r>
              <a:t>          },</a:t>
            </a:r>
          </a:p>
          <a:p>
            <a:r>
              <a:t>          "2": {</a:t>
            </a:r>
          </a:p>
          <a:p>
            <a:r>
              <a:t>            "baseline": 40942.5,</a:t>
            </a:r>
          </a:p>
          <a:p>
            <a:r>
              <a:t>            "selected": 40942.5,</a:t>
            </a:r>
          </a:p>
          <a:p>
            <a:r>
              <a:t>            "sample_count": 2</a:t>
            </a:r>
          </a:p>
          <a:p>
            <a:r>
              <a:t>          },</a:t>
            </a:r>
          </a:p>
          <a:p>
            <a:r>
              <a:t>          "3": {</a:t>
            </a:r>
          </a:p>
          <a:p>
            <a:r>
              <a:t>            "baseline": 23070.5,</a:t>
            </a:r>
          </a:p>
          <a:p>
            <a:r>
              <a:t>            "selected": 23070.5,</a:t>
            </a:r>
          </a:p>
          <a:p>
            <a:r>
              <a:t>            "sample_count": 2</a:t>
            </a:r>
          </a:p>
          <a:p>
            <a:r>
              <a:t>          }</a:t>
            </a:r>
          </a:p>
          <a:p>
            <a:r>
              <a:t>        },</a:t>
            </a:r>
          </a:p>
          <a:p>
            <a:r>
              <a:t>        "selected_model": "seasonal_naive_previous_year_same_month",</a:t>
            </a:r>
          </a:p>
          <a:p>
            <a:r>
              <a:t>        "baseline_test_mae": 26562.0,</a:t>
            </a:r>
          </a:p>
          <a:p>
            <a:r>
              <a:t>        "model_reliability": "seasonal_baseline",</a:t>
            </a:r>
          </a:p>
          <a:p>
            <a:r>
              <a:t>        "beats_baseline_on_test": false,</a:t>
            </a:r>
          </a:p>
          <a:p>
            <a:r>
              <a:t>        "recursive_horizons_worse_than_baseline": []</a:t>
            </a:r>
          </a:p>
          <a:p>
            <a:r>
              <a:t>      }</a:t>
            </a:r>
          </a:p>
          <a:p>
            <a:r>
              <a:t>    },</a:t>
            </a:r>
          </a:p>
          <a:p>
            <a:r>
              <a:t>    "test_period": "202603~202606",</a:t>
            </a:r>
          </a:p>
          <a:p>
            <a:r>
              <a:t>    "selection_basis": "validation_mae_only",</a:t>
            </a:r>
          </a:p>
          <a:p>
            <a:r>
              <a:t>    "validation_period": "202512~202602",</a:t>
            </a:r>
          </a:p>
          <a:p>
            <a:r>
              <a:t>    "longer_horizon_status": "exploratory_not_recursively_backtested",</a:t>
            </a:r>
          </a:p>
          <a:p>
            <a:r>
              <a:t>    "forecast_horizon_months": 8,</a:t>
            </a:r>
          </a:p>
          <a:p>
            <a:r>
              <a:t>    "recursive_backtest_horizon_months": [</a:t>
            </a:r>
          </a:p>
          <a:p>
            <a:r>
              <a:t>      1,</a:t>
            </a:r>
          </a:p>
          <a:p>
            <a:r>
              <a:t>      2,</a:t>
            </a:r>
          </a:p>
          <a:p>
            <a:r>
              <a:t>      3</a:t>
            </a:r>
          </a:p>
          <a:p>
            <a:r>
              <a:t>    ]</a:t>
            </a:r>
          </a:p>
          <a:p>
            <a:r>
              <a:t>  },</a:t>
            </a:r>
          </a:p>
          <a:p>
            <a:r>
              <a:t>  "execution_scenario": {</a:t>
            </a:r>
          </a:p>
          <a:p>
            <a:r>
              <a:t>    "visitor_target_pct": 5.0,</a:t>
            </a:r>
          </a:p>
          <a:p>
            <a:r>
              <a:t>    "spending_target_pct": 5.0</a:t>
            </a:r>
          </a:p>
          <a:p>
            <a:r>
              <a:t>  },</a:t>
            </a:r>
          </a:p>
          <a:p>
            <a:r>
              <a:t>  "reference_estimate": {</a:t>
            </a:r>
          </a:p>
          <a:p>
            <a:r>
              <a:t>    "status": "saved_report_budget",</a:t>
            </a:r>
          </a:p>
          <a:p>
            <a:r>
              <a:t>    "total_label": "총액 미확정",</a:t>
            </a:r>
          </a:p>
          <a:p>
            <a:r>
              <a:t>    "rows": [</a:t>
            </a:r>
          </a:p>
          <a:p>
            <a:r>
              <a:t>      [</a:t>
            </a:r>
          </a:p>
          <a:p>
            <a:r>
              <a:t>        "산정 내역 1",</a:t>
            </a:r>
          </a:p>
          <a:p>
            <a:r>
              <a:t>        "기획 가정/미확정 참고 견적: 운영 콘텐츠 수×콘텐츠별 비교견적 + 운영일수×일일 운영·안전 견적 + 참여업체 수×업체 준비비 견적 + 측정 원장 1식×구축 견적. 사업 담당자가 착수 전 수량을 정하고 회계 담당자가 같은 조건의 비교견적 2건 이상으로 단가·부가세·총액을 확정함.",</a:t>
            </a:r>
          </a:p>
          <a:p>
            <a:r>
              <a:t>        "본문 기준"</a:t>
            </a:r>
          </a:p>
          <a:p>
            <a:r>
              <a:t>      ]</a:t>
            </a:r>
          </a:p>
          <a:p>
            <a:r>
              <a:t>    ],</a:t>
            </a:r>
          </a:p>
          <a:p>
            <a:r>
              <a:t>    "original_text": "기획 가정/미확정 참고 견적: 운영 콘텐츠 수×콘텐츠별 비교견적 + 운영일수×일일 운영·안전 견적 + 참여업체 수×업체 준비비 견적 + 측정 원장 1식×구축 견적. 사업 담당자가 착수 전 수량을 정하고 회계 담당자가 같은 조건의 비교견적 2건 이상으로 단가·부가세·총액을 확정함.",</a:t>
            </a:r>
          </a:p>
          <a:p>
            <a:r>
              <a:t>    "sources": [],</a:t>
            </a:r>
          </a:p>
          <a:p>
            <a:r>
              <a:t>    "note": "저장 기획안의 예산 산정 내용을 그대로 표시합니다. 확정 견적이 아니며 계약 전 수량·단가·세금과 합계를 확인합니다."</a:t>
            </a:r>
          </a:p>
          <a:p>
            <a:r>
              <a:t>  }</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"source": {</a:t>
            </a:r>
          </a:p>
          <a:p>
            <a:r>
              <a:t>    "title": "강진 반값여행 지역경제 효과 소개",</a:t>
            </a:r>
          </a:p>
          <a:p>
            <a:r>
              <a:t>    "summary": "전라남도 강진군 · 반값여행 지역환급 · 상품권 결제 변화에 관한 소개 자료는 있으나, 사업 참여자 범위·정확한 비교 기간·원자료를 확인하지 못해 성과 수치 인용을 보류한다.",</a:t>
            </a:r>
          </a:p>
          <a:p>
            <a:r>
              <a:t>    "source_id": "case:gangjin_half_price_2024",</a:t>
            </a:r>
          </a:p>
          <a:p>
            <a:r>
              <a:t>    "source_url": "https://jnfarm.jeonnam.go.kr/board/FARM_BOARD_008/boardView.do?bdId=BD_00000000000011721&amp;menuCd=farm004002",</a:t>
            </a:r>
          </a:p>
          <a:p>
            <a:r>
              <a:t>    "case_region": "전라남도 강진군",</a:t>
            </a:r>
          </a:p>
          <a:p>
            <a:r>
              <a:t>    "source_type": "benchmark_case",</a:t>
            </a:r>
          </a:p>
          <a:p>
            <a:r>
              <a:t>    "intervention": "반값여행 지역환급",</a:t>
            </a:r>
          </a:p>
          <a:p>
            <a:r>
              <a:t>    "operating_model": "여행자가 지역에서 지출한 비용의 일부를 지역상품권으로 돌려받게 하여 혜택이 다시 지역 상점에서 사용되도록 설계",</a:t>
            </a:r>
          </a:p>
          <a:p>
            <a:r>
              <a:t>    "evidence_strength": "low",</a:t>
            </a:r>
          </a:p>
          <a:p>
            <a:r>
              <a:t>    "published_or_updated_at": "2025-01-02",</a:t>
            </a:r>
          </a:p>
          <a:p>
            <a:r>
              <a:t>    "quantitative_result_approved": false</a:t>
            </a:r>
          </a:p>
          <a:p>
            <a:r>
              <a:t>  },</a:t>
            </a:r>
          </a:p>
          <a:p>
            <a:r>
              <a:t>  "sources": [</a:t>
            </a:r>
          </a:p>
          <a:p>
            <a:r>
              <a:t>    {</a:t>
            </a:r>
          </a:p>
          <a:p>
            <a:r>
              <a:t>      "title": "강진 반값여행 지역경제 효과 소개",</a:t>
            </a:r>
          </a:p>
          <a:p>
            <a:r>
              <a:t>      "summary": "전라남도 강진군 · 반값여행 지역환급 · 상품권 결제 변화에 관한 소개 자료는 있으나, 사업 참여자 범위·정확한 비교 기간·원자료를 확인하지 못해 성과 수치 인용을 보류한다.",</a:t>
            </a:r>
          </a:p>
          <a:p>
            <a:r>
              <a:t>      "source_id": "case:gangjin_half_price_2024",</a:t>
            </a:r>
          </a:p>
          <a:p>
            <a:r>
              <a:t>      "source_url": "https://jnfarm.jeonnam.go.kr/board/FARM_BOARD_008/boardView.do?bdId=BD_00000000000011721&amp;menuCd=farm004002",</a:t>
            </a:r>
          </a:p>
          <a:p>
            <a:r>
              <a:t>      "case_region": "전라남도 강진군",</a:t>
            </a:r>
          </a:p>
          <a:p>
            <a:r>
              <a:t>      "source_type": "benchmark_case",</a:t>
            </a:r>
          </a:p>
          <a:p>
            <a:r>
              <a:t>      "intervention": "반값여행 지역환급",</a:t>
            </a:r>
          </a:p>
          <a:p>
            <a:r>
              <a:t>      "operating_model": "여행자가 지역에서 지출한 비용의 일부를 지역상품권으로 돌려받게 하여 혜택이 다시 지역 상점에서 사용되도록 설계",</a:t>
            </a:r>
          </a:p>
          <a:p>
            <a:r>
              <a:t>      "evidence_strength": "low",</a:t>
            </a:r>
          </a:p>
          <a:p>
            <a:r>
              <a:t>      "published_or_updated_at": "2025-01-02",</a:t>
            </a:r>
          </a:p>
          <a:p>
            <a:r>
              <a:t>      "quantitative_result_approved": false</a:t>
            </a:r>
          </a:p>
          <a:p>
            <a:r>
              <a:t>    }</a:t>
            </a:r>
          </a:p>
          <a:p>
            <a:r>
              <a:t>  ],</a:t>
            </a:r>
          </a:p>
          <a:p>
            <a:r>
              <a:t>  "candidate": {</a:t>
            </a:r>
          </a:p>
          <a:p>
            <a:r>
              <a:t>    "title": "원주시 지역사랑 휴가지원 (반값여행) 프로그램",</a:t>
            </a:r>
          </a:p>
          <a:p>
            <a:r>
              <a:t>    "local_fit": "원주시의 외지인 방문자 수 감소 및 소비 유도가 필요한 상황에서, 지역 내 소비를 유도하는 반값여행 프로그램은 적합한 방안이다. 이는 'case:gangjin_half_price_2024'와 유사한 운영 방식이며, 지역 내 소비를 유도하는 데 효과적일 수 있다. 외지인 숙박 방문 비율이 12.5%로 낮은 상황에서, 지역 내 소비를 유도하는 프로그램은 효과적일 수 있다.",</a:t>
            </a:r>
          </a:p>
          <a:p>
            <a:r>
              <a:t>    "mechanism": "여행자가 원주시 내에서 지출한 비용의 일부를 지역상품권으로 돌려받게 하여, 혜택이 다시 지역 상점에서 사용되도록 설계",</a:t>
            </a:r>
          </a:p>
          <a:p>
            <a:r>
              <a:t>    "candidate_id": "spend_conversion_1",</a:t>
            </a:r>
          </a:p>
          <a:p>
            <a:r>
              <a:t>    "prerequisites": "지역 내 상품권 발행 및 환급 시스템 구축, 참여 업체 확보, 환급 기준 및 절차 마련",</a:t>
            </a:r>
          </a:p>
          <a:p>
            <a:r>
              <a:t>    "budget_formula": "기획 가정/미확정 참고 견적: 운영 콘텐츠 수×콘텐츠별 비교견적 + 운영일수×일일 운영·안전 견적 + 참여업체 수×업체 준비비 견적 + 측정 원장 1식×구축 견적. 사업 담당자가 착수 전 수량을 정하고 회계 담당자가 같은 조건의 비교견적 2건 이상으로 단가·부가세·총액을 확정한다.",</a:t>
            </a:r>
          </a:p>
          <a:p>
            <a:r>
              <a:t>    "candidate_type": "spend_conversion",</a:t>
            </a:r>
          </a:p>
          <a:p>
            <a:r>
              <a:t>    "case_source_ids": [</a:t>
            </a:r>
          </a:p>
          <a:p>
            <a:r>
              <a:t>      "case:gangjin_half_price_2024"</a:t>
            </a:r>
          </a:p>
          <a:p>
            <a:r>
              <a:t>    ],</a:t>
            </a:r>
          </a:p>
          <a:p>
            <a:r>
              <a:t>    "differentiation": "기존의 'case:gangjin_half_price_2024'와 달리, 원주시의 특성에 맞춘 지역상품권 환급 방식을 도입하여, 지역 내 소비를 유도하는 데 초점을 맞춘다.",</a:t>
            </a:r>
          </a:p>
          <a:p>
            <a:r>
              <a:t>    "measurement_plan": "환급 후 재사용률은 분자=환급 뒤 원주 내 적격 재결제액 합계, 분모=지급한 환급액 합계로 계산한다. 운영 전 4주를 기준기간으로 두고 운영 중 매주 원자료=신청·승인·취소·이용·결제 원장을 사업 담당자가 집계한다. 같은 콘텐츠·기간의 순차 도입 미운영 집단과 동일 분모로 비교한다. 발전 가능 범위는 시범 대상 수×관측 완료율×건별 측정값의 가정 시나리오로 제시하고 지역 전체 자연증감과 분리한다. 성공·중단 기준은 기준선·표본수 확인 뒤 착수 전에 확정한다.",</a:t>
            </a:r>
          </a:p>
          <a:p>
            <a:r>
              <a:t>    "stop_or_scale_rule": "기획 가정 목표안: 성공 기준: 지역 내 소비액 증가율 10% 이상, 지역상품권 사용률 30% 이상. 중단 기준: 지역 내 소비액 증가율 5% 미만, 지역상품권 사용률 10% 미만. 기준선 확인: 'case:gangjin_half_price_2024'의 성과 데이터를 기준으로 설정. 기준선·표본수·집계 가능성을 확인한 뒤 사업 담당자가 착수 전에 확정한다.",</a:t>
            </a:r>
          </a:p>
          <a:p>
            <a:r>
              <a:t>    "evidence_source_ids": [</a:t>
            </a:r>
          </a:p>
          <a:p>
            <a:r>
              <a:t>      "dataset:51130:1",</a:t>
            </a:r>
          </a:p>
          <a:p>
            <a:r>
              <a:t>      "dataset:51130:3"</a:t>
            </a:r>
          </a:p>
          <a:p>
            <a:r>
              <a:t>    ]</a:t>
            </a:r>
          </a:p>
          <a:p>
            <a:r>
              <a:t>  },</a:t>
            </a:r>
          </a:p>
          <a:p>
            <a:r>
              <a:t>  "reason": "소비 혜택이 다시 지역 상점 이용으로 이어지는 구조를 이번 사업의 핵심으로 삼아 참고했습니다.",</a:t>
            </a:r>
          </a:p>
          <a:p>
            <a:r>
              <a:t>  "facts": "월간 순 방문자 수: 2,285,734명 · 외지인 숙박 방문 비율: 12.5%",</a:t>
            </a:r>
          </a:p>
          <a:p>
            <a:r>
              <a:t>  "operation": "여행자가 지역에서 지출한 비용의 일부를 지역상품권으로 돌려받게 하여 혜택이 다시 지역 상점에서 사용되도록 설계",</a:t>
            </a:r>
          </a:p>
          <a:p>
            <a:r>
              <a:t>  "adaptation": "여행자가 원주시 내에서 지출한 비용의 일부를 지역상품권으로 돌려받게 하여, 혜택이 다시 지역 상점에서 사용되도록 설계"</a:t>
            </a:r>
          </a:p>
          <a:p>
            <a:r>
              <a: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c3a5f6510e4e49ba" Type="http://schemas.openxmlformats.org/officeDocument/2006/relationships/slideMaster" Target="../slideMasters/slideMaster1.xml"/></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xml version='1.0' encoding='UTF-8' standalone='yes'?>
<Relationships xmlns="http://schemas.openxmlformats.org/package/2006/relationships"><Relationship Id="R032212eb627044e2" Type="http://schemas.openxmlformats.org/officeDocument/2006/relationships/slideLayout" Target="../slideLayouts/slideLayout1.xml"/><Relationship Id="Rc23d06999bd7418f" Type="http://schemas.openxmlformats.org/officeDocument/2006/relationships/theme" Target="theme/theme2.xml"/></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32212eb627044e2"/>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xml version='1.0' encoding='UTF-8' standalone='yes'?>
<Relationships xmlns="http://schemas.openxmlformats.org/package/2006/relationships"><Relationship Id="R23aa0b3f3fe84ab1" Type="http://schemas.openxmlformats.org/officeDocument/2006/relationships/notesSlide" Target="../notesSlides/notesSlide1.xml"/><Relationship Id="Rfe2d442cc9394c75"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a91e1cfda5554f8e" Type="http://schemas.openxmlformats.org/officeDocument/2006/relationships/notesSlide" Target="../notesSlides/notesSlide2.xml"/><Relationship Id="Rcfdb7c120e7d4793"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40bfe741e78644e3" Type="http://schemas.openxmlformats.org/officeDocument/2006/relationships/slideLayout" Target="../slideLayouts/slideLayout1.xml"/><Relationship Id="R9925e0cf7f4b4a11" Type="http://schemas.openxmlformats.org/officeDocument/2006/relationships/notesSlide" Target="../notesSlides/notesSlide3.xml"/><Relationship Id="Re0802ea4bb724ca1" Type="http://schemas.openxmlformats.org/officeDocument/2006/relationships/image" Target="../media/image.png"/></Relationships>
</file>

<file path=ppt/slides/_rels/slide4.xml.rels><?xml version='1.0' encoding='UTF-8' standalone='yes'?>
<Relationships xmlns="http://schemas.openxmlformats.org/package/2006/relationships"><Relationship Id="R4f2ce5977e6c41d3" Type="http://schemas.openxmlformats.org/officeDocument/2006/relationships/slideLayout" Target="../slideLayouts/slideLayout1.xml"/><Relationship Id="Reab760d5cc7545a2" Type="http://schemas.openxmlformats.org/officeDocument/2006/relationships/notesSlide" Target="../notesSlides/notesSlide4.xml"/><Relationship Id="rId3" Type="http://schemas.openxmlformats.org/officeDocument/2006/relationships/chart" Target="../charts/chart1.xml"/><Relationship Id="rId4" Type="http://schemas.openxmlformats.org/officeDocument/2006/relationships/chart" Target="../charts/char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6.xml.rels><?xml version='1.0' encoding='UTF-8' standalone='yes'?>
<Relationships xmlns="http://schemas.openxmlformats.org/package/2006/relationships"><Relationship Id="R08a1a66771e34c37" Type="http://schemas.openxmlformats.org/officeDocument/2006/relationships/chart" Target="charts/chart3.xml"/><Relationship Id="R92c25c991d43491c" Type="http://schemas.openxmlformats.org/officeDocument/2006/relationships/slideLayout" Target="../slideLayouts/slideLayout1.xml"/><Relationship Id="Rf95ef34647d642a0"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41faa7af3ee946e3" Type="http://schemas.openxmlformats.org/officeDocument/2006/relationships/notesSlide" Target="../notesSlides/notesSlide7.xml"/><Relationship Id="Rdd777a48420b4e2a"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1be757d81be54559"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3a927cda51254bd6"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hyperlink" Target="https://clik.nanet.go.kr/minutes/viewer.do?DOCID=CLIKC3524169218564260&amp;collection=minutes" TargetMode="External"/><Relationship Id="rId3" Type="http://schemas.openxmlformats.org/officeDocument/2006/relationships/notesSlide" Target="../notesSlides/notesSlide9.xml"/></Relationships>
</file>

<file path=ppt/slides/_rels/slide11.xml.rels><?xml version='1.0' encoding='UTF-8' standalone='yes'?>
<Relationships xmlns="http://schemas.openxmlformats.org/package/2006/relationships"><Relationship Id="R304ac80f13724322" Type="http://schemas.openxmlformats.org/officeDocument/2006/relationships/slideLayout" Target="../slideLayouts/slideLayout1.xml"/><Relationship Id="rId2" Type="http://schemas.openxmlformats.org/officeDocument/2006/relationships/hyperlink" Target="https://datalab.visitkorea.or.kr/" TargetMode="External"/><Relationship Id="rId3" Type="http://schemas.openxmlformats.org/officeDocument/2006/relationships/notesSlide" Target="../notesSlides/notesSlide5.xml"/></Relationships>
</file>

<file path=ppt/slides/_rels/slide12.xml.rels><?xml version='1.0' encoding='UTF-8' standalone='yes'?>
<Relationships xmlns="http://schemas.openxmlformats.org/package/2006/relationships"><Relationship Id="R3ae7c5de0f064511" Type="http://schemas.openxmlformats.org/officeDocument/2006/relationships/slideLayout" Target="../slideLayouts/slideLayout1.xml"/><Relationship Id="R9f79db7a81fa4a26"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hyperlink" Target="https://datalab.visitkorea.or.kr/" TargetMode="External"/><Relationship Id="rId3" Type="http://schemas.openxmlformats.org/officeDocument/2006/relationships/hyperlink" Target="https://datalab.visitkorea.or.kr/site/portal/ex/bbs/View.do?bcIdx=311068&amp;cbIdx=1135&amp;pageIndex=1" TargetMode="External"/><Relationship Id="rId4" Type="http://schemas.openxmlformats.org/officeDocument/2006/relationships/hyperlink" Target="https://jeonju.go.kr/resource/www/images/download/budget/2026/2026_31_2.pdf" TargetMode="External"/><Relationship Id="rId5" Type="http://schemas.openxmlformats.org/officeDocument/2006/relationships/hyperlink" Target="https://www.incheon.go.kr/IC010205/view?beginDt=&amp;curPage=1&amp;endDt=&amp;repSeq=DOM_0000000013130282&amp;srchMainManagerDeptNm=&amp;srchRepContents=%EC%A3%BC%EC%B0%A8&amp;srchRepTitle=" TargetMode="External"/><Relationship Id="rId6" Type="http://schemas.openxmlformats.org/officeDocument/2006/relationships/hyperlink" Target="https://mcst.go.kr/servlets/eduport/front/upload/UplDownloadFile?pFileName=%280514%29%EB%AC%B8%EC%B2%B4%EB%B6%80%EB%B3%B4%EB%8F%84%EC%9E%90%EB%A3%8C-6%EC%9B%94_%EC%97%AC%ED%96%89%EA%B0%80%EB%8A%94_%EB%8B%AC_%EC%B6%94%EC%A7%84.pdf&amp;pPath=0302000000&amp;pRealName=20240514083202149235802932_PRESS20240514083202456506.pdf" TargetMode="External"/><Relationship Id="rId7" Type="http://schemas.openxmlformats.org/officeDocument/2006/relationships/hyperlink" Target="https://kto.visitkorea.or.kr/upload/flexer/upload/ktobiz/20220928/b623b5f9-3ec0-11ed-9832-ddf31964842e.hwp.files/Sections1.html" TargetMode="External"/><Relationship Id="rId8"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hyperlink" Target="https://hangang.seoul.go.kr/www/eventMng/detail.do?evntSn=441&amp;keyword=&amp;mid=538&amp;opt11=&amp;opt12=&amp;opt13=&amp;opt14=&amp;opt4=&amp;pageNo=2&amp;srchType=list" TargetMode="External"/><Relationship Id="rId3" Type="http://schemas.openxmlformats.org/officeDocument/2006/relationships/hyperlink" Target="https://jnfarm.jeonnam.go.kr/board/FARM_BOARD_008/boardView.do?bdId=BD_00000000000011721&amp;menuCd=farm004002" TargetMode="External"/><Relationship Id="rId4" Type="http://schemas.openxmlformats.org/officeDocument/2006/relationships/hyperlink" Target="https://www.mcst.go.kr/site/s_policy/govPolicy/performTotal.jsp" TargetMode="External"/><Relationship Id="rId5" Type="http://schemas.openxmlformats.org/officeDocument/2006/relationships/hyperlink" Target="https://korean.visitkorea.or.kr/detail/rem_detail.do?cotid=f9c636b2-dd7c-4f09-af3d-6af43b33d371" TargetMode="External"/><Relationship Id="rId6" Type="http://schemas.openxmlformats.org/officeDocument/2006/relationships/hyperlink" Target="https://apis.data.go.kr/B551011/KorService2" TargetMode="External"/><Relationship Id="rId7"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hyperlink" Target="https://jnfarm.jeonnam.go.kr/board/FARM_BOARD_008/boardView.do?bdId=BD_00000000000011721&amp;menuCd=farm004002" TargetMode="External"/><Relationship Id="rId3" Type="http://schemas.openxmlformats.org/officeDocument/2006/relationships/notesSlide" Target="../notesSlides/notesSlide15.xml"/></Relationships>
</file>

<file path=ppt/slides/charts/chart3.xml><?xml version="1.0" encoding="utf-8"?>
<c:chartSpace xmlns:c="http://schemas.openxmlformats.org/drawingml/2006/chart">
  <c:lang val="en-US"/>
  <c:chart>
    <c:plotArea>
      <c:barChart>
        <c:barDir val="bar"/>
        <c:grouping val="clustered"/>
        <c:varyColors val="0"/>
        <c:ser>
          <c:idx val="0"/>
          <c:order val="0"/>
          <c:tx>
            <c:v>방문 지수</c:v>
          </c:tx>
          <c:spPr>
            <a:solidFill xmlns:a="http://schemas.openxmlformats.org/drawingml/2006/main">
              <a:srgbClr val="004EA2"/>
            </a:solidFill>
          </c:spPr>
          <c:dPt>
            <c:idx val="0"/>
            <c:invertIfNegative val="0"/>
            <c:spPr>
              <a:solidFill xmlns:a="http://schemas.openxmlformats.org/drawingml/2006/main">
                <a:srgbClr val="BFD0E3"/>
              </a:solidFill>
            </c:spPr>
          </c:dPt>
          <c:dPt>
            <c:idx val="1"/>
            <c:invertIfNegative val="0"/>
            <c:spPr>
              <a:solidFill xmlns:a="http://schemas.openxmlformats.org/drawingml/2006/main">
                <a:srgbClr val="004EA2"/>
              </a:solidFill>
            </c:spPr>
          </c:dPt>
          <c:cat>
            <c:strLit>
              <c:ptCount val="2"/>
              <c:pt idx="0">
                <c:v>전년</c:v>
              </c:pt>
              <c:pt idx="1">
                <c:v>현재</c:v>
              </c:pt>
            </c:strLit>
          </c:cat>
          <c:val>
            <c:numLit>
              <c:formatCode>General</c:formatCode>
              <c:ptCount val="2"/>
              <c:pt idx="0">
                <c:v>100</c:v>
              </c:pt>
              <c:pt idx="1">
                <c:v>91.7</c:v>
              </c:pt>
            </c:numLit>
          </c:val>
        </c:ser>
        <c:dLbls>
          <c:txPr>
            <a:bodyPr xmlns:a="http://schemas.openxmlformats.org/drawingml/2006/main" anchorCtr="1"/>
            <a:lstStyle xmlns:a="http://schemas.openxmlformats.org/drawingml/2006/main"/>
            <a:p xmlns:a="http://schemas.openxmlformats.org/drawingml/2006/main">
              <a:pPr>
                <a:defRPr sz="1200" b="1">
                  <a:solidFill>
                    <a:srgbClr val="FFFFFF"/>
                  </a:solidFill>
                </a:defRPr>
              </a:pPr>
            </a:p>
          </c:txPr>
          <c:dLblPos val="inEnd"/>
          <c:showLegendKey val="0"/>
          <c:showVal val="1"/>
          <c:showCatName val="0"/>
          <c:showSerName val="0"/>
          <c:showPercent val="0"/>
          <c:showBubbleSize val="0"/>
          <c:showLeaderLines val="0"/>
        </c:dLbls>
        <c:gapWidth val="42"/>
        <c:axId val="48650112"/>
        <c:axId val="48672768"/>
      </c:barChart>
      <c:catAx>
        <c:axId val="48650112"/>
        <c:scaling>
          <c:orientation val="minMax"/>
        </c:scaling>
        <c:delete val="0"/>
        <c:axPos val="l"/>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defRPr>
            </a:pPr>
          </a:p>
        </c:txPr>
        <c:crossAx val="48672768"/>
      </c:catAx>
      <c:valAx>
        <c:axId val="48672768"/>
        <c:scaling>
          <c:orientation val="minMax"/>
        </c:scaling>
        <c:delete val="1"/>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defRPr>
            </a:pPr>
          </a:p>
        </c:txPr>
        <c:crossAx val="48650112"/>
        <c:crossBetween val="between"/>
      </c:valAx>
      <c:spPr>
        <a:solidFill xmlns:a="http://schemas.openxmlformats.org/drawingml/2006/main">
          <a:srgbClr val="FFFFFF"/>
        </a:solidFill>
      </c:spPr>
    </c:plotArea>
    <c:plotVisOnly val="1"/>
  </c:chart>
  <c:spPr>
    <a:solidFill xmlns:a="http://schemas.openxmlformats.org/drawingml/2006/main">
      <a:srgbClr val="FFFFFF"/>
    </a:solidFill>
  </c:spPr>
</c:chartSpace>
</file>

<file path=ppt/slides/slide1.xml><?xml version="1.0" encoding="utf-8"?>
<p:sld xmlns:p="http://schemas.openxmlformats.org/presentationml/2006/main">
  <p:cSld>
    <p:bg>
      <p:bgPr>
        <a:solidFill xmlns:a="http://schemas.openxmlformats.org/drawingml/2006/main">
          <a:srgbClr val="F4F7FA"/>
        </a:solidFill>
      </p:bgPr>
    </p:bg>
    <p:spTree>
      <p:nvGrpSpPr>
        <p:cNvPr id="1" name=""/>
        <p:cNvGrpSpPr/>
        <p:nvPr/>
      </p:nvGrpSpPr>
      <p:grpSpPr>
        <a:xfrm xmlns:a="http://schemas.openxmlformats.org/drawingml/2006/main"/>
      </p:grpSpPr>
      <p:sp>
        <p:nvSpPr>
          <p:cNvPr id="21" name="background-wordmark">
            <a:extLst xmlns:a="http://schemas.openxmlformats.org/drawingml/2006/main">
              <a:ext uri="{FF2B5EF4-FFF2-40B4-BE49-F238E27FC236}">
                <a16:creationId xmlns:a16="http://schemas.microsoft.com/office/drawing/2014/main" id="{77FB509F-5920-492C-9117-3338D34B0670}"/>
              </a:ext>
            </a:extLst>
          </p:cNvPr>
          <p:cNvSpPr>
            <a:spLocks xmlns:a="http://schemas.openxmlformats.org/drawingml/2006/main" noGrp="1"/>
          </p:cNvSpPr>
          <p:nvPr/>
        </p:nvSpPr>
        <p:spPr>
          <a:xfrm xmlns:a="http://schemas.openxmlformats.org/drawingml/2006/main">
            <a:off x="-552450" y="2857500"/>
            <a:ext cx="16383000" cy="2952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rmAutofit fontScale="86111" lnSpcReduction="10000"/>
          </a:bodyPr>
          <a:lstStyle xmlns:a="http://schemas.openxmlformats.org/drawingml/2006/main"/>
          <a:p xmlns:a="http://schemas.openxmlformats.org/drawingml/2006/main">
            <a:pPr algn="ctr" eaLnBrk="0">
              <a:buNone/>
              <a:defRPr sz="22500" b="1" i="0">
                <a:solidFill>
                  <a:srgbClr val="E7EDF4"/>
                </a:solidFill>
                <a:latin typeface="Noto Sans KR"/>
                <a:ea typeface="Noto Sans KR"/>
                <a:cs typeface="Noto Sans KR"/>
              </a:defRPr>
            </a:pPr>
            <a:r>
              <a:rPr sz="22500" b="1" i="0">
                <a:solidFill>
                  <a:srgbClr val="E7EDF4"/>
                </a:solidFill>
                <a:latin typeface="Noto Sans KR"/>
                <a:ea typeface="Noto Sans KR"/>
                <a:cs typeface="Noto Sans KR"/>
              </a:rPr>
              <a:t>TOURISM AI</a:t>
            </a:r>
          </a:p>
        </p:txBody>
      </p:sp>
      <p:sp>
        <p:nvSpPr>
          <p:cNvPr id="2" name="center-top-vertical">
            <a:extLst xmlns:a="http://schemas.openxmlformats.org/drawingml/2006/main">
              <a:ext uri="{FF2B5EF4-FFF2-40B4-BE49-F238E27FC236}">
                <a16:creationId xmlns:a16="http://schemas.microsoft.com/office/drawing/2014/main" id="{B1DEDF35-13EE-406A-AC8E-214EDD2F24AC}"/>
              </a:ext>
            </a:extLst>
          </p:cNvPr>
          <p:cNvSpPr>
            <a:spLocks xmlns:a="http://schemas.openxmlformats.org/drawingml/2006/main" noGrp="1"/>
          </p:cNvSpPr>
          <p:nvPr/>
        </p:nvSpPr>
        <p:spPr>
          <a:xfrm xmlns:a="http://schemas.openxmlformats.org/drawingml/2006/main">
            <a:off x="7620000" y="895350"/>
            <a:ext cx="0" cy="1257300"/>
          </a:xfrm>
          <a:prstGeom xmlns:a="http://schemas.openxmlformats.org/drawingml/2006/main" prst="line">
            <a:avLst/>
          </a:prstGeom>
          <a:noFill xmlns:a="http://schemas.openxmlformats.org/drawingml/2006/main"/>
          <a:ln xmlns:a="http://schemas.openxmlformats.org/drawingml/2006/main" w="28575">
            <a:solidFill>
              <a:srgbClr val="004EA2"/>
            </a:solidFill>
            <a:prstDash val="solid"/>
          </a:ln>
        </p:spPr>
        <p:txBody>
          <a:bodyPr xmlns:a="http://schemas.openxmlformats.org/drawingml/2006/main"/>
          <a:lstStyle xmlns:a="http://schemas.openxmlformats.org/drawingml/2006/main"/>
          <a:p xmlns:a="http://schemas.openxmlformats.org/drawingml/2006/main">
            <a:endParaRPr/>
          </a:p>
        </p:txBody>
      </p:sp>
      <p:sp>
        <p:nvSpPr>
          <p:cNvPr id="3" name="center-bottom-vertical">
            <a:extLst xmlns:a="http://schemas.openxmlformats.org/drawingml/2006/main">
              <a:ext uri="{FF2B5EF4-FFF2-40B4-BE49-F238E27FC236}">
                <a16:creationId xmlns:a16="http://schemas.microsoft.com/office/drawing/2014/main" id="{D3C6583A-243C-4B40-B28E-68DDCD8248EA}"/>
              </a:ext>
            </a:extLst>
          </p:cNvPr>
          <p:cNvSpPr>
            <a:spLocks xmlns:a="http://schemas.openxmlformats.org/drawingml/2006/main" noGrp="1"/>
          </p:cNvSpPr>
          <p:nvPr/>
        </p:nvSpPr>
        <p:spPr>
          <a:xfrm xmlns:a="http://schemas.openxmlformats.org/drawingml/2006/main">
            <a:off x="7620000" y="6410325"/>
            <a:ext cx="0" cy="1247775"/>
          </a:xfrm>
          <a:prstGeom xmlns:a="http://schemas.openxmlformats.org/drawingml/2006/main" prst="line">
            <a:avLst/>
          </a:prstGeom>
          <a:noFill xmlns:a="http://schemas.openxmlformats.org/drawingml/2006/main"/>
          <a:ln xmlns:a="http://schemas.openxmlformats.org/drawingml/2006/main" w="28575">
            <a:solidFill>
              <a:srgbClr val="004EA2"/>
            </a:solidFill>
            <a:prstDash val="solid"/>
          </a:ln>
        </p:spPr>
        <p:txBody>
          <a:bodyPr xmlns:a="http://schemas.openxmlformats.org/drawingml/2006/main"/>
          <a:lstStyle xmlns:a="http://schemas.openxmlformats.org/drawingml/2006/main"/>
          <a:p xmlns:a="http://schemas.openxmlformats.org/drawingml/2006/main">
            <a:endParaRPr/>
          </a:p>
        </p:txBody>
      </p:sp>
      <p:sp>
        <p:nvSpPr>
          <p:cNvPr id="4" name="title-panel">
            <a:extLst xmlns:a="http://schemas.openxmlformats.org/drawingml/2006/main">
              <a:ext uri="{FF2B5EF4-FFF2-40B4-BE49-F238E27FC236}">
                <a16:creationId xmlns:a16="http://schemas.microsoft.com/office/drawing/2014/main" id="{EE1DECE5-AA5E-4E34-834B-AD62B1CB03F9}"/>
              </a:ext>
            </a:extLst>
          </p:cNvPr>
          <p:cNvSpPr>
            <a:spLocks xmlns:a="http://schemas.openxmlformats.org/drawingml/2006/main" noGrp="1"/>
          </p:cNvSpPr>
          <p:nvPr/>
        </p:nvSpPr>
        <p:spPr>
          <a:xfrm xmlns:a="http://schemas.openxmlformats.org/drawingml/2006/main">
            <a:off x="3495675" y="2114550"/>
            <a:ext cx="8267700" cy="4295775"/>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5" name="title-panel-top">
            <a:extLst xmlns:a="http://schemas.openxmlformats.org/drawingml/2006/main">
              <a:ext uri="{FF2B5EF4-FFF2-40B4-BE49-F238E27FC236}">
                <a16:creationId xmlns:a16="http://schemas.microsoft.com/office/drawing/2014/main" id="{6C123102-52FB-43EB-A3A5-744861F98965}"/>
              </a:ext>
            </a:extLst>
          </p:cNvPr>
          <p:cNvSpPr>
            <a:spLocks xmlns:a="http://schemas.openxmlformats.org/drawingml/2006/main" noGrp="1"/>
          </p:cNvSpPr>
          <p:nvPr/>
        </p:nvSpPr>
        <p:spPr>
          <a:xfrm xmlns:a="http://schemas.openxmlformats.org/drawingml/2006/main">
            <a:off x="3495675" y="2114550"/>
            <a:ext cx="8267700" cy="0"/>
          </a:xfrm>
          <a:prstGeom xmlns:a="http://schemas.openxmlformats.org/drawingml/2006/main" prst="line">
            <a:avLst/>
          </a:prstGeom>
          <a:noFill xmlns:a="http://schemas.openxmlformats.org/drawingml/2006/main"/>
          <a:ln xmlns:a="http://schemas.openxmlformats.org/drawingml/2006/main" w="38100">
            <a:solidFill>
              <a:srgbClr val="004EA2"/>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security-label">
            <a:extLst xmlns:a="http://schemas.openxmlformats.org/drawingml/2006/main">
              <a:ext uri="{FF2B5EF4-FFF2-40B4-BE49-F238E27FC236}">
                <a16:creationId xmlns:a16="http://schemas.microsoft.com/office/drawing/2014/main" id="{EA7BB441-19DF-412D-93DE-6B5F825D6027}"/>
              </a:ext>
            </a:extLst>
          </p:cNvPr>
          <p:cNvSpPr>
            <a:spLocks xmlns:a="http://schemas.openxmlformats.org/drawingml/2006/main" noGrp="1"/>
          </p:cNvSpPr>
          <p:nvPr/>
        </p:nvSpPr>
        <p:spPr>
          <a:xfrm xmlns:a="http://schemas.openxmlformats.org/drawingml/2006/main">
            <a:off x="5829300" y="2943225"/>
            <a:ext cx="404812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eaLnBrk="0">
              <a:buNone/>
              <a:defRPr sz="1200" b="1" i="0">
                <a:solidFill>
                  <a:srgbClr val="59636E"/>
                </a:solidFill>
                <a:latin typeface="Noto Sans KR"/>
                <a:ea typeface="Noto Sans KR"/>
                <a:cs typeface="Noto Sans KR"/>
              </a:defRPr>
            </a:pPr>
            <a:r>
              <a:rPr sz="1350" b="0" i="0">
                <a:solidFill>
                  <a:srgbClr val="59636E"/>
                </a:solidFill>
                <a:latin typeface="Noto Sans KR"/>
                <a:ea typeface="Noto Sans KR"/>
                <a:cs typeface="Noto Sans KR"/>
              </a:rPr>
              <a:t>관광사업 아이디어 제안</a:t>
            </a:r>
          </a:p>
        </p:txBody>
      </p:sp>
      <p:sp>
        <p:nvSpPr>
          <p:cNvPr id="7" name="cover-title-line1">
            <a:extLst xmlns:a="http://schemas.openxmlformats.org/drawingml/2006/main">
              <a:ext uri="{FF2B5EF4-FFF2-40B4-BE49-F238E27FC236}">
                <a16:creationId xmlns:a16="http://schemas.microsoft.com/office/drawing/2014/main" id="{4D06E463-555F-4ED7-A555-6F2BBA28E48F}"/>
              </a:ext>
            </a:extLst>
          </p:cNvPr>
          <p:cNvSpPr>
            <a:spLocks xmlns:a="http://schemas.openxmlformats.org/drawingml/2006/main" noGrp="1"/>
          </p:cNvSpPr>
          <p:nvPr/>
        </p:nvSpPr>
        <p:spPr>
          <a:xfrm xmlns:a="http://schemas.openxmlformats.org/drawingml/2006/main">
            <a:off x="4267200" y="3638550"/>
            <a:ext cx="6734175"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eaLnBrk="0">
              <a:buNone/>
              <a:defRPr sz="3525" b="1" i="0">
                <a:solidFill>
                  <a:srgbClr val="1B1F23"/>
                </a:solidFill>
                <a:latin typeface="Noto Sans KR"/>
                <a:ea typeface="Noto Sans KR"/>
                <a:cs typeface="Noto Sans KR"/>
              </a:defRPr>
            </a:pPr>
            <a:r>
              <a:rPr sz="3525" b="1" i="0">
                <a:solidFill>
                  <a:srgbClr val="1B1F23"/>
                </a:solidFill>
                <a:latin typeface="Noto Sans KR"/>
                <a:ea typeface="Noto Sans KR"/>
                <a:cs typeface="Noto Sans KR"/>
              </a:rPr>
              <a:t>원주시 지역사랑 휴가지원</a:t>
            </a:r>
          </a:p>
        </p:txBody>
      </p:sp>
      <p:sp>
        <p:nvSpPr>
          <p:cNvPr id="8" name="cover-title-line2">
            <a:extLst xmlns:a="http://schemas.openxmlformats.org/drawingml/2006/main">
              <a:ext uri="{FF2B5EF4-FFF2-40B4-BE49-F238E27FC236}">
                <a16:creationId xmlns:a16="http://schemas.microsoft.com/office/drawing/2014/main" id="{055E2330-B51B-4A73-961A-2CE79A60AD37}"/>
              </a:ext>
            </a:extLst>
          </p:cNvPr>
          <p:cNvSpPr>
            <a:spLocks xmlns:a="http://schemas.openxmlformats.org/drawingml/2006/main" noGrp="1"/>
          </p:cNvSpPr>
          <p:nvPr/>
        </p:nvSpPr>
        <p:spPr>
          <a:xfrm xmlns:a="http://schemas.openxmlformats.org/drawingml/2006/main">
            <a:off x="4181475" y="4410075"/>
            <a:ext cx="6924675"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eaLnBrk="0">
              <a:buNone/>
              <a:defRPr sz="2625" b="1">
                <a:solidFill>
                  <a:srgbClr val="1B1F23"/>
                </a:solidFill>
                <a:latin typeface="Noto Sans KR"/>
                <a:ea typeface="Noto Sans KR"/>
                <a:cs typeface="Noto Sans KR"/>
              </a:defRPr>
            </a:pPr>
            <a:r>
              <a:rPr sz="2625" b="1">
                <a:solidFill>
                  <a:srgbClr val="1B1F23"/>
                </a:solidFill>
                <a:latin typeface="Noto Sans KR"/>
                <a:ea typeface="Noto Sans KR"/>
                <a:cs typeface="Noto Sans KR"/>
              </a:rPr>
              <a:t>(반값여행) 실행 기획안</a:t>
            </a:r>
          </a:p>
        </p:txBody>
      </p:sp>
      <p:sp>
        <p:nvSpPr>
          <p:cNvPr id="9" name="date-rule-left">
            <a:extLst xmlns:a="http://schemas.openxmlformats.org/drawingml/2006/main">
              <a:ext uri="{FF2B5EF4-FFF2-40B4-BE49-F238E27FC236}">
                <a16:creationId xmlns:a16="http://schemas.microsoft.com/office/drawing/2014/main" id="{ADF95A54-AD3A-46B3-8204-A4A4C1780876}"/>
              </a:ext>
            </a:extLst>
          </p:cNvPr>
          <p:cNvSpPr>
            <a:spLocks xmlns:a="http://schemas.openxmlformats.org/drawingml/2006/main" noGrp="1"/>
          </p:cNvSpPr>
          <p:nvPr/>
        </p:nvSpPr>
        <p:spPr>
          <a:xfrm xmlns:a="http://schemas.openxmlformats.org/drawingml/2006/main">
            <a:off x="6115050" y="5514975"/>
            <a:ext cx="466725" cy="0"/>
          </a:xfrm>
          <a:prstGeom xmlns:a="http://schemas.openxmlformats.org/drawingml/2006/main" prst="line">
            <a:avLst/>
          </a:prstGeom>
          <a:noFill xmlns:a="http://schemas.openxmlformats.org/drawingml/2006/main"/>
          <a:ln xmlns:a="http://schemas.openxmlformats.org/drawingml/2006/main" w="19050">
            <a:solidFill>
              <a:srgbClr val="00C1D4"/>
            </a:solidFill>
            <a:prstDash val="solid"/>
          </a:ln>
        </p:spPr>
        <p:txBody>
          <a:bodyPr xmlns:a="http://schemas.openxmlformats.org/drawingml/2006/main"/>
          <a:lstStyle xmlns:a="http://schemas.openxmlformats.org/drawingml/2006/main"/>
          <a:p xmlns:a="http://schemas.openxmlformats.org/drawingml/2006/main">
            <a:endParaRPr/>
          </a:p>
        </p:txBody>
      </p:sp>
      <p:sp>
        <p:nvSpPr>
          <p:cNvPr id="10" name="cover-date">
            <a:extLst xmlns:a="http://schemas.openxmlformats.org/drawingml/2006/main">
              <a:ext uri="{FF2B5EF4-FFF2-40B4-BE49-F238E27FC236}">
                <a16:creationId xmlns:a16="http://schemas.microsoft.com/office/drawing/2014/main" id="{D9CF49F9-166E-4877-8903-09E88A51BFD0}"/>
              </a:ext>
            </a:extLst>
          </p:cNvPr>
          <p:cNvSpPr>
            <a:spLocks xmlns:a="http://schemas.openxmlformats.org/drawingml/2006/main" noGrp="1"/>
          </p:cNvSpPr>
          <p:nvPr/>
        </p:nvSpPr>
        <p:spPr>
          <a:xfrm xmlns:a="http://schemas.openxmlformats.org/drawingml/2006/main">
            <a:off x="6343650" y="5334000"/>
            <a:ext cx="3067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eaLnBrk="0">
              <a:buNone/>
              <a:defRPr sz="1350" b="0" i="0">
                <a:solidFill>
                  <a:srgbClr val="1B1F23"/>
                </a:solidFill>
                <a:latin typeface="Noto Sans KR"/>
                <a:ea typeface="Noto Sans KR"/>
                <a:cs typeface="Noto Sans KR"/>
              </a:defRPr>
            </a:pPr>
            <a:r>
              <a:rPr sz="1650" b="0" i="0">
                <a:solidFill>
                  <a:srgbClr val="1B1F23"/>
                </a:solidFill>
                <a:latin typeface="Noto Sans KR"/>
                <a:ea typeface="Noto Sans KR"/>
                <a:cs typeface="Noto Sans KR"/>
              </a:rPr>
              <a:t>사업기간 2026.09 ~ 2026.11</a:t>
            </a:r>
          </a:p>
        </p:txBody>
      </p:sp>
      <p:sp>
        <p:nvSpPr>
          <p:cNvPr id="11" name="date-rule-right">
            <a:extLst xmlns:a="http://schemas.openxmlformats.org/drawingml/2006/main">
              <a:ext uri="{FF2B5EF4-FFF2-40B4-BE49-F238E27FC236}">
                <a16:creationId xmlns:a16="http://schemas.microsoft.com/office/drawing/2014/main" id="{D63894DC-8857-4AFB-9D30-D40A61F1C100}"/>
              </a:ext>
            </a:extLst>
          </p:cNvPr>
          <p:cNvSpPr>
            <a:spLocks xmlns:a="http://schemas.openxmlformats.org/drawingml/2006/main" noGrp="1"/>
          </p:cNvSpPr>
          <p:nvPr/>
        </p:nvSpPr>
        <p:spPr>
          <a:xfrm xmlns:a="http://schemas.openxmlformats.org/drawingml/2006/main">
            <a:off x="9534525" y="5514975"/>
            <a:ext cx="466725" cy="0"/>
          </a:xfrm>
          <a:prstGeom xmlns:a="http://schemas.openxmlformats.org/drawingml/2006/main" prst="line">
            <a:avLst/>
          </a:prstGeom>
          <a:noFill xmlns:a="http://schemas.openxmlformats.org/drawingml/2006/main"/>
          <a:ln xmlns:a="http://schemas.openxmlformats.org/drawingml/2006/main" w="19050">
            <a:solidFill>
              <a:srgbClr val="00C1D4"/>
            </a:solidFill>
            <a:prstDash val="solid"/>
          </a:ln>
        </p:spPr>
        <p:txBody>
          <a:bodyPr xmlns:a="http://schemas.openxmlformats.org/drawingml/2006/main"/>
          <a:lstStyle xmlns:a="http://schemas.openxmlformats.org/drawingml/2006/main"/>
          <a:p xmlns:a="http://schemas.openxmlformats.org/drawingml/2006/main">
            <a:endParaRPr/>
          </a:p>
        </p:txBody>
      </p:sp>
      <p:sp>
        <p:nvSpPr>
          <p:cNvPr id="12" name="org-title">
            <a:extLst xmlns:a="http://schemas.openxmlformats.org/drawingml/2006/main">
              <a:ext uri="{FF2B5EF4-FFF2-40B4-BE49-F238E27FC236}">
                <a16:creationId xmlns:a16="http://schemas.microsoft.com/office/drawing/2014/main" id="{BFAE34B7-AC7B-4526-88A3-D8CECFF061B0}"/>
              </a:ext>
            </a:extLst>
          </p:cNvPr>
          <p:cNvSpPr>
            <a:spLocks xmlns:a="http://schemas.openxmlformats.org/drawingml/2006/main" noGrp="1"/>
          </p:cNvSpPr>
          <p:nvPr/>
        </p:nvSpPr>
        <p:spPr>
          <a:xfrm xmlns:a="http://schemas.openxmlformats.org/drawingml/2006/main">
            <a:off x="11858625" y="1009650"/>
            <a:ext cx="2381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eaLnBrk="0">
              <a:buNone/>
              <a:defRPr sz="1350" b="1" i="0">
                <a:solidFill>
                  <a:srgbClr val="004EA2"/>
                </a:solidFill>
                <a:latin typeface="Noto Sans KR"/>
                <a:ea typeface="Noto Sans KR"/>
                <a:cs typeface="Noto Sans KR"/>
              </a:defRPr>
            </a:pPr>
            <a:r>
              <a:rPr sz="1500" b="1" i="0">
                <a:solidFill>
                  <a:srgbClr val="004EA2"/>
                </a:solidFill>
                <a:latin typeface="Noto Sans KR"/>
                <a:ea typeface="Noto Sans KR"/>
                <a:cs typeface="Noto Sans KR"/>
              </a:rPr>
              <a:t>강원특별자치도 원주시</a:t>
            </a:r>
          </a:p>
        </p:txBody>
      </p:sp>
      <p:sp>
        <p:nvSpPr>
          <p:cNvPr id="13" name="org-orange-rule">
            <a:extLst xmlns:a="http://schemas.openxmlformats.org/drawingml/2006/main">
              <a:ext uri="{FF2B5EF4-FFF2-40B4-BE49-F238E27FC236}">
                <a16:creationId xmlns:a16="http://schemas.microsoft.com/office/drawing/2014/main" id="{284EC6E3-1D8E-4934-8C5E-B43BDD643630}"/>
              </a:ext>
            </a:extLst>
          </p:cNvPr>
          <p:cNvSpPr>
            <a:spLocks xmlns:a="http://schemas.openxmlformats.org/drawingml/2006/main" noGrp="1"/>
          </p:cNvSpPr>
          <p:nvPr/>
        </p:nvSpPr>
        <p:spPr>
          <a:xfrm xmlns:a="http://schemas.openxmlformats.org/drawingml/2006/main">
            <a:off x="13592175" y="1390650"/>
            <a:ext cx="647700" cy="0"/>
          </a:xfrm>
          <a:prstGeom xmlns:a="http://schemas.openxmlformats.org/drawingml/2006/main" prst="line">
            <a:avLst/>
          </a:prstGeom>
          <a:noFill xmlns:a="http://schemas.openxmlformats.org/drawingml/2006/main"/>
          <a:ln xmlns:a="http://schemas.openxmlformats.org/drawingml/2006/main" w="19050">
            <a:solidFill>
              <a:srgbClr val="FF6B00"/>
            </a:solidFill>
            <a:prstDash val="solid"/>
          </a:ln>
        </p:spPr>
        <p:txBody>
          <a:bodyPr xmlns:a="http://schemas.openxmlformats.org/drawingml/2006/main"/>
          <a:lstStyle xmlns:a="http://schemas.openxmlformats.org/drawingml/2006/main"/>
          <a:p xmlns:a="http://schemas.openxmlformats.org/drawingml/2006/main">
            <a:endParaRPr/>
          </a:p>
        </p:txBody>
      </p:sp>
      <p:sp>
        <p:nvSpPr>
          <p:cNvPr id="14" name="org-owner">
            <a:extLst xmlns:a="http://schemas.openxmlformats.org/drawingml/2006/main">
              <a:ext uri="{FF2B5EF4-FFF2-40B4-BE49-F238E27FC236}">
                <a16:creationId xmlns:a16="http://schemas.microsoft.com/office/drawing/2014/main" id="{2CD7CFDD-25BB-432C-BC3B-756F92EB8CFB}"/>
              </a:ext>
            </a:extLst>
          </p:cNvPr>
          <p:cNvSpPr>
            <a:spLocks xmlns:a="http://schemas.openxmlformats.org/drawingml/2006/main" noGrp="1"/>
          </p:cNvSpPr>
          <p:nvPr/>
        </p:nvSpPr>
        <p:spPr>
          <a:xfrm xmlns:a="http://schemas.openxmlformats.org/drawingml/2006/main">
            <a:off x="12334875" y="1581150"/>
            <a:ext cx="1905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57150" tIns="38100" rIns="57150" bIns="38100" anchor="t">
            <a:noAutofit/>
          </a:bodyPr>
          <a:lstStyle xmlns:a="http://schemas.openxmlformats.org/drawingml/2006/main"/>
          <a:p xmlns:a="http://schemas.openxmlformats.org/drawingml/2006/main">
            <a:pPr algn="r" eaLnBrk="0">
              <a:lnSpc>
                <a:spcPts val="1687"/>
              </a:lnSpc>
              <a:spcBef>
                <a:spcPts val="0"/>
              </a:spcBef>
              <a:spcAft>
                <a:spcPts val="0"/>
              </a:spcAft>
              <a:buNone/>
              <a:defRPr sz="1050" b="0" i="0">
                <a:solidFill>
                  <a:srgbClr val="59636E"/>
                </a:solidFill>
                <a:latin typeface="Noto Sans KR"/>
                <a:ea typeface="Noto Sans KR"/>
                <a:cs typeface="Noto Sans KR"/>
              </a:defRPr>
            </a:pPr>
            <a:r>
              <a:rPr sz="1350" b="0">
                <a:solidFill>
                  <a:srgbClr val="59636E"/>
                </a:solidFill>
                <a:latin typeface="Noto Sans KR"/>
              </a:rPr>
              <a:t>관광 전략 검토용</a:t>
            </a:r>
          </a:p>
        </p:txBody>
      </p:sp>
      <p:sp>
        <p:nvSpPr>
          <p:cNvPr id="15" name="report-number">
            <a:extLst xmlns:a="http://schemas.openxmlformats.org/drawingml/2006/main">
              <a:ext uri="{FF2B5EF4-FFF2-40B4-BE49-F238E27FC236}">
                <a16:creationId xmlns:a16="http://schemas.microsoft.com/office/drawing/2014/main" id="{91C450AB-B31C-4B87-BDB0-6281DFDBCBBA}"/>
              </a:ext>
            </a:extLst>
          </p:cNvPr>
          <p:cNvSpPr>
            <a:spLocks xmlns:a="http://schemas.openxmlformats.org/drawingml/2006/main" noGrp="1"/>
          </p:cNvSpPr>
          <p:nvPr/>
        </p:nvSpPr>
        <p:spPr>
          <a:xfrm xmlns:a="http://schemas.openxmlformats.org/drawingml/2006/main">
            <a:off x="1047750" y="6315075"/>
            <a:ext cx="35147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eaLnBrk="0">
              <a:buNone/>
              <a:defRPr sz="1050" b="1" i="0">
                <a:solidFill>
                  <a:srgbClr val="00B7C9"/>
                </a:solidFill>
                <a:latin typeface="Noto Sans KR"/>
                <a:ea typeface="Noto Sans KR"/>
                <a:cs typeface="Noto Sans KR"/>
              </a:defRPr>
            </a:pPr>
            <a:r>
              <a:rPr sz="1200" b="1" i="0">
                <a:solidFill>
                  <a:srgbClr val="00B7C9"/>
                </a:solidFill>
                <a:latin typeface="Noto Sans KR"/>
                <a:ea typeface="Noto Sans KR"/>
                <a:cs typeface="Noto Sans KR"/>
              </a:rPr>
              <a:t>보고서 출력일 2026-09-09</a:t>
            </a:r>
          </a:p>
        </p:txBody>
      </p:sp>
      <p:sp>
        <p:nvSpPr>
          <p:cNvPr id="16" name="report-topic">
            <a:extLst xmlns:a="http://schemas.openxmlformats.org/drawingml/2006/main">
              <a:ext uri="{FF2B5EF4-FFF2-40B4-BE49-F238E27FC236}">
                <a16:creationId xmlns:a16="http://schemas.microsoft.com/office/drawing/2014/main" id="{79974288-A39D-407D-8F48-874FFA4095C1}"/>
              </a:ext>
            </a:extLst>
          </p:cNvPr>
          <p:cNvSpPr>
            <a:spLocks xmlns:a="http://schemas.openxmlformats.org/drawingml/2006/main" noGrp="1"/>
          </p:cNvSpPr>
          <p:nvPr/>
        </p:nvSpPr>
        <p:spPr>
          <a:xfrm xmlns:a="http://schemas.openxmlformats.org/drawingml/2006/main">
            <a:off x="1047750" y="6724650"/>
            <a:ext cx="3514725"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57150" tIns="38100" rIns="57150" bIns="38100" anchor="t">
            <a:noAutofit/>
          </a:bodyPr>
          <a:lstStyle xmlns:a="http://schemas.openxmlformats.org/drawingml/2006/main"/>
          <a:p xmlns:a="http://schemas.openxmlformats.org/drawingml/2006/main">
            <a:pPr algn="l" eaLnBrk="0">
              <a:lnSpc>
                <a:spcPts val="2625"/>
              </a:lnSpc>
              <a:spcBef>
                <a:spcPts val="0"/>
              </a:spcBef>
              <a:spcAft>
                <a:spcPts val="0"/>
              </a:spcAft>
              <a:buNone/>
              <a:defRPr sz="2325" b="1" i="0">
                <a:solidFill>
                  <a:srgbClr val="004EA2"/>
                </a:solidFill>
                <a:latin typeface="Noto Sans KR"/>
                <a:ea typeface="Noto Sans KR"/>
                <a:cs typeface="Noto Sans KR"/>
              </a:defRPr>
            </a:pPr>
            <a:r>
              <a:rPr sz="2100" b="1">
                <a:solidFill>
                  <a:srgbClr val="004EA2"/>
                </a:solidFill>
                <a:latin typeface="Noto Sans KR"/>
              </a:rPr>
              <a:t>원주시 관광 활성화 실행안</a:t>
            </a:r>
          </a:p>
        </p:txBody>
      </p:sp>
      <p:sp>
        <p:nvSpPr>
          <p:cNvPr id="17" name="corner-tl-h">
            <a:extLst xmlns:a="http://schemas.openxmlformats.org/drawingml/2006/main">
              <a:ext uri="{FF2B5EF4-FFF2-40B4-BE49-F238E27FC236}">
                <a16:creationId xmlns:a16="http://schemas.microsoft.com/office/drawing/2014/main" id="{85098CA2-D674-4C13-AAED-97DC2B1668DD}"/>
              </a:ext>
            </a:extLst>
          </p:cNvPr>
          <p:cNvSpPr>
            <a:spLocks xmlns:a="http://schemas.openxmlformats.org/drawingml/2006/main" noGrp="1"/>
          </p:cNvSpPr>
          <p:nvPr/>
        </p:nvSpPr>
        <p:spPr>
          <a:xfrm xmlns:a="http://schemas.openxmlformats.org/drawingml/2006/main">
            <a:off x="647700" y="619125"/>
            <a:ext cx="295275" cy="0"/>
          </a:xfrm>
          <a:prstGeom xmlns:a="http://schemas.openxmlformats.org/drawingml/2006/main" prst="line">
            <a:avLst/>
          </a:prstGeom>
          <a:noFill xmlns:a="http://schemas.openxmlformats.org/drawingml/2006/main"/>
          <a:ln xmlns:a="http://schemas.openxmlformats.org/drawingml/2006/main" w="19050">
            <a:solidFill>
              <a:srgbClr val="00C1D4"/>
            </a:solidFill>
            <a:prstDash val="solid"/>
          </a:ln>
        </p:spPr>
        <p:txBody>
          <a:bodyPr xmlns:a="http://schemas.openxmlformats.org/drawingml/2006/main"/>
          <a:lstStyle xmlns:a="http://schemas.openxmlformats.org/drawingml/2006/main"/>
          <a:p xmlns:a="http://schemas.openxmlformats.org/drawingml/2006/main">
            <a:endParaRPr/>
          </a:p>
        </p:txBody>
      </p:sp>
      <p:sp>
        <p:nvSpPr>
          <p:cNvPr id="18" name="corner-tl-v">
            <a:extLst xmlns:a="http://schemas.openxmlformats.org/drawingml/2006/main">
              <a:ext uri="{FF2B5EF4-FFF2-40B4-BE49-F238E27FC236}">
                <a16:creationId xmlns:a16="http://schemas.microsoft.com/office/drawing/2014/main" id="{30186634-254F-4224-B08F-40BB6E5B3F86}"/>
              </a:ext>
            </a:extLst>
          </p:cNvPr>
          <p:cNvSpPr>
            <a:spLocks xmlns:a="http://schemas.openxmlformats.org/drawingml/2006/main" noGrp="1"/>
          </p:cNvSpPr>
          <p:nvPr/>
        </p:nvSpPr>
        <p:spPr>
          <a:xfrm xmlns:a="http://schemas.openxmlformats.org/drawingml/2006/main">
            <a:off x="647700" y="619125"/>
            <a:ext cx="0" cy="295275"/>
          </a:xfrm>
          <a:prstGeom xmlns:a="http://schemas.openxmlformats.org/drawingml/2006/main" prst="line">
            <a:avLst/>
          </a:prstGeom>
          <a:noFill xmlns:a="http://schemas.openxmlformats.org/drawingml/2006/main"/>
          <a:ln xmlns:a="http://schemas.openxmlformats.org/drawingml/2006/main" w="19050">
            <a:solidFill>
              <a:srgbClr val="00C1D4"/>
            </a:solidFill>
            <a:prstDash val="solid"/>
          </a:ln>
        </p:spPr>
        <p:txBody>
          <a:bodyPr xmlns:a="http://schemas.openxmlformats.org/drawingml/2006/main"/>
          <a:lstStyle xmlns:a="http://schemas.openxmlformats.org/drawingml/2006/main"/>
          <a:p xmlns:a="http://schemas.openxmlformats.org/drawingml/2006/main">
            <a:endParaRPr/>
          </a:p>
        </p:txBody>
      </p:sp>
      <p:sp>
        <p:nvSpPr>
          <p:cNvPr id="19" name="corner-br-h">
            <a:extLst xmlns:a="http://schemas.openxmlformats.org/drawingml/2006/main">
              <a:ext uri="{FF2B5EF4-FFF2-40B4-BE49-F238E27FC236}">
                <a16:creationId xmlns:a16="http://schemas.microsoft.com/office/drawing/2014/main" id="{95077333-21E3-42BF-9CBB-698C3BEE5E88}"/>
              </a:ext>
            </a:extLst>
          </p:cNvPr>
          <p:cNvSpPr>
            <a:spLocks xmlns:a="http://schemas.openxmlformats.org/drawingml/2006/main" noGrp="1"/>
          </p:cNvSpPr>
          <p:nvPr/>
        </p:nvSpPr>
        <p:spPr>
          <a:xfrm xmlns:a="http://schemas.openxmlformats.org/drawingml/2006/main">
            <a:off x="14582775" y="7943850"/>
            <a:ext cx="295275" cy="0"/>
          </a:xfrm>
          <a:prstGeom xmlns:a="http://schemas.openxmlformats.org/drawingml/2006/main" prst="line">
            <a:avLst/>
          </a:prstGeom>
          <a:noFill xmlns:a="http://schemas.openxmlformats.org/drawingml/2006/main"/>
          <a:ln xmlns:a="http://schemas.openxmlformats.org/drawingml/2006/main" w="19050">
            <a:solidFill>
              <a:srgbClr val="00C1D4"/>
            </a:solidFill>
            <a:prstDash val="solid"/>
          </a:ln>
        </p:spPr>
        <p:txBody>
          <a:bodyPr xmlns:a="http://schemas.openxmlformats.org/drawingml/2006/main"/>
          <a:lstStyle xmlns:a="http://schemas.openxmlformats.org/drawingml/2006/main"/>
          <a:p xmlns:a="http://schemas.openxmlformats.org/drawingml/2006/main">
            <a:endParaRPr/>
          </a:p>
        </p:txBody>
      </p:sp>
      <p:sp>
        <p:nvSpPr>
          <p:cNvPr id="20" name="corner-br-v">
            <a:extLst xmlns:a="http://schemas.openxmlformats.org/drawingml/2006/main">
              <a:ext uri="{FF2B5EF4-FFF2-40B4-BE49-F238E27FC236}">
                <a16:creationId xmlns:a16="http://schemas.microsoft.com/office/drawing/2014/main" id="{81015BD6-64EA-4BC0-A2BD-BDDA9641DC61}"/>
              </a:ext>
            </a:extLst>
          </p:cNvPr>
          <p:cNvSpPr>
            <a:spLocks xmlns:a="http://schemas.openxmlformats.org/drawingml/2006/main" noGrp="1"/>
          </p:cNvSpPr>
          <p:nvPr/>
        </p:nvSpPr>
        <p:spPr>
          <a:xfrm xmlns:a="http://schemas.openxmlformats.org/drawingml/2006/main">
            <a:off x="14878050" y="7648575"/>
            <a:ext cx="0" cy="295275"/>
          </a:xfrm>
          <a:prstGeom xmlns:a="http://schemas.openxmlformats.org/drawingml/2006/main" prst="line">
            <a:avLst/>
          </a:prstGeom>
          <a:noFill xmlns:a="http://schemas.openxmlformats.org/drawingml/2006/main"/>
          <a:ln xmlns:a="http://schemas.openxmlformats.org/drawingml/2006/main" w="19050">
            <a:solidFill>
              <a:srgbClr val="00C1D4"/>
            </a:solidFill>
            <a:prstDash val="solid"/>
          </a:ln>
        </p:spPr>
        <p:txBody>
          <a:bodyPr xmlns:a="http://schemas.openxmlformats.org/drawingml/2006/main"/>
          <a:lstStyle xmlns:a="http://schemas.openxmlformats.org/drawingml/2006/main"/>
          <a:p xmlns:a="http://schemas.openxmlformats.org/drawingml/2006/main">
            <a:endParaRPr/>
          </a:p>
        </p:txBody>
      </p:sp>
    </p:spTree>
    <p:extLst>
      <p:ext uri="{BB962C8B-B14F-4D97-AF65-F5344CB8AC3E}">
        <p14:creationId xmlns:p14="http://schemas.microsoft.com/office/powerpoint/2010/main" val="655411831"/>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9" name="top-brand">
            <a:extLst xmlns:a="http://schemas.openxmlformats.org/drawingml/2006/main">
              <a:ext uri="{FF2B5EF4-FFF2-40B4-BE49-F238E27FC236}">
                <a16:creationId xmlns:a16="http://schemas.microsoft.com/office/drawing/2014/main" id="{BC511F59-C000-4ABE-8C07-978065167F95}"/>
              </a:ext>
            </a:extLst>
          </p:cNvPr>
          <p:cNvSpPr>
            <a:spLocks xmlns:a="http://schemas.openxmlformats.org/drawingml/2006/main" noGrp="1"/>
          </p:cNvSpPr>
          <p:nvPr/>
        </p:nvSpPr>
        <p:spPr>
          <a:xfrm xmlns:a="http://schemas.openxmlformats.org/drawingml/2006/main">
            <a:off x="857250" y="333375"/>
            <a:ext cx="5238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eaLnBrk="0">
              <a:buNone/>
              <a:defRPr sz="1200" b="1" i="0">
                <a:solidFill>
                  <a:srgbClr val="004EA2"/>
                </a:solidFill>
                <a:latin typeface="Noto Sans KR"/>
                <a:ea typeface="Noto Sans KR"/>
                <a:cs typeface="Noto Sans KR"/>
              </a:defRPr>
            </a:pPr>
            <a:r>
              <a:rPr sz="1425" b="1" i="0">
                <a:solidFill>
                  <a:srgbClr val="004EA2"/>
                </a:solidFill>
                <a:latin typeface="Noto Sans KR"/>
                <a:ea typeface="Noto Sans KR"/>
                <a:cs typeface="Noto Sans KR"/>
              </a:rPr>
              <a:t>강원특별자치도 원주시 관광 전략기획안</a:t>
            </a:r>
          </a:p>
        </p:txBody>
      </p:sp>
      <p:sp>
        <p:nvSpPr>
          <p:cNvPr id="2" name="top-date">
            <a:extLst xmlns:a="http://schemas.openxmlformats.org/drawingml/2006/main">
              <a:ext uri="{FF2B5EF4-FFF2-40B4-BE49-F238E27FC236}">
                <a16:creationId xmlns:a16="http://schemas.microsoft.com/office/drawing/2014/main" id="{B2EA0AA8-9451-4577-B2DB-64FEA4AE440C}"/>
              </a:ext>
            </a:extLst>
          </p:cNvPr>
          <p:cNvSpPr>
            <a:spLocks xmlns:a="http://schemas.openxmlformats.org/drawingml/2006/main" noGrp="1"/>
          </p:cNvSpPr>
          <p:nvPr/>
        </p:nvSpPr>
        <p:spPr>
          <a:xfrm xmlns:a="http://schemas.openxmlformats.org/drawingml/2006/main">
            <a:off x="13049250" y="323850"/>
            <a:ext cx="1619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eaLnBrk="0">
              <a:buNone/>
              <a:defRPr sz="1200" b="1" i="0">
                <a:solidFill>
                  <a:srgbClr val="59636E"/>
                </a:solidFill>
                <a:latin typeface="Noto Sans KR"/>
                <a:ea typeface="Noto Sans KR"/>
                <a:cs typeface="Noto Sans KR"/>
              </a:defRPr>
            </a:pPr>
            <a:r>
              <a:rPr sz="1388" b="1" i="0">
                <a:solidFill>
                  <a:srgbClr val="59636E"/>
                </a:solidFill>
                <a:latin typeface="Noto Sans KR"/>
                <a:ea typeface="Noto Sans KR"/>
                <a:cs typeface="Noto Sans KR"/>
              </a:rPr>
              <a:t>2026. 09. 09</a:t>
            </a:r>
          </a:p>
        </p:txBody>
      </p:sp>
      <p:sp>
        <p:nvSpPr>
          <p:cNvPr id="3" name="top-rule">
            <a:extLst xmlns:a="http://schemas.openxmlformats.org/drawingml/2006/main">
              <a:ext uri="{FF2B5EF4-FFF2-40B4-BE49-F238E27FC236}">
                <a16:creationId xmlns:a16="http://schemas.microsoft.com/office/drawing/2014/main" id="{578AD546-B3C6-4345-964E-CA38D80C5C3B}"/>
              </a:ext>
            </a:extLst>
          </p:cNvPr>
          <p:cNvSpPr>
            <a:spLocks xmlns:a="http://schemas.openxmlformats.org/drawingml/2006/main" noGrp="1"/>
          </p:cNvSpPr>
          <p:nvPr/>
        </p:nvSpPr>
        <p:spPr>
          <a:xfrm xmlns:a="http://schemas.openxmlformats.org/drawingml/2006/main">
            <a:off x="28575" y="981075"/>
            <a:ext cx="15182850" cy="0"/>
          </a:xfrm>
          <a:prstGeom xmlns:a="http://schemas.openxmlformats.org/drawingml/2006/main" prst="line">
            <a:avLst/>
          </a:prstGeom>
          <a:noFill xmlns:a="http://schemas.openxmlformats.org/drawingml/2006/main"/>
          <a:ln xmlns:a="http://schemas.openxmlformats.org/drawingml/2006/main" w="9525">
            <a:solidFill>
              <a:srgbClr val="E5EAF0"/>
            </a:solidFill>
            <a:prstDash val="solid"/>
          </a:ln>
        </p:spPr>
        <p:txBody>
          <a:bodyPr xmlns:a="http://schemas.openxmlformats.org/drawingml/2006/main"/>
          <a:lstStyle xmlns:a="http://schemas.openxmlformats.org/drawingml/2006/main"/>
          <a:p xmlns:a="http://schemas.openxmlformats.org/drawingml/2006/main">
            <a:endParaRPr/>
          </a:p>
        </p:txBody>
      </p:sp>
      <p:sp>
        <p:nvSpPr>
          <p:cNvPr id="4" name="contents-rail">
            <a:extLst xmlns:a="http://schemas.openxmlformats.org/drawingml/2006/main">
              <a:ext uri="{FF2B5EF4-FFF2-40B4-BE49-F238E27FC236}">
                <a16:creationId xmlns:a16="http://schemas.microsoft.com/office/drawing/2014/main" id="{7FA9108D-F5FC-4EF8-882D-8BF062FDC348}"/>
              </a:ext>
            </a:extLst>
          </p:cNvPr>
          <p:cNvSpPr>
            <a:spLocks xmlns:a="http://schemas.openxmlformats.org/drawingml/2006/main" noGrp="1"/>
          </p:cNvSpPr>
          <p:nvPr/>
        </p:nvSpPr>
        <p:spPr>
          <a:xfrm xmlns:a="http://schemas.openxmlformats.org/drawingml/2006/main">
            <a:off x="28575" y="981075"/>
            <a:ext cx="4810125" cy="7591425"/>
          </a:xfrm>
          <a:prstGeom xmlns:a="http://schemas.openxmlformats.org/drawingml/2006/main" prst="rect">
            <a:avLst/>
          </a:prstGeom>
          <a:solidFill xmlns:a="http://schemas.openxmlformats.org/drawingml/2006/main">
            <a:srgbClr val="004EA2"/>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5" name="contents-vertical">
            <a:extLst xmlns:a="http://schemas.openxmlformats.org/drawingml/2006/main">
              <a:ext uri="{FF2B5EF4-FFF2-40B4-BE49-F238E27FC236}">
                <a16:creationId xmlns:a16="http://schemas.microsoft.com/office/drawing/2014/main" id="{8A649E8C-B469-49E6-9B71-2587FA310B95}"/>
              </a:ext>
            </a:extLst>
          </p:cNvPr>
          <p:cNvSpPr>
            <a:spLocks xmlns:a="http://schemas.openxmlformats.org/drawingml/2006/main" noGrp="1"/>
          </p:cNvSpPr>
          <p:nvPr/>
        </p:nvSpPr>
        <p:spPr>
          <a:xfrm xmlns:a="http://schemas.openxmlformats.org/drawingml/2006/main" rot="-5400000">
            <a:off x="-866775" y="4162425"/>
            <a:ext cx="676275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rmAutofit fontScale="91667" lnSpcReduction="10000"/>
          </a:bodyPr>
          <a:lstStyle xmlns:a="http://schemas.openxmlformats.org/drawingml/2006/main"/>
          <a:p xmlns:a="http://schemas.openxmlformats.org/drawingml/2006/main">
            <a:pPr algn="ctr" eaLnBrk="0">
              <a:buNone/>
              <a:defRPr sz="7500" b="1" i="0">
                <a:solidFill>
                  <a:srgbClr val="2B6CB2"/>
                </a:solidFill>
                <a:latin typeface="Noto Sans KR"/>
                <a:ea typeface="Noto Sans KR"/>
                <a:cs typeface="Noto Sans KR"/>
              </a:defRPr>
            </a:pPr>
            <a:r>
              <a:rPr sz="7500" b="1" i="0">
                <a:solidFill>
                  <a:srgbClr val="2B6CB2"/>
                </a:solidFill>
                <a:latin typeface="Noto Sans KR"/>
                <a:ea typeface="Noto Sans KR"/>
                <a:cs typeface="Noto Sans KR"/>
              </a:rPr>
              <a:t>CONTENTS</a:t>
            </a:r>
          </a:p>
        </p:txBody>
      </p:sp>
      <p:sp>
        <p:nvSpPr>
          <p:cNvPr id="6" name="contents-en">
            <a:extLst xmlns:a="http://schemas.openxmlformats.org/drawingml/2006/main">
              <a:ext uri="{FF2B5EF4-FFF2-40B4-BE49-F238E27FC236}">
                <a16:creationId xmlns:a16="http://schemas.microsoft.com/office/drawing/2014/main" id="{A4545508-3408-4837-8886-DBD8CE263FDE}"/>
              </a:ext>
            </a:extLst>
          </p:cNvPr>
          <p:cNvSpPr>
            <a:spLocks xmlns:a="http://schemas.openxmlformats.org/drawingml/2006/main" noGrp="1"/>
          </p:cNvSpPr>
          <p:nvPr/>
        </p:nvSpPr>
        <p:spPr>
          <a:xfrm xmlns:a="http://schemas.openxmlformats.org/drawingml/2006/main">
            <a:off x="419100" y="4019550"/>
            <a:ext cx="4000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eaLnBrk="0">
              <a:buNone/>
              <a:defRPr sz="1725" b="1" i="0">
                <a:solidFill>
                  <a:srgbClr val="00C1D4"/>
                </a:solidFill>
                <a:latin typeface="Noto Sans KR"/>
                <a:ea typeface="Noto Sans KR"/>
                <a:cs typeface="Noto Sans KR"/>
              </a:defRPr>
            </a:pPr>
            <a:r>
              <a:rPr sz="1725" b="1" i="0">
                <a:solidFill>
                  <a:srgbClr val="00B7C9"/>
                </a:solidFill>
                <a:latin typeface="Noto Sans KR"/>
                <a:ea typeface="Noto Sans KR"/>
                <a:cs typeface="Noto Sans KR"/>
              </a:rPr>
              <a:t>TABLE OF CONTENTS</a:t>
            </a:r>
          </a:p>
        </p:txBody>
      </p:sp>
      <p:sp>
        <p:nvSpPr>
          <p:cNvPr id="7" name="contents-ko">
            <a:extLst xmlns:a="http://schemas.openxmlformats.org/drawingml/2006/main">
              <a:ext uri="{FF2B5EF4-FFF2-40B4-BE49-F238E27FC236}">
                <a16:creationId xmlns:a16="http://schemas.microsoft.com/office/drawing/2014/main" id="{99A460E5-8765-444E-944E-1A8069ABC357}"/>
              </a:ext>
            </a:extLst>
          </p:cNvPr>
          <p:cNvSpPr>
            <a:spLocks xmlns:a="http://schemas.openxmlformats.org/drawingml/2006/main" noGrp="1"/>
          </p:cNvSpPr>
          <p:nvPr/>
        </p:nvSpPr>
        <p:spPr>
          <a:xfrm xmlns:a="http://schemas.openxmlformats.org/drawingml/2006/main">
            <a:off x="1257300" y="4600575"/>
            <a:ext cx="23812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eaLnBrk="0">
              <a:buNone/>
              <a:defRPr sz="2925" b="1" i="0">
                <a:solidFill>
                  <a:srgbClr val="FFFFFF"/>
                </a:solidFill>
                <a:latin typeface="Noto Sans KR"/>
                <a:ea typeface="Noto Sans KR"/>
                <a:cs typeface="Noto Sans KR"/>
              </a:defRPr>
            </a:pPr>
            <a:r>
              <a:rPr sz="2925" b="1" i="0">
                <a:solidFill>
                  <a:srgbClr val="FFFFFF"/>
                </a:solidFill>
                <a:latin typeface="Noto Sans KR"/>
                <a:ea typeface="Noto Sans KR"/>
                <a:cs typeface="Noto Sans KR"/>
              </a:rPr>
              <a:t>목차 안내</a:t>
            </a:r>
          </a:p>
        </p:txBody>
      </p:sp>
      <p:sp>
        <p:nvSpPr>
          <p:cNvPr id="8" name="contents-orange">
            <a:extLst xmlns:a="http://schemas.openxmlformats.org/drawingml/2006/main">
              <a:ext uri="{FF2B5EF4-FFF2-40B4-BE49-F238E27FC236}">
                <a16:creationId xmlns:a16="http://schemas.microsoft.com/office/drawing/2014/main" id="{D5323B82-A54D-47BA-8350-BCD7E58DB666}"/>
              </a:ext>
            </a:extLst>
          </p:cNvPr>
          <p:cNvSpPr>
            <a:spLocks xmlns:a="http://schemas.openxmlformats.org/drawingml/2006/main" noGrp="1"/>
          </p:cNvSpPr>
          <p:nvPr/>
        </p:nvSpPr>
        <p:spPr>
          <a:xfrm xmlns:a="http://schemas.openxmlformats.org/drawingml/2006/main">
            <a:off x="2057400" y="5381625"/>
            <a:ext cx="704850" cy="0"/>
          </a:xfrm>
          <a:prstGeom xmlns:a="http://schemas.openxmlformats.org/drawingml/2006/main" prst="line">
            <a:avLst/>
          </a:prstGeom>
          <a:noFill xmlns:a="http://schemas.openxmlformats.org/drawingml/2006/main"/>
          <a:ln xmlns:a="http://schemas.openxmlformats.org/drawingml/2006/main" w="38100">
            <a:solidFill>
              <a:srgbClr val="FF6B00"/>
            </a:solidFill>
            <a:prstDash val="solid"/>
          </a:ln>
        </p:spPr>
        <p:txBody>
          <a:bodyPr xmlns:a="http://schemas.openxmlformats.org/drawingml/2006/main"/>
          <a:lstStyle xmlns:a="http://schemas.openxmlformats.org/drawingml/2006/main"/>
          <a:p xmlns:a="http://schemas.openxmlformats.org/drawingml/2006/main">
            <a:endParaRPr/>
          </a:p>
        </p:txBody>
      </p:sp>
      <p:sp xmlns:a="http://schemas.openxmlformats.org/drawingml/2006/main">
        <p:nvSpPr>
          <p:cNvPr id="40" name="toc-0-0-number"/>
          <p:cNvSpPr txBox="1"/>
          <p:nvPr/>
        </p:nvSpPr>
        <p:spPr>
          <a:xfrm>
            <a:off x="5353050" y="2819400"/>
            <a:ext cx="581025" cy="419100"/>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00B7C9"/>
                </a:solidFill>
                <a:latin typeface="Noto Sans KR"/>
              </a:rPr>
              <a:t>01</a:t>
            </a:r>
          </a:p>
        </p:txBody>
      </p:sp>
      <p:sp xmlns:a="http://schemas.openxmlformats.org/drawingml/2006/main">
        <p:nvSpPr>
          <p:cNvPr id="41" name="toc-0-0-label"/>
          <p:cNvSpPr txBox="1"/>
          <p:nvPr/>
        </p:nvSpPr>
        <p:spPr>
          <a:xfrm>
            <a:off x="5972175" y="2867025"/>
            <a:ext cx="3952875" cy="523875"/>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1D2227"/>
                </a:solidFill>
                <a:latin typeface="Noto Sans KR"/>
              </a:rPr>
              <a:t>프로젝트 개요</a:t>
            </a:r>
          </a:p>
        </p:txBody>
      </p:sp>
      <p:sp xmlns:a="http://schemas.openxmlformats.org/drawingml/2006/main">
        <p:nvSpPr>
          <p:cNvPr id="42" name="toc-0-0-rule"/>
          <p:cNvSpPr/>
          <p:nvPr/>
        </p:nvSpPr>
        <p:spPr>
          <a:xfrm>
            <a:off x="5353050" y="3429000"/>
            <a:ext cx="4543425" cy="9525"/>
          </a:xfrm>
          <a:prstGeom prst="rect">
            <a:avLst/>
          </a:prstGeom>
          <a:solidFill>
            <a:srgbClr val="DCE5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3" name="toc-0-1-number"/>
          <p:cNvSpPr txBox="1"/>
          <p:nvPr/>
        </p:nvSpPr>
        <p:spPr>
          <a:xfrm>
            <a:off x="5353050" y="3581400"/>
            <a:ext cx="581025" cy="419100"/>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00B7C9"/>
                </a:solidFill>
                <a:latin typeface="Noto Sans KR"/>
              </a:rPr>
              <a:t>02</a:t>
            </a:r>
          </a:p>
        </p:txBody>
      </p:sp>
      <p:sp xmlns:a="http://schemas.openxmlformats.org/drawingml/2006/main">
        <p:nvSpPr>
          <p:cNvPr id="44" name="toc-0-1-label"/>
          <p:cNvSpPr txBox="1"/>
          <p:nvPr/>
        </p:nvSpPr>
        <p:spPr>
          <a:xfrm>
            <a:off x="5972175" y="3629025"/>
            <a:ext cx="3952875" cy="523875"/>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1D2227"/>
                </a:solidFill>
                <a:latin typeface="Noto Sans KR"/>
              </a:rPr>
              <a:t>사업 설계와 3개월 목표</a:t>
            </a:r>
          </a:p>
        </p:txBody>
      </p:sp>
      <p:sp xmlns:a="http://schemas.openxmlformats.org/drawingml/2006/main">
        <p:nvSpPr>
          <p:cNvPr id="45" name="toc-0-1-rule"/>
          <p:cNvSpPr/>
          <p:nvPr/>
        </p:nvSpPr>
        <p:spPr>
          <a:xfrm>
            <a:off x="5353050" y="4191000"/>
            <a:ext cx="4543425" cy="9525"/>
          </a:xfrm>
          <a:prstGeom prst="rect">
            <a:avLst/>
          </a:prstGeom>
          <a:solidFill>
            <a:srgbClr val="DCE5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6" name="toc-0-2-number"/>
          <p:cNvSpPr txBox="1"/>
          <p:nvPr/>
        </p:nvSpPr>
        <p:spPr>
          <a:xfrm>
            <a:off x="5353050" y="4343400"/>
            <a:ext cx="581025" cy="419100"/>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00B7C9"/>
                </a:solidFill>
                <a:latin typeface="Noto Sans KR"/>
              </a:rPr>
              <a:t>03</a:t>
            </a:r>
          </a:p>
        </p:txBody>
      </p:sp>
      <p:sp xmlns:a="http://schemas.openxmlformats.org/drawingml/2006/main">
        <p:nvSpPr>
          <p:cNvPr id="47" name="toc-0-2-label"/>
          <p:cNvSpPr txBox="1"/>
          <p:nvPr/>
        </p:nvSpPr>
        <p:spPr>
          <a:xfrm>
            <a:off x="5972175" y="4391025"/>
            <a:ext cx="3952875" cy="523875"/>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1D2227"/>
                </a:solidFill>
                <a:latin typeface="Noto Sans KR"/>
              </a:rPr>
              <a:t>지역별 참고 사례</a:t>
            </a:r>
          </a:p>
        </p:txBody>
      </p:sp>
      <p:sp xmlns:a="http://schemas.openxmlformats.org/drawingml/2006/main">
        <p:nvSpPr>
          <p:cNvPr id="48" name="toc-0-2-rule"/>
          <p:cNvSpPr/>
          <p:nvPr/>
        </p:nvSpPr>
        <p:spPr>
          <a:xfrm>
            <a:off x="5353050" y="4953000"/>
            <a:ext cx="4543425" cy="9525"/>
          </a:xfrm>
          <a:prstGeom prst="rect">
            <a:avLst/>
          </a:prstGeom>
          <a:solidFill>
            <a:srgbClr val="DCE5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9" name="toc-0-3-number"/>
          <p:cNvSpPr txBox="1"/>
          <p:nvPr/>
        </p:nvSpPr>
        <p:spPr>
          <a:xfrm>
            <a:off x="5353050" y="5105400"/>
            <a:ext cx="581025" cy="419100"/>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00B7C9"/>
                </a:solidFill>
                <a:latin typeface="Noto Sans KR"/>
              </a:rPr>
              <a:t>04</a:t>
            </a:r>
          </a:p>
        </p:txBody>
      </p:sp>
      <p:sp xmlns:a="http://schemas.openxmlformats.org/drawingml/2006/main">
        <p:nvSpPr>
          <p:cNvPr id="50" name="toc-0-3-label"/>
          <p:cNvSpPr txBox="1"/>
          <p:nvPr/>
        </p:nvSpPr>
        <p:spPr>
          <a:xfrm>
            <a:off x="5972175" y="5153025"/>
            <a:ext cx="3952875" cy="523875"/>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1D2227"/>
                </a:solidFill>
                <a:latin typeface="Noto Sans KR"/>
              </a:rPr>
              <a:t>사례 선정 근거</a:t>
            </a:r>
          </a:p>
        </p:txBody>
      </p:sp>
      <p:sp xmlns:a="http://schemas.openxmlformats.org/drawingml/2006/main">
        <p:nvSpPr>
          <p:cNvPr id="51" name="toc-0-3-rule"/>
          <p:cNvSpPr/>
          <p:nvPr/>
        </p:nvSpPr>
        <p:spPr>
          <a:xfrm>
            <a:off x="5353050" y="5715000"/>
            <a:ext cx="4543425" cy="9525"/>
          </a:xfrm>
          <a:prstGeom prst="rect">
            <a:avLst/>
          </a:prstGeom>
          <a:solidFill>
            <a:srgbClr val="DCE5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2" name="toc-0-4-number"/>
          <p:cNvSpPr txBox="1"/>
          <p:nvPr/>
        </p:nvSpPr>
        <p:spPr>
          <a:xfrm>
            <a:off x="5353050" y="5867400"/>
            <a:ext cx="581025" cy="419100"/>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00B7C9"/>
                </a:solidFill>
                <a:latin typeface="Noto Sans KR"/>
              </a:rPr>
              <a:t>05</a:t>
            </a:r>
          </a:p>
        </p:txBody>
      </p:sp>
      <p:sp xmlns:a="http://schemas.openxmlformats.org/drawingml/2006/main">
        <p:nvSpPr>
          <p:cNvPr id="53" name="toc-0-4-label"/>
          <p:cNvSpPr txBox="1"/>
          <p:nvPr/>
        </p:nvSpPr>
        <p:spPr>
          <a:xfrm>
            <a:off x="5972175" y="5915025"/>
            <a:ext cx="3952875" cy="523875"/>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1D2227"/>
                </a:solidFill>
                <a:latin typeface="Noto Sans KR"/>
              </a:rPr>
              <a:t>4단계 실행 가이드</a:t>
            </a:r>
          </a:p>
        </p:txBody>
      </p:sp>
      <p:sp xmlns:a="http://schemas.openxmlformats.org/drawingml/2006/main">
        <p:nvSpPr>
          <p:cNvPr id="54" name="toc-0-4-rule"/>
          <p:cNvSpPr/>
          <p:nvPr/>
        </p:nvSpPr>
        <p:spPr>
          <a:xfrm>
            <a:off x="5353050" y="6477000"/>
            <a:ext cx="4543425" cy="9525"/>
          </a:xfrm>
          <a:prstGeom prst="rect">
            <a:avLst/>
          </a:prstGeom>
          <a:solidFill>
            <a:srgbClr val="DCE5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5" name="toc-0-5-number"/>
          <p:cNvSpPr txBox="1"/>
          <p:nvPr/>
        </p:nvSpPr>
        <p:spPr>
          <a:xfrm>
            <a:off x="5353050" y="6629400"/>
            <a:ext cx="581025" cy="419100"/>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00B7C9"/>
                </a:solidFill>
                <a:latin typeface="Noto Sans KR"/>
              </a:rPr>
              <a:t>06</a:t>
            </a:r>
          </a:p>
        </p:txBody>
      </p:sp>
      <p:sp xmlns:a="http://schemas.openxmlformats.org/drawingml/2006/main">
        <p:nvSpPr>
          <p:cNvPr id="56" name="toc-0-5-label"/>
          <p:cNvSpPr txBox="1"/>
          <p:nvPr/>
        </p:nvSpPr>
        <p:spPr>
          <a:xfrm>
            <a:off x="5972175" y="6677025"/>
            <a:ext cx="3952875" cy="523875"/>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1D2227"/>
                </a:solidFill>
                <a:latin typeface="Noto Sans KR"/>
              </a:rPr>
              <a:t>세부 실행내역</a:t>
            </a:r>
          </a:p>
        </p:txBody>
      </p:sp>
      <p:sp xmlns:a="http://schemas.openxmlformats.org/drawingml/2006/main">
        <p:nvSpPr>
          <p:cNvPr id="57" name="toc-0-5-rule"/>
          <p:cNvSpPr/>
          <p:nvPr/>
        </p:nvSpPr>
        <p:spPr>
          <a:xfrm>
            <a:off x="5353050" y="7239000"/>
            <a:ext cx="4543425" cy="9525"/>
          </a:xfrm>
          <a:prstGeom prst="rect">
            <a:avLst/>
          </a:prstGeom>
          <a:solidFill>
            <a:srgbClr val="DCE5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8" name="toc-1-0-number"/>
          <p:cNvSpPr txBox="1"/>
          <p:nvPr/>
        </p:nvSpPr>
        <p:spPr>
          <a:xfrm>
            <a:off x="10496550" y="2819400"/>
            <a:ext cx="581025" cy="419100"/>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00B7C9"/>
                </a:solidFill>
                <a:latin typeface="Noto Sans KR"/>
              </a:rPr>
              <a:t>07</a:t>
            </a:r>
          </a:p>
        </p:txBody>
      </p:sp>
      <p:sp xmlns:a="http://schemas.openxmlformats.org/drawingml/2006/main">
        <p:nvSpPr>
          <p:cNvPr id="59" name="toc-1-0-label"/>
          <p:cNvSpPr txBox="1"/>
          <p:nvPr/>
        </p:nvSpPr>
        <p:spPr>
          <a:xfrm>
            <a:off x="11115675" y="2867025"/>
            <a:ext cx="3952875" cy="523875"/>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1D2227"/>
                </a:solidFill>
                <a:latin typeface="Noto Sans KR"/>
              </a:rPr>
              <a:t>ML 전망과 목표 KPI</a:t>
            </a:r>
          </a:p>
        </p:txBody>
      </p:sp>
      <p:sp xmlns:a="http://schemas.openxmlformats.org/drawingml/2006/main">
        <p:nvSpPr>
          <p:cNvPr id="60" name="toc-1-0-rule"/>
          <p:cNvSpPr/>
          <p:nvPr/>
        </p:nvSpPr>
        <p:spPr>
          <a:xfrm>
            <a:off x="10496550" y="3429000"/>
            <a:ext cx="4543425" cy="9525"/>
          </a:xfrm>
          <a:prstGeom prst="rect">
            <a:avLst/>
          </a:prstGeom>
          <a:solidFill>
            <a:srgbClr val="DCE5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61" name="toc-1-1-number"/>
          <p:cNvSpPr txBox="1"/>
          <p:nvPr/>
        </p:nvSpPr>
        <p:spPr>
          <a:xfrm>
            <a:off x="10496550" y="3581400"/>
            <a:ext cx="581025" cy="419100"/>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00B7C9"/>
                </a:solidFill>
                <a:latin typeface="Noto Sans KR"/>
              </a:rPr>
              <a:t>08</a:t>
            </a:r>
          </a:p>
        </p:txBody>
      </p:sp>
      <p:sp xmlns:a="http://schemas.openxmlformats.org/drawingml/2006/main">
        <p:nvSpPr>
          <p:cNvPr id="62" name="toc-1-1-label"/>
          <p:cNvSpPr txBox="1"/>
          <p:nvPr/>
        </p:nvSpPr>
        <p:spPr>
          <a:xfrm>
            <a:off x="11115675" y="3629025"/>
            <a:ext cx="3952875" cy="523875"/>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1D2227"/>
                </a:solidFill>
                <a:latin typeface="Noto Sans KR"/>
              </a:rPr>
              <a:t>사례 실적과 목표 설정</a:t>
            </a:r>
          </a:p>
        </p:txBody>
      </p:sp>
      <p:sp xmlns:a="http://schemas.openxmlformats.org/drawingml/2006/main">
        <p:nvSpPr>
          <p:cNvPr id="63" name="toc-1-1-rule"/>
          <p:cNvSpPr/>
          <p:nvPr/>
        </p:nvSpPr>
        <p:spPr>
          <a:xfrm>
            <a:off x="10496550" y="4191000"/>
            <a:ext cx="4543425" cy="9525"/>
          </a:xfrm>
          <a:prstGeom prst="rect">
            <a:avLst/>
          </a:prstGeom>
          <a:solidFill>
            <a:srgbClr val="DCE5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64" name="toc-1-2-number"/>
          <p:cNvSpPr txBox="1"/>
          <p:nvPr/>
        </p:nvSpPr>
        <p:spPr>
          <a:xfrm>
            <a:off x="10496550" y="4343400"/>
            <a:ext cx="581025" cy="419100"/>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00B7C9"/>
                </a:solidFill>
                <a:latin typeface="Noto Sans KR"/>
              </a:rPr>
              <a:t>09</a:t>
            </a:r>
          </a:p>
        </p:txBody>
      </p:sp>
      <p:sp xmlns:a="http://schemas.openxmlformats.org/drawingml/2006/main">
        <p:nvSpPr>
          <p:cNvPr id="65" name="toc-1-2-label"/>
          <p:cNvSpPr txBox="1"/>
          <p:nvPr/>
        </p:nvSpPr>
        <p:spPr>
          <a:xfrm>
            <a:off x="11115675" y="4391025"/>
            <a:ext cx="3952875" cy="523875"/>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1D2227"/>
                </a:solidFill>
                <a:latin typeface="Noto Sans KR"/>
              </a:rPr>
              <a:t>견적</a:t>
            </a:r>
          </a:p>
        </p:txBody>
      </p:sp>
      <p:sp xmlns:a="http://schemas.openxmlformats.org/drawingml/2006/main">
        <p:nvSpPr>
          <p:cNvPr id="66" name="toc-1-2-rule"/>
          <p:cNvSpPr/>
          <p:nvPr/>
        </p:nvSpPr>
        <p:spPr>
          <a:xfrm>
            <a:off x="10496550" y="4953000"/>
            <a:ext cx="4543425" cy="9525"/>
          </a:xfrm>
          <a:prstGeom prst="rect">
            <a:avLst/>
          </a:prstGeom>
          <a:solidFill>
            <a:srgbClr val="DCE5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67" name="toc-1-3-number"/>
          <p:cNvSpPr txBox="1"/>
          <p:nvPr/>
        </p:nvSpPr>
        <p:spPr>
          <a:xfrm>
            <a:off x="10496550" y="5105400"/>
            <a:ext cx="581025" cy="419100"/>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00B7C9"/>
                </a:solidFill>
                <a:latin typeface="Noto Sans KR"/>
              </a:rPr>
              <a:t>10</a:t>
            </a:r>
          </a:p>
        </p:txBody>
      </p:sp>
      <p:sp xmlns:a="http://schemas.openxmlformats.org/drawingml/2006/main">
        <p:nvSpPr>
          <p:cNvPr id="68" name="toc-1-3-label"/>
          <p:cNvSpPr txBox="1"/>
          <p:nvPr/>
        </p:nvSpPr>
        <p:spPr>
          <a:xfrm>
            <a:off x="11115675" y="5153025"/>
            <a:ext cx="3952875" cy="523875"/>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1D2227"/>
                </a:solidFill>
                <a:latin typeface="Noto Sans KR"/>
              </a:rPr>
              <a:t>근거·데이터·출처</a:t>
            </a:r>
          </a:p>
        </p:txBody>
      </p:sp>
      <p:sp xmlns:a="http://schemas.openxmlformats.org/drawingml/2006/main">
        <p:nvSpPr>
          <p:cNvPr id="69" name="toc-1-3-rule"/>
          <p:cNvSpPr/>
          <p:nvPr/>
        </p:nvSpPr>
        <p:spPr>
          <a:xfrm>
            <a:off x="10496550" y="5715000"/>
            <a:ext cx="4543425" cy="9525"/>
          </a:xfrm>
          <a:prstGeom prst="rect">
            <a:avLst/>
          </a:prstGeom>
          <a:solidFill>
            <a:srgbClr val="DCE5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70" name="toc-1-4-number"/>
          <p:cNvSpPr txBox="1"/>
          <p:nvPr/>
        </p:nvSpPr>
        <p:spPr>
          <a:xfrm>
            <a:off x="10496550" y="5867400"/>
            <a:ext cx="581025" cy="419100"/>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00B7C9"/>
                </a:solidFill>
                <a:latin typeface="Noto Sans KR"/>
              </a:rPr>
              <a:t>11</a:t>
            </a:r>
          </a:p>
        </p:txBody>
      </p:sp>
      <p:sp xmlns:a="http://schemas.openxmlformats.org/drawingml/2006/main">
        <p:nvSpPr>
          <p:cNvPr id="71" name="toc-1-4-label"/>
          <p:cNvSpPr txBox="1"/>
          <p:nvPr/>
        </p:nvSpPr>
        <p:spPr>
          <a:xfrm>
            <a:off x="11115675" y="5915025"/>
            <a:ext cx="3952875" cy="523875"/>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1D2227"/>
                </a:solidFill>
                <a:latin typeface="Noto Sans KR"/>
              </a:rPr>
              <a:t>맺음말</a:t>
            </a:r>
          </a:p>
        </p:txBody>
      </p:sp>
      <p:sp xmlns:a="http://schemas.openxmlformats.org/drawingml/2006/main">
        <p:nvSpPr>
          <p:cNvPr id="72" name="toc-1-4-rule"/>
          <p:cNvSpPr/>
          <p:nvPr/>
        </p:nvSpPr>
        <p:spPr>
          <a:xfrm>
            <a:off x="10496550" y="6477000"/>
            <a:ext cx="4543425" cy="9525"/>
          </a:xfrm>
          <a:prstGeom prst="rect">
            <a:avLst/>
          </a:prstGeom>
          <a:solidFill>
            <a:srgbClr val="DCE5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extLst>
      <p:ext uri="{BB962C8B-B14F-4D97-AF65-F5344CB8AC3E}">
        <p14:creationId xmlns:p14="http://schemas.microsoft.com/office/powerpoint/2010/main" val="70192671"/>
      </p:ext>
    </p:extLst>
  </p:cSld>
</p:sld>
</file>

<file path=ppt/slides/slide3.xml><?xml version="1.0" encoding="utf-8"?>
<p:sld xmlns:p="http://schemas.openxmlformats.org/presentationml/2006/main">
  <p:cSld>
    <p:bg>
      <p:bgPr>
        <a:solidFill xmlns:a="http://schemas.openxmlformats.org/drawingml/2006/main">
          <a:srgbClr val="F4F7FA"/>
        </a:solidFill>
      </p:bgPr>
    </p:bg>
    <p:spTree>
      <p:nvGrpSpPr>
        <p:cNvPr id="1" name=""/>
        <p:cNvGrpSpPr/>
        <p:nvPr/>
      </p:nvGrpSpPr>
      <p:grpSpPr>
        <a:xfrm xmlns:a="http://schemas.openxmlformats.org/drawingml/2006/main"/>
      </p:grpSpPr>
      <p:pic>
        <p:nvPicPr>
          <p:cNvPr id="33" name="visitor-photo"/>
          <p:cNvPicPr>
            <a:picLocks xmlns:a="http://schemas.openxmlformats.org/drawingml/2006/main" noChangeAspect="1"/>
          </p:cNvPicPr>
          <p:nvPr/>
        </p:nvPicPr>
        <p:blipFill>
          <a:blip xmlns:r="http://schemas.openxmlformats.org/officeDocument/2006/relationships" xmlns:a="http://schemas.openxmlformats.org/drawingml/2006/main" r:embed="Re0802ea4bb724ca1"/>
          <a:srcRect xmlns:a="http://schemas.openxmlformats.org/drawingml/2006/main" l="347" t="0" r="347" b="0"/>
          <a:stretch xmlns:a="http://schemas.openxmlformats.org/drawingml/2006/main">
            <a:fillRect l="0" t="0" r="0" b="0"/>
          </a:stretch>
        </p:blipFill>
        <p:spPr>
          <a:xfrm xmlns:a="http://schemas.openxmlformats.org/drawingml/2006/main">
            <a:off x="0" y="0"/>
            <a:ext cx="4791075" cy="8572500"/>
          </a:xfrm>
          <a:prstGeom xmlns:a="http://schemas.openxmlformats.org/drawingml/2006/main" prst="rect">
            <a:avLst/>
          </a:prstGeom>
        </p:spPr>
      </p:pic>
      <p:sp>
        <p:nvSpPr>
          <p:cNvPr id="3" name="title-rule">
            <a:extLst xmlns:a="http://schemas.openxmlformats.org/drawingml/2006/main">
              <a:ext uri="{FF2B5EF4-FFF2-40B4-BE49-F238E27FC236}">
                <a16:creationId xmlns:a16="http://schemas.microsoft.com/office/drawing/2014/main" id="{7BB0242C-FDEC-4963-ABFB-596DC97C0148}"/>
              </a:ext>
            </a:extLst>
          </p:cNvPr>
          <p:cNvSpPr>
            <a:spLocks xmlns:a="http://schemas.openxmlformats.org/drawingml/2006/main" noGrp="1"/>
          </p:cNvSpPr>
          <p:nvPr/>
        </p:nvSpPr>
        <p:spPr>
          <a:xfrm xmlns:a="http://schemas.openxmlformats.org/drawingml/2006/main">
            <a:off x="4772025" y="2152650"/>
            <a:ext cx="10439400" cy="0"/>
          </a:xfrm>
          <a:prstGeom xmlns:a="http://schemas.openxmlformats.org/drawingml/2006/main" prst="line">
            <a:avLst/>
          </a:prstGeom>
          <a:noFill xmlns:a="http://schemas.openxmlformats.org/drawingml/2006/main"/>
          <a:ln xmlns:a="http://schemas.openxmlformats.org/drawingml/2006/main" w="38100">
            <a:solidFill>
              <a:srgbClr val="004EA2"/>
            </a:solidFill>
            <a:prstDash val="solid"/>
          </a:ln>
        </p:spPr>
        <p:txBody>
          <a:bodyPr xmlns:a="http://schemas.openxmlformats.org/drawingml/2006/main"/>
          <a:lstStyle xmlns:a="http://schemas.openxmlformats.org/drawingml/2006/main"/>
          <a:p xmlns:a="http://schemas.openxmlformats.org/drawingml/2006/main">
            <a:endParaRPr/>
          </a:p>
        </p:txBody>
      </p:sp>
      <p:sp>
        <p:nvSpPr>
          <p:cNvPr id="15" name="hero-source-bg">
            <a:extLst xmlns:a="http://schemas.openxmlformats.org/drawingml/2006/main">
              <a:ext uri="{FF2B5EF4-FFF2-40B4-BE49-F238E27FC236}">
                <a16:creationId xmlns:a16="http://schemas.microsoft.com/office/drawing/2014/main" id="{CDA4A852-90A1-4F7A-85C3-CC9CF369CFEA}"/>
              </a:ext>
            </a:extLst>
          </p:cNvPr>
          <p:cNvSpPr>
            <a:spLocks xmlns:a="http://schemas.openxmlformats.org/drawingml/2006/main" noGrp="1"/>
          </p:cNvSpPr>
          <p:nvPr/>
        </p:nvSpPr>
        <p:spPr>
          <a:xfrm xmlns:a="http://schemas.openxmlformats.org/drawingml/2006/main">
            <a:off x="228600" y="8020050"/>
            <a:ext cx="4333875" cy="342900"/>
          </a:xfrm>
          <a:prstGeom xmlns:a="http://schemas.openxmlformats.org/drawingml/2006/main" prst="roundRect">
            <a:avLst>
              <a:gd name="adj" fmla="val 5556"/>
            </a:avLst>
          </a:prstGeom>
          <a:solidFill xmlns:a="http://schemas.openxmlformats.org/drawingml/2006/main">
            <a:srgbClr val="0B2F5B"/>
          </a:solidFill>
          <a:ln xmlns:a="http://schemas.openxmlformats.org/drawingml/2006/main" w="9525">
            <a:solidFill>
              <a:srgbClr val="0B2F5B"/>
            </a:solidFill>
            <a:prstDash val="solid"/>
          </a:ln>
        </p:spPr>
        <p:txBody>
          <a:bodyPr xmlns:a="http://schemas.openxmlformats.org/drawingml/2006/main"/>
          <a:lstStyle xmlns:a="http://schemas.openxmlformats.org/drawingml/2006/main"/>
          <a:p xmlns:a="http://schemas.openxmlformats.org/drawingml/2006/main">
            <a:endParaRPr/>
          </a:p>
        </p:txBody>
      </p:sp>
      <p:sp>
        <p:nvSpPr>
          <p:cNvPr id="16" name="hero-source-label">
            <a:extLst xmlns:a="http://schemas.openxmlformats.org/drawingml/2006/main">
              <a:ext uri="{FF2B5EF4-FFF2-40B4-BE49-F238E27FC236}">
                <a16:creationId xmlns:a16="http://schemas.microsoft.com/office/drawing/2014/main" id="{D1920FBE-F92C-4035-AAA5-C13D7F354553}"/>
              </a:ext>
            </a:extLst>
          </p:cNvPr>
          <p:cNvSpPr>
            <a:spLocks xmlns:a="http://schemas.openxmlformats.org/drawingml/2006/main" noGrp="1"/>
          </p:cNvSpPr>
          <p:nvPr/>
        </p:nvSpPr>
        <p:spPr>
          <a:xfrm xmlns:a="http://schemas.openxmlformats.org/drawingml/2006/main">
            <a:off x="323850" y="8001000"/>
            <a:ext cx="414337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wrap="none" lIns="57150" rIns="57150" tIns="38100" bIns="38100">
            <a:noAutofit/>
          </a:bodyPr>
          <a:lstStyle xmlns:a="http://schemas.openxmlformats.org/drawingml/2006/main"/>
          <a:p xmlns:a="http://schemas.openxmlformats.org/drawingml/2006/main">
            <a:pPr algn="l" eaLnBrk="0">
              <a:lnSpc>
                <a:spcPts val="1593"/>
              </a:lnSpc>
              <a:spcBef>
                <a:spcPts val="0"/>
              </a:spcBef>
              <a:spcAft>
                <a:spcPts val="0"/>
              </a:spcAft>
              <a:buNone/>
              <a:defRPr sz="825" b="0" i="0">
                <a:solidFill>
                  <a:srgbClr val="FFFFFF"/>
                </a:solidFill>
                <a:latin typeface="Noto Sans KR"/>
                <a:ea typeface="Noto Sans KR"/>
                <a:cs typeface="Noto Sans KR"/>
              </a:defRPr>
            </a:pPr>
            <a:r>
              <a:rPr sz="1275" b="0">
                <a:solidFill>
                  <a:srgbClr val="FFFFFF"/>
                </a:solidFill>
                <a:latin typeface="Noto Sans KR"/>
              </a:rPr>
              <a:t>참고 이미지 · 실제 장소 사진 아님</a:t>
            </a:r>
          </a:p>
        </p:txBody>
      </p:sp>
      <p:sp xmlns:a="http://schemas.openxmlformats.org/drawingml/2006/main">
        <p:nvSpPr>
          <p:cNvPr id="34" name="title"/>
          <p:cNvSpPr txBox="1"/>
          <p:nvPr/>
        </p:nvSpPr>
        <p:spPr>
          <a:xfrm>
            <a:off x="5343525" y="762000"/>
            <a:ext cx="9048750" cy="1285875"/>
          </a:xfrm>
          <a:prstGeom prst="rect">
            <a:avLst/>
          </a:prstGeom>
          <a:noFill/>
        </p:spPr>
        <p:txBody>
          <a:bodyPr wrap="none" lIns="57150" rIns="57150" tIns="38100" bIns="38100" anchor="t">
            <a:noAutofit/>
          </a:bodyPr>
          <a:lstStyle/>
          <a:p>
            <a:pPr eaLnBrk="0">
              <a:lnSpc>
                <a:spcPts val="4312"/>
              </a:lnSpc>
              <a:spcBef>
                <a:spcPts val="0"/>
              </a:spcBef>
              <a:spcAft>
                <a:spcPts val="0"/>
              </a:spcAft>
            </a:pPr>
            <a:r>
              <a:rPr sz="3450" b="1">
                <a:solidFill>
                  <a:srgbClr val="004EA2"/>
                </a:solidFill>
                <a:latin typeface="Noto Sans KR"/>
              </a:rPr>
              <a:t>원주시 지역사랑 휴가지원 (반값여행) 프로그램</a:t>
            </a:r>
          </a:p>
        </p:txBody>
      </p:sp>
      <p:sp xmlns:a="http://schemas.openxmlformats.org/drawingml/2006/main">
        <p:nvSpPr>
          <p:cNvPr id="35" name="s3-thesis"/>
          <p:cNvSpPr txBox="1"/>
          <p:nvPr/>
        </p:nvSpPr>
        <p:spPr>
          <a:xfrm>
            <a:off x="5343525" y="2619375"/>
            <a:ext cx="8524875" cy="1809750"/>
          </a:xfrm>
          <a:prstGeom prst="rect">
            <a:avLst/>
          </a:prstGeom>
          <a:noFill/>
        </p:spPr>
        <p:txBody>
          <a:bodyPr wrap="none" lIns="57150" rIns="57150" tIns="38100" bIns="38100" anchor="t">
            <a:noAutofit/>
          </a:bodyPr>
          <a:lstStyle/>
          <a:p>
            <a:pPr eaLnBrk="0">
              <a:lnSpc>
                <a:spcPts val="3187"/>
              </a:lnSpc>
              <a:spcBef>
                <a:spcPts val="0"/>
              </a:spcBef>
              <a:spcAft>
                <a:spcPts val="0"/>
              </a:spcAft>
            </a:pPr>
            <a:r>
              <a:rPr sz="2550" b="1">
                <a:solidFill>
                  <a:srgbClr val="1D2227"/>
                </a:solidFill>
                <a:latin typeface="Noto Sans KR"/>
              </a:rPr>
              <a:t>원주시 내 지정된 관광·식음·숙박 가맹점에서 일정 금액 이상</a:t>
            </a:r>
          </a:p>
          <a:p>
            <a:pPr eaLnBrk="0">
              <a:lnSpc>
                <a:spcPts val="3187"/>
              </a:lnSpc>
              <a:spcBef>
                <a:spcPts val="0"/>
              </a:spcBef>
              <a:spcAft>
                <a:spcPts val="0"/>
              </a:spcAft>
            </a:pPr>
            <a:r>
              <a:rPr sz="2550" b="1">
                <a:solidFill>
                  <a:srgbClr val="1D2227"/>
                </a:solidFill>
                <a:latin typeface="Noto Sans KR"/>
              </a:rPr>
              <a:t>결제한 외지인에게 결제액의 일부를 원주사랑상품권으로</a:t>
            </a:r>
          </a:p>
          <a:p>
            <a:pPr eaLnBrk="0">
              <a:lnSpc>
                <a:spcPts val="3187"/>
              </a:lnSpc>
              <a:spcBef>
                <a:spcPts val="0"/>
              </a:spcBef>
              <a:spcAft>
                <a:spcPts val="0"/>
              </a:spcAft>
            </a:pPr>
            <a:r>
              <a:rPr sz="2550" b="1">
                <a:solidFill>
                  <a:srgbClr val="1D2227"/>
                </a:solidFill>
                <a:latin typeface="Noto Sans KR"/>
              </a:rPr>
              <a:t>환급하여 지역 내 재소비를 유도함.</a:t>
            </a:r>
          </a:p>
        </p:txBody>
      </p:sp>
      <p:sp xmlns:a="http://schemas.openxmlformats.org/drawingml/2006/main">
        <p:nvSpPr>
          <p:cNvPr id="36" name="s3-detail-label"/>
          <p:cNvSpPr txBox="1"/>
          <p:nvPr/>
        </p:nvSpPr>
        <p:spPr>
          <a:xfrm>
            <a:off x="5343525" y="4762500"/>
            <a:ext cx="8524875" cy="428625"/>
          </a:xfrm>
          <a:prstGeom prst="rect">
            <a:avLst/>
          </a:prstGeom>
          <a:noFill/>
        </p:spPr>
        <p:txBody>
          <a:bodyPr wrap="none" lIns="57150" rIns="57150" tIns="38100" bIns="38100" anchor="t">
            <a:noAutofit/>
          </a:bodyPr>
          <a:lstStyle/>
          <a:p>
            <a:pPr eaLnBrk="0">
              <a:lnSpc>
                <a:spcPts val="2437"/>
              </a:lnSpc>
              <a:spcBef>
                <a:spcPts val="0"/>
              </a:spcBef>
              <a:spcAft>
                <a:spcPts val="0"/>
              </a:spcAft>
            </a:pPr>
            <a:r>
              <a:rPr sz="1950" b="1">
                <a:solidFill>
                  <a:srgbClr val="004EA2"/>
                </a:solidFill>
                <a:latin typeface="Noto Sans KR"/>
              </a:rPr>
              <a:t>사업 대상과 운영 범위</a:t>
            </a:r>
          </a:p>
        </p:txBody>
      </p:sp>
      <p:sp xmlns:a="http://schemas.openxmlformats.org/drawingml/2006/main">
        <p:nvSpPr>
          <p:cNvPr id="37" name="s3-detail"/>
          <p:cNvSpPr txBox="1"/>
          <p:nvPr/>
        </p:nvSpPr>
        <p:spPr>
          <a:xfrm>
            <a:off x="5343525" y="5276850"/>
            <a:ext cx="8524875" cy="904875"/>
          </a:xfrm>
          <a:prstGeom prst="rect">
            <a:avLst/>
          </a:prstGeom>
          <a:noFill/>
        </p:spPr>
        <p:txBody>
          <a:bodyPr wrap="none" lIns="57150" rIns="57150" tIns="38100" bIns="38100" anchor="t">
            <a:noAutofit/>
          </a:bodyPr>
          <a:lstStyle/>
          <a:p>
            <a:pPr eaLnBrk="0">
              <a:lnSpc>
                <a:spcPts val="2437"/>
              </a:lnSpc>
              <a:spcBef>
                <a:spcPts val="0"/>
              </a:spcBef>
              <a:spcAft>
                <a:spcPts val="0"/>
              </a:spcAft>
            </a:pPr>
            <a:r>
              <a:rPr sz="1950" b="0">
                <a:solidFill>
                  <a:srgbClr val="59636E"/>
                </a:solidFill>
                <a:latin typeface="Noto Sans KR"/>
              </a:rPr>
              <a:t>2026-09 ~ 2026-11, 3개월</a:t>
            </a:r>
          </a:p>
        </p:txBody>
      </p:sp>
      <p:sp xmlns:a="http://schemas.openxmlformats.org/drawingml/2006/main">
        <p:nvSpPr>
          <p:cNvPr id="38" name="s3-operation-rule"/>
          <p:cNvSpPr/>
          <p:nvPr/>
        </p:nvSpPr>
        <p:spPr>
          <a:xfrm>
            <a:off x="5400675" y="6457950"/>
            <a:ext cx="57150" cy="1209675"/>
          </a:xfrm>
          <a:prstGeom prst="rect">
            <a:avLst/>
          </a:prstGeom>
          <a:solidFill>
            <a:srgbClr val="00B7C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s3-operation"/>
          <p:cNvSpPr txBox="1"/>
          <p:nvPr/>
        </p:nvSpPr>
        <p:spPr>
          <a:xfrm>
            <a:off x="5610225" y="6505575"/>
            <a:ext cx="8096250" cy="1285875"/>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0">
                <a:solidFill>
                  <a:srgbClr val="59636E"/>
                </a:solidFill>
                <a:latin typeface="Noto Sans KR"/>
              </a:rPr>
              <a:t>지역 내 상품권 발행 및 환급 시스템 구축, 참여 업체 확보, 환급 기준 및 절차 마련</a:t>
            </a:r>
          </a:p>
        </p:txBody>
      </p:sp>
    </p:spTree>
    <p:extLst>
      <p:ext uri="{BB962C8B-B14F-4D97-AF65-F5344CB8AC3E}">
        <p14:creationId xmlns:p14="http://schemas.microsoft.com/office/powerpoint/2010/main" val="1308887362"/>
      </p:ext>
    </p:extLst>
  </p:cSld>
</p:sld>
</file>

<file path=ppt/slides/slide4.xml><?xml version="1.0" encoding="utf-8"?>
<p:sld xmlns:p="http://schemas.openxmlformats.org/presentationml/2006/main">
  <p:cSld>
    <p:bg>
      <p:bgPr>
        <a:solidFill xmlns:a="http://schemas.openxmlformats.org/drawingml/2006/main">
          <a:srgbClr val="F4F7FA"/>
        </a:solidFill>
      </p:bgPr>
    </p:bg>
    <p:spTree>
      <p:nvGrpSpPr>
        <p:cNvPr id="1" name=""/>
        <p:cNvGrpSpPr/>
        <p:nvPr/>
      </p:nvGrpSpPr>
      <p:grpSpPr>
        <a:xfrm xmlns:a="http://schemas.openxmlformats.org/drawingml/2006/main"/>
      </p:grpSpPr>
      <p:sp xmlns:a="http://schemas.openxmlformats.org/drawingml/2006/main">
        <p:nvSpPr>
          <p:cNvPr id="2" name="title"/>
          <p:cNvSpPr txBox="1"/>
          <p:nvPr/>
        </p:nvSpPr>
        <p:spPr>
          <a:xfrm>
            <a:off x="952500" y="714375"/>
            <a:ext cx="13335000" cy="809625"/>
          </a:xfrm>
          <a:prstGeom prst="rect">
            <a:avLst/>
          </a:prstGeom>
          <a:noFill/>
        </p:spPr>
        <p:txBody>
          <a:bodyPr wrap="none" lIns="57150" rIns="57150" tIns="38100" bIns="38100" anchor="t">
            <a:noAutofit/>
          </a:bodyPr>
          <a:lstStyle/>
          <a:p>
            <a:pPr eaLnBrk="0">
              <a:lnSpc>
                <a:spcPts val="4500"/>
              </a:lnSpc>
              <a:spcBef>
                <a:spcPts val="0"/>
              </a:spcBef>
              <a:spcAft>
                <a:spcPts val="0"/>
              </a:spcAft>
            </a:pPr>
            <a:r>
              <a:rPr sz="3600" b="1">
                <a:solidFill>
                  <a:srgbClr val="004EA2"/>
                </a:solidFill>
                <a:latin typeface="Noto Sans KR"/>
              </a:rPr>
              <a:t>사업 설계와 3개월 목표</a:t>
            </a:r>
          </a:p>
        </p:txBody>
      </p:sp>
      <p:sp xmlns:a="http://schemas.openxmlformats.org/drawingml/2006/main">
        <p:nvSpPr>
          <p:cNvPr id="3" name="title-rule"/>
          <p:cNvSpPr/>
          <p:nvPr/>
        </p:nvSpPr>
        <p:spPr>
          <a:xfrm>
            <a:off x="1009650" y="1724025"/>
            <a:ext cx="13220700" cy="28575"/>
          </a:xfrm>
          <a:prstGeom prst="rect">
            <a:avLst/>
          </a:prstGeom>
          <a:solidFill>
            <a:srgbClr val="004E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 name="block-0"/>
          <p:cNvSpPr/>
          <p:nvPr/>
        </p:nvSpPr>
        <p:spPr>
          <a:xfrm>
            <a:off x="1009650" y="2057400"/>
            <a:ext cx="4267200" cy="1971675"/>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 name="block-rail-0"/>
          <p:cNvSpPr/>
          <p:nvPr/>
        </p:nvSpPr>
        <p:spPr>
          <a:xfrm>
            <a:off x="1009650" y="2057400"/>
            <a:ext cx="57150" cy="1971675"/>
          </a:xfrm>
          <a:prstGeom prst="rect">
            <a:avLst/>
          </a:prstGeom>
          <a:solidFill>
            <a:srgbClr val="004E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6" name="block-title-0"/>
          <p:cNvSpPr txBox="1"/>
          <p:nvPr/>
        </p:nvSpPr>
        <p:spPr>
          <a:xfrm>
            <a:off x="1181100" y="2200275"/>
            <a:ext cx="3943350" cy="381000"/>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004EA2"/>
                </a:solidFill>
                <a:latin typeface="Noto Sans KR"/>
              </a:rPr>
              <a:t>사업내용</a:t>
            </a:r>
          </a:p>
        </p:txBody>
      </p:sp>
      <p:sp xmlns:a="http://schemas.openxmlformats.org/drawingml/2006/main">
        <p:nvSpPr>
          <p:cNvPr id="7" name="block-body-0"/>
          <p:cNvSpPr txBox="1"/>
          <p:nvPr/>
        </p:nvSpPr>
        <p:spPr>
          <a:xfrm>
            <a:off x="1181100" y="2676525"/>
            <a:ext cx="3943350" cy="1257300"/>
          </a:xfrm>
          <a:prstGeom prst="rect">
            <a:avLst/>
          </a:prstGeom>
          <a:noFill/>
        </p:spPr>
        <p:txBody>
          <a:bodyPr wrap="none" lIns="57150" rIns="57150" tIns="38100" bIns="38100" anchor="t">
            <a:noAutofit/>
          </a:bodyPr>
          <a:lstStyle/>
          <a:p>
            <a:pPr eaLnBrk="0">
              <a:lnSpc>
                <a:spcPts val="1968"/>
              </a:lnSpc>
              <a:spcBef>
                <a:spcPts val="0"/>
              </a:spcBef>
              <a:spcAft>
                <a:spcPts val="0"/>
              </a:spcAft>
            </a:pPr>
            <a:r>
              <a:rPr sz="1575" b="0">
                <a:solidFill>
                  <a:srgbClr val="59636E"/>
                </a:solidFill>
                <a:latin typeface="Noto Sans KR"/>
              </a:rPr>
              <a:t>원주시 내 지정된 관광·식음·숙박 가맹점에서</a:t>
            </a:r>
          </a:p>
          <a:p>
            <a:pPr eaLnBrk="0">
              <a:lnSpc>
                <a:spcPts val="1968"/>
              </a:lnSpc>
              <a:spcBef>
                <a:spcPts val="0"/>
              </a:spcBef>
              <a:spcAft>
                <a:spcPts val="0"/>
              </a:spcAft>
            </a:pPr>
            <a:r>
              <a:rPr sz="1575" b="0">
                <a:solidFill>
                  <a:srgbClr val="59636E"/>
                </a:solidFill>
                <a:latin typeface="Noto Sans KR"/>
              </a:rPr>
              <a:t>일정 금액 이상 결제한 외지인에게 결제액의</a:t>
            </a:r>
          </a:p>
          <a:p>
            <a:pPr eaLnBrk="0">
              <a:lnSpc>
                <a:spcPts val="1968"/>
              </a:lnSpc>
              <a:spcBef>
                <a:spcPts val="0"/>
              </a:spcBef>
              <a:spcAft>
                <a:spcPts val="0"/>
              </a:spcAft>
            </a:pPr>
            <a:r>
              <a:rPr sz="1575" b="0">
                <a:solidFill>
                  <a:srgbClr val="59636E"/>
                </a:solidFill>
                <a:latin typeface="Noto Sans KR"/>
              </a:rPr>
              <a:t>일부를 원주사랑상품권으로 환급하여 지역</a:t>
            </a:r>
          </a:p>
          <a:p>
            <a:pPr eaLnBrk="0">
              <a:lnSpc>
                <a:spcPts val="1968"/>
              </a:lnSpc>
              <a:spcBef>
                <a:spcPts val="0"/>
              </a:spcBef>
              <a:spcAft>
                <a:spcPts val="0"/>
              </a:spcAft>
            </a:pPr>
            <a:r>
              <a:rPr sz="1575" b="0">
                <a:solidFill>
                  <a:srgbClr val="59636E"/>
                </a:solidFill>
                <a:latin typeface="Noto Sans KR"/>
              </a:rPr>
              <a:t>내 재소비를 유도함.</a:t>
            </a:r>
          </a:p>
        </p:txBody>
      </p:sp>
      <p:sp xmlns:a="http://schemas.openxmlformats.org/drawingml/2006/main">
        <p:nvSpPr>
          <p:cNvPr id="8" name="block-1"/>
          <p:cNvSpPr/>
          <p:nvPr/>
        </p:nvSpPr>
        <p:spPr>
          <a:xfrm>
            <a:off x="5486400" y="2057400"/>
            <a:ext cx="4267200" cy="1971675"/>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9" name="block-rail-1"/>
          <p:cNvSpPr/>
          <p:nvPr/>
        </p:nvSpPr>
        <p:spPr>
          <a:xfrm>
            <a:off x="5486400" y="2057400"/>
            <a:ext cx="57150" cy="1971675"/>
          </a:xfrm>
          <a:prstGeom prst="rect">
            <a:avLst/>
          </a:prstGeom>
          <a:solidFill>
            <a:srgbClr val="00B7C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0" name="block-title-1"/>
          <p:cNvSpPr txBox="1"/>
          <p:nvPr/>
        </p:nvSpPr>
        <p:spPr>
          <a:xfrm>
            <a:off x="5657850" y="2200275"/>
            <a:ext cx="3943350" cy="381000"/>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004EA2"/>
                </a:solidFill>
                <a:latin typeface="Noto Sans KR"/>
              </a:rPr>
              <a:t>사업기간</a:t>
            </a:r>
          </a:p>
        </p:txBody>
      </p:sp>
      <p:sp xmlns:a="http://schemas.openxmlformats.org/drawingml/2006/main">
        <p:nvSpPr>
          <p:cNvPr id="11" name="block-body-1"/>
          <p:cNvSpPr txBox="1"/>
          <p:nvPr/>
        </p:nvSpPr>
        <p:spPr>
          <a:xfrm>
            <a:off x="5657850" y="2676525"/>
            <a:ext cx="3943350" cy="1257300"/>
          </a:xfrm>
          <a:prstGeom prst="rect">
            <a:avLst/>
          </a:prstGeom>
          <a:noFill/>
        </p:spPr>
        <p:txBody>
          <a:bodyPr wrap="none" lIns="57150" rIns="57150" tIns="38100" bIns="38100" anchor="t">
            <a:noAutofit/>
          </a:bodyPr>
          <a:lstStyle/>
          <a:p>
            <a:pPr eaLnBrk="0">
              <a:lnSpc>
                <a:spcPts val="1968"/>
              </a:lnSpc>
              <a:spcBef>
                <a:spcPts val="0"/>
              </a:spcBef>
              <a:spcAft>
                <a:spcPts val="0"/>
              </a:spcAft>
            </a:pPr>
            <a:r>
              <a:rPr sz="1575" b="0">
                <a:solidFill>
                  <a:srgbClr val="59636E"/>
                </a:solidFill>
                <a:latin typeface="Noto Sans KR"/>
              </a:rPr>
              <a:t>2026-09 ~ 2026-11, 3개월</a:t>
            </a:r>
          </a:p>
          <a:p>
            <a:pPr eaLnBrk="0">
              <a:lnSpc>
                <a:spcPts val="1968"/>
              </a:lnSpc>
              <a:spcBef>
                <a:spcPts val="0"/>
              </a:spcBef>
              <a:spcAft>
                <a:spcPts val="0"/>
              </a:spcAft>
            </a:pPr>
            <a:r>
              <a:rPr sz="1575" b="0">
                <a:solidFill>
                  <a:srgbClr val="59636E"/>
                </a:solidFill>
                <a:latin typeface="Noto Sans KR"/>
              </a:rPr>
              <a:t>준비·협의 → 시범 운영 → 성과 확인</a:t>
            </a:r>
          </a:p>
        </p:txBody>
      </p:sp>
      <p:sp xmlns:a="http://schemas.openxmlformats.org/drawingml/2006/main">
        <p:nvSpPr>
          <p:cNvPr id="12" name="block-2"/>
          <p:cNvSpPr/>
          <p:nvPr/>
        </p:nvSpPr>
        <p:spPr>
          <a:xfrm>
            <a:off x="9963150" y="2057400"/>
            <a:ext cx="4267200" cy="1971675"/>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3" name="block-rail-2"/>
          <p:cNvSpPr/>
          <p:nvPr/>
        </p:nvSpPr>
        <p:spPr>
          <a:xfrm>
            <a:off x="9963150" y="2057400"/>
            <a:ext cx="57150" cy="1971675"/>
          </a:xfrm>
          <a:prstGeom prst="rect">
            <a:avLst/>
          </a:prstGeom>
          <a:solidFill>
            <a:srgbClr val="004E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4" name="block-title-2"/>
          <p:cNvSpPr txBox="1"/>
          <p:nvPr/>
        </p:nvSpPr>
        <p:spPr>
          <a:xfrm>
            <a:off x="10134600" y="2200275"/>
            <a:ext cx="3943350" cy="381000"/>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004EA2"/>
                </a:solidFill>
                <a:latin typeface="Noto Sans KR"/>
              </a:rPr>
              <a:t>목표 KPI</a:t>
            </a:r>
          </a:p>
        </p:txBody>
      </p:sp>
      <p:sp xmlns:a="http://schemas.openxmlformats.org/drawingml/2006/main">
        <p:nvSpPr>
          <p:cNvPr id="15" name="block-body-2"/>
          <p:cNvSpPr txBox="1"/>
          <p:nvPr/>
        </p:nvSpPr>
        <p:spPr>
          <a:xfrm>
            <a:off x="10134600" y="2676525"/>
            <a:ext cx="3943350" cy="1257300"/>
          </a:xfrm>
          <a:prstGeom prst="rect">
            <a:avLst/>
          </a:prstGeom>
          <a:noFill/>
        </p:spPr>
        <p:txBody>
          <a:bodyPr wrap="none" lIns="57150" rIns="57150" tIns="38100" bIns="38100" anchor="t">
            <a:noAutofit/>
          </a:bodyPr>
          <a:lstStyle/>
          <a:p>
            <a:pPr eaLnBrk="0">
              <a:lnSpc>
                <a:spcPts val="1968"/>
              </a:lnSpc>
              <a:spcBef>
                <a:spcPts val="0"/>
              </a:spcBef>
              <a:spcAft>
                <a:spcPts val="0"/>
              </a:spcAft>
            </a:pPr>
            <a:r>
              <a:rPr sz="1575" b="0">
                <a:solidFill>
                  <a:srgbClr val="59636E"/>
                </a:solidFill>
                <a:latin typeface="Noto Sans KR"/>
              </a:rPr>
              <a:t>3개월 월별 합계</a:t>
            </a:r>
          </a:p>
          <a:p>
            <a:pPr eaLnBrk="0">
              <a:lnSpc>
                <a:spcPts val="1968"/>
              </a:lnSpc>
              <a:spcBef>
                <a:spcPts val="0"/>
              </a:spcBef>
              <a:spcAft>
                <a:spcPts val="0"/>
              </a:spcAft>
            </a:pPr>
            <a:r>
              <a:rPr sz="1575" b="0">
                <a:solidFill>
                  <a:srgbClr val="59636E"/>
                </a:solidFill>
                <a:latin typeface="Noto Sans KR"/>
              </a:rPr>
              <a:t>방문자 789만 명</a:t>
            </a:r>
          </a:p>
          <a:p>
            <a:pPr eaLnBrk="0">
              <a:lnSpc>
                <a:spcPts val="1968"/>
              </a:lnSpc>
              <a:spcBef>
                <a:spcPts val="0"/>
              </a:spcBef>
              <a:spcAft>
                <a:spcPts val="0"/>
              </a:spcAft>
            </a:pPr>
            <a:r>
              <a:rPr sz="1575" b="0">
                <a:solidFill>
                  <a:srgbClr val="59636E"/>
                </a:solidFill>
                <a:latin typeface="Noto Sans KR"/>
              </a:rPr>
              <a:t>관광소비액 2,493억 원</a:t>
            </a:r>
          </a:p>
        </p:txBody>
      </p:sp>
      <p:sp xmlns:a="http://schemas.openxmlformats.org/drawingml/2006/main">
        <p:nvSpPr>
          <p:cNvPr id="16" name="chart-panel-0"/>
          <p:cNvSpPr/>
          <p:nvPr/>
        </p:nvSpPr>
        <p:spPr>
          <a:xfrm>
            <a:off x="1009650" y="4248150"/>
            <a:ext cx="6419850" cy="333375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7" name="chart-title-0"/>
          <p:cNvSpPr txBox="1"/>
          <p:nvPr/>
        </p:nvSpPr>
        <p:spPr>
          <a:xfrm>
            <a:off x="1200150" y="4343400"/>
            <a:ext cx="6038850" cy="409575"/>
          </a:xfrm>
          <a:prstGeom prst="rect">
            <a:avLst/>
          </a:prstGeom>
          <a:noFill/>
        </p:spPr>
        <p:txBody>
          <a:bodyPr wrap="none" lIns="57150" rIns="57150" tIns="38100" bIns="38100" anchor="t">
            <a:noAutofit/>
          </a:bodyPr>
          <a:lstStyle/>
          <a:p>
            <a:pPr eaLnBrk="0" algn="ctr">
              <a:lnSpc>
                <a:spcPts val="2625"/>
              </a:lnSpc>
              <a:spcBef>
                <a:spcPts val="0"/>
              </a:spcBef>
              <a:spcAft>
                <a:spcPts val="0"/>
              </a:spcAft>
            </a:pPr>
            <a:r>
              <a:rPr sz="2100" b="1">
                <a:solidFill>
                  <a:srgbClr val="004EA2"/>
                </a:solidFill>
                <a:latin typeface="Noto Sans KR"/>
              </a:rPr>
              <a:t>관광객 방문자 수</a:t>
            </a:r>
          </a:p>
        </p:txBody>
      </p:sp>
      <p:graphicFrame xmlns:a="http://schemas.openxmlformats.org/drawingml/2006/main">
        <p:nvGraphicFramePr>
          <p:cNvPr id="18" name="comparison-chart-0"/>
          <p:cNvGraphicFramePr>
            <a:graphicFrameLocks noGrp="1"/>
          </p:cNvGraphicFramePr>
          <p:nvPr/>
        </p:nvGraphicFramePr>
        <p:xfrm>
          <a:off x="1123950" y="4857750"/>
          <a:ext cx="6191250" cy="2200275"/>
        </p:xfrm>
        <a:graphic>
          <a:graphicData uri="http://schemas.openxmlformats.org/drawingml/2006/chart">
            <c:chart xmlns:c="http://schemas.openxmlformats.org/drawingml/2006/chart" xmlns:r="http://schemas.openxmlformats.org/officeDocument/2006/relationships" r:id="rId3"/>
          </a:graphicData>
        </a:graphic>
      </p:graphicFrame>
      <p:sp xmlns:a="http://schemas.openxmlformats.org/drawingml/2006/main">
        <p:nvSpPr>
          <p:cNvPr id="19" name="comparison-chart-0-legend-line-0"/>
          <p:cNvSpPr/>
          <p:nvPr/>
        </p:nvSpPr>
        <p:spPr>
          <a:xfrm>
            <a:off x="2686050" y="7343775"/>
            <a:ext cx="238125" cy="28575"/>
          </a:xfrm>
          <a:prstGeom prst="rect">
            <a:avLst/>
          </a:prstGeom>
          <a:solidFill>
            <a:srgbClr val="004E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0" name="comparison-chart-0-legend-label-0"/>
          <p:cNvSpPr txBox="1"/>
          <p:nvPr/>
        </p:nvSpPr>
        <p:spPr>
          <a:xfrm>
            <a:off x="2971800" y="7229475"/>
            <a:ext cx="1476375" cy="285750"/>
          </a:xfrm>
          <a:prstGeom prst="rect">
            <a:avLst/>
          </a:prstGeom>
          <a:noFill/>
        </p:spPr>
        <p:txBody>
          <a:bodyPr wrap="none" lIns="57150" rIns="57150" tIns="38100" bIns="38100" anchor="t">
            <a:noAutofit/>
          </a:bodyPr>
          <a:lstStyle/>
          <a:p>
            <a:pPr eaLnBrk="0">
              <a:lnSpc>
                <a:spcPts val="1640"/>
              </a:lnSpc>
              <a:spcBef>
                <a:spcPts val="0"/>
              </a:spcBef>
              <a:spcAft>
                <a:spcPts val="0"/>
              </a:spcAft>
            </a:pPr>
            <a:r>
              <a:rPr sz="1312" b="0">
                <a:solidFill>
                  <a:srgbClr val="59636E"/>
                </a:solidFill>
                <a:latin typeface="Noto Sans KR"/>
              </a:rPr>
              <a:t>ML 기준 전망</a:t>
            </a:r>
          </a:p>
        </p:txBody>
      </p:sp>
      <p:sp xmlns:a="http://schemas.openxmlformats.org/drawingml/2006/main">
        <p:nvSpPr>
          <p:cNvPr id="21" name="comparison-chart-0-legend-line-1"/>
          <p:cNvSpPr/>
          <p:nvPr/>
        </p:nvSpPr>
        <p:spPr>
          <a:xfrm>
            <a:off x="4410075" y="7343775"/>
            <a:ext cx="238125" cy="28575"/>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2" name="comparison-chart-0-legend-label-1"/>
          <p:cNvSpPr txBox="1"/>
          <p:nvPr/>
        </p:nvSpPr>
        <p:spPr>
          <a:xfrm>
            <a:off x="4695825" y="7229475"/>
            <a:ext cx="1476375" cy="285750"/>
          </a:xfrm>
          <a:prstGeom prst="rect">
            <a:avLst/>
          </a:prstGeom>
          <a:noFill/>
        </p:spPr>
        <p:txBody>
          <a:bodyPr wrap="none" lIns="57150" rIns="57150" tIns="38100" bIns="38100" anchor="t">
            <a:noAutofit/>
          </a:bodyPr>
          <a:lstStyle/>
          <a:p>
            <a:pPr eaLnBrk="0">
              <a:lnSpc>
                <a:spcPts val="1640"/>
              </a:lnSpc>
              <a:spcBef>
                <a:spcPts val="0"/>
              </a:spcBef>
              <a:spcAft>
                <a:spcPts val="0"/>
              </a:spcAft>
            </a:pPr>
            <a:r>
              <a:rPr sz="1312" b="0">
                <a:solidFill>
                  <a:srgbClr val="59636E"/>
                </a:solidFill>
                <a:latin typeface="Noto Sans KR"/>
              </a:rPr>
              <a:t>목표 KPI</a:t>
            </a:r>
          </a:p>
        </p:txBody>
      </p:sp>
      <p:sp xmlns:a="http://schemas.openxmlformats.org/drawingml/2006/main">
        <p:nvSpPr>
          <p:cNvPr id="23" name="chart-panel-1"/>
          <p:cNvSpPr/>
          <p:nvPr/>
        </p:nvSpPr>
        <p:spPr>
          <a:xfrm>
            <a:off x="7810500" y="4248150"/>
            <a:ext cx="6419850" cy="333375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4" name="chart-title-1"/>
          <p:cNvSpPr txBox="1"/>
          <p:nvPr/>
        </p:nvSpPr>
        <p:spPr>
          <a:xfrm>
            <a:off x="8001000" y="4343400"/>
            <a:ext cx="6038850" cy="409575"/>
          </a:xfrm>
          <a:prstGeom prst="rect">
            <a:avLst/>
          </a:prstGeom>
          <a:noFill/>
        </p:spPr>
        <p:txBody>
          <a:bodyPr wrap="none" lIns="57150" rIns="57150" tIns="38100" bIns="38100" anchor="t">
            <a:noAutofit/>
          </a:bodyPr>
          <a:lstStyle/>
          <a:p>
            <a:pPr eaLnBrk="0" algn="ctr">
              <a:lnSpc>
                <a:spcPts val="2625"/>
              </a:lnSpc>
              <a:spcBef>
                <a:spcPts val="0"/>
              </a:spcBef>
              <a:spcAft>
                <a:spcPts val="0"/>
              </a:spcAft>
            </a:pPr>
            <a:r>
              <a:rPr sz="2100" b="1">
                <a:solidFill>
                  <a:srgbClr val="004EA2"/>
                </a:solidFill>
                <a:latin typeface="Noto Sans KR"/>
              </a:rPr>
              <a:t>관광소비액</a:t>
            </a:r>
          </a:p>
        </p:txBody>
      </p:sp>
      <p:graphicFrame xmlns:a="http://schemas.openxmlformats.org/drawingml/2006/main">
        <p:nvGraphicFramePr>
          <p:cNvPr id="25" name="comparison-chart-1"/>
          <p:cNvGraphicFramePr>
            <a:graphicFrameLocks noGrp="1"/>
          </p:cNvGraphicFramePr>
          <p:nvPr/>
        </p:nvGraphicFramePr>
        <p:xfrm>
          <a:off x="7924800" y="4857750"/>
          <a:ext cx="6191250" cy="2200275"/>
        </p:xfrm>
        <a:graphic>
          <a:graphicData uri="http://schemas.openxmlformats.org/drawingml/2006/chart">
            <c:chart xmlns:c="http://schemas.openxmlformats.org/drawingml/2006/chart" xmlns:r="http://schemas.openxmlformats.org/officeDocument/2006/relationships" r:id="rId4"/>
          </a:graphicData>
        </a:graphic>
      </p:graphicFrame>
      <p:sp xmlns:a="http://schemas.openxmlformats.org/drawingml/2006/main">
        <p:nvSpPr>
          <p:cNvPr id="26" name="comparison-chart-1-legend-line-0"/>
          <p:cNvSpPr/>
          <p:nvPr/>
        </p:nvSpPr>
        <p:spPr>
          <a:xfrm>
            <a:off x="9486900" y="7343775"/>
            <a:ext cx="238125" cy="28575"/>
          </a:xfrm>
          <a:prstGeom prst="rect">
            <a:avLst/>
          </a:prstGeom>
          <a:solidFill>
            <a:srgbClr val="004E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7" name="comparison-chart-1-legend-label-0"/>
          <p:cNvSpPr txBox="1"/>
          <p:nvPr/>
        </p:nvSpPr>
        <p:spPr>
          <a:xfrm>
            <a:off x="9772650" y="7229475"/>
            <a:ext cx="1476375" cy="285750"/>
          </a:xfrm>
          <a:prstGeom prst="rect">
            <a:avLst/>
          </a:prstGeom>
          <a:noFill/>
        </p:spPr>
        <p:txBody>
          <a:bodyPr wrap="none" lIns="57150" rIns="57150" tIns="38100" bIns="38100" anchor="t">
            <a:noAutofit/>
          </a:bodyPr>
          <a:lstStyle/>
          <a:p>
            <a:pPr eaLnBrk="0">
              <a:lnSpc>
                <a:spcPts val="1640"/>
              </a:lnSpc>
              <a:spcBef>
                <a:spcPts val="0"/>
              </a:spcBef>
              <a:spcAft>
                <a:spcPts val="0"/>
              </a:spcAft>
            </a:pPr>
            <a:r>
              <a:rPr sz="1312" b="0">
                <a:solidFill>
                  <a:srgbClr val="59636E"/>
                </a:solidFill>
                <a:latin typeface="Noto Sans KR"/>
              </a:rPr>
              <a:t>ML 기준 전망</a:t>
            </a:r>
          </a:p>
        </p:txBody>
      </p:sp>
      <p:sp xmlns:a="http://schemas.openxmlformats.org/drawingml/2006/main">
        <p:nvSpPr>
          <p:cNvPr id="28" name="comparison-chart-1-legend-line-1"/>
          <p:cNvSpPr/>
          <p:nvPr/>
        </p:nvSpPr>
        <p:spPr>
          <a:xfrm>
            <a:off x="11210925" y="7343775"/>
            <a:ext cx="238125" cy="28575"/>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9" name="comparison-chart-1-legend-label-1"/>
          <p:cNvSpPr txBox="1"/>
          <p:nvPr/>
        </p:nvSpPr>
        <p:spPr>
          <a:xfrm>
            <a:off x="11496675" y="7229475"/>
            <a:ext cx="1476375" cy="285750"/>
          </a:xfrm>
          <a:prstGeom prst="rect">
            <a:avLst/>
          </a:prstGeom>
          <a:noFill/>
        </p:spPr>
        <p:txBody>
          <a:bodyPr wrap="none" lIns="57150" rIns="57150" tIns="38100" bIns="38100" anchor="t">
            <a:noAutofit/>
          </a:bodyPr>
          <a:lstStyle/>
          <a:p>
            <a:pPr eaLnBrk="0">
              <a:lnSpc>
                <a:spcPts val="1640"/>
              </a:lnSpc>
              <a:spcBef>
                <a:spcPts val="0"/>
              </a:spcBef>
              <a:spcAft>
                <a:spcPts val="0"/>
              </a:spcAft>
            </a:pPr>
            <a:r>
              <a:rPr sz="1312" b="0">
                <a:solidFill>
                  <a:srgbClr val="59636E"/>
                </a:solidFill>
                <a:latin typeface="Noto Sans KR"/>
              </a:rPr>
              <a:t>목표 KPI</a:t>
            </a:r>
          </a:p>
        </p:txBody>
      </p:sp>
      <p:sp xmlns:a="http://schemas.openxmlformats.org/drawingml/2006/main">
        <p:nvSpPr>
          <p:cNvPr id="30" name="comparison-note"/>
          <p:cNvSpPr txBox="1"/>
          <p:nvPr/>
        </p:nvSpPr>
        <p:spPr>
          <a:xfrm>
            <a:off x="1009650" y="7724775"/>
            <a:ext cx="13220700" cy="600075"/>
          </a:xfrm>
          <a:prstGeom prst="rect">
            <a:avLst/>
          </a:prstGeom>
          <a:noFill/>
        </p:spPr>
        <p:txBody>
          <a:bodyPr wrap="none" lIns="57150" rIns="57150" tIns="38100" bIns="38100" anchor="t">
            <a:noAutofit/>
          </a:bodyPr>
          <a:lstStyle/>
          <a:p>
            <a:pPr eaLnBrk="0">
              <a:lnSpc>
                <a:spcPts val="1875"/>
              </a:lnSpc>
              <a:spcBef>
                <a:spcPts val="0"/>
              </a:spcBef>
              <a:spcAft>
                <a:spcPts val="0"/>
              </a:spcAft>
            </a:pPr>
            <a:r>
              <a:rPr sz="1500" b="0">
                <a:solidFill>
                  <a:srgbClr val="59636E"/>
                </a:solidFill>
                <a:latin typeface="Noto Sans KR"/>
              </a:rPr>
              <a:t>202401~202606 월별 방문·소비의 1·3·12개월 전 값과 계절 정보로 산출한 저장 전망입니다. ML 기준 전망은 참고값이며, 신규 사업 효과를 학습한 예측치가 아닙니다.</a:t>
            </a:r>
          </a:p>
        </p:txBody>
      </p:sp>
    </p:spTree>
    <p:extLst>
      <p:ext uri="{BB962C8B-B14F-4D97-AF65-F5344CB8AC3E}">
        <p14:creationId xmlns:p14="http://schemas.microsoft.com/office/powerpoint/2010/main" val="380383987"/>
      </p:ext>
    </p:extLst>
  </p:cSld>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4F7FA"/>
        </a:solidFill>
        <a:effectLst/>
      </p:bgPr>
    </p:bg>
    <p:spTree>
      <p:nvGrpSpPr>
        <p:cNvPr id="1" name=""/>
        <p:cNvGrpSpPr/>
        <p:nvPr/>
      </p:nvGrpSpPr>
      <p:grpSpPr/>
      <p:sp>
        <p:nvSpPr>
          <p:cNvPr id="2" name="title"/>
          <p:cNvSpPr txBox="1"/>
          <p:nvPr/>
        </p:nvSpPr>
        <p:spPr>
          <a:xfrm>
            <a:off x="952500" y="714375"/>
            <a:ext cx="13335000" cy="809625"/>
          </a:xfrm>
          <a:prstGeom prst="rect">
            <a:avLst/>
          </a:prstGeom>
          <a:noFill/>
        </p:spPr>
        <p:txBody>
          <a:bodyPr wrap="none" lIns="57150" rIns="57150" tIns="38100" bIns="38100" anchor="t">
            <a:noAutofit/>
          </a:bodyPr>
          <a:lstStyle/>
          <a:p>
            <a:pPr eaLnBrk="0">
              <a:lnSpc>
                <a:spcPts val="4500"/>
              </a:lnSpc>
              <a:spcBef>
                <a:spcPts val="0"/>
              </a:spcBef>
              <a:spcAft>
                <a:spcPts val="0"/>
              </a:spcAft>
            </a:pPr>
            <a:r>
              <a:rPr sz="3600" b="1">
                <a:solidFill>
                  <a:srgbClr val="004EA2"/>
                </a:solidFill>
                <a:latin typeface="Noto Sans KR"/>
              </a:rPr>
              <a:t>세부 실행내역</a:t>
            </a:r>
          </a:p>
        </p:txBody>
      </p:sp>
      <p:sp>
        <p:nvSpPr>
          <p:cNvPr id="3" name="title-rule"/>
          <p:cNvSpPr/>
          <p:nvPr/>
        </p:nvSpPr>
        <p:spPr>
          <a:xfrm>
            <a:off x="1009650" y="1724025"/>
            <a:ext cx="13220700" cy="28575"/>
          </a:xfrm>
          <a:prstGeom prst="rect">
            <a:avLst/>
          </a:prstGeom>
          <a:solidFill>
            <a:srgbClr val="004E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execution-intro"/>
          <p:cNvSpPr txBox="1"/>
          <p:nvPr/>
        </p:nvSpPr>
        <p:spPr>
          <a:xfrm>
            <a:off x="1009650" y="1943100"/>
            <a:ext cx="13220700" cy="514350"/>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0">
                <a:solidFill>
                  <a:srgbClr val="59636E"/>
                </a:solidFill>
                <a:latin typeface="Noto Sans KR"/>
              </a:rPr>
              <a:t>원주시 지역사랑 휴가지원 (반값여행) 프로그램의 단계별 실행 방법입니다. 적용 조건은 담당자와 협의해 확정합니다.</a:t>
            </a:r>
          </a:p>
        </p:txBody>
      </p:sp>
      <p:sp>
        <p:nvSpPr>
          <p:cNvPr id="5" name="detail-rule-0"/>
          <p:cNvSpPr/>
          <p:nvPr/>
        </p:nvSpPr>
        <p:spPr>
          <a:xfrm>
            <a:off x="1009650" y="3848100"/>
            <a:ext cx="13220700" cy="9525"/>
          </a:xfrm>
          <a:prstGeom prst="rect">
            <a:avLst/>
          </a:prstGeom>
          <a:solidFill>
            <a:srgbClr val="DCE5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detail-number-0"/>
          <p:cNvSpPr txBox="1"/>
          <p:nvPr/>
        </p:nvSpPr>
        <p:spPr>
          <a:xfrm>
            <a:off x="1028700" y="2733675"/>
            <a:ext cx="666750" cy="523875"/>
          </a:xfrm>
          <a:prstGeom prst="rect">
            <a:avLst/>
          </a:prstGeom>
          <a:noFill/>
        </p:spPr>
        <p:txBody>
          <a:bodyPr wrap="none" lIns="57150" rIns="57150" tIns="38100" bIns="38100" anchor="t">
            <a:noAutofit/>
          </a:bodyPr>
          <a:lstStyle/>
          <a:p>
            <a:pPr eaLnBrk="0">
              <a:lnSpc>
                <a:spcPts val="3281"/>
              </a:lnSpc>
              <a:spcBef>
                <a:spcPts val="0"/>
              </a:spcBef>
              <a:spcAft>
                <a:spcPts val="0"/>
              </a:spcAft>
            </a:pPr>
            <a:r>
              <a:rPr sz="2625" b="1">
                <a:solidFill>
                  <a:srgbClr val="00B7C9"/>
                </a:solidFill>
                <a:latin typeface="Noto Sans KR"/>
              </a:rPr>
              <a:t>01</a:t>
            </a:r>
          </a:p>
        </p:txBody>
      </p:sp>
      <p:sp>
        <p:nvSpPr>
          <p:cNvPr id="7" name="detail-stage-0"/>
          <p:cNvSpPr txBox="1"/>
          <p:nvPr/>
        </p:nvSpPr>
        <p:spPr>
          <a:xfrm>
            <a:off x="1847850" y="2771775"/>
            <a:ext cx="2733675" cy="457200"/>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004EA2"/>
                </a:solidFill>
                <a:latin typeface="Noto Sans KR"/>
              </a:rPr>
              <a:t>준비와 협의</a:t>
            </a:r>
          </a:p>
        </p:txBody>
      </p:sp>
      <p:sp>
        <p:nvSpPr>
          <p:cNvPr id="8" name="detail-role-0"/>
          <p:cNvSpPr txBox="1"/>
          <p:nvPr/>
        </p:nvSpPr>
        <p:spPr>
          <a:xfrm>
            <a:off x="1847850" y="3228975"/>
            <a:ext cx="2733675" cy="371475"/>
          </a:xfrm>
          <a:prstGeom prst="rect">
            <a:avLst/>
          </a:prstGeom>
          <a:noFill/>
        </p:spPr>
        <p:txBody>
          <a:bodyPr wrap="none" lIns="57150" rIns="57150" tIns="38100" bIns="38100" anchor="t">
            <a:noAutofit/>
          </a:bodyPr>
          <a:lstStyle/>
          <a:p>
            <a:pPr eaLnBrk="0">
              <a:lnSpc>
                <a:spcPts val="1781"/>
              </a:lnSpc>
              <a:spcBef>
                <a:spcPts val="0"/>
              </a:spcBef>
              <a:spcAft>
                <a:spcPts val="0"/>
              </a:spcAft>
            </a:pPr>
            <a:r>
              <a:rPr sz="1425" b="0">
                <a:solidFill>
                  <a:srgbClr val="59636E"/>
                </a:solidFill>
                <a:latin typeface="Noto Sans KR"/>
              </a:rPr>
              <a:t>사업 총괄</a:t>
            </a:r>
          </a:p>
        </p:txBody>
      </p:sp>
      <p:sp>
        <p:nvSpPr>
          <p:cNvPr id="9" name="detail-lead-0"/>
          <p:cNvSpPr txBox="1"/>
          <p:nvPr/>
        </p:nvSpPr>
        <p:spPr>
          <a:xfrm>
            <a:off x="4895850" y="2705100"/>
            <a:ext cx="9201150" cy="390525"/>
          </a:xfrm>
          <a:prstGeom prst="rect">
            <a:avLst/>
          </a:prstGeom>
          <a:noFill/>
        </p:spPr>
        <p:txBody>
          <a:bodyPr wrap="none" lIns="57150" rIns="57150" tIns="38100" bIns="38100" anchor="t">
            <a:noAutofit/>
          </a:bodyPr>
          <a:lstStyle/>
          <a:p>
            <a:pPr eaLnBrk="0">
              <a:lnSpc>
                <a:spcPts val="2250"/>
              </a:lnSpc>
              <a:spcBef>
                <a:spcPts val="0"/>
              </a:spcBef>
              <a:spcAft>
                <a:spcPts val="0"/>
              </a:spcAft>
            </a:pPr>
            <a:r>
              <a:rPr sz="1800" b="1">
                <a:solidFill>
                  <a:srgbClr val="1D2227"/>
                </a:solidFill>
                <a:latin typeface="Noto Sans KR"/>
              </a:rPr>
              <a:t>참여 가게와 지원 기준을 먼저 정합니다.</a:t>
            </a:r>
          </a:p>
        </p:txBody>
      </p:sp>
      <p:sp>
        <p:nvSpPr>
          <p:cNvPr id="10" name="detail-body-0"/>
          <p:cNvSpPr txBox="1"/>
          <p:nvPr/>
        </p:nvSpPr>
        <p:spPr>
          <a:xfrm>
            <a:off x="4895850" y="3133725"/>
            <a:ext cx="9201150" cy="695325"/>
          </a:xfrm>
          <a:prstGeom prst="rect">
            <a:avLst/>
          </a:prstGeom>
          <a:noFill/>
        </p:spPr>
        <p:txBody>
          <a:bodyPr wrap="none" lIns="57150" rIns="57150" tIns="38100" bIns="38100" anchor="t">
            <a:noAutofit/>
          </a:bodyPr>
          <a:lstStyle/>
          <a:p>
            <a:pPr eaLnBrk="0">
              <a:lnSpc>
                <a:spcPts val="2062"/>
              </a:lnSpc>
              <a:spcBef>
                <a:spcPts val="0"/>
              </a:spcBef>
              <a:spcAft>
                <a:spcPts val="0"/>
              </a:spcAft>
            </a:pPr>
            <a:r>
              <a:rPr sz="1650" b="0">
                <a:solidFill>
                  <a:srgbClr val="59636E"/>
                </a:solidFill>
                <a:latin typeface="Noto Sans KR"/>
              </a:rPr>
              <a:t>참여를 희망하는 가게에 사용 가능한 상품권과 정산 방법을 확인합니다. 지원 대상, 인정할 지출, 신청</a:t>
            </a:r>
          </a:p>
          <a:p>
            <a:pPr eaLnBrk="0">
              <a:lnSpc>
                <a:spcPts val="2062"/>
              </a:lnSpc>
              <a:spcBef>
                <a:spcPts val="0"/>
              </a:spcBef>
              <a:spcAft>
                <a:spcPts val="0"/>
              </a:spcAft>
            </a:pPr>
            <a:r>
              <a:rPr sz="1650" b="0">
                <a:solidFill>
                  <a:srgbClr val="59636E"/>
                </a:solidFill>
                <a:latin typeface="Noto Sans KR"/>
              </a:rPr>
              <a:t>마감일과 1인당 한도를 정해 같은 안내문을 배포합니다.</a:t>
            </a:r>
          </a:p>
        </p:txBody>
      </p:sp>
      <p:sp>
        <p:nvSpPr>
          <p:cNvPr id="11" name="detail-rule-1"/>
          <p:cNvSpPr/>
          <p:nvPr/>
        </p:nvSpPr>
        <p:spPr>
          <a:xfrm>
            <a:off x="1009650" y="5124450"/>
            <a:ext cx="13220700" cy="9525"/>
          </a:xfrm>
          <a:prstGeom prst="rect">
            <a:avLst/>
          </a:prstGeom>
          <a:solidFill>
            <a:srgbClr val="DCE5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detail-number-1"/>
          <p:cNvSpPr txBox="1"/>
          <p:nvPr/>
        </p:nvSpPr>
        <p:spPr>
          <a:xfrm>
            <a:off x="1028700" y="4010025"/>
            <a:ext cx="666750" cy="523875"/>
          </a:xfrm>
          <a:prstGeom prst="rect">
            <a:avLst/>
          </a:prstGeom>
          <a:noFill/>
        </p:spPr>
        <p:txBody>
          <a:bodyPr wrap="none" lIns="57150" rIns="57150" tIns="38100" bIns="38100" anchor="t">
            <a:noAutofit/>
          </a:bodyPr>
          <a:lstStyle/>
          <a:p>
            <a:pPr eaLnBrk="0">
              <a:lnSpc>
                <a:spcPts val="3281"/>
              </a:lnSpc>
              <a:spcBef>
                <a:spcPts val="0"/>
              </a:spcBef>
              <a:spcAft>
                <a:spcPts val="0"/>
              </a:spcAft>
            </a:pPr>
            <a:r>
              <a:rPr sz="2625" b="1">
                <a:solidFill>
                  <a:srgbClr val="00B7C9"/>
                </a:solidFill>
                <a:latin typeface="Noto Sans KR"/>
              </a:rPr>
              <a:t>02</a:t>
            </a:r>
          </a:p>
        </p:txBody>
      </p:sp>
      <p:sp>
        <p:nvSpPr>
          <p:cNvPr id="13" name="detail-stage-1"/>
          <p:cNvSpPr txBox="1"/>
          <p:nvPr/>
        </p:nvSpPr>
        <p:spPr>
          <a:xfrm>
            <a:off x="1847850" y="4048125"/>
            <a:ext cx="2733675" cy="457200"/>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004EA2"/>
                </a:solidFill>
                <a:latin typeface="Noto Sans KR"/>
              </a:rPr>
              <a:t>운영 절차 점검</a:t>
            </a:r>
          </a:p>
        </p:txBody>
      </p:sp>
      <p:sp>
        <p:nvSpPr>
          <p:cNvPr id="14" name="detail-role-1"/>
          <p:cNvSpPr txBox="1"/>
          <p:nvPr/>
        </p:nvSpPr>
        <p:spPr>
          <a:xfrm>
            <a:off x="1847850" y="4505325"/>
            <a:ext cx="2733675" cy="371475"/>
          </a:xfrm>
          <a:prstGeom prst="rect">
            <a:avLst/>
          </a:prstGeom>
          <a:noFill/>
        </p:spPr>
        <p:txBody>
          <a:bodyPr wrap="none" lIns="57150" rIns="57150" tIns="38100" bIns="38100" anchor="t">
            <a:noAutofit/>
          </a:bodyPr>
          <a:lstStyle/>
          <a:p>
            <a:pPr eaLnBrk="0">
              <a:lnSpc>
                <a:spcPts val="1781"/>
              </a:lnSpc>
              <a:spcBef>
                <a:spcPts val="0"/>
              </a:spcBef>
              <a:spcAft>
                <a:spcPts val="0"/>
              </a:spcAft>
            </a:pPr>
            <a:r>
              <a:rPr sz="1425" b="0">
                <a:solidFill>
                  <a:srgbClr val="59636E"/>
                </a:solidFill>
                <a:latin typeface="Noto Sans KR"/>
              </a:rPr>
              <a:t>운영·정산 담당</a:t>
            </a:r>
          </a:p>
        </p:txBody>
      </p:sp>
      <p:sp>
        <p:nvSpPr>
          <p:cNvPr id="15" name="detail-lead-1"/>
          <p:cNvSpPr txBox="1"/>
          <p:nvPr/>
        </p:nvSpPr>
        <p:spPr>
          <a:xfrm>
            <a:off x="4895850" y="3981450"/>
            <a:ext cx="9201150" cy="390525"/>
          </a:xfrm>
          <a:prstGeom prst="rect">
            <a:avLst/>
          </a:prstGeom>
          <a:noFill/>
        </p:spPr>
        <p:txBody>
          <a:bodyPr wrap="none" lIns="57150" rIns="57150" tIns="38100" bIns="38100" anchor="t">
            <a:noAutofit/>
          </a:bodyPr>
          <a:lstStyle/>
          <a:p>
            <a:pPr eaLnBrk="0">
              <a:lnSpc>
                <a:spcPts val="2250"/>
              </a:lnSpc>
              <a:spcBef>
                <a:spcPts val="0"/>
              </a:spcBef>
              <a:spcAft>
                <a:spcPts val="0"/>
              </a:spcAft>
            </a:pPr>
            <a:r>
              <a:rPr sz="1800" b="1">
                <a:solidFill>
                  <a:srgbClr val="1D2227"/>
                </a:solidFill>
                <a:latin typeface="Noto Sans KR"/>
              </a:rPr>
              <a:t>신청부터 지급까지 직접 시험합니다.</a:t>
            </a:r>
          </a:p>
        </p:txBody>
      </p:sp>
      <p:sp>
        <p:nvSpPr>
          <p:cNvPr id="16" name="detail-body-1"/>
          <p:cNvSpPr txBox="1"/>
          <p:nvPr/>
        </p:nvSpPr>
        <p:spPr>
          <a:xfrm>
            <a:off x="4895850" y="4410075"/>
            <a:ext cx="9201150" cy="695325"/>
          </a:xfrm>
          <a:prstGeom prst="rect">
            <a:avLst/>
          </a:prstGeom>
          <a:noFill/>
        </p:spPr>
        <p:txBody>
          <a:bodyPr wrap="none" lIns="57150" rIns="57150" tIns="38100" bIns="38100" anchor="t">
            <a:noAutofit/>
          </a:bodyPr>
          <a:lstStyle/>
          <a:p>
            <a:pPr eaLnBrk="0">
              <a:lnSpc>
                <a:spcPts val="2062"/>
              </a:lnSpc>
              <a:spcBef>
                <a:spcPts val="0"/>
              </a:spcBef>
              <a:spcAft>
                <a:spcPts val="0"/>
              </a:spcAft>
            </a:pPr>
            <a:r>
              <a:rPr sz="1650" b="0">
                <a:solidFill>
                  <a:srgbClr val="59636E"/>
                </a:solidFill>
                <a:latin typeface="Noto Sans KR"/>
              </a:rPr>
              <a:t>시험 신청서를 넣고 영수증의 날짜·가게·금액을 확인합니다. 취소 결제와 중복 신청을 걸러내고, 서류가</a:t>
            </a:r>
          </a:p>
          <a:p>
            <a:pPr eaLnBrk="0">
              <a:lnSpc>
                <a:spcPts val="2062"/>
              </a:lnSpc>
              <a:spcBef>
                <a:spcPts val="0"/>
              </a:spcBef>
              <a:spcAft>
                <a:spcPts val="0"/>
              </a:spcAft>
            </a:pPr>
            <a:r>
              <a:rPr sz="1650" b="0">
                <a:solidFill>
                  <a:srgbClr val="59636E"/>
                </a:solidFill>
                <a:latin typeface="Noto Sans KR"/>
              </a:rPr>
              <a:t>부족할 때 누구에게 보완을 요청할지도 정합니다.</a:t>
            </a:r>
          </a:p>
        </p:txBody>
      </p:sp>
      <p:sp>
        <p:nvSpPr>
          <p:cNvPr id="17" name="detail-rule-2"/>
          <p:cNvSpPr/>
          <p:nvPr/>
        </p:nvSpPr>
        <p:spPr>
          <a:xfrm>
            <a:off x="1009650" y="6400800"/>
            <a:ext cx="13220700" cy="9525"/>
          </a:xfrm>
          <a:prstGeom prst="rect">
            <a:avLst/>
          </a:prstGeom>
          <a:solidFill>
            <a:srgbClr val="DCE5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detail-number-2"/>
          <p:cNvSpPr txBox="1"/>
          <p:nvPr/>
        </p:nvSpPr>
        <p:spPr>
          <a:xfrm>
            <a:off x="1028700" y="5286375"/>
            <a:ext cx="666750" cy="523875"/>
          </a:xfrm>
          <a:prstGeom prst="rect">
            <a:avLst/>
          </a:prstGeom>
          <a:noFill/>
        </p:spPr>
        <p:txBody>
          <a:bodyPr wrap="none" lIns="57150" rIns="57150" tIns="38100" bIns="38100" anchor="t">
            <a:noAutofit/>
          </a:bodyPr>
          <a:lstStyle/>
          <a:p>
            <a:pPr eaLnBrk="0">
              <a:lnSpc>
                <a:spcPts val="3281"/>
              </a:lnSpc>
              <a:spcBef>
                <a:spcPts val="0"/>
              </a:spcBef>
              <a:spcAft>
                <a:spcPts val="0"/>
              </a:spcAft>
            </a:pPr>
            <a:r>
              <a:rPr sz="2625" b="1">
                <a:solidFill>
                  <a:srgbClr val="00B7C9"/>
                </a:solidFill>
                <a:latin typeface="Noto Sans KR"/>
              </a:rPr>
              <a:t>03</a:t>
            </a:r>
          </a:p>
        </p:txBody>
      </p:sp>
      <p:sp>
        <p:nvSpPr>
          <p:cNvPr id="19" name="detail-stage-2"/>
          <p:cNvSpPr txBox="1"/>
          <p:nvPr/>
        </p:nvSpPr>
        <p:spPr>
          <a:xfrm>
            <a:off x="1847850" y="5324475"/>
            <a:ext cx="2733675" cy="457200"/>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004EA2"/>
                </a:solidFill>
                <a:latin typeface="Noto Sans KR"/>
              </a:rPr>
              <a:t>시범 운영</a:t>
            </a:r>
          </a:p>
        </p:txBody>
      </p:sp>
      <p:sp>
        <p:nvSpPr>
          <p:cNvPr id="20" name="detail-role-2"/>
          <p:cNvSpPr txBox="1"/>
          <p:nvPr/>
        </p:nvSpPr>
        <p:spPr>
          <a:xfrm>
            <a:off x="1847850" y="5781675"/>
            <a:ext cx="2733675" cy="371475"/>
          </a:xfrm>
          <a:prstGeom prst="rect">
            <a:avLst/>
          </a:prstGeom>
          <a:noFill/>
        </p:spPr>
        <p:txBody>
          <a:bodyPr wrap="none" lIns="57150" rIns="57150" tIns="38100" bIns="38100" anchor="t">
            <a:noAutofit/>
          </a:bodyPr>
          <a:lstStyle/>
          <a:p>
            <a:pPr eaLnBrk="0">
              <a:lnSpc>
                <a:spcPts val="1781"/>
              </a:lnSpc>
              <a:spcBef>
                <a:spcPts val="0"/>
              </a:spcBef>
              <a:spcAft>
                <a:spcPts val="0"/>
              </a:spcAft>
            </a:pPr>
            <a:r>
              <a:rPr sz="1425" b="0">
                <a:solidFill>
                  <a:srgbClr val="59636E"/>
                </a:solidFill>
                <a:latin typeface="Noto Sans KR"/>
              </a:rPr>
              <a:t>현장 운영 담당</a:t>
            </a:r>
          </a:p>
        </p:txBody>
      </p:sp>
      <p:sp>
        <p:nvSpPr>
          <p:cNvPr id="21" name="detail-lead-2"/>
          <p:cNvSpPr txBox="1"/>
          <p:nvPr/>
        </p:nvSpPr>
        <p:spPr>
          <a:xfrm>
            <a:off x="4895850" y="5257800"/>
            <a:ext cx="9201150" cy="390525"/>
          </a:xfrm>
          <a:prstGeom prst="rect">
            <a:avLst/>
          </a:prstGeom>
          <a:noFill/>
        </p:spPr>
        <p:txBody>
          <a:bodyPr wrap="none" lIns="57150" rIns="57150" tIns="38100" bIns="38100" anchor="t">
            <a:noAutofit/>
          </a:bodyPr>
          <a:lstStyle/>
          <a:p>
            <a:pPr eaLnBrk="0">
              <a:lnSpc>
                <a:spcPts val="2250"/>
              </a:lnSpc>
              <a:spcBef>
                <a:spcPts val="0"/>
              </a:spcBef>
              <a:spcAft>
                <a:spcPts val="0"/>
              </a:spcAft>
            </a:pPr>
            <a:r>
              <a:rPr sz="1800" b="1">
                <a:solidFill>
                  <a:srgbClr val="1D2227"/>
                </a:solidFill>
                <a:latin typeface="Noto Sans KR"/>
              </a:rPr>
              <a:t>작게 시작하고 확인된 신청부터 지급합니다.</a:t>
            </a:r>
          </a:p>
        </p:txBody>
      </p:sp>
      <p:sp>
        <p:nvSpPr>
          <p:cNvPr id="22" name="detail-body-2"/>
          <p:cNvSpPr txBox="1"/>
          <p:nvPr/>
        </p:nvSpPr>
        <p:spPr>
          <a:xfrm>
            <a:off x="4895850" y="5686425"/>
            <a:ext cx="9201150" cy="695325"/>
          </a:xfrm>
          <a:prstGeom prst="rect">
            <a:avLst/>
          </a:prstGeom>
          <a:noFill/>
        </p:spPr>
        <p:txBody>
          <a:bodyPr wrap="none" lIns="57150" rIns="57150" tIns="38100" bIns="38100" anchor="t">
            <a:noAutofit/>
          </a:bodyPr>
          <a:lstStyle/>
          <a:p>
            <a:pPr eaLnBrk="0">
              <a:lnSpc>
                <a:spcPts val="2062"/>
              </a:lnSpc>
              <a:spcBef>
                <a:spcPts val="0"/>
              </a:spcBef>
              <a:spcAft>
                <a:spcPts val="0"/>
              </a:spcAft>
            </a:pPr>
            <a:r>
              <a:rPr sz="1650" b="0">
                <a:solidFill>
                  <a:srgbClr val="59636E"/>
                </a:solidFill>
                <a:latin typeface="Noto Sans KR"/>
              </a:rPr>
              <a:t>참여 가게를 한정해 먼저 운영합니다. 담당자가 지출 증빙을 확인한 뒤 정해진 기준에 따라 환급하고,</a:t>
            </a:r>
          </a:p>
          <a:p>
            <a:pPr eaLnBrk="0">
              <a:lnSpc>
                <a:spcPts val="2062"/>
              </a:lnSpc>
              <a:spcBef>
                <a:spcPts val="0"/>
              </a:spcBef>
              <a:spcAft>
                <a:spcPts val="0"/>
              </a:spcAft>
            </a:pPr>
            <a:r>
              <a:rPr sz="1650" b="0">
                <a:solidFill>
                  <a:srgbClr val="59636E"/>
                </a:solidFill>
                <a:latin typeface="Noto Sans KR"/>
              </a:rPr>
              <a:t>신청자에게 지급일과 상품권 사용 방법을 알려줍니다.</a:t>
            </a:r>
          </a:p>
        </p:txBody>
      </p:sp>
      <p:sp>
        <p:nvSpPr>
          <p:cNvPr id="23" name="detail-rule-3"/>
          <p:cNvSpPr/>
          <p:nvPr/>
        </p:nvSpPr>
        <p:spPr>
          <a:xfrm>
            <a:off x="1009650" y="7677150"/>
            <a:ext cx="13220700" cy="9525"/>
          </a:xfrm>
          <a:prstGeom prst="rect">
            <a:avLst/>
          </a:prstGeom>
          <a:solidFill>
            <a:srgbClr val="DCE5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detail-number-3"/>
          <p:cNvSpPr txBox="1"/>
          <p:nvPr/>
        </p:nvSpPr>
        <p:spPr>
          <a:xfrm>
            <a:off x="1028700" y="6562725"/>
            <a:ext cx="666750" cy="523875"/>
          </a:xfrm>
          <a:prstGeom prst="rect">
            <a:avLst/>
          </a:prstGeom>
          <a:noFill/>
        </p:spPr>
        <p:txBody>
          <a:bodyPr wrap="none" lIns="57150" rIns="57150" tIns="38100" bIns="38100" anchor="t">
            <a:noAutofit/>
          </a:bodyPr>
          <a:lstStyle/>
          <a:p>
            <a:pPr eaLnBrk="0">
              <a:lnSpc>
                <a:spcPts val="3281"/>
              </a:lnSpc>
              <a:spcBef>
                <a:spcPts val="0"/>
              </a:spcBef>
              <a:spcAft>
                <a:spcPts val="0"/>
              </a:spcAft>
            </a:pPr>
            <a:r>
              <a:rPr sz="2625" b="1">
                <a:solidFill>
                  <a:srgbClr val="00B7C9"/>
                </a:solidFill>
                <a:latin typeface="Noto Sans KR"/>
              </a:rPr>
              <a:t>04</a:t>
            </a:r>
          </a:p>
        </p:txBody>
      </p:sp>
      <p:sp>
        <p:nvSpPr>
          <p:cNvPr id="25" name="detail-stage-3"/>
          <p:cNvSpPr txBox="1"/>
          <p:nvPr/>
        </p:nvSpPr>
        <p:spPr>
          <a:xfrm>
            <a:off x="1847850" y="6600825"/>
            <a:ext cx="2733675" cy="457200"/>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004EA2"/>
                </a:solidFill>
                <a:latin typeface="Noto Sans KR"/>
              </a:rPr>
              <a:t>실적 확인과 평가</a:t>
            </a:r>
          </a:p>
        </p:txBody>
      </p:sp>
      <p:sp>
        <p:nvSpPr>
          <p:cNvPr id="26" name="detail-role-3"/>
          <p:cNvSpPr txBox="1"/>
          <p:nvPr/>
        </p:nvSpPr>
        <p:spPr>
          <a:xfrm>
            <a:off x="1847850" y="7058025"/>
            <a:ext cx="2733675" cy="371475"/>
          </a:xfrm>
          <a:prstGeom prst="rect">
            <a:avLst/>
          </a:prstGeom>
          <a:noFill/>
        </p:spPr>
        <p:txBody>
          <a:bodyPr wrap="none" lIns="57150" rIns="57150" tIns="38100" bIns="38100" anchor="t">
            <a:noAutofit/>
          </a:bodyPr>
          <a:lstStyle/>
          <a:p>
            <a:pPr eaLnBrk="0">
              <a:lnSpc>
                <a:spcPts val="1781"/>
              </a:lnSpc>
              <a:spcBef>
                <a:spcPts val="0"/>
              </a:spcBef>
              <a:spcAft>
                <a:spcPts val="0"/>
              </a:spcAft>
            </a:pPr>
            <a:r>
              <a:rPr sz="1425" b="0">
                <a:solidFill>
                  <a:srgbClr val="59636E"/>
                </a:solidFill>
                <a:latin typeface="Noto Sans KR"/>
              </a:rPr>
              <a:t>사업·평가 담당</a:t>
            </a:r>
          </a:p>
        </p:txBody>
      </p:sp>
      <p:sp>
        <p:nvSpPr>
          <p:cNvPr id="27" name="detail-lead-3"/>
          <p:cNvSpPr txBox="1"/>
          <p:nvPr/>
        </p:nvSpPr>
        <p:spPr>
          <a:xfrm>
            <a:off x="4895850" y="6534150"/>
            <a:ext cx="9201150" cy="390525"/>
          </a:xfrm>
          <a:prstGeom prst="rect">
            <a:avLst/>
          </a:prstGeom>
          <a:noFill/>
        </p:spPr>
        <p:txBody>
          <a:bodyPr wrap="none" lIns="57150" rIns="57150" tIns="38100" bIns="38100" anchor="t">
            <a:noAutofit/>
          </a:bodyPr>
          <a:lstStyle/>
          <a:p>
            <a:pPr eaLnBrk="0">
              <a:lnSpc>
                <a:spcPts val="2250"/>
              </a:lnSpc>
              <a:spcBef>
                <a:spcPts val="0"/>
              </a:spcBef>
              <a:spcAft>
                <a:spcPts val="0"/>
              </a:spcAft>
            </a:pPr>
            <a:r>
              <a:rPr sz="1800" b="1">
                <a:solidFill>
                  <a:srgbClr val="1D2227"/>
                </a:solidFill>
                <a:latin typeface="Noto Sans KR"/>
              </a:rPr>
              <a:t>지급 기록과 실제 사용 결과를 확인합니다.</a:t>
            </a:r>
          </a:p>
        </p:txBody>
      </p:sp>
      <p:sp>
        <p:nvSpPr>
          <p:cNvPr id="28" name="detail-body-3"/>
          <p:cNvSpPr txBox="1"/>
          <p:nvPr/>
        </p:nvSpPr>
        <p:spPr>
          <a:xfrm>
            <a:off x="4895850" y="6962775"/>
            <a:ext cx="9201150" cy="695325"/>
          </a:xfrm>
          <a:prstGeom prst="rect">
            <a:avLst/>
          </a:prstGeom>
          <a:noFill/>
        </p:spPr>
        <p:txBody>
          <a:bodyPr wrap="none" lIns="57150" rIns="57150" tIns="38100" bIns="38100" anchor="t">
            <a:noAutofit/>
          </a:bodyPr>
          <a:lstStyle/>
          <a:p>
            <a:pPr eaLnBrk="0">
              <a:lnSpc>
                <a:spcPts val="2062"/>
              </a:lnSpc>
              <a:spcBef>
                <a:spcPts val="0"/>
              </a:spcBef>
              <a:spcAft>
                <a:spcPts val="0"/>
              </a:spcAft>
            </a:pPr>
            <a:r>
              <a:rPr sz="1650" b="0">
                <a:solidFill>
                  <a:srgbClr val="59636E"/>
                </a:solidFill>
                <a:latin typeface="Noto Sans KR"/>
              </a:rPr>
              <a:t>매주 신청·승인·지급 건수와 비용을 맞춰 봅니다. 상품권 사용 집계가 가능한지 운영사에 확인하고, 종료 후</a:t>
            </a:r>
          </a:p>
          <a:p>
            <a:pPr eaLnBrk="0">
              <a:lnSpc>
                <a:spcPts val="2062"/>
              </a:lnSpc>
              <a:spcBef>
                <a:spcPts val="0"/>
              </a:spcBef>
              <a:spcAft>
                <a:spcPts val="0"/>
              </a:spcAft>
            </a:pPr>
            <a:r>
              <a:rPr sz="1650" b="0">
                <a:solidFill>
                  <a:srgbClr val="59636E"/>
                </a:solidFill>
                <a:latin typeface="Noto Sans KR"/>
              </a:rPr>
              <a:t>취소를 뺀 실적을 정리합니다. 전체 관광소비 증가를 전부 사업 성과로 보지는 않습니다.</a:t>
            </a:r>
          </a:p>
        </p:txBody>
      </p:sp>
    </p:spTree>
  </p:cSld>
  <p:clrMapOvr>
    <a:masterClrMapping/>
  </p:clrMapOvr>
</p:sld>
</file>

<file path=ppt/slides/slide6.xml><?xml version="1.0" encoding="utf-8"?>
<p:sld xmlns:p="http://schemas.openxmlformats.org/presentationml/2006/main">
  <p:cSld>
    <p:bg>
      <p:bgPr>
        <a:solidFill xmlns:a="http://schemas.openxmlformats.org/drawingml/2006/main">
          <a:srgbClr val="F4F7FA"/>
        </a:solidFill>
      </p:bgPr>
    </p:bg>
    <p:spTree>
      <p:nvGrpSpPr>
        <p:cNvPr id="1" name=""/>
        <p:cNvGrpSpPr/>
        <p:nvPr/>
      </p:nvGrpSpPr>
      <p:grpSpPr>
        <a:xfrm xmlns:a="http://schemas.openxmlformats.org/drawingml/2006/main"/>
      </p:grpSpPr>
      <p:sp xmlns:a="http://schemas.openxmlformats.org/drawingml/2006/main">
        <p:nvSpPr>
          <p:cNvPr id="2" name="title"/>
          <p:cNvSpPr txBox="1"/>
          <p:nvPr/>
        </p:nvSpPr>
        <p:spPr>
          <a:xfrm>
            <a:off x="952500" y="714375"/>
            <a:ext cx="13335000" cy="809625"/>
          </a:xfrm>
          <a:prstGeom prst="rect">
            <a:avLst/>
          </a:prstGeom>
          <a:noFill/>
        </p:spPr>
        <p:txBody>
          <a:bodyPr wrap="none" lIns="57150" rIns="57150" tIns="38100" bIns="38100" anchor="t">
            <a:noAutofit/>
          </a:bodyPr>
          <a:lstStyle/>
          <a:p>
            <a:pPr eaLnBrk="0">
              <a:lnSpc>
                <a:spcPts val="4500"/>
              </a:lnSpc>
              <a:spcBef>
                <a:spcPts val="0"/>
              </a:spcBef>
              <a:spcAft>
                <a:spcPts val="0"/>
              </a:spcAft>
            </a:pPr>
            <a:r>
              <a:rPr sz="3600" b="1">
                <a:solidFill>
                  <a:srgbClr val="004EA2"/>
                </a:solidFill>
                <a:latin typeface="Noto Sans KR"/>
              </a:rPr>
              <a:t>지역별 참고 사례</a:t>
            </a:r>
          </a:p>
        </p:txBody>
      </p:sp>
      <p:sp xmlns:a="http://schemas.openxmlformats.org/drawingml/2006/main">
        <p:nvSpPr>
          <p:cNvPr id="3" name="title-rule"/>
          <p:cNvSpPr/>
          <p:nvPr/>
        </p:nvSpPr>
        <p:spPr>
          <a:xfrm>
            <a:off x="1009650" y="1724025"/>
            <a:ext cx="13220700" cy="28575"/>
          </a:xfrm>
          <a:prstGeom prst="rect">
            <a:avLst/>
          </a:prstGeom>
          <a:solidFill>
            <a:srgbClr val="004E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 name="case-panel-0"/>
          <p:cNvSpPr/>
          <p:nvPr/>
        </p:nvSpPr>
        <p:spPr>
          <a:xfrm>
            <a:off x="1009650" y="2124075"/>
            <a:ext cx="6419850" cy="2762250"/>
          </a:xfrm>
          <a:prstGeom prst="rect">
            <a:avLst/>
          </a:prstGeom>
          <a:solidFill>
            <a:srgbClr val="E6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 name="case-number-0"/>
          <p:cNvSpPr txBox="1"/>
          <p:nvPr/>
        </p:nvSpPr>
        <p:spPr>
          <a:xfrm>
            <a:off x="1200150" y="2276475"/>
            <a:ext cx="619125" cy="476250"/>
          </a:xfrm>
          <a:prstGeom prst="rect">
            <a:avLst/>
          </a:prstGeom>
          <a:noFill/>
        </p:spPr>
        <p:txBody>
          <a:bodyPr wrap="none" lIns="57150" rIns="57150" tIns="38100" bIns="38100" anchor="t">
            <a:noAutofit/>
          </a:bodyPr>
          <a:lstStyle/>
          <a:p>
            <a:pPr eaLnBrk="0">
              <a:lnSpc>
                <a:spcPts val="3093"/>
              </a:lnSpc>
              <a:spcBef>
                <a:spcPts val="0"/>
              </a:spcBef>
              <a:spcAft>
                <a:spcPts val="0"/>
              </a:spcAft>
            </a:pPr>
            <a:r>
              <a:rPr sz="2475" b="1">
                <a:solidFill>
                  <a:srgbClr val="00B7C9"/>
                </a:solidFill>
                <a:latin typeface="Noto Sans KR"/>
              </a:rPr>
              <a:t>01</a:t>
            </a:r>
          </a:p>
        </p:txBody>
      </p:sp>
      <p:sp xmlns:a="http://schemas.openxmlformats.org/drawingml/2006/main">
        <p:nvSpPr>
          <p:cNvPr id="6" name="case-badge-0"/>
          <p:cNvSpPr txBox="1"/>
          <p:nvPr/>
        </p:nvSpPr>
        <p:spPr>
          <a:xfrm>
            <a:off x="1943100" y="2314575"/>
            <a:ext cx="5191125" cy="342900"/>
          </a:xfrm>
          <a:prstGeom prst="rect">
            <a:avLst/>
          </a:prstGeom>
          <a:noFill/>
        </p:spPr>
        <p:txBody>
          <a:bodyPr wrap="none" lIns="57150" rIns="57150" tIns="38100" bIns="38100" anchor="t">
            <a:noAutofit/>
          </a:bodyPr>
          <a:lstStyle/>
          <a:p>
            <a:pPr eaLnBrk="0">
              <a:lnSpc>
                <a:spcPts val="1875"/>
              </a:lnSpc>
              <a:spcBef>
                <a:spcPts val="0"/>
              </a:spcBef>
              <a:spcAft>
                <a:spcPts val="0"/>
              </a:spcAft>
            </a:pPr>
            <a:r>
              <a:rPr sz="1500" b="1">
                <a:solidFill>
                  <a:srgbClr val="004EA2"/>
                </a:solidFill>
                <a:latin typeface="Noto Sans KR"/>
              </a:rPr>
              <a:t>선정 사례</a:t>
            </a:r>
          </a:p>
        </p:txBody>
      </p:sp>
      <p:sp xmlns:a="http://schemas.openxmlformats.org/drawingml/2006/main">
        <p:nvSpPr>
          <p:cNvPr id="7" name="case-title-0"/>
          <p:cNvSpPr txBox="1"/>
          <p:nvPr/>
        </p:nvSpPr>
        <p:spPr>
          <a:xfrm>
            <a:off x="1200150" y="2819400"/>
            <a:ext cx="6038850" cy="733425"/>
          </a:xfrm>
          <a:prstGeom prst="rect">
            <a:avLst/>
          </a:prstGeom>
          <a:noFill/>
        </p:spPr>
        <p:txBody>
          <a:bodyPr wrap="none" lIns="57150" rIns="57150" tIns="38100" bIns="38100" anchor="t">
            <a:noAutofit/>
          </a:bodyPr>
          <a:lstStyle/>
          <a:p>
            <a:pPr eaLnBrk="0">
              <a:lnSpc>
                <a:spcPts val="2531"/>
              </a:lnSpc>
              <a:spcBef>
                <a:spcPts val="0"/>
              </a:spcBef>
              <a:spcAft>
                <a:spcPts val="0"/>
              </a:spcAft>
            </a:pPr>
            <a:r>
              <a:rPr sz="2025" b="1">
                <a:solidFill>
                  <a:srgbClr val="1D2227"/>
                </a:solidFill>
                <a:latin typeface="Noto Sans KR"/>
              </a:rPr>
              <a:t>전라남도 강진군 · 반값여행 지역환급</a:t>
            </a:r>
          </a:p>
        </p:txBody>
      </p:sp>
      <p:sp xmlns:a="http://schemas.openxmlformats.org/drawingml/2006/main">
        <p:nvSpPr>
          <p:cNvPr id="8" name="case-body-0"/>
          <p:cNvSpPr txBox="1"/>
          <p:nvPr/>
        </p:nvSpPr>
        <p:spPr>
          <a:xfrm>
            <a:off x="1200150" y="3638550"/>
            <a:ext cx="6038850" cy="1076325"/>
          </a:xfrm>
          <a:prstGeom prst="rect">
            <a:avLst/>
          </a:prstGeom>
          <a:noFill/>
        </p:spPr>
        <p:txBody>
          <a:bodyPr wrap="none" lIns="57150" rIns="57150" tIns="38100" bIns="38100" anchor="t">
            <a:noAutofit/>
          </a:bodyPr>
          <a:lstStyle/>
          <a:p>
            <a:pPr eaLnBrk="0">
              <a:lnSpc>
                <a:spcPts val="1968"/>
              </a:lnSpc>
              <a:spcBef>
                <a:spcPts val="0"/>
              </a:spcBef>
              <a:spcAft>
                <a:spcPts val="0"/>
              </a:spcAft>
            </a:pPr>
            <a:r>
              <a:rPr sz="1575" b="0">
                <a:solidFill>
                  <a:srgbClr val="59636E"/>
                </a:solidFill>
                <a:latin typeface="Noto Sans KR"/>
              </a:rPr>
              <a:t>적용 조건: 기존의 'case:gangjin_half_price_2024'와 달리, 원주시의</a:t>
            </a:r>
          </a:p>
          <a:p>
            <a:pPr eaLnBrk="0">
              <a:lnSpc>
                <a:spcPts val="1968"/>
              </a:lnSpc>
              <a:spcBef>
                <a:spcPts val="0"/>
              </a:spcBef>
              <a:spcAft>
                <a:spcPts val="0"/>
              </a:spcAft>
            </a:pPr>
            <a:r>
              <a:rPr sz="1575" b="0">
                <a:solidFill>
                  <a:srgbClr val="59636E"/>
                </a:solidFill>
                <a:latin typeface="Noto Sans KR"/>
              </a:rPr>
              <a:t>특성에 맞춘 지역상품권 환급 방식을 도입하여, 지역 내 소비를</a:t>
            </a:r>
          </a:p>
          <a:p>
            <a:pPr eaLnBrk="0">
              <a:lnSpc>
                <a:spcPts val="1968"/>
              </a:lnSpc>
              <a:spcBef>
                <a:spcPts val="0"/>
              </a:spcBef>
              <a:spcAft>
                <a:spcPts val="0"/>
              </a:spcAft>
            </a:pPr>
            <a:r>
              <a:rPr sz="1575" b="0">
                <a:solidFill>
                  <a:srgbClr val="59636E"/>
                </a:solidFill>
                <a:latin typeface="Noto Sans KR"/>
              </a:rPr>
              <a:t>유도하는 데 초점을 맞춘다.</a:t>
            </a:r>
          </a:p>
        </p:txBody>
      </p:sp>
      <p:sp xmlns:a="http://schemas.openxmlformats.org/drawingml/2006/main">
        <p:nvSpPr>
          <p:cNvPr id="9" name="case-panel-1"/>
          <p:cNvSpPr/>
          <p:nvPr/>
        </p:nvSpPr>
        <p:spPr>
          <a:xfrm>
            <a:off x="7810500" y="2124075"/>
            <a:ext cx="6419850" cy="276225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0" name="case-number-1"/>
          <p:cNvSpPr txBox="1"/>
          <p:nvPr/>
        </p:nvSpPr>
        <p:spPr>
          <a:xfrm>
            <a:off x="8001000" y="2276475"/>
            <a:ext cx="619125" cy="476250"/>
          </a:xfrm>
          <a:prstGeom prst="rect">
            <a:avLst/>
          </a:prstGeom>
          <a:noFill/>
        </p:spPr>
        <p:txBody>
          <a:bodyPr wrap="none" lIns="57150" rIns="57150" tIns="38100" bIns="38100" anchor="t">
            <a:noAutofit/>
          </a:bodyPr>
          <a:lstStyle/>
          <a:p>
            <a:pPr eaLnBrk="0">
              <a:lnSpc>
                <a:spcPts val="3093"/>
              </a:lnSpc>
              <a:spcBef>
                <a:spcPts val="0"/>
              </a:spcBef>
              <a:spcAft>
                <a:spcPts val="0"/>
              </a:spcAft>
            </a:pPr>
            <a:r>
              <a:rPr sz="2475" b="1">
                <a:solidFill>
                  <a:srgbClr val="00B7C9"/>
                </a:solidFill>
                <a:latin typeface="Noto Sans KR"/>
              </a:rPr>
              <a:t>02</a:t>
            </a:r>
          </a:p>
        </p:txBody>
      </p:sp>
      <p:sp xmlns:a="http://schemas.openxmlformats.org/drawingml/2006/main">
        <p:nvSpPr>
          <p:cNvPr id="11" name="case-badge-1"/>
          <p:cNvSpPr txBox="1"/>
          <p:nvPr/>
        </p:nvSpPr>
        <p:spPr>
          <a:xfrm>
            <a:off x="8743950" y="2314575"/>
            <a:ext cx="5191125" cy="342900"/>
          </a:xfrm>
          <a:prstGeom prst="rect">
            <a:avLst/>
          </a:prstGeom>
          <a:noFill/>
        </p:spPr>
        <p:txBody>
          <a:bodyPr wrap="none" lIns="57150" rIns="57150" tIns="38100" bIns="38100" anchor="t">
            <a:noAutofit/>
          </a:bodyPr>
          <a:lstStyle/>
          <a:p>
            <a:pPr eaLnBrk="0">
              <a:lnSpc>
                <a:spcPts val="1875"/>
              </a:lnSpc>
              <a:spcBef>
                <a:spcPts val="0"/>
              </a:spcBef>
              <a:spcAft>
                <a:spcPts val="0"/>
              </a:spcAft>
            </a:pPr>
            <a:r>
              <a:rPr sz="1500" b="1">
                <a:solidFill>
                  <a:srgbClr val="004EA2"/>
                </a:solidFill>
                <a:latin typeface="Noto Sans KR"/>
              </a:rPr>
              <a:t>기타 유사 사례</a:t>
            </a:r>
          </a:p>
        </p:txBody>
      </p:sp>
      <p:sp xmlns:a="http://schemas.openxmlformats.org/drawingml/2006/main">
        <p:nvSpPr>
          <p:cNvPr id="12" name="case-title-1"/>
          <p:cNvSpPr txBox="1"/>
          <p:nvPr/>
        </p:nvSpPr>
        <p:spPr>
          <a:xfrm>
            <a:off x="8001000" y="2819400"/>
            <a:ext cx="6038850" cy="733425"/>
          </a:xfrm>
          <a:prstGeom prst="rect">
            <a:avLst/>
          </a:prstGeom>
          <a:noFill/>
        </p:spPr>
        <p:txBody>
          <a:bodyPr wrap="none" lIns="57150" rIns="57150" tIns="38100" bIns="38100" anchor="t">
            <a:noAutofit/>
          </a:bodyPr>
          <a:lstStyle/>
          <a:p>
            <a:pPr eaLnBrk="0">
              <a:lnSpc>
                <a:spcPts val="2531"/>
              </a:lnSpc>
              <a:spcBef>
                <a:spcPts val="0"/>
              </a:spcBef>
              <a:spcAft>
                <a:spcPts val="0"/>
              </a:spcAft>
            </a:pPr>
            <a:r>
              <a:rPr sz="2025" b="1">
                <a:solidFill>
                  <a:srgbClr val="1D2227"/>
                </a:solidFill>
                <a:latin typeface="Noto Sans KR"/>
              </a:rPr>
              <a:t>전북특별자치도 전주시 · 야간관광 특화도시 예산 편성</a:t>
            </a:r>
          </a:p>
        </p:txBody>
      </p:sp>
      <p:sp xmlns:a="http://schemas.openxmlformats.org/drawingml/2006/main">
        <p:nvSpPr>
          <p:cNvPr id="13" name="case-body-1"/>
          <p:cNvSpPr txBox="1"/>
          <p:nvPr/>
        </p:nvSpPr>
        <p:spPr>
          <a:xfrm>
            <a:off x="8001000" y="3638550"/>
            <a:ext cx="6038850" cy="1076325"/>
          </a:xfrm>
          <a:prstGeom prst="rect">
            <a:avLst/>
          </a:prstGeom>
          <a:noFill/>
        </p:spPr>
        <p:txBody>
          <a:bodyPr wrap="none" lIns="57150" rIns="57150" tIns="38100" bIns="38100" anchor="t">
            <a:noAutofit/>
          </a:bodyPr>
          <a:lstStyle/>
          <a:p>
            <a:pPr eaLnBrk="0">
              <a:lnSpc>
                <a:spcPts val="1968"/>
              </a:lnSpc>
              <a:spcBef>
                <a:spcPts val="0"/>
              </a:spcBef>
              <a:spcAft>
                <a:spcPts val="0"/>
              </a:spcAft>
            </a:pPr>
            <a:r>
              <a:rPr sz="1575" b="0">
                <a:solidFill>
                  <a:srgbClr val="59636E"/>
                </a:solidFill>
                <a:latin typeface="Noto Sans KR"/>
              </a:rPr>
              <a:t>사무관리, 행사운영, 연구용역, 민간경상보조 등으로 사업비를 항목별 편성</a:t>
            </a:r>
          </a:p>
        </p:txBody>
      </p:sp>
      <p:sp xmlns:a="http://schemas.openxmlformats.org/drawingml/2006/main">
        <p:nvSpPr>
          <p:cNvPr id="14" name="case-panel-2"/>
          <p:cNvSpPr/>
          <p:nvPr/>
        </p:nvSpPr>
        <p:spPr>
          <a:xfrm>
            <a:off x="1009650" y="5105400"/>
            <a:ext cx="6419850" cy="276225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5" name="case-number-2"/>
          <p:cNvSpPr txBox="1"/>
          <p:nvPr/>
        </p:nvSpPr>
        <p:spPr>
          <a:xfrm>
            <a:off x="1200150" y="5257800"/>
            <a:ext cx="619125" cy="476250"/>
          </a:xfrm>
          <a:prstGeom prst="rect">
            <a:avLst/>
          </a:prstGeom>
          <a:noFill/>
        </p:spPr>
        <p:txBody>
          <a:bodyPr wrap="none" lIns="57150" rIns="57150" tIns="38100" bIns="38100" anchor="t">
            <a:noAutofit/>
          </a:bodyPr>
          <a:lstStyle/>
          <a:p>
            <a:pPr eaLnBrk="0">
              <a:lnSpc>
                <a:spcPts val="3093"/>
              </a:lnSpc>
              <a:spcBef>
                <a:spcPts val="0"/>
              </a:spcBef>
              <a:spcAft>
                <a:spcPts val="0"/>
              </a:spcAft>
            </a:pPr>
            <a:r>
              <a:rPr sz="2475" b="1">
                <a:solidFill>
                  <a:srgbClr val="00B7C9"/>
                </a:solidFill>
                <a:latin typeface="Noto Sans KR"/>
              </a:rPr>
              <a:t>03</a:t>
            </a:r>
          </a:p>
        </p:txBody>
      </p:sp>
      <p:sp xmlns:a="http://schemas.openxmlformats.org/drawingml/2006/main">
        <p:nvSpPr>
          <p:cNvPr id="16" name="case-badge-2"/>
          <p:cNvSpPr txBox="1"/>
          <p:nvPr/>
        </p:nvSpPr>
        <p:spPr>
          <a:xfrm>
            <a:off x="1943100" y="5295900"/>
            <a:ext cx="5191125" cy="342900"/>
          </a:xfrm>
          <a:prstGeom prst="rect">
            <a:avLst/>
          </a:prstGeom>
          <a:noFill/>
        </p:spPr>
        <p:txBody>
          <a:bodyPr wrap="none" lIns="57150" rIns="57150" tIns="38100" bIns="38100" anchor="t">
            <a:noAutofit/>
          </a:bodyPr>
          <a:lstStyle/>
          <a:p>
            <a:pPr eaLnBrk="0">
              <a:lnSpc>
                <a:spcPts val="1875"/>
              </a:lnSpc>
              <a:spcBef>
                <a:spcPts val="0"/>
              </a:spcBef>
              <a:spcAft>
                <a:spcPts val="0"/>
              </a:spcAft>
            </a:pPr>
            <a:r>
              <a:rPr sz="1500" b="1">
                <a:solidFill>
                  <a:srgbClr val="004EA2"/>
                </a:solidFill>
                <a:latin typeface="Noto Sans KR"/>
              </a:rPr>
              <a:t>기타 유사 사례</a:t>
            </a:r>
          </a:p>
        </p:txBody>
      </p:sp>
      <p:sp xmlns:a="http://schemas.openxmlformats.org/drawingml/2006/main">
        <p:nvSpPr>
          <p:cNvPr id="17" name="case-title-2"/>
          <p:cNvSpPr txBox="1"/>
          <p:nvPr/>
        </p:nvSpPr>
        <p:spPr>
          <a:xfrm>
            <a:off x="1200150" y="5800725"/>
            <a:ext cx="6038850" cy="733425"/>
          </a:xfrm>
          <a:prstGeom prst="rect">
            <a:avLst/>
          </a:prstGeom>
          <a:noFill/>
        </p:spPr>
        <p:txBody>
          <a:bodyPr wrap="none" lIns="57150" rIns="57150" tIns="38100" bIns="38100" anchor="t">
            <a:noAutofit/>
          </a:bodyPr>
          <a:lstStyle/>
          <a:p>
            <a:pPr eaLnBrk="0">
              <a:lnSpc>
                <a:spcPts val="2531"/>
              </a:lnSpc>
              <a:spcBef>
                <a:spcPts val="0"/>
              </a:spcBef>
              <a:spcAft>
                <a:spcPts val="0"/>
              </a:spcAft>
            </a:pPr>
            <a:r>
              <a:rPr sz="2025" b="1">
                <a:solidFill>
                  <a:srgbClr val="1D2227"/>
                </a:solidFill>
                <a:latin typeface="Noto Sans KR"/>
              </a:rPr>
              <a:t>전국 인구감소지역 34곳 · 디지털 관광주민증과</a:t>
            </a:r>
          </a:p>
          <a:p>
            <a:pPr eaLnBrk="0">
              <a:lnSpc>
                <a:spcPts val="2531"/>
              </a:lnSpc>
              <a:spcBef>
                <a:spcPts val="0"/>
              </a:spcBef>
              <a:spcAft>
                <a:spcPts val="0"/>
              </a:spcAft>
            </a:pPr>
            <a:r>
              <a:rPr sz="2025" b="1">
                <a:solidFill>
                  <a:srgbClr val="1D2227"/>
                </a:solidFill>
                <a:latin typeface="Noto Sans KR"/>
              </a:rPr>
              <a:t>교통·숙박·상점 할인 결합</a:t>
            </a:r>
          </a:p>
        </p:txBody>
      </p:sp>
      <p:sp xmlns:a="http://schemas.openxmlformats.org/drawingml/2006/main">
        <p:nvSpPr>
          <p:cNvPr id="18" name="case-body-2"/>
          <p:cNvSpPr txBox="1"/>
          <p:nvPr/>
        </p:nvSpPr>
        <p:spPr>
          <a:xfrm>
            <a:off x="1200150" y="6619875"/>
            <a:ext cx="6038850" cy="1076325"/>
          </a:xfrm>
          <a:prstGeom prst="rect">
            <a:avLst/>
          </a:prstGeom>
          <a:noFill/>
        </p:spPr>
        <p:txBody>
          <a:bodyPr wrap="none" lIns="57150" rIns="57150" tIns="38100" bIns="38100" anchor="t">
            <a:noAutofit/>
          </a:bodyPr>
          <a:lstStyle/>
          <a:p>
            <a:pPr eaLnBrk="0">
              <a:lnSpc>
                <a:spcPts val="1968"/>
              </a:lnSpc>
              <a:spcBef>
                <a:spcPts val="0"/>
              </a:spcBef>
              <a:spcAft>
                <a:spcPts val="0"/>
              </a:spcAft>
            </a:pPr>
            <a:r>
              <a:rPr sz="1575" b="0">
                <a:solidFill>
                  <a:srgbClr val="59636E"/>
                </a:solidFill>
                <a:latin typeface="Noto Sans KR"/>
              </a:rPr>
              <a:t>디지털 관광주민증 참여업체 현장 인증과 숙박·식음·관람·체험 할인,</a:t>
            </a:r>
          </a:p>
          <a:p>
            <a:pPr eaLnBrk="0">
              <a:lnSpc>
                <a:spcPts val="1968"/>
              </a:lnSpc>
              <a:spcBef>
                <a:spcPts val="0"/>
              </a:spcBef>
              <a:spcAft>
                <a:spcPts val="0"/>
              </a:spcAft>
            </a:pPr>
            <a:r>
              <a:rPr sz="1575" b="0">
                <a:solidFill>
                  <a:srgbClr val="59636E"/>
                </a:solidFill>
                <a:latin typeface="Noto Sans KR"/>
              </a:rPr>
              <a:t>특정 시간대 KTX 할인과 방문 후 교통 할인권을 결합</a:t>
            </a:r>
          </a:p>
        </p:txBody>
      </p:sp>
      <p:sp xmlns:a="http://schemas.openxmlformats.org/drawingml/2006/main">
        <p:nvSpPr>
          <p:cNvPr id="19" name="case-panel-3"/>
          <p:cNvSpPr/>
          <p:nvPr/>
        </p:nvSpPr>
        <p:spPr>
          <a:xfrm>
            <a:off x="7810500" y="5105400"/>
            <a:ext cx="6419850" cy="276225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0" name="case-number-3"/>
          <p:cNvSpPr txBox="1"/>
          <p:nvPr/>
        </p:nvSpPr>
        <p:spPr>
          <a:xfrm>
            <a:off x="8001000" y="5257800"/>
            <a:ext cx="619125" cy="476250"/>
          </a:xfrm>
          <a:prstGeom prst="rect">
            <a:avLst/>
          </a:prstGeom>
          <a:noFill/>
        </p:spPr>
        <p:txBody>
          <a:bodyPr wrap="none" lIns="57150" rIns="57150" tIns="38100" bIns="38100" anchor="t">
            <a:noAutofit/>
          </a:bodyPr>
          <a:lstStyle/>
          <a:p>
            <a:pPr eaLnBrk="0">
              <a:lnSpc>
                <a:spcPts val="3093"/>
              </a:lnSpc>
              <a:spcBef>
                <a:spcPts val="0"/>
              </a:spcBef>
              <a:spcAft>
                <a:spcPts val="0"/>
              </a:spcAft>
            </a:pPr>
            <a:r>
              <a:rPr sz="2475" b="1">
                <a:solidFill>
                  <a:srgbClr val="00B7C9"/>
                </a:solidFill>
                <a:latin typeface="Noto Sans KR"/>
              </a:rPr>
              <a:t>04</a:t>
            </a:r>
          </a:p>
        </p:txBody>
      </p:sp>
      <p:sp xmlns:a="http://schemas.openxmlformats.org/drawingml/2006/main">
        <p:nvSpPr>
          <p:cNvPr id="21" name="case-badge-3"/>
          <p:cNvSpPr txBox="1"/>
          <p:nvPr/>
        </p:nvSpPr>
        <p:spPr>
          <a:xfrm>
            <a:off x="8743950" y="5295900"/>
            <a:ext cx="5191125" cy="342900"/>
          </a:xfrm>
          <a:prstGeom prst="rect">
            <a:avLst/>
          </a:prstGeom>
          <a:noFill/>
        </p:spPr>
        <p:txBody>
          <a:bodyPr wrap="none" lIns="57150" rIns="57150" tIns="38100" bIns="38100" anchor="t">
            <a:noAutofit/>
          </a:bodyPr>
          <a:lstStyle/>
          <a:p>
            <a:pPr eaLnBrk="0">
              <a:lnSpc>
                <a:spcPts val="1875"/>
              </a:lnSpc>
              <a:spcBef>
                <a:spcPts val="0"/>
              </a:spcBef>
              <a:spcAft>
                <a:spcPts val="0"/>
              </a:spcAft>
            </a:pPr>
            <a:r>
              <a:rPr sz="1500" b="1">
                <a:solidFill>
                  <a:srgbClr val="004EA2"/>
                </a:solidFill>
                <a:latin typeface="Noto Sans KR"/>
              </a:rPr>
              <a:t>기타 유사 사례</a:t>
            </a:r>
          </a:p>
        </p:txBody>
      </p:sp>
      <p:sp xmlns:a="http://schemas.openxmlformats.org/drawingml/2006/main">
        <p:nvSpPr>
          <p:cNvPr id="22" name="case-title-3"/>
          <p:cNvSpPr txBox="1"/>
          <p:nvPr/>
        </p:nvSpPr>
        <p:spPr>
          <a:xfrm>
            <a:off x="8001000" y="5800725"/>
            <a:ext cx="6038850" cy="733425"/>
          </a:xfrm>
          <a:prstGeom prst="rect">
            <a:avLst/>
          </a:prstGeom>
          <a:noFill/>
        </p:spPr>
        <p:txBody>
          <a:bodyPr wrap="none" lIns="57150" rIns="57150" tIns="38100" bIns="38100" anchor="t">
            <a:noAutofit/>
          </a:bodyPr>
          <a:lstStyle/>
          <a:p>
            <a:pPr eaLnBrk="0">
              <a:lnSpc>
                <a:spcPts val="2531"/>
              </a:lnSpc>
              <a:spcBef>
                <a:spcPts val="0"/>
              </a:spcBef>
              <a:spcAft>
                <a:spcPts val="0"/>
              </a:spcAft>
            </a:pPr>
            <a:r>
              <a:rPr sz="2025" b="1">
                <a:solidFill>
                  <a:srgbClr val="1D2227"/>
                </a:solidFill>
                <a:latin typeface="Noto Sans KR"/>
              </a:rPr>
              <a:t>전국 숙박할인쿠폰 지원사업 · 온라인 예약</a:t>
            </a:r>
          </a:p>
          <a:p>
            <a:pPr eaLnBrk="0">
              <a:lnSpc>
                <a:spcPts val="2531"/>
              </a:lnSpc>
              <a:spcBef>
                <a:spcPts val="0"/>
              </a:spcBef>
              <a:spcAft>
                <a:spcPts val="0"/>
              </a:spcAft>
            </a:pPr>
            <a:r>
              <a:rPr sz="2025" b="1">
                <a:solidFill>
                  <a:srgbClr val="1D2227"/>
                </a:solidFill>
                <a:latin typeface="Noto Sans KR"/>
              </a:rPr>
              <a:t>채널 숙박할인쿠폰</a:t>
            </a:r>
          </a:p>
        </p:txBody>
      </p:sp>
      <p:sp xmlns:a="http://schemas.openxmlformats.org/drawingml/2006/main">
        <p:nvSpPr>
          <p:cNvPr id="23" name="case-body-3"/>
          <p:cNvSpPr txBox="1"/>
          <p:nvPr/>
        </p:nvSpPr>
        <p:spPr>
          <a:xfrm>
            <a:off x="8001000" y="6619875"/>
            <a:ext cx="6038850" cy="1076325"/>
          </a:xfrm>
          <a:prstGeom prst="rect">
            <a:avLst/>
          </a:prstGeom>
          <a:noFill/>
        </p:spPr>
        <p:txBody>
          <a:bodyPr wrap="none" lIns="57150" rIns="57150" tIns="38100" bIns="38100" anchor="t">
            <a:noAutofit/>
          </a:bodyPr>
          <a:lstStyle/>
          <a:p>
            <a:pPr eaLnBrk="0">
              <a:lnSpc>
                <a:spcPts val="1968"/>
              </a:lnSpc>
              <a:spcBef>
                <a:spcPts val="0"/>
              </a:spcBef>
              <a:spcAft>
                <a:spcPts val="0"/>
              </a:spcAft>
            </a:pPr>
            <a:r>
              <a:rPr sz="1575" b="0">
                <a:solidFill>
                  <a:srgbClr val="59636E"/>
                </a:solidFill>
                <a:latin typeface="Noto Sans KR"/>
              </a:rPr>
              <a:t>온라인 여행사 예약 단계에서 할인쿠폰을 제공하고, 지역 숙소에서 사용할</a:t>
            </a:r>
          </a:p>
          <a:p>
            <a:pPr eaLnBrk="0">
              <a:lnSpc>
                <a:spcPts val="1968"/>
              </a:lnSpc>
              <a:spcBef>
                <a:spcPts val="0"/>
              </a:spcBef>
              <a:spcAft>
                <a:spcPts val="0"/>
              </a:spcAft>
            </a:pPr>
            <a:r>
              <a:rPr sz="1575" b="0">
                <a:solidFill>
                  <a:srgbClr val="59636E"/>
                </a:solidFill>
                <a:latin typeface="Noto Sans KR"/>
              </a:rPr>
              <a:t>수 있도록 참여 채널과 기간을 통합 운영</a:t>
            </a:r>
          </a:p>
        </p:txBody>
      </p:sp>
    </p:spTree>
    <p:extLst>
      <p:ext uri="{BB962C8B-B14F-4D97-AF65-F5344CB8AC3E}">
        <p14:creationId xmlns:p14="http://schemas.microsoft.com/office/powerpoint/2010/main" val="930694367"/>
      </p:ext>
    </p:extLst>
  </p:cSld>
</p:sld>
</file>

<file path=ppt/slides/slide7.xml><?xml version="1.0" encoding="utf-8"?>
<p:sld xmlns:p="http://schemas.openxmlformats.org/presentationml/2006/main">
  <p:cSld>
    <p:bg>
      <p:bgPr>
        <a:solidFill xmlns:a="http://schemas.openxmlformats.org/drawingml/2006/main">
          <a:srgbClr val="F4F7FA"/>
        </a:solidFill>
      </p:bgPr>
    </p:bg>
    <p:spTree>
      <p:nvGrpSpPr>
        <p:cNvPr id="1" name=""/>
        <p:cNvGrpSpPr/>
        <p:nvPr/>
      </p:nvGrpSpPr>
      <p:grpSpPr>
        <a:xfrm xmlns:a="http://schemas.openxmlformats.org/drawingml/2006/main"/>
      </p:grpSpPr>
      <p:sp xmlns:a="http://schemas.openxmlformats.org/drawingml/2006/main">
        <p:nvSpPr>
          <p:cNvPr id="2" name="title"/>
          <p:cNvSpPr txBox="1"/>
          <p:nvPr/>
        </p:nvSpPr>
        <p:spPr>
          <a:xfrm>
            <a:off x="952500" y="714375"/>
            <a:ext cx="13335000" cy="809625"/>
          </a:xfrm>
          <a:prstGeom prst="rect">
            <a:avLst/>
          </a:prstGeom>
          <a:noFill/>
        </p:spPr>
        <p:txBody>
          <a:bodyPr wrap="none" lIns="57150" rIns="57150" tIns="38100" bIns="38100" anchor="t">
            <a:noAutofit/>
          </a:bodyPr>
          <a:lstStyle/>
          <a:p>
            <a:pPr eaLnBrk="0">
              <a:lnSpc>
                <a:spcPts val="4500"/>
              </a:lnSpc>
              <a:spcBef>
                <a:spcPts val="0"/>
              </a:spcBef>
              <a:spcAft>
                <a:spcPts val="0"/>
              </a:spcAft>
            </a:pPr>
            <a:r>
              <a:rPr sz="3600" b="1">
                <a:solidFill>
                  <a:srgbClr val="004EA2"/>
                </a:solidFill>
                <a:latin typeface="Noto Sans KR"/>
              </a:rPr>
              <a:t>4단계 실행 가이드</a:t>
            </a:r>
          </a:p>
        </p:txBody>
      </p:sp>
      <p:sp xmlns:a="http://schemas.openxmlformats.org/drawingml/2006/main">
        <p:nvSpPr>
          <p:cNvPr id="3" name="title-rule"/>
          <p:cNvSpPr/>
          <p:nvPr/>
        </p:nvSpPr>
        <p:spPr>
          <a:xfrm>
            <a:off x="1009650" y="1724025"/>
            <a:ext cx="13220700" cy="28575"/>
          </a:xfrm>
          <a:prstGeom prst="rect">
            <a:avLst/>
          </a:prstGeom>
          <a:solidFill>
            <a:srgbClr val="004E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 name="flow-track"/>
          <p:cNvSpPr/>
          <p:nvPr/>
        </p:nvSpPr>
        <p:spPr>
          <a:xfrm>
            <a:off x="2476500" y="2476500"/>
            <a:ext cx="10144125" cy="28575"/>
          </a:xfrm>
          <a:prstGeom prst="rect">
            <a:avLst/>
          </a:prstGeom>
          <a:solidFill>
            <a:srgbClr val="DCE5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 name="flow-node-0"/>
          <p:cNvSpPr/>
          <p:nvPr/>
        </p:nvSpPr>
        <p:spPr>
          <a:xfrm>
            <a:off x="2238375" y="2219325"/>
            <a:ext cx="552450" cy="552450"/>
          </a:xfrm>
          <a:prstGeom prst="ellipse">
            <a:avLst/>
          </a:prstGeom>
          <a:solidFill>
            <a:srgbClr val="004E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6" name="flow-number-0"/>
          <p:cNvSpPr txBox="1"/>
          <p:nvPr/>
        </p:nvSpPr>
        <p:spPr>
          <a:xfrm>
            <a:off x="2247900" y="2305050"/>
            <a:ext cx="533400" cy="371475"/>
          </a:xfrm>
          <a:prstGeom prst="rect">
            <a:avLst/>
          </a:prstGeom>
          <a:noFill/>
        </p:spPr>
        <p:txBody>
          <a:bodyPr wrap="none" lIns="57150" rIns="57150" tIns="38100" bIns="38100" anchor="t">
            <a:noAutofit/>
          </a:bodyPr>
          <a:lstStyle/>
          <a:p>
            <a:pPr eaLnBrk="0" algn="ctr">
              <a:lnSpc>
                <a:spcPts val="2296"/>
              </a:lnSpc>
              <a:spcBef>
                <a:spcPts val="0"/>
              </a:spcBef>
              <a:spcAft>
                <a:spcPts val="0"/>
              </a:spcAft>
            </a:pPr>
            <a:r>
              <a:rPr sz="1837" b="1">
                <a:solidFill>
                  <a:srgbClr val="FFFFFF"/>
                </a:solidFill>
                <a:latin typeface="Noto Sans KR"/>
              </a:rPr>
              <a:t>01</a:t>
            </a:r>
          </a:p>
        </p:txBody>
      </p:sp>
      <p:sp xmlns:a="http://schemas.openxmlformats.org/drawingml/2006/main">
        <p:nvSpPr>
          <p:cNvPr id="7" name="step-0-label"/>
          <p:cNvSpPr txBox="1"/>
          <p:nvPr/>
        </p:nvSpPr>
        <p:spPr>
          <a:xfrm>
            <a:off x="1009650" y="2914650"/>
            <a:ext cx="3009900" cy="409575"/>
          </a:xfrm>
          <a:prstGeom prst="rect">
            <a:avLst/>
          </a:prstGeom>
          <a:noFill/>
        </p:spPr>
        <p:txBody>
          <a:bodyPr wrap="none" lIns="57150" rIns="57150" tIns="38100" bIns="38100" anchor="t">
            <a:noAutofit/>
          </a:bodyPr>
          <a:lstStyle/>
          <a:p>
            <a:pPr eaLnBrk="0" algn="ctr">
              <a:lnSpc>
                <a:spcPts val="2343"/>
              </a:lnSpc>
              <a:spcBef>
                <a:spcPts val="0"/>
              </a:spcBef>
              <a:spcAft>
                <a:spcPts val="0"/>
              </a:spcAft>
            </a:pPr>
            <a:r>
              <a:rPr sz="1875" b="1">
                <a:solidFill>
                  <a:srgbClr val="004EA2"/>
                </a:solidFill>
                <a:latin typeface="Noto Sans KR"/>
              </a:rPr>
              <a:t>준비와 협의</a:t>
            </a:r>
          </a:p>
        </p:txBody>
      </p:sp>
      <p:sp xmlns:a="http://schemas.openxmlformats.org/drawingml/2006/main">
        <p:nvSpPr>
          <p:cNvPr id="8" name="step-0-period"/>
          <p:cNvSpPr txBox="1"/>
          <p:nvPr/>
        </p:nvSpPr>
        <p:spPr>
          <a:xfrm>
            <a:off x="1009650" y="3371850"/>
            <a:ext cx="3009900" cy="447675"/>
          </a:xfrm>
          <a:prstGeom prst="rect">
            <a:avLst/>
          </a:prstGeom>
          <a:noFill/>
        </p:spPr>
        <p:txBody>
          <a:bodyPr wrap="none" lIns="57150" rIns="57150" tIns="38100" bIns="38100" anchor="t">
            <a:noAutofit/>
          </a:bodyPr>
          <a:lstStyle/>
          <a:p>
            <a:pPr eaLnBrk="0" algn="ctr">
              <a:lnSpc>
                <a:spcPts val="1875"/>
              </a:lnSpc>
              <a:spcBef>
                <a:spcPts val="0"/>
              </a:spcBef>
              <a:spcAft>
                <a:spcPts val="0"/>
              </a:spcAft>
            </a:pPr>
            <a:r>
              <a:rPr sz="1500" b="0">
                <a:solidFill>
                  <a:srgbClr val="59636E"/>
                </a:solidFill>
                <a:latin typeface="Noto Sans KR"/>
              </a:rPr>
              <a:t>2026-09</a:t>
            </a:r>
          </a:p>
        </p:txBody>
      </p:sp>
      <p:sp xmlns:a="http://schemas.openxmlformats.org/drawingml/2006/main">
        <p:nvSpPr>
          <p:cNvPr id="9" name="flow-node-1"/>
          <p:cNvSpPr/>
          <p:nvPr/>
        </p:nvSpPr>
        <p:spPr>
          <a:xfrm>
            <a:off x="5619750" y="2219325"/>
            <a:ext cx="552450" cy="552450"/>
          </a:xfrm>
          <a:prstGeom prst="ellipse">
            <a:avLst/>
          </a:prstGeom>
          <a:solidFill>
            <a:srgbClr val="00B7C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0" name="flow-number-1"/>
          <p:cNvSpPr txBox="1"/>
          <p:nvPr/>
        </p:nvSpPr>
        <p:spPr>
          <a:xfrm>
            <a:off x="5629275" y="2305050"/>
            <a:ext cx="533400" cy="371475"/>
          </a:xfrm>
          <a:prstGeom prst="rect">
            <a:avLst/>
          </a:prstGeom>
          <a:noFill/>
        </p:spPr>
        <p:txBody>
          <a:bodyPr wrap="none" lIns="57150" rIns="57150" tIns="38100" bIns="38100" anchor="t">
            <a:noAutofit/>
          </a:bodyPr>
          <a:lstStyle/>
          <a:p>
            <a:pPr eaLnBrk="0" algn="ctr">
              <a:lnSpc>
                <a:spcPts val="2296"/>
              </a:lnSpc>
              <a:spcBef>
                <a:spcPts val="0"/>
              </a:spcBef>
              <a:spcAft>
                <a:spcPts val="0"/>
              </a:spcAft>
            </a:pPr>
            <a:r>
              <a:rPr sz="1837" b="1">
                <a:solidFill>
                  <a:srgbClr val="FFFFFF"/>
                </a:solidFill>
                <a:latin typeface="Noto Sans KR"/>
              </a:rPr>
              <a:t>02</a:t>
            </a:r>
          </a:p>
        </p:txBody>
      </p:sp>
      <p:sp xmlns:a="http://schemas.openxmlformats.org/drawingml/2006/main">
        <p:nvSpPr>
          <p:cNvPr id="11" name="step-1-label"/>
          <p:cNvSpPr txBox="1"/>
          <p:nvPr/>
        </p:nvSpPr>
        <p:spPr>
          <a:xfrm>
            <a:off x="4391025" y="2914650"/>
            <a:ext cx="3009900" cy="409575"/>
          </a:xfrm>
          <a:prstGeom prst="rect">
            <a:avLst/>
          </a:prstGeom>
          <a:noFill/>
        </p:spPr>
        <p:txBody>
          <a:bodyPr wrap="none" lIns="57150" rIns="57150" tIns="38100" bIns="38100" anchor="t">
            <a:noAutofit/>
          </a:bodyPr>
          <a:lstStyle/>
          <a:p>
            <a:pPr eaLnBrk="0" algn="ctr">
              <a:lnSpc>
                <a:spcPts val="2343"/>
              </a:lnSpc>
              <a:spcBef>
                <a:spcPts val="0"/>
              </a:spcBef>
              <a:spcAft>
                <a:spcPts val="0"/>
              </a:spcAft>
            </a:pPr>
            <a:r>
              <a:rPr sz="1875" b="1">
                <a:solidFill>
                  <a:srgbClr val="004EA2"/>
                </a:solidFill>
                <a:latin typeface="Noto Sans KR"/>
              </a:rPr>
              <a:t>운영 절차 점검</a:t>
            </a:r>
          </a:p>
        </p:txBody>
      </p:sp>
      <p:sp xmlns:a="http://schemas.openxmlformats.org/drawingml/2006/main">
        <p:nvSpPr>
          <p:cNvPr id="12" name="step-1-period"/>
          <p:cNvSpPr txBox="1"/>
          <p:nvPr/>
        </p:nvSpPr>
        <p:spPr>
          <a:xfrm>
            <a:off x="4391025" y="3371850"/>
            <a:ext cx="3009900" cy="447675"/>
          </a:xfrm>
          <a:prstGeom prst="rect">
            <a:avLst/>
          </a:prstGeom>
          <a:noFill/>
        </p:spPr>
        <p:txBody>
          <a:bodyPr wrap="none" lIns="57150" rIns="57150" tIns="38100" bIns="38100" anchor="t">
            <a:noAutofit/>
          </a:bodyPr>
          <a:lstStyle/>
          <a:p>
            <a:pPr eaLnBrk="0" algn="ctr">
              <a:lnSpc>
                <a:spcPts val="1875"/>
              </a:lnSpc>
              <a:spcBef>
                <a:spcPts val="0"/>
              </a:spcBef>
              <a:spcAft>
                <a:spcPts val="0"/>
              </a:spcAft>
            </a:pPr>
            <a:r>
              <a:rPr sz="1500" b="0">
                <a:solidFill>
                  <a:srgbClr val="59636E"/>
                </a:solidFill>
                <a:latin typeface="Noto Sans KR"/>
              </a:rPr>
              <a:t>2026-09</a:t>
            </a:r>
          </a:p>
        </p:txBody>
      </p:sp>
      <p:sp xmlns:a="http://schemas.openxmlformats.org/drawingml/2006/main">
        <p:nvSpPr>
          <p:cNvPr id="13" name="flow-node-2"/>
          <p:cNvSpPr/>
          <p:nvPr/>
        </p:nvSpPr>
        <p:spPr>
          <a:xfrm>
            <a:off x="9001125" y="2219325"/>
            <a:ext cx="552450" cy="552450"/>
          </a:xfrm>
          <a:prstGeom prst="ellipse">
            <a:avLst/>
          </a:prstGeom>
          <a:solidFill>
            <a:srgbClr val="004E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4" name="flow-number-2"/>
          <p:cNvSpPr txBox="1"/>
          <p:nvPr/>
        </p:nvSpPr>
        <p:spPr>
          <a:xfrm>
            <a:off x="9010650" y="2305050"/>
            <a:ext cx="533400" cy="371475"/>
          </a:xfrm>
          <a:prstGeom prst="rect">
            <a:avLst/>
          </a:prstGeom>
          <a:noFill/>
        </p:spPr>
        <p:txBody>
          <a:bodyPr wrap="none" lIns="57150" rIns="57150" tIns="38100" bIns="38100" anchor="t">
            <a:noAutofit/>
          </a:bodyPr>
          <a:lstStyle/>
          <a:p>
            <a:pPr eaLnBrk="0" algn="ctr">
              <a:lnSpc>
                <a:spcPts val="2296"/>
              </a:lnSpc>
              <a:spcBef>
                <a:spcPts val="0"/>
              </a:spcBef>
              <a:spcAft>
                <a:spcPts val="0"/>
              </a:spcAft>
            </a:pPr>
            <a:r>
              <a:rPr sz="1837" b="1">
                <a:solidFill>
                  <a:srgbClr val="FFFFFF"/>
                </a:solidFill>
                <a:latin typeface="Noto Sans KR"/>
              </a:rPr>
              <a:t>03</a:t>
            </a:r>
          </a:p>
        </p:txBody>
      </p:sp>
      <p:sp xmlns:a="http://schemas.openxmlformats.org/drawingml/2006/main">
        <p:nvSpPr>
          <p:cNvPr id="15" name="step-2-label"/>
          <p:cNvSpPr txBox="1"/>
          <p:nvPr/>
        </p:nvSpPr>
        <p:spPr>
          <a:xfrm>
            <a:off x="7772400" y="2914650"/>
            <a:ext cx="3009900" cy="409575"/>
          </a:xfrm>
          <a:prstGeom prst="rect">
            <a:avLst/>
          </a:prstGeom>
          <a:noFill/>
        </p:spPr>
        <p:txBody>
          <a:bodyPr wrap="none" lIns="57150" rIns="57150" tIns="38100" bIns="38100" anchor="t">
            <a:noAutofit/>
          </a:bodyPr>
          <a:lstStyle/>
          <a:p>
            <a:pPr eaLnBrk="0" algn="ctr">
              <a:lnSpc>
                <a:spcPts val="2343"/>
              </a:lnSpc>
              <a:spcBef>
                <a:spcPts val="0"/>
              </a:spcBef>
              <a:spcAft>
                <a:spcPts val="0"/>
              </a:spcAft>
            </a:pPr>
            <a:r>
              <a:rPr sz="1875" b="1">
                <a:solidFill>
                  <a:srgbClr val="004EA2"/>
                </a:solidFill>
                <a:latin typeface="Noto Sans KR"/>
              </a:rPr>
              <a:t>시범 운영</a:t>
            </a:r>
          </a:p>
        </p:txBody>
      </p:sp>
      <p:sp xmlns:a="http://schemas.openxmlformats.org/drawingml/2006/main">
        <p:nvSpPr>
          <p:cNvPr id="16" name="step-2-period"/>
          <p:cNvSpPr txBox="1"/>
          <p:nvPr/>
        </p:nvSpPr>
        <p:spPr>
          <a:xfrm>
            <a:off x="7772400" y="3371850"/>
            <a:ext cx="3009900" cy="447675"/>
          </a:xfrm>
          <a:prstGeom prst="rect">
            <a:avLst/>
          </a:prstGeom>
          <a:noFill/>
        </p:spPr>
        <p:txBody>
          <a:bodyPr wrap="none" lIns="57150" rIns="57150" tIns="38100" bIns="38100" anchor="t">
            <a:noAutofit/>
          </a:bodyPr>
          <a:lstStyle/>
          <a:p>
            <a:pPr eaLnBrk="0" algn="ctr">
              <a:lnSpc>
                <a:spcPts val="1875"/>
              </a:lnSpc>
              <a:spcBef>
                <a:spcPts val="0"/>
              </a:spcBef>
              <a:spcAft>
                <a:spcPts val="0"/>
              </a:spcAft>
            </a:pPr>
            <a:r>
              <a:rPr sz="1500" b="0">
                <a:solidFill>
                  <a:srgbClr val="59636E"/>
                </a:solidFill>
                <a:latin typeface="Noto Sans KR"/>
              </a:rPr>
              <a:t>2026-10</a:t>
            </a:r>
          </a:p>
        </p:txBody>
      </p:sp>
      <p:sp xmlns:a="http://schemas.openxmlformats.org/drawingml/2006/main">
        <p:nvSpPr>
          <p:cNvPr id="17" name="flow-node-3"/>
          <p:cNvSpPr/>
          <p:nvPr/>
        </p:nvSpPr>
        <p:spPr>
          <a:xfrm>
            <a:off x="12382500" y="2219325"/>
            <a:ext cx="552450" cy="552450"/>
          </a:xfrm>
          <a:prstGeom prst="ellipse">
            <a:avLst/>
          </a:prstGeom>
          <a:solidFill>
            <a:srgbClr val="00B7C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8" name="flow-number-3"/>
          <p:cNvSpPr txBox="1"/>
          <p:nvPr/>
        </p:nvSpPr>
        <p:spPr>
          <a:xfrm>
            <a:off x="12392025" y="2305050"/>
            <a:ext cx="533400" cy="371475"/>
          </a:xfrm>
          <a:prstGeom prst="rect">
            <a:avLst/>
          </a:prstGeom>
          <a:noFill/>
        </p:spPr>
        <p:txBody>
          <a:bodyPr wrap="none" lIns="57150" rIns="57150" tIns="38100" bIns="38100" anchor="t">
            <a:noAutofit/>
          </a:bodyPr>
          <a:lstStyle/>
          <a:p>
            <a:pPr eaLnBrk="0" algn="ctr">
              <a:lnSpc>
                <a:spcPts val="2296"/>
              </a:lnSpc>
              <a:spcBef>
                <a:spcPts val="0"/>
              </a:spcBef>
              <a:spcAft>
                <a:spcPts val="0"/>
              </a:spcAft>
            </a:pPr>
            <a:r>
              <a:rPr sz="1837" b="1">
                <a:solidFill>
                  <a:srgbClr val="FFFFFF"/>
                </a:solidFill>
                <a:latin typeface="Noto Sans KR"/>
              </a:rPr>
              <a:t>04</a:t>
            </a:r>
          </a:p>
        </p:txBody>
      </p:sp>
      <p:sp xmlns:a="http://schemas.openxmlformats.org/drawingml/2006/main">
        <p:nvSpPr>
          <p:cNvPr id="19" name="step-3-label"/>
          <p:cNvSpPr txBox="1"/>
          <p:nvPr/>
        </p:nvSpPr>
        <p:spPr>
          <a:xfrm>
            <a:off x="11153775" y="2914650"/>
            <a:ext cx="3009900" cy="409575"/>
          </a:xfrm>
          <a:prstGeom prst="rect">
            <a:avLst/>
          </a:prstGeom>
          <a:noFill/>
        </p:spPr>
        <p:txBody>
          <a:bodyPr wrap="none" lIns="57150" rIns="57150" tIns="38100" bIns="38100" anchor="t">
            <a:noAutofit/>
          </a:bodyPr>
          <a:lstStyle/>
          <a:p>
            <a:pPr eaLnBrk="0" algn="ctr">
              <a:lnSpc>
                <a:spcPts val="2343"/>
              </a:lnSpc>
              <a:spcBef>
                <a:spcPts val="0"/>
              </a:spcBef>
              <a:spcAft>
                <a:spcPts val="0"/>
              </a:spcAft>
            </a:pPr>
            <a:r>
              <a:rPr sz="1875" b="1">
                <a:solidFill>
                  <a:srgbClr val="004EA2"/>
                </a:solidFill>
                <a:latin typeface="Noto Sans KR"/>
              </a:rPr>
              <a:t>실적 확인과 평가</a:t>
            </a:r>
          </a:p>
        </p:txBody>
      </p:sp>
      <p:sp xmlns:a="http://schemas.openxmlformats.org/drawingml/2006/main">
        <p:nvSpPr>
          <p:cNvPr id="20" name="step-3-period"/>
          <p:cNvSpPr txBox="1"/>
          <p:nvPr/>
        </p:nvSpPr>
        <p:spPr>
          <a:xfrm>
            <a:off x="11153775" y="3371850"/>
            <a:ext cx="3009900" cy="447675"/>
          </a:xfrm>
          <a:prstGeom prst="rect">
            <a:avLst/>
          </a:prstGeom>
          <a:noFill/>
        </p:spPr>
        <p:txBody>
          <a:bodyPr wrap="none" lIns="57150" rIns="57150" tIns="38100" bIns="38100" anchor="t">
            <a:noAutofit/>
          </a:bodyPr>
          <a:lstStyle/>
          <a:p>
            <a:pPr eaLnBrk="0" algn="ctr">
              <a:lnSpc>
                <a:spcPts val="1875"/>
              </a:lnSpc>
              <a:spcBef>
                <a:spcPts val="0"/>
              </a:spcBef>
              <a:spcAft>
                <a:spcPts val="0"/>
              </a:spcAft>
            </a:pPr>
            <a:r>
              <a:rPr sz="1500" b="0">
                <a:solidFill>
                  <a:srgbClr val="59636E"/>
                </a:solidFill>
                <a:latin typeface="Noto Sans KR"/>
              </a:rPr>
              <a:t>2026-10 ~ 2026-11 / 2026-11</a:t>
            </a:r>
          </a:p>
        </p:txBody>
      </p:sp>
      <p:graphicFrame xmlns:a="http://schemas.openxmlformats.org/drawingml/2006/main">
        <p:nvGraphicFramePr>
          <p:cNvPr id="21" name="execution-table"/>
          <p:cNvGraphicFramePr>
            <a:graphicFrameLocks noGrp="1"/>
          </p:cNvGraphicFramePr>
          <p:nvPr/>
        </p:nvGraphicFramePr>
        <p:xfrm>
          <a:off x="1009650" y="4143375"/>
          <a:ext cx="13220700" cy="3533776"/>
        </p:xfrm>
        <a:graphic>
          <a:graphicData uri="http://schemas.openxmlformats.org/drawingml/2006/table">
            <a:tbl>
              <a:tblPr firstRow="1" bandRow="1">
                <a:tableStyleId>{5C22544A-7EE6-4342-B048-85BDC9FD1C3A}</a:tableStyleId>
              </a:tblPr>
              <a:tblGrid>
                <a:gridCol w="904875"/>
                <a:gridCol w="2095500"/>
                <a:gridCol w="2333625"/>
                <a:gridCol w="7886700"/>
              </a:tblGrid>
              <a:tr h="495300">
                <a:tc>
                  <a:txBody>
                    <a:bodyPr wrap="none"/>
                    <a:lstStyle/>
                    <a:p>
                      <a:pPr eaLnBrk="0" algn="ctr">
                        <a:lnSpc>
                          <a:spcPct val="112000"/>
                        </a:lnSpc>
                        <a:spcBef>
                          <a:spcPts val="0"/>
                        </a:spcBef>
                        <a:spcAft>
                          <a:spcPts val="0"/>
                        </a:spcAft>
                      </a:pPr>
                      <a:r>
                        <a:rPr sz="1575" b="1">
                          <a:solidFill>
                            <a:srgbClr val="FFFFFF"/>
                          </a:solidFill>
                          <a:latin typeface="Noto Sans KR"/>
                        </a:rPr>
                        <a:t>단계</a:t>
                      </a:r>
                    </a:p>
                  </a:txBody>
                  <a:tcPr marL="95250" marR="95250" marT="66675" marB="66675" anchor="ctr">
                    <a:solidFill>
                      <a:srgbClr val="004EA2"/>
                    </a:solidFill>
                  </a:tcPr>
                </a:tc>
                <a:tc>
                  <a:txBody>
                    <a:bodyPr wrap="none"/>
                    <a:lstStyle/>
                    <a:p>
                      <a:pPr eaLnBrk="0" algn="ctr">
                        <a:lnSpc>
                          <a:spcPct val="112000"/>
                        </a:lnSpc>
                        <a:spcBef>
                          <a:spcPts val="0"/>
                        </a:spcBef>
                        <a:spcAft>
                          <a:spcPts val="0"/>
                        </a:spcAft>
                      </a:pPr>
                      <a:r>
                        <a:rPr sz="1575" b="1">
                          <a:solidFill>
                            <a:srgbClr val="FFFFFF"/>
                          </a:solidFill>
                          <a:latin typeface="Noto Sans KR"/>
                        </a:rPr>
                        <a:t>기간</a:t>
                      </a:r>
                    </a:p>
                  </a:txBody>
                  <a:tcPr marL="95250" marR="95250" marT="66675" marB="66675" anchor="ctr">
                    <a:solidFill>
                      <a:srgbClr val="004EA2"/>
                    </a:solidFill>
                  </a:tcPr>
                </a:tc>
                <a:tc>
                  <a:txBody>
                    <a:bodyPr wrap="none"/>
                    <a:lstStyle/>
                    <a:p>
                      <a:pPr eaLnBrk="0" algn="ctr">
                        <a:lnSpc>
                          <a:spcPct val="112000"/>
                        </a:lnSpc>
                        <a:spcBef>
                          <a:spcPts val="0"/>
                        </a:spcBef>
                        <a:spcAft>
                          <a:spcPts val="0"/>
                        </a:spcAft>
                      </a:pPr>
                      <a:r>
                        <a:rPr sz="1575" b="1">
                          <a:solidFill>
                            <a:srgbClr val="FFFFFF"/>
                          </a:solidFill>
                          <a:latin typeface="Noto Sans KR"/>
                        </a:rPr>
                        <a:t>담당 역할(제안)</a:t>
                      </a:r>
                    </a:p>
                  </a:txBody>
                  <a:tcPr marL="95250" marR="95250" marT="66675" marB="66675" anchor="ctr">
                    <a:solidFill>
                      <a:srgbClr val="004EA2"/>
                    </a:solidFill>
                  </a:tcPr>
                </a:tc>
                <a:tc>
                  <a:txBody>
                    <a:bodyPr wrap="none"/>
                    <a:lstStyle/>
                    <a:p>
                      <a:pPr eaLnBrk="0" algn="ctr">
                        <a:lnSpc>
                          <a:spcPct val="112000"/>
                        </a:lnSpc>
                        <a:spcBef>
                          <a:spcPts val="0"/>
                        </a:spcBef>
                        <a:spcAft>
                          <a:spcPts val="0"/>
                        </a:spcAft>
                      </a:pPr>
                      <a:r>
                        <a:rPr sz="1575" b="1">
                          <a:solidFill>
                            <a:srgbClr val="FFFFFF"/>
                          </a:solidFill>
                          <a:latin typeface="Noto Sans KR"/>
                        </a:rPr>
                        <a:t>세부 실행 업무</a:t>
                      </a:r>
                    </a:p>
                  </a:txBody>
                  <a:tcPr marL="95250" marR="95250" marT="66675" marB="66675" anchor="ctr">
                    <a:solidFill>
                      <a:srgbClr val="004EA2"/>
                    </a:solidFill>
                  </a:tcPr>
                </a:tc>
              </a:tr>
              <a:tr h="759619">
                <a:tc>
                  <a:txBody>
                    <a:bodyPr wrap="none"/>
                    <a:lstStyle/>
                    <a:p>
                      <a:pPr eaLnBrk="0" algn="ctr">
                        <a:lnSpc>
                          <a:spcPct val="112000"/>
                        </a:lnSpc>
                        <a:spcBef>
                          <a:spcPts val="0"/>
                        </a:spcBef>
                        <a:spcAft>
                          <a:spcPts val="0"/>
                        </a:spcAft>
                      </a:pPr>
                      <a:r>
                        <a:rPr sz="1575" b="1">
                          <a:solidFill>
                            <a:srgbClr val="1D2227"/>
                          </a:solidFill>
                          <a:latin typeface="Noto Sans KR"/>
                        </a:rPr>
                        <a:t>01</a:t>
                      </a:r>
                    </a:p>
                  </a:txBody>
                  <a:tcPr marL="95250" marR="95250" marT="66675" marB="66675" anchor="ctr">
                    <a:solidFill>
                      <a:srgbClr val="FFFFFF"/>
                    </a:solidFill>
                  </a:tcPr>
                </a:tc>
                <a:tc>
                  <a:txBody>
                    <a:bodyPr wrap="none"/>
                    <a:lstStyle/>
                    <a:p>
                      <a:pPr eaLnBrk="0" algn="ctr">
                        <a:lnSpc>
                          <a:spcPct val="112000"/>
                        </a:lnSpc>
                        <a:spcBef>
                          <a:spcPts val="0"/>
                        </a:spcBef>
                        <a:spcAft>
                          <a:spcPts val="0"/>
                        </a:spcAft>
                      </a:pPr>
                      <a:r>
                        <a:rPr sz="1575" b="0">
                          <a:solidFill>
                            <a:srgbClr val="1D2227"/>
                          </a:solidFill>
                          <a:latin typeface="Noto Sans KR"/>
                        </a:rPr>
                        <a:t>2026-09</a:t>
                      </a:r>
                    </a:p>
                  </a:txBody>
                  <a:tcPr marL="95250" marR="95250" marT="66675" marB="66675" anchor="ctr">
                    <a:solidFill>
                      <a:srgbClr val="FFFFFF"/>
                    </a:solidFill>
                  </a:tcPr>
                </a:tc>
                <a:tc>
                  <a:txBody>
                    <a:bodyPr wrap="none"/>
                    <a:lstStyle/>
                    <a:p>
                      <a:pPr eaLnBrk="0" algn="ctr">
                        <a:lnSpc>
                          <a:spcPct val="112000"/>
                        </a:lnSpc>
                        <a:spcBef>
                          <a:spcPts val="0"/>
                        </a:spcBef>
                        <a:spcAft>
                          <a:spcPts val="0"/>
                        </a:spcAft>
                      </a:pPr>
                      <a:r>
                        <a:rPr sz="1575" b="0">
                          <a:solidFill>
                            <a:srgbClr val="1D2227"/>
                          </a:solidFill>
                          <a:latin typeface="Noto Sans KR"/>
                        </a:rPr>
                        <a:t>사업 총괄</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75" b="0">
                          <a:solidFill>
                            <a:srgbClr val="1D2227"/>
                          </a:solidFill>
                          <a:latin typeface="Noto Sans KR"/>
                        </a:rPr>
                        <a:t>관광과 담당자가 참여 업체 명단을 확보하고 환급 운영 지침(안)을 작성함</a:t>
                      </a:r>
                    </a:p>
                  </a:txBody>
                  <a:tcPr marL="95250" marR="95250" marT="66675" marB="66675" anchor="ctr">
                    <a:solidFill>
                      <a:srgbClr val="FFFFFF"/>
                    </a:solidFill>
                  </a:tcPr>
                </a:tc>
              </a:tr>
              <a:tr h="759619">
                <a:tc>
                  <a:txBody>
                    <a:bodyPr wrap="none"/>
                    <a:lstStyle/>
                    <a:p>
                      <a:pPr eaLnBrk="0" algn="ctr">
                        <a:lnSpc>
                          <a:spcPct val="112000"/>
                        </a:lnSpc>
                        <a:spcBef>
                          <a:spcPts val="0"/>
                        </a:spcBef>
                        <a:spcAft>
                          <a:spcPts val="0"/>
                        </a:spcAft>
                      </a:pPr>
                      <a:r>
                        <a:rPr sz="1575" b="1">
                          <a:solidFill>
                            <a:srgbClr val="1D2227"/>
                          </a:solidFill>
                          <a:latin typeface="Noto Sans KR"/>
                        </a:rPr>
                        <a:t>02</a:t>
                      </a:r>
                    </a:p>
                  </a:txBody>
                  <a:tcPr marL="95250" marR="95250" marT="66675" marB="66675" anchor="ctr">
                    <a:solidFill>
                      <a:srgbClr val="EAF1F6"/>
                    </a:solidFill>
                  </a:tcPr>
                </a:tc>
                <a:tc>
                  <a:txBody>
                    <a:bodyPr wrap="none"/>
                    <a:lstStyle/>
                    <a:p>
                      <a:pPr eaLnBrk="0" algn="ctr">
                        <a:lnSpc>
                          <a:spcPct val="112000"/>
                        </a:lnSpc>
                        <a:spcBef>
                          <a:spcPts val="0"/>
                        </a:spcBef>
                        <a:spcAft>
                          <a:spcPts val="0"/>
                        </a:spcAft>
                      </a:pPr>
                      <a:r>
                        <a:rPr sz="1575" b="0">
                          <a:solidFill>
                            <a:srgbClr val="1D2227"/>
                          </a:solidFill>
                          <a:latin typeface="Noto Sans KR"/>
                        </a:rPr>
                        <a:t>2026-09</a:t>
                      </a:r>
                    </a:p>
                  </a:txBody>
                  <a:tcPr marL="95250" marR="95250" marT="66675" marB="66675" anchor="ctr">
                    <a:solidFill>
                      <a:srgbClr val="EAF1F6"/>
                    </a:solidFill>
                  </a:tcPr>
                </a:tc>
                <a:tc>
                  <a:txBody>
                    <a:bodyPr wrap="none"/>
                    <a:lstStyle/>
                    <a:p>
                      <a:pPr eaLnBrk="0" algn="ctr">
                        <a:lnSpc>
                          <a:spcPct val="112000"/>
                        </a:lnSpc>
                        <a:spcBef>
                          <a:spcPts val="0"/>
                        </a:spcBef>
                        <a:spcAft>
                          <a:spcPts val="0"/>
                        </a:spcAft>
                      </a:pPr>
                      <a:r>
                        <a:rPr sz="1575" b="0">
                          <a:solidFill>
                            <a:srgbClr val="1D2227"/>
                          </a:solidFill>
                          <a:latin typeface="Noto Sans KR"/>
                        </a:rPr>
                        <a:t>운영·정산 담당</a:t>
                      </a:r>
                    </a:p>
                  </a:txBody>
                  <a:tcPr marL="95250" marR="95250" marT="66675" marB="66675" anchor="ctr">
                    <a:solidFill>
                      <a:srgbClr val="EAF1F6"/>
                    </a:solidFill>
                  </a:tcPr>
                </a:tc>
                <a:tc>
                  <a:txBody>
                    <a:bodyPr wrap="none"/>
                    <a:lstStyle/>
                    <a:p>
                      <a:pPr eaLnBrk="0">
                        <a:lnSpc>
                          <a:spcPct val="112000"/>
                        </a:lnSpc>
                        <a:spcBef>
                          <a:spcPts val="0"/>
                        </a:spcBef>
                        <a:spcAft>
                          <a:spcPts val="0"/>
                        </a:spcAft>
                      </a:pPr>
                      <a:r>
                        <a:rPr sz="1575" b="0">
                          <a:solidFill>
                            <a:srgbClr val="1D2227"/>
                          </a:solidFill>
                          <a:latin typeface="Noto Sans KR"/>
                        </a:rPr>
                        <a:t>회계 담당자가 결제 증빙 및 중복 수혜 방지를 위한 가이드라인을 확정함</a:t>
                      </a:r>
                    </a:p>
                  </a:txBody>
                  <a:tcPr marL="95250" marR="95250" marT="66675" marB="66675" anchor="ctr">
                    <a:solidFill>
                      <a:srgbClr val="EAF1F6"/>
                    </a:solidFill>
                  </a:tcPr>
                </a:tc>
              </a:tr>
              <a:tr h="759619">
                <a:tc>
                  <a:txBody>
                    <a:bodyPr wrap="none"/>
                    <a:lstStyle/>
                    <a:p>
                      <a:pPr eaLnBrk="0" algn="ctr">
                        <a:lnSpc>
                          <a:spcPct val="112000"/>
                        </a:lnSpc>
                        <a:spcBef>
                          <a:spcPts val="0"/>
                        </a:spcBef>
                        <a:spcAft>
                          <a:spcPts val="0"/>
                        </a:spcAft>
                      </a:pPr>
                      <a:r>
                        <a:rPr sz="1575" b="1">
                          <a:solidFill>
                            <a:srgbClr val="1D2227"/>
                          </a:solidFill>
                          <a:latin typeface="Noto Sans KR"/>
                        </a:rPr>
                        <a:t>03</a:t>
                      </a:r>
                    </a:p>
                  </a:txBody>
                  <a:tcPr marL="95250" marR="95250" marT="66675" marB="66675" anchor="ctr">
                    <a:solidFill>
                      <a:srgbClr val="FFFFFF"/>
                    </a:solidFill>
                  </a:tcPr>
                </a:tc>
                <a:tc>
                  <a:txBody>
                    <a:bodyPr wrap="none"/>
                    <a:lstStyle/>
                    <a:p>
                      <a:pPr eaLnBrk="0" algn="ctr">
                        <a:lnSpc>
                          <a:spcPct val="112000"/>
                        </a:lnSpc>
                        <a:spcBef>
                          <a:spcPts val="0"/>
                        </a:spcBef>
                        <a:spcAft>
                          <a:spcPts val="0"/>
                        </a:spcAft>
                      </a:pPr>
                      <a:r>
                        <a:rPr sz="1575" b="0">
                          <a:solidFill>
                            <a:srgbClr val="1D2227"/>
                          </a:solidFill>
                          <a:latin typeface="Noto Sans KR"/>
                        </a:rPr>
                        <a:t>2026-10</a:t>
                      </a:r>
                    </a:p>
                  </a:txBody>
                  <a:tcPr marL="95250" marR="95250" marT="66675" marB="66675" anchor="ctr">
                    <a:solidFill>
                      <a:srgbClr val="FFFFFF"/>
                    </a:solidFill>
                  </a:tcPr>
                </a:tc>
                <a:tc>
                  <a:txBody>
                    <a:bodyPr wrap="none"/>
                    <a:lstStyle/>
                    <a:p>
                      <a:pPr eaLnBrk="0" algn="ctr">
                        <a:lnSpc>
                          <a:spcPct val="112000"/>
                        </a:lnSpc>
                        <a:spcBef>
                          <a:spcPts val="0"/>
                        </a:spcBef>
                        <a:spcAft>
                          <a:spcPts val="0"/>
                        </a:spcAft>
                      </a:pPr>
                      <a:r>
                        <a:rPr sz="1575" b="0">
                          <a:solidFill>
                            <a:srgbClr val="1D2227"/>
                          </a:solidFill>
                          <a:latin typeface="Noto Sans KR"/>
                        </a:rPr>
                        <a:t>현장 운영 담당</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75" b="0">
                          <a:solidFill>
                            <a:srgbClr val="1D2227"/>
                          </a:solidFill>
                          <a:latin typeface="Noto Sans KR"/>
                        </a:rPr>
                        <a:t>홍보 담당자가 주요 관광지 연계 홍보물을 배포하고 운영 현황을 기록함</a:t>
                      </a:r>
                    </a:p>
                  </a:txBody>
                  <a:tcPr marL="95250" marR="95250" marT="66675" marB="66675" anchor="ctr">
                    <a:solidFill>
                      <a:srgbClr val="FFFFFF"/>
                    </a:solidFill>
                  </a:tcPr>
                </a:tc>
              </a:tr>
              <a:tr h="759619">
                <a:tc>
                  <a:txBody>
                    <a:bodyPr wrap="none"/>
                    <a:lstStyle/>
                    <a:p>
                      <a:pPr eaLnBrk="0" algn="ctr">
                        <a:lnSpc>
                          <a:spcPct val="112000"/>
                        </a:lnSpc>
                        <a:spcBef>
                          <a:spcPts val="0"/>
                        </a:spcBef>
                        <a:spcAft>
                          <a:spcPts val="0"/>
                        </a:spcAft>
                      </a:pPr>
                      <a:r>
                        <a:rPr sz="1575" b="1">
                          <a:solidFill>
                            <a:srgbClr val="1D2227"/>
                          </a:solidFill>
                          <a:latin typeface="Noto Sans KR"/>
                        </a:rPr>
                        <a:t>04</a:t>
                      </a:r>
                    </a:p>
                  </a:txBody>
                  <a:tcPr marL="95250" marR="95250" marT="66675" marB="66675" anchor="ctr">
                    <a:solidFill>
                      <a:srgbClr val="EAF1F6"/>
                    </a:solidFill>
                  </a:tcPr>
                </a:tc>
                <a:tc>
                  <a:txBody>
                    <a:bodyPr wrap="none"/>
                    <a:lstStyle/>
                    <a:p>
                      <a:pPr eaLnBrk="0" algn="ctr">
                        <a:lnSpc>
                          <a:spcPct val="112000"/>
                        </a:lnSpc>
                        <a:spcBef>
                          <a:spcPts val="0"/>
                        </a:spcBef>
                        <a:spcAft>
                          <a:spcPts val="0"/>
                        </a:spcAft>
                      </a:pPr>
                      <a:r>
                        <a:rPr sz="1575" b="0">
                          <a:solidFill>
                            <a:srgbClr val="1D2227"/>
                          </a:solidFill>
                          <a:latin typeface="Noto Sans KR"/>
                        </a:rPr>
                        <a:t>2026-10 ~ 2026-11</a:t>
                      </a:r>
                    </a:p>
                    <a:p>
                      <a:pPr eaLnBrk="0" algn="ctr">
                        <a:lnSpc>
                          <a:spcPct val="112000"/>
                        </a:lnSpc>
                        <a:spcBef>
                          <a:spcPts val="0"/>
                        </a:spcBef>
                        <a:spcAft>
                          <a:spcPts val="0"/>
                        </a:spcAft>
                      </a:pPr>
                      <a:r>
                        <a:rPr sz="1575" b="0">
                          <a:solidFill>
                            <a:srgbClr val="1D2227"/>
                          </a:solidFill>
                          <a:latin typeface="Noto Sans KR"/>
                        </a:rPr>
                        <a:t>/ 2026-11</a:t>
                      </a:r>
                    </a:p>
                  </a:txBody>
                  <a:tcPr marL="95250" marR="95250" marT="66675" marB="66675" anchor="ctr">
                    <a:solidFill>
                      <a:srgbClr val="EAF1F6"/>
                    </a:solidFill>
                  </a:tcPr>
                </a:tc>
                <a:tc>
                  <a:txBody>
                    <a:bodyPr wrap="none"/>
                    <a:lstStyle/>
                    <a:p>
                      <a:pPr eaLnBrk="0" algn="ctr">
                        <a:lnSpc>
                          <a:spcPct val="112000"/>
                        </a:lnSpc>
                        <a:spcBef>
                          <a:spcPts val="0"/>
                        </a:spcBef>
                        <a:spcAft>
                          <a:spcPts val="0"/>
                        </a:spcAft>
                      </a:pPr>
                      <a:r>
                        <a:rPr sz="1575" b="0">
                          <a:solidFill>
                            <a:srgbClr val="1D2227"/>
                          </a:solidFill>
                          <a:latin typeface="Noto Sans KR"/>
                        </a:rPr>
                        <a:t>사업·평가 담당</a:t>
                      </a:r>
                    </a:p>
                  </a:txBody>
                  <a:tcPr marL="95250" marR="95250" marT="66675" marB="66675" anchor="ctr">
                    <a:solidFill>
                      <a:srgbClr val="EAF1F6"/>
                    </a:solidFill>
                  </a:tcPr>
                </a:tc>
                <a:tc>
                  <a:txBody>
                    <a:bodyPr wrap="none"/>
                    <a:lstStyle/>
                    <a:p>
                      <a:pPr eaLnBrk="0">
                        <a:lnSpc>
                          <a:spcPct val="112000"/>
                        </a:lnSpc>
                        <a:spcBef>
                          <a:spcPts val="0"/>
                        </a:spcBef>
                        <a:spcAft>
                          <a:spcPts val="0"/>
                        </a:spcAft>
                      </a:pPr>
                      <a:r>
                        <a:rPr sz="1575" b="0">
                          <a:solidFill>
                            <a:srgbClr val="1D2227"/>
                          </a:solidFill>
                          <a:latin typeface="Noto Sans KR"/>
                        </a:rPr>
                        <a:t>운영 담당자가 주간 단위로 환급 신청·승인·결제 원장을 수집·검증함</a:t>
                      </a:r>
                    </a:p>
                    <a:p>
                      <a:pPr eaLnBrk="0">
                        <a:lnSpc>
                          <a:spcPct val="112000"/>
                        </a:lnSpc>
                        <a:spcBef>
                          <a:spcPts val="0"/>
                        </a:spcBef>
                        <a:spcAft>
                          <a:spcPts val="0"/>
                        </a:spcAft>
                      </a:pPr>
                      <a:r>
                        <a:rPr sz="1575" b="0">
                          <a:solidFill>
                            <a:srgbClr val="1D2227"/>
                          </a:solidFill>
                          <a:latin typeface="Noto Sans KR"/>
                        </a:rPr>
                        <a:t>기획 담당자가 수집된 원장을 바탕으로 최종 성과 평가 보고서를 작성함</a:t>
                      </a:r>
                    </a:p>
                  </a:txBody>
                  <a:tcPr marL="95250" marR="95250" marT="66675" marB="66675" anchor="ctr">
                    <a:solidFill>
                      <a:srgbClr val="EAF1F6"/>
                    </a:solidFill>
                  </a:tcPr>
                </a:tc>
              </a:tr>
            </a:tbl>
          </a:graphicData>
        </a:graphic>
      </p:graphicFrame>
      <p:sp xmlns:a="http://schemas.openxmlformats.org/drawingml/2006/main">
        <p:nvSpPr>
          <p:cNvPr id="22" name="roadmap-note"/>
          <p:cNvSpPr txBox="1"/>
          <p:nvPr/>
        </p:nvSpPr>
        <p:spPr>
          <a:xfrm>
            <a:off x="1009650" y="7953375"/>
            <a:ext cx="13220700" cy="419100"/>
          </a:xfrm>
          <a:prstGeom prst="rect">
            <a:avLst/>
          </a:prstGeom>
          <a:noFill/>
        </p:spPr>
        <p:txBody>
          <a:bodyPr wrap="none" lIns="57150" rIns="57150" tIns="38100" bIns="38100" anchor="t">
            <a:noAutofit/>
          </a:bodyPr>
          <a:lstStyle/>
          <a:p>
            <a:pPr eaLnBrk="0">
              <a:lnSpc>
                <a:spcPts val="1781"/>
              </a:lnSpc>
              <a:spcBef>
                <a:spcPts val="0"/>
              </a:spcBef>
              <a:spcAft>
                <a:spcPts val="0"/>
              </a:spcAft>
            </a:pPr>
            <a:r>
              <a:rPr sz="1425" b="0">
                <a:solidFill>
                  <a:srgbClr val="59636E"/>
                </a:solidFill>
                <a:latin typeface="Noto Sans KR"/>
              </a:rPr>
              <a:t>단계별 실행 방법은 다음 장에서 확인할 수 있습니다. 담당 역할과 일정은 착수 전에 확정합니다.</a:t>
            </a:r>
          </a:p>
        </p:txBody>
      </p:sp>
    </p:spTree>
    <p:extLst>
      <p:ext uri="{BB962C8B-B14F-4D97-AF65-F5344CB8AC3E}">
        <p14:creationId xmlns:p14="http://schemas.microsoft.com/office/powerpoint/2010/main" val="380383987"/>
      </p:ext>
    </p:extLst>
  </p:cSld>
</p:sld>
</file>

<file path=ppt/slides/slide8.xml><?xml version="1.0" encoding="utf-8"?>
<p:sld xmlns:p="http://schemas.openxmlformats.org/presentationml/2006/main">
  <p:cSld>
    <p:bg>
      <p:bgPr>
        <a:solidFill xmlns:a="http://schemas.openxmlformats.org/drawingml/2006/main">
          <a:srgbClr val="F4F7FA"/>
        </a:solidFill>
      </p:bgPr>
    </p:bg>
    <p:spTree>
      <p:nvGrpSpPr>
        <p:cNvPr id="1" name=""/>
        <p:cNvGrpSpPr/>
        <p:nvPr/>
      </p:nvGrpSpPr>
      <p:grpSpPr>
        <a:xfrm xmlns:a="http://schemas.openxmlformats.org/drawingml/2006/main"/>
      </p:grpSpPr>
      <p:sp xmlns:a="http://schemas.openxmlformats.org/drawingml/2006/main">
        <p:nvSpPr>
          <p:cNvPr id="2" name="title"/>
          <p:cNvSpPr txBox="1"/>
          <p:nvPr/>
        </p:nvSpPr>
        <p:spPr>
          <a:xfrm>
            <a:off x="952500" y="714375"/>
            <a:ext cx="13335000" cy="809625"/>
          </a:xfrm>
          <a:prstGeom prst="rect">
            <a:avLst/>
          </a:prstGeom>
          <a:noFill/>
        </p:spPr>
        <p:txBody>
          <a:bodyPr wrap="none" lIns="57150" rIns="57150" tIns="38100" bIns="38100" anchor="t">
            <a:noAutofit/>
          </a:bodyPr>
          <a:lstStyle/>
          <a:p>
            <a:pPr eaLnBrk="0">
              <a:lnSpc>
                <a:spcPts val="4500"/>
              </a:lnSpc>
              <a:spcBef>
                <a:spcPts val="0"/>
              </a:spcBef>
              <a:spcAft>
                <a:spcPts val="0"/>
              </a:spcAft>
            </a:pPr>
            <a:r>
              <a:rPr sz="3600" b="1">
                <a:solidFill>
                  <a:srgbClr val="004EA2"/>
                </a:solidFill>
                <a:latin typeface="Noto Sans KR"/>
              </a:rPr>
              <a:t>머신러닝 예측값과 목표 KPI</a:t>
            </a:r>
          </a:p>
        </p:txBody>
      </p:sp>
      <p:sp xmlns:a="http://schemas.openxmlformats.org/drawingml/2006/main">
        <p:nvSpPr>
          <p:cNvPr id="3" name="title-rule"/>
          <p:cNvSpPr/>
          <p:nvPr/>
        </p:nvSpPr>
        <p:spPr>
          <a:xfrm>
            <a:off x="1009650" y="1724025"/>
            <a:ext cx="13220700" cy="28575"/>
          </a:xfrm>
          <a:prstGeom prst="rect">
            <a:avLst/>
          </a:prstGeom>
          <a:solidFill>
            <a:srgbClr val="004E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 name="kpi-title-0"/>
          <p:cNvSpPr txBox="1"/>
          <p:nvPr/>
        </p:nvSpPr>
        <p:spPr>
          <a:xfrm>
            <a:off x="1009650" y="2047875"/>
            <a:ext cx="8096250" cy="371475"/>
          </a:xfrm>
          <a:prstGeom prst="rect">
            <a:avLst/>
          </a:prstGeom>
          <a:noFill/>
        </p:spPr>
        <p:txBody>
          <a:bodyPr wrap="none" lIns="57150" rIns="57150" tIns="38100" bIns="38100" anchor="t">
            <a:noAutofit/>
          </a:bodyPr>
          <a:lstStyle/>
          <a:p>
            <a:pPr eaLnBrk="0">
              <a:lnSpc>
                <a:spcPts val="2296"/>
              </a:lnSpc>
              <a:spcBef>
                <a:spcPts val="0"/>
              </a:spcBef>
              <a:spcAft>
                <a:spcPts val="0"/>
              </a:spcAft>
            </a:pPr>
            <a:r>
              <a:rPr sz="1837" b="1">
                <a:solidFill>
                  <a:srgbClr val="004EA2"/>
                </a:solidFill>
                <a:latin typeface="Noto Sans KR"/>
              </a:rPr>
              <a:t>관광객 방문자 수</a:t>
            </a:r>
          </a:p>
        </p:txBody>
      </p:sp>
      <p:graphicFrame xmlns:a="http://schemas.openxmlformats.org/drawingml/2006/main">
        <p:nvGraphicFramePr>
          <p:cNvPr id="5" name="kpi-visitors-table"/>
          <p:cNvGraphicFramePr>
            <a:graphicFrameLocks noGrp="1"/>
          </p:cNvGraphicFramePr>
          <p:nvPr/>
        </p:nvGraphicFramePr>
        <p:xfrm>
          <a:off x="1009650" y="2514600"/>
          <a:ext cx="13220700" cy="2019300"/>
        </p:xfrm>
        <a:graphic>
          <a:graphicData uri="http://schemas.openxmlformats.org/drawingml/2006/table">
            <a:tbl>
              <a:tblPr firstRow="1" bandRow="1">
                <a:tableStyleId>{5C22544A-7EE6-4342-B048-85BDC9FD1C3A}</a:tableStyleId>
              </a:tblPr>
              <a:tblGrid>
                <a:gridCol w="2552700"/>
                <a:gridCol w="3667125"/>
                <a:gridCol w="3667125"/>
                <a:gridCol w="3333750"/>
              </a:tblGrid>
              <a:tr h="495300">
                <a:tc>
                  <a:txBody>
                    <a:bodyPr wrap="none"/>
                    <a:lstStyle/>
                    <a:p>
                      <a:pPr eaLnBrk="0">
                        <a:lnSpc>
                          <a:spcPct val="112000"/>
                        </a:lnSpc>
                        <a:spcBef>
                          <a:spcPts val="0"/>
                        </a:spcBef>
                        <a:spcAft>
                          <a:spcPts val="0"/>
                        </a:spcAft>
                      </a:pPr>
                      <a:r>
                        <a:rPr sz="1650" b="1">
                          <a:solidFill>
                            <a:srgbClr val="FFFFFF"/>
                          </a:solidFill>
                          <a:latin typeface="Noto Sans KR"/>
                        </a:rPr>
                        <a:t>기준월</a:t>
                      </a:r>
                    </a:p>
                  </a:txBody>
                  <a:tcPr marL="95250" marR="95250" marT="66675" marB="66675" anchor="ctr">
                    <a:solidFill>
                      <a:srgbClr val="004EA2"/>
                    </a:solidFill>
                  </a:tcPr>
                </a:tc>
                <a:tc>
                  <a:txBody>
                    <a:bodyPr wrap="none"/>
                    <a:lstStyle/>
                    <a:p>
                      <a:pPr eaLnBrk="0">
                        <a:lnSpc>
                          <a:spcPct val="112000"/>
                        </a:lnSpc>
                        <a:spcBef>
                          <a:spcPts val="0"/>
                        </a:spcBef>
                        <a:spcAft>
                          <a:spcPts val="0"/>
                        </a:spcAft>
                      </a:pPr>
                      <a:r>
                        <a:rPr sz="1650" b="1">
                          <a:solidFill>
                            <a:srgbClr val="FFFFFF"/>
                          </a:solidFill>
                          <a:latin typeface="Noto Sans KR"/>
                        </a:rPr>
                        <a:t>머신러닝 예측값</a:t>
                      </a:r>
                    </a:p>
                  </a:txBody>
                  <a:tcPr marL="95250" marR="95250" marT="66675" marB="66675" anchor="ctr">
                    <a:solidFill>
                      <a:srgbClr val="004EA2"/>
                    </a:solidFill>
                  </a:tcPr>
                </a:tc>
                <a:tc>
                  <a:txBody>
                    <a:bodyPr wrap="none"/>
                    <a:lstStyle/>
                    <a:p>
                      <a:pPr eaLnBrk="0">
                        <a:lnSpc>
                          <a:spcPct val="112000"/>
                        </a:lnSpc>
                        <a:spcBef>
                          <a:spcPts val="0"/>
                        </a:spcBef>
                        <a:spcAft>
                          <a:spcPts val="0"/>
                        </a:spcAft>
                      </a:pPr>
                      <a:r>
                        <a:rPr sz="1650" b="1">
                          <a:solidFill>
                            <a:srgbClr val="FFFFFF"/>
                          </a:solidFill>
                          <a:latin typeface="Noto Sans KR"/>
                        </a:rPr>
                        <a:t>목표 KPI</a:t>
                      </a:r>
                    </a:p>
                  </a:txBody>
                  <a:tcPr marL="95250" marR="95250" marT="66675" marB="66675" anchor="ctr">
                    <a:solidFill>
                      <a:srgbClr val="004EA2"/>
                    </a:solidFill>
                  </a:tcPr>
                </a:tc>
                <a:tc>
                  <a:txBody>
                    <a:bodyPr wrap="none"/>
                    <a:lstStyle/>
                    <a:p>
                      <a:pPr eaLnBrk="0">
                        <a:lnSpc>
                          <a:spcPct val="112000"/>
                        </a:lnSpc>
                        <a:spcBef>
                          <a:spcPts val="0"/>
                        </a:spcBef>
                        <a:spcAft>
                          <a:spcPts val="0"/>
                        </a:spcAft>
                      </a:pPr>
                      <a:r>
                        <a:rPr sz="1650" b="1">
                          <a:solidFill>
                            <a:srgbClr val="FFFFFF"/>
                          </a:solidFill>
                          <a:latin typeface="Noto Sans KR"/>
                        </a:rPr>
                        <a:t>목표 증가율</a:t>
                      </a:r>
                    </a:p>
                  </a:txBody>
                  <a:tcPr marL="95250" marR="95250" marT="66675" marB="66675" anchor="ctr">
                    <a:solidFill>
                      <a:srgbClr val="004EA2"/>
                    </a:solidFill>
                  </a:tcPr>
                </a:tc>
              </a:tr>
              <a:tr h="381000">
                <a:tc>
                  <a:txBody>
                    <a:bodyPr wrap="none"/>
                    <a:lstStyle/>
                    <a:p>
                      <a:pPr eaLnBrk="0">
                        <a:lnSpc>
                          <a:spcPct val="112000"/>
                        </a:lnSpc>
                        <a:spcBef>
                          <a:spcPts val="0"/>
                        </a:spcBef>
                        <a:spcAft>
                          <a:spcPts val="0"/>
                        </a:spcAft>
                      </a:pPr>
                      <a:r>
                        <a:rPr sz="1537" b="1">
                          <a:solidFill>
                            <a:srgbClr val="1D2227"/>
                          </a:solidFill>
                          <a:latin typeface="Noto Sans KR"/>
                        </a:rPr>
                        <a:t>26.09</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0">
                          <a:solidFill>
                            <a:srgbClr val="1D2227"/>
                          </a:solidFill>
                          <a:latin typeface="Noto Sans KR"/>
                        </a:rPr>
                        <a:t>2,363,056명</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0">
                          <a:solidFill>
                            <a:srgbClr val="1D2227"/>
                          </a:solidFill>
                          <a:latin typeface="Noto Sans KR"/>
                        </a:rPr>
                        <a:t>2,402,440명</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0">
                          <a:solidFill>
                            <a:srgbClr val="1D2227"/>
                          </a:solidFill>
                          <a:latin typeface="Noto Sans KR"/>
                        </a:rPr>
                        <a:t>↑ 1.67%</a:t>
                      </a:r>
                    </a:p>
                  </a:txBody>
                  <a:tcPr marL="95250" marR="95250" marT="66675" marB="66675" anchor="ctr">
                    <a:solidFill>
                      <a:srgbClr val="FFFFFF"/>
                    </a:solidFill>
                  </a:tcPr>
                </a:tc>
              </a:tr>
              <a:tr h="381000">
                <a:tc>
                  <a:txBody>
                    <a:bodyPr wrap="none"/>
                    <a:lstStyle/>
                    <a:p>
                      <a:pPr eaLnBrk="0">
                        <a:lnSpc>
                          <a:spcPct val="112000"/>
                        </a:lnSpc>
                        <a:spcBef>
                          <a:spcPts val="0"/>
                        </a:spcBef>
                        <a:spcAft>
                          <a:spcPts val="0"/>
                        </a:spcAft>
                      </a:pPr>
                      <a:r>
                        <a:rPr sz="1537" b="1">
                          <a:solidFill>
                            <a:srgbClr val="1D2227"/>
                          </a:solidFill>
                          <a:latin typeface="Noto Sans KR"/>
                        </a:rPr>
                        <a:t>26.10</a:t>
                      </a:r>
                    </a:p>
                  </a:txBody>
                  <a:tcPr marL="95250" marR="95250" marT="66675" marB="66675" anchor="ctr">
                    <a:solidFill>
                      <a:srgbClr val="EAF1F6"/>
                    </a:solidFill>
                  </a:tcPr>
                </a:tc>
                <a:tc>
                  <a:txBody>
                    <a:bodyPr wrap="none"/>
                    <a:lstStyle/>
                    <a:p>
                      <a:pPr eaLnBrk="0">
                        <a:lnSpc>
                          <a:spcPct val="112000"/>
                        </a:lnSpc>
                        <a:spcBef>
                          <a:spcPts val="0"/>
                        </a:spcBef>
                        <a:spcAft>
                          <a:spcPts val="0"/>
                        </a:spcAft>
                      </a:pPr>
                      <a:r>
                        <a:rPr sz="1537" b="0">
                          <a:solidFill>
                            <a:srgbClr val="1D2227"/>
                          </a:solidFill>
                          <a:latin typeface="Noto Sans KR"/>
                        </a:rPr>
                        <a:t>2,633,270명</a:t>
                      </a:r>
                    </a:p>
                  </a:txBody>
                  <a:tcPr marL="95250" marR="95250" marT="66675" marB="66675" anchor="ctr">
                    <a:solidFill>
                      <a:srgbClr val="EAF1F6"/>
                    </a:solidFill>
                  </a:tcPr>
                </a:tc>
                <a:tc>
                  <a:txBody>
                    <a:bodyPr wrap="none"/>
                    <a:lstStyle/>
                    <a:p>
                      <a:pPr eaLnBrk="0">
                        <a:lnSpc>
                          <a:spcPct val="112000"/>
                        </a:lnSpc>
                        <a:spcBef>
                          <a:spcPts val="0"/>
                        </a:spcBef>
                        <a:spcAft>
                          <a:spcPts val="0"/>
                        </a:spcAft>
                      </a:pPr>
                      <a:r>
                        <a:rPr sz="1537" b="0">
                          <a:solidFill>
                            <a:srgbClr val="1D2227"/>
                          </a:solidFill>
                          <a:latin typeface="Noto Sans KR"/>
                        </a:rPr>
                        <a:t>2,721,046명</a:t>
                      </a:r>
                    </a:p>
                  </a:txBody>
                  <a:tcPr marL="95250" marR="95250" marT="66675" marB="66675" anchor="ctr">
                    <a:solidFill>
                      <a:srgbClr val="EAF1F6"/>
                    </a:solidFill>
                  </a:tcPr>
                </a:tc>
                <a:tc>
                  <a:txBody>
                    <a:bodyPr wrap="none"/>
                    <a:lstStyle/>
                    <a:p>
                      <a:pPr eaLnBrk="0">
                        <a:lnSpc>
                          <a:spcPct val="112000"/>
                        </a:lnSpc>
                        <a:spcBef>
                          <a:spcPts val="0"/>
                        </a:spcBef>
                        <a:spcAft>
                          <a:spcPts val="0"/>
                        </a:spcAft>
                      </a:pPr>
                      <a:r>
                        <a:rPr sz="1537" b="0">
                          <a:solidFill>
                            <a:srgbClr val="1D2227"/>
                          </a:solidFill>
                          <a:latin typeface="Noto Sans KR"/>
                        </a:rPr>
                        <a:t>↑ 3.33%</a:t>
                      </a:r>
                    </a:p>
                  </a:txBody>
                  <a:tcPr marL="95250" marR="95250" marT="66675" marB="66675" anchor="ctr">
                    <a:solidFill>
                      <a:srgbClr val="EAF1F6"/>
                    </a:solidFill>
                  </a:tcPr>
                </a:tc>
              </a:tr>
              <a:tr h="381000">
                <a:tc>
                  <a:txBody>
                    <a:bodyPr wrap="none"/>
                    <a:lstStyle/>
                    <a:p>
                      <a:pPr eaLnBrk="0">
                        <a:lnSpc>
                          <a:spcPct val="112000"/>
                        </a:lnSpc>
                        <a:spcBef>
                          <a:spcPts val="0"/>
                        </a:spcBef>
                        <a:spcAft>
                          <a:spcPts val="0"/>
                        </a:spcAft>
                      </a:pPr>
                      <a:r>
                        <a:rPr sz="1537" b="1">
                          <a:solidFill>
                            <a:srgbClr val="1D2227"/>
                          </a:solidFill>
                          <a:latin typeface="Noto Sans KR"/>
                        </a:rPr>
                        <a:t>26.11</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0">
                          <a:solidFill>
                            <a:srgbClr val="1D2227"/>
                          </a:solidFill>
                          <a:latin typeface="Noto Sans KR"/>
                        </a:rPr>
                        <a:t>2,632,315명</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0">
                          <a:solidFill>
                            <a:srgbClr val="1D2227"/>
                          </a:solidFill>
                          <a:latin typeface="Noto Sans KR"/>
                        </a:rPr>
                        <a:t>2,763,931명</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0">
                          <a:solidFill>
                            <a:srgbClr val="1D2227"/>
                          </a:solidFill>
                          <a:latin typeface="Noto Sans KR"/>
                        </a:rPr>
                        <a:t>↑ 5.00%</a:t>
                      </a:r>
                    </a:p>
                  </a:txBody>
                  <a:tcPr marL="95250" marR="95250" marT="66675" marB="66675" anchor="ctr">
                    <a:solidFill>
                      <a:srgbClr val="FFFFFF"/>
                    </a:solidFill>
                  </a:tcPr>
                </a:tc>
              </a:tr>
              <a:tr h="381000">
                <a:tc>
                  <a:txBody>
                    <a:bodyPr wrap="none"/>
                    <a:lstStyle/>
                    <a:p>
                      <a:pPr eaLnBrk="0">
                        <a:lnSpc>
                          <a:spcPct val="112000"/>
                        </a:lnSpc>
                        <a:spcBef>
                          <a:spcPts val="0"/>
                        </a:spcBef>
                        <a:spcAft>
                          <a:spcPts val="0"/>
                        </a:spcAft>
                      </a:pPr>
                      <a:r>
                        <a:rPr sz="1537" b="1">
                          <a:solidFill>
                            <a:srgbClr val="1D2227"/>
                          </a:solidFill>
                          <a:latin typeface="Noto Sans KR"/>
                        </a:rPr>
                        <a:t>3개월 월별 합계</a:t>
                      </a:r>
                    </a:p>
                  </a:txBody>
                  <a:tcPr marL="95250" marR="95250" marT="66675" marB="66675" anchor="ctr">
                    <a:solidFill>
                      <a:srgbClr val="EAF1F6"/>
                    </a:solidFill>
                  </a:tcPr>
                </a:tc>
                <a:tc>
                  <a:txBody>
                    <a:bodyPr wrap="none"/>
                    <a:lstStyle/>
                    <a:p>
                      <a:pPr eaLnBrk="0">
                        <a:lnSpc>
                          <a:spcPct val="112000"/>
                        </a:lnSpc>
                        <a:spcBef>
                          <a:spcPts val="0"/>
                        </a:spcBef>
                        <a:spcAft>
                          <a:spcPts val="0"/>
                        </a:spcAft>
                      </a:pPr>
                      <a:r>
                        <a:rPr sz="1537" b="0">
                          <a:solidFill>
                            <a:srgbClr val="1D2227"/>
                          </a:solidFill>
                          <a:latin typeface="Noto Sans KR"/>
                        </a:rPr>
                        <a:t>7,628,641명</a:t>
                      </a:r>
                    </a:p>
                  </a:txBody>
                  <a:tcPr marL="95250" marR="95250" marT="66675" marB="66675" anchor="ctr">
                    <a:solidFill>
                      <a:srgbClr val="EAF1F6"/>
                    </a:solidFill>
                  </a:tcPr>
                </a:tc>
                <a:tc>
                  <a:txBody>
                    <a:bodyPr wrap="none"/>
                    <a:lstStyle/>
                    <a:p>
                      <a:pPr eaLnBrk="0">
                        <a:lnSpc>
                          <a:spcPct val="112000"/>
                        </a:lnSpc>
                        <a:spcBef>
                          <a:spcPts val="0"/>
                        </a:spcBef>
                        <a:spcAft>
                          <a:spcPts val="0"/>
                        </a:spcAft>
                      </a:pPr>
                      <a:r>
                        <a:rPr sz="1537" b="0">
                          <a:solidFill>
                            <a:srgbClr val="1D2227"/>
                          </a:solidFill>
                          <a:latin typeface="Noto Sans KR"/>
                        </a:rPr>
                        <a:t>7,887,417명</a:t>
                      </a:r>
                    </a:p>
                  </a:txBody>
                  <a:tcPr marL="95250" marR="95250" marT="66675" marB="66675" anchor="ctr">
                    <a:solidFill>
                      <a:srgbClr val="EAF1F6"/>
                    </a:solidFill>
                  </a:tcPr>
                </a:tc>
                <a:tc>
                  <a:txBody>
                    <a:bodyPr wrap="none"/>
                    <a:lstStyle/>
                    <a:p>
                      <a:pPr eaLnBrk="0">
                        <a:lnSpc>
                          <a:spcPct val="112000"/>
                        </a:lnSpc>
                        <a:spcBef>
                          <a:spcPts val="0"/>
                        </a:spcBef>
                        <a:spcAft>
                          <a:spcPts val="0"/>
                        </a:spcAft>
                      </a:pPr>
                      <a:r>
                        <a:rPr sz="1537" b="0">
                          <a:solidFill>
                            <a:srgbClr val="1D2227"/>
                          </a:solidFill>
                          <a:latin typeface="Noto Sans KR"/>
                        </a:rPr>
                        <a:t>↑ 3.39%</a:t>
                      </a:r>
                    </a:p>
                  </a:txBody>
                  <a:tcPr marL="95250" marR="95250" marT="66675" marB="66675" anchor="ctr">
                    <a:solidFill>
                      <a:srgbClr val="EAF1F6"/>
                    </a:solidFill>
                  </a:tcPr>
                </a:tc>
              </a:tr>
            </a:tbl>
          </a:graphicData>
        </a:graphic>
      </p:graphicFrame>
      <p:sp xmlns:a="http://schemas.openxmlformats.org/drawingml/2006/main">
        <p:nvSpPr>
          <p:cNvPr id="6" name="kpi-total-0"/>
          <p:cNvSpPr txBox="1"/>
          <p:nvPr/>
        </p:nvSpPr>
        <p:spPr>
          <a:xfrm>
            <a:off x="8743950" y="2047875"/>
            <a:ext cx="5486400" cy="409575"/>
          </a:xfrm>
          <a:prstGeom prst="rect">
            <a:avLst/>
          </a:prstGeom>
          <a:noFill/>
        </p:spPr>
        <p:txBody>
          <a:bodyPr wrap="none" lIns="57150" rIns="57150" tIns="38100" bIns="38100" anchor="t">
            <a:noAutofit/>
          </a:bodyPr>
          <a:lstStyle/>
          <a:p>
            <a:pPr eaLnBrk="0" algn="ctr">
              <a:lnSpc>
                <a:spcPts val="2156"/>
              </a:lnSpc>
              <a:spcBef>
                <a:spcPts val="0"/>
              </a:spcBef>
              <a:spcAft>
                <a:spcPts val="0"/>
              </a:spcAft>
            </a:pPr>
            <a:r>
              <a:rPr sz="1725" b="1">
                <a:solidFill>
                  <a:srgbClr val="FF6B00"/>
                </a:solidFill>
                <a:latin typeface="Noto Sans KR"/>
              </a:rPr>
              <a:t>3개월 목표 추가 규모 ↑ 258,776명</a:t>
            </a:r>
          </a:p>
        </p:txBody>
      </p:sp>
      <p:sp xmlns:a="http://schemas.openxmlformats.org/drawingml/2006/main">
        <p:nvSpPr>
          <p:cNvPr id="7" name="kpi-title-1"/>
          <p:cNvSpPr txBox="1"/>
          <p:nvPr/>
        </p:nvSpPr>
        <p:spPr>
          <a:xfrm>
            <a:off x="1009650" y="4714875"/>
            <a:ext cx="8096250" cy="371475"/>
          </a:xfrm>
          <a:prstGeom prst="rect">
            <a:avLst/>
          </a:prstGeom>
          <a:noFill/>
        </p:spPr>
        <p:txBody>
          <a:bodyPr wrap="none" lIns="57150" rIns="57150" tIns="38100" bIns="38100" anchor="t">
            <a:noAutofit/>
          </a:bodyPr>
          <a:lstStyle/>
          <a:p>
            <a:pPr eaLnBrk="0">
              <a:lnSpc>
                <a:spcPts val="2296"/>
              </a:lnSpc>
              <a:spcBef>
                <a:spcPts val="0"/>
              </a:spcBef>
              <a:spcAft>
                <a:spcPts val="0"/>
              </a:spcAft>
            </a:pPr>
            <a:r>
              <a:rPr sz="1837" b="1">
                <a:solidFill>
                  <a:srgbClr val="004EA2"/>
                </a:solidFill>
                <a:latin typeface="Noto Sans KR"/>
              </a:rPr>
              <a:t>관광소비액</a:t>
            </a:r>
          </a:p>
        </p:txBody>
      </p:sp>
      <p:graphicFrame xmlns:a="http://schemas.openxmlformats.org/drawingml/2006/main">
        <p:nvGraphicFramePr>
          <p:cNvPr id="8" name="kpi-spending-table"/>
          <p:cNvGraphicFramePr>
            <a:graphicFrameLocks noGrp="1"/>
          </p:cNvGraphicFramePr>
          <p:nvPr/>
        </p:nvGraphicFramePr>
        <p:xfrm>
          <a:off x="1009650" y="5181600"/>
          <a:ext cx="13220700" cy="2019300"/>
        </p:xfrm>
        <a:graphic>
          <a:graphicData uri="http://schemas.openxmlformats.org/drawingml/2006/table">
            <a:tbl>
              <a:tblPr firstRow="1" bandRow="1">
                <a:tableStyleId>{5C22544A-7EE6-4342-B048-85BDC9FD1C3A}</a:tableStyleId>
              </a:tblPr>
              <a:tblGrid>
                <a:gridCol w="2552700"/>
                <a:gridCol w="3667125"/>
                <a:gridCol w="3667125"/>
                <a:gridCol w="3333750"/>
              </a:tblGrid>
              <a:tr h="495300">
                <a:tc>
                  <a:txBody>
                    <a:bodyPr wrap="none"/>
                    <a:lstStyle/>
                    <a:p>
                      <a:pPr eaLnBrk="0">
                        <a:lnSpc>
                          <a:spcPct val="112000"/>
                        </a:lnSpc>
                        <a:spcBef>
                          <a:spcPts val="0"/>
                        </a:spcBef>
                        <a:spcAft>
                          <a:spcPts val="0"/>
                        </a:spcAft>
                      </a:pPr>
                      <a:r>
                        <a:rPr sz="1650" b="1">
                          <a:solidFill>
                            <a:srgbClr val="FFFFFF"/>
                          </a:solidFill>
                          <a:latin typeface="Noto Sans KR"/>
                        </a:rPr>
                        <a:t>기준월</a:t>
                      </a:r>
                    </a:p>
                  </a:txBody>
                  <a:tcPr marL="95250" marR="95250" marT="66675" marB="66675" anchor="ctr">
                    <a:solidFill>
                      <a:srgbClr val="004EA2"/>
                    </a:solidFill>
                  </a:tcPr>
                </a:tc>
                <a:tc>
                  <a:txBody>
                    <a:bodyPr wrap="none"/>
                    <a:lstStyle/>
                    <a:p>
                      <a:pPr eaLnBrk="0">
                        <a:lnSpc>
                          <a:spcPct val="112000"/>
                        </a:lnSpc>
                        <a:spcBef>
                          <a:spcPts val="0"/>
                        </a:spcBef>
                        <a:spcAft>
                          <a:spcPts val="0"/>
                        </a:spcAft>
                      </a:pPr>
                      <a:r>
                        <a:rPr sz="1650" b="1">
                          <a:solidFill>
                            <a:srgbClr val="FFFFFF"/>
                          </a:solidFill>
                          <a:latin typeface="Noto Sans KR"/>
                        </a:rPr>
                        <a:t>머신러닝 예측값</a:t>
                      </a:r>
                    </a:p>
                  </a:txBody>
                  <a:tcPr marL="95250" marR="95250" marT="66675" marB="66675" anchor="ctr">
                    <a:solidFill>
                      <a:srgbClr val="004EA2"/>
                    </a:solidFill>
                  </a:tcPr>
                </a:tc>
                <a:tc>
                  <a:txBody>
                    <a:bodyPr wrap="none"/>
                    <a:lstStyle/>
                    <a:p>
                      <a:pPr eaLnBrk="0">
                        <a:lnSpc>
                          <a:spcPct val="112000"/>
                        </a:lnSpc>
                        <a:spcBef>
                          <a:spcPts val="0"/>
                        </a:spcBef>
                        <a:spcAft>
                          <a:spcPts val="0"/>
                        </a:spcAft>
                      </a:pPr>
                      <a:r>
                        <a:rPr sz="1650" b="1">
                          <a:solidFill>
                            <a:srgbClr val="FFFFFF"/>
                          </a:solidFill>
                          <a:latin typeface="Noto Sans KR"/>
                        </a:rPr>
                        <a:t>목표 KPI</a:t>
                      </a:r>
                    </a:p>
                  </a:txBody>
                  <a:tcPr marL="95250" marR="95250" marT="66675" marB="66675" anchor="ctr">
                    <a:solidFill>
                      <a:srgbClr val="004EA2"/>
                    </a:solidFill>
                  </a:tcPr>
                </a:tc>
                <a:tc>
                  <a:txBody>
                    <a:bodyPr wrap="none"/>
                    <a:lstStyle/>
                    <a:p>
                      <a:pPr eaLnBrk="0">
                        <a:lnSpc>
                          <a:spcPct val="112000"/>
                        </a:lnSpc>
                        <a:spcBef>
                          <a:spcPts val="0"/>
                        </a:spcBef>
                        <a:spcAft>
                          <a:spcPts val="0"/>
                        </a:spcAft>
                      </a:pPr>
                      <a:r>
                        <a:rPr sz="1650" b="1">
                          <a:solidFill>
                            <a:srgbClr val="FFFFFF"/>
                          </a:solidFill>
                          <a:latin typeface="Noto Sans KR"/>
                        </a:rPr>
                        <a:t>목표 증가율</a:t>
                      </a:r>
                    </a:p>
                  </a:txBody>
                  <a:tcPr marL="95250" marR="95250" marT="66675" marB="66675" anchor="ctr">
                    <a:solidFill>
                      <a:srgbClr val="004EA2"/>
                    </a:solidFill>
                  </a:tcPr>
                </a:tc>
              </a:tr>
              <a:tr h="381000">
                <a:tc>
                  <a:txBody>
                    <a:bodyPr wrap="none"/>
                    <a:lstStyle/>
                    <a:p>
                      <a:pPr eaLnBrk="0">
                        <a:lnSpc>
                          <a:spcPct val="112000"/>
                        </a:lnSpc>
                        <a:spcBef>
                          <a:spcPts val="0"/>
                        </a:spcBef>
                        <a:spcAft>
                          <a:spcPts val="0"/>
                        </a:spcAft>
                      </a:pPr>
                      <a:r>
                        <a:rPr sz="1537" b="1">
                          <a:solidFill>
                            <a:srgbClr val="1D2227"/>
                          </a:solidFill>
                          <a:latin typeface="Noto Sans KR"/>
                        </a:rPr>
                        <a:t>26.09</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0">
                          <a:solidFill>
                            <a:srgbClr val="1D2227"/>
                          </a:solidFill>
                          <a:latin typeface="Noto Sans KR"/>
                        </a:rPr>
                        <a:t>670.47억 원</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0">
                          <a:solidFill>
                            <a:srgbClr val="1D2227"/>
                          </a:solidFill>
                          <a:latin typeface="Noto Sans KR"/>
                        </a:rPr>
                        <a:t>681.65억 원</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0">
                          <a:solidFill>
                            <a:srgbClr val="1D2227"/>
                          </a:solidFill>
                          <a:latin typeface="Noto Sans KR"/>
                        </a:rPr>
                        <a:t>↑ 1.67%</a:t>
                      </a:r>
                    </a:p>
                  </a:txBody>
                  <a:tcPr marL="95250" marR="95250" marT="66675" marB="66675" anchor="ctr">
                    <a:solidFill>
                      <a:srgbClr val="FFFFFF"/>
                    </a:solidFill>
                  </a:tcPr>
                </a:tc>
              </a:tr>
              <a:tr h="381000">
                <a:tc>
                  <a:txBody>
                    <a:bodyPr wrap="none"/>
                    <a:lstStyle/>
                    <a:p>
                      <a:pPr eaLnBrk="0">
                        <a:lnSpc>
                          <a:spcPct val="112000"/>
                        </a:lnSpc>
                        <a:spcBef>
                          <a:spcPts val="0"/>
                        </a:spcBef>
                        <a:spcAft>
                          <a:spcPts val="0"/>
                        </a:spcAft>
                      </a:pPr>
                      <a:r>
                        <a:rPr sz="1537" b="1">
                          <a:solidFill>
                            <a:srgbClr val="1D2227"/>
                          </a:solidFill>
                          <a:latin typeface="Noto Sans KR"/>
                        </a:rPr>
                        <a:t>26.10</a:t>
                      </a:r>
                    </a:p>
                  </a:txBody>
                  <a:tcPr marL="95250" marR="95250" marT="66675" marB="66675" anchor="ctr">
                    <a:solidFill>
                      <a:srgbClr val="EAF1F6"/>
                    </a:solidFill>
                  </a:tcPr>
                </a:tc>
                <a:tc>
                  <a:txBody>
                    <a:bodyPr wrap="none"/>
                    <a:lstStyle/>
                    <a:p>
                      <a:pPr eaLnBrk="0">
                        <a:lnSpc>
                          <a:spcPct val="112000"/>
                        </a:lnSpc>
                        <a:spcBef>
                          <a:spcPts val="0"/>
                        </a:spcBef>
                        <a:spcAft>
                          <a:spcPts val="0"/>
                        </a:spcAft>
                      </a:pPr>
                      <a:r>
                        <a:rPr sz="1537" b="0">
                          <a:solidFill>
                            <a:srgbClr val="1D2227"/>
                          </a:solidFill>
                          <a:latin typeface="Noto Sans KR"/>
                        </a:rPr>
                        <a:t>839.30억 원</a:t>
                      </a:r>
                    </a:p>
                  </a:txBody>
                  <a:tcPr marL="95250" marR="95250" marT="66675" marB="66675" anchor="ctr">
                    <a:solidFill>
                      <a:srgbClr val="EAF1F6"/>
                    </a:solidFill>
                  </a:tcPr>
                </a:tc>
                <a:tc>
                  <a:txBody>
                    <a:bodyPr wrap="none"/>
                    <a:lstStyle/>
                    <a:p>
                      <a:pPr eaLnBrk="0">
                        <a:lnSpc>
                          <a:spcPct val="112000"/>
                        </a:lnSpc>
                        <a:spcBef>
                          <a:spcPts val="0"/>
                        </a:spcBef>
                        <a:spcAft>
                          <a:spcPts val="0"/>
                        </a:spcAft>
                      </a:pPr>
                      <a:r>
                        <a:rPr sz="1537" b="0">
                          <a:solidFill>
                            <a:srgbClr val="1D2227"/>
                          </a:solidFill>
                          <a:latin typeface="Noto Sans KR"/>
                        </a:rPr>
                        <a:t>867.28억 원</a:t>
                      </a:r>
                    </a:p>
                  </a:txBody>
                  <a:tcPr marL="95250" marR="95250" marT="66675" marB="66675" anchor="ctr">
                    <a:solidFill>
                      <a:srgbClr val="EAF1F6"/>
                    </a:solidFill>
                  </a:tcPr>
                </a:tc>
                <a:tc>
                  <a:txBody>
                    <a:bodyPr wrap="none"/>
                    <a:lstStyle/>
                    <a:p>
                      <a:pPr eaLnBrk="0">
                        <a:lnSpc>
                          <a:spcPct val="112000"/>
                        </a:lnSpc>
                        <a:spcBef>
                          <a:spcPts val="0"/>
                        </a:spcBef>
                        <a:spcAft>
                          <a:spcPts val="0"/>
                        </a:spcAft>
                      </a:pPr>
                      <a:r>
                        <a:rPr sz="1537" b="0">
                          <a:solidFill>
                            <a:srgbClr val="1D2227"/>
                          </a:solidFill>
                          <a:latin typeface="Noto Sans KR"/>
                        </a:rPr>
                        <a:t>↑ 3.33%</a:t>
                      </a:r>
                    </a:p>
                  </a:txBody>
                  <a:tcPr marL="95250" marR="95250" marT="66675" marB="66675" anchor="ctr">
                    <a:solidFill>
                      <a:srgbClr val="EAF1F6"/>
                    </a:solidFill>
                  </a:tcPr>
                </a:tc>
              </a:tr>
              <a:tr h="381000">
                <a:tc>
                  <a:txBody>
                    <a:bodyPr wrap="none"/>
                    <a:lstStyle/>
                    <a:p>
                      <a:pPr eaLnBrk="0">
                        <a:lnSpc>
                          <a:spcPct val="112000"/>
                        </a:lnSpc>
                        <a:spcBef>
                          <a:spcPts val="0"/>
                        </a:spcBef>
                        <a:spcAft>
                          <a:spcPts val="0"/>
                        </a:spcAft>
                      </a:pPr>
                      <a:r>
                        <a:rPr sz="1537" b="1">
                          <a:solidFill>
                            <a:srgbClr val="1D2227"/>
                          </a:solidFill>
                          <a:latin typeface="Noto Sans KR"/>
                        </a:rPr>
                        <a:t>26.11</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0">
                          <a:solidFill>
                            <a:srgbClr val="1D2227"/>
                          </a:solidFill>
                          <a:latin typeface="Noto Sans KR"/>
                        </a:rPr>
                        <a:t>899.48억 원</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0">
                          <a:solidFill>
                            <a:srgbClr val="1D2227"/>
                          </a:solidFill>
                          <a:latin typeface="Noto Sans KR"/>
                        </a:rPr>
                        <a:t>944.45억 원</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0">
                          <a:solidFill>
                            <a:srgbClr val="1D2227"/>
                          </a:solidFill>
                          <a:latin typeface="Noto Sans KR"/>
                        </a:rPr>
                        <a:t>↑ 5.00%</a:t>
                      </a:r>
                    </a:p>
                  </a:txBody>
                  <a:tcPr marL="95250" marR="95250" marT="66675" marB="66675" anchor="ctr">
                    <a:solidFill>
                      <a:srgbClr val="FFFFFF"/>
                    </a:solidFill>
                  </a:tcPr>
                </a:tc>
              </a:tr>
              <a:tr h="381000">
                <a:tc>
                  <a:txBody>
                    <a:bodyPr wrap="none"/>
                    <a:lstStyle/>
                    <a:p>
                      <a:pPr eaLnBrk="0">
                        <a:lnSpc>
                          <a:spcPct val="112000"/>
                        </a:lnSpc>
                        <a:spcBef>
                          <a:spcPts val="0"/>
                        </a:spcBef>
                        <a:spcAft>
                          <a:spcPts val="0"/>
                        </a:spcAft>
                      </a:pPr>
                      <a:r>
                        <a:rPr sz="1537" b="1">
                          <a:solidFill>
                            <a:srgbClr val="1D2227"/>
                          </a:solidFill>
                          <a:latin typeface="Noto Sans KR"/>
                        </a:rPr>
                        <a:t>3개월 월별 합계</a:t>
                      </a:r>
                    </a:p>
                  </a:txBody>
                  <a:tcPr marL="95250" marR="95250" marT="66675" marB="66675" anchor="ctr">
                    <a:solidFill>
                      <a:srgbClr val="EAF1F6"/>
                    </a:solidFill>
                  </a:tcPr>
                </a:tc>
                <a:tc>
                  <a:txBody>
                    <a:bodyPr wrap="none"/>
                    <a:lstStyle/>
                    <a:p>
                      <a:pPr eaLnBrk="0">
                        <a:lnSpc>
                          <a:spcPct val="112000"/>
                        </a:lnSpc>
                        <a:spcBef>
                          <a:spcPts val="0"/>
                        </a:spcBef>
                        <a:spcAft>
                          <a:spcPts val="0"/>
                        </a:spcAft>
                      </a:pPr>
                      <a:r>
                        <a:rPr sz="1537" b="0">
                          <a:solidFill>
                            <a:srgbClr val="1D2227"/>
                          </a:solidFill>
                          <a:latin typeface="Noto Sans KR"/>
                        </a:rPr>
                        <a:t>2,409.25억 원</a:t>
                      </a:r>
                    </a:p>
                  </a:txBody>
                  <a:tcPr marL="95250" marR="95250" marT="66675" marB="66675" anchor="ctr">
                    <a:solidFill>
                      <a:srgbClr val="EAF1F6"/>
                    </a:solidFill>
                  </a:tcPr>
                </a:tc>
                <a:tc>
                  <a:txBody>
                    <a:bodyPr wrap="none"/>
                    <a:lstStyle/>
                    <a:p>
                      <a:pPr eaLnBrk="0">
                        <a:lnSpc>
                          <a:spcPct val="112000"/>
                        </a:lnSpc>
                        <a:spcBef>
                          <a:spcPts val="0"/>
                        </a:spcBef>
                        <a:spcAft>
                          <a:spcPts val="0"/>
                        </a:spcAft>
                      </a:pPr>
                      <a:r>
                        <a:rPr sz="1537" b="0">
                          <a:solidFill>
                            <a:srgbClr val="1D2227"/>
                          </a:solidFill>
                          <a:latin typeface="Noto Sans KR"/>
                        </a:rPr>
                        <a:t>2,493.38억 원</a:t>
                      </a:r>
                    </a:p>
                  </a:txBody>
                  <a:tcPr marL="95250" marR="95250" marT="66675" marB="66675" anchor="ctr">
                    <a:solidFill>
                      <a:srgbClr val="EAF1F6"/>
                    </a:solidFill>
                  </a:tcPr>
                </a:tc>
                <a:tc>
                  <a:txBody>
                    <a:bodyPr wrap="none"/>
                    <a:lstStyle/>
                    <a:p>
                      <a:pPr eaLnBrk="0">
                        <a:lnSpc>
                          <a:spcPct val="112000"/>
                        </a:lnSpc>
                        <a:spcBef>
                          <a:spcPts val="0"/>
                        </a:spcBef>
                        <a:spcAft>
                          <a:spcPts val="0"/>
                        </a:spcAft>
                      </a:pPr>
                      <a:r>
                        <a:rPr sz="1537" b="0">
                          <a:solidFill>
                            <a:srgbClr val="1D2227"/>
                          </a:solidFill>
                          <a:latin typeface="Noto Sans KR"/>
                        </a:rPr>
                        <a:t>↑ 3.49%</a:t>
                      </a:r>
                    </a:p>
                  </a:txBody>
                  <a:tcPr marL="95250" marR="95250" marT="66675" marB="66675" anchor="ctr">
                    <a:solidFill>
                      <a:srgbClr val="EAF1F6"/>
                    </a:solidFill>
                  </a:tcPr>
                </a:tc>
              </a:tr>
            </a:tbl>
          </a:graphicData>
        </a:graphic>
      </p:graphicFrame>
      <p:sp xmlns:a="http://schemas.openxmlformats.org/drawingml/2006/main">
        <p:nvSpPr>
          <p:cNvPr id="9" name="kpi-total-1"/>
          <p:cNvSpPr txBox="1"/>
          <p:nvPr/>
        </p:nvSpPr>
        <p:spPr>
          <a:xfrm>
            <a:off x="8743950" y="4714875"/>
            <a:ext cx="5486400" cy="409575"/>
          </a:xfrm>
          <a:prstGeom prst="rect">
            <a:avLst/>
          </a:prstGeom>
          <a:noFill/>
        </p:spPr>
        <p:txBody>
          <a:bodyPr wrap="none" lIns="57150" rIns="57150" tIns="38100" bIns="38100" anchor="t">
            <a:noAutofit/>
          </a:bodyPr>
          <a:lstStyle/>
          <a:p>
            <a:pPr eaLnBrk="0" algn="ctr">
              <a:lnSpc>
                <a:spcPts val="2156"/>
              </a:lnSpc>
              <a:spcBef>
                <a:spcPts val="0"/>
              </a:spcBef>
              <a:spcAft>
                <a:spcPts val="0"/>
              </a:spcAft>
            </a:pPr>
            <a:r>
              <a:rPr sz="1725" b="1">
                <a:solidFill>
                  <a:srgbClr val="FF6B00"/>
                </a:solidFill>
                <a:latin typeface="Noto Sans KR"/>
              </a:rPr>
              <a:t>3개월 목표 추가 규모 ↑ 84.13억 원</a:t>
            </a:r>
          </a:p>
        </p:txBody>
      </p:sp>
      <p:sp xmlns:a="http://schemas.openxmlformats.org/drawingml/2006/main">
        <p:nvSpPr>
          <p:cNvPr id="10" name="kpi-calculation"/>
          <p:cNvSpPr txBox="1"/>
          <p:nvPr/>
        </p:nvSpPr>
        <p:spPr>
          <a:xfrm>
            <a:off x="1009650" y="7429500"/>
            <a:ext cx="13220700" cy="106680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a:solidFill>
                  <a:srgbClr val="59636E"/>
                </a:solidFill>
                <a:latin typeface="Noto Sans KR"/>
              </a:rPr>
              <a:t>월별 소비/방문 비율 = ML 소비액 ÷ ML 방문 수 | 26.09 28,373원 · 26.10 31,873원 · 26.11 34,171원</a:t>
            </a:r>
          </a:p>
          <a:p>
            <a:pPr eaLnBrk="0">
              <a:lnSpc>
                <a:spcPts val="1687"/>
              </a:lnSpc>
              <a:spcBef>
                <a:spcPts val="0"/>
              </a:spcBef>
              <a:spcAft>
                <a:spcPts val="0"/>
              </a:spcAft>
            </a:pPr>
            <a:r>
              <a:rPr sz="1350" b="0">
                <a:solidFill>
                  <a:srgbClr val="59636E"/>
                </a:solidFill>
                <a:latin typeface="Noto Sans KR"/>
              </a:rPr>
              <a:t>목표 소비액 = ML 소비액 + (목표 방문 수 − ML 방문 수) × 해당 월 소비/방문 비율</a:t>
            </a:r>
          </a:p>
          <a:p>
            <a:pPr eaLnBrk="0">
              <a:lnSpc>
                <a:spcPts val="1687"/>
              </a:lnSpc>
              <a:spcBef>
                <a:spcPts val="0"/>
              </a:spcBef>
              <a:spcAft>
                <a:spcPts val="0"/>
              </a:spcAft>
            </a:pPr>
            <a:r>
              <a:rPr sz="1350" b="0">
                <a:solidFill>
                  <a:srgbClr val="59636E"/>
                </a:solidFill>
                <a:latin typeface="Noto Sans KR"/>
              </a:rPr>
              <a:t>월별 증가율은 방문·소비가 같습니다. 합계 증가율 = (목표 합계 ÷ ML 합계 − 1) × 100; 월별 가중치에 따라 달라집니다.</a:t>
            </a:r>
          </a:p>
          <a:p>
            <a:pPr eaLnBrk="0">
              <a:lnSpc>
                <a:spcPts val="1687"/>
              </a:lnSpc>
              <a:spcBef>
                <a:spcPts val="0"/>
              </a:spcBef>
              <a:spcAft>
                <a:spcPts val="0"/>
              </a:spcAft>
            </a:pPr>
            <a:r>
              <a:rPr sz="1350" b="0">
                <a:solidFill>
                  <a:srgbClr val="59636E"/>
                </a:solidFill>
                <a:latin typeface="Noto Sans KR"/>
              </a:rPr>
              <a:t>비율은 기획용 가정이며 실제 객단가·보장 효과가 아닙니다. 방문 합계는 월 간 중복을 포함합니다.</a:t>
            </a:r>
          </a:p>
        </p:txBody>
      </p:sp>
    </p:spTree>
    <p:extLst>
      <p:ext uri="{BB962C8B-B14F-4D97-AF65-F5344CB8AC3E}">
        <p14:creationId xmlns:p14="http://schemas.microsoft.com/office/powerpoint/2010/main" val="553742078"/>
      </p:ext>
    </p:extLst>
  </p:cSld>
</p:sld>
</file>

<file path=ppt/slides/slide9.xml><?xml version="1.0" encoding="utf-8"?>
<p:sld xmlns:p="http://schemas.openxmlformats.org/presentationml/2006/main">
  <p:cSld>
    <p:bg>
      <p:bgPr>
        <a:solidFill xmlns:a="http://schemas.openxmlformats.org/drawingml/2006/main">
          <a:srgbClr val="F4F7FA"/>
        </a:solidFill>
      </p:bgPr>
    </p:bg>
    <p:spTree>
      <p:nvGrpSpPr>
        <p:cNvPr id="1" name=""/>
        <p:cNvGrpSpPr/>
        <p:nvPr/>
      </p:nvGrpSpPr>
      <p:grpSpPr>
        <a:xfrm xmlns:a="http://schemas.openxmlformats.org/drawingml/2006/main"/>
      </p:grpSpPr>
      <p:sp xmlns:a="http://schemas.openxmlformats.org/drawingml/2006/main">
        <p:nvSpPr>
          <p:cNvPr id="2" name="title"/>
          <p:cNvSpPr txBox="1"/>
          <p:nvPr/>
        </p:nvSpPr>
        <p:spPr>
          <a:xfrm>
            <a:off x="952500" y="714375"/>
            <a:ext cx="13335000" cy="809625"/>
          </a:xfrm>
          <a:prstGeom prst="rect">
            <a:avLst/>
          </a:prstGeom>
          <a:noFill/>
        </p:spPr>
        <p:txBody>
          <a:bodyPr wrap="none" lIns="57150" rIns="57150" tIns="38100" bIns="38100" anchor="t">
            <a:noAutofit/>
          </a:bodyPr>
          <a:lstStyle/>
          <a:p>
            <a:pPr eaLnBrk="0">
              <a:lnSpc>
                <a:spcPts val="4500"/>
              </a:lnSpc>
              <a:spcBef>
                <a:spcPts val="0"/>
              </a:spcBef>
              <a:spcAft>
                <a:spcPts val="0"/>
              </a:spcAft>
            </a:pPr>
            <a:r>
              <a:rPr sz="3600" b="1">
                <a:solidFill>
                  <a:srgbClr val="004EA2"/>
                </a:solidFill>
                <a:latin typeface="Noto Sans KR"/>
              </a:rPr>
              <a:t>견적</a:t>
            </a:r>
          </a:p>
        </p:txBody>
      </p:sp>
      <p:sp xmlns:a="http://schemas.openxmlformats.org/drawingml/2006/main">
        <p:nvSpPr>
          <p:cNvPr id="3" name="title-rule"/>
          <p:cNvSpPr/>
          <p:nvPr/>
        </p:nvSpPr>
        <p:spPr>
          <a:xfrm>
            <a:off x="1009650" y="1724025"/>
            <a:ext cx="13220700" cy="28575"/>
          </a:xfrm>
          <a:prstGeom prst="rect">
            <a:avLst/>
          </a:prstGeom>
          <a:solidFill>
            <a:srgbClr val="004E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 name="estimate-label"/>
          <p:cNvSpPr txBox="1"/>
          <p:nvPr/>
        </p:nvSpPr>
        <p:spPr>
          <a:xfrm>
            <a:off x="1009650" y="2171700"/>
            <a:ext cx="7524750" cy="457200"/>
          </a:xfrm>
          <a:prstGeom prst="rect">
            <a:avLst/>
          </a:prstGeom>
          <a:noFill/>
        </p:spPr>
        <p:txBody>
          <a:bodyPr wrap="none" lIns="57150" rIns="57150" tIns="38100" bIns="38100" anchor="t">
            <a:noAutofit/>
          </a:bodyPr>
          <a:lstStyle/>
          <a:p>
            <a:pPr eaLnBrk="0">
              <a:lnSpc>
                <a:spcPts val="2625"/>
              </a:lnSpc>
              <a:spcBef>
                <a:spcPts val="0"/>
              </a:spcBef>
              <a:spcAft>
                <a:spcPts val="0"/>
              </a:spcAft>
            </a:pPr>
            <a:r>
              <a:rPr sz="2100" b="1">
                <a:solidFill>
                  <a:srgbClr val="59636E"/>
                </a:solidFill>
                <a:latin typeface="Noto Sans KR"/>
              </a:rPr>
              <a:t>시범 운영 참고 금액</a:t>
            </a:r>
          </a:p>
        </p:txBody>
      </p:sp>
      <p:sp xmlns:a="http://schemas.openxmlformats.org/drawingml/2006/main">
        <p:nvSpPr>
          <p:cNvPr id="5" name="estimate-total"/>
          <p:cNvSpPr txBox="1"/>
          <p:nvPr/>
        </p:nvSpPr>
        <p:spPr>
          <a:xfrm>
            <a:off x="9048750" y="2076450"/>
            <a:ext cx="5181600" cy="619125"/>
          </a:xfrm>
          <a:prstGeom prst="rect">
            <a:avLst/>
          </a:prstGeom>
          <a:noFill/>
        </p:spPr>
        <p:txBody>
          <a:bodyPr wrap="none" lIns="57150" rIns="57150" tIns="38100" bIns="38100" anchor="t">
            <a:noAutofit/>
          </a:bodyPr>
          <a:lstStyle/>
          <a:p>
            <a:pPr eaLnBrk="0">
              <a:lnSpc>
                <a:spcPts val="3937"/>
              </a:lnSpc>
              <a:spcBef>
                <a:spcPts val="0"/>
              </a:spcBef>
              <a:spcAft>
                <a:spcPts val="0"/>
              </a:spcAft>
            </a:pPr>
            <a:r>
              <a:rPr sz="3150" b="1">
                <a:solidFill>
                  <a:srgbClr val="004EA2"/>
                </a:solidFill>
                <a:latin typeface="Noto Sans KR"/>
              </a:rPr>
              <a:t>총 8,250만 원</a:t>
            </a:r>
          </a:p>
        </p:txBody>
      </p:sp>
      <p:graphicFrame xmlns:a="http://schemas.openxmlformats.org/drawingml/2006/main">
        <p:nvGraphicFramePr>
          <p:cNvPr id="6" name="estimate-table"/>
          <p:cNvGraphicFramePr>
            <a:graphicFrameLocks noGrp="1"/>
          </p:cNvGraphicFramePr>
          <p:nvPr/>
        </p:nvGraphicFramePr>
        <p:xfrm>
          <a:off x="1238250" y="3143250"/>
          <a:ext cx="12763500" cy="3581400"/>
        </p:xfrm>
        <a:graphic>
          <a:graphicData uri="http://schemas.openxmlformats.org/drawingml/2006/table">
            <a:tbl>
              <a:tblPr firstRow="1" bandRow="1">
                <a:tableStyleId>{5C22544A-7EE6-4342-B048-85BDC9FD1C3A}</a:tableStyleId>
              </a:tblPr>
              <a:tblGrid>
                <a:gridCol w="3286125"/>
                <a:gridCol w="6381750"/>
                <a:gridCol w="3095625"/>
              </a:tblGrid>
              <a:tr h="495300">
                <a:tc>
                  <a:txBody>
                    <a:bodyPr wrap="none"/>
                    <a:lstStyle/>
                    <a:p>
                      <a:pPr eaLnBrk="0">
                        <a:lnSpc>
                          <a:spcPct val="112000"/>
                        </a:lnSpc>
                        <a:spcBef>
                          <a:spcPts val="0"/>
                        </a:spcBef>
                        <a:spcAft>
                          <a:spcPts val="0"/>
                        </a:spcAft>
                      </a:pPr>
                      <a:r>
                        <a:rPr sz="1650" b="1">
                          <a:solidFill>
                            <a:srgbClr val="FFFFFF"/>
                          </a:solidFill>
                          <a:latin typeface="Noto Sans KR"/>
                        </a:rPr>
                        <a:t>항목</a:t>
                      </a:r>
                    </a:p>
                  </a:txBody>
                  <a:tcPr marL="95250" marR="95250" marT="66675" marB="66675" anchor="ctr">
                    <a:solidFill>
                      <a:srgbClr val="004EA2"/>
                    </a:solidFill>
                  </a:tcPr>
                </a:tc>
                <a:tc>
                  <a:txBody>
                    <a:bodyPr wrap="none"/>
                    <a:lstStyle/>
                    <a:p>
                      <a:pPr eaLnBrk="0">
                        <a:lnSpc>
                          <a:spcPct val="112000"/>
                        </a:lnSpc>
                        <a:spcBef>
                          <a:spcPts val="0"/>
                        </a:spcBef>
                        <a:spcAft>
                          <a:spcPts val="0"/>
                        </a:spcAft>
                      </a:pPr>
                      <a:r>
                        <a:rPr sz="1650" b="1">
                          <a:solidFill>
                            <a:srgbClr val="FFFFFF"/>
                          </a:solidFill>
                          <a:latin typeface="Noto Sans KR"/>
                        </a:rPr>
                        <a:t>산출 기준(가정)</a:t>
                      </a:r>
                    </a:p>
                  </a:txBody>
                  <a:tcPr marL="95250" marR="95250" marT="66675" marB="66675" anchor="ctr">
                    <a:solidFill>
                      <a:srgbClr val="004EA2"/>
                    </a:solidFill>
                  </a:tcPr>
                </a:tc>
                <a:tc>
                  <a:txBody>
                    <a:bodyPr wrap="none"/>
                    <a:lstStyle/>
                    <a:p>
                      <a:pPr eaLnBrk="0" algn="r">
                        <a:lnSpc>
                          <a:spcPct val="112000"/>
                        </a:lnSpc>
                        <a:spcBef>
                          <a:spcPts val="0"/>
                        </a:spcBef>
                        <a:spcAft>
                          <a:spcPts val="0"/>
                        </a:spcAft>
                      </a:pPr>
                      <a:r>
                        <a:rPr sz="1650" b="1">
                          <a:solidFill>
                            <a:srgbClr val="FFFFFF"/>
                          </a:solidFill>
                          <a:latin typeface="Noto Sans KR"/>
                        </a:rPr>
                        <a:t>금액</a:t>
                      </a:r>
                    </a:p>
                  </a:txBody>
                  <a:tcPr marL="95250" marR="95250" marT="66675" marB="66675" anchor="ctr">
                    <a:solidFill>
                      <a:srgbClr val="004EA2"/>
                    </a:solidFill>
                  </a:tcPr>
                </a:tc>
              </a:tr>
              <a:tr h="514350">
                <a:tc>
                  <a:txBody>
                    <a:bodyPr wrap="none"/>
                    <a:lstStyle/>
                    <a:p>
                      <a:pPr eaLnBrk="0">
                        <a:lnSpc>
                          <a:spcPct val="112000"/>
                        </a:lnSpc>
                        <a:spcBef>
                          <a:spcPts val="0"/>
                        </a:spcBef>
                        <a:spcAft>
                          <a:spcPts val="0"/>
                        </a:spcAft>
                      </a:pPr>
                      <a:r>
                        <a:rPr sz="1650" b="1">
                          <a:solidFill>
                            <a:srgbClr val="1D2227"/>
                          </a:solidFill>
                          <a:latin typeface="Noto Sans KR"/>
                        </a:rPr>
                        <a:t>여행비 환급 지원</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650" b="0">
                          <a:solidFill>
                            <a:srgbClr val="1D2227"/>
                          </a:solidFill>
                          <a:latin typeface="Noto Sans KR"/>
                        </a:rPr>
                        <a:t>1,000건 × 50,000원</a:t>
                      </a:r>
                    </a:p>
                  </a:txBody>
                  <a:tcPr marL="95250" marR="95250" marT="66675" marB="66675" anchor="ctr">
                    <a:solidFill>
                      <a:srgbClr val="FFFFFF"/>
                    </a:solidFill>
                  </a:tcPr>
                </a:tc>
                <a:tc>
                  <a:txBody>
                    <a:bodyPr wrap="none"/>
                    <a:lstStyle/>
                    <a:p>
                      <a:pPr eaLnBrk="0" algn="r">
                        <a:lnSpc>
                          <a:spcPct val="112000"/>
                        </a:lnSpc>
                        <a:spcBef>
                          <a:spcPts val="0"/>
                        </a:spcBef>
                        <a:spcAft>
                          <a:spcPts val="0"/>
                        </a:spcAft>
                      </a:pPr>
                      <a:r>
                        <a:rPr sz="1650" b="0">
                          <a:solidFill>
                            <a:srgbClr val="1D2227"/>
                          </a:solidFill>
                          <a:latin typeface="Noto Sans KR"/>
                        </a:rPr>
                        <a:t>5,000만원</a:t>
                      </a:r>
                    </a:p>
                  </a:txBody>
                  <a:tcPr marL="95250" marR="95250" marT="66675" marB="66675" anchor="ctr">
                    <a:solidFill>
                      <a:srgbClr val="FFFFFF"/>
                    </a:solidFill>
                  </a:tcPr>
                </a:tc>
              </a:tr>
              <a:tr h="514350">
                <a:tc>
                  <a:txBody>
                    <a:bodyPr wrap="none"/>
                    <a:lstStyle/>
                    <a:p>
                      <a:pPr eaLnBrk="0">
                        <a:lnSpc>
                          <a:spcPct val="112000"/>
                        </a:lnSpc>
                        <a:spcBef>
                          <a:spcPts val="0"/>
                        </a:spcBef>
                        <a:spcAft>
                          <a:spcPts val="0"/>
                        </a:spcAft>
                      </a:pPr>
                      <a:r>
                        <a:rPr sz="1650" b="1">
                          <a:solidFill>
                            <a:srgbClr val="1D2227"/>
                          </a:solidFill>
                          <a:latin typeface="Noto Sans KR"/>
                        </a:rPr>
                        <a:t>현장 운영·정산</a:t>
                      </a:r>
                    </a:p>
                  </a:txBody>
                  <a:tcPr marL="95250" marR="95250" marT="66675" marB="66675" anchor="ctr">
                    <a:solidFill>
                      <a:srgbClr val="EAF1F6"/>
                    </a:solidFill>
                  </a:tcPr>
                </a:tc>
                <a:tc>
                  <a:txBody>
                    <a:bodyPr wrap="none"/>
                    <a:lstStyle/>
                    <a:p>
                      <a:pPr eaLnBrk="0">
                        <a:lnSpc>
                          <a:spcPct val="112000"/>
                        </a:lnSpc>
                        <a:spcBef>
                          <a:spcPts val="0"/>
                        </a:spcBef>
                        <a:spcAft>
                          <a:spcPts val="0"/>
                        </a:spcAft>
                      </a:pPr>
                      <a:r>
                        <a:rPr sz="1650" b="0">
                          <a:solidFill>
                            <a:srgbClr val="1D2227"/>
                          </a:solidFill>
                          <a:latin typeface="Noto Sans KR"/>
                        </a:rPr>
                        <a:t>60인일 × 150,000원</a:t>
                      </a:r>
                    </a:p>
                  </a:txBody>
                  <a:tcPr marL="95250" marR="95250" marT="66675" marB="66675" anchor="ctr">
                    <a:solidFill>
                      <a:srgbClr val="EAF1F6"/>
                    </a:solidFill>
                  </a:tcPr>
                </a:tc>
                <a:tc>
                  <a:txBody>
                    <a:bodyPr wrap="none"/>
                    <a:lstStyle/>
                    <a:p>
                      <a:pPr eaLnBrk="0" algn="r">
                        <a:lnSpc>
                          <a:spcPct val="112000"/>
                        </a:lnSpc>
                        <a:spcBef>
                          <a:spcPts val="0"/>
                        </a:spcBef>
                        <a:spcAft>
                          <a:spcPts val="0"/>
                        </a:spcAft>
                      </a:pPr>
                      <a:r>
                        <a:rPr sz="1650" b="0">
                          <a:solidFill>
                            <a:srgbClr val="1D2227"/>
                          </a:solidFill>
                          <a:latin typeface="Noto Sans KR"/>
                        </a:rPr>
                        <a:t>900만원</a:t>
                      </a:r>
                    </a:p>
                  </a:txBody>
                  <a:tcPr marL="95250" marR="95250" marT="66675" marB="66675" anchor="ctr">
                    <a:solidFill>
                      <a:srgbClr val="EAF1F6"/>
                    </a:solidFill>
                  </a:tcPr>
                </a:tc>
              </a:tr>
              <a:tr h="514350">
                <a:tc>
                  <a:txBody>
                    <a:bodyPr wrap="none"/>
                    <a:lstStyle/>
                    <a:p>
                      <a:pPr eaLnBrk="0">
                        <a:lnSpc>
                          <a:spcPct val="112000"/>
                        </a:lnSpc>
                        <a:spcBef>
                          <a:spcPts val="0"/>
                        </a:spcBef>
                        <a:spcAft>
                          <a:spcPts val="0"/>
                        </a:spcAft>
                      </a:pPr>
                      <a:r>
                        <a:rPr sz="1650" b="1">
                          <a:solidFill>
                            <a:srgbClr val="1D2227"/>
                          </a:solidFill>
                          <a:latin typeface="Noto Sans KR"/>
                        </a:rPr>
                        <a:t>신청·증빙 시스템</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650" b="0">
                          <a:solidFill>
                            <a:srgbClr val="1D2227"/>
                          </a:solidFill>
                          <a:latin typeface="Noto Sans KR"/>
                        </a:rPr>
                        <a:t>기존 시스템 설정 1식 × 800만원</a:t>
                      </a:r>
                    </a:p>
                  </a:txBody>
                  <a:tcPr marL="95250" marR="95250" marT="66675" marB="66675" anchor="ctr">
                    <a:solidFill>
                      <a:srgbClr val="FFFFFF"/>
                    </a:solidFill>
                  </a:tcPr>
                </a:tc>
                <a:tc>
                  <a:txBody>
                    <a:bodyPr wrap="none"/>
                    <a:lstStyle/>
                    <a:p>
                      <a:pPr eaLnBrk="0" algn="r">
                        <a:lnSpc>
                          <a:spcPct val="112000"/>
                        </a:lnSpc>
                        <a:spcBef>
                          <a:spcPts val="0"/>
                        </a:spcBef>
                        <a:spcAft>
                          <a:spcPts val="0"/>
                        </a:spcAft>
                      </a:pPr>
                      <a:r>
                        <a:rPr sz="1650" b="0">
                          <a:solidFill>
                            <a:srgbClr val="1D2227"/>
                          </a:solidFill>
                          <a:latin typeface="Noto Sans KR"/>
                        </a:rPr>
                        <a:t>800만원</a:t>
                      </a:r>
                    </a:p>
                  </a:txBody>
                  <a:tcPr marL="95250" marR="95250" marT="66675" marB="66675" anchor="ctr">
                    <a:solidFill>
                      <a:srgbClr val="FFFFFF"/>
                    </a:solidFill>
                  </a:tcPr>
                </a:tc>
              </a:tr>
              <a:tr h="514350">
                <a:tc>
                  <a:txBody>
                    <a:bodyPr wrap="none"/>
                    <a:lstStyle/>
                    <a:p>
                      <a:pPr eaLnBrk="0">
                        <a:lnSpc>
                          <a:spcPct val="112000"/>
                        </a:lnSpc>
                        <a:spcBef>
                          <a:spcPts val="0"/>
                        </a:spcBef>
                        <a:spcAft>
                          <a:spcPts val="0"/>
                        </a:spcAft>
                      </a:pPr>
                      <a:r>
                        <a:rPr sz="1650" b="1">
                          <a:solidFill>
                            <a:srgbClr val="1D2227"/>
                          </a:solidFill>
                          <a:latin typeface="Noto Sans KR"/>
                        </a:rPr>
                        <a:t>홍보·참여처 안내</a:t>
                      </a:r>
                    </a:p>
                  </a:txBody>
                  <a:tcPr marL="95250" marR="95250" marT="66675" marB="66675" anchor="ctr">
                    <a:solidFill>
                      <a:srgbClr val="EAF1F6"/>
                    </a:solidFill>
                  </a:tcPr>
                </a:tc>
                <a:tc>
                  <a:txBody>
                    <a:bodyPr wrap="none"/>
                    <a:lstStyle/>
                    <a:p>
                      <a:pPr eaLnBrk="0">
                        <a:lnSpc>
                          <a:spcPct val="112000"/>
                        </a:lnSpc>
                        <a:spcBef>
                          <a:spcPts val="0"/>
                        </a:spcBef>
                        <a:spcAft>
                          <a:spcPts val="0"/>
                        </a:spcAft>
                      </a:pPr>
                      <a:r>
                        <a:rPr sz="1650" b="0">
                          <a:solidFill>
                            <a:srgbClr val="1D2227"/>
                          </a:solidFill>
                          <a:latin typeface="Noto Sans KR"/>
                        </a:rPr>
                        <a:t>콘텐츠·안내물 1식 × 500만원</a:t>
                      </a:r>
                    </a:p>
                  </a:txBody>
                  <a:tcPr marL="95250" marR="95250" marT="66675" marB="66675" anchor="ctr">
                    <a:solidFill>
                      <a:srgbClr val="EAF1F6"/>
                    </a:solidFill>
                  </a:tcPr>
                </a:tc>
                <a:tc>
                  <a:txBody>
                    <a:bodyPr wrap="none"/>
                    <a:lstStyle/>
                    <a:p>
                      <a:pPr eaLnBrk="0" algn="r">
                        <a:lnSpc>
                          <a:spcPct val="112000"/>
                        </a:lnSpc>
                        <a:spcBef>
                          <a:spcPts val="0"/>
                        </a:spcBef>
                        <a:spcAft>
                          <a:spcPts val="0"/>
                        </a:spcAft>
                      </a:pPr>
                      <a:r>
                        <a:rPr sz="1650" b="0">
                          <a:solidFill>
                            <a:srgbClr val="1D2227"/>
                          </a:solidFill>
                          <a:latin typeface="Noto Sans KR"/>
                        </a:rPr>
                        <a:t>500만원</a:t>
                      </a:r>
                    </a:p>
                  </a:txBody>
                  <a:tcPr marL="95250" marR="95250" marT="66675" marB="66675" anchor="ctr">
                    <a:solidFill>
                      <a:srgbClr val="EAF1F6"/>
                    </a:solidFill>
                  </a:tcPr>
                </a:tc>
              </a:tr>
              <a:tr h="514350">
                <a:tc>
                  <a:txBody>
                    <a:bodyPr wrap="none"/>
                    <a:lstStyle/>
                    <a:p>
                      <a:pPr eaLnBrk="0">
                        <a:lnSpc>
                          <a:spcPct val="112000"/>
                        </a:lnSpc>
                        <a:spcBef>
                          <a:spcPts val="0"/>
                        </a:spcBef>
                        <a:spcAft>
                          <a:spcPts val="0"/>
                        </a:spcAft>
                      </a:pPr>
                      <a:r>
                        <a:rPr sz="1650" b="1">
                          <a:solidFill>
                            <a:srgbClr val="1D2227"/>
                          </a:solidFill>
                          <a:latin typeface="Noto Sans KR"/>
                        </a:rPr>
                        <a:t>성과 집계·검토</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650" b="0">
                          <a:solidFill>
                            <a:srgbClr val="1D2227"/>
                          </a:solidFill>
                          <a:latin typeface="Noto Sans KR"/>
                        </a:rPr>
                        <a:t>자료 정리·평가 1식 × 300만원</a:t>
                      </a:r>
                    </a:p>
                  </a:txBody>
                  <a:tcPr marL="95250" marR="95250" marT="66675" marB="66675" anchor="ctr">
                    <a:solidFill>
                      <a:srgbClr val="FFFFFF"/>
                    </a:solidFill>
                  </a:tcPr>
                </a:tc>
                <a:tc>
                  <a:txBody>
                    <a:bodyPr wrap="none"/>
                    <a:lstStyle/>
                    <a:p>
                      <a:pPr eaLnBrk="0" algn="r">
                        <a:lnSpc>
                          <a:spcPct val="112000"/>
                        </a:lnSpc>
                        <a:spcBef>
                          <a:spcPts val="0"/>
                        </a:spcBef>
                        <a:spcAft>
                          <a:spcPts val="0"/>
                        </a:spcAft>
                      </a:pPr>
                      <a:r>
                        <a:rPr sz="1650" b="0">
                          <a:solidFill>
                            <a:srgbClr val="1D2227"/>
                          </a:solidFill>
                          <a:latin typeface="Noto Sans KR"/>
                        </a:rPr>
                        <a:t>300만원</a:t>
                      </a:r>
                    </a:p>
                  </a:txBody>
                  <a:tcPr marL="95250" marR="95250" marT="66675" marB="66675" anchor="ctr">
                    <a:solidFill>
                      <a:srgbClr val="FFFFFF"/>
                    </a:solidFill>
                  </a:tcPr>
                </a:tc>
              </a:tr>
              <a:tr h="514350">
                <a:tc>
                  <a:txBody>
                    <a:bodyPr wrap="none"/>
                    <a:lstStyle/>
                    <a:p>
                      <a:pPr eaLnBrk="0">
                        <a:lnSpc>
                          <a:spcPct val="112000"/>
                        </a:lnSpc>
                        <a:spcBef>
                          <a:spcPts val="0"/>
                        </a:spcBef>
                        <a:spcAft>
                          <a:spcPts val="0"/>
                        </a:spcAft>
                      </a:pPr>
                      <a:r>
                        <a:rPr sz="1650" b="1">
                          <a:solidFill>
                            <a:srgbClr val="1D2227"/>
                          </a:solidFill>
                          <a:latin typeface="Noto Sans KR"/>
                        </a:rPr>
                        <a:t>예비비</a:t>
                      </a:r>
                    </a:p>
                  </a:txBody>
                  <a:tcPr marL="95250" marR="95250" marT="66675" marB="66675" anchor="ctr">
                    <a:solidFill>
                      <a:srgbClr val="EAF1F6"/>
                    </a:solidFill>
                  </a:tcPr>
                </a:tc>
                <a:tc>
                  <a:txBody>
                    <a:bodyPr wrap="none"/>
                    <a:lstStyle/>
                    <a:p>
                      <a:pPr eaLnBrk="0">
                        <a:lnSpc>
                          <a:spcPct val="112000"/>
                        </a:lnSpc>
                        <a:spcBef>
                          <a:spcPts val="0"/>
                        </a:spcBef>
                        <a:spcAft>
                          <a:spcPts val="0"/>
                        </a:spcAft>
                      </a:pPr>
                      <a:r>
                        <a:rPr sz="1650" b="0">
                          <a:solidFill>
                            <a:srgbClr val="1D2227"/>
                          </a:solidFill>
                          <a:latin typeface="Noto Sans KR"/>
                        </a:rPr>
                        <a:t>직접비 7,500만원 × 10%</a:t>
                      </a:r>
                    </a:p>
                  </a:txBody>
                  <a:tcPr marL="95250" marR="95250" marT="66675" marB="66675" anchor="ctr">
                    <a:solidFill>
                      <a:srgbClr val="EAF1F6"/>
                    </a:solidFill>
                  </a:tcPr>
                </a:tc>
                <a:tc>
                  <a:txBody>
                    <a:bodyPr wrap="none"/>
                    <a:lstStyle/>
                    <a:p>
                      <a:pPr eaLnBrk="0" algn="r">
                        <a:lnSpc>
                          <a:spcPct val="112000"/>
                        </a:lnSpc>
                        <a:spcBef>
                          <a:spcPts val="0"/>
                        </a:spcBef>
                        <a:spcAft>
                          <a:spcPts val="0"/>
                        </a:spcAft>
                      </a:pPr>
                      <a:r>
                        <a:rPr sz="1650" b="0">
                          <a:solidFill>
                            <a:srgbClr val="1D2227"/>
                          </a:solidFill>
                          <a:latin typeface="Noto Sans KR"/>
                        </a:rPr>
                        <a:t>750만원</a:t>
                      </a:r>
                    </a:p>
                  </a:txBody>
                  <a:tcPr marL="95250" marR="95250" marT="66675" marB="66675" anchor="ctr">
                    <a:solidFill>
                      <a:srgbClr val="EAF1F6"/>
                    </a:solidFill>
                  </a:tcPr>
                </a:tc>
              </a:tr>
            </a:tbl>
          </a:graphicData>
        </a:graphic>
      </p:graphicFrame>
      <p:sp xmlns:a="http://schemas.openxmlformats.org/drawingml/2006/main">
        <p:nvSpPr>
          <p:cNvPr id="7" name="estimate-total-rule"/>
          <p:cNvSpPr/>
          <p:nvPr/>
        </p:nvSpPr>
        <p:spPr>
          <a:xfrm>
            <a:off x="1238250" y="6858000"/>
            <a:ext cx="12763500" cy="28575"/>
          </a:xfrm>
          <a:prstGeom prst="rect">
            <a:avLst/>
          </a:prstGeom>
          <a:solidFill>
            <a:srgbClr val="00B7C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8" name="estimate-note"/>
          <p:cNvSpPr txBox="1"/>
          <p:nvPr/>
        </p:nvSpPr>
        <p:spPr>
          <a:xfrm>
            <a:off x="1238250" y="7248525"/>
            <a:ext cx="12763500" cy="704850"/>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0">
                <a:solidFill>
                  <a:srgbClr val="59636E"/>
                </a:solidFill>
                <a:latin typeface="Noto Sans KR"/>
              </a:rPr>
              <a:t>수량과 단가를 가정한 임시 참고 견적이며 확정 견적이 아닙니다. 실제 계약 범위·세금·단가 확인 후 조정합니다.</a:t>
            </a:r>
          </a:p>
        </p:txBody>
      </p:sp>
    </p:spTree>
    <p:extLst>
      <p:ext uri="{BB962C8B-B14F-4D97-AF65-F5344CB8AC3E}">
        <p14:creationId xmlns:p14="http://schemas.microsoft.com/office/powerpoint/2010/main" val="1823133345"/>
      </p:ext>
    </p:extLst>
  </p:cSld>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4F7FA"/>
        </a:solidFill>
        <a:effectLst/>
      </p:bgPr>
    </p:bg>
    <p:spTree>
      <p:nvGrpSpPr>
        <p:cNvPr id="1" name=""/>
        <p:cNvGrpSpPr/>
        <p:nvPr/>
      </p:nvGrpSpPr>
      <p:grpSpPr/>
      <p:sp>
        <p:nvSpPr>
          <p:cNvPr id="2" name="title"/>
          <p:cNvSpPr txBox="1"/>
          <p:nvPr/>
        </p:nvSpPr>
        <p:spPr>
          <a:xfrm>
            <a:off x="952500" y="714375"/>
            <a:ext cx="13335000" cy="809625"/>
          </a:xfrm>
          <a:prstGeom prst="rect">
            <a:avLst/>
          </a:prstGeom>
          <a:noFill/>
        </p:spPr>
        <p:txBody>
          <a:bodyPr wrap="none" lIns="57150" rIns="57150" tIns="38100" bIns="38100" anchor="t">
            <a:noAutofit/>
          </a:bodyPr>
          <a:lstStyle/>
          <a:p>
            <a:pPr eaLnBrk="0">
              <a:lnSpc>
                <a:spcPts val="4500"/>
              </a:lnSpc>
              <a:spcBef>
                <a:spcPts val="0"/>
              </a:spcBef>
              <a:spcAft>
                <a:spcPts val="0"/>
              </a:spcAft>
            </a:pPr>
            <a:r>
              <a:rPr sz="3600" b="1">
                <a:solidFill>
                  <a:srgbClr val="004EA2"/>
                </a:solidFill>
                <a:latin typeface="Noto Sans KR"/>
              </a:rPr>
              <a:t>사례 실적과 목표 KPI 설정 근거</a:t>
            </a:r>
          </a:p>
        </p:txBody>
      </p:sp>
      <p:sp>
        <p:nvSpPr>
          <p:cNvPr id="3" name="title-rule"/>
          <p:cNvSpPr/>
          <p:nvPr/>
        </p:nvSpPr>
        <p:spPr>
          <a:xfrm>
            <a:off x="1009650" y="1724025"/>
            <a:ext cx="13220700" cy="28575"/>
          </a:xfrm>
          <a:prstGeom prst="rect">
            <a:avLst/>
          </a:prstGeom>
          <a:solidFill>
            <a:srgbClr val="004E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basis-case-title"/>
          <p:cNvSpPr txBox="1"/>
          <p:nvPr/>
        </p:nvSpPr>
        <p:spPr>
          <a:xfrm>
            <a:off x="1009650" y="1952625"/>
            <a:ext cx="13220700" cy="495300"/>
          </a:xfrm>
          <a:prstGeom prst="rect">
            <a:avLst/>
          </a:prstGeom>
          <a:noFill/>
        </p:spPr>
        <p:txBody>
          <a:bodyPr wrap="none" lIns="57150" rIns="57150" tIns="38100" bIns="38100" anchor="t">
            <a:noAutofit/>
          </a:bodyPr>
          <a:lstStyle/>
          <a:p>
            <a:pPr eaLnBrk="0">
              <a:lnSpc>
                <a:spcPts val="2812"/>
              </a:lnSpc>
              <a:spcBef>
                <a:spcPts val="0"/>
              </a:spcBef>
              <a:spcAft>
                <a:spcPts val="0"/>
              </a:spcAft>
            </a:pPr>
            <a:r>
              <a:rPr sz="2250" b="1">
                <a:solidFill>
                  <a:srgbClr val="004EA2"/>
                </a:solidFill>
                <a:latin typeface="Noto Sans KR"/>
              </a:rPr>
              <a:t>강진 반값여행과 지역축제 운영 실적</a:t>
            </a:r>
          </a:p>
        </p:txBody>
      </p:sp>
      <p:graphicFrame>
        <p:nvGraphicFramePr>
          <p:cNvPr id="5" name="case-result-table"/>
          <p:cNvGraphicFramePr>
            <a:graphicFrameLocks noGrp="1"/>
          </p:cNvGraphicFramePr>
          <p:nvPr/>
        </p:nvGraphicFramePr>
        <p:xfrm>
          <a:off x="1009650" y="2657475"/>
          <a:ext cx="13220700" cy="2343150"/>
        </p:xfrm>
        <a:graphic>
          <a:graphicData uri="http://schemas.openxmlformats.org/drawingml/2006/table">
            <a:tbl>
              <a:tblPr firstRow="1" bandRow="1">
                <a:tableStyleId>{5C22544A-7EE6-4342-B048-85BDC9FD1C3A}</a:tableStyleId>
              </a:tblPr>
              <a:tblGrid>
                <a:gridCol w="4333875"/>
                <a:gridCol w="3714750"/>
                <a:gridCol w="5172075"/>
              </a:tblGrid>
              <a:tr h="495300">
                <a:tc>
                  <a:txBody>
                    <a:bodyPr wrap="none"/>
                    <a:lstStyle/>
                    <a:p>
                      <a:pPr eaLnBrk="0">
                        <a:lnSpc>
                          <a:spcPct val="112000"/>
                        </a:lnSpc>
                        <a:spcBef>
                          <a:spcPts val="0"/>
                        </a:spcBef>
                        <a:spcAft>
                          <a:spcPts val="0"/>
                        </a:spcAft>
                      </a:pPr>
                      <a:r>
                        <a:rPr sz="1800" b="1">
                          <a:solidFill>
                            <a:srgbClr val="FFFFFF"/>
                          </a:solidFill>
                          <a:latin typeface="Noto Sans KR"/>
                        </a:rPr>
                        <a:t>비교 항목</a:t>
                      </a:r>
                    </a:p>
                  </a:txBody>
                  <a:tcPr marL="95250" marR="95250" marT="66675" marB="66675" anchor="ctr">
                    <a:solidFill>
                      <a:srgbClr val="004EA2"/>
                    </a:solidFill>
                  </a:tcPr>
                </a:tc>
                <a:tc>
                  <a:txBody>
                    <a:bodyPr wrap="none"/>
                    <a:lstStyle/>
                    <a:p>
                      <a:pPr eaLnBrk="0">
                        <a:lnSpc>
                          <a:spcPct val="112000"/>
                        </a:lnSpc>
                        <a:spcBef>
                          <a:spcPts val="0"/>
                        </a:spcBef>
                        <a:spcAft>
                          <a:spcPts val="0"/>
                        </a:spcAft>
                      </a:pPr>
                      <a:r>
                        <a:rPr sz="1800" b="1">
                          <a:solidFill>
                            <a:srgbClr val="FFFFFF"/>
                          </a:solidFill>
                          <a:latin typeface="Noto Sans KR"/>
                        </a:rPr>
                        <a:t>관광객 수</a:t>
                      </a:r>
                    </a:p>
                  </a:txBody>
                  <a:tcPr marL="95250" marR="95250" marT="66675" marB="66675" anchor="ctr">
                    <a:solidFill>
                      <a:srgbClr val="004EA2"/>
                    </a:solidFill>
                  </a:tcPr>
                </a:tc>
                <a:tc>
                  <a:txBody>
                    <a:bodyPr wrap="none"/>
                    <a:lstStyle/>
                    <a:p>
                      <a:pPr eaLnBrk="0">
                        <a:lnSpc>
                          <a:spcPct val="112000"/>
                        </a:lnSpc>
                        <a:spcBef>
                          <a:spcPts val="0"/>
                        </a:spcBef>
                        <a:spcAft>
                          <a:spcPts val="0"/>
                        </a:spcAft>
                      </a:pPr>
                      <a:r>
                        <a:rPr sz="1800" b="1">
                          <a:solidFill>
                            <a:srgbClr val="FFFFFF"/>
                          </a:solidFill>
                          <a:latin typeface="Noto Sans KR"/>
                        </a:rPr>
                        <a:t>값의 성격</a:t>
                      </a:r>
                    </a:p>
                  </a:txBody>
                  <a:tcPr marL="95250" marR="95250" marT="66675" marB="66675" anchor="ctr">
                    <a:solidFill>
                      <a:srgbClr val="004EA2"/>
                    </a:solidFill>
                  </a:tcPr>
                </a:tc>
              </a:tr>
              <a:tr h="615950">
                <a:tc>
                  <a:txBody>
                    <a:bodyPr wrap="none"/>
                    <a:lstStyle/>
                    <a:p>
                      <a:pPr eaLnBrk="0">
                        <a:lnSpc>
                          <a:spcPct val="112000"/>
                        </a:lnSpc>
                        <a:spcBef>
                          <a:spcPts val="0"/>
                        </a:spcBef>
                        <a:spcAft>
                          <a:spcPts val="0"/>
                        </a:spcAft>
                      </a:pPr>
                      <a:r>
                        <a:rPr sz="1800" b="1">
                          <a:solidFill>
                            <a:srgbClr val="1D2227"/>
                          </a:solidFill>
                          <a:latin typeface="Noto Sans KR"/>
                        </a:rPr>
                        <a:t>2023년 비교 규모</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800" b="0">
                          <a:solidFill>
                            <a:srgbClr val="1D2227"/>
                          </a:solidFill>
                          <a:latin typeface="Noto Sans KR"/>
                        </a:rPr>
                        <a:t>약 198.4만 명</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800" b="0">
                          <a:solidFill>
                            <a:srgbClr val="1D2227"/>
                          </a:solidFill>
                          <a:latin typeface="Noto Sans KR"/>
                        </a:rPr>
                        <a:t>248만 ÷ 1.25 역산</a:t>
                      </a:r>
                    </a:p>
                  </a:txBody>
                  <a:tcPr marL="95250" marR="95250" marT="66675" marB="66675" anchor="ctr">
                    <a:solidFill>
                      <a:srgbClr val="FFFFFF"/>
                    </a:solidFill>
                  </a:tcPr>
                </a:tc>
              </a:tr>
              <a:tr h="615950">
                <a:tc>
                  <a:txBody>
                    <a:bodyPr wrap="none"/>
                    <a:lstStyle/>
                    <a:p>
                      <a:pPr eaLnBrk="0">
                        <a:lnSpc>
                          <a:spcPct val="112000"/>
                        </a:lnSpc>
                        <a:spcBef>
                          <a:spcPts val="0"/>
                        </a:spcBef>
                        <a:spcAft>
                          <a:spcPts val="0"/>
                        </a:spcAft>
                      </a:pPr>
                      <a:r>
                        <a:rPr sz="1800" b="1">
                          <a:solidFill>
                            <a:srgbClr val="1D2227"/>
                          </a:solidFill>
                          <a:latin typeface="Noto Sans KR"/>
                        </a:rPr>
                        <a:t>2024년 10월 말 누적</a:t>
                      </a:r>
                    </a:p>
                  </a:txBody>
                  <a:tcPr marL="95250" marR="95250" marT="66675" marB="66675" anchor="ctr">
                    <a:solidFill>
                      <a:srgbClr val="EAF1F6"/>
                    </a:solidFill>
                  </a:tcPr>
                </a:tc>
                <a:tc>
                  <a:txBody>
                    <a:bodyPr wrap="none"/>
                    <a:lstStyle/>
                    <a:p>
                      <a:pPr eaLnBrk="0">
                        <a:lnSpc>
                          <a:spcPct val="112000"/>
                        </a:lnSpc>
                        <a:spcBef>
                          <a:spcPts val="0"/>
                        </a:spcBef>
                        <a:spcAft>
                          <a:spcPts val="0"/>
                        </a:spcAft>
                      </a:pPr>
                      <a:r>
                        <a:rPr sz="1800" b="0">
                          <a:solidFill>
                            <a:srgbClr val="1D2227"/>
                          </a:solidFill>
                          <a:latin typeface="Noto Sans KR"/>
                        </a:rPr>
                        <a:t>약 248만 명</a:t>
                      </a:r>
                    </a:p>
                  </a:txBody>
                  <a:tcPr marL="95250" marR="95250" marT="66675" marB="66675" anchor="ctr">
                    <a:solidFill>
                      <a:srgbClr val="EAF1F6"/>
                    </a:solidFill>
                  </a:tcPr>
                </a:tc>
                <a:tc>
                  <a:txBody>
                    <a:bodyPr wrap="none"/>
                    <a:lstStyle/>
                    <a:p>
                      <a:pPr eaLnBrk="0">
                        <a:lnSpc>
                          <a:spcPct val="112000"/>
                        </a:lnSpc>
                        <a:spcBef>
                          <a:spcPts val="0"/>
                        </a:spcBef>
                        <a:spcAft>
                          <a:spcPts val="0"/>
                        </a:spcAft>
                      </a:pPr>
                      <a:r>
                        <a:rPr sz="1800" b="0">
                          <a:solidFill>
                            <a:srgbClr val="1D2227"/>
                          </a:solidFill>
                          <a:latin typeface="Noto Sans KR"/>
                        </a:rPr>
                        <a:t>강진군의회 발표</a:t>
                      </a:r>
                    </a:p>
                  </a:txBody>
                  <a:tcPr marL="95250" marR="95250" marT="66675" marB="66675" anchor="ctr">
                    <a:solidFill>
                      <a:srgbClr val="EAF1F6"/>
                    </a:solidFill>
                  </a:tcPr>
                </a:tc>
              </a:tr>
              <a:tr h="615950">
                <a:tc>
                  <a:txBody>
                    <a:bodyPr wrap="none"/>
                    <a:lstStyle/>
                    <a:p>
                      <a:pPr eaLnBrk="0">
                        <a:lnSpc>
                          <a:spcPct val="112000"/>
                        </a:lnSpc>
                        <a:spcBef>
                          <a:spcPts val="0"/>
                        </a:spcBef>
                        <a:spcAft>
                          <a:spcPts val="0"/>
                        </a:spcAft>
                      </a:pPr>
                      <a:r>
                        <a:rPr sz="1800" b="1">
                          <a:solidFill>
                            <a:srgbClr val="1D2227"/>
                          </a:solidFill>
                          <a:latin typeface="Noto Sans KR"/>
                        </a:rPr>
                        <a:t>전년 대비 증가</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800" b="0">
                          <a:solidFill>
                            <a:srgbClr val="1D2227"/>
                          </a:solidFill>
                          <a:latin typeface="Noto Sans KR"/>
                        </a:rPr>
                        <a:t>약 49.6만 명 / 25%</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800" b="0">
                          <a:solidFill>
                            <a:srgbClr val="1D2227"/>
                          </a:solidFill>
                          <a:latin typeface="Noto Sans KR"/>
                        </a:rPr>
                        <a:t>발표 증가율 · 차이는 역산</a:t>
                      </a:r>
                    </a:p>
                  </a:txBody>
                  <a:tcPr marL="95250" marR="95250" marT="66675" marB="66675" anchor="ctr">
                    <a:solidFill>
                      <a:srgbClr val="FFFFFF"/>
                    </a:solidFill>
                  </a:tcPr>
                </a:tc>
              </a:tr>
            </a:tbl>
          </a:graphicData>
        </a:graphic>
      </p:graphicFrame>
      <p:sp>
        <p:nvSpPr>
          <p:cNvPr id="6" name="proposed-target"/>
          <p:cNvSpPr txBox="1"/>
          <p:nvPr/>
        </p:nvSpPr>
        <p:spPr>
          <a:xfrm>
            <a:off x="1009650" y="5305425"/>
            <a:ext cx="13220700" cy="600075"/>
          </a:xfrm>
          <a:prstGeom prst="rect">
            <a:avLst/>
          </a:prstGeom>
          <a:noFill/>
        </p:spPr>
        <p:txBody>
          <a:bodyPr wrap="none" lIns="57150" rIns="57150" tIns="38100" bIns="38100" anchor="t">
            <a:noAutofit/>
          </a:bodyPr>
          <a:lstStyle/>
          <a:p>
            <a:pPr eaLnBrk="0">
              <a:lnSpc>
                <a:spcPts val="3093"/>
              </a:lnSpc>
              <a:spcBef>
                <a:spcPts val="0"/>
              </a:spcBef>
              <a:spcAft>
                <a:spcPts val="0"/>
              </a:spcAft>
            </a:pPr>
            <a:r>
              <a:rPr sz="2475" b="1">
                <a:solidFill>
                  <a:srgbClr val="FF6B00"/>
                </a:solidFill>
                <a:latin typeface="Noto Sans KR"/>
              </a:rPr>
              <a:t>최종월 계획 목표 방문 +5% · 소비 +5%</a:t>
            </a:r>
          </a:p>
        </p:txBody>
      </p:sp>
      <p:sp>
        <p:nvSpPr>
          <p:cNvPr id="7" name="basis-method"/>
          <p:cNvSpPr txBox="1"/>
          <p:nvPr/>
        </p:nvSpPr>
        <p:spPr>
          <a:xfrm>
            <a:off x="1009650" y="6067425"/>
            <a:ext cx="13220700" cy="1571625"/>
          </a:xfrm>
          <a:prstGeom prst="rect">
            <a:avLst/>
          </a:prstGeom>
          <a:noFill/>
        </p:spPr>
        <p:txBody>
          <a:bodyPr wrap="none" lIns="57150" rIns="57150" tIns="38100" bIns="38100" anchor="t">
            <a:noAutofit/>
          </a:bodyPr>
          <a:lstStyle/>
          <a:p>
            <a:pPr eaLnBrk="0">
              <a:lnSpc>
                <a:spcPts val="1968"/>
              </a:lnSpc>
              <a:spcBef>
                <a:spcPts val="0"/>
              </a:spcBef>
              <a:spcAft>
                <a:spcPts val="0"/>
              </a:spcAft>
            </a:pPr>
            <a:r>
              <a:rPr sz="1575" b="0">
                <a:solidFill>
                  <a:srgbClr val="59636E"/>
                </a:solidFill>
                <a:latin typeface="Noto Sans KR"/>
              </a:rPr>
              <a:t>강진군의회 2024-11-20 시정연설: 10월 말 관광객 약 248만 명, 전년 대비 25% 증가. 전년 규모 역산: 248만÷1.25≈198.4만 명, 차이≈49.6만 명. 역산값은 별도</a:t>
            </a:r>
          </a:p>
          <a:p>
            <a:pPr eaLnBrk="0">
              <a:lnSpc>
                <a:spcPts val="1968"/>
              </a:lnSpc>
              <a:spcBef>
                <a:spcPts val="0"/>
              </a:spcBef>
              <a:spcAft>
                <a:spcPts val="0"/>
              </a:spcAft>
            </a:pPr>
            <a:r>
              <a:rPr sz="1575" b="0">
                <a:solidFill>
                  <a:srgbClr val="59636E"/>
                </a:solidFill>
                <a:latin typeface="Noto Sans KR"/>
              </a:rPr>
              <a:t>관측 원자료가 아니다. 반값여행과 축제의 동시기 실적이며 사업 단독 효과·ML 대비 증가율은 아니다. 원주는 초기 시범으로 최종월 방문 +5%를 제안한다(발표</a:t>
            </a:r>
          </a:p>
          <a:p>
            <a:pPr eaLnBrk="0">
              <a:lnSpc>
                <a:spcPts val="1968"/>
              </a:lnSpc>
              <a:spcBef>
                <a:spcPts val="0"/>
              </a:spcBef>
              <a:spcAft>
                <a:spcPts val="0"/>
              </a:spcAft>
            </a:pPr>
            <a:r>
              <a:rPr sz="1575" b="0">
                <a:solidFill>
                  <a:srgbClr val="59636E"/>
                </a:solidFill>
                <a:latin typeface="Noto Sans KR"/>
              </a:rPr>
              <a:t>증가율의 1/5를 선택한 기획 판단). 기본 소비 목표는 월별 소비/방문 비율을 추가 방문 수에 적용한 계획 가정이며 강진 소비 실적으로 계산한 값이 아니다. 방문 수가</a:t>
            </a:r>
          </a:p>
          <a:p>
            <a:pPr eaLnBrk="0">
              <a:lnSpc>
                <a:spcPts val="1968"/>
              </a:lnSpc>
              <a:spcBef>
                <a:spcPts val="0"/>
              </a:spcBef>
              <a:spcAft>
                <a:spcPts val="0"/>
              </a:spcAft>
            </a:pPr>
            <a:r>
              <a:rPr sz="1575" b="0">
                <a:solidFill>
                  <a:srgbClr val="59636E"/>
                </a:solidFill>
                <a:latin typeface="Noto Sans KR"/>
              </a:rPr>
              <a:t>0보다 큰 월은 ML 소비액÷ML 방문 수를 추가 방문 수에 곱한다. 같은 월의 두 증가율은 같으며, 이 비율은 실제 1인당 소비액이 아니다.</a:t>
            </a:r>
          </a:p>
        </p:txBody>
      </p:sp>
      <p:sp>
        <p:nvSpPr>
          <p:cNvPr id="8" name="basis-source"/>
          <p:cNvSpPr txBox="1"/>
          <p:nvPr/>
        </p:nvSpPr>
        <p:spPr>
          <a:xfrm>
            <a:off x="1009650" y="7858125"/>
            <a:ext cx="13220700" cy="400050"/>
          </a:xfrm>
          <a:prstGeom prst="rect">
            <a:avLst/>
          </a:prstGeom>
          <a:noFill/>
        </p:spPr>
        <p:txBody>
          <a:bodyPr wrap="none" lIns="57150" rIns="57150" tIns="38100" bIns="38100" anchor="t">
            <a:noAutofit/>
          </a:bodyPr>
          <a:lstStyle/>
          <a:p>
            <a:pPr eaLnBrk="0">
              <a:lnSpc>
                <a:spcPts val="1781"/>
              </a:lnSpc>
              <a:spcBef>
                <a:spcPts val="0"/>
              </a:spcBef>
              <a:spcAft>
                <a:spcPts val="0"/>
              </a:spcAft>
            </a:pPr>
            <a:r>
              <a:rPr sz="1425" b="0">
                <a:solidFill>
                  <a:srgbClr val="59636E"/>
                </a:solidFill>
                <a:latin typeface="Noto Sans KR"/>
                <a:hlinkClick r:id="rId2"/>
              </a:rPr>
              <a:t>출처: 강진군의회 제307회 본회의 시정연설, 2024.11.20</a:t>
            </a:r>
          </a:p>
        </p:txBody>
      </p:sp>
    </p:spTree>
  </p:cSld>
  <p:clrMapOvr>
    <a:masterClrMapping/>
  </p:clrMapOvr>
</p:sld>
</file>

<file path=ppt/slides/slide11.xml><?xml version="1.0" encoding="utf-8"?>
<p:sld xmlns:p="http://schemas.openxmlformats.org/presentationml/2006/main">
  <p:cSld>
    <p:bg>
      <p:bgPr>
        <a:solidFill xmlns:a="http://schemas.openxmlformats.org/drawingml/2006/main">
          <a:srgbClr val="F4F7FA"/>
        </a:solidFill>
      </p:bgPr>
    </p:bg>
    <p:spTree>
      <p:nvGrpSpPr>
        <p:cNvPr id="1" name=""/>
        <p:cNvGrpSpPr/>
        <p:nvPr/>
      </p:nvGrpSpPr>
      <p:grpSpPr>
        <a:xfrm xmlns:a="http://schemas.openxmlformats.org/drawingml/2006/main"/>
      </p:grpSpPr>
      <p:sp xmlns:a="http://schemas.openxmlformats.org/drawingml/2006/main">
        <p:nvSpPr>
          <p:cNvPr id="2" name="title"/>
          <p:cNvSpPr txBox="1"/>
          <p:nvPr/>
        </p:nvSpPr>
        <p:spPr>
          <a:xfrm>
            <a:off x="952500" y="714375"/>
            <a:ext cx="13335000" cy="809625"/>
          </a:xfrm>
          <a:prstGeom prst="rect">
            <a:avLst/>
          </a:prstGeom>
          <a:noFill/>
        </p:spPr>
        <p:txBody>
          <a:bodyPr wrap="none" lIns="57150" rIns="57150" tIns="38100" bIns="38100" anchor="t">
            <a:noAutofit/>
          </a:bodyPr>
          <a:lstStyle/>
          <a:p>
            <a:pPr eaLnBrk="0">
              <a:lnSpc>
                <a:spcPts val="4500"/>
              </a:lnSpc>
              <a:spcBef>
                <a:spcPts val="0"/>
              </a:spcBef>
              <a:spcAft>
                <a:spcPts val="0"/>
              </a:spcAft>
            </a:pPr>
            <a:r>
              <a:rPr sz="3600" b="1">
                <a:solidFill>
                  <a:srgbClr val="004EA2"/>
                </a:solidFill>
                <a:latin typeface="Noto Sans KR"/>
              </a:rPr>
              <a:t>근거·데이터·출처</a:t>
            </a:r>
          </a:p>
        </p:txBody>
      </p:sp>
      <p:sp xmlns:a="http://schemas.openxmlformats.org/drawingml/2006/main">
        <p:nvSpPr>
          <p:cNvPr id="3" name="title-rule"/>
          <p:cNvSpPr/>
          <p:nvPr/>
        </p:nvSpPr>
        <p:spPr>
          <a:xfrm>
            <a:off x="1009650" y="1724025"/>
            <a:ext cx="13220700" cy="28575"/>
          </a:xfrm>
          <a:prstGeom prst="rect">
            <a:avLst/>
          </a:prstGeom>
          <a:solidFill>
            <a:srgbClr val="004E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 name="subtitle"/>
          <p:cNvSpPr txBox="1"/>
          <p:nvPr/>
        </p:nvSpPr>
        <p:spPr>
          <a:xfrm>
            <a:off x="1009650" y="1885950"/>
            <a:ext cx="13220700" cy="619125"/>
          </a:xfrm>
          <a:prstGeom prst="rect">
            <a:avLst/>
          </a:prstGeom>
          <a:noFill/>
        </p:spPr>
        <p:txBody>
          <a:bodyPr wrap="none" lIns="57150" rIns="57150" tIns="38100" bIns="38100" anchor="t">
            <a:noAutofit/>
          </a:bodyPr>
          <a:lstStyle/>
          <a:p>
            <a:pPr eaLnBrk="0">
              <a:lnSpc>
                <a:spcPts val="1781"/>
              </a:lnSpc>
              <a:spcBef>
                <a:spcPts val="0"/>
              </a:spcBef>
              <a:spcAft>
                <a:spcPts val="0"/>
              </a:spcAft>
            </a:pPr>
            <a:r>
              <a:rPr sz="1425" b="0">
                <a:solidFill>
                  <a:srgbClr val="59636E"/>
                </a:solidFill>
                <a:latin typeface="Noto Sans KR"/>
              </a:rPr>
              <a:t>전체 자료명과 머신러닝 모델 1/3 · 파란 자료명을 누르면 원문으로 이동합니다.</a:t>
            </a:r>
          </a:p>
          <a:p>
            <a:pPr eaLnBrk="0">
              <a:lnSpc>
                <a:spcPts val="1781"/>
              </a:lnSpc>
              <a:spcBef>
                <a:spcPts val="0"/>
              </a:spcBef>
              <a:spcAft>
                <a:spcPts val="0"/>
              </a:spcAft>
            </a:pPr>
            <a:r>
              <a:rPr sz="1425" b="0">
                <a:solidFill>
                  <a:srgbClr val="59636E"/>
                </a:solidFill>
                <a:latin typeface="Noto Sans KR"/>
              </a:rPr>
              <a:t>참고 전망: 방문자·소비액 모델의 검증 오차가 전년동월 기준선보다 큽니다. 예측거리·누락 범위의 해석 주의가 필요합니다.</a:t>
            </a:r>
          </a:p>
        </p:txBody>
      </p:sp>
      <p:sp xmlns:a="http://schemas.openxmlformats.org/drawingml/2006/main">
        <p:nvSpPr>
          <p:cNvPr id="5" name="reference-0"/>
          <p:cNvSpPr txBox="1"/>
          <p:nvPr/>
        </p:nvSpPr>
        <p:spPr>
          <a:xfrm>
            <a:off x="1009650" y="2571750"/>
            <a:ext cx="4248150" cy="57150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xmlns:ns0="http://schemas.openxmlformats.org/officeDocument/2006/relationships" ns0:id="rId2"/>
              </a:rPr>
              <a:t>관측 데이터 D01 순 방문자 수 및 숙박 비율 (이동통신</a:t>
            </a:r>
          </a:p>
          <a:p>
            <a:pPr eaLnBrk="0">
              <a:lnSpc>
                <a:spcPts val="1687"/>
              </a:lnSpc>
              <a:spcBef>
                <a:spcPts val="0"/>
              </a:spcBef>
              <a:spcAft>
                <a:spcPts val="0"/>
              </a:spcAft>
            </a:pPr>
            <a:r>
              <a:rPr sz="1350" b="0" u="none">
                <a:solidFill>
                  <a:srgbClr val="004EA2"/>
                </a:solidFill>
                <a:latin typeface="Noto Sans KR"/>
                <a:hlinkClick xmlns:ns1="http://schemas.openxmlformats.org/officeDocument/2006/relationships" ns1:id="rId2"/>
              </a:rPr>
              <a:t>기반 외지인) 2026-06</a:t>
            </a:r>
          </a:p>
        </p:txBody>
      </p:sp>
      <p:sp xmlns:a="http://schemas.openxmlformats.org/drawingml/2006/main">
        <p:nvSpPr>
          <p:cNvPr id="6" name="reference-1"/>
          <p:cNvSpPr txBox="1"/>
          <p:nvPr/>
        </p:nvSpPr>
        <p:spPr>
          <a:xfrm>
            <a:off x="1009650" y="3171825"/>
            <a:ext cx="4248150" cy="57150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xmlns:ns2="http://schemas.openxmlformats.org/officeDocument/2006/relationships" ns2:id="rId2"/>
              </a:rPr>
              <a:t>관측 데이터 D02 월간 순 방문자 수 (이동통신</a:t>
            </a:r>
          </a:p>
          <a:p>
            <a:pPr eaLnBrk="0">
              <a:lnSpc>
                <a:spcPts val="1687"/>
              </a:lnSpc>
              <a:spcBef>
                <a:spcPts val="0"/>
              </a:spcBef>
              <a:spcAft>
                <a:spcPts val="0"/>
              </a:spcAft>
            </a:pPr>
            <a:r>
              <a:rPr sz="1350" b="0" u="none">
                <a:solidFill>
                  <a:srgbClr val="004EA2"/>
                </a:solidFill>
                <a:latin typeface="Noto Sans KR"/>
                <a:hlinkClick xmlns:ns3="http://schemas.openxmlformats.org/officeDocument/2006/relationships" ns3:id="rId2"/>
              </a:rPr>
              <a:t>기반 외지인) 2026-06</a:t>
            </a:r>
          </a:p>
        </p:txBody>
      </p:sp>
      <p:sp xmlns:a="http://schemas.openxmlformats.org/drawingml/2006/main">
        <p:nvSpPr>
          <p:cNvPr id="7" name="reference-2"/>
          <p:cNvSpPr txBox="1"/>
          <p:nvPr/>
        </p:nvSpPr>
        <p:spPr>
          <a:xfrm>
            <a:off x="1009650" y="3771900"/>
            <a:ext cx="4248150" cy="428625"/>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xmlns:ns4="http://schemas.openxmlformats.org/officeDocument/2006/relationships" ns4:id="rId2"/>
              </a:rPr>
              <a:t>관측 데이터 D03 관광소비 추이_외지인 2026-06</a:t>
            </a:r>
          </a:p>
        </p:txBody>
      </p:sp>
      <p:sp xmlns:a="http://schemas.openxmlformats.org/drawingml/2006/main">
        <p:nvSpPr>
          <p:cNvPr id="8" name="reference-3"/>
          <p:cNvSpPr txBox="1"/>
          <p:nvPr/>
        </p:nvSpPr>
        <p:spPr>
          <a:xfrm>
            <a:off x="1009650" y="4229100"/>
            <a:ext cx="4248150" cy="57150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xmlns:ns5="http://schemas.openxmlformats.org/officeDocument/2006/relationships" ns5:id="rId2"/>
              </a:rPr>
              <a:t>관측 데이터 D04 숙박방문자 비율 추이 (이동통신</a:t>
            </a:r>
          </a:p>
          <a:p>
            <a:pPr eaLnBrk="0">
              <a:lnSpc>
                <a:spcPts val="1687"/>
              </a:lnSpc>
              <a:spcBef>
                <a:spcPts val="0"/>
              </a:spcBef>
              <a:spcAft>
                <a:spcPts val="0"/>
              </a:spcAft>
            </a:pPr>
            <a:r>
              <a:rPr sz="1350" b="0" u="none">
                <a:solidFill>
                  <a:srgbClr val="004EA2"/>
                </a:solidFill>
                <a:latin typeface="Noto Sans KR"/>
                <a:hlinkClick xmlns:ns6="http://schemas.openxmlformats.org/officeDocument/2006/relationships" ns6:id="rId2"/>
              </a:rPr>
              <a:t>기반 외지인) 2026-06</a:t>
            </a:r>
          </a:p>
        </p:txBody>
      </p:sp>
      <p:sp xmlns:a="http://schemas.openxmlformats.org/drawingml/2006/main">
        <p:nvSpPr>
          <p:cNvPr id="9" name="reference-4"/>
          <p:cNvSpPr txBox="1"/>
          <p:nvPr/>
        </p:nvSpPr>
        <p:spPr>
          <a:xfrm>
            <a:off x="1009650" y="4829175"/>
            <a:ext cx="4248150" cy="57150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xmlns:ns7="http://schemas.openxmlformats.org/officeDocument/2006/relationships" ns7:id="rId2"/>
              </a:rPr>
              <a:t>관측 데이터 D05 평균 숙박일 (이동통신 기반</a:t>
            </a:r>
          </a:p>
          <a:p>
            <a:pPr eaLnBrk="0">
              <a:lnSpc>
                <a:spcPts val="1687"/>
              </a:lnSpc>
              <a:spcBef>
                <a:spcPts val="0"/>
              </a:spcBef>
              <a:spcAft>
                <a:spcPts val="0"/>
              </a:spcAft>
            </a:pPr>
            <a:r>
              <a:rPr sz="1350" b="0" u="none">
                <a:solidFill>
                  <a:srgbClr val="004EA2"/>
                </a:solidFill>
                <a:latin typeface="Noto Sans KR"/>
                <a:hlinkClick xmlns:ns8="http://schemas.openxmlformats.org/officeDocument/2006/relationships" ns8:id="rId2"/>
              </a:rPr>
              <a:t>외지인) 2026-06</a:t>
            </a:r>
          </a:p>
        </p:txBody>
      </p:sp>
      <p:sp xmlns:a="http://schemas.openxmlformats.org/drawingml/2006/main">
        <p:nvSpPr>
          <p:cNvPr id="10" name="reference-5"/>
          <p:cNvSpPr txBox="1"/>
          <p:nvPr/>
        </p:nvSpPr>
        <p:spPr>
          <a:xfrm>
            <a:off x="1009650" y="5429250"/>
            <a:ext cx="4248150" cy="57150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xmlns:ns9="http://schemas.openxmlformats.org/officeDocument/2006/relationships" ns9:id="rId2"/>
              </a:rPr>
              <a:t>관측 데이터 D06 내비게이션 목적지 유형별</a:t>
            </a:r>
          </a:p>
          <a:p>
            <a:pPr eaLnBrk="0">
              <a:lnSpc>
                <a:spcPts val="1687"/>
              </a:lnSpc>
              <a:spcBef>
                <a:spcPts val="0"/>
              </a:spcBef>
              <a:spcAft>
                <a:spcPts val="0"/>
              </a:spcAft>
            </a:pPr>
            <a:r>
              <a:rPr sz="1350" b="0" u="none">
                <a:solidFill>
                  <a:srgbClr val="004EA2"/>
                </a:solidFill>
                <a:latin typeface="Noto Sans KR"/>
                <a:hlinkClick xmlns:ns10="http://schemas.openxmlformats.org/officeDocument/2006/relationships" ns10:id="rId2"/>
              </a:rPr>
              <a:t>검색량 2026-06</a:t>
            </a:r>
          </a:p>
        </p:txBody>
      </p:sp>
      <p:sp xmlns:a="http://schemas.openxmlformats.org/drawingml/2006/main">
        <p:nvSpPr>
          <p:cNvPr id="11" name="reference-6"/>
          <p:cNvSpPr txBox="1"/>
          <p:nvPr/>
        </p:nvSpPr>
        <p:spPr>
          <a:xfrm>
            <a:off x="1009650" y="6029325"/>
            <a:ext cx="4248150" cy="428625"/>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xmlns:ns11="http://schemas.openxmlformats.org/officeDocument/2006/relationships" ns11:id="rId2"/>
              </a:rPr>
              <a:t>관측 데이터 D07 SNS 언급량 2026-06</a:t>
            </a:r>
          </a:p>
        </p:txBody>
      </p:sp>
      <p:sp xmlns:a="http://schemas.openxmlformats.org/drawingml/2006/main">
        <p:nvSpPr>
          <p:cNvPr id="12" name="reference-7"/>
          <p:cNvSpPr txBox="1"/>
          <p:nvPr/>
        </p:nvSpPr>
        <p:spPr>
          <a:xfrm>
            <a:off x="1009650" y="6486525"/>
            <a:ext cx="4248150" cy="785812"/>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xmlns:ns12="http://schemas.openxmlformats.org/officeDocument/2006/relationships" ns12:id="rId2"/>
              </a:rPr>
              <a:t>관측 데이터 D08 한국관광 데이터랩 공식 다운로드 ·</a:t>
            </a:r>
          </a:p>
          <a:p>
            <a:pPr eaLnBrk="0">
              <a:lnSpc>
                <a:spcPts val="1687"/>
              </a:lnSpc>
              <a:spcBef>
                <a:spcPts val="0"/>
              </a:spcBef>
              <a:spcAft>
                <a:spcPts val="0"/>
              </a:spcAft>
            </a:pPr>
            <a:r>
              <a:rPr sz="1350" b="0" u="none">
                <a:solidFill>
                  <a:srgbClr val="004EA2"/>
                </a:solidFill>
                <a:latin typeface="Noto Sans KR"/>
                <a:hlinkClick xmlns:ns13="http://schemas.openxmlformats.org/officeDocument/2006/relationships" ns13:id="rId2"/>
              </a:rPr>
              <a:t>강원특별자치도_원주시/숙박_체류시간/2025_01_12.zip</a:t>
            </a:r>
          </a:p>
          <a:p>
            <a:pPr eaLnBrk="0">
              <a:lnSpc>
                <a:spcPts val="1687"/>
              </a:lnSpc>
              <a:spcBef>
                <a:spcPts val="0"/>
              </a:spcBef>
              <a:spcAft>
                <a:spcPts val="0"/>
              </a:spcAft>
            </a:pPr>
            <a:r>
              <a:rPr sz="1350" b="0" u="none">
                <a:solidFill>
                  <a:srgbClr val="004EA2"/>
                </a:solidFill>
                <a:latin typeface="Noto Sans KR"/>
                <a:hlinkClick xmlns:ns14="http://schemas.openxmlformats.org/officeDocument/2006/relationships" ns14:id="rId2"/>
              </a:rPr>
              <a:t>2025-07 ~ 2026-06</a:t>
            </a:r>
          </a:p>
        </p:txBody>
      </p:sp>
      <p:sp xmlns:a="http://schemas.openxmlformats.org/drawingml/2006/main">
        <p:nvSpPr>
          <p:cNvPr id="13" name="reference-8"/>
          <p:cNvSpPr txBox="1"/>
          <p:nvPr/>
        </p:nvSpPr>
        <p:spPr>
          <a:xfrm>
            <a:off x="5486400" y="2571750"/>
            <a:ext cx="4248150" cy="785812"/>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xmlns:ns15="http://schemas.openxmlformats.org/officeDocument/2006/relationships" ns15:id="rId2"/>
              </a:rPr>
              <a:t>관측 데이터 D09 한국관광 데이터랩 공식 다운로드 ·</a:t>
            </a:r>
          </a:p>
          <a:p>
            <a:pPr eaLnBrk="0">
              <a:lnSpc>
                <a:spcPts val="1687"/>
              </a:lnSpc>
              <a:spcBef>
                <a:spcPts val="0"/>
              </a:spcBef>
              <a:spcAft>
                <a:spcPts val="0"/>
              </a:spcAft>
            </a:pPr>
            <a:r>
              <a:rPr sz="1350" b="0" u="none">
                <a:solidFill>
                  <a:srgbClr val="004EA2"/>
                </a:solidFill>
                <a:latin typeface="Noto Sans KR"/>
                <a:hlinkClick xmlns:ns16="http://schemas.openxmlformats.org/officeDocument/2006/relationships" ns16:id="rId2"/>
              </a:rPr>
              <a:t>강원특별자치도_원주시/숙박_체류시간/2026_01_06.zip</a:t>
            </a:r>
          </a:p>
          <a:p>
            <a:pPr eaLnBrk="0">
              <a:lnSpc>
                <a:spcPts val="1687"/>
              </a:lnSpc>
              <a:spcBef>
                <a:spcPts val="0"/>
              </a:spcBef>
              <a:spcAft>
                <a:spcPts val="0"/>
              </a:spcAft>
            </a:pPr>
            <a:r>
              <a:rPr sz="1350" b="0" u="none">
                <a:solidFill>
                  <a:srgbClr val="004EA2"/>
                </a:solidFill>
                <a:latin typeface="Noto Sans KR"/>
                <a:hlinkClick xmlns:ns17="http://schemas.openxmlformats.org/officeDocument/2006/relationships" ns17:id="rId2"/>
              </a:rPr>
              <a:t>2025-07 ~ 2026-06</a:t>
            </a:r>
          </a:p>
        </p:txBody>
      </p:sp>
      <p:sp xmlns:a="http://schemas.openxmlformats.org/drawingml/2006/main">
        <p:nvSpPr>
          <p:cNvPr id="14" name="reference-9"/>
          <p:cNvSpPr txBox="1"/>
          <p:nvPr/>
        </p:nvSpPr>
        <p:spPr>
          <a:xfrm>
            <a:off x="5486400" y="3386138"/>
            <a:ext cx="4248150" cy="785812"/>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xmlns:ns18="http://schemas.openxmlformats.org/officeDocument/2006/relationships" ns18:id="rId2"/>
              </a:rPr>
              <a:t>관측 데이터 D10 한국관광 데이터랩 공식 다운로드 ·</a:t>
            </a:r>
          </a:p>
          <a:p>
            <a:pPr eaLnBrk="0">
              <a:lnSpc>
                <a:spcPts val="1687"/>
              </a:lnSpc>
              <a:spcBef>
                <a:spcPts val="0"/>
              </a:spcBef>
              <a:spcAft>
                <a:spcPts val="0"/>
              </a:spcAft>
            </a:pPr>
            <a:r>
              <a:rPr sz="1350" b="0" u="none">
                <a:solidFill>
                  <a:srgbClr val="004EA2"/>
                </a:solidFill>
                <a:latin typeface="Noto Sans KR"/>
                <a:hlinkClick xmlns:ns19="http://schemas.openxmlformats.org/officeDocument/2006/relationships" ns19:id="rId2"/>
              </a:rPr>
              <a:t>강원특별자치도_원주시/방문자/2025_01_12.zip</a:t>
            </a:r>
          </a:p>
          <a:p>
            <a:pPr eaLnBrk="0">
              <a:lnSpc>
                <a:spcPts val="1687"/>
              </a:lnSpc>
              <a:spcBef>
                <a:spcPts val="0"/>
              </a:spcBef>
              <a:spcAft>
                <a:spcPts val="0"/>
              </a:spcAft>
            </a:pPr>
            <a:r>
              <a:rPr sz="1350" b="0" u="none">
                <a:solidFill>
                  <a:srgbClr val="004EA2"/>
                </a:solidFill>
                <a:latin typeface="Noto Sans KR"/>
                <a:hlinkClick xmlns:ns20="http://schemas.openxmlformats.org/officeDocument/2006/relationships" ns20:id="rId2"/>
              </a:rPr>
              <a:t>2025-07 ~ 2026-06</a:t>
            </a:r>
          </a:p>
        </p:txBody>
      </p:sp>
      <p:sp xmlns:a="http://schemas.openxmlformats.org/drawingml/2006/main">
        <p:nvSpPr>
          <p:cNvPr id="15" name="reference-10"/>
          <p:cNvSpPr txBox="1"/>
          <p:nvPr/>
        </p:nvSpPr>
        <p:spPr>
          <a:xfrm>
            <a:off x="5486400" y="4200525"/>
            <a:ext cx="4248150" cy="785812"/>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xmlns:ns21="http://schemas.openxmlformats.org/officeDocument/2006/relationships" ns21:id="rId2"/>
              </a:rPr>
              <a:t>관측 데이터 D11 한국관광 데이터랩 공식 다운로드 ·</a:t>
            </a:r>
          </a:p>
          <a:p>
            <a:pPr eaLnBrk="0">
              <a:lnSpc>
                <a:spcPts val="1687"/>
              </a:lnSpc>
              <a:spcBef>
                <a:spcPts val="0"/>
              </a:spcBef>
              <a:spcAft>
                <a:spcPts val="0"/>
              </a:spcAft>
            </a:pPr>
            <a:r>
              <a:rPr sz="1350" b="0" u="none">
                <a:solidFill>
                  <a:srgbClr val="004EA2"/>
                </a:solidFill>
                <a:latin typeface="Noto Sans KR"/>
                <a:hlinkClick xmlns:ns22="http://schemas.openxmlformats.org/officeDocument/2006/relationships" ns22:id="rId2"/>
              </a:rPr>
              <a:t>강원특별자치도_원주시/방문자/2026_01_06.zip</a:t>
            </a:r>
          </a:p>
          <a:p>
            <a:pPr eaLnBrk="0">
              <a:lnSpc>
                <a:spcPts val="1687"/>
              </a:lnSpc>
              <a:spcBef>
                <a:spcPts val="0"/>
              </a:spcBef>
              <a:spcAft>
                <a:spcPts val="0"/>
              </a:spcAft>
            </a:pPr>
            <a:r>
              <a:rPr sz="1350" b="0" u="none">
                <a:solidFill>
                  <a:srgbClr val="004EA2"/>
                </a:solidFill>
                <a:latin typeface="Noto Sans KR"/>
                <a:hlinkClick xmlns:ns23="http://schemas.openxmlformats.org/officeDocument/2006/relationships" ns23:id="rId2"/>
              </a:rPr>
              <a:t>2025-07 ~ 2026-06</a:t>
            </a:r>
          </a:p>
        </p:txBody>
      </p:sp>
      <p:sp xmlns:a="http://schemas.openxmlformats.org/drawingml/2006/main">
        <p:nvSpPr>
          <p:cNvPr id="16" name="reference-11"/>
          <p:cNvSpPr txBox="1"/>
          <p:nvPr/>
        </p:nvSpPr>
        <p:spPr>
          <a:xfrm>
            <a:off x="5486400" y="5014912"/>
            <a:ext cx="4248150" cy="785812"/>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xmlns:ns24="http://schemas.openxmlformats.org/officeDocument/2006/relationships" ns24:id="rId2"/>
              </a:rPr>
              <a:t>관측 데이터 D12 한국관광 데이터랩 공식 다운로드 ·</a:t>
            </a:r>
          </a:p>
          <a:p>
            <a:pPr eaLnBrk="0">
              <a:lnSpc>
                <a:spcPts val="1687"/>
              </a:lnSpc>
              <a:spcBef>
                <a:spcPts val="0"/>
              </a:spcBef>
              <a:spcAft>
                <a:spcPts val="0"/>
              </a:spcAft>
            </a:pPr>
            <a:r>
              <a:rPr sz="1350" b="0" u="none">
                <a:solidFill>
                  <a:srgbClr val="004EA2"/>
                </a:solidFill>
                <a:latin typeface="Noto Sans KR"/>
                <a:hlinkClick xmlns:ns25="http://schemas.openxmlformats.org/officeDocument/2006/relationships" ns25:id="rId2"/>
              </a:rPr>
              <a:t>강원특별자치도_원주시/관광소비/2026_01_06.zip</a:t>
            </a:r>
          </a:p>
          <a:p>
            <a:pPr eaLnBrk="0">
              <a:lnSpc>
                <a:spcPts val="1687"/>
              </a:lnSpc>
              <a:spcBef>
                <a:spcPts val="0"/>
              </a:spcBef>
              <a:spcAft>
                <a:spcPts val="0"/>
              </a:spcAft>
            </a:pPr>
            <a:r>
              <a:rPr sz="1350" b="0" u="none">
                <a:solidFill>
                  <a:srgbClr val="004EA2"/>
                </a:solidFill>
                <a:latin typeface="Noto Sans KR"/>
                <a:hlinkClick xmlns:ns26="http://schemas.openxmlformats.org/officeDocument/2006/relationships" ns26:id="rId2"/>
              </a:rPr>
              <a:t>2025-07 ~ 2026-06</a:t>
            </a:r>
          </a:p>
        </p:txBody>
      </p:sp>
      <p:sp xmlns:a="http://schemas.openxmlformats.org/drawingml/2006/main">
        <p:nvSpPr>
          <p:cNvPr id="17" name="reference-12"/>
          <p:cNvSpPr txBox="1"/>
          <p:nvPr/>
        </p:nvSpPr>
        <p:spPr>
          <a:xfrm>
            <a:off x="5486400" y="5829300"/>
            <a:ext cx="4248150" cy="785812"/>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xmlns:ns27="http://schemas.openxmlformats.org/officeDocument/2006/relationships" ns27:id="rId2"/>
              </a:rPr>
              <a:t>관측 데이터 D13 한국관광 데이터랩 공식 다운로드 ·</a:t>
            </a:r>
          </a:p>
          <a:p>
            <a:pPr eaLnBrk="0">
              <a:lnSpc>
                <a:spcPts val="1687"/>
              </a:lnSpc>
              <a:spcBef>
                <a:spcPts val="0"/>
              </a:spcBef>
              <a:spcAft>
                <a:spcPts val="0"/>
              </a:spcAft>
            </a:pPr>
            <a:r>
              <a:rPr sz="1350" b="0" u="none">
                <a:solidFill>
                  <a:srgbClr val="004EA2"/>
                </a:solidFill>
                <a:latin typeface="Noto Sans KR"/>
                <a:hlinkClick xmlns:ns28="http://schemas.openxmlformats.org/officeDocument/2006/relationships" ns28:id="rId2"/>
              </a:rPr>
              <a:t>강원특별자치도_원주시/관광소비/2025_01_12.zip</a:t>
            </a:r>
          </a:p>
          <a:p>
            <a:pPr eaLnBrk="0">
              <a:lnSpc>
                <a:spcPts val="1687"/>
              </a:lnSpc>
              <a:spcBef>
                <a:spcPts val="0"/>
              </a:spcBef>
              <a:spcAft>
                <a:spcPts val="0"/>
              </a:spcAft>
            </a:pPr>
            <a:r>
              <a:rPr sz="1350" b="0" u="none">
                <a:solidFill>
                  <a:srgbClr val="004EA2"/>
                </a:solidFill>
                <a:latin typeface="Noto Sans KR"/>
                <a:hlinkClick xmlns:ns29="http://schemas.openxmlformats.org/officeDocument/2006/relationships" ns29:id="rId2"/>
              </a:rPr>
              <a:t>2025-07 ~ 2026-06</a:t>
            </a:r>
          </a:p>
        </p:txBody>
      </p:sp>
      <p:sp xmlns:a="http://schemas.openxmlformats.org/drawingml/2006/main">
        <p:nvSpPr>
          <p:cNvPr id="18" name="reference-13"/>
          <p:cNvSpPr txBox="1"/>
          <p:nvPr/>
        </p:nvSpPr>
        <p:spPr>
          <a:xfrm>
            <a:off x="5486400" y="6643688"/>
            <a:ext cx="4248150" cy="1000125"/>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xmlns:ns30="http://schemas.openxmlformats.org/officeDocument/2006/relationships" ns30:id="rId2"/>
              </a:rPr>
              <a:t>관측 데이터 D14 한국관광 데이터랩 전국 빅데이터</a:t>
            </a:r>
          </a:p>
          <a:p>
            <a:pPr eaLnBrk="0">
              <a:lnSpc>
                <a:spcPts val="1687"/>
              </a:lnSpc>
              <a:spcBef>
                <a:spcPts val="0"/>
              </a:spcBef>
              <a:spcAft>
                <a:spcPts val="0"/>
              </a:spcAft>
            </a:pPr>
            <a:r>
              <a:rPr sz="1350" b="0" u="none">
                <a:solidFill>
                  <a:srgbClr val="004EA2"/>
                </a:solidFill>
                <a:latin typeface="Noto Sans KR"/>
                <a:hlinkClick xmlns:ns31="http://schemas.openxmlformats.org/officeDocument/2006/relationships" ns31:id="rId2"/>
              </a:rPr>
              <a:t>다운로드 · 이동통신/내국인/지역별</a:t>
            </a:r>
          </a:p>
          <a:p>
            <a:pPr eaLnBrk="0">
              <a:lnSpc>
                <a:spcPts val="1687"/>
              </a:lnSpc>
              <a:spcBef>
                <a:spcPts val="0"/>
              </a:spcBef>
              <a:spcAft>
                <a:spcPts val="0"/>
              </a:spcAft>
            </a:pPr>
            <a:r>
              <a:rPr sz="1350" b="0" u="none">
                <a:solidFill>
                  <a:srgbClr val="004EA2"/>
                </a:solidFill>
                <a:latin typeface="Noto Sans KR"/>
                <a:hlinkClick xmlns:ns32="http://schemas.openxmlformats.org/officeDocument/2006/relationships" ns32:id="rId2"/>
              </a:rPr>
              <a:t>방문자수/20260820140607__202601-202606_데이터랩_</a:t>
            </a:r>
          </a:p>
          <a:p>
            <a:pPr eaLnBrk="0">
              <a:lnSpc>
                <a:spcPts val="1687"/>
              </a:lnSpc>
              <a:spcBef>
                <a:spcPts val="0"/>
              </a:spcBef>
              <a:spcAft>
                <a:spcPts val="0"/>
              </a:spcAft>
            </a:pPr>
            <a:r>
              <a:rPr sz="1350" b="0" u="none">
                <a:solidFill>
                  <a:srgbClr val="004EA2"/>
                </a:solidFill>
                <a:latin typeface="Noto Sans KR"/>
                <a:hlinkClick xmlns:ns33="http://schemas.openxmlformats.org/officeDocument/2006/relationships" ns33:id="rId2"/>
              </a:rPr>
              <a:t>다운로드.zip 2026-01 ~ 2026-06</a:t>
            </a:r>
          </a:p>
        </p:txBody>
      </p:sp>
      <p:sp xmlns:a="http://schemas.openxmlformats.org/drawingml/2006/main">
        <p:nvSpPr>
          <p:cNvPr id="19" name="reference-14"/>
          <p:cNvSpPr txBox="1"/>
          <p:nvPr/>
        </p:nvSpPr>
        <p:spPr>
          <a:xfrm>
            <a:off x="9963150" y="2571750"/>
            <a:ext cx="4248150" cy="1000125"/>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xmlns:ns34="http://schemas.openxmlformats.org/officeDocument/2006/relationships" ns34:id="rId2"/>
              </a:rPr>
              <a:t>관측 데이터 D15 한국관광 데이터랩 전국 빅데이터</a:t>
            </a:r>
          </a:p>
          <a:p>
            <a:pPr eaLnBrk="0">
              <a:lnSpc>
                <a:spcPts val="1687"/>
              </a:lnSpc>
              <a:spcBef>
                <a:spcPts val="0"/>
              </a:spcBef>
              <a:spcAft>
                <a:spcPts val="0"/>
              </a:spcAft>
            </a:pPr>
            <a:r>
              <a:rPr sz="1350" b="0" u="none">
                <a:solidFill>
                  <a:srgbClr val="004EA2"/>
                </a:solidFill>
                <a:latin typeface="Noto Sans KR"/>
                <a:hlinkClick xmlns:ns35="http://schemas.openxmlformats.org/officeDocument/2006/relationships" ns35:id="rId2"/>
              </a:rPr>
              <a:t>다운로드 ·</a:t>
            </a:r>
          </a:p>
          <a:p>
            <a:pPr eaLnBrk="0">
              <a:lnSpc>
                <a:spcPts val="1687"/>
              </a:lnSpc>
              <a:spcBef>
                <a:spcPts val="0"/>
              </a:spcBef>
              <a:spcAft>
                <a:spcPts val="0"/>
              </a:spcAft>
            </a:pPr>
            <a:r>
              <a:rPr sz="1350" b="0" u="none">
                <a:solidFill>
                  <a:srgbClr val="004EA2"/>
                </a:solidFill>
                <a:latin typeface="Noto Sans KR"/>
                <a:hlinkClick xmlns:ns36="http://schemas.openxmlformats.org/officeDocument/2006/relationships" ns36:id="rId2"/>
              </a:rPr>
              <a:t>이동통신/외국인/20260820141710_전국_202601-202606</a:t>
            </a:r>
          </a:p>
          <a:p>
            <a:pPr eaLnBrk="0">
              <a:lnSpc>
                <a:spcPts val="1687"/>
              </a:lnSpc>
              <a:spcBef>
                <a:spcPts val="0"/>
              </a:spcBef>
              <a:spcAft>
                <a:spcPts val="0"/>
              </a:spcAft>
            </a:pPr>
            <a:r>
              <a:rPr sz="1350" b="0" u="none">
                <a:solidFill>
                  <a:srgbClr val="004EA2"/>
                </a:solidFill>
                <a:latin typeface="Noto Sans KR"/>
                <a:hlinkClick xmlns:ns37="http://schemas.openxmlformats.org/officeDocument/2006/relationships" ns37:id="rId2"/>
              </a:rPr>
              <a:t>_데이터랩_다운로드.zip 2026-01 ~ 2026-06</a:t>
            </a:r>
          </a:p>
        </p:txBody>
      </p:sp>
      <p:sp xmlns:a="http://schemas.openxmlformats.org/drawingml/2006/main">
        <p:nvSpPr>
          <p:cNvPr id="20" name="reference-15"/>
          <p:cNvSpPr txBox="1"/>
          <p:nvPr/>
        </p:nvSpPr>
        <p:spPr>
          <a:xfrm>
            <a:off x="9963150" y="3600450"/>
            <a:ext cx="4248150" cy="1000125"/>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xmlns:ns38="http://schemas.openxmlformats.org/officeDocument/2006/relationships" ns38:id="rId2"/>
              </a:rPr>
              <a:t>관측 데이터 D16 한국관광 데이터랩 전국 빅데이터</a:t>
            </a:r>
          </a:p>
          <a:p>
            <a:pPr eaLnBrk="0">
              <a:lnSpc>
                <a:spcPts val="1687"/>
              </a:lnSpc>
              <a:spcBef>
                <a:spcPts val="0"/>
              </a:spcBef>
              <a:spcAft>
                <a:spcPts val="0"/>
              </a:spcAft>
            </a:pPr>
            <a:r>
              <a:rPr sz="1350" b="0" u="none">
                <a:solidFill>
                  <a:srgbClr val="004EA2"/>
                </a:solidFill>
                <a:latin typeface="Noto Sans KR"/>
                <a:hlinkClick xmlns:ns39="http://schemas.openxmlformats.org/officeDocument/2006/relationships" ns39:id="rId2"/>
              </a:rPr>
              <a:t>다운로드 · 신용카드/내국인/지역별</a:t>
            </a:r>
          </a:p>
          <a:p>
            <a:pPr eaLnBrk="0">
              <a:lnSpc>
                <a:spcPts val="1687"/>
              </a:lnSpc>
              <a:spcBef>
                <a:spcPts val="0"/>
              </a:spcBef>
              <a:spcAft>
                <a:spcPts val="0"/>
              </a:spcAft>
            </a:pPr>
            <a:r>
              <a:rPr sz="1350" b="0" u="none">
                <a:solidFill>
                  <a:srgbClr val="004EA2"/>
                </a:solidFill>
                <a:latin typeface="Noto Sans KR"/>
                <a:hlinkClick xmlns:ns40="http://schemas.openxmlformats.org/officeDocument/2006/relationships" ns40:id="rId2"/>
              </a:rPr>
              <a:t>관광지출액/20260820140046__202601-202606_데이터랩</a:t>
            </a:r>
          </a:p>
          <a:p>
            <a:pPr eaLnBrk="0">
              <a:lnSpc>
                <a:spcPts val="1687"/>
              </a:lnSpc>
              <a:spcBef>
                <a:spcPts val="0"/>
              </a:spcBef>
              <a:spcAft>
                <a:spcPts val="0"/>
              </a:spcAft>
            </a:pPr>
            <a:r>
              <a:rPr sz="1350" b="0" u="none">
                <a:solidFill>
                  <a:srgbClr val="004EA2"/>
                </a:solidFill>
                <a:latin typeface="Noto Sans KR"/>
                <a:hlinkClick xmlns:ns41="http://schemas.openxmlformats.org/officeDocument/2006/relationships" ns41:id="rId2"/>
              </a:rPr>
              <a:t>_다운로드.zip 2026-01 ~ 2026-06</a:t>
            </a:r>
          </a:p>
        </p:txBody>
      </p:sp>
      <p:sp xmlns:a="http://schemas.openxmlformats.org/drawingml/2006/main">
        <p:nvSpPr>
          <p:cNvPr id="21" name="reference-16"/>
          <p:cNvSpPr txBox="1"/>
          <p:nvPr/>
        </p:nvSpPr>
        <p:spPr>
          <a:xfrm>
            <a:off x="9963150" y="4629150"/>
            <a:ext cx="4248150" cy="1000125"/>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xmlns:ns42="http://schemas.openxmlformats.org/officeDocument/2006/relationships" ns42:id="rId2"/>
              </a:rPr>
              <a:t>관측 데이터 D17 한국관광 데이터랩 전국 빅데이터</a:t>
            </a:r>
          </a:p>
          <a:p>
            <a:pPr eaLnBrk="0">
              <a:lnSpc>
                <a:spcPts val="1687"/>
              </a:lnSpc>
              <a:spcBef>
                <a:spcPts val="0"/>
              </a:spcBef>
              <a:spcAft>
                <a:spcPts val="0"/>
              </a:spcAft>
            </a:pPr>
            <a:r>
              <a:rPr sz="1350" b="0" u="none">
                <a:solidFill>
                  <a:srgbClr val="004EA2"/>
                </a:solidFill>
                <a:latin typeface="Noto Sans KR"/>
                <a:hlinkClick xmlns:ns43="http://schemas.openxmlformats.org/officeDocument/2006/relationships" ns43:id="rId2"/>
              </a:rPr>
              <a:t>다운로드 · 신용카드/외국인/지역별</a:t>
            </a:r>
          </a:p>
          <a:p>
            <a:pPr eaLnBrk="0">
              <a:lnSpc>
                <a:spcPts val="1687"/>
              </a:lnSpc>
              <a:spcBef>
                <a:spcPts val="0"/>
              </a:spcBef>
              <a:spcAft>
                <a:spcPts val="0"/>
              </a:spcAft>
            </a:pPr>
            <a:r>
              <a:rPr sz="1350" b="0" u="none">
                <a:solidFill>
                  <a:srgbClr val="004EA2"/>
                </a:solidFill>
                <a:latin typeface="Noto Sans KR"/>
                <a:hlinkClick xmlns:ns44="http://schemas.openxmlformats.org/officeDocument/2006/relationships" ns44:id="rId2"/>
              </a:rPr>
              <a:t>관광지출액/20260820140355__202601-202606_데이터랩</a:t>
            </a:r>
          </a:p>
          <a:p>
            <a:pPr eaLnBrk="0">
              <a:lnSpc>
                <a:spcPts val="1687"/>
              </a:lnSpc>
              <a:spcBef>
                <a:spcPts val="0"/>
              </a:spcBef>
              <a:spcAft>
                <a:spcPts val="0"/>
              </a:spcAft>
            </a:pPr>
            <a:r>
              <a:rPr sz="1350" b="0" u="none">
                <a:solidFill>
                  <a:srgbClr val="004EA2"/>
                </a:solidFill>
                <a:latin typeface="Noto Sans KR"/>
                <a:hlinkClick xmlns:ns45="http://schemas.openxmlformats.org/officeDocument/2006/relationships" ns45:id="rId2"/>
              </a:rPr>
              <a:t>_다운로드.zip 2026-01 ~ 2026-06</a:t>
            </a:r>
          </a:p>
        </p:txBody>
      </p:sp>
      <p:sp xmlns:a="http://schemas.openxmlformats.org/drawingml/2006/main">
        <p:nvSpPr>
          <p:cNvPr id="22" name="reference-17"/>
          <p:cNvSpPr txBox="1"/>
          <p:nvPr/>
        </p:nvSpPr>
        <p:spPr>
          <a:xfrm>
            <a:off x="9963150" y="5657850"/>
            <a:ext cx="4248150" cy="1000125"/>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xmlns:ns46="http://schemas.openxmlformats.org/officeDocument/2006/relationships" ns46:id="rId2"/>
              </a:rPr>
              <a:t>관측 데이터 D18 한국관광 데이터랩 전국 빅데이터</a:t>
            </a:r>
          </a:p>
          <a:p>
            <a:pPr eaLnBrk="0">
              <a:lnSpc>
                <a:spcPts val="1687"/>
              </a:lnSpc>
              <a:spcBef>
                <a:spcPts val="0"/>
              </a:spcBef>
              <a:spcAft>
                <a:spcPts val="0"/>
              </a:spcAft>
            </a:pPr>
            <a:r>
              <a:rPr sz="1350" b="0" u="none">
                <a:solidFill>
                  <a:srgbClr val="004EA2"/>
                </a:solidFill>
                <a:latin typeface="Noto Sans KR"/>
                <a:hlinkClick xmlns:ns47="http://schemas.openxmlformats.org/officeDocument/2006/relationships" ns47:id="rId2"/>
              </a:rPr>
              <a:t>다운로드 · 네비게이션/지역별</a:t>
            </a:r>
          </a:p>
          <a:p>
            <a:pPr eaLnBrk="0">
              <a:lnSpc>
                <a:spcPts val="1687"/>
              </a:lnSpc>
              <a:spcBef>
                <a:spcPts val="0"/>
              </a:spcBef>
              <a:spcAft>
                <a:spcPts val="0"/>
              </a:spcAft>
            </a:pPr>
            <a:r>
              <a:rPr sz="1350" b="0" u="none">
                <a:solidFill>
                  <a:srgbClr val="004EA2"/>
                </a:solidFill>
                <a:latin typeface="Noto Sans KR"/>
                <a:hlinkClick xmlns:ns48="http://schemas.openxmlformats.org/officeDocument/2006/relationships" ns48:id="rId2"/>
              </a:rPr>
              <a:t>검색건수/20260820195507__202601-202606_데이터랩_</a:t>
            </a:r>
          </a:p>
          <a:p>
            <a:pPr eaLnBrk="0">
              <a:lnSpc>
                <a:spcPts val="1687"/>
              </a:lnSpc>
              <a:spcBef>
                <a:spcPts val="0"/>
              </a:spcBef>
              <a:spcAft>
                <a:spcPts val="0"/>
              </a:spcAft>
            </a:pPr>
            <a:r>
              <a:rPr sz="1350" b="0" u="none">
                <a:solidFill>
                  <a:srgbClr val="004EA2"/>
                </a:solidFill>
                <a:latin typeface="Noto Sans KR"/>
                <a:hlinkClick xmlns:ns49="http://schemas.openxmlformats.org/officeDocument/2006/relationships" ns49:id="rId2"/>
              </a:rPr>
              <a:t>다운로드.zip 2026-01 ~ 2026-06</a:t>
            </a:r>
          </a:p>
        </p:txBody>
      </p:sp>
      <p:sp xmlns:a="http://schemas.openxmlformats.org/drawingml/2006/main">
        <p:nvSpPr>
          <p:cNvPr id="23" name="reference-18"/>
          <p:cNvSpPr txBox="1"/>
          <p:nvPr/>
        </p:nvSpPr>
        <p:spPr>
          <a:xfrm>
            <a:off x="9963150" y="6686550"/>
            <a:ext cx="4248150" cy="1000125"/>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xmlns:ns50="http://schemas.openxmlformats.org/officeDocument/2006/relationships" ns50:id="rId2"/>
              </a:rPr>
              <a:t>관측 데이터 D19 한국관광 데이터랩 전국 빅데이터</a:t>
            </a:r>
          </a:p>
          <a:p>
            <a:pPr eaLnBrk="0">
              <a:lnSpc>
                <a:spcPts val="1687"/>
              </a:lnSpc>
              <a:spcBef>
                <a:spcPts val="0"/>
              </a:spcBef>
              <a:spcAft>
                <a:spcPts val="0"/>
              </a:spcAft>
            </a:pPr>
            <a:r>
              <a:rPr sz="1350" b="0" u="none">
                <a:solidFill>
                  <a:srgbClr val="004EA2"/>
                </a:solidFill>
                <a:latin typeface="Noto Sans KR"/>
                <a:hlinkClick xmlns:ns51="http://schemas.openxmlformats.org/officeDocument/2006/relationships" ns51:id="rId2"/>
              </a:rPr>
              <a:t>다운로드 · 이동통신/내국인/지역별</a:t>
            </a:r>
          </a:p>
          <a:p>
            <a:pPr eaLnBrk="0">
              <a:lnSpc>
                <a:spcPts val="1687"/>
              </a:lnSpc>
              <a:spcBef>
                <a:spcPts val="0"/>
              </a:spcBef>
              <a:spcAft>
                <a:spcPts val="0"/>
              </a:spcAft>
            </a:pPr>
            <a:r>
              <a:rPr sz="1350" b="0" u="none">
                <a:solidFill>
                  <a:srgbClr val="004EA2"/>
                </a:solidFill>
                <a:latin typeface="Noto Sans KR"/>
                <a:hlinkClick xmlns:ns52="http://schemas.openxmlformats.org/officeDocument/2006/relationships" ns52:id="rId2"/>
              </a:rPr>
              <a:t>방문자수/20260820140614__202501-202512_데이터랩_</a:t>
            </a:r>
          </a:p>
          <a:p>
            <a:pPr eaLnBrk="0">
              <a:lnSpc>
                <a:spcPts val="1687"/>
              </a:lnSpc>
              <a:spcBef>
                <a:spcPts val="0"/>
              </a:spcBef>
              <a:spcAft>
                <a:spcPts val="0"/>
              </a:spcAft>
            </a:pPr>
            <a:r>
              <a:rPr sz="1350" b="0" u="none">
                <a:solidFill>
                  <a:srgbClr val="004EA2"/>
                </a:solidFill>
                <a:latin typeface="Noto Sans KR"/>
                <a:hlinkClick xmlns:ns53="http://schemas.openxmlformats.org/officeDocument/2006/relationships" ns53:id="rId2"/>
              </a:rPr>
              <a:t>다운로드.zip 2026-01 ~ 2026-06</a:t>
            </a:r>
          </a:p>
        </p:txBody>
      </p:sp>
    </p:spTree>
    <p:extLst>
      <p:ext uri="{BB962C8B-B14F-4D97-AF65-F5344CB8AC3E}">
        <p14:creationId xmlns:p14="http://schemas.microsoft.com/office/powerpoint/2010/main" val="930694367"/>
      </p:ext>
    </p:extLst>
  </p:cSld>
</p:sld>
</file>

<file path=ppt/slides/slide12.xml><?xml version="1.0" encoding="utf-8"?>
<p:sld xmlns:p="http://schemas.openxmlformats.org/presentationml/2006/main">
  <p:cSld>
    <p:bg>
      <p:bgPr>
        <a:solidFill xmlns:a="http://schemas.openxmlformats.org/drawingml/2006/main">
          <a:srgbClr val="F4F7FA"/>
        </a:solidFill>
      </p:bgPr>
    </p:bg>
    <p:spTree>
      <p:nvGrpSpPr>
        <p:cNvPr id="1" name=""/>
        <p:cNvGrpSpPr/>
        <p:nvPr/>
      </p:nvGrpSpPr>
      <p:grpSpPr>
        <a:xfrm xmlns:a="http://schemas.openxmlformats.org/drawingml/2006/main"/>
      </p:grpSpPr>
      <p:sp>
        <p:nvSpPr>
          <p:cNvPr id="21" name="background-wordmark">
            <a:extLst xmlns:a="http://schemas.openxmlformats.org/drawingml/2006/main">
              <a:ext uri="{FF2B5EF4-FFF2-40B4-BE49-F238E27FC236}">
                <a16:creationId xmlns:a16="http://schemas.microsoft.com/office/drawing/2014/main" id="{77FB509F-5920-492C-9117-3338D34B0670}"/>
              </a:ext>
            </a:extLst>
          </p:cNvPr>
          <p:cNvSpPr>
            <a:spLocks xmlns:a="http://schemas.openxmlformats.org/drawingml/2006/main" noGrp="1"/>
          </p:cNvSpPr>
          <p:nvPr/>
        </p:nvSpPr>
        <p:spPr>
          <a:xfrm xmlns:a="http://schemas.openxmlformats.org/drawingml/2006/main">
            <a:off x="-552450" y="2857500"/>
            <a:ext cx="16383000" cy="2952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rmAutofit fontScale="86111" lnSpcReduction="10000"/>
          </a:bodyPr>
          <a:lstStyle xmlns:a="http://schemas.openxmlformats.org/drawingml/2006/main"/>
          <a:p xmlns:a="http://schemas.openxmlformats.org/drawingml/2006/main">
            <a:pPr algn="ctr" eaLnBrk="0">
              <a:buNone/>
              <a:defRPr sz="22500" b="1" i="0">
                <a:solidFill>
                  <a:srgbClr val="E7EDF4"/>
                </a:solidFill>
                <a:latin typeface="Noto Sans KR"/>
                <a:ea typeface="Noto Sans KR"/>
                <a:cs typeface="Noto Sans KR"/>
              </a:defRPr>
            </a:pPr>
            <a:r>
              <a:rPr sz="22500" b="1" i="0">
                <a:solidFill>
                  <a:srgbClr val="E7EDF4"/>
                </a:solidFill>
                <a:latin typeface="Noto Sans KR"/>
                <a:ea typeface="Noto Sans KR"/>
                <a:cs typeface="Noto Sans KR"/>
              </a:rPr>
              <a:t>TOURISM AI</a:t>
            </a:r>
          </a:p>
        </p:txBody>
      </p:sp>
      <p:sp>
        <p:nvSpPr>
          <p:cNvPr id="2" name="center-top-vertical">
            <a:extLst xmlns:a="http://schemas.openxmlformats.org/drawingml/2006/main">
              <a:ext uri="{FF2B5EF4-FFF2-40B4-BE49-F238E27FC236}">
                <a16:creationId xmlns:a16="http://schemas.microsoft.com/office/drawing/2014/main" id="{B1DEDF35-13EE-406A-AC8E-214EDD2F24AC}"/>
              </a:ext>
            </a:extLst>
          </p:cNvPr>
          <p:cNvSpPr>
            <a:spLocks xmlns:a="http://schemas.openxmlformats.org/drawingml/2006/main" noGrp="1"/>
          </p:cNvSpPr>
          <p:nvPr/>
        </p:nvSpPr>
        <p:spPr>
          <a:xfrm xmlns:a="http://schemas.openxmlformats.org/drawingml/2006/main">
            <a:off x="7620000" y="895350"/>
            <a:ext cx="0" cy="1257300"/>
          </a:xfrm>
          <a:prstGeom xmlns:a="http://schemas.openxmlformats.org/drawingml/2006/main" prst="line">
            <a:avLst/>
          </a:prstGeom>
          <a:noFill xmlns:a="http://schemas.openxmlformats.org/drawingml/2006/main"/>
          <a:ln xmlns:a="http://schemas.openxmlformats.org/drawingml/2006/main" w="28575">
            <a:solidFill>
              <a:srgbClr val="004EA2"/>
            </a:solidFill>
            <a:prstDash val="solid"/>
          </a:ln>
        </p:spPr>
        <p:txBody>
          <a:bodyPr xmlns:a="http://schemas.openxmlformats.org/drawingml/2006/main"/>
          <a:lstStyle xmlns:a="http://schemas.openxmlformats.org/drawingml/2006/main"/>
          <a:p xmlns:a="http://schemas.openxmlformats.org/drawingml/2006/main">
            <a:endParaRPr/>
          </a:p>
        </p:txBody>
      </p:sp>
      <p:sp>
        <p:nvSpPr>
          <p:cNvPr id="3" name="center-bottom-vertical">
            <a:extLst xmlns:a="http://schemas.openxmlformats.org/drawingml/2006/main">
              <a:ext uri="{FF2B5EF4-FFF2-40B4-BE49-F238E27FC236}">
                <a16:creationId xmlns:a16="http://schemas.microsoft.com/office/drawing/2014/main" id="{D3C6583A-243C-4B40-B28E-68DDCD8248EA}"/>
              </a:ext>
            </a:extLst>
          </p:cNvPr>
          <p:cNvSpPr>
            <a:spLocks xmlns:a="http://schemas.openxmlformats.org/drawingml/2006/main" noGrp="1"/>
          </p:cNvSpPr>
          <p:nvPr/>
        </p:nvSpPr>
        <p:spPr>
          <a:xfrm xmlns:a="http://schemas.openxmlformats.org/drawingml/2006/main">
            <a:off x="7620000" y="6410325"/>
            <a:ext cx="0" cy="1247775"/>
          </a:xfrm>
          <a:prstGeom xmlns:a="http://schemas.openxmlformats.org/drawingml/2006/main" prst="line">
            <a:avLst/>
          </a:prstGeom>
          <a:noFill xmlns:a="http://schemas.openxmlformats.org/drawingml/2006/main"/>
          <a:ln xmlns:a="http://schemas.openxmlformats.org/drawingml/2006/main" w="28575">
            <a:solidFill>
              <a:srgbClr val="004EA2"/>
            </a:solidFill>
            <a:prstDash val="solid"/>
          </a:ln>
        </p:spPr>
        <p:txBody>
          <a:bodyPr xmlns:a="http://schemas.openxmlformats.org/drawingml/2006/main"/>
          <a:lstStyle xmlns:a="http://schemas.openxmlformats.org/drawingml/2006/main"/>
          <a:p xmlns:a="http://schemas.openxmlformats.org/drawingml/2006/main">
            <a:endParaRPr/>
          </a:p>
        </p:txBody>
      </p:sp>
      <p:sp>
        <p:nvSpPr>
          <p:cNvPr id="4" name="title-panel">
            <a:extLst xmlns:a="http://schemas.openxmlformats.org/drawingml/2006/main">
              <a:ext uri="{FF2B5EF4-FFF2-40B4-BE49-F238E27FC236}">
                <a16:creationId xmlns:a16="http://schemas.microsoft.com/office/drawing/2014/main" id="{EE1DECE5-AA5E-4E34-834B-AD62B1CB03F9}"/>
              </a:ext>
            </a:extLst>
          </p:cNvPr>
          <p:cNvSpPr>
            <a:spLocks xmlns:a="http://schemas.openxmlformats.org/drawingml/2006/main" noGrp="1"/>
          </p:cNvSpPr>
          <p:nvPr/>
        </p:nvSpPr>
        <p:spPr>
          <a:xfrm xmlns:a="http://schemas.openxmlformats.org/drawingml/2006/main">
            <a:off x="3495675" y="2114550"/>
            <a:ext cx="8267700" cy="4295775"/>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5" name="title-panel-top">
            <a:extLst xmlns:a="http://schemas.openxmlformats.org/drawingml/2006/main">
              <a:ext uri="{FF2B5EF4-FFF2-40B4-BE49-F238E27FC236}">
                <a16:creationId xmlns:a16="http://schemas.microsoft.com/office/drawing/2014/main" id="{6C123102-52FB-43EB-A3A5-744861F98965}"/>
              </a:ext>
            </a:extLst>
          </p:cNvPr>
          <p:cNvSpPr>
            <a:spLocks xmlns:a="http://schemas.openxmlformats.org/drawingml/2006/main" noGrp="1"/>
          </p:cNvSpPr>
          <p:nvPr/>
        </p:nvSpPr>
        <p:spPr>
          <a:xfrm xmlns:a="http://schemas.openxmlformats.org/drawingml/2006/main">
            <a:off x="3495675" y="2114550"/>
            <a:ext cx="8267700" cy="0"/>
          </a:xfrm>
          <a:prstGeom xmlns:a="http://schemas.openxmlformats.org/drawingml/2006/main" prst="line">
            <a:avLst/>
          </a:prstGeom>
          <a:noFill xmlns:a="http://schemas.openxmlformats.org/drawingml/2006/main"/>
          <a:ln xmlns:a="http://schemas.openxmlformats.org/drawingml/2006/main" w="38100">
            <a:solidFill>
              <a:srgbClr val="004EA2"/>
            </a:solidFill>
            <a:prstDash val="solid"/>
          </a:ln>
        </p:spPr>
        <p:txBody>
          <a:bodyPr xmlns:a="http://schemas.openxmlformats.org/drawingml/2006/main"/>
          <a:lstStyle xmlns:a="http://schemas.openxmlformats.org/drawingml/2006/main"/>
          <a:p xmlns:a="http://schemas.openxmlformats.org/drawingml/2006/main">
            <a:endParaRPr/>
          </a:p>
        </p:txBody>
      </p:sp>
      <p:sp>
        <p:nvSpPr>
          <p:cNvPr id="7" name="cover-title-line1">
            <a:extLst xmlns:a="http://schemas.openxmlformats.org/drawingml/2006/main">
              <a:ext uri="{FF2B5EF4-FFF2-40B4-BE49-F238E27FC236}">
                <a16:creationId xmlns:a16="http://schemas.microsoft.com/office/drawing/2014/main" id="{4D06E463-555F-4ED7-A555-6F2BBA28E48F}"/>
              </a:ext>
            </a:extLst>
          </p:cNvPr>
          <p:cNvSpPr>
            <a:spLocks xmlns:a="http://schemas.openxmlformats.org/drawingml/2006/main" noGrp="1"/>
          </p:cNvSpPr>
          <p:nvPr/>
        </p:nvSpPr>
        <p:spPr>
          <a:xfrm xmlns:a="http://schemas.openxmlformats.org/drawingml/2006/main">
            <a:off x="4267200" y="3638550"/>
            <a:ext cx="6734175"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eaLnBrk="0">
              <a:buNone/>
              <a:defRPr sz="3525" b="1" i="0">
                <a:solidFill>
                  <a:srgbClr val="1B1F23"/>
                </a:solidFill>
                <a:latin typeface="Noto Sans KR"/>
                <a:ea typeface="Noto Sans KR"/>
                <a:cs typeface="Noto Sans KR"/>
              </a:defRPr>
            </a:pPr>
            <a:r>
              <a:rPr sz="4500" b="1" i="0">
                <a:solidFill>
                  <a:srgbClr val="1B1F23"/>
                </a:solidFill>
                <a:latin typeface="Noto Sans KR"/>
                <a:ea typeface="Noto Sans KR"/>
                <a:cs typeface="Noto Sans KR"/>
              </a:rPr>
              <a:t>감사합니다</a:t>
            </a:r>
          </a:p>
        </p:txBody>
      </p:sp>
      <p:sp>
        <p:nvSpPr>
          <p:cNvPr id="8" name="cover-title-line2">
            <a:extLst xmlns:a="http://schemas.openxmlformats.org/drawingml/2006/main">
              <a:ext uri="{FF2B5EF4-FFF2-40B4-BE49-F238E27FC236}">
                <a16:creationId xmlns:a16="http://schemas.microsoft.com/office/drawing/2014/main" id="{055E2330-B51B-4A73-961A-2CE79A60AD37}"/>
              </a:ext>
            </a:extLst>
          </p:cNvPr>
          <p:cNvSpPr>
            <a:spLocks xmlns:a="http://schemas.openxmlformats.org/drawingml/2006/main" noGrp="1"/>
          </p:cNvSpPr>
          <p:nvPr/>
        </p:nvSpPr>
        <p:spPr>
          <a:xfrm xmlns:a="http://schemas.openxmlformats.org/drawingml/2006/main">
            <a:off x="3952875" y="4438650"/>
            <a:ext cx="7381875"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eaLnBrk="0">
              <a:buNone/>
              <a:defRPr sz="2625" b="1">
                <a:solidFill>
                  <a:srgbClr val="1B1F23"/>
                </a:solidFill>
                <a:latin typeface="Noto Sans KR"/>
                <a:ea typeface="Noto Sans KR"/>
                <a:cs typeface="Noto Sans KR"/>
              </a:defRPr>
            </a:pPr>
            <a:r>
              <a:rPr sz="2775" b="1">
                <a:solidFill>
                  <a:srgbClr val="004EA2"/>
                </a:solidFill>
                <a:latin typeface="Noto Sans KR"/>
                <a:ea typeface="Noto Sans KR"/>
                <a:cs typeface="Noto Sans KR"/>
              </a:rPr>
              <a:t>데이터로 확인하고, 현장에서 완성합니다</a:t>
            </a:r>
          </a:p>
        </p:txBody>
      </p:sp>
      <p:sp>
        <p:nvSpPr>
          <p:cNvPr id="9" name="date-rule-left">
            <a:extLst xmlns:a="http://schemas.openxmlformats.org/drawingml/2006/main">
              <a:ext uri="{FF2B5EF4-FFF2-40B4-BE49-F238E27FC236}">
                <a16:creationId xmlns:a16="http://schemas.microsoft.com/office/drawing/2014/main" id="{ADF95A54-AD3A-46B3-8204-A4A4C1780876}"/>
              </a:ext>
            </a:extLst>
          </p:cNvPr>
          <p:cNvSpPr>
            <a:spLocks xmlns:a="http://schemas.openxmlformats.org/drawingml/2006/main" noGrp="1"/>
          </p:cNvSpPr>
          <p:nvPr/>
        </p:nvSpPr>
        <p:spPr>
          <a:xfrm xmlns:a="http://schemas.openxmlformats.org/drawingml/2006/main">
            <a:off x="4972050" y="5514975"/>
            <a:ext cx="419100" cy="0"/>
          </a:xfrm>
          <a:prstGeom xmlns:a="http://schemas.openxmlformats.org/drawingml/2006/main" prst="line">
            <a:avLst/>
          </a:prstGeom>
          <a:noFill xmlns:a="http://schemas.openxmlformats.org/drawingml/2006/main"/>
          <a:ln xmlns:a="http://schemas.openxmlformats.org/drawingml/2006/main" w="19050">
            <a:solidFill>
              <a:srgbClr val="00C1D4"/>
            </a:solidFill>
            <a:prstDash val="solid"/>
          </a:ln>
        </p:spPr>
        <p:txBody>
          <a:bodyPr xmlns:a="http://schemas.openxmlformats.org/drawingml/2006/main"/>
          <a:lstStyle xmlns:a="http://schemas.openxmlformats.org/drawingml/2006/main"/>
          <a:p xmlns:a="http://schemas.openxmlformats.org/drawingml/2006/main">
            <a:endParaRPr/>
          </a:p>
        </p:txBody>
      </p:sp>
      <p:sp>
        <p:nvSpPr>
          <p:cNvPr id="10" name="cover-date">
            <a:extLst xmlns:a="http://schemas.openxmlformats.org/drawingml/2006/main">
              <a:ext uri="{FF2B5EF4-FFF2-40B4-BE49-F238E27FC236}">
                <a16:creationId xmlns:a16="http://schemas.microsoft.com/office/drawing/2014/main" id="{D9CF49F9-166E-4877-8903-09E88A51BFD0}"/>
              </a:ext>
            </a:extLst>
          </p:cNvPr>
          <p:cNvSpPr>
            <a:spLocks xmlns:a="http://schemas.openxmlformats.org/drawingml/2006/main" noGrp="1"/>
          </p:cNvSpPr>
          <p:nvPr/>
        </p:nvSpPr>
        <p:spPr>
          <a:xfrm xmlns:a="http://schemas.openxmlformats.org/drawingml/2006/main">
            <a:off x="5524500" y="5334000"/>
            <a:ext cx="4191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eaLnBrk="0">
              <a:buNone/>
              <a:defRPr sz="1350" b="0" i="0">
                <a:solidFill>
                  <a:srgbClr val="1B1F23"/>
                </a:solidFill>
                <a:latin typeface="Noto Sans KR"/>
                <a:ea typeface="Noto Sans KR"/>
                <a:cs typeface="Noto Sans KR"/>
              </a:defRPr>
            </a:pPr>
            <a:r>
              <a:rPr sz="1575" b="0" i="0">
                <a:solidFill>
                  <a:srgbClr val="1B1F23"/>
                </a:solidFill>
                <a:latin typeface="Noto Sans KR"/>
                <a:ea typeface="Noto Sans KR"/>
                <a:cs typeface="Noto Sans KR"/>
              </a:rPr>
              <a:t>지역 관광 전략기획안</a:t>
            </a:r>
          </a:p>
        </p:txBody>
      </p:sp>
      <p:sp>
        <p:nvSpPr>
          <p:cNvPr id="11" name="date-rule-right">
            <a:extLst xmlns:a="http://schemas.openxmlformats.org/drawingml/2006/main">
              <a:ext uri="{FF2B5EF4-FFF2-40B4-BE49-F238E27FC236}">
                <a16:creationId xmlns:a16="http://schemas.microsoft.com/office/drawing/2014/main" id="{D63894DC-8857-4AFB-9D30-D40A61F1C100}"/>
              </a:ext>
            </a:extLst>
          </p:cNvPr>
          <p:cNvSpPr>
            <a:spLocks xmlns:a="http://schemas.openxmlformats.org/drawingml/2006/main" noGrp="1"/>
          </p:cNvSpPr>
          <p:nvPr/>
        </p:nvSpPr>
        <p:spPr>
          <a:xfrm xmlns:a="http://schemas.openxmlformats.org/drawingml/2006/main">
            <a:off x="9848850" y="5514975"/>
            <a:ext cx="419100" cy="0"/>
          </a:xfrm>
          <a:prstGeom xmlns:a="http://schemas.openxmlformats.org/drawingml/2006/main" prst="line">
            <a:avLst/>
          </a:prstGeom>
          <a:noFill xmlns:a="http://schemas.openxmlformats.org/drawingml/2006/main"/>
          <a:ln xmlns:a="http://schemas.openxmlformats.org/drawingml/2006/main" w="19050">
            <a:solidFill>
              <a:srgbClr val="00C1D4"/>
            </a:solidFill>
            <a:prstDash val="solid"/>
          </a:ln>
        </p:spPr>
        <p:txBody>
          <a:bodyPr xmlns:a="http://schemas.openxmlformats.org/drawingml/2006/main"/>
          <a:lstStyle xmlns:a="http://schemas.openxmlformats.org/drawingml/2006/main"/>
          <a:p xmlns:a="http://schemas.openxmlformats.org/drawingml/2006/main">
            <a:endParaRPr/>
          </a:p>
        </p:txBody>
      </p:sp>
      <p:sp>
        <p:nvSpPr>
          <p:cNvPr id="12" name="org-title">
            <a:extLst xmlns:a="http://schemas.openxmlformats.org/drawingml/2006/main">
              <a:ext uri="{FF2B5EF4-FFF2-40B4-BE49-F238E27FC236}">
                <a16:creationId xmlns:a16="http://schemas.microsoft.com/office/drawing/2014/main" id="{BFAE34B7-AC7B-4526-88A3-D8CECFF061B0}"/>
              </a:ext>
            </a:extLst>
          </p:cNvPr>
          <p:cNvSpPr>
            <a:spLocks xmlns:a="http://schemas.openxmlformats.org/drawingml/2006/main" noGrp="1"/>
          </p:cNvSpPr>
          <p:nvPr/>
        </p:nvSpPr>
        <p:spPr>
          <a:xfrm xmlns:a="http://schemas.openxmlformats.org/drawingml/2006/main">
            <a:off x="11858625" y="1009650"/>
            <a:ext cx="2381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eaLnBrk="0">
              <a:buNone/>
              <a:defRPr sz="1350" b="1" i="0">
                <a:solidFill>
                  <a:srgbClr val="004EA2"/>
                </a:solidFill>
                <a:latin typeface="Noto Sans KR"/>
                <a:ea typeface="Noto Sans KR"/>
                <a:cs typeface="Noto Sans KR"/>
              </a:defRPr>
            </a:pPr>
            <a:r>
              <a:rPr sz="1500" b="1" i="0">
                <a:solidFill>
                  <a:srgbClr val="004EA2"/>
                </a:solidFill>
                <a:latin typeface="Noto Sans KR"/>
                <a:ea typeface="Noto Sans KR"/>
                <a:cs typeface="Noto Sans KR"/>
              </a:rPr>
              <a:t>강원특별자치도 원주시</a:t>
            </a:r>
          </a:p>
        </p:txBody>
      </p:sp>
      <p:sp>
        <p:nvSpPr>
          <p:cNvPr id="13" name="org-orange-rule">
            <a:extLst xmlns:a="http://schemas.openxmlformats.org/drawingml/2006/main">
              <a:ext uri="{FF2B5EF4-FFF2-40B4-BE49-F238E27FC236}">
                <a16:creationId xmlns:a16="http://schemas.microsoft.com/office/drawing/2014/main" id="{284EC6E3-1D8E-4934-8C5E-B43BDD643630}"/>
              </a:ext>
            </a:extLst>
          </p:cNvPr>
          <p:cNvSpPr>
            <a:spLocks xmlns:a="http://schemas.openxmlformats.org/drawingml/2006/main" noGrp="1"/>
          </p:cNvSpPr>
          <p:nvPr/>
        </p:nvSpPr>
        <p:spPr>
          <a:xfrm xmlns:a="http://schemas.openxmlformats.org/drawingml/2006/main">
            <a:off x="13592175" y="1390650"/>
            <a:ext cx="647700" cy="0"/>
          </a:xfrm>
          <a:prstGeom xmlns:a="http://schemas.openxmlformats.org/drawingml/2006/main" prst="line">
            <a:avLst/>
          </a:prstGeom>
          <a:noFill xmlns:a="http://schemas.openxmlformats.org/drawingml/2006/main"/>
          <a:ln xmlns:a="http://schemas.openxmlformats.org/drawingml/2006/main" w="19050">
            <a:solidFill>
              <a:srgbClr val="FF6B00"/>
            </a:solidFill>
            <a:prstDash val="solid"/>
          </a:ln>
        </p:spPr>
        <p:txBody>
          <a:bodyPr xmlns:a="http://schemas.openxmlformats.org/drawingml/2006/main"/>
          <a:lstStyle xmlns:a="http://schemas.openxmlformats.org/drawingml/2006/main"/>
          <a:p xmlns:a="http://schemas.openxmlformats.org/drawingml/2006/main">
            <a:endParaRPr/>
          </a:p>
        </p:txBody>
      </p:sp>
      <p:sp>
        <p:nvSpPr>
          <p:cNvPr id="16" name="report-topic">
            <a:extLst xmlns:a="http://schemas.openxmlformats.org/drawingml/2006/main">
              <a:ext uri="{FF2B5EF4-FFF2-40B4-BE49-F238E27FC236}">
                <a16:creationId xmlns:a16="http://schemas.microsoft.com/office/drawing/2014/main" id="{79974288-A39D-407D-8F48-874FFA4095C1}"/>
              </a:ext>
            </a:extLst>
          </p:cNvPr>
          <p:cNvSpPr>
            <a:spLocks xmlns:a="http://schemas.openxmlformats.org/drawingml/2006/main" noGrp="1"/>
          </p:cNvSpPr>
          <p:nvPr/>
        </p:nvSpPr>
        <p:spPr>
          <a:xfrm xmlns:a="http://schemas.openxmlformats.org/drawingml/2006/main">
            <a:off x="1047750" y="6724650"/>
            <a:ext cx="3514725"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57150" tIns="38100" rIns="57150" bIns="38100" anchor="t">
            <a:noAutofit/>
          </a:bodyPr>
          <a:lstStyle xmlns:a="http://schemas.openxmlformats.org/drawingml/2006/main"/>
          <a:p xmlns:a="http://schemas.openxmlformats.org/drawingml/2006/main">
            <a:pPr algn="l" eaLnBrk="0">
              <a:lnSpc>
                <a:spcPts val="2625"/>
              </a:lnSpc>
              <a:spcBef>
                <a:spcPts val="0"/>
              </a:spcBef>
              <a:spcAft>
                <a:spcPts val="0"/>
              </a:spcAft>
              <a:buNone/>
              <a:defRPr sz="2325" b="1" i="0">
                <a:solidFill>
                  <a:srgbClr val="004EA2"/>
                </a:solidFill>
                <a:latin typeface="Noto Sans KR"/>
                <a:ea typeface="Noto Sans KR"/>
                <a:cs typeface="Noto Sans KR"/>
              </a:defRPr>
            </a:pPr>
            <a:r>
              <a:rPr sz="2100" b="1">
                <a:solidFill>
                  <a:srgbClr val="004EA2"/>
                </a:solidFill>
                <a:latin typeface="Noto Sans KR"/>
              </a:rPr>
              <a:t>원주시 지역사랑 휴가지원</a:t>
            </a:r>
          </a:p>
          <a:p xmlns:a="http://schemas.openxmlformats.org/drawingml/2006/main">
            <a:pPr eaLnBrk="0">
              <a:lnSpc>
                <a:spcPts val="2625"/>
              </a:lnSpc>
              <a:spcBef>
                <a:spcPts val="0"/>
              </a:spcBef>
              <a:spcAft>
                <a:spcPts val="0"/>
              </a:spcAft>
            </a:pPr>
            <a:r>
              <a:rPr sz="2100" b="1">
                <a:solidFill>
                  <a:srgbClr val="004EA2"/>
                </a:solidFill>
                <a:latin typeface="Noto Sans KR"/>
              </a:rPr>
              <a:t>(반값여행) 프로그램</a:t>
            </a:r>
          </a:p>
        </p:txBody>
      </p:sp>
      <p:sp>
        <p:nvSpPr>
          <p:cNvPr id="17" name="corner-tl-h">
            <a:extLst xmlns:a="http://schemas.openxmlformats.org/drawingml/2006/main">
              <a:ext uri="{FF2B5EF4-FFF2-40B4-BE49-F238E27FC236}">
                <a16:creationId xmlns:a16="http://schemas.microsoft.com/office/drawing/2014/main" id="{85098CA2-D674-4C13-AAED-97DC2B1668DD}"/>
              </a:ext>
            </a:extLst>
          </p:cNvPr>
          <p:cNvSpPr>
            <a:spLocks xmlns:a="http://schemas.openxmlformats.org/drawingml/2006/main" noGrp="1"/>
          </p:cNvSpPr>
          <p:nvPr/>
        </p:nvSpPr>
        <p:spPr>
          <a:xfrm xmlns:a="http://schemas.openxmlformats.org/drawingml/2006/main">
            <a:off x="647700" y="619125"/>
            <a:ext cx="295275" cy="0"/>
          </a:xfrm>
          <a:prstGeom xmlns:a="http://schemas.openxmlformats.org/drawingml/2006/main" prst="line">
            <a:avLst/>
          </a:prstGeom>
          <a:noFill xmlns:a="http://schemas.openxmlformats.org/drawingml/2006/main"/>
          <a:ln xmlns:a="http://schemas.openxmlformats.org/drawingml/2006/main" w="19050">
            <a:solidFill>
              <a:srgbClr val="00C1D4"/>
            </a:solidFill>
            <a:prstDash val="solid"/>
          </a:ln>
        </p:spPr>
        <p:txBody>
          <a:bodyPr xmlns:a="http://schemas.openxmlformats.org/drawingml/2006/main"/>
          <a:lstStyle xmlns:a="http://schemas.openxmlformats.org/drawingml/2006/main"/>
          <a:p xmlns:a="http://schemas.openxmlformats.org/drawingml/2006/main">
            <a:endParaRPr/>
          </a:p>
        </p:txBody>
      </p:sp>
      <p:sp>
        <p:nvSpPr>
          <p:cNvPr id="18" name="corner-tl-v">
            <a:extLst xmlns:a="http://schemas.openxmlformats.org/drawingml/2006/main">
              <a:ext uri="{FF2B5EF4-FFF2-40B4-BE49-F238E27FC236}">
                <a16:creationId xmlns:a16="http://schemas.microsoft.com/office/drawing/2014/main" id="{30186634-254F-4224-B08F-40BB6E5B3F86}"/>
              </a:ext>
            </a:extLst>
          </p:cNvPr>
          <p:cNvSpPr>
            <a:spLocks xmlns:a="http://schemas.openxmlformats.org/drawingml/2006/main" noGrp="1"/>
          </p:cNvSpPr>
          <p:nvPr/>
        </p:nvSpPr>
        <p:spPr>
          <a:xfrm xmlns:a="http://schemas.openxmlformats.org/drawingml/2006/main">
            <a:off x="647700" y="619125"/>
            <a:ext cx="0" cy="295275"/>
          </a:xfrm>
          <a:prstGeom xmlns:a="http://schemas.openxmlformats.org/drawingml/2006/main" prst="line">
            <a:avLst/>
          </a:prstGeom>
          <a:noFill xmlns:a="http://schemas.openxmlformats.org/drawingml/2006/main"/>
          <a:ln xmlns:a="http://schemas.openxmlformats.org/drawingml/2006/main" w="19050">
            <a:solidFill>
              <a:srgbClr val="00C1D4"/>
            </a:solidFill>
            <a:prstDash val="solid"/>
          </a:ln>
        </p:spPr>
        <p:txBody>
          <a:bodyPr xmlns:a="http://schemas.openxmlformats.org/drawingml/2006/main"/>
          <a:lstStyle xmlns:a="http://schemas.openxmlformats.org/drawingml/2006/main"/>
          <a:p xmlns:a="http://schemas.openxmlformats.org/drawingml/2006/main">
            <a:endParaRPr/>
          </a:p>
        </p:txBody>
      </p:sp>
      <p:sp>
        <p:nvSpPr>
          <p:cNvPr id="19" name="corner-br-h">
            <a:extLst xmlns:a="http://schemas.openxmlformats.org/drawingml/2006/main">
              <a:ext uri="{FF2B5EF4-FFF2-40B4-BE49-F238E27FC236}">
                <a16:creationId xmlns:a16="http://schemas.microsoft.com/office/drawing/2014/main" id="{95077333-21E3-42BF-9CBB-698C3BEE5E88}"/>
              </a:ext>
            </a:extLst>
          </p:cNvPr>
          <p:cNvSpPr>
            <a:spLocks xmlns:a="http://schemas.openxmlformats.org/drawingml/2006/main" noGrp="1"/>
          </p:cNvSpPr>
          <p:nvPr/>
        </p:nvSpPr>
        <p:spPr>
          <a:xfrm xmlns:a="http://schemas.openxmlformats.org/drawingml/2006/main">
            <a:off x="14582775" y="7943850"/>
            <a:ext cx="295275" cy="0"/>
          </a:xfrm>
          <a:prstGeom xmlns:a="http://schemas.openxmlformats.org/drawingml/2006/main" prst="line">
            <a:avLst/>
          </a:prstGeom>
          <a:noFill xmlns:a="http://schemas.openxmlformats.org/drawingml/2006/main"/>
          <a:ln xmlns:a="http://schemas.openxmlformats.org/drawingml/2006/main" w="19050">
            <a:solidFill>
              <a:srgbClr val="00C1D4"/>
            </a:solidFill>
            <a:prstDash val="solid"/>
          </a:ln>
        </p:spPr>
        <p:txBody>
          <a:bodyPr xmlns:a="http://schemas.openxmlformats.org/drawingml/2006/main"/>
          <a:lstStyle xmlns:a="http://schemas.openxmlformats.org/drawingml/2006/main"/>
          <a:p xmlns:a="http://schemas.openxmlformats.org/drawingml/2006/main">
            <a:endParaRPr/>
          </a:p>
        </p:txBody>
      </p:sp>
      <p:sp>
        <p:nvSpPr>
          <p:cNvPr id="20" name="corner-br-v">
            <a:extLst xmlns:a="http://schemas.openxmlformats.org/drawingml/2006/main">
              <a:ext uri="{FF2B5EF4-FFF2-40B4-BE49-F238E27FC236}">
                <a16:creationId xmlns:a16="http://schemas.microsoft.com/office/drawing/2014/main" id="{81015BD6-64EA-4BC0-A2BD-BDDA9641DC61}"/>
              </a:ext>
            </a:extLst>
          </p:cNvPr>
          <p:cNvSpPr>
            <a:spLocks xmlns:a="http://schemas.openxmlformats.org/drawingml/2006/main" noGrp="1"/>
          </p:cNvSpPr>
          <p:nvPr/>
        </p:nvSpPr>
        <p:spPr>
          <a:xfrm xmlns:a="http://schemas.openxmlformats.org/drawingml/2006/main">
            <a:off x="14878050" y="7648575"/>
            <a:ext cx="0" cy="295275"/>
          </a:xfrm>
          <a:prstGeom xmlns:a="http://schemas.openxmlformats.org/drawingml/2006/main" prst="line">
            <a:avLst/>
          </a:prstGeom>
          <a:noFill xmlns:a="http://schemas.openxmlformats.org/drawingml/2006/main"/>
          <a:ln xmlns:a="http://schemas.openxmlformats.org/drawingml/2006/main" w="19050">
            <a:solidFill>
              <a:srgbClr val="00C1D4"/>
            </a:solidFill>
            <a:prstDash val="solid"/>
          </a:ln>
        </p:spPr>
        <p:txBody>
          <a:bodyPr xmlns:a="http://schemas.openxmlformats.org/drawingml/2006/main"/>
          <a:lstStyle xmlns:a="http://schemas.openxmlformats.org/drawingml/2006/main"/>
          <a:p xmlns:a="http://schemas.openxmlformats.org/drawingml/2006/main">
            <a:endParaRPr/>
          </a:p>
        </p:txBody>
      </p:sp>
    </p:spTree>
    <p:extLst>
      <p:ext uri="{BB962C8B-B14F-4D97-AF65-F5344CB8AC3E}">
        <p14:creationId xmlns:p14="http://schemas.microsoft.com/office/powerpoint/2010/main" val="655411831"/>
      </p:ext>
    </p:extLst>
  </p:cSld>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4F7FA"/>
        </a:solidFill>
        <a:effectLst/>
      </p:bgPr>
    </p:bg>
    <p:spTree>
      <p:nvGrpSpPr>
        <p:cNvPr id="1" name=""/>
        <p:cNvGrpSpPr/>
        <p:nvPr/>
      </p:nvGrpSpPr>
      <p:grpSpPr/>
      <p:sp>
        <p:nvSpPr>
          <p:cNvPr id="2" name="title"/>
          <p:cNvSpPr txBox="1"/>
          <p:nvPr/>
        </p:nvSpPr>
        <p:spPr>
          <a:xfrm>
            <a:off x="952500" y="714375"/>
            <a:ext cx="13335000" cy="809625"/>
          </a:xfrm>
          <a:prstGeom prst="rect">
            <a:avLst/>
          </a:prstGeom>
          <a:noFill/>
        </p:spPr>
        <p:txBody>
          <a:bodyPr wrap="none" lIns="57150" rIns="57150" tIns="38100" bIns="38100" anchor="t">
            <a:noAutofit/>
          </a:bodyPr>
          <a:lstStyle/>
          <a:p>
            <a:pPr eaLnBrk="0">
              <a:lnSpc>
                <a:spcPts val="4500"/>
              </a:lnSpc>
              <a:spcBef>
                <a:spcPts val="0"/>
              </a:spcBef>
              <a:spcAft>
                <a:spcPts val="0"/>
              </a:spcAft>
            </a:pPr>
            <a:r>
              <a:rPr sz="3600" b="1">
                <a:solidFill>
                  <a:srgbClr val="004EA2"/>
                </a:solidFill>
                <a:latin typeface="Noto Sans KR"/>
              </a:rPr>
              <a:t>근거·데이터·출처</a:t>
            </a:r>
          </a:p>
        </p:txBody>
      </p:sp>
      <p:sp>
        <p:nvSpPr>
          <p:cNvPr id="3" name="title-rule"/>
          <p:cNvSpPr/>
          <p:nvPr/>
        </p:nvSpPr>
        <p:spPr>
          <a:xfrm>
            <a:off x="1009650" y="1724025"/>
            <a:ext cx="13220700" cy="28575"/>
          </a:xfrm>
          <a:prstGeom prst="rect">
            <a:avLst/>
          </a:prstGeom>
          <a:solidFill>
            <a:srgbClr val="004E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subtitle"/>
          <p:cNvSpPr txBox="1"/>
          <p:nvPr/>
        </p:nvSpPr>
        <p:spPr>
          <a:xfrm>
            <a:off x="1009650" y="1885950"/>
            <a:ext cx="13220700" cy="619125"/>
          </a:xfrm>
          <a:prstGeom prst="rect">
            <a:avLst/>
          </a:prstGeom>
          <a:noFill/>
        </p:spPr>
        <p:txBody>
          <a:bodyPr wrap="none" lIns="57150" rIns="57150" tIns="38100" bIns="38100" anchor="t">
            <a:noAutofit/>
          </a:bodyPr>
          <a:lstStyle/>
          <a:p>
            <a:pPr eaLnBrk="0">
              <a:lnSpc>
                <a:spcPts val="1781"/>
              </a:lnSpc>
              <a:spcBef>
                <a:spcPts val="0"/>
              </a:spcBef>
              <a:spcAft>
                <a:spcPts val="0"/>
              </a:spcAft>
            </a:pPr>
            <a:r>
              <a:rPr sz="1425" b="0">
                <a:solidFill>
                  <a:srgbClr val="59636E"/>
                </a:solidFill>
                <a:latin typeface="Noto Sans KR"/>
              </a:rPr>
              <a:t>전체 자료명과 머신러닝 모델 2/3 · 파란 자료명을 누르면 원문으로 이동합니다.</a:t>
            </a:r>
          </a:p>
          <a:p>
            <a:pPr eaLnBrk="0">
              <a:lnSpc>
                <a:spcPts val="1781"/>
              </a:lnSpc>
              <a:spcBef>
                <a:spcPts val="0"/>
              </a:spcBef>
              <a:spcAft>
                <a:spcPts val="0"/>
              </a:spcAft>
            </a:pPr>
            <a:r>
              <a:rPr sz="1425" b="0">
                <a:solidFill>
                  <a:srgbClr val="59636E"/>
                </a:solidFill>
                <a:latin typeface="Noto Sans KR"/>
              </a:rPr>
              <a:t>참고 전망: 방문자·소비액 모델의 검증 오차가 전년동월 기준선보다 큽니다. 예측거리·누락 범위의 해석 주의가 필요합니다.</a:t>
            </a:r>
          </a:p>
        </p:txBody>
      </p:sp>
      <p:sp>
        <p:nvSpPr>
          <p:cNvPr id="5" name="reference-0"/>
          <p:cNvSpPr txBox="1"/>
          <p:nvPr/>
        </p:nvSpPr>
        <p:spPr>
          <a:xfrm>
            <a:off x="1009650" y="2571750"/>
            <a:ext cx="4248150" cy="1000125"/>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r:id="rId2"/>
              </a:rPr>
              <a:t>관측 데이터 D20 한국관광 데이터랩 전국 빅데이터</a:t>
            </a:r>
          </a:p>
          <a:p>
            <a:pPr eaLnBrk="0">
              <a:lnSpc>
                <a:spcPts val="1687"/>
              </a:lnSpc>
              <a:spcBef>
                <a:spcPts val="0"/>
              </a:spcBef>
              <a:spcAft>
                <a:spcPts val="0"/>
              </a:spcAft>
            </a:pPr>
            <a:r>
              <a:rPr sz="1350" b="0" u="none">
                <a:solidFill>
                  <a:srgbClr val="004EA2"/>
                </a:solidFill>
                <a:latin typeface="Noto Sans KR"/>
                <a:hlinkClick r:id="rId2"/>
              </a:rPr>
              <a:t>다운로드 ·</a:t>
            </a:r>
          </a:p>
          <a:p>
            <a:pPr eaLnBrk="0">
              <a:lnSpc>
                <a:spcPts val="1687"/>
              </a:lnSpc>
              <a:spcBef>
                <a:spcPts val="0"/>
              </a:spcBef>
              <a:spcAft>
                <a:spcPts val="0"/>
              </a:spcAft>
            </a:pPr>
            <a:r>
              <a:rPr sz="1350" b="0" u="none">
                <a:solidFill>
                  <a:srgbClr val="004EA2"/>
                </a:solidFill>
                <a:latin typeface="Noto Sans KR"/>
                <a:hlinkClick r:id="rId2"/>
              </a:rPr>
              <a:t>이동통신/외국인/20260820141649_전국_202501-202512</a:t>
            </a:r>
          </a:p>
          <a:p>
            <a:pPr eaLnBrk="0">
              <a:lnSpc>
                <a:spcPts val="1687"/>
              </a:lnSpc>
              <a:spcBef>
                <a:spcPts val="0"/>
              </a:spcBef>
              <a:spcAft>
                <a:spcPts val="0"/>
              </a:spcAft>
            </a:pPr>
            <a:r>
              <a:rPr sz="1350" b="0" u="none">
                <a:solidFill>
                  <a:srgbClr val="004EA2"/>
                </a:solidFill>
                <a:latin typeface="Noto Sans KR"/>
                <a:hlinkClick r:id="rId2"/>
              </a:rPr>
              <a:t>_데이터랩_다운로드.zip 2026-01 ~ 2026-06</a:t>
            </a:r>
          </a:p>
        </p:txBody>
      </p:sp>
      <p:sp>
        <p:nvSpPr>
          <p:cNvPr id="6" name="reference-1"/>
          <p:cNvSpPr txBox="1"/>
          <p:nvPr/>
        </p:nvSpPr>
        <p:spPr>
          <a:xfrm>
            <a:off x="1009650" y="3600450"/>
            <a:ext cx="4248150" cy="1000125"/>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r:id="rId2"/>
              </a:rPr>
              <a:t>관측 데이터 D21 한국관광 데이터랩 전국 빅데이터</a:t>
            </a:r>
          </a:p>
          <a:p>
            <a:pPr eaLnBrk="0">
              <a:lnSpc>
                <a:spcPts val="1687"/>
              </a:lnSpc>
              <a:spcBef>
                <a:spcPts val="0"/>
              </a:spcBef>
              <a:spcAft>
                <a:spcPts val="0"/>
              </a:spcAft>
            </a:pPr>
            <a:r>
              <a:rPr sz="1350" b="0" u="none">
                <a:solidFill>
                  <a:srgbClr val="004EA2"/>
                </a:solidFill>
                <a:latin typeface="Noto Sans KR"/>
                <a:hlinkClick r:id="rId2"/>
              </a:rPr>
              <a:t>다운로드 · 신용카드/내국인/지역별</a:t>
            </a:r>
          </a:p>
          <a:p>
            <a:pPr eaLnBrk="0">
              <a:lnSpc>
                <a:spcPts val="1687"/>
              </a:lnSpc>
              <a:spcBef>
                <a:spcPts val="0"/>
              </a:spcBef>
              <a:spcAft>
                <a:spcPts val="0"/>
              </a:spcAft>
            </a:pPr>
            <a:r>
              <a:rPr sz="1350" b="0" u="none">
                <a:solidFill>
                  <a:srgbClr val="004EA2"/>
                </a:solidFill>
                <a:latin typeface="Noto Sans KR"/>
                <a:hlinkClick r:id="rId2"/>
              </a:rPr>
              <a:t>관광지출액/20260820135957__202501-202512_데이터랩</a:t>
            </a:r>
          </a:p>
          <a:p>
            <a:pPr eaLnBrk="0">
              <a:lnSpc>
                <a:spcPts val="1687"/>
              </a:lnSpc>
              <a:spcBef>
                <a:spcPts val="0"/>
              </a:spcBef>
              <a:spcAft>
                <a:spcPts val="0"/>
              </a:spcAft>
            </a:pPr>
            <a:r>
              <a:rPr sz="1350" b="0" u="none">
                <a:solidFill>
                  <a:srgbClr val="004EA2"/>
                </a:solidFill>
                <a:latin typeface="Noto Sans KR"/>
                <a:hlinkClick r:id="rId2"/>
              </a:rPr>
              <a:t>_다운로드.zip 2026-01 ~ 2026-06</a:t>
            </a:r>
          </a:p>
        </p:txBody>
      </p:sp>
      <p:sp>
        <p:nvSpPr>
          <p:cNvPr id="7" name="reference-2"/>
          <p:cNvSpPr txBox="1"/>
          <p:nvPr/>
        </p:nvSpPr>
        <p:spPr>
          <a:xfrm>
            <a:off x="1009650" y="4629150"/>
            <a:ext cx="4248150" cy="1000125"/>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r:id="rId2"/>
              </a:rPr>
              <a:t>관측 데이터 D22 한국관광 데이터랩 전국 빅데이터</a:t>
            </a:r>
          </a:p>
          <a:p>
            <a:pPr eaLnBrk="0">
              <a:lnSpc>
                <a:spcPts val="1687"/>
              </a:lnSpc>
              <a:spcBef>
                <a:spcPts val="0"/>
              </a:spcBef>
              <a:spcAft>
                <a:spcPts val="0"/>
              </a:spcAft>
            </a:pPr>
            <a:r>
              <a:rPr sz="1350" b="0" u="none">
                <a:solidFill>
                  <a:srgbClr val="004EA2"/>
                </a:solidFill>
                <a:latin typeface="Noto Sans KR"/>
                <a:hlinkClick r:id="rId2"/>
              </a:rPr>
              <a:t>다운로드 · 신용카드/외국인/지역별</a:t>
            </a:r>
          </a:p>
          <a:p>
            <a:pPr eaLnBrk="0">
              <a:lnSpc>
                <a:spcPts val="1687"/>
              </a:lnSpc>
              <a:spcBef>
                <a:spcPts val="0"/>
              </a:spcBef>
              <a:spcAft>
                <a:spcPts val="0"/>
              </a:spcAft>
            </a:pPr>
            <a:r>
              <a:rPr sz="1350" b="0" u="none">
                <a:solidFill>
                  <a:srgbClr val="004EA2"/>
                </a:solidFill>
                <a:latin typeface="Noto Sans KR"/>
                <a:hlinkClick r:id="rId2"/>
              </a:rPr>
              <a:t>관광지출액/20260820140409__202501-202512_데이터랩</a:t>
            </a:r>
          </a:p>
          <a:p>
            <a:pPr eaLnBrk="0">
              <a:lnSpc>
                <a:spcPts val="1687"/>
              </a:lnSpc>
              <a:spcBef>
                <a:spcPts val="0"/>
              </a:spcBef>
              <a:spcAft>
                <a:spcPts val="0"/>
              </a:spcAft>
            </a:pPr>
            <a:r>
              <a:rPr sz="1350" b="0" u="none">
                <a:solidFill>
                  <a:srgbClr val="004EA2"/>
                </a:solidFill>
                <a:latin typeface="Noto Sans KR"/>
                <a:hlinkClick r:id="rId2"/>
              </a:rPr>
              <a:t>_다운로드.zip 2026-01 ~ 2026-06</a:t>
            </a:r>
          </a:p>
        </p:txBody>
      </p:sp>
      <p:sp>
        <p:nvSpPr>
          <p:cNvPr id="8" name="reference-3"/>
          <p:cNvSpPr txBox="1"/>
          <p:nvPr/>
        </p:nvSpPr>
        <p:spPr>
          <a:xfrm>
            <a:off x="1009650" y="5657850"/>
            <a:ext cx="4248150" cy="1000125"/>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r:id="rId2"/>
              </a:rPr>
              <a:t>관측 데이터 D23 한국관광 데이터랩 전국 빅데이터</a:t>
            </a:r>
          </a:p>
          <a:p>
            <a:pPr eaLnBrk="0">
              <a:lnSpc>
                <a:spcPts val="1687"/>
              </a:lnSpc>
              <a:spcBef>
                <a:spcPts val="0"/>
              </a:spcBef>
              <a:spcAft>
                <a:spcPts val="0"/>
              </a:spcAft>
            </a:pPr>
            <a:r>
              <a:rPr sz="1350" b="0" u="none">
                <a:solidFill>
                  <a:srgbClr val="004EA2"/>
                </a:solidFill>
                <a:latin typeface="Noto Sans KR"/>
                <a:hlinkClick r:id="rId2"/>
              </a:rPr>
              <a:t>다운로드 · 네비게이션/지역별</a:t>
            </a:r>
          </a:p>
          <a:p>
            <a:pPr eaLnBrk="0">
              <a:lnSpc>
                <a:spcPts val="1687"/>
              </a:lnSpc>
              <a:spcBef>
                <a:spcPts val="0"/>
              </a:spcBef>
              <a:spcAft>
                <a:spcPts val="0"/>
              </a:spcAft>
            </a:pPr>
            <a:r>
              <a:rPr sz="1350" b="0" u="none">
                <a:solidFill>
                  <a:srgbClr val="004EA2"/>
                </a:solidFill>
                <a:latin typeface="Noto Sans KR"/>
                <a:hlinkClick r:id="rId2"/>
              </a:rPr>
              <a:t>검색건수/20260820132007__202501-202512_데이터랩_</a:t>
            </a:r>
          </a:p>
          <a:p>
            <a:pPr eaLnBrk="0">
              <a:lnSpc>
                <a:spcPts val="1687"/>
              </a:lnSpc>
              <a:spcBef>
                <a:spcPts val="0"/>
              </a:spcBef>
              <a:spcAft>
                <a:spcPts val="0"/>
              </a:spcAft>
            </a:pPr>
            <a:r>
              <a:rPr sz="1350" b="0" u="none">
                <a:solidFill>
                  <a:srgbClr val="004EA2"/>
                </a:solidFill>
                <a:latin typeface="Noto Sans KR"/>
                <a:hlinkClick r:id="rId2"/>
              </a:rPr>
              <a:t>다운로드.zip 2026-01 ~ 2026-06</a:t>
            </a:r>
          </a:p>
        </p:txBody>
      </p:sp>
      <p:sp>
        <p:nvSpPr>
          <p:cNvPr id="9" name="reference-4"/>
          <p:cNvSpPr txBox="1"/>
          <p:nvPr/>
        </p:nvSpPr>
        <p:spPr>
          <a:xfrm>
            <a:off x="1009650" y="6686550"/>
            <a:ext cx="4248150" cy="1000125"/>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r:id="rId2"/>
              </a:rPr>
              <a:t>관측 데이터 D24 한국관광 데이터랩 전국 빅데이터</a:t>
            </a:r>
          </a:p>
          <a:p>
            <a:pPr eaLnBrk="0">
              <a:lnSpc>
                <a:spcPts val="1687"/>
              </a:lnSpc>
              <a:spcBef>
                <a:spcPts val="0"/>
              </a:spcBef>
              <a:spcAft>
                <a:spcPts val="0"/>
              </a:spcAft>
            </a:pPr>
            <a:r>
              <a:rPr sz="1350" b="0" u="none">
                <a:solidFill>
                  <a:srgbClr val="004EA2"/>
                </a:solidFill>
                <a:latin typeface="Noto Sans KR"/>
                <a:hlinkClick r:id="rId2"/>
              </a:rPr>
              <a:t>다운로드 · 이동통신/내국인/지역별</a:t>
            </a:r>
          </a:p>
          <a:p>
            <a:pPr eaLnBrk="0">
              <a:lnSpc>
                <a:spcPts val="1687"/>
              </a:lnSpc>
              <a:spcBef>
                <a:spcPts val="0"/>
              </a:spcBef>
              <a:spcAft>
                <a:spcPts val="0"/>
              </a:spcAft>
            </a:pPr>
            <a:r>
              <a:rPr sz="1350" b="0" u="none">
                <a:solidFill>
                  <a:srgbClr val="004EA2"/>
                </a:solidFill>
                <a:latin typeface="Noto Sans KR"/>
                <a:hlinkClick r:id="rId2"/>
              </a:rPr>
              <a:t>방문자수/20260820140624__202401-202412_데이터랩_</a:t>
            </a:r>
          </a:p>
          <a:p>
            <a:pPr eaLnBrk="0">
              <a:lnSpc>
                <a:spcPts val="1687"/>
              </a:lnSpc>
              <a:spcBef>
                <a:spcPts val="0"/>
              </a:spcBef>
              <a:spcAft>
                <a:spcPts val="0"/>
              </a:spcAft>
            </a:pPr>
            <a:r>
              <a:rPr sz="1350" b="0" u="none">
                <a:solidFill>
                  <a:srgbClr val="004EA2"/>
                </a:solidFill>
                <a:latin typeface="Noto Sans KR"/>
                <a:hlinkClick r:id="rId2"/>
              </a:rPr>
              <a:t>다운로드.zip 2026-01 ~ 2026-06</a:t>
            </a:r>
          </a:p>
        </p:txBody>
      </p:sp>
      <p:sp>
        <p:nvSpPr>
          <p:cNvPr id="10" name="reference-5"/>
          <p:cNvSpPr txBox="1"/>
          <p:nvPr/>
        </p:nvSpPr>
        <p:spPr>
          <a:xfrm>
            <a:off x="5486400" y="2571750"/>
            <a:ext cx="4248150" cy="1000125"/>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r:id="rId2"/>
              </a:rPr>
              <a:t>관측 데이터 D25 한국관광 데이터랩 전국 빅데이터</a:t>
            </a:r>
          </a:p>
          <a:p>
            <a:pPr eaLnBrk="0">
              <a:lnSpc>
                <a:spcPts val="1687"/>
              </a:lnSpc>
              <a:spcBef>
                <a:spcPts val="0"/>
              </a:spcBef>
              <a:spcAft>
                <a:spcPts val="0"/>
              </a:spcAft>
            </a:pPr>
            <a:r>
              <a:rPr sz="1350" b="0" u="none">
                <a:solidFill>
                  <a:srgbClr val="004EA2"/>
                </a:solidFill>
                <a:latin typeface="Noto Sans KR"/>
                <a:hlinkClick r:id="rId2"/>
              </a:rPr>
              <a:t>다운로드 ·</a:t>
            </a:r>
          </a:p>
          <a:p>
            <a:pPr eaLnBrk="0">
              <a:lnSpc>
                <a:spcPts val="1687"/>
              </a:lnSpc>
              <a:spcBef>
                <a:spcPts val="0"/>
              </a:spcBef>
              <a:spcAft>
                <a:spcPts val="0"/>
              </a:spcAft>
            </a:pPr>
            <a:r>
              <a:rPr sz="1350" b="0" u="none">
                <a:solidFill>
                  <a:srgbClr val="004EA2"/>
                </a:solidFill>
                <a:latin typeface="Noto Sans KR"/>
                <a:hlinkClick r:id="rId2"/>
              </a:rPr>
              <a:t>이동통신/외국인/20260820141639_전국_202401-202412</a:t>
            </a:r>
          </a:p>
          <a:p>
            <a:pPr eaLnBrk="0">
              <a:lnSpc>
                <a:spcPts val="1687"/>
              </a:lnSpc>
              <a:spcBef>
                <a:spcPts val="0"/>
              </a:spcBef>
              <a:spcAft>
                <a:spcPts val="0"/>
              </a:spcAft>
            </a:pPr>
            <a:r>
              <a:rPr sz="1350" b="0" u="none">
                <a:solidFill>
                  <a:srgbClr val="004EA2"/>
                </a:solidFill>
                <a:latin typeface="Noto Sans KR"/>
                <a:hlinkClick r:id="rId2"/>
              </a:rPr>
              <a:t>_데이터랩_다운로드.zip 2026-01 ~ 2026-06</a:t>
            </a:r>
          </a:p>
        </p:txBody>
      </p:sp>
      <p:sp>
        <p:nvSpPr>
          <p:cNvPr id="11" name="reference-6"/>
          <p:cNvSpPr txBox="1"/>
          <p:nvPr/>
        </p:nvSpPr>
        <p:spPr>
          <a:xfrm>
            <a:off x="5486400" y="3600450"/>
            <a:ext cx="4248150" cy="57150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r:id="rId2"/>
              </a:rPr>
              <a:t>관측 데이터 D26 한국관광 데이터랩 지역별 관광 현황 · ·</a:t>
            </a:r>
          </a:p>
          <a:p>
            <a:pPr eaLnBrk="0">
              <a:lnSpc>
                <a:spcPts val="1687"/>
              </a:lnSpc>
              <a:spcBef>
                <a:spcPts val="0"/>
              </a:spcBef>
              <a:spcAft>
                <a:spcPts val="0"/>
              </a:spcAft>
            </a:pPr>
            <a:r>
              <a:rPr sz="1350" b="0" u="none">
                <a:solidFill>
                  <a:srgbClr val="004EA2"/>
                </a:solidFill>
                <a:latin typeface="Noto Sans KR"/>
                <a:hlinkClick r:id="rId2"/>
              </a:rPr>
              <a:t>유입유출 2025-07 ~ 2026-06</a:t>
            </a:r>
          </a:p>
        </p:txBody>
      </p:sp>
      <p:sp>
        <p:nvSpPr>
          <p:cNvPr id="12" name="reference-7"/>
          <p:cNvSpPr txBox="1"/>
          <p:nvPr/>
        </p:nvSpPr>
        <p:spPr>
          <a:xfrm>
            <a:off x="5486400" y="4200525"/>
            <a:ext cx="4248150" cy="57150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r:id="rId2"/>
              </a:rPr>
              <a:t>관측 데이터 D27 한국관광 데이터랩 지역별 관광 현황 · ·</a:t>
            </a:r>
          </a:p>
          <a:p>
            <a:pPr eaLnBrk="0">
              <a:lnSpc>
                <a:spcPts val="1687"/>
              </a:lnSpc>
              <a:spcBef>
                <a:spcPts val="0"/>
              </a:spcBef>
              <a:spcAft>
                <a:spcPts val="0"/>
              </a:spcAft>
            </a:pPr>
            <a:r>
              <a:rPr sz="1350" b="0" u="none">
                <a:solidFill>
                  <a:srgbClr val="004EA2"/>
                </a:solidFill>
                <a:latin typeface="Noto Sans KR"/>
                <a:hlinkClick r:id="rId2"/>
              </a:rPr>
              <a:t>지역집중률 2025-07 ~ 2026-06</a:t>
            </a:r>
          </a:p>
        </p:txBody>
      </p:sp>
      <p:sp>
        <p:nvSpPr>
          <p:cNvPr id="13" name="reference-8"/>
          <p:cNvSpPr txBox="1"/>
          <p:nvPr/>
        </p:nvSpPr>
        <p:spPr>
          <a:xfrm>
            <a:off x="5486400" y="4800600"/>
            <a:ext cx="4248150" cy="57150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r:id="rId2"/>
              </a:rPr>
              <a:t>관측 데이터 D28 한국관광 데이터랩 지역별 관광 현황 · ·</a:t>
            </a:r>
          </a:p>
          <a:p>
            <a:pPr eaLnBrk="0">
              <a:lnSpc>
                <a:spcPts val="1687"/>
              </a:lnSpc>
              <a:spcBef>
                <a:spcPts val="0"/>
              </a:spcBef>
              <a:spcAft>
                <a:spcPts val="0"/>
              </a:spcAft>
            </a:pPr>
            <a:r>
              <a:rPr sz="1350" b="0" u="none">
                <a:solidFill>
                  <a:srgbClr val="004EA2"/>
                </a:solidFill>
                <a:latin typeface="Noto Sans KR"/>
                <a:hlinkClick r:id="rId2"/>
              </a:rPr>
              <a:t>인기관광지 2025-07 ~ 2026-06</a:t>
            </a:r>
          </a:p>
        </p:txBody>
      </p:sp>
      <p:sp>
        <p:nvSpPr>
          <p:cNvPr id="14" name="reference-9"/>
          <p:cNvSpPr txBox="1"/>
          <p:nvPr/>
        </p:nvSpPr>
        <p:spPr>
          <a:xfrm>
            <a:off x="5486400" y="5400675"/>
            <a:ext cx="4248150" cy="57150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a:solidFill>
                  <a:srgbClr val="004EA2"/>
                </a:solidFill>
                <a:latin typeface="Noto Sans KR"/>
              </a:rPr>
              <a:t>머신러닝 예측치 방문자 수 RandomForestRegressor</a:t>
            </a:r>
          </a:p>
          <a:p>
            <a:pPr eaLnBrk="0">
              <a:lnSpc>
                <a:spcPts val="1687"/>
              </a:lnSpc>
              <a:spcBef>
                <a:spcPts val="0"/>
              </a:spcBef>
              <a:spcAft>
                <a:spcPts val="0"/>
              </a:spcAft>
            </a:pPr>
            <a:r>
              <a:rPr sz="1350" b="0">
                <a:solidFill>
                  <a:srgbClr val="004EA2"/>
                </a:solidFill>
                <a:latin typeface="Noto Sans KR"/>
              </a:rPr>
              <a:t>최종 월 2,632,315명</a:t>
            </a:r>
          </a:p>
        </p:txBody>
      </p:sp>
      <p:sp>
        <p:nvSpPr>
          <p:cNvPr id="15" name="reference-10"/>
          <p:cNvSpPr txBox="1"/>
          <p:nvPr/>
        </p:nvSpPr>
        <p:spPr>
          <a:xfrm>
            <a:off x="5486400" y="6000750"/>
            <a:ext cx="4248150" cy="57150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a:solidFill>
                  <a:srgbClr val="004EA2"/>
                </a:solidFill>
                <a:latin typeface="Noto Sans KR"/>
              </a:rPr>
              <a:t>머신러닝 예측치 관광소비액 LinearRegression</a:t>
            </a:r>
          </a:p>
          <a:p>
            <a:pPr eaLnBrk="0">
              <a:lnSpc>
                <a:spcPts val="1687"/>
              </a:lnSpc>
              <a:spcBef>
                <a:spcPts val="0"/>
              </a:spcBef>
              <a:spcAft>
                <a:spcPts val="0"/>
              </a:spcAft>
            </a:pPr>
            <a:r>
              <a:rPr sz="1350" b="0">
                <a:solidFill>
                  <a:srgbClr val="004EA2"/>
                </a:solidFill>
                <a:latin typeface="Noto Sans KR"/>
              </a:rPr>
              <a:t>최종 월 899.48억 원</a:t>
            </a:r>
          </a:p>
        </p:txBody>
      </p:sp>
      <p:sp>
        <p:nvSpPr>
          <p:cNvPr id="16" name="reference-11"/>
          <p:cNvSpPr txBox="1"/>
          <p:nvPr/>
        </p:nvSpPr>
        <p:spPr>
          <a:xfrm>
            <a:off x="5486400" y="6600825"/>
            <a:ext cx="4248150" cy="57150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a:solidFill>
                  <a:srgbClr val="004EA2"/>
                </a:solidFill>
                <a:latin typeface="Noto Sans KR"/>
              </a:rPr>
              <a:t>머신러닝 예측치 평균 체류시간 전년동월 계절</a:t>
            </a:r>
          </a:p>
          <a:p>
            <a:pPr eaLnBrk="0">
              <a:lnSpc>
                <a:spcPts val="1687"/>
              </a:lnSpc>
              <a:spcBef>
                <a:spcPts val="0"/>
              </a:spcBef>
              <a:spcAft>
                <a:spcPts val="0"/>
              </a:spcAft>
            </a:pPr>
            <a:r>
              <a:rPr sz="1350" b="0">
                <a:solidFill>
                  <a:srgbClr val="004EA2"/>
                </a:solidFill>
                <a:latin typeface="Noto Sans KR"/>
              </a:rPr>
              <a:t>기준선 최종 월 1,488분</a:t>
            </a:r>
          </a:p>
        </p:txBody>
      </p:sp>
      <p:sp>
        <p:nvSpPr>
          <p:cNvPr id="17" name="reference-12"/>
          <p:cNvSpPr txBox="1"/>
          <p:nvPr/>
        </p:nvSpPr>
        <p:spPr>
          <a:xfrm>
            <a:off x="5486400" y="7200900"/>
            <a:ext cx="4248150" cy="57150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a:solidFill>
                  <a:srgbClr val="004EA2"/>
                </a:solidFill>
                <a:latin typeface="Noto Sans KR"/>
              </a:rPr>
              <a:t>머신러닝 예측치 평균 숙박일수 LinearRegression</a:t>
            </a:r>
          </a:p>
          <a:p>
            <a:pPr eaLnBrk="0">
              <a:lnSpc>
                <a:spcPts val="1687"/>
              </a:lnSpc>
              <a:spcBef>
                <a:spcPts val="0"/>
              </a:spcBef>
              <a:spcAft>
                <a:spcPts val="0"/>
              </a:spcAft>
            </a:pPr>
            <a:r>
              <a:rPr sz="1350" b="0">
                <a:solidFill>
                  <a:srgbClr val="004EA2"/>
                </a:solidFill>
                <a:latin typeface="Noto Sans KR"/>
              </a:rPr>
              <a:t>최종 월 2.76일</a:t>
            </a:r>
          </a:p>
        </p:txBody>
      </p:sp>
      <p:sp>
        <p:nvSpPr>
          <p:cNvPr id="18" name="reference-13"/>
          <p:cNvSpPr txBox="1"/>
          <p:nvPr/>
        </p:nvSpPr>
        <p:spPr>
          <a:xfrm>
            <a:off x="9963150" y="2571750"/>
            <a:ext cx="4248150" cy="57150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a:solidFill>
                  <a:srgbClr val="004EA2"/>
                </a:solidFill>
                <a:latin typeface="Noto Sans KR"/>
              </a:rPr>
              <a:t>머신러닝 예측치 숙박방문자 비율 전년동월 계절</a:t>
            </a:r>
          </a:p>
          <a:p>
            <a:pPr eaLnBrk="0">
              <a:lnSpc>
                <a:spcPts val="1687"/>
              </a:lnSpc>
              <a:spcBef>
                <a:spcPts val="0"/>
              </a:spcBef>
              <a:spcAft>
                <a:spcPts val="0"/>
              </a:spcAft>
            </a:pPr>
            <a:r>
              <a:rPr sz="1350" b="0">
                <a:solidFill>
                  <a:srgbClr val="004EA2"/>
                </a:solidFill>
                <a:latin typeface="Noto Sans KR"/>
              </a:rPr>
              <a:t>기준선 최종 월 12%</a:t>
            </a:r>
          </a:p>
        </p:txBody>
      </p:sp>
      <p:sp>
        <p:nvSpPr>
          <p:cNvPr id="19" name="reference-14"/>
          <p:cNvSpPr txBox="1"/>
          <p:nvPr/>
        </p:nvSpPr>
        <p:spPr>
          <a:xfrm>
            <a:off x="9963150" y="3171825"/>
            <a:ext cx="4248150" cy="57150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a:solidFill>
                  <a:srgbClr val="004EA2"/>
                </a:solidFill>
                <a:latin typeface="Noto Sans KR"/>
              </a:rPr>
              <a:t>머신러닝 예측치 숙박 목적지 검색량</a:t>
            </a:r>
          </a:p>
          <a:p>
            <a:pPr eaLnBrk="0">
              <a:lnSpc>
                <a:spcPts val="1687"/>
              </a:lnSpc>
              <a:spcBef>
                <a:spcPts val="0"/>
              </a:spcBef>
              <a:spcAft>
                <a:spcPts val="0"/>
              </a:spcAft>
            </a:pPr>
            <a:r>
              <a:rPr sz="1350" b="0">
                <a:solidFill>
                  <a:srgbClr val="004EA2"/>
                </a:solidFill>
                <a:latin typeface="Noto Sans KR"/>
              </a:rPr>
              <a:t>RandomForestRegressor 최종 월 48,286건</a:t>
            </a:r>
          </a:p>
        </p:txBody>
      </p:sp>
      <p:sp>
        <p:nvSpPr>
          <p:cNvPr id="20" name="reference-15"/>
          <p:cNvSpPr txBox="1"/>
          <p:nvPr/>
        </p:nvSpPr>
        <p:spPr>
          <a:xfrm>
            <a:off x="9963150" y="3771900"/>
            <a:ext cx="4248150" cy="57150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a:solidFill>
                  <a:srgbClr val="004EA2"/>
                </a:solidFill>
                <a:latin typeface="Noto Sans KR"/>
              </a:rPr>
              <a:t>머신러닝 예측치 내비게이션 검색량 전년동월 계절</a:t>
            </a:r>
          </a:p>
          <a:p>
            <a:pPr eaLnBrk="0">
              <a:lnSpc>
                <a:spcPts val="1687"/>
              </a:lnSpc>
              <a:spcBef>
                <a:spcPts val="0"/>
              </a:spcBef>
              <a:spcAft>
                <a:spcPts val="0"/>
              </a:spcAft>
            </a:pPr>
            <a:r>
              <a:rPr sz="1350" b="0">
                <a:solidFill>
                  <a:srgbClr val="004EA2"/>
                </a:solidFill>
                <a:latin typeface="Noto Sans KR"/>
              </a:rPr>
              <a:t>기준선 최종 월 352,852건</a:t>
            </a:r>
          </a:p>
        </p:txBody>
      </p:sp>
      <p:sp>
        <p:nvSpPr>
          <p:cNvPr id="21" name="reference-16"/>
          <p:cNvSpPr txBox="1"/>
          <p:nvPr/>
        </p:nvSpPr>
        <p:spPr>
          <a:xfrm>
            <a:off x="9963150" y="4371975"/>
            <a:ext cx="4248150" cy="785812"/>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r:id="rId3"/>
              </a:rPr>
              <a:t>공식 사례·문서 D50 요즘, 한국관광 2호 - 지방공항 연계</a:t>
            </a:r>
          </a:p>
          <a:p>
            <a:pPr eaLnBrk="0">
              <a:lnSpc>
                <a:spcPts val="1687"/>
              </a:lnSpc>
              <a:spcBef>
                <a:spcPts val="0"/>
              </a:spcBef>
              <a:spcAft>
                <a:spcPts val="0"/>
              </a:spcAft>
            </a:pPr>
            <a:r>
              <a:rPr sz="1350" b="0" u="none">
                <a:solidFill>
                  <a:srgbClr val="004EA2"/>
                </a:solidFill>
                <a:latin typeface="Noto Sans KR"/>
                <a:hlinkClick r:id="rId3"/>
              </a:rPr>
              <a:t>지역관광 활성화 방안 · PDF 44쪽 외 9쪽 (10개</a:t>
            </a:r>
          </a:p>
          <a:p>
            <a:pPr eaLnBrk="0">
              <a:lnSpc>
                <a:spcPts val="1687"/>
              </a:lnSpc>
              <a:spcBef>
                <a:spcPts val="0"/>
              </a:spcBef>
              <a:spcAft>
                <a:spcPts val="0"/>
              </a:spcAft>
            </a:pPr>
            <a:r>
              <a:rPr sz="1350" b="0" u="none">
                <a:solidFill>
                  <a:srgbClr val="004EA2"/>
                </a:solidFill>
                <a:latin typeface="Noto Sans KR"/>
                <a:hlinkClick r:id="rId3"/>
              </a:rPr>
              <a:t>청크) datalab.visitkorea.or.kr</a:t>
            </a:r>
          </a:p>
        </p:txBody>
      </p:sp>
      <p:sp>
        <p:nvSpPr>
          <p:cNvPr id="22" name="reference-17"/>
          <p:cNvSpPr txBox="1"/>
          <p:nvPr/>
        </p:nvSpPr>
        <p:spPr>
          <a:xfrm>
            <a:off x="9963150" y="5186362"/>
            <a:ext cx="4248150" cy="57150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r:id="rId4"/>
              </a:rPr>
              <a:t>공식 사례·문서 D51 전주시 2026년도 관광산업과</a:t>
            </a:r>
          </a:p>
          <a:p>
            <a:pPr eaLnBrk="0">
              <a:lnSpc>
                <a:spcPts val="1687"/>
              </a:lnSpc>
              <a:spcBef>
                <a:spcPts val="0"/>
              </a:spcBef>
              <a:spcAft>
                <a:spcPts val="0"/>
              </a:spcAft>
            </a:pPr>
            <a:r>
              <a:rPr sz="1350" b="0" u="none">
                <a:solidFill>
                  <a:srgbClr val="004EA2"/>
                </a:solidFill>
                <a:latin typeface="Noto Sans KR"/>
                <a:hlinkClick r:id="rId4"/>
              </a:rPr>
              <a:t>세출예산 사업명세서 jeonju.go.kr</a:t>
            </a:r>
          </a:p>
        </p:txBody>
      </p:sp>
      <p:sp>
        <p:nvSpPr>
          <p:cNvPr id="23" name="reference-18"/>
          <p:cNvSpPr txBox="1"/>
          <p:nvPr/>
        </p:nvSpPr>
        <p:spPr>
          <a:xfrm>
            <a:off x="9963150" y="5786438"/>
            <a:ext cx="4248150" cy="57150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r:id="rId5"/>
              </a:rPr>
              <a:t>공식 사례·문서 D52 (기획) 인천을 즐기는 가장 쉬운(easy)</a:t>
            </a:r>
          </a:p>
          <a:p>
            <a:pPr eaLnBrk="0">
              <a:lnSpc>
                <a:spcPts val="1687"/>
              </a:lnSpc>
              <a:spcBef>
                <a:spcPts val="0"/>
              </a:spcBef>
              <a:spcAft>
                <a:spcPts val="0"/>
              </a:spcAft>
            </a:pPr>
            <a:r>
              <a:rPr sz="1350" b="0" u="none">
                <a:solidFill>
                  <a:srgbClr val="004EA2"/>
                </a:solidFill>
                <a:latin typeface="Noto Sans KR"/>
                <a:hlinkClick r:id="rId5"/>
              </a:rPr>
              <a:t>방법 인천e지 www.incheon.go.kr</a:t>
            </a:r>
          </a:p>
        </p:txBody>
      </p:sp>
      <p:sp>
        <p:nvSpPr>
          <p:cNvPr id="24" name="reference-19"/>
          <p:cNvSpPr txBox="1"/>
          <p:nvPr/>
        </p:nvSpPr>
        <p:spPr>
          <a:xfrm>
            <a:off x="9963150" y="6386512"/>
            <a:ext cx="4248150" cy="57150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r:id="rId6"/>
              </a:rPr>
              <a:t>공식 사례·문서 D53 2024년 6월 여행가는 달 추진</a:t>
            </a:r>
          </a:p>
          <a:p>
            <a:pPr eaLnBrk="0">
              <a:lnSpc>
                <a:spcPts val="1687"/>
              </a:lnSpc>
              <a:spcBef>
                <a:spcPts val="0"/>
              </a:spcBef>
              <a:spcAft>
                <a:spcPts val="0"/>
              </a:spcAft>
            </a:pPr>
            <a:r>
              <a:rPr sz="1350" b="0" u="none">
                <a:solidFill>
                  <a:srgbClr val="004EA2"/>
                </a:solidFill>
                <a:latin typeface="Noto Sans KR"/>
                <a:hlinkClick r:id="rId6"/>
              </a:rPr>
              <a:t>보도자료 mcst.go.kr</a:t>
            </a:r>
          </a:p>
        </p:txBody>
      </p:sp>
      <p:sp>
        <p:nvSpPr>
          <p:cNvPr id="25" name="reference-20"/>
          <p:cNvSpPr txBox="1"/>
          <p:nvPr/>
        </p:nvSpPr>
        <p:spPr>
          <a:xfrm>
            <a:off x="9963150" y="6986588"/>
            <a:ext cx="4248150" cy="57150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r:id="rId7"/>
              </a:rPr>
              <a:t>공식 사례·문서 D54 2022 대한민국 숙박대전</a:t>
            </a:r>
          </a:p>
          <a:p>
            <a:pPr eaLnBrk="0">
              <a:lnSpc>
                <a:spcPts val="1687"/>
              </a:lnSpc>
              <a:spcBef>
                <a:spcPts val="0"/>
              </a:spcBef>
              <a:spcAft>
                <a:spcPts val="0"/>
              </a:spcAft>
            </a:pPr>
            <a:r>
              <a:rPr sz="1350" b="0" u="none">
                <a:solidFill>
                  <a:srgbClr val="004EA2"/>
                </a:solidFill>
                <a:latin typeface="Noto Sans KR"/>
                <a:hlinkClick r:id="rId7"/>
              </a:rPr>
              <a:t>경제파급효과 공개자료 kto.visitkorea.or.kr</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4F7FA"/>
        </a:solidFill>
        <a:effectLst/>
      </p:bgPr>
    </p:bg>
    <p:spTree>
      <p:nvGrpSpPr>
        <p:cNvPr id="1" name=""/>
        <p:cNvGrpSpPr/>
        <p:nvPr/>
      </p:nvGrpSpPr>
      <p:grpSpPr/>
      <p:sp>
        <p:nvSpPr>
          <p:cNvPr id="2" name="title"/>
          <p:cNvSpPr txBox="1"/>
          <p:nvPr/>
        </p:nvSpPr>
        <p:spPr>
          <a:xfrm>
            <a:off x="952500" y="714375"/>
            <a:ext cx="13335000" cy="809625"/>
          </a:xfrm>
          <a:prstGeom prst="rect">
            <a:avLst/>
          </a:prstGeom>
          <a:noFill/>
        </p:spPr>
        <p:txBody>
          <a:bodyPr wrap="none" lIns="57150" rIns="57150" tIns="38100" bIns="38100" anchor="t">
            <a:noAutofit/>
          </a:bodyPr>
          <a:lstStyle/>
          <a:p>
            <a:pPr eaLnBrk="0">
              <a:lnSpc>
                <a:spcPts val="4500"/>
              </a:lnSpc>
              <a:spcBef>
                <a:spcPts val="0"/>
              </a:spcBef>
              <a:spcAft>
                <a:spcPts val="0"/>
              </a:spcAft>
            </a:pPr>
            <a:r>
              <a:rPr sz="3600" b="1">
                <a:solidFill>
                  <a:srgbClr val="004EA2"/>
                </a:solidFill>
                <a:latin typeface="Noto Sans KR"/>
              </a:rPr>
              <a:t>근거·데이터·출처</a:t>
            </a:r>
          </a:p>
        </p:txBody>
      </p:sp>
      <p:sp>
        <p:nvSpPr>
          <p:cNvPr id="3" name="title-rule"/>
          <p:cNvSpPr/>
          <p:nvPr/>
        </p:nvSpPr>
        <p:spPr>
          <a:xfrm>
            <a:off x="1009650" y="1724025"/>
            <a:ext cx="13220700" cy="28575"/>
          </a:xfrm>
          <a:prstGeom prst="rect">
            <a:avLst/>
          </a:prstGeom>
          <a:solidFill>
            <a:srgbClr val="004E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subtitle"/>
          <p:cNvSpPr txBox="1"/>
          <p:nvPr/>
        </p:nvSpPr>
        <p:spPr>
          <a:xfrm>
            <a:off x="1009650" y="1885950"/>
            <a:ext cx="13220700" cy="619125"/>
          </a:xfrm>
          <a:prstGeom prst="rect">
            <a:avLst/>
          </a:prstGeom>
          <a:noFill/>
        </p:spPr>
        <p:txBody>
          <a:bodyPr wrap="none" lIns="57150" rIns="57150" tIns="38100" bIns="38100" anchor="t">
            <a:noAutofit/>
          </a:bodyPr>
          <a:lstStyle/>
          <a:p>
            <a:pPr eaLnBrk="0">
              <a:lnSpc>
                <a:spcPts val="1781"/>
              </a:lnSpc>
              <a:spcBef>
                <a:spcPts val="0"/>
              </a:spcBef>
              <a:spcAft>
                <a:spcPts val="0"/>
              </a:spcAft>
            </a:pPr>
            <a:r>
              <a:rPr sz="1425" b="0">
                <a:solidFill>
                  <a:srgbClr val="59636E"/>
                </a:solidFill>
                <a:latin typeface="Noto Sans KR"/>
              </a:rPr>
              <a:t>전체 자료명과 머신러닝 모델 3/3 · 파란 자료명을 누르면 원문으로 이동합니다.</a:t>
            </a:r>
          </a:p>
          <a:p>
            <a:pPr eaLnBrk="0">
              <a:lnSpc>
                <a:spcPts val="1781"/>
              </a:lnSpc>
              <a:spcBef>
                <a:spcPts val="0"/>
              </a:spcBef>
              <a:spcAft>
                <a:spcPts val="0"/>
              </a:spcAft>
            </a:pPr>
            <a:r>
              <a:rPr sz="1425" b="0">
                <a:solidFill>
                  <a:srgbClr val="59636E"/>
                </a:solidFill>
                <a:latin typeface="Noto Sans KR"/>
              </a:rPr>
              <a:t>참고 전망: 방문자·소비액 모델의 검증 오차가 전년동월 기준선보다 큽니다. 예측거리·누락 범위의 해석 주의가 필요합니다.</a:t>
            </a:r>
          </a:p>
        </p:txBody>
      </p:sp>
      <p:sp>
        <p:nvSpPr>
          <p:cNvPr id="5" name="reference-0"/>
          <p:cNvSpPr txBox="1"/>
          <p:nvPr/>
        </p:nvSpPr>
        <p:spPr>
          <a:xfrm>
            <a:off x="1009650" y="2571750"/>
            <a:ext cx="4248150" cy="57150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r:id="rId2"/>
              </a:rPr>
              <a:t>공식 사례·문서 D55 한강 밤핑(Night+Camping)</a:t>
            </a:r>
          </a:p>
          <a:p>
            <a:pPr eaLnBrk="0">
              <a:lnSpc>
                <a:spcPts val="1687"/>
              </a:lnSpc>
              <a:spcBef>
                <a:spcPts val="0"/>
              </a:spcBef>
              <a:spcAft>
                <a:spcPts val="0"/>
              </a:spcAft>
            </a:pPr>
            <a:r>
              <a:rPr sz="1350" b="0" u="none">
                <a:solidFill>
                  <a:srgbClr val="004EA2"/>
                </a:solidFill>
                <a:latin typeface="Noto Sans KR"/>
                <a:hlinkClick r:id="rId2"/>
              </a:rPr>
              <a:t>행사·공연 정보 hangang.seoul.go.kr</a:t>
            </a:r>
          </a:p>
        </p:txBody>
      </p:sp>
      <p:sp>
        <p:nvSpPr>
          <p:cNvPr id="6" name="reference-1"/>
          <p:cNvSpPr txBox="1"/>
          <p:nvPr/>
        </p:nvSpPr>
        <p:spPr>
          <a:xfrm>
            <a:off x="1009650" y="3171825"/>
            <a:ext cx="4248150" cy="57150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r:id="rId3"/>
              </a:rPr>
              <a:t>공식 사례·문서 D56 강진 반값여행 지역경제 효과</a:t>
            </a:r>
          </a:p>
          <a:p>
            <a:pPr eaLnBrk="0">
              <a:lnSpc>
                <a:spcPts val="1687"/>
              </a:lnSpc>
              <a:spcBef>
                <a:spcPts val="0"/>
              </a:spcBef>
              <a:spcAft>
                <a:spcPts val="0"/>
              </a:spcAft>
            </a:pPr>
            <a:r>
              <a:rPr sz="1350" b="0" u="none">
                <a:solidFill>
                  <a:srgbClr val="004EA2"/>
                </a:solidFill>
                <a:latin typeface="Noto Sans KR"/>
                <a:hlinkClick r:id="rId3"/>
              </a:rPr>
              <a:t>소개 jnfarm.jeonnam.go.kr</a:t>
            </a:r>
          </a:p>
        </p:txBody>
      </p:sp>
      <p:sp>
        <p:nvSpPr>
          <p:cNvPr id="7" name="reference-2"/>
          <p:cNvSpPr txBox="1"/>
          <p:nvPr/>
        </p:nvSpPr>
        <p:spPr>
          <a:xfrm>
            <a:off x="1009650" y="3771900"/>
            <a:ext cx="4248150" cy="57150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r:id="rId4"/>
              </a:rPr>
              <a:t>공식 사례·문서 D57 지역사랑 휴가지원(반값여행) 신설 및</a:t>
            </a:r>
          </a:p>
          <a:p>
            <a:pPr eaLnBrk="0">
              <a:lnSpc>
                <a:spcPts val="1687"/>
              </a:lnSpc>
              <a:spcBef>
                <a:spcPts val="0"/>
              </a:spcBef>
              <a:spcAft>
                <a:spcPts val="0"/>
              </a:spcAft>
            </a:pPr>
            <a:r>
              <a:rPr sz="1350" b="0" u="none">
                <a:solidFill>
                  <a:srgbClr val="004EA2"/>
                </a:solidFill>
                <a:latin typeface="Noto Sans KR"/>
                <a:hlinkClick r:id="rId4"/>
              </a:rPr>
              <a:t>‘대한민국 반값여행’ 성과 분석 www.mcst.go.kr</a:t>
            </a:r>
          </a:p>
        </p:txBody>
      </p:sp>
      <p:sp>
        <p:nvSpPr>
          <p:cNvPr id="8" name="reference-3"/>
          <p:cNvSpPr txBox="1"/>
          <p:nvPr/>
        </p:nvSpPr>
        <p:spPr>
          <a:xfrm>
            <a:off x="1009650" y="4371975"/>
            <a:ext cx="4248150" cy="57150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r:id="rId5"/>
              </a:rPr>
              <a:t>공식 사례·문서 D58 2025 대한민국 밤밤페스타 개최 도시</a:t>
            </a:r>
          </a:p>
          <a:p>
            <a:pPr eaLnBrk="0">
              <a:lnSpc>
                <a:spcPts val="1687"/>
              </a:lnSpc>
              <a:spcBef>
                <a:spcPts val="0"/>
              </a:spcBef>
              <a:spcAft>
                <a:spcPts val="0"/>
              </a:spcAft>
            </a:pPr>
            <a:r>
              <a:rPr sz="1350" b="0" u="none">
                <a:solidFill>
                  <a:srgbClr val="004EA2"/>
                </a:solidFill>
                <a:latin typeface="Noto Sans KR"/>
                <a:hlinkClick r:id="rId5"/>
              </a:rPr>
              <a:t>및 일정 korean.visitkorea.or.kr</a:t>
            </a:r>
          </a:p>
        </p:txBody>
      </p:sp>
      <p:sp>
        <p:nvSpPr>
          <p:cNvPr id="9" name="reference-4"/>
          <p:cNvSpPr txBox="1"/>
          <p:nvPr/>
        </p:nvSpPr>
        <p:spPr>
          <a:xfrm>
            <a:off x="1009650" y="4972050"/>
            <a:ext cx="4248150" cy="428625"/>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r:id="rId6"/>
              </a:rPr>
              <a:t>관광자원·사진 D30 감악산캠핑숲</a:t>
            </a:r>
          </a:p>
        </p:txBody>
      </p:sp>
      <p:sp>
        <p:nvSpPr>
          <p:cNvPr id="10" name="reference-5"/>
          <p:cNvSpPr txBox="1"/>
          <p:nvPr/>
        </p:nvSpPr>
        <p:spPr>
          <a:xfrm>
            <a:off x="1009650" y="5429250"/>
            <a:ext cx="4248150" cy="57150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r:id="rId6"/>
              </a:rPr>
              <a:t>관광자원·사진 D31</a:t>
            </a:r>
          </a:p>
          <a:p>
            <a:pPr eaLnBrk="0">
              <a:lnSpc>
                <a:spcPts val="1687"/>
              </a:lnSpc>
              <a:spcBef>
                <a:spcPts val="0"/>
              </a:spcBef>
              <a:spcAft>
                <a:spcPts val="0"/>
              </a:spcAft>
            </a:pPr>
            <a:r>
              <a:rPr sz="1350" b="0" u="none">
                <a:solidFill>
                  <a:srgbClr val="004EA2"/>
                </a:solidFill>
                <a:latin typeface="Noto Sans KR"/>
                <a:hlinkClick r:id="rId6"/>
              </a:rPr>
              <a:t>강원감영관찰사·무릉고서화미술박물관</a:t>
            </a:r>
          </a:p>
        </p:txBody>
      </p:sp>
      <p:sp>
        <p:nvSpPr>
          <p:cNvPr id="11" name="reference-6"/>
          <p:cNvSpPr txBox="1"/>
          <p:nvPr/>
        </p:nvSpPr>
        <p:spPr>
          <a:xfrm>
            <a:off x="1009650" y="6029325"/>
            <a:ext cx="4248150" cy="428625"/>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r:id="rId6"/>
              </a:rPr>
              <a:t>관광자원·사진 D32 강원도힐링캠핑장</a:t>
            </a:r>
          </a:p>
        </p:txBody>
      </p:sp>
      <p:sp>
        <p:nvSpPr>
          <p:cNvPr id="12" name="reference-7"/>
          <p:cNvSpPr txBox="1"/>
          <p:nvPr/>
        </p:nvSpPr>
        <p:spPr>
          <a:xfrm>
            <a:off x="1009650" y="6486525"/>
            <a:ext cx="4248150" cy="428625"/>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r:id="rId6"/>
              </a:rPr>
              <a:t>관광자원·사진 D33 경천묘</a:t>
            </a:r>
          </a:p>
        </p:txBody>
      </p:sp>
      <p:sp>
        <p:nvSpPr>
          <p:cNvPr id="13" name="reference-8"/>
          <p:cNvSpPr txBox="1"/>
          <p:nvPr/>
        </p:nvSpPr>
        <p:spPr>
          <a:xfrm>
            <a:off x="1009650" y="6943725"/>
            <a:ext cx="4248150" cy="428625"/>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r:id="rId6"/>
              </a:rPr>
              <a:t>관광자원·사진 D34 고판화박물관</a:t>
            </a:r>
          </a:p>
        </p:txBody>
      </p:sp>
      <p:sp>
        <p:nvSpPr>
          <p:cNvPr id="14" name="reference-9"/>
          <p:cNvSpPr txBox="1"/>
          <p:nvPr/>
        </p:nvSpPr>
        <p:spPr>
          <a:xfrm>
            <a:off x="1009650" y="7400925"/>
            <a:ext cx="4248150" cy="428625"/>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r:id="rId6"/>
              </a:rPr>
              <a:t>관광자원·사진 D35 관음사·국형사계곡</a:t>
            </a:r>
          </a:p>
        </p:txBody>
      </p:sp>
      <p:sp>
        <p:nvSpPr>
          <p:cNvPr id="15" name="reference-10"/>
          <p:cNvSpPr txBox="1"/>
          <p:nvPr/>
        </p:nvSpPr>
        <p:spPr>
          <a:xfrm>
            <a:off x="5486400" y="2571750"/>
            <a:ext cx="4248150" cy="428625"/>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r:id="rId6"/>
              </a:rPr>
              <a:t>관광자원·사진 D36 광화문갈비 원주점</a:t>
            </a:r>
          </a:p>
        </p:txBody>
      </p:sp>
      <p:sp>
        <p:nvSpPr>
          <p:cNvPr id="16" name="reference-11"/>
          <p:cNvSpPr txBox="1"/>
          <p:nvPr/>
        </p:nvSpPr>
        <p:spPr>
          <a:xfrm>
            <a:off x="5486400" y="3028950"/>
            <a:ext cx="4248150" cy="428625"/>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r:id="rId6"/>
              </a:rPr>
              <a:t>관광자원·사진 D37 구 조선식산은행 원주지점</a:t>
            </a:r>
          </a:p>
        </p:txBody>
      </p:sp>
      <p:sp>
        <p:nvSpPr>
          <p:cNvPr id="17" name="reference-12"/>
          <p:cNvSpPr txBox="1"/>
          <p:nvPr/>
        </p:nvSpPr>
        <p:spPr>
          <a:xfrm>
            <a:off x="5486400" y="3486150"/>
            <a:ext cx="4248150" cy="428625"/>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r:id="rId6"/>
              </a:rPr>
              <a:t>관광자원·사진 D38 국형사</a:t>
            </a:r>
          </a:p>
        </p:txBody>
      </p:sp>
      <p:sp>
        <p:nvSpPr>
          <p:cNvPr id="18" name="reference-13"/>
          <p:cNvSpPr txBox="1"/>
          <p:nvPr/>
        </p:nvSpPr>
        <p:spPr>
          <a:xfrm>
            <a:off x="5486400" y="3943350"/>
            <a:ext cx="4248150" cy="428625"/>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r:id="rId6"/>
              </a:rPr>
              <a:t>관광자원·사진 D39 금대 에코힐링 캠핑장</a:t>
            </a:r>
          </a:p>
        </p:txBody>
      </p:sp>
      <p:sp>
        <p:nvSpPr>
          <p:cNvPr id="19" name="reference-14"/>
          <p:cNvSpPr txBox="1"/>
          <p:nvPr/>
        </p:nvSpPr>
        <p:spPr>
          <a:xfrm>
            <a:off x="5486400" y="4400550"/>
            <a:ext cx="4248150" cy="428625"/>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r:id="rId6"/>
              </a:rPr>
              <a:t>관광자원·사진 D40 금대계곡</a:t>
            </a:r>
          </a:p>
        </p:txBody>
      </p:sp>
      <p:sp>
        <p:nvSpPr>
          <p:cNvPr id="20" name="reference-15"/>
          <p:cNvSpPr txBox="1"/>
          <p:nvPr/>
        </p:nvSpPr>
        <p:spPr>
          <a:xfrm>
            <a:off x="5486400" y="4857750"/>
            <a:ext cx="4248150" cy="428625"/>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r:id="rId6"/>
              </a:rPr>
              <a:t>관광자원·사진 D41 금대자동차야영장</a:t>
            </a:r>
          </a:p>
        </p:txBody>
      </p:sp>
      <p:sp>
        <p:nvSpPr>
          <p:cNvPr id="21" name="reference-16"/>
          <p:cNvSpPr txBox="1"/>
          <p:nvPr/>
        </p:nvSpPr>
        <p:spPr>
          <a:xfrm>
            <a:off x="5486400" y="5314950"/>
            <a:ext cx="4248150" cy="428625"/>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r:id="rId6"/>
              </a:rPr>
              <a:t>관광자원·사진 D42 기후변화홍보관</a:t>
            </a:r>
          </a:p>
        </p:txBody>
      </p:sp>
      <p:sp>
        <p:nvSpPr>
          <p:cNvPr id="22" name="reference-17"/>
          <p:cNvSpPr txBox="1"/>
          <p:nvPr/>
        </p:nvSpPr>
        <p:spPr>
          <a:xfrm>
            <a:off x="5486400" y="5772150"/>
            <a:ext cx="4248150" cy="428625"/>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r:id="rId6"/>
              </a:rPr>
              <a:t>관광자원·사진 D43 김가네원주추어탕</a:t>
            </a:r>
          </a:p>
        </p:txBody>
      </p:sp>
      <p:sp>
        <p:nvSpPr>
          <p:cNvPr id="23" name="reference-18"/>
          <p:cNvSpPr txBox="1"/>
          <p:nvPr/>
        </p:nvSpPr>
        <p:spPr>
          <a:xfrm>
            <a:off x="5486400" y="6229350"/>
            <a:ext cx="4248150" cy="428625"/>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r:id="rId6"/>
              </a:rPr>
              <a:t>관광자원·사진 D44 김제남 신도비</a:t>
            </a:r>
          </a:p>
        </p:txBody>
      </p:sp>
      <p:sp>
        <p:nvSpPr>
          <p:cNvPr id="24" name="reference-19"/>
          <p:cNvSpPr txBox="1"/>
          <p:nvPr/>
        </p:nvSpPr>
        <p:spPr>
          <a:xfrm>
            <a:off x="5486400" y="6686550"/>
            <a:ext cx="4248150" cy="428625"/>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r:id="rId6"/>
              </a:rPr>
              <a:t>관광자원·사진 D45 넌스키 난보드</a:t>
            </a:r>
          </a:p>
        </p:txBody>
      </p:sp>
      <p:sp>
        <p:nvSpPr>
          <p:cNvPr id="25" name="reference-20"/>
          <p:cNvSpPr txBox="1"/>
          <p:nvPr/>
        </p:nvSpPr>
        <p:spPr>
          <a:xfrm>
            <a:off x="5486400" y="7143750"/>
            <a:ext cx="4248150" cy="428625"/>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r:id="rId6"/>
              </a:rPr>
              <a:t>관광자원·사진 D46 단관공원</a:t>
            </a:r>
          </a:p>
        </p:txBody>
      </p:sp>
      <p:sp>
        <p:nvSpPr>
          <p:cNvPr id="26" name="reference-21"/>
          <p:cNvSpPr txBox="1"/>
          <p:nvPr/>
        </p:nvSpPr>
        <p:spPr>
          <a:xfrm>
            <a:off x="5486400" y="7600950"/>
            <a:ext cx="4248150" cy="428625"/>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r:id="rId6"/>
              </a:rPr>
              <a:t>관광자원·사진 D47 동승루</a:t>
            </a:r>
          </a:p>
        </p:txBody>
      </p:sp>
      <p:sp>
        <p:nvSpPr>
          <p:cNvPr id="27" name="reference-22"/>
          <p:cNvSpPr txBox="1"/>
          <p:nvPr/>
        </p:nvSpPr>
        <p:spPr>
          <a:xfrm>
            <a:off x="9963150" y="2571750"/>
            <a:ext cx="4248150" cy="428625"/>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r:id="rId6"/>
              </a:rPr>
              <a:t>관광자원·사진 D48 들꽃가든</a:t>
            </a:r>
          </a:p>
        </p:txBody>
      </p:sp>
      <p:sp>
        <p:nvSpPr>
          <p:cNvPr id="28" name="reference-23"/>
          <p:cNvSpPr txBox="1"/>
          <p:nvPr/>
        </p:nvSpPr>
        <p:spPr>
          <a:xfrm>
            <a:off x="9963150" y="3028950"/>
            <a:ext cx="4248150" cy="428625"/>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r:id="rId6"/>
              </a:rPr>
              <a:t>관광자원·사진 D49 들꽃이야기</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4F7FA"/>
        </a:solidFill>
        <a:effectLst/>
      </p:bgPr>
    </p:bg>
    <p:spTree>
      <p:nvGrpSpPr>
        <p:cNvPr id="1" name=""/>
        <p:cNvGrpSpPr/>
        <p:nvPr/>
      </p:nvGrpSpPr>
      <p:grpSpPr/>
      <p:sp>
        <p:nvSpPr>
          <p:cNvPr id="2" name="title"/>
          <p:cNvSpPr txBox="1"/>
          <p:nvPr/>
        </p:nvSpPr>
        <p:spPr>
          <a:xfrm>
            <a:off x="952500" y="714375"/>
            <a:ext cx="13335000" cy="809625"/>
          </a:xfrm>
          <a:prstGeom prst="rect">
            <a:avLst/>
          </a:prstGeom>
          <a:noFill/>
        </p:spPr>
        <p:txBody>
          <a:bodyPr wrap="none" lIns="57150" rIns="57150" tIns="38100" bIns="38100" anchor="t">
            <a:noAutofit/>
          </a:bodyPr>
          <a:lstStyle/>
          <a:p>
            <a:pPr eaLnBrk="0">
              <a:lnSpc>
                <a:spcPts val="4500"/>
              </a:lnSpc>
              <a:spcBef>
                <a:spcPts val="0"/>
              </a:spcBef>
              <a:spcAft>
                <a:spcPts val="0"/>
              </a:spcAft>
            </a:pPr>
            <a:r>
              <a:rPr sz="3600" b="1">
                <a:solidFill>
                  <a:srgbClr val="004EA2"/>
                </a:solidFill>
                <a:latin typeface="Noto Sans KR"/>
              </a:rPr>
              <a:t>참고 사례 선정 근거</a:t>
            </a:r>
          </a:p>
        </p:txBody>
      </p:sp>
      <p:sp>
        <p:nvSpPr>
          <p:cNvPr id="3" name="title-rule"/>
          <p:cNvSpPr/>
          <p:nvPr/>
        </p:nvSpPr>
        <p:spPr>
          <a:xfrm>
            <a:off x="1009650" y="1724025"/>
            <a:ext cx="13220700" cy="28575"/>
          </a:xfrm>
          <a:prstGeom prst="rect">
            <a:avLst/>
          </a:prstGeom>
          <a:solidFill>
            <a:srgbClr val="004E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selection-case"/>
          <p:cNvSpPr txBox="1"/>
          <p:nvPr/>
        </p:nvSpPr>
        <p:spPr>
          <a:xfrm>
            <a:off x="1009650" y="1962150"/>
            <a:ext cx="13220700" cy="809625"/>
          </a:xfrm>
          <a:prstGeom prst="rect">
            <a:avLst/>
          </a:prstGeom>
          <a:noFill/>
        </p:spPr>
        <p:txBody>
          <a:bodyPr wrap="none" lIns="57150" rIns="57150" tIns="38100" bIns="38100" anchor="t">
            <a:noAutofit/>
          </a:bodyPr>
          <a:lstStyle/>
          <a:p>
            <a:pPr eaLnBrk="0">
              <a:lnSpc>
                <a:spcPts val="3000"/>
              </a:lnSpc>
              <a:spcBef>
                <a:spcPts val="0"/>
              </a:spcBef>
              <a:spcAft>
                <a:spcPts val="0"/>
              </a:spcAft>
            </a:pPr>
            <a:r>
              <a:rPr sz="2400" b="1">
                <a:solidFill>
                  <a:srgbClr val="004EA2"/>
                </a:solidFill>
                <a:latin typeface="Noto Sans KR"/>
              </a:rPr>
              <a:t>전라남도 강진군 · 반값여행 지역환급</a:t>
            </a:r>
          </a:p>
        </p:txBody>
      </p:sp>
      <p:sp>
        <p:nvSpPr>
          <p:cNvPr id="5" name="selection-intro"/>
          <p:cNvSpPr txBox="1"/>
          <p:nvPr/>
        </p:nvSpPr>
        <p:spPr>
          <a:xfrm>
            <a:off x="1009650" y="2809875"/>
            <a:ext cx="13220700" cy="666750"/>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0">
                <a:solidFill>
                  <a:srgbClr val="59636E"/>
                </a:solidFill>
                <a:latin typeface="Noto Sans KR"/>
              </a:rPr>
              <a:t>소비 혜택이 다시 지역 상점 이용으로 이어지는 구조를 이번 사업의 핵심으로 삼아 참고했습니다.</a:t>
            </a:r>
          </a:p>
        </p:txBody>
      </p:sp>
      <p:sp>
        <p:nvSpPr>
          <p:cNvPr id="6" name="selection-label-0"/>
          <p:cNvSpPr txBox="1"/>
          <p:nvPr/>
        </p:nvSpPr>
        <p:spPr>
          <a:xfrm>
            <a:off x="1009650" y="3686175"/>
            <a:ext cx="3143250" cy="838200"/>
          </a:xfrm>
          <a:prstGeom prst="rect">
            <a:avLst/>
          </a:prstGeom>
          <a:noFill/>
        </p:spPr>
        <p:txBody>
          <a:bodyPr wrap="none" lIns="57150" rIns="57150" tIns="38100" bIns="38100" anchor="t">
            <a:noAutofit/>
          </a:bodyPr>
          <a:lstStyle/>
          <a:p>
            <a:pPr eaLnBrk="0">
              <a:lnSpc>
                <a:spcPts val="2250"/>
              </a:lnSpc>
              <a:spcBef>
                <a:spcPts val="0"/>
              </a:spcBef>
              <a:spcAft>
                <a:spcPts val="0"/>
              </a:spcAft>
            </a:pPr>
            <a:r>
              <a:rPr sz="1800" b="1">
                <a:solidFill>
                  <a:srgbClr val="004EA2"/>
                </a:solidFill>
                <a:latin typeface="Noto Sans KR"/>
              </a:rPr>
              <a:t>기획 지역의 관측 현황</a:t>
            </a:r>
          </a:p>
        </p:txBody>
      </p:sp>
      <p:sp>
        <p:nvSpPr>
          <p:cNvPr id="7" name="selection-body-0"/>
          <p:cNvSpPr txBox="1"/>
          <p:nvPr/>
        </p:nvSpPr>
        <p:spPr>
          <a:xfrm>
            <a:off x="4419600" y="3686175"/>
            <a:ext cx="9810750" cy="942975"/>
          </a:xfrm>
          <a:prstGeom prst="rect">
            <a:avLst/>
          </a:prstGeom>
          <a:noFill/>
        </p:spPr>
        <p:txBody>
          <a:bodyPr wrap="none" lIns="57150" rIns="57150" tIns="38100" bIns="38100" anchor="t">
            <a:noAutofit/>
          </a:bodyPr>
          <a:lstStyle/>
          <a:p>
            <a:pPr eaLnBrk="0">
              <a:lnSpc>
                <a:spcPts val="2250"/>
              </a:lnSpc>
              <a:spcBef>
                <a:spcPts val="0"/>
              </a:spcBef>
              <a:spcAft>
                <a:spcPts val="0"/>
              </a:spcAft>
            </a:pPr>
            <a:r>
              <a:rPr sz="1800" b="0">
                <a:solidFill>
                  <a:srgbClr val="1D2227"/>
                </a:solidFill>
                <a:latin typeface="Noto Sans KR"/>
              </a:rPr>
              <a:t>월간 순 방문자 수: 2,285,734명 · 외지인 숙박 방문 비율: 12.5%</a:t>
            </a:r>
          </a:p>
        </p:txBody>
      </p:sp>
      <p:sp>
        <p:nvSpPr>
          <p:cNvPr id="8" name="selection-rule-0"/>
          <p:cNvSpPr/>
          <p:nvPr/>
        </p:nvSpPr>
        <p:spPr>
          <a:xfrm>
            <a:off x="1009650" y="4667250"/>
            <a:ext cx="13220700" cy="9525"/>
          </a:xfrm>
          <a:prstGeom prst="rect">
            <a:avLst/>
          </a:prstGeom>
          <a:solidFill>
            <a:srgbClr val="DCE5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selection-label-1"/>
          <p:cNvSpPr txBox="1"/>
          <p:nvPr/>
        </p:nvSpPr>
        <p:spPr>
          <a:xfrm>
            <a:off x="1009650" y="4762500"/>
            <a:ext cx="3143250" cy="838200"/>
          </a:xfrm>
          <a:prstGeom prst="rect">
            <a:avLst/>
          </a:prstGeom>
          <a:noFill/>
        </p:spPr>
        <p:txBody>
          <a:bodyPr wrap="none" lIns="57150" rIns="57150" tIns="38100" bIns="38100" anchor="t">
            <a:noAutofit/>
          </a:bodyPr>
          <a:lstStyle/>
          <a:p>
            <a:pPr eaLnBrk="0">
              <a:lnSpc>
                <a:spcPts val="2250"/>
              </a:lnSpc>
              <a:spcBef>
                <a:spcPts val="0"/>
              </a:spcBef>
              <a:spcAft>
                <a:spcPts val="0"/>
              </a:spcAft>
            </a:pPr>
            <a:r>
              <a:rPr sz="1800" b="1">
                <a:solidFill>
                  <a:srgbClr val="004EA2"/>
                </a:solidFill>
                <a:latin typeface="Noto Sans KR"/>
              </a:rPr>
              <a:t>공식 사례에서 참고한 방식</a:t>
            </a:r>
          </a:p>
        </p:txBody>
      </p:sp>
      <p:sp>
        <p:nvSpPr>
          <p:cNvPr id="10" name="selection-body-1"/>
          <p:cNvSpPr txBox="1"/>
          <p:nvPr/>
        </p:nvSpPr>
        <p:spPr>
          <a:xfrm>
            <a:off x="4419600" y="4762500"/>
            <a:ext cx="9810750" cy="942975"/>
          </a:xfrm>
          <a:prstGeom prst="rect">
            <a:avLst/>
          </a:prstGeom>
          <a:noFill/>
        </p:spPr>
        <p:txBody>
          <a:bodyPr wrap="none" lIns="57150" rIns="57150" tIns="38100" bIns="38100" anchor="t">
            <a:noAutofit/>
          </a:bodyPr>
          <a:lstStyle/>
          <a:p>
            <a:pPr eaLnBrk="0">
              <a:lnSpc>
                <a:spcPts val="2250"/>
              </a:lnSpc>
              <a:spcBef>
                <a:spcPts val="0"/>
              </a:spcBef>
              <a:spcAft>
                <a:spcPts val="0"/>
              </a:spcAft>
            </a:pPr>
            <a:r>
              <a:rPr sz="1800" b="0">
                <a:solidFill>
                  <a:srgbClr val="1D2227"/>
                </a:solidFill>
                <a:latin typeface="Noto Sans KR"/>
              </a:rPr>
              <a:t>여행자가 지역에서 지출한 비용의 일부를 지역상품권으로 돌려받게 하여 혜택이</a:t>
            </a:r>
          </a:p>
          <a:p>
            <a:pPr eaLnBrk="0">
              <a:lnSpc>
                <a:spcPts val="2250"/>
              </a:lnSpc>
              <a:spcBef>
                <a:spcPts val="0"/>
              </a:spcBef>
              <a:spcAft>
                <a:spcPts val="0"/>
              </a:spcAft>
            </a:pPr>
            <a:r>
              <a:rPr sz="1800" b="0">
                <a:solidFill>
                  <a:srgbClr val="1D2227"/>
                </a:solidFill>
                <a:latin typeface="Noto Sans KR"/>
              </a:rPr>
              <a:t>다시 지역 상점에서 사용되도록 설계</a:t>
            </a:r>
          </a:p>
        </p:txBody>
      </p:sp>
      <p:sp>
        <p:nvSpPr>
          <p:cNvPr id="11" name="selection-rule-1"/>
          <p:cNvSpPr/>
          <p:nvPr/>
        </p:nvSpPr>
        <p:spPr>
          <a:xfrm>
            <a:off x="1009650" y="5743575"/>
            <a:ext cx="13220700" cy="9525"/>
          </a:xfrm>
          <a:prstGeom prst="rect">
            <a:avLst/>
          </a:prstGeom>
          <a:solidFill>
            <a:srgbClr val="DCE5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selection-label-2"/>
          <p:cNvSpPr txBox="1"/>
          <p:nvPr/>
        </p:nvSpPr>
        <p:spPr>
          <a:xfrm>
            <a:off x="1009650" y="5838825"/>
            <a:ext cx="3143250" cy="838200"/>
          </a:xfrm>
          <a:prstGeom prst="rect">
            <a:avLst/>
          </a:prstGeom>
          <a:noFill/>
        </p:spPr>
        <p:txBody>
          <a:bodyPr wrap="none" lIns="57150" rIns="57150" tIns="38100" bIns="38100" anchor="t">
            <a:noAutofit/>
          </a:bodyPr>
          <a:lstStyle/>
          <a:p>
            <a:pPr eaLnBrk="0">
              <a:lnSpc>
                <a:spcPts val="2250"/>
              </a:lnSpc>
              <a:spcBef>
                <a:spcPts val="0"/>
              </a:spcBef>
              <a:spcAft>
                <a:spcPts val="0"/>
              </a:spcAft>
            </a:pPr>
            <a:r>
              <a:rPr sz="1800" b="1">
                <a:solidFill>
                  <a:srgbClr val="004EA2"/>
                </a:solidFill>
                <a:latin typeface="Noto Sans KR"/>
              </a:rPr>
              <a:t>이번 기획안에 적용한 부분</a:t>
            </a:r>
          </a:p>
        </p:txBody>
      </p:sp>
      <p:sp>
        <p:nvSpPr>
          <p:cNvPr id="13" name="selection-body-2"/>
          <p:cNvSpPr txBox="1"/>
          <p:nvPr/>
        </p:nvSpPr>
        <p:spPr>
          <a:xfrm>
            <a:off x="4419600" y="5838825"/>
            <a:ext cx="9810750" cy="942975"/>
          </a:xfrm>
          <a:prstGeom prst="rect">
            <a:avLst/>
          </a:prstGeom>
          <a:noFill/>
        </p:spPr>
        <p:txBody>
          <a:bodyPr wrap="none" lIns="57150" rIns="57150" tIns="38100" bIns="38100" anchor="t">
            <a:noAutofit/>
          </a:bodyPr>
          <a:lstStyle/>
          <a:p>
            <a:pPr eaLnBrk="0">
              <a:lnSpc>
                <a:spcPts val="2250"/>
              </a:lnSpc>
              <a:spcBef>
                <a:spcPts val="0"/>
              </a:spcBef>
              <a:spcAft>
                <a:spcPts val="0"/>
              </a:spcAft>
            </a:pPr>
            <a:r>
              <a:rPr sz="1800" b="0">
                <a:solidFill>
                  <a:srgbClr val="1D2227"/>
                </a:solidFill>
                <a:latin typeface="Noto Sans KR"/>
              </a:rPr>
              <a:t>여행자가 원주시 내에서 지출한 비용의 일부를 지역상품권으로 돌려받게 하여, 혜택이</a:t>
            </a:r>
          </a:p>
          <a:p>
            <a:pPr eaLnBrk="0">
              <a:lnSpc>
                <a:spcPts val="2250"/>
              </a:lnSpc>
              <a:spcBef>
                <a:spcPts val="0"/>
              </a:spcBef>
              <a:spcAft>
                <a:spcPts val="0"/>
              </a:spcAft>
            </a:pPr>
            <a:r>
              <a:rPr sz="1800" b="0">
                <a:solidFill>
                  <a:srgbClr val="1D2227"/>
                </a:solidFill>
                <a:latin typeface="Noto Sans KR"/>
              </a:rPr>
              <a:t>다시 지역 상점에서 사용되도록 설계</a:t>
            </a:r>
          </a:p>
        </p:txBody>
      </p:sp>
      <p:sp>
        <p:nvSpPr>
          <p:cNvPr id="14" name="selection-rule-2"/>
          <p:cNvSpPr/>
          <p:nvPr/>
        </p:nvSpPr>
        <p:spPr>
          <a:xfrm>
            <a:off x="1009650" y="6819900"/>
            <a:ext cx="13220700" cy="9525"/>
          </a:xfrm>
          <a:prstGeom prst="rect">
            <a:avLst/>
          </a:prstGeom>
          <a:solidFill>
            <a:srgbClr val="DCE5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selection-limit"/>
          <p:cNvSpPr txBox="1"/>
          <p:nvPr/>
        </p:nvSpPr>
        <p:spPr>
          <a:xfrm>
            <a:off x="1009650" y="7096125"/>
            <a:ext cx="13220700" cy="638175"/>
          </a:xfrm>
          <a:prstGeom prst="rect">
            <a:avLst/>
          </a:prstGeom>
          <a:noFill/>
        </p:spPr>
        <p:txBody>
          <a:bodyPr wrap="none" lIns="57150" rIns="57150" tIns="38100" bIns="38100" anchor="t">
            <a:noAutofit/>
          </a:bodyPr>
          <a:lstStyle/>
          <a:p>
            <a:pPr eaLnBrk="0">
              <a:lnSpc>
                <a:spcPts val="1968"/>
              </a:lnSpc>
              <a:spcBef>
                <a:spcPts val="0"/>
              </a:spcBef>
              <a:spcAft>
                <a:spcPts val="0"/>
              </a:spcAft>
            </a:pPr>
            <a:r>
              <a:rPr sz="1575" b="0">
                <a:solidFill>
                  <a:srgbClr val="59636E"/>
                </a:solidFill>
                <a:latin typeface="Noto Sans KR"/>
              </a:rPr>
              <a:t>해석 범위 · 이 사례의 선택은 인구·자연환경·교통이 같은 지역이라는 뜻이 아닙니다. 환경 유사성과 동일한 성과율을 입증한 비교는 아닙니다.</a:t>
            </a:r>
          </a:p>
        </p:txBody>
      </p:sp>
      <p:sp>
        <p:nvSpPr>
          <p:cNvPr id="16" name="selection-source"/>
          <p:cNvSpPr txBox="1"/>
          <p:nvPr/>
        </p:nvSpPr>
        <p:spPr>
          <a:xfrm>
            <a:off x="1009650" y="7848600"/>
            <a:ext cx="13220700" cy="457200"/>
          </a:xfrm>
          <a:prstGeom prst="rect">
            <a:avLst/>
          </a:prstGeom>
          <a:noFill/>
        </p:spPr>
        <p:txBody>
          <a:bodyPr wrap="none" lIns="57150" rIns="57150" tIns="38100" bIns="38100" anchor="t">
            <a:noAutofit/>
          </a:bodyPr>
          <a:lstStyle/>
          <a:p>
            <a:pPr eaLnBrk="0">
              <a:lnSpc>
                <a:spcPts val="1875"/>
              </a:lnSpc>
              <a:spcBef>
                <a:spcPts val="0"/>
              </a:spcBef>
              <a:spcAft>
                <a:spcPts val="0"/>
              </a:spcAft>
            </a:pPr>
            <a:r>
              <a:rPr sz="1500" b="0">
                <a:solidFill>
                  <a:srgbClr val="004EA2"/>
                </a:solidFill>
                <a:latin typeface="Noto Sans KR"/>
                <a:hlinkClick r:id="rId2"/>
              </a:rPr>
              <a:t>출처 · 강진 반값여행 지역경제 효과 소개</a:t>
            </a:r>
          </a:p>
        </p:txBody>
      </p:sp>
    </p:spTree>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2026-09-04T04:44:41.2670000Z</dcterms:created>
  <dcterms:modified xsi:type="dcterms:W3CDTF">2026-09-04T04:44:41.2670000Z</dcterms:modified>
</coreProperties>
</file>