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ns0="http://schemas.openxmlformats.org/officeDocument/2006/relationships" id="269" ns0:id="rId18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8" Type="http://schemas.openxmlformats.org/officeDocument/2006/relationships/slide" Target="slides/slide5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237.88097067</c:v>
                </c:pt>
                <c:pt idx="1">
                  <c:v>266.83802667</c:v>
                </c:pt>
                <c:pt idx="2">
                  <c:v>268.49613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80.0"/>
          <c:min val="22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677.17819047</c:v>
                </c:pt>
                <c:pt idx="1">
                  <c:v>856.08575162</c:v>
                </c:pt>
                <c:pt idx="2">
                  <c:v>926.46112005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0.0"/>
          <c:min val="60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방법 제안. 저장된 사업 내용에 맞춰 작성한 운영 절차이며 확정 협약이나 공식 지침이 아닙니다.</a:t>
            </a:r>
          </a:p>
          <a:p>
            <a:r>
              <a:t>{'kpi': '지역상품권 결제액 증가율 (분자: 사업 기간 내 상품권 결제액 / 분모: 전년 동기 상품권 결제액), 성공 기준: 전년 대비 20% 이상 증가 시 확대, 중단 기준: 전년 대비 20% 미만 증가 또는 재방문율 5% 미만 시', 'title': '원주 반값 여행 지역환급 모델 도입', 'budget': '지역상품권 발행 비용 + 환급 지원금 + 마케팅 비용 (공식 단가 및 참여 업체 규모에 따라 확정 필요)', 'evidence': 'case:gangjin_half_price_2024', 'priority': 1, 'solution': '원주시를 방문한 외지인이 지정된 업종(식당, 카페, 체험시설 등)에서 일정 금액 이상 지출 시, 지출액의 일부를 원주사랑상품권으로 즉시 환급해 주는 방식', 'timeframe': '2026-09 ~ 2026-11, 3개월', 'expected_effect': '정량적 효과는 확정할 수 없으나, [참여 외지인 수 × 환급 참여율 × 추가 지역 소비액] 산식을 통해 지역 내 순증 소비액을 검증할 예정임', 'problem_to_solve': '외지인 방문자 감소 및 지역 내 관광 소비 유도 필요', 'comparison_analysis': '강진군 사례(case:gangjin_half_price_2024)에서 지역상품권 결제액이 전년 대비 46% 증가한 성과를 참고함. 원주시의 높은 내비게이션 검색량을 실제 지역 내 결제로 연결하는 전략을 채택함.', 'implementation_steps': [{'step': 1, 'task': '참여 업체 모집 및 상품권 운영 체계 구축', 'schedule': '2026-09', 'deliverable': '참여 업체 명단 및 환급 프로세스 매뉴얼'}, {'step': 2, 'task': '지출 증빙 및 환급 시스템(모바일/키오스크) 준비', 'schedule': '2026-09', 'deliverable': '환급 시스템 테스트 결과 보고서'}, {'step': 3, 'task': '시범 운영 및 홍보 캠페인 실시', 'schedule': '2026-10', 'deliverable': '홍보물 및 시범 운영 데이터'}, {'step': 4, 'task': '집중 운영 및 실시간 모니터링', 'schedule': '2026-11', 'deliverable': '주간 결제 데이터 요약'}, {'step': 5, 'task': '성과 분석 및 차기 사업 검토', 'schedule': '2026-11', 'deliverable': '최종 성과 분석 보고서'}], 'visual_asset_source_ids': ['case:gangjin_half_price_2024']}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{</a:t>
            </a:r>
          </a:p>
          <a:p xmlns:a="http://schemas.openxmlformats.org/drawingml/2006/main">
            <a:r>
              <a:t>    "visitor_target_pct": 2,</a:t>
            </a:r>
          </a:p>
          <a:p xmlns:a="http://schemas.openxmlformats.org/drawingml/2006/main">
            <a:r>
              <a:t>    "spending_target_pct": 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 xmlns:a="http://schemas.openxmlformats.org/drawingml/2006/main">
        <p:nvSpPr>
          <p:cNvPr id="40" name="toc-0-0-number"/>
          <p:cNvSpPr txBox="1"/>
          <p:nvPr/>
        </p:nvSpPr>
        <p:spPr>
          <a:xfrm>
            <a:off x="5353050" y="30289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41" name="toc-0-0-label"/>
          <p:cNvSpPr txBox="1"/>
          <p:nvPr/>
        </p:nvSpPr>
        <p:spPr>
          <a:xfrm>
            <a:off x="5972175" y="30765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프로젝트 개요</a:t>
            </a:r>
          </a:p>
        </p:txBody>
      </p:sp>
      <p:sp xmlns:a="http://schemas.openxmlformats.org/drawingml/2006/main">
        <p:nvSpPr>
          <p:cNvPr id="42" name="toc-0-0-rule"/>
          <p:cNvSpPr/>
          <p:nvPr/>
        </p:nvSpPr>
        <p:spPr>
          <a:xfrm>
            <a:off x="5353050" y="36385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toc-0-1-number"/>
          <p:cNvSpPr txBox="1"/>
          <p:nvPr/>
        </p:nvSpPr>
        <p:spPr>
          <a:xfrm>
            <a:off x="5353050" y="385762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44" name="toc-0-1-label"/>
          <p:cNvSpPr txBox="1"/>
          <p:nvPr/>
        </p:nvSpPr>
        <p:spPr>
          <a:xfrm>
            <a:off x="5972175" y="390525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45" name="toc-0-1-rule"/>
          <p:cNvSpPr/>
          <p:nvPr/>
        </p:nvSpPr>
        <p:spPr>
          <a:xfrm>
            <a:off x="5353050" y="446722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toc-0-2-number"/>
          <p:cNvSpPr txBox="1"/>
          <p:nvPr/>
        </p:nvSpPr>
        <p:spPr>
          <a:xfrm>
            <a:off x="5353050" y="468630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47" name="toc-0-2-label"/>
          <p:cNvSpPr txBox="1"/>
          <p:nvPr/>
        </p:nvSpPr>
        <p:spPr>
          <a:xfrm>
            <a:off x="5972175" y="473392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48" name="toc-0-2-rule"/>
          <p:cNvSpPr/>
          <p:nvPr/>
        </p:nvSpPr>
        <p:spPr>
          <a:xfrm>
            <a:off x="5353050" y="529590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toc-0-3-number"/>
          <p:cNvSpPr txBox="1"/>
          <p:nvPr/>
        </p:nvSpPr>
        <p:spPr>
          <a:xfrm>
            <a:off x="5353050" y="551497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50" name="toc-0-3-label"/>
          <p:cNvSpPr txBox="1"/>
          <p:nvPr/>
        </p:nvSpPr>
        <p:spPr>
          <a:xfrm>
            <a:off x="5972175" y="556260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51" name="toc-0-3-rule"/>
          <p:cNvSpPr/>
          <p:nvPr/>
        </p:nvSpPr>
        <p:spPr>
          <a:xfrm>
            <a:off x="5353050" y="612457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oc-0-4-number"/>
          <p:cNvSpPr txBox="1"/>
          <p:nvPr/>
        </p:nvSpPr>
        <p:spPr>
          <a:xfrm>
            <a:off x="5353050" y="63436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05</a:t>
            </a:r>
          </a:p>
        </p:txBody>
      </p:sp>
      <p:sp xmlns:a="http://schemas.openxmlformats.org/drawingml/2006/main">
        <p:nvSpPr>
          <p:cNvPr id="53" name="toc-0-4-label"/>
          <p:cNvSpPr txBox="1"/>
          <p:nvPr/>
        </p:nvSpPr>
        <p:spPr>
          <a:xfrm>
            <a:off x="5972175" y="63912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세부 실행내역</a:t>
            </a:r>
          </a:p>
        </p:txBody>
      </p:sp>
      <p:sp xmlns:a="http://schemas.openxmlformats.org/drawingml/2006/main">
        <p:nvSpPr>
          <p:cNvPr id="54" name="toc-0-4-rule"/>
          <p:cNvSpPr/>
          <p:nvPr/>
        </p:nvSpPr>
        <p:spPr>
          <a:xfrm>
            <a:off x="5353050" y="69532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toc-1-0-number"/>
          <p:cNvSpPr txBox="1"/>
          <p:nvPr/>
        </p:nvSpPr>
        <p:spPr>
          <a:xfrm>
            <a:off x="10496550" y="30289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06</a:t>
            </a:r>
          </a:p>
        </p:txBody>
      </p:sp>
      <p:sp xmlns:a="http://schemas.openxmlformats.org/drawingml/2006/main">
        <p:nvSpPr>
          <p:cNvPr id="56" name="toc-1-0-label"/>
          <p:cNvSpPr txBox="1"/>
          <p:nvPr/>
        </p:nvSpPr>
        <p:spPr>
          <a:xfrm>
            <a:off x="11115675" y="30765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57" name="toc-1-0-rule"/>
          <p:cNvSpPr/>
          <p:nvPr/>
        </p:nvSpPr>
        <p:spPr>
          <a:xfrm>
            <a:off x="10496550" y="36385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toc-1-1-number"/>
          <p:cNvSpPr txBox="1"/>
          <p:nvPr/>
        </p:nvSpPr>
        <p:spPr>
          <a:xfrm>
            <a:off x="10496550" y="385762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07</a:t>
            </a:r>
          </a:p>
        </p:txBody>
      </p:sp>
      <p:sp xmlns:a="http://schemas.openxmlformats.org/drawingml/2006/main">
        <p:nvSpPr>
          <p:cNvPr id="59" name="toc-1-1-label"/>
          <p:cNvSpPr txBox="1"/>
          <p:nvPr/>
        </p:nvSpPr>
        <p:spPr>
          <a:xfrm>
            <a:off x="11115675" y="390525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60" name="toc-1-1-rule"/>
          <p:cNvSpPr/>
          <p:nvPr/>
        </p:nvSpPr>
        <p:spPr>
          <a:xfrm>
            <a:off x="10496550" y="446722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1" name="toc-1-2-number"/>
          <p:cNvSpPr txBox="1"/>
          <p:nvPr/>
        </p:nvSpPr>
        <p:spPr>
          <a:xfrm>
            <a:off x="10496550" y="468630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08</a:t>
            </a:r>
          </a:p>
        </p:txBody>
      </p:sp>
      <p:sp xmlns:a="http://schemas.openxmlformats.org/drawingml/2006/main">
        <p:nvSpPr>
          <p:cNvPr id="62" name="toc-1-2-label"/>
          <p:cNvSpPr txBox="1"/>
          <p:nvPr/>
        </p:nvSpPr>
        <p:spPr>
          <a:xfrm>
            <a:off x="11115675" y="473392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63" name="toc-1-2-rule"/>
          <p:cNvSpPr/>
          <p:nvPr/>
        </p:nvSpPr>
        <p:spPr>
          <a:xfrm>
            <a:off x="10496550" y="529590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4" name="toc-1-3-number"/>
          <p:cNvSpPr txBox="1"/>
          <p:nvPr/>
        </p:nvSpPr>
        <p:spPr>
          <a:xfrm>
            <a:off x="10496550" y="551497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09</a:t>
            </a:r>
          </a:p>
        </p:txBody>
      </p:sp>
      <p:sp xmlns:a="http://schemas.openxmlformats.org/drawingml/2006/main">
        <p:nvSpPr>
          <p:cNvPr id="65" name="toc-1-3-label"/>
          <p:cNvSpPr txBox="1"/>
          <p:nvPr/>
        </p:nvSpPr>
        <p:spPr>
          <a:xfrm>
            <a:off x="11115675" y="556260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 xmlns:a="http://schemas.openxmlformats.org/drawingml/2006/main">
        <p:nvSpPr>
          <p:cNvPr id="66" name="toc-1-3-rule"/>
          <p:cNvSpPr/>
          <p:nvPr/>
        </p:nvSpPr>
        <p:spPr>
          <a:xfrm>
            <a:off x="10496550" y="612457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811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811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방문객이 지역 내에서 지출한 금액의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일부를 지역상품권으로 돌려받는 방식으로,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혜택이 다시 지역 내 상점에서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548640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5486400" y="2057400"/>
            <a:ext cx="57150" cy="1971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565785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사업기간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565785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준비·협의 → 시범 운영 → 성과 확인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99631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99631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101346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101346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3개월 월별 합계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방문자 773만 명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관광소비액 2,460억 원</a:t>
            </a:r>
          </a:p>
        </p:txBody>
      </p:sp>
      <p:sp xmlns:a="http://schemas.openxmlformats.org/drawingml/2006/main">
        <p:nvSpPr>
          <p:cNvPr id="16" name="chart-panel-0"/>
          <p:cNvSpPr/>
          <p:nvPr/>
        </p:nvSpPr>
        <p:spPr>
          <a:xfrm>
            <a:off x="100965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chart-title-0"/>
          <p:cNvSpPr txBox="1"/>
          <p:nvPr/>
        </p:nvSpPr>
        <p:spPr>
          <a:xfrm>
            <a:off x="120015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18" name="comparison-chart-0"/>
          <p:cNvGraphicFramePr>
            <a:graphicFrameLocks noGrp="1"/>
          </p:cNvGraphicFramePr>
          <p:nvPr/>
        </p:nvGraphicFramePr>
        <p:xfrm>
          <a:off x="112395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comparison-chart-0-value-0-0"/>
          <p:cNvSpPr txBox="1"/>
          <p:nvPr/>
        </p:nvSpPr>
        <p:spPr>
          <a:xfrm>
            <a:off x="2222500" y="6393997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236만</a:t>
            </a:r>
          </a:p>
        </p:txBody>
      </p:sp>
      <p:sp xmlns:a="http://schemas.openxmlformats.org/drawingml/2006/main">
        <p:nvSpPr>
          <p:cNvPr id="20" name="comparison-chart-0-value-0-1"/>
          <p:cNvSpPr txBox="1"/>
          <p:nvPr/>
        </p:nvSpPr>
        <p:spPr>
          <a:xfrm>
            <a:off x="4038600" y="55622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1" name="comparison-chart-0-value-0-2"/>
          <p:cNvSpPr txBox="1"/>
          <p:nvPr/>
        </p:nvSpPr>
        <p:spPr>
          <a:xfrm>
            <a:off x="5854700" y="556517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2" name="comparison-chart-0-value-1-0"/>
          <p:cNvSpPr txBox="1"/>
          <p:nvPr/>
        </p:nvSpPr>
        <p:spPr>
          <a:xfrm>
            <a:off x="2222500" y="5954979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238만</a:t>
            </a:r>
          </a:p>
        </p:txBody>
      </p:sp>
      <p:sp xmlns:a="http://schemas.openxmlformats.org/drawingml/2006/main">
        <p:nvSpPr>
          <p:cNvPr id="23" name="comparison-chart-0-value-1-1"/>
          <p:cNvSpPr txBox="1"/>
          <p:nvPr/>
        </p:nvSpPr>
        <p:spPr>
          <a:xfrm>
            <a:off x="4038600" y="50636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267만</a:t>
            </a:r>
          </a:p>
        </p:txBody>
      </p:sp>
      <p:sp xmlns:a="http://schemas.openxmlformats.org/drawingml/2006/main">
        <p:nvSpPr>
          <p:cNvPr id="24" name="comparison-chart-0-value-1-2"/>
          <p:cNvSpPr txBox="1"/>
          <p:nvPr/>
        </p:nvSpPr>
        <p:spPr>
          <a:xfrm>
            <a:off x="5854700" y="501259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268만</a:t>
            </a:r>
          </a:p>
        </p:txBody>
      </p:sp>
      <p:sp xmlns:a="http://schemas.openxmlformats.org/drawingml/2006/main">
        <p:nvSpPr>
          <p:cNvPr id="25" name="chart-panel-1"/>
          <p:cNvSpPr/>
          <p:nvPr/>
        </p:nvSpPr>
        <p:spPr>
          <a:xfrm>
            <a:off x="781050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chart-title-1"/>
          <p:cNvSpPr txBox="1"/>
          <p:nvPr/>
        </p:nvSpPr>
        <p:spPr>
          <a:xfrm>
            <a:off x="800100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27" name="comparison-chart-1"/>
          <p:cNvGraphicFramePr>
            <a:graphicFrameLocks noGrp="1"/>
          </p:cNvGraphicFramePr>
          <p:nvPr/>
        </p:nvGraphicFramePr>
        <p:xfrm>
          <a:off x="792480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8" name="comparison-chart-1-value-0-0"/>
          <p:cNvSpPr txBox="1"/>
          <p:nvPr/>
        </p:nvSpPr>
        <p:spPr>
          <a:xfrm>
            <a:off x="9023350" y="663559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670억</a:t>
            </a:r>
          </a:p>
        </p:txBody>
      </p:sp>
      <p:sp xmlns:a="http://schemas.openxmlformats.org/drawingml/2006/main">
        <p:nvSpPr>
          <p:cNvPr id="29" name="comparison-chart-1-value-0-1"/>
          <p:cNvSpPr txBox="1"/>
          <p:nvPr/>
        </p:nvSpPr>
        <p:spPr>
          <a:xfrm>
            <a:off x="10839450" y="6011985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839억</a:t>
            </a:r>
          </a:p>
        </p:txBody>
      </p:sp>
      <p:sp xmlns:a="http://schemas.openxmlformats.org/drawingml/2006/main">
        <p:nvSpPr>
          <p:cNvPr id="30" name="comparison-chart-1-value-0-2"/>
          <p:cNvSpPr txBox="1"/>
          <p:nvPr/>
        </p:nvSpPr>
        <p:spPr>
          <a:xfrm>
            <a:off x="12655550" y="57897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899억</a:t>
            </a:r>
          </a:p>
        </p:txBody>
      </p:sp>
      <p:sp xmlns:a="http://schemas.openxmlformats.org/drawingml/2006/main">
        <p:nvSpPr>
          <p:cNvPr id="31" name="comparison-chart-1-value-1-0"/>
          <p:cNvSpPr txBox="1"/>
          <p:nvPr/>
        </p:nvSpPr>
        <p:spPr>
          <a:xfrm>
            <a:off x="9023350" y="62203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677억</a:t>
            </a:r>
          </a:p>
        </p:txBody>
      </p:sp>
      <p:sp xmlns:a="http://schemas.openxmlformats.org/drawingml/2006/main">
        <p:nvSpPr>
          <p:cNvPr id="32" name="comparison-chart-1-value-1-1"/>
          <p:cNvSpPr txBox="1"/>
          <p:nvPr/>
        </p:nvSpPr>
        <p:spPr>
          <a:xfrm>
            <a:off x="10839450" y="5559456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856억</a:t>
            </a:r>
          </a:p>
        </p:txBody>
      </p:sp>
      <p:sp xmlns:a="http://schemas.openxmlformats.org/drawingml/2006/main">
        <p:nvSpPr>
          <p:cNvPr id="33" name="comparison-chart-1-value-1-2"/>
          <p:cNvSpPr txBox="1"/>
          <p:nvPr/>
        </p:nvSpPr>
        <p:spPr>
          <a:xfrm>
            <a:off x="12655550" y="52995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FF6B00"/>
                </a:solidFill>
                <a:latin typeface="Noto Sans KR"/>
              </a:rPr>
              <a:t>926억</a:t>
            </a:r>
          </a:p>
        </p:txBody>
      </p:sp>
      <p:sp xmlns:a="http://schemas.openxmlformats.org/drawingml/2006/main">
        <p:nvSpPr>
          <p:cNvPr id="34" name="comparison-note"/>
          <p:cNvSpPr txBox="1"/>
          <p:nvPr/>
        </p:nvSpPr>
        <p:spPr>
          <a:xfrm>
            <a:off x="1009650" y="7724775"/>
            <a:ext cx="13220700" cy="6000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202401~202606 월별 방문·소비의 1·3·12개월 전 값과 계절 정보로 산출한 저장 전망입니다. 사업 미진행시 예측값은 참고값이며, 신규 사업 효과를 학습한 예측치가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세부 실행내역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ecution-intro"/>
          <p:cNvSpPr txBox="1"/>
          <p:nvPr/>
        </p:nvSpPr>
        <p:spPr>
          <a:xfrm>
            <a:off x="1009650" y="1943100"/>
            <a:ext cx="13220700" cy="5143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원주 반값 여행 지역환급 사업의 단계별 실행 방법입니다. 적용 조건은 담당자와 협의해 확정합니다.</a:t>
            </a:r>
          </a:p>
        </p:txBody>
      </p:sp>
      <p:sp>
        <p:nvSpPr>
          <p:cNvPr id="5" name="detail-rule-0"/>
          <p:cNvSpPr/>
          <p:nvPr/>
        </p:nvSpPr>
        <p:spPr>
          <a:xfrm>
            <a:off x="1009650" y="384810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tail-number-0"/>
          <p:cNvSpPr txBox="1"/>
          <p:nvPr/>
        </p:nvSpPr>
        <p:spPr>
          <a:xfrm>
            <a:off x="1028700" y="273367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>
        <p:nvSpPr>
          <p:cNvPr id="7" name="detail-stage-0"/>
          <p:cNvSpPr txBox="1"/>
          <p:nvPr/>
        </p:nvSpPr>
        <p:spPr>
          <a:xfrm>
            <a:off x="1847850" y="277177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준비와 협의</a:t>
            </a:r>
          </a:p>
        </p:txBody>
      </p:sp>
      <p:sp>
        <p:nvSpPr>
          <p:cNvPr id="8" name="detail-role-0"/>
          <p:cNvSpPr txBox="1"/>
          <p:nvPr/>
        </p:nvSpPr>
        <p:spPr>
          <a:xfrm>
            <a:off x="1847850" y="322897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사업 총괄</a:t>
            </a:r>
          </a:p>
        </p:txBody>
      </p:sp>
      <p:sp>
        <p:nvSpPr>
          <p:cNvPr id="9" name="detail-lead-0"/>
          <p:cNvSpPr txBox="1"/>
          <p:nvPr/>
        </p:nvSpPr>
        <p:spPr>
          <a:xfrm>
            <a:off x="4895850" y="270510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참여 가게와 지원 기준을 먼저 정합니다.</a:t>
            </a:r>
          </a:p>
        </p:txBody>
      </p:sp>
      <p:sp>
        <p:nvSpPr>
          <p:cNvPr id="10" name="detail-body-0"/>
          <p:cNvSpPr txBox="1"/>
          <p:nvPr/>
        </p:nvSpPr>
        <p:spPr>
          <a:xfrm>
            <a:off x="4895850" y="313372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참여를 희망하는 가게에 사용 가능한 상품권과 정산 방법을 확인합니다. 지원 대상, 인정할 지출, 신청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마감일과 1인당 한도를 정해 같은 안내문을 배포합니다.</a:t>
            </a:r>
          </a:p>
        </p:txBody>
      </p:sp>
      <p:sp>
        <p:nvSpPr>
          <p:cNvPr id="11" name="detail-rule-1"/>
          <p:cNvSpPr/>
          <p:nvPr/>
        </p:nvSpPr>
        <p:spPr>
          <a:xfrm>
            <a:off x="1009650" y="512445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tail-number-1"/>
          <p:cNvSpPr txBox="1"/>
          <p:nvPr/>
        </p:nvSpPr>
        <p:spPr>
          <a:xfrm>
            <a:off x="1028700" y="401002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>
        <p:nvSpPr>
          <p:cNvPr id="13" name="detail-stage-1"/>
          <p:cNvSpPr txBox="1"/>
          <p:nvPr/>
        </p:nvSpPr>
        <p:spPr>
          <a:xfrm>
            <a:off x="1847850" y="404812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운영 절차 점검</a:t>
            </a:r>
          </a:p>
        </p:txBody>
      </p:sp>
      <p:sp>
        <p:nvSpPr>
          <p:cNvPr id="14" name="detail-role-1"/>
          <p:cNvSpPr txBox="1"/>
          <p:nvPr/>
        </p:nvSpPr>
        <p:spPr>
          <a:xfrm>
            <a:off x="1847850" y="450532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운영·정산 담당</a:t>
            </a:r>
          </a:p>
        </p:txBody>
      </p:sp>
      <p:sp>
        <p:nvSpPr>
          <p:cNvPr id="15" name="detail-lead-1"/>
          <p:cNvSpPr txBox="1"/>
          <p:nvPr/>
        </p:nvSpPr>
        <p:spPr>
          <a:xfrm>
            <a:off x="4895850" y="398145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신청부터 지급까지 직접 시험합니다.</a:t>
            </a:r>
          </a:p>
        </p:txBody>
      </p:sp>
      <p:sp>
        <p:nvSpPr>
          <p:cNvPr id="16" name="detail-body-1"/>
          <p:cNvSpPr txBox="1"/>
          <p:nvPr/>
        </p:nvSpPr>
        <p:spPr>
          <a:xfrm>
            <a:off x="4895850" y="441007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시험 신청서를 넣고 영수증의 날짜·가게·금액을 확인합니다. 취소 결제와 중복 신청을 걸러내고, 서류가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부족할 때 누구에게 보완을 요청할지도 정합니다.</a:t>
            </a:r>
          </a:p>
        </p:txBody>
      </p:sp>
      <p:sp>
        <p:nvSpPr>
          <p:cNvPr id="17" name="detail-rule-2"/>
          <p:cNvSpPr/>
          <p:nvPr/>
        </p:nvSpPr>
        <p:spPr>
          <a:xfrm>
            <a:off x="1009650" y="640080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tail-number-2"/>
          <p:cNvSpPr txBox="1"/>
          <p:nvPr/>
        </p:nvSpPr>
        <p:spPr>
          <a:xfrm>
            <a:off x="1028700" y="528637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>
        <p:nvSpPr>
          <p:cNvPr id="19" name="detail-stage-2"/>
          <p:cNvSpPr txBox="1"/>
          <p:nvPr/>
        </p:nvSpPr>
        <p:spPr>
          <a:xfrm>
            <a:off x="1847850" y="532447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시범 운영</a:t>
            </a:r>
          </a:p>
        </p:txBody>
      </p:sp>
      <p:sp>
        <p:nvSpPr>
          <p:cNvPr id="20" name="detail-role-2"/>
          <p:cNvSpPr txBox="1"/>
          <p:nvPr/>
        </p:nvSpPr>
        <p:spPr>
          <a:xfrm>
            <a:off x="1847850" y="578167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현장 운영 담당</a:t>
            </a:r>
          </a:p>
        </p:txBody>
      </p:sp>
      <p:sp>
        <p:nvSpPr>
          <p:cNvPr id="21" name="detail-lead-2"/>
          <p:cNvSpPr txBox="1"/>
          <p:nvPr/>
        </p:nvSpPr>
        <p:spPr>
          <a:xfrm>
            <a:off x="4895850" y="525780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작게 시작하고 확인된 신청부터 지급합니다.</a:t>
            </a:r>
          </a:p>
        </p:txBody>
      </p:sp>
      <p:sp>
        <p:nvSpPr>
          <p:cNvPr id="22" name="detail-body-2"/>
          <p:cNvSpPr txBox="1"/>
          <p:nvPr/>
        </p:nvSpPr>
        <p:spPr>
          <a:xfrm>
            <a:off x="4895850" y="568642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참여 가게를 한정해 먼저 운영합니다. 담당자가 지출 증빙을 확인한 뒤 정해진 기준에 따라 환급하고,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신청자에게 지급일과 상품권 사용 방법을 알려줍니다.</a:t>
            </a:r>
          </a:p>
        </p:txBody>
      </p:sp>
      <p:sp>
        <p:nvSpPr>
          <p:cNvPr id="23" name="detail-rule-3"/>
          <p:cNvSpPr/>
          <p:nvPr/>
        </p:nvSpPr>
        <p:spPr>
          <a:xfrm>
            <a:off x="1009650" y="767715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tail-number-3"/>
          <p:cNvSpPr txBox="1"/>
          <p:nvPr/>
        </p:nvSpPr>
        <p:spPr>
          <a:xfrm>
            <a:off x="1028700" y="656272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>
        <p:nvSpPr>
          <p:cNvPr id="25" name="detail-stage-3"/>
          <p:cNvSpPr txBox="1"/>
          <p:nvPr/>
        </p:nvSpPr>
        <p:spPr>
          <a:xfrm>
            <a:off x="1847850" y="660082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실적 확인과 평가</a:t>
            </a:r>
          </a:p>
        </p:txBody>
      </p:sp>
      <p:sp>
        <p:nvSpPr>
          <p:cNvPr id="26" name="detail-role-3"/>
          <p:cNvSpPr txBox="1"/>
          <p:nvPr/>
        </p:nvSpPr>
        <p:spPr>
          <a:xfrm>
            <a:off x="1847850" y="705802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사업·평가 담당</a:t>
            </a:r>
          </a:p>
        </p:txBody>
      </p:sp>
      <p:sp>
        <p:nvSpPr>
          <p:cNvPr id="27" name="detail-lead-3"/>
          <p:cNvSpPr txBox="1"/>
          <p:nvPr/>
        </p:nvSpPr>
        <p:spPr>
          <a:xfrm>
            <a:off x="4895850" y="653415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지급 기록과 실제 사용 결과를 확인합니다.</a:t>
            </a:r>
          </a:p>
        </p:txBody>
      </p:sp>
      <p:sp>
        <p:nvSpPr>
          <p:cNvPr id="28" name="detail-body-3"/>
          <p:cNvSpPr txBox="1"/>
          <p:nvPr/>
        </p:nvSpPr>
        <p:spPr>
          <a:xfrm>
            <a:off x="4895850" y="696277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매주 신청·승인·지급 건수와 비용을 맞춰 봅니다. 상품권 사용 집계가 가능한지 운영사에 확인하고, 종료 후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취소를 뺀 실적을 정리합니다. 전체 관광소비 증가를 전부 사업 성과로 보지는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124075"/>
            <a:ext cx="6419850" cy="27622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case-number-0"/>
          <p:cNvSpPr txBox="1"/>
          <p:nvPr/>
        </p:nvSpPr>
        <p:spPr>
          <a:xfrm>
            <a:off x="120015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6" name="case-badge-0"/>
          <p:cNvSpPr txBox="1"/>
          <p:nvPr/>
        </p:nvSpPr>
        <p:spPr>
          <a:xfrm>
            <a:off x="194310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7" name="case-title-0"/>
          <p:cNvSpPr txBox="1"/>
          <p:nvPr/>
        </p:nvSpPr>
        <p:spPr>
          <a:xfrm>
            <a:off x="120015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8" name="case-body-0"/>
          <p:cNvSpPr txBox="1"/>
          <p:nvPr/>
        </p:nvSpPr>
        <p:spPr>
          <a:xfrm>
            <a:off x="120015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9" name="case-panel-1"/>
          <p:cNvSpPr/>
          <p:nvPr/>
        </p:nvSpPr>
        <p:spPr>
          <a:xfrm>
            <a:off x="7810500" y="2124075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case-number-1"/>
          <p:cNvSpPr txBox="1"/>
          <p:nvPr/>
        </p:nvSpPr>
        <p:spPr>
          <a:xfrm>
            <a:off x="800100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case-badge-1"/>
          <p:cNvSpPr txBox="1"/>
          <p:nvPr/>
        </p:nvSpPr>
        <p:spPr>
          <a:xfrm>
            <a:off x="874395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2" name="case-title-1"/>
          <p:cNvSpPr txBox="1"/>
          <p:nvPr/>
        </p:nvSpPr>
        <p:spPr>
          <a:xfrm>
            <a:off x="800100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3" name="case-body-1"/>
          <p:cNvSpPr txBox="1"/>
          <p:nvPr/>
        </p:nvSpPr>
        <p:spPr>
          <a:xfrm>
            <a:off x="800100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4" name="case-panel-2"/>
          <p:cNvSpPr/>
          <p:nvPr/>
        </p:nvSpPr>
        <p:spPr>
          <a:xfrm>
            <a:off x="100965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case-number-2"/>
          <p:cNvSpPr txBox="1"/>
          <p:nvPr/>
        </p:nvSpPr>
        <p:spPr>
          <a:xfrm>
            <a:off x="120015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6" name="case-badge-2"/>
          <p:cNvSpPr txBox="1"/>
          <p:nvPr/>
        </p:nvSpPr>
        <p:spPr>
          <a:xfrm>
            <a:off x="194310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7" name="case-title-2"/>
          <p:cNvSpPr txBox="1"/>
          <p:nvPr/>
        </p:nvSpPr>
        <p:spPr>
          <a:xfrm>
            <a:off x="120015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8" name="case-body-2"/>
          <p:cNvSpPr txBox="1"/>
          <p:nvPr/>
        </p:nvSpPr>
        <p:spPr>
          <a:xfrm>
            <a:off x="120015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19" name="case-panel-3"/>
          <p:cNvSpPr/>
          <p:nvPr/>
        </p:nvSpPr>
        <p:spPr>
          <a:xfrm>
            <a:off x="781050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case-number-3"/>
          <p:cNvSpPr txBox="1"/>
          <p:nvPr/>
        </p:nvSpPr>
        <p:spPr>
          <a:xfrm>
            <a:off x="800100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1" name="case-badge-3"/>
          <p:cNvSpPr txBox="1"/>
          <p:nvPr/>
        </p:nvSpPr>
        <p:spPr>
          <a:xfrm>
            <a:off x="874395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2" name="case-title-3"/>
          <p:cNvSpPr txBox="1"/>
          <p:nvPr/>
        </p:nvSpPr>
        <p:spPr>
          <a:xfrm>
            <a:off x="800100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숙박할인쿠폰 지원사업 · 온라인 예약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채널 숙박할인쿠폰</a:t>
            </a:r>
          </a:p>
        </p:txBody>
      </p:sp>
      <p:sp xmlns:a="http://schemas.openxmlformats.org/drawingml/2006/main">
        <p:nvSpPr>
          <p:cNvPr id="23" name="case-body-3"/>
          <p:cNvSpPr txBox="1"/>
          <p:nvPr/>
        </p:nvSpPr>
        <p:spPr>
          <a:xfrm>
            <a:off x="800100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숙박할인쿠폰 지원사업 · 온라인 예약 채널 숙박할인쿠폰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한국관광공사 자료는 약 104만 명이 할인혜택을 이용했고 서울·제주를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제외한 지역 사용 비율이 76%였다고 소개함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flow-track"/>
          <p:cNvSpPr/>
          <p:nvPr/>
        </p:nvSpPr>
        <p:spPr>
          <a:xfrm>
            <a:off x="2476500" y="2476500"/>
            <a:ext cx="10144125" cy="2857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flow-node-0"/>
          <p:cNvSpPr/>
          <p:nvPr/>
        </p:nvSpPr>
        <p:spPr>
          <a:xfrm>
            <a:off x="2238375" y="2219325"/>
            <a:ext cx="552450" cy="552450"/>
          </a:xfrm>
          <a:prstGeom prst="ellipse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flow-number-0"/>
          <p:cNvSpPr txBox="1"/>
          <p:nvPr/>
        </p:nvSpPr>
        <p:spPr>
          <a:xfrm>
            <a:off x="2247900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7" name="step-0-label"/>
          <p:cNvSpPr txBox="1"/>
          <p:nvPr/>
        </p:nvSpPr>
        <p:spPr>
          <a:xfrm>
            <a:off x="1009650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준비와 협의</a:t>
            </a:r>
          </a:p>
        </p:txBody>
      </p:sp>
      <p:sp xmlns:a="http://schemas.openxmlformats.org/drawingml/2006/main">
        <p:nvSpPr>
          <p:cNvPr id="8" name="step-0-period"/>
          <p:cNvSpPr txBox="1"/>
          <p:nvPr/>
        </p:nvSpPr>
        <p:spPr>
          <a:xfrm>
            <a:off x="1009650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9" name="flow-node-1"/>
          <p:cNvSpPr/>
          <p:nvPr/>
        </p:nvSpPr>
        <p:spPr>
          <a:xfrm>
            <a:off x="5619750" y="2219325"/>
            <a:ext cx="552450" cy="552450"/>
          </a:xfrm>
          <a:prstGeom prst="ellipse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flow-number-1"/>
          <p:cNvSpPr txBox="1"/>
          <p:nvPr/>
        </p:nvSpPr>
        <p:spPr>
          <a:xfrm>
            <a:off x="5629275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step-1-label"/>
          <p:cNvSpPr txBox="1"/>
          <p:nvPr/>
        </p:nvSpPr>
        <p:spPr>
          <a:xfrm>
            <a:off x="4391025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운영 절차 점검</a:t>
            </a:r>
          </a:p>
        </p:txBody>
      </p:sp>
      <p:sp xmlns:a="http://schemas.openxmlformats.org/drawingml/2006/main">
        <p:nvSpPr>
          <p:cNvPr id="12" name="step-1-period"/>
          <p:cNvSpPr txBox="1"/>
          <p:nvPr/>
        </p:nvSpPr>
        <p:spPr>
          <a:xfrm>
            <a:off x="4391025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3" name="flow-node-2"/>
          <p:cNvSpPr/>
          <p:nvPr/>
        </p:nvSpPr>
        <p:spPr>
          <a:xfrm>
            <a:off x="9001125" y="2219325"/>
            <a:ext cx="552450" cy="552450"/>
          </a:xfrm>
          <a:prstGeom prst="ellipse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flow-number-2"/>
          <p:cNvSpPr txBox="1"/>
          <p:nvPr/>
        </p:nvSpPr>
        <p:spPr>
          <a:xfrm>
            <a:off x="9010650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5" name="step-2-label"/>
          <p:cNvSpPr txBox="1"/>
          <p:nvPr/>
        </p:nvSpPr>
        <p:spPr>
          <a:xfrm>
            <a:off x="7772400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시범 운영</a:t>
            </a:r>
          </a:p>
        </p:txBody>
      </p:sp>
      <p:sp xmlns:a="http://schemas.openxmlformats.org/drawingml/2006/main">
        <p:nvSpPr>
          <p:cNvPr id="16" name="step-2-period"/>
          <p:cNvSpPr txBox="1"/>
          <p:nvPr/>
        </p:nvSpPr>
        <p:spPr>
          <a:xfrm>
            <a:off x="7772400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7" name="flow-node-3"/>
          <p:cNvSpPr/>
          <p:nvPr/>
        </p:nvSpPr>
        <p:spPr>
          <a:xfrm>
            <a:off x="12382500" y="2219325"/>
            <a:ext cx="552450" cy="552450"/>
          </a:xfrm>
          <a:prstGeom prst="ellipse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flow-number-3"/>
          <p:cNvSpPr txBox="1"/>
          <p:nvPr/>
        </p:nvSpPr>
        <p:spPr>
          <a:xfrm>
            <a:off x="12392025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19" name="step-3-label"/>
          <p:cNvSpPr txBox="1"/>
          <p:nvPr/>
        </p:nvSpPr>
        <p:spPr>
          <a:xfrm>
            <a:off x="11153775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실적 확인과 평가</a:t>
            </a:r>
          </a:p>
        </p:txBody>
      </p:sp>
      <p:sp xmlns:a="http://schemas.openxmlformats.org/drawingml/2006/main">
        <p:nvSpPr>
          <p:cNvPr id="20" name="step-3-period"/>
          <p:cNvSpPr txBox="1"/>
          <p:nvPr/>
        </p:nvSpPr>
        <p:spPr>
          <a:xfrm>
            <a:off x="11153775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21" name="execution-table"/>
          <p:cNvGraphicFramePr>
            <a:graphicFrameLocks noGrp="1"/>
          </p:cNvGraphicFramePr>
          <p:nvPr/>
        </p:nvGraphicFramePr>
        <p:xfrm>
          <a:off x="1009650" y="4143375"/>
          <a:ext cx="13220700" cy="353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/>
                <a:gridCol w="2095500"/>
                <a:gridCol w="2333625"/>
                <a:gridCol w="7886700"/>
              </a:tblGrid>
              <a:tr h="495300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단계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성과 분석 및 차기 사업 검토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2" name="roadmap-note"/>
          <p:cNvSpPr txBox="1"/>
          <p:nvPr/>
        </p:nvSpPr>
        <p:spPr>
          <a:xfrm>
            <a:off x="1009650" y="7953375"/>
            <a:ext cx="13220700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단계별 실행 방법은 다음 장에서 확인할 수 있습니다. 담당 역할과 일정은 착수 전에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kpi-title-0"/>
          <p:cNvSpPr txBox="1"/>
          <p:nvPr/>
        </p:nvSpPr>
        <p:spPr>
          <a:xfrm>
            <a:off x="1009650" y="2047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5" name="kpi-visitors-table"/>
          <p:cNvGraphicFramePr>
            <a:graphicFrameLocks noGrp="1"/>
          </p:cNvGraphicFramePr>
          <p:nvPr/>
        </p:nvGraphicFramePr>
        <p:xfrm>
          <a:off x="1009650" y="2514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2,378,810명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0.67%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2,668,380명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1.33%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2,684,961명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7,628,641명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7,732,151명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1.36%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total-0"/>
          <p:cNvSpPr txBox="1"/>
          <p:nvPr/>
        </p:nvSpPr>
        <p:spPr>
          <a:xfrm>
            <a:off x="8743950" y="2047875"/>
            <a:ext cx="54864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6B00"/>
                </a:solidFill>
                <a:latin typeface="Noto Sans KR"/>
              </a:rPr>
              <a:t>3개월 목표 추가 규모 ↑ 103,510명</a:t>
            </a:r>
          </a:p>
        </p:txBody>
      </p:sp>
      <p:sp xmlns:a="http://schemas.openxmlformats.org/drawingml/2006/main">
        <p:nvSpPr>
          <p:cNvPr id="7" name="kpi-title-1"/>
          <p:cNvSpPr txBox="1"/>
          <p:nvPr/>
        </p:nvSpPr>
        <p:spPr>
          <a:xfrm>
            <a:off x="1009650" y="4714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8" name="kpi-spending-table"/>
          <p:cNvGraphicFramePr>
            <a:graphicFrameLocks noGrp="1"/>
          </p:cNvGraphicFramePr>
          <p:nvPr/>
        </p:nvGraphicFramePr>
        <p:xfrm>
          <a:off x="1009650" y="5181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677.18억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1.00%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856.09억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2.00%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926.46억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3.00%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2,409.25억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2,459.73억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↑ 2.10%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9" name="kpi-total-1"/>
          <p:cNvSpPr txBox="1"/>
          <p:nvPr/>
        </p:nvSpPr>
        <p:spPr>
          <a:xfrm>
            <a:off x="8743950" y="4714875"/>
            <a:ext cx="54864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6B00"/>
                </a:solidFill>
                <a:latin typeface="Noto Sans KR"/>
              </a:rPr>
              <a:t>3개월 목표 추가 규모 ↑ 50.48억 원</a:t>
            </a:r>
          </a:p>
        </p:txBody>
      </p:sp>
      <p:sp xmlns:a="http://schemas.openxmlformats.org/drawingml/2006/main">
        <p:nvSpPr>
          <p:cNvPr id="10" name="kpi-calculation"/>
          <p:cNvSpPr txBox="1"/>
          <p:nvPr/>
        </p:nvSpPr>
        <p:spPr>
          <a:xfrm>
            <a:off x="1009650" y="7677150"/>
            <a:ext cx="13220700" cy="657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방문자 합계는 월별 합계로 월 간 중복을 포함합니다. 목표 KPI는 예측값에 입력 목표율을 단계 적용한 계획값이며, 보장된 사업 효과가</a:t>
            </a:r>
          </a:p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아닙니다. 이번 파일의 목표율은 디자인 확인용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estimate-label"/>
          <p:cNvSpPr txBox="1"/>
          <p:nvPr/>
        </p:nvSpPr>
        <p:spPr>
          <a:xfrm>
            <a:off x="1009650" y="2171700"/>
            <a:ext cx="752475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636E"/>
                </a:solidFill>
                <a:latin typeface="Noto Sans KR"/>
              </a:rPr>
              <a:t>시범 운영 참고 금액</a:t>
            </a:r>
          </a:p>
        </p:txBody>
      </p:sp>
      <p:sp xmlns:a="http://schemas.openxmlformats.org/drawingml/2006/main">
        <p:nvSpPr>
          <p:cNvPr id="5" name="estimate-total"/>
          <p:cNvSpPr txBox="1"/>
          <p:nvPr/>
        </p:nvSpPr>
        <p:spPr>
          <a:xfrm>
            <a:off x="9048750" y="2076450"/>
            <a:ext cx="51816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04EA2"/>
                </a:solidFill>
                <a:latin typeface="Noto Sans KR"/>
              </a:rPr>
              <a:t>총 8,250만 원</a:t>
            </a:r>
          </a:p>
        </p:txBody>
      </p:sp>
      <p:graphicFrame xmlns:a="http://schemas.openxmlformats.org/drawingml/2006/main">
        <p:nvGraphicFramePr>
          <p:cNvPr id="6" name="estimate-table"/>
          <p:cNvGraphicFramePr>
            <a:graphicFrameLocks noGrp="1"/>
          </p:cNvGraphicFramePr>
          <p:nvPr/>
        </p:nvGraphicFramePr>
        <p:xfrm>
          <a:off x="1238250" y="3143250"/>
          <a:ext cx="12763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/>
                <a:gridCol w="6381750"/>
                <a:gridCol w="30956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산출 기준(가정)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여행비 환급 지원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1,000건 × 50,000원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5,000만원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현장 운영·정산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60인일 × 150,000원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900만원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신청·증빙 시스템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기존 시스템 설정 1식 × 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홍보·참여처 안내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콘텐츠·안내물 1식 × 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성과 집계·검토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자료 정리·평가 1식 × 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직접비 7,500만원 × 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750만원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7" name="estimate-total-rule"/>
          <p:cNvSpPr/>
          <p:nvPr/>
        </p:nvSpPr>
        <p:spPr>
          <a:xfrm>
            <a:off x="1238250" y="6858000"/>
            <a:ext cx="12763500" cy="285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estimate-note"/>
          <p:cNvSpPr txBox="1"/>
          <p:nvPr/>
        </p:nvSpPr>
        <p:spPr>
          <a:xfrm>
            <a:off x="1238250" y="7248525"/>
            <a:ext cx="1276350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수량과 단가를 가정한 임시 참고 견적이며 확정 견적이 아닙니다. 실제 계약 범위·세금·단가 확인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