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c7b556f404437" /><Relationship Type="http://schemas.openxmlformats.org/officeDocument/2006/relationships/extended-properties" Target="/docProps/app.xml" Id="R3544cb03db064abb" /><Relationship Type="http://schemas.openxmlformats.org/officeDocument/2006/relationships/officeDocument" Target="/ppt/presentation.xml" Id="R4e941be95adf42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b5b94c18f44df"/>
  </p:sldMasterIdLst>
  <p:notesMasterIdLst>
    <p:notesMasterId xmlns:r="http://schemas.openxmlformats.org/officeDocument/2006/relationships" r:id="Rcec36e43d0804e6e"/>
  </p:notesMasterIdLst>
  <p:sldIdLst>
    <p:sldId xmlns:r="http://schemas.openxmlformats.org/officeDocument/2006/relationships" id="256" r:id="R8e8ed87f2c0c4e36"/>
    <p:sldId xmlns:r="http://schemas.openxmlformats.org/officeDocument/2006/relationships" id="257" r:id="R92efe2c74f1247b1"/>
    <p:sldId xmlns:r="http://schemas.openxmlformats.org/officeDocument/2006/relationships" id="258" r:id="R45c1699933444fd5"/>
    <p:sldId xmlns:r="http://schemas.openxmlformats.org/officeDocument/2006/relationships" id="259" r:id="R82c0fb7682f643c9"/>
    <p:sldId xmlns:r="http://schemas.openxmlformats.org/officeDocument/2006/relationships" id="260" r:id="R9c947f45377a47bf"/>
    <p:sldId xmlns:r="http://schemas.openxmlformats.org/officeDocument/2006/relationships" id="261" r:id="R5250c4d8adc84c4d"/>
    <p:sldId xmlns:r="http://schemas.openxmlformats.org/officeDocument/2006/relationships" id="262" r:id="R0dfda6b5c1cc4fd6"/>
    <p:sldId xmlns:r="http://schemas.openxmlformats.org/officeDocument/2006/relationships" id="263" r:id="R9bef5078e6fb48b3"/>
    <p:sldId xmlns:r="http://schemas.openxmlformats.org/officeDocument/2006/relationships" id="264" r:id="R99c75363d0fc41aa"/>
    <p:sldId xmlns:r="http://schemas.openxmlformats.org/officeDocument/2006/relationships" id="265" r:id="R6e4802538a654a2c"/>
    <p:sldId xmlns:r="http://schemas.openxmlformats.org/officeDocument/2006/relationships" id="266" r:id="R272cdab9546b4c23"/>
    <p:sldId xmlns:r="http://schemas.openxmlformats.org/officeDocument/2006/relationships" id="267" r:id="R48881ea6584f4fb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206d5b755c4478" /><Relationship Type="http://schemas.openxmlformats.org/officeDocument/2006/relationships/slideMaster" Target="/ppt/slideMasters/slideMaster1.xml" Id="R10cb5b94c18f44df" /><Relationship Type="http://schemas.openxmlformats.org/officeDocument/2006/relationships/notesMaster" Target="/ppt/notesMasters/notesMaster1.xml" Id="Rcec36e43d0804e6e" /><Relationship Type="http://schemas.openxmlformats.org/officeDocument/2006/relationships/presProps" Target="/ppt/presProps.xml" Id="Rfcdca58e15c24146" /><Relationship Type="http://schemas.openxmlformats.org/officeDocument/2006/relationships/tableStyles" Target="/ppt/tableStyles.xml" Id="Rf1262eb153fc490b" /><Relationship Type="http://schemas.openxmlformats.org/officeDocument/2006/relationships/slide" Target="/ppt/slides/slide1.xml" Id="R8e8ed87f2c0c4e36" /><Relationship Type="http://schemas.openxmlformats.org/officeDocument/2006/relationships/slide" Target="/ppt/slides/slide2.xml" Id="R92efe2c74f1247b1" /><Relationship Type="http://schemas.openxmlformats.org/officeDocument/2006/relationships/slide" Target="/ppt/slides/slide3.xml" Id="R45c1699933444fd5" /><Relationship Type="http://schemas.openxmlformats.org/officeDocument/2006/relationships/slide" Target="/ppt/slides/slide4.xml" Id="R82c0fb7682f643c9" /><Relationship Type="http://schemas.openxmlformats.org/officeDocument/2006/relationships/slide" Target="/ppt/slides/slide5.xml" Id="R9c947f45377a47bf" /><Relationship Type="http://schemas.openxmlformats.org/officeDocument/2006/relationships/slide" Target="/ppt/slides/slide6.xml" Id="R5250c4d8adc84c4d" /><Relationship Type="http://schemas.openxmlformats.org/officeDocument/2006/relationships/slide" Target="/ppt/slides/slide7.xml" Id="R0dfda6b5c1cc4fd6" /><Relationship Type="http://schemas.openxmlformats.org/officeDocument/2006/relationships/slide" Target="/ppt/slides/slide8.xml" Id="R9bef5078e6fb48b3" /><Relationship Type="http://schemas.openxmlformats.org/officeDocument/2006/relationships/slide" Target="/ppt/slides/slide9.xml" Id="R99c75363d0fc41aa" /><Relationship Type="http://schemas.openxmlformats.org/officeDocument/2006/relationships/slide" Target="/ppt/slides/slide10.xml" Id="R6e4802538a654a2c" /><Relationship Type="http://schemas.openxmlformats.org/officeDocument/2006/relationships/slide" Target="/ppt/slides/slide11.xml" Id="R272cdab9546b4c23" /><Relationship Type="http://schemas.openxmlformats.org/officeDocument/2006/relationships/slide" Target="/ppt/slides/slide12.xml" Id="R48881ea6584f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5bacd132104c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8abd2557d34c30" /><Relationship Type="http://schemas.openxmlformats.org/officeDocument/2006/relationships/notesMaster" Target="/ppt/notesMasters/notesMaster1.xml" Id="R8388474b89694c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73ab80c6d4fa9" /><Relationship Type="http://schemas.openxmlformats.org/officeDocument/2006/relationships/notesMaster" Target="/ppt/notesMasters/notesMaster1.xml" Id="R92e580ab4cf042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0af74deb384b5d" /><Relationship Type="http://schemas.openxmlformats.org/officeDocument/2006/relationships/notesMaster" Target="/ppt/notesMasters/notesMaster1.xml" Id="R07442596eb14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4d8dcefbcf49a2" /><Relationship Type="http://schemas.openxmlformats.org/officeDocument/2006/relationships/notesMaster" Target="/ppt/notesMasters/notesMaster1.xml" Id="R0cfdc3fc925241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10479fef054c74" /><Relationship Type="http://schemas.openxmlformats.org/officeDocument/2006/relationships/notesMaster" Target="/ppt/notesMasters/notesMaster1.xml" Id="Rba5c971a3b8049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db8b53886c4b83" /><Relationship Type="http://schemas.openxmlformats.org/officeDocument/2006/relationships/notesMaster" Target="/ppt/notesMasters/notesMaster1.xml" Id="R14baa68013e0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6f79a0e8344bd7" /><Relationship Type="http://schemas.openxmlformats.org/officeDocument/2006/relationships/notesMaster" Target="/ppt/notesMasters/notesMaster1.xml" Id="R9add4c60d47840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25c10e8c3044bc" /><Relationship Type="http://schemas.openxmlformats.org/officeDocument/2006/relationships/notesMaster" Target="/ppt/notesMasters/notesMaster1.xml" Id="R261a10b2dd4f47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8329aeab074d93" /><Relationship Type="http://schemas.openxmlformats.org/officeDocument/2006/relationships/notesMaster" Target="/ppt/notesMasters/notesMaster1.xml" Id="Re445162e64234b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9ca5c9571b4ba9" /><Relationship Type="http://schemas.openxmlformats.org/officeDocument/2006/relationships/notesMaster" Target="/ppt/notesMasters/notesMaster1.xml" Id="Rcd37c268ce7349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5912d0a928416f" /><Relationship Type="http://schemas.openxmlformats.org/officeDocument/2006/relationships/notesMaster" Target="/ppt/notesMasters/notesMaster1.xml" Id="Rd84b23b6c7394d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d87b50112c4fb2" /><Relationship Type="http://schemas.openxmlformats.org/officeDocument/2006/relationships/notesMaster" Target="/ppt/notesMasters/notesMaster1.xml" Id="Rd1a63c2444c848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6425ae9df8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dfbb40657d4492" /><Relationship Type="http://schemas.openxmlformats.org/officeDocument/2006/relationships/slideLayout" Target="/ppt/slideLayouts/slideLayout1.xml" Id="R23da89d10fc241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a89d10fc241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957f4aa0142c3" /><Relationship Type="http://schemas.openxmlformats.org/officeDocument/2006/relationships/notesSlide" Target="/ppt/notesSlides/notesSlide1.xml" Id="Rb9a2abcd7fff4a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f9609ad004384" /><Relationship Type="http://schemas.openxmlformats.org/officeDocument/2006/relationships/notesSlide" Target="/ppt/notesSlides/notesSlide2.xml" Id="R95e8bc84b9dc4f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6a1b394f64d35" /><Relationship Type="http://schemas.openxmlformats.org/officeDocument/2006/relationships/image" Target="/ppt/media/image.png" Id="R8e8b2a1531f94761" /><Relationship Type="http://schemas.openxmlformats.org/officeDocument/2006/relationships/notesSlide" Target="/ppt/notesSlides/notesSlide3.xml" Id="R9eb89c5796cd43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3ebd8de544f9c" /><Relationship Type="http://schemas.openxmlformats.org/officeDocument/2006/relationships/image" Target="/ppt/media/image2.png" Id="Rcf56b7f39cc843e1" /><Relationship Type="http://schemas.openxmlformats.org/officeDocument/2006/relationships/notesSlide" Target="/ppt/notesSlides/notesSlide4.xml" Id="Rb942799f26d64b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186e1c4994073" /><Relationship Type="http://schemas.openxmlformats.org/officeDocument/2006/relationships/notesSlide" Target="/ppt/notesSlides/notesSlide5.xml" Id="R8652ab9ab9a646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6518f695e4458" /><Relationship Type="http://schemas.openxmlformats.org/officeDocument/2006/relationships/image" Target="/ppt/media/image3.png" Id="R45c9a7f96e634f54" /><Relationship Type="http://schemas.openxmlformats.org/officeDocument/2006/relationships/notesSlide" Target="/ppt/notesSlides/notesSlide6.xml" Id="R2b977e1dfdc8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d8cca98fc4afd" /><Relationship Type="http://schemas.openxmlformats.org/officeDocument/2006/relationships/notesSlide" Target="/ppt/notesSlides/notesSlide7.xml" Id="R8c6f67a3669141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5f8a27e2645ad" /><Relationship Type="http://schemas.openxmlformats.org/officeDocument/2006/relationships/notesSlide" Target="/ppt/notesSlides/notesSlide8.xml" Id="Ra4466b86a95044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8db727134049" /><Relationship Type="http://schemas.openxmlformats.org/officeDocument/2006/relationships/image" Target="/ppt/media/image4.png" Id="R306911a807504aab" /><Relationship Type="http://schemas.openxmlformats.org/officeDocument/2006/relationships/notesSlide" Target="/ppt/notesSlides/notesSlide9.xml" Id="R21e654f535124a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5f579848a4f5b" /><Relationship Type="http://schemas.openxmlformats.org/officeDocument/2006/relationships/image" Target="/ppt/media/image5.png" Id="R4dc00ca1d82c47fe" /><Relationship Type="http://schemas.openxmlformats.org/officeDocument/2006/relationships/notesSlide" Target="/ppt/notesSlides/notesSlide10.xml" Id="Rda8c51fc238743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8da8fcd494666" /><Relationship Type="http://schemas.openxmlformats.org/officeDocument/2006/relationships/image" Target="/ppt/media/image6.png" Id="Red68864f78f0467b" /><Relationship Type="http://schemas.openxmlformats.org/officeDocument/2006/relationships/notesSlide" Target="/ppt/notesSlides/notesSlide11.xml" Id="R26128f452aac487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9203ce3804537" /><Relationship Type="http://schemas.openxmlformats.org/officeDocument/2006/relationships/notesSlide" Target="/ppt/notesSlides/notesSlide12.xml" Id="Rc4719d11755a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대 외 비   문 서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관광 데이터 분석 및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지원 웹서비스</a:t>
            </a: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2026년 09월 01일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혁신 전략실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수석 전략 기획자 /</a:t>
            </a:r>
          </a:p>
          <a:p xmlns:a="http://schemas.openxmlformats.org/drawingml/2006/main">
            <a:pPr algn="r"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박 서 준 실장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보 고 서  번 호  2 0 2 6 - 0 1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공공 데이터 기반</a:t>
            </a:r>
          </a:p>
          <a:p xmlns:a="http://schemas.openxmlformats.org/drawingml/2006/main">
            <a:pPr algn="l"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관광 활성화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데이터 분석 시스템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2026. 09. 01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프로젝트 개요 및 기획 배경</a:t>
            </a: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 서비스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주요 사용자 및 활용 시나리오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핵심 기능 7가지 정의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1" name="toc-0-4-num">
            <a:extLst xmlns:a="http://schemas.openxmlformats.org/drawingml/2006/main">
              <a:ext uri="{FF2B5EF4-FFF2-40B4-BE49-F238E27FC236}">
                <a16:creationId xmlns:a16="http://schemas.microsoft.com/office/drawing/2014/main" id="{3181EE82-187E-4CD5-A105-BFB3A37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D95BDF3D-1B1E-499C-9F49-A67D639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912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이용 Flow 및 산출물</a:t>
            </a:r>
          </a:p>
        </p:txBody>
      </p:sp>
      <p:sp>
        <p:nvSpPr>
          <p:cNvPr id="23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10A2117D-21A6-48D9-AFA6-0B6BE52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차별화 포인트 및 경쟁력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및 AI/ML 모델 구조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주요 화면 구성 및 UI 기획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시스템 아키텍처 및 기술 스택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기대 효과 및 향후 확장 방향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tourism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b2a1531f94761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7900" y="28575"/>
            <a:ext cx="5343525" cy="851535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04CB0C-79AE-4B27-9BB7-C6B424D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19175"/>
            <a:ext cx="2466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S E C T I O N   0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D9419-1199-4437-8A57-502147C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>
                <a:latin typeface="Noto Sans KR"/>
                <a:ea typeface="Noto Sans KR"/>
                <a:cs typeface="Noto Sans KR"/>
              </a:defRPr>
            </a:pPr>
            <a:r>
              <a:rPr sz="4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프로젝트 개요 및 </a:t>
            </a:r>
            <a:r>
              <a:rPr sz="4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기획 배경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A9B5AE-9628-496B-8801-82689A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795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72320DF2-2546-43D9-ABF2-F709FF8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8039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관광 데이터의 양적 팽창에도 불구하고 전문 인력 부족으로 실질적인 정책 반영에 한계를 겪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고 있습니다. 지자체는 객관적 근거 기반의 의사결정이 절실한 상황입니다.</a:t>
            </a:r>
          </a:p>
        </p:txBody>
      </p:sp>
      <p:sp>
        <p:nvSpPr>
          <p:cNvPr id="6" name="decision-rail">
            <a:extLst xmlns:a="http://schemas.openxmlformats.org/drawingml/2006/main">
              <a:ext uri="{FF2B5EF4-FFF2-40B4-BE49-F238E27FC236}">
                <a16:creationId xmlns:a16="http://schemas.microsoft.com/office/drawing/2014/main" id="{ADBF1FF9-7C9A-40EE-87A5-965DFB8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7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97D3E6FC-FC58-409A-ACD6-FD20707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 체계 마련</a:t>
            </a:r>
          </a:p>
        </p:txBody>
      </p:sp>
      <p:sp>
        <p:nvSpPr>
          <p:cNvPr id="8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CD7CA3DD-3A68-4760-9228-22F4745D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3648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파편화된 공공데이터를 통합하여 지자체 담당자가</a:t>
            </a:r>
          </a:p>
          <a:p xmlns:a="http://schemas.openxmlformats.org/drawingml/2006/main">
            <a:pPr algn="l"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즉각 활용 가능한 분석 환경을 구축합니다.</a:t>
            </a:r>
          </a:p>
        </p:txBody>
      </p:sp>
      <p:sp>
        <p:nvSpPr>
          <p:cNvPr id="9" name="activation-rail">
            <a:extLst xmlns:a="http://schemas.openxmlformats.org/drawingml/2006/main">
              <a:ext uri="{FF2B5EF4-FFF2-40B4-BE49-F238E27FC236}">
                <a16:creationId xmlns:a16="http://schemas.microsoft.com/office/drawing/2014/main" id="{4E330694-7E74-4BF4-B47C-AB193BD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10" name="activation-title">
            <a:extLst xmlns:a="http://schemas.openxmlformats.org/drawingml/2006/main">
              <a:ext uri="{FF2B5EF4-FFF2-40B4-BE49-F238E27FC236}">
                <a16:creationId xmlns:a16="http://schemas.microsoft.com/office/drawing/2014/main" id="{0F08C0B3-DF25-47C0-865B-03D3C61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활성화</a:t>
            </a:r>
          </a:p>
        </p:txBody>
      </p:sp>
      <p:sp>
        <p:nvSpPr>
          <p:cNvPr id="11" name="activation-body">
            <a:extLst xmlns:a="http://schemas.openxmlformats.org/drawingml/2006/main">
              <a:ext uri="{FF2B5EF4-FFF2-40B4-BE49-F238E27FC236}">
                <a16:creationId xmlns:a16="http://schemas.microsoft.com/office/drawing/2014/main" id="{DAC8F0FE-7C6E-4D83-8B8A-0152AC7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91025"/>
            <a:ext cx="369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데이터 공백을 메우고 증거 기반의 정책 수립을 지</a:t>
            </a:r>
          </a:p>
          <a:p xmlns:a="http://schemas.openxmlformats.org/drawingml/2006/main">
            <a:pPr algn="l"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원하여 지역 경쟁력을 강화합니다.</a:t>
            </a:r>
          </a:p>
        </p:txBody>
      </p:sp>
      <p:sp>
        <p:nvSpPr>
          <p:cNvPr id="12" name="release-card">
            <a:extLst xmlns:a="http://schemas.openxmlformats.org/drawingml/2006/main">
              <a:ext uri="{FF2B5EF4-FFF2-40B4-BE49-F238E27FC236}">
                <a16:creationId xmlns:a16="http://schemas.microsoft.com/office/drawing/2014/main" id="{D0C3157D-1CB0-44E7-8820-308158D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ease-card-rail">
            <a:extLst xmlns:a="http://schemas.openxmlformats.org/drawingml/2006/main">
              <a:ext uri="{FF2B5EF4-FFF2-40B4-BE49-F238E27FC236}">
                <a16:creationId xmlns:a16="http://schemas.microsoft.com/office/drawing/2014/main" id="{7FFCCF85-ABBF-4ECB-AFEA-A8B4DA1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4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C08F2C4A-858E-436B-9257-34DDC353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배포 예정일</a:t>
            </a:r>
          </a:p>
        </p:txBody>
      </p:sp>
      <p:sp>
        <p:nvSpPr>
          <p:cNvPr id="15" name="release-value">
            <a:extLst xmlns:a="http://schemas.openxmlformats.org/drawingml/2006/main">
              <a:ext uri="{FF2B5EF4-FFF2-40B4-BE49-F238E27FC236}">
                <a16:creationId xmlns:a16="http://schemas.microsoft.com/office/drawing/2014/main" id="{F59B9312-1FAD-461A-B97A-3B6B13BC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0674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2026.09</a:t>
            </a:r>
          </a:p>
        </p:txBody>
      </p:sp>
      <p:sp>
        <p:nvSpPr>
          <p:cNvPr id="16" name="release-suffix">
            <a:extLst xmlns:a="http://schemas.openxmlformats.org/drawingml/2006/main">
              <a:ext uri="{FF2B5EF4-FFF2-40B4-BE49-F238E27FC236}">
                <a16:creationId xmlns:a16="http://schemas.microsoft.com/office/drawing/2014/main" id="{D5E69186-DF38-4A66-91A3-04952F4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0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RELEASE</a:t>
            </a:r>
          </a:p>
        </p:txBody>
      </p:sp>
      <p:sp>
        <p:nvSpPr>
          <p:cNvPr id="17" name="strategy-card">
            <a:extLst xmlns:a="http://schemas.openxmlformats.org/drawingml/2006/main">
              <a:ext uri="{FF2B5EF4-FFF2-40B4-BE49-F238E27FC236}">
                <a16:creationId xmlns:a16="http://schemas.microsoft.com/office/drawing/2014/main" id="{894D211D-54DB-4650-886B-59BDE3C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ategy-card-rail">
            <a:extLst xmlns:a="http://schemas.openxmlformats.org/drawingml/2006/main">
              <a:ext uri="{FF2B5EF4-FFF2-40B4-BE49-F238E27FC236}">
                <a16:creationId xmlns:a16="http://schemas.microsoft.com/office/drawing/2014/main" id="{4BD40E72-A0A4-4F59-BF64-47A1F5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9" name="strategy-label">
            <a:extLst xmlns:a="http://schemas.openxmlformats.org/drawingml/2006/main">
              <a:ext uri="{FF2B5EF4-FFF2-40B4-BE49-F238E27FC236}">
                <a16:creationId xmlns:a16="http://schemas.microsoft.com/office/drawing/2014/main" id="{EA6B80AF-F1D9-4537-B201-BF0C188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주요 전략</a:t>
            </a:r>
          </a:p>
        </p:txBody>
      </p:sp>
      <p:sp>
        <p:nvSpPr>
          <p:cNvPr id="20" name="strategy-value">
            <a:extLst xmlns:a="http://schemas.openxmlformats.org/drawingml/2006/main">
              <a:ext uri="{FF2B5EF4-FFF2-40B4-BE49-F238E27FC236}">
                <a16:creationId xmlns:a16="http://schemas.microsoft.com/office/drawing/2014/main" id="{2065A6CF-D0E9-4B91-B0B1-ACBAD47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67425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AI+DATA</a:t>
            </a:r>
          </a:p>
        </p:txBody>
      </p:sp>
      <p:sp>
        <p:nvSpPr>
          <p:cNvPr id="21" name="strategy-suffix">
            <a:extLst xmlns:a="http://schemas.openxmlformats.org/drawingml/2006/main">
              <a:ext uri="{FF2B5EF4-FFF2-40B4-BE49-F238E27FC236}">
                <a16:creationId xmlns:a16="http://schemas.microsoft.com/office/drawing/2014/main" id="{AB8DACC9-57A5-41E3-8464-66C5FAF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21030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INTEGRATED</a:t>
            </a:r>
          </a:p>
        </p:txBody>
      </p:sp>
    </p:spTree>
    <p:extLst>
      <p:ext uri="{BB962C8B-B14F-4D97-AF65-F5344CB8AC3E}">
        <p14:creationId xmlns:p14="http://schemas.microsoft.com/office/powerpoint/2010/main" val="284137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cit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6b7f39cc843e1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9850" y="0"/>
            <a:ext cx="501015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C140F1E-536A-4372-831D-1A30AB3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8675"/>
            <a:ext cx="3648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R O B L E M   &amp;   O B J E C T I V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FF0F8E-C488-4FAD-A415-F42CFBA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84772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목표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2D060FE0-5960-484C-BB83-BF0F1BA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962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F6B00"/>
            </a:solidFill>
            <a:prstDash val="solid"/>
          </a:ln>
        </p:spPr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8E464197-E4E1-4C93-AF19-23A4A08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수집</a:t>
            </a:r>
          </a:p>
        </p:txBody>
      </p:sp>
      <p:sp>
        <p:nvSpPr>
          <p:cNvPr id="6" name="feature-1">
            <a:extLst xmlns:a="http://schemas.openxmlformats.org/drawingml/2006/main">
              <a:ext uri="{FF2B5EF4-FFF2-40B4-BE49-F238E27FC236}">
                <a16:creationId xmlns:a16="http://schemas.microsoft.com/office/drawing/2014/main" id="{AF717375-2E32-4358-99A8-17418DB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맞춤 시각화</a:t>
            </a:r>
          </a:p>
        </p:txBody>
      </p:sp>
      <p:sp>
        <p:nvSpPr>
          <p:cNvPr id="7" name="feature-2">
            <a:extLst xmlns:a="http://schemas.openxmlformats.org/drawingml/2006/main">
              <a:ext uri="{FF2B5EF4-FFF2-40B4-BE49-F238E27FC236}">
                <a16:creationId xmlns:a16="http://schemas.microsoft.com/office/drawing/2014/main" id="{52D960B5-2517-4C9F-8BE6-D01A896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</a:t>
            </a:r>
          </a:p>
        </p:txBody>
      </p:sp>
      <p:sp>
        <p:nvSpPr>
          <p:cNvPr id="8" name="feature-3">
            <a:extLst xmlns:a="http://schemas.openxmlformats.org/drawingml/2006/main">
              <a:ext uri="{FF2B5EF4-FFF2-40B4-BE49-F238E27FC236}">
                <a16:creationId xmlns:a16="http://schemas.microsoft.com/office/drawing/2014/main" id="{ADE849E5-4159-49A8-99EB-553C231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제안</a:t>
            </a:r>
          </a:p>
        </p:txBody>
      </p:sp>
      <p:sp>
        <p:nvSpPr>
          <p:cNvPr id="9" name="feature-4">
            <a:extLst xmlns:a="http://schemas.openxmlformats.org/drawingml/2006/main">
              <a:ext uri="{FF2B5EF4-FFF2-40B4-BE49-F238E27FC236}">
                <a16:creationId xmlns:a16="http://schemas.microsoft.com/office/drawing/2014/main" id="{265D631B-2771-41A2-B29B-BFE3E98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 지원</a:t>
            </a:r>
          </a:p>
        </p:txBody>
      </p:sp>
      <p:sp>
        <p:nvSpPr>
          <p:cNvPr id="10" name="feature-5">
            <a:extLst xmlns:a="http://schemas.openxmlformats.org/drawingml/2006/main">
              <a:ext uri="{FF2B5EF4-FFF2-40B4-BE49-F238E27FC236}">
                <a16:creationId xmlns:a16="http://schemas.microsoft.com/office/drawing/2014/main" id="{526D0119-66A7-4A39-B401-C753A4B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 가능성</a:t>
            </a:r>
          </a:p>
        </p:txBody>
      </p:sp>
      <p:sp>
        <p:nvSpPr>
          <p:cNvPr id="11" name="feature-6">
            <a:extLst xmlns:a="http://schemas.openxmlformats.org/drawingml/2006/main">
              <a:ext uri="{FF2B5EF4-FFF2-40B4-BE49-F238E27FC236}">
                <a16:creationId xmlns:a16="http://schemas.microsoft.com/office/drawing/2014/main" id="{48F47610-5D77-492F-9124-962720A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정책 최적화</a:t>
            </a:r>
          </a:p>
        </p:txBody>
      </p:sp>
      <p:sp>
        <p:nvSpPr>
          <p:cNvPr id="12" name="feature-7">
            <a:extLst xmlns:a="http://schemas.openxmlformats.org/drawingml/2006/main">
              <a:ext uri="{FF2B5EF4-FFF2-40B4-BE49-F238E27FC236}">
                <a16:creationId xmlns:a16="http://schemas.microsoft.com/office/drawing/2014/main" id="{225046E9-ABBE-4315-B859-A46FB16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원스톱 체계</a:t>
            </a:r>
          </a:p>
        </p:txBody>
      </p:sp>
      <p:sp>
        <p:nvSpPr>
          <p:cNvPr id="13" name="body-rail">
            <a:extLst xmlns:a="http://schemas.openxmlformats.org/drawingml/2006/main">
              <a:ext uri="{FF2B5EF4-FFF2-40B4-BE49-F238E27FC236}">
                <a16:creationId xmlns:a16="http://schemas.microsoft.com/office/drawing/2014/main" id="{9838C652-F895-4995-B29D-141835A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3E3A806-592E-467F-92DD-8536E84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38825"/>
            <a:ext cx="8362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현재의 관광 데이터 서비스는 단순 통계 수치 조회에 그쳐 실제 정책 수립에 활용하기 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렵습니다. 본 서비스는 데이터 수집부터 AI 전략 제안을 잇는 원스톱 의사결정 체계를 구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단순 통계를 넘어 머신러닝 기반의 미래 수요를 예측하고, 실무자가 즉시 정책에 반영할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 있는 구체적이고 실행 가능한 전략적 통찰력을 제공하는 것을 최우선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132072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주요 사용자 및 활용 시나리오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 관광 데이터 분석 및 AI 전략 지원 웹서비스 기획안</a:t>
            </a: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지자체 관광 담당자</a:t>
            </a:r>
          </a:p>
        </p:txBody>
      </p:sp>
      <p:sp>
        <p:nvSpPr>
          <p:cNvPr id="6" name="bank-roof">
            <a:extLst xmlns:a="http://schemas.openxmlformats.org/drawingml/2006/main">
              <a:ext uri="{FF2B5EF4-FFF2-40B4-BE49-F238E27FC236}">
                <a16:creationId xmlns:a16="http://schemas.microsoft.com/office/drawing/2014/main" id="{6C8830F6-3845-41BD-ACE7-C4EE16F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05300"/>
            <a:ext cx="6858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k-entablature">
            <a:extLst xmlns:a="http://schemas.openxmlformats.org/drawingml/2006/main">
              <a:ext uri="{FF2B5EF4-FFF2-40B4-BE49-F238E27FC236}">
                <a16:creationId xmlns:a16="http://schemas.microsoft.com/office/drawing/2014/main" id="{22361731-9751-4C79-BE2B-76D27E7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52950"/>
            <a:ext cx="64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nk-column-0">
            <a:extLst xmlns:a="http://schemas.openxmlformats.org/drawingml/2006/main">
              <a:ext uri="{FF2B5EF4-FFF2-40B4-BE49-F238E27FC236}">
                <a16:creationId xmlns:a16="http://schemas.microsoft.com/office/drawing/2014/main" id="{868A702C-5CDA-4CF8-9FB7-18787E7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nk-column-1">
            <a:extLst xmlns:a="http://schemas.openxmlformats.org/drawingml/2006/main">
              <a:ext uri="{FF2B5EF4-FFF2-40B4-BE49-F238E27FC236}">
                <a16:creationId xmlns:a16="http://schemas.microsoft.com/office/drawing/2014/main" id="{50E07DF9-1F3F-4342-BC3E-FCEA01A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column-2">
            <a:extLst xmlns:a="http://schemas.openxmlformats.org/drawingml/2006/main">
              <a:ext uri="{FF2B5EF4-FFF2-40B4-BE49-F238E27FC236}">
                <a16:creationId xmlns:a16="http://schemas.microsoft.com/office/drawing/2014/main" id="{5FF68BE2-FCB4-4D05-BC1B-61264E6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nk-base">
            <a:extLst xmlns:a="http://schemas.openxmlformats.org/drawingml/2006/main">
              <a:ext uri="{FF2B5EF4-FFF2-40B4-BE49-F238E27FC236}">
                <a16:creationId xmlns:a16="http://schemas.microsoft.com/office/drawing/2014/main" id="{AFA7BF87-4EBA-4A3B-85F2-A0BF7B3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704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rson-head-0">
            <a:extLst xmlns:a="http://schemas.openxmlformats.org/drawingml/2006/main">
              <a:ext uri="{FF2B5EF4-FFF2-40B4-BE49-F238E27FC236}">
                <a16:creationId xmlns:a16="http://schemas.microsoft.com/office/drawing/2014/main" id="{C4D1E5F7-41A5-450D-8C04-DE851BB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on-body-0">
            <a:extLst xmlns:a="http://schemas.openxmlformats.org/drawingml/2006/main">
              <a:ext uri="{FF2B5EF4-FFF2-40B4-BE49-F238E27FC236}">
                <a16:creationId xmlns:a16="http://schemas.microsoft.com/office/drawing/2014/main" id="{45565331-1EEF-44C8-8693-303D68C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erson-head-1">
            <a:extLst xmlns:a="http://schemas.openxmlformats.org/drawingml/2006/main">
              <a:ext uri="{FF2B5EF4-FFF2-40B4-BE49-F238E27FC236}">
                <a16:creationId xmlns:a16="http://schemas.microsoft.com/office/drawing/2014/main" id="{A250625F-90E3-4075-8371-3188CE5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son-body-1">
            <a:extLst xmlns:a="http://schemas.openxmlformats.org/drawingml/2006/main">
              <a:ext uri="{FF2B5EF4-FFF2-40B4-BE49-F238E27FC236}">
                <a16:creationId xmlns:a16="http://schemas.microsoft.com/office/drawing/2014/main" id="{4397DBDC-F8B2-4022-B35A-686B15B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on-head-2">
            <a:extLst xmlns:a="http://schemas.openxmlformats.org/drawingml/2006/main">
              <a:ext uri="{FF2B5EF4-FFF2-40B4-BE49-F238E27FC236}">
                <a16:creationId xmlns:a16="http://schemas.microsoft.com/office/drawing/2014/main" id="{8025074B-DFF1-4C48-893F-D68A51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erson-body-2">
            <a:extLst xmlns:a="http://schemas.openxmlformats.org/drawingml/2006/main">
              <a:ext uri="{FF2B5EF4-FFF2-40B4-BE49-F238E27FC236}">
                <a16:creationId xmlns:a16="http://schemas.microsoft.com/office/drawing/2014/main" id="{A9EC7A93-21AC-4A94-A037-BE6FC2A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기반 신규 관광 상품 기획 및 정책 예산 편성의</a:t>
            </a:r>
          </a:p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객관적 근거 확보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정책 및 예산 수립</a:t>
            </a: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공공 및 유관 기관</a:t>
            </a:r>
          </a:p>
        </p:txBody>
      </p:sp>
      <p:sp>
        <p:nvSpPr>
          <p:cNvPr id="23" name="chart-axis-y">
            <a:extLst xmlns:a="http://schemas.openxmlformats.org/drawingml/2006/main">
              <a:ext uri="{FF2B5EF4-FFF2-40B4-BE49-F238E27FC236}">
                <a16:creationId xmlns:a16="http://schemas.microsoft.com/office/drawing/2014/main" id="{7BC05C05-C81F-412E-89E1-CED1009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4" name="chart-axis-x">
            <a:extLst xmlns:a="http://schemas.openxmlformats.org/drawingml/2006/main">
              <a:ext uri="{FF2B5EF4-FFF2-40B4-BE49-F238E27FC236}">
                <a16:creationId xmlns:a16="http://schemas.microsoft.com/office/drawing/2014/main" id="{61020F3C-97B9-4268-B7BF-7AD67A2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434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5" name="chart-line-1">
            <a:extLst xmlns:a="http://schemas.openxmlformats.org/drawingml/2006/main">
              <a:ext uri="{FF2B5EF4-FFF2-40B4-BE49-F238E27FC236}">
                <a16:creationId xmlns:a16="http://schemas.microsoft.com/office/drawing/2014/main" id="{08723FD7-E3D1-4282-9852-0985A2A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81525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6" name="chart-line-2">
            <a:extLst xmlns:a="http://schemas.openxmlformats.org/drawingml/2006/main">
              <a:ext uri="{FF2B5EF4-FFF2-40B4-BE49-F238E27FC236}">
                <a16:creationId xmlns:a16="http://schemas.microsoft.com/office/drawing/2014/main" id="{230CBE43-A271-4E16-B3C4-DD8E5F6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1333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7" name="chart-line-3">
            <a:extLst xmlns:a="http://schemas.openxmlformats.org/drawingml/2006/main">
              <a:ext uri="{FF2B5EF4-FFF2-40B4-BE49-F238E27FC236}">
                <a16:creationId xmlns:a16="http://schemas.microsoft.com/office/drawing/2014/main" id="{EF6F49E2-474C-4546-81F0-7C2F57C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48175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8" name="analytics-glyph">
            <a:extLst xmlns:a="http://schemas.openxmlformats.org/drawingml/2006/main">
              <a:ext uri="{FF2B5EF4-FFF2-40B4-BE49-F238E27FC236}">
                <a16:creationId xmlns:a16="http://schemas.microsoft.com/office/drawing/2014/main" id="{92D04C87-C25B-424C-86A1-D812A69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91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◔  ▮▮▮  ◉</a:t>
            </a: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지역별 관광 현황 실시간 모니터링 및 핵심 성과 지표</a:t>
            </a:r>
          </a:p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(KPI) 효율적 관리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모니터링 및 KPI 관리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사업자</a:t>
            </a:r>
          </a:p>
        </p:txBody>
      </p:sp>
      <p:sp>
        <p:nvSpPr>
          <p:cNvPr id="34" name="shop-awning">
            <a:extLst xmlns:a="http://schemas.openxmlformats.org/drawingml/2006/main">
              <a:ext uri="{FF2B5EF4-FFF2-40B4-BE49-F238E27FC236}">
                <a16:creationId xmlns:a16="http://schemas.microsoft.com/office/drawing/2014/main" id="{1A230C18-23F0-44B6-BF58-277EF5E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305300"/>
            <a:ext cx="723900" cy="2571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op-body">
            <a:extLst xmlns:a="http://schemas.openxmlformats.org/drawingml/2006/main">
              <a:ext uri="{FF2B5EF4-FFF2-40B4-BE49-F238E27FC236}">
                <a16:creationId xmlns:a16="http://schemas.microsoft.com/office/drawing/2014/main" id="{EC9954BC-2837-4E2B-97E1-965BE00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43425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op-window">
            <a:extLst xmlns:a="http://schemas.openxmlformats.org/drawingml/2006/main">
              <a:ext uri="{FF2B5EF4-FFF2-40B4-BE49-F238E27FC236}">
                <a16:creationId xmlns:a16="http://schemas.microsoft.com/office/drawing/2014/main" id="{C901F025-7A82-452B-BD47-220A1A9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67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op-door">
            <a:extLst xmlns:a="http://schemas.openxmlformats.org/drawingml/2006/main">
              <a:ext uri="{FF2B5EF4-FFF2-40B4-BE49-F238E27FC236}">
                <a16:creationId xmlns:a16="http://schemas.microsoft.com/office/drawing/2014/main" id="{A3738C6F-C4B4-4BE7-A59B-02A6837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67250"/>
            <a:ext cx="114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ops-glyph">
            <a:extLst xmlns:a="http://schemas.openxmlformats.org/drawingml/2006/main">
              <a:ext uri="{FF2B5EF4-FFF2-40B4-BE49-F238E27FC236}">
                <a16:creationId xmlns:a16="http://schemas.microsoft.com/office/drawing/2014/main" id="{014F5A1E-6941-41E9-8FA6-F762720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▰  ▦  ♜</a:t>
            </a: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방문객 소비 트렌드 분석을 통한 타깃 마케팅 전략 수</a:t>
            </a:r>
          </a:p>
          <a:p xmlns:a="http://schemas.openxmlformats.org/drawingml/2006/main">
            <a:pPr algn="ctr"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립 및 서비스 품질 개선 지원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마케팅 및 서비스 개선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B55F73-A4FC-4C6B-A6F7-CB473AD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0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 관광 데이터 분석 및 AI 전략 지원 솔루션</a:t>
            </a:r>
          </a:p>
        </p:txBody>
      </p:sp>
      <p:sp>
        <p:nvSpPr>
          <p:cNvPr id="43" name="footer-dot">
            <a:extLst xmlns:a="http://schemas.openxmlformats.org/drawingml/2006/main">
              <a:ext uri="{FF2B5EF4-FFF2-40B4-BE49-F238E27FC236}">
                <a16:creationId xmlns:a16="http://schemas.microsoft.com/office/drawing/2014/main" id="{2E0AD546-7358-4632-9388-540C799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93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DCC740E-CF60-41B1-8EC6-8777B7B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3907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AI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9a7f96e634f54"/>
          <a:srcRect xmlns:a="http://schemas.openxmlformats.org/drawingml/2006/main" l="0" t="261" r="0" b="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핵심 기능 7가지 정의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4" name="function-row-0">
            <a:extLst xmlns:a="http://schemas.openxmlformats.org/drawingml/2006/main">
              <a:ext uri="{FF2B5EF4-FFF2-40B4-BE49-F238E27FC236}">
                <a16:creationId xmlns:a16="http://schemas.microsoft.com/office/drawing/2014/main" id="{7B6C9409-216D-4533-A16A-BD14C38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function-num-0">
            <a:extLst xmlns:a="http://schemas.openxmlformats.org/drawingml/2006/main">
              <a:ext uri="{FF2B5EF4-FFF2-40B4-BE49-F238E27FC236}">
                <a16:creationId xmlns:a16="http://schemas.microsoft.com/office/drawing/2014/main" id="{59F90C01-6EE1-4308-9E69-1C14CF7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337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function-label-0">
            <a:extLst xmlns:a="http://schemas.openxmlformats.org/drawingml/2006/main">
              <a:ext uri="{FF2B5EF4-FFF2-40B4-BE49-F238E27FC236}">
                <a16:creationId xmlns:a16="http://schemas.microsoft.com/office/drawing/2014/main" id="{59B04FF2-686E-4CDB-97B4-68362B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검색 및 선택: 전국 시군구 단위의 간편한 대상지 설정</a:t>
            </a:r>
          </a:p>
        </p:txBody>
      </p:sp>
      <p:sp>
        <p:nvSpPr>
          <p:cNvPr id="7" name="function-row-1">
            <a:extLst xmlns:a="http://schemas.openxmlformats.org/drawingml/2006/main">
              <a:ext uri="{FF2B5EF4-FFF2-40B4-BE49-F238E27FC236}">
                <a16:creationId xmlns:a16="http://schemas.microsoft.com/office/drawing/2014/main" id="{87DC414D-ECE6-4C3C-AC98-7CBE645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function-num-1">
            <a:extLst xmlns:a="http://schemas.openxmlformats.org/drawingml/2006/main">
              <a:ext uri="{FF2B5EF4-FFF2-40B4-BE49-F238E27FC236}">
                <a16:creationId xmlns:a16="http://schemas.microsoft.com/office/drawing/2014/main" id="{B950D475-93ED-4E09-BAAB-70D31FB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function-label-1">
            <a:extLst xmlns:a="http://schemas.openxmlformats.org/drawingml/2006/main">
              <a:ext uri="{FF2B5EF4-FFF2-40B4-BE49-F238E27FC236}">
                <a16:creationId xmlns:a16="http://schemas.microsoft.com/office/drawing/2014/main" id="{1CF2D37F-5A3B-472D-9F2D-B4B9DE5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관광 데이터 대시보드: 방문객, 소비, SNS 트렌드 시각화</a:t>
            </a:r>
          </a:p>
        </p:txBody>
      </p:sp>
      <p:sp>
        <p:nvSpPr>
          <p:cNvPr id="10" name="function-row-2">
            <a:extLst xmlns:a="http://schemas.openxmlformats.org/drawingml/2006/main">
              <a:ext uri="{FF2B5EF4-FFF2-40B4-BE49-F238E27FC236}">
                <a16:creationId xmlns:a16="http://schemas.microsoft.com/office/drawing/2014/main" id="{7807D172-B241-44ED-A7C7-009E8E1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unction-num-2">
            <a:extLst xmlns:a="http://schemas.openxmlformats.org/drawingml/2006/main">
              <a:ext uri="{FF2B5EF4-FFF2-40B4-BE49-F238E27FC236}">
                <a16:creationId xmlns:a16="http://schemas.microsoft.com/office/drawing/2014/main" id="{95CDBEC0-0A20-42D7-9C62-60278FB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910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function-label-2">
            <a:extLst xmlns:a="http://schemas.openxmlformats.org/drawingml/2006/main">
              <a:ext uri="{FF2B5EF4-FFF2-40B4-BE49-F238E27FC236}">
                <a16:creationId xmlns:a16="http://schemas.microsoft.com/office/drawing/2014/main" id="{213C0466-2B03-4917-A50A-089BF27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특성 분석: SWOT 분석을 포함한 지역별 관광 강약점 도출</a:t>
            </a:r>
          </a:p>
        </p:txBody>
      </p:sp>
      <p:sp>
        <p:nvSpPr>
          <p:cNvPr id="1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6A48815-B570-4052-BC4D-DFB3B93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81700"/>
            <a:ext cx="104394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alysis-tag">
            <a:extLst xmlns:a="http://schemas.openxmlformats.org/drawingml/2006/main">
              <a:ext uri="{FF2B5EF4-FFF2-40B4-BE49-F238E27FC236}">
                <a16:creationId xmlns:a16="http://schemas.microsoft.com/office/drawing/2014/main" id="{3C07D6D4-F760-4934-9476-D249F16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62725"/>
            <a:ext cx="25146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A I  &amp;  D A T A  A N A L Y S I S</a:t>
            </a:r>
          </a:p>
        </p:txBody>
      </p:sp>
      <p:sp>
        <p:nvSpPr>
          <p:cNvPr id="15" name="function-more-left">
            <a:extLst xmlns:a="http://schemas.openxmlformats.org/drawingml/2006/main">
              <a:ext uri="{FF2B5EF4-FFF2-40B4-BE49-F238E27FC236}">
                <a16:creationId xmlns:a16="http://schemas.microsoft.com/office/drawing/2014/main" id="{DD434EF7-4F27-45E8-9F47-203D793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00900"/>
            <a:ext cx="46958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④ 수요 예측: 머신러닝 기반 미래 관광객 수 및 소비 패턴 예측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⑤ AI 전략 리포트: 분석 데이터를 근거로 한 최적의 관광 활성화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방안 제안</a:t>
            </a:r>
          </a:p>
        </p:txBody>
      </p:sp>
      <p:sp>
        <p:nvSpPr>
          <p:cNvPr id="16" name="function-more-right">
            <a:extLst xmlns:a="http://schemas.openxmlformats.org/drawingml/2006/main">
              <a:ext uri="{FF2B5EF4-FFF2-40B4-BE49-F238E27FC236}">
                <a16:creationId xmlns:a16="http://schemas.microsoft.com/office/drawing/2014/main" id="{530C62B0-A84F-4A05-AE1D-6E4EA93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7200900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⑥ AI 챗봇: 선택 지역 데이터에 특화된 실시간 질의응답 기능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⑦ 지도 시각화: 카카오맵 연동을 통한 공간적 관광 밀집도 분석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 E R V I C E   P L A N N I N 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이용 </a:t>
            </a: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Flow 및 산출물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선택 및 로딩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사용자 정의 지역 설정 및 데이터랩 기반 맞춤형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데이터셋 자동 큐레이션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대시보드 및 분석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방문객 및 소비 시각화 차트와 데이터 근거 기반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지역별 SWOT 분석 결과 도출을 통한 전략적 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찰 제공.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 및 리포트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시계열 모델 기반 관광 수요 예측 및 AI 해석이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포함된 PDF 전략 보고서 발행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챗봇 전략 활용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 기반 AI 챗봇과의 심층 질의응답을 통한 실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무 정책 반영 및 최종 의사결정을 지원하는 고도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화 프로세스.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지원 웹서비스 핵심 가치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본 웹서비스는 공공 관광 데이터를 인공지능 기술과 결합하여 실질적인 정책 수립을 지원합니다. 데이터 로딩부터 AI 리포트 생성, 챗봇을 통한 정책 질의까지 이어지는 통합 Flow를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통해 지자체의 관광 경쟁력을 극대화합니다. 데이터 기반의 객관적인 분석과 AI의 미래 예측을 통해 의사결정의 정확성을 높이고 지역 경제 활성화를 위한 맞춤형 전략을 제시하는 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을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D I F F E R E N T I A T I O N   &amp;   C O M P E T I T I V E N E S 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>
                <a:latin typeface="Noto Sans KR"/>
                <a:ea typeface="Noto Sans KR"/>
                <a:cs typeface="Noto Sans KR"/>
              </a:defRPr>
            </a:pPr>
            <a:r>
              <a:rPr sz="42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차별화 </a:t>
            </a:r>
            <a:r>
              <a:rPr sz="4275" b="0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포인트 및 경쟁력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가치 사슬 구축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단순한 통계 조회를 넘어 AI 모델을 통해 2026년 관광 트렌드 등 미래 수요를 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확히 예측하고 선제적 대응 전략을 제시하여 데이터의 실질적 가치를 창출합니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예측 기반 전략 제안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전국 단위 확장 분석</a:t>
            </a: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특정 지역에 국한되지 않는 전국 단위 확장형 분석 프레임워크를 적용하여 광범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위한 데이터 수집 및 비교 분석을 가능하게 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범용적 분석 모델 적용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LLM 및 RAG 결합 기술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최신 LLM과 RAG 기술을 결합하여 단순 수치 나열이 아닌, 데이터 근거에 기반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한 신뢰도 높은 AI 해석 및 맞춤형 정책 리포트를 자동 생성하여 제공합니다.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고신뢰도 AI 정책 리포트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기반 의사결정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복잡한 관광 데이터를 공공 행정에 즉시 활용 가능한 인사이트로 변환하여, 지자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체 및 공공기관의 과학적이고 효율적인 정책 수립을 강력하게 지원합니다.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실효성 있는 정책 지원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al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911a807504aab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6875" y="0"/>
            <a:ext cx="595312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T E C H N I C A L   F R A M E W O R 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>
                <a:latin typeface="Noto Sans KR"/>
                <a:ea typeface="Noto Sans KR"/>
                <a:cs typeface="Noto Sans KR"/>
              </a:defRPr>
            </a:pPr>
            <a:r>
              <a:rPr sz="42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및 </a:t>
            </a: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AI/ML 모델 구조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본 서비스는 한국관광 데이터랩 및 공공데이터 API를 통해 실시간 데이터를 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집하고 전처리하는 통합 파이프라인을 구축합니다.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 모델 (PREDICTION)</a:t>
            </a: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LSTM 및 Prophet 시계열 모델과 회귀 모델을 병합 활용하며, MAE와 RMSE 지표를 통해 예측</a:t>
            </a:r>
          </a:p>
          <a:p xmlns:a="http://schemas.openxmlformats.org/drawingml/2006/main">
            <a:pPr algn="l"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성능의 정밀도를 검증합니다.</a:t>
            </a: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rag-title">
            <a:extLst xmlns:a="http://schemas.openxmlformats.org/drawingml/2006/main">
              <a:ext uri="{FF2B5EF4-FFF2-40B4-BE49-F238E27FC236}">
                <a16:creationId xmlns:a16="http://schemas.microsoft.com/office/drawing/2014/main" id="{DA73CCEB-7FB8-4355-B780-B827A43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생성 (RAG SYSTEM)</a:t>
            </a:r>
          </a:p>
        </p:txBody>
      </p:sp>
      <p:sp>
        <p:nvSpPr>
          <p:cNvPr id="11" name="rag-body">
            <a:extLst xmlns:a="http://schemas.openxmlformats.org/drawingml/2006/main">
              <a:ext uri="{FF2B5EF4-FFF2-40B4-BE49-F238E27FC236}">
                <a16:creationId xmlns:a16="http://schemas.microsoft.com/office/drawing/2014/main" id="{6711E847-5DFC-4F6B-A7AC-E06CC4C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86425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RAG(검색 증강 생성) 기반 LLM을 도입하여 지자체 맞춤형 정밀 보고서를 자동 생성하는 프로세</a:t>
            </a:r>
          </a:p>
          <a:p xmlns:a="http://schemas.openxmlformats.org/drawingml/2006/main">
            <a:pPr algn="l"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스를 구현합니다.</a:t>
            </a:r>
          </a:p>
        </p:txBody>
      </p:sp>
      <p:sp>
        <p:nvSpPr>
          <p:cNvPr id="12" name="tech-tag-0">
            <a:extLst xmlns:a="http://schemas.openxmlformats.org/drawingml/2006/main">
              <a:ext uri="{FF2B5EF4-FFF2-40B4-BE49-F238E27FC236}">
                <a16:creationId xmlns:a16="http://schemas.microsoft.com/office/drawing/2014/main" id="{0EA517D9-D4C9-4514-A591-17F0664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9607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시계열 분석</a:t>
            </a:r>
          </a:p>
        </p:txBody>
      </p:sp>
      <p:sp>
        <p:nvSpPr>
          <p:cNvPr id="13" name="tech-tag-1">
            <a:extLst xmlns:a="http://schemas.openxmlformats.org/drawingml/2006/main">
              <a:ext uri="{FF2B5EF4-FFF2-40B4-BE49-F238E27FC236}">
                <a16:creationId xmlns:a16="http://schemas.microsoft.com/office/drawing/2014/main" id="{F77688F9-DE30-46D6-A085-D71CB77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960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RAG 모델</a:t>
            </a:r>
          </a:p>
        </p:txBody>
      </p:sp>
      <p:sp>
        <p:nvSpPr>
          <p:cNvPr id="14" name="tech-tag-2">
            <a:extLst xmlns:a="http://schemas.openxmlformats.org/drawingml/2006/main">
              <a:ext uri="{FF2B5EF4-FFF2-40B4-BE49-F238E27FC236}">
                <a16:creationId xmlns:a16="http://schemas.microsoft.com/office/drawing/2014/main" id="{C3AD8E2A-DDA1-4806-A5B4-1793CD7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960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실시간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island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00ca1d82c47fe"/>
          <a:srcRect xmlns:a="http://schemas.openxmlformats.org/drawingml/2006/main" l="0" t="180" r="0" b="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38100"/>
            <a:ext cx="5334000" cy="85058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U I / U X   P L A N N I N 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>
                <a:latin typeface="Noto Sans KR"/>
                <a:ea typeface="Noto Sans KR"/>
                <a:cs typeface="Noto Sans KR"/>
              </a:defRPr>
            </a:pPr>
            <a:r>
              <a:rPr sz="4125" b="0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주요 화면 구성 및 </a:t>
            </a:r>
            <a:r>
              <a:rPr sz="4125" b="0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UI 기획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본 서비스는 사용자 친화적인 인터페이스를 통해 복잡한 데이터를 직관적으로 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달합니다. 각 화면은 공공기관의 의사결정을 지원하기 위해 최적화된 레이아웃을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제공합니다.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메인 및 대시보드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 선택 기능과 방문객 수, 소비 현황 등 핵심 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표 위젯을 전면에 배치하여 즉각적인 통찰을 제공합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니다.</a:t>
            </a: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분석 및 예측 화면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다각도 차트와 함께 머신러닝 기반의 미래 관광 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요 타임라인을 직관적인 UI로 시각화하여 제공합니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AI 리포트 및 챗봇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가독성 높은 전략 텍스트 및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자연어 대화형 인터페이스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지도 서비스 기획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카카오맵 기반 핫플레이스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관광지 클러스터링 시각화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worksp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8864f78f0467b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8900" y="0"/>
            <a:ext cx="49911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F5B46D-ACEF-49E8-88C7-7791551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"/>
            <a:ext cx="508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T E C H   S T A C K   &amp;   I N F R A S T R U C T U R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07090-CAEC-44A9-A7D5-A693A75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75"/>
            <a:ext cx="7820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시스템 아키텍처 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기술 스택</a:t>
            </a:r>
          </a:p>
        </p:txBody>
      </p:sp>
      <p:sp>
        <p:nvSpPr>
          <p:cNvPr id="4" name="short-rule">
            <a:extLst xmlns:a="http://schemas.openxmlformats.org/drawingml/2006/main">
              <a:ext uri="{FF2B5EF4-FFF2-40B4-BE49-F238E27FC236}">
                <a16:creationId xmlns:a16="http://schemas.microsoft.com/office/drawing/2014/main" id="{12D0EFAC-7234-430A-BD04-4FDB295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5" name="stack-card-0">
            <a:extLst xmlns:a="http://schemas.openxmlformats.org/drawingml/2006/main">
              <a:ext uri="{FF2B5EF4-FFF2-40B4-BE49-F238E27FC236}">
                <a16:creationId xmlns:a16="http://schemas.microsoft.com/office/drawing/2014/main" id="{2102C729-BE5F-47E3-8365-EF21CDF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ck-card-0-rail">
            <a:extLst xmlns:a="http://schemas.openxmlformats.org/drawingml/2006/main">
              <a:ext uri="{FF2B5EF4-FFF2-40B4-BE49-F238E27FC236}">
                <a16:creationId xmlns:a16="http://schemas.microsoft.com/office/drawing/2014/main" id="{8EE01844-55D3-44CB-B365-3AEEEEE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stack-card-0-title">
            <a:extLst xmlns:a="http://schemas.openxmlformats.org/drawingml/2006/main">
              <a:ext uri="{FF2B5EF4-FFF2-40B4-BE49-F238E27FC236}">
                <a16:creationId xmlns:a16="http://schemas.microsoft.com/office/drawing/2014/main" id="{7808BF96-70AB-49FA-926C-173A63D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Frontend</a:t>
            </a:r>
          </a:p>
        </p:txBody>
      </p:sp>
      <p:sp>
        <p:nvSpPr>
          <p:cNvPr id="8" name="stack-card-0-body">
            <a:extLst xmlns:a="http://schemas.openxmlformats.org/drawingml/2006/main">
              <a:ext uri="{FF2B5EF4-FFF2-40B4-BE49-F238E27FC236}">
                <a16:creationId xmlns:a16="http://schemas.microsoft.com/office/drawing/2014/main" id="{A4AAFC6D-0D25-4652-8333-440E7BB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React, Vite, Tailwind CSS</a:t>
            </a:r>
          </a:p>
        </p:txBody>
      </p:sp>
      <p:sp>
        <p:nvSpPr>
          <p:cNvPr id="9" name="stack-card-1">
            <a:extLst xmlns:a="http://schemas.openxmlformats.org/drawingml/2006/main">
              <a:ext uri="{FF2B5EF4-FFF2-40B4-BE49-F238E27FC236}">
                <a16:creationId xmlns:a16="http://schemas.microsoft.com/office/drawing/2014/main" id="{410AC1C8-3BB0-4A8C-BCB4-A06F062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ck-card-1-rail">
            <a:extLst xmlns:a="http://schemas.openxmlformats.org/drawingml/2006/main">
              <a:ext uri="{FF2B5EF4-FFF2-40B4-BE49-F238E27FC236}">
                <a16:creationId xmlns:a16="http://schemas.microsoft.com/office/drawing/2014/main" id="{014B4858-5A6D-4478-9F82-811B7ED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1" name="stack-card-1-title">
            <a:extLst xmlns:a="http://schemas.openxmlformats.org/drawingml/2006/main">
              <a:ext uri="{FF2B5EF4-FFF2-40B4-BE49-F238E27FC236}">
                <a16:creationId xmlns:a16="http://schemas.microsoft.com/office/drawing/2014/main" id="{178665D7-2663-4824-B5DE-25268DE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Backend</a:t>
            </a:r>
          </a:p>
        </p:txBody>
      </p:sp>
      <p:sp>
        <p:nvSpPr>
          <p:cNvPr id="12" name="stack-card-1-body">
            <a:extLst xmlns:a="http://schemas.openxmlformats.org/drawingml/2006/main">
              <a:ext uri="{FF2B5EF4-FFF2-40B4-BE49-F238E27FC236}">
                <a16:creationId xmlns:a16="http://schemas.microsoft.com/office/drawing/2014/main" id="{0497E4CD-F2B5-4577-9ABF-8E704CE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Python FastAPI 고성능 서버</a:t>
            </a:r>
          </a:p>
        </p:txBody>
      </p:sp>
      <p:sp>
        <p:nvSpPr>
          <p:cNvPr id="13" name="stack-card-2">
            <a:extLst xmlns:a="http://schemas.openxmlformats.org/drawingml/2006/main">
              <a:ext uri="{FF2B5EF4-FFF2-40B4-BE49-F238E27FC236}">
                <a16:creationId xmlns:a16="http://schemas.microsoft.com/office/drawing/2014/main" id="{CE3ACFDB-E2D2-459A-9122-5176EBF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ck-card-2-rail">
            <a:extLst xmlns:a="http://schemas.openxmlformats.org/drawingml/2006/main">
              <a:ext uri="{FF2B5EF4-FFF2-40B4-BE49-F238E27FC236}">
                <a16:creationId xmlns:a16="http://schemas.microsoft.com/office/drawing/2014/main" id="{3FDAD850-2DC1-4B93-A285-E8CE7CF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5" name="stack-card-2-title">
            <a:extLst xmlns:a="http://schemas.openxmlformats.org/drawingml/2006/main">
              <a:ext uri="{FF2B5EF4-FFF2-40B4-BE49-F238E27FC236}">
                <a16:creationId xmlns:a16="http://schemas.microsoft.com/office/drawing/2014/main" id="{38972BC2-F123-442A-9015-C3E92D97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ML/AI</a:t>
            </a:r>
          </a:p>
        </p:txBody>
      </p:sp>
      <p:sp>
        <p:nvSpPr>
          <p:cNvPr id="16" name="stack-card-2-body">
            <a:extLst xmlns:a="http://schemas.openxmlformats.org/drawingml/2006/main">
              <a:ext uri="{FF2B5EF4-FFF2-40B4-BE49-F238E27FC236}">
                <a16:creationId xmlns:a16="http://schemas.microsoft.com/office/drawing/2014/main" id="{F99C6C36-12F8-452E-B873-3B444CF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PyTorch &amp; LangChain LLM</a:t>
            </a:r>
          </a:p>
        </p:txBody>
      </p:sp>
      <p:sp>
        <p:nvSpPr>
          <p:cNvPr id="17" name="stack-card-3">
            <a:extLst xmlns:a="http://schemas.openxmlformats.org/drawingml/2006/main">
              <a:ext uri="{FF2B5EF4-FFF2-40B4-BE49-F238E27FC236}">
                <a16:creationId xmlns:a16="http://schemas.microsoft.com/office/drawing/2014/main" id="{95DB6C61-F240-48D8-AB16-3242082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ck-card-3-rail">
            <a:extLst xmlns:a="http://schemas.openxmlformats.org/drawingml/2006/main">
              <a:ext uri="{FF2B5EF4-FFF2-40B4-BE49-F238E27FC236}">
                <a16:creationId xmlns:a16="http://schemas.microsoft.com/office/drawing/2014/main" id="{D05A99EE-50C0-40DD-AC95-77415EB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9" name="stack-card-3-title">
            <a:extLst xmlns:a="http://schemas.openxmlformats.org/drawingml/2006/main">
              <a:ext uri="{FF2B5EF4-FFF2-40B4-BE49-F238E27FC236}">
                <a16:creationId xmlns:a16="http://schemas.microsoft.com/office/drawing/2014/main" id="{29DB9699-F5CC-443D-A33F-05801FA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Infrastructure</a:t>
            </a:r>
          </a:p>
        </p:txBody>
      </p:sp>
      <p:sp>
        <p:nvSpPr>
          <p:cNvPr id="20" name="stack-card-3-body">
            <a:extLst xmlns:a="http://schemas.openxmlformats.org/drawingml/2006/main">
              <a:ext uri="{FF2B5EF4-FFF2-40B4-BE49-F238E27FC236}">
                <a16:creationId xmlns:a16="http://schemas.microsoft.com/office/drawing/2014/main" id="{29FAB007-E190-445C-9A17-0D8DD88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AWS EC2, S3, RDS 클라우드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F18701B2-D261-4FBF-8CF4-9E7DB50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57925"/>
            <a:ext cx="81343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본 서비스는 최신 웹 기술과 AI 프레임워크를 결합하여 안정적인 분석 환경을 제공합니다.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Frontend는 React와 Vite, Tailwind CSS를 통해 고성능 반응형 UI를 구현하며, Backend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는 Python FastAPI로 데이터 처리 효율을 극대화합니다. ML/AI 영역에서는 PyTorch 기반의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수요 예측 모델과 LangChain 기반 LLM 오케스트레이션을 통해 지능형 에이전트 기능을 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행합니다. 전체 인프라는 AWS EC2, S3, RDS를 활용하여 최적화된 클라우드 아키텍처로 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계되었습니다.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277062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향후 확장 방향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기대 효과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과학적 분석을 통한 정책 실효성 증대 및 불필요한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예산 절감으로 관광 행정 효율성을 극대화합니다.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분석 고도화 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⌁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◔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▦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⚡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◎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서비스 확장 및 고도화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95775"/>
            <a:ext cx="3648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실시간 유동인구 연동 및 외국인 관광객 정밀 분석 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능을 추가하여 글로벌 관광 수요에 기민하게 대응합니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553075"/>
            <a:ext cx="3648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* AI 기반의 예측 모델을 도입하여 향후 관광 트렌드 변화에 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한 선제적인 의사결정 지원 체계를 구축할 예정입니다.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범위: 글로벌 및 실시간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민간 데이터 융합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카드사, 통신사 등 민간 데이터 결합을 통한 정밀한 지역 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권 분석 및 개인화된 관광 전략 서비스 제공으로 지역 경제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활성화를 견인합니다.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핵심 목표: 지역 경제 활성화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협력: 민간 데이터 거버넌스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2026-09-02T00:28:42.8040000Z</dcterms:created>
  <dcterms:modified xsi:type="dcterms:W3CDTF">2026-09-02T00:28:42.8040000Z</dcterms:modified>
</coreProperties>
</file>