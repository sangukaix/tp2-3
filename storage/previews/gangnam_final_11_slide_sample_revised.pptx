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3004aa6a727d4998" Type="http://schemas.openxmlformats.org/officeDocument/2006/relationships/officeDocument" Target="ppt/presentation.xml"/><Relationship Id="R3f3039f35737454d" Type="http://schemas.openxmlformats.org/officeDocument/2006/relationships/extended-properties" Target="docProps/app.xml"/><Relationship Id="Rd6e1feb4b53c464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b8c8b44d8f4003"/>
  </p:sldMasterIdLst>
  <p:notesMasterIdLst>
    <p:notesMasterId xmlns:r="http://schemas.openxmlformats.org/officeDocument/2006/relationships" r:id="R04d194b486cb403b"/>
  </p:notesMasterIdLst>
  <p:sldIdLst>
    <p:sldId xmlns:r="http://schemas.openxmlformats.org/officeDocument/2006/relationships" id="256" r:id="R3a8ca79064e444de"/>
    <p:sldId xmlns:r="http://schemas.openxmlformats.org/officeDocument/2006/relationships" id="257" r:id="Ra07f23a927fb46cc"/>
    <p:sldId xmlns:r="http://schemas.openxmlformats.org/officeDocument/2006/relationships" id="258" r:id="Rfa41db66c4514433"/>
    <p:sldId xmlns:r="http://schemas.openxmlformats.org/officeDocument/2006/relationships" id="259" r:id="R38df24f9f2394956"/>
    <p:sldId xmlns:r="http://schemas.openxmlformats.org/officeDocument/2006/relationships" id="260" r:id="R7908058dec544efa"/>
    <p:sldId xmlns:r="http://schemas.openxmlformats.org/officeDocument/2006/relationships" id="261" r:id="R16cdad1d534044e0"/>
    <p:sldId xmlns:r="http://schemas.openxmlformats.org/officeDocument/2006/relationships" id="262" r:id="R615c6d31217f4a40"/>
    <p:sldId xmlns:r="http://schemas.openxmlformats.org/officeDocument/2006/relationships" id="263" r:id="Ra7576c7f5afc4442"/>
    <p:sldId xmlns:r="http://schemas.openxmlformats.org/officeDocument/2006/relationships" id="264" r:id="Rcbf3699b2e8c41be"/>
    <p:sldId xmlns:r="http://schemas.openxmlformats.org/officeDocument/2006/relationships" id="265" r:id="Rca7fb8b63bcb47ce"/>
    <p:sldId xmlns:r="http://schemas.openxmlformats.org/officeDocument/2006/relationships" id="266" r:id="R900e18ed28ae4679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04d194b486cb403b" Type="http://schemas.openxmlformats.org/officeDocument/2006/relationships/notesMaster" Target="notesMasters/notesMaster1.xml"/><Relationship Id="R16cdad1d534044e0" Type="http://schemas.openxmlformats.org/officeDocument/2006/relationships/slide" Target="slides/slide6.xml"/><Relationship Id="R38df24f9f2394956" Type="http://schemas.openxmlformats.org/officeDocument/2006/relationships/slide" Target="slides/slide4.xml"/><Relationship Id="R3a8ca79064e444de" Type="http://schemas.openxmlformats.org/officeDocument/2006/relationships/slide" Target="slides/slide1.xml"/><Relationship Id="R475d048bbb2f469e" Type="http://schemas.openxmlformats.org/officeDocument/2006/relationships/presProps" Target="presProps.xml"/><Relationship Id="R52b1c250b63842ed" Type="http://schemas.openxmlformats.org/officeDocument/2006/relationships/tableStyles" Target="tableStyles.xml"/><Relationship Id="R5d5b6131bde549cd" Type="http://schemas.openxmlformats.org/officeDocument/2006/relationships/viewProps" Target="viewProps.xml"/><Relationship Id="R615c6d31217f4a40" Type="http://schemas.openxmlformats.org/officeDocument/2006/relationships/slide" Target="slides/slide7.xml"/><Relationship Id="R7908058dec544efa" Type="http://schemas.openxmlformats.org/officeDocument/2006/relationships/slide" Target="slides/slide5.xml"/><Relationship Id="R900e18ed28ae4679" Type="http://schemas.openxmlformats.org/officeDocument/2006/relationships/slide" Target="slides/slide11.xml"/><Relationship Id="Ra07f23a927fb46cc" Type="http://schemas.openxmlformats.org/officeDocument/2006/relationships/slide" Target="slides/slide2.xml"/><Relationship Id="Ra7576c7f5afc4442" Type="http://schemas.openxmlformats.org/officeDocument/2006/relationships/slide" Target="slides/slide8.xml"/><Relationship Id="Rca7fb8b63bcb47ce" Type="http://schemas.openxmlformats.org/officeDocument/2006/relationships/slide" Target="slides/slide10.xml"/><Relationship Id="Rcbf3699b2e8c41be" Type="http://schemas.openxmlformats.org/officeDocument/2006/relationships/slide" Target="slides/slide9.xml"/><Relationship Id="Rd5b8c8b44d8f4003" Type="http://schemas.openxmlformats.org/officeDocument/2006/relationships/slideMaster" Target="slideMasters/slideMaster1.xml"/><Relationship Id="Reebebe7861a04164" Type="http://schemas.openxmlformats.org/officeDocument/2006/relationships/theme" Target="theme/theme1.xml"/><Relationship Id="Rfa41db66c4514433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2dbc4db5a8a444a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ae258c4954e4419" Type="http://schemas.openxmlformats.org/officeDocument/2006/relationships/notesMaster" Target="../notesMasters/notesMaster1.xml"/><Relationship Id="Rd4b02427a8614bb0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45a4e7197d954242" Type="http://schemas.openxmlformats.org/officeDocument/2006/relationships/slide" Target="../slides/slide2.xml"/><Relationship Id="Rfb08e03487e94c9d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97d360eab5646d6" Type="http://schemas.openxmlformats.org/officeDocument/2006/relationships/slide" Target="../slides/slide3.xml"/><Relationship Id="Re50d75d952f345b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32be61918dd445b5" Type="http://schemas.openxmlformats.org/officeDocument/2006/relationships/slide" Target="../slides/slide4.xml"/><Relationship Id="R51f479d8defe49f3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1215967327e94542" Type="http://schemas.openxmlformats.org/officeDocument/2006/relationships/slide" Target="../slides/slide5.xml"/><Relationship Id="Rfbe801d3eb01495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d237a227c04c4447" Type="http://schemas.openxmlformats.org/officeDocument/2006/relationships/notesMaster" Target="../notesMasters/notesMaster1.xml"/><Relationship Id="Rfe3944cbf3374060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34391fcc118f49db" Type="http://schemas.openxmlformats.org/officeDocument/2006/relationships/notesMaster" Target="../notesMasters/notesMaster1.xml"/><Relationship Id="R4a867bf92d524797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b28a1eaa285c4e6c" Type="http://schemas.openxmlformats.org/officeDocument/2006/relationships/slide" Target="../slides/slide8.xml"/><Relationship Id="Rb3b6b1a7923f480a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3658599973a0448a" Type="http://schemas.openxmlformats.org/officeDocument/2006/relationships/slide" Target="../slides/slide9.xml"/><Relationship Id="R83bb8e11b6c149fb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67cb5c1e258e4e0a" Type="http://schemas.openxmlformats.org/officeDocument/2006/relationships/notesMaster" Target="../notesMasters/notesMaster1.xml"/><Relationship Id="R777b472ed6cc40f4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74f16d6ada7495f" Type="http://schemas.openxmlformats.org/officeDocument/2006/relationships/slide" Target="../slides/slide11.xml"/><Relationship Id="R79520d872acb49d6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표지의 지역·전략·기간은 검증된 보고서 JSON에서 읽음.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목차는 승인된 11장 기획서 구조를 고정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관측값은 보고서 observed_findings, 전략 문장은 승인된 전략 JSON을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저장 ML의 자연추세만 사용하며 정책효과를 예측하지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지역 비교·공식 사례는 인과효과가 아닌 적용성 판단 근거로만 사용.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implementation_steps의 일정·행동·산출물을 4단계와 최종 산출물로 정리.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수치 목표는 사용자 검토값이며 실제 운영 결과로 별도 검증.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예산은 수량×단가 또는 비교견적으로 확정하며 근거 없는 총액을 만들지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기대효과는 시범 운영 후 기록으로 확대·보완·중단을 판단하는 제안임.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MySQL 관측값·저장 ML 자연추세·운영 결과의 역할을 분리.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한국관광 데이터랩 · 서울특별시 강남구 순 방문자 수 및 숙박 비율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월간 순 방문자 수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관광소비 추이_외지인: https://datalab.visitkorea.or.kr/</a:t>
            </a:r>
          </a:p>
          <a:p xmlns:a="http://schemas.openxmlformats.org/drawingml/2006/main">
            <a:r>
              <a:t>- 한국관광 데이터랩 · 서울특별시 강남구 숙박방문자 비율 추이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평균 숙박일 (이동통신 기반 외지인): https://datalab.visitkorea.or.kr/</a:t>
            </a:r>
          </a:p>
          <a:p xmlns:a="http://schemas.openxmlformats.org/drawingml/2006/main">
            <a:r>
              <a:t>- 한국관광 데이터랩 · 서울특별시 강남구 내비게이션 목적지 유형별 검색량: https://datalab.visitkorea.or.kr/</a:t>
            </a:r>
          </a:p>
          <a:p xmlns:a="http://schemas.openxmlformats.org/drawingml/2006/main"/>
          <a:p xmlns:a="http://schemas.openxmlformats.org/drawingml/2006/main">
            <a:r>
              <a:t>[Method]</a:t>
            </a:r>
          </a:p>
          <a:p xmlns:a="http://schemas.openxmlformats.org/drawingml/2006/main">
            <a:r>
              <a:t>월별 운영기록을 기준으로 다음 예산과 범위를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99ef161b2cff4dc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5e1677387c9144c6" Type="http://schemas.openxmlformats.org/officeDocument/2006/relationships/theme" Target="theme/theme2.xml"/><Relationship Id="Ra0ab52a433a94f8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b52a433a94f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1b7e33425c44543" Type="http://schemas.openxmlformats.org/officeDocument/2006/relationships/slideLayout" Target="../slideLayouts/slideLayout1.xml"/><Relationship Id="Raacbc0a4d4834fca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af609f97aa440ae" Type="http://schemas.openxmlformats.org/officeDocument/2006/relationships/notesSlide" Target="../notesSlides/notesSlide2.xml"/><Relationship Id="Rbda1fa9e933f4c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2f55a14ed6b34f17" Type="http://schemas.openxmlformats.org/officeDocument/2006/relationships/image" Target="../media/image.png"/><Relationship Id="R4aa11fcc90dc4276" Type="http://schemas.openxmlformats.org/officeDocument/2006/relationships/slideLayout" Target="../slideLayouts/slideLayout1.xml"/><Relationship Id="R615f4d9d8cf74e4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2099782a1074eb3" Type="http://schemas.openxmlformats.org/officeDocument/2006/relationships/chart" Target="charts/chart2.xml"/><Relationship Id="R1c845476be854d29" Type="http://schemas.openxmlformats.org/officeDocument/2006/relationships/chart" Target="charts/chart1.xml"/><Relationship Id="R781f9058dfe94d6b" Type="http://schemas.openxmlformats.org/officeDocument/2006/relationships/slideLayout" Target="../slideLayouts/slideLayout1.xml"/><Relationship Id="Raf9e40f9a445408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5743d6538cd4a5e" Type="http://schemas.openxmlformats.org/officeDocument/2006/relationships/slideLayout" Target="../slideLayouts/slideLayout1.xml"/><Relationship Id="Rc3f1d825c9c44a4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4169dae2cd604053" Type="http://schemas.openxmlformats.org/officeDocument/2006/relationships/notesSlide" Target="../notesSlides/notesSlide6.xml"/><Relationship Id="Rd6533d1d1e1c489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5a756219bf14416b" Type="http://schemas.openxmlformats.org/officeDocument/2006/relationships/notesSlide" Target="../notesSlides/notesSlide7.xml"/><Relationship Id="R790dad5a4a2b4ca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a694ace5abbf47df" Type="http://schemas.openxmlformats.org/officeDocument/2006/relationships/slideLayout" Target="../slideLayouts/slideLayout1.xml"/><Relationship Id="Rbc2248e8cf514ebe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012ff6d214c4488b" Type="http://schemas.openxmlformats.org/officeDocument/2006/relationships/slideLayout" Target="../slideLayouts/slideLayout1.xml"/><Relationship Id="R30f83c3b88734528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c6aa578900546b5" Type="http://schemas.openxmlformats.org/officeDocument/2006/relationships/notesSlide" Target="../notesSlides/notesSlide10.xml"/><Relationship Id="R8eee3b00b9cc49a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1ba01bff79044ef5" Type="http://schemas.openxmlformats.org/officeDocument/2006/relationships/slideLayout" Target="../slideLayouts/slideLayout1.xml"/><Relationship Id="R46e3f559de9148de" Type="http://schemas.openxmlformats.org/officeDocument/2006/relationships/notesSlide" Target="../notesSlides/notesSlide11.xml"/></Relationships>
</file>

<file path=ppt/slides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1.xlsx"/></Relationships>
</file>

<file path=ppt/slides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../embeddings/Microsoft_Excel_Sheet2.xlsx"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solidFill xmlns:a="http://schemas.openxmlformats.org/drawingml/2006/main">
              <a:srgbClr val="004EA2"/>
            </a:solidFill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1796.3441</c:v>
                </c:pt>
                <c:pt idx="1">
                  <c:v>1815.0</c:v>
                </c:pt>
                <c:pt idx="2">
                  <c:v>1848.0</c:v>
                </c:pt>
                <c:pt idx="3">
                  <c:v>1873.0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externalData xmlns:r="http://schemas.openxmlformats.org/officeDocument/2006/relationships" r:id="rId1">
    <c:autoUpdate val="0"/>
  </c:externalData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4760.0</c:v>
                </c:pt>
                <c:pt idx="1">
                  <c:v>4910.0</c:v>
                </c:pt>
                <c:pt idx="2">
                  <c:v>5060.0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B1F2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9636E"/>
                </a:solidFill>
              </a:defRPr>
            </a:pPr>
          </a:p>
        </c:txPr>
        <c:crossAx val="48650112"/>
        <c:crossBetween val="between"/>
      </c:valAx>
    </c:plotArea>
    <c:plotVisOnly val="1"/>
  </c:chart>
  <c:spPr>
    <a:solidFill xmlns:a="http://schemas.openxmlformats.org/drawingml/2006/main">
      <a:srgbClr val="FFFFFF"/>
    </a:solidFill>
  </c:spPr>
  <c:externalData xmlns:r="http://schemas.openxmlformats.org/officeDocument/2006/relationships" r:id="rId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952750"/>
            <a:ext cx="281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3435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1038225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1590675"/>
            <a:ext cx="1190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 / API 미호출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"/>
            <a:ext cx="3943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29075"/>
            <a:ext cx="39814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rPr>
              <a:t>T A B L E   O F   C O N T E N T 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718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개요·기획 배경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814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8766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862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5815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99110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2863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695950"/>
            <a:ext cx="457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1813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718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5814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8862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766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예산·성과 측정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2862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5910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45815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기대 효과·확대 판단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9911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6863E528-57CD-4AC7-B739-638B9D1A6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2959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7973D5FF-EC69-4502-BD57-1363CA77B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28637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 해석 기준</a:t>
            </a:r>
          </a:p>
        </p:txBody>
      </p:sp>
      <p:sp>
        <p:nvSpPr>
          <p:cNvPr id="3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9E02F587-CF56-4FC9-9416-D770E870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69595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7CA95524-8009-4175-8193-2BCBEFD7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0007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3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8D04CA32-3D2D-4B71-A0D1-78C6E7C3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9912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월별 성과관리</a:t>
            </a:r>
          </a:p>
        </p:txBody>
      </p:sp>
      <p:sp>
        <p:nvSpPr>
          <p:cNvPr id="3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AD8C59D1-0A8D-4B5A-97F3-64A3B7C7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6400800"/>
            <a:ext cx="4333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55a14ed6b34f17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76300"/>
            <a:ext cx="8096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전환 프로젝트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96250"/>
            <a:ext cx="4143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템플릿 시각화 · 지역별 공식 사진 미연결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4322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내비게이션 검색 773,380건을 출발 수요로 보고, 검색이 많은 지점과…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9550"/>
            <a:ext cx="8524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전년동월 외지인 방문자 증감률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-8.3%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외지인 관광소비 총액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24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방문 규모만으로는 지역 안에서 충분한 소비와 체류가 이어졌다고 보기 어렵습니다. 숙박 방문 비율은 3.1%, 평균 숙박일수는 2.91일입니다. 같은 기간·같은 기준으로 비교할 지역 원본이 충분하지 않아 선택 지역의 월별 변화만 사용했습니다. 관측값은 원자료, 향후 수치는…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DEMO VALUES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47800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67025"/>
            <a:ext cx="75438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보고서는 과거 월별 원자료를 시간순으로 학습한 저장 ML 자연추세만 표시하며, 정책 효과나 성과를 보장하지 않습니다.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10025"/>
            <a:ext cx="556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1,815만 명 →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00550"/>
            <a:ext cx="73247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 시나리오입니다.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1244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단위: 만 명 · 더미 예시 · 실제 ML 아님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304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샘플 해석 · 더미 시나리오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626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레이아웃 검토용 예시값이며 실제 생성 때 저장 ML로 대체됩니다.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590550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845476be854d29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33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월 관광소비액: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099782a1074eb3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467475"/>
            <a:ext cx="4286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더미 예시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생성 시 저장 ML 전망으로 대체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성과는 별도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14425"/>
            <a:ext cx="78771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지역·사례로 검토한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13058775" cy="525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781300"/>
            <a:ext cx="0" cy="5257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00675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현재 신호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17,963,441명 · 선택 지역 공식 원자료의 최신 월 관측값입니다.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관측 사실에서 출발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670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8860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비교 지역이 주는 힌트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791075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기간·같은 기준으로 비교할 지역 원본이 충분하지 않아 선택 지역의 월별 변화만…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43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비교는 인과효과가 아님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143500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사례의 운영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사례의 운영 방식의 운영 요소를 확인하고 지역 여건에 맞는 부분만 적용합니다.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운영 조건을 재확인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05525"/>
            <a:ext cx="542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6124575"/>
            <a:ext cx="53625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선택 지역의 실행 원칙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41045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내비게이션 검색 773,380건을 출발 수요로 보고, 검색이 많은 지점과 식음료업·쇼핑업…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820025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3~6개월 시범 운영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7820025"/>
            <a:ext cx="152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290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순방문자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6385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6710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관측값</a:t>
            </a:r>
          </a:p>
        </p:txBody>
      </p:sp>
      <p:sp>
        <p:nvSpPr>
          <p:cNvPr id="31" name="peer-visit-base">
            <a:extLst xmlns:a="http://schemas.openxmlformats.org/drawingml/2006/main">
              <a:ext uri="{FF2B5EF4-FFF2-40B4-BE49-F238E27FC236}">
                <a16:creationId xmlns:a16="http://schemas.microsoft.com/office/drawing/2014/main" id="{95A55094-375F-4CBC-87E9-01623451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266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2" name="peer-visit-current">
            <a:extLst xmlns:a="http://schemas.openxmlformats.org/drawingml/2006/main">
              <a:ext uri="{FF2B5EF4-FFF2-40B4-BE49-F238E27FC236}">
                <a16:creationId xmlns:a16="http://schemas.microsoft.com/office/drawing/2014/main" id="{B1E1B29C-26C7-4182-98DE-E40E6883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05250"/>
            <a:ext cx="2667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peer-visit-base-label">
            <a:extLst xmlns:a="http://schemas.openxmlformats.org/drawingml/2006/main">
              <a:ext uri="{FF2B5EF4-FFF2-40B4-BE49-F238E27FC236}">
                <a16:creationId xmlns:a16="http://schemas.microsoft.com/office/drawing/2014/main" id="{F98C0165-64EF-4D59-86EA-2F46D36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4" name="peer-visit-current-label">
            <a:extLst xmlns:a="http://schemas.openxmlformats.org/drawingml/2006/main">
              <a:ext uri="{FF2B5EF4-FFF2-40B4-BE49-F238E27FC236}">
                <a16:creationId xmlns:a16="http://schemas.microsoft.com/office/drawing/2014/main" id="{6FC1FAF2-A607-4351-A428-125F0A3C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5524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선택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514850"/>
            <a:ext cx="990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같은 기준으로 확인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3429000"/>
            <a:ext cx="166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37" name="peer-stay-gangnam">
            <a:extLst xmlns:a="http://schemas.openxmlformats.org/drawingml/2006/main">
              <a:ext uri="{FF2B5EF4-FFF2-40B4-BE49-F238E27FC236}">
                <a16:creationId xmlns:a16="http://schemas.microsoft.com/office/drawing/2014/main" id="{EA35701A-E4F5-45D3-894C-C781DED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3914775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8" name="peer-stay-seocho">
            <a:extLst xmlns:a="http://schemas.openxmlformats.org/drawingml/2006/main">
              <a:ext uri="{FF2B5EF4-FFF2-40B4-BE49-F238E27FC236}">
                <a16:creationId xmlns:a16="http://schemas.microsoft.com/office/drawing/2014/main" id="{0263F32C-C4C3-4679-A155-D99009FE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53950" y="3800475"/>
            <a:ext cx="342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7C9"/>
          </a:solidFill>
          <a:ln xmlns:a="http://schemas.openxmlformats.org/drawingml/2006/main" w="0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600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40" name="peer-stay-seocho-value">
            <a:extLst xmlns:a="http://schemas.openxmlformats.org/drawingml/2006/main">
              <a:ext uri="{FF2B5EF4-FFF2-40B4-BE49-F238E27FC236}">
                <a16:creationId xmlns:a16="http://schemas.microsoft.com/office/drawing/2014/main" id="{8BD2FFD0-A90A-4EEC-B06C-7457FB3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34861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비교 검토</a:t>
            </a:r>
          </a:p>
        </p:txBody>
      </p:sp>
      <p:sp>
        <p:nvSpPr>
          <p:cNvPr id="41" name="peer-stay-gangnam-label">
            <a:extLst xmlns:a="http://schemas.openxmlformats.org/drawingml/2006/main">
              <a:ext uri="{FF2B5EF4-FFF2-40B4-BE49-F238E27FC236}">
                <a16:creationId xmlns:a16="http://schemas.microsoft.com/office/drawing/2014/main" id="{7D481E49-FABE-41D3-B648-514B5944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선택 지역</a:t>
            </a:r>
          </a:p>
        </p:txBody>
      </p:sp>
      <p:sp>
        <p:nvSpPr>
          <p:cNvPr id="42" name="peer-stay-seocho-label">
            <a:extLst xmlns:a="http://schemas.openxmlformats.org/drawingml/2006/main">
              <a:ext uri="{FF2B5EF4-FFF2-40B4-BE49-F238E27FC236}">
                <a16:creationId xmlns:a16="http://schemas.microsoft.com/office/drawing/2014/main" id="{1B6892B0-EDD1-4295-BFF7-DA5A61C5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43053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비교 지역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5529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기간·정의 일치 후 해석</a:t>
            </a:r>
          </a:p>
        </p:txBody>
      </p:sp>
      <p:sp>
        <p:nvSpPr>
          <p:cNvPr id="44" name="peer-case-label">
            <a:extLst xmlns:a="http://schemas.openxmlformats.org/drawingml/2006/main">
              <a:ext uri="{FF2B5EF4-FFF2-40B4-BE49-F238E27FC236}">
                <a16:creationId xmlns:a16="http://schemas.microsoft.com/office/drawing/2014/main" id="{E6B215A7-B775-4FBD-9EA3-8ED9D916C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68655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공식 사례에서 확인할 운영 구조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문화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프로그램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도보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029450"/>
            <a:ext cx="28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53250"/>
            <a:ext cx="7048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7038975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</a:t>
            </a:r>
          </a:p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3" name="peer-pilot-label">
            <a:extLst xmlns:a="http://schemas.openxmlformats.org/drawingml/2006/main">
              <a:ext uri="{FF2B5EF4-FFF2-40B4-BE49-F238E27FC236}">
                <a16:creationId xmlns:a16="http://schemas.microsoft.com/office/drawing/2014/main" id="{2AB5BD55-C55F-458A-BD66-0C3F8D61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686550"/>
            <a:ext cx="2524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운영에서 확인할 전환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예약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19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70294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6953250"/>
            <a:ext cx="6477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92125" y="7038975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가이드: 4단계 운영·평가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참여 업소·동선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479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48025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705225"/>
            <a:ext cx="3048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 반응 기록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000750"/>
            <a:ext cx="4819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57950"/>
            <a:ext cx="122015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</a:rPr>
              <a:t>산출물: 성과 비교표와 다음 운영안. 비용·이탈·민원·현장 운영 가능성을 함께 확인해 확대·보완·중단을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샘플 KPI: 더미 ML 예시와 운영 목표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더미값이며, 실제 보고서는 저장 ML과 운영 기록으로 대체합니다.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예시 목표 +2.00%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자연추세와 운영 목표의 배치 예시입니다.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예시 목표 +2.50%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관광소비 추세와 운영 목표의 배치 예시입니다.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4,879억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286250"/>
            <a:ext cx="81915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338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39814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&amp; KPI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81248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실행 예산과 성과 측정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847975"/>
            <a:ext cx="7600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예산 산정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안내 페이지, 홍보물, 참여 업소 운영 지원, 성과 측정 항목별로 수량을 정한 뒤 2개 이상 비교견적으로 산정합니다.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/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analysis-rail">
            <a:extLst xmlns:a="http://schemas.openxmlformats.org/drawingml/2006/main">
              <a:ext uri="{FF2B5EF4-FFF2-40B4-BE49-F238E27FC236}">
                <a16:creationId xmlns:a16="http://schemas.microsoft.com/office/drawing/2014/main" id="{1572652E-8668-4368-ACB8-903355EF5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38625"/>
            <a:ext cx="0" cy="1190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analysis-title">
            <a:extLst xmlns:a="http://schemas.openxmlformats.org/drawingml/2006/main">
              <a:ext uri="{FF2B5EF4-FFF2-40B4-BE49-F238E27FC236}">
                <a16:creationId xmlns:a16="http://schemas.microsoft.com/office/drawing/2014/main" id="{0C654D2C-AC31-4495-9545-0DAE5ED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86250"/>
            <a:ext cx="3533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성과·집행 동시 관리</a:t>
            </a:r>
          </a:p>
        </p:txBody>
      </p:sp>
      <p:sp>
        <p:nvSpPr>
          <p:cNvPr id="11" name="analysis-body">
            <a:extLst xmlns:a="http://schemas.openxmlformats.org/drawingml/2006/main">
              <a:ext uri="{FF2B5EF4-FFF2-40B4-BE49-F238E27FC236}">
                <a16:creationId xmlns:a16="http://schemas.microsoft.com/office/drawing/2014/main" id="{DB2F5A81-D4FD-489F-82C8-C6166E89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724400"/>
            <a:ext cx="34766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이용 건수, 참여 업소 결제 건수, 외지인 관광소비액, 숙박 방문 비율을 운영 전후 같은 기준으로 확인합니다.</a:t>
            </a: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전 원칙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3개 이상 비교견적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재확인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계약 전 단가 검증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257925"/>
            <a:ext cx="2457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운영 중 원칙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629400"/>
            <a:ext cx="3105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집행·KPI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비교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05625"/>
            <a:ext cx="2781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성과에 따라 조정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200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견적 · 총 2.40억 원</a:t>
            </a:r>
          </a:p>
        </p:txBody>
      </p:sp>
      <p:graphicFrame>
        <p:nvGraphicFramePr>
          <p:cNvPr id="43" name=""/>
          <p:cNvGraphicFramePr/>
          <p:nvPr/>
        </p:nvGraphicFramePr>
        <p:xfrm>
          <a:off xmlns:a="http://schemas.openxmlformats.org/drawingml/2006/main" x="9763125" y="1695450"/>
          <a:ext xmlns:a="http://schemas.openxmlformats.org/drawingml/2006/main" cx="4810125" cy="4905375"/>
        </p:xfrm>
        <a:graphic xmlns:a="http://schemas.openxmlformats.org/drawingml/2006/main">
          <a:graphicData uri="http://schemas.openxmlformats.org/drawingml/2006/table">
            <a:tbl>
              <a:tblPr firstRow="1" firstCol="1" lastRow="1" bandRow="1"/>
              <a:tblGrid>
                <a:gridCol w="2257425"/>
                <a:gridCol w="1143000"/>
                <a:gridCol w="1409700"/>
              </a:tblGrid>
              <a:tr h="53340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세부 항목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예산 비중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FFFFFF"/>
                          </a:solidFill>
                          <a:latin typeface="Noto Sans KR"/>
                        </a:rPr>
                        <a:t>금액</a:t>
                      </a:r>
                    </a:p>
                  </a:txBody>
                  <a:tcPr marL="91440" marR="91440" marT="45720" marB="45720">
                    <a:solidFill>
                      <a:srgbClr val="004EA2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프로그램 운영·안전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45.00%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1.08억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참여 혜택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25.00%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0.60억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예약·결제 연동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11.67%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0.28억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홍보·다국어 콘텐츠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9.17%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0.22억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성과 측정·검토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5.83%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0.14억 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/>
                    <a:lstStyle/>
                    <a:p>
                      <a:pPr/>
                      <a:r>
                        <a:rPr sz="975">
                          <a:solidFill>
                            <a:srgbClr val="1B1F23"/>
                          </a:solidFill>
                          <a:latin typeface="Noto Sans KR"/>
                        </a:rPr>
                        <a:t>예비비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3.33%</a:t>
                      </a:r>
                    </a:p>
                  </a:txBody>
                  <a:tcPr marL="91440" marR="91440" marT="45720" marB="45720">
                    <a:solidFill>
                      <a:srgbClr val="EEF9FA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975" b="1">
                          <a:solidFill>
                            <a:srgbClr val="1B1F23"/>
                          </a:solidFill>
                          <a:latin typeface="Noto Sans KR"/>
                        </a:rPr>
                        <a:t>0.08억 원</a:t>
                      </a:r>
                    </a:p>
                  </a:txBody>
                  <a:tcPr marL="91440" marR="91440" marT="45720" marB="45720">
                    <a:solidFill>
                      <a:srgbClr val="F5F8FB"/>
                    </a:solidFill>
                  </a:tcPr>
                </a:tc>
              </a:tr>
              <a:tr h="552450"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합계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100.00%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sz="1050" b="1">
                          <a:solidFill>
                            <a:srgbClr val="004EA2"/>
                          </a:solidFill>
                          <a:latin typeface="Noto Sans KR"/>
                        </a:rPr>
                        <a:t>2.40억 원</a:t>
                      </a:r>
                    </a:p>
                  </a:txBody>
                  <a:tcPr marL="91440" marR="91440" marT="45720" marB="45720">
                    <a:solidFill>
                      <a:srgbClr val="DDF4F7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858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실제 집행 전 비교견적·부가세·계약 조건을 확정합니다.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근거가 쌓이면 확대합니다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시범에서 확인할 변화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방문자가 지역 안에서 이동하고 소비할 이유를 명확히 만들며, 실제 운영 결과를 바탕으로 확대 여부를 판단할 수 있습니다.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기록할 핵심 항목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완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원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월별 확대 판단 게이트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기록을 기준선·운영일·비운영일로 나눠 보고, 사전 상한을 충족하는지 판단합니다.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72150"/>
            <a:ext cx="36480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목표치와 자연추세를 구분하고, 비교 설계가 약하면 효과를 단정하지 않습니다.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의사결정: 월별 근거 공개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데이터 협약 후 단계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숙박·외국인·민간결제 데이터는 제휴 범위와 개인정보 검토가 끝난 항목부터 연결합니다.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확인된 근거에서만 예산 확대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원칙: 효과를 단정하지 않음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완료 · 결제 · 원가 · 민원 · 비교 · 협약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2481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719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2576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판정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714875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월별 동일 기준 · 다음 달 운영 범위 조정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6115050"/>
            <a:ext cx="3857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 협약  →  소규모 확대  →  월별 재판단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66950"/>
            <a:ext cx="63531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사실·전망·검증을 구분합니다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718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공식 관측값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33900"/>
            <a:ext cx="3486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 lnSpcReduction="2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순 방문자 수·전년동월 외지인 방문자 증감률·월간 외지인 관광소비 총액은 원자료에서 확인한 관측값입니다.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표기: 관측 사실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소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숙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기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출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5246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6591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처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3718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ML 자연추세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257800"/>
            <a:ext cx="3648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202401~202607를 시간순으로 검증해 향후 자연추세를 제시합니다.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781675"/>
            <a:ext cx="36480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* 자연추세는 시범사업 효과가 아니라 운영 시기 참고를 위한 모델 전망입니다.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5532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해석: 성과 보장 아님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718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시범 운영 결과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95775"/>
            <a:ext cx="4048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운영일·비운영일의 실제 기록이 쌓인 뒤에만 확대·보완·중단을 판단합니다.</a:t>
            </a:r>
          </a:p>
        </p:txBody>
      </p:sp>
      <p:sp>
        <p:nvSpPr>
          <p:cNvPr id="26" name="private-info">
            <a:extLst xmlns:a="http://schemas.openxmlformats.org/drawingml/2006/main">
              <a:ext uri="{FF2B5EF4-FFF2-40B4-BE49-F238E27FC236}">
                <a16:creationId xmlns:a16="http://schemas.microsoft.com/office/drawing/2014/main" id="{D48F3C63-9D79-481C-991B-B8716C1F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49720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private-info-label">
            <a:extLst xmlns:a="http://schemas.openxmlformats.org/drawingml/2006/main">
              <a:ext uri="{FF2B5EF4-FFF2-40B4-BE49-F238E27FC236}">
                <a16:creationId xmlns:a16="http://schemas.microsoft.com/office/drawing/2014/main" id="{A5D8162B-C8F7-4F75-8A4B-B9894BFF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4972050"/>
            <a:ext cx="95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i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743575"/>
            <a:ext cx="3438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핵심: 기록된 효과만 다음 판단에 사용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5532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판정: 확대 · 보완 · 중단</a:t>
            </a:r>
          </a:p>
        </p:txBody>
      </p:sp>
      <p:sp>
        <p:nvSpPr>
          <p:cNvPr id="31" name="evidence-legend">
            <a:extLst xmlns:a="http://schemas.openxmlformats.org/drawingml/2006/main">
              <a:ext uri="{FF2B5EF4-FFF2-40B4-BE49-F238E27FC236}">
                <a16:creationId xmlns:a16="http://schemas.microsoft.com/office/drawing/2014/main" id="{12639D96-A67A-4BFA-8CFA-2D4B0339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71247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· 소비 · 숙박 · 기준월 · 출처 · 확인</a:t>
            </a:r>
          </a:p>
        </p:txBody>
      </p:sp>
      <p:sp>
        <p:nvSpPr>
          <p:cNvPr id="32" name="evidence-input-box">
            <a:extLst xmlns:a="http://schemas.openxmlformats.org/drawingml/2006/main">
              <a:ext uri="{FF2B5EF4-FFF2-40B4-BE49-F238E27FC236}">
                <a16:creationId xmlns:a16="http://schemas.microsoft.com/office/drawing/2014/main" id="{B2CFD366-26B8-4D6D-BB6D-D38E5952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3" name="evidence-input-label">
            <a:extLst xmlns:a="http://schemas.openxmlformats.org/drawingml/2006/main">
              <a:ext uri="{FF2B5EF4-FFF2-40B4-BE49-F238E27FC236}">
                <a16:creationId xmlns:a16="http://schemas.microsoft.com/office/drawing/2014/main" id="{FDB304C7-734E-475C-B21A-042B8AF8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원자료</a:t>
            </a:r>
          </a:p>
        </p:txBody>
      </p:sp>
      <p:sp>
        <p:nvSpPr>
          <p:cNvPr id="34" name="evidence-arrow-1">
            <a:extLst xmlns:a="http://schemas.openxmlformats.org/drawingml/2006/main">
              <a:ext uri="{FF2B5EF4-FFF2-40B4-BE49-F238E27FC236}">
                <a16:creationId xmlns:a16="http://schemas.microsoft.com/office/drawing/2014/main" id="{58F1A183-EB63-4513-88B5-34963034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evidence-validate-box">
            <a:extLst xmlns:a="http://schemas.openxmlformats.org/drawingml/2006/main">
              <a:ext uri="{FF2B5EF4-FFF2-40B4-BE49-F238E27FC236}">
                <a16:creationId xmlns:a16="http://schemas.microsoft.com/office/drawing/2014/main" id="{8D95D6B2-E6E4-44C3-A674-3B88F34D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6" name="evidence-validate-label">
            <a:extLst xmlns:a="http://schemas.openxmlformats.org/drawingml/2006/main">
              <a:ext uri="{FF2B5EF4-FFF2-40B4-BE49-F238E27FC236}">
                <a16:creationId xmlns:a16="http://schemas.microsoft.com/office/drawing/2014/main" id="{E3C30E98-238B-431D-9EC8-1FD6B8EE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시간순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검증</a:t>
            </a:r>
          </a:p>
        </p:txBody>
      </p:sp>
      <p:sp>
        <p:nvSpPr>
          <p:cNvPr id="37" name="evidence-arrow-2">
            <a:extLst xmlns:a="http://schemas.openxmlformats.org/drawingml/2006/main">
              <a:ext uri="{FF2B5EF4-FFF2-40B4-BE49-F238E27FC236}">
                <a16:creationId xmlns:a16="http://schemas.microsoft.com/office/drawing/2014/main" id="{582F6E78-63A4-4120-B60D-E86E2D4A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576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evidence-forecast-box">
            <a:extLst xmlns:a="http://schemas.openxmlformats.org/drawingml/2006/main">
              <a:ext uri="{FF2B5EF4-FFF2-40B4-BE49-F238E27FC236}">
                <a16:creationId xmlns:a16="http://schemas.microsoft.com/office/drawing/2014/main" id="{7B9C5A78-D9EA-43D6-A6A3-0524FC18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71950"/>
            <a:ext cx="8382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evidence-forecast-label">
            <a:extLst xmlns:a="http://schemas.openxmlformats.org/drawingml/2006/main">
              <a:ext uri="{FF2B5EF4-FFF2-40B4-BE49-F238E27FC236}">
                <a16:creationId xmlns:a16="http://schemas.microsoft.com/office/drawing/2014/main" id="{B1B9F64A-36B5-4EA5-AC4F-26008C65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257675"/>
            <a:ext cx="742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자연</a:t>
            </a:r>
          </a:p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추세</a:t>
            </a:r>
          </a:p>
        </p:txBody>
      </p:sp>
      <p:sp>
        <p:nvSpPr>
          <p:cNvPr id="40" name="evidence-flow-caption">
            <a:extLst xmlns:a="http://schemas.openxmlformats.org/drawingml/2006/main">
              <a:ext uri="{FF2B5EF4-FFF2-40B4-BE49-F238E27FC236}">
                <a16:creationId xmlns:a16="http://schemas.microsoft.com/office/drawing/2014/main" id="{22CAF890-50C2-47C5-B0EF-48B568B3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724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학습값과 운영성과를 같은 뜻으로 해석하지 않습니다</a:t>
            </a:r>
          </a:p>
        </p:txBody>
      </p:sp>
      <p:sp>
        <p:nvSpPr>
          <p:cNvPr id="41" name="evidence-result-flow">
            <a:extLst xmlns:a="http://schemas.openxmlformats.org/drawingml/2006/main">
              <a:ext uri="{FF2B5EF4-FFF2-40B4-BE49-F238E27FC236}">
                <a16:creationId xmlns:a16="http://schemas.microsoft.com/office/drawing/2014/main" id="{62F47E62-73AB-4A0E-B70F-1EF10C2F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115050"/>
            <a:ext cx="3848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운영기록  →  비교분석  →  다음 달 조정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952500"/>
            <a:ext cx="758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월별 성과관리: 기록이 다음 예산을 결정합니다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704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기간에는 예측값보다 운영일·비운영일의 실제 기록을 먼저 확인합니다.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1~2주 · 기준선·협약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3~4주 · 주간 기록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5~6개월차 · 확대·보완·중단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운영 전후 같은 달 지표를 비교해 유지·수정·확대 결정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486525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896100"/>
            <a:ext cx="3600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성과 비교표와 다음 운영안</a:t>
            </a:r>
          </a:p>
        </p:txBody>
      </p:sp>
      <p:sp>
        <p:nvSpPr>
          <p:cNvPr id="46" name="score-base-visit-box">
            <a:extLst xmlns:a="http://schemas.openxmlformats.org/drawingml/2006/main">
              <a:ext uri="{FF2B5EF4-FFF2-40B4-BE49-F238E27FC236}">
                <a16:creationId xmlns:a16="http://schemas.microsoft.com/office/drawing/2014/main" id="{DB3BE161-CC53-4F73-9010-521C47D0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7" name="score-base-visit-label">
            <a:extLst xmlns:a="http://schemas.openxmlformats.org/drawingml/2006/main">
              <a:ext uri="{FF2B5EF4-FFF2-40B4-BE49-F238E27FC236}">
                <a16:creationId xmlns:a16="http://schemas.microsoft.com/office/drawing/2014/main" id="{2318F0C2-E8A7-4D91-BA2C-0700C1A09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방문</a:t>
            </a:r>
          </a:p>
        </p:txBody>
      </p:sp>
      <p:sp>
        <p:nvSpPr>
          <p:cNvPr id="48" name="score-base-arrow-1">
            <a:extLst xmlns:a="http://schemas.openxmlformats.org/drawingml/2006/main">
              <a:ext uri="{FF2B5EF4-FFF2-40B4-BE49-F238E27FC236}">
                <a16:creationId xmlns:a16="http://schemas.microsoft.com/office/drawing/2014/main" id="{78DCD6EA-AEF7-412F-9DFB-0959E7AB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9" name="score-base-spend-box">
            <a:extLst xmlns:a="http://schemas.openxmlformats.org/drawingml/2006/main">
              <a:ext uri="{FF2B5EF4-FFF2-40B4-BE49-F238E27FC236}">
                <a16:creationId xmlns:a16="http://schemas.microsoft.com/office/drawing/2014/main" id="{0D090E8D-52FF-4AE0-B555-67F73BF1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score-base-spend-label">
            <a:extLst xmlns:a="http://schemas.openxmlformats.org/drawingml/2006/main">
              <a:ext uri="{FF2B5EF4-FFF2-40B4-BE49-F238E27FC236}">
                <a16:creationId xmlns:a16="http://schemas.microsoft.com/office/drawing/2014/main" id="{0107FBB0-B18E-4E62-8147-11E9B636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소비</a:t>
            </a:r>
          </a:p>
        </p:txBody>
      </p:sp>
      <p:sp>
        <p:nvSpPr>
          <p:cNvPr id="51" name="score-base-arrow-2">
            <a:extLst xmlns:a="http://schemas.openxmlformats.org/drawingml/2006/main">
              <a:ext uri="{FF2B5EF4-FFF2-40B4-BE49-F238E27FC236}">
                <a16:creationId xmlns:a16="http://schemas.microsoft.com/office/drawing/2014/main" id="{74E8EDCA-8B96-459E-BC70-77CDD221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38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2" name="score-base-rule-box">
            <a:extLst xmlns:a="http://schemas.openxmlformats.org/drawingml/2006/main">
              <a:ext uri="{FF2B5EF4-FFF2-40B4-BE49-F238E27FC236}">
                <a16:creationId xmlns:a16="http://schemas.microsoft.com/office/drawing/2014/main" id="{2000A70A-16D1-4528-8E0B-D111FFF73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762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3" name="score-base-rule-label">
            <a:extLst xmlns:a="http://schemas.openxmlformats.org/drawingml/2006/main">
              <a:ext uri="{FF2B5EF4-FFF2-40B4-BE49-F238E27FC236}">
                <a16:creationId xmlns:a16="http://schemas.microsoft.com/office/drawing/2014/main" id="{4B0832CC-4ED6-4839-AC50-EA77A1DB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448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</a:t>
            </a:r>
          </a:p>
        </p:txBody>
      </p:sp>
      <p:sp>
        <p:nvSpPr>
          <p:cNvPr id="54" name="score-base-caption">
            <a:extLst xmlns:a="http://schemas.openxmlformats.org/drawingml/2006/main">
              <a:ext uri="{FF2B5EF4-FFF2-40B4-BE49-F238E27FC236}">
                <a16:creationId xmlns:a16="http://schemas.microsoft.com/office/drawing/2014/main" id="{3D9D445A-6130-40ED-AC32-3F855577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9530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기록 기준을 먼저 합의</a:t>
            </a:r>
          </a:p>
        </p:txBody>
      </p:sp>
      <p:sp>
        <p:nvSpPr>
          <p:cNvPr id="55" name="score-week-완료">
            <a:extLst xmlns:a="http://schemas.openxmlformats.org/drawingml/2006/main">
              <a:ext uri="{FF2B5EF4-FFF2-40B4-BE49-F238E27FC236}">
                <a16:creationId xmlns:a16="http://schemas.microsoft.com/office/drawing/2014/main" id="{F295D678-A1F4-482E-A251-F1278A83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6" name="score-week-완료-label">
            <a:extLst xmlns:a="http://schemas.openxmlformats.org/drawingml/2006/main">
              <a:ext uri="{FF2B5EF4-FFF2-40B4-BE49-F238E27FC236}">
                <a16:creationId xmlns:a16="http://schemas.microsoft.com/office/drawing/2014/main" id="{361F169E-6A98-4A25-BD32-F844ED11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완료</a:t>
            </a:r>
          </a:p>
        </p:txBody>
      </p:sp>
      <p:sp>
        <p:nvSpPr>
          <p:cNvPr id="57" name="score-week-결제">
            <a:extLst xmlns:a="http://schemas.openxmlformats.org/drawingml/2006/main">
              <a:ext uri="{FF2B5EF4-FFF2-40B4-BE49-F238E27FC236}">
                <a16:creationId xmlns:a16="http://schemas.microsoft.com/office/drawing/2014/main" id="{FA8DCA8C-5BE9-4DAC-8441-80BE15960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8" name="score-week-결제-label">
            <a:extLst xmlns:a="http://schemas.openxmlformats.org/drawingml/2006/main">
              <a:ext uri="{FF2B5EF4-FFF2-40B4-BE49-F238E27FC236}">
                <a16:creationId xmlns:a16="http://schemas.microsoft.com/office/drawing/2014/main" id="{BCD123C9-E871-4489-9BB2-1F06EB0B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59" name="score-week-원가">
            <a:extLst xmlns:a="http://schemas.openxmlformats.org/drawingml/2006/main">
              <a:ext uri="{FF2B5EF4-FFF2-40B4-BE49-F238E27FC236}">
                <a16:creationId xmlns:a16="http://schemas.microsoft.com/office/drawing/2014/main" id="{51620C7F-5EEB-4E9D-AFA5-3BC64CF9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0" name="score-week-원가-label">
            <a:extLst xmlns:a="http://schemas.openxmlformats.org/drawingml/2006/main">
              <a:ext uri="{FF2B5EF4-FFF2-40B4-BE49-F238E27FC236}">
                <a16:creationId xmlns:a16="http://schemas.microsoft.com/office/drawing/2014/main" id="{9F1FDC0D-AAD3-4195-A648-6D7E0622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원가</a:t>
            </a:r>
          </a:p>
        </p:txBody>
      </p:sp>
      <p:sp>
        <p:nvSpPr>
          <p:cNvPr id="61" name="score-week-민원">
            <a:extLst xmlns:a="http://schemas.openxmlformats.org/drawingml/2006/main">
              <a:ext uri="{FF2B5EF4-FFF2-40B4-BE49-F238E27FC236}">
                <a16:creationId xmlns:a16="http://schemas.microsoft.com/office/drawing/2014/main" id="{77088DF9-880D-4E95-82CE-72E0D14B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333875"/>
            <a:ext cx="571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2" name="score-week-민원-label">
            <a:extLst xmlns:a="http://schemas.openxmlformats.org/drawingml/2006/main">
              <a:ext uri="{FF2B5EF4-FFF2-40B4-BE49-F238E27FC236}">
                <a16:creationId xmlns:a16="http://schemas.microsoft.com/office/drawing/2014/main" id="{EF057D3D-ED56-4BCD-8C0C-2F04DE42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767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63" name="score-week-rule">
            <a:extLst xmlns:a="http://schemas.openxmlformats.org/drawingml/2006/main">
              <a:ext uri="{FF2B5EF4-FFF2-40B4-BE49-F238E27FC236}">
                <a16:creationId xmlns:a16="http://schemas.microsoft.com/office/drawing/2014/main" id="{9FA1E043-77F8-4F0B-AB2B-773AA275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000625"/>
            <a:ext cx="2876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4" name="score-week-caption">
            <a:extLst xmlns:a="http://schemas.openxmlformats.org/drawingml/2006/main">
              <a:ext uri="{FF2B5EF4-FFF2-40B4-BE49-F238E27FC236}">
                <a16:creationId xmlns:a16="http://schemas.microsoft.com/office/drawing/2014/main" id="{BA14F833-D28C-4B87-B970-7771BA0E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143500"/>
            <a:ext cx="2914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매주 동일 기준으로 업데이트</a:t>
            </a:r>
          </a:p>
        </p:txBody>
      </p:sp>
      <p:sp>
        <p:nvSpPr>
          <p:cNvPr id="65" name="score-decision-expand-box">
            <a:extLst xmlns:a="http://schemas.openxmlformats.org/drawingml/2006/main">
              <a:ext uri="{FF2B5EF4-FFF2-40B4-BE49-F238E27FC236}">
                <a16:creationId xmlns:a16="http://schemas.microsoft.com/office/drawing/2014/main" id="{7068FD8F-B4F8-4794-AEB9-C8AB72F3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6" name="score-decision-expand-label">
            <a:extLst xmlns:a="http://schemas.openxmlformats.org/drawingml/2006/main">
              <a:ext uri="{FF2B5EF4-FFF2-40B4-BE49-F238E27FC236}">
                <a16:creationId xmlns:a16="http://schemas.microsoft.com/office/drawing/2014/main" id="{8A09EC0C-CBF7-4036-9224-4DFCA836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확대</a:t>
            </a:r>
          </a:p>
        </p:txBody>
      </p:sp>
      <p:sp>
        <p:nvSpPr>
          <p:cNvPr id="67" name="score-decision-adjust-box">
            <a:extLst xmlns:a="http://schemas.openxmlformats.org/drawingml/2006/main">
              <a:ext uri="{FF2B5EF4-FFF2-40B4-BE49-F238E27FC236}">
                <a16:creationId xmlns:a16="http://schemas.microsoft.com/office/drawing/2014/main" id="{DF2304B2-36B1-4F10-92A7-D1EAF40B1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68" name="score-decision-adjust-label">
            <a:extLst xmlns:a="http://schemas.openxmlformats.org/drawingml/2006/main">
              <a:ext uri="{FF2B5EF4-FFF2-40B4-BE49-F238E27FC236}">
                <a16:creationId xmlns:a16="http://schemas.microsoft.com/office/drawing/2014/main" id="{A7065591-8370-4FD3-9CF3-3E9E5443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보완</a:t>
            </a:r>
          </a:p>
        </p:txBody>
      </p:sp>
      <p:sp>
        <p:nvSpPr>
          <p:cNvPr id="69" name="score-decision-stop-box">
            <a:extLst xmlns:a="http://schemas.openxmlformats.org/drawingml/2006/main">
              <a:ext uri="{FF2B5EF4-FFF2-40B4-BE49-F238E27FC236}">
                <a16:creationId xmlns:a16="http://schemas.microsoft.com/office/drawing/2014/main" id="{7493B4F4-6828-4166-8C6C-2829BB65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362450"/>
            <a:ext cx="781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97316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70" name="score-decision-stop-label">
            <a:extLst xmlns:a="http://schemas.openxmlformats.org/drawingml/2006/main">
              <a:ext uri="{FF2B5EF4-FFF2-40B4-BE49-F238E27FC236}">
                <a16:creationId xmlns:a16="http://schemas.microsoft.com/office/drawing/2014/main" id="{0EC6DB21-4D0F-4F6F-84CD-2D0888E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73075" y="44481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축소</a:t>
            </a:r>
          </a:p>
        </p:txBody>
      </p:sp>
      <p:sp>
        <p:nvSpPr>
          <p:cNvPr id="71" name="score-decision-caption">
            <a:extLst xmlns:a="http://schemas.openxmlformats.org/drawingml/2006/main">
              <a:ext uri="{FF2B5EF4-FFF2-40B4-BE49-F238E27FC236}">
                <a16:creationId xmlns:a16="http://schemas.microsoft.com/office/drawing/2014/main" id="{EE3C14EC-34EB-4E35-8FF5-B0E819F9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000625"/>
            <a:ext cx="3257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다음 예산은 확인된 근거에서만 조정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2026-09-03T11:43:35.4550000Z</dcterms:created>
  <dcterms:modified xsi:type="dcterms:W3CDTF">2026-09-03T11:43:35.4550000Z</dcterms:modified>
</coreProperties>
</file>