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방문자 수</c:v>
                </c:pt>
              </c:strCache>
            </c:strRef>
          </c:tx>
          <c:spPr>
            <a:solidFill>
              <a:srgbClr val="00BCD2"/>
            </a:solidFill>
            <a:ln>
              <a:solidFill>
                <a:srgbClr val="00BCD2"/>
              </a:solidFill>
            </a:ln>
          </c:spPr>
          <c:cat>
            <c:strRef>
              <c:f>Sheet1!$A$2:$A$13</c:f>
              <c:strCache>
                <c:ptCount val="12"/>
                <c:pt idx="0">
                  <c:v>25.08</c:v>
                </c:pt>
                <c:pt idx="1">
                  <c:v>25.09</c:v>
                </c:pt>
                <c:pt idx="2">
                  <c:v>25.10</c:v>
                </c:pt>
                <c:pt idx="3">
                  <c:v>25.11</c:v>
                </c:pt>
                <c:pt idx="4">
                  <c:v>25.12</c:v>
                </c:pt>
                <c:pt idx="5">
                  <c:v>26.01</c:v>
                </c:pt>
                <c:pt idx="6">
                  <c:v>26.02</c:v>
                </c:pt>
                <c:pt idx="7">
                  <c:v>26.03</c:v>
                </c:pt>
                <c:pt idx="8">
                  <c:v>26.04</c:v>
                </c:pt>
                <c:pt idx="9">
                  <c:v>26.05</c:v>
                </c:pt>
                <c:pt idx="10">
                  <c:v>26.06</c:v>
                </c:pt>
                <c:pt idx="11">
                  <c:v>26.07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1807.9886</c:v>
                </c:pt>
                <c:pt idx="1">
                  <c:v>1872.5774</c:v>
                </c:pt>
                <c:pt idx="2">
                  <c:v>1681.981</c:v>
                </c:pt>
                <c:pt idx="3">
                  <c:v>1951.1625</c:v>
                </c:pt>
                <c:pt idx="4">
                  <c:v>1955.3438</c:v>
                </c:pt>
                <c:pt idx="5">
                  <c:v>1841.8826</c:v>
                </c:pt>
                <c:pt idx="6">
                  <c:v>1549.3129</c:v>
                </c:pt>
                <c:pt idx="7">
                  <c:v>1922.4842</c:v>
                </c:pt>
                <c:pt idx="8">
                  <c:v>1721.3232</c:v>
                </c:pt>
                <c:pt idx="9">
                  <c:v>1748.8819</c:v>
                </c:pt>
                <c:pt idx="10">
                  <c:v>1808.6524</c:v>
                </c:pt>
                <c:pt idx="11">
                  <c:v>1796.3441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8E0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관광소비액</c:v>
                </c:pt>
              </c:strCache>
            </c:strRef>
          </c:tx>
          <c:spPr>
            <a:ln w="28575">
              <a:solidFill>
                <a:srgbClr val="005BB0"/>
              </a:solidFill>
            </a:ln>
          </c:spPr>
          <c:marker>
            <c:size val="6"/>
            <c:spPr>
              <a:solidFill>
                <a:srgbClr val="FFFFFF"/>
              </a:solidFill>
              <a:ln>
                <a:solidFill>
                  <a:srgbClr val="005BB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25.08</c:v>
                </c:pt>
                <c:pt idx="1">
                  <c:v>25.09</c:v>
                </c:pt>
                <c:pt idx="2">
                  <c:v>25.10</c:v>
                </c:pt>
                <c:pt idx="3">
                  <c:v>25.11</c:v>
                </c:pt>
                <c:pt idx="4">
                  <c:v>25.12</c:v>
                </c:pt>
                <c:pt idx="5">
                  <c:v>26.01</c:v>
                </c:pt>
                <c:pt idx="6">
                  <c:v>26.02</c:v>
                </c:pt>
                <c:pt idx="7">
                  <c:v>26.03</c:v>
                </c:pt>
                <c:pt idx="8">
                  <c:v>26.04</c:v>
                </c:pt>
                <c:pt idx="9">
                  <c:v>26.05</c:v>
                </c:pt>
                <c:pt idx="10">
                  <c:v>26.06</c:v>
                </c:pt>
                <c:pt idx="11">
                  <c:v>26.07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4748.46981</c:v>
                </c:pt>
                <c:pt idx="1">
                  <c:v>4584.48924</c:v>
                </c:pt>
                <c:pt idx="2">
                  <c:v>4595.49656</c:v>
                </c:pt>
                <c:pt idx="3">
                  <c:v>4851.86671</c:v>
                </c:pt>
                <c:pt idx="4">
                  <c:v>5412.16025</c:v>
                </c:pt>
                <c:pt idx="5">
                  <c:v>4949.98648</c:v>
                </c:pt>
                <c:pt idx="6">
                  <c:v>4313.98981</c:v>
                </c:pt>
                <c:pt idx="7">
                  <c:v>4833.05006</c:v>
                </c:pt>
                <c:pt idx="8">
                  <c:v>4765.35085</c:v>
                </c:pt>
                <c:pt idx="9">
                  <c:v>4959.64678</c:v>
                </c:pt>
                <c:pt idx="10">
                  <c:v>4673.85522</c:v>
                </c:pt>
                <c:pt idx="11">
                  <c:v>4819.86415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8E0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 자연추세</c:v>
                </c:pt>
              </c:strCache>
            </c:strRef>
          </c:tx>
          <c:spPr>
            <a:ln w="28575">
              <a:solidFill>
                <a:srgbClr val="005BB0"/>
              </a:solidFill>
            </a:ln>
          </c:spPr>
          <c:marker>
            <c:size val="6"/>
            <c:spPr>
              <a:solidFill>
                <a:srgbClr val="FFFFFF"/>
              </a:solidFill>
              <a:ln>
                <a:solidFill>
                  <a:srgbClr val="005BB0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26.08</c:v>
                </c:pt>
                <c:pt idx="1">
                  <c:v>26.09</c:v>
                </c:pt>
                <c:pt idx="2">
                  <c:v>26.10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1802.7844</c:v>
                </c:pt>
                <c:pt idx="1">
                  <c:v>1823.7833</c:v>
                </c:pt>
                <c:pt idx="2">
                  <c:v>1776.7384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실행 목표</c:v>
                </c:pt>
              </c:strCache>
            </c:strRef>
          </c:tx>
          <c:spPr>
            <a:ln w="28575">
              <a:solidFill>
                <a:srgbClr val="F76500"/>
              </a:solidFill>
            </a:ln>
          </c:spPr>
          <c:marker>
            <c:size val="6"/>
            <c:spPr>
              <a:solidFill>
                <a:srgbClr val="FFFFFF"/>
              </a:solidFill>
              <a:ln>
                <a:solidFill>
                  <a:srgbClr val="F76500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26.08</c:v>
                </c:pt>
                <c:pt idx="1">
                  <c:v>26.09</c:v>
                </c:pt>
                <c:pt idx="2">
                  <c:v>26.10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1832.8308066666666</c:v>
                </c:pt>
                <c:pt idx="1">
                  <c:v>1884.576076666667</c:v>
                </c:pt>
                <c:pt idx="2">
                  <c:v>1865.57532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8E0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 자연추세</c:v>
                </c:pt>
              </c:strCache>
            </c:strRef>
          </c:tx>
          <c:spPr>
            <a:ln w="28575">
              <a:solidFill>
                <a:srgbClr val="00BCD2"/>
              </a:solidFill>
            </a:ln>
          </c:spPr>
          <c:marker>
            <c:size val="6"/>
            <c:spPr>
              <a:solidFill>
                <a:srgbClr val="FFFFFF"/>
              </a:solidFill>
              <a:ln>
                <a:solidFill>
                  <a:srgbClr val="00BCD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26.08</c:v>
                </c:pt>
                <c:pt idx="1">
                  <c:v>26.09</c:v>
                </c:pt>
                <c:pt idx="2">
                  <c:v>26.10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4748.46981</c:v>
                </c:pt>
                <c:pt idx="1">
                  <c:v>4584.48924</c:v>
                </c:pt>
                <c:pt idx="2">
                  <c:v>4595.49656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실행 목표</c:v>
                </c:pt>
              </c:strCache>
            </c:strRef>
          </c:tx>
          <c:spPr>
            <a:ln w="28575">
              <a:solidFill>
                <a:srgbClr val="F76500"/>
              </a:solidFill>
            </a:ln>
          </c:spPr>
          <c:marker>
            <c:size val="6"/>
            <c:spPr>
              <a:solidFill>
                <a:srgbClr val="FFFFFF"/>
              </a:solidFill>
              <a:ln>
                <a:solidFill>
                  <a:srgbClr val="F76500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26.08</c:v>
                </c:pt>
                <c:pt idx="1">
                  <c:v>26.09</c:v>
                </c:pt>
                <c:pt idx="2">
                  <c:v>26.10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4875.0956716</c:v>
                </c:pt>
                <c:pt idx="1">
                  <c:v>4828.995332799999</c:v>
                </c:pt>
                <c:pt idx="2">
                  <c:v>4963.136284800001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8E0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42048" y="18288"/>
            <a:ext cx="4928616" cy="6821424"/>
          </a:xfrm>
          <a:prstGeom prst="rect">
            <a:avLst/>
          </a:prstGeom>
          <a:solidFill>
            <a:srgbClr val="0F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52786" y="18288"/>
            <a:ext cx="2217877" cy="6821424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62088" y="5330952"/>
            <a:ext cx="1024128" cy="1024128"/>
          </a:xfrm>
          <a:prstGeom prst="ellipse">
            <a:avLst/>
          </a:prstGeom>
          <a:solidFill>
            <a:srgbClr val="00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92440" y="5074920"/>
            <a:ext cx="1170432" cy="1170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22792" y="5330952"/>
            <a:ext cx="1316736" cy="1316736"/>
          </a:xfrm>
          <a:prstGeom prst="ellipse">
            <a:avLst/>
          </a:prstGeom>
          <a:solidFill>
            <a:srgbClr val="00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53144" y="507492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6096" y="402336"/>
            <a:ext cx="41605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REGIONAL
TOURISM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512064"/>
            <a:ext cx="658368" cy="50292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8580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TOURISM STRATEGY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078992"/>
            <a:ext cx="649224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E8F4FC"/>
                </a:solidFill>
                <a:latin typeface="Arial"/>
              </a:rPr>
              <a:t>TOURISM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92807"/>
            <a:ext cx="608076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BB0"/>
                </a:solidFill>
                <a:latin typeface="맑은 고딕"/>
              </a:rPr>
              <a:t>서울특별시 강남구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31720"/>
            <a:ext cx="619963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81C23"/>
                </a:solidFill>
                <a:latin typeface="맑은 고딕"/>
              </a:rPr>
              <a:t>관광 전략
실행 기획안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3858768"/>
            <a:ext cx="5943600" cy="0"/>
          </a:xfrm>
          <a:prstGeom prst="line">
            <a:avLst/>
          </a:prstGeom>
          <a:ln w="17780">
            <a:solidFill>
              <a:srgbClr val="F76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4096512"/>
            <a:ext cx="59253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668"/>
                </a:solidFill>
                <a:latin typeface="맑은 고딕"/>
              </a:rPr>
              <a:t>서울특별시 강남구는 2026-07 순 방문자 17,963,441명, 외지인 관광소비 481,986,415,000원 규모입니다. 방문을 식음료업·쇼핑업 소비와 체류로 연결하는 3~6개월 시범사업을 제안합니다.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B97A8"/>
                </a:solidFill>
                <a:latin typeface="맑은 고딕"/>
              </a:rPr>
              <a:t>분석기간  2025-08 ~ 2026-07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806440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B97A8"/>
                </a:solidFill>
                <a:latin typeface="맑은 고딕"/>
              </a:rPr>
              <a:t>2026.09.01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245352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F315B"/>
                </a:solidFill>
                <a:latin typeface="맑은 고딕"/>
              </a:rPr>
              <a:t>TOUR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EXECUTIVE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652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81C23"/>
                </a:solidFill>
                <a:latin typeface="맑은 고딕"/>
              </a:rPr>
              <a:t>핵심 판단과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01752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B97A8"/>
                </a:solidFill>
                <a:latin typeface="맑은 고딕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170432"/>
            <a:ext cx="1110996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0352" y="1426464"/>
            <a:ext cx="3493008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426464"/>
            <a:ext cx="50292" cy="1024128"/>
          </a:xfrm>
          <a:prstGeom prst="rect">
            <a:avLst/>
          </a:prstGeom>
          <a:solidFill>
            <a:srgbClr val="00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81912"/>
            <a:ext cx="314553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7A8"/>
                </a:solidFill>
                <a:latin typeface="맑은 고딕"/>
              </a:rPr>
              <a:t>월간 순 방문자 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19656"/>
            <a:ext cx="31455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C23"/>
                </a:solidFill>
                <a:latin typeface="맑은 고딕"/>
              </a:rPr>
              <a:t>17,963,441명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3145536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A5668"/>
                </a:solidFill>
                <a:latin typeface="맑은 고딕"/>
              </a:rPr>
              <a:t>선택 지역 공식 원자료의 최신 월 관측값입니다.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1104" y="1426464"/>
            <a:ext cx="3493008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1104" y="1426464"/>
            <a:ext cx="50292" cy="1024128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581912"/>
            <a:ext cx="314553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7A8"/>
                </a:solidFill>
                <a:latin typeface="맑은 고딕"/>
              </a:rPr>
              <a:t>전년동월 외지인 방문자 증감률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819656"/>
            <a:ext cx="31455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C23"/>
                </a:solidFill>
                <a:latin typeface="맑은 고딕"/>
              </a:rPr>
              <a:t>-8.3%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194560"/>
            <a:ext cx="3145536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A5668"/>
                </a:solidFill>
                <a:latin typeface="맑은 고딕"/>
              </a:rPr>
              <a:t>선택 지역 공식 원자료의 최신 월 관측값입니다.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1856" y="1426464"/>
            <a:ext cx="3493008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1426464"/>
            <a:ext cx="50292" cy="1024128"/>
          </a:xfrm>
          <a:prstGeom prst="rect">
            <a:avLst/>
          </a:prstGeom>
          <a:solidFill>
            <a:srgbClr val="695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6" y="1581912"/>
            <a:ext cx="314553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7A8"/>
                </a:solidFill>
                <a:latin typeface="맑은 고딕"/>
              </a:rPr>
              <a:t>월간 외지인 관광소비 총액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1819656"/>
            <a:ext cx="31455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C23"/>
                </a:solidFill>
                <a:latin typeface="맑은 고딕"/>
              </a:rPr>
              <a:t>481,986,415,000원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194560"/>
            <a:ext cx="3145536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A5668"/>
                </a:solidFill>
                <a:latin typeface="맑은 고딕"/>
              </a:rPr>
              <a:t>선택 지역 공식 원자료의 최신 월 관측값입니다.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2761488"/>
            <a:ext cx="527608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035808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76500"/>
                </a:solidFill>
                <a:latin typeface="맑은 고딕"/>
              </a:rPr>
              <a:t>WHAT WE FOUND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19272"/>
            <a:ext cx="44805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1C23"/>
                </a:solidFill>
                <a:latin typeface="맑은 고딕"/>
              </a:rPr>
              <a:t>문제와 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22191"/>
            <a:ext cx="4553712" cy="187451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50" b="1">
                <a:solidFill>
                  <a:srgbClr val="F76500"/>
                </a:solidFill>
                <a:latin typeface="맑은 고딕"/>
              </a:rPr>
              <a:t>● </a:t>
            </a:r>
            <a:r>
              <a:rPr sz="1150" b="0">
                <a:solidFill>
                  <a:srgbClr val="4A5668"/>
                </a:solidFill>
                <a:latin typeface="맑은 고딕"/>
              </a:rPr>
              <a:t>최근 방문 규모만으로는 지역 안에서 충분한 소비와 체류가 이어졌다고 보기 어렵습니다.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50" b="1">
                <a:solidFill>
                  <a:srgbClr val="F76500"/>
                </a:solidFill>
                <a:latin typeface="맑은 고딕"/>
              </a:rPr>
              <a:t>● </a:t>
            </a:r>
            <a:r>
              <a:rPr sz="1150" b="0">
                <a:solidFill>
                  <a:srgbClr val="4A5668"/>
                </a:solidFill>
                <a:latin typeface="맑은 고딕"/>
              </a:rPr>
              <a:t>숙박 방문 비율은 3.1%, 평균 숙박일수는 2.91일입니다.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50" b="1">
                <a:solidFill>
                  <a:srgbClr val="F76500"/>
                </a:solidFill>
                <a:latin typeface="맑은 고딕"/>
              </a:rPr>
              <a:t>● </a:t>
            </a:r>
            <a:r>
              <a:rPr sz="1150" b="0">
                <a:solidFill>
                  <a:srgbClr val="4A5668"/>
                </a:solidFill>
                <a:latin typeface="맑은 고딕"/>
              </a:rPr>
              <a:t>같은 기간·같은 기준으로 비교할 지역 원본이 충분하지 않아 선택 지역의 월별 변화만 사용했습니다.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2761488"/>
            <a:ext cx="5605272" cy="3401568"/>
          </a:xfrm>
          <a:prstGeom prst="rect">
            <a:avLst/>
          </a:prstGeom>
          <a:solidFill>
            <a:srgbClr val="0F315B"/>
          </a:solidFill>
          <a:ln w="10160">
            <a:solidFill>
              <a:srgbClr val="0F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035808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BCD2"/>
                </a:solidFill>
                <a:latin typeface="맑은 고딕"/>
              </a:rPr>
              <a:t>OUR 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310128"/>
            <a:ext cx="4882896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방문을 지역 소비로 연결하는 반나절 관광코스 시범사업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087368"/>
            <a:ext cx="4882896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맑은 고딕"/>
              </a:rPr>
              <a:t>내비게이션 검색 773,380건을 출발 수요로 보고, 검색이 많은 지점과 식음료업·쇼핑업 참여 업소를 3~4시간 동선으로 연결합니다. 처음에는 한 개 코스만 운영하고 이용률과 결제 변화를 확인해 확대 여부를 결정합니다.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82512" y="5367528"/>
            <a:ext cx="4882896" cy="0"/>
          </a:xfrm>
          <a:prstGeom prst="line">
            <a:avLst/>
          </a:prstGeom>
          <a:ln w="12700">
            <a:solidFill>
              <a:srgbClr val="005B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82512" y="5559552"/>
            <a:ext cx="488289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6F9FA"/>
                </a:solidFill>
                <a:latin typeface="맑은 고딕"/>
              </a:rPr>
              <a:t>방문자가 지역 안에서 이동하고 소비할 이유를 명확히 만들며, 실제 운영 결과를 바탕으로 확대 여부를 판단할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DATA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652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81C23"/>
                </a:solidFill>
                <a:latin typeface="맑은 고딕"/>
              </a:rPr>
              <a:t>데이터에서 확인한 문제와 발전 가능성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01752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B97A8"/>
                </a:solidFill>
                <a:latin typeface="맑은 고딕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170432"/>
            <a:ext cx="1110996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0352" y="1417320"/>
            <a:ext cx="7342631" cy="4983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00784"/>
            <a:ext cx="2291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C23"/>
                </a:solidFill>
                <a:latin typeface="맑은 고딕"/>
              </a:rPr>
              <a:t>최근 12개월 방문자 추세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080" y="1719072"/>
            <a:ext cx="89099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7A8"/>
                </a:solidFill>
                <a:latin typeface="맑은 고딕"/>
              </a:rPr>
              <a:t>단위: 만 명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2011680"/>
          <a:ext cx="3182112" cy="1874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34256" y="1700784"/>
            <a:ext cx="2291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C23"/>
                </a:solidFill>
                <a:latin typeface="맑은 고딕"/>
              </a:rPr>
              <a:t>최근 12개월 관광소비 추세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5376" y="1719072"/>
            <a:ext cx="89099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7A8"/>
                </a:solidFill>
                <a:latin typeface="맑은 고딕"/>
              </a:rPr>
              <a:t>단위: 억 원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334256" y="2011680"/>
          <a:ext cx="3182112" cy="187451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4" name="Connector 13"/>
          <p:cNvCxnSpPr/>
          <p:nvPr/>
        </p:nvCxnSpPr>
        <p:spPr>
          <a:xfrm>
            <a:off x="822960" y="4169663"/>
            <a:ext cx="66934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2569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5BB0"/>
                </a:solidFill>
                <a:latin typeface="맑은 고딕"/>
              </a:rPr>
              <a:t>비교 근거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6629400" cy="10698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668"/>
                </a:solidFill>
                <a:latin typeface="맑은 고딕"/>
              </a:rPr>
              <a:t>같은 기간·같은 기준으로 비교할 지역 원본이 충분하지 않아 선택 지역의 월별 변화만 사용했습니다.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0727" y="1417320"/>
            <a:ext cx="3547872" cy="4983480"/>
          </a:xfrm>
          <a:prstGeom prst="rect">
            <a:avLst/>
          </a:prstGeom>
          <a:solidFill>
            <a:srgbClr val="FFF2E8"/>
          </a:solidFill>
          <a:ln w="10160">
            <a:solidFill>
              <a:srgbClr val="F7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73736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76500"/>
                </a:solidFill>
                <a:latin typeface="맑은 고딕"/>
              </a:rPr>
              <a:t>SO WHAT?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066543"/>
            <a:ext cx="28163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1C23"/>
                </a:solidFill>
                <a:latin typeface="맑은 고딕"/>
              </a:rPr>
              <a:t>지금 우선할 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660904"/>
            <a:ext cx="2852928" cy="1481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668"/>
                </a:solidFill>
                <a:latin typeface="맑은 고딕"/>
              </a:rPr>
              <a:t>최근 방문 규모만으로는 지역 안에서 충분한 소비와 체류가 이어졌다고 보기 어렵습니다. 숙박 방문 비율은 3.1%, 평균 숙박일수는 2.91일입니다.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30768" y="4389120"/>
            <a:ext cx="2852928" cy="0"/>
          </a:xfrm>
          <a:prstGeom prst="line">
            <a:avLst/>
          </a:prstGeom>
          <a:ln w="16510">
            <a:solidFill>
              <a:srgbClr val="F76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30768" y="4681728"/>
            <a:ext cx="2816352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76500"/>
                </a:solidFill>
                <a:latin typeface="맑은 고딕"/>
              </a:rPr>
              <a:t>관측 → 비교 →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5102352"/>
            <a:ext cx="2816352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668"/>
                </a:solidFill>
                <a:latin typeface="맑은 고딕"/>
              </a:rPr>
              <a:t>원자료로 확인한 변화와 같은 기준의 지역 비교를 먼저 보고, 실행안은 그 다음에 제안합니다.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STRATEGY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652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81C23"/>
                </a:solidFill>
                <a:latin typeface="맑은 고딕"/>
              </a:rPr>
              <a:t>추천 전략을 한눈에 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01752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B97A8"/>
                </a:solidFill>
                <a:latin typeface="맑은 고딕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170432"/>
            <a:ext cx="1110996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0352" y="1417320"/>
            <a:ext cx="4590288" cy="4983480"/>
          </a:xfrm>
          <a:prstGeom prst="rect">
            <a:avLst/>
          </a:prstGeom>
          <a:solidFill>
            <a:srgbClr val="0F315B"/>
          </a:solidFill>
          <a:ln w="10160">
            <a:solidFill>
              <a:srgbClr val="0F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BCD2"/>
                </a:solidFill>
                <a:latin typeface="맑은 고딕"/>
              </a:rPr>
              <a:t>3~6개월 시범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21408"/>
            <a:ext cx="3913632" cy="9326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방문을 지역 소비로 연결하는 반나절 관광코스 시범사업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55264"/>
            <a:ext cx="3904487" cy="1627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맑은 고딕"/>
              </a:rPr>
              <a:t>내비게이션 검색 773,380건을 출발 수요로 보고, 검색이 많은 지점과 식음료업·쇼핑업 참여 업소를 3~4시간 동선으로 연결합니다. 처음에는 한 개 코스만 운영하고 이용률과 결제 변화를 확인해 확대 여부를 결정합니다.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5175504"/>
            <a:ext cx="3904488" cy="0"/>
          </a:xfrm>
          <a:prstGeom prst="line">
            <a:avLst/>
          </a:prstGeom>
          <a:ln w="12700">
            <a:solidFill>
              <a:srgbClr val="005B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248" y="541324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BCD2"/>
                </a:solidFill>
                <a:latin typeface="맑은 고딕"/>
              </a:rPr>
              <a:t>기대 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705856"/>
            <a:ext cx="3904487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6F9FA"/>
                </a:solidFill>
                <a:latin typeface="맑은 고딕"/>
              </a:rPr>
              <a:t>방문자가 지역 안에서 이동하고 소비할 이유를 명확히 만들며, 실제 운영 결과를 바탕으로 확대 여부를 판단할 수 있습니다.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58384" y="1417320"/>
            <a:ext cx="6300216" cy="2944368"/>
          </a:xfrm>
          <a:prstGeom prst="rect">
            <a:avLst/>
          </a:prstGeom>
          <a:solidFill>
            <a:srgbClr val="0F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502" y="1417320"/>
            <a:ext cx="2835097" cy="2944368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78424" y="2852928"/>
            <a:ext cx="1024128" cy="1024128"/>
          </a:xfrm>
          <a:prstGeom prst="ellipse">
            <a:avLst/>
          </a:prstGeom>
          <a:solidFill>
            <a:srgbClr val="00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6" y="2596896"/>
            <a:ext cx="1170432" cy="1170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39128" y="2852928"/>
            <a:ext cx="1316736" cy="1316736"/>
          </a:xfrm>
          <a:prstGeom prst="ellipse">
            <a:avLst/>
          </a:prstGeom>
          <a:solidFill>
            <a:srgbClr val="00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69479" y="2596896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42432" y="1801368"/>
            <a:ext cx="55321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REGIONAL
TOURISM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58384" y="4590288"/>
            <a:ext cx="1956816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22976" y="4782312"/>
            <a:ext cx="42062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5BB0"/>
                </a:solidFill>
                <a:latin typeface="맑은 고딕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2976" y="5120640"/>
            <a:ext cx="1627632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C23"/>
                </a:solidFill>
                <a:latin typeface="맑은 고딕"/>
              </a:rPr>
              <a:t>최근 12개월 방문·소비·검색 자료에서 후보 권역 1곳 선정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5943600"/>
            <a:ext cx="162763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7A8"/>
                </a:solidFill>
                <a:latin typeface="맑은 고딕"/>
              </a:rPr>
              <a:t>후보 권역 선정표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16368" y="4590288"/>
            <a:ext cx="1956816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4782312"/>
            <a:ext cx="42062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5BB0"/>
                </a:solidFill>
                <a:latin typeface="맑은 고딕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20640"/>
            <a:ext cx="1627632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C23"/>
                </a:solidFill>
                <a:latin typeface="맑은 고딕"/>
              </a:rPr>
              <a:t>식음료업·쇼핑업 참여 업소와 관광 지점을 연결한 도보·대중교통 동선 설계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943600"/>
            <a:ext cx="162763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7A8"/>
                </a:solidFill>
                <a:latin typeface="맑은 고딕"/>
              </a:rPr>
              <a:t>시범코스 지도와 참여 기준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4352" y="4590288"/>
            <a:ext cx="1956816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38944" y="4782312"/>
            <a:ext cx="42062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5BB0"/>
                </a:solidFill>
                <a:latin typeface="맑은 고딕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8944" y="5120640"/>
            <a:ext cx="1627632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C23"/>
                </a:solidFill>
                <a:latin typeface="맑은 고딕"/>
              </a:rPr>
              <a:t>모바일 안내 페이지와 공통 혜택을 준비하고 참여 업소 운영 교육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8944" y="5943600"/>
            <a:ext cx="162763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7A8"/>
                </a:solidFill>
                <a:latin typeface="맑은 고딕"/>
              </a:rPr>
              <a:t>안내 페이지와 운영 매뉴얼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IMPACT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652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81C23"/>
                </a:solidFill>
                <a:latin typeface="맑은 고딕"/>
              </a:rPr>
              <a:t>ML 자연추세와 실행 목표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01752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B97A8"/>
                </a:solidFill>
                <a:latin typeface="맑은 고딕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170432"/>
            <a:ext cx="1110996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0352" y="1417320"/>
            <a:ext cx="5404104" cy="350215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3469599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C23"/>
                </a:solidFill>
                <a:latin typeface="맑은 고딕"/>
              </a:rPr>
              <a:t>방문자 수: 자연추세 vs 실행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559" y="1691640"/>
            <a:ext cx="134928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7A8"/>
                </a:solidFill>
                <a:latin typeface="맑은 고딕"/>
              </a:rPr>
              <a:t>단위: 만 명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1993392"/>
          <a:ext cx="4818888" cy="24871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254496" y="1417320"/>
            <a:ext cx="5404104" cy="350215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673352"/>
            <a:ext cx="3469599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C23"/>
                </a:solidFill>
                <a:latin typeface="맑은 고딕"/>
              </a:rPr>
              <a:t>관광소비액: 자연추세 vs 실행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6703" y="1691640"/>
            <a:ext cx="134928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7A8"/>
                </a:solidFill>
                <a:latin typeface="맑은 고딕"/>
              </a:rPr>
              <a:t>단위: 억 원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547104" y="1993392"/>
          <a:ext cx="4818888" cy="24871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530352" y="5193792"/>
            <a:ext cx="3456432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5193792"/>
            <a:ext cx="50292" cy="1024128"/>
          </a:xfrm>
          <a:prstGeom prst="rect">
            <a:avLst/>
          </a:prstGeom>
          <a:solidFill>
            <a:srgbClr val="F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349240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7A8"/>
                </a:solidFill>
                <a:latin typeface="맑은 고딕"/>
              </a:rPr>
              <a:t>3개월 누적 방문자 목표 차이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586983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C23"/>
                </a:solidFill>
                <a:latin typeface="맑은 고딕"/>
              </a:rPr>
              <a:t>+180만 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961888"/>
            <a:ext cx="310896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A5668"/>
                </a:solidFill>
                <a:latin typeface="맑은 고딕"/>
              </a:rPr>
              <a:t>최종월 목표 +5.0%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9663" y="5193792"/>
            <a:ext cx="3456432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9663" y="5193792"/>
            <a:ext cx="50292" cy="1024128"/>
          </a:xfrm>
          <a:prstGeom prst="rect">
            <a:avLst/>
          </a:prstGeom>
          <a:solidFill>
            <a:srgbClr val="F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2544" y="5349240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7A8"/>
                </a:solidFill>
                <a:latin typeface="맑은 고딕"/>
              </a:rPr>
              <a:t>3개월 누적 소비 목표 차이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5586983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C23"/>
                </a:solidFill>
                <a:latin typeface="맑은 고딕"/>
              </a:rPr>
              <a:t>+739억 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5961888"/>
            <a:ext cx="310896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A5668"/>
                </a:solidFill>
                <a:latin typeface="맑은 고딕"/>
              </a:rPr>
              <a:t>최종월 목표 +8.0%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08975" y="5193792"/>
            <a:ext cx="3849624" cy="1024128"/>
          </a:xfrm>
          <a:prstGeom prst="rect">
            <a:avLst/>
          </a:prstGeom>
          <a:solidFill>
            <a:srgbClr val="FFF2E8"/>
          </a:solidFill>
          <a:ln w="10160">
            <a:solidFill>
              <a:srgbClr val="F7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5404104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76500"/>
                </a:solidFill>
                <a:latin typeface="맑은 고딕"/>
              </a:rPr>
              <a:t>해석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678424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A5668"/>
                </a:solidFill>
                <a:latin typeface="맑은 고딕"/>
              </a:rPr>
              <a:t>주황선은 정책효과 예측이 아니라 목표 달성에 필요한 월별 수준입니다.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BUDGET &amp;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652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81C23"/>
                </a:solidFill>
                <a:latin typeface="맑은 고딕"/>
              </a:rPr>
              <a:t>예산과 성과 확인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01752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B97A8"/>
                </a:solidFill>
                <a:latin typeface="맑은 고딕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170432"/>
            <a:ext cx="1110996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0352" y="1417320"/>
            <a:ext cx="3657600" cy="4983480"/>
          </a:xfrm>
          <a:prstGeom prst="rect">
            <a:avLst/>
          </a:prstGeom>
          <a:solidFill>
            <a:srgbClr val="0F315B"/>
          </a:solidFill>
          <a:ln w="10160">
            <a:solidFill>
              <a:srgbClr val="0F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BCD2"/>
                </a:solidFill>
                <a:latin typeface="맑은 고딕"/>
              </a:rPr>
              <a:t>AVAILABLE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30552"/>
            <a:ext cx="24231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희망 예산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51760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BCD2"/>
                </a:solidFill>
                <a:latin typeface="맑은 고딕"/>
              </a:rPr>
              <a:t>미정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3401568"/>
            <a:ext cx="2999232" cy="0"/>
          </a:xfrm>
          <a:prstGeom prst="line">
            <a:avLst/>
          </a:prstGeom>
          <a:ln w="12700">
            <a:solidFill>
              <a:srgbClr val="005B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248" y="370332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BCD2"/>
                </a:solidFill>
                <a:latin typeface="맑은 고딕"/>
              </a:rPr>
              <a:t>예산 산정 원칙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78224"/>
            <a:ext cx="2999232" cy="1408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</a:rPr>
              <a:t>안내 페이지, 홍보물, 참여 업소 운영 지원, 성과 측정 항목별로 수량을 정한 뒤 2개 이상 비교견적으로 산정합니다.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797296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6F9FA"/>
                </a:solidFill>
                <a:latin typeface="맑은 고딕"/>
              </a:rPr>
              <a:t>공식 단가 또는 항목×수량×단가 산식으로만 확정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3984" y="1417320"/>
            <a:ext cx="7214616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709928"/>
            <a:ext cx="28346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5BB0"/>
                </a:solidFill>
                <a:latin typeface="맑은 고딕"/>
              </a:rPr>
              <a:t>BUDGET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75688"/>
            <a:ext cx="6537960" cy="12435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 b="1">
                <a:solidFill>
                  <a:srgbClr val="005BB0"/>
                </a:solidFill>
                <a:latin typeface="맑은 고딕"/>
              </a:rPr>
              <a:t>● </a:t>
            </a:r>
            <a:r>
              <a:rPr sz="1100" b="0">
                <a:solidFill>
                  <a:srgbClr val="4A5668"/>
                </a:solidFill>
                <a:latin typeface="맑은 고딕"/>
              </a:rPr>
              <a:t>안내 페이지, 홍보물, 참여 업소 운영 지원, 성과 측정 항목별로 수량을 정한 뒤 2개 이상 비교견적으로 산정합니다.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3984" y="3931920"/>
            <a:ext cx="7214616" cy="2468880"/>
          </a:xfrm>
          <a:prstGeom prst="rect">
            <a:avLst/>
          </a:prstGeom>
          <a:solidFill>
            <a:srgbClr val="E6F9FA"/>
          </a:solidFill>
          <a:ln w="10160">
            <a:solidFill>
              <a:srgbClr val="00B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224528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BCD2"/>
                </a:solidFill>
                <a:latin typeface="맑은 고딕"/>
              </a:rPr>
              <a:t>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535424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C23"/>
                </a:solidFill>
                <a:latin typeface="맑은 고딕"/>
              </a:rPr>
              <a:t>성과 확인 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992624"/>
            <a:ext cx="6537960" cy="1051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00" b="1">
                <a:solidFill>
                  <a:srgbClr val="00BCD2"/>
                </a:solidFill>
                <a:latin typeface="맑은 고딕"/>
              </a:rPr>
              <a:t>● </a:t>
            </a:r>
            <a:r>
              <a:rPr sz="1100" b="0">
                <a:solidFill>
                  <a:srgbClr val="4A5668"/>
                </a:solidFill>
                <a:latin typeface="맑은 고딕"/>
              </a:rPr>
              <a:t>코스 이용 건수, 참여 업소 결제 건수, 외지인 관광소비액, 숙박 방문 비율을 운영 전후 같은 기준으로 확인합니다.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652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81C23"/>
                </a:solidFill>
                <a:latin typeface="맑은 고딕"/>
              </a:rPr>
              <a:t>5단계 실행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01752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B97A8"/>
                </a:solidFill>
                <a:latin typeface="맑은 고딕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170432"/>
            <a:ext cx="1110996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1371600"/>
            <a:ext cx="88239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668"/>
                </a:solidFill>
                <a:latin typeface="맑은 고딕"/>
              </a:rPr>
              <a:t>방문을 지역 소비로 연결하는 반나절 관광코스 시범사업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380744"/>
            <a:ext cx="217627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5BB0"/>
                </a:solidFill>
                <a:latin typeface="맑은 고딕"/>
              </a:rPr>
              <a:t>3~6개월 시범 운영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8992" y="2423160"/>
            <a:ext cx="10058400" cy="0"/>
          </a:xfrm>
          <a:prstGeom prst="line">
            <a:avLst/>
          </a:prstGeom>
          <a:ln w="38100">
            <a:solidFill>
              <a:srgbClr val="00B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67512" y="2167128"/>
            <a:ext cx="530352" cy="530352"/>
          </a:xfrm>
          <a:prstGeom prst="ellipse">
            <a:avLst/>
          </a:prstGeom>
          <a:solidFill>
            <a:srgbClr val="005B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6712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258568"/>
            <a:ext cx="124358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5BB0"/>
                </a:solidFill>
                <a:latin typeface="맑은 고딕"/>
              </a:rPr>
              <a:t>1~2주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852928"/>
            <a:ext cx="2084831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136392"/>
            <a:ext cx="1719072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81C23"/>
                </a:solidFill>
                <a:latin typeface="맑은 고딕"/>
              </a:rPr>
              <a:t>최근 12개월 방문·소비·검색 자료에서 후보 권역 1곳 선정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4489704"/>
            <a:ext cx="1719072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472744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97A8"/>
                </a:solidFill>
                <a:latin typeface="맑은 고딕"/>
              </a:rPr>
              <a:t>산출물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056632"/>
            <a:ext cx="1719072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668"/>
                </a:solidFill>
                <a:latin typeface="맑은 고딕"/>
              </a:rPr>
              <a:t>후보 권역 선정표</a:t>
            </a:r>
          </a:p>
        </p:txBody>
      </p:sp>
      <p:sp>
        <p:nvSpPr>
          <p:cNvPr id="18" name="Oval 17"/>
          <p:cNvSpPr/>
          <p:nvPr/>
        </p:nvSpPr>
        <p:spPr>
          <a:xfrm>
            <a:off x="2898648" y="2167128"/>
            <a:ext cx="530352" cy="530352"/>
          </a:xfrm>
          <a:prstGeom prst="ellipse">
            <a:avLst/>
          </a:prstGeom>
          <a:solidFill>
            <a:srgbClr val="005B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8648" y="216712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258568"/>
            <a:ext cx="124358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5BB0"/>
                </a:solidFill>
                <a:latin typeface="맑은 고딕"/>
              </a:rPr>
              <a:t>3~4주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1488" y="2852928"/>
            <a:ext cx="2084831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44368" y="3136392"/>
            <a:ext cx="1719072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81C23"/>
                </a:solidFill>
                <a:latin typeface="맑은 고딕"/>
              </a:rPr>
              <a:t>식음료업·쇼핑업 참여 업소와 관광 지점을 연결한 도보·대중교통 동선 설계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44368" y="4489704"/>
            <a:ext cx="1719072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44368" y="472744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97A8"/>
                </a:solidFill>
                <a:latin typeface="맑은 고딕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5056632"/>
            <a:ext cx="1719072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668"/>
                </a:solidFill>
                <a:latin typeface="맑은 고딕"/>
              </a:rPr>
              <a:t>시범코스 지도와 참여 기준</a:t>
            </a:r>
          </a:p>
        </p:txBody>
      </p:sp>
      <p:sp>
        <p:nvSpPr>
          <p:cNvPr id="26" name="Oval 25"/>
          <p:cNvSpPr/>
          <p:nvPr/>
        </p:nvSpPr>
        <p:spPr>
          <a:xfrm>
            <a:off x="5129784" y="2167128"/>
            <a:ext cx="530352" cy="530352"/>
          </a:xfrm>
          <a:prstGeom prst="ellipse">
            <a:avLst/>
          </a:prstGeom>
          <a:solidFill>
            <a:srgbClr val="005B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9784" y="216712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9864" y="2258568"/>
            <a:ext cx="124358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5BB0"/>
                </a:solidFill>
                <a:latin typeface="맑은 고딕"/>
              </a:rPr>
              <a:t>2개월차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92624" y="2852928"/>
            <a:ext cx="2084831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75504" y="3136392"/>
            <a:ext cx="1719072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81C23"/>
                </a:solidFill>
                <a:latin typeface="맑은 고딕"/>
              </a:rPr>
              <a:t>모바일 안내 페이지와 공통 혜택을 준비하고 참여 업소 운영 교육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175504" y="4489704"/>
            <a:ext cx="1719072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75504" y="472744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97A8"/>
                </a:solidFill>
                <a:latin typeface="맑은 고딕"/>
              </a:rPr>
              <a:t>산출물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5056632"/>
            <a:ext cx="1719072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668"/>
                </a:solidFill>
                <a:latin typeface="맑은 고딕"/>
              </a:rPr>
              <a:t>안내 페이지와 운영 매뉴얼</a:t>
            </a:r>
          </a:p>
        </p:txBody>
      </p:sp>
      <p:sp>
        <p:nvSpPr>
          <p:cNvPr id="34" name="Oval 33"/>
          <p:cNvSpPr/>
          <p:nvPr/>
        </p:nvSpPr>
        <p:spPr>
          <a:xfrm>
            <a:off x="7360920" y="2167128"/>
            <a:ext cx="530352" cy="530352"/>
          </a:xfrm>
          <a:prstGeom prst="ellipse">
            <a:avLst/>
          </a:prstGeom>
          <a:solidFill>
            <a:srgbClr val="005B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216712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2258568"/>
            <a:ext cx="124358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5BB0"/>
                </a:solidFill>
                <a:latin typeface="맑은 고딕"/>
              </a:rPr>
              <a:t>3~4개월차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2852928"/>
            <a:ext cx="2084831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3136392"/>
            <a:ext cx="1719072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81C23"/>
                </a:solidFill>
                <a:latin typeface="맑은 고딕"/>
              </a:rPr>
              <a:t>주말 중심으로 시범 운영하고 이용 건수·업종별 소비·체류 반응 기록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06640" y="4489704"/>
            <a:ext cx="1719072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06640" y="472744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97A8"/>
                </a:solidFill>
                <a:latin typeface="맑은 고딕"/>
              </a:rPr>
              <a:t>산출물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056632"/>
            <a:ext cx="1719072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668"/>
                </a:solidFill>
                <a:latin typeface="맑은 고딕"/>
              </a:rPr>
              <a:t>월간 운영 결과표</a:t>
            </a:r>
          </a:p>
        </p:txBody>
      </p:sp>
      <p:sp>
        <p:nvSpPr>
          <p:cNvPr id="42" name="Oval 41"/>
          <p:cNvSpPr/>
          <p:nvPr/>
        </p:nvSpPr>
        <p:spPr>
          <a:xfrm>
            <a:off x="9592056" y="2167128"/>
            <a:ext cx="530352" cy="530352"/>
          </a:xfrm>
          <a:prstGeom prst="ellipse">
            <a:avLst/>
          </a:prstGeom>
          <a:solidFill>
            <a:srgbClr val="005B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92056" y="216712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32136" y="2258568"/>
            <a:ext cx="124358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5BB0"/>
                </a:solidFill>
                <a:latin typeface="맑은 고딕"/>
              </a:rPr>
              <a:t>5~6개월차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4896" y="2852928"/>
            <a:ext cx="2084831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37776" y="3136392"/>
            <a:ext cx="1719072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81C23"/>
                </a:solidFill>
                <a:latin typeface="맑은 고딕"/>
              </a:rPr>
              <a:t>운영 전후 같은 달 지표를 비교해 유지·수정·확대 결정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37776" y="4489704"/>
            <a:ext cx="1719071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637776" y="472744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97A8"/>
                </a:solidFill>
                <a:latin typeface="맑은 고딕"/>
              </a:rPr>
              <a:t>산출물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37776" y="5056632"/>
            <a:ext cx="1719072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668"/>
                </a:solidFill>
                <a:latin typeface="맑은 고딕"/>
              </a:rPr>
              <a:t>성과 비교표와 다음 운영안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SOURCES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652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81C23"/>
                </a:solidFill>
                <a:latin typeface="맑은 고딕"/>
              </a:rPr>
              <a:t>근거와 분석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01752"/>
            <a:ext cx="5303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B97A8"/>
                </a:solidFill>
                <a:latin typeface="맑은 고딕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170432"/>
            <a:ext cx="1110996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0352" y="1417320"/>
            <a:ext cx="7059168" cy="4992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8249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1C23"/>
                </a:solidFill>
                <a:latin typeface="맑은 고딕"/>
              </a:rPr>
              <a:t>주요 공식 출처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7" y="1737360"/>
            <a:ext cx="31089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7A8"/>
                </a:solidFill>
                <a:latin typeface="맑은 고딕"/>
              </a:rPr>
              <a:t>자료명과 제공처만 간결하게 표시합니다.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67127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139696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관광데이터랩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139696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81C23"/>
                </a:solidFill>
                <a:latin typeface="맑은 고딕"/>
              </a:rPr>
              <a:t>한국관광 데이터랩 · 서울특별시 강남구 순 방문자 수 및 숙박 비율 (이동통신 기반 외지인)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157984"/>
            <a:ext cx="13533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7A8"/>
                </a:solidFill>
                <a:latin typeface="맑은 고딕"/>
              </a:rPr>
              <a:t>datalab.visitkorea.or.kr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2560320"/>
            <a:ext cx="6382512" cy="0"/>
          </a:xfrm>
          <a:prstGeom prst="line">
            <a:avLst/>
          </a:prstGeom>
          <a:ln w="698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278892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761488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관광데이터랩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614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81C23"/>
                </a:solidFill>
                <a:latin typeface="맑은 고딕"/>
              </a:rPr>
              <a:t>한국관광 데이터랩 · 서울특별시 강남구 월간 순 방문자 수 (이동통신 기반 외지인)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779776"/>
            <a:ext cx="13533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7A8"/>
                </a:solidFill>
                <a:latin typeface="맑은 고딕"/>
              </a:rPr>
              <a:t>datalab.visitkorea.or.kr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3182112"/>
            <a:ext cx="6382512" cy="0"/>
          </a:xfrm>
          <a:prstGeom prst="line">
            <a:avLst/>
          </a:prstGeom>
          <a:ln w="698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3410712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383280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관광데이터랩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383280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81C23"/>
                </a:solidFill>
                <a:latin typeface="맑은 고딕"/>
              </a:rPr>
              <a:t>한국관광 데이터랩 · 서울특별시 강남구 관광소비 추이_외지인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401568"/>
            <a:ext cx="13533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7A8"/>
                </a:solidFill>
                <a:latin typeface="맑은 고딕"/>
              </a:rPr>
              <a:t>datalab.visitkorea.or.kr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" y="3803904"/>
            <a:ext cx="6382512" cy="0"/>
          </a:xfrm>
          <a:prstGeom prst="line">
            <a:avLst/>
          </a:prstGeom>
          <a:ln w="698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4032504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005072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관광데이터랩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005072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81C23"/>
                </a:solidFill>
                <a:latin typeface="맑은 고딕"/>
              </a:rPr>
              <a:t>한국관광 데이터랩 · 서울특별시 강남구 숙박방문자 비율 추이 (이동통신 기반 외지인)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4023359"/>
            <a:ext cx="13533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7A8"/>
                </a:solidFill>
                <a:latin typeface="맑은 고딕"/>
              </a:rPr>
              <a:t>datalab.visitkorea.or.kr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" y="4425696"/>
            <a:ext cx="6382512" cy="0"/>
          </a:xfrm>
          <a:prstGeom prst="line">
            <a:avLst/>
          </a:prstGeom>
          <a:ln w="698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2960" y="465429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626864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관광데이터랩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4626864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81C23"/>
                </a:solidFill>
                <a:latin typeface="맑은 고딕"/>
              </a:rPr>
              <a:t>한국관광 데이터랩 · 서울특별시 강남구 평균 숙박일 (이동통신 기반 외지인)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4645152"/>
            <a:ext cx="13533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7A8"/>
                </a:solidFill>
                <a:latin typeface="맑은 고딕"/>
              </a:rPr>
              <a:t>datalab.visitkorea.or.kr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5047488"/>
            <a:ext cx="6382512" cy="0"/>
          </a:xfrm>
          <a:prstGeom prst="line">
            <a:avLst/>
          </a:prstGeom>
          <a:ln w="698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2960" y="5276088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248656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5BB0"/>
                </a:solidFill>
                <a:latin typeface="맑은 고딕"/>
              </a:rPr>
              <a:t>관광데이터랩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5248656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81C23"/>
                </a:solidFill>
                <a:latin typeface="맑은 고딕"/>
              </a:rPr>
              <a:t>한국관광 데이터랩 · 서울특별시 강남구 내비게이션 목적지 유형별 검색량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5266944"/>
            <a:ext cx="13533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7A8"/>
                </a:solidFill>
                <a:latin typeface="맑은 고딕"/>
              </a:rPr>
              <a:t>datalab.visitkorea.or.kr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" y="5669280"/>
            <a:ext cx="6382512" cy="0"/>
          </a:xfrm>
          <a:prstGeom prst="line">
            <a:avLst/>
          </a:prstGeom>
          <a:ln w="698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827264" y="1417320"/>
            <a:ext cx="3831336" cy="4992624"/>
          </a:xfrm>
          <a:prstGeom prst="rect">
            <a:avLst/>
          </a:prstGeom>
          <a:solidFill>
            <a:srgbClr val="0F315B"/>
          </a:solidFill>
          <a:ln w="10160">
            <a:solidFill>
              <a:srgbClr val="0F3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56448" y="1719072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BCD2"/>
                </a:solidFill>
                <a:latin typeface="맑은 고딕"/>
              </a:rPr>
              <a:t>ML METHOD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2057400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자연추세 전망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2660904"/>
            <a:ext cx="3063240" cy="17373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750" b="1">
                <a:solidFill>
                  <a:srgbClr val="00BCD2"/>
                </a:solidFill>
                <a:latin typeface="맑은 고딕"/>
              </a:rPr>
              <a:t>● </a:t>
            </a:r>
            <a:r>
              <a:rPr sz="1050" b="0">
                <a:solidFill>
                  <a:srgbClr val="FFFFFF"/>
                </a:solidFill>
                <a:latin typeface="맑은 고딕"/>
              </a:rPr>
              <a:t>방문자 모델: RandomForestRegressor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750" b="1">
                <a:solidFill>
                  <a:srgbClr val="00BCD2"/>
                </a:solidFill>
                <a:latin typeface="맑은 고딕"/>
              </a:rPr>
              <a:t>● </a:t>
            </a:r>
            <a:r>
              <a:rPr sz="1050" b="0">
                <a:solidFill>
                  <a:srgbClr val="FFFFFF"/>
                </a:solidFill>
                <a:latin typeface="맑은 고딕"/>
              </a:rPr>
              <a:t>소비액 모델: seasonal_naive_previous_year_same_month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750" b="1">
                <a:solidFill>
                  <a:srgbClr val="00BCD2"/>
                </a:solidFill>
                <a:latin typeface="맑은 고딕"/>
              </a:rPr>
              <a:t>● </a:t>
            </a:r>
            <a:r>
              <a:rPr sz="1050" b="0">
                <a:solidFill>
                  <a:srgbClr val="FFFFFF"/>
                </a:solidFill>
                <a:latin typeface="맑은 고딕"/>
              </a:rPr>
              <a:t>검증: 202601~202603 / 202604~202607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750" b="1">
                <a:solidFill>
                  <a:srgbClr val="00BCD2"/>
                </a:solidFill>
                <a:latin typeface="맑은 고딕"/>
              </a:rPr>
              <a:t>● </a:t>
            </a:r>
            <a:r>
              <a:rPr sz="1050" b="0">
                <a:solidFill>
                  <a:srgbClr val="FFFFFF"/>
                </a:solidFill>
                <a:latin typeface="맑은 고딕"/>
              </a:rPr>
              <a:t>시간순 분리 + seasonal-naive 기준선 비교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156448" y="4617720"/>
            <a:ext cx="3054096" cy="0"/>
          </a:xfrm>
          <a:prstGeom prst="line">
            <a:avLst/>
          </a:prstGeom>
          <a:ln w="12700">
            <a:solidFill>
              <a:srgbClr val="005B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156448" y="4892040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BCD2"/>
                </a:solidFill>
                <a:latin typeface="맑은 고딕"/>
              </a:rPr>
              <a:t>역할 구분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5257800"/>
            <a:ext cx="297180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FFFFFF"/>
                </a:solidFill>
                <a:latin typeface="맑은 고딕"/>
              </a:rPr>
              <a:t>MySQL=관측 사실
ML=자연추세 숫자
RAG·공식 웹=문서 근거
LLM=설명·전략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