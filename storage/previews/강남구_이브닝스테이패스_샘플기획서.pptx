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bb8c8e1c6a4484" /><Relationship Type="http://schemas.openxmlformats.org/officeDocument/2006/relationships/extended-properties" Target="/docProps/app.xml" Id="R0b3cf418108c4895" /><Relationship Type="http://schemas.openxmlformats.org/officeDocument/2006/relationships/officeDocument" Target="/ppt/presentation.xml" Id="Rea70f7e559e545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a40df9e064ae8"/>
  </p:sldMasterIdLst>
  <p:notesMasterIdLst>
    <p:notesMasterId xmlns:r="http://schemas.openxmlformats.org/officeDocument/2006/relationships" r:id="Rf535503e70614e2f"/>
  </p:notesMasterIdLst>
  <p:sldIdLst>
    <p:sldId xmlns:r="http://schemas.openxmlformats.org/officeDocument/2006/relationships" id="256" r:id="Rb13760c0aa09440c"/>
    <p:sldId xmlns:r="http://schemas.openxmlformats.org/officeDocument/2006/relationships" id="257" r:id="Rd6092277fac942d0"/>
    <p:sldId xmlns:r="http://schemas.openxmlformats.org/officeDocument/2006/relationships" id="258" r:id="R9e1309a6e2694e97"/>
    <p:sldId xmlns:r="http://schemas.openxmlformats.org/officeDocument/2006/relationships" id="259" r:id="R40079ce2024747b9"/>
    <p:sldId xmlns:r="http://schemas.openxmlformats.org/officeDocument/2006/relationships" id="260" r:id="R1a8023f3d1604080"/>
    <p:sldId xmlns:r="http://schemas.openxmlformats.org/officeDocument/2006/relationships" id="261" r:id="R9bee775cc3cb46f1"/>
    <p:sldId xmlns:r="http://schemas.openxmlformats.org/officeDocument/2006/relationships" id="262" r:id="Rf6b6d725657e44b7"/>
    <p:sldId xmlns:r="http://schemas.openxmlformats.org/officeDocument/2006/relationships" id="263" r:id="R99304049dac44c51"/>
    <p:sldId xmlns:r="http://schemas.openxmlformats.org/officeDocument/2006/relationships" id="264" r:id="Re16cbc622c7b44c4"/>
    <p:sldId xmlns:r="http://schemas.openxmlformats.org/officeDocument/2006/relationships" id="265" r:id="Rc6516174f98344a0"/>
    <p:sldId xmlns:r="http://schemas.openxmlformats.org/officeDocument/2006/relationships" id="266" r:id="R9511375b38674318"/>
    <p:sldId xmlns:r="http://schemas.openxmlformats.org/officeDocument/2006/relationships" id="267" r:id="Rabfc9307ccce471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9f2ebebfe4ca0" /><Relationship Type="http://schemas.openxmlformats.org/officeDocument/2006/relationships/slideMaster" Target="/ppt/slideMasters/slideMaster1.xml" Id="Rb46a40df9e064ae8" /><Relationship Type="http://schemas.openxmlformats.org/officeDocument/2006/relationships/notesMaster" Target="/ppt/notesMasters/notesMaster1.xml" Id="Rf535503e70614e2f" /><Relationship Type="http://schemas.openxmlformats.org/officeDocument/2006/relationships/presProps" Target="/ppt/presProps.xml" Id="R580552f7e2444114" /><Relationship Type="http://schemas.openxmlformats.org/officeDocument/2006/relationships/tableStyles" Target="/ppt/tableStyles.xml" Id="Re074dad397334992" /><Relationship Type="http://schemas.openxmlformats.org/officeDocument/2006/relationships/slide" Target="/ppt/slides/slide1.xml" Id="Rb13760c0aa09440c" /><Relationship Type="http://schemas.openxmlformats.org/officeDocument/2006/relationships/slide" Target="/ppt/slides/slide2.xml" Id="Rd6092277fac942d0" /><Relationship Type="http://schemas.openxmlformats.org/officeDocument/2006/relationships/slide" Target="/ppt/slides/slide3.xml" Id="R9e1309a6e2694e97" /><Relationship Type="http://schemas.openxmlformats.org/officeDocument/2006/relationships/slide" Target="/ppt/slides/slide4.xml" Id="R40079ce2024747b9" /><Relationship Type="http://schemas.openxmlformats.org/officeDocument/2006/relationships/slide" Target="/ppt/slides/slide5.xml" Id="R1a8023f3d1604080" /><Relationship Type="http://schemas.openxmlformats.org/officeDocument/2006/relationships/slide" Target="/ppt/slides/slide6.xml" Id="R9bee775cc3cb46f1" /><Relationship Type="http://schemas.openxmlformats.org/officeDocument/2006/relationships/slide" Target="/ppt/slides/slide7.xml" Id="Rf6b6d725657e44b7" /><Relationship Type="http://schemas.openxmlformats.org/officeDocument/2006/relationships/slide" Target="/ppt/slides/slide8.xml" Id="R99304049dac44c51" /><Relationship Type="http://schemas.openxmlformats.org/officeDocument/2006/relationships/slide" Target="/ppt/slides/slide9.xml" Id="Re16cbc622c7b44c4" /><Relationship Type="http://schemas.openxmlformats.org/officeDocument/2006/relationships/slide" Target="/ppt/slides/slide10.xml" Id="Rc6516174f98344a0" /><Relationship Type="http://schemas.openxmlformats.org/officeDocument/2006/relationships/slide" Target="/ppt/slides/slide11.xml" Id="R9511375b38674318" /><Relationship Type="http://schemas.openxmlformats.org/officeDocument/2006/relationships/slide" Target="/ppt/slides/slide12.xml" Id="Rabfc9307ccce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380414af77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a355d2e2c4f71" /><Relationship Type="http://schemas.openxmlformats.org/officeDocument/2006/relationships/notesMaster" Target="/ppt/notesMasters/notesMaster1.xml" Id="Rc253ecd6f3f646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9f183aa65415f" /><Relationship Type="http://schemas.openxmlformats.org/officeDocument/2006/relationships/notesMaster" Target="/ppt/notesMasters/notesMaster1.xml" Id="R592a6070eae345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7484ca443f44b2" /><Relationship Type="http://schemas.openxmlformats.org/officeDocument/2006/relationships/notesMaster" Target="/ppt/notesMasters/notesMaster1.xml" Id="Red5d0e469c1c44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caf2c660d943a2" /><Relationship Type="http://schemas.openxmlformats.org/officeDocument/2006/relationships/notesMaster" Target="/ppt/notesMasters/notesMaster1.xml" Id="Ra87aecf190ff49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07d278c3de4ee4" /><Relationship Type="http://schemas.openxmlformats.org/officeDocument/2006/relationships/notesMaster" Target="/ppt/notesMasters/notesMaster1.xml" Id="R9dd77cddf2ba4e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4b6cf4daa64507" /><Relationship Type="http://schemas.openxmlformats.org/officeDocument/2006/relationships/notesMaster" Target="/ppt/notesMasters/notesMaster1.xml" Id="Rb1dc8b7bded846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0b8c329b9b4ed7" /><Relationship Type="http://schemas.openxmlformats.org/officeDocument/2006/relationships/notesMaster" Target="/ppt/notesMasters/notesMaster1.xml" Id="Rb5b7c6540a5044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2135ff5a7c46f2" /><Relationship Type="http://schemas.openxmlformats.org/officeDocument/2006/relationships/notesMaster" Target="/ppt/notesMasters/notesMaster1.xml" Id="R29fa1dcee1cf45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79a30eb36644c3" /><Relationship Type="http://schemas.openxmlformats.org/officeDocument/2006/relationships/notesMaster" Target="/ppt/notesMasters/notesMaster1.xml" Id="Ra6d099562779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0fe41b44604faa" /><Relationship Type="http://schemas.openxmlformats.org/officeDocument/2006/relationships/notesMaster" Target="/ppt/notesMasters/notesMaster1.xml" Id="R041fb433f1444a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3fb3d8f8744c95" /><Relationship Type="http://schemas.openxmlformats.org/officeDocument/2006/relationships/notesMaster" Target="/ppt/notesMasters/notesMaster1.xml" Id="Ra053c88dad3944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a234c2b7244b63" /><Relationship Type="http://schemas.openxmlformats.org/officeDocument/2006/relationships/notesMaster" Target="/ppt/notesMasters/notesMaster1.xml" Id="Rca1912207832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강남구 처리본: data/processed/ml/11680/monthly_demand.csv</a:t>
            </a:r>
          </a:p>
          <a:p xmlns:a="http://schemas.openxmlformats.org/drawingml/2006/main">
            <a:r>
              <a:t>- 강남구 모델 메타데이터: artifacts/ml/11680/demand_model.metadata.json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본 샘플 기획서의 12장 구성 및 내부 데이터 근거 목차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data/processed/ml/11680/monthly_demand.csv (2026-07 actual)</a:t>
            </a:r>
          </a:p>
          <a:p xmlns:a="http://schemas.openxmlformats.org/drawingml/2006/main">
            <a:r>
              <a:t>- data/processed/nationwide/merged_planning_context/regional_planning_context.csv (2025-07~2026-06 comparison)</a:t>
            </a:r>
          </a:p>
          <a:p xmlns:a="http://schemas.openxmlformats.org/drawingml/2006/main">
            <a:r>
              <a:t>- 한국관광공사 국문관광정보 Open API: http://tong.visitkorea.or.kr/cms/resource/13/3464913_image2_1.jpg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data/processed/ml/11680/monthly_demand.csv</a:t>
            </a:r>
          </a:p>
          <a:p xmlns:a="http://schemas.openxmlformats.org/drawingml/2006/main">
            <a:r>
              <a:t>- data/processed/nationwide/merged_planning_context/regional_planning_context.csv</a:t>
            </a:r>
          </a:p>
          <a:p xmlns:a="http://schemas.openxmlformats.org/drawingml/2006/main">
            <a:r>
              <a:t>- 한국관광공사 국문관광정보 Open API: http://tong.visitkorea.or.kr/cms/resource/43/3590343_image2_1.jpg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입력 조건과 강남구 실제 데이터에서 도출한 운영 시나리오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한국관광공사 국문관광정보 Open API: http://tong.visitkorea.or.kr/cms/resource/61/3566961_image2_1.jpg</a:t>
            </a:r>
          </a:p>
          <a:p xmlns:a="http://schemas.openxmlformats.org/drawingml/2006/main">
            <a:r>
              <a:t>- 사업 구성은 관측값과 공식 야간관광·숙박연계 사례를 바탕으로 설계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data/rag/official_case_studies.jsonl: 야간관광 특화도시, 숙박 할인, 야간 축제 사례</a:t>
            </a:r>
          </a:p>
          <a:p xmlns:a="http://schemas.openxmlformats.org/drawingml/2006/main">
            <a:r>
              <a:t>- 본 일정은 3개월 시범사업용 실행안이며 실제 협약·조달 일정에 따라 조정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data/processed/nationwide/merged_planning_context/regional_planning_context.csv</a:t>
            </a:r>
          </a:p>
          <a:p xmlns:a="http://schemas.openxmlformats.org/drawingml/2006/main">
            <a:r>
              <a:t>- data/processed/nationwide/merged_planning_context/peer_comparisons.csv</a:t>
            </a:r>
          </a:p>
          <a:p xmlns:a="http://schemas.openxmlformats.org/drawingml/2006/main">
            <a:r>
              <a:t>- 비교지역 선정: 표준화 Euclidean distance; 비교는 인과효과가 아님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artifacts/ml/11680/demand_model.metadata.json (demand-v3.0)</a:t>
            </a:r>
          </a:p>
          <a:p xmlns:a="http://schemas.openxmlformats.org/drawingml/2006/main">
            <a:r>
              <a:t>- data/processed/ml/11680/monthly_demand.csv</a:t>
            </a:r>
          </a:p>
          <a:p xmlns:a="http://schemas.openxmlformats.org/drawingml/2006/main">
            <a:r>
              <a:t>- ML 자연추세 2026-08~10; 목표선은 방문 +1%, 소비 +2% 사용자 입력 예시이며 정책효과 예측이 아님</a:t>
            </a:r>
          </a:p>
          <a:p xmlns:a="http://schemas.openxmlformats.org/drawingml/2006/main">
            <a:r>
              <a:t>- 한국관광공사 국문관광정보 Open API: http://tong.visitkorea.or.kr/cms/resource/54/3579654_image2_1.jpg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data/rag/official_case_studies.jsonl: 전주 2026 야간관광 사업 예산 사례</a:t>
            </a:r>
          </a:p>
          <a:p xmlns:a="http://schemas.openxmlformats.org/drawingml/2006/main">
            <a:r>
              <a:t>- 공식 사례 금액은 예산 구조 참고선이며 강남구 사업비 추정치가 아님</a:t>
            </a:r>
          </a:p>
          <a:p xmlns:a="http://schemas.openxmlformats.org/drawingml/2006/main">
            <a:r>
              <a:t>- 한국관광공사 국문관광정보 Open API: http://tong.visitkorea.or.kr/cms/resource/96/3567696_image2_1.jpg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ai_server/app/orchestrator.py 및 관련 Agent·schema 코드</a:t>
            </a:r>
          </a:p>
          <a:p xmlns:a="http://schemas.openxmlformats.org/drawingml/2006/main">
            <a:r>
              <a:t>- docs/ARCHITECTURE.md, docs/DATA_AND_AI_RULES.md</a:t>
            </a:r>
          </a:p>
          <a:p xmlns:a="http://schemas.openxmlformats.org/drawingml/2006/main">
            <a:r>
              <a:t>- 한국관광공사 국문관광정보 Open API: http://tong.visitkorea.or.kr/cms/resource/56/3467556_image2_1.jpg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기대효과는 검증 프레임이며 보장 수치가 아님</a:t>
            </a:r>
          </a:p>
          <a:p xmlns:a="http://schemas.openxmlformats.org/drawingml/2006/main">
            <a:r>
              <a:t>- 3개월 실제 운영 결과를 저장한 뒤 다음 기획안의 비교 근거로 재사용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9b7921e304b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7d454b23224aec" /><Relationship Type="http://schemas.openxmlformats.org/officeDocument/2006/relationships/slideLayout" Target="/ppt/slideLayouts/slideLayout1.xml" Id="Ra6dd649eaa2043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d649eaa2043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f819945204535" /><Relationship Type="http://schemas.openxmlformats.org/officeDocument/2006/relationships/notesSlide" Target="/ppt/notesSlides/notesSlide1.xml" Id="Rbc4508c969ea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2c36fe3d64214" /><Relationship Type="http://schemas.openxmlformats.org/officeDocument/2006/relationships/notesSlide" Target="/ppt/notesSlides/notesSlide2.xml" Id="R0f0d214951914a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25c7631fc4c71" /><Relationship Type="http://schemas.openxmlformats.org/officeDocument/2006/relationships/image" Target="/ppt/media/image.jpeg" Id="Rb5a49479260e4bda" /><Relationship Type="http://schemas.openxmlformats.org/officeDocument/2006/relationships/notesSlide" Target="/ppt/notesSlides/notesSlide3.xml" Id="Racf45e7cb30648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19c91ab494002" /><Relationship Type="http://schemas.openxmlformats.org/officeDocument/2006/relationships/image" Target="/ppt/media/image2.jpeg" Id="Re2ed10992aa642ad" /><Relationship Type="http://schemas.openxmlformats.org/officeDocument/2006/relationships/notesSlide" Target="/ppt/notesSlides/notesSlide4.xml" Id="R3bd393a84aac4c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5558eacc24ff4" /><Relationship Type="http://schemas.openxmlformats.org/officeDocument/2006/relationships/notesSlide" Target="/ppt/notesSlides/notesSlide5.xml" Id="Red811ec4de55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b24254b974dce" /><Relationship Type="http://schemas.openxmlformats.org/officeDocument/2006/relationships/image" Target="/ppt/media/image3.jpeg" Id="Rd6004880b04a4ffb" /><Relationship Type="http://schemas.openxmlformats.org/officeDocument/2006/relationships/notesSlide" Target="/ppt/notesSlides/notesSlide6.xml" Id="Ref7485649cc9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cc8fb080f4667" /><Relationship Type="http://schemas.openxmlformats.org/officeDocument/2006/relationships/notesSlide" Target="/ppt/notesSlides/notesSlide7.xml" Id="Rc702e0b0f0f64b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261e6d85e4ee3" /><Relationship Type="http://schemas.openxmlformats.org/officeDocument/2006/relationships/notesSlide" Target="/ppt/notesSlides/notesSlide8.xml" Id="Rec3c501b170244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f649ba3254507" /><Relationship Type="http://schemas.openxmlformats.org/officeDocument/2006/relationships/image" Target="/ppt/media/image4.jpeg" Id="R18e1c63e261148a0" /><Relationship Type="http://schemas.openxmlformats.org/officeDocument/2006/relationships/chart" Target="/ppt/slides/charts/chart1.xml" Id="R32955cf718df48bd" /><Relationship Type="http://schemas.openxmlformats.org/officeDocument/2006/relationships/notesSlide" Target="/ppt/notesSlides/notesSlide9.xml" Id="R8be137f9f45444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81ff969044f69" /><Relationship Type="http://schemas.openxmlformats.org/officeDocument/2006/relationships/image" Target="/ppt/media/image5.jpeg" Id="Rb639a03102414e57" /><Relationship Type="http://schemas.openxmlformats.org/officeDocument/2006/relationships/notesSlide" Target="/ppt/notesSlides/notesSlide10.xml" Id="R98c2c5b325c149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3c43cc384ab7" /><Relationship Type="http://schemas.openxmlformats.org/officeDocument/2006/relationships/image" Target="/ppt/media/image6.jpeg" Id="R40e111bffae14b36" /><Relationship Type="http://schemas.openxmlformats.org/officeDocument/2006/relationships/notesSlide" Target="/ppt/notesSlides/notesSlide11.xml" Id="Rea2c949627b042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4a609afbd40fa" /><Relationship Type="http://schemas.openxmlformats.org/officeDocument/2006/relationships/notesSlide" Target="/ppt/notesSlides/notesSlide12.xml" Id="R3751e01dde1a479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ML 자연추세</c:v>
          </c:tx>
          <c:spPr>
            <a:ln xmlns:a="http://schemas.openxmlformats.org/drawingml/2006/main" w="28575">
              <a:solidFill>
                <a:srgbClr val="004EA2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"/>
              <c:pt idx="0">
                <c:v>2026.08</c:v>
              </c:pt>
              <c:pt idx="1">
                <c:v>2026.09</c:v>
              </c:pt>
              <c:pt idx="2">
                <c:v>2026.10</c:v>
              </c:pt>
            </c:numLit>
          </c:cat>
          <c:val>
            <c:numLit>
              <c:formatCode>0.0</c:formatCode>
              <c:ptCount val="3"/>
              <c:pt idx="0">
                <c:v>18.027844</c:v>
              </c:pt>
              <c:pt idx="1">
                <c:v>18.237833</c:v>
              </c:pt>
              <c:pt idx="2">
                <c:v>17.767384</c:v>
              </c:pt>
            </c:numLit>
          </c:val>
        </c:ser>
        <c:ser>
          <c:idx val="1"/>
          <c:order val="1"/>
          <c:tx>
            <c:v>샘플 목표(+1%)</c:v>
          </c:tx>
          <c:spPr>
            <a:ln xmlns:a="http://schemas.openxmlformats.org/drawingml/2006/main" w="28575">
              <a:solidFill>
                <a:srgbClr val="FF6B0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"/>
              <c:pt idx="0">
                <c:v>2026.08</c:v>
              </c:pt>
              <c:pt idx="1">
                <c:v>2026.09</c:v>
              </c:pt>
              <c:pt idx="2">
                <c:v>2026.10</c:v>
              </c:pt>
            </c:numLit>
          </c:cat>
          <c:val>
            <c:numLit>
              <c:formatCode>0.0</c:formatCode>
              <c:ptCount val="3"/>
              <c:pt idx="0">
                <c:v>18.208122</c:v>
              </c:pt>
              <c:pt idx="1">
                <c:v>18.420211</c:v>
              </c:pt>
              <c:pt idx="2">
                <c:v>17.945058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F555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F55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A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4F7F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정 책 검 토 용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강남 이브닝 스테이 패스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>
                <a:latin typeface="Noto Sans KR"/>
                <a:ea typeface="Noto Sans KR"/>
                <a:cs typeface="Noto Sans KR"/>
              </a:defRPr>
            </a:pPr>
            <a:r>
              <a:rPr sz="41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야간·숙박 전환</a:t>
            </a:r>
            <a:r>
              <a:rPr sz="412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3개월 시범사업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2026년 09월 02일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관광정책 검토용 /</a:t>
            </a:r>
          </a:p>
          <a:p xmlns:a="http://schemas.openxmlformats.org/drawingml/2006/main"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데이터·AI 샘플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보 고 서  번 호  G N - 2 0 2 6 - 0 1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식음·쇼핑 소비를</a:t>
            </a:r>
          </a:p>
          <a:p xmlns:a="http://schemas.openxmlformats.org/drawingml/2006/main">
            <a:pPr algn="l">
              <a:buNone/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숙박으로 연결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전략기획 데이터 시스템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2026. 09. 02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근거와 기획 배경</a:t>
            </a: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 시범사업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참여자와 이용 시나리오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핵심 사업 구성 7가지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1" name="toc-0-4-num">
            <a:extLst xmlns:a="http://schemas.openxmlformats.org/drawingml/2006/main">
              <a:ext uri="{FF2B5EF4-FFF2-40B4-BE49-F238E27FC236}">
                <a16:creationId xmlns:a16="http://schemas.microsoft.com/office/drawing/2014/main" id="{3181EE82-187E-4CD5-A105-BFB3A37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D95BDF3D-1B1E-499C-9F49-A67D639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912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3개월 실행 Flow·산출물</a:t>
            </a:r>
          </a:p>
        </p:txBody>
      </p:sp>
      <p:sp>
        <p:nvSpPr>
          <p:cNvPr id="23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10A2117D-21A6-48D9-AFA6-0B6BE52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유사 지역 비교와 차별점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ML 자연추세·목표 시나리오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예산 산식·성과 측정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5-Agent·공식 근거 파이프라인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기대효과·확대 판단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tourism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49479260e4bda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867900" y="28575"/>
            <a:ext cx="5343525" cy="851535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04CB0C-79AE-4B27-9BB7-C6B424D3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19175"/>
            <a:ext cx="2466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S E C T I O N   0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D9419-1199-4437-8A57-502147C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강한 방문·소비, </a:t>
            </a:r>
            <a:r>
              <a:rPr sz="3900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낮은 숙박 전환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A9B5AE-9628-496B-8801-82689A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795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72320DF2-2546-43D9-ABF2-F709FF8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8039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강남구는 비교 가능한 166개 지역 중 방문 규모 100백분위, 방문자당 국내 관광소비 93.98백분위입니다.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반면 평균 숙박방문 비율은 3.1167%로 3.61백분위에 머뭅니다.</a:t>
            </a:r>
          </a:p>
        </p:txBody>
      </p:sp>
      <p:sp>
        <p:nvSpPr>
          <p:cNvPr id="6" name="decision-rail">
            <a:extLst xmlns:a="http://schemas.openxmlformats.org/drawingml/2006/main">
              <a:ext uri="{FF2B5EF4-FFF2-40B4-BE49-F238E27FC236}">
                <a16:creationId xmlns:a16="http://schemas.microsoft.com/office/drawing/2014/main" id="{ADBF1FF9-7C9A-40EE-87A5-965DFB8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</p:sp>
      <p:sp>
        <p:nvSpPr>
          <p:cNvPr id="7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97D3E6FC-FC58-409A-ACD6-FD20707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이미 확보된 방문·소비 기반</a:t>
            </a:r>
          </a:p>
        </p:txBody>
      </p:sp>
      <p:sp>
        <p:nvSpPr>
          <p:cNvPr id="8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CD7CA3DD-3A68-4760-9228-22F4745D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3648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2026년 7월 순 방문자 1,796만 명,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외지인 관광소비 4,820억 원을 기록했습니다.</a:t>
            </a:r>
          </a:p>
        </p:txBody>
      </p:sp>
      <p:sp>
        <p:nvSpPr>
          <p:cNvPr id="9" name="activation-rail">
            <a:extLst xmlns:a="http://schemas.openxmlformats.org/drawingml/2006/main">
              <a:ext uri="{FF2B5EF4-FFF2-40B4-BE49-F238E27FC236}">
                <a16:creationId xmlns:a16="http://schemas.microsoft.com/office/drawing/2014/main" id="{4E330694-7E74-4BF4-B47C-AB193BD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</p:sp>
      <p:sp>
        <p:nvSpPr>
          <p:cNvPr id="10" name="activation-title">
            <a:extLst xmlns:a="http://schemas.openxmlformats.org/drawingml/2006/main">
              <a:ext uri="{FF2B5EF4-FFF2-40B4-BE49-F238E27FC236}">
                <a16:creationId xmlns:a16="http://schemas.microsoft.com/office/drawing/2014/main" id="{0F08C0B3-DF25-47C0-865B-03D3C61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전환이 필요한 숙박 연결</a:t>
            </a:r>
          </a:p>
        </p:txBody>
      </p:sp>
      <p:sp>
        <p:nvSpPr>
          <p:cNvPr id="11" name="activation-body">
            <a:extLst xmlns:a="http://schemas.openxmlformats.org/drawingml/2006/main">
              <a:ext uri="{FF2B5EF4-FFF2-40B4-BE49-F238E27FC236}">
                <a16:creationId xmlns:a16="http://schemas.microsoft.com/office/drawing/2014/main" id="{DAC8F0FE-7C6E-4D83-8B8A-0152AC7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91025"/>
            <a:ext cx="369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식음·쇼핑 소비는 강하지만 숙박업 비중 2.4%로,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야간 체류와 숙박을 연결할 여지가 큽니다.</a:t>
            </a:r>
          </a:p>
        </p:txBody>
      </p:sp>
      <p:sp>
        <p:nvSpPr>
          <p:cNvPr id="12" name="release-card">
            <a:extLst xmlns:a="http://schemas.openxmlformats.org/drawingml/2006/main">
              <a:ext uri="{FF2B5EF4-FFF2-40B4-BE49-F238E27FC236}">
                <a16:creationId xmlns:a16="http://schemas.microsoft.com/office/drawing/2014/main" id="{D0C3157D-1CB0-44E7-8820-308158D2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ease-card-rail">
            <a:extLst xmlns:a="http://schemas.openxmlformats.org/drawingml/2006/main">
              <a:ext uri="{FF2B5EF4-FFF2-40B4-BE49-F238E27FC236}">
                <a16:creationId xmlns:a16="http://schemas.microsoft.com/office/drawing/2014/main" id="{7FFCCF85-ABBF-4ECB-AFEA-A8B4DA10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</p:sp>
      <p:sp>
        <p:nvSpPr>
          <p:cNvPr id="14" name="release-label">
            <a:extLst xmlns:a="http://schemas.openxmlformats.org/drawingml/2006/main">
              <a:ext uri="{FF2B5EF4-FFF2-40B4-BE49-F238E27FC236}">
                <a16:creationId xmlns:a16="http://schemas.microsoft.com/office/drawing/2014/main" id="{C08F2C4A-858E-436B-9257-34DDC353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식음·쇼핑 소비 비중</a:t>
            </a:r>
          </a:p>
        </p:txBody>
      </p:sp>
      <p:sp>
        <p:nvSpPr>
          <p:cNvPr id="15" name="release-value">
            <a:extLst xmlns:a="http://schemas.openxmlformats.org/drawingml/2006/main">
              <a:ext uri="{FF2B5EF4-FFF2-40B4-BE49-F238E27FC236}">
                <a16:creationId xmlns:a16="http://schemas.microsoft.com/office/drawing/2014/main" id="{F59B9312-1FAD-461A-B97A-3B6B13BC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0674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84.2%</a:t>
            </a:r>
          </a:p>
        </p:txBody>
      </p:sp>
      <p:sp>
        <p:nvSpPr>
          <p:cNvPr id="16" name="release-suffix">
            <a:extLst xmlns:a="http://schemas.openxmlformats.org/drawingml/2006/main">
              <a:ext uri="{FF2B5EF4-FFF2-40B4-BE49-F238E27FC236}">
                <a16:creationId xmlns:a16="http://schemas.microsoft.com/office/drawing/2014/main" id="{D5E69186-DF38-4A66-91A3-04952F4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03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2026.07 실제값</a:t>
            </a:r>
          </a:p>
        </p:txBody>
      </p:sp>
      <p:sp>
        <p:nvSpPr>
          <p:cNvPr id="17" name="strategy-card">
            <a:extLst xmlns:a="http://schemas.openxmlformats.org/drawingml/2006/main">
              <a:ext uri="{FF2B5EF4-FFF2-40B4-BE49-F238E27FC236}">
                <a16:creationId xmlns:a16="http://schemas.microsoft.com/office/drawing/2014/main" id="{894D211D-54DB-4650-886B-59BDE3C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ategy-card-rail">
            <a:extLst xmlns:a="http://schemas.openxmlformats.org/drawingml/2006/main">
              <a:ext uri="{FF2B5EF4-FFF2-40B4-BE49-F238E27FC236}">
                <a16:creationId xmlns:a16="http://schemas.microsoft.com/office/drawing/2014/main" id="{4BD40E72-A0A4-4F59-BF64-47A1F54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</p:sp>
      <p:sp>
        <p:nvSpPr>
          <p:cNvPr id="19" name="strategy-label">
            <a:extLst xmlns:a="http://schemas.openxmlformats.org/drawingml/2006/main">
              <a:ext uri="{FF2B5EF4-FFF2-40B4-BE49-F238E27FC236}">
                <a16:creationId xmlns:a16="http://schemas.microsoft.com/office/drawing/2014/main" id="{EA6B80AF-F1D9-4537-B201-BF0C188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평균 숙박방문 비율</a:t>
            </a:r>
          </a:p>
        </p:txBody>
      </p:sp>
      <p:sp>
        <p:nvSpPr>
          <p:cNvPr id="20" name="strategy-value">
            <a:extLst xmlns:a="http://schemas.openxmlformats.org/drawingml/2006/main">
              <a:ext uri="{FF2B5EF4-FFF2-40B4-BE49-F238E27FC236}">
                <a16:creationId xmlns:a16="http://schemas.microsoft.com/office/drawing/2014/main" id="{2065A6CF-D0E9-4B91-B0B1-ACBAD47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067425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3.12%</a:t>
            </a:r>
          </a:p>
        </p:txBody>
      </p:sp>
      <p:sp>
        <p:nvSpPr>
          <p:cNvPr id="21" name="strategy-suffix">
            <a:extLst xmlns:a="http://schemas.openxmlformats.org/drawingml/2006/main">
              <a:ext uri="{FF2B5EF4-FFF2-40B4-BE49-F238E27FC236}">
                <a16:creationId xmlns:a16="http://schemas.microsoft.com/office/drawing/2014/main" id="{AB8DACC9-57A5-41E3-8464-66C5FAF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21030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166개 중 3.61백분위</a:t>
            </a:r>
          </a:p>
        </p:txBody>
      </p:sp>
    </p:spTree>
    <p:extLst>
      <p:ext uri="{BB962C8B-B14F-4D97-AF65-F5344CB8AC3E}">
        <p14:creationId xmlns:p14="http://schemas.microsoft.com/office/powerpoint/2010/main" val="284137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city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10992aa642ad"/>
          <a:srcRect xmlns:a="http://schemas.openxmlformats.org/drawingml/2006/main" l="0" t="68" r="0" b="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29850" y="0"/>
            <a:ext cx="501015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C140F1E-536A-4372-831D-1A30AB3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8675"/>
            <a:ext cx="3648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R O B L E M   &amp;   P I L O T   O B J E C T I V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FF0F8E-C488-4FAD-A415-F42CFBA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84772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시범사업 목표</a:t>
            </a:r>
          </a:p>
        </p:txBody>
      </p:sp>
      <p:sp>
        <p:nvSpPr>
          <p:cNvPr id="4" name="orange-rule">
            <a:extLst xmlns:a="http://schemas.openxmlformats.org/drawingml/2006/main">
              <a:ext uri="{FF2B5EF4-FFF2-40B4-BE49-F238E27FC236}">
                <a16:creationId xmlns:a16="http://schemas.microsoft.com/office/drawing/2014/main" id="{2D060FE0-5960-484C-BB83-BF0F1BA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962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F6B00"/>
            </a:solidFill>
            <a:prstDash val="solid"/>
          </a:ln>
        </p:spPr>
      </p:sp>
      <p:sp>
        <p:nvSpPr>
          <p:cNvPr id="5" name="feature-0">
            <a:extLst xmlns:a="http://schemas.openxmlformats.org/drawingml/2006/main">
              <a:ext uri="{FF2B5EF4-FFF2-40B4-BE49-F238E27FC236}">
                <a16:creationId xmlns:a16="http://schemas.microsoft.com/office/drawing/2014/main" id="{8E464197-E4E1-4C93-AF19-23A4A08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대규모 방문</a:t>
            </a:r>
          </a:p>
        </p:txBody>
      </p:sp>
      <p:sp>
        <p:nvSpPr>
          <p:cNvPr id="6" name="feature-1">
            <a:extLst xmlns:a="http://schemas.openxmlformats.org/drawingml/2006/main">
              <a:ext uri="{FF2B5EF4-FFF2-40B4-BE49-F238E27FC236}">
                <a16:creationId xmlns:a16="http://schemas.microsoft.com/office/drawing/2014/main" id="{AF717375-2E32-4358-99A8-17418DB6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식음·쇼핑 84.2%</a:t>
            </a:r>
          </a:p>
        </p:txBody>
      </p:sp>
      <p:sp>
        <p:nvSpPr>
          <p:cNvPr id="7" name="feature-2">
            <a:extLst xmlns:a="http://schemas.openxmlformats.org/drawingml/2006/main">
              <a:ext uri="{FF2B5EF4-FFF2-40B4-BE49-F238E27FC236}">
                <a16:creationId xmlns:a16="http://schemas.microsoft.com/office/drawing/2014/main" id="{52D960B5-2517-4C9F-8BE6-D01A896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숙박비율 하위권</a:t>
            </a:r>
          </a:p>
        </p:txBody>
      </p:sp>
      <p:sp>
        <p:nvSpPr>
          <p:cNvPr id="8" name="feature-3">
            <a:extLst xmlns:a="http://schemas.openxmlformats.org/drawingml/2006/main">
              <a:ext uri="{FF2B5EF4-FFF2-40B4-BE49-F238E27FC236}">
                <a16:creationId xmlns:a16="http://schemas.microsoft.com/office/drawing/2014/main" id="{ADE849E5-4159-49A8-99EB-553C231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검증</a:t>
            </a:r>
          </a:p>
        </p:txBody>
      </p:sp>
      <p:sp>
        <p:nvSpPr>
          <p:cNvPr id="9" name="feature-4">
            <a:extLst xmlns:a="http://schemas.openxmlformats.org/drawingml/2006/main">
              <a:ext uri="{FF2B5EF4-FFF2-40B4-BE49-F238E27FC236}">
                <a16:creationId xmlns:a16="http://schemas.microsoft.com/office/drawing/2014/main" id="{265D631B-2771-41A2-B29B-BFE3E98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야간 동선</a:t>
            </a:r>
          </a:p>
        </p:txBody>
      </p:sp>
      <p:sp>
        <p:nvSpPr>
          <p:cNvPr id="10" name="feature-5">
            <a:extLst xmlns:a="http://schemas.openxmlformats.org/drawingml/2006/main">
              <a:ext uri="{FF2B5EF4-FFF2-40B4-BE49-F238E27FC236}">
                <a16:creationId xmlns:a16="http://schemas.microsoft.com/office/drawing/2014/main" id="{526D0119-66A7-4A39-B401-C753A4B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숙박 인증</a:t>
            </a:r>
          </a:p>
        </p:txBody>
      </p:sp>
      <p:sp>
        <p:nvSpPr>
          <p:cNvPr id="11" name="feature-6">
            <a:extLst xmlns:a="http://schemas.openxmlformats.org/drawingml/2006/main">
              <a:ext uri="{FF2B5EF4-FFF2-40B4-BE49-F238E27FC236}">
                <a16:creationId xmlns:a16="http://schemas.microsoft.com/office/drawing/2014/main" id="{48F47610-5D77-492F-9124-962720A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사업자 연계</a:t>
            </a:r>
          </a:p>
        </p:txBody>
      </p:sp>
      <p:sp>
        <p:nvSpPr>
          <p:cNvPr id="12" name="feature-7">
            <a:extLst xmlns:a="http://schemas.openxmlformats.org/drawingml/2006/main">
              <a:ext uri="{FF2B5EF4-FFF2-40B4-BE49-F238E27FC236}">
                <a16:creationId xmlns:a16="http://schemas.microsoft.com/office/drawing/2014/main" id="{225046E9-ABBE-4315-B859-A46FB16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 측정</a:t>
            </a:r>
          </a:p>
        </p:txBody>
      </p:sp>
      <p:sp>
        <p:nvSpPr>
          <p:cNvPr id="13" name="body-rail">
            <a:extLst xmlns:a="http://schemas.openxmlformats.org/drawingml/2006/main">
              <a:ext uri="{FF2B5EF4-FFF2-40B4-BE49-F238E27FC236}">
                <a16:creationId xmlns:a16="http://schemas.microsoft.com/office/drawing/2014/main" id="{9838C652-F895-4995-B29D-141835A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83E3A806-592E-467F-92DD-8536E84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38825"/>
            <a:ext cx="8362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강남구의 문제는 관광객이 적다는 것이 아니라, 이미 형성된 식음·쇼핑 방문이 야간 체류와 숙박으로 충분히 이어지지 않는다는 점입니다.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본 시범사업은 18시 이후 동선, 식음·쇼핑 혜택, 실제 숙박 완료 인증을 하나의 패스로 묶고 3개월간 전환율을 측정합니다. 목표는 성과를 가정하는 것이 아니라 중단·보완·확대를 판단할 수 있는 검증 가능한 근거를 만드는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320722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참여자별 역할과 이용 시나리오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 수요를 야간 결제와 실제 숙박 완료까지 연결하는 3자 협업 구조</a:t>
            </a: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타지역 방문객</a:t>
            </a:r>
          </a:p>
        </p:txBody>
      </p:sp>
      <p:sp>
        <p:nvSpPr>
          <p:cNvPr id="6" name="bank-roof">
            <a:extLst xmlns:a="http://schemas.openxmlformats.org/drawingml/2006/main">
              <a:ext uri="{FF2B5EF4-FFF2-40B4-BE49-F238E27FC236}">
                <a16:creationId xmlns:a16="http://schemas.microsoft.com/office/drawing/2014/main" id="{6C8830F6-3845-41BD-ACE7-C4EE16F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05300"/>
            <a:ext cx="6858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k-entablature">
            <a:extLst xmlns:a="http://schemas.openxmlformats.org/drawingml/2006/main">
              <a:ext uri="{FF2B5EF4-FFF2-40B4-BE49-F238E27FC236}">
                <a16:creationId xmlns:a16="http://schemas.microsoft.com/office/drawing/2014/main" id="{22361731-9751-4C79-BE2B-76D27E7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552950"/>
            <a:ext cx="64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nk-column-0">
            <a:extLst xmlns:a="http://schemas.openxmlformats.org/drawingml/2006/main">
              <a:ext uri="{FF2B5EF4-FFF2-40B4-BE49-F238E27FC236}">
                <a16:creationId xmlns:a16="http://schemas.microsoft.com/office/drawing/2014/main" id="{868A702C-5CDA-4CF8-9FB7-18787E7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nk-column-1">
            <a:extLst xmlns:a="http://schemas.openxmlformats.org/drawingml/2006/main">
              <a:ext uri="{FF2B5EF4-FFF2-40B4-BE49-F238E27FC236}">
                <a16:creationId xmlns:a16="http://schemas.microsoft.com/office/drawing/2014/main" id="{50E07DF9-1F3F-4342-BC3E-FCEA01A9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k-column-2">
            <a:extLst xmlns:a="http://schemas.openxmlformats.org/drawingml/2006/main">
              <a:ext uri="{FF2B5EF4-FFF2-40B4-BE49-F238E27FC236}">
                <a16:creationId xmlns:a16="http://schemas.microsoft.com/office/drawing/2014/main" id="{5FF68BE2-FCB4-4D05-BC1B-61264E6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nk-base">
            <a:extLst xmlns:a="http://schemas.openxmlformats.org/drawingml/2006/main">
              <a:ext uri="{FF2B5EF4-FFF2-40B4-BE49-F238E27FC236}">
                <a16:creationId xmlns:a16="http://schemas.microsoft.com/office/drawing/2014/main" id="{AFA7BF87-4EBA-4A3B-85F2-A0BF7B3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704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erson-head-0">
            <a:extLst xmlns:a="http://schemas.openxmlformats.org/drawingml/2006/main">
              <a:ext uri="{FF2B5EF4-FFF2-40B4-BE49-F238E27FC236}">
                <a16:creationId xmlns:a16="http://schemas.microsoft.com/office/drawing/2014/main" id="{C4D1E5F7-41A5-450D-8C04-DE851BB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son-body-0">
            <a:extLst xmlns:a="http://schemas.openxmlformats.org/drawingml/2006/main">
              <a:ext uri="{FF2B5EF4-FFF2-40B4-BE49-F238E27FC236}">
                <a16:creationId xmlns:a16="http://schemas.microsoft.com/office/drawing/2014/main" id="{45565331-1EEF-44C8-8693-303D68C1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erson-head-1">
            <a:extLst xmlns:a="http://schemas.openxmlformats.org/drawingml/2006/main">
              <a:ext uri="{FF2B5EF4-FFF2-40B4-BE49-F238E27FC236}">
                <a16:creationId xmlns:a16="http://schemas.microsoft.com/office/drawing/2014/main" id="{A250625F-90E3-4075-8371-3188CE5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rson-body-1">
            <a:extLst xmlns:a="http://schemas.openxmlformats.org/drawingml/2006/main">
              <a:ext uri="{FF2B5EF4-FFF2-40B4-BE49-F238E27FC236}">
                <a16:creationId xmlns:a16="http://schemas.microsoft.com/office/drawing/2014/main" id="{4397DBDC-F8B2-4022-B35A-686B15B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son-head-2">
            <a:extLst xmlns:a="http://schemas.openxmlformats.org/drawingml/2006/main">
              <a:ext uri="{FF2B5EF4-FFF2-40B4-BE49-F238E27FC236}">
                <a16:creationId xmlns:a16="http://schemas.microsoft.com/office/drawing/2014/main" id="{8025074B-DFF1-4C48-893F-D68A516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erson-body-2">
            <a:extLst xmlns:a="http://schemas.openxmlformats.org/drawingml/2006/main">
              <a:ext uri="{FF2B5EF4-FFF2-40B4-BE49-F238E27FC236}">
                <a16:creationId xmlns:a16="http://schemas.microsoft.com/office/drawing/2014/main" id="{A9EC7A93-21AC-4A94-A037-BE6FC2A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MICE·문화·쇼핑 방문자가 패스를 신청하고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18시 이후 제휴 동선을 이용합니다.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행동: 방문 → 야간 소비 → 숙박 인증</a:t>
            </a: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강남구·운영기관</a:t>
            </a:r>
          </a:p>
        </p:txBody>
      </p:sp>
      <p:sp>
        <p:nvSpPr>
          <p:cNvPr id="23" name="chart-axis-y">
            <a:extLst xmlns:a="http://schemas.openxmlformats.org/drawingml/2006/main">
              <a:ext uri="{FF2B5EF4-FFF2-40B4-BE49-F238E27FC236}">
                <a16:creationId xmlns:a16="http://schemas.microsoft.com/office/drawing/2014/main" id="{7BC05C05-C81F-412E-89E1-CED1009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4" name="chart-axis-x">
            <a:extLst xmlns:a="http://schemas.openxmlformats.org/drawingml/2006/main">
              <a:ext uri="{FF2B5EF4-FFF2-40B4-BE49-F238E27FC236}">
                <a16:creationId xmlns:a16="http://schemas.microsoft.com/office/drawing/2014/main" id="{61020F3C-97B9-4268-B7BF-7AD67A2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434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5" name="chart-line-1">
            <a:extLst xmlns:a="http://schemas.openxmlformats.org/drawingml/2006/main">
              <a:ext uri="{FF2B5EF4-FFF2-40B4-BE49-F238E27FC236}">
                <a16:creationId xmlns:a16="http://schemas.microsoft.com/office/drawing/2014/main" id="{08723FD7-E3D1-4282-9852-0985A2A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81525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6" name="chart-line-2">
            <a:extLst xmlns:a="http://schemas.openxmlformats.org/drawingml/2006/main">
              <a:ext uri="{FF2B5EF4-FFF2-40B4-BE49-F238E27FC236}">
                <a16:creationId xmlns:a16="http://schemas.microsoft.com/office/drawing/2014/main" id="{230CBE43-A271-4E16-B3C4-DD8E5F6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81525"/>
            <a:ext cx="1333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7" name="chart-line-3">
            <a:extLst xmlns:a="http://schemas.openxmlformats.org/drawingml/2006/main">
              <a:ext uri="{FF2B5EF4-FFF2-40B4-BE49-F238E27FC236}">
                <a16:creationId xmlns:a16="http://schemas.microsoft.com/office/drawing/2014/main" id="{EF6F49E2-474C-4546-81F0-7C2F57C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48175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8" name="analytics-glyph">
            <a:extLst xmlns:a="http://schemas.openxmlformats.org/drawingml/2006/main">
              <a:ext uri="{FF2B5EF4-FFF2-40B4-BE49-F238E27FC236}">
                <a16:creationId xmlns:a16="http://schemas.microsoft.com/office/drawing/2014/main" id="{92D04C87-C25B-424C-86A1-D812A69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◔  ▮▮▮  ◉</a:t>
            </a: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패스 운영, 참여업체 기준 관리, 월별 KPI와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참여·비참여 집단을 비교합니다.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품질관리·성과측정·의사결정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식음·쇼핑·숙박업체</a:t>
            </a:r>
          </a:p>
        </p:txBody>
      </p:sp>
      <p:sp>
        <p:nvSpPr>
          <p:cNvPr id="34" name="shop-awning">
            <a:extLst xmlns:a="http://schemas.openxmlformats.org/drawingml/2006/main">
              <a:ext uri="{FF2B5EF4-FFF2-40B4-BE49-F238E27FC236}">
                <a16:creationId xmlns:a16="http://schemas.microsoft.com/office/drawing/2014/main" id="{1A230C18-23F0-44B6-BF58-277EF5E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4305300"/>
            <a:ext cx="723900" cy="2571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op-body">
            <a:extLst xmlns:a="http://schemas.openxmlformats.org/drawingml/2006/main">
              <a:ext uri="{FF2B5EF4-FFF2-40B4-BE49-F238E27FC236}">
                <a16:creationId xmlns:a16="http://schemas.microsoft.com/office/drawing/2014/main" id="{EC9954BC-2837-4E2B-97E1-965BE00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43425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op-window">
            <a:extLst xmlns:a="http://schemas.openxmlformats.org/drawingml/2006/main">
              <a:ext uri="{FF2B5EF4-FFF2-40B4-BE49-F238E27FC236}">
                <a16:creationId xmlns:a16="http://schemas.microsoft.com/office/drawing/2014/main" id="{C901F025-7A82-452B-BD47-220A1A9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67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hop-door">
            <a:extLst xmlns:a="http://schemas.openxmlformats.org/drawingml/2006/main">
              <a:ext uri="{FF2B5EF4-FFF2-40B4-BE49-F238E27FC236}">
                <a16:creationId xmlns:a16="http://schemas.microsoft.com/office/drawing/2014/main" id="{A3738C6F-C4B4-4BE7-A59B-02A6837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67250"/>
            <a:ext cx="114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hops-glyph">
            <a:extLst xmlns:a="http://schemas.openxmlformats.org/drawingml/2006/main">
              <a:ext uri="{FF2B5EF4-FFF2-40B4-BE49-F238E27FC236}">
                <a16:creationId xmlns:a16="http://schemas.microsoft.com/office/drawing/2014/main" id="{014F5A1E-6941-41E9-8FA6-F762720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▰  ▦  ♜</a:t>
            </a: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혜택을 제공하고 결제·쿠폰·숙박 완료 데이터를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정해진 항목으로 제출합니다.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현장 운영·데이터 협력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B55F73-A4FC-4C6B-A6F7-CB473AD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90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강남 이브닝 스테이 패스 | 3개월 데이터 검증형 시범사업</a:t>
            </a:r>
          </a:p>
        </p:txBody>
      </p:sp>
      <p:sp>
        <p:nvSpPr>
          <p:cNvPr id="43" name="footer-dot">
            <a:extLst xmlns:a="http://schemas.openxmlformats.org/drawingml/2006/main">
              <a:ext uri="{FF2B5EF4-FFF2-40B4-BE49-F238E27FC236}">
                <a16:creationId xmlns:a16="http://schemas.microsoft.com/office/drawing/2014/main" id="{2E0AD546-7358-4632-9388-540C799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93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DCC740E-CF60-41B1-8EC6-8777B7B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39075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Evidence-Driven Tourism Pilot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04880b04a4ffb"/>
          <a:srcRect xmlns:a="http://schemas.openxmlformats.org/drawingml/2006/main" l="0" t="261" r="0" b="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핵심 사업 구성 7가지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4" name="function-row-0">
            <a:extLst xmlns:a="http://schemas.openxmlformats.org/drawingml/2006/main">
              <a:ext uri="{FF2B5EF4-FFF2-40B4-BE49-F238E27FC236}">
                <a16:creationId xmlns:a16="http://schemas.microsoft.com/office/drawing/2014/main" id="{7B6C9409-216D-4533-A16A-BD14C38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function-num-0">
            <a:extLst xmlns:a="http://schemas.openxmlformats.org/drawingml/2006/main">
              <a:ext uri="{FF2B5EF4-FFF2-40B4-BE49-F238E27FC236}">
                <a16:creationId xmlns:a16="http://schemas.microsoft.com/office/drawing/2014/main" id="{59F90C01-6EE1-4308-9E69-1C14CF79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337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function-label-0">
            <a:extLst xmlns:a="http://schemas.openxmlformats.org/drawingml/2006/main">
              <a:ext uri="{FF2B5EF4-FFF2-40B4-BE49-F238E27FC236}">
                <a16:creationId xmlns:a16="http://schemas.microsoft.com/office/drawing/2014/main" id="{59B04FF2-686E-4CDB-97B4-68362BD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패스 신청: 방문 목적·동행·숙박 여부를 최소 항목으로 등록</a:t>
            </a:r>
          </a:p>
        </p:txBody>
      </p:sp>
      <p:sp>
        <p:nvSpPr>
          <p:cNvPr id="7" name="function-row-1">
            <a:extLst xmlns:a="http://schemas.openxmlformats.org/drawingml/2006/main">
              <a:ext uri="{FF2B5EF4-FFF2-40B4-BE49-F238E27FC236}">
                <a16:creationId xmlns:a16="http://schemas.microsoft.com/office/drawing/2014/main" id="{87DC414D-ECE6-4C3C-AC98-7CBE645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function-num-1">
            <a:extLst xmlns:a="http://schemas.openxmlformats.org/drawingml/2006/main">
              <a:ext uri="{FF2B5EF4-FFF2-40B4-BE49-F238E27FC236}">
                <a16:creationId xmlns:a16="http://schemas.microsoft.com/office/drawing/2014/main" id="{B950D475-93ED-4E09-BAAB-70D31FB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function-label-1">
            <a:extLst xmlns:a="http://schemas.openxmlformats.org/drawingml/2006/main">
              <a:ext uri="{FF2B5EF4-FFF2-40B4-BE49-F238E27FC236}">
                <a16:creationId xmlns:a16="http://schemas.microsoft.com/office/drawing/2014/main" id="{1CF2D37F-5A3B-472D-9F2D-B4B9DE5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야간 동선: 코엑스–가로수길 등 18:00~23:00 추천 루트</a:t>
            </a:r>
          </a:p>
        </p:txBody>
      </p:sp>
      <p:sp>
        <p:nvSpPr>
          <p:cNvPr id="10" name="function-row-2">
            <a:extLst xmlns:a="http://schemas.openxmlformats.org/drawingml/2006/main">
              <a:ext uri="{FF2B5EF4-FFF2-40B4-BE49-F238E27FC236}">
                <a16:creationId xmlns:a16="http://schemas.microsoft.com/office/drawing/2014/main" id="{7807D172-B241-44ED-A7C7-009E8E1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1010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unction-num-2">
            <a:extLst xmlns:a="http://schemas.openxmlformats.org/drawingml/2006/main">
              <a:ext uri="{FF2B5EF4-FFF2-40B4-BE49-F238E27FC236}">
                <a16:creationId xmlns:a16="http://schemas.microsoft.com/office/drawing/2014/main" id="{95CDBEC0-0A20-42D7-9C62-60278FB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910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function-label-2">
            <a:extLst xmlns:a="http://schemas.openxmlformats.org/drawingml/2006/main">
              <a:ext uri="{FF2B5EF4-FFF2-40B4-BE49-F238E27FC236}">
                <a16:creationId xmlns:a16="http://schemas.microsoft.com/office/drawing/2014/main" id="{213C0466-2B03-4917-A50A-089BF27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720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연계 혜택: 식음·쇼핑 이용 후 숙박 완료 시 혜택 확정</a:t>
            </a:r>
          </a:p>
        </p:txBody>
      </p:sp>
      <p:sp>
        <p:nvSpPr>
          <p:cNvPr id="1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6A48815-B570-4052-BC4D-DFB3B93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981700"/>
            <a:ext cx="104394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alysis-tag">
            <a:extLst xmlns:a="http://schemas.openxmlformats.org/drawingml/2006/main">
              <a:ext uri="{FF2B5EF4-FFF2-40B4-BE49-F238E27FC236}">
                <a16:creationId xmlns:a16="http://schemas.microsoft.com/office/drawing/2014/main" id="{3C07D6D4-F760-4934-9476-D249F16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62725"/>
            <a:ext cx="25146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I L O T   &amp;   M E A S U R E</a:t>
            </a:r>
          </a:p>
        </p:txBody>
      </p:sp>
      <p:sp>
        <p:nvSpPr>
          <p:cNvPr id="15" name="function-more-left">
            <a:extLst xmlns:a="http://schemas.openxmlformats.org/drawingml/2006/main">
              <a:ext uri="{FF2B5EF4-FFF2-40B4-BE49-F238E27FC236}">
                <a16:creationId xmlns:a16="http://schemas.microsoft.com/office/drawing/2014/main" id="{DD434EF7-4F27-45E8-9F47-203D793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00900"/>
            <a:ext cx="46958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④ 숙박 인증: 예약이 아니라 실제 완료 기준 확인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⑤ 업체 운영: 참여 기준·정산·민원 대응 매뉴얼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⑥ 성과 측정: 발급·결제·쿠폰·숙박 전환 월별 추적</a:t>
            </a:r>
          </a:p>
        </p:txBody>
      </p:sp>
      <p:sp>
        <p:nvSpPr>
          <p:cNvPr id="16" name="function-more-right">
            <a:extLst xmlns:a="http://schemas.openxmlformats.org/drawingml/2006/main">
              <a:ext uri="{FF2B5EF4-FFF2-40B4-BE49-F238E27FC236}">
                <a16:creationId xmlns:a16="http://schemas.microsoft.com/office/drawing/2014/main" id="{530C62B0-A84F-4A05-AE1D-6E4EA93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7200900"/>
            <a:ext cx="485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⑦ 판단 게이트: 3개월 후 중단·보완·확대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· 행사일/비행사일 비교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  · 참여자/비참여자 비교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T H R E E - M O N T H   P I L O T   P L A 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3개월 실행 </a:t>
            </a:r>
            <a:r>
              <a:rPr sz="36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Flow 및 산출물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설계·협약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대상 방문객과 참여업체 기준을 확정하고,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수집 동의·KPI·정산 규칙을 설계합니다.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업체 모집·리허설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식음·쇼핑·숙박업체를 모집하고 인증·쿠폰·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민원 동선을 현장에서 점검합니다.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18시 이후 패스를 운영하며 발급·결제·쿠폰·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숙박 완료 데이터를 주 단위로 확인합니다.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 검증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참여/비참여, 행사/비행사일을 비교하고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이탈 구간과 비용 대비 성과를 분석합니다.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05 · 중단·보완·확대 의사결정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월별 산출물은 참여업체 명단, 운영 매뉴얼, 패스 발급·이용 데이터, 숙박 완료율, 야간 결제, 쿠폰 사용률, 이슈 로그입니다. 3개월 종료 시 목표 달성 여부뿐 아니라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어느 동선·업종·시간대에서 전환이 발생했는지 확인하고, 근거가 부족하면 확대하지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 E E R   C O M P A R I S O N   &amp;   D E C I S I O 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유사 지역 비교가 가리키는 </a:t>
            </a: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방문 규모는 이미 최상위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강남구 방문자 연인원은 비교 가능한 166개 지역 중 100백분위입니다. 대규모 신규 유입 캠페인보다 기존 방문의 질을 높이는 편이 타당합니다.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방문 유치보다 전환 우선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소비력도 높은 편</a:t>
            </a: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방문자당 국내 관광소비는 26,719원으로 93.98백분위입니다. 강한 식음·쇼핑 소비를 야간 체류와 숙박으로 연결해야 합니다.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식음·쇼핑 84.2% 활용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숙박 전환은 비교 열위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숙박방문 비율은 송파구 대비 1.60%p, 성남시 대비 1.67%p 낮습니다. 단, 지역 차이는 인과효과가 아닌 비교 신호입니다.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숙박 완료율 직접 측정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작게 검증하고 확대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자연추세상 방문자는 소폭 증가하지만 소비는 보합입니다. 야간·숙박 전환 시범사업으로 실제 추가 전환이 있었는지 확인합니다.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+ 3개월 판단 게이트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al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1c63e261148a0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86875" y="0"/>
            <a:ext cx="595312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M L   N A T U R A L   T R E N D   &amp;   T A R G E 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3개월 자연추세와 </a:t>
            </a:r>
            <a:r>
              <a:rPr sz="35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검토 목표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ML은 기존 이력의 자연추세를 예측합니다. 아래 목표선은 정책효과 예측이 아니라, 담당자가 검토를 위해 입력한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 +1%·소비 +2% 샘플 목표를 자연추세에 단순 적용한 값입니다.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자연추세: 방문 +0.76% · 소비 보합 · 숙박비율 -2.02%</a:t>
            </a: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2026.08~10 방문자 합계 5,403만 명, 외지인 관광소비 1.393조 원.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샘플 목표와의 산술 차이: 방문 +54만 명 · 소비 +279억 원.</a:t>
            </a: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0" name="rag-title">
            <a:extLst xmlns:a="http://schemas.openxmlformats.org/drawingml/2006/main">
              <a:ext uri="{FF2B5EF4-FFF2-40B4-BE49-F238E27FC236}">
                <a16:creationId xmlns:a16="http://schemas.microsoft.com/office/drawing/2014/main" id="{DA73CCEB-7FB8-4355-B780-B827A43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rag-body">
            <a:extLst xmlns:a="http://schemas.openxmlformats.org/drawingml/2006/main">
              <a:ext uri="{FF2B5EF4-FFF2-40B4-BE49-F238E27FC236}">
                <a16:creationId xmlns:a16="http://schemas.microsoft.com/office/drawing/2014/main" id="{6711E847-5DFC-4F6B-A7AC-E06CC4C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86425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tech-tag-0">
            <a:extLst xmlns:a="http://schemas.openxmlformats.org/drawingml/2006/main">
              <a:ext uri="{FF2B5EF4-FFF2-40B4-BE49-F238E27FC236}">
                <a16:creationId xmlns:a16="http://schemas.microsoft.com/office/drawing/2014/main" id="{0EA517D9-D4C9-4514-A591-17F0664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9607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tech-tag-1">
            <a:extLst xmlns:a="http://schemas.openxmlformats.org/drawingml/2006/main">
              <a:ext uri="{FF2B5EF4-FFF2-40B4-BE49-F238E27FC236}">
                <a16:creationId xmlns:a16="http://schemas.microsoft.com/office/drawing/2014/main" id="{F77688F9-DE30-46D6-A085-D71CB77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6960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ch-tag-2">
            <a:extLst xmlns:a="http://schemas.openxmlformats.org/drawingml/2006/main">
              <a:ext uri="{FF2B5EF4-FFF2-40B4-BE49-F238E27FC236}">
                <a16:creationId xmlns:a16="http://schemas.microsoft.com/office/drawing/2014/main" id="{C3AD8E2A-DDA1-4806-A5B4-1793CD7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6960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32" name="visitor-natural-target-chart"/>
          <p:cNvGraphicFramePr/>
          <p:nvPr/>
        </p:nvGraphicFramePr>
        <p:xfrm>
          <a:off xmlns:a="http://schemas.openxmlformats.org/drawingml/2006/main" x="1009650" y="5191125"/>
          <a:ext xmlns:a="http://schemas.openxmlformats.org/drawingml/2006/main" cx="7524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955cf718df48bd"/>
          </a:graphicData>
        </a:graphic>
      </p:graphicFrame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단위: 백만 명 · 정책효과 예측 아님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sland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9a03102414e57"/>
          <a:srcRect xmlns:a="http://schemas.openxmlformats.org/drawingml/2006/main" l="0" t="180" r="0" b="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877425" y="38100"/>
            <a:ext cx="5334000" cy="8505825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B U D G E T   F O R M U L A   &amp;   K P 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산식 및 </a:t>
            </a:r>
            <a:r>
              <a:rPr sz="3600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성과 측정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총예산을 임의로 단정하지 않고 참여업체 수·패스 발급량·혜택 단가·측정 비용을 변수로 산출합니다.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희망예산과 견적이 들어오면 범위 안에서 우선순위를 다시 계산합니다.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구성 산식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고정 운영비 + 콘텐츠·행사비 +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(실사용자 수 × 혜택 단가) + 성과측정비</a:t>
            </a: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 판단 KPI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숙박 완료율, 18시 이후 결제, 쿠폰 사용률,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참여/비참여 및 행사/비행사일 변화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예산 확정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수량·단가·운영범위 검증 후 산출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샘플 문서에서 총액 임의 생성 금지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공식 사례 참고선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전주 2026 야간관광 예산 10억 원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연간 타지역 기준 · 강남 추정치 아님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worksp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111bffae14b36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48900" y="0"/>
            <a:ext cx="49911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FF5B46D-ACEF-49E8-88C7-7791551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"/>
            <a:ext cx="508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E V I D E N C E   T O   P L A N   P I P E L I N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07090-CAEC-44A9-A7D5-A693A75B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42975"/>
            <a:ext cx="7820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근거가 기획안이 되는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5-Agent 구조</a:t>
            </a:r>
          </a:p>
        </p:txBody>
      </p:sp>
      <p:sp>
        <p:nvSpPr>
          <p:cNvPr id="4" name="short-rule">
            <a:extLst xmlns:a="http://schemas.openxmlformats.org/drawingml/2006/main">
              <a:ext uri="{FF2B5EF4-FFF2-40B4-BE49-F238E27FC236}">
                <a16:creationId xmlns:a16="http://schemas.microsoft.com/office/drawing/2014/main" id="{12D0EFAC-7234-430A-BD04-4FDB295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</p:sp>
      <p:sp>
        <p:nvSpPr>
          <p:cNvPr id="5" name="stack-card-0">
            <a:extLst xmlns:a="http://schemas.openxmlformats.org/drawingml/2006/main">
              <a:ext uri="{FF2B5EF4-FFF2-40B4-BE49-F238E27FC236}">
                <a16:creationId xmlns:a16="http://schemas.microsoft.com/office/drawing/2014/main" id="{2102C729-BE5F-47E3-8365-EF21CDF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ck-card-0-rail">
            <a:extLst xmlns:a="http://schemas.openxmlformats.org/drawingml/2006/main">
              <a:ext uri="{FF2B5EF4-FFF2-40B4-BE49-F238E27FC236}">
                <a16:creationId xmlns:a16="http://schemas.microsoft.com/office/drawing/2014/main" id="{8EE01844-55D3-44CB-B365-3AEEEEE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stack-card-0-title">
            <a:extLst xmlns:a="http://schemas.openxmlformats.org/drawingml/2006/main">
              <a:ext uri="{FF2B5EF4-FFF2-40B4-BE49-F238E27FC236}">
                <a16:creationId xmlns:a16="http://schemas.microsoft.com/office/drawing/2014/main" id="{7808BF96-70AB-49FA-926C-173A63D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① Evidence Agent</a:t>
            </a:r>
          </a:p>
        </p:txBody>
      </p:sp>
      <p:sp>
        <p:nvSpPr>
          <p:cNvPr id="8" name="stack-card-0-body">
            <a:extLst xmlns:a="http://schemas.openxmlformats.org/drawingml/2006/main">
              <a:ext uri="{FF2B5EF4-FFF2-40B4-BE49-F238E27FC236}">
                <a16:creationId xmlns:a16="http://schemas.microsoft.com/office/drawing/2014/main" id="{A4AAFC6D-0D25-4652-8333-440E7BB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MySQL 실제값·ML 자연추세 정리</a:t>
            </a:r>
          </a:p>
        </p:txBody>
      </p:sp>
      <p:sp>
        <p:nvSpPr>
          <p:cNvPr id="9" name="stack-card-1">
            <a:extLst xmlns:a="http://schemas.openxmlformats.org/drawingml/2006/main">
              <a:ext uri="{FF2B5EF4-FFF2-40B4-BE49-F238E27FC236}">
                <a16:creationId xmlns:a16="http://schemas.microsoft.com/office/drawing/2014/main" id="{410AC1C8-3BB0-4A8C-BCB4-A06F062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ck-card-1-rail">
            <a:extLst xmlns:a="http://schemas.openxmlformats.org/drawingml/2006/main">
              <a:ext uri="{FF2B5EF4-FFF2-40B4-BE49-F238E27FC236}">
                <a16:creationId xmlns:a16="http://schemas.microsoft.com/office/drawing/2014/main" id="{014B4858-5A6D-4478-9F82-811B7ED9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1" name="stack-card-1-title">
            <a:extLst xmlns:a="http://schemas.openxmlformats.org/drawingml/2006/main">
              <a:ext uri="{FF2B5EF4-FFF2-40B4-BE49-F238E27FC236}">
                <a16:creationId xmlns:a16="http://schemas.microsoft.com/office/drawing/2014/main" id="{178665D7-2663-4824-B5DE-25268DE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② Case Scout</a:t>
            </a:r>
          </a:p>
        </p:txBody>
      </p:sp>
      <p:sp>
        <p:nvSpPr>
          <p:cNvPr id="12" name="stack-card-1-body">
            <a:extLst xmlns:a="http://schemas.openxmlformats.org/drawingml/2006/main">
              <a:ext uri="{FF2B5EF4-FFF2-40B4-BE49-F238E27FC236}">
                <a16:creationId xmlns:a16="http://schemas.microsoft.com/office/drawing/2014/main" id="{0497E4CD-F2B5-4577-9ABF-8E704CE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RAG에서 공식 유사 사례·출처 검색</a:t>
            </a:r>
          </a:p>
        </p:txBody>
      </p:sp>
      <p:sp>
        <p:nvSpPr>
          <p:cNvPr id="13" name="stack-card-2">
            <a:extLst xmlns:a="http://schemas.openxmlformats.org/drawingml/2006/main">
              <a:ext uri="{FF2B5EF4-FFF2-40B4-BE49-F238E27FC236}">
                <a16:creationId xmlns:a16="http://schemas.microsoft.com/office/drawing/2014/main" id="{CE3ACFDB-E2D2-459A-9122-5176EBF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ck-card-2-rail">
            <a:extLst xmlns:a="http://schemas.openxmlformats.org/drawingml/2006/main">
              <a:ext uri="{FF2B5EF4-FFF2-40B4-BE49-F238E27FC236}">
                <a16:creationId xmlns:a16="http://schemas.microsoft.com/office/drawing/2014/main" id="{3FDAD850-2DC1-4B93-A285-E8CE7CF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5" name="stack-card-2-title">
            <a:extLst xmlns:a="http://schemas.openxmlformats.org/drawingml/2006/main">
              <a:ext uri="{FF2B5EF4-FFF2-40B4-BE49-F238E27FC236}">
                <a16:creationId xmlns:a16="http://schemas.microsoft.com/office/drawing/2014/main" id="{38972BC2-F123-442A-9015-C3E92D97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③ Transfer Agent</a:t>
            </a:r>
          </a:p>
        </p:txBody>
      </p:sp>
      <p:sp>
        <p:nvSpPr>
          <p:cNvPr id="16" name="stack-card-2-body">
            <a:extLst xmlns:a="http://schemas.openxmlformats.org/drawingml/2006/main">
              <a:ext uri="{FF2B5EF4-FFF2-40B4-BE49-F238E27FC236}">
                <a16:creationId xmlns:a16="http://schemas.microsoft.com/office/drawing/2014/main" id="{F99C6C36-12F8-452E-B873-3B444CF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 차이·적용 가능 조건 검토</a:t>
            </a:r>
          </a:p>
        </p:txBody>
      </p:sp>
      <p:sp>
        <p:nvSpPr>
          <p:cNvPr id="17" name="stack-card-3">
            <a:extLst xmlns:a="http://schemas.openxmlformats.org/drawingml/2006/main">
              <a:ext uri="{FF2B5EF4-FFF2-40B4-BE49-F238E27FC236}">
                <a16:creationId xmlns:a16="http://schemas.microsoft.com/office/drawing/2014/main" id="{95DB6C61-F240-48D8-AB16-3242082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ck-card-3-rail">
            <a:extLst xmlns:a="http://schemas.openxmlformats.org/drawingml/2006/main">
              <a:ext uri="{FF2B5EF4-FFF2-40B4-BE49-F238E27FC236}">
                <a16:creationId xmlns:a16="http://schemas.microsoft.com/office/drawing/2014/main" id="{D05A99EE-50C0-40DD-AC95-77415EB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9" name="stack-card-3-title">
            <a:extLst xmlns:a="http://schemas.openxmlformats.org/drawingml/2006/main">
              <a:ext uri="{FF2B5EF4-FFF2-40B4-BE49-F238E27FC236}">
                <a16:creationId xmlns:a16="http://schemas.microsoft.com/office/drawing/2014/main" id="{29DB9699-F5CC-443D-A33F-05801FA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④ Planner Agent</a:t>
            </a:r>
          </a:p>
        </p:txBody>
      </p:sp>
      <p:sp>
        <p:nvSpPr>
          <p:cNvPr id="20" name="stack-card-3-body">
            <a:extLst xmlns:a="http://schemas.openxmlformats.org/drawingml/2006/main">
              <a:ext uri="{FF2B5EF4-FFF2-40B4-BE49-F238E27FC236}">
                <a16:creationId xmlns:a16="http://schemas.microsoft.com/office/drawing/2014/main" id="{29FAB007-E190-445C-9A17-0D8DD88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실행 단계·예산 산식·KPI 설계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F18701B2-D261-4FBF-8CF4-9E7DB50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57925"/>
            <a:ext cx="813435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⑤ Reviewer Agent가 관측 사실·ML 예측·목표 가정·추천을 다시 분리하고, 근거 없는 수치와 관광지를 차단합니다.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OpenAI는 이 검증된 근거 묶음을 전달받은 뒤 문장 구성, 대안 비교, 실행안 초안을 담당합니다. MySQL은 사실, ML은 자연추세, RAG는 공식 사례, LLM은 설명과 기획을 맡아 역할을 섞지 않습니다.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최종 출력은 JSON 스키마 검증을 통과한 뒤 PPT·Word 미리보기로 변환됩니다.</a:t>
            </a:r>
          </a:p>
        </p:txBody>
      </p:sp>
    </p:spTree>
    <p:extLst>
      <p:ext uri="{BB962C8B-B14F-4D97-AF65-F5344CB8AC3E}">
        <p14:creationId xmlns:p14="http://schemas.microsoft.com/office/powerpoint/2010/main" val="277062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기대 효과 및 확대 판단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측정 가능한 전환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숙박 완료율·야간 결제·쿠폰 사용률을 실제값으로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확인해 사업이 어디에서 작동했는지 설명합니다.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월별 KPI 추적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⌁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◔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▦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▤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⚡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◎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3개월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95775"/>
            <a:ext cx="3648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목표 달성 여부뿐 아니라 비용, 이탈 구간, 업체 운영 가능성을 함께 검토해 중단·보완·확대를 결정합니다.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553075"/>
            <a:ext cx="3648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* 자연추세와 사업 참여자의 실제 결과를 비교하되, 관측 설계가 약하면 인과효과로 표현하지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증거 우선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근거 확보 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검증된 동선·업종·계절부터 확대하고, 이후 MICE·외국인·민간 결제 데이터를 단계적으로 연계합니다.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핵심: 성과 검증 후 예산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원칙: 효과 보장 표현 금지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2026-09-02T01:20:33.1690000Z</dcterms:created>
  <dcterms:modified xsi:type="dcterms:W3CDTF">2026-09-02T01:20:33.1690000Z</dcterms:modified>
</coreProperties>
</file>