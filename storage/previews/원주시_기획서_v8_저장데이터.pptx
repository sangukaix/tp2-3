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80.0"/>
          <c:min val="22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0.0"/>
          <c:min val="60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null,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머신러닝 예측값과 목표 KPI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811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811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방문객이 지역 내에서 지출한 금액의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일부를 지역상품권으로 돌려받는 방식으로,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혜택이 다시 지역 내 상점에서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548640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5486400" y="2057400"/>
            <a:ext cx="57150" cy="1971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565785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사업기간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565785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준비·협의 → 시범 운영 → 성과 확인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99631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99631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101346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101346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목표 방문자 수·관광소비액은 목표율 확정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후 표시합니다.</a:t>
            </a:r>
          </a:p>
        </p:txBody>
      </p:sp>
      <p:sp xmlns:a="http://schemas.openxmlformats.org/drawingml/2006/main">
        <p:nvSpPr>
          <p:cNvPr id="16" name="chart-panel-0"/>
          <p:cNvSpPr/>
          <p:nvPr/>
        </p:nvSpPr>
        <p:spPr>
          <a:xfrm>
            <a:off x="100965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chart-title-0"/>
          <p:cNvSpPr txBox="1"/>
          <p:nvPr/>
        </p:nvSpPr>
        <p:spPr>
          <a:xfrm>
            <a:off x="120015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18" name="comparison-chart-0"/>
          <p:cNvGraphicFramePr>
            <a:graphicFrameLocks noGrp="1"/>
          </p:cNvGraphicFramePr>
          <p:nvPr/>
        </p:nvGraphicFramePr>
        <p:xfrm>
          <a:off x="112395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comparison-chart-0-value-0-0"/>
          <p:cNvSpPr txBox="1"/>
          <p:nvPr/>
        </p:nvSpPr>
        <p:spPr>
          <a:xfrm>
            <a:off x="2222500" y="6393997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236만</a:t>
            </a:r>
          </a:p>
        </p:txBody>
      </p:sp>
      <p:sp xmlns:a="http://schemas.openxmlformats.org/drawingml/2006/main">
        <p:nvSpPr>
          <p:cNvPr id="20" name="comparison-chart-0-value-0-1"/>
          <p:cNvSpPr txBox="1"/>
          <p:nvPr/>
        </p:nvSpPr>
        <p:spPr>
          <a:xfrm>
            <a:off x="4038600" y="55622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1" name="comparison-chart-0-value-0-2"/>
          <p:cNvSpPr txBox="1"/>
          <p:nvPr/>
        </p:nvSpPr>
        <p:spPr>
          <a:xfrm>
            <a:off x="5854700" y="556517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2" name="chart-panel-1"/>
          <p:cNvSpPr/>
          <p:nvPr/>
        </p:nvSpPr>
        <p:spPr>
          <a:xfrm>
            <a:off x="781050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chart-title-1"/>
          <p:cNvSpPr txBox="1"/>
          <p:nvPr/>
        </p:nvSpPr>
        <p:spPr>
          <a:xfrm>
            <a:off x="800100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24" name="comparison-chart-1"/>
          <p:cNvGraphicFramePr>
            <a:graphicFrameLocks noGrp="1"/>
          </p:cNvGraphicFramePr>
          <p:nvPr/>
        </p:nvGraphicFramePr>
        <p:xfrm>
          <a:off x="792480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5" name="comparison-chart-1-value-0-0"/>
          <p:cNvSpPr txBox="1"/>
          <p:nvPr/>
        </p:nvSpPr>
        <p:spPr>
          <a:xfrm>
            <a:off x="9023350" y="6570516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670억</a:t>
            </a:r>
          </a:p>
        </p:txBody>
      </p:sp>
      <p:sp xmlns:a="http://schemas.openxmlformats.org/drawingml/2006/main">
        <p:nvSpPr>
          <p:cNvPr id="26" name="comparison-chart-1-value-0-1"/>
          <p:cNvSpPr txBox="1"/>
          <p:nvPr/>
        </p:nvSpPr>
        <p:spPr>
          <a:xfrm>
            <a:off x="10839450" y="57910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839억</a:t>
            </a:r>
          </a:p>
        </p:txBody>
      </p:sp>
      <p:sp xmlns:a="http://schemas.openxmlformats.org/drawingml/2006/main">
        <p:nvSpPr>
          <p:cNvPr id="27" name="comparison-chart-1-value-0-2"/>
          <p:cNvSpPr txBox="1"/>
          <p:nvPr/>
        </p:nvSpPr>
        <p:spPr>
          <a:xfrm>
            <a:off x="12655550" y="5513152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899억</a:t>
            </a:r>
          </a:p>
        </p:txBody>
      </p:sp>
      <p:sp xmlns:a="http://schemas.openxmlformats.org/drawingml/2006/main">
        <p:nvSpPr>
          <p:cNvPr id="28" name="comparison-note"/>
          <p:cNvSpPr txBox="1"/>
          <p:nvPr/>
        </p:nvSpPr>
        <p:spPr>
          <a:xfrm>
            <a:off x="1009650" y="7724775"/>
            <a:ext cx="13220700" cy="6000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202401~202606 월별 방문·소비의 1·3·12개월 전 값과 계절 정보로 산출한 저장 전망입니다. 사업 미진행시 예측값은 참고값이며, 신규 사업 효과를 학습한 예측치가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124075"/>
            <a:ext cx="6419850" cy="27622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case-number-0"/>
          <p:cNvSpPr txBox="1"/>
          <p:nvPr/>
        </p:nvSpPr>
        <p:spPr>
          <a:xfrm>
            <a:off x="120015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6" name="case-badge-0"/>
          <p:cNvSpPr txBox="1"/>
          <p:nvPr/>
        </p:nvSpPr>
        <p:spPr>
          <a:xfrm>
            <a:off x="194310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7" name="case-title-0"/>
          <p:cNvSpPr txBox="1"/>
          <p:nvPr/>
        </p:nvSpPr>
        <p:spPr>
          <a:xfrm>
            <a:off x="120015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8" name="case-body-0"/>
          <p:cNvSpPr txBox="1"/>
          <p:nvPr/>
        </p:nvSpPr>
        <p:spPr>
          <a:xfrm>
            <a:off x="120015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9" name="case-panel-1"/>
          <p:cNvSpPr/>
          <p:nvPr/>
        </p:nvSpPr>
        <p:spPr>
          <a:xfrm>
            <a:off x="7810500" y="2124075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case-number-1"/>
          <p:cNvSpPr txBox="1"/>
          <p:nvPr/>
        </p:nvSpPr>
        <p:spPr>
          <a:xfrm>
            <a:off x="800100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case-badge-1"/>
          <p:cNvSpPr txBox="1"/>
          <p:nvPr/>
        </p:nvSpPr>
        <p:spPr>
          <a:xfrm>
            <a:off x="874395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2" name="case-title-1"/>
          <p:cNvSpPr txBox="1"/>
          <p:nvPr/>
        </p:nvSpPr>
        <p:spPr>
          <a:xfrm>
            <a:off x="800100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3" name="case-body-1"/>
          <p:cNvSpPr txBox="1"/>
          <p:nvPr/>
        </p:nvSpPr>
        <p:spPr>
          <a:xfrm>
            <a:off x="800100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4" name="case-panel-2"/>
          <p:cNvSpPr/>
          <p:nvPr/>
        </p:nvSpPr>
        <p:spPr>
          <a:xfrm>
            <a:off x="100965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case-number-2"/>
          <p:cNvSpPr txBox="1"/>
          <p:nvPr/>
        </p:nvSpPr>
        <p:spPr>
          <a:xfrm>
            <a:off x="120015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6" name="case-badge-2"/>
          <p:cNvSpPr txBox="1"/>
          <p:nvPr/>
        </p:nvSpPr>
        <p:spPr>
          <a:xfrm>
            <a:off x="194310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7" name="case-title-2"/>
          <p:cNvSpPr txBox="1"/>
          <p:nvPr/>
        </p:nvSpPr>
        <p:spPr>
          <a:xfrm>
            <a:off x="120015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8" name="case-body-2"/>
          <p:cNvSpPr txBox="1"/>
          <p:nvPr/>
        </p:nvSpPr>
        <p:spPr>
          <a:xfrm>
            <a:off x="120015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19" name="case-panel-3"/>
          <p:cNvSpPr/>
          <p:nvPr/>
        </p:nvSpPr>
        <p:spPr>
          <a:xfrm>
            <a:off x="781050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case-number-3"/>
          <p:cNvSpPr txBox="1"/>
          <p:nvPr/>
        </p:nvSpPr>
        <p:spPr>
          <a:xfrm>
            <a:off x="800100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1" name="case-badge-3"/>
          <p:cNvSpPr txBox="1"/>
          <p:nvPr/>
        </p:nvSpPr>
        <p:spPr>
          <a:xfrm>
            <a:off x="874395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2" name="case-title-3"/>
          <p:cNvSpPr txBox="1"/>
          <p:nvPr/>
        </p:nvSpPr>
        <p:spPr>
          <a:xfrm>
            <a:off x="800100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숙박할인쿠폰 지원사업 · 온라인 예약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채널 숙박할인쿠폰</a:t>
            </a:r>
          </a:p>
        </p:txBody>
      </p:sp>
      <p:sp xmlns:a="http://schemas.openxmlformats.org/drawingml/2006/main">
        <p:nvSpPr>
          <p:cNvPr id="23" name="case-body-3"/>
          <p:cNvSpPr txBox="1"/>
          <p:nvPr/>
        </p:nvSpPr>
        <p:spPr>
          <a:xfrm>
            <a:off x="800100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숙박할인쿠폰 지원사업 · 온라인 예약 채널 숙박할인쿠폰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한국관광공사 자료는 약 104만 명이 할인혜택을 이용했고 서울·제주를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제외한 지역 사용 비율이 76%였다고 소개함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pipeline-0"/>
          <p:cNvSpPr/>
          <p:nvPr/>
        </p:nvSpPr>
        <p:spPr>
          <a:xfrm>
            <a:off x="1009650" y="2228850"/>
            <a:ext cx="3009900" cy="6953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step-0-label"/>
          <p:cNvSpPr txBox="1"/>
          <p:nvPr/>
        </p:nvSpPr>
        <p:spPr>
          <a:xfrm>
            <a:off x="1047750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01 준비와 협의</a:t>
            </a:r>
          </a:p>
        </p:txBody>
      </p:sp>
      <p:sp xmlns:a="http://schemas.openxmlformats.org/drawingml/2006/main">
        <p:nvSpPr>
          <p:cNvPr id="6" name="arrow-0"/>
          <p:cNvSpPr txBox="1"/>
          <p:nvPr/>
        </p:nvSpPr>
        <p:spPr>
          <a:xfrm>
            <a:off x="4057650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7" name="step-0-period"/>
          <p:cNvSpPr txBox="1"/>
          <p:nvPr/>
        </p:nvSpPr>
        <p:spPr>
          <a:xfrm>
            <a:off x="1009650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8" name="pipeline-1"/>
          <p:cNvSpPr/>
          <p:nvPr/>
        </p:nvSpPr>
        <p:spPr>
          <a:xfrm>
            <a:off x="4391025" y="2228850"/>
            <a:ext cx="3009900" cy="6953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step-1-label"/>
          <p:cNvSpPr txBox="1"/>
          <p:nvPr/>
        </p:nvSpPr>
        <p:spPr>
          <a:xfrm>
            <a:off x="4429125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02 운영 절차 점검</a:t>
            </a:r>
          </a:p>
        </p:txBody>
      </p:sp>
      <p:sp xmlns:a="http://schemas.openxmlformats.org/drawingml/2006/main">
        <p:nvSpPr>
          <p:cNvPr id="10" name="arrow-1"/>
          <p:cNvSpPr txBox="1"/>
          <p:nvPr/>
        </p:nvSpPr>
        <p:spPr>
          <a:xfrm>
            <a:off x="7439025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1" name="step-1-period"/>
          <p:cNvSpPr txBox="1"/>
          <p:nvPr/>
        </p:nvSpPr>
        <p:spPr>
          <a:xfrm>
            <a:off x="4391025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2" name="pipeline-2"/>
          <p:cNvSpPr/>
          <p:nvPr/>
        </p:nvSpPr>
        <p:spPr>
          <a:xfrm>
            <a:off x="7772400" y="2228850"/>
            <a:ext cx="3009900" cy="6953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step-2-label"/>
          <p:cNvSpPr txBox="1"/>
          <p:nvPr/>
        </p:nvSpPr>
        <p:spPr>
          <a:xfrm>
            <a:off x="7810500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03 시범 운영</a:t>
            </a:r>
          </a:p>
        </p:txBody>
      </p:sp>
      <p:sp xmlns:a="http://schemas.openxmlformats.org/drawingml/2006/main">
        <p:nvSpPr>
          <p:cNvPr id="14" name="arrow-2"/>
          <p:cNvSpPr txBox="1"/>
          <p:nvPr/>
        </p:nvSpPr>
        <p:spPr>
          <a:xfrm>
            <a:off x="10820400" y="2390775"/>
            <a:ext cx="352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5" name="step-2-period"/>
          <p:cNvSpPr txBox="1"/>
          <p:nvPr/>
        </p:nvSpPr>
        <p:spPr>
          <a:xfrm>
            <a:off x="7772400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6" name="pipeline-3"/>
          <p:cNvSpPr/>
          <p:nvPr/>
        </p:nvSpPr>
        <p:spPr>
          <a:xfrm>
            <a:off x="11153775" y="2228850"/>
            <a:ext cx="3009900" cy="6953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step-3-label"/>
          <p:cNvSpPr txBox="1"/>
          <p:nvPr/>
        </p:nvSpPr>
        <p:spPr>
          <a:xfrm>
            <a:off x="11191875" y="2381250"/>
            <a:ext cx="2933700" cy="4381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04 실적 확인과 평가</a:t>
            </a:r>
          </a:p>
        </p:txBody>
      </p:sp>
      <p:sp xmlns:a="http://schemas.openxmlformats.org/drawingml/2006/main">
        <p:nvSpPr>
          <p:cNvPr id="18" name="step-3-period"/>
          <p:cNvSpPr txBox="1"/>
          <p:nvPr/>
        </p:nvSpPr>
        <p:spPr>
          <a:xfrm>
            <a:off x="11153775" y="3028950"/>
            <a:ext cx="3009900" cy="581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19" name="execution-table"/>
          <p:cNvGraphicFramePr>
            <a:graphicFrameLocks noGrp="1"/>
          </p:cNvGraphicFramePr>
          <p:nvPr/>
        </p:nvGraphicFramePr>
        <p:xfrm>
          <a:off x="1009650" y="3819525"/>
          <a:ext cx="13220700" cy="394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90750"/>
                <a:gridCol w="88868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단계·기간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업체를 모집하고 지원 대상·신청 방법·지원 한도를 정합니다.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신청부터 증빙 확인·지급까지 시험합니다. 취소·중복 신청 처리 방법도 정합니다.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작은 범위에서 먼저 운영합니다. 이용 안내와 안전을 점검하고 일별 신청·이용 기록을 남깁니다.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2012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 / 성과 분석 및 차기 사업 검토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운영 실적과 비용·민원을 매주 확인합니다. 종료 후 기준기간과 비교해 결과를 정리합니다.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0" name="roadmap-note"/>
          <p:cNvSpPr txBox="1"/>
          <p:nvPr/>
        </p:nvSpPr>
        <p:spPr>
          <a:xfrm>
            <a:off x="1009650" y="7981950"/>
            <a:ext cx="1322070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담당 역할과 업무는 실행 제안입니다. 착수 전에 담당자·협력처와 적용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kpi-title-0"/>
          <p:cNvSpPr txBox="1"/>
          <p:nvPr/>
        </p:nvSpPr>
        <p:spPr>
          <a:xfrm>
            <a:off x="1009650" y="2047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5" name="kpi-visitors-table"/>
          <p:cNvGraphicFramePr>
            <a:graphicFrameLocks noGrp="1"/>
          </p:cNvGraphicFramePr>
          <p:nvPr/>
        </p:nvGraphicFramePr>
        <p:xfrm>
          <a:off x="1009650" y="2514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7,628,641명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title-1"/>
          <p:cNvSpPr txBox="1"/>
          <p:nvPr/>
        </p:nvSpPr>
        <p:spPr>
          <a:xfrm>
            <a:off x="1009650" y="4714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7" name="kpi-spending-table"/>
          <p:cNvGraphicFramePr>
            <a:graphicFrameLocks noGrp="1"/>
          </p:cNvGraphicFramePr>
          <p:nvPr/>
        </p:nvGraphicFramePr>
        <p:xfrm>
          <a:off x="1009650" y="5181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2,409.25억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8" name="kpi-calculation"/>
          <p:cNvSpPr txBox="1"/>
          <p:nvPr/>
        </p:nvSpPr>
        <p:spPr>
          <a:xfrm>
            <a:off x="1009650" y="7677150"/>
            <a:ext cx="13220700" cy="657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방문자 합계는 월별 합계로 월 간 중복을 포함합니다. 목표 KPI는 예측값에 입력 목표율을 단계 적용한 계획값이며, 보장된 사업 효과가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estimate-label"/>
          <p:cNvSpPr txBox="1"/>
          <p:nvPr/>
        </p:nvSpPr>
        <p:spPr>
          <a:xfrm>
            <a:off x="1009650" y="2171700"/>
            <a:ext cx="752475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636E"/>
                </a:solidFill>
                <a:latin typeface="Noto Sans KR"/>
              </a:rPr>
              <a:t>시범 운영 참고 금액</a:t>
            </a:r>
          </a:p>
        </p:txBody>
      </p:sp>
      <p:sp xmlns:a="http://schemas.openxmlformats.org/drawingml/2006/main">
        <p:nvSpPr>
          <p:cNvPr id="5" name="estimate-total"/>
          <p:cNvSpPr txBox="1"/>
          <p:nvPr/>
        </p:nvSpPr>
        <p:spPr>
          <a:xfrm>
            <a:off x="9048750" y="2076450"/>
            <a:ext cx="51816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04EA2"/>
                </a:solidFill>
                <a:latin typeface="Noto Sans KR"/>
              </a:rPr>
              <a:t>총 8,250만 원</a:t>
            </a:r>
          </a:p>
        </p:txBody>
      </p:sp>
      <p:graphicFrame xmlns:a="http://schemas.openxmlformats.org/drawingml/2006/main">
        <p:nvGraphicFramePr>
          <p:cNvPr id="6" name="estimate-table"/>
          <p:cNvGraphicFramePr>
            <a:graphicFrameLocks noGrp="1"/>
          </p:cNvGraphicFramePr>
          <p:nvPr/>
        </p:nvGraphicFramePr>
        <p:xfrm>
          <a:off x="1238250" y="3143250"/>
          <a:ext cx="12763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/>
                <a:gridCol w="6381750"/>
                <a:gridCol w="30956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산출 기준(가정)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여행비 환급 지원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1,000건 × 50,000원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5,000만원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현장 운영·정산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60인일 × 150,000원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900만원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신청·증빙 시스템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기존 시스템 설정 1식 × 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홍보·참여처 안내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콘텐츠·안내물 1식 × 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성과 집계·검토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자료 정리·평가 1식 × 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직접비 7,500만원 × 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750만원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7" name="estimate-total-rule"/>
          <p:cNvSpPr/>
          <p:nvPr/>
        </p:nvSpPr>
        <p:spPr>
          <a:xfrm>
            <a:off x="1238250" y="6858000"/>
            <a:ext cx="12763500" cy="285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estimate-note"/>
          <p:cNvSpPr txBox="1"/>
          <p:nvPr/>
        </p:nvSpPr>
        <p:spPr>
          <a:xfrm>
            <a:off x="1238250" y="7248525"/>
            <a:ext cx="1276350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수량과 단가를 가정한 임시 참고 견적이며 확정 견적이 아닙니다. 실제 계약 범위·세금·단가 확인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