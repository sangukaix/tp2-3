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d6df47bc314216" /><Relationship Type="http://schemas.openxmlformats.org/officeDocument/2006/relationships/extended-properties" Target="/docProps/app.xml" Id="R0e2ba23935264153" /><Relationship Type="http://schemas.openxmlformats.org/officeDocument/2006/relationships/officeDocument" Target="/ppt/presentation.xml" Id="R320ea908329f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46d5b700241c2"/>
  </p:sldMasterIdLst>
  <p:notesMasterIdLst>
    <p:notesMasterId xmlns:r="http://schemas.openxmlformats.org/officeDocument/2006/relationships" r:id="Ra3fae928b11e482a"/>
  </p:notesMasterIdLst>
  <p:sldIdLst>
    <p:sldId xmlns:r="http://schemas.openxmlformats.org/officeDocument/2006/relationships" id="256" r:id="R58b4253bf16141da"/>
    <p:sldId xmlns:r="http://schemas.openxmlformats.org/officeDocument/2006/relationships" id="257" r:id="Rd9b20d22d3344d36"/>
    <p:sldId xmlns:r="http://schemas.openxmlformats.org/officeDocument/2006/relationships" id="258" r:id="R5c195035fd054c7f"/>
    <p:sldId xmlns:r="http://schemas.openxmlformats.org/officeDocument/2006/relationships" id="259" r:id="R312f3df7ce634da6"/>
    <p:sldId xmlns:r="http://schemas.openxmlformats.org/officeDocument/2006/relationships" id="260" r:id="R383af1767a9d4d37"/>
    <p:sldId xmlns:r="http://schemas.openxmlformats.org/officeDocument/2006/relationships" id="261" r:id="R72422f8453ca48d6"/>
    <p:sldId xmlns:r="http://schemas.openxmlformats.org/officeDocument/2006/relationships" id="262" r:id="R72645be67d3d4a1e"/>
    <p:sldId xmlns:r="http://schemas.openxmlformats.org/officeDocument/2006/relationships" id="263" r:id="R3d9f29f0616e4d61"/>
    <p:sldId xmlns:r="http://schemas.openxmlformats.org/officeDocument/2006/relationships" id="264" r:id="R95fea33f73904c6b"/>
    <p:sldId xmlns:r="http://schemas.openxmlformats.org/officeDocument/2006/relationships" id="265" r:id="R3a0eedbc20ea4e1e"/>
    <p:sldId xmlns:r="http://schemas.openxmlformats.org/officeDocument/2006/relationships" id="266" r:id="Re4e3819f9d704a6d"/>
    <p:sldId xmlns:r="http://schemas.openxmlformats.org/officeDocument/2006/relationships" id="267" r:id="R689b5fbfb12a409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98aff2d1ef4557" /><Relationship Type="http://schemas.openxmlformats.org/officeDocument/2006/relationships/slideMaster" Target="/ppt/slideMasters/slideMaster1.xml" Id="Rb6646d5b700241c2" /><Relationship Type="http://schemas.openxmlformats.org/officeDocument/2006/relationships/notesMaster" Target="/ppt/notesMasters/notesMaster1.xml" Id="Ra3fae928b11e482a" /><Relationship Type="http://schemas.openxmlformats.org/officeDocument/2006/relationships/presProps" Target="/ppt/presProps.xml" Id="R2b8946b808db4625" /><Relationship Type="http://schemas.openxmlformats.org/officeDocument/2006/relationships/viewProps" Target="/ppt/viewProps.xml" Id="R0102709ae5834dbf" /><Relationship Type="http://schemas.openxmlformats.org/officeDocument/2006/relationships/tableStyles" Target="/ppt/tableStyles.xml" Id="R3c29b82e786148a5" /><Relationship Type="http://schemas.openxmlformats.org/officeDocument/2006/relationships/slide" Target="/ppt/slides/slide1.xml" Id="R58b4253bf16141da" /><Relationship Type="http://schemas.openxmlformats.org/officeDocument/2006/relationships/slide" Target="/ppt/slides/slide2.xml" Id="Rd9b20d22d3344d36" /><Relationship Type="http://schemas.openxmlformats.org/officeDocument/2006/relationships/slide" Target="/ppt/slides/slide3.xml" Id="R5c195035fd054c7f" /><Relationship Type="http://schemas.openxmlformats.org/officeDocument/2006/relationships/slide" Target="/ppt/slides/slide4.xml" Id="R312f3df7ce634da6" /><Relationship Type="http://schemas.openxmlformats.org/officeDocument/2006/relationships/slide" Target="/ppt/slides/slide5.xml" Id="R383af1767a9d4d37" /><Relationship Type="http://schemas.openxmlformats.org/officeDocument/2006/relationships/slide" Target="/ppt/slides/slide6.xml" Id="R72422f8453ca48d6" /><Relationship Type="http://schemas.openxmlformats.org/officeDocument/2006/relationships/slide" Target="/ppt/slides/slide7.xml" Id="R72645be67d3d4a1e" /><Relationship Type="http://schemas.openxmlformats.org/officeDocument/2006/relationships/slide" Target="/ppt/slides/slide8.xml" Id="R3d9f29f0616e4d61" /><Relationship Type="http://schemas.openxmlformats.org/officeDocument/2006/relationships/slide" Target="/ppt/slides/slide9.xml" Id="R95fea33f73904c6b" /><Relationship Type="http://schemas.openxmlformats.org/officeDocument/2006/relationships/slide" Target="/ppt/slides/slide10.xml" Id="R3a0eedbc20ea4e1e" /><Relationship Type="http://schemas.openxmlformats.org/officeDocument/2006/relationships/slide" Target="/ppt/slides/slide11.xml" Id="Re4e3819f9d704a6d" /><Relationship Type="http://schemas.openxmlformats.org/officeDocument/2006/relationships/slide" Target="/ppt/slides/slide12.xml" Id="R689b5fbfb12a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64372c5fc944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e121a4bbb44200" /><Relationship Type="http://schemas.openxmlformats.org/officeDocument/2006/relationships/notesMaster" Target="/ppt/notesMasters/notesMaster1.xml" Id="R070fccbe765f47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56643290734a06" /><Relationship Type="http://schemas.openxmlformats.org/officeDocument/2006/relationships/notesMaster" Target="/ppt/notesMasters/notesMaster1.xml" Id="R009114b8ef3a45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007bfe73f94dd0" /><Relationship Type="http://schemas.openxmlformats.org/officeDocument/2006/relationships/notesMaster" Target="/ppt/notesMasters/notesMaster1.xml" Id="R3bdaae8a8c4647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95c493ef164c46" /><Relationship Type="http://schemas.openxmlformats.org/officeDocument/2006/relationships/notesMaster" Target="/ppt/notesMasters/notesMaster1.xml" Id="R516721da7d904d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4a0821663446cf" /><Relationship Type="http://schemas.openxmlformats.org/officeDocument/2006/relationships/notesMaster" Target="/ppt/notesMasters/notesMaster1.xml" Id="Rf9421afbbf3e4a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1be8f6269b4747" /><Relationship Type="http://schemas.openxmlformats.org/officeDocument/2006/relationships/notesMaster" Target="/ppt/notesMasters/notesMaster1.xml" Id="R3a06aaeab5164e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0f6f455494f0a" /><Relationship Type="http://schemas.openxmlformats.org/officeDocument/2006/relationships/notesMaster" Target="/ppt/notesMasters/notesMaster1.xml" Id="R5732575ce81847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65ab67b51243d1" /><Relationship Type="http://schemas.openxmlformats.org/officeDocument/2006/relationships/notesMaster" Target="/ppt/notesMasters/notesMaster1.xml" Id="R74dda3f9d27d48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cfc8f6d9694fe6" /><Relationship Type="http://schemas.openxmlformats.org/officeDocument/2006/relationships/notesMaster" Target="/ppt/notesMasters/notesMaster1.xml" Id="Rcb594d33ce5840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4f9bce60fe456a" /><Relationship Type="http://schemas.openxmlformats.org/officeDocument/2006/relationships/notesMaster" Target="/ppt/notesMasters/notesMaster1.xml" Id="R5a171b73394243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42c5a908574979" /><Relationship Type="http://schemas.openxmlformats.org/officeDocument/2006/relationships/notesMaster" Target="/ppt/notesMasters/notesMaster1.xml" Id="R4be995cc7c3a4b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0e5c5a075c468e" /><Relationship Type="http://schemas.openxmlformats.org/officeDocument/2006/relationships/notesMaster" Target="/ppt/notesMasters/notesMaster1.xml" Id="Rc0d4236092a24c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2 retained and extended with the revised twelve-slide sequence.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3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6 layout reused. Core-plan wording is an illustrative sample based on the current Gangnam half-day-course concept.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4 retained. Forecast and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5 retained. No new actual peer-region fact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Existing implementation steps and deliverables were reorganized into a rising execution roadmap. No external asset or new factual claim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7 retained.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8 retained. Illustrative budget: 108+60+28+22+14+8=240 million KRW; not a vendor quotation.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9 layout reused and rewritten as a post-pilot continuous operating model.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rules: C:/Users/Admin/mbca/TP2-3/docs/DATA_AND_AI_RULES.md and C:/Users/Admin/mbca/TP2-3/docs/ARCHITECTURE.md. Actual generation must display only the dataset/model/source/AI trace that was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layout reused for the close. No external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bd4d921a94d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1d6b2749274050" /><Relationship Type="http://schemas.openxmlformats.org/officeDocument/2006/relationships/slideLayout" Target="/ppt/slideLayouts/slideLayout1.xml" Id="R64f713ab1b2541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f713ab1b2541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4a1eefcc44959" /><Relationship Type="http://schemas.openxmlformats.org/officeDocument/2006/relationships/notesSlide" Target="/ppt/notesSlides/notesSlide1.xml" Id="R04190ea7668349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b0e581cf14534" /><Relationship Type="http://schemas.openxmlformats.org/officeDocument/2006/relationships/notesSlide" Target="/ppt/notesSlides/notesSlide2.xml" Id="R7f348e741874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106e64d0b45d4" /><Relationship Type="http://schemas.openxmlformats.org/officeDocument/2006/relationships/notesSlide" Target="/ppt/notesSlides/notesSlide3.xml" Id="R55b84a8019fa42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d5702e3424daf" /><Relationship Type="http://schemas.openxmlformats.org/officeDocument/2006/relationships/notesSlide" Target="/ppt/notesSlides/notesSlide4.xml" Id="R9ac5319015154b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f279e762547ca" /><Relationship Type="http://schemas.openxmlformats.org/officeDocument/2006/relationships/chart" Target="/ppt/slides/charts/chart1.xml" Id="R2ad71c755b91429b" /><Relationship Type="http://schemas.openxmlformats.org/officeDocument/2006/relationships/chart" Target="/ppt/slides/charts/chart2.xml" Id="Rcd0d7e1db2514411" /><Relationship Type="http://schemas.openxmlformats.org/officeDocument/2006/relationships/notesSlide" Target="/ppt/notesSlides/notesSlide5.xml" Id="R488bcf52b00a48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3541cecc54364" /><Relationship Type="http://schemas.openxmlformats.org/officeDocument/2006/relationships/chart" Target="/ppt/slides/charts/chart3.xml" Id="Rd45e2a1dd2634726" /><Relationship Type="http://schemas.openxmlformats.org/officeDocument/2006/relationships/notesSlide" Target="/ppt/notesSlides/notesSlide6.xml" Id="Rc714e57195374f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29fe923be453f" /><Relationship Type="http://schemas.openxmlformats.org/officeDocument/2006/relationships/notesSlide" Target="/ppt/notesSlides/notesSlide7.xml" Id="Rd52daebdc184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757d81be54559" /><Relationship Type="http://schemas.openxmlformats.org/officeDocument/2006/relationships/notesSlide" Target="/ppt/notesSlides/notesSlide8.xml" Id="Rd2734206763546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27cda51254bd6" /><Relationship Type="http://schemas.openxmlformats.org/officeDocument/2006/relationships/notesSlide" Target="/ppt/notesSlides/notesSlide9.xml" Id="R9550a623894146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ecca981b24b0f" /><Relationship Type="http://schemas.openxmlformats.org/officeDocument/2006/relationships/notesSlide" Target="/ppt/notesSlides/notesSlide10.xml" Id="Rd794d5190cd84f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ac80f13724322" /><Relationship Type="http://schemas.openxmlformats.org/officeDocument/2006/relationships/notesSlide" Target="/ppt/notesSlides/notesSlide11.xml" Id="R94ef97190abc43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fd44e33d44550" /><Relationship Type="http://schemas.openxmlformats.org/officeDocument/2006/relationships/notesSlide" Target="/ppt/notesSlides/notesSlide12.xml" Id="Rd1eded9294444d6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방문자 수</c:v>
          </c:tx>
          <c:spPr>
            <a:solidFill xmlns:a="http://schemas.openxmlformats.org/drawingml/2006/main">
              <a:srgbClr val="004EA2"/>
            </a:solidFill>
          </c:spPr>
          <c:cat>
            <c:strLit>
              <c:ptCount val="3"/>
              <c:pt idx="0">
                <c:v>9월</c:v>
              </c:pt>
              <c:pt idx="1">
                <c:v>10월</c:v>
              </c:pt>
              <c:pt idx="2">
                <c:v>11월</c:v>
              </c:pt>
            </c:strLit>
          </c:cat>
          <c:val>
            <c:numLit>
              <c:formatCode>#,##0</c:formatCode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관광소비액</c:v>
          </c:tx>
          <c:spPr>
            <a:solidFill xmlns:a="http://schemas.openxmlformats.org/drawingml/2006/main">
              <a:srgbClr val="00B7C9"/>
            </a:solidFill>
          </c:spPr>
          <c:cat>
            <c:strLit>
              <c:ptCount val="3"/>
              <c:pt idx="0">
                <c:v>9월</c:v>
              </c:pt>
              <c:pt idx="1">
                <c:v>10월</c:v>
              </c:pt>
              <c:pt idx="2">
                <c:v>11월</c:v>
              </c:pt>
            </c:strLit>
          </c:cat>
          <c:val>
            <c:numLit>
              <c:formatCode>#,##0</c:formatCode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0B7C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API 미호출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견적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지속 운영 방안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데이터·AI 근거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A5EB5BCF-344D-4D69-9CC1-EBFB267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맺음말</a:t>
            </a:r>
          </a:p>
        </p:txBody>
      </p:sp>
      <p:sp>
        <p:nvSpPr>
          <p:cNvPr id="4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CBA3A83D-9A31-40EB-8EE3-21FC839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667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48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첨부 템플릿 시각화 · 공식 장소 사진 아님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수요를 체류·소비로 잇는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관광코스를 시범 운영합니다.</a:t>
            </a:r>
            <a:endParaRPr sz="2175" b="1" i="0">
              <a:solidFill>
                <a:srgbClr val="1B1F2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0025"/>
            <a:ext cx="852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명소와 참여 상점을 한 동선으로 묶습니다. 코스 이용과 후속 결제 기록을 확인해, 방문이 지역 소비로 이어지는지 검증합니다.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전년 같은 달 대비 방문 변화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예시에서는 방문이 전년 같은 달보다 줄었습니다. 신규 집객만 늘리기보다, 이미 방문한 사람이 지역 안에서 더 이용하고 소비할 수 있는 동선을 시험합니다.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CORE OPERATING MODEL · SAMPLE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관광객 한 번의 방문을 지역 체류와 소비로 연결합니다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 · 무엇을 만드나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추천코스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명소·체험·식음·쇼핑을 3~6시간 동선으로 묶고, 모바일 안내에서 순서·운영시간·혜택을 보여줍니다.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 · 무엇을 준비하나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조건 확정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권역 1곳과 참여처를 정하고, 혜택·정산 기준, 안전·민원 대응, 데이터 제공 역할을 협약합니다.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 · 어떻게 운영하나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이용에서 결제까지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선택 → 현장 이용 확인 → 참여 상점 결제 → 조건 충족 혜택 제공 순서로 한 번의 방문을 연결합니다.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04 · 무엇을 기록하나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성과와 개선점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완료, 후속 결제, 체류시간, 건당 비용과 이용자 의견을 주별로 기록해 다음 회차 운영에 반영합니다.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최종적으로 남기는 것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가능한 관광코스 · 참여처 지도 · 모바일 안내 · 운영 매뉴얼 · 주간 성과표 · 다음 회차 개선안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운영 수량과 혜택은 실제 협약·예산 확정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MACHINE LEARNING FORECAST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향후 3개월 방문자·관광소비액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CE144BA-33C5-4E86-8E06-A1AA11E5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CFC19E4B-6A6F-404D-AA8A-2BA231E5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1322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사업 기간의 월별 자연추세</a:t>
            </a:r>
          </a:p>
        </p:txBody>
      </p:sp>
      <p:sp>
        <p:nvSpPr>
          <p:cNvPr id="6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A80239FE-9B6F-4C31-8112-88C268BB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EA2"/>
                </a:solidFill>
              </a:defRPr>
            </a:pPr>
            <a:r>
              <a:rPr sz="2325" b="1">
                <a:solidFill>
                  <a:srgbClr val="004EA2"/>
                </a:solidFill>
              </a:rPr>
              <a:t>방문자 수</a:t>
            </a:r>
          </a:p>
        </p:txBody>
      </p:sp>
      <p:graphicFrame>
        <p:nvGraphicFramePr>
          <p:cNvPr id="19" name="visitors-chart"/>
          <p:cNvGraphicFramePr/>
          <p:nvPr/>
        </p:nvGraphicFramePr>
        <p:xfrm>
          <a:off xmlns:a="http://schemas.openxmlformats.org/drawingml/2006/main" x="1009650" y="36004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d71c755b91429b"/>
          </a:graphicData>
        </a:graphic>
      </p:graphicFrame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3BE309C8-D625-4D50-B9A3-74F51F4E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79132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정확한 월별 값</a:t>
            </a:r>
          </a:p>
        </p:txBody>
      </p:sp>
      <p:sp>
        <p:nvSpPr>
          <p:cNvPr id="9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C97DEF89-B9FF-46DE-BEAE-C5467155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B7C9"/>
                </a:solidFill>
              </a:defRPr>
            </a:pPr>
            <a:r>
              <a:rPr sz="2325" b="1">
                <a:solidFill>
                  <a:srgbClr val="00B7C9"/>
                </a:solidFill>
              </a:rPr>
              <a:t>관광소비액</a:t>
            </a:r>
          </a:p>
        </p:txBody>
      </p:sp>
      <p:graphicFrame>
        <p:nvGraphicFramePr>
          <p:cNvPr id="22" name="spending-chart"/>
          <p:cNvGraphicFramePr/>
          <p:nvPr/>
        </p:nvGraphicFramePr>
        <p:xfrm>
          <a:off xmlns:a="http://schemas.openxmlformats.org/drawingml/2006/main" x="7943850" y="36004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0d7e1db2514411"/>
          </a:graphicData>
        </a:graphic>
      </p:graphicFrame>
      <p:sp>
        <p:nvSpPr>
          <p:cNvPr id="11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87222C69-E156-4414-BCC8-39F0BED5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79132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정확한 월별 값</a:t>
            </a:r>
          </a:p>
        </p:txBody>
      </p:sp>
      <p:sp>
        <p:nvSpPr>
          <p:cNvPr id="12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6FC136A7-CE12-4A3B-8A2D-651054F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743825"/>
            <a:ext cx="1322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36E"/>
                </a:solidFill>
              </a:defRPr>
            </a:pPr>
            <a:r>
              <a:rPr sz="1425" b="0">
                <a:solidFill>
                  <a:srgbClr val="59636E"/>
                </a:solidFill>
              </a:rPr>
              <a:t>학습기간 · 모델 · 정확한 수치</a:t>
            </a:r>
          </a:p>
        </p:txBody>
      </p:sp>
      <p:sp>
        <p:nvSpPr>
          <p:cNvPr id="13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803AD22-38F2-4656-BA35-9383AA4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96250"/>
            <a:ext cx="1322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예측 신뢰도 및 해석 한계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유사 지역·사례로 검토하는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683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현재 방문 흐름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예시의 전년 동월 대비 방문 변화입니다.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규모와 지역 내 소비 연결을 함께 확인합니다.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샘플 수치 · 실제 비교 자료 아님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같은 기준으로 지역 비교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유사 지역의 수치뿐 아니라 운영 비용·참여처·동선을 비교해 강남구에 옮길 수 있는 요소를 고릅니다.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샘플에서는 타 지역 우열을 단정하지 않음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사례의 작동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사례의 행사명보다 참여 구조·혜택 지급·정산 방식을 봅니다. 운영 근거가 확인된 요소만 가져옵니다.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성과 수치와 현장 조건을 함께 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강남구에서 검증할 방식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작은 권역에서 안내·이용·결제를 연결합니다. 이탈 구간과 비용을 기록해 다음 운영안을 결정합니다.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 권역에서 시범 → 검증 후 확대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 같은 달 = 100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100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 대상을 고를 세 가지 기준</a:t>
            </a:r>
          </a:p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규모   ·   체류·소비   ·   운영 여건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595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정의를 먼저 맞춥니다.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체험 콘텐츠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이동 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 이용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코스 안내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확인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후속 결제</a:t>
            </a:r>
          </a:p>
        </p:txBody>
      </p:sp>
      <p:graphicFrame>
        <p:nvGraphicFramePr>
          <p:cNvPr id="112" name="peer-visitors-yoy-index"/>
          <p:cNvGraphicFramePr/>
          <p:nvPr/>
        </p:nvGraphicFramePr>
        <p:xfrm>
          <a:off xmlns:a="http://schemas.openxmlformats.org/drawingml/2006/main" x="4095750" y="3590925"/>
          <a:ext xmlns:a="http://schemas.openxmlformats.org/drawingml/2006/main" cx="285750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5e2a1dd2634726"/>
          </a:graphicData>
        </a:graphic>
      </p:graphicFrame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 · 3~6개월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작게 시작해, 기록으로 다음 운영을 결정합니다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5943600" y="50482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1곳을 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8401050" y="419100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76DB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A"/>
          </a:solidFill>
          <a:ln xmlns:a="http://schemas.openxmlformats.org/drawingml/2006/main" w="0">
            <a:solidFill>
              <a:srgbClr val="176DB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57825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식음·쇼핑 참여처와 관광 지점을 연결하고 혜택·정산·안전 기준을 확정합니다.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코스 지도·참여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10858500" y="33337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2225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안내와 공통 혜택을 열고 참여처 교육과 문의 대응을 시작합니다.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페이지·운영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2724150"/>
            <a:ext cx="5715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57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052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이용·결제·체류·민원을 주간으로 확인하고 동선과 혜택을 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952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7ADBE4"/>
                </a:solidFill>
                <a:latin typeface="Noto Sans KR"/>
                <a:ea typeface="Noto Sans KR"/>
                <a:cs typeface="Noto Sans KR"/>
              </a:rPr>
              <a:t>FINAL OUTPUT</a:t>
            </a:r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22479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EAF3FB"/>
                </a:solidFill>
                <a:latin typeface="Noto Sans KR"/>
                <a:ea typeface="Noto Sans KR"/>
                <a:cs typeface="Noto Sans KR"/>
              </a:rPr>
              <a:t>이용·결제 기록, 참여처별 비용, 민원과 개선 의견을 한 장의 결과표로 정리합니다.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EAF3FB"/>
                </a:solidFill>
                <a:latin typeface="Noto Sans KR"/>
                <a:ea typeface="Noto Sans KR"/>
                <a:cs typeface="Noto Sans KR"/>
              </a:rPr>
              <a:t>기준선과 시범 결과를 같은 방식으로 비교해 다음 회차의 유지·보완·확대 범위를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자연추세 → 목표 KPI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2973F422-EC21-4CBF-9FC3-6D002A83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7C9"/>
                </a:solidFill>
              </a:defRPr>
            </a:pPr>
            <a:r>
              <a:t>BASELINE &amp; MEASURABLE TARGETS</a:t>
            </a:r>
          </a:p>
        </p:txBody>
      </p:sp>
      <p:sp>
        <p:nvSpPr>
          <p:cNvPr id="47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EA318C-C0F6-4325-9FFB-E5988F3F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48" name="subtitle">
            <a:extLst xmlns:a="http://schemas.openxmlformats.org/drawingml/2006/main">
              <a:ext uri="{FF2B5EF4-FFF2-40B4-BE49-F238E27FC236}">
                <a16:creationId xmlns:a16="http://schemas.microsoft.com/office/drawing/2014/main" id="{DC65064C-CE2C-4EAF-8175-78A88F11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1322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예측과 운영 목표를 구분합니다.</a:t>
            </a:r>
          </a:p>
        </p:txBody>
      </p:sp>
      <p:sp>
        <p:nvSpPr>
          <p:cNvPr id="49" name="baseline-panel">
            <a:extLst xmlns:a="http://schemas.openxmlformats.org/drawingml/2006/main">
              <a:ext uri="{FF2B5EF4-FFF2-40B4-BE49-F238E27FC236}">
                <a16:creationId xmlns:a16="http://schemas.microsoft.com/office/drawing/2014/main" id="{329678E2-7E78-422C-ABAF-5153332F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39624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50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BF3295DE-8F94-4708-AB48-E86CBBED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670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지역 전체 자연추세</a:t>
            </a:r>
          </a:p>
        </p:txBody>
      </p:sp>
      <p:sp>
        <p:nvSpPr>
          <p:cNvPr id="51" name="baseline-period">
            <a:extLst xmlns:a="http://schemas.openxmlformats.org/drawingml/2006/main">
              <a:ext uri="{FF2B5EF4-FFF2-40B4-BE49-F238E27FC236}">
                <a16:creationId xmlns:a16="http://schemas.microsoft.com/office/drawing/2014/main" id="{0F96E2A6-AD4B-4F5A-B570-0388258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62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BD5EE"/>
                </a:solidFill>
              </a:defRPr>
            </a:pPr>
            <a:r>
              <a:rPr sz="1575" b="0">
                <a:solidFill>
                  <a:srgbClr val="BBD5EE"/>
                </a:solidFill>
              </a:rPr>
              <a:t>최종 월</a:t>
            </a:r>
          </a:p>
        </p:txBody>
      </p:sp>
      <p:sp>
        <p:nvSpPr>
          <p:cNvPr id="52" name="visit-label">
            <a:extLst xmlns:a="http://schemas.openxmlformats.org/drawingml/2006/main">
              <a:ext uri="{FF2B5EF4-FFF2-40B4-BE49-F238E27FC236}">
                <a16:creationId xmlns:a16="http://schemas.microsoft.com/office/drawing/2014/main" id="{EE673A59-7138-4306-96A1-F410B38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월 방문자 수</a:t>
            </a:r>
          </a:p>
        </p:txBody>
      </p:sp>
      <p:sp>
        <p:nvSpPr>
          <p:cNvPr id="53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2EA967DD-871F-4769-BC54-9B153377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42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2,632,315명</a:t>
            </a:r>
          </a:p>
        </p:txBody>
      </p:sp>
      <p:sp>
        <p:nvSpPr>
          <p:cNvPr id="54" name="spend-label">
            <a:extLst xmlns:a="http://schemas.openxmlformats.org/drawingml/2006/main">
              <a:ext uri="{FF2B5EF4-FFF2-40B4-BE49-F238E27FC236}">
                <a16:creationId xmlns:a16="http://schemas.microsoft.com/office/drawing/2014/main" id="{31D2A3E2-2AE3-42C2-9B28-3C6C97BC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월 관광소비액</a:t>
            </a:r>
          </a:p>
        </p:txBody>
      </p:sp>
      <p:sp>
        <p:nvSpPr>
          <p:cNvPr id="55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232A21CE-1D77-4FE7-AEB4-EDBE9A0D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769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899억 원</a:t>
            </a:r>
          </a:p>
        </p:txBody>
      </p:sp>
      <p:sp>
        <p:nvSpPr>
          <p:cNvPr id="56" name="kpi-heading">
            <a:extLst xmlns:a="http://schemas.openxmlformats.org/drawingml/2006/main">
              <a:ext uri="{FF2B5EF4-FFF2-40B4-BE49-F238E27FC236}">
                <a16:creationId xmlns:a16="http://schemas.microsoft.com/office/drawing/2014/main" id="{70B2B11A-CC4A-47EB-80A0-E4B0531D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38475"/>
            <a:ext cx="8753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4EA2"/>
                </a:solidFill>
              </a:defRPr>
            </a:pPr>
            <a:r>
              <a:rPr sz="2250" b="1">
                <a:solidFill>
                  <a:srgbClr val="004EA2"/>
                </a:solidFill>
              </a:rPr>
              <a:t>목표 KPI</a:t>
            </a:r>
          </a:p>
        </p:txBody>
      </p:sp>
      <p:graphicFrame>
        <p:nvGraphicFramePr>
          <p:cNvPr id="72" name="kpi-table"/>
          <p:cNvGraphicFramePr/>
          <p:nvPr/>
        </p:nvGraphicFramePr>
        <p:xfrm>
          <a:off xmlns:a="http://schemas.openxmlformats.org/drawingml/2006/main" x="5429250" y="3638550"/>
          <a:ext xmlns:a="http://schemas.openxmlformats.org/drawingml/2006/main" cx="87630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3714750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</a:tr>
            </a:tbl>
          </a:graphicData>
        </a:graphic>
      </p:graphicFrame>
      <p:sp>
        <p:nvSpPr>
          <p:cNvPr id="58" name="kpi-derivation">
            <a:extLst xmlns:a="http://schemas.openxmlformats.org/drawingml/2006/main">
              <a:ext uri="{FF2B5EF4-FFF2-40B4-BE49-F238E27FC236}">
                <a16:creationId xmlns:a16="http://schemas.microsoft.com/office/drawing/2014/main" id="{D1F62887-4274-4F78-8C41-B141A954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05575"/>
            <a:ext cx="876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목표 수치의 산출근거</a:t>
            </a:r>
          </a:p>
        </p:txBody>
      </p:sp>
      <p:sp>
        <p:nvSpPr>
          <p:cNvPr id="59" name="kpi-footnote">
            <a:extLst xmlns:a="http://schemas.openxmlformats.org/drawingml/2006/main">
              <a:ext uri="{FF2B5EF4-FFF2-40B4-BE49-F238E27FC236}">
                <a16:creationId xmlns:a16="http://schemas.microsoft.com/office/drawing/2014/main" id="{4BA34B10-F867-4EDE-A7E5-80DA74B2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734300"/>
            <a:ext cx="1322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사업 참여 목표는 지역 전체의 추가 방문·소비 예측이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REFERENCE ESTIMATE · NOT A FINAL QUOTE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A4373A4-DCBB-41C7-BC6A-32C6551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5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C6431179-2FA3-47FE-9D1D-C88FFF8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322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EA2"/>
                </a:solidFill>
              </a:defRPr>
            </a:pPr>
            <a:r>
              <a:rPr sz="2400" b="1">
                <a:solidFill>
                  <a:srgbClr val="004EA2"/>
                </a:solidFill>
              </a:rPr>
              <a:t>시범 운영 참고 견적</a:t>
            </a:r>
          </a:p>
        </p:txBody>
      </p:sp>
      <p:graphicFrame>
        <p:nvGraphicFramePr>
          <p:cNvPr id="13" name="budget-table"/>
          <p:cNvGraphicFramePr/>
          <p:nvPr/>
        </p:nvGraphicFramePr>
        <p:xfrm>
          <a:off xmlns:a="http://schemas.openxmlformats.org/drawingml/2006/main" x="1009650" y="3086100"/>
          <a:ext xmlns:a="http://schemas.openxmlformats.org/drawingml/2006/main" cx="132207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6572250"/>
                <a:gridCol w="3295650"/>
              </a:tblGrid>
              <a:tr h="485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</a:tr>
            </a:tbl>
          </a:graphicData>
        </a:graphic>
      </p:graphicFrame>
      <p:sp>
        <p:nvSpPr>
          <p:cNvPr id="7" name="intro">
            <a:extLst xmlns:a="http://schemas.openxmlformats.org/drawingml/2006/main">
              <a:ext uri="{FF2B5EF4-FFF2-40B4-BE49-F238E27FC236}">
                <a16:creationId xmlns:a16="http://schemas.microsoft.com/office/drawing/2014/main" id="{879840DE-9927-4CBC-86F8-F1383F1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81850"/>
            <a:ext cx="1322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4EA2"/>
                </a:solidFill>
              </a:defRPr>
            </a:pPr>
            <a:r>
              <a:rPr sz="1725" b="1">
                <a:solidFill>
                  <a:srgbClr val="004EA2"/>
                </a:solidFill>
              </a:rPr>
              <a:t>확정 견적이 아닌, 운영 규모 검토를 위한 임시 참고 견적입니다.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8906A3DE-0E85-444D-8F67-DBBBA8B2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620000"/>
            <a:ext cx="1322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수량·단가 가정과 공식 사례의 참고 범위를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종료 후에도 데이터로 코스를 계속 개선합니다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매월 운영 점검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코스 완료·결제·체류시간·민원을 같은 기준으로 기록합니다. 이탈 구간은 다음 달 동선·혜택에 바로 반영합니다.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분기별 코스 보완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성과가 낮은 구간은 동선·운영시간·혜택을 조정합니다. 확인된 범위에서만 참여처와 운영일을 늘립니다.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분기마다 코스와 참여처 운영안을 갱신합니다.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분기 산출물 · 개편 코스·운영안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계절·대상별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기본 코스의 운영 기준을 유지한 채 계절 행사, 외국인 안내, 숙박 연계를 단계적으로 추가합니다. 신규 권역은 별도 기준선을 만든 뒤 시험합니다.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운영 원칙 · 작게 시작 → 매월 개선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연간 산출물 · 다음 연도 운영계획·예산안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기본 코스 → 계절 행사 → 외국인·숙박 연계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전체 사용 내역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29" name="source-subtitle">
            <a:extLst xmlns:a="http://schemas.openxmlformats.org/drawingml/2006/main"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1322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관측 데이터 · 머신러닝 예측치 · 공식 사례</a:t>
            </a:r>
          </a:p>
        </p:txBody>
      </p:sp>
      <p:sp>
        <p:nvSpPr>
          <p:cNvPr id="30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31" name="source-0-0">
            <a:extLst xmlns:a="http://schemas.openxmlformats.org/drawingml/2006/main"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source-0-1">
            <a:extLst xmlns:a="http://schemas.openxmlformats.org/drawingml/2006/main"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source-0-2">
            <a:extLst xmlns:a="http://schemas.openxmlformats.org/drawingml/2006/main"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source-0-3">
            <a:extLst xmlns:a="http://schemas.openxmlformats.org/drawingml/2006/main"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5312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source-0-4">
            <a:extLst xmlns:a="http://schemas.openxmlformats.org/drawingml/2006/main"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961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noFill/>
          </a:ln>
        </p:spPr>
      </p:sp>
      <p:sp>
        <p:nvSpPr>
          <p:cNvPr id="37" name="source-1-0">
            <a:extLst xmlns:a="http://schemas.openxmlformats.org/drawingml/2006/main"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242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source-1-1">
            <a:extLst xmlns:a="http://schemas.openxmlformats.org/drawingml/2006/main"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6717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source-1-2">
            <a:extLst xmlns:a="http://schemas.openxmlformats.org/drawingml/2006/main"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1015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source-1-3">
            <a:extLst xmlns:a="http://schemas.openxmlformats.org/drawingml/2006/main"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5312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source-1-4">
            <a:extLst xmlns:a="http://schemas.openxmlformats.org/drawingml/2006/main"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961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43" name="source-2-0">
            <a:extLst xmlns:a="http://schemas.openxmlformats.org/drawingml/2006/main"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242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source-2-1">
            <a:extLst xmlns:a="http://schemas.openxmlformats.org/drawingml/2006/main"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6717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source-2-2">
            <a:extLst xmlns:a="http://schemas.openxmlformats.org/drawingml/2006/main"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01015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source-2-3">
            <a:extLst xmlns:a="http://schemas.openxmlformats.org/drawingml/2006/main"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95312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source-2-4">
            <a:extLst xmlns:a="http://schemas.openxmlformats.org/drawingml/2006/main"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8961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96250"/>
            <a:ext cx="1322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전체 원문 URL은 각 항목의 링크와 발표자 노트에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TOURISM STRATEGY · NEXT STEP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검증하고,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권역 · 운영기간 · 예산 범위 확정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[담당부서 / 담당자]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NEXT STEP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조건 확정 및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 협약 착수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2026-09-05T06:53:43.3430000Z</dcterms:created>
  <dcterms:modified xsi:type="dcterms:W3CDTF">2026-09-05T06:53:43.3430000Z</dcterms:modified>
</coreProperties>
</file>