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0" r:id="R7a735fe575034424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270f215da2344ea4" Type="http://schemas.openxmlformats.org/officeDocument/2006/relationships/slide" Target="slides/slide10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7a735fe575034424" Type="http://schemas.openxmlformats.org/officeDocument/2006/relationships/slide" Target="slides/slide5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c878d3c3cce434c" Type="http://schemas.openxmlformats.org/officeDocument/2006/relationships/slide" Target="../slides/slide5.xml"/><Relationship Id="R75abab3d5c0a483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437972f86794e31" Type="http://schemas.openxmlformats.org/officeDocument/2006/relationships/slide" Target="../slides/slide8.xml"/><Relationship Id="Ree8343e0b08c42b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dbc773065c84609" Type="http://schemas.openxmlformats.org/officeDocument/2006/relationships/slide" Target="../slides/slide9.xml"/><Relationship Id="Re2513d2c2a0348a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3e850e0ab3a4c91" Type="http://schemas.openxmlformats.org/officeDocument/2006/relationships/slide" Target="../slides/slide10.xml"/><Relationship Id="Re53ce02560ec4f9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8d8aadeedb5427e" Type="http://schemas.openxmlformats.org/officeDocument/2006/relationships/slide" Target="../slides/slide11.xml"/><Relationship Id="Rbec1f386e4f6470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지역·전략·기간은 검증된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12장 기획서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>
            <a:r>
              <a:t>- 경천묘: https://apis.data.go.kr/B551011/KorService2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관측값은 보고서 observed_findings, 전략 문장은 승인된 전략 JSON을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선정 후보의 작동 방식·대상·범위·필요 자원과 implementation_steps 산출물을 한 장으로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ML의 자연추세만 사용하며 정책효과를 예측하지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>
            <a:r>
              <a:t>- 강진 반값여행 지역경제 효과 소개: https://jnfarm.jeonnam.go.kr/board/FARM_BOARD_008/boardView.do?bdId=BD_00000000000011721&amp;menuCd=farm004002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비교·공식 사례는 적용성 판단 근거로 사용. 방문 상대 지수는 같은 지역의 관측 전년동월 증감률만 환산하며 정책효과가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4단계와 최종 산출물로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수치 목표는 사용자 검토값이며 실제 운영 결과로 별도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수량×단가 또는 비교견적으로 확정하며 근거 없는 총액을 만들지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시범 종료 후 검증된 요소를 정례화하고 월별 개선과 단계적 확장을 수행하는 운영 제안임.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evidence_sources·ML metadata·agent_trace를 바탕으로 관측·예측·공식 근거·AI 역할을 구분함.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강원특별자치도 원주시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관광소비 추이_외지인: https://datalab.visitkorea.or.kr/</a:t>
            </a:r>
          </a:p>
          <a:p xmlns:a="http://schemas.openxmlformats.org/drawingml/2006/main">
            <a:r>
              <a:t>- 한국관광 데이터랩 · 강원특별자치도 원주시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평균 숙박일 (이동통신 기반 외지인): https://datalab.visitkorea.or.kr/</a:t>
            </a:r>
          </a:p>
          <a:p xmlns:a="http://schemas.openxmlformats.org/drawingml/2006/main">
            <a:r>
              <a:t>- 한국관광 데이터랩 · 강원특별자치도 원주시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마지막 인사 장. 지역명과 선택 기획 제목만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7faa7af13f94f8d" Type="http://schemas.openxmlformats.org/officeDocument/2006/relationships/chart" Target="charts/chart1.xml"/><Relationship Id="R3fa8f6e0b0904a5a" Type="http://schemas.openxmlformats.org/officeDocument/2006/relationships/slideLayout" Target="../slideLayouts/slideLayout1.xml"/><Relationship Id="R506628f95068476b" Type="http://schemas.openxmlformats.org/officeDocument/2006/relationships/chart" Target="charts/chart2.xml"/><Relationship Id="R8b5bd3ad70a047f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b62205ec88f49e3" Type="http://schemas.openxmlformats.org/officeDocument/2006/relationships/slideLayout" Target="../slideLayouts/slideLayout1.xml"/><Relationship Id="Rb37c049fb3e949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9ea3d71d95d4e4d" Type="http://schemas.openxmlformats.org/officeDocument/2006/relationships/slideLayout" Target="../slideLayouts/slideLayout1.xml"/><Relationship Id="R724bd060d321422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e1d0071495e48e4" Type="http://schemas.openxmlformats.org/officeDocument/2006/relationships/slideLayout" Target="../slideLayouts/slideLayout1.xml"/><Relationship Id="Rc6898d145a42408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7bb0fa3c5764ae2" Type="http://schemas.openxmlformats.org/officeDocument/2006/relationships/slideLayout" Target="../slideLayouts/slideLayout1.xml"/><Relationship Id="R57a3c6d1d032454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26.06</c:v>
                </c:pt>
                <c:pt idx="1">
                  <c:v>26.09</c:v>
                </c:pt>
                <c:pt idx="2">
                  <c:v>26.10</c:v>
                </c:pt>
                <c:pt idx="3">
                  <c:v>26.11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228.6</c:v>
                </c:pt>
                <c:pt idx="1">
                  <c:v>236.3056</c:v>
                </c:pt>
                <c:pt idx="2">
                  <c:v>263.327</c:v>
                </c:pt>
                <c:pt idx="3">
                  <c:v>263.2315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모델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도입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05일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전략 검토용 / 데이터·AI 기반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2026-09-05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원주시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사진: 경천묘 · 한국관광공사 관광 Open API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원주시를 방문한 외지인이 지정된 업종(식당, 카페, 체험시설 등)에서 일정 금액 이상 지출 시, 지출액의 일부를 원주사랑상품권으로 즉시 환급해 주는…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정량적 효과는 확정할 수 없으나, [참여 외지인 수 × 환급 참여율 × 추가 지역 소비액] 산식을 통해 지역 내 순증 소비액을 검증할 예정임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-2.7%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숙박 방문 비율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12.5%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내비게이션 목적지…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303,921건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강진군 사례(case:gangjin_half_price_2024)에서 지역상품권 결제액이 전년 대비 46% 증가한 성과를 참고함. 원주시의 높은 내비게이션 검색량을 실제 지역 내 결제로 연결하는…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WHAT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방문객이 지역 내에서 지출한 금액의 일부를 지역상품권으로 돌려받는 방식으로, 혜택이 다시 지역 내…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WHO &amp; WHERE · 누구에게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 지역 방문객과 참여 사업자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강원특별자치도 원주시 · 2026-09 ~ 2026-11, 3개월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HOW · 어떻게 작동하나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행동을 실제 기록으로 연결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모집 및 상품권 운영 체계 구축 → 지출 증빙 및 환급… → 시범 운영 및 홍보 캠페인 실시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OPERATE · 무엇이 필요한가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주체·참여처·측정 기준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만들어 내는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명단 및 환급 프로세스 매뉴얼 · 환급 시스템 테스트 결과 보고서 · 홍보물 및 시범 운영 데이터 · 주간 결제 데이터 요약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관측값·ML 자연추세와 실제 운영 기록을 구분해, 다음 운영 기간에 유지·개선할 항목을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202401~202606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57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저장 ML은 과거 월별 원자료를 시간순으로 학습한 자연추세입니다. 정책을 시행하지 않았을 때의 인과적 반사실이나 성과 보장 수치가 아닙니다.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236만 명 → 263만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202609~202611의 저장 모델 전망입니다. 운영 성과는 운영일·비운영일의 실제 기록으로 별도 판단합니다.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만 명 · ML 전망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모델 해석 · 예측은 자연추세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시간순 검증 → 저장 모델 → 사업 기간의 참고 전망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62293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faa7af13f94f8d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24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관광소비액: 670억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6628f95068476b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055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저장 ML 자연추세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성과는 예측 차이가 아니라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검토한 원주시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683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해당 관측 지표 미제공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한국관광 데이터랩 관측값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동일 기준의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강진군 사례(case:gangjin_half_price_2024)에서 지역상품권 결제액이 전년 대비 46% 증가한 성과를 참고함. 원주시의…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지표 정의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지역 적용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수립이 필요하다.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 반값여행 지역경제 효과 소개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조건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 내 상품권 사용처 확보, 방문객의 지출 증빙 절차 마련, 중복 수혜 방지 방안 수립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강진 반값여행 지역환급 모델 도입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자료 없음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사례 원리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여건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적용 검증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 · 2026-09 ~…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2026-09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업체 모집 및 상품권 운영 체계 구축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참여 업체 명단 및 환급 프로세스 매뉴얼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2026-09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지출 증빙 및 환급 시스템(모바일/키오스크) 준비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환급 시스템 테스트 결과 보고서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2026-10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 및 홍보 캠페인 실시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홍보물 및 시범 운영 데이터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2026-11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집중 운영 및 실시간 모니터링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주간 결제 데이터 요약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2026-11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성과 분석 및 차기 사업 검토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산출물: 최종 성과 분석 보고서. 비용·이탈·민원·현장 운영 가능성을 함께 확인해 확대·보완·중단을 판단합니다.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4400"/>
            <a:ext cx="1190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시범 KPI: 자연추세와 목표를 구분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목표는 사업 효과를 보장하는 값이 아니라, 담당자가 사전에 정해 운영 결과로 검증할 수준입니다.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자연추세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저장 ML 전망을 기준으로 시범 권역의 실제 유입·이용을 별도 집계합니다.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월 방문자 원자료·시간순 ML 검증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자연추세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관광소비 자연추세와 당일 결제·완료 건당 비용을 분리해 확인합니다.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관광소비 원자료·운영일 비교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 236만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실제 확인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819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 670억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실제 확인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176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6725"/>
            <a:ext cx="2047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· SAMPLE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7915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지역상품권 발행 비용 + 환급 지원금 + 마케팅 비용 (공식 단가 및 참여 업체 규모에 따라 확정 필요)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 산출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총비용 = 운영일수×인력·안전 단가 + 참여건수×혜택 단가 + 시스템·홍보·평가 견적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절차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확정 → 3개 이상 비교견적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865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계약·정산 조건 확인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3410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금액 조정 기준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055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수량·혜택 단가 반영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부가세·예비비 포함 여부 확인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2026-09 ~… · 비교견적 전</a:t>
            </a:r>
          </a:p>
        </p:txBody>
      </p:sp>
      <p:graphicFrame>
        <p:nvGraphicFramePr>
          <p:cNvPr id="40" name="표 42"/>
          <p:cNvGraphicFramePr/>
          <p:nvPr/>
        </p:nvGraphicFramePr>
        <p:xfrm>
          <a:off xmlns:a="http://schemas.openxmlformats.org/drawingml/2006/main" x="8877300" y="2295525"/>
          <a:ext xmlns:a="http://schemas.openxmlformats.org/drawingml/2006/main" cx="5619750" cy="4648200"/>
        </p:xfrm>
        <a:graphic xmlns:a="http://schemas.openxmlformats.org/drawingml/2006/main">
          <a:graphicData uri="http://schemas.openxmlformats.org/drawingml/2006/table">
            <a:tbl>
              <a:tblPr firstRow="0" firstCol="1" lastRow="0" bandRow="0"/>
              <a:tblGrid>
                <a:gridCol w="2686050"/>
                <a:gridCol w="1028700"/>
                <a:gridCol w="1905000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</a:rPr>
                        <a:t>세부 항목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</a:rPr>
                        <a:t>예산 비중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운영·안전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비교견적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참여 혜택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단가 확인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예약·결제 연동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개발 견적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홍보·콘텐츠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매체 견적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성과 측정·검토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용역 견적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</a:rPr>
                        <a:t>확정 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</a:rPr>
                        <a:t>범위 확정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</a:rPr>
                        <a:t>—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500" b="1">
                          <a:solidFill>
                            <a:srgbClr val="004EA2"/>
                          </a:solidFill>
                          <a:latin typeface="Noto Sans KR"/>
                        </a:rPr>
                        <a:t>계약 전 확정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22947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표의 금액은 사용자 입력·공식 단가·비교견적이 있을 때만 확정합니다.</a:t>
            </a:r>
          </a:p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시범사업 이후에도 이렇게 운영합니다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· 검증된 코스 정례 운영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시범에서 현장 운영 가능성과 실제 이용이 확인된 코스·참여처만 월간 일정으로 정례화합니다.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 · 월별 데이터 개선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매월 같은 기준으로 이용·결제·비용·민원을 확인하고, 성과가 약한 구간의 동선·시간·혜택을 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효과가 약한 구성은 중단하지 않고 원인을 먼저 확인한 뒤 한 요소씩 바꿔 재검증합니다.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주기: 월별 점검 · 분기별 참여처 회의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 · 성과 확인 후 단계적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한 권역의 운영 기록이 기준을 충족한 뒤 인접 권역·계절 상품·외국인 안내를 순서대로 연결합니다.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조건: 운영 가능성·비용 상한·실제 이용 변화 확인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범위: 검증된 요소만 복제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한 권역 → 인접 권역 → 계절·대상별 상품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근거·데이터·ML·AI 활용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관측 데이터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분석기간 2025-07 ~ 2026-06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한국관광 데이터랩 · 강원특별자치도 원주시 순 방문자 수 및 숙박 비율…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한국관광 데이터랩 · 강원특별자치도 원주시 월간 순 방문자 수 (이동통신…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관측값 · MySQL/검증 원자료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저장 ML 전망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버전 regional-demand-v3.1 · 학습 202401~202606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모델 방문자 RandomForestRegressor · 관광소비 LinearRegression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시간순 검증 202512~202602 · 202603~202606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자연추세 · 정책효과 아님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사례·웹 근거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요즘, 한국관광 2호 - 지방공항 연계 지역관광 활성화 방안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강진 반값여행 지역경제 효과 소개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URL·검수 상태를 함께 보존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AI 기획·검수 기록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이번 출력: Qwen · Gemma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적용성 비교 → 기획 초안·수정 → 코드 검수 → 독립 최종 검수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</a:rPr>
              <a:t>실제 공급자·모델·성공/실패는 agent_trace에 기록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역할·모델·성공/실패를 trace에 기록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FINAL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검토·협업용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 INSIGHT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원주 반값 여행 지역환급 모델 도입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/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