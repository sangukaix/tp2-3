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af91c7c9904c0b" /><Relationship Type="http://schemas.openxmlformats.org/officeDocument/2006/relationships/extended-properties" Target="/docProps/app.xml" Id="Rd8f529df063c4c81" /><Relationship Type="http://schemas.openxmlformats.org/officeDocument/2006/relationships/officeDocument" Target="/ppt/presentation.xml" Id="Ra621a15eba6742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8515e1d1d343da"/>
  </p:sldMasterIdLst>
  <p:notesMasterIdLst>
    <p:notesMasterId xmlns:r="http://schemas.openxmlformats.org/officeDocument/2006/relationships" r:id="R7bcc30e0798a4224"/>
  </p:notesMasterIdLst>
  <p:sldIdLst>
    <p:sldId xmlns:r="http://schemas.openxmlformats.org/officeDocument/2006/relationships" id="256" r:id="Rba23c98f16664de8"/>
    <p:sldId xmlns:r="http://schemas.openxmlformats.org/officeDocument/2006/relationships" id="257" r:id="R9cf07f5dfbc34ba0"/>
    <p:sldId xmlns:r="http://schemas.openxmlformats.org/officeDocument/2006/relationships" id="258" r:id="Rdfb04fc517784e46"/>
    <p:sldId xmlns:r="http://schemas.openxmlformats.org/officeDocument/2006/relationships" id="259" r:id="Rcc264ab3aa674a93"/>
    <p:sldId xmlns:r="http://schemas.openxmlformats.org/officeDocument/2006/relationships" id="260" r:id="R66c87a7380ad4ea5"/>
    <p:sldId xmlns:r="http://schemas.openxmlformats.org/officeDocument/2006/relationships" id="261" r:id="Rfead0ccd053447eb"/>
    <p:sldId xmlns:r="http://schemas.openxmlformats.org/officeDocument/2006/relationships" id="262" r:id="R4e1c01b4f7ed4f37"/>
    <p:sldId xmlns:r="http://schemas.openxmlformats.org/officeDocument/2006/relationships" id="263" r:id="R961b6c1a9d944f00"/>
    <p:sldId xmlns:r="http://schemas.openxmlformats.org/officeDocument/2006/relationships" id="264" r:id="R4e570ef0f0304587"/>
    <p:sldId xmlns:r="http://schemas.openxmlformats.org/officeDocument/2006/relationships" id="265" r:id="R657b6c5743c44f71"/>
    <p:sldId xmlns:r="http://schemas.openxmlformats.org/officeDocument/2006/relationships" id="266" r:id="Ra73dc7846aeb4213"/>
    <p:sldId xmlns:r="http://schemas.openxmlformats.org/officeDocument/2006/relationships" id="267" r:id="R520b5c91be154bf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5765b76ce44424" /><Relationship Type="http://schemas.openxmlformats.org/officeDocument/2006/relationships/slideMaster" Target="/ppt/slideMasters/slideMaster1.xml" Id="R6d8515e1d1d343da" /><Relationship Type="http://schemas.openxmlformats.org/officeDocument/2006/relationships/notesMaster" Target="/ppt/notesMasters/notesMaster1.xml" Id="R7bcc30e0798a4224" /><Relationship Type="http://schemas.openxmlformats.org/officeDocument/2006/relationships/presProps" Target="/ppt/presProps.xml" Id="R8b926f6e753e415e" /><Relationship Type="http://schemas.openxmlformats.org/officeDocument/2006/relationships/tableStyles" Target="/ppt/tableStyles.xml" Id="Rad2d6090364a4626" /><Relationship Type="http://schemas.openxmlformats.org/officeDocument/2006/relationships/slide" Target="/ppt/slides/slide1.xml" Id="Rba23c98f16664de8" /><Relationship Type="http://schemas.openxmlformats.org/officeDocument/2006/relationships/slide" Target="/ppt/slides/slide2.xml" Id="R9cf07f5dfbc34ba0" /><Relationship Type="http://schemas.openxmlformats.org/officeDocument/2006/relationships/slide" Target="/ppt/slides/slide3.xml" Id="Rdfb04fc517784e46" /><Relationship Type="http://schemas.openxmlformats.org/officeDocument/2006/relationships/slide" Target="/ppt/slides/slide4.xml" Id="Rcc264ab3aa674a93" /><Relationship Type="http://schemas.openxmlformats.org/officeDocument/2006/relationships/slide" Target="/ppt/slides/slide5.xml" Id="R66c87a7380ad4ea5" /><Relationship Type="http://schemas.openxmlformats.org/officeDocument/2006/relationships/slide" Target="/ppt/slides/slide6.xml" Id="Rfead0ccd053447eb" /><Relationship Type="http://schemas.openxmlformats.org/officeDocument/2006/relationships/slide" Target="/ppt/slides/slide7.xml" Id="R4e1c01b4f7ed4f37" /><Relationship Type="http://schemas.openxmlformats.org/officeDocument/2006/relationships/slide" Target="/ppt/slides/slide8.xml" Id="R961b6c1a9d944f00" /><Relationship Type="http://schemas.openxmlformats.org/officeDocument/2006/relationships/slide" Target="/ppt/slides/slide9.xml" Id="R4e570ef0f0304587" /><Relationship Type="http://schemas.openxmlformats.org/officeDocument/2006/relationships/slide" Target="/ppt/slides/slide10.xml" Id="R657b6c5743c44f71" /><Relationship Type="http://schemas.openxmlformats.org/officeDocument/2006/relationships/slide" Target="/ppt/slides/slide11.xml" Id="Ra73dc7846aeb4213" /><Relationship Type="http://schemas.openxmlformats.org/officeDocument/2006/relationships/slide" Target="/ppt/slides/slide12.xml" Id="R520b5c91be154b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7684a97e247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7c4a17b4474ba3" /><Relationship Type="http://schemas.openxmlformats.org/officeDocument/2006/relationships/notesMaster" Target="/ppt/notesMasters/notesMaster1.xml" Id="Re12a5f23de7145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09759d7b434e5d" /><Relationship Type="http://schemas.openxmlformats.org/officeDocument/2006/relationships/notesMaster" Target="/ppt/notesMasters/notesMaster1.xml" Id="Rc23aea8d688c4f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66a237bb0d40f7" /><Relationship Type="http://schemas.openxmlformats.org/officeDocument/2006/relationships/notesMaster" Target="/ppt/notesMasters/notesMaster1.xml" Id="Rfa416870f08444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9b77c2e0e84618" /><Relationship Type="http://schemas.openxmlformats.org/officeDocument/2006/relationships/notesMaster" Target="/ppt/notesMasters/notesMaster1.xml" Id="R8cfc86e7ada346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3ef69bd82e4246" /><Relationship Type="http://schemas.openxmlformats.org/officeDocument/2006/relationships/notesMaster" Target="/ppt/notesMasters/notesMaster1.xml" Id="R4f352c43100243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e6d40831adc4a32" /><Relationship Type="http://schemas.openxmlformats.org/officeDocument/2006/relationships/notesMaster" Target="/ppt/notesMasters/notesMaster1.xml" Id="R9df00712853244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bc343aefc024b5e" /><Relationship Type="http://schemas.openxmlformats.org/officeDocument/2006/relationships/notesMaster" Target="/ppt/notesMasters/notesMaster1.xml" Id="R7dbfb9c201a9426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85e48ad08543ed" /><Relationship Type="http://schemas.openxmlformats.org/officeDocument/2006/relationships/notesMaster" Target="/ppt/notesMasters/notesMaster1.xml" Id="R0d979071463f42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9db138d78040ae" /><Relationship Type="http://schemas.openxmlformats.org/officeDocument/2006/relationships/notesMaster" Target="/ppt/notesMasters/notesMaster1.xml" Id="R3871ab7216ff4a0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54ccdba645c4b2e" /><Relationship Type="http://schemas.openxmlformats.org/officeDocument/2006/relationships/notesMaster" Target="/ppt/notesMasters/notesMaster1.xml" Id="Rd5fd7fc9db9f48a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c30641d5cc4efe" /><Relationship Type="http://schemas.openxmlformats.org/officeDocument/2006/relationships/notesMaster" Target="/ppt/notesMasters/notesMaster1.xml" Id="R27e6da805f70438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032c62f51f4fff" /><Relationship Type="http://schemas.openxmlformats.org/officeDocument/2006/relationships/notesMaster" Target="/ppt/notesMasters/notesMaster1.xml" Id="Ra6a83e526971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이미지\4.png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이미지\5.png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이미지\7.png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이미지\9.png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이미지\11.png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visual reference: C:\Users\Admin\Desktop\ppt예시안 이미지\12.png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4b6ef392149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ae761570024019" /><Relationship Type="http://schemas.openxmlformats.org/officeDocument/2006/relationships/slideLayout" Target="/ppt/slideLayouts/slideLayout1.xml" Id="R2e8c6dd9d6d741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8c6dd9d6d741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896cdccb84c50" /><Relationship Type="http://schemas.openxmlformats.org/officeDocument/2006/relationships/notesSlide" Target="/ppt/notesSlides/notesSlide1.xml" Id="R95f9ce8951e54f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67366f853488f" /><Relationship Type="http://schemas.openxmlformats.org/officeDocument/2006/relationships/notesSlide" Target="/ppt/notesSlides/notesSlide2.xml" Id="R64148c95075b4f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3d277e3f14f6a" /><Relationship Type="http://schemas.openxmlformats.org/officeDocument/2006/relationships/image" Target="/ppt/media/image.png" Id="Rcc29458ffd194166" /><Relationship Type="http://schemas.openxmlformats.org/officeDocument/2006/relationships/notesSlide" Target="/ppt/notesSlides/notesSlide3.xml" Id="R6ec16ddde5f8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a681ecbf54603" /><Relationship Type="http://schemas.openxmlformats.org/officeDocument/2006/relationships/image" Target="/ppt/media/image2.png" Id="Rbce93ac6aba846ea" /><Relationship Type="http://schemas.openxmlformats.org/officeDocument/2006/relationships/notesSlide" Target="/ppt/notesSlides/notesSlide4.xml" Id="R906ce78bce2946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f3bfd142d46a8" /><Relationship Type="http://schemas.openxmlformats.org/officeDocument/2006/relationships/notesSlide" Target="/ppt/notesSlides/notesSlide5.xml" Id="R13b3acc887b649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827b1dce74c5e" /><Relationship Type="http://schemas.openxmlformats.org/officeDocument/2006/relationships/image" Target="/ppt/media/image3.png" Id="R41c2685907704ba5" /><Relationship Type="http://schemas.openxmlformats.org/officeDocument/2006/relationships/notesSlide" Target="/ppt/notesSlides/notesSlide6.xml" Id="R6fd57f1c7bcf44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05fe33a5c4400a" /><Relationship Type="http://schemas.openxmlformats.org/officeDocument/2006/relationships/notesSlide" Target="/ppt/notesSlides/notesSlide7.xml" Id="R2c48d6bda87a43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1ad2bebba4d59" /><Relationship Type="http://schemas.openxmlformats.org/officeDocument/2006/relationships/notesSlide" Target="/ppt/notesSlides/notesSlide8.xml" Id="R11cbe81b127b41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64b42012049fc" /><Relationship Type="http://schemas.openxmlformats.org/officeDocument/2006/relationships/image" Target="/ppt/media/image4.png" Id="Rd26c761309634e62" /><Relationship Type="http://schemas.openxmlformats.org/officeDocument/2006/relationships/notesSlide" Target="/ppt/notesSlides/notesSlide9.xml" Id="R8862513f033849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27a225a134af9" /><Relationship Type="http://schemas.openxmlformats.org/officeDocument/2006/relationships/image" Target="/ppt/media/image5.png" Id="R24a6c5f90ed44c55" /><Relationship Type="http://schemas.openxmlformats.org/officeDocument/2006/relationships/notesSlide" Target="/ppt/notesSlides/notesSlide10.xml" Id="Rb9b74f1ca51043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1983528e44f34" /><Relationship Type="http://schemas.openxmlformats.org/officeDocument/2006/relationships/image" Target="/ppt/media/image6.png" Id="R641154c889424a83" /><Relationship Type="http://schemas.openxmlformats.org/officeDocument/2006/relationships/notesSlide" Target="/ppt/notesSlides/notesSlide11.xml" Id="Rf5ee6cb8702948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a002c9fb14650" /><Relationship Type="http://schemas.openxmlformats.org/officeDocument/2006/relationships/notesSlide" Target="/ppt/notesSlides/notesSlide12.xml" Id="R858029111afa4b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대 외 비   문 서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 관광 데이터 분석 및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50">
                <a:latin typeface="Noto Sans KR"/>
                <a:ea typeface="Noto Sans KR"/>
                <a:cs typeface="Noto Sans KR"/>
              </a:defRPr>
            </a:pPr>
            <a:r>
              <a:rPr sz="4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지원 웹서비스</a:t>
            </a:r>
            <a:r>
              <a:rPr sz="43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2026년 09월 01일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혁신 전략실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수석 전략 기획자 /</a:t>
            </a:r>
          </a:p>
          <a:p xmlns:a="http://schemas.openxmlformats.org/drawingml/2006/main">
            <a:pPr algn="r"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박 서 준 실장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보 고 서  번 호  2 0 2 6 - 0 1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공공 데이터 기반</a:t>
            </a:r>
          </a:p>
          <a:p xmlns:a="http://schemas.openxmlformats.org/drawingml/2006/main">
            <a:pPr algn="l">
              <a:buNone/>
              <a:def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관광 활성화</a:t>
            </a: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관광 데이터 분석 시스템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2026. 09. 01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프로젝트 개요 및 기획 배경</a:t>
            </a: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 서비스 목표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주요 사용자 및 활용 시나리오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핵심 기능 7가지 정의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1" name="toc-0-4-num">
            <a:extLst xmlns:a="http://schemas.openxmlformats.org/drawingml/2006/main">
              <a:ext uri="{FF2B5EF4-FFF2-40B4-BE49-F238E27FC236}">
                <a16:creationId xmlns:a16="http://schemas.microsoft.com/office/drawing/2014/main" id="{3181EE82-187E-4CD5-A105-BFB3A37E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2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D95BDF3D-1B1E-499C-9F49-A67D639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9912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서비스 이용 Flow 및 산출물</a:t>
            </a:r>
          </a:p>
        </p:txBody>
      </p:sp>
      <p:sp>
        <p:nvSpPr>
          <p:cNvPr id="23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10A2117D-21A6-48D9-AFA6-0B6BE52B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4008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차별화 포인트 및 경쟁력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및 AI/ML 모델 구조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주요 화면 구성 및 UI 기획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시스템 아키텍처 및 기술 스택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기대 효과 및 향후 확장 방향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tourism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29458ffd194166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67900" y="28575"/>
            <a:ext cx="5343525" cy="8515350"/>
          </a:xfrm>
          <a:prstGeom xmlns:a="http://schemas.openxmlformats.org/drawingml/2006/main" prst="rect">
            <a:avLst/>
          </a:prstGeom>
        </p:spPr>
      </p:pic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904CB0C-79AE-4B27-9BB7-C6B424D3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19175"/>
            <a:ext cx="24669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S E C T I O N   0 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D9419-1199-4437-8A57-502147C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0970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>
                <a:latin typeface="Noto Sans KR"/>
                <a:ea typeface="Noto Sans KR"/>
                <a:cs typeface="Noto Sans KR"/>
              </a:defRPr>
            </a:pPr>
            <a:r>
              <a:rPr sz="4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프로젝트 개요 및 </a:t>
            </a:r>
            <a:r>
              <a:rPr sz="4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기획 배경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3FA9B5AE-9628-496B-8801-82689AA2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47900"/>
            <a:ext cx="795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72320DF2-2546-43D9-ABF2-F709FF83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28925"/>
            <a:ext cx="80391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관광 데이터의 양적 팽창에도 불구하고 전문 인력 부족으로 실질적인 정책 반영에 한계를 겪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고 있습니다. 지자체는 객관적 근거 기반의 의사결정이 절실한 상황입니다.</a:t>
            </a:r>
          </a:p>
        </p:txBody>
      </p:sp>
      <p:sp>
        <p:nvSpPr>
          <p:cNvPr id="6" name="decision-rail">
            <a:extLst xmlns:a="http://schemas.openxmlformats.org/drawingml/2006/main">
              <a:ext uri="{FF2B5EF4-FFF2-40B4-BE49-F238E27FC236}">
                <a16:creationId xmlns:a16="http://schemas.microsoft.com/office/drawing/2014/main" id="{ADBF1FF9-7C9A-40EE-87A5-965DFB85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</p:sp>
      <p:sp>
        <p:nvSpPr>
          <p:cNvPr id="7" name="decision-title">
            <a:extLst xmlns:a="http://schemas.openxmlformats.org/drawingml/2006/main">
              <a:ext uri="{FF2B5EF4-FFF2-40B4-BE49-F238E27FC236}">
                <a16:creationId xmlns:a16="http://schemas.microsoft.com/office/drawing/2014/main" id="{97D3E6FC-FC58-409A-ACD6-FD20707D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 체계 마련</a:t>
            </a:r>
          </a:p>
        </p:txBody>
      </p:sp>
      <p:sp>
        <p:nvSpPr>
          <p:cNvPr id="8" name="decision-body">
            <a:extLst xmlns:a="http://schemas.openxmlformats.org/drawingml/2006/main">
              <a:ext uri="{FF2B5EF4-FFF2-40B4-BE49-F238E27FC236}">
                <a16:creationId xmlns:a16="http://schemas.microsoft.com/office/drawing/2014/main" id="{CD7CA3DD-3A68-4760-9228-22F4745D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36480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파편화된 공공데이터를 통합하여 지자체 담당자가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즉각 활용 가능한 분석 환경을 구축합니다.</a:t>
            </a:r>
          </a:p>
        </p:txBody>
      </p:sp>
      <p:sp>
        <p:nvSpPr>
          <p:cNvPr id="9" name="activation-rail">
            <a:extLst xmlns:a="http://schemas.openxmlformats.org/drawingml/2006/main">
              <a:ext uri="{FF2B5EF4-FFF2-40B4-BE49-F238E27FC236}">
                <a16:creationId xmlns:a16="http://schemas.microsoft.com/office/drawing/2014/main" id="{4E330694-7E74-4BF4-B47C-AB193BD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895725"/>
            <a:ext cx="0" cy="1000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C1D4"/>
            </a:solidFill>
            <a:prstDash val="solid"/>
          </a:ln>
        </p:spPr>
      </p:sp>
      <p:sp>
        <p:nvSpPr>
          <p:cNvPr id="10" name="activation-title">
            <a:extLst xmlns:a="http://schemas.openxmlformats.org/drawingml/2006/main">
              <a:ext uri="{FF2B5EF4-FFF2-40B4-BE49-F238E27FC236}">
                <a16:creationId xmlns:a16="http://schemas.microsoft.com/office/drawing/2014/main" id="{0F08C0B3-DF25-47C0-865B-03D3C61E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33825"/>
            <a:ext cx="3219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관광 활성화</a:t>
            </a:r>
          </a:p>
        </p:txBody>
      </p:sp>
      <p:sp>
        <p:nvSpPr>
          <p:cNvPr id="11" name="activation-body">
            <a:extLst xmlns:a="http://schemas.openxmlformats.org/drawingml/2006/main">
              <a:ext uri="{FF2B5EF4-FFF2-40B4-BE49-F238E27FC236}">
                <a16:creationId xmlns:a16="http://schemas.microsoft.com/office/drawing/2014/main" id="{DAC8F0FE-7C6E-4D83-8B8A-0152AC74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391025"/>
            <a:ext cx="36957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데이터 공백을 메우고 증거 기반의 정책 수립을 지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원하여 지역 경쟁력을 강화합니다.</a:t>
            </a:r>
          </a:p>
        </p:txBody>
      </p:sp>
      <p:sp>
        <p:nvSpPr>
          <p:cNvPr id="12" name="release-card">
            <a:extLst xmlns:a="http://schemas.openxmlformats.org/drawingml/2006/main">
              <a:ext uri="{FF2B5EF4-FFF2-40B4-BE49-F238E27FC236}">
                <a16:creationId xmlns:a16="http://schemas.microsoft.com/office/drawing/2014/main" id="{D0C3157D-1CB0-44E7-8820-308158D2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elease-card-rail">
            <a:extLst xmlns:a="http://schemas.openxmlformats.org/drawingml/2006/main">
              <a:ext uri="{FF2B5EF4-FFF2-40B4-BE49-F238E27FC236}">
                <a16:creationId xmlns:a16="http://schemas.microsoft.com/office/drawing/2014/main" id="{7FFCCF85-ABBF-4ECB-AFEA-A8B4DA10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</p:sp>
      <p:sp>
        <p:nvSpPr>
          <p:cNvPr id="14" name="release-label">
            <a:extLst xmlns:a="http://schemas.openxmlformats.org/drawingml/2006/main">
              <a:ext uri="{FF2B5EF4-FFF2-40B4-BE49-F238E27FC236}">
                <a16:creationId xmlns:a16="http://schemas.microsoft.com/office/drawing/2014/main" id="{C08F2C4A-858E-436B-9257-34DDC353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배포 예정일</a:t>
            </a:r>
          </a:p>
        </p:txBody>
      </p:sp>
      <p:sp>
        <p:nvSpPr>
          <p:cNvPr id="15" name="release-value">
            <a:extLst xmlns:a="http://schemas.openxmlformats.org/drawingml/2006/main">
              <a:ext uri="{FF2B5EF4-FFF2-40B4-BE49-F238E27FC236}">
                <a16:creationId xmlns:a16="http://schemas.microsoft.com/office/drawing/2014/main" id="{F59B9312-1FAD-461A-B97A-3B6B13BC8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6067425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2026.09</a:t>
            </a:r>
          </a:p>
        </p:txBody>
      </p:sp>
      <p:sp>
        <p:nvSpPr>
          <p:cNvPr id="16" name="release-suffix">
            <a:extLst xmlns:a="http://schemas.openxmlformats.org/drawingml/2006/main">
              <a:ext uri="{FF2B5EF4-FFF2-40B4-BE49-F238E27FC236}">
                <a16:creationId xmlns:a16="http://schemas.microsoft.com/office/drawing/2014/main" id="{D5E69186-DF38-4A66-91A3-04952F44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2103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RELEASE</a:t>
            </a:r>
          </a:p>
        </p:txBody>
      </p:sp>
      <p:sp>
        <p:nvSpPr>
          <p:cNvPr id="17" name="strategy-card">
            <a:extLst xmlns:a="http://schemas.openxmlformats.org/drawingml/2006/main">
              <a:ext uri="{FF2B5EF4-FFF2-40B4-BE49-F238E27FC236}">
                <a16:creationId xmlns:a16="http://schemas.microsoft.com/office/drawing/2014/main" id="{894D211D-54DB-4650-886B-59BDE3CF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385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rategy-card-rail">
            <a:extLst xmlns:a="http://schemas.openxmlformats.org/drawingml/2006/main">
              <a:ext uri="{FF2B5EF4-FFF2-40B4-BE49-F238E27FC236}">
                <a16:creationId xmlns:a16="http://schemas.microsoft.com/office/drawing/2014/main" id="{4BD40E72-A0A4-4F59-BF64-47A1F54E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438775"/>
            <a:ext cx="0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C1D4"/>
            </a:solidFill>
            <a:prstDash val="solid"/>
          </a:ln>
        </p:spPr>
      </p:sp>
      <p:sp>
        <p:nvSpPr>
          <p:cNvPr id="19" name="strategy-label">
            <a:extLst xmlns:a="http://schemas.openxmlformats.org/drawingml/2006/main">
              <a:ext uri="{FF2B5EF4-FFF2-40B4-BE49-F238E27FC236}">
                <a16:creationId xmlns:a16="http://schemas.microsoft.com/office/drawing/2014/main" id="{EA6B80AF-F1D9-4537-B201-BF0C188C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695950"/>
            <a:ext cx="214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주요 전략</a:t>
            </a:r>
          </a:p>
        </p:txBody>
      </p:sp>
      <p:sp>
        <p:nvSpPr>
          <p:cNvPr id="20" name="strategy-value">
            <a:extLst xmlns:a="http://schemas.openxmlformats.org/drawingml/2006/main">
              <a:ext uri="{FF2B5EF4-FFF2-40B4-BE49-F238E27FC236}">
                <a16:creationId xmlns:a16="http://schemas.microsoft.com/office/drawing/2014/main" id="{2065A6CF-D0E9-4B91-B0B1-ACBAD4733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6067425"/>
            <a:ext cx="1666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AI+DATA</a:t>
            </a:r>
          </a:p>
        </p:txBody>
      </p:sp>
      <p:sp>
        <p:nvSpPr>
          <p:cNvPr id="21" name="strategy-suffix">
            <a:extLst xmlns:a="http://schemas.openxmlformats.org/drawingml/2006/main">
              <a:ext uri="{FF2B5EF4-FFF2-40B4-BE49-F238E27FC236}">
                <a16:creationId xmlns:a16="http://schemas.microsoft.com/office/drawing/2014/main" id="{AB8DACC9-57A5-41E3-8464-66C5FAF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21030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INTEGRATED</a:t>
            </a:r>
          </a:p>
        </p:txBody>
      </p:sp>
    </p:spTree>
    <p:extLst>
      <p:ext uri="{BB962C8B-B14F-4D97-AF65-F5344CB8AC3E}">
        <p14:creationId xmlns:p14="http://schemas.microsoft.com/office/powerpoint/2010/main" val="2841378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city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93ac6aba846ea"/>
          <a:srcRect xmlns:a="http://schemas.openxmlformats.org/drawingml/2006/main" l="0" t="68" r="0" b="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9850" y="0"/>
            <a:ext cx="501015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DC140F1E-536A-4372-831D-1A30AB36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828675"/>
            <a:ext cx="3648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P R O B L E M   &amp;   O B J E C T I V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FF0F8E-C488-4FAD-A415-F42CFBAD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33500"/>
            <a:ext cx="847725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문제 정의 및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585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서비스 목표</a:t>
            </a:r>
          </a:p>
        </p:txBody>
      </p:sp>
      <p:sp>
        <p:nvSpPr>
          <p:cNvPr id="4" name="orange-rule">
            <a:extLst xmlns:a="http://schemas.openxmlformats.org/drawingml/2006/main">
              <a:ext uri="{FF2B5EF4-FFF2-40B4-BE49-F238E27FC236}">
                <a16:creationId xmlns:a16="http://schemas.microsoft.com/office/drawing/2014/main" id="{2D060FE0-5960-484C-BB83-BF0F1BA2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962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FF6B00"/>
            </a:solidFill>
            <a:prstDash val="solid"/>
          </a:ln>
        </p:spPr>
      </p:sp>
      <p:sp>
        <p:nvSpPr>
          <p:cNvPr id="5" name="feature-0">
            <a:extLst xmlns:a="http://schemas.openxmlformats.org/drawingml/2006/main">
              <a:ext uri="{FF2B5EF4-FFF2-40B4-BE49-F238E27FC236}">
                <a16:creationId xmlns:a16="http://schemas.microsoft.com/office/drawing/2014/main" id="{8E464197-E4E1-4C93-AF19-23A4A080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수집</a:t>
            </a:r>
          </a:p>
        </p:txBody>
      </p:sp>
      <p:sp>
        <p:nvSpPr>
          <p:cNvPr id="6" name="feature-1">
            <a:extLst xmlns:a="http://schemas.openxmlformats.org/drawingml/2006/main">
              <a:ext uri="{FF2B5EF4-FFF2-40B4-BE49-F238E27FC236}">
                <a16:creationId xmlns:a16="http://schemas.microsoft.com/office/drawing/2014/main" id="{AF717375-2E32-4358-99A8-17418DB6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맞춤 시각화</a:t>
            </a:r>
          </a:p>
        </p:txBody>
      </p:sp>
      <p:sp>
        <p:nvSpPr>
          <p:cNvPr id="7" name="feature-2">
            <a:extLst xmlns:a="http://schemas.openxmlformats.org/drawingml/2006/main">
              <a:ext uri="{FF2B5EF4-FFF2-40B4-BE49-F238E27FC236}">
                <a16:creationId xmlns:a16="http://schemas.microsoft.com/office/drawing/2014/main" id="{52D960B5-2517-4C9F-8BE6-D01A8961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수요 예측</a:t>
            </a:r>
          </a:p>
        </p:txBody>
      </p:sp>
      <p:sp>
        <p:nvSpPr>
          <p:cNvPr id="8" name="feature-3">
            <a:extLst xmlns:a="http://schemas.openxmlformats.org/drawingml/2006/main">
              <a:ext uri="{FF2B5EF4-FFF2-40B4-BE49-F238E27FC236}">
                <a16:creationId xmlns:a16="http://schemas.microsoft.com/office/drawing/2014/main" id="{ADE849E5-4159-49A8-99EB-553C231E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9147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제안</a:t>
            </a:r>
          </a:p>
        </p:txBody>
      </p:sp>
      <p:sp>
        <p:nvSpPr>
          <p:cNvPr id="9" name="feature-4">
            <a:extLst xmlns:a="http://schemas.openxmlformats.org/drawingml/2006/main">
              <a:ext uri="{FF2B5EF4-FFF2-40B4-BE49-F238E27FC236}">
                <a16:creationId xmlns:a16="http://schemas.microsoft.com/office/drawing/2014/main" id="{265D631B-2771-41A2-B29B-BFE3E980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 지원</a:t>
            </a:r>
          </a:p>
        </p:txBody>
      </p:sp>
      <p:sp>
        <p:nvSpPr>
          <p:cNvPr id="10" name="feature-5">
            <a:extLst xmlns:a="http://schemas.openxmlformats.org/drawingml/2006/main">
              <a:ext uri="{FF2B5EF4-FFF2-40B4-BE49-F238E27FC236}">
                <a16:creationId xmlns:a16="http://schemas.microsoft.com/office/drawing/2014/main" id="{526D0119-66A7-4A39-B401-C753A4BF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 가능성</a:t>
            </a:r>
          </a:p>
        </p:txBody>
      </p:sp>
      <p:sp>
        <p:nvSpPr>
          <p:cNvPr id="11" name="feature-6">
            <a:extLst xmlns:a="http://schemas.openxmlformats.org/drawingml/2006/main">
              <a:ext uri="{FF2B5EF4-FFF2-40B4-BE49-F238E27FC236}">
                <a16:creationId xmlns:a16="http://schemas.microsoft.com/office/drawing/2014/main" id="{48F47610-5D77-492F-9124-962720A2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정책 최적화</a:t>
            </a:r>
          </a:p>
        </p:txBody>
      </p:sp>
      <p:sp>
        <p:nvSpPr>
          <p:cNvPr id="12" name="feature-7">
            <a:extLst xmlns:a="http://schemas.openxmlformats.org/drawingml/2006/main">
              <a:ext uri="{FF2B5EF4-FFF2-40B4-BE49-F238E27FC236}">
                <a16:creationId xmlns:a16="http://schemas.microsoft.com/office/drawing/2014/main" id="{225046E9-ABBE-4315-B859-A46FB161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600575"/>
            <a:ext cx="1943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19050" tIns="0" rIns="190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원스톱 체계</a:t>
            </a:r>
          </a:p>
        </p:txBody>
      </p:sp>
      <p:sp>
        <p:nvSpPr>
          <p:cNvPr id="13" name="body-rail">
            <a:extLst xmlns:a="http://schemas.openxmlformats.org/drawingml/2006/main">
              <a:ext uri="{FF2B5EF4-FFF2-40B4-BE49-F238E27FC236}">
                <a16:creationId xmlns:a16="http://schemas.microsoft.com/office/drawing/2014/main" id="{9838C652-F895-4995-B29D-141835A1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43575"/>
            <a:ext cx="0" cy="2057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83E3A806-592E-467F-92DD-8536E848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38825"/>
            <a:ext cx="83629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현재의 관광 데이터 서비스는 단순 통계 수치 조회에 그쳐 실제 정책 수립에 활용하기 어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렵습니다. 본 서비스는 데이터 수집부터 AI 전략 제안을 잇는 원스톱 의사결정 체계를 구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단순 통계를 넘어 머신러닝 기반의 미래 수요를 예측하고, 실무자가 즉시 정책에 반영할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수 있는 구체적이고 실행 가능한 전략적 통찰력을 제공하는 것을 최우선 목표로 합니다.</a:t>
            </a:r>
          </a:p>
        </p:txBody>
      </p:sp>
    </p:spTree>
    <p:extLst>
      <p:ext uri="{BB962C8B-B14F-4D97-AF65-F5344CB8AC3E}">
        <p14:creationId xmlns:p14="http://schemas.microsoft.com/office/powerpoint/2010/main" val="1320722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주요 사용자 및 활용 시나리오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 관광 데이터 분석 및 AI 전략 지원 웹서비스 기획안</a:t>
            </a: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지자체 관광 담당자</a:t>
            </a:r>
          </a:p>
        </p:txBody>
      </p:sp>
      <p:sp>
        <p:nvSpPr>
          <p:cNvPr id="6" name="bank-roof">
            <a:extLst xmlns:a="http://schemas.openxmlformats.org/drawingml/2006/main">
              <a:ext uri="{FF2B5EF4-FFF2-40B4-BE49-F238E27FC236}">
                <a16:creationId xmlns:a16="http://schemas.microsoft.com/office/drawing/2014/main" id="{6C8830F6-3845-41BD-ACE7-C4EE16F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305300"/>
            <a:ext cx="685800" cy="2667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ank-entablature">
            <a:extLst xmlns:a="http://schemas.openxmlformats.org/drawingml/2006/main">
              <a:ext uri="{FF2B5EF4-FFF2-40B4-BE49-F238E27FC236}">
                <a16:creationId xmlns:a16="http://schemas.microsoft.com/office/drawing/2014/main" id="{22361731-9751-4C79-BE2B-76D27E71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552950"/>
            <a:ext cx="6477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ank-column-0">
            <a:extLst xmlns:a="http://schemas.openxmlformats.org/drawingml/2006/main">
              <a:ext uri="{FF2B5EF4-FFF2-40B4-BE49-F238E27FC236}">
                <a16:creationId xmlns:a16="http://schemas.microsoft.com/office/drawing/2014/main" id="{868A702C-5CDA-4CF8-9FB7-18787E77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ank-column-1">
            <a:extLst xmlns:a="http://schemas.openxmlformats.org/drawingml/2006/main">
              <a:ext uri="{FF2B5EF4-FFF2-40B4-BE49-F238E27FC236}">
                <a16:creationId xmlns:a16="http://schemas.microsoft.com/office/drawing/2014/main" id="{50E07DF9-1F3F-4342-BC3E-FCEA01A9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ank-column-2">
            <a:extLst xmlns:a="http://schemas.openxmlformats.org/drawingml/2006/main">
              <a:ext uri="{FF2B5EF4-FFF2-40B4-BE49-F238E27FC236}">
                <a16:creationId xmlns:a16="http://schemas.microsoft.com/office/drawing/2014/main" id="{5FF68BE2-FCB4-4D05-BC1B-61264E6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29150"/>
            <a:ext cx="95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ank-base">
            <a:extLst xmlns:a="http://schemas.openxmlformats.org/drawingml/2006/main">
              <a:ext uri="{FF2B5EF4-FFF2-40B4-BE49-F238E27FC236}">
                <a16:creationId xmlns:a16="http://schemas.microsoft.com/office/drawing/2014/main" id="{AFA7BF87-4EBA-4A3B-85F2-A0BF7B34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010150"/>
            <a:ext cx="704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erson-head-0">
            <a:extLst xmlns:a="http://schemas.openxmlformats.org/drawingml/2006/main">
              <a:ext uri="{FF2B5EF4-FFF2-40B4-BE49-F238E27FC236}">
                <a16:creationId xmlns:a16="http://schemas.microsoft.com/office/drawing/2014/main" id="{C4D1E5F7-41A5-450D-8C04-DE851BB1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erson-body-0">
            <a:extLst xmlns:a="http://schemas.openxmlformats.org/drawingml/2006/main">
              <a:ext uri="{FF2B5EF4-FFF2-40B4-BE49-F238E27FC236}">
                <a16:creationId xmlns:a16="http://schemas.microsoft.com/office/drawing/2014/main" id="{45565331-1EEF-44C8-8693-303D68C1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erson-head-1">
            <a:extLst xmlns:a="http://schemas.openxmlformats.org/drawingml/2006/main">
              <a:ext uri="{FF2B5EF4-FFF2-40B4-BE49-F238E27FC236}">
                <a16:creationId xmlns:a16="http://schemas.microsoft.com/office/drawing/2014/main" id="{A250625F-90E3-4075-8371-3188CE54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erson-body-1">
            <a:extLst xmlns:a="http://schemas.openxmlformats.org/drawingml/2006/main">
              <a:ext uri="{FF2B5EF4-FFF2-40B4-BE49-F238E27FC236}">
                <a16:creationId xmlns:a16="http://schemas.microsoft.com/office/drawing/2014/main" id="{4397DBDC-F8B2-4022-B35A-686B15BC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erson-head-2">
            <a:extLst xmlns:a="http://schemas.openxmlformats.org/drawingml/2006/main">
              <a:ext uri="{FF2B5EF4-FFF2-40B4-BE49-F238E27FC236}">
                <a16:creationId xmlns:a16="http://schemas.microsoft.com/office/drawing/2014/main" id="{8025074B-DFF1-4C48-893F-D68A516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143500"/>
            <a:ext cx="161925" cy="1619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erson-body-2">
            <a:extLst xmlns:a="http://schemas.openxmlformats.org/drawingml/2006/main">
              <a:ext uri="{FF2B5EF4-FFF2-40B4-BE49-F238E27FC236}">
                <a16:creationId xmlns:a16="http://schemas.microsoft.com/office/drawing/2014/main" id="{A9EC7A93-21AC-4A94-A037-BE6FC2A0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314950"/>
            <a:ext cx="276225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기반 신규 관광 상품 기획 및 정책 예산 편성의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객관적 근거 확보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정책 및 예산 수립</a:t>
            </a: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공공 및 유관 기관</a:t>
            </a:r>
          </a:p>
        </p:txBody>
      </p:sp>
      <p:sp>
        <p:nvSpPr>
          <p:cNvPr id="23" name="chart-axis-y">
            <a:extLst xmlns:a="http://schemas.openxmlformats.org/drawingml/2006/main">
              <a:ext uri="{FF2B5EF4-FFF2-40B4-BE49-F238E27FC236}">
                <a16:creationId xmlns:a16="http://schemas.microsoft.com/office/drawing/2014/main" id="{7BC05C05-C81F-412E-89E1-CED1009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2435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4" name="chart-axis-x">
            <a:extLst xmlns:a="http://schemas.openxmlformats.org/drawingml/2006/main">
              <a:ext uri="{FF2B5EF4-FFF2-40B4-BE49-F238E27FC236}">
                <a16:creationId xmlns:a16="http://schemas.microsoft.com/office/drawing/2014/main" id="{61020F3C-97B9-4268-B7BF-7AD67A2E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43475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5" name="chart-line-1">
            <a:extLst xmlns:a="http://schemas.openxmlformats.org/drawingml/2006/main">
              <a:ext uri="{FF2B5EF4-FFF2-40B4-BE49-F238E27FC236}">
                <a16:creationId xmlns:a16="http://schemas.microsoft.com/office/drawing/2014/main" id="{08723FD7-E3D1-4282-9852-0985A2AB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81525"/>
            <a:ext cx="17145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6" name="chart-line-2">
            <a:extLst xmlns:a="http://schemas.openxmlformats.org/drawingml/2006/main">
              <a:ext uri="{FF2B5EF4-FFF2-40B4-BE49-F238E27FC236}">
                <a16:creationId xmlns:a16="http://schemas.microsoft.com/office/drawing/2014/main" id="{230CBE43-A271-4E16-B3C4-DD8E5F64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581525"/>
            <a:ext cx="13335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7" name="chart-line-3">
            <a:extLst xmlns:a="http://schemas.openxmlformats.org/drawingml/2006/main">
              <a:ext uri="{FF2B5EF4-FFF2-40B4-BE49-F238E27FC236}">
                <a16:creationId xmlns:a16="http://schemas.microsoft.com/office/drawing/2014/main" id="{EF6F49E2-474C-4546-81F0-7C2F57CC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48175"/>
            <a:ext cx="20955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004EA2"/>
            </a:solidFill>
            <a:prstDash val="solid"/>
          </a:ln>
        </p:spPr>
      </p:sp>
      <p:sp>
        <p:nvSpPr>
          <p:cNvPr id="28" name="analytics-glyph">
            <a:extLst xmlns:a="http://schemas.openxmlformats.org/drawingml/2006/main">
              <a:ext uri="{FF2B5EF4-FFF2-40B4-BE49-F238E27FC236}">
                <a16:creationId xmlns:a16="http://schemas.microsoft.com/office/drawing/2014/main" id="{92D04C87-C25B-424C-86A1-D812A692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3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100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◔  ▮▮▮  ◉</a:t>
            </a: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지역별 관광 현황 실시간 모니터링 및 핵심 성과 지표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(KPI) 효율적 관리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모니터링 및 KPI 관리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관광 사업자</a:t>
            </a:r>
          </a:p>
        </p:txBody>
      </p:sp>
      <p:sp>
        <p:nvSpPr>
          <p:cNvPr id="34" name="shop-awning">
            <a:extLst xmlns:a="http://schemas.openxmlformats.org/drawingml/2006/main">
              <a:ext uri="{FF2B5EF4-FFF2-40B4-BE49-F238E27FC236}">
                <a16:creationId xmlns:a16="http://schemas.microsoft.com/office/drawing/2014/main" id="{1A230C18-23F0-44B6-BF58-277EF5E6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5775" y="4305300"/>
            <a:ext cx="723900" cy="25717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hop-body">
            <a:extLst xmlns:a="http://schemas.openxmlformats.org/drawingml/2006/main">
              <a:ext uri="{FF2B5EF4-FFF2-40B4-BE49-F238E27FC236}">
                <a16:creationId xmlns:a16="http://schemas.microsoft.com/office/drawing/2014/main" id="{EC9954BC-2837-4E2B-97E1-965BE00B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543425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hop-window">
            <a:extLst xmlns:a="http://schemas.openxmlformats.org/drawingml/2006/main">
              <a:ext uri="{FF2B5EF4-FFF2-40B4-BE49-F238E27FC236}">
                <a16:creationId xmlns:a16="http://schemas.microsoft.com/office/drawing/2014/main" id="{C901F025-7A82-452B-BD47-220A1A9E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67250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hop-door">
            <a:extLst xmlns:a="http://schemas.openxmlformats.org/drawingml/2006/main">
              <a:ext uri="{FF2B5EF4-FFF2-40B4-BE49-F238E27FC236}">
                <a16:creationId xmlns:a16="http://schemas.microsoft.com/office/drawing/2014/main" id="{A3738C6F-C4B4-4BE7-A59B-02A6837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67250"/>
            <a:ext cx="1143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hops-glyph">
            <a:extLst xmlns:a="http://schemas.openxmlformats.org/drawingml/2006/main">
              <a:ext uri="{FF2B5EF4-FFF2-40B4-BE49-F238E27FC236}">
                <a16:creationId xmlns:a16="http://schemas.microsoft.com/office/drawing/2014/main" id="{014F5A1E-6941-41E9-8FA6-F762720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075" y="5143500"/>
            <a:ext cx="128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2025" b="1" i="0">
                <a:solidFill>
                  <a:srgbClr val="00C1D4"/>
                </a:solidFill>
                <a:latin typeface="Segoe UI Symbol"/>
                <a:ea typeface="Segoe UI Symbol"/>
                <a:cs typeface="Segoe UI Symbol"/>
              </a:rPr>
              <a:t>▰  ▦  ♜</a:t>
            </a: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방문객 소비 트렌드 분석을 통한 타깃 마케팅 전략 수</a:t>
            </a:r>
          </a:p>
          <a:p xmlns:a="http://schemas.openxmlformats.org/drawingml/2006/main">
            <a:pPr algn="ctr">
              <a:buNone/>
              <a:def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립 및 서비스 품질 개선 지원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역할: 마케팅 및 서비스 개선</a:t>
            </a:r>
          </a:p>
        </p:txBody>
      </p:sp>
      <p:sp>
        <p:nvSpPr>
          <p:cNvPr id="4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6B55F73-A4FC-4C6B-A6F7-CB473AD9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9057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지역 관광 데이터 분석 및 AI 전략 지원 솔루션</a:t>
            </a:r>
          </a:p>
        </p:txBody>
      </p:sp>
      <p:sp>
        <p:nvSpPr>
          <p:cNvPr id="43" name="footer-dot">
            <a:extLst xmlns:a="http://schemas.openxmlformats.org/drawingml/2006/main">
              <a:ext uri="{FF2B5EF4-FFF2-40B4-BE49-F238E27FC236}">
                <a16:creationId xmlns:a16="http://schemas.microsoft.com/office/drawing/2014/main" id="{2E0AD546-7358-4632-9388-540C799C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79343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6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BDCC740E-CF60-41B1-8EC6-8777B7B9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7839075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AI Data-Driven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c2685907704ba5"/>
          <a:srcRect xmlns:a="http://schemas.openxmlformats.org/drawingml/2006/main" l="0" t="261" r="0" b="2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핵심 기능 7가지 정의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</p:sp>
      <p:sp>
        <p:nvSpPr>
          <p:cNvPr id="4" name="function-row-0">
            <a:extLst xmlns:a="http://schemas.openxmlformats.org/drawingml/2006/main">
              <a:ext uri="{FF2B5EF4-FFF2-40B4-BE49-F238E27FC236}">
                <a16:creationId xmlns:a16="http://schemas.microsoft.com/office/drawing/2014/main" id="{7B6C9409-216D-4533-A16A-BD14C38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5275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function-num-0">
            <a:extLst xmlns:a="http://schemas.openxmlformats.org/drawingml/2006/main">
              <a:ext uri="{FF2B5EF4-FFF2-40B4-BE49-F238E27FC236}">
                <a16:creationId xmlns:a16="http://schemas.microsoft.com/office/drawing/2014/main" id="{59F90C01-6EE1-4308-9E69-1C14CF79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337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function-label-0">
            <a:extLst xmlns:a="http://schemas.openxmlformats.org/drawingml/2006/main">
              <a:ext uri="{FF2B5EF4-FFF2-40B4-BE49-F238E27FC236}">
                <a16:creationId xmlns:a16="http://schemas.microsoft.com/office/drawing/2014/main" id="{59B04FF2-686E-4CDB-97B4-68362BD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1467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 검색 및 선택: 전국 시군구 단위의 간편한 대상지 설정</a:t>
            </a:r>
          </a:p>
        </p:txBody>
      </p:sp>
      <p:sp>
        <p:nvSpPr>
          <p:cNvPr id="7" name="function-row-1">
            <a:extLst xmlns:a="http://schemas.openxmlformats.org/drawingml/2006/main">
              <a:ext uri="{FF2B5EF4-FFF2-40B4-BE49-F238E27FC236}">
                <a16:creationId xmlns:a16="http://schemas.microsoft.com/office/drawing/2014/main" id="{87DC414D-ECE6-4C3C-AC98-7CBE645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81425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function-num-1">
            <a:extLst xmlns:a="http://schemas.openxmlformats.org/drawingml/2006/main">
              <a:ext uri="{FF2B5EF4-FFF2-40B4-BE49-F238E27FC236}">
                <a16:creationId xmlns:a16="http://schemas.microsoft.com/office/drawing/2014/main" id="{B950D475-93ED-4E09-BAAB-70D31FB0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9" name="function-label-1">
            <a:extLst xmlns:a="http://schemas.openxmlformats.org/drawingml/2006/main">
              <a:ext uri="{FF2B5EF4-FFF2-40B4-BE49-F238E27FC236}">
                <a16:creationId xmlns:a16="http://schemas.microsoft.com/office/drawing/2014/main" id="{1CF2D37F-5A3B-472D-9F2D-B4B9DE57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433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관광 데이터 대시보드: 방문객, 소비, SNS 트렌드 시각화</a:t>
            </a:r>
          </a:p>
        </p:txBody>
      </p:sp>
      <p:sp>
        <p:nvSpPr>
          <p:cNvPr id="10" name="function-row-2">
            <a:extLst xmlns:a="http://schemas.openxmlformats.org/drawingml/2006/main">
              <a:ext uri="{FF2B5EF4-FFF2-40B4-BE49-F238E27FC236}">
                <a16:creationId xmlns:a16="http://schemas.microsoft.com/office/drawing/2014/main" id="{7807D172-B241-44ED-A7C7-009E8E14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10100"/>
            <a:ext cx="928687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function-num-2">
            <a:extLst xmlns:a="http://schemas.openxmlformats.org/drawingml/2006/main">
              <a:ext uri="{FF2B5EF4-FFF2-40B4-BE49-F238E27FC236}">
                <a16:creationId xmlns:a16="http://schemas.microsoft.com/office/drawing/2014/main" id="{95CDBEC0-0A20-42D7-9C62-60278FBD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7910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2" name="function-label-2">
            <a:extLst xmlns:a="http://schemas.openxmlformats.org/drawingml/2006/main">
              <a:ext uri="{FF2B5EF4-FFF2-40B4-BE49-F238E27FC236}">
                <a16:creationId xmlns:a16="http://schemas.microsoft.com/office/drawing/2014/main" id="{213C0466-2B03-4917-A50A-089BF27E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772025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지역 특성 분석: SWOT 분석을 포함한 지역별 관광 강약점 도출</a:t>
            </a:r>
          </a:p>
        </p:txBody>
      </p:sp>
      <p:sp>
        <p:nvSpPr>
          <p:cNvPr id="13" name="bottom-band">
            <a:extLst xmlns:a="http://schemas.openxmlformats.org/drawingml/2006/main">
              <a:ext uri="{FF2B5EF4-FFF2-40B4-BE49-F238E27FC236}">
                <a16:creationId xmlns:a16="http://schemas.microsoft.com/office/drawing/2014/main" id="{E6A48815-B570-4052-BC4D-DFB3B932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981700"/>
            <a:ext cx="10439400" cy="259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nalysis-tag">
            <a:extLst xmlns:a="http://schemas.openxmlformats.org/drawingml/2006/main">
              <a:ext uri="{FF2B5EF4-FFF2-40B4-BE49-F238E27FC236}">
                <a16:creationId xmlns:a16="http://schemas.microsoft.com/office/drawing/2014/main" id="{3C07D6D4-F760-4934-9476-D249F16D0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62725"/>
            <a:ext cx="2514600" cy="3619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A I  &amp;  D A T A  A N A L Y S I S</a:t>
            </a:r>
          </a:p>
        </p:txBody>
      </p:sp>
      <p:sp>
        <p:nvSpPr>
          <p:cNvPr id="15" name="function-more-left">
            <a:extLst xmlns:a="http://schemas.openxmlformats.org/drawingml/2006/main">
              <a:ext uri="{FF2B5EF4-FFF2-40B4-BE49-F238E27FC236}">
                <a16:creationId xmlns:a16="http://schemas.microsoft.com/office/drawing/2014/main" id="{DD434EF7-4F27-45E8-9F47-203D7936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7200900"/>
            <a:ext cx="46958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④ 수요 예측: 머신러닝 기반 미래 관광객 수 및 소비 패턴 예측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⑤ AI 전략 리포트: 분석 데이터를 근거로 한 최적의 관광 활성화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방안 제안</a:t>
            </a:r>
          </a:p>
        </p:txBody>
      </p:sp>
      <p:sp>
        <p:nvSpPr>
          <p:cNvPr id="16" name="function-more-right">
            <a:extLst xmlns:a="http://schemas.openxmlformats.org/drawingml/2006/main">
              <a:ext uri="{FF2B5EF4-FFF2-40B4-BE49-F238E27FC236}">
                <a16:creationId xmlns:a16="http://schemas.microsoft.com/office/drawing/2014/main" id="{530C62B0-A84F-4A05-AE1D-6E4EA932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7200900"/>
            <a:ext cx="4857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⑥ AI 챗봇: 선택 지역 데이터에 특화된 실시간 질의응답 기능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⑦ 지도 시각화: 카카오맵 연동을 통한 공간적 관광 밀집도 분석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 E R V I C E   P L A N N I N G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>
                <a:latin typeface="Noto Sans KR"/>
                <a:ea typeface="Noto Sans KR"/>
                <a:cs typeface="Noto Sans KR"/>
              </a:defRPr>
            </a:pPr>
            <a:r>
              <a:rPr sz="39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서비스 이용 </a:t>
            </a:r>
            <a:r>
              <a:rPr sz="3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Flow 및 산출물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지역 선택 및 로딩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사용자 정의 지역 설정 및 데이터랩 기반 맞춤형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데이터셋 자동 큐레이션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대시보드 및 분석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방문객 및 소비 시각화 차트와 데이터 근거 기반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지역별 SWOT 분석 결과 도출을 통한 전략적 통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찰 제공.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수요 예측 및 리포트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시계열 모델 기반 관광 수요 예측 및 AI 해석이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포함된 PDF 전략 보고서 발행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챗봇 전략 활용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RAG 기반 AI 챗봇과의 심층 질의응답을 통한 실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무 정책 반영 및 최종 의사결정을 지원하는 고도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화 프로세스.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지원 웹서비스 핵심 가치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본 웹서비스는 공공 관광 데이터를 인공지능 기술과 결합하여 실질적인 정책 수립을 지원합니다. 데이터 로딩부터 AI 리포트 생성, 챗봇을 통한 정책 질의까지 이어지는 통합 Flow를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통해 지자체의 관광 경쟁력을 극대화합니다. 데이터 기반의 객관적인 분석과 AI의 미래 예측을 통해 의사결정의 정확성을 높이고 지역 경제 활성화를 위한 맞춤형 전략을 제시하는 것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을 목표로 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D I F F E R E N T I A T I O N   &amp;   C O M P E T I T I V E N E S 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75">
                <a:latin typeface="Noto Sans KR"/>
                <a:ea typeface="Noto Sans KR"/>
                <a:cs typeface="Noto Sans KR"/>
              </a:defRPr>
            </a:pPr>
            <a:r>
              <a:rPr sz="4275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차별화 </a:t>
            </a:r>
            <a:r>
              <a:rPr sz="4275" b="0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포인트 및 경쟁력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가치 사슬 구축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단순한 통계 조회를 넘어 AI 모델을 통해 2026년 관광 트렌드 등 미래 수요를 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확히 예측하고 선제적 대응 전략을 제시하여 데이터의 실질적 가치를 창출합니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예측 기반 전략 제안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전국 단위 확장 분석</a:t>
            </a: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528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특정 지역에 국한되지 않는 전국 단위 확장형 분석 프레임워크를 적용하여 광범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위한 데이터 수집 및 비교 분석을 가능하게 합니다.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범용적 분석 모델 적용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148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LLM 및 RAG 결합 기술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최신 LLM과 RAG 기술을 결합하여 단순 수치 나열이 아닌, 데이터 근거에 기반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한 신뢰도 높은 AI 해석 및 맞춤형 정책 리포트를 자동 생성하여 제공합니다.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고신뢰도 AI 정책 리포트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기반 의사결정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791325"/>
            <a:ext cx="5905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복잡한 관광 데이터를 공공 행정에 즉시 활용 가능한 인사이트로 변환하여, 지자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체 및 공공기관의 과학적이고 효율적인 정책 수립을 강력하게 지원합니다.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3609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+ 실효성 있는 정책 지원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553325"/>
            <a:ext cx="13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al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c761309634e62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86875" y="0"/>
            <a:ext cx="595312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T E C H N I C A L   F R A M E W O R K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200">
                <a:latin typeface="Noto Sans KR"/>
                <a:ea typeface="Noto Sans KR"/>
                <a:cs typeface="Noto Sans KR"/>
              </a:defRPr>
            </a:pPr>
            <a:r>
              <a:rPr sz="420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데이터 및 </a:t>
            </a:r>
            <a:r>
              <a: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AI/ML 모델 구조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본 서비스는 한국관광 데이터랩 및 공공데이터 API를 통해 실시간 데이터를 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집하고 전처리하는 통합 파이프라인을 구축합니다.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수요 예측 모델 (PREDICTION)</a:t>
            </a: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LSTM 및 Prophet 시계열 모델과 회귀 모델을 병합 활용하며, MAE와 RMSE 지표를 통해 예측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성능의 정밀도를 검증합니다.</a:t>
            </a: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0" name="rag-title">
            <a:extLst xmlns:a="http://schemas.openxmlformats.org/drawingml/2006/main">
              <a:ext uri="{FF2B5EF4-FFF2-40B4-BE49-F238E27FC236}">
                <a16:creationId xmlns:a16="http://schemas.microsoft.com/office/drawing/2014/main" id="{DA73CCEB-7FB8-4355-B780-B827A43C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95900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AI 전략 생성 (RAG SYSTEM)</a:t>
            </a:r>
          </a:p>
        </p:txBody>
      </p:sp>
      <p:sp>
        <p:nvSpPr>
          <p:cNvPr id="11" name="rag-body">
            <a:extLst xmlns:a="http://schemas.openxmlformats.org/drawingml/2006/main">
              <a:ext uri="{FF2B5EF4-FFF2-40B4-BE49-F238E27FC236}">
                <a16:creationId xmlns:a16="http://schemas.microsoft.com/office/drawing/2014/main" id="{6711E847-5DFC-4F6B-A7AC-E06CC4C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86425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RAG(검색 증강 생성) 기반 LLM을 도입하여 지자체 맞춤형 정밀 보고서를 자동 생성하는 프로세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스를 구현합니다.</a:t>
            </a:r>
          </a:p>
        </p:txBody>
      </p:sp>
      <p:sp>
        <p:nvSpPr>
          <p:cNvPr id="12" name="tech-tag-0">
            <a:extLst xmlns:a="http://schemas.openxmlformats.org/drawingml/2006/main">
              <a:ext uri="{FF2B5EF4-FFF2-40B4-BE49-F238E27FC236}">
                <a16:creationId xmlns:a16="http://schemas.microsoft.com/office/drawing/2014/main" id="{0EA517D9-D4C9-4514-A591-17F06640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6696075"/>
            <a:ext cx="9810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시계열 분석</a:t>
            </a:r>
          </a:p>
        </p:txBody>
      </p:sp>
      <p:sp>
        <p:nvSpPr>
          <p:cNvPr id="13" name="tech-tag-1">
            <a:extLst xmlns:a="http://schemas.openxmlformats.org/drawingml/2006/main">
              <a:ext uri="{FF2B5EF4-FFF2-40B4-BE49-F238E27FC236}">
                <a16:creationId xmlns:a16="http://schemas.microsoft.com/office/drawing/2014/main" id="{F77688F9-DE30-46D6-A085-D71CB775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6696075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RAG 모델</a:t>
            </a:r>
          </a:p>
        </p:txBody>
      </p:sp>
      <p:sp>
        <p:nvSpPr>
          <p:cNvPr id="14" name="tech-tag-2">
            <a:extLst xmlns:a="http://schemas.openxmlformats.org/drawingml/2006/main">
              <a:ext uri="{FF2B5EF4-FFF2-40B4-BE49-F238E27FC236}">
                <a16:creationId xmlns:a16="http://schemas.microsoft.com/office/drawing/2014/main" id="{C3AD8E2A-DDA1-4806-A5B4-1793CD7B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6696075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실시간 파이프라인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island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6c5f90ed44c55"/>
          <a:srcRect xmlns:a="http://schemas.openxmlformats.org/drawingml/2006/main" l="0" t="180" r="0" b="1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77425" y="38100"/>
            <a:ext cx="5334000" cy="8505825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U I / U X   P L A N N I N 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125">
                <a:latin typeface="Noto Sans KR"/>
                <a:ea typeface="Noto Sans KR"/>
                <a:cs typeface="Noto Sans KR"/>
              </a:defRPr>
            </a:pPr>
            <a:r>
              <a:rPr sz="4125" b="0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주요 화면 구성 및 </a:t>
            </a:r>
            <a:r>
              <a:rPr sz="4125" b="0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UI 기획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본 서비스는 사용자 친화적인 인터페이스를 통해 복잡한 데이터를 직관적으로 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달합니다. 각 화면은 공공기관의 의사결정을 지원하기 위해 최적화된 레이아웃을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제공합니다.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메인 및 대시보드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지역 선택 기능과 방문객 수, 소비 현황 등 핵심 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표 위젯을 전면에 배치하여 즉각적인 통찰을 제공합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니다.</a:t>
            </a: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분석 및 예측 화면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다각도 차트와 함께 머신러닝 기반의 미래 관광 수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요 타임라인을 직관적인 UI로 시각화하여 제공합니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AI 리포트 및 챗봇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가독성 높은 전략 텍스트 및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자연어 대화형 인터페이스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지도 서비스 기획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카카오맵 기반 핫플레이스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관광지 클러스터링 시각화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workspace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154c889424a83"/>
          <a:srcRect xmlns:a="http://schemas.openxmlformats.org/drawingml/2006/main" l="122" t="0" r="1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8900" y="0"/>
            <a:ext cx="49911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FF5B46D-ACEF-49E8-88C7-77915515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85775"/>
            <a:ext cx="508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T E C H   S T A C K   &amp;   I N F R A S T R U C T U R 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B07090-CAEC-44A9-A7D5-A693A75B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42975"/>
            <a:ext cx="78200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시스템 아키텍처 및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4800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기술 스택</a:t>
            </a:r>
          </a:p>
        </p:txBody>
      </p:sp>
      <p:sp>
        <p:nvSpPr>
          <p:cNvPr id="4" name="short-rule">
            <a:extLst xmlns:a="http://schemas.openxmlformats.org/drawingml/2006/main">
              <a:ext uri="{FF2B5EF4-FFF2-40B4-BE49-F238E27FC236}">
                <a16:creationId xmlns:a16="http://schemas.microsoft.com/office/drawing/2014/main" id="{12D0EFAC-7234-430A-BD04-4FDB295C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</p:sp>
      <p:sp>
        <p:nvSpPr>
          <p:cNvPr id="5" name="stack-card-0">
            <a:extLst xmlns:a="http://schemas.openxmlformats.org/drawingml/2006/main">
              <a:ext uri="{FF2B5EF4-FFF2-40B4-BE49-F238E27FC236}">
                <a16:creationId xmlns:a16="http://schemas.microsoft.com/office/drawing/2014/main" id="{2102C729-BE5F-47E3-8365-EF21CDFA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ck-card-0-rail">
            <a:extLst xmlns:a="http://schemas.openxmlformats.org/drawingml/2006/main">
              <a:ext uri="{FF2B5EF4-FFF2-40B4-BE49-F238E27FC236}">
                <a16:creationId xmlns:a16="http://schemas.microsoft.com/office/drawing/2014/main" id="{8EE01844-55D3-44CB-B365-3AEEEEE5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7" name="stack-card-0-title">
            <a:extLst xmlns:a="http://schemas.openxmlformats.org/drawingml/2006/main">
              <a:ext uri="{FF2B5EF4-FFF2-40B4-BE49-F238E27FC236}">
                <a16:creationId xmlns:a16="http://schemas.microsoft.com/office/drawing/2014/main" id="{7808BF96-70AB-49FA-926C-173A63D3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Frontend</a:t>
            </a:r>
          </a:p>
        </p:txBody>
      </p:sp>
      <p:sp>
        <p:nvSpPr>
          <p:cNvPr id="8" name="stack-card-0-body">
            <a:extLst xmlns:a="http://schemas.openxmlformats.org/drawingml/2006/main">
              <a:ext uri="{FF2B5EF4-FFF2-40B4-BE49-F238E27FC236}">
                <a16:creationId xmlns:a16="http://schemas.microsoft.com/office/drawing/2014/main" id="{A4AAFC6D-0D25-4652-8333-440E7BB1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React, Vite, Tailwind CSS</a:t>
            </a:r>
          </a:p>
        </p:txBody>
      </p:sp>
      <p:sp>
        <p:nvSpPr>
          <p:cNvPr id="9" name="stack-card-1">
            <a:extLst xmlns:a="http://schemas.openxmlformats.org/drawingml/2006/main">
              <a:ext uri="{FF2B5EF4-FFF2-40B4-BE49-F238E27FC236}">
                <a16:creationId xmlns:a16="http://schemas.microsoft.com/office/drawing/2014/main" id="{410AC1C8-3BB0-4A8C-BCB4-A06F0623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ck-card-1-rail">
            <a:extLst xmlns:a="http://schemas.openxmlformats.org/drawingml/2006/main">
              <a:ext uri="{FF2B5EF4-FFF2-40B4-BE49-F238E27FC236}">
                <a16:creationId xmlns:a16="http://schemas.microsoft.com/office/drawing/2014/main" id="{014B4858-5A6D-4478-9F82-811B7ED9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695700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1" name="stack-card-1-title">
            <a:extLst xmlns:a="http://schemas.openxmlformats.org/drawingml/2006/main">
              <a:ext uri="{FF2B5EF4-FFF2-40B4-BE49-F238E27FC236}">
                <a16:creationId xmlns:a16="http://schemas.microsoft.com/office/drawing/2014/main" id="{178665D7-2663-4824-B5DE-25268DE2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Backend</a:t>
            </a:r>
          </a:p>
        </p:txBody>
      </p:sp>
      <p:sp>
        <p:nvSpPr>
          <p:cNvPr id="12" name="stack-card-1-body">
            <a:extLst xmlns:a="http://schemas.openxmlformats.org/drawingml/2006/main">
              <a:ext uri="{FF2B5EF4-FFF2-40B4-BE49-F238E27FC236}">
                <a16:creationId xmlns:a16="http://schemas.microsoft.com/office/drawing/2014/main" id="{0497E4CD-F2B5-4577-9ABF-8E704CED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22910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Python FastAPI 고성능 서버</a:t>
            </a:r>
          </a:p>
        </p:txBody>
      </p:sp>
      <p:sp>
        <p:nvSpPr>
          <p:cNvPr id="13" name="stack-card-2">
            <a:extLst xmlns:a="http://schemas.openxmlformats.org/drawingml/2006/main">
              <a:ext uri="{FF2B5EF4-FFF2-40B4-BE49-F238E27FC236}">
                <a16:creationId xmlns:a16="http://schemas.microsoft.com/office/drawing/2014/main" id="{CE3ACFDB-E2D2-459A-9122-5176EBF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ck-card-2-rail">
            <a:extLst xmlns:a="http://schemas.openxmlformats.org/drawingml/2006/main">
              <a:ext uri="{FF2B5EF4-FFF2-40B4-BE49-F238E27FC236}">
                <a16:creationId xmlns:a16="http://schemas.microsoft.com/office/drawing/2014/main" id="{3FDAD850-2DC1-4B93-A285-E8CE7CF5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5" name="stack-card-2-title">
            <a:extLst xmlns:a="http://schemas.openxmlformats.org/drawingml/2006/main">
              <a:ext uri="{FF2B5EF4-FFF2-40B4-BE49-F238E27FC236}">
                <a16:creationId xmlns:a16="http://schemas.microsoft.com/office/drawing/2014/main" id="{38972BC2-F123-442A-9015-C3E92D97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ML/AI</a:t>
            </a:r>
          </a:p>
        </p:txBody>
      </p:sp>
      <p:sp>
        <p:nvSpPr>
          <p:cNvPr id="16" name="stack-card-2-body">
            <a:extLst xmlns:a="http://schemas.openxmlformats.org/drawingml/2006/main">
              <a:ext uri="{FF2B5EF4-FFF2-40B4-BE49-F238E27FC236}">
                <a16:creationId xmlns:a16="http://schemas.microsoft.com/office/drawing/2014/main" id="{F99C6C36-12F8-452E-B873-3B444CF1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PyTorch &amp; LangChain LLM</a:t>
            </a:r>
          </a:p>
        </p:txBody>
      </p:sp>
      <p:sp>
        <p:nvSpPr>
          <p:cNvPr id="17" name="stack-card-3">
            <a:extLst xmlns:a="http://schemas.openxmlformats.org/drawingml/2006/main">
              <a:ext uri="{FF2B5EF4-FFF2-40B4-BE49-F238E27FC236}">
                <a16:creationId xmlns:a16="http://schemas.microsoft.com/office/drawing/2014/main" id="{95DB6C61-F240-48D8-AB16-32420821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4057650" cy="847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ck-card-3-rail">
            <a:extLst xmlns:a="http://schemas.openxmlformats.org/drawingml/2006/main">
              <a:ext uri="{FF2B5EF4-FFF2-40B4-BE49-F238E27FC236}">
                <a16:creationId xmlns:a16="http://schemas.microsoft.com/office/drawing/2014/main" id="{D05A99EE-50C0-40DD-AC95-77415EB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733925"/>
            <a:ext cx="0" cy="847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</p:sp>
      <p:sp>
        <p:nvSpPr>
          <p:cNvPr id="19" name="stack-card-3-title">
            <a:extLst xmlns:a="http://schemas.openxmlformats.org/drawingml/2006/main">
              <a:ext uri="{FF2B5EF4-FFF2-40B4-BE49-F238E27FC236}">
                <a16:creationId xmlns:a16="http://schemas.microsoft.com/office/drawing/2014/main" id="{29DB9699-F5CC-443D-A33F-05801FAC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943475"/>
            <a:ext cx="26765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Infrastructure</a:t>
            </a:r>
          </a:p>
        </p:txBody>
      </p:sp>
      <p:sp>
        <p:nvSpPr>
          <p:cNvPr id="20" name="stack-card-3-body">
            <a:extLst xmlns:a="http://schemas.openxmlformats.org/drawingml/2006/main">
              <a:ext uri="{FF2B5EF4-FFF2-40B4-BE49-F238E27FC236}">
                <a16:creationId xmlns:a16="http://schemas.microsoft.com/office/drawing/2014/main" id="{29FAB007-E190-445C-9A17-0D8DD888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267325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AWS EC2, S3, RDS 클라우드</a:t>
            </a:r>
          </a:p>
        </p:txBody>
      </p:sp>
      <p:sp>
        <p:nvSpPr>
          <p:cNvPr id="21" name="body">
            <a:extLst xmlns:a="http://schemas.openxmlformats.org/drawingml/2006/main">
              <a:ext uri="{FF2B5EF4-FFF2-40B4-BE49-F238E27FC236}">
                <a16:creationId xmlns:a16="http://schemas.microsoft.com/office/drawing/2014/main" id="{F18701B2-D261-4FBF-8CF4-9E7DB501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6257925"/>
            <a:ext cx="8134350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본 서비스는 최신 웹 기술과 AI 프레임워크를 결합하여 안정적인 분석 환경을 제공합니다.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Frontend는 React와 Vite, Tailwind CSS를 통해 고성능 반응형 UI를 구현하며, Backend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는 Python FastAPI로 데이터 처리 효율을 극대화합니다. ML/AI 영역에서는 PyTorch 기반의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수요 예측 모델과 LangChain 기반 LLM 오케스트레이션을 통해 지능형 에이전트 기능을 수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행합니다. 전체 인프라는 AWS EC2, S3, RDS를 활용하여 최적화된 클라우드 아키텍처로 설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8191B"/>
                </a:solidFill>
                <a:latin typeface="Noto Sans KR"/>
                <a:ea typeface="Noto Sans KR"/>
                <a:cs typeface="Noto Sans KR"/>
              </a:rPr>
              <a:t>계되었습니다.</a:t>
            </a:r>
          </a:p>
        </p:txBody>
      </p:sp>
    </p:spTree>
    <p:extLst>
      <p:ext uri="{BB962C8B-B14F-4D97-AF65-F5344CB8AC3E}">
        <p14:creationId xmlns:p14="http://schemas.microsoft.com/office/powerpoint/2010/main" val="2770628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4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기대 효과 및 향후 확장 방향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기대 효과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과학적 분석을 통한 정책 실효성 증대 및 불필요한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예산 절감으로 관광 행정 효율성을 극대화합니다.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분석 고도화 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⌁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◔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▦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▤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⚡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1800" b="1" i="0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◎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서비스 확장 및 고도화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295775"/>
            <a:ext cx="36480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실시간 유동인구 연동 및 외국인 관광객 정밀 분석 기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능을 추가하여 글로벌 관광 수요에 기민하게 대응합니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553075"/>
            <a:ext cx="3648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* AI 기반의 예측 모델을 도입하여 향후 관광 트렌드 변화에 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1">
                <a:solidFill>
                  <a:srgbClr val="6E747B"/>
                </a:solidFill>
                <a:latin typeface="Noto Sans KR"/>
                <a:ea typeface="Noto Sans KR"/>
                <a:cs typeface="Noto Sans KR"/>
              </a:rPr>
              <a:t>한 선제적인 의사결정 지원 체계를 구축할 예정입니다.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범위: 글로벌 및 실시간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민간 데이터 융합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카드사, 통신사 등 민간 데이터 결합을 통한 정밀한 지역 상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권 분석 및 개인화된 관광 전략 서비스 제공으로 지역 경제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4F555B"/>
                </a:solidFill>
                <a:latin typeface="Noto Sans KR"/>
                <a:ea typeface="Noto Sans KR"/>
                <a:cs typeface="Noto Sans KR"/>
              </a:rPr>
              <a:t>활성화를 견인합니다.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핵심 목표: 지역 경제 활성화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협력: 민간 데이터 거버넌스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2026-09-02T01:05:34.5500000Z</dcterms:created>
  <dcterms:modified xsi:type="dcterms:W3CDTF">2026-09-02T01:05:34.5500000Z</dcterms:modified>
</coreProperties>
</file>