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3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21356fbdd3c489e" /><Relationship Type="http://schemas.openxmlformats.org/officeDocument/2006/relationships/extended-properties" Target="/docProps/app.xml" Id="Re7585d985a3d451f" /><Relationship Type="http://schemas.openxmlformats.org/officeDocument/2006/relationships/officeDocument" Target="/ppt/presentation.xml" Id="R2be666d4e3b749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bddd01fe21c4b92"/>
  </p:sldMasterIdLst>
  <p:notesMasterIdLst>
    <p:notesMasterId xmlns:r="http://schemas.openxmlformats.org/officeDocument/2006/relationships" r:id="Rad06addb3e604695"/>
  </p:notesMasterIdLst>
  <p:sldIdLst>
    <p:sldId xmlns:r="http://schemas.openxmlformats.org/officeDocument/2006/relationships" id="256" r:id="R813ee9d348274f62"/>
    <p:sldId xmlns:r="http://schemas.openxmlformats.org/officeDocument/2006/relationships" id="257" r:id="Ra9f193516d41418e"/>
    <p:sldId xmlns:r="http://schemas.openxmlformats.org/officeDocument/2006/relationships" id="258" r:id="R7e3bee579e3145b8"/>
    <p:sldId xmlns:r="http://schemas.openxmlformats.org/officeDocument/2006/relationships" id="259" r:id="R0dbe151153474c4b"/>
    <p:sldId xmlns:r="http://schemas.openxmlformats.org/officeDocument/2006/relationships" id="260" r:id="R09b10068d2bf4ada"/>
    <p:sldId xmlns:r="http://schemas.openxmlformats.org/officeDocument/2006/relationships" id="261" r:id="R8e02b3ebedd043ad"/>
    <p:sldId xmlns:r="http://schemas.openxmlformats.org/officeDocument/2006/relationships" id="262" r:id="R6a999828a6eb4583"/>
    <p:sldId xmlns:r="http://schemas.openxmlformats.org/officeDocument/2006/relationships" id="263" r:id="R88c9315bc901465f"/>
    <p:sldId xmlns:r="http://schemas.openxmlformats.org/officeDocument/2006/relationships" id="264" r:id="R27162086005b4e8d"/>
    <p:sldId xmlns:r="http://schemas.openxmlformats.org/officeDocument/2006/relationships" id="265" r:id="R9f33ecbfa3164da1"/>
    <p:sldId xmlns:r="http://schemas.openxmlformats.org/officeDocument/2006/relationships" id="266" r:id="R88b45dde167a43c5"/>
    <p:sldId xmlns:r="http://schemas.openxmlformats.org/officeDocument/2006/relationships" id="267" r:id="R51fe9ce82a7e442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dc56a464d4b43" /><Relationship Type="http://schemas.openxmlformats.org/officeDocument/2006/relationships/slideMaster" Target="/ppt/slideMasters/slideMaster1.xml" Id="R2bddd01fe21c4b92" /><Relationship Type="http://schemas.openxmlformats.org/officeDocument/2006/relationships/notesMaster" Target="/ppt/notesMasters/notesMaster1.xml" Id="Rad06addb3e604695" /><Relationship Type="http://schemas.openxmlformats.org/officeDocument/2006/relationships/presProps" Target="/ppt/presProps.xml" Id="Rab3f603373c34465" /><Relationship Type="http://schemas.openxmlformats.org/officeDocument/2006/relationships/viewProps" Target="/ppt/viewProps.xml" Id="R0cc58551f9574b4c" /><Relationship Type="http://schemas.openxmlformats.org/officeDocument/2006/relationships/tableStyles" Target="/ppt/tableStyles.xml" Id="R46009d1661174049" /><Relationship Type="http://schemas.openxmlformats.org/officeDocument/2006/relationships/slide" Target="/ppt/slides/slide1.xml" Id="R813ee9d348274f62" /><Relationship Type="http://schemas.openxmlformats.org/officeDocument/2006/relationships/slide" Target="/ppt/slides/slide2.xml" Id="Ra9f193516d41418e" /><Relationship Type="http://schemas.openxmlformats.org/officeDocument/2006/relationships/slide" Target="/ppt/slides/slide3.xml" Id="R7e3bee579e3145b8" /><Relationship Type="http://schemas.openxmlformats.org/officeDocument/2006/relationships/slide" Target="/ppt/slides/slide4.xml" Id="R0dbe151153474c4b" /><Relationship Type="http://schemas.openxmlformats.org/officeDocument/2006/relationships/slide" Target="/ppt/slides/slide5.xml" Id="R09b10068d2bf4ada" /><Relationship Type="http://schemas.openxmlformats.org/officeDocument/2006/relationships/slide" Target="/ppt/slides/slide6.xml" Id="R8e02b3ebedd043ad" /><Relationship Type="http://schemas.openxmlformats.org/officeDocument/2006/relationships/slide" Target="/ppt/slides/slide7.xml" Id="R6a999828a6eb4583" /><Relationship Type="http://schemas.openxmlformats.org/officeDocument/2006/relationships/slide" Target="/ppt/slides/slide8.xml" Id="R88c9315bc901465f" /><Relationship Type="http://schemas.openxmlformats.org/officeDocument/2006/relationships/slide" Target="/ppt/slides/slide9.xml" Id="R27162086005b4e8d" /><Relationship Type="http://schemas.openxmlformats.org/officeDocument/2006/relationships/slide" Target="/ppt/slides/slide10.xml" Id="R9f33ecbfa3164da1" /><Relationship Type="http://schemas.openxmlformats.org/officeDocument/2006/relationships/slide" Target="/ppt/slides/slide11.xml" Id="R88b45dde167a43c5" /><Relationship Type="http://schemas.openxmlformats.org/officeDocument/2006/relationships/slide" Target="/ppt/slides/slide12.xml" Id="R51fe9ce82a7e442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78930909e164bc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8d191b8664451e" /><Relationship Type="http://schemas.openxmlformats.org/officeDocument/2006/relationships/notesMaster" Target="/ppt/notesMasters/notesMaster1.xml" Id="R4785c1391de64b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bf21f45206a4265" /><Relationship Type="http://schemas.openxmlformats.org/officeDocument/2006/relationships/notesMaster" Target="/ppt/notesMasters/notesMaster1.xml" Id="Reb1685d8c40948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c89178353e24599" /><Relationship Type="http://schemas.openxmlformats.org/officeDocument/2006/relationships/notesMaster" Target="/ppt/notesMasters/notesMaster1.xml" Id="R7e821c72213843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1abe0fe8464611" /><Relationship Type="http://schemas.openxmlformats.org/officeDocument/2006/relationships/notesMaster" Target="/ppt/notesMasters/notesMaster1.xml" Id="Re412eeecf9754c5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7d5181939bb4ba1" /><Relationship Type="http://schemas.openxmlformats.org/officeDocument/2006/relationships/notesMaster" Target="/ppt/notesMasters/notesMaster1.xml" Id="R63c5ad35e99442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4c2695f97be4727" /><Relationship Type="http://schemas.openxmlformats.org/officeDocument/2006/relationships/notesMaster" Target="/ppt/notesMasters/notesMaster1.xml" Id="R52dec27af1964e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433ef5db06b4f2b" /><Relationship Type="http://schemas.openxmlformats.org/officeDocument/2006/relationships/notesMaster" Target="/ppt/notesMasters/notesMaster1.xml" Id="Re1a1b850520949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6ef70a914a4c1c" /><Relationship Type="http://schemas.openxmlformats.org/officeDocument/2006/relationships/notesMaster" Target="/ppt/notesMasters/notesMaster1.xml" Id="R00016d4823ef4df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41ecfddff9a4248" /><Relationship Type="http://schemas.openxmlformats.org/officeDocument/2006/relationships/notesMaster" Target="/ppt/notesMasters/notesMaster1.xml" Id="Rda92a29aed4f4b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38b3c9f72f4585" /><Relationship Type="http://schemas.openxmlformats.org/officeDocument/2006/relationships/notesMaster" Target="/ppt/notesMasters/notesMaster1.xml" Id="Rc0e9eb28ee20492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b4ff0d064474137" /><Relationship Type="http://schemas.openxmlformats.org/officeDocument/2006/relationships/notesMaster" Target="/ppt/notesMasters/notesMaster1.xml" Id="R9f31c4ccdea547e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561d0b8c6e24a2f" /><Relationship Type="http://schemas.openxmlformats.org/officeDocument/2006/relationships/notesMaster" Target="/ppt/notesMasters/notesMaster1.xml" Id="Rf94299420f144f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2 retained and extended with the revised twelve-slide sequence.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3 retained from the user-approved editable deck.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6 layout reused. Core-plan wording is an illustrative sample based on the current Gangnam half-day-course concept.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4 retained. Forecast and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5 retained. No new actual peer-region fact was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6 retained as the calendar-and-owner implementation guide.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7 retained. Target values remain labeled as educational dummy values.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8 retained. Illustrative budget: 108+60+28+22+14+8=240 million KRW; not a vendor quotation.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9 layout reused and rewritten as a post-pilot continuous operating model.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rules: C:/Users/Admin/mbca/TP2-3/docs/DATA_AND_AI_RULES.md and C:/Users/Admin/mbca/TP2-3/docs/ARCHITECTURE.md. Actual generation must display only the dataset/model/source/AI trace that was used.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 slide 1 layout reused for the close. No external claim introduced.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4a34f376244f0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fb096b087304a1a" /><Relationship Type="http://schemas.openxmlformats.org/officeDocument/2006/relationships/slideLayout" Target="/ppt/slideLayouts/slideLayout1.xml" Id="Rf3f18e80eaf64bc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f18e80eaf64bc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1b225278404388" /><Relationship Type="http://schemas.openxmlformats.org/officeDocument/2006/relationships/notesSlide" Target="/ppt/notesSlides/notesSlide1.xml" Id="Rdcdd66d4d816460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59c115701c41b7" /><Relationship Type="http://schemas.openxmlformats.org/officeDocument/2006/relationships/notesSlide" Target="/ppt/notesSlides/notesSlide2.xml" Id="Re7d28329204c42b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3cc9e5f23843a3" /><Relationship Type="http://schemas.openxmlformats.org/officeDocument/2006/relationships/image" Target="/ppt/media/image.png" Id="R6313da3405ce4bcd" /><Relationship Type="http://schemas.openxmlformats.org/officeDocument/2006/relationships/notesSlide" Target="/ppt/notesSlides/notesSlide3.xml" Id="Rc6edfaf0f5ce4d2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48f076cc84660" /><Relationship Type="http://schemas.openxmlformats.org/officeDocument/2006/relationships/notesSlide" Target="/ppt/notesSlides/notesSlide4.xml" Id="R38fe46c5aeea4e7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bf865681e74121" /><Relationship Type="http://schemas.openxmlformats.org/officeDocument/2006/relationships/chart" Target="/ppt/slides/charts/chart1.xml" Id="R8811502565c9489c" /><Relationship Type="http://schemas.openxmlformats.org/officeDocument/2006/relationships/chart" Target="/ppt/slides/charts/chart2.xml" Id="R3bc69303224948af" /><Relationship Type="http://schemas.openxmlformats.org/officeDocument/2006/relationships/notesSlide" Target="/ppt/notesSlides/notesSlide5.xml" Id="R753040d308304e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f188d9bba48c5" /><Relationship Type="http://schemas.openxmlformats.org/officeDocument/2006/relationships/chart" Target="/ppt/slides/charts/chart3.xml" Id="R793ffa5ac87d4473" /><Relationship Type="http://schemas.openxmlformats.org/officeDocument/2006/relationships/notesSlide" Target="/ppt/notesSlides/notesSlide6.xml" Id="R246a8f37d9794d2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c6b5ca9f7d4d32" /><Relationship Type="http://schemas.openxmlformats.org/officeDocument/2006/relationships/notesSlide" Target="/ppt/notesSlides/notesSlide7.xml" Id="R25d5544850f54f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4e6e2f35a4669" /><Relationship Type="http://schemas.openxmlformats.org/officeDocument/2006/relationships/notesSlide" Target="/ppt/notesSlides/notesSlide8.xml" Id="R6dbff77c551a456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9a92708104a7c" /><Relationship Type="http://schemas.openxmlformats.org/officeDocument/2006/relationships/notesSlide" Target="/ppt/notesSlides/notesSlide9.xml" Id="R205423dece4c4e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34b0f9521b47a3" /><Relationship Type="http://schemas.openxmlformats.org/officeDocument/2006/relationships/notesSlide" Target="/ppt/notesSlides/notesSlide10.xml" Id="Rfb3b36b5e2d846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52ff221cd04bb0" /><Relationship Type="http://schemas.openxmlformats.org/officeDocument/2006/relationships/notesSlide" Target="/ppt/notesSlides/notesSlide11.xml" Id="R707e57f2261b445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f6020ed2fb4872" /><Relationship Type="http://schemas.openxmlformats.org/officeDocument/2006/relationships/notesSlide" Target="/ppt/notesSlides/notesSlide12.xml" Id="Rdf15e0db4c934a0f" /></Relationships>
</file>

<file path=ppt/slides/charts/chart1.xml><?xml version="1.0" encoding="utf-8"?>
<c:chartSpace xmlns:c="http://schemas.openxmlformats.org/drawingml/2006/chart">
  <c:lang val="en-US"/>
  <c:roundedCorners val="1"/>
  <c:style val="2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방문자 수</c:v>
                </c:pt>
              </c:strCache>
            </c:strRef>
          </c:tx>
          <c:spPr>
            <a:ln xmlns:a="http://schemas.openxmlformats.org/drawingml/2006/main" w="19050">
              <a:solidFill>
                <a:srgbClr val="004EA2"/>
              </a:solidFill>
              <a:prstDash val="solid"/>
            </a:ln>
          </c:spPr>
          <c:marker>
            <c:symbol val="circle"/>
            <c:size val="7"/>
            <c:spPr>
              <a:solidFill xmlns:a="http://schemas.openxmlformats.org/drawingml/2006/main">
                <a:srgbClr val="FFFFFF"/>
              </a:solidFill>
            </c:spPr>
          </c:marke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825" b="1">
                    <a:solidFill>
                      <a:srgbClr val="004EA2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26.07</c:v>
                </c:pt>
                <c:pt idx="1">
                  <c:v>9월</c:v>
                </c:pt>
                <c:pt idx="2">
                  <c:v>10월</c:v>
                </c:pt>
                <c:pt idx="3">
                  <c:v>11월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1796.3</c:v>
                </c:pt>
                <c:pt idx="1">
                  <c:v>1815</c:v>
                </c:pt>
                <c:pt idx="2">
                  <c:v>1848</c:v>
                </c:pt>
                <c:pt idx="3">
                  <c:v>1873</c:v>
                </c:pt>
              </c:numCache>
            </c:numRef>
          </c:val>
          <c:smooth val="1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</c:chartSpace>
</file>

<file path=ppt/slides/charts/chart2.xml><?xml version="1.0" encoding="utf-8"?>
<c:chartSpace xmlns:c="http://schemas.openxmlformats.org/drawingml/2006/chart">
  <c:lang val="en-US"/>
  <c:roundedCorners val="1"/>
  <c:style val="2"/>
  <c:chart>
    <c:autoTitleDeleted val="1"/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관광소비액</c:v>
                </c:pt>
              </c:strCache>
            </c:strRef>
          </c:tx>
          <c:spPr>
            <a:solidFill xmlns:a="http://schemas.openxmlformats.org/drawingml/2006/main">
              <a:srgbClr val="00B7C9"/>
            </a:solidFill>
            <a:ln xmlns:a="http://schemas.openxmlformats.org/drawingml/2006/main" w="19050">
              <a:solidFill>
                <a:srgbClr val="00B7C9"/>
              </a:solidFill>
            </a:ln>
          </c:spPr>
          <c:dLbls>
            <c:dLbl>
              <c:idx val="0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txPr>
                <a:bodyPr xmlns:a="http://schemas.openxmlformats.org/drawingml/2006/main" anchorCtr="1"/>
                <a:lstStyle xmlns:a="http://schemas.openxmlformats.org/drawingml/2006/main"/>
                <a:p xmlns:a="http://schemas.openxmlformats.org/drawingml/2006/main">
                  <a:pPr>
                    <a:defRPr sz="1275">
                      <a:solidFill>
                        <a:srgbClr val="004EA2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pPr>
              <a:noFill xmlns:a="http://schemas.openxmlformats.org/drawingml/2006/main"/>
              <a:ln xmlns:a="http://schemas.openxmlformats.org/drawingml/2006/main">
                <a:noFill/>
              </a:ln>
            </c:spPr>
            <c:txPr>
              <a:bodyPr xmlns:a="http://schemas.openxmlformats.org/drawingml/2006/main" anchorCtr="1"/>
              <a:lstStyle xmlns:a="http://schemas.openxmlformats.org/drawingml/2006/main"/>
              <a:p xmlns:a="http://schemas.openxmlformats.org/drawingml/2006/main">
                <a:pPr>
                  <a:defRPr sz="900" b="1">
                    <a:solidFill>
                      <a:srgbClr val="1B1F23"/>
                    </a:solidFill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9월</c:v>
                </c:pt>
                <c:pt idx="1">
                  <c:v>10월</c:v>
                </c:pt>
                <c:pt idx="2">
                  <c:v>11월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4760</c:v>
                </c:pt>
                <c:pt idx="1">
                  <c:v>4910</c:v>
                </c:pt>
                <c:pt idx="2">
                  <c:v>5060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75" b="1">
                  <a:solidFill>
                    <a:srgbClr val="004EA2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72768"/>
        <c:crosses val="autoZero"/>
        <c:lblOffset val="100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5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59636E"/>
                </a:solidFill>
              </a:defRPr>
            </a:pPr>
          </a:p>
        </c:txPr>
        <c:crossAx val="48650112"/>
        <c:crosses val="autoZero"/>
        <c:crossBetween val="between"/>
      </c:valAx>
    </c:plotArea>
    <c:plotVisOnly val="1"/>
  </c:chart>
  <c:spPr>
    <a:solidFill xmlns:a="http://schemas.openxmlformats.org/drawingml/2006/main">
      <a:srgbClr val="FFFFFF"/>
    </a:solidFill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방문 지수</c:v>
          </c:tx>
          <c:spPr>
            <a:solidFill xmlns:a="http://schemas.openxmlformats.org/drawingml/2006/main">
              <a:srgbClr val="004EA2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BFD0E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004EA2"/>
              </a:solidFill>
            </c:spPr>
          </c:dPt>
          <c:cat>
            <c:strLit>
              <c:ptCount val="2"/>
              <c:pt idx="0">
                <c:v>전년</c:v>
              </c:pt>
              <c:pt idx="1">
                <c:v>현재</c:v>
              </c:pt>
            </c:strLit>
          </c:cat>
          <c:val>
            <c:numLit>
              <c:formatCode>General</c:formatCode>
              <c:ptCount val="2"/>
              <c:pt idx="0">
                <c:v>100</c:v>
              </c:pt>
              <c:pt idx="1">
                <c:v>91.7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FFFFFF"/>
                  </a:solidFill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2943225"/>
            <a:ext cx="4048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오프라인 샘플 · Agent 미실행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방문을 지역 소비로 연결하는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4410075"/>
            <a:ext cx="69246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334000"/>
            <a:ext cx="3067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2026년 09월 03일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5514975"/>
            <a:ext cx="4667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 검토용</a:t>
            </a:r>
          </a:p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API 미호출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보고서 출력일 2026-09-03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강남구 관광 활성화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실행안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top-brand">
            <a:extLst xmlns:a="http://schemas.openxmlformats.org/drawingml/2006/main">
              <a:ext uri="{FF2B5EF4-FFF2-40B4-BE49-F238E27FC236}">
                <a16:creationId xmlns:a16="http://schemas.microsoft.com/office/drawing/2014/main" id="{BC511F59-C000-4ABE-8C07-97806516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"/>
            <a:ext cx="523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 관광 전략기획안</a:t>
            </a:r>
          </a:p>
        </p:txBody>
      </p:sp>
      <p:sp>
        <p:nvSpPr>
          <p:cNvPr id="2" name="top-date">
            <a:extLst xmlns:a="http://schemas.openxmlformats.org/drawingml/2006/main">
              <a:ext uri="{FF2B5EF4-FFF2-40B4-BE49-F238E27FC236}">
                <a16:creationId xmlns:a16="http://schemas.microsoft.com/office/drawing/2014/main" id="{B2EA0AA8-9451-4577-B2DB-64FEA4AE4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23850"/>
            <a:ext cx="161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2026. 09. 03</a:t>
            </a:r>
          </a:p>
        </p:txBody>
      </p:sp>
      <p:sp>
        <p:nvSpPr>
          <p:cNvPr id="3" name="top-rule">
            <a:extLst xmlns:a="http://schemas.openxmlformats.org/drawingml/2006/main">
              <a:ext uri="{FF2B5EF4-FFF2-40B4-BE49-F238E27FC236}">
                <a16:creationId xmlns:a16="http://schemas.microsoft.com/office/drawing/2014/main" id="{578AD546-B3C6-4345-964E-CA38D80C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15182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contents-rail">
            <a:extLst xmlns:a="http://schemas.openxmlformats.org/drawingml/2006/main">
              <a:ext uri="{FF2B5EF4-FFF2-40B4-BE49-F238E27FC236}">
                <a16:creationId xmlns:a16="http://schemas.microsoft.com/office/drawing/2014/main" id="{7FA9108D-F5FC-4EF8-882D-8BF062FD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" y="981075"/>
            <a:ext cx="4810125" cy="7591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contents-vertical">
            <a:extLst xmlns:a="http://schemas.openxmlformats.org/drawingml/2006/main">
              <a:ext uri="{FF2B5EF4-FFF2-40B4-BE49-F238E27FC236}">
                <a16:creationId xmlns:a16="http://schemas.microsoft.com/office/drawing/2014/main" id="{8A649E8C-B469-49E6-9B71-2587FA310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400000">
            <a:off x="-866775" y="4162425"/>
            <a:ext cx="6762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91667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defRPr>
            </a:pPr>
            <a:r>
              <a:rPr sz="7500" b="1" i="0">
                <a:solidFill>
                  <a:srgbClr val="2B6CB2"/>
                </a:solidFill>
                <a:latin typeface="Noto Sans KR"/>
                <a:ea typeface="Noto Sans KR"/>
                <a:cs typeface="Noto Sans KR"/>
              </a:rPr>
              <a:t>CONTENTS</a:t>
            </a:r>
          </a:p>
        </p:txBody>
      </p:sp>
      <p:sp>
        <p:nvSpPr>
          <p:cNvPr id="6" name="contents-en">
            <a:extLst xmlns:a="http://schemas.openxmlformats.org/drawingml/2006/main">
              <a:ext uri="{FF2B5EF4-FFF2-40B4-BE49-F238E27FC236}">
                <a16:creationId xmlns:a16="http://schemas.microsoft.com/office/drawing/2014/main" id="{A4545508-3408-4837-8886-DBD8CE26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40195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00C1D4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TABLE OF CONTENTS</a:t>
            </a:r>
          </a:p>
        </p:txBody>
      </p:sp>
      <p:sp>
        <p:nvSpPr>
          <p:cNvPr id="7" name="contents-ko">
            <a:extLst xmlns:a="http://schemas.openxmlformats.org/drawingml/2006/main">
              <a:ext uri="{FF2B5EF4-FFF2-40B4-BE49-F238E27FC236}">
                <a16:creationId xmlns:a16="http://schemas.microsoft.com/office/drawing/2014/main" id="{99A460E5-8765-444E-944E-1A8069ABC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00575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2925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목차 안내</a:t>
            </a:r>
          </a:p>
        </p:txBody>
      </p:sp>
      <p:sp>
        <p:nvSpPr>
          <p:cNvPr id="8" name="contents-orange">
            <a:extLst xmlns:a="http://schemas.openxmlformats.org/drawingml/2006/main">
              <a:ext uri="{FF2B5EF4-FFF2-40B4-BE49-F238E27FC236}">
                <a16:creationId xmlns:a16="http://schemas.microsoft.com/office/drawing/2014/main" id="{D5323B82-A54D-47BA-8350-BCD7E58DB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3816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oc-0-0-num">
            <a:extLst xmlns:a="http://schemas.openxmlformats.org/drawingml/2006/main">
              <a:ext uri="{FF2B5EF4-FFF2-40B4-BE49-F238E27FC236}">
                <a16:creationId xmlns:a16="http://schemas.microsoft.com/office/drawing/2014/main" id="{9A4D7DD5-B7C1-4FE0-B663-1C335B73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10" name="toc-0-0-label">
            <a:extLst xmlns:a="http://schemas.openxmlformats.org/drawingml/2006/main">
              <a:ext uri="{FF2B5EF4-FFF2-40B4-BE49-F238E27FC236}">
                <a16:creationId xmlns:a16="http://schemas.microsoft.com/office/drawing/2014/main" id="{F2F2D109-397D-42C2-AF7E-720371CC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프로젝트 개요</a:t>
            </a:r>
            <a:endParaRPr sz="1500" b="1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1" name="toc-0-0-rule">
            <a:extLst xmlns:a="http://schemas.openxmlformats.org/drawingml/2006/main">
              <a:ext uri="{FF2B5EF4-FFF2-40B4-BE49-F238E27FC236}">
                <a16:creationId xmlns:a16="http://schemas.microsoft.com/office/drawing/2014/main" id="{7A9B4322-D952-4704-8A34-AFE4DB848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toc-0-1-num">
            <a:extLst xmlns:a="http://schemas.openxmlformats.org/drawingml/2006/main">
              <a:ext uri="{FF2B5EF4-FFF2-40B4-BE49-F238E27FC236}">
                <a16:creationId xmlns:a16="http://schemas.microsoft.com/office/drawing/2014/main" id="{BB7EB441-7049-4AEE-B4A6-EB8A8907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toc-0-1-label">
            <a:extLst xmlns:a="http://schemas.openxmlformats.org/drawingml/2006/main">
              <a:ext uri="{FF2B5EF4-FFF2-40B4-BE49-F238E27FC236}">
                <a16:creationId xmlns:a16="http://schemas.microsoft.com/office/drawing/2014/main" id="{A858F0DB-1B50-472E-BCED-A95D8FDF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핵심 기획 실행 모델</a:t>
            </a:r>
          </a:p>
        </p:txBody>
      </p:sp>
      <p:sp>
        <p:nvSpPr>
          <p:cNvPr id="14" name="toc-0-1-rule">
            <a:extLst xmlns:a="http://schemas.openxmlformats.org/drawingml/2006/main">
              <a:ext uri="{FF2B5EF4-FFF2-40B4-BE49-F238E27FC236}">
                <a16:creationId xmlns:a16="http://schemas.microsoft.com/office/drawing/2014/main" id="{8BB674AB-E001-4E54-9B2D-138021E3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toc-0-2-num">
            <a:extLst xmlns:a="http://schemas.openxmlformats.org/drawingml/2006/main">
              <a:ext uri="{FF2B5EF4-FFF2-40B4-BE49-F238E27FC236}">
                <a16:creationId xmlns:a16="http://schemas.microsoft.com/office/drawing/2014/main" id="{2A73ED54-5EB7-481A-AA22-31B5FA783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6" name="toc-0-2-label">
            <a:extLst xmlns:a="http://schemas.openxmlformats.org/drawingml/2006/main">
              <a:ext uri="{FF2B5EF4-FFF2-40B4-BE49-F238E27FC236}">
                <a16:creationId xmlns:a16="http://schemas.microsoft.com/office/drawing/2014/main" id="{49778DA9-2C34-4F19-86EC-61157A1DC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방문자·소비액 ML 전망</a:t>
            </a:r>
          </a:p>
        </p:txBody>
      </p:sp>
      <p:sp>
        <p:nvSpPr>
          <p:cNvPr id="17" name="toc-0-2-rule">
            <a:extLst xmlns:a="http://schemas.openxmlformats.org/drawingml/2006/main">
              <a:ext uri="{FF2B5EF4-FFF2-40B4-BE49-F238E27FC236}">
                <a16:creationId xmlns:a16="http://schemas.microsoft.com/office/drawing/2014/main" id="{1EE5059E-9C45-4D3E-B828-82D1F0982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0-3-num">
            <a:extLst xmlns:a="http://schemas.openxmlformats.org/drawingml/2006/main">
              <a:ext uri="{FF2B5EF4-FFF2-40B4-BE49-F238E27FC236}">
                <a16:creationId xmlns:a16="http://schemas.microsoft.com/office/drawing/2014/main" id="{09D69393-9477-46BB-9754-B38343883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19" name="toc-0-3-label">
            <a:extLst xmlns:a="http://schemas.openxmlformats.org/drawingml/2006/main">
              <a:ext uri="{FF2B5EF4-FFF2-40B4-BE49-F238E27FC236}">
                <a16:creationId xmlns:a16="http://schemas.microsoft.com/office/drawing/2014/main" id="{E1D92E25-FA72-4D2D-83BA-E4E956D73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유사 지역·사례 비교</a:t>
            </a:r>
          </a:p>
        </p:txBody>
      </p:sp>
      <p:sp>
        <p:nvSpPr>
          <p:cNvPr id="20" name="toc-0-3-rule">
            <a:extLst xmlns:a="http://schemas.openxmlformats.org/drawingml/2006/main">
              <a:ext uri="{FF2B5EF4-FFF2-40B4-BE49-F238E27FC236}">
                <a16:creationId xmlns:a16="http://schemas.microsoft.com/office/drawing/2014/main" id="{978F3F46-82E5-4C13-B76B-BB791D143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0960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toc-1-0-num">
            <a:extLst xmlns:a="http://schemas.openxmlformats.org/drawingml/2006/main">
              <a:ext uri="{FF2B5EF4-FFF2-40B4-BE49-F238E27FC236}">
                <a16:creationId xmlns:a16="http://schemas.microsoft.com/office/drawing/2014/main" id="{CF8AF870-2DD7-4DF0-935E-A7B18F51B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0480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06</a:t>
            </a:r>
          </a:p>
        </p:txBody>
      </p:sp>
      <p:sp>
        <p:nvSpPr>
          <p:cNvPr id="25" name="toc-1-0-label">
            <a:extLst xmlns:a="http://schemas.openxmlformats.org/drawingml/2006/main">
              <a:ext uri="{FF2B5EF4-FFF2-40B4-BE49-F238E27FC236}">
                <a16:creationId xmlns:a16="http://schemas.microsoft.com/office/drawing/2014/main" id="{BD4D99A2-3331-4C55-B657-C250B6816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0480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KPI·측정 기준</a:t>
            </a:r>
          </a:p>
        </p:txBody>
      </p:sp>
      <p:sp>
        <p:nvSpPr>
          <p:cNvPr id="26" name="toc-1-0-rule">
            <a:extLst xmlns:a="http://schemas.openxmlformats.org/drawingml/2006/main">
              <a:ext uri="{FF2B5EF4-FFF2-40B4-BE49-F238E27FC236}">
                <a16:creationId xmlns:a16="http://schemas.microsoft.com/office/drawing/2014/main" id="{F1965004-3508-48E4-8EAB-5E1F64F01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6385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toc-1-1-num">
            <a:extLst xmlns:a="http://schemas.openxmlformats.org/drawingml/2006/main">
              <a:ext uri="{FF2B5EF4-FFF2-40B4-BE49-F238E27FC236}">
                <a16:creationId xmlns:a16="http://schemas.microsoft.com/office/drawing/2014/main" id="{F550A570-A5C8-441C-B223-B8C26880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38671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07</a:t>
            </a:r>
          </a:p>
        </p:txBody>
      </p:sp>
      <p:sp>
        <p:nvSpPr>
          <p:cNvPr id="28" name="toc-1-1-label">
            <a:extLst xmlns:a="http://schemas.openxmlformats.org/drawingml/2006/main">
              <a:ext uri="{FF2B5EF4-FFF2-40B4-BE49-F238E27FC236}">
                <a16:creationId xmlns:a16="http://schemas.microsoft.com/office/drawing/2014/main" id="{FF9F868A-CDE5-4A20-B0C5-802AA73C5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671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견적</a:t>
            </a:r>
          </a:p>
        </p:txBody>
      </p:sp>
      <p:sp>
        <p:nvSpPr>
          <p:cNvPr id="29" name="toc-1-1-rule">
            <a:extLst xmlns:a="http://schemas.openxmlformats.org/drawingml/2006/main">
              <a:ext uri="{FF2B5EF4-FFF2-40B4-BE49-F238E27FC236}">
                <a16:creationId xmlns:a16="http://schemas.microsoft.com/office/drawing/2014/main" id="{3DE11471-853F-4C00-8EAD-1C16A596D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45770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toc-1-2-num">
            <a:extLst xmlns:a="http://schemas.openxmlformats.org/drawingml/2006/main">
              <a:ext uri="{FF2B5EF4-FFF2-40B4-BE49-F238E27FC236}">
                <a16:creationId xmlns:a16="http://schemas.microsoft.com/office/drawing/2014/main" id="{30C761BB-7DA1-4AF8-AFF7-38427A28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46863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08</a:t>
            </a:r>
          </a:p>
        </p:txBody>
      </p:sp>
      <p:sp>
        <p:nvSpPr>
          <p:cNvPr id="31" name="toc-1-2-label">
            <a:extLst xmlns:a="http://schemas.openxmlformats.org/drawingml/2006/main">
              <a:ext uri="{FF2B5EF4-FFF2-40B4-BE49-F238E27FC236}">
                <a16:creationId xmlns:a16="http://schemas.microsoft.com/office/drawing/2014/main" id="{9767F6A9-0960-4EE5-8571-54C6805AC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6863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지속 운영 방안</a:t>
            </a:r>
          </a:p>
        </p:txBody>
      </p:sp>
      <p:sp>
        <p:nvSpPr>
          <p:cNvPr id="32" name="toc-1-2-rule">
            <a:extLst xmlns:a="http://schemas.openxmlformats.org/drawingml/2006/main">
              <a:ext uri="{FF2B5EF4-FFF2-40B4-BE49-F238E27FC236}">
                <a16:creationId xmlns:a16="http://schemas.microsoft.com/office/drawing/2014/main" id="{E0A4D40C-2FAB-4908-8300-E58CB3AC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276850"/>
            <a:ext cx="455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toc-0-4-num">
            <a:extLst xmlns:a="http://schemas.openxmlformats.org/drawingml/2006/main">
              <a:ext uri="{FF2B5EF4-FFF2-40B4-BE49-F238E27FC236}">
                <a16:creationId xmlns:a16="http://schemas.microsoft.com/office/drawing/2014/main" id="{02F91E1B-599D-4553-9D03-1D8C841D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05</a:t>
            </a:r>
          </a:p>
        </p:txBody>
      </p:sp>
      <p:sp>
        <p:nvSpPr>
          <p:cNvPr id="41" name="toc-0-4-label">
            <a:extLst xmlns:a="http://schemas.openxmlformats.org/drawingml/2006/main">
              <a:ext uri="{FF2B5EF4-FFF2-40B4-BE49-F238E27FC236}">
                <a16:creationId xmlns:a16="http://schemas.microsoft.com/office/drawing/2014/main" id="{590B7DEF-49B2-4D23-8A8B-1D6A3CF4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4단계 실행 가이드</a:t>
            </a:r>
          </a:p>
        </p:txBody>
      </p:sp>
      <p:sp>
        <p:nvSpPr>
          <p:cNvPr id="42" name="toc-0-4-rule">
            <a:extLst xmlns:a="http://schemas.openxmlformats.org/drawingml/2006/main">
              <a:ext uri="{FF2B5EF4-FFF2-40B4-BE49-F238E27FC236}">
                <a16:creationId xmlns:a16="http://schemas.microsoft.com/office/drawing/2014/main" id="{D7C43C6B-AF9A-4000-B6C1-13664E41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oc-1-3-num">
            <a:extLst xmlns:a="http://schemas.openxmlformats.org/drawingml/2006/main">
              <a:ext uri="{FF2B5EF4-FFF2-40B4-BE49-F238E27FC236}">
                <a16:creationId xmlns:a16="http://schemas.microsoft.com/office/drawing/2014/main" id="{8FE51AF2-0D3C-40D0-8E71-F835BA9F0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550545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09</a:t>
            </a:r>
          </a:p>
        </p:txBody>
      </p:sp>
      <p:sp>
        <p:nvSpPr>
          <p:cNvPr id="44" name="toc-1-3-label">
            <a:extLst xmlns:a="http://schemas.openxmlformats.org/drawingml/2006/main">
              <a:ext uri="{FF2B5EF4-FFF2-40B4-BE49-F238E27FC236}">
                <a16:creationId xmlns:a16="http://schemas.microsoft.com/office/drawing/2014/main" id="{DB285E2A-959A-4748-AAA0-B6A1D4B9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50545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데이터·AI 근거</a:t>
            </a:r>
          </a:p>
        </p:txBody>
      </p:sp>
      <p:sp>
        <p:nvSpPr>
          <p:cNvPr id="45" name="toc-1-3-rule">
            <a:extLst xmlns:a="http://schemas.openxmlformats.org/drawingml/2006/main">
              <a:ext uri="{FF2B5EF4-FFF2-40B4-BE49-F238E27FC236}">
                <a16:creationId xmlns:a16="http://schemas.microsoft.com/office/drawing/2014/main" id="{1FFFDDA2-F09C-40C0-A3EC-C586F4FA4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09600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oc-1-4-num">
            <a:extLst xmlns:a="http://schemas.openxmlformats.org/drawingml/2006/main">
              <a:ext uri="{FF2B5EF4-FFF2-40B4-BE49-F238E27FC236}">
                <a16:creationId xmlns:a16="http://schemas.microsoft.com/office/drawing/2014/main" id="{A5EB5BCF-344D-4D69-9CC1-EBFB2670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324600"/>
            <a:ext cx="476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10</a:t>
            </a:r>
          </a:p>
        </p:txBody>
      </p:sp>
      <p:sp>
        <p:nvSpPr>
          <p:cNvPr id="47" name="toc-1-4-label">
            <a:extLst xmlns:a="http://schemas.openxmlformats.org/drawingml/2006/main">
              <a:ext uri="{FF2B5EF4-FFF2-40B4-BE49-F238E27FC236}">
                <a16:creationId xmlns:a16="http://schemas.microsoft.com/office/drawing/2014/main" id="{C3A13E9F-EE81-45C2-838B-476389EDF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246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38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맺음말</a:t>
            </a:r>
          </a:p>
        </p:txBody>
      </p:sp>
      <p:sp>
        <p:nvSpPr>
          <p:cNvPr id="48" name="toc-1-4-rule">
            <a:extLst xmlns:a="http://schemas.openxmlformats.org/drawingml/2006/main">
              <a:ext uri="{FF2B5EF4-FFF2-40B4-BE49-F238E27FC236}">
                <a16:creationId xmlns:a16="http://schemas.microsoft.com/office/drawing/2014/main" id="{CBA3A83D-9A31-40EB-8EE3-21FC83945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96550" y="6915150"/>
            <a:ext cx="4552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7019267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3" name="visitor-photo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3da3405ce4bcd"/>
          <a:srcRect xmlns:a="http://schemas.openxmlformats.org/drawingml/2006/main" l="347" t="0" r="34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791075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043173D-B090-48BB-AB55-94D36611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866775"/>
            <a:ext cx="9048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관광코스 실행 기획안</a:t>
            </a:r>
            <a:endParaRPr sz="4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7BB0242C-FDEC-4963-ABFB-596DC97C0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2152650"/>
            <a:ext cx="10439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hero-source-bg">
            <a:extLst xmlns:a="http://schemas.openxmlformats.org/drawingml/2006/main">
              <a:ext uri="{FF2B5EF4-FFF2-40B4-BE49-F238E27FC236}">
                <a16:creationId xmlns:a16="http://schemas.microsoft.com/office/drawing/2014/main" id="{CDA4A852-90A1-4F7A-85C3-CC9CF369C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8020050"/>
            <a:ext cx="4333875" cy="342900"/>
          </a:xfrm>
          <a:prstGeom xmlns:a="http://schemas.openxmlformats.org/drawingml/2006/main" prst="roundRect">
            <a:avLst>
              <a:gd name="adj" fmla="val 5556"/>
            </a:avLst>
          </a:prstGeom>
          <a:solidFill xmlns:a="http://schemas.openxmlformats.org/drawingml/2006/main">
            <a:srgbClr val="0B2F5B"/>
          </a:solidFill>
          <a:ln xmlns:a="http://schemas.openxmlformats.org/drawingml/2006/main" w="9525">
            <a:solidFill>
              <a:srgbClr val="0B2F5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hero-source-label">
            <a:extLst xmlns:a="http://schemas.openxmlformats.org/drawingml/2006/main">
              <a:ext uri="{FF2B5EF4-FFF2-40B4-BE49-F238E27FC236}">
                <a16:creationId xmlns:a16="http://schemas.microsoft.com/office/drawing/2014/main" id="{D1920FBE-F92C-4035-AAA5-C13D7F354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8048625"/>
            <a:ext cx="41433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163" b="0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이미지: 첨부 템플릿 시각화 · 공식 장소 사진 아님</a:t>
            </a:r>
          </a:p>
        </p:txBody>
      </p:sp>
      <p:sp>
        <p:nvSpPr>
          <p:cNvPr id="17" name="s3-kicker">
            <a:extLst xmlns:a="http://schemas.openxmlformats.org/drawingml/2006/main">
              <a:ext uri="{FF2B5EF4-FFF2-40B4-BE49-F238E27FC236}">
                <a16:creationId xmlns:a16="http://schemas.microsoft.com/office/drawing/2014/main" id="{947C42A4-61CC-45FE-B37C-6E874EA8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619375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PROJECT CONCEPT</a:t>
            </a:r>
          </a:p>
        </p:txBody>
      </p:sp>
      <p:sp>
        <p:nvSpPr>
          <p:cNvPr id="18" name="s3-thesis">
            <a:extLst xmlns:a="http://schemas.openxmlformats.org/drawingml/2006/main">
              <a:ext uri="{FF2B5EF4-FFF2-40B4-BE49-F238E27FC236}">
                <a16:creationId xmlns:a16="http://schemas.microsoft.com/office/drawing/2014/main" id="{8775F730-FE05-41BC-A601-3D13345E3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2924175"/>
            <a:ext cx="8382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수요를 체류·소비로 잇는</a:t>
            </a:r>
          </a:p>
          <a:p xmlns:a="http://schemas.openxmlformats.org/drawingml/2006/main">
            <a:pPr algn="l">
              <a:buNone/>
              <a:defRPr sz="217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반나절 관광코스를 시범 운영합니다.</a:t>
            </a:r>
            <a:endParaRPr sz="2175" b="1" i="0">
              <a:solidFill>
                <a:srgbClr val="1B1F23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9" name="s3-desc">
            <a:extLst xmlns:a="http://schemas.openxmlformats.org/drawingml/2006/main">
              <a:ext uri="{FF2B5EF4-FFF2-40B4-BE49-F238E27FC236}">
                <a16:creationId xmlns:a16="http://schemas.microsoft.com/office/drawing/2014/main" id="{AFC98867-BACB-480A-8E65-B91D555B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4010025"/>
            <a:ext cx="852487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명소와 참여 상점을 한 동선으로 묶습니다. 코스 이용과 후속 결제 기록을 확인해, 방문이 지역 소비로 이어지는지 검증합니다.</a:t>
            </a:r>
          </a:p>
        </p:txBody>
      </p:sp>
      <p:sp>
        <p:nvSpPr>
          <p:cNvPr id="20" name="s3-metric-1-box">
            <a:extLst xmlns:a="http://schemas.openxmlformats.org/drawingml/2006/main">
              <a:ext uri="{FF2B5EF4-FFF2-40B4-BE49-F238E27FC236}">
                <a16:creationId xmlns:a16="http://schemas.microsoft.com/office/drawing/2014/main" id="{AB14D907-4E4C-4EFD-B69F-3250B75EA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s3-metric-1-label">
            <a:extLst xmlns:a="http://schemas.openxmlformats.org/drawingml/2006/main">
              <a:ext uri="{FF2B5EF4-FFF2-40B4-BE49-F238E27FC236}">
                <a16:creationId xmlns:a16="http://schemas.microsoft.com/office/drawing/2014/main" id="{58F6CA00-84DC-4AE3-87D4-9BBCCFE24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2" name="s3-metric-1-value">
            <a:extLst xmlns:a="http://schemas.openxmlformats.org/drawingml/2006/main">
              <a:ext uri="{FF2B5EF4-FFF2-40B4-BE49-F238E27FC236}">
                <a16:creationId xmlns:a16="http://schemas.microsoft.com/office/drawing/2014/main" id="{6EA07604-98B1-489C-B68A-2B9C997A1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23" name="s3-metric-2-box">
            <a:extLst xmlns:a="http://schemas.openxmlformats.org/drawingml/2006/main">
              <a:ext uri="{FF2B5EF4-FFF2-40B4-BE49-F238E27FC236}">
                <a16:creationId xmlns:a16="http://schemas.microsoft.com/office/drawing/2014/main" id="{8EB3D0E8-ACEF-4043-821E-0A4FD604B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00625"/>
            <a:ext cx="2571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4" name="s3-metric-2-label">
            <a:extLst xmlns:a="http://schemas.openxmlformats.org/drawingml/2006/main">
              <a:ext uri="{FF2B5EF4-FFF2-40B4-BE49-F238E27FC236}">
                <a16:creationId xmlns:a16="http://schemas.microsoft.com/office/drawing/2014/main" id="{76DB9DAA-DBE4-4CE5-BE49-C73F772B8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153025"/>
            <a:ext cx="2228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전년 같은 달 대비 방문 변화</a:t>
            </a:r>
          </a:p>
        </p:txBody>
      </p:sp>
      <p:sp>
        <p:nvSpPr>
          <p:cNvPr id="25" name="s3-metric-2-value">
            <a:extLst xmlns:a="http://schemas.openxmlformats.org/drawingml/2006/main">
              <a:ext uri="{FF2B5EF4-FFF2-40B4-BE49-F238E27FC236}">
                <a16:creationId xmlns:a16="http://schemas.microsoft.com/office/drawing/2014/main" id="{E6DF14E8-8EEE-46E6-9D6C-47360F69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5410200"/>
            <a:ext cx="2228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26" name="s3-metric-3-box">
            <a:extLst xmlns:a="http://schemas.openxmlformats.org/drawingml/2006/main">
              <a:ext uri="{FF2B5EF4-FFF2-40B4-BE49-F238E27FC236}">
                <a16:creationId xmlns:a16="http://schemas.microsoft.com/office/drawing/2014/main" id="{579A3EDD-FC7C-452B-8D03-ED8503E7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5000625"/>
            <a:ext cx="285750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s3-metric-3-label">
            <a:extLst xmlns:a="http://schemas.openxmlformats.org/drawingml/2006/main">
              <a:ext uri="{FF2B5EF4-FFF2-40B4-BE49-F238E27FC236}">
                <a16:creationId xmlns:a16="http://schemas.microsoft.com/office/drawing/2014/main" id="{592B3FE8-5125-489E-8EA2-40DB13592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153025"/>
            <a:ext cx="2514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</a:t>
            </a:r>
          </a:p>
        </p:txBody>
      </p:sp>
      <p:sp>
        <p:nvSpPr>
          <p:cNvPr id="28" name="s3-metric-3-value">
            <a:extLst xmlns:a="http://schemas.openxmlformats.org/drawingml/2006/main">
              <a:ext uri="{FF2B5EF4-FFF2-40B4-BE49-F238E27FC236}">
                <a16:creationId xmlns:a16="http://schemas.microsoft.com/office/drawing/2014/main" id="{527F2D92-C3C7-42DC-A6CF-DB6EF4F4E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58525" y="5410200"/>
            <a:ext cx="2514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1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4,820억 원</a:t>
            </a:r>
          </a:p>
        </p:txBody>
      </p:sp>
      <p:sp>
        <p:nvSpPr>
          <p:cNvPr id="29" name="s3-evidence-box">
            <a:extLst xmlns:a="http://schemas.openxmlformats.org/drawingml/2006/main">
              <a:ext uri="{FF2B5EF4-FFF2-40B4-BE49-F238E27FC236}">
                <a16:creationId xmlns:a16="http://schemas.microsoft.com/office/drawing/2014/main" id="{B7277C91-A0FE-4BAD-B208-BDAF628B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3525" y="6305550"/>
            <a:ext cx="8401050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s3-evidence-title">
            <a:extLst xmlns:a="http://schemas.openxmlformats.org/drawingml/2006/main">
              <a:ext uri="{FF2B5EF4-FFF2-40B4-BE49-F238E27FC236}">
                <a16:creationId xmlns:a16="http://schemas.microsoft.com/office/drawing/2014/main" id="{9AE22B7F-1105-4FF7-85C5-FB4B4D490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505575"/>
            <a:ext cx="542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 기획안을 제안한 이유</a:t>
            </a:r>
          </a:p>
        </p:txBody>
      </p:sp>
      <p:sp>
        <p:nvSpPr>
          <p:cNvPr id="31" name="s3-evidence-body">
            <a:extLst xmlns:a="http://schemas.openxmlformats.org/drawingml/2006/main">
              <a:ext uri="{FF2B5EF4-FFF2-40B4-BE49-F238E27FC236}">
                <a16:creationId xmlns:a16="http://schemas.microsoft.com/office/drawing/2014/main" id="{3F123C44-F1DD-49F8-B8D6-6566CBA9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68770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예시에서는 방문이 전년 같은 달보다 줄었습니다. 신규 집객만 늘리기보다, 이미 방문한 사람이 지역 안에서 더 이용하고 소비할 수 있는 동선을 시험합니다.</a:t>
            </a:r>
          </a:p>
        </p:txBody>
      </p:sp>
    </p:spTree>
    <p:extLst>
      <p:ext uri="{BB962C8B-B14F-4D97-AF65-F5344CB8AC3E}">
        <p14:creationId xmlns:p14="http://schemas.microsoft.com/office/powerpoint/2010/main" val="130888736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409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CORE OPERATING MODEL · SAMPLE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관광객 한 번의 방문을 지역 체류와 소비로 연결합니다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01 · 무엇을 만드나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반나절 추천코스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관광 명소·체험·식음·쇼핑을 3~6시간 동선으로 묶고, 모바일 안내에서 순서·운영시간·혜택을 보여줍니다.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02 · 무엇을 준비하나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조건 확정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시범 권역 1곳과 참여처를 정하고, 혜택·정산 기준, 안전·민원 대응, 데이터 제공 역할을 협약합니다.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03 · 어떻게 운영하나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이용에서 결제까지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선택 → 현장 이용 확인 → 참여 상점 결제 → 조건 충족 혜택 제공 순서로 한 번의 방문을 연결합니다.</a:t>
            </a: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04 · 무엇을 기록하나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성과와 개선점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코스 완료, 후속 결제, 체류시간, 건당 비용과 이용자 의견을 주별로 기록해 다음 회차 운영에 반영합니다.</a:t>
            </a: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최종적으로 남기는 것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가능한 관광코스 · 참여처 지도 · 모바일 안내 · 운영 매뉴얼 · 주간 성과표 · 다음 회차 개선안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13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※ 운영 수량과 혜택은 실제 협약·예산 확정 후 조정합니다.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9965D2B-742B-49AB-AFFC-0141FF200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057275"/>
            <a:ext cx="35337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ML FORECAST · DEMO VALUES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BDAA44-8EBB-4981-B6CE-1EDFB0FD2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428750"/>
            <a:ext cx="12858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2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향후 3개월 방문자·소비액 ML 전망</a:t>
            </a:r>
            <a:endParaRPr sz="35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09610720-202B-4F09-8037-567ABC57A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7334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F4CE408F-7D39-483A-AE7E-5DDC832E7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762250"/>
            <a:ext cx="75723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보고서는 2024년 이후 확보한 월별 원자료로 학습한 저장 ML 전망을 사용합니다. 사업의 추가 효과와 자연추세는 구분합니다.</a:t>
            </a:r>
          </a:p>
        </p:txBody>
      </p:sp>
      <p:sp>
        <p:nvSpPr>
          <p:cNvPr id="6" name="prediction-rail">
            <a:extLst xmlns:a="http://schemas.openxmlformats.org/drawingml/2006/main">
              <a:ext uri="{FF2B5EF4-FFF2-40B4-BE49-F238E27FC236}">
                <a16:creationId xmlns:a16="http://schemas.microsoft.com/office/drawing/2014/main" id="{3CC9773F-81A2-46D4-897F-04FD39417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981450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prediction-title">
            <a:extLst xmlns:a="http://schemas.openxmlformats.org/drawingml/2006/main">
              <a:ext uri="{FF2B5EF4-FFF2-40B4-BE49-F238E27FC236}">
                <a16:creationId xmlns:a16="http://schemas.microsoft.com/office/drawing/2014/main" id="{9D7B9C8E-7531-4597-8395-092405B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43350"/>
            <a:ext cx="723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수: 1,815만 명 → 1,873만 명</a:t>
            </a:r>
            <a:endParaRPr sz="1425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8" name="prediction-body">
            <a:extLst xmlns:a="http://schemas.openxmlformats.org/drawingml/2006/main">
              <a:ext uri="{FF2B5EF4-FFF2-40B4-BE49-F238E27FC236}">
                <a16:creationId xmlns:a16="http://schemas.microsoft.com/office/drawing/2014/main" id="{CD0582B5-403A-4E15-B748-8572E400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410075"/>
            <a:ext cx="428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사업을 하지 않을 때의 자연추세 예시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9" name="rag-rail">
            <a:extLst xmlns:a="http://schemas.openxmlformats.org/drawingml/2006/main">
              <a:ext uri="{FF2B5EF4-FFF2-40B4-BE49-F238E27FC236}">
                <a16:creationId xmlns:a16="http://schemas.microsoft.com/office/drawing/2014/main" id="{59B93260-E909-441F-A152-9596530CE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67325"/>
            <a:ext cx="0" cy="89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forecast-chart-note">
            <a:extLst xmlns:a="http://schemas.openxmlformats.org/drawingml/2006/main">
              <a:ext uri="{FF2B5EF4-FFF2-40B4-BE49-F238E27FC236}">
                <a16:creationId xmlns:a16="http://schemas.microsoft.com/office/drawing/2014/main" id="{9EC9EF53-B27B-48CD-AA6D-1B07121C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5124450"/>
            <a:ext cx="2047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만 명 · 더미값</a:t>
            </a:r>
          </a:p>
        </p:txBody>
      </p:sp>
      <p:sp>
        <p:nvSpPr>
          <p:cNvPr id="20" name="forecast-reading-title">
            <a:extLst xmlns:a="http://schemas.openxmlformats.org/drawingml/2006/main">
              <a:ext uri="{FF2B5EF4-FFF2-40B4-BE49-F238E27FC236}">
                <a16:creationId xmlns:a16="http://schemas.microsoft.com/office/drawing/2014/main" id="{1EED468A-01C8-4F6D-9CB2-67932C292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44291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해석할 때 주의할 점</a:t>
            </a:r>
          </a:p>
        </p:txBody>
      </p:sp>
      <p:sp>
        <p:nvSpPr>
          <p:cNvPr id="21" name="forecast-reading-body">
            <a:extLst xmlns:a="http://schemas.openxmlformats.org/drawingml/2006/main">
              <a:ext uri="{FF2B5EF4-FFF2-40B4-BE49-F238E27FC236}">
                <a16:creationId xmlns:a16="http://schemas.microsoft.com/office/drawing/2014/main" id="{5DB356FE-1E33-4CFE-92F2-A52EB3A64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619750"/>
            <a:ext cx="421005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예측 증가분은 사업 효과가 아닙니다.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운영 기록과 비교해 추가 변화를 봅니다.</a:t>
            </a:r>
          </a:p>
        </p:txBody>
      </p:sp>
      <p:graphicFrame>
        <p:nvGraphicFramePr>
          <p:cNvPr id="40" name="Chart"/>
          <p:cNvGraphicFramePr/>
          <p:nvPr/>
        </p:nvGraphicFramePr>
        <p:xfrm>
          <a:off xmlns:a="http://schemas.openxmlformats.org/drawingml/2006/main" x="1009650" y="6229350"/>
          <a:ext xmlns:a="http://schemas.openxmlformats.org/drawingml/2006/main" cx="7524750" cy="1524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11502565c9489c"/>
          </a:graphicData>
        </a:graphic>
      </p:graphicFrame>
      <p:sp>
        <p:nvSpPr>
          <p:cNvPr id="23" name="consumption-kicker">
            <a:extLst xmlns:a="http://schemas.openxmlformats.org/drawingml/2006/main">
              <a:ext uri="{FF2B5EF4-FFF2-40B4-BE49-F238E27FC236}">
                <a16:creationId xmlns:a16="http://schemas.microsoft.com/office/drawing/2014/main" id="{FCD36470-B9D8-4ADA-BEDF-FCC2196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0099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TOURISM SPENDING FORECAST</a:t>
            </a:r>
          </a:p>
        </p:txBody>
      </p:sp>
      <p:sp>
        <p:nvSpPr>
          <p:cNvPr id="24" name="consumption-title">
            <a:extLst xmlns:a="http://schemas.openxmlformats.org/drawingml/2006/main">
              <a:ext uri="{FF2B5EF4-FFF2-40B4-BE49-F238E27FC236}">
                <a16:creationId xmlns:a16="http://schemas.microsoft.com/office/drawing/2014/main" id="{5B3B3740-826D-4442-BB95-F7F23091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324225"/>
            <a:ext cx="476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관광소비액: 4,760억 원</a:t>
            </a:r>
          </a:p>
        </p:txBody>
      </p:sp>
      <p:graphicFrame>
        <p:nvGraphicFramePr>
          <p:cNvPr id="43" name="Chart"/>
          <p:cNvGraphicFramePr/>
          <p:nvPr/>
        </p:nvGraphicFramePr>
        <p:xfrm>
          <a:off xmlns:a="http://schemas.openxmlformats.org/drawingml/2006/main" x="9486900" y="3905250"/>
          <a:ext xmlns:a="http://schemas.openxmlformats.org/drawingml/2006/main" cx="4476750" cy="2333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bc69303224948af"/>
          </a:graphicData>
        </a:graphic>
      </p:graphicFrame>
      <p:sp>
        <p:nvSpPr>
          <p:cNvPr id="26" name="consumption-note">
            <a:extLst xmlns:a="http://schemas.openxmlformats.org/drawingml/2006/main">
              <a:ext uri="{FF2B5EF4-FFF2-40B4-BE49-F238E27FC236}">
                <a16:creationId xmlns:a16="http://schemas.microsoft.com/office/drawing/2014/main" id="{6CA0B01A-B738-454D-A615-D2A73D4F4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6505575"/>
            <a:ext cx="42862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단위: 억 원 · 교육용 더미값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생성 시 저장 ML 전망으로 대체</a:t>
            </a:r>
          </a:p>
          <a:p xmlns:a="http://schemas.openxmlformats.org/drawingml/2006/main">
            <a:pPr algn="l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사업 성과는 별도 비교로 판단합니다.</a:t>
            </a:r>
          </a:p>
        </p:txBody>
      </p:sp>
    </p:spTree>
    <p:extLst>
      <p:ext uri="{BB962C8B-B14F-4D97-AF65-F5344CB8AC3E}">
        <p14:creationId xmlns:p14="http://schemas.microsoft.com/office/powerpoint/2010/main" val="1767458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PEER COMPARISON · APPLY WITH EVIDENCE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유사 지역·사례로 검토하는 강남구 적용 논리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587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현재 방문 흐름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예시의 전년 동월 대비 방문 변화입니다.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방문 규모와 지역 내 소비 연결을 함께 확인합니다.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0577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첨부 샘플 수치 · 실제 비교 자료 아님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57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같은 기준으로 지역 비교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495800"/>
            <a:ext cx="5953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유사 지역의 수치뿐 아니라 운영 비용·참여처·동선을 비교해 강남구에 옮길 수 있는 요소를 고릅니다.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577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샘플에서는 타 지역 우열을 단정하지 않음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577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사례의 작동 방식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사례의 행사명보다 참여 구조·혜택 지급·정산 방식을 봅니다. 운영 근거가 확인된 요소만 가져옵니다.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성과 수치와 현장 조건을 함께 확인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강남구에서 검증할 방식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924675"/>
            <a:ext cx="5953125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작은 권역에서 안내·이용·결제를 연결합니다. 이탈 구간과 비용을 기록해 다음 운영안을 결정합니다.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6866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13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 권역에서 시범 → 검증 후 확대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6866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8" name="peer-visit-label">
            <a:extLst xmlns:a="http://schemas.openxmlformats.org/drawingml/2006/main">
              <a:ext uri="{FF2B5EF4-FFF2-40B4-BE49-F238E27FC236}">
                <a16:creationId xmlns:a16="http://schemas.microsoft.com/office/drawing/2014/main" id="{A0522FF0-3328-448E-91F3-FBDC6FCC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 방문자 수</a:t>
            </a:r>
          </a:p>
        </p:txBody>
      </p:sp>
      <p:sp>
        <p:nvSpPr>
          <p:cNvPr id="29" name="peer-visit-value">
            <a:extLst xmlns:a="http://schemas.openxmlformats.org/drawingml/2006/main">
              <a:ext uri="{FF2B5EF4-FFF2-40B4-BE49-F238E27FC236}">
                <a16:creationId xmlns:a16="http://schemas.microsoft.com/office/drawing/2014/main" id="{1A5BC1B9-5C74-4F53-8138-A2CD3D78B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19525"/>
            <a:ext cx="247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1,796만 명</a:t>
            </a:r>
          </a:p>
        </p:txBody>
      </p:sp>
      <p:sp>
        <p:nvSpPr>
          <p:cNvPr id="30" name="peer-visit-index">
            <a:extLst xmlns:a="http://schemas.openxmlformats.org/drawingml/2006/main">
              <a:ext uri="{FF2B5EF4-FFF2-40B4-BE49-F238E27FC236}">
                <a16:creationId xmlns:a16="http://schemas.microsoft.com/office/drawing/2014/main" id="{00528A64-C003-44FB-BF9E-0E37119F1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333750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전년 같은 달 = 100</a:t>
            </a:r>
          </a:p>
        </p:txBody>
      </p:sp>
      <p:sp>
        <p:nvSpPr>
          <p:cNvPr id="35" name="peer-visit-delta">
            <a:extLst xmlns:a="http://schemas.openxmlformats.org/drawingml/2006/main">
              <a:ext uri="{FF2B5EF4-FFF2-40B4-BE49-F238E27FC236}">
                <a16:creationId xmlns:a16="http://schemas.microsoft.com/office/drawing/2014/main" id="{F7AE130C-2B73-4C32-BF6B-F05184419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305300"/>
            <a:ext cx="276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약 8% 감소</a:t>
            </a:r>
          </a:p>
        </p:txBody>
      </p:sp>
      <p:sp>
        <p:nvSpPr>
          <p:cNvPr id="36" name="peer-stay-title">
            <a:extLst xmlns:a="http://schemas.openxmlformats.org/drawingml/2006/main">
              <a:ext uri="{FF2B5EF4-FFF2-40B4-BE49-F238E27FC236}">
                <a16:creationId xmlns:a16="http://schemas.microsoft.com/office/drawing/2014/main" id="{999CD307-FF95-4C92-BB7B-7D92D1862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48050"/>
            <a:ext cx="59531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비교 대상을 고를 세 가지 기준</a:t>
            </a:r>
          </a:p>
        </p:txBody>
      </p:sp>
      <p:sp>
        <p:nvSpPr>
          <p:cNvPr id="39" name="peer-stay-gangnam-value">
            <a:extLst xmlns:a="http://schemas.openxmlformats.org/drawingml/2006/main">
              <a:ext uri="{FF2B5EF4-FFF2-40B4-BE49-F238E27FC236}">
                <a16:creationId xmlns:a16="http://schemas.microsoft.com/office/drawing/2014/main" id="{B752C66F-3AB0-4D5B-8262-9772C2310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829050"/>
            <a:ext cx="5953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방문 규모   ·   체류·소비   ·   운영 여건</a:t>
            </a:r>
          </a:p>
        </p:txBody>
      </p:sp>
      <p:sp>
        <p:nvSpPr>
          <p:cNvPr id="43" name="peer-stay-gap">
            <a:extLst xmlns:a="http://schemas.openxmlformats.org/drawingml/2006/main">
              <a:ext uri="{FF2B5EF4-FFF2-40B4-BE49-F238E27FC236}">
                <a16:creationId xmlns:a16="http://schemas.microsoft.com/office/drawing/2014/main" id="{674B2675-AD04-4584-9AD0-C3D377164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0050"/>
            <a:ext cx="5953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기간 · 같은 정의를 먼저 맞춥니다.</a:t>
            </a:r>
          </a:p>
        </p:txBody>
      </p:sp>
      <p:sp>
        <p:nvSpPr>
          <p:cNvPr id="45" name="peer-case-program-box">
            <a:extLst xmlns:a="http://schemas.openxmlformats.org/drawingml/2006/main">
              <a:ext uri="{FF2B5EF4-FFF2-40B4-BE49-F238E27FC236}">
                <a16:creationId xmlns:a16="http://schemas.microsoft.com/office/drawing/2014/main" id="{D29F5E93-8A48-4477-AE53-AB44974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6" name="peer-case-program-label">
            <a:extLst xmlns:a="http://schemas.openxmlformats.org/drawingml/2006/main">
              <a:ext uri="{FF2B5EF4-FFF2-40B4-BE49-F238E27FC236}">
                <a16:creationId xmlns:a16="http://schemas.microsoft.com/office/drawing/2014/main" id="{FCB1E8F3-1953-4399-BCD2-F7618ABA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체험 콘텐츠</a:t>
            </a:r>
          </a:p>
        </p:txBody>
      </p:sp>
      <p:sp>
        <p:nvSpPr>
          <p:cNvPr id="47" name="peer-case-arrow1">
            <a:extLst xmlns:a="http://schemas.openxmlformats.org/drawingml/2006/main">
              <a:ext uri="{FF2B5EF4-FFF2-40B4-BE49-F238E27FC236}">
                <a16:creationId xmlns:a16="http://schemas.microsoft.com/office/drawing/2014/main" id="{D7C53076-95ED-4224-AD03-80EAF1C2E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84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48" name="peer-case-walk-box">
            <a:extLst xmlns:a="http://schemas.openxmlformats.org/drawingml/2006/main">
              <a:ext uri="{FF2B5EF4-FFF2-40B4-BE49-F238E27FC236}">
                <a16:creationId xmlns:a16="http://schemas.microsoft.com/office/drawing/2014/main" id="{D21F321C-55CF-47DA-83C0-2454766FD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9" name="peer-case-walk-label">
            <a:extLst xmlns:a="http://schemas.openxmlformats.org/drawingml/2006/main">
              <a:ext uri="{FF2B5EF4-FFF2-40B4-BE49-F238E27FC236}">
                <a16:creationId xmlns:a16="http://schemas.microsoft.com/office/drawing/2014/main" id="{4A5EE3BA-AB46-42D4-BD1E-2A45E88E6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이동 동선</a:t>
            </a:r>
          </a:p>
        </p:txBody>
      </p:sp>
      <p:sp>
        <p:nvSpPr>
          <p:cNvPr id="50" name="peer-case-arrow2">
            <a:extLst xmlns:a="http://schemas.openxmlformats.org/drawingml/2006/main">
              <a:ext uri="{FF2B5EF4-FFF2-40B4-BE49-F238E27FC236}">
                <a16:creationId xmlns:a16="http://schemas.microsoft.com/office/drawing/2014/main" id="{F5515124-65E5-4FB7-9CB1-E8C62FD48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peer-case-spend-box">
            <a:extLst xmlns:a="http://schemas.openxmlformats.org/drawingml/2006/main">
              <a:ext uri="{FF2B5EF4-FFF2-40B4-BE49-F238E27FC236}">
                <a16:creationId xmlns:a16="http://schemas.microsoft.com/office/drawing/2014/main" id="{FAF56F1E-DD15-4F74-9790-432BE35E3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6181725"/>
            <a:ext cx="1666875" cy="5143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peer-case-spend-label">
            <a:extLst xmlns:a="http://schemas.openxmlformats.org/drawingml/2006/main">
              <a:ext uri="{FF2B5EF4-FFF2-40B4-BE49-F238E27FC236}">
                <a16:creationId xmlns:a16="http://schemas.microsoft.com/office/drawing/2014/main" id="{93F13B79-4114-460E-AE2B-BEE1138FD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상권 이용</a:t>
            </a:r>
          </a:p>
        </p:txBody>
      </p:sp>
      <p:sp>
        <p:nvSpPr>
          <p:cNvPr id="54" name="peer-pilot-reserve-box">
            <a:extLst xmlns:a="http://schemas.openxmlformats.org/drawingml/2006/main">
              <a:ext uri="{FF2B5EF4-FFF2-40B4-BE49-F238E27FC236}">
                <a16:creationId xmlns:a16="http://schemas.microsoft.com/office/drawing/2014/main" id="{9846D74D-D959-4EF7-B2F3-19D4EC622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5" name="peer-pilot-reserve-label">
            <a:extLst xmlns:a="http://schemas.openxmlformats.org/drawingml/2006/main">
              <a:ext uri="{FF2B5EF4-FFF2-40B4-BE49-F238E27FC236}">
                <a16:creationId xmlns:a16="http://schemas.microsoft.com/office/drawing/2014/main" id="{51919EB4-CC9F-431C-AE74-4E0011FD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코스 안내</a:t>
            </a:r>
          </a:p>
        </p:txBody>
      </p:sp>
      <p:sp>
        <p:nvSpPr>
          <p:cNvPr id="56" name="peer-pilot-arrow1">
            <a:extLst xmlns:a="http://schemas.openxmlformats.org/drawingml/2006/main">
              <a:ext uri="{FF2B5EF4-FFF2-40B4-BE49-F238E27FC236}">
                <a16:creationId xmlns:a16="http://schemas.microsoft.com/office/drawing/2014/main" id="{99EF7212-9B9C-444B-9C33-A1348B483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7" name="peer-pilot-use-box">
            <a:extLst xmlns:a="http://schemas.openxmlformats.org/drawingml/2006/main">
              <a:ext uri="{FF2B5EF4-FFF2-40B4-BE49-F238E27FC236}">
                <a16:creationId xmlns:a16="http://schemas.microsoft.com/office/drawing/2014/main" id="{962AFB49-71D9-4D2B-A11E-D0FB5145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peer-pilot-use-label">
            <a:extLst xmlns:a="http://schemas.openxmlformats.org/drawingml/2006/main">
              <a:ext uri="{FF2B5EF4-FFF2-40B4-BE49-F238E27FC236}">
                <a16:creationId xmlns:a16="http://schemas.microsoft.com/office/drawing/2014/main" id="{24F9BB10-042C-4D0A-AFB9-4530EDB26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이용 확인</a:t>
            </a:r>
          </a:p>
        </p:txBody>
      </p:sp>
      <p:sp>
        <p:nvSpPr>
          <p:cNvPr id="59" name="peer-pilot-arrow2">
            <a:extLst xmlns:a="http://schemas.openxmlformats.org/drawingml/2006/main">
              <a:ext uri="{FF2B5EF4-FFF2-40B4-BE49-F238E27FC236}">
                <a16:creationId xmlns:a16="http://schemas.microsoft.com/office/drawing/2014/main" id="{B94864D0-667C-42D0-89BA-BC2100C20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68125" y="6276975"/>
            <a:ext cx="2952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60" name="peer-pilot-pay-box">
            <a:extLst xmlns:a="http://schemas.openxmlformats.org/drawingml/2006/main">
              <a:ext uri="{FF2B5EF4-FFF2-40B4-BE49-F238E27FC236}">
                <a16:creationId xmlns:a16="http://schemas.microsoft.com/office/drawing/2014/main" id="{CD376544-7663-4870-96FA-400ED7FB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9600" y="6181725"/>
            <a:ext cx="1666875" cy="5143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peer-pilot-pay-label">
            <a:extLst xmlns:a="http://schemas.openxmlformats.org/drawingml/2006/main">
              <a:ext uri="{FF2B5EF4-FFF2-40B4-BE49-F238E27FC236}">
                <a16:creationId xmlns:a16="http://schemas.microsoft.com/office/drawing/2014/main" id="{016017E8-BE2C-483A-BD86-11714940E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6257925"/>
            <a:ext cx="15144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후속 결제</a:t>
            </a:r>
          </a:p>
        </p:txBody>
      </p:sp>
      <p:graphicFrame>
        <p:nvGraphicFramePr>
          <p:cNvPr id="112" name="peer-visitors-yoy-index"/>
          <p:cNvGraphicFramePr/>
          <p:nvPr/>
        </p:nvGraphicFramePr>
        <p:xfrm>
          <a:off xmlns:a="http://schemas.openxmlformats.org/drawingml/2006/main" x="4095750" y="3590925"/>
          <a:ext xmlns:a="http://schemas.openxmlformats.org/drawingml/2006/main" cx="2857500" cy="6572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93ffa5ac87d4473"/>
          </a:graphicData>
        </a:graphic>
      </p:graphicFrame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">
            <a:extLst xmlns:a="http://schemas.openxmlformats.org/drawingml/2006/main">
              <a:ext uri="{FF2B5EF4-FFF2-40B4-BE49-F238E27FC236}">
                <a16:creationId xmlns:a16="http://schemas.microsoft.com/office/drawing/2014/main" id="{56D2C68C-9804-4F78-AFF6-72BE73CFF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42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IMPLEMENTATION ROADMAP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46C8465E-D0F9-4EEF-AA67-014E67351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19175"/>
            <a:ext cx="13430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7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37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3~6개월 시범 운영 · 4단계 실행 가이드</a:t>
            </a:r>
            <a:endParaRPr sz="367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9746C03D-7627-4B08-A838-FDEDDCBA4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24025"/>
            <a:ext cx="1333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E747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tep-0-rule">
            <a:extLst xmlns:a="http://schemas.openxmlformats.org/drawingml/2006/main">
              <a:ext uri="{FF2B5EF4-FFF2-40B4-BE49-F238E27FC236}">
                <a16:creationId xmlns:a16="http://schemas.microsoft.com/office/drawing/2014/main" id="{6FD80474-E3B5-4508-9AC4-E8AD65318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tep-0-label">
            <a:extLst xmlns:a="http://schemas.openxmlformats.org/drawingml/2006/main">
              <a:ext uri="{FF2B5EF4-FFF2-40B4-BE49-F238E27FC236}">
                <a16:creationId xmlns:a16="http://schemas.microsoft.com/office/drawing/2014/main" id="{E97A8DBE-CE91-46C0-9CCD-63E1F1CAC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01 · 1~2주</a:t>
            </a:r>
          </a:p>
        </p:txBody>
      </p:sp>
      <p:sp>
        <p:nvSpPr>
          <p:cNvPr id="6" name="step-0-title">
            <a:extLst xmlns:a="http://schemas.openxmlformats.org/drawingml/2006/main">
              <a:ext uri="{FF2B5EF4-FFF2-40B4-BE49-F238E27FC236}">
                <a16:creationId xmlns:a16="http://schemas.microsoft.com/office/drawing/2014/main" id="{59B9BEF0-4231-459C-9517-C04054BE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후보 권역·기준선 확정</a:t>
            </a:r>
          </a:p>
        </p:txBody>
      </p:sp>
      <p:sp>
        <p:nvSpPr>
          <p:cNvPr id="7" name="step-0-body">
            <a:extLst xmlns:a="http://schemas.openxmlformats.org/drawingml/2006/main">
              <a:ext uri="{FF2B5EF4-FFF2-40B4-BE49-F238E27FC236}">
                <a16:creationId xmlns:a16="http://schemas.microsoft.com/office/drawing/2014/main" id="{07941CCA-2692-4F3B-B5FF-8DEBA22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최근 12개월 방문·소비·검색 자료에서 후보 권역 1곳 선정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후보 권역 선정표</a:t>
            </a:r>
          </a:p>
        </p:txBody>
      </p:sp>
      <p:sp>
        <p:nvSpPr>
          <p:cNvPr id="8" name="step-1-rule">
            <a:extLst xmlns:a="http://schemas.openxmlformats.org/drawingml/2006/main">
              <a:ext uri="{FF2B5EF4-FFF2-40B4-BE49-F238E27FC236}">
                <a16:creationId xmlns:a16="http://schemas.microsoft.com/office/drawing/2014/main" id="{271037CD-3D94-4954-A9B7-62A07A13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tep-1-label">
            <a:extLst xmlns:a="http://schemas.openxmlformats.org/drawingml/2006/main">
              <a:ext uri="{FF2B5EF4-FFF2-40B4-BE49-F238E27FC236}">
                <a16:creationId xmlns:a16="http://schemas.microsoft.com/office/drawing/2014/main" id="{5310D594-B49B-4A22-8DE6-7E9C62CCD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02 · 3~4주</a:t>
            </a:r>
          </a:p>
        </p:txBody>
      </p:sp>
      <p:sp>
        <p:nvSpPr>
          <p:cNvPr id="10" name="step-1-title">
            <a:extLst xmlns:a="http://schemas.openxmlformats.org/drawingml/2006/main">
              <a:ext uri="{FF2B5EF4-FFF2-40B4-BE49-F238E27FC236}">
                <a16:creationId xmlns:a16="http://schemas.microsoft.com/office/drawing/2014/main" id="{BF52D1D6-661A-435F-8541-DBE90D7A0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 업소·동선 설계</a:t>
            </a:r>
          </a:p>
        </p:txBody>
      </p:sp>
      <p:sp>
        <p:nvSpPr>
          <p:cNvPr id="11" name="step-1-body">
            <a:extLst xmlns:a="http://schemas.openxmlformats.org/drawingml/2006/main">
              <a:ext uri="{FF2B5EF4-FFF2-40B4-BE49-F238E27FC236}">
                <a16:creationId xmlns:a16="http://schemas.microsoft.com/office/drawing/2014/main" id="{B1CA67F2-083B-484D-B979-9EA70E2B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식음료업·쇼핑업 참여 업소와 관광 지점을 연결한 도보·대중교통 동선 설계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시범코스 지도와 참여 기준</a:t>
            </a:r>
          </a:p>
        </p:txBody>
      </p:sp>
      <p:sp>
        <p:nvSpPr>
          <p:cNvPr id="12" name="step-2-rule">
            <a:extLst xmlns:a="http://schemas.openxmlformats.org/drawingml/2006/main">
              <a:ext uri="{FF2B5EF4-FFF2-40B4-BE49-F238E27FC236}">
                <a16:creationId xmlns:a16="http://schemas.microsoft.com/office/drawing/2014/main" id="{9818F010-1CC6-465C-A6DB-482EF86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step-2-label">
            <a:extLst xmlns:a="http://schemas.openxmlformats.org/drawingml/2006/main">
              <a:ext uri="{FF2B5EF4-FFF2-40B4-BE49-F238E27FC236}">
                <a16:creationId xmlns:a16="http://schemas.microsoft.com/office/drawing/2014/main" id="{ACA8C8F1-D10F-43C1-A65D-52FACF408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03 · 2개월차</a:t>
            </a:r>
          </a:p>
        </p:txBody>
      </p:sp>
      <p:sp>
        <p:nvSpPr>
          <p:cNvPr id="14" name="step-2-title">
            <a:extLst xmlns:a="http://schemas.openxmlformats.org/drawingml/2006/main">
              <a:ext uri="{FF2B5EF4-FFF2-40B4-BE49-F238E27FC236}">
                <a16:creationId xmlns:a16="http://schemas.microsoft.com/office/drawing/2014/main" id="{08134B86-8D30-402C-9CEF-074FEC17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안내·혜택 시범 운영</a:t>
            </a:r>
          </a:p>
        </p:txBody>
      </p:sp>
      <p:sp>
        <p:nvSpPr>
          <p:cNvPr id="15" name="step-2-body">
            <a:extLst xmlns:a="http://schemas.openxmlformats.org/drawingml/2006/main">
              <a:ext uri="{FF2B5EF4-FFF2-40B4-BE49-F238E27FC236}">
                <a16:creationId xmlns:a16="http://schemas.microsoft.com/office/drawing/2014/main" id="{A3D6FB23-F5E8-415A-9C62-CDDD2FCA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모바일 안내 페이지와 공통 혜택을 준비하고 참여 업소 운영 교육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안내 페이지와 운영 매뉴얼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6" name="step-3-rule">
            <a:extLst xmlns:a="http://schemas.openxmlformats.org/drawingml/2006/main">
              <a:ext uri="{FF2B5EF4-FFF2-40B4-BE49-F238E27FC236}">
                <a16:creationId xmlns:a16="http://schemas.microsoft.com/office/drawing/2014/main" id="{D0CBC112-A98C-4EA5-BA4F-54DB9D575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486025"/>
            <a:ext cx="30384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step-3-label">
            <a:extLst xmlns:a="http://schemas.openxmlformats.org/drawingml/2006/main">
              <a:ext uri="{FF2B5EF4-FFF2-40B4-BE49-F238E27FC236}">
                <a16:creationId xmlns:a16="http://schemas.microsoft.com/office/drawing/2014/main" id="{F0662ED8-32C0-41E6-86B5-4085829F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283845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STEP 04 · 3~4개월차</a:t>
            </a:r>
          </a:p>
        </p:txBody>
      </p:sp>
      <p:sp>
        <p:nvSpPr>
          <p:cNvPr id="18" name="step-3-title">
            <a:extLst xmlns:a="http://schemas.openxmlformats.org/drawingml/2006/main">
              <a:ext uri="{FF2B5EF4-FFF2-40B4-BE49-F238E27FC236}">
                <a16:creationId xmlns:a16="http://schemas.microsoft.com/office/drawing/2014/main" id="{F4EEECAE-8F09-478C-9B9E-19776C114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257550"/>
            <a:ext cx="30575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주간 기록·운영 조정</a:t>
            </a:r>
          </a:p>
        </p:txBody>
      </p:sp>
      <p:sp>
        <p:nvSpPr>
          <p:cNvPr id="19" name="step-3-body">
            <a:extLst xmlns:a="http://schemas.openxmlformats.org/drawingml/2006/main">
              <a:ext uri="{FF2B5EF4-FFF2-40B4-BE49-F238E27FC236}">
                <a16:creationId xmlns:a16="http://schemas.microsoft.com/office/drawing/2014/main" id="{C705A7EA-982B-4870-B075-B69149AF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0925" y="3800475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주말 중심으로 시범 운영하고 이용 건수·업종별 소비·체류 반응 기록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산출물: 월간 운영 결과표</a:t>
            </a:r>
            <a:endParaRPr sz="1200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value-panel">
            <a:extLst xmlns:a="http://schemas.openxmlformats.org/drawingml/2006/main">
              <a:ext uri="{FF2B5EF4-FFF2-40B4-BE49-F238E27FC236}">
                <a16:creationId xmlns:a16="http://schemas.microsoft.com/office/drawing/2014/main" id="{0A5928CC-5352-494A-82B9-C6E3C567F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13201650" cy="2352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value-panel-rail">
            <a:extLst xmlns:a="http://schemas.openxmlformats.org/drawingml/2006/main">
              <a:ext uri="{FF2B5EF4-FFF2-40B4-BE49-F238E27FC236}">
                <a16:creationId xmlns:a16="http://schemas.microsoft.com/office/drawing/2014/main" id="{FF527866-641E-44D2-8381-B96977EA7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5476875"/>
            <a:ext cx="0" cy="2352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value-title">
            <a:extLst xmlns:a="http://schemas.openxmlformats.org/drawingml/2006/main">
              <a:ext uri="{FF2B5EF4-FFF2-40B4-BE49-F238E27FC236}">
                <a16:creationId xmlns:a16="http://schemas.microsoft.com/office/drawing/2014/main" id="{3506D103-ACC9-4612-8F44-8648D013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981700"/>
            <a:ext cx="95250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최종 산출물 · 5~6개월차</a:t>
            </a:r>
          </a:p>
        </p:txBody>
      </p:sp>
      <p:sp>
        <p:nvSpPr>
          <p:cNvPr id="23" name="value-body">
            <a:extLst xmlns:a="http://schemas.openxmlformats.org/drawingml/2006/main">
              <a:ext uri="{FF2B5EF4-FFF2-40B4-BE49-F238E27FC236}">
                <a16:creationId xmlns:a16="http://schemas.microsoft.com/office/drawing/2014/main" id="{E6BA8404-9624-4B90-BC5C-9706A7B2E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6496050"/>
            <a:ext cx="122015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이용·결제 기록, 참여처별 비용, 민원과 개선 의견을 하나의 결과표로 정리합니다. 기준선과 시범 결과를 같은 방식으로 비교하고, 확대·보완·중단 판단과 다음 운영안을 제출합니다.</a:t>
            </a:r>
          </a:p>
        </p:txBody>
      </p:sp>
    </p:spTree>
    <p:extLst>
      <p:ext uri="{BB962C8B-B14F-4D97-AF65-F5344CB8AC3E}">
        <p14:creationId xmlns:p14="http://schemas.microsoft.com/office/powerpoint/2010/main" val="38038398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title">
            <a:extLst xmlns:a="http://schemas.openxmlformats.org/drawingml/2006/main">
              <a:ext uri="{FF2B5EF4-FFF2-40B4-BE49-F238E27FC236}">
                <a16:creationId xmlns:a16="http://schemas.microsoft.com/office/drawing/2014/main" id="{89566C74-171B-4CC1-A081-68E147C86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914400"/>
            <a:ext cx="11906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0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2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목표 · 자연추세와 운영 목표를 구분합니다</a:t>
            </a:r>
            <a:endParaRPr sz="390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5806725C-B232-4DB7-96F0-03854DF86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6192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751BFB9C-216A-4C33-A839-B04730D36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952625"/>
            <a:ext cx="971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교육용 더미값입니다. 실제 수치와 목표는 저장 ML·집행 여건에 따라 결정합니다.</a:t>
            </a:r>
            <a:endParaRPr sz="1350" b="0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audience-card-0">
            <a:extLst xmlns:a="http://schemas.openxmlformats.org/drawingml/2006/main">
              <a:ext uri="{FF2B5EF4-FFF2-40B4-BE49-F238E27FC236}">
                <a16:creationId xmlns:a16="http://schemas.microsoft.com/office/drawing/2014/main" id="{4C5D9B42-9585-431B-9F85-6047030B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audience-pill-0">
            <a:extLst xmlns:a="http://schemas.openxmlformats.org/drawingml/2006/main">
              <a:ext uri="{FF2B5EF4-FFF2-40B4-BE49-F238E27FC236}">
                <a16:creationId xmlns:a16="http://schemas.microsoft.com/office/drawing/2014/main" id="{78EAE8B0-7A2C-4232-829C-9DE3D07F8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방문자 예시 목표 +2%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audience-body-0">
            <a:extLst xmlns:a="http://schemas.openxmlformats.org/drawingml/2006/main">
              <a:ext uri="{FF2B5EF4-FFF2-40B4-BE49-F238E27FC236}">
                <a16:creationId xmlns:a16="http://schemas.microsoft.com/office/drawing/2014/main" id="{18036271-88F0-4820-8017-27AD9D82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자연추세와 운영 목표의 배치 예시입니다.</a:t>
            </a:r>
          </a:p>
        </p:txBody>
      </p:sp>
      <p:sp>
        <p:nvSpPr>
          <p:cNvPr id="19" name="audience-divider-0">
            <a:extLst xmlns:a="http://schemas.openxmlformats.org/drawingml/2006/main">
              <a:ext uri="{FF2B5EF4-FFF2-40B4-BE49-F238E27FC236}">
                <a16:creationId xmlns:a16="http://schemas.microsoft.com/office/drawing/2014/main" id="{D37CFD94-BBEC-4549-A877-861B6AF8A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audience-role-0">
            <a:extLst xmlns:a="http://schemas.openxmlformats.org/drawingml/2006/main">
              <a:ext uri="{FF2B5EF4-FFF2-40B4-BE49-F238E27FC236}">
                <a16:creationId xmlns:a16="http://schemas.microsoft.com/office/drawing/2014/main" id="{431424E7-8452-4D5A-BFBC-7C483C023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  <a:endParaRPr sz="1050" b="1" i="0">
              <a:solidFill>
                <a:srgbClr val="4F555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1" name="audience-card-1">
            <a:extLst xmlns:a="http://schemas.openxmlformats.org/drawingml/2006/main">
              <a:ext uri="{FF2B5EF4-FFF2-40B4-BE49-F238E27FC236}">
                <a16:creationId xmlns:a16="http://schemas.microsoft.com/office/drawing/2014/main" id="{E4BF1616-4E6A-46E9-A604-B8790B8D5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audience-pill-1">
            <a:extLst xmlns:a="http://schemas.openxmlformats.org/drawingml/2006/main">
              <a:ext uri="{FF2B5EF4-FFF2-40B4-BE49-F238E27FC236}">
                <a16:creationId xmlns:a16="http://schemas.microsoft.com/office/drawing/2014/main" id="{DC565623-691C-46E9-9B1E-CA335ADDE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월 관광소비 예시 목표 +3%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audience-body-1">
            <a:extLst xmlns:a="http://schemas.openxmlformats.org/drawingml/2006/main">
              <a:ext uri="{FF2B5EF4-FFF2-40B4-BE49-F238E27FC236}">
                <a16:creationId xmlns:a16="http://schemas.microsoft.com/office/drawing/2014/main" id="{06949467-623E-4320-80B3-3600A711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더미 관광소비 추세와 운영 목표의 배치 예시입니다.</a:t>
            </a:r>
          </a:p>
        </p:txBody>
      </p:sp>
      <p:sp>
        <p:nvSpPr>
          <p:cNvPr id="30" name="audience-divider-1">
            <a:extLst xmlns:a="http://schemas.openxmlformats.org/drawingml/2006/main">
              <a:ext uri="{FF2B5EF4-FFF2-40B4-BE49-F238E27FC236}">
                <a16:creationId xmlns:a16="http://schemas.microsoft.com/office/drawing/2014/main" id="{70E4CE22-3136-4945-B6F8-3CBFD1AC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6913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1" name="audience-role-1">
            <a:extLst xmlns:a="http://schemas.openxmlformats.org/drawingml/2006/main">
              <a:ext uri="{FF2B5EF4-FFF2-40B4-BE49-F238E27FC236}">
                <a16:creationId xmlns:a16="http://schemas.microsoft.com/office/drawing/2014/main" id="{91A14E64-F9D6-4991-AF2A-62B1E5720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4538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샘플: 실제 저장 ML 등록 뒤 대체</a:t>
            </a:r>
          </a:p>
        </p:txBody>
      </p:sp>
      <p:sp>
        <p:nvSpPr>
          <p:cNvPr id="32" name="audience-card-2">
            <a:extLst xmlns:a="http://schemas.openxmlformats.org/drawingml/2006/main">
              <a:ext uri="{FF2B5EF4-FFF2-40B4-BE49-F238E27FC236}">
                <a16:creationId xmlns:a16="http://schemas.microsoft.com/office/drawing/2014/main" id="{29361FBB-3A70-4672-AA0E-E8B8C32A8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009900"/>
            <a:ext cx="4267200" cy="4543425"/>
          </a:xfrm>
          <a:prstGeom xmlns:a="http://schemas.openxmlformats.org/drawingml/2006/main" prst="roundRect">
            <a:avLst>
              <a:gd name="adj" fmla="val 17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audience-pill-2">
            <a:extLst xmlns:a="http://schemas.openxmlformats.org/drawingml/2006/main">
              <a:ext uri="{FF2B5EF4-FFF2-40B4-BE49-F238E27FC236}">
                <a16:creationId xmlns:a16="http://schemas.microsoft.com/office/drawing/2014/main" id="{46094810-6C0A-47A8-AF7A-34677C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400425"/>
            <a:ext cx="3695700" cy="476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완료율</a:t>
            </a:r>
            <a:endParaRPr sz="1425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audience-body-2">
            <a:extLst xmlns:a="http://schemas.openxmlformats.org/drawingml/2006/main">
              <a:ext uri="{FF2B5EF4-FFF2-40B4-BE49-F238E27FC236}">
                <a16:creationId xmlns:a16="http://schemas.microsoft.com/office/drawing/2014/main" id="{D9085674-740D-4428-BE90-51011B8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924550"/>
            <a:ext cx="36957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예약·이용·결제를 모두 확인한 참여 건을 기준으로 완료율과 민원을 관리합니다.</a:t>
            </a:r>
          </a:p>
        </p:txBody>
      </p:sp>
      <p:sp>
        <p:nvSpPr>
          <p:cNvPr id="40" name="audience-divider-2">
            <a:extLst xmlns:a="http://schemas.openxmlformats.org/drawingml/2006/main">
              <a:ext uri="{FF2B5EF4-FFF2-40B4-BE49-F238E27FC236}">
                <a16:creationId xmlns:a16="http://schemas.microsoft.com/office/drawing/2014/main" id="{5F839689-58C2-4B5A-B556-CA2230F29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743700"/>
            <a:ext cx="3695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1" name="audience-role-2">
            <a:extLst xmlns:a="http://schemas.openxmlformats.org/drawingml/2006/main">
              <a:ext uri="{FF2B5EF4-FFF2-40B4-BE49-F238E27FC236}">
                <a16:creationId xmlns:a16="http://schemas.microsoft.com/office/drawing/2014/main" id="{8FBFEBB1-BE5F-4E74-B007-0FC209D0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7025" y="6924675"/>
            <a:ext cx="36004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측정: 예약·입장·결제·민원 기록</a:t>
            </a:r>
          </a:p>
        </p:txBody>
      </p:sp>
      <p:sp>
        <p:nvSpPr>
          <p:cNvPr id="46" name="visit-forecast-bar">
            <a:extLst xmlns:a="http://schemas.openxmlformats.org/drawingml/2006/main">
              <a:ext uri="{FF2B5EF4-FFF2-40B4-BE49-F238E27FC236}">
                <a16:creationId xmlns:a16="http://schemas.microsoft.com/office/drawing/2014/main" id="{7EAE788A-E562-434D-AC49-CD849B5E0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visit-target-bar">
            <a:extLst xmlns:a="http://schemas.openxmlformats.org/drawingml/2006/main">
              <a:ext uri="{FF2B5EF4-FFF2-40B4-BE49-F238E27FC236}">
                <a16:creationId xmlns:a16="http://schemas.microsoft.com/office/drawing/2014/main" id="{9D78738B-2F2C-452C-B80F-CC489B95A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48150"/>
            <a:ext cx="8191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visit-forecast">
            <a:extLst xmlns:a="http://schemas.openxmlformats.org/drawingml/2006/main">
              <a:ext uri="{FF2B5EF4-FFF2-40B4-BE49-F238E27FC236}">
                <a16:creationId xmlns:a16="http://schemas.microsoft.com/office/drawing/2014/main" id="{50B12863-8786-4034-A890-14F4B6A7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1,815만 명</a:t>
            </a:r>
          </a:p>
        </p:txBody>
      </p:sp>
      <p:sp>
        <p:nvSpPr>
          <p:cNvPr id="49" name="visit-target">
            <a:extLst xmlns:a="http://schemas.openxmlformats.org/drawingml/2006/main">
              <a:ext uri="{FF2B5EF4-FFF2-40B4-BE49-F238E27FC236}">
                <a16:creationId xmlns:a16="http://schemas.microsoft.com/office/drawing/2014/main" id="{30BAFE74-EC27-4531-B6DD-98B79F26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1,851만 명</a:t>
            </a:r>
          </a:p>
        </p:txBody>
      </p:sp>
      <p:sp>
        <p:nvSpPr>
          <p:cNvPr id="50" name="visit-arrow">
            <a:extLst xmlns:a="http://schemas.openxmlformats.org/drawingml/2006/main">
              <a:ext uri="{FF2B5EF4-FFF2-40B4-BE49-F238E27FC236}">
                <a16:creationId xmlns:a16="http://schemas.microsoft.com/office/drawing/2014/main" id="{28A8A9DD-D353-4D59-83BB-5A64A328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1" name="spend-forecast-bar">
            <a:extLst xmlns:a="http://schemas.openxmlformats.org/drawingml/2006/main">
              <a:ext uri="{FF2B5EF4-FFF2-40B4-BE49-F238E27FC236}">
                <a16:creationId xmlns:a16="http://schemas.microsoft.com/office/drawing/2014/main" id="{9F13A2C2-BBB7-4A8F-8B9B-018741CA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67200"/>
            <a:ext cx="8191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2" name="spend-target-bar">
            <a:extLst xmlns:a="http://schemas.openxmlformats.org/drawingml/2006/main">
              <a:ext uri="{FF2B5EF4-FFF2-40B4-BE49-F238E27FC236}">
                <a16:creationId xmlns:a16="http://schemas.microsoft.com/office/drawing/2014/main" id="{E26096D6-3133-437B-953E-A9E04854E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238625"/>
            <a:ext cx="8191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pend-forecast">
            <a:extLst xmlns:a="http://schemas.openxmlformats.org/drawingml/2006/main">
              <a:ext uri="{FF2B5EF4-FFF2-40B4-BE49-F238E27FC236}">
                <a16:creationId xmlns:a16="http://schemas.microsoft.com/office/drawing/2014/main" id="{BF98D298-373A-4294-99D1-A00ECF9D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905250"/>
            <a:ext cx="1762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4,760억 원</a:t>
            </a:r>
          </a:p>
        </p:txBody>
      </p:sp>
      <p:sp>
        <p:nvSpPr>
          <p:cNvPr id="54" name="spend-target">
            <a:extLst xmlns:a="http://schemas.openxmlformats.org/drawingml/2006/main">
              <a:ext uri="{FF2B5EF4-FFF2-40B4-BE49-F238E27FC236}">
                <a16:creationId xmlns:a16="http://schemas.microsoft.com/office/drawing/2014/main" id="{5CF522C7-7887-4EE2-9BF6-55BF0B1B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3933825"/>
            <a:ext cx="1809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예시 목표 4,903억 원</a:t>
            </a:r>
          </a:p>
        </p:txBody>
      </p:sp>
      <p:sp>
        <p:nvSpPr>
          <p:cNvPr id="55" name="spend-arrow">
            <a:extLst xmlns:a="http://schemas.openxmlformats.org/drawingml/2006/main">
              <a:ext uri="{FF2B5EF4-FFF2-40B4-BE49-F238E27FC236}">
                <a16:creationId xmlns:a16="http://schemas.microsoft.com/office/drawing/2014/main" id="{32493DB0-02BB-4272-9572-526BAEF87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56" name="foreign-forecast-bar">
            <a:extLst xmlns:a="http://schemas.openxmlformats.org/drawingml/2006/main">
              <a:ext uri="{FF2B5EF4-FFF2-40B4-BE49-F238E27FC236}">
                <a16:creationId xmlns:a16="http://schemas.microsoft.com/office/drawing/2014/main" id="{2DE1DBAA-9C91-4923-A9C6-E60890201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C4D3"/>
          </a:solidFill>
          <a:ln xmlns:a="http://schemas.openxmlformats.org/drawingml/2006/main" w="0">
            <a:solidFill>
              <a:srgbClr val="B8C4D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foreign-target-bar">
            <a:extLst xmlns:a="http://schemas.openxmlformats.org/drawingml/2006/main">
              <a:ext uri="{FF2B5EF4-FFF2-40B4-BE49-F238E27FC236}">
                <a16:creationId xmlns:a16="http://schemas.microsoft.com/office/drawing/2014/main" id="{778E10A6-2AC7-4CF8-BF38-C7790D863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4552950"/>
            <a:ext cx="819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4EA2"/>
          </a:solidFill>
          <a:ln xmlns:a="http://schemas.openxmlformats.org/drawingml/2006/main" w="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8" name="foreign-forecast">
            <a:extLst xmlns:a="http://schemas.openxmlformats.org/drawingml/2006/main">
              <a:ext uri="{FF2B5EF4-FFF2-40B4-BE49-F238E27FC236}">
                <a16:creationId xmlns:a16="http://schemas.microsoft.com/office/drawing/2014/main" id="{09F54D75-4425-47AB-9B00-EFDA46E44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4276725"/>
            <a:ext cx="17621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기준선 확정</a:t>
            </a:r>
          </a:p>
        </p:txBody>
      </p:sp>
      <p:sp>
        <p:nvSpPr>
          <p:cNvPr id="59" name="foreign-target">
            <a:extLst xmlns:a="http://schemas.openxmlformats.org/drawingml/2006/main">
              <a:ext uri="{FF2B5EF4-FFF2-40B4-BE49-F238E27FC236}">
                <a16:creationId xmlns:a16="http://schemas.microsoft.com/office/drawing/2014/main" id="{66CB0B58-B33B-4150-9904-FA24C37C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4276725"/>
            <a:ext cx="204787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운영 후 확인</a:t>
            </a:r>
          </a:p>
        </p:txBody>
      </p:sp>
      <p:sp>
        <p:nvSpPr>
          <p:cNvPr id="60" name="foreign-arrow">
            <a:extLst xmlns:a="http://schemas.openxmlformats.org/drawingml/2006/main">
              <a:ext uri="{FF2B5EF4-FFF2-40B4-BE49-F238E27FC236}">
                <a16:creationId xmlns:a16="http://schemas.microsoft.com/office/drawing/2014/main" id="{DC5BC4F7-29C7-4FA1-9677-A81C0CFCF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47434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2288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5537420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E7D48FBA-7209-4694-8898-345F9345A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076325"/>
            <a:ext cx="3714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BUDGET ESTIMATE · SAMPLE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2B47A03-506E-4149-B937-667653240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1457325"/>
            <a:ext cx="79152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00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6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견적</a:t>
            </a:r>
            <a:endParaRPr sz="3600" b="1">
              <a:solidFill>
                <a:srgbClr val="00C1D4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" name="title-rule">
            <a:extLst xmlns:a="http://schemas.openxmlformats.org/drawingml/2006/main">
              <a:ext uri="{FF2B5EF4-FFF2-40B4-BE49-F238E27FC236}">
                <a16:creationId xmlns:a16="http://schemas.microsoft.com/office/drawing/2014/main" id="{6D17D69D-823C-4D07-A9EB-0AC744C1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266950"/>
            <a:ext cx="791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intro">
            <a:extLst xmlns:a="http://schemas.openxmlformats.org/drawingml/2006/main">
              <a:ext uri="{FF2B5EF4-FFF2-40B4-BE49-F238E27FC236}">
                <a16:creationId xmlns:a16="http://schemas.microsoft.com/office/drawing/2014/main" id="{6329FC8E-195C-45D9-8123-1B9D84291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90825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6개월 시범을 가정한 예시입니다. 운영 권역·기간·참여처·혜택 단가를 정한 뒤 비교견적으로 확정합니다.</a:t>
            </a:r>
          </a:p>
        </p:txBody>
      </p:sp>
      <p:sp>
        <p:nvSpPr>
          <p:cNvPr id="6" name="dashboard-rail">
            <a:extLst xmlns:a="http://schemas.openxmlformats.org/drawingml/2006/main">
              <a:ext uri="{FF2B5EF4-FFF2-40B4-BE49-F238E27FC236}">
                <a16:creationId xmlns:a16="http://schemas.microsoft.com/office/drawing/2014/main" id="{9BE94A36-2943-4E88-B24E-66109F70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4095750"/>
            <a:ext cx="0" cy="1619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ashboard-title">
            <a:extLst xmlns:a="http://schemas.openxmlformats.org/drawingml/2006/main">
              <a:ext uri="{FF2B5EF4-FFF2-40B4-BE49-F238E27FC236}">
                <a16:creationId xmlns:a16="http://schemas.microsoft.com/office/drawing/2014/main" id="{5A8CD150-B4FE-4BF8-B6C6-DE88B588A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338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산출 기준</a:t>
            </a:r>
          </a:p>
        </p:txBody>
      </p:sp>
      <p:sp>
        <p:nvSpPr>
          <p:cNvPr id="8" name="dashboard-body">
            <a:extLst xmlns:a="http://schemas.openxmlformats.org/drawingml/2006/main">
              <a:ext uri="{FF2B5EF4-FFF2-40B4-BE49-F238E27FC236}">
                <a16:creationId xmlns:a16="http://schemas.microsoft.com/office/drawing/2014/main" id="{C4465979-A2B2-432C-8E9B-859897CE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629150"/>
            <a:ext cx="65722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① 운영일수 × 현장 인력·안전 단가</a:t>
            </a: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② 참여 건수 × 혜택 단가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③ 예약·결제·데이터 연동 구축비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  <a:p xmlns:a="http://schemas.openxmlformats.org/drawingml/2006/main">
            <a:pPr algn="l">
              <a:lnSpc>
                <a:spcPct val="125000"/>
              </a:lnSpc>
              <a:buNone/>
              <a:defRPr sz="120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④ 홍보·평가비 + 예비비</a:t>
            </a:r>
            <a:endParaRPr sz="1275" b="0" i="0">
              <a:solidFill>
                <a:srgbClr val="6E747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report-card">
            <a:extLst xmlns:a="http://schemas.openxmlformats.org/drawingml/2006/main">
              <a:ext uri="{FF2B5EF4-FFF2-40B4-BE49-F238E27FC236}">
                <a16:creationId xmlns:a16="http://schemas.microsoft.com/office/drawing/2014/main" id="{01ECDF9F-37D9-484C-997E-3809C467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6000750"/>
            <a:ext cx="3810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report-card-title">
            <a:extLst xmlns:a="http://schemas.openxmlformats.org/drawingml/2006/main">
              <a:ext uri="{FF2B5EF4-FFF2-40B4-BE49-F238E27FC236}">
                <a16:creationId xmlns:a16="http://schemas.microsoft.com/office/drawing/2014/main" id="{1353BCF8-2C10-48C9-B173-6A79000EE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134100"/>
            <a:ext cx="323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확정 절차</a:t>
            </a:r>
          </a:p>
        </p:txBody>
      </p:sp>
      <p:sp>
        <p:nvSpPr>
          <p:cNvPr id="14" name="report-card-body">
            <a:extLst xmlns:a="http://schemas.openxmlformats.org/drawingml/2006/main">
              <a:ext uri="{FF2B5EF4-FFF2-40B4-BE49-F238E27FC236}">
                <a16:creationId xmlns:a16="http://schemas.microsoft.com/office/drawing/2014/main" id="{796461ED-E207-428E-ADB1-53B8A04FC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505575"/>
            <a:ext cx="3238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범위 확정 → 3개 이상 비교견적</a:t>
            </a:r>
          </a:p>
        </p:txBody>
      </p:sp>
      <p:sp>
        <p:nvSpPr>
          <p:cNvPr id="15" name="report-card-orange">
            <a:extLst xmlns:a="http://schemas.openxmlformats.org/drawingml/2006/main">
              <a:ext uri="{FF2B5EF4-FFF2-40B4-BE49-F238E27FC236}">
                <a16:creationId xmlns:a16="http://schemas.microsoft.com/office/drawing/2014/main" id="{9F582882-6E9C-4D93-8DCC-9FDEE65D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86575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계약·정산 조건 확인</a:t>
            </a:r>
          </a:p>
        </p:txBody>
      </p:sp>
      <p:sp>
        <p:nvSpPr>
          <p:cNvPr id="16" name="map-card">
            <a:extLst xmlns:a="http://schemas.openxmlformats.org/drawingml/2006/main">
              <a:ext uri="{FF2B5EF4-FFF2-40B4-BE49-F238E27FC236}">
                <a16:creationId xmlns:a16="http://schemas.microsoft.com/office/drawing/2014/main" id="{60160296-0010-438C-8C26-7EBA5D46F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6000750"/>
            <a:ext cx="381952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map-card-title">
            <a:extLst xmlns:a="http://schemas.openxmlformats.org/drawingml/2006/main">
              <a:ext uri="{FF2B5EF4-FFF2-40B4-BE49-F238E27FC236}">
                <a16:creationId xmlns:a16="http://schemas.microsoft.com/office/drawing/2014/main" id="{BE455A73-544C-45BA-A88B-6981407DE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134100"/>
            <a:ext cx="32194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금액 조정 기준</a:t>
            </a:r>
          </a:p>
        </p:txBody>
      </p:sp>
      <p:sp>
        <p:nvSpPr>
          <p:cNvPr id="18" name="map-card-body">
            <a:extLst xmlns:a="http://schemas.openxmlformats.org/drawingml/2006/main">
              <a:ext uri="{FF2B5EF4-FFF2-40B4-BE49-F238E27FC236}">
                <a16:creationId xmlns:a16="http://schemas.microsoft.com/office/drawing/2014/main" id="{0E481C2C-4BC3-4728-82FE-9D729B778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505575"/>
            <a:ext cx="3219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운영 수량·혜택 단가 반영</a:t>
            </a:r>
          </a:p>
        </p:txBody>
      </p:sp>
      <p:sp>
        <p:nvSpPr>
          <p:cNvPr id="19" name="map-card-orange">
            <a:extLst xmlns:a="http://schemas.openxmlformats.org/drawingml/2006/main">
              <a:ext uri="{FF2B5EF4-FFF2-40B4-BE49-F238E27FC236}">
                <a16:creationId xmlns:a16="http://schemas.microsoft.com/office/drawing/2014/main" id="{40E98527-DF47-4B36-8CA4-81AD0B8A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6886575"/>
            <a:ext cx="3219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부가세·예비비 포함 여부 확인</a:t>
            </a:r>
          </a:p>
        </p:txBody>
      </p:sp>
      <p:sp>
        <p:nvSpPr>
          <p:cNvPr id="20" name="budget-table-title">
            <a:extLst xmlns:a="http://schemas.openxmlformats.org/drawingml/2006/main">
              <a:ext uri="{FF2B5EF4-FFF2-40B4-BE49-F238E27FC236}">
                <a16:creationId xmlns:a16="http://schemas.microsoft.com/office/drawing/2014/main" id="{4B7C0E87-B747-49E5-9D6E-792885445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95450"/>
            <a:ext cx="561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8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6개월 시범 예시 견적  |  총 2억 4,000만 원</a:t>
            </a:r>
          </a:p>
        </p:txBody>
      </p:sp>
      <p:graphicFrame>
        <p:nvGraphicFramePr>
          <p:cNvPr id="40" name="표 42"/>
          <p:cNvGraphicFramePr/>
          <p:nvPr/>
        </p:nvGraphicFramePr>
        <p:xfrm>
          <a:off xmlns:a="http://schemas.openxmlformats.org/drawingml/2006/main" x="8877300" y="2295525"/>
          <a:ext xmlns:a="http://schemas.openxmlformats.org/drawingml/2006/main" cx="5619750" cy="4648200"/>
        </p:xfrm>
        <a:graphic xmlns:a="http://schemas.openxmlformats.org/drawingml/2006/main">
          <a:graphicData uri="http://schemas.openxmlformats.org/drawingml/2006/table">
            <a:tbl>
              <a:tblPr firstRow="0" firstCol="1" lastRow="0" bandRow="0"/>
              <a:tblGrid>
                <a:gridCol w="2686050"/>
                <a:gridCol w="1028700"/>
                <a:gridCol w="1905000"/>
              </a:tblGrid>
              <a:tr h="561975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세부 항목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비중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FFFFFF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예산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004EA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프로그램 운영·안전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45%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1억 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참여 혜택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25%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예약·결제 연동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12%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홍보·다국어 콘텐츠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9%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2,200만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성과 측정·검토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6%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1,400만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예비비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425" b="0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3%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425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800만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AF0F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합계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sz="1500" b="1">
                          <a:solidFill>
                            <a:srgbClr val="1B1F23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100%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sz="1500" b="1">
                          <a:solidFill>
                            <a:srgbClr val="004EA2"/>
                          </a:solidFill>
                          <a:latin typeface="Noto Sans KR"/>
                          <a:ea typeface="Noto Sans KR"/>
                          <a:cs typeface="Noto Sans KR"/>
                        </a:rPr>
                        <a:t>2억 4,000만 원</a:t>
                      </a:r>
                    </a:p>
                  </a:txBody>
                  <a:tcPr marL="152400" marR="152400" marT="114300" marB="114300" anchor="ctr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EF1F6"/>
                    </a:solidFill>
                  </a:tcPr>
                </a:tc>
              </a:tr>
            </a:tbl>
          </a:graphicData>
        </a:graphic>
      </p:graphicFrame>
      <p:sp>
        <p:nvSpPr>
          <p:cNvPr id="22" name="budget-table-note">
            <a:extLst xmlns:a="http://schemas.openxmlformats.org/drawingml/2006/main">
              <a:ext uri="{FF2B5EF4-FFF2-40B4-BE49-F238E27FC236}">
                <a16:creationId xmlns:a16="http://schemas.microsoft.com/office/drawing/2014/main" id="{93D0AAD8-9B43-408B-B46B-CE7F4F01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7229475"/>
            <a:ext cx="561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예시 견적이며 확정 금액이 아닙니다.</a:t>
            </a:r>
          </a:p>
          <a:p xmlns:a="http://schemas.openxmlformats.org/drawingml/2006/main">
            <a:pPr algn="l">
              <a:buNone/>
              <a:defRPr sz="90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계약 전 운영 범위·단가·부가세·정산 조건을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82313334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">
            <a:extLst xmlns:a="http://schemas.openxmlformats.org/drawingml/2006/main">
              <a:ext uri="{FF2B5EF4-FFF2-40B4-BE49-F238E27FC236}">
                <a16:creationId xmlns:a16="http://schemas.microsoft.com/office/drawing/2014/main" id="{7809EB03-E1D8-4B3D-96C4-AA327A20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552575"/>
            <a:ext cx="12192000" cy="828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33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종료 후에도 데이터로 코스를 계속 개선합니다</a:t>
            </a:r>
          </a:p>
        </p:txBody>
      </p:sp>
      <p:sp>
        <p:nvSpPr>
          <p:cNvPr id="2" name="column-line-1">
            <a:extLst xmlns:a="http://schemas.openxmlformats.org/drawingml/2006/main">
              <a:ext uri="{FF2B5EF4-FFF2-40B4-BE49-F238E27FC236}">
                <a16:creationId xmlns:a16="http://schemas.microsoft.com/office/drawing/2014/main" id="{7AF7F9BF-3A99-474E-A050-C5588CC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olumn-line-2">
            <a:extLst xmlns:a="http://schemas.openxmlformats.org/drawingml/2006/main">
              <a:ext uri="{FF2B5EF4-FFF2-40B4-BE49-F238E27FC236}">
                <a16:creationId xmlns:a16="http://schemas.microsoft.com/office/drawing/2014/main" id="{66D57082-5011-45CA-9E18-88DF7DD7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800350"/>
            <a:ext cx="0" cy="3638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expected-pill">
            <a:extLst xmlns:a="http://schemas.openxmlformats.org/drawingml/2006/main">
              <a:ext uri="{FF2B5EF4-FFF2-40B4-BE49-F238E27FC236}">
                <a16:creationId xmlns:a16="http://schemas.microsoft.com/office/drawing/2014/main" id="{07AC9F43-995E-47B2-B264-6586997C5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1. 매월 운영 점검</a:t>
            </a:r>
          </a:p>
        </p:txBody>
      </p:sp>
      <p:sp>
        <p:nvSpPr>
          <p:cNvPr id="5" name="expected-card">
            <a:extLst xmlns:a="http://schemas.openxmlformats.org/drawingml/2006/main">
              <a:ext uri="{FF2B5EF4-FFF2-40B4-BE49-F238E27FC236}">
                <a16:creationId xmlns:a16="http://schemas.microsoft.com/office/drawing/2014/main" id="{D2C6D383-FF5C-4128-AE40-7ECFDDEF1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33850"/>
            <a:ext cx="404812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expected-body">
            <a:extLst xmlns:a="http://schemas.openxmlformats.org/drawingml/2006/main">
              <a:ext uri="{FF2B5EF4-FFF2-40B4-BE49-F238E27FC236}">
                <a16:creationId xmlns:a16="http://schemas.microsoft.com/office/drawing/2014/main" id="{36A6D734-2976-4831-B0D4-1AE2CBC1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4295775"/>
            <a:ext cx="3533775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코스 완료·결제·체류시간·민원을 같은 기준으로 기록합니다. 이탈 구간은 다음 달 동선·혜택에 바로 반영합니다.</a:t>
            </a:r>
          </a:p>
        </p:txBody>
      </p:sp>
      <p:sp>
        <p:nvSpPr>
          <p:cNvPr id="7" name="indicator-pill">
            <a:extLst xmlns:a="http://schemas.openxmlformats.org/drawingml/2006/main">
              <a:ext uri="{FF2B5EF4-FFF2-40B4-BE49-F238E27FC236}">
                <a16:creationId xmlns:a16="http://schemas.microsoft.com/office/drawing/2014/main" id="{2AA1FD02-C801-4C5E-96B8-C2B7A85F2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435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운영지표</a:t>
            </a:r>
          </a:p>
        </p:txBody>
      </p:sp>
      <p:sp>
        <p:nvSpPr>
          <p:cNvPr id="8" name="indicator-circle-0">
            <a:extLst xmlns:a="http://schemas.openxmlformats.org/drawingml/2006/main">
              <a:ext uri="{FF2B5EF4-FFF2-40B4-BE49-F238E27FC236}">
                <a16:creationId xmlns:a16="http://schemas.microsoft.com/office/drawing/2014/main" id="{B5AA79C5-B445-4282-8187-486E81F24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indicator-glyph-0">
            <a:extLst xmlns:a="http://schemas.openxmlformats.org/drawingml/2006/main">
              <a:ext uri="{FF2B5EF4-FFF2-40B4-BE49-F238E27FC236}">
                <a16:creationId xmlns:a16="http://schemas.microsoft.com/office/drawing/2014/main" id="{9B4A4D83-3DB0-474E-9D3C-195E6DC3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이용</a:t>
            </a:r>
          </a:p>
        </p:txBody>
      </p:sp>
      <p:sp>
        <p:nvSpPr>
          <p:cNvPr id="10" name="indicator-circle-1">
            <a:extLst xmlns:a="http://schemas.openxmlformats.org/drawingml/2006/main">
              <a:ext uri="{FF2B5EF4-FFF2-40B4-BE49-F238E27FC236}">
                <a16:creationId xmlns:a16="http://schemas.microsoft.com/office/drawing/2014/main" id="{B719D672-73A0-4417-8018-07989F704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indicator-glyph-1">
            <a:extLst xmlns:a="http://schemas.openxmlformats.org/drawingml/2006/main">
              <a:ext uri="{FF2B5EF4-FFF2-40B4-BE49-F238E27FC236}">
                <a16:creationId xmlns:a16="http://schemas.microsoft.com/office/drawing/2014/main" id="{596F5692-71BF-434F-958A-89B6868A9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결제</a:t>
            </a:r>
          </a:p>
        </p:txBody>
      </p:sp>
      <p:sp>
        <p:nvSpPr>
          <p:cNvPr id="12" name="indicator-circle-2">
            <a:extLst xmlns:a="http://schemas.openxmlformats.org/drawingml/2006/main">
              <a:ext uri="{FF2B5EF4-FFF2-40B4-BE49-F238E27FC236}">
                <a16:creationId xmlns:a16="http://schemas.microsoft.com/office/drawing/2014/main" id="{2AC0D30B-DDD4-4E74-A314-636D7CF5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indicator-glyph-2">
            <a:extLst xmlns:a="http://schemas.openxmlformats.org/drawingml/2006/main">
              <a:ext uri="{FF2B5EF4-FFF2-40B4-BE49-F238E27FC236}">
                <a16:creationId xmlns:a16="http://schemas.microsoft.com/office/drawing/2014/main" id="{93B5A93F-29C9-4AE1-AA73-2BE737B4F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체류</a:t>
            </a:r>
          </a:p>
        </p:txBody>
      </p:sp>
      <p:sp>
        <p:nvSpPr>
          <p:cNvPr id="14" name="indicator-circle-3">
            <a:extLst xmlns:a="http://schemas.openxmlformats.org/drawingml/2006/main">
              <a:ext uri="{FF2B5EF4-FFF2-40B4-BE49-F238E27FC236}">
                <a16:creationId xmlns:a16="http://schemas.microsoft.com/office/drawing/2014/main" id="{E235D51A-DF5E-4DB8-810A-B9FE10526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4EA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indicator-glyph-3">
            <a:extLst xmlns:a="http://schemas.openxmlformats.org/drawingml/2006/main">
              <a:ext uri="{FF2B5EF4-FFF2-40B4-BE49-F238E27FC236}">
                <a16:creationId xmlns:a16="http://schemas.microsoft.com/office/drawing/2014/main" id="{1CA00698-1BA7-4C47-B7D1-49D23AAA7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비용</a:t>
            </a:r>
          </a:p>
        </p:txBody>
      </p:sp>
      <p:sp>
        <p:nvSpPr>
          <p:cNvPr id="16" name="indicator-circle-4">
            <a:extLst xmlns:a="http://schemas.openxmlformats.org/drawingml/2006/main">
              <a:ext uri="{FF2B5EF4-FFF2-40B4-BE49-F238E27FC236}">
                <a16:creationId xmlns:a16="http://schemas.microsoft.com/office/drawing/2014/main" id="{223D3B08-E01D-4662-8D68-EC230DF98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C1D4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7" name="indicator-glyph-4">
            <a:extLst xmlns:a="http://schemas.openxmlformats.org/drawingml/2006/main">
              <a:ext uri="{FF2B5EF4-FFF2-40B4-BE49-F238E27FC236}">
                <a16:creationId xmlns:a16="http://schemas.microsoft.com/office/drawing/2014/main" id="{AC65B1CB-640D-4DE4-93B2-1B5C183D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민원</a:t>
            </a:r>
          </a:p>
        </p:txBody>
      </p:sp>
      <p:sp>
        <p:nvSpPr>
          <p:cNvPr id="18" name="indicator-circle-5">
            <a:extLst xmlns:a="http://schemas.openxmlformats.org/drawingml/2006/main">
              <a:ext uri="{FF2B5EF4-FFF2-40B4-BE49-F238E27FC236}">
                <a16:creationId xmlns:a16="http://schemas.microsoft.com/office/drawing/2014/main" id="{6019C75D-1FC2-4667-B692-DDD073C85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953125"/>
            <a:ext cx="49530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0D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indicator-glyph-5">
            <a:extLst xmlns:a="http://schemas.openxmlformats.org/drawingml/2006/main">
              <a:ext uri="{FF2B5EF4-FFF2-40B4-BE49-F238E27FC236}">
                <a16:creationId xmlns:a16="http://schemas.microsoft.com/office/drawing/2014/main" id="{C7AF409C-91A3-4936-BB4D-7B2527552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6029325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1" i="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협약</a:t>
            </a:r>
          </a:p>
        </p:txBody>
      </p:sp>
      <p:sp>
        <p:nvSpPr>
          <p:cNvPr id="20" name="service-pill">
            <a:extLst xmlns:a="http://schemas.openxmlformats.org/drawingml/2006/main">
              <a:ext uri="{FF2B5EF4-FFF2-40B4-BE49-F238E27FC236}">
                <a16:creationId xmlns:a16="http://schemas.microsoft.com/office/drawing/2014/main" id="{FBBEFB7E-A7FD-4723-AE5B-8D907756F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280035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2. 분기별 코스 보완</a:t>
            </a:r>
          </a:p>
        </p:txBody>
      </p:sp>
      <p:sp>
        <p:nvSpPr>
          <p:cNvPr id="21" name="service-body">
            <a:extLst xmlns:a="http://schemas.openxmlformats.org/drawingml/2006/main">
              <a:ext uri="{FF2B5EF4-FFF2-40B4-BE49-F238E27FC236}">
                <a16:creationId xmlns:a16="http://schemas.microsoft.com/office/drawing/2014/main" id="{0599DDA5-9C77-4328-A928-CB50C56FA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4514850"/>
            <a:ext cx="3648075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성과가 낮은 구간은 동선·운영시간·혜택을 조정합니다. 확인된 범위에서만 참여처와 운영일을 늘립니다.</a:t>
            </a:r>
          </a:p>
        </p:txBody>
      </p:sp>
      <p:sp>
        <p:nvSpPr>
          <p:cNvPr id="22" name="service-note">
            <a:extLst xmlns:a="http://schemas.openxmlformats.org/drawingml/2006/main">
              <a:ext uri="{FF2B5EF4-FFF2-40B4-BE49-F238E27FC236}">
                <a16:creationId xmlns:a16="http://schemas.microsoft.com/office/drawing/2014/main" id="{880D0D04-81DF-42E1-BC18-56D5BF8F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5657850"/>
            <a:ext cx="36480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050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0" i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분기마다 코스와 참여처 운영안을 갱신합니다.</a:t>
            </a:r>
          </a:p>
        </p:txBody>
      </p:sp>
      <p:sp>
        <p:nvSpPr>
          <p:cNvPr id="23" name="service-scope">
            <a:extLst xmlns:a="http://schemas.openxmlformats.org/drawingml/2006/main">
              <a:ext uri="{FF2B5EF4-FFF2-40B4-BE49-F238E27FC236}">
                <a16:creationId xmlns:a16="http://schemas.microsoft.com/office/drawing/2014/main" id="{3F7087DF-6EBD-4030-AAA5-C6BF09BE7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9775" y="6629400"/>
            <a:ext cx="364807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00C1D4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분기 산출물 · 개편 코스·운영안</a:t>
            </a:r>
          </a:p>
        </p:txBody>
      </p:sp>
      <p:sp>
        <p:nvSpPr>
          <p:cNvPr id="24" name="private-pill">
            <a:extLst xmlns:a="http://schemas.openxmlformats.org/drawingml/2006/main">
              <a:ext uri="{FF2B5EF4-FFF2-40B4-BE49-F238E27FC236}">
                <a16:creationId xmlns:a16="http://schemas.microsoft.com/office/drawing/2014/main" id="{ECE9BD08-611B-4247-AFD8-D71CC9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280035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D7DEE5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650" b="1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3. 계절·대상별 확장</a:t>
            </a:r>
          </a:p>
        </p:txBody>
      </p:sp>
      <p:sp>
        <p:nvSpPr>
          <p:cNvPr id="25" name="private-body">
            <a:extLst xmlns:a="http://schemas.openxmlformats.org/drawingml/2006/main">
              <a:ext uri="{FF2B5EF4-FFF2-40B4-BE49-F238E27FC236}">
                <a16:creationId xmlns:a16="http://schemas.microsoft.com/office/drawing/2014/main" id="{FC8E1C19-1A9B-4031-B62F-74F7EE459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57600"/>
            <a:ext cx="4048125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기본 코스의 운영 기준을 유지한 채 계절 행사, 외국인 안내, 숙박 연계를 단계적으로 추가합니다. 신규 권역은 별도 기준선을 만든 뒤 시험합니다.</a:t>
            </a:r>
          </a:p>
        </p:txBody>
      </p:sp>
      <p:sp>
        <p:nvSpPr>
          <p:cNvPr id="28" name="private-goal">
            <a:extLst xmlns:a="http://schemas.openxmlformats.org/drawingml/2006/main">
              <a:ext uri="{FF2B5EF4-FFF2-40B4-BE49-F238E27FC236}">
                <a16:creationId xmlns:a16="http://schemas.microsoft.com/office/drawing/2014/main" id="{3909FDE3-5FF2-4500-AD50-B44FF021B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5381625"/>
            <a:ext cx="4048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63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운영 원칙 · 작게 시작 → 매월 개선</a:t>
            </a:r>
          </a:p>
        </p:txBody>
      </p:sp>
      <p:sp>
        <p:nvSpPr>
          <p:cNvPr id="29" name="private-scope">
            <a:extLst xmlns:a="http://schemas.openxmlformats.org/drawingml/2006/main">
              <a:ext uri="{FF2B5EF4-FFF2-40B4-BE49-F238E27FC236}">
                <a16:creationId xmlns:a16="http://schemas.microsoft.com/office/drawing/2014/main" id="{F2BCDD9E-4568-4754-A8AC-9B695D88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629400"/>
            <a:ext cx="4048125" cy="466725"/>
          </a:xfrm>
          <a:prstGeom xmlns:a="http://schemas.openxmlformats.org/drawingml/2006/main" prst="roundRect">
            <a:avLst>
              <a:gd name="adj" fmla="val 50000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FF6B00"/>
            </a:solidFill>
            <a:prstDash val="solid"/>
          </a:ln>
        </p:spPr>
        <p:txBody>
          <a:bodyPr xmlns:a="http://schemas.openxmlformats.org/drawingml/2006/main" lIns="76200" tIns="0" rIns="7620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연간 산출물 · 다음 연도 운영계획·예산안</a:t>
            </a:r>
          </a:p>
        </p:txBody>
      </p:sp>
      <p:sp>
        <p:nvSpPr>
          <p:cNvPr id="31" name="decision-indicator-legend">
            <a:extLst xmlns:a="http://schemas.openxmlformats.org/drawingml/2006/main">
              <a:ext uri="{FF2B5EF4-FFF2-40B4-BE49-F238E27FC236}">
                <a16:creationId xmlns:a16="http://schemas.microsoft.com/office/drawing/2014/main" id="{5CE20498-4888-428A-ADD4-4C5EB0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6600825"/>
            <a:ext cx="4000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월간 산출물 · 운영 현황표·개선 목록</a:t>
            </a:r>
          </a:p>
        </p:txBody>
      </p:sp>
      <p:sp>
        <p:nvSpPr>
          <p:cNvPr id="32" name="decision-record-box">
            <a:extLst xmlns:a="http://schemas.openxmlformats.org/drawingml/2006/main">
              <a:ext uri="{FF2B5EF4-FFF2-40B4-BE49-F238E27FC236}">
                <a16:creationId xmlns:a16="http://schemas.microsoft.com/office/drawing/2014/main" id="{4678F96D-DA04-46E7-8BD8-592115110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3" name="decision-record-label">
            <a:extLst xmlns:a="http://schemas.openxmlformats.org/drawingml/2006/main">
              <a:ext uri="{FF2B5EF4-FFF2-40B4-BE49-F238E27FC236}">
                <a16:creationId xmlns:a16="http://schemas.microsoft.com/office/drawing/2014/main" id="{A793475A-C866-449C-81D7-59E22867F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기록</a:t>
            </a:r>
          </a:p>
        </p:txBody>
      </p:sp>
      <p:sp>
        <p:nvSpPr>
          <p:cNvPr id="34" name="decision-arrow-1">
            <a:extLst xmlns:a="http://schemas.openxmlformats.org/drawingml/2006/main">
              <a:ext uri="{FF2B5EF4-FFF2-40B4-BE49-F238E27FC236}">
                <a16:creationId xmlns:a16="http://schemas.microsoft.com/office/drawing/2014/main" id="{E4D67867-B59F-4F92-90A6-58F2A652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5" name="decision-compare-box">
            <a:extLst xmlns:a="http://schemas.openxmlformats.org/drawingml/2006/main">
              <a:ext uri="{FF2B5EF4-FFF2-40B4-BE49-F238E27FC236}">
                <a16:creationId xmlns:a16="http://schemas.microsoft.com/office/drawing/2014/main" id="{770C43C2-772E-4934-9D28-692A93C1C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7F7FA"/>
          </a:solidFill>
          <a:ln xmlns:a="http://schemas.openxmlformats.org/drawingml/2006/main" w="9525">
            <a:solidFill>
              <a:srgbClr val="00B7C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decision-compare-label">
            <a:extLst xmlns:a="http://schemas.openxmlformats.org/drawingml/2006/main">
              <a:ext uri="{FF2B5EF4-FFF2-40B4-BE49-F238E27FC236}">
                <a16:creationId xmlns:a16="http://schemas.microsoft.com/office/drawing/2014/main" id="{ADCC7FC7-781C-4DD0-84DC-A87A0741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원인</a:t>
            </a:r>
          </a:p>
        </p:txBody>
      </p:sp>
      <p:sp>
        <p:nvSpPr>
          <p:cNvPr id="37" name="decision-arrow-2">
            <a:extLst xmlns:a="http://schemas.openxmlformats.org/drawingml/2006/main">
              <a:ext uri="{FF2B5EF4-FFF2-40B4-BE49-F238E27FC236}">
                <a16:creationId xmlns:a16="http://schemas.microsoft.com/office/drawing/2014/main" id="{F41C823F-466A-42C8-8E18-03C20802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766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→</a:t>
            </a:r>
          </a:p>
        </p:txBody>
      </p:sp>
      <p:sp>
        <p:nvSpPr>
          <p:cNvPr id="38" name="decision-judge-box">
            <a:extLst xmlns:a="http://schemas.openxmlformats.org/drawingml/2006/main">
              <a:ext uri="{FF2B5EF4-FFF2-40B4-BE49-F238E27FC236}">
                <a16:creationId xmlns:a16="http://schemas.microsoft.com/office/drawing/2014/main" id="{C083B893-805C-4E28-B1A3-6070103E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00450"/>
            <a:ext cx="8763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AF1FA"/>
          </a:solidFill>
          <a:ln xmlns:a="http://schemas.openxmlformats.org/drawingml/2006/main" w="952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9" name="decision-judge-label">
            <a:extLst xmlns:a="http://schemas.openxmlformats.org/drawingml/2006/main">
              <a:ext uri="{FF2B5EF4-FFF2-40B4-BE49-F238E27FC236}">
                <a16:creationId xmlns:a16="http://schemas.microsoft.com/office/drawing/2014/main" id="{FE445EF7-C12A-4E84-8ED0-41CBCA816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3686175"/>
            <a:ext cx="781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개선</a:t>
            </a:r>
          </a:p>
        </p:txBody>
      </p:sp>
      <p:sp>
        <p:nvSpPr>
          <p:cNvPr id="40" name="decision-flow-caption">
            <a:extLst xmlns:a="http://schemas.openxmlformats.org/drawingml/2006/main">
              <a:ext uri="{FF2B5EF4-FFF2-40B4-BE49-F238E27FC236}">
                <a16:creationId xmlns:a16="http://schemas.microsoft.com/office/drawing/2014/main" id="{E89AFFAF-A47D-4867-8599-E4500CC73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414337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같은 기준으로 확인하고 수정합니다.</a:t>
            </a:r>
          </a:p>
        </p:txBody>
      </p:sp>
      <p:sp>
        <p:nvSpPr>
          <p:cNvPr id="41" name="private-flow">
            <a:extLst xmlns:a="http://schemas.openxmlformats.org/drawingml/2006/main">
              <a:ext uri="{FF2B5EF4-FFF2-40B4-BE49-F238E27FC236}">
                <a16:creationId xmlns:a16="http://schemas.microsoft.com/office/drawing/2014/main" id="{608F424E-0F59-496E-92EE-F4F78144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6057900"/>
            <a:ext cx="4048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기본 코스 → 계절 행사 → 외국인·숙박 연계</a:t>
            </a:r>
          </a:p>
        </p:txBody>
      </p:sp>
    </p:spTree>
    <p:extLst>
      <p:ext uri="{BB962C8B-B14F-4D97-AF65-F5344CB8AC3E}">
        <p14:creationId xmlns:p14="http://schemas.microsoft.com/office/powerpoint/2010/main" val="3347729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yebrow">
            <a:extLst xmlns:a="http://schemas.openxmlformats.org/drawingml/2006/main">
              <a:ext uri="{FF2B5EF4-FFF2-40B4-BE49-F238E27FC236}">
                <a16:creationId xmlns:a16="http://schemas.microsoft.com/office/drawing/2014/main" id="{30D6B92A-E8CC-48F5-9680-60F39CE83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76275"/>
            <a:ext cx="44862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388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EVIDENCE &amp; TRACEABILITY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71DBCD6-2592-41E7-A3B6-2AEB44189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123950"/>
            <a:ext cx="130683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3450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근거·데이터·AI 활용 내역</a:t>
            </a:r>
            <a:endParaRPr sz="3600" b="1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" name="title-rule">
            <a:extLst xmlns:a="http://schemas.openxmlformats.org/drawingml/2006/main">
              <a:ext uri="{FF2B5EF4-FFF2-40B4-BE49-F238E27FC236}">
                <a16:creationId xmlns:a16="http://schemas.microsoft.com/office/drawing/2014/main" id="{1E468CD8-9AB7-4607-A79D-2796B31D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85975"/>
            <a:ext cx="13068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grid">
            <a:extLst xmlns:a="http://schemas.openxmlformats.org/drawingml/2006/main">
              <a:ext uri="{FF2B5EF4-FFF2-40B4-BE49-F238E27FC236}">
                <a16:creationId xmlns:a16="http://schemas.microsoft.com/office/drawing/2014/main" id="{82EDB80F-7AEA-4B4C-9FC2-33090AC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67000"/>
            <a:ext cx="13058775" cy="537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grid-v">
            <a:extLst xmlns:a="http://schemas.openxmlformats.org/drawingml/2006/main">
              <a:ext uri="{FF2B5EF4-FFF2-40B4-BE49-F238E27FC236}">
                <a16:creationId xmlns:a16="http://schemas.microsoft.com/office/drawing/2014/main" id="{8111BC7A-2C75-4CBD-AB98-B0DC44AC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67000"/>
            <a:ext cx="0" cy="53721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grid-h">
            <a:extLst xmlns:a="http://schemas.openxmlformats.org/drawingml/2006/main">
              <a:ext uri="{FF2B5EF4-FFF2-40B4-BE49-F238E27FC236}">
                <a16:creationId xmlns:a16="http://schemas.microsoft.com/office/drawing/2014/main" id="{28241900-71DE-48EC-A279-4E2A6684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314950"/>
            <a:ext cx="13058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5EA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diff-num-0">
            <a:extLst xmlns:a="http://schemas.openxmlformats.org/drawingml/2006/main">
              <a:ext uri="{FF2B5EF4-FFF2-40B4-BE49-F238E27FC236}">
                <a16:creationId xmlns:a16="http://schemas.microsoft.com/office/drawing/2014/main" id="{5B179CE8-6329-4234-8846-DA66D254F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01</a:t>
            </a:r>
          </a:p>
        </p:txBody>
      </p:sp>
      <p:sp>
        <p:nvSpPr>
          <p:cNvPr id="8" name="diff-title-0">
            <a:extLst xmlns:a="http://schemas.openxmlformats.org/drawingml/2006/main">
              <a:ext uri="{FF2B5EF4-FFF2-40B4-BE49-F238E27FC236}">
                <a16:creationId xmlns:a16="http://schemas.microsoft.com/office/drawing/2014/main" id="{3FC5221D-E74B-4DAB-9F37-4393399B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원자료</a:t>
            </a:r>
          </a:p>
        </p:txBody>
      </p:sp>
      <p:sp>
        <p:nvSpPr>
          <p:cNvPr id="9" name="diff-body-0">
            <a:extLst xmlns:a="http://schemas.openxmlformats.org/drawingml/2006/main">
              <a:ext uri="{FF2B5EF4-FFF2-40B4-BE49-F238E27FC236}">
                <a16:creationId xmlns:a16="http://schemas.microsoft.com/office/drawing/2014/main" id="{397EA389-F953-4FF3-BE82-156ECEFA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한국관광 데이터랩과 허용 Open API의 지역별 월간 방문·소비 지표를 사용합니다. 지역코드·기준월·지표 정의를 함께 저장합니다.</a:t>
            </a:r>
          </a:p>
        </p:txBody>
      </p:sp>
      <p:sp>
        <p:nvSpPr>
          <p:cNvPr id="10" name="diff-plus-0">
            <a:extLst xmlns:a="http://schemas.openxmlformats.org/drawingml/2006/main">
              <a:ext uri="{FF2B5EF4-FFF2-40B4-BE49-F238E27FC236}">
                <a16:creationId xmlns:a16="http://schemas.microsoft.com/office/drawing/2014/main" id="{FA8127FD-DDBD-4B6D-8DD4-2CDCD1825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지표명 · 기준월 · 지역코드</a:t>
            </a:r>
          </a:p>
        </p:txBody>
      </p:sp>
      <p:sp>
        <p:nvSpPr>
          <p:cNvPr id="11" name="diff-plus-orange-0">
            <a:extLst xmlns:a="http://schemas.openxmlformats.org/drawingml/2006/main">
              <a:ext uri="{FF2B5EF4-FFF2-40B4-BE49-F238E27FC236}">
                <a16:creationId xmlns:a16="http://schemas.microsoft.com/office/drawing/2014/main" id="{A57412D2-7DF5-4C59-A785-8AEB44289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2" name="diff-num-1">
            <a:extLst xmlns:a="http://schemas.openxmlformats.org/drawingml/2006/main">
              <a:ext uri="{FF2B5EF4-FFF2-40B4-BE49-F238E27FC236}">
                <a16:creationId xmlns:a16="http://schemas.microsoft.com/office/drawing/2014/main" id="{042D6BFD-8C70-44F2-A6AF-68361E6F0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78130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02</a:t>
            </a:r>
          </a:p>
        </p:txBody>
      </p:sp>
      <p:sp>
        <p:nvSpPr>
          <p:cNvPr id="13" name="diff-title-1">
            <a:extLst xmlns:a="http://schemas.openxmlformats.org/drawingml/2006/main">
              <a:ext uri="{FF2B5EF4-FFF2-40B4-BE49-F238E27FC236}">
                <a16:creationId xmlns:a16="http://schemas.microsoft.com/office/drawing/2014/main" id="{39052A63-7565-4AFB-A81A-781058D9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280035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머신러닝 전망</a:t>
            </a:r>
            <a:endParaRPr sz="2400" b="0" i="0">
              <a:solidFill>
                <a:srgbClr val="18191B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4" name="diff-body-1">
            <a:extLst xmlns:a="http://schemas.openxmlformats.org/drawingml/2006/main">
              <a:ext uri="{FF2B5EF4-FFF2-40B4-BE49-F238E27FC236}">
                <a16:creationId xmlns:a16="http://schemas.microsoft.com/office/drawing/2014/main" id="{749EFAD3-629C-4E57-9A57-2F5E39609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7662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확보한 월별 데이터를 시간순으로 학습·검증합니다. 계절 기준 모델보다 나은 전망만 사용하고 모델 버전을 남깁니다.</a:t>
            </a:r>
          </a:p>
        </p:txBody>
      </p:sp>
      <p:sp>
        <p:nvSpPr>
          <p:cNvPr id="15" name="diff-plus-1">
            <a:extLst xmlns:a="http://schemas.openxmlformats.org/drawingml/2006/main">
              <a:ext uri="{FF2B5EF4-FFF2-40B4-BE49-F238E27FC236}">
                <a16:creationId xmlns:a16="http://schemas.microsoft.com/office/drawing/2014/main" id="{BEE72E06-DEDE-432B-B6B9-6F96F1CF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1012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학습기간 · 모델명 · MAE/RMSE · 버전</a:t>
            </a:r>
          </a:p>
        </p:txBody>
      </p:sp>
      <p:sp>
        <p:nvSpPr>
          <p:cNvPr id="16" name="diff-plus-orange-1">
            <a:extLst xmlns:a="http://schemas.openxmlformats.org/drawingml/2006/main">
              <a:ext uri="{FF2B5EF4-FFF2-40B4-BE49-F238E27FC236}">
                <a16:creationId xmlns:a16="http://schemas.microsoft.com/office/drawing/2014/main" id="{9BFE81BE-C35B-4BD3-9F38-0E41CB9FA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1012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17" name="diff-num-2">
            <a:extLst xmlns:a="http://schemas.openxmlformats.org/drawingml/2006/main">
              <a:ext uri="{FF2B5EF4-FFF2-40B4-BE49-F238E27FC236}">
                <a16:creationId xmlns:a16="http://schemas.microsoft.com/office/drawing/2014/main" id="{4D448592-403C-4EF4-8007-F16B4D59C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03</a:t>
            </a:r>
          </a:p>
        </p:txBody>
      </p:sp>
      <p:sp>
        <p:nvSpPr>
          <p:cNvPr id="18" name="diff-title-2">
            <a:extLst xmlns:a="http://schemas.openxmlformats.org/drawingml/2006/main">
              <a:ext uri="{FF2B5EF4-FFF2-40B4-BE49-F238E27FC236}">
                <a16:creationId xmlns:a16="http://schemas.microsoft.com/office/drawing/2014/main" id="{5D9F67B1-93E0-43C5-91C6-C0426605B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공식 사례·웹검색</a:t>
            </a:r>
          </a:p>
        </p:txBody>
      </p:sp>
      <p:sp>
        <p:nvSpPr>
          <p:cNvPr id="19" name="diff-body-2">
            <a:extLst xmlns:a="http://schemas.openxmlformats.org/drawingml/2006/main">
              <a:ext uri="{FF2B5EF4-FFF2-40B4-BE49-F238E27FC236}">
                <a16:creationId xmlns:a16="http://schemas.microsoft.com/office/drawing/2014/main" id="{EB459863-C1CA-487A-9CB6-3FB96BA58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문화체육관광부·한국관광공사·지자체 등 공식 원문을 우선 확인합니다. 운영 방식과 강남 적용 차이를 출처와 함께 기록합니다.</a:t>
            </a:r>
          </a:p>
        </p:txBody>
      </p:sp>
      <p:sp>
        <p:nvSpPr>
          <p:cNvPr id="20" name="diff-plus-2">
            <a:extLst xmlns:a="http://schemas.openxmlformats.org/drawingml/2006/main">
              <a:ext uri="{FF2B5EF4-FFF2-40B4-BE49-F238E27FC236}">
                <a16:creationId xmlns:a16="http://schemas.microsoft.com/office/drawing/2014/main" id="{7303984B-C6EE-4C86-9BC4-B30BBF18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기관 · 문서명 · URL · 확인일</a:t>
            </a:r>
          </a:p>
        </p:txBody>
      </p:sp>
      <p:sp>
        <p:nvSpPr>
          <p:cNvPr id="21" name="diff-plus-orange-2">
            <a:extLst xmlns:a="http://schemas.openxmlformats.org/drawingml/2006/main">
              <a:ext uri="{FF2B5EF4-FFF2-40B4-BE49-F238E27FC236}">
                <a16:creationId xmlns:a16="http://schemas.microsoft.com/office/drawing/2014/main" id="{0B6717C1-A26D-4507-A5EF-57A37FEF7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  <p:sp>
        <p:nvSpPr>
          <p:cNvPr id="22" name="diff-num-3">
            <a:extLst xmlns:a="http://schemas.openxmlformats.org/drawingml/2006/main">
              <a:ext uri="{FF2B5EF4-FFF2-40B4-BE49-F238E27FC236}">
                <a16:creationId xmlns:a16="http://schemas.microsoft.com/office/drawing/2014/main" id="{557E9041-6D43-44D5-AC83-F2F91E6F5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505450"/>
            <a:ext cx="54292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2475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04</a:t>
            </a:r>
          </a:p>
        </p:txBody>
      </p:sp>
      <p:sp>
        <p:nvSpPr>
          <p:cNvPr id="23" name="diff-title-3">
            <a:extLst xmlns:a="http://schemas.openxmlformats.org/drawingml/2006/main">
              <a:ext uri="{FF2B5EF4-FFF2-40B4-BE49-F238E27FC236}">
                <a16:creationId xmlns:a16="http://schemas.microsoft.com/office/drawing/2014/main" id="{87DB96F2-E1FB-4ACE-9435-CA8265449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524500"/>
            <a:ext cx="535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AI 작성·검수</a:t>
            </a:r>
          </a:p>
        </p:txBody>
      </p:sp>
      <p:sp>
        <p:nvSpPr>
          <p:cNvPr id="24" name="diff-body-3">
            <a:extLst xmlns:a="http://schemas.openxmlformats.org/drawingml/2006/main">
              <a:ext uri="{FF2B5EF4-FFF2-40B4-BE49-F238E27FC236}">
                <a16:creationId xmlns:a16="http://schemas.microsoft.com/office/drawing/2014/main" id="{7D299F22-9EC3-4717-985C-5C94FACD8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6200775"/>
            <a:ext cx="5953125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5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실제 실행 이력에 사용한 로컬 LLM·OpenAI 단계만 표시합니다. 관측 사실, ML 전망, 전략 제안을 서로 분리해 검수합니다.</a:t>
            </a:r>
          </a:p>
        </p:txBody>
      </p:sp>
      <p:sp>
        <p:nvSpPr>
          <p:cNvPr id="25" name="diff-plus-3">
            <a:extLst xmlns:a="http://schemas.openxmlformats.org/drawingml/2006/main">
              <a:ext uri="{FF2B5EF4-FFF2-40B4-BE49-F238E27FC236}">
                <a16:creationId xmlns:a16="http://schemas.microsoft.com/office/drawing/2014/main" id="{13001AD4-1711-4DB5-801D-66759E0AD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7534275"/>
            <a:ext cx="5581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모델 · 단계 · 근거 연결 · 검수 결과</a:t>
            </a:r>
          </a:p>
        </p:txBody>
      </p:sp>
      <p:sp>
        <p:nvSpPr>
          <p:cNvPr id="26" name="diff-plus-orange-3">
            <a:extLst xmlns:a="http://schemas.openxmlformats.org/drawingml/2006/main">
              <a:ext uri="{FF2B5EF4-FFF2-40B4-BE49-F238E27FC236}">
                <a16:creationId xmlns:a16="http://schemas.microsoft.com/office/drawing/2014/main" id="{2AA2B92A-6911-4A37-BBF4-70B85C3E0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7534275"/>
            <a:ext cx="171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 i="0">
                <a:solidFill>
                  <a:srgbClr val="F97316"/>
                </a:solidFill>
                <a:latin typeface="Noto Sans KR"/>
                <a:ea typeface="Noto Sans KR"/>
                <a:cs typeface="Noto Sans KR"/>
              </a:defRPr>
            </a:pPr>
            <a:r>
              <a:rPr sz="1425" b="1" i="0">
                <a:solidFill>
                  <a:srgbClr val="FF6B00"/>
                </a:solidFill>
                <a:latin typeface="Noto Sans KR"/>
                <a:ea typeface="Noto Sans KR"/>
                <a:cs typeface="Noto Sans KR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9306943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4F7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background-wordmark">
            <a:extLst xmlns:a="http://schemas.openxmlformats.org/drawingml/2006/main">
              <a:ext uri="{FF2B5EF4-FFF2-40B4-BE49-F238E27FC236}">
                <a16:creationId xmlns:a16="http://schemas.microsoft.com/office/drawing/2014/main" id="{77FB509F-5920-492C-9117-3338D34B0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552450" y="2857500"/>
            <a:ext cx="163830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86111" lnSpcReduction="1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defRPr>
            </a:pPr>
            <a:r>
              <a:rPr sz="22500" b="1" i="0">
                <a:solidFill>
                  <a:srgbClr val="E7EDF4"/>
                </a:solidFill>
                <a:latin typeface="Noto Sans KR"/>
                <a:ea typeface="Noto Sans KR"/>
                <a:cs typeface="Noto Sans KR"/>
              </a:rPr>
              <a:t>TOURISM AI</a:t>
            </a:r>
          </a:p>
        </p:txBody>
      </p:sp>
      <p:sp>
        <p:nvSpPr>
          <p:cNvPr id="2" name="center-top-vertical">
            <a:extLst xmlns:a="http://schemas.openxmlformats.org/drawingml/2006/main">
              <a:ext uri="{FF2B5EF4-FFF2-40B4-BE49-F238E27FC236}">
                <a16:creationId xmlns:a16="http://schemas.microsoft.com/office/drawing/2014/main" id="{B1DEDF35-13EE-406A-AC8E-214EDD2F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895350"/>
            <a:ext cx="0" cy="1257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center-bottom-vertical">
            <a:extLst xmlns:a="http://schemas.openxmlformats.org/drawingml/2006/main">
              <a:ext uri="{FF2B5EF4-FFF2-40B4-BE49-F238E27FC236}">
                <a16:creationId xmlns:a16="http://schemas.microsoft.com/office/drawing/2014/main" id="{D3C6583A-243C-4B40-B28E-68DDCD82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6410325"/>
            <a:ext cx="0" cy="1247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title-panel">
            <a:extLst xmlns:a="http://schemas.openxmlformats.org/drawingml/2006/main">
              <a:ext uri="{FF2B5EF4-FFF2-40B4-BE49-F238E27FC236}">
                <a16:creationId xmlns:a16="http://schemas.microsoft.com/office/drawing/2014/main" id="{EE1DECE5-AA5E-4E34-834B-AD62B1CB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429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title-panel-top">
            <a:extLst xmlns:a="http://schemas.openxmlformats.org/drawingml/2006/main">
              <a:ext uri="{FF2B5EF4-FFF2-40B4-BE49-F238E27FC236}">
                <a16:creationId xmlns:a16="http://schemas.microsoft.com/office/drawing/2014/main" id="{6C123102-52FB-43EB-A3A5-744861F98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14550"/>
            <a:ext cx="826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4EA2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ecurity-label">
            <a:extLst xmlns:a="http://schemas.openxmlformats.org/drawingml/2006/main">
              <a:ext uri="{FF2B5EF4-FFF2-40B4-BE49-F238E27FC236}">
                <a16:creationId xmlns:a16="http://schemas.microsoft.com/office/drawing/2014/main" id="{EA7BB441-19DF-412D-93DE-6B5F825D6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43225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TOURISM STRATEGY · NEXT STEP</a:t>
            </a:r>
          </a:p>
        </p:txBody>
      </p:sp>
      <p:sp>
        <p:nvSpPr>
          <p:cNvPr id="7" name="cover-title-line1">
            <a:extLst xmlns:a="http://schemas.openxmlformats.org/drawingml/2006/main">
              <a:ext uri="{FF2B5EF4-FFF2-40B4-BE49-F238E27FC236}">
                <a16:creationId xmlns:a16="http://schemas.microsoft.com/office/drawing/2014/main" id="{4D06E463-555F-4ED7-A555-6F2BBA28E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638550"/>
            <a:ext cx="673417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3525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4500" b="1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감사합니다</a:t>
            </a:r>
          </a:p>
        </p:txBody>
      </p:sp>
      <p:sp>
        <p:nvSpPr>
          <p:cNvPr id="8" name="cover-title-line2">
            <a:extLst xmlns:a="http://schemas.openxmlformats.org/drawingml/2006/main">
              <a:ext uri="{FF2B5EF4-FFF2-40B4-BE49-F238E27FC236}">
                <a16:creationId xmlns:a16="http://schemas.microsoft.com/office/drawing/2014/main" id="{055E2330-B51B-4A73-961A-2CE79A60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438650"/>
            <a:ext cx="7381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625" b="1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2775" b="1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데이터로 검증하고, 현장에서 완성합니다</a:t>
            </a:r>
          </a:p>
        </p:txBody>
      </p:sp>
      <p:sp>
        <p:nvSpPr>
          <p:cNvPr id="9" name="date-rule-left">
            <a:extLst xmlns:a="http://schemas.openxmlformats.org/drawingml/2006/main">
              <a:ext uri="{FF2B5EF4-FFF2-40B4-BE49-F238E27FC236}">
                <a16:creationId xmlns:a16="http://schemas.microsoft.com/office/drawing/2014/main" id="{ADF95A54-AD3A-46B3-8204-A4A4C1780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cover-date">
            <a:extLst xmlns:a="http://schemas.openxmlformats.org/drawingml/2006/main">
              <a:ext uri="{FF2B5EF4-FFF2-40B4-BE49-F238E27FC236}">
                <a16:creationId xmlns:a16="http://schemas.microsoft.com/office/drawing/2014/main" id="{D9CF49F9-166E-4877-8903-09E88A51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3340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defRPr>
            </a:pPr>
            <a:r>
              <a:rPr sz="1575" b="0" i="0">
                <a:solidFill>
                  <a:srgbClr val="1B1F23"/>
                </a:solidFill>
                <a:latin typeface="Noto Sans KR"/>
                <a:ea typeface="Noto Sans KR"/>
                <a:cs typeface="Noto Sans KR"/>
              </a:rPr>
              <a:t>시범 권역 · 운영기간 · 예산 범위 확정</a:t>
            </a:r>
          </a:p>
        </p:txBody>
      </p:sp>
      <p:sp>
        <p:nvSpPr>
          <p:cNvPr id="11" name="date-rule-right">
            <a:extLst xmlns:a="http://schemas.openxmlformats.org/drawingml/2006/main">
              <a:ext uri="{FF2B5EF4-FFF2-40B4-BE49-F238E27FC236}">
                <a16:creationId xmlns:a16="http://schemas.microsoft.com/office/drawing/2014/main" id="{D63894DC-8857-4AFB-9D30-D40A61F1C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514975"/>
            <a:ext cx="419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org-title">
            <a:extLst xmlns:a="http://schemas.openxmlformats.org/drawingml/2006/main">
              <a:ext uri="{FF2B5EF4-FFF2-40B4-BE49-F238E27FC236}">
                <a16:creationId xmlns:a16="http://schemas.microsoft.com/office/drawing/2014/main" id="{BFAE34B7-AC7B-4526-88A3-D8CECFF06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58625" y="100965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1500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서울특별시 강남구</a:t>
            </a:r>
          </a:p>
        </p:txBody>
      </p:sp>
      <p:sp>
        <p:nvSpPr>
          <p:cNvPr id="13" name="org-orange-rule">
            <a:extLst xmlns:a="http://schemas.openxmlformats.org/drawingml/2006/main">
              <a:ext uri="{FF2B5EF4-FFF2-40B4-BE49-F238E27FC236}">
                <a16:creationId xmlns:a16="http://schemas.microsoft.com/office/drawing/2014/main" id="{284EC6E3-1D8E-4934-8C5E-B43BDD64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92175" y="1390650"/>
            <a:ext cx="647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0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org-owner">
            <a:extLst xmlns:a="http://schemas.openxmlformats.org/drawingml/2006/main">
              <a:ext uri="{FF2B5EF4-FFF2-40B4-BE49-F238E27FC236}">
                <a16:creationId xmlns:a16="http://schemas.microsoft.com/office/drawing/2014/main" id="{2CD7CFDD-25BB-432C-BC3B-756F92EB8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1581150"/>
            <a:ext cx="1905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defRPr>
            </a:pPr>
            <a:r>
              <a:rPr sz="1238" b="0" i="0">
                <a:solidFill>
                  <a:srgbClr val="59636E"/>
                </a:solidFill>
                <a:latin typeface="Noto Sans KR"/>
                <a:ea typeface="Noto Sans KR"/>
                <a:cs typeface="Noto Sans KR"/>
              </a:rPr>
              <a:t>[담당부서 / 담당자]</a:t>
            </a:r>
          </a:p>
        </p:txBody>
      </p:sp>
      <p:sp>
        <p:nvSpPr>
          <p:cNvPr id="15" name="report-number">
            <a:extLst xmlns:a="http://schemas.openxmlformats.org/drawingml/2006/main">
              <a:ext uri="{FF2B5EF4-FFF2-40B4-BE49-F238E27FC236}">
                <a16:creationId xmlns:a16="http://schemas.microsoft.com/office/drawing/2014/main" id="{91C450AB-B31C-4B87-BDB0-6281DFDBC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315075"/>
            <a:ext cx="35147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defRPr>
            </a:pPr>
            <a:r>
              <a:rPr sz="1350" b="1" i="0">
                <a:solidFill>
                  <a:srgbClr val="00B7C9"/>
                </a:solidFill>
                <a:latin typeface="Noto Sans KR"/>
                <a:ea typeface="Noto Sans KR"/>
                <a:cs typeface="Noto Sans KR"/>
              </a:rPr>
              <a:t>NEXT STEP</a:t>
            </a:r>
          </a:p>
        </p:txBody>
      </p:sp>
      <p:sp>
        <p:nvSpPr>
          <p:cNvPr id="16" name="report-topic">
            <a:extLst xmlns:a="http://schemas.openxmlformats.org/drawingml/2006/main">
              <a:ext uri="{FF2B5EF4-FFF2-40B4-BE49-F238E27FC236}">
                <a16:creationId xmlns:a16="http://schemas.microsoft.com/office/drawing/2014/main" id="{79974288-A39D-407D-8F48-874FFA409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6724650"/>
            <a:ext cx="3514725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시범 운영 조건 확정 및</a:t>
            </a:r>
          </a:p>
          <a:p xmlns:a="http://schemas.openxmlformats.org/drawingml/2006/main">
            <a:pPr algn="l">
              <a:buNone/>
              <a:defRPr sz="23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1" i="0">
                <a:solidFill>
                  <a:srgbClr val="004EA2"/>
                </a:solidFill>
                <a:latin typeface="Noto Sans KR"/>
                <a:ea typeface="Noto Sans KR"/>
                <a:cs typeface="Noto Sans KR"/>
              </a:rPr>
              <a:t>참여처 협약 착수</a:t>
            </a:r>
            <a:endParaRPr sz="3150" b="1" i="0">
              <a:solidFill>
                <a:srgbClr val="004EA2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7" name="corner-tl-h">
            <a:extLst xmlns:a="http://schemas.openxmlformats.org/drawingml/2006/main">
              <a:ext uri="{FF2B5EF4-FFF2-40B4-BE49-F238E27FC236}">
                <a16:creationId xmlns:a16="http://schemas.microsoft.com/office/drawing/2014/main" id="{85098CA2-D674-4C13-AAED-97DC2B166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corner-tl-v">
            <a:extLst xmlns:a="http://schemas.openxmlformats.org/drawingml/2006/main">
              <a:ext uri="{FF2B5EF4-FFF2-40B4-BE49-F238E27FC236}">
                <a16:creationId xmlns:a16="http://schemas.microsoft.com/office/drawing/2014/main" id="{30186634-254F-4224-B08F-40BB6E5B3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912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corner-br-h">
            <a:extLst xmlns:a="http://schemas.openxmlformats.org/drawingml/2006/main">
              <a:ext uri="{FF2B5EF4-FFF2-40B4-BE49-F238E27FC236}">
                <a16:creationId xmlns:a16="http://schemas.microsoft.com/office/drawing/2014/main" id="{95077333-21E3-42BF-9CBB-698C3BEE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82775" y="7943850"/>
            <a:ext cx="2952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corner-br-v">
            <a:extLst xmlns:a="http://schemas.openxmlformats.org/drawingml/2006/main">
              <a:ext uri="{FF2B5EF4-FFF2-40B4-BE49-F238E27FC236}">
                <a16:creationId xmlns:a16="http://schemas.microsoft.com/office/drawing/2014/main" id="{81015BD6-64EA-4BC0-A2BD-BDDA9641D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8050" y="7648575"/>
            <a:ext cx="0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C1D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6554118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2026-09-04T02:28:38.5450000Z</dcterms:created>
  <dcterms:modified xsi:type="dcterms:W3CDTF">2026-09-04T02:28:38.5450000Z</dcterms:modified>
</coreProperties>
</file>