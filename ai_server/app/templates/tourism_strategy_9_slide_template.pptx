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09da0203c438b" /><Relationship Type="http://schemas.openxmlformats.org/officeDocument/2006/relationships/extended-properties" Target="/docProps/app.xml" Id="R6d86d1ee0e61418b" /><Relationship Type="http://schemas.openxmlformats.org/officeDocument/2006/relationships/officeDocument" Target="/ppt/presentation.xml" Id="Rc56c1058192245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b939c5e5234ac4"/>
  </p:sldMasterIdLst>
  <p:notesMasterIdLst>
    <p:notesMasterId xmlns:r="http://schemas.openxmlformats.org/officeDocument/2006/relationships" r:id="R6969d716aa99409d"/>
  </p:notesMasterIdLst>
  <p:sldIdLst>
    <p:sldId xmlns:r="http://schemas.openxmlformats.org/officeDocument/2006/relationships" id="256" r:id="Re02fb8086fd74c89"/>
    <p:sldId xmlns:r="http://schemas.openxmlformats.org/officeDocument/2006/relationships" id="257" r:id="Rcb04ad6455954745"/>
    <p:sldId xmlns:r="http://schemas.openxmlformats.org/officeDocument/2006/relationships" id="258" r:id="R3bd06c2f519d4920"/>
    <p:sldId xmlns:r="http://schemas.openxmlformats.org/officeDocument/2006/relationships" id="259" r:id="R47d182abe3e94d3c"/>
    <p:sldId xmlns:r="http://schemas.openxmlformats.org/officeDocument/2006/relationships" id="260" r:id="Rc2e5b60dc3164b07"/>
    <p:sldId xmlns:r="http://schemas.openxmlformats.org/officeDocument/2006/relationships" id="261" r:id="Rd35fcb5776d14af3"/>
    <p:sldId xmlns:r="http://schemas.openxmlformats.org/officeDocument/2006/relationships" id="262" r:id="R8d14aee653b9438b"/>
    <p:sldId xmlns:r="http://schemas.openxmlformats.org/officeDocument/2006/relationships" id="263" r:id="R62a36befd36a49f2"/>
    <p:sldId xmlns:r="http://schemas.openxmlformats.org/officeDocument/2006/relationships" id="264" r:id="R0874f590e25045f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f199975b21441f" /><Relationship Type="http://schemas.openxmlformats.org/officeDocument/2006/relationships/slideMaster" Target="/ppt/slideMasters/slideMaster1.xml" Id="R39b939c5e5234ac4" /><Relationship Type="http://schemas.openxmlformats.org/officeDocument/2006/relationships/notesMaster" Target="/ppt/notesMasters/notesMaster1.xml" Id="R6969d716aa99409d" /><Relationship Type="http://schemas.openxmlformats.org/officeDocument/2006/relationships/presProps" Target="/ppt/presProps.xml" Id="Ree6556be4de746d7" /><Relationship Type="http://schemas.openxmlformats.org/officeDocument/2006/relationships/viewProps" Target="/ppt/viewProps.xml" Id="R1ee45211e3994466" /><Relationship Type="http://schemas.openxmlformats.org/officeDocument/2006/relationships/tableStyles" Target="/ppt/tableStyles.xml" Id="R5a5e4602ac4f46df" /><Relationship Type="http://schemas.openxmlformats.org/officeDocument/2006/relationships/slide" Target="/ppt/slides/slide1.xml" Id="Re02fb8086fd74c89" /><Relationship Type="http://schemas.openxmlformats.org/officeDocument/2006/relationships/slide" Target="/ppt/slides/slide2.xml" Id="Rcb04ad6455954745" /><Relationship Type="http://schemas.openxmlformats.org/officeDocument/2006/relationships/slide" Target="/ppt/slides/slide3.xml" Id="R3bd06c2f519d4920" /><Relationship Type="http://schemas.openxmlformats.org/officeDocument/2006/relationships/slide" Target="/ppt/slides/slide4.xml" Id="R47d182abe3e94d3c" /><Relationship Type="http://schemas.openxmlformats.org/officeDocument/2006/relationships/slide" Target="/ppt/slides/slide5.xml" Id="Rc2e5b60dc3164b07" /><Relationship Type="http://schemas.openxmlformats.org/officeDocument/2006/relationships/slide" Target="/ppt/slides/slide6.xml" Id="Rd35fcb5776d14af3" /><Relationship Type="http://schemas.openxmlformats.org/officeDocument/2006/relationships/slide" Target="/ppt/slides/slide7.xml" Id="R8d14aee653b9438b" /><Relationship Type="http://schemas.openxmlformats.org/officeDocument/2006/relationships/slide" Target="/ppt/slides/slide8.xml" Id="R62a36befd36a49f2" /><Relationship Type="http://schemas.openxmlformats.org/officeDocument/2006/relationships/slide" Target="/ppt/slides/slide9.xml" Id="R0874f590e25045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19f184c1f241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12752e711e4693" /><Relationship Type="http://schemas.openxmlformats.org/officeDocument/2006/relationships/notesMaster" Target="/ppt/notesMasters/notesMaster1.xml" Id="Ra34e42b035ec46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f21571cdb04644" /><Relationship Type="http://schemas.openxmlformats.org/officeDocument/2006/relationships/notesMaster" Target="/ppt/notesMasters/notesMaster1.xml" Id="Rc80c8ce8ad6d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0f94e45075455a" /><Relationship Type="http://schemas.openxmlformats.org/officeDocument/2006/relationships/notesMaster" Target="/ppt/notesMasters/notesMaster1.xml" Id="R3e1f6f88442545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59d41fb85a4c30" /><Relationship Type="http://schemas.openxmlformats.org/officeDocument/2006/relationships/notesMaster" Target="/ppt/notesMasters/notesMaster1.xml" Id="Rafc8408ac9fd4e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cc85f542c64b18" /><Relationship Type="http://schemas.openxmlformats.org/officeDocument/2006/relationships/notesMaster" Target="/ppt/notesMasters/notesMaster1.xml" Id="R2599164b0a7d4a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dd9da96a5b4998" /><Relationship Type="http://schemas.openxmlformats.org/officeDocument/2006/relationships/notesMaster" Target="/ppt/notesMasters/notesMaster1.xml" Id="R545b2d2d009c4a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574ea97ed34514" /><Relationship Type="http://schemas.openxmlformats.org/officeDocument/2006/relationships/notesMaster" Target="/ppt/notesMasters/notesMaster1.xml" Id="R86953e3deee642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d370abda274556" /><Relationship Type="http://schemas.openxmlformats.org/officeDocument/2006/relationships/notesMaster" Target="/ppt/notesMasters/notesMaster1.xml" Id="R7a3c5c33140a4f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45c48187364500" /><Relationship Type="http://schemas.openxmlformats.org/officeDocument/2006/relationships/notesMaster" Target="/ppt/notesMasters/notesMaster1.xml" Id="Rb60d0efb416346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35강남구_관광전략기획안_최종_샘플.pptx, slide 1. Existing sample content and assets retained; no new actual research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35강남구_관광전략기획안_최종_샘플.pptx, slide 2. Existing sample content and assets retained; no new actual research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35강남구_관광전략기획안_최종_샘플.pptx, slide 3. Existing sample content and assets retained; no new actual research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35강남구_관광전략기획안_최종_샘플.pptx, slide 4. Existing sample content and assets retained; no new actual research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35강남구_관광전략기획안_최종_샘플.pptx, slide 5. Existing sample content and assets retained; no new actual research claim introduced.</a:t>
            </a:r>
          </a:p>
          <a:p xmlns:a="http://schemas.openxmlformats.org/drawingml/2006/main">
            <a:r>
              <a:t>Index chart derives from source example YoY -8.3%: 100 × (1 - 0.083) = 91.7. It is not a cross-region comparison.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35강남구_관광전략기획안_최종_샘플.pptx, slide 6. Existing sample content and assets retained; no new actual research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35강남구_관광전략기획안_최종_샘플.pptx, slide 7. Existing sample content and assets retained; no new actual research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35강남구_관광전략기획안_최종_샘플.pptx, slide 8. Existing sample content and assets retained; no new actual research claim introduced.</a:t>
            </a:r>
          </a:p>
          <a:p xmlns:a="http://schemas.openxmlformats.org/drawingml/2006/main">
            <a:r>
              <a:t>Illustrative budget: 108+60+28+22+14+8=240 million KRW. Share labels rounded to integers. Not a vendor quotation.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35강남구_관광전략기획안_최종_샘플.pptx, slide 9. Existing sample content and assets retained; no new actual research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1a0aa09bf47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364f7fc58c43bc" /><Relationship Type="http://schemas.openxmlformats.org/officeDocument/2006/relationships/slideLayout" Target="/ppt/slideLayouts/slideLayout1.xml" Id="R6acc6b8792df4d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cc6b8792df4d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9f85e79ee4a37" /><Relationship Type="http://schemas.openxmlformats.org/officeDocument/2006/relationships/notesSlide" Target="/ppt/notesSlides/notesSlide1.xml" Id="Rcf41032c6ab048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eb0f5ae6f4506" /><Relationship Type="http://schemas.openxmlformats.org/officeDocument/2006/relationships/notesSlide" Target="/ppt/notesSlides/notesSlide2.xml" Id="R873d2f1c47984b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be809fe3c43ee" /><Relationship Type="http://schemas.openxmlformats.org/officeDocument/2006/relationships/image" Target="/ppt/media/image.png" Id="Rdd55f619d0154948" /><Relationship Type="http://schemas.openxmlformats.org/officeDocument/2006/relationships/notesSlide" Target="/ppt/notesSlides/notesSlide3.xml" Id="R222fc9c7b01441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910623914436f" /><Relationship Type="http://schemas.openxmlformats.org/officeDocument/2006/relationships/chart" Target="/ppt/slides/charts/chart1.xml" Id="R5a5a26efc7dd4879" /><Relationship Type="http://schemas.openxmlformats.org/officeDocument/2006/relationships/chart" Target="/ppt/slides/charts/chart2.xml" Id="Rcb432f50ebbb4ec0" /><Relationship Type="http://schemas.openxmlformats.org/officeDocument/2006/relationships/notesSlide" Target="/ppt/notesSlides/notesSlide4.xml" Id="R95531586c8804f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a712f3d6142ca" /><Relationship Type="http://schemas.openxmlformats.org/officeDocument/2006/relationships/chart" Target="/ppt/slides/charts/chart3.xml" Id="Rd58a4afe44954768" /><Relationship Type="http://schemas.openxmlformats.org/officeDocument/2006/relationships/notesSlide" Target="/ppt/notesSlides/notesSlide5.xml" Id="Rcb8d7a43b17647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6ba1fb8ee479f" /><Relationship Type="http://schemas.openxmlformats.org/officeDocument/2006/relationships/notesSlide" Target="/ppt/notesSlides/notesSlide6.xml" Id="Rd057701553a241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55990716a4721" /><Relationship Type="http://schemas.openxmlformats.org/officeDocument/2006/relationships/notesSlide" Target="/ppt/notesSlides/notesSlide7.xml" Id="Re0bd47a9a11f40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5be0770e3464f" /><Relationship Type="http://schemas.openxmlformats.org/officeDocument/2006/relationships/notesSlide" Target="/ppt/notesSlides/notesSlide8.xml" Id="Rcef859f91ef343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d8e384a8c45f0" /><Relationship Type="http://schemas.openxmlformats.org/officeDocument/2006/relationships/notesSlide" Target="/ppt/notesSlides/notesSlide9.xml" Id="Ra5c356e7642d4b42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04EA2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26.07</c:v>
                </c:pt>
                <c:pt idx="1">
                  <c:v>9월</c:v>
                </c:pt>
                <c:pt idx="2">
                  <c:v>10월</c:v>
                </c:pt>
                <c:pt idx="3">
                  <c:v>11월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1796.3</c:v>
                </c:pt>
                <c:pt idx="1">
                  <c:v>1815</c:v>
                </c:pt>
                <c:pt idx="2">
                  <c:v>1848</c:v>
                </c:pt>
                <c:pt idx="3">
                  <c:v>1873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solidFill xmlns:a="http://schemas.openxmlformats.org/drawingml/2006/main">
              <a:srgbClr val="00B7C9"/>
            </a:solidFill>
            <a:ln xmlns:a="http://schemas.openxmlformats.org/drawingml/2006/main" w="19050">
              <a:solidFill>
                <a:srgbClr val="00B7C9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solidFill>
                      <a:srgbClr val="1B1F2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9월</c:v>
                </c:pt>
                <c:pt idx="1">
                  <c:v>10월</c:v>
                </c:pt>
                <c:pt idx="2">
                  <c:v>11월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4760</c:v>
                </c:pt>
                <c:pt idx="1">
                  <c:v>4910</c:v>
                </c:pt>
                <c:pt idx="2">
                  <c:v>5060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오프라인 샘플 · Agent 미실행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방문을 지역 소비로 연결하는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03일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 검토용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API 미호출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2026-09-03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개요·기획 배경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예산·성과 측정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기대 효과·확대 판단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5f619d0154948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667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486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이미지: 첨부 템플릿 시각화 · 공식 장소 사진 아님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2417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수요를 체류·소비로 잇는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관광코스를 시범 운영합니다.</a:t>
            </a:r>
            <a:endParaRPr sz="2175" b="1" i="0">
              <a:solidFill>
                <a:srgbClr val="1B1F2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0025"/>
            <a:ext cx="852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명소와 참여 상점을 한 동선으로 묶습니다. 코스 이용과 후속 결제 기록을 확인해, 방문이 지역 소비로 이어지는지 검증합니다.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전년 같은 달 대비 방문 변화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05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예시에서는 방문이 전년 같은 달보다 줄었습니다. 신규 집객만 늘리기보다, 이미 방문한 사람이 지역 안에서 더 이용하고 소비할 수 있는 동선을 시험합니다.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ML FORECAST · DEMO VALUES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1285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향후 3개월 방문자·소비액 ML 전망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757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보고서는 2024년 이후 확보한 월별 원자료로 학습한 저장 ML 전망을 사용합니다. 사업의 추가 효과와 자연추세는 구분합니다.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수: 1,815만 명 → 1,873만 명</a:t>
            </a:r>
            <a:endParaRPr sz="1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사업을 하지 않을 때의 자연추세 예시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244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만 명 · 더미값</a:t>
            </a:r>
          </a:p>
        </p:txBody>
      </p:sp>
      <p:sp>
        <p:nvSpPr>
          <p:cNvPr id="20" name="forecast-reading-title">
            <a:extLst xmlns:a="http://schemas.openxmlformats.org/drawingml/2006/main">
              <a:ext uri="{FF2B5EF4-FFF2-40B4-BE49-F238E27FC236}">
                <a16:creationId xmlns:a16="http://schemas.microsoft.com/office/drawing/2014/main" id="{1EED468A-01C8-4F6D-9CB2-67932C2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442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해석할 때 주의할 점</a:t>
            </a:r>
          </a:p>
        </p:txBody>
      </p:sp>
      <p:sp>
        <p:nvSpPr>
          <p:cNvPr id="21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DB356FE-1E33-4CFE-92F2-A52EB3A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4210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예측 증가분은 사업 효과가 아닙니다.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운영 기록과 비교해 추가 변화를 봅니다.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009650" y="622935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5a26efc7dd4879"/>
          </a:graphicData>
        </a:graphic>
      </p:graphicFrame>
      <p:sp>
        <p:nvSpPr>
          <p:cNvPr id="23" name="consumption-kicker">
            <a:extLst xmlns:a="http://schemas.openxmlformats.org/drawingml/2006/main">
              <a:ext uri="{FF2B5EF4-FFF2-40B4-BE49-F238E27FC236}">
                <a16:creationId xmlns:a16="http://schemas.microsoft.com/office/drawing/2014/main" id="{FCD36470-B9D8-4ADA-BEDF-FCC219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TOURISM SPENDING FORECAST</a:t>
            </a:r>
          </a:p>
        </p:txBody>
      </p:sp>
      <p:sp>
        <p:nvSpPr>
          <p:cNvPr id="24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5B3B3740-826D-4442-BB95-F7F2309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24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관광소비액: 4,760억 원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9486900" y="3905250"/>
          <a:ext xmlns:a="http://schemas.openxmlformats.org/drawingml/2006/main" cx="4476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432f50ebbb4ec0"/>
          </a:graphicData>
        </a:graphic>
      </p:graphicFrame>
      <p:sp>
        <p:nvSpPr>
          <p:cNvPr id="26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6CA0B01A-B738-454D-A615-D2A73D4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505575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단위: 억 원 · 교육용 더미값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생성 시 저장 ML 전망으로 대체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사업 성과는 별도 비교로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유사 지역·사례로 검토하는 강남구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58775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현재 방문 흐름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예시의 전년 동월 대비 방문 변화입니다.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규모와 지역 내 소비 연결을 함께 확인합니다.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577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샘플 수치 · 실제 비교 자료 아님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577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같은 기준으로 지역 비교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유사 지역의 수치뿐 아니라 운영 비용·참여처·동선을 비교해 강남구에 옮길 수 있는 요소를 고릅니다.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577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샘플에서는 타 지역 우열을 단정하지 않음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577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사례의 작동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사례의 행사명보다 참여 구조·혜택 지급·정산 방식을 봅니다. 운영 근거가 확인된 요소만 가져옵니다.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성과 수치와 현장 조건을 함께 확인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강남구에서 검증할 방식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작은 권역에서 안내·이용·결제를 연결합니다. 이탈 구간과 비용을 기록해 다음 운영안을 결정합니다.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 권역에서 시범 → 검증 후 확대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95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 같은 달 = 100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3053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 대상을 고를 세 가지 기준</a:t>
            </a:r>
          </a:p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규모   ·   체류·소비   ·   운영 여건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595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 · 같은 정의를 먼저 맞춥니다.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체험 콘텐츠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이동 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 이용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코스 안내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 확인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후속 결제</a:t>
            </a:r>
          </a:p>
        </p:txBody>
      </p:sp>
      <p:graphicFrame>
        <p:nvGraphicFramePr>
          <p:cNvPr id="112" name="peer-visitors-yoy-index"/>
          <p:cNvGraphicFramePr/>
          <p:nvPr/>
        </p:nvGraphicFramePr>
        <p:xfrm>
          <a:off xmlns:a="http://schemas.openxmlformats.org/drawingml/2006/main" x="4095750" y="3590925"/>
          <a:ext xmlns:a="http://schemas.openxmlformats.org/drawingml/2006/main" cx="2857500" cy="657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8a4afe44954768"/>
          </a:graphicData>
        </a:graphic>
      </p:graphicFrame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· 4단계 실행 가이드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 업소·동선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시범코스 지도와 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 운영 교육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안내 페이지와 운영 매뉴얼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주말 중심으로 시범 운영하고 이용 건수·업종별 소비·체류 반응 기록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81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 산출물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12201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이용·결제 기록, 참여처별 비용, 민원과 개선 의견을 하나의 결과표로 정리합니다. 기준선과 시범 결과를 같은 방식으로 비교하고, 확대·보완·중단 판단과 다음 운영안을 제출합니다.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14400"/>
            <a:ext cx="11906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목표 · 자연추세와 운영 목표를 구분합니다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수치와 목표는 저장 ML·집행 여건에 따라 결정합니다.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예시 목표 +2%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자연추세와 운영 목표의 배치 예시입니다.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 예시 목표 +3%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관광소비 추세와 운영 목표의 배치 예시입니다.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완료율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예약·이용·결제를 모두 확인한 참여 건을 기준으로 완료율과 민원을 관리합니다.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측정: 예약·입장·결제·민원 기록</a:t>
            </a:r>
          </a:p>
        </p:txBody>
      </p:sp>
      <p:sp>
        <p:nvSpPr>
          <p:cNvPr id="46" name="visit-forecast-bar">
            <a:extLst xmlns:a="http://schemas.openxmlformats.org/drawingml/2006/main">
              <a:ext uri="{FF2B5EF4-FFF2-40B4-BE49-F238E27FC236}">
                <a16:creationId xmlns:a16="http://schemas.microsoft.com/office/drawing/2014/main" id="{7EAE788A-E562-434D-AC49-CD849B5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81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visit-target-bar">
            <a:extLst xmlns:a="http://schemas.openxmlformats.org/drawingml/2006/main">
              <a:ext uri="{FF2B5EF4-FFF2-40B4-BE49-F238E27FC236}">
                <a16:creationId xmlns:a16="http://schemas.microsoft.com/office/drawing/2014/main" id="{9D78738B-2F2C-452C-B80F-CC489B9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48150"/>
            <a:ext cx="819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50B12863-8786-4034-A890-14F4B6A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1,815만 명</a:t>
            </a:r>
          </a:p>
        </p:txBody>
      </p:sp>
      <p:sp>
        <p:nvSpPr>
          <p:cNvPr id="49" name="visit-target">
            <a:extLst xmlns:a="http://schemas.openxmlformats.org/drawingml/2006/main">
              <a:ext uri="{FF2B5EF4-FFF2-40B4-BE49-F238E27FC236}">
                <a16:creationId xmlns:a16="http://schemas.microsoft.com/office/drawing/2014/main" id="{30BAFE74-EC27-4531-B6DD-98B79F2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338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1,851만 명</a:t>
            </a:r>
          </a:p>
        </p:txBody>
      </p:sp>
      <p:sp>
        <p:nvSpPr>
          <p:cNvPr id="50" name="visit-arrow">
            <a:extLst xmlns:a="http://schemas.openxmlformats.org/drawingml/2006/main">
              <a:ext uri="{FF2B5EF4-FFF2-40B4-BE49-F238E27FC236}">
                <a16:creationId xmlns:a16="http://schemas.microsoft.com/office/drawing/2014/main" id="{28A8A9DD-D353-4D59-83BB-5A64A32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spend-forecast-bar">
            <a:extLst xmlns:a="http://schemas.openxmlformats.org/drawingml/2006/main">
              <a:ext uri="{FF2B5EF4-FFF2-40B4-BE49-F238E27FC236}">
                <a16:creationId xmlns:a16="http://schemas.microsoft.com/office/drawing/2014/main" id="{9F13A2C2-BBB7-4A8F-8B9B-018741C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81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spend-target-bar">
            <a:extLst xmlns:a="http://schemas.openxmlformats.org/drawingml/2006/main">
              <a:ext uri="{FF2B5EF4-FFF2-40B4-BE49-F238E27FC236}">
                <a16:creationId xmlns:a16="http://schemas.microsoft.com/office/drawing/2014/main" id="{E26096D6-3133-437B-953E-A9E048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8191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BF98D298-373A-4294-99D1-A00ECF9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05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4,760억 원</a:t>
            </a:r>
          </a:p>
        </p:txBody>
      </p:sp>
      <p:sp>
        <p:nvSpPr>
          <p:cNvPr id="54" name="spend-target">
            <a:extLst xmlns:a="http://schemas.openxmlformats.org/drawingml/2006/main">
              <a:ext uri="{FF2B5EF4-FFF2-40B4-BE49-F238E27FC236}">
                <a16:creationId xmlns:a16="http://schemas.microsoft.com/office/drawing/2014/main" id="{5CF522C7-7887-4EE2-9BF6-55BF0B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4,903억 원</a:t>
            </a:r>
          </a:p>
        </p:txBody>
      </p:sp>
      <p:sp>
        <p:nvSpPr>
          <p:cNvPr id="55" name="spend-arrow">
            <a:extLst xmlns:a="http://schemas.openxmlformats.org/drawingml/2006/main">
              <a:ext uri="{FF2B5EF4-FFF2-40B4-BE49-F238E27FC236}">
                <a16:creationId xmlns:a16="http://schemas.microsoft.com/office/drawing/2014/main" id="{32493DB0-02BB-4272-9572-526BAEF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6" name="foreign-forecast-bar">
            <a:extLst xmlns:a="http://schemas.openxmlformats.org/drawingml/2006/main">
              <a:ext uri="{FF2B5EF4-FFF2-40B4-BE49-F238E27FC236}">
                <a16:creationId xmlns:a16="http://schemas.microsoft.com/office/drawing/2014/main" id="{2DE1DBAA-9C91-4923-A9C6-E608902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foreign-target-bar">
            <a:extLst xmlns:a="http://schemas.openxmlformats.org/drawingml/2006/main">
              <a:ext uri="{FF2B5EF4-FFF2-40B4-BE49-F238E27FC236}">
                <a16:creationId xmlns:a16="http://schemas.microsoft.com/office/drawing/2014/main" id="{778E10A6-2AC7-4CF8-BF38-C7790D8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foreign-forecast">
            <a:extLst xmlns:a="http://schemas.openxmlformats.org/drawingml/2006/main">
              <a:ext uri="{FF2B5EF4-FFF2-40B4-BE49-F238E27FC236}">
                <a16:creationId xmlns:a16="http://schemas.microsoft.com/office/drawing/2014/main" id="{09F54D75-4425-47AB-9B00-EFDA46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276725"/>
            <a:ext cx="1762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기준선 확정</a:t>
            </a:r>
          </a:p>
        </p:txBody>
      </p:sp>
      <p:sp>
        <p:nvSpPr>
          <p:cNvPr id="59" name="foreign-target">
            <a:extLst xmlns:a="http://schemas.openxmlformats.org/drawingml/2006/main">
              <a:ext uri="{FF2B5EF4-FFF2-40B4-BE49-F238E27FC236}">
                <a16:creationId xmlns:a16="http://schemas.microsoft.com/office/drawing/2014/main" id="{66CB0B58-B33B-4150-9904-FA24C3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276725"/>
            <a:ext cx="2047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60" name="foreign-arrow">
            <a:extLst xmlns:a="http://schemas.openxmlformats.org/drawingml/2006/main">
              <a:ext uri="{FF2B5EF4-FFF2-40B4-BE49-F238E27FC236}">
                <a16:creationId xmlns:a16="http://schemas.microsoft.com/office/drawing/2014/main" id="{DC5BC4F7-29C7-4FA1-9677-A81C0C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BUDGET ESTIMATE &amp; KPI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8953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예산과 성과 측정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9082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범위와 수량을 먼저 정하고, 항목별 단가를 검증합니다. 오른쪽은 6개월 시범을 가정한 예시 견적입니다.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95750"/>
            <a:ext cx="0" cy="1495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산정 기준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32194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운영일수 × 인력·안전 단가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참여 건수 × 혜택 단가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연동·홍보·평가는 별도 견적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analysis-rail">
            <a:extLst xmlns:a="http://schemas.openxmlformats.org/drawingml/2006/main"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95750"/>
            <a:ext cx="0" cy="1495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338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성과와 집행을 함께</a:t>
            </a:r>
          </a:p>
        </p:txBody>
      </p:sp>
      <p:sp>
        <p:nvSpPr>
          <p:cNvPr id="11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48200"/>
            <a:ext cx="31146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이용·결제와 집행액 확인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완료 1건당 공공비용 계산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미사용 혜택·중복 지급 점검</a:t>
            </a: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3410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계약 전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055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3개 이상 비교견적 · 범위 확인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865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단가·부가세·정산 조건 확정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134100"/>
            <a:ext cx="3219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운영 중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505575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집행액과 완료 건수 점검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88657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성과·참여율에 맞춰 운영량 조정</a:t>
            </a:r>
          </a:p>
        </p:txBody>
      </p:sp>
      <p:sp>
        <p:nvSpPr>
          <p:cNvPr id="20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4B7C0E87-B747-49E5-9D6E-7928854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553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6개월 예시 견적  |  총 2억 4,000만 원</a:t>
            </a:r>
          </a:p>
        </p:txBody>
      </p:sp>
      <p:graphicFrame>
        <p:nvGraphicFramePr>
          <p:cNvPr id="43" name="표 42"/>
          <p:cNvGraphicFramePr/>
          <p:nvPr/>
        </p:nvGraphicFramePr>
        <p:xfrm>
          <a:off xmlns:a="http://schemas.openxmlformats.org/drawingml/2006/main" x="8877300" y="2295525"/>
          <a:ext xmlns:a="http://schemas.openxmlformats.org/drawingml/2006/main" cx="5619750" cy="4648200"/>
        </p:xfrm>
        <a:graphic xmlns:a="http://schemas.openxmlformats.org/drawingml/2006/main">
          <a:graphicData uri="http://schemas.openxmlformats.org/drawingml/2006/table">
            <a:tbl>
              <a:tblPr firstRow="0" firstCol="1" lastRow="0" bandRow="0"/>
              <a:tblGrid>
                <a:gridCol w="2686050"/>
                <a:gridCol w="1028700"/>
                <a:gridCol w="1905000"/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세부 항목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비중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예산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프로그램 운영·안전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1억 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참여 혜택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예약·결제 연동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홍보·다국어 콘텐츠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성과 측정·검토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예비비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2억 4,000만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</a:tr>
            </a:tbl>
          </a:graphicData>
        </a:graphic>
      </p:graphicFrame>
      <p:sp>
        <p:nvSpPr>
          <p:cNvPr id="22" name="budget-table-note">
            <a:extLst xmlns:a="http://schemas.openxmlformats.org/drawingml/2006/main">
              <a:ext uri="{FF2B5EF4-FFF2-40B4-BE49-F238E27FC236}">
                <a16:creationId xmlns:a16="http://schemas.microsoft.com/office/drawing/2014/main" id="{93D0AAD8-9B43-408B-B46B-CE7F4F0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229475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예시 견적이며 확정 금액이 아닙니다.</a:t>
            </a:r>
          </a:p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계약 전 비교견적·부가세·운영 범위를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2192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성과를 확인하고, 다음 운영을 결정합니다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현장에서 확인할 효과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3533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관광코스 이용을 참여 상점의 결제로 연결합니다. 방문 규모보다 코스 완료·후속 결제·추가 체류가 늘었는지 확인합니다.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매주 같은 기준으로 기록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체류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협약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확대·보완·중단 판단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36480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확대: 이용·결제 개선, 비용 상한 충족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보완: 이탈 구간·참여처 운영 조정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중단: 안전 문제 또는 비용 상한 초과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57850"/>
            <a:ext cx="3648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기준선과 시범 결과를 같은 방식으로 비교합니다. 자연추세의 증가를 사업 성과로 계산하지 않습니다.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294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월별 판단 → 다음 달 운영량 확정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다음 실행을 위한 준비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048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참여처 협약과 정산 방법을 확정하고, 기준선 기록을 먼저 수집합니다. 확인된 성과 범위에서 다음 권역·외국인 안내로 단계적으로 확장합니다.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816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착수 조건: 담당·예산·측정 책임 확정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294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산출물: 운영 기록표·다음 실행안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00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이용·결제는 건수, 체류는 시간으로 기록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확대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·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보완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·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중단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43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판단 기준을 착수 전에 확정합니다.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57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협약 확정 → 소규모 시범 → 월별 재검토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2026-09-04T01:45:46.5040000Z</dcterms:created>
  <dcterms:modified xsi:type="dcterms:W3CDTF">2026-09-04T01:45:46.5040000Z</dcterms:modified>
</coreProperties>
</file>