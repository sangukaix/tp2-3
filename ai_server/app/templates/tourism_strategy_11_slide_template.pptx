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e1feb4b53c4643" /><Relationship Type="http://schemas.openxmlformats.org/officeDocument/2006/relationships/extended-properties" Target="/docProps/app.xml" Id="R3f3039f35737454d" /><Relationship Type="http://schemas.openxmlformats.org/officeDocument/2006/relationships/officeDocument" Target="/ppt/presentation.xml" Id="R3004aa6a727d49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b8c8b44d8f4003"/>
  </p:sldMasterIdLst>
  <p:notesMasterIdLst>
    <p:notesMasterId xmlns:r="http://schemas.openxmlformats.org/officeDocument/2006/relationships" r:id="R04d194b486cb403b"/>
  </p:notesMasterIdLst>
  <p:sldIdLst>
    <p:sldId xmlns:r="http://schemas.openxmlformats.org/officeDocument/2006/relationships" id="256" r:id="R3a8ca79064e444de"/>
    <p:sldId xmlns:r="http://schemas.openxmlformats.org/officeDocument/2006/relationships" id="257" r:id="Ra07f23a927fb46cc"/>
    <p:sldId xmlns:r="http://schemas.openxmlformats.org/officeDocument/2006/relationships" id="258" r:id="Rfa41db66c4514433"/>
    <p:sldId xmlns:r="http://schemas.openxmlformats.org/officeDocument/2006/relationships" id="259" r:id="R38df24f9f2394956"/>
    <p:sldId xmlns:r="http://schemas.openxmlformats.org/officeDocument/2006/relationships" id="260" r:id="R7908058dec544efa"/>
    <p:sldId xmlns:r="http://schemas.openxmlformats.org/officeDocument/2006/relationships" id="261" r:id="R16cdad1d534044e0"/>
    <p:sldId xmlns:r="http://schemas.openxmlformats.org/officeDocument/2006/relationships" id="262" r:id="R615c6d31217f4a40"/>
    <p:sldId xmlns:r="http://schemas.openxmlformats.org/officeDocument/2006/relationships" id="263" r:id="Ra7576c7f5afc4442"/>
    <p:sldId xmlns:r="http://schemas.openxmlformats.org/officeDocument/2006/relationships" id="264" r:id="Rcbf3699b2e8c41be"/>
    <p:sldId xmlns:r="http://schemas.openxmlformats.org/officeDocument/2006/relationships" id="265" r:id="Rca7fb8b63bcb47ce"/>
    <p:sldId xmlns:r="http://schemas.openxmlformats.org/officeDocument/2006/relationships" id="266" r:id="R900e18ed28ae467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bebe7861a04164" /><Relationship Type="http://schemas.openxmlformats.org/officeDocument/2006/relationships/slideMaster" Target="/ppt/slideMasters/slideMaster1.xml" Id="Rd5b8c8b44d8f4003" /><Relationship Type="http://schemas.openxmlformats.org/officeDocument/2006/relationships/notesMaster" Target="/ppt/notesMasters/notesMaster1.xml" Id="R04d194b486cb403b" /><Relationship Type="http://schemas.openxmlformats.org/officeDocument/2006/relationships/presProps" Target="/ppt/presProps.xml" Id="R475d048bbb2f469e" /><Relationship Type="http://schemas.openxmlformats.org/officeDocument/2006/relationships/viewProps" Target="/ppt/viewProps.xml" Id="R5d5b6131bde549cd" /><Relationship Type="http://schemas.openxmlformats.org/officeDocument/2006/relationships/tableStyles" Target="/ppt/tableStyles.xml" Id="R52b1c250b63842ed" /><Relationship Type="http://schemas.openxmlformats.org/officeDocument/2006/relationships/slide" Target="/ppt/slides/slide1.xml" Id="R3a8ca79064e444de" /><Relationship Type="http://schemas.openxmlformats.org/officeDocument/2006/relationships/slide" Target="/ppt/slides/slide2.xml" Id="Ra07f23a927fb46cc" /><Relationship Type="http://schemas.openxmlformats.org/officeDocument/2006/relationships/slide" Target="/ppt/slides/slide3.xml" Id="Rfa41db66c4514433" /><Relationship Type="http://schemas.openxmlformats.org/officeDocument/2006/relationships/slide" Target="/ppt/slides/slide4.xml" Id="R38df24f9f2394956" /><Relationship Type="http://schemas.openxmlformats.org/officeDocument/2006/relationships/slide" Target="/ppt/slides/slide5.xml" Id="R7908058dec544efa" /><Relationship Type="http://schemas.openxmlformats.org/officeDocument/2006/relationships/slide" Target="/ppt/slides/slide6.xml" Id="R16cdad1d534044e0" /><Relationship Type="http://schemas.openxmlformats.org/officeDocument/2006/relationships/slide" Target="/ppt/slides/slide7.xml" Id="R615c6d31217f4a40" /><Relationship Type="http://schemas.openxmlformats.org/officeDocument/2006/relationships/slide" Target="/ppt/slides/slide8.xml" Id="Ra7576c7f5afc4442" /><Relationship Type="http://schemas.openxmlformats.org/officeDocument/2006/relationships/slide" Target="/ppt/slides/slide9.xml" Id="Rcbf3699b2e8c41be" /><Relationship Type="http://schemas.openxmlformats.org/officeDocument/2006/relationships/slide" Target="/ppt/slides/slide10.xml" Id="Rca7fb8b63bcb47ce" /><Relationship Type="http://schemas.openxmlformats.org/officeDocument/2006/relationships/slide" Target="/ppt/slides/slide11.xml" Id="R900e18ed28ae46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bc4db5a8a444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b02427a8614bb0" /><Relationship Type="http://schemas.openxmlformats.org/officeDocument/2006/relationships/notesMaster" Target="/ppt/notesMasters/notesMaster1.xml" Id="R1ae258c4954e44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a4e7197d954242" /><Relationship Type="http://schemas.openxmlformats.org/officeDocument/2006/relationships/notesMaster" Target="/ppt/notesMasters/notesMaster1.xml" Id="Rfb08e03487e94c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7d360eab5646d6" /><Relationship Type="http://schemas.openxmlformats.org/officeDocument/2006/relationships/notesMaster" Target="/ppt/notesMasters/notesMaster1.xml" Id="Re50d75d952f345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be61918dd445b5" /><Relationship Type="http://schemas.openxmlformats.org/officeDocument/2006/relationships/notesMaster" Target="/ppt/notesMasters/notesMaster1.xml" Id="R51f479d8defe49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15967327e94542" /><Relationship Type="http://schemas.openxmlformats.org/officeDocument/2006/relationships/notesMaster" Target="/ppt/notesMasters/notesMaster1.xml" Id="Rfbe801d3eb0149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3944cbf3374060" /><Relationship Type="http://schemas.openxmlformats.org/officeDocument/2006/relationships/notesMaster" Target="/ppt/notesMasters/notesMaster1.xml" Id="Rd237a227c04c44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867bf92d524797" /><Relationship Type="http://schemas.openxmlformats.org/officeDocument/2006/relationships/notesMaster" Target="/ppt/notesMasters/notesMaster1.xml" Id="R34391fcc118f49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8a1eaa285c4e6c" /><Relationship Type="http://schemas.openxmlformats.org/officeDocument/2006/relationships/notesMaster" Target="/ppt/notesMasters/notesMaster1.xml" Id="Rb3b6b1a7923f48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58599973a0448a" /><Relationship Type="http://schemas.openxmlformats.org/officeDocument/2006/relationships/notesMaster" Target="/ppt/notesMasters/notesMaster1.xml" Id="R83bb8e11b6c149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7b472ed6cc40f4" /><Relationship Type="http://schemas.openxmlformats.org/officeDocument/2006/relationships/notesMaster" Target="/ppt/notesMasters/notesMaster1.xml" Id="R67cb5c1e258e4e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4f16d6ada7495f" /><Relationship Type="http://schemas.openxmlformats.org/officeDocument/2006/relationships/notesMaster" Target="/ppt/notesMasters/notesMaster1.xml" Id="R79520d872acb49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표지: 강남구 관광 전략기획안 샘플. 수치·사업 범위는 본문 원자료 및 ML 설명을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목차는 표지 다음의 본문 9개 슬라이드(3~11)를 기준으로 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데이터랩, 서울특별시 강남구 월간 순 방문자 수·숙박 방문자 비율·관광소비 추이: https://datalab.visitkorea.or.kr/</a:t>
            </a:r>
          </a:p>
          <a:p xmlns:a="http://schemas.openxmlformats.org/drawingml/2006/main">
            <a:r>
              <a:t>- 이미지: 생성형 AI 시각화(강남 야간 상권 운영 콘셉트). 실제 장소·상점·운영성과를 나타내지 않음.</a:t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- 1,796만 명·3.10%·84.20%는 사용자 요청에 따른 샘플 바인딩 값이며, 실제 출력에서는 지역별 원자료와 ML 결과로 대체한다.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데이터랩, 서울특별시 강남구 월간 순 방문자 수·관광소비 추이: https://datalab.visitkorea.or.kr/</a:t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- 샘플 값은 2024.01~2026.07 월별 원자료를 시간순으로 분할해 학습·검증한 뒤 바인딩하는 위치를 보여준다.</a:t>
            </a:r>
          </a:p>
          <a:p xmlns:a="http://schemas.openxmlformats.org/drawingml/2006/main">
            <a:r>
              <a:t>- 방문자·소비액 예측은 자연추세이며, 기획안 효과의 보장 또는 인과 추정이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데이터랩, 강남구·서초구 숙박 방문자 비율 및 월간 방문자 지표: https://datalab.visitkorea.or.kr/</a:t>
            </a:r>
          </a:p>
          <a:p xmlns:a="http://schemas.openxmlformats.org/drawingml/2006/main">
            <a:r>
              <a:t>- 인천 개항장 일대 야간관광 운영 사례는 실제 발표·집행 전 인천광역시/문화재청 등 공식 운영자료로 세부 구성과 성과를 재확인한다.</a:t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- 지역 비교는 적용 가능성 검토를 위한 힌트이며, 사업 효과의 인과 추정이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실행 일정과 산출물은 본 시범사업 샘플 운영 설계임.</a:t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- 단계 1~4는 집행 전 확보 조건, 개인정보·측정 설계, 시범 운영, 순차 개선의 순서로 구성한다.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데이터랩, 강남구 월간 방문자·관광소비 원자료: https://datalab.visitkorea.or.kr/</a:t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- 예측값은 자연추세 샘플, 목표값은 시범 운영 KPI 샘플이다. 둘을 같은 의미로 해석하거나 목표 달성을 효과 보장으로 표현하지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본 슬라이드의 금액은 사용자 요청에 따라 구성한 시범사업 샘플 견적이며, 공식 단가·계약 견적이 아니다.</a:t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- 실제 집행 전 참여업체 수, 운영일, 할인 단가, 안전·개인정보 요건을 반영하여 비교견적으로 다시 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확대·보완·중단 기준은 본 시범사업의 운영 설계 샘플임.</a:t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- 자연추세 예측, 운영 결과, 비교일 설계를 구분하고, 검증하지 않은 효과는 확정 성과로 표현하지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월간 방문자·관광소비·숙박 방문 지표: https://datalab.visitkorea.or.kr/</a:t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- 관측값은 사실, ML은 자연추세 전망, 시범 운영 기록은 성과 판단 근거로 구분한다. 각 층의 수치를 서로 대체하거나 효과 보장으로 사용하지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월별 성과관리 표는 본 시범사업의 운영 설계 샘플이며 실제 성과 수치가 아니다.</a:t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- 9월 기준선·협약, 10~1월 주간 기록, 2월 최종 판단의 흐름으로 운영한다. 목표 달성 여부뿐 아니라 완료율·결제·비용·민원·비교 설계를 함께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ef161b2cff4d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1677387c9144c6" /><Relationship Type="http://schemas.openxmlformats.org/officeDocument/2006/relationships/slideLayout" Target="/ppt/slideLayouts/slideLayout1.xml" Id="Ra0ab52a433a94f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ab52a433a94f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7e33425c44543" /><Relationship Type="http://schemas.openxmlformats.org/officeDocument/2006/relationships/notesSlide" Target="/ppt/notesSlides/notesSlide1.xml" Id="Raacbc0a4d4834f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1fa9e933f4cd1" /><Relationship Type="http://schemas.openxmlformats.org/officeDocument/2006/relationships/notesSlide" Target="/ppt/notesSlides/notesSlide2.xml" Id="R0af609f97aa440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11fcc90dc4276" /><Relationship Type="http://schemas.openxmlformats.org/officeDocument/2006/relationships/image" Target="/ppt/media/image.png" Id="R2f55a14ed6b34f17" /><Relationship Type="http://schemas.openxmlformats.org/officeDocument/2006/relationships/notesSlide" Target="/ppt/notesSlides/notesSlide3.xml" Id="R615f4d9d8cf74e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f9058dfe94d6b" /><Relationship Type="http://schemas.openxmlformats.org/officeDocument/2006/relationships/chart" Target="/ppt/slides/charts/chart1.xml" Id="R1c845476be854d29" /><Relationship Type="http://schemas.openxmlformats.org/officeDocument/2006/relationships/chart" Target="/ppt/slides/charts/chart2.xml" Id="R12099782a1074eb3" /><Relationship Type="http://schemas.openxmlformats.org/officeDocument/2006/relationships/notesSlide" Target="/ppt/notesSlides/notesSlide4.xml" Id="Raf9e40f9a44540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43d6538cd4a5e" /><Relationship Type="http://schemas.openxmlformats.org/officeDocument/2006/relationships/notesSlide" Target="/ppt/notesSlides/notesSlide5.xml" Id="Rc3f1d825c9c44a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33d1d1e1c4891" /><Relationship Type="http://schemas.openxmlformats.org/officeDocument/2006/relationships/notesSlide" Target="/ppt/notesSlides/notesSlide6.xml" Id="R4169dae2cd6040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dad5a4a2b4ca2" /><Relationship Type="http://schemas.openxmlformats.org/officeDocument/2006/relationships/notesSlide" Target="/ppt/notesSlides/notesSlide7.xml" Id="R5a756219bf1441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4ace5abbf47df" /><Relationship Type="http://schemas.openxmlformats.org/officeDocument/2006/relationships/notesSlide" Target="/ppt/notesSlides/notesSlide8.xml" Id="Rbc2248e8cf514e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ff6d214c4488b" /><Relationship Type="http://schemas.openxmlformats.org/officeDocument/2006/relationships/notesSlide" Target="/ppt/notesSlides/notesSlide9.xml" Id="R30f83c3b887345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e3b00b9cc49a1" /><Relationship Type="http://schemas.openxmlformats.org/officeDocument/2006/relationships/notesSlide" Target="/ppt/notesSlides/notesSlide10.xml" Id="R4c6aa578900546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01bff79044ef5" /><Relationship Type="http://schemas.openxmlformats.org/officeDocument/2006/relationships/notesSlide" Target="/ppt/notesSlides/notesSlide11.xml" Id="R46e3f559de9148de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월 방문자(만 명)</c:v>
          </c:tx>
          <c:spPr>
            <a:ln xmlns:a="http://schemas.openxmlformats.org/drawingml/2006/main" w="28575">
              <a:solidFill>
                <a:srgbClr val="004EA2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cat>
            <c:strLit>
              <c:ptCount val="4"/>
              <c:pt idx="0">
                <c:v>2026.08
관측</c:v>
              </c:pt>
              <c:pt idx="1">
                <c:v>2026.09
예측</c:v>
              </c:pt>
              <c:pt idx="2">
                <c:v>2026.10
예측</c:v>
              </c:pt>
              <c:pt idx="3">
                <c:v>2026.11
예측</c:v>
              </c:pt>
            </c:strLit>
          </c:cat>
          <c:val>
            <c:numLit>
              <c:formatCode>0</c:formatCode>
              <c:ptCount val="4"/>
              <c:pt idx="0">
                <c:v>1796</c:v>
              </c:pt>
              <c:pt idx="1">
                <c:v>1815</c:v>
              </c:pt>
              <c:pt idx="2">
                <c:v>1842</c:v>
              </c:pt>
              <c:pt idx="3">
                <c:v>1873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004EA2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36E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36E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관광소비액(억원)</c:v>
          </c:tx>
          <c:spPr>
            <a:solidFill xmlns:a="http://schemas.openxmlformats.org/drawingml/2006/main">
              <a:srgbClr val="00B7C9"/>
            </a:solidFill>
          </c:spPr>
          <c:cat>
            <c:numLit>
              <c:formatCode>General</c:formatCode>
              <c:ptCount val="3"/>
              <c:pt idx="0">
                <c:v>2026.09</c:v>
              </c:pt>
              <c:pt idx="1">
                <c:v>2026.10</c:v>
              </c:pt>
              <c:pt idx="2">
                <c:v>2026.11</c:v>
              </c:pt>
            </c:numLit>
          </c:cat>
          <c:val>
            <c:numLit>
              <c:formatCode>0</c:formatCode>
              <c:ptCount val="3"/>
              <c:pt idx="0">
                <c:v>4760</c:v>
              </c:pt>
              <c:pt idx="1">
                <c:v>4820</c:v>
              </c:pt>
              <c:pt idx="2">
                <c:v>4860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B1F2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36E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36E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52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정책 검토용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강남 야간 체류완료 연계 패스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10075"/>
            <a:ext cx="6924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6개월 조건부 시범 실행 기획안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4352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2026년 09월 02일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10382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590675"/>
            <a:ext cx="1190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관광정책 검토용 /</a:t>
            </a:r>
          </a:p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데이터·AI 기반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보고서 출력일 2026-09-02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강남구 관광 활성화</a:t>
            </a:r>
          </a:p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시범사업 제안</a:t>
            </a:r>
            <a:endParaRPr sz="315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brand">
            <a:extLst xmlns:a="http://schemas.openxmlformats.org/drawingml/2006/main">
              <a:ext uri="{FF2B5EF4-FFF2-40B4-BE49-F238E27FC236}">
                <a16:creationId xmlns:a16="http://schemas.microsoft.com/office/drawing/2014/main" id="{BC511F59-C000-4ABE-8C07-9780651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 관광 전략기획안</a:t>
            </a:r>
          </a:p>
        </p:txBody>
      </p:sp>
      <p:sp>
        <p:nvSpPr>
          <p:cNvPr id="2" name="top-date">
            <a:extLst xmlns:a="http://schemas.openxmlformats.org/drawingml/2006/main">
              <a:ext uri="{FF2B5EF4-FFF2-40B4-BE49-F238E27FC236}">
                <a16:creationId xmlns:a16="http://schemas.microsoft.com/office/drawing/2014/main" id="{B2EA0AA8-9451-4577-B2DB-64FEA4AE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23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2026. 09. 02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578AD546-B3C6-4345-964E-CA38D80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1518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s-rail">
            <a:extLst xmlns:a="http://schemas.openxmlformats.org/drawingml/2006/main">
              <a:ext uri="{FF2B5EF4-FFF2-40B4-BE49-F238E27FC236}">
                <a16:creationId xmlns:a16="http://schemas.microsoft.com/office/drawing/2014/main" id="{7FA9108D-F5FC-4EF8-882D-8BF062FD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4810125" cy="759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contents-vertical">
            <a:extLst xmlns:a="http://schemas.openxmlformats.org/drawingml/2006/main">
              <a:ext uri="{FF2B5EF4-FFF2-40B4-BE49-F238E27FC236}">
                <a16:creationId xmlns:a16="http://schemas.microsoft.com/office/drawing/2014/main" id="{8A649E8C-B469-49E6-9B71-2587FA31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866775" y="4162425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rPr>
              <a:t>CONTENTS</a:t>
            </a:r>
          </a:p>
        </p:txBody>
      </p:sp>
      <p:sp>
        <p:nvSpPr>
          <p:cNvPr id="6" name="contents-en">
            <a:extLst xmlns:a="http://schemas.openxmlformats.org/drawingml/2006/main">
              <a:ext uri="{FF2B5EF4-FFF2-40B4-BE49-F238E27FC236}">
                <a16:creationId xmlns:a16="http://schemas.microsoft.com/office/drawing/2014/main" id="{A4545508-3408-4837-8886-DBD8CE2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29075"/>
            <a:ext cx="3981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T A B L E   O F   C O N T E N T S</a:t>
            </a:r>
          </a:p>
        </p:txBody>
      </p:sp>
      <p:sp>
        <p:nvSpPr>
          <p:cNvPr id="7" name="contents-ko">
            <a:extLst xmlns:a="http://schemas.openxmlformats.org/drawingml/2006/main">
              <a:ext uri="{FF2B5EF4-FFF2-40B4-BE49-F238E27FC236}">
                <a16:creationId xmlns:a16="http://schemas.microsoft.com/office/drawing/2014/main" id="{99A460E5-8765-444E-944E-1A8069AB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0057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목차 안내</a:t>
            </a:r>
          </a:p>
        </p:txBody>
      </p:sp>
      <p:sp>
        <p:nvSpPr>
          <p:cNvPr id="8" name="contents-orange">
            <a:extLst xmlns:a="http://schemas.openxmlformats.org/drawingml/2006/main">
              <a:ext uri="{FF2B5EF4-FFF2-40B4-BE49-F238E27FC236}">
                <a16:creationId xmlns:a16="http://schemas.microsoft.com/office/drawing/2014/main" id="{D5323B82-A54D-47BA-8350-BCD7E58D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816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oc-0-0-num">
            <a:extLst xmlns:a="http://schemas.openxmlformats.org/drawingml/2006/main">
              <a:ext uri="{FF2B5EF4-FFF2-40B4-BE49-F238E27FC236}">
                <a16:creationId xmlns:a16="http://schemas.microsoft.com/office/drawing/2014/main" id="{9A4D7DD5-B7C1-4FE0-B663-1C335B73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813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toc-0-0-label">
            <a:extLst xmlns:a="http://schemas.openxmlformats.org/drawingml/2006/main">
              <a:ext uri="{FF2B5EF4-FFF2-40B4-BE49-F238E27FC236}">
                <a16:creationId xmlns:a16="http://schemas.microsoft.com/office/drawing/2014/main" id="{F2F2D109-397D-42C2-AF7E-720371CC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718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프로젝트 개요·기획 배경</a:t>
            </a:r>
            <a:endParaRPr sz="1500" b="1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toc-0-0-rule">
            <a:extLst xmlns:a="http://schemas.openxmlformats.org/drawingml/2006/main">
              <a:ext uri="{FF2B5EF4-FFF2-40B4-BE49-F238E27FC236}">
                <a16:creationId xmlns:a16="http://schemas.microsoft.com/office/drawing/2014/main" id="{7A9B4322-D952-4704-8A34-AFE4DB84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814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oc-0-1-num">
            <a:extLst xmlns:a="http://schemas.openxmlformats.org/drawingml/2006/main">
              <a:ext uri="{FF2B5EF4-FFF2-40B4-BE49-F238E27FC236}">
                <a16:creationId xmlns:a16="http://schemas.microsoft.com/office/drawing/2014/main" id="{BB7EB441-7049-4AEE-B4A6-EB8A8907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86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toc-0-1-label">
            <a:extLst xmlns:a="http://schemas.openxmlformats.org/drawingml/2006/main">
              <a:ext uri="{FF2B5EF4-FFF2-40B4-BE49-F238E27FC236}">
                <a16:creationId xmlns:a16="http://schemas.microsoft.com/office/drawing/2014/main" id="{A858F0DB-1B50-472E-BCED-A95D8FDF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766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방문자·소비액 ML 예측</a:t>
            </a:r>
          </a:p>
        </p:txBody>
      </p:sp>
      <p:sp>
        <p:nvSpPr>
          <p:cNvPr id="14" name="toc-0-1-rule">
            <a:extLst xmlns:a="http://schemas.openxmlformats.org/drawingml/2006/main">
              <a:ext uri="{FF2B5EF4-FFF2-40B4-BE49-F238E27FC236}">
                <a16:creationId xmlns:a16="http://schemas.microsoft.com/office/drawing/2014/main" id="{8BB674AB-E001-4E54-9B2D-138021E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862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oc-0-2-num">
            <a:extLst xmlns:a="http://schemas.openxmlformats.org/drawingml/2006/main">
              <a:ext uri="{FF2B5EF4-FFF2-40B4-BE49-F238E27FC236}">
                <a16:creationId xmlns:a16="http://schemas.microsoft.com/office/drawing/2014/main" id="{2A73ED54-5EB7-481A-AA22-31B5FA78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910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oc-0-2-label">
            <a:extLst xmlns:a="http://schemas.openxmlformats.org/drawingml/2006/main">
              <a:ext uri="{FF2B5EF4-FFF2-40B4-BE49-F238E27FC236}">
                <a16:creationId xmlns:a16="http://schemas.microsoft.com/office/drawing/2014/main" id="{49778DA9-2C34-4F19-86EC-61157A1D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815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유사 지역·사례 비교</a:t>
            </a:r>
          </a:p>
        </p:txBody>
      </p:sp>
      <p:sp>
        <p:nvSpPr>
          <p:cNvPr id="17" name="toc-0-2-rule">
            <a:extLst xmlns:a="http://schemas.openxmlformats.org/drawingml/2006/main">
              <a:ext uri="{FF2B5EF4-FFF2-40B4-BE49-F238E27FC236}">
                <a16:creationId xmlns:a16="http://schemas.microsoft.com/office/drawing/2014/main" id="{1EE5059E-9C45-4D3E-B828-82D1F098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911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oc-0-3-num">
            <a:extLst xmlns:a="http://schemas.openxmlformats.org/drawingml/2006/main">
              <a:ext uri="{FF2B5EF4-FFF2-40B4-BE49-F238E27FC236}">
                <a16:creationId xmlns:a16="http://schemas.microsoft.com/office/drawing/2014/main" id="{09D69393-9477-46BB-9754-B3834388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95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9" name="toc-0-3-label">
            <a:extLst xmlns:a="http://schemas.openxmlformats.org/drawingml/2006/main">
              <a:ext uri="{FF2B5EF4-FFF2-40B4-BE49-F238E27FC236}">
                <a16:creationId xmlns:a16="http://schemas.microsoft.com/office/drawing/2014/main" id="{E1D92E25-FA72-4D2D-83BA-E4E956D7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2863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4단계 실행 가이드</a:t>
            </a:r>
          </a:p>
        </p:txBody>
      </p:sp>
      <p:sp>
        <p:nvSpPr>
          <p:cNvPr id="20" name="toc-0-3-rule">
            <a:extLst xmlns:a="http://schemas.openxmlformats.org/drawingml/2006/main">
              <a:ext uri="{FF2B5EF4-FFF2-40B4-BE49-F238E27FC236}">
                <a16:creationId xmlns:a16="http://schemas.microsoft.com/office/drawing/2014/main" id="{978F3F46-82E5-4C13-B76B-BB791D14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959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oc-1-0-num">
            <a:extLst xmlns:a="http://schemas.openxmlformats.org/drawingml/2006/main">
              <a:ext uri="{FF2B5EF4-FFF2-40B4-BE49-F238E27FC236}">
                <a16:creationId xmlns:a16="http://schemas.microsoft.com/office/drawing/2014/main" id="{CF8AF870-2DD7-4DF0-935E-A7B18F51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1813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5" name="toc-1-0-label">
            <a:extLst xmlns:a="http://schemas.openxmlformats.org/drawingml/2006/main">
              <a:ext uri="{FF2B5EF4-FFF2-40B4-BE49-F238E27FC236}">
                <a16:creationId xmlns:a16="http://schemas.microsoft.com/office/drawing/2014/main" id="{BD4D99A2-3331-4C55-B657-C250B681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1718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3개월 시범 KPI</a:t>
            </a:r>
          </a:p>
        </p:txBody>
      </p:sp>
      <p:sp>
        <p:nvSpPr>
          <p:cNvPr id="26" name="toc-1-0-rule">
            <a:extLst xmlns:a="http://schemas.openxmlformats.org/drawingml/2006/main">
              <a:ext uri="{FF2B5EF4-FFF2-40B4-BE49-F238E27FC236}">
                <a16:creationId xmlns:a16="http://schemas.microsoft.com/office/drawing/2014/main" id="{F1965004-3508-48E4-8EAB-5E1F64F0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58140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oc-1-1-num">
            <a:extLst xmlns:a="http://schemas.openxmlformats.org/drawingml/2006/main">
              <a:ext uri="{FF2B5EF4-FFF2-40B4-BE49-F238E27FC236}">
                <a16:creationId xmlns:a16="http://schemas.microsoft.com/office/drawing/2014/main" id="{F550A570-A5C8-441C-B223-B8C2688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886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8" name="toc-1-1-label">
            <a:extLst xmlns:a="http://schemas.openxmlformats.org/drawingml/2006/main">
              <a:ext uri="{FF2B5EF4-FFF2-40B4-BE49-F238E27FC236}">
                <a16:creationId xmlns:a16="http://schemas.microsoft.com/office/drawing/2014/main" id="{FF9F868A-CDE5-4A20-B0C5-802AA73C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766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예산·성과 측정</a:t>
            </a:r>
          </a:p>
        </p:txBody>
      </p:sp>
      <p:sp>
        <p:nvSpPr>
          <p:cNvPr id="29" name="toc-1-1-rule">
            <a:extLst xmlns:a="http://schemas.openxmlformats.org/drawingml/2006/main">
              <a:ext uri="{FF2B5EF4-FFF2-40B4-BE49-F238E27FC236}">
                <a16:creationId xmlns:a16="http://schemas.microsoft.com/office/drawing/2014/main" id="{3DE11471-853F-4C00-8EAD-1C16A596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28625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oc-1-2-num">
            <a:extLst xmlns:a="http://schemas.openxmlformats.org/drawingml/2006/main">
              <a:ext uri="{FF2B5EF4-FFF2-40B4-BE49-F238E27FC236}">
                <a16:creationId xmlns:a16="http://schemas.microsoft.com/office/drawing/2014/main" id="{30C761BB-7DA1-4AF8-AFF7-38427A2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5910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1" name="toc-1-2-label">
            <a:extLst xmlns:a="http://schemas.openxmlformats.org/drawingml/2006/main">
              <a:ext uri="{FF2B5EF4-FFF2-40B4-BE49-F238E27FC236}">
                <a16:creationId xmlns:a16="http://schemas.microsoft.com/office/drawing/2014/main" id="{9767F6A9-0960-4EE5-8571-54C6805A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45815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기대 효과·확대 판단</a:t>
            </a:r>
          </a:p>
        </p:txBody>
      </p:sp>
      <p:sp>
        <p:nvSpPr>
          <p:cNvPr id="32" name="toc-1-2-rule">
            <a:extLst xmlns:a="http://schemas.openxmlformats.org/drawingml/2006/main">
              <a:ext uri="{FF2B5EF4-FFF2-40B4-BE49-F238E27FC236}">
                <a16:creationId xmlns:a16="http://schemas.microsoft.com/office/drawing/2014/main" id="{E0A4D40C-2FAB-4908-8300-E58CB3A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99110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oc-1-3-num">
            <a:extLst xmlns:a="http://schemas.openxmlformats.org/drawingml/2006/main">
              <a:ext uri="{FF2B5EF4-FFF2-40B4-BE49-F238E27FC236}">
                <a16:creationId xmlns:a16="http://schemas.microsoft.com/office/drawing/2014/main" id="{6863E528-57CD-4AC7-B739-638B9D1A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295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4" name="toc-1-3-label">
            <a:extLst xmlns:a="http://schemas.openxmlformats.org/drawingml/2006/main">
              <a:ext uri="{FF2B5EF4-FFF2-40B4-BE49-F238E27FC236}">
                <a16:creationId xmlns:a16="http://schemas.microsoft.com/office/drawing/2014/main" id="{7973D5FF-EC69-4502-BD57-1363CA77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2863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데이터 해석 기준</a:t>
            </a:r>
          </a:p>
        </p:txBody>
      </p:sp>
      <p:sp>
        <p:nvSpPr>
          <p:cNvPr id="35" name="toc-1-3-rule">
            <a:extLst xmlns:a="http://schemas.openxmlformats.org/drawingml/2006/main">
              <a:ext uri="{FF2B5EF4-FFF2-40B4-BE49-F238E27FC236}">
                <a16:creationId xmlns:a16="http://schemas.microsoft.com/office/drawing/2014/main" id="{9E02F587-CF56-4FC9-9416-D770E870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69595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oc-1-4-num">
            <a:extLst xmlns:a="http://schemas.openxmlformats.org/drawingml/2006/main">
              <a:ext uri="{FF2B5EF4-FFF2-40B4-BE49-F238E27FC236}">
                <a16:creationId xmlns:a16="http://schemas.microsoft.com/office/drawing/2014/main" id="{7CA95524-8009-4175-8193-2BCBEFD7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0007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37" name="toc-1-4-label">
            <a:extLst xmlns:a="http://schemas.openxmlformats.org/drawingml/2006/main">
              <a:ext uri="{FF2B5EF4-FFF2-40B4-BE49-F238E27FC236}">
                <a16:creationId xmlns:a16="http://schemas.microsoft.com/office/drawing/2014/main" id="{8D04CA32-3D2D-4B71-A0D1-78C6E7C3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9912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월별 성과관리</a:t>
            </a:r>
          </a:p>
        </p:txBody>
      </p:sp>
      <p:sp>
        <p:nvSpPr>
          <p:cNvPr id="38" name="toc-1-4-rule">
            <a:extLst xmlns:a="http://schemas.openxmlformats.org/drawingml/2006/main">
              <a:ext uri="{FF2B5EF4-FFF2-40B4-BE49-F238E27FC236}">
                <a16:creationId xmlns:a16="http://schemas.microsoft.com/office/drawing/2014/main" id="{AD8C59D1-0A8D-4B5A-97F3-64A3B7C7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0080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70192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visito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5a14ed6b34f17"/>
          <a:srcRect xmlns:a="http://schemas.openxmlformats.org/drawingml/2006/main" l="347" t="0" r="3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791075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43173D-B090-48BB-AB55-94D36611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876300"/>
            <a:ext cx="809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강남 야간 체류·소비 전환 프로젝트</a:t>
            </a:r>
            <a:endParaRPr sz="4425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BB0242C-FDEC-4963-ABFB-596DC97C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526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hero-source-bg">
            <a:extLst xmlns:a="http://schemas.openxmlformats.org/drawingml/2006/main">
              <a:ext uri="{FF2B5EF4-FFF2-40B4-BE49-F238E27FC236}">
                <a16:creationId xmlns:a16="http://schemas.microsoft.com/office/drawing/2014/main" id="{CDA4A852-90A1-4F7A-85C3-CC9CF369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020050"/>
            <a:ext cx="4333875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2F5B"/>
          </a:solidFill>
          <a:ln xmlns:a="http://schemas.openxmlformats.org/drawingml/2006/main" w="9525">
            <a:solidFill>
              <a:srgbClr val="0B2F5B"/>
            </a:solidFill>
            <a:prstDash val="solid"/>
          </a:ln>
        </p:spPr>
      </p:sp>
      <p:sp>
        <p:nvSpPr>
          <p:cNvPr id="16" name="hero-source-label">
            <a:extLst xmlns:a="http://schemas.openxmlformats.org/drawingml/2006/main">
              <a:ext uri="{FF2B5EF4-FFF2-40B4-BE49-F238E27FC236}">
                <a16:creationId xmlns:a16="http://schemas.microsoft.com/office/drawing/2014/main" id="{D1920FBE-F92C-4035-AAA5-C13D7F3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096250"/>
            <a:ext cx="414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이미지: 생성형 AI 시각화 · 강남 야간 상권 운영 콘셉트 (실제 장소 아님)</a:t>
            </a:r>
          </a:p>
        </p:txBody>
      </p:sp>
      <p:sp>
        <p:nvSpPr>
          <p:cNvPr id="17" name="s3-kicker">
            <a:extLst xmlns:a="http://schemas.openxmlformats.org/drawingml/2006/main">
              <a:ext uri="{FF2B5EF4-FFF2-40B4-BE49-F238E27FC236}">
                <a16:creationId xmlns:a16="http://schemas.microsoft.com/office/drawing/2014/main" id="{947C42A4-61CC-45FE-B37C-6E874EA8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19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PROJECT CONCEPT</a:t>
            </a:r>
          </a:p>
        </p:txBody>
      </p:sp>
      <p:sp>
        <p:nvSpPr>
          <p:cNvPr id="18" name="s3-thesis">
            <a:extLst xmlns:a="http://schemas.openxmlformats.org/drawingml/2006/main">
              <a:ext uri="{FF2B5EF4-FFF2-40B4-BE49-F238E27FC236}">
                <a16:creationId xmlns:a16="http://schemas.microsoft.com/office/drawing/2014/main" id="{8775F730-FE05-41BC-A601-3D13345E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9432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야간 프로그램 예약·이용과</a:t>
            </a:r>
          </a:p>
          <a:p xmlns:a="http://schemas.openxmlformats.org/drawingml/2006/main">
            <a:pPr algn="l">
              <a:buNone/>
              <a:def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참여 상점의 당일 결제를 하나의 동선으로 연결합니다.</a:t>
            </a:r>
          </a:p>
        </p:txBody>
      </p:sp>
      <p:sp>
        <p:nvSpPr>
          <p:cNvPr id="19" name="s3-desc">
            <a:extLst xmlns:a="http://schemas.openxmlformats.org/drawingml/2006/main">
              <a:ext uri="{FF2B5EF4-FFF2-40B4-BE49-F238E27FC236}">
                <a16:creationId xmlns:a16="http://schemas.microsoft.com/office/drawing/2014/main" id="{AFC98867-BACB-480A-8E65-B91D555B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019550"/>
            <a:ext cx="8524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무료 쿠폰을 넓게 뿌리는 방식이 아니라, 예약 → 야간 이용 → 결제가 모두 확인된 경우에만 후속 혜택을 제공해 실제 전환을 측정하는 6개월 시범사업입니다.</a:t>
            </a:r>
          </a:p>
        </p:txBody>
      </p:sp>
      <p:sp>
        <p:nvSpPr>
          <p:cNvPr id="20" name="s3-metric-1-box">
            <a:extLst xmlns:a="http://schemas.openxmlformats.org/drawingml/2006/main">
              <a:ext uri="{FF2B5EF4-FFF2-40B4-BE49-F238E27FC236}">
                <a16:creationId xmlns:a16="http://schemas.microsoft.com/office/drawing/2014/main" id="{AB14D907-4E4C-4EFD-B69F-3250B75E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000625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21" name="s3-metric-1-label">
            <a:extLst xmlns:a="http://schemas.openxmlformats.org/drawingml/2006/main">
              <a:ext uri="{FF2B5EF4-FFF2-40B4-BE49-F238E27FC236}">
                <a16:creationId xmlns:a16="http://schemas.microsoft.com/office/drawing/2014/main" id="{58F6CA00-84DC-4AE3-87D4-9BBCCFE2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1530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방문 신호</a:t>
            </a:r>
          </a:p>
        </p:txBody>
      </p:sp>
      <p:sp>
        <p:nvSpPr>
          <p:cNvPr id="22" name="s3-metric-1-value">
            <a:extLst xmlns:a="http://schemas.openxmlformats.org/drawingml/2006/main">
              <a:ext uri="{FF2B5EF4-FFF2-40B4-BE49-F238E27FC236}">
                <a16:creationId xmlns:a16="http://schemas.microsoft.com/office/drawing/2014/main" id="{6EA07604-98B1-489C-B68A-2B9C997A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4102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외지인 1,796만 명</a:t>
            </a:r>
          </a:p>
        </p:txBody>
      </p:sp>
      <p:sp>
        <p:nvSpPr>
          <p:cNvPr id="23" name="s3-metric-2-box">
            <a:extLst xmlns:a="http://schemas.openxmlformats.org/drawingml/2006/main">
              <a:ext uri="{FF2B5EF4-FFF2-40B4-BE49-F238E27FC236}">
                <a16:creationId xmlns:a16="http://schemas.microsoft.com/office/drawing/2014/main" id="{8EB3D0E8-ACEF-4043-821E-0A4FD604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00625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24" name="s3-metric-2-label">
            <a:extLst xmlns:a="http://schemas.openxmlformats.org/drawingml/2006/main">
              <a:ext uri="{FF2B5EF4-FFF2-40B4-BE49-F238E27FC236}">
                <a16:creationId xmlns:a16="http://schemas.microsoft.com/office/drawing/2014/main" id="{76DB9DAA-DBE4-4CE5-BE49-C73F772B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530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체류 과제</a:t>
            </a:r>
          </a:p>
        </p:txBody>
      </p:sp>
      <p:sp>
        <p:nvSpPr>
          <p:cNvPr id="25" name="s3-metric-2-value">
            <a:extLst xmlns:a="http://schemas.openxmlformats.org/drawingml/2006/main">
              <a:ext uri="{FF2B5EF4-FFF2-40B4-BE49-F238E27FC236}">
                <a16:creationId xmlns:a16="http://schemas.microsoft.com/office/drawing/2014/main" id="{E6DF14E8-8EEE-46E6-9D6C-47360F69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102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숙박 방문 3.10%</a:t>
            </a:r>
          </a:p>
        </p:txBody>
      </p:sp>
      <p:sp>
        <p:nvSpPr>
          <p:cNvPr id="26" name="s3-metric-3-box">
            <a:extLst xmlns:a="http://schemas.openxmlformats.org/drawingml/2006/main">
              <a:ext uri="{FF2B5EF4-FFF2-40B4-BE49-F238E27FC236}">
                <a16:creationId xmlns:a16="http://schemas.microsoft.com/office/drawing/2014/main" id="{579A3EDD-FC7C-452B-8D03-ED8503E7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5000625"/>
            <a:ext cx="285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27" name="s3-metric-3-label">
            <a:extLst xmlns:a="http://schemas.openxmlformats.org/drawingml/2006/main">
              <a:ext uri="{FF2B5EF4-FFF2-40B4-BE49-F238E27FC236}">
                <a16:creationId xmlns:a16="http://schemas.microsoft.com/office/drawing/2014/main" id="{592B3FE8-5125-489E-8EA2-40DB1359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15302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상권 기반</a:t>
            </a:r>
          </a:p>
        </p:txBody>
      </p:sp>
      <p:sp>
        <p:nvSpPr>
          <p:cNvPr id="28" name="s3-metric-3-value">
            <a:extLst xmlns:a="http://schemas.openxmlformats.org/drawingml/2006/main">
              <a:ext uri="{FF2B5EF4-FFF2-40B4-BE49-F238E27FC236}">
                <a16:creationId xmlns:a16="http://schemas.microsoft.com/office/drawing/2014/main" id="{527F2D92-C3C7-42DC-A6CF-DB6EF4F4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4102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식음료·쇼핑 84.20%</a:t>
            </a:r>
          </a:p>
        </p:txBody>
      </p:sp>
      <p:sp>
        <p:nvSpPr>
          <p:cNvPr id="29" name="s3-evidence-box">
            <a:extLst xmlns:a="http://schemas.openxmlformats.org/drawingml/2006/main">
              <a:ext uri="{FF2B5EF4-FFF2-40B4-BE49-F238E27FC236}">
                <a16:creationId xmlns:a16="http://schemas.microsoft.com/office/drawing/2014/main" id="{B7277C91-A0FE-4BAD-B208-BDAF628B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6305550"/>
            <a:ext cx="84010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30" name="s3-evidence-title">
            <a:extLst xmlns:a="http://schemas.openxmlformats.org/drawingml/2006/main">
              <a:ext uri="{FF2B5EF4-FFF2-40B4-BE49-F238E27FC236}">
                <a16:creationId xmlns:a16="http://schemas.microsoft.com/office/drawing/2014/main" id="{9AE22B7F-1105-4FF7-85C5-FB4B4D49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5246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왜 이 방식인가</a:t>
            </a:r>
          </a:p>
        </p:txBody>
      </p:sp>
      <p:sp>
        <p:nvSpPr>
          <p:cNvPr id="31" name="s3-evidence-body">
            <a:extLst xmlns:a="http://schemas.openxmlformats.org/drawingml/2006/main">
              <a:ext uri="{FF2B5EF4-FFF2-40B4-BE49-F238E27FC236}">
                <a16:creationId xmlns:a16="http://schemas.microsoft.com/office/drawing/2014/main" id="{3F123C44-F1DD-49F8-B8D6-6566CBA9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877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숙박 방문 3.10%는 ‘방문객 100명 중 약 3명만 숙박’한다는 뜻입니다. 이미 큰 식음·쇼핑 소비 기반을 활용해 야간 체류와 지역 내 결제의 연결 여부를 먼저 검증합니다.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※ 수치는 샘플이며 실제 제안서 생성 시 선택 지역의 원자료·ML 결과로 교체됩니다.</a:t>
            </a:r>
          </a:p>
        </p:txBody>
      </p:sp>
    </p:spTree>
    <p:extLst>
      <p:ext uri="{BB962C8B-B14F-4D97-AF65-F5344CB8AC3E}">
        <p14:creationId xmlns:p14="http://schemas.microsoft.com/office/powerpoint/2010/main" val="130888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9965D2B-742B-49AB-AFFC-0141FF20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057275"/>
            <a:ext cx="3533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ML FORECAST · 2024.01~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BDAA44-8EBB-4981-B6CE-1EDFB0FD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47800"/>
            <a:ext cx="81248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향후 3개월 방문자·소비액 ML 예측</a:t>
            </a:r>
            <a:endParaRPr sz="35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9610720-202B-4F09-8037-567ABC57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733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F4CE408F-7D39-483A-AE7E-5DDC832E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67025"/>
            <a:ext cx="7543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2024년 1월부터 2026년 7월까지의 월별 원자료를 시간순으로 학습한 샘플 예측입니다. 아래 값은 ‘사업을 하지 않아도 예상되는 자연추세’이며, 시범 목표와 구분해 관리합니다.</a:t>
            </a:r>
          </a:p>
        </p:txBody>
      </p:sp>
      <p:sp>
        <p:nvSpPr>
          <p:cNvPr id="6" name="prediction-rail">
            <a:extLst xmlns:a="http://schemas.openxmlformats.org/drawingml/2006/main">
              <a:ext uri="{FF2B5EF4-FFF2-40B4-BE49-F238E27FC236}">
                <a16:creationId xmlns:a16="http://schemas.microsoft.com/office/drawing/2014/main" id="{3CC9773F-81A2-46D4-897F-04FD3941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prediction-title">
            <a:extLst xmlns:a="http://schemas.openxmlformats.org/drawingml/2006/main">
              <a:ext uri="{FF2B5EF4-FFF2-40B4-BE49-F238E27FC236}">
                <a16:creationId xmlns:a16="http://schemas.microsoft.com/office/drawing/2014/main" id="{9D7B9C8E-7531-4597-8395-092405B0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방문자 수: 9월 1,815만 명 → 11월 1,873만 명</a:t>
            </a:r>
            <a:endParaRPr sz="1425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prediction-body">
            <a:extLst xmlns:a="http://schemas.openxmlformats.org/drawingml/2006/main">
              <a:ext uri="{FF2B5EF4-FFF2-40B4-BE49-F238E27FC236}">
                <a16:creationId xmlns:a16="http://schemas.microsoft.com/office/drawing/2014/main" id="{CD0582B5-403A-4E15-B748-8572E400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00550"/>
            <a:ext cx="7324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8월 관측값을 기준으로 3개월 전망을 연결합니다. 계절성·추세를 반영한 모델 결과이며, 사업 성과를 보장하는 목표치는 아닙니다.</a:t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rag-rail">
            <a:extLst xmlns:a="http://schemas.openxmlformats.org/drawingml/2006/main">
              <a:ext uri="{FF2B5EF4-FFF2-40B4-BE49-F238E27FC236}">
                <a16:creationId xmlns:a16="http://schemas.microsoft.com/office/drawing/2014/main" id="{59B93260-E909-441F-A152-9596530C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67325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forecast-chart-note">
            <a:extLst xmlns:a="http://schemas.openxmlformats.org/drawingml/2006/main">
              <a:ext uri="{FF2B5EF4-FFF2-40B4-BE49-F238E27FC236}">
                <a16:creationId xmlns:a16="http://schemas.microsoft.com/office/drawing/2014/main" id="{9EC9EF53-B27B-48CD-AA6D-1B07121C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124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단위: 만 명 · 8월은 관측, 9~11월은 ML 샘플 예측</a:t>
            </a:r>
          </a:p>
        </p:txBody>
      </p:sp>
      <p:sp>
        <p:nvSpPr>
          <p:cNvPr id="20" name="forecast-reading-title">
            <a:extLst xmlns:a="http://schemas.openxmlformats.org/drawingml/2006/main">
              <a:ext uri="{FF2B5EF4-FFF2-40B4-BE49-F238E27FC236}">
                <a16:creationId xmlns:a16="http://schemas.microsoft.com/office/drawing/2014/main" id="{1EED468A-01C8-4F6D-9CB2-67932C29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768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모델 해석 · 예측은 자연추세</a:t>
            </a:r>
          </a:p>
        </p:txBody>
      </p:sp>
      <p:sp>
        <p:nvSpPr>
          <p:cNvPr id="21" name="forecast-reading-body">
            <a:extLst xmlns:a="http://schemas.openxmlformats.org/drawingml/2006/main">
              <a:ext uri="{FF2B5EF4-FFF2-40B4-BE49-F238E27FC236}">
                <a16:creationId xmlns:a16="http://schemas.microsoft.com/office/drawing/2014/main" id="{5DB356FE-1E33-4CFE-92F2-A52EB3A6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62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시간순 검증 → 저장 모델 → 3개월 예측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1009650" y="5905500"/>
          <a:ext xmlns:a="http://schemas.openxmlformats.org/drawingml/2006/main" cx="7524750" cy="152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845476be854d29"/>
          </a:graphicData>
        </a:graphic>
      </p:graphicFrame>
      <p:sp>
        <p:nvSpPr>
          <p:cNvPr id="23" name="consumption-kicker">
            <a:extLst xmlns:a="http://schemas.openxmlformats.org/drawingml/2006/main">
              <a:ext uri="{FF2B5EF4-FFF2-40B4-BE49-F238E27FC236}">
                <a16:creationId xmlns:a16="http://schemas.microsoft.com/office/drawing/2014/main" id="{FCD36470-B9D8-4ADA-BEDF-FCC21969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9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TOURISM SPENDING FORECAST</a:t>
            </a:r>
          </a:p>
        </p:txBody>
      </p:sp>
      <p:sp>
        <p:nvSpPr>
          <p:cNvPr id="24" name="consumption-title">
            <a:extLst xmlns:a="http://schemas.openxmlformats.org/drawingml/2006/main">
              <a:ext uri="{FF2B5EF4-FFF2-40B4-BE49-F238E27FC236}">
                <a16:creationId xmlns:a16="http://schemas.microsoft.com/office/drawing/2014/main" id="{5B3B3740-826D-4442-BB95-F7F23091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337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월 관광소비액: 9월 4,760억 원</a:t>
            </a:r>
          </a:p>
        </p:txBody>
      </p:sp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9486900" y="3905250"/>
          <a:ext xmlns:a="http://schemas.openxmlformats.org/drawingml/2006/main" cx="4476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099782a1074eb3"/>
          </a:graphicData>
        </a:graphic>
      </p:graphicFrame>
      <p:sp>
        <p:nvSpPr>
          <p:cNvPr id="26" name="consumption-note">
            <a:extLst xmlns:a="http://schemas.openxmlformats.org/drawingml/2006/main">
              <a:ext uri="{FF2B5EF4-FFF2-40B4-BE49-F238E27FC236}">
                <a16:creationId xmlns:a16="http://schemas.microsoft.com/office/drawing/2014/main" id="{6CA0B01A-B738-454D-A615-D2A73D4F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46747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단위: 억 원 · 9~11월 ML 샘플 예측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실제 운영 성과는 ‘예측 대비 차이’가 아니라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운영일·비운영일 비교로 따로 판단합니다.</a:t>
            </a:r>
          </a:p>
        </p:txBody>
      </p:sp>
    </p:spTree>
    <p:extLst>
      <p:ext uri="{BB962C8B-B14F-4D97-AF65-F5344CB8AC3E}">
        <p14:creationId xmlns:p14="http://schemas.microsoft.com/office/powerpoint/2010/main" val="1767458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6275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PEER COMPARISON · APPLY WITH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14425"/>
            <a:ext cx="78771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유사 지역·사례로 검증한 강남 적용 논리</a:t>
            </a:r>
            <a:endParaRPr sz="3600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E468CD8-9AB7-4607-A79D-2796B31D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85975"/>
            <a:ext cx="1306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grid">
            <a:extLst xmlns:a="http://schemas.openxmlformats.org/drawingml/2006/main">
              <a:ext uri="{FF2B5EF4-FFF2-40B4-BE49-F238E27FC236}">
                <a16:creationId xmlns:a16="http://schemas.microsoft.com/office/drawing/2014/main" id="{82EDB80F-7AEA-4B4C-9FC2-33090AC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3058775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8111BC7A-2C75-4CBD-AB98-B0DC44AC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81300"/>
            <a:ext cx="0" cy="5257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grid-h">
            <a:extLst xmlns:a="http://schemas.openxmlformats.org/drawingml/2006/main">
              <a:ext uri="{FF2B5EF4-FFF2-40B4-BE49-F238E27FC236}">
                <a16:creationId xmlns:a16="http://schemas.microsoft.com/office/drawing/2014/main" id="{28241900-71DE-48EC-A279-4E2A6684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00675"/>
            <a:ext cx="13058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iff-num-0">
            <a:extLst xmlns:a="http://schemas.openxmlformats.org/drawingml/2006/main">
              <a:ext uri="{FF2B5EF4-FFF2-40B4-BE49-F238E27FC236}">
                <a16:creationId xmlns:a16="http://schemas.microsoft.com/office/drawing/2014/main" id="{5B179CE8-6329-4234-8846-DA66D254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diff-title-0">
            <a:extLst xmlns:a="http://schemas.openxmlformats.org/drawingml/2006/main">
              <a:ext uri="{FF2B5EF4-FFF2-40B4-BE49-F238E27FC236}">
                <a16:creationId xmlns:a16="http://schemas.microsoft.com/office/drawing/2014/main" id="{3FC5221D-E74B-4DAB-9F37-4393399B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8860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강남의 현재 신호</a:t>
            </a:r>
          </a:p>
        </p:txBody>
      </p:sp>
      <p:sp>
        <p:nvSpPr>
          <p:cNvPr id="9" name="diff-body-0">
            <a:extLst xmlns:a="http://schemas.openxmlformats.org/drawingml/2006/main">
              <a:ext uri="{FF2B5EF4-FFF2-40B4-BE49-F238E27FC236}">
                <a16:creationId xmlns:a16="http://schemas.microsoft.com/office/drawing/2014/main" id="{397EA389-F953-4FF3-BE82-156ECEFA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9107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방문 규모보다 야간 이용·결제 전환을 함께 확인해야 합니다.</a:t>
            </a:r>
          </a:p>
        </p:txBody>
      </p:sp>
      <p:sp>
        <p:nvSpPr>
          <p:cNvPr id="10" name="diff-plus-0">
            <a:extLst xmlns:a="http://schemas.openxmlformats.org/drawingml/2006/main">
              <a:ext uri="{FF2B5EF4-FFF2-40B4-BE49-F238E27FC236}">
                <a16:creationId xmlns:a16="http://schemas.microsoft.com/office/drawing/2014/main" id="{FA8127FD-DDBD-4B6D-8DD4-2CDCD18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관측값에서 출발</a:t>
            </a:r>
          </a:p>
        </p:txBody>
      </p:sp>
      <p:sp>
        <p:nvSpPr>
          <p:cNvPr id="11" name="diff-plus-orange-0">
            <a:extLst xmlns:a="http://schemas.openxmlformats.org/drawingml/2006/main">
              <a:ext uri="{FF2B5EF4-FFF2-40B4-BE49-F238E27FC236}">
                <a16:creationId xmlns:a16="http://schemas.microsoft.com/office/drawing/2014/main" id="{A57412D2-7DF5-4C59-A785-8AEB4428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diff-num-1">
            <a:extLst xmlns:a="http://schemas.openxmlformats.org/drawingml/2006/main">
              <a:ext uri="{FF2B5EF4-FFF2-40B4-BE49-F238E27FC236}">
                <a16:creationId xmlns:a16="http://schemas.microsoft.com/office/drawing/2014/main" id="{042D6BFD-8C70-44F2-A6AF-68361E6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670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diff-title-1">
            <a:extLst xmlns:a="http://schemas.openxmlformats.org/drawingml/2006/main">
              <a:ext uri="{FF2B5EF4-FFF2-40B4-BE49-F238E27FC236}">
                <a16:creationId xmlns:a16="http://schemas.microsoft.com/office/drawing/2014/main" id="{39052A63-7565-4AFB-A81A-781058D9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8860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비교 지역이 주는 힌트</a:t>
            </a:r>
            <a:endParaRPr sz="2400" b="0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diff-body-1">
            <a:extLst xmlns:a="http://schemas.openxmlformats.org/drawingml/2006/main">
              <a:ext uri="{FF2B5EF4-FFF2-40B4-BE49-F238E27FC236}">
                <a16:creationId xmlns:a16="http://schemas.microsoft.com/office/drawing/2014/main" id="{749EFAD3-629C-4E57-9A57-2F5E396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9107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방문객 100명 중 약 1명 덜 숙박하는 차이를 먼저 해소합니다.</a:t>
            </a:r>
          </a:p>
        </p:txBody>
      </p:sp>
      <p:sp>
        <p:nvSpPr>
          <p:cNvPr id="15" name="diff-plus-1">
            <a:extLst xmlns:a="http://schemas.openxmlformats.org/drawingml/2006/main">
              <a:ext uri="{FF2B5EF4-FFF2-40B4-BE49-F238E27FC236}">
                <a16:creationId xmlns:a16="http://schemas.microsoft.com/office/drawing/2014/main" id="{BEE72E06-DEDE-432B-B6B9-6F96F1CF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435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수치는 쉬운 말로 풀이</a:t>
            </a:r>
          </a:p>
        </p:txBody>
      </p:sp>
      <p:sp>
        <p:nvSpPr>
          <p:cNvPr id="16" name="diff-plus-orange-1">
            <a:extLst xmlns:a="http://schemas.openxmlformats.org/drawingml/2006/main">
              <a:ext uri="{FF2B5EF4-FFF2-40B4-BE49-F238E27FC236}">
                <a16:creationId xmlns:a16="http://schemas.microsoft.com/office/drawing/2014/main" id="{9BFE81BE-C35B-4BD3-9F38-0E41CB9F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4350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diff-num-2">
            <a:extLst xmlns:a="http://schemas.openxmlformats.org/drawingml/2006/main">
              <a:ext uri="{FF2B5EF4-FFF2-40B4-BE49-F238E27FC236}">
                <a16:creationId xmlns:a16="http://schemas.microsoft.com/office/drawing/2014/main" id="{4D448592-403C-4EF4-8007-F16B4D59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055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diff-title-2">
            <a:extLst xmlns:a="http://schemas.openxmlformats.org/drawingml/2006/main">
              <a:ext uri="{FF2B5EF4-FFF2-40B4-BE49-F238E27FC236}">
                <a16:creationId xmlns:a16="http://schemas.microsoft.com/office/drawing/2014/main" id="{5D9F67B1-93E0-43C5-91C6-C042660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61245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타지역 운영 방식</a:t>
            </a:r>
          </a:p>
        </p:txBody>
      </p:sp>
      <p:sp>
        <p:nvSpPr>
          <p:cNvPr id="19" name="diff-body-2">
            <a:extLst xmlns:a="http://schemas.openxmlformats.org/drawingml/2006/main">
              <a:ext uri="{FF2B5EF4-FFF2-40B4-BE49-F238E27FC236}">
                <a16:creationId xmlns:a16="http://schemas.microsoft.com/office/drawing/2014/main" id="{EB459863-C1CA-487A-9CB6-3FB96BA5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104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문화·도보·상권 이용을 묶되, 강남은 한 권역·예약형으로 작게 시작합니다.</a:t>
            </a:r>
          </a:p>
        </p:txBody>
      </p:sp>
      <p:sp>
        <p:nvSpPr>
          <p:cNvPr id="20" name="diff-plus-2">
            <a:extLst xmlns:a="http://schemas.openxmlformats.org/drawingml/2006/main">
              <a:ext uri="{FF2B5EF4-FFF2-40B4-BE49-F238E27FC236}">
                <a16:creationId xmlns:a16="http://schemas.microsoft.com/office/drawing/2014/main" id="{7303984B-C6EE-4C86-9BC4-B30BBF18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200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공식 운영자료 재확인</a:t>
            </a:r>
          </a:p>
        </p:txBody>
      </p:sp>
      <p:sp>
        <p:nvSpPr>
          <p:cNvPr id="21" name="diff-plus-orange-2">
            <a:extLst xmlns:a="http://schemas.openxmlformats.org/drawingml/2006/main">
              <a:ext uri="{FF2B5EF4-FFF2-40B4-BE49-F238E27FC236}">
                <a16:creationId xmlns:a16="http://schemas.microsoft.com/office/drawing/2014/main" id="{0B6717C1-A26D-4507-A5EF-57A37FEF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8200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2" name="diff-num-3">
            <a:extLst xmlns:a="http://schemas.openxmlformats.org/drawingml/2006/main">
              <a:ext uri="{FF2B5EF4-FFF2-40B4-BE49-F238E27FC236}">
                <a16:creationId xmlns:a16="http://schemas.microsoft.com/office/drawing/2014/main" id="{557E9041-6D43-44D5-AC83-F2F91E6F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1055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diff-title-3">
            <a:extLst xmlns:a="http://schemas.openxmlformats.org/drawingml/2006/main">
              <a:ext uri="{FF2B5EF4-FFF2-40B4-BE49-F238E27FC236}">
                <a16:creationId xmlns:a16="http://schemas.microsoft.com/office/drawing/2014/main" id="{87DB96F2-E1FB-4ACE-9435-CA826544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245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강남의 실행 원칙</a:t>
            </a:r>
          </a:p>
        </p:txBody>
      </p:sp>
      <p:sp>
        <p:nvSpPr>
          <p:cNvPr id="24" name="diff-body-3">
            <a:extLst xmlns:a="http://schemas.openxmlformats.org/drawingml/2006/main">
              <a:ext uri="{FF2B5EF4-FFF2-40B4-BE49-F238E27FC236}">
                <a16:creationId xmlns:a16="http://schemas.microsoft.com/office/drawing/2014/main" id="{7D299F22-9EC3-4717-985C-5C94FACD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74104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예약·이용·결제를 모두 기록한 작은 실험부터 시작합니다.</a:t>
            </a:r>
          </a:p>
        </p:txBody>
      </p:sp>
      <p:sp>
        <p:nvSpPr>
          <p:cNvPr id="25" name="diff-plus-3">
            <a:extLst xmlns:a="http://schemas.openxmlformats.org/drawingml/2006/main">
              <a:ext uri="{FF2B5EF4-FFF2-40B4-BE49-F238E27FC236}">
                <a16:creationId xmlns:a16="http://schemas.microsoft.com/office/drawing/2014/main" id="{13001AD4-1711-4DB5-801D-66759E0A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8200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6개월 조건부 시범</a:t>
            </a:r>
          </a:p>
        </p:txBody>
      </p:sp>
      <p:sp>
        <p:nvSpPr>
          <p:cNvPr id="26" name="diff-plus-orange-3">
            <a:extLst xmlns:a="http://schemas.openxmlformats.org/drawingml/2006/main">
              <a:ext uri="{FF2B5EF4-FFF2-40B4-BE49-F238E27FC236}">
                <a16:creationId xmlns:a16="http://schemas.microsoft.com/office/drawing/2014/main" id="{2AA2B92A-6911-4A37-BBF4-70B85C3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78200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8" name="peer-visit-label">
            <a:extLst xmlns:a="http://schemas.openxmlformats.org/drawingml/2006/main">
              <a:ext uri="{FF2B5EF4-FFF2-40B4-BE49-F238E27FC236}">
                <a16:creationId xmlns:a16="http://schemas.microsoft.com/office/drawing/2014/main" id="{A0522FF0-3328-448E-91F3-FBDC6FCC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4290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2026.07 외지인 방문</a:t>
            </a:r>
          </a:p>
        </p:txBody>
      </p:sp>
      <p:sp>
        <p:nvSpPr>
          <p:cNvPr id="29" name="peer-visit-value">
            <a:extLst xmlns:a="http://schemas.openxmlformats.org/drawingml/2006/main">
              <a:ext uri="{FF2B5EF4-FFF2-40B4-BE49-F238E27FC236}">
                <a16:creationId xmlns:a16="http://schemas.microsoft.com/office/drawing/2014/main" id="{1A5BC1B9-5C74-4F53-8138-A2CD3D78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6385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1,796만 명</a:t>
            </a:r>
          </a:p>
        </p:txBody>
      </p:sp>
      <p:sp>
        <p:nvSpPr>
          <p:cNvPr id="30" name="peer-visit-index">
            <a:extLst xmlns:a="http://schemas.openxmlformats.org/drawingml/2006/main">
              <a:ext uri="{FF2B5EF4-FFF2-40B4-BE49-F238E27FC236}">
                <a16:creationId xmlns:a16="http://schemas.microsoft.com/office/drawing/2014/main" id="{00528A64-C003-44FB-BF9E-0E37119F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671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전년동월=100</a:t>
            </a:r>
          </a:p>
        </p:txBody>
      </p:sp>
      <p:sp>
        <p:nvSpPr>
          <p:cNvPr id="31" name="peer-visit-base">
            <a:extLst xmlns:a="http://schemas.openxmlformats.org/drawingml/2006/main">
              <a:ext uri="{FF2B5EF4-FFF2-40B4-BE49-F238E27FC236}">
                <a16:creationId xmlns:a16="http://schemas.microsoft.com/office/drawing/2014/main" id="{95A55094-375F-4CBC-87E9-01623451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57625"/>
            <a:ext cx="266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</p:sp>
      <p:sp>
        <p:nvSpPr>
          <p:cNvPr id="32" name="peer-visit-current">
            <a:extLst xmlns:a="http://schemas.openxmlformats.org/drawingml/2006/main">
              <a:ext uri="{FF2B5EF4-FFF2-40B4-BE49-F238E27FC236}">
                <a16:creationId xmlns:a16="http://schemas.microsoft.com/office/drawing/2014/main" id="{B1E1B29C-26C7-4182-98DE-E40E6883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2667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</p:sp>
      <p:sp>
        <p:nvSpPr>
          <p:cNvPr id="33" name="peer-visit-base-label">
            <a:extLst xmlns:a="http://schemas.openxmlformats.org/drawingml/2006/main">
              <a:ext uri="{FF2B5EF4-FFF2-40B4-BE49-F238E27FC236}">
                <a16:creationId xmlns:a16="http://schemas.microsoft.com/office/drawing/2014/main" id="{F98C0165-64EF-4D59-86EA-2F46D368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286250"/>
            <a:ext cx="552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100</a:t>
            </a:r>
          </a:p>
        </p:txBody>
      </p:sp>
      <p:sp>
        <p:nvSpPr>
          <p:cNvPr id="34" name="peer-visit-current-label">
            <a:extLst xmlns:a="http://schemas.openxmlformats.org/drawingml/2006/main">
              <a:ext uri="{FF2B5EF4-FFF2-40B4-BE49-F238E27FC236}">
                <a16:creationId xmlns:a16="http://schemas.microsoft.com/office/drawing/2014/main" id="{6FC1FAF2-A607-4351-A428-125F0A3C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552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91.70</a:t>
            </a:r>
          </a:p>
        </p:txBody>
      </p:sp>
      <p:sp>
        <p:nvSpPr>
          <p:cNvPr id="35" name="peer-visit-delta">
            <a:extLst xmlns:a="http://schemas.openxmlformats.org/drawingml/2006/main">
              <a:ext uri="{FF2B5EF4-FFF2-40B4-BE49-F238E27FC236}">
                <a16:creationId xmlns:a16="http://schemas.microsoft.com/office/drawing/2014/main" id="{F7AE130C-2B73-4C32-BF6B-F0518441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148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▼ 8.30%</a:t>
            </a:r>
          </a:p>
        </p:txBody>
      </p:sp>
      <p:sp>
        <p:nvSpPr>
          <p:cNvPr id="36" name="peer-stay-title">
            <a:extLst xmlns:a="http://schemas.openxmlformats.org/drawingml/2006/main">
              <a:ext uri="{FF2B5EF4-FFF2-40B4-BE49-F238E27FC236}">
                <a16:creationId xmlns:a16="http://schemas.microsoft.com/office/drawing/2014/main" id="{999CD307-FF95-4C92-BB7B-7D92D186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429000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숙박 방문 비율</a:t>
            </a:r>
          </a:p>
        </p:txBody>
      </p:sp>
      <p:sp>
        <p:nvSpPr>
          <p:cNvPr id="37" name="peer-stay-gangnam">
            <a:extLst xmlns:a="http://schemas.openxmlformats.org/drawingml/2006/main">
              <a:ext uri="{FF2B5EF4-FFF2-40B4-BE49-F238E27FC236}">
                <a16:creationId xmlns:a16="http://schemas.microsoft.com/office/drawing/2014/main" id="{EA35701A-E4F5-45D3-894C-C781DEDA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39147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</p:sp>
      <p:sp>
        <p:nvSpPr>
          <p:cNvPr id="38" name="peer-stay-seocho">
            <a:extLst xmlns:a="http://schemas.openxmlformats.org/drawingml/2006/main">
              <a:ext uri="{FF2B5EF4-FFF2-40B4-BE49-F238E27FC236}">
                <a16:creationId xmlns:a16="http://schemas.microsoft.com/office/drawing/2014/main" id="{0263F32C-C4C3-4679-A155-D99009FE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3800475"/>
            <a:ext cx="342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7C9"/>
          </a:solidFill>
          <a:ln xmlns:a="http://schemas.openxmlformats.org/drawingml/2006/main" w="0">
            <a:solidFill>
              <a:srgbClr val="00B7C9"/>
            </a:solidFill>
            <a:prstDash val="solid"/>
          </a:ln>
        </p:spPr>
      </p:sp>
      <p:sp>
        <p:nvSpPr>
          <p:cNvPr id="39" name="peer-stay-gangnam-value">
            <a:extLst xmlns:a="http://schemas.openxmlformats.org/drawingml/2006/main">
              <a:ext uri="{FF2B5EF4-FFF2-40B4-BE49-F238E27FC236}">
                <a16:creationId xmlns:a16="http://schemas.microsoft.com/office/drawing/2014/main" id="{B752C66F-3AB0-4D5B-8262-9772C231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6004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3.10%</a:t>
            </a:r>
          </a:p>
        </p:txBody>
      </p:sp>
      <p:sp>
        <p:nvSpPr>
          <p:cNvPr id="40" name="peer-stay-seocho-value">
            <a:extLst xmlns:a="http://schemas.openxmlformats.org/drawingml/2006/main">
              <a:ext uri="{FF2B5EF4-FFF2-40B4-BE49-F238E27FC236}">
                <a16:creationId xmlns:a16="http://schemas.microsoft.com/office/drawing/2014/main" id="{8BD2FFD0-A90A-4EEC-B06C-7457FB38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34861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4.08%</a:t>
            </a:r>
          </a:p>
        </p:txBody>
      </p:sp>
      <p:sp>
        <p:nvSpPr>
          <p:cNvPr id="41" name="peer-stay-gangnam-label">
            <a:extLst xmlns:a="http://schemas.openxmlformats.org/drawingml/2006/main">
              <a:ext uri="{FF2B5EF4-FFF2-40B4-BE49-F238E27FC236}">
                <a16:creationId xmlns:a16="http://schemas.microsoft.com/office/drawing/2014/main" id="{7D481E49-FABE-41D3-B648-514B5944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3053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강남</a:t>
            </a:r>
          </a:p>
        </p:txBody>
      </p:sp>
      <p:sp>
        <p:nvSpPr>
          <p:cNvPr id="42" name="peer-stay-seocho-label">
            <a:extLst xmlns:a="http://schemas.openxmlformats.org/drawingml/2006/main">
              <a:ext uri="{FF2B5EF4-FFF2-40B4-BE49-F238E27FC236}">
                <a16:creationId xmlns:a16="http://schemas.microsoft.com/office/drawing/2014/main" id="{1B6892B0-EDD1-4295-BFF7-DA5A61C5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43053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서초</a:t>
            </a:r>
          </a:p>
        </p:txBody>
      </p:sp>
      <p:sp>
        <p:nvSpPr>
          <p:cNvPr id="43" name="peer-stay-gap">
            <a:extLst xmlns:a="http://schemas.openxmlformats.org/drawingml/2006/main">
              <a:ext uri="{FF2B5EF4-FFF2-40B4-BE49-F238E27FC236}">
                <a16:creationId xmlns:a16="http://schemas.microsoft.com/office/drawing/2014/main" id="{674B2675-AD04-4584-9AD0-C3D37716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529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차이 0.98%p</a:t>
            </a:r>
          </a:p>
        </p:txBody>
      </p:sp>
      <p:sp>
        <p:nvSpPr>
          <p:cNvPr id="44" name="peer-case-label">
            <a:extLst xmlns:a="http://schemas.openxmlformats.org/drawingml/2006/main">
              <a:ext uri="{FF2B5EF4-FFF2-40B4-BE49-F238E27FC236}">
                <a16:creationId xmlns:a16="http://schemas.microsoft.com/office/drawing/2014/main" id="{E6B215A7-B775-4FBD-9EA3-8ED9D916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6865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참고할 야간관광 운영 구조</a:t>
            </a:r>
          </a:p>
        </p:txBody>
      </p:sp>
      <p:sp>
        <p:nvSpPr>
          <p:cNvPr id="45" name="peer-case-program-box">
            <a:extLst xmlns:a="http://schemas.openxmlformats.org/drawingml/2006/main">
              <a:ext uri="{FF2B5EF4-FFF2-40B4-BE49-F238E27FC236}">
                <a16:creationId xmlns:a16="http://schemas.microsoft.com/office/drawing/2014/main" id="{D29F5E93-8A48-4477-AE53-AB44974B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953250"/>
            <a:ext cx="704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</p:sp>
      <p:sp>
        <p:nvSpPr>
          <p:cNvPr id="46" name="peer-case-program-label">
            <a:extLst xmlns:a="http://schemas.openxmlformats.org/drawingml/2006/main">
              <a:ext uri="{FF2B5EF4-FFF2-40B4-BE49-F238E27FC236}">
                <a16:creationId xmlns:a16="http://schemas.microsoft.com/office/drawing/2014/main" id="{FCB1E8F3-1953-4399-BCD2-F7618ABA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70389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문화</a:t>
            </a:r>
          </a:p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프로그램</a:t>
            </a:r>
          </a:p>
        </p:txBody>
      </p:sp>
      <p:sp>
        <p:nvSpPr>
          <p:cNvPr id="47" name="peer-case-arrow1">
            <a:extLst xmlns:a="http://schemas.openxmlformats.org/drawingml/2006/main">
              <a:ext uri="{FF2B5EF4-FFF2-40B4-BE49-F238E27FC236}">
                <a16:creationId xmlns:a16="http://schemas.microsoft.com/office/drawing/2014/main" id="{D7C53076-95ED-4224-AD03-80EAF1C2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0294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48" name="peer-case-walk-box">
            <a:extLst xmlns:a="http://schemas.openxmlformats.org/drawingml/2006/main">
              <a:ext uri="{FF2B5EF4-FFF2-40B4-BE49-F238E27FC236}">
                <a16:creationId xmlns:a16="http://schemas.microsoft.com/office/drawing/2014/main" id="{D21F321C-55CF-47DA-83C0-2454766F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953250"/>
            <a:ext cx="704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</p:sp>
      <p:sp>
        <p:nvSpPr>
          <p:cNvPr id="49" name="peer-case-walk-label">
            <a:extLst xmlns:a="http://schemas.openxmlformats.org/drawingml/2006/main">
              <a:ext uri="{FF2B5EF4-FFF2-40B4-BE49-F238E27FC236}">
                <a16:creationId xmlns:a16="http://schemas.microsoft.com/office/drawing/2014/main" id="{4A5EE3BA-AB46-42D4-BD1E-2A45E88E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70389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도보</a:t>
            </a:r>
          </a:p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동선</a:t>
            </a:r>
          </a:p>
        </p:txBody>
      </p:sp>
      <p:sp>
        <p:nvSpPr>
          <p:cNvPr id="50" name="peer-case-arrow2">
            <a:extLst xmlns:a="http://schemas.openxmlformats.org/drawingml/2006/main">
              <a:ext uri="{FF2B5EF4-FFF2-40B4-BE49-F238E27FC236}">
                <a16:creationId xmlns:a16="http://schemas.microsoft.com/office/drawing/2014/main" id="{F5515124-65E5-4FB7-9CB1-E8C62FD4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70294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1" name="peer-case-spend-box">
            <a:extLst xmlns:a="http://schemas.openxmlformats.org/drawingml/2006/main">
              <a:ext uri="{FF2B5EF4-FFF2-40B4-BE49-F238E27FC236}">
                <a16:creationId xmlns:a16="http://schemas.microsoft.com/office/drawing/2014/main" id="{FAF56F1E-DD15-4F74-9790-432BE35E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953250"/>
            <a:ext cx="704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</p:sp>
      <p:sp>
        <p:nvSpPr>
          <p:cNvPr id="52" name="peer-case-spend-label">
            <a:extLst xmlns:a="http://schemas.openxmlformats.org/drawingml/2006/main">
              <a:ext uri="{FF2B5EF4-FFF2-40B4-BE49-F238E27FC236}">
                <a16:creationId xmlns:a16="http://schemas.microsoft.com/office/drawing/2014/main" id="{93F13B79-4114-460E-AE2B-BEE1138F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70389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상권</a:t>
            </a:r>
          </a:p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이용</a:t>
            </a:r>
          </a:p>
        </p:txBody>
      </p:sp>
      <p:sp>
        <p:nvSpPr>
          <p:cNvPr id="53" name="peer-pilot-label">
            <a:extLst xmlns:a="http://schemas.openxmlformats.org/drawingml/2006/main">
              <a:ext uri="{FF2B5EF4-FFF2-40B4-BE49-F238E27FC236}">
                <a16:creationId xmlns:a16="http://schemas.microsoft.com/office/drawing/2014/main" id="{2AB5BD55-C55F-458A-BD66-0C3F8D61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686550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강남 시범에서 확인할 전환</a:t>
            </a:r>
          </a:p>
        </p:txBody>
      </p:sp>
      <p:sp>
        <p:nvSpPr>
          <p:cNvPr id="54" name="peer-pilot-reserve-box">
            <a:extLst xmlns:a="http://schemas.openxmlformats.org/drawingml/2006/main">
              <a:ext uri="{FF2B5EF4-FFF2-40B4-BE49-F238E27FC236}">
                <a16:creationId xmlns:a16="http://schemas.microsoft.com/office/drawing/2014/main" id="{9846D74D-D959-4EF7-B2F3-19D4EC62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953250"/>
            <a:ext cx="647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</p:sp>
      <p:sp>
        <p:nvSpPr>
          <p:cNvPr id="55" name="peer-pilot-reserve-label">
            <a:extLst xmlns:a="http://schemas.openxmlformats.org/drawingml/2006/main">
              <a:ext uri="{FF2B5EF4-FFF2-40B4-BE49-F238E27FC236}">
                <a16:creationId xmlns:a16="http://schemas.microsoft.com/office/drawing/2014/main" id="{51919EB4-CC9F-431C-AE74-4E0011FD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70389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예약</a:t>
            </a:r>
          </a:p>
        </p:txBody>
      </p:sp>
      <p:sp>
        <p:nvSpPr>
          <p:cNvPr id="56" name="peer-pilot-arrow1">
            <a:extLst xmlns:a="http://schemas.openxmlformats.org/drawingml/2006/main">
              <a:ext uri="{FF2B5EF4-FFF2-40B4-BE49-F238E27FC236}">
                <a16:creationId xmlns:a16="http://schemas.microsoft.com/office/drawing/2014/main" id="{99EF7212-9B9C-444B-9C33-A1348B48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70294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7" name="peer-pilot-use-box">
            <a:extLst xmlns:a="http://schemas.openxmlformats.org/drawingml/2006/main">
              <a:ext uri="{FF2B5EF4-FFF2-40B4-BE49-F238E27FC236}">
                <a16:creationId xmlns:a16="http://schemas.microsoft.com/office/drawing/2014/main" id="{962AFB49-71D9-4D2B-A11E-D0FB5145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6953250"/>
            <a:ext cx="647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</p:sp>
      <p:sp>
        <p:nvSpPr>
          <p:cNvPr id="58" name="peer-pilot-use-label">
            <a:extLst xmlns:a="http://schemas.openxmlformats.org/drawingml/2006/main">
              <a:ext uri="{FF2B5EF4-FFF2-40B4-BE49-F238E27FC236}">
                <a16:creationId xmlns:a16="http://schemas.microsoft.com/office/drawing/2014/main" id="{24F9BB10-042C-4D0A-AFB9-4530EDB2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70389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이용</a:t>
            </a:r>
          </a:p>
        </p:txBody>
      </p:sp>
      <p:sp>
        <p:nvSpPr>
          <p:cNvPr id="59" name="peer-pilot-arrow2">
            <a:extLst xmlns:a="http://schemas.openxmlformats.org/drawingml/2006/main">
              <a:ext uri="{FF2B5EF4-FFF2-40B4-BE49-F238E27FC236}">
                <a16:creationId xmlns:a16="http://schemas.microsoft.com/office/drawing/2014/main" id="{B94864D0-667C-42D0-89BA-BC2100C2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70294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60" name="peer-pilot-pay-box">
            <a:extLst xmlns:a="http://schemas.openxmlformats.org/drawingml/2006/main">
              <a:ext uri="{FF2B5EF4-FFF2-40B4-BE49-F238E27FC236}">
                <a16:creationId xmlns:a16="http://schemas.microsoft.com/office/drawing/2014/main" id="{CD376544-7663-4870-96FA-400ED7FB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6953250"/>
            <a:ext cx="647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</p:sp>
      <p:sp>
        <p:nvSpPr>
          <p:cNvPr id="61" name="peer-pilot-pay-label">
            <a:extLst xmlns:a="http://schemas.openxmlformats.org/drawingml/2006/main">
              <a:ext uri="{FF2B5EF4-FFF2-40B4-BE49-F238E27FC236}">
                <a16:creationId xmlns:a16="http://schemas.microsoft.com/office/drawing/2014/main" id="{016017E8-BE2C-483A-BD86-11714940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70389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결제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56D2C68C-9804-4F78-AFF6-72BE73CF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IMPLEMENTATION ROADMAP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C8465E-D0F9-4EEF-AA67-014E673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19175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6개월 실행 가이드: 4단계 운영·평가</a:t>
            </a:r>
            <a:endParaRPr sz="367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46C03D-7627-4B08-A838-FDEDDCB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333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tep-0-rule">
            <a:extLst xmlns:a="http://schemas.openxmlformats.org/drawingml/2006/main">
              <a:ext uri="{FF2B5EF4-FFF2-40B4-BE49-F238E27FC236}">
                <a16:creationId xmlns:a16="http://schemas.microsoft.com/office/drawing/2014/main" id="{6FD80474-E3B5-4508-9AC4-E8AD6531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tep-0-label">
            <a:extLst xmlns:a="http://schemas.openxmlformats.org/drawingml/2006/main">
              <a:ext uri="{FF2B5EF4-FFF2-40B4-BE49-F238E27FC236}">
                <a16:creationId xmlns:a16="http://schemas.microsoft.com/office/drawing/2014/main" id="{E97A8DBE-CE91-46C0-9CCD-63E1F1C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01 · 9월 1~2주</a:t>
            </a:r>
          </a:p>
        </p:txBody>
      </p:sp>
      <p:sp>
        <p:nvSpPr>
          <p:cNvPr id="6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59B9BEF0-4231-459C-9517-C04054B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권역·참여자 확정</a:t>
            </a:r>
          </a:p>
        </p:txBody>
      </p:sp>
      <p:sp>
        <p:nvSpPr>
          <p:cNvPr id="7" name="step-0-body">
            <a:extLst xmlns:a="http://schemas.openxmlformats.org/drawingml/2006/main">
              <a:ext uri="{FF2B5EF4-FFF2-40B4-BE49-F238E27FC236}">
                <a16:creationId xmlns:a16="http://schemas.microsoft.com/office/drawing/2014/main" id="{07941CCA-2692-4F3B-B5FF-8DEBA22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구청·운영자·상점이 한 권역, 운영일, 참여 기준을 확정합니다.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참여 의향·운영 가능 목록</a:t>
            </a:r>
          </a:p>
        </p:txBody>
      </p:sp>
      <p:sp>
        <p:nvSpPr>
          <p:cNvPr id="8" name="step-1-rule">
            <a:extLst xmlns:a="http://schemas.openxmlformats.org/drawingml/2006/main">
              <a:ext uri="{FF2B5EF4-FFF2-40B4-BE49-F238E27FC236}">
                <a16:creationId xmlns:a16="http://schemas.microsoft.com/office/drawing/2014/main" id="{271037CD-3D94-4954-A9B7-62A07A13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5310D594-B49B-4A22-8DE6-7E9C62C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02 · 9월 3~4주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BF52D1D6-661A-435F-8541-DBE90D7A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예약·결제 측정 설계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B1CA67F2-083B-484D-B979-9EA70E2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예약·입장·당일결제 기록과 개인정보·환불·중복 규칙을 합의합니다.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측정 설계서</a:t>
            </a:r>
          </a:p>
        </p:txBody>
      </p:sp>
      <p:sp>
        <p:nvSpPr>
          <p:cNvPr id="12" name="step-2-rule">
            <a:extLst xmlns:a="http://schemas.openxmlformats.org/drawingml/2006/main">
              <a:ext uri="{FF2B5EF4-FFF2-40B4-BE49-F238E27FC236}">
                <a16:creationId xmlns:a16="http://schemas.microsoft.com/office/drawing/2014/main" id="{9818F010-1CC6-465C-A6DB-482EF86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ACA8C8F1-D10F-43C1-A65D-52FACF4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03 · 10월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08134B86-8D30-402C-9CEF-074FEC1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1개월 시범운영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A3D6FB23-F5E8-415A-9C62-CDDD2FC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운영일과 비운영일을 구분해 예약→이용→결제를 기록합니다.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주간 운영 현황표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step-3-rule">
            <a:extLst xmlns:a="http://schemas.openxmlformats.org/drawingml/2006/main">
              <a:ext uri="{FF2B5EF4-FFF2-40B4-BE49-F238E27FC236}">
                <a16:creationId xmlns:a16="http://schemas.microsoft.com/office/drawing/2014/main" id="{D0CBC112-A98C-4EA5-BA4F-54DB9D5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F0662ED8-32C0-41E6-86B5-4085829F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04 · 11월~1월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F4EEECAE-8F09-478C-9B9E-19776C1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순차 확대·월별 보완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C705A7EA-982B-4870-B075-B69149A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완료율·민원·단위비용을 보고 혜택과 운영일을 조정합니다.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KPI·개선 이력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value-panel">
            <a:extLst xmlns:a="http://schemas.openxmlformats.org/drawingml/2006/main">
              <a:ext uri="{FF2B5EF4-FFF2-40B4-BE49-F238E27FC236}">
                <a16:creationId xmlns:a16="http://schemas.microsoft.com/office/drawing/2014/main" id="{0A5928CC-5352-494A-82B9-C6E3C567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1320165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value-panel-rail">
            <a:extLst xmlns:a="http://schemas.openxmlformats.org/drawingml/2006/main">
              <a:ext uri="{FF2B5EF4-FFF2-40B4-BE49-F238E27FC236}">
                <a16:creationId xmlns:a16="http://schemas.microsoft.com/office/drawing/2014/main" id="{FF527866-641E-44D2-8381-B96977E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0" cy="2352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value-title">
            <a:extLst xmlns:a="http://schemas.openxmlformats.org/drawingml/2006/main">
              <a:ext uri="{FF2B5EF4-FFF2-40B4-BE49-F238E27FC236}">
                <a16:creationId xmlns:a16="http://schemas.microsoft.com/office/drawing/2014/main" id="{3506D103-ACC9-4612-8F44-8648D01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000750"/>
            <a:ext cx="481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최종 산출물 · 2월</a:t>
            </a:r>
          </a:p>
        </p:txBody>
      </p:sp>
      <p:sp>
        <p:nvSpPr>
          <p:cNvPr id="23" name="value-body">
            <a:extLst xmlns:a="http://schemas.openxmlformats.org/drawingml/2006/main">
              <a:ext uri="{FF2B5EF4-FFF2-40B4-BE49-F238E27FC236}">
                <a16:creationId xmlns:a16="http://schemas.microsoft.com/office/drawing/2014/main" id="{E6BA8404-9624-4B90-BC5C-9706A7B2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457950"/>
            <a:ext cx="122015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운영평가 보고서 · 예산 집행 근거 · 확대/보완/중단 판단표를 한 묶음으로 제출합니다. 목표 달성 여부만 보지 않고 완료 1건당 비용, 민원, 데이터 연결 가능성까지 함께 판단합니다.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89566C74-171B-4CC1-A081-68E147C8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952500"/>
            <a:ext cx="758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3개월 시범 KPI: 예측은 기준선, 목표는 검증값</a:t>
            </a:r>
            <a:endParaRPr sz="390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06725C-B232-4DB7-96F0-03854DF8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192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51BFB9C-216A-4C33-A839-B04730D3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아래 목표는 사업 효과를 보장하는 값이 아니라, 사전에 정해 둔 시범 운영 KPI입니다.</a:t>
            </a:r>
            <a:endParaRPr sz="1350" b="0" i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audience-card-0">
            <a:extLst xmlns:a="http://schemas.openxmlformats.org/drawingml/2006/main">
              <a:ext uri="{FF2B5EF4-FFF2-40B4-BE49-F238E27FC236}">
                <a16:creationId xmlns:a16="http://schemas.microsoft.com/office/drawing/2014/main" id="{4C5D9B42-9585-431B-9F85-6047030B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audience-pill-0">
            <a:extLst xmlns:a="http://schemas.openxmlformats.org/drawingml/2006/main">
              <a:ext uri="{FF2B5EF4-FFF2-40B4-BE49-F238E27FC236}">
                <a16:creationId xmlns:a16="http://schemas.microsoft.com/office/drawing/2014/main" id="{78EAE8B0-7A2C-4232-829C-9DE3D07F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방문자 +2.00% 관리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audience-body-0">
            <a:extLst xmlns:a="http://schemas.openxmlformats.org/drawingml/2006/main">
              <a:ext uri="{FF2B5EF4-FFF2-40B4-BE49-F238E27FC236}">
                <a16:creationId xmlns:a16="http://schemas.microsoft.com/office/drawing/2014/main" id="{18036271-88F0-4820-8017-27AD9D82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9월 ML 예측 1,815만 명을 기준으로, 패스 운영권역의 유입·이용을 별도 집계합니다.</a:t>
            </a:r>
          </a:p>
        </p:txBody>
      </p:sp>
      <p:sp>
        <p:nvSpPr>
          <p:cNvPr id="19" name="audience-divider-0">
            <a:extLst xmlns:a="http://schemas.openxmlformats.org/drawingml/2006/main">
              <a:ext uri="{FF2B5EF4-FFF2-40B4-BE49-F238E27FC236}">
                <a16:creationId xmlns:a16="http://schemas.microsoft.com/office/drawing/2014/main" id="{D37CFD94-BBEC-4549-A877-861B6AF8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audience-role-0">
            <a:extLst xmlns:a="http://schemas.openxmlformats.org/drawingml/2006/main">
              <a:ext uri="{FF2B5EF4-FFF2-40B4-BE49-F238E27FC236}">
                <a16:creationId xmlns:a16="http://schemas.microsoft.com/office/drawing/2014/main" id="{431424E7-8452-4D5A-BFBC-7C483C02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근거: 월 방문자 원자료·시간순 ML 검증</a:t>
            </a:r>
            <a:endParaRPr sz="1050" b="1" i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audience-card-1">
            <a:extLst xmlns:a="http://schemas.openxmlformats.org/drawingml/2006/main">
              <a:ext uri="{FF2B5EF4-FFF2-40B4-BE49-F238E27FC236}">
                <a16:creationId xmlns:a16="http://schemas.microsoft.com/office/drawing/2014/main" id="{E4BF1616-4E6A-46E9-A604-B8790B8D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audience-pill-1">
            <a:extLst xmlns:a="http://schemas.openxmlformats.org/drawingml/2006/main">
              <a:ext uri="{FF2B5EF4-FFF2-40B4-BE49-F238E27FC236}">
                <a16:creationId xmlns:a16="http://schemas.microsoft.com/office/drawing/2014/main" id="{DC565623-691C-46E9-9B1E-CA335ADD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관광소비액 +2.50% 관리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audience-body-1">
            <a:extLst xmlns:a="http://schemas.openxmlformats.org/drawingml/2006/main">
              <a:ext uri="{FF2B5EF4-FFF2-40B4-BE49-F238E27FC236}">
                <a16:creationId xmlns:a16="http://schemas.microsoft.com/office/drawing/2014/main" id="{06949467-623E-4320-80B3-3600A711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9월 ML 예측 4,760억 원을 기준으로, 당일 결제액과 완료 건당 비용을 함께 봅니다.</a:t>
            </a:r>
          </a:p>
        </p:txBody>
      </p:sp>
      <p:sp>
        <p:nvSpPr>
          <p:cNvPr id="30" name="audience-divider-1">
            <a:extLst xmlns:a="http://schemas.openxmlformats.org/drawingml/2006/main">
              <a:ext uri="{FF2B5EF4-FFF2-40B4-BE49-F238E27FC236}">
                <a16:creationId xmlns:a16="http://schemas.microsoft.com/office/drawing/2014/main" id="{70E4CE22-3136-4945-B6F8-3CBFD1A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audience-role-1">
            <a:extLst xmlns:a="http://schemas.openxmlformats.org/drawingml/2006/main">
              <a:ext uri="{FF2B5EF4-FFF2-40B4-BE49-F238E27FC236}">
                <a16:creationId xmlns:a16="http://schemas.microsoft.com/office/drawing/2014/main" id="{91A14E64-F9D6-4991-AF2A-62B1E572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근거: 관광소비 원자료·운영일 비교</a:t>
            </a:r>
          </a:p>
        </p:txBody>
      </p:sp>
      <p:sp>
        <p:nvSpPr>
          <p:cNvPr id="32" name="audience-card-2">
            <a:extLst xmlns:a="http://schemas.openxmlformats.org/drawingml/2006/main">
              <a:ext uri="{FF2B5EF4-FFF2-40B4-BE49-F238E27FC236}">
                <a16:creationId xmlns:a16="http://schemas.microsoft.com/office/drawing/2014/main" id="{29361FBB-3A70-4672-AA0E-E8B8C32A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audience-pill-2">
            <a:extLst xmlns:a="http://schemas.openxmlformats.org/drawingml/2006/main">
              <a:ext uri="{FF2B5EF4-FFF2-40B4-BE49-F238E27FC236}">
                <a16:creationId xmlns:a16="http://schemas.microsoft.com/office/drawing/2014/main" id="{46094810-6C0A-47A8-AF7A-34677C91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외국인 예약 완료 +5.00%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9" name="audience-body-2">
            <a:extLst xmlns:a="http://schemas.openxmlformats.org/drawingml/2006/main">
              <a:ext uri="{FF2B5EF4-FFF2-40B4-BE49-F238E27FC236}">
                <a16:creationId xmlns:a16="http://schemas.microsoft.com/office/drawing/2014/main" id="{D9085674-740D-4428-BE90-51011B8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전체 외국인 수가 아니라 번역 페이지·예약을 완료한 시범 참여자 950명→1,000명을 관리합니다.</a:t>
            </a:r>
          </a:p>
        </p:txBody>
      </p:sp>
      <p:sp>
        <p:nvSpPr>
          <p:cNvPr id="40" name="audience-divider-2">
            <a:extLst xmlns:a="http://schemas.openxmlformats.org/drawingml/2006/main">
              <a:ext uri="{FF2B5EF4-FFF2-40B4-BE49-F238E27FC236}">
                <a16:creationId xmlns:a16="http://schemas.microsoft.com/office/drawing/2014/main" id="{5F839689-58C2-4B5A-B556-CA2230F2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audience-role-2">
            <a:extLst xmlns:a="http://schemas.openxmlformats.org/drawingml/2006/main">
              <a:ext uri="{FF2B5EF4-FFF2-40B4-BE49-F238E27FC236}">
                <a16:creationId xmlns:a16="http://schemas.microsoft.com/office/drawing/2014/main" id="{8FBFEBB1-BE5F-4E74-B007-0FC209D0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측정: 언어별 예약·입장 기록</a:t>
            </a:r>
          </a:p>
        </p:txBody>
      </p:sp>
      <p:sp>
        <p:nvSpPr>
          <p:cNvPr id="46" name="visit-forecast-bar">
            <a:extLst xmlns:a="http://schemas.openxmlformats.org/drawingml/2006/main">
              <a:ext uri="{FF2B5EF4-FFF2-40B4-BE49-F238E27FC236}">
                <a16:creationId xmlns:a16="http://schemas.microsoft.com/office/drawing/2014/main" id="{7EAE788A-E562-434D-AC49-CD849B5E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52950"/>
            <a:ext cx="81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</p:sp>
      <p:sp>
        <p:nvSpPr>
          <p:cNvPr id="47" name="visit-target-bar">
            <a:extLst xmlns:a="http://schemas.openxmlformats.org/drawingml/2006/main">
              <a:ext uri="{FF2B5EF4-FFF2-40B4-BE49-F238E27FC236}">
                <a16:creationId xmlns:a16="http://schemas.microsoft.com/office/drawing/2014/main" id="{9D78738B-2F2C-452C-B80F-CC489B95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86250"/>
            <a:ext cx="819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</p:sp>
      <p:sp>
        <p:nvSpPr>
          <p:cNvPr id="48" name="visit-forecast">
            <a:extLst xmlns:a="http://schemas.openxmlformats.org/drawingml/2006/main">
              <a:ext uri="{FF2B5EF4-FFF2-40B4-BE49-F238E27FC236}">
                <a16:creationId xmlns:a16="http://schemas.microsoft.com/office/drawing/2014/main" id="{50B12863-8786-4034-A890-14F4B6A7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33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예측 1,815만 명</a:t>
            </a:r>
          </a:p>
        </p:txBody>
      </p:sp>
      <p:sp>
        <p:nvSpPr>
          <p:cNvPr id="49" name="visit-target">
            <a:extLst xmlns:a="http://schemas.openxmlformats.org/drawingml/2006/main">
              <a:ext uri="{FF2B5EF4-FFF2-40B4-BE49-F238E27FC236}">
                <a16:creationId xmlns:a16="http://schemas.microsoft.com/office/drawing/2014/main" id="{30BAFE74-EC27-4531-B6DD-98B79F26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814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목표 1,851만 명</a:t>
            </a:r>
          </a:p>
        </p:txBody>
      </p:sp>
      <p:sp>
        <p:nvSpPr>
          <p:cNvPr id="50" name="visit-arrow">
            <a:extLst xmlns:a="http://schemas.openxmlformats.org/drawingml/2006/main">
              <a:ext uri="{FF2B5EF4-FFF2-40B4-BE49-F238E27FC236}">
                <a16:creationId xmlns:a16="http://schemas.microsoft.com/office/drawing/2014/main" id="{28A8A9DD-D353-4D59-83BB-5A64A328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1" name="spend-forecast-bar">
            <a:extLst xmlns:a="http://schemas.openxmlformats.org/drawingml/2006/main">
              <a:ext uri="{FF2B5EF4-FFF2-40B4-BE49-F238E27FC236}">
                <a16:creationId xmlns:a16="http://schemas.microsoft.com/office/drawing/2014/main" id="{9F13A2C2-BBB7-4A8F-8B9B-018741CA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52950"/>
            <a:ext cx="81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</p:sp>
      <p:sp>
        <p:nvSpPr>
          <p:cNvPr id="52" name="spend-target-bar">
            <a:extLst xmlns:a="http://schemas.openxmlformats.org/drawingml/2006/main">
              <a:ext uri="{FF2B5EF4-FFF2-40B4-BE49-F238E27FC236}">
                <a16:creationId xmlns:a16="http://schemas.microsoft.com/office/drawing/2014/main" id="{E26096D6-3133-437B-953E-A9E04854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86250"/>
            <a:ext cx="819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</p:sp>
      <p:sp>
        <p:nvSpPr>
          <p:cNvPr id="53" name="spend-forecast">
            <a:extLst xmlns:a="http://schemas.openxmlformats.org/drawingml/2006/main">
              <a:ext uri="{FF2B5EF4-FFF2-40B4-BE49-F238E27FC236}">
                <a16:creationId xmlns:a16="http://schemas.microsoft.com/office/drawing/2014/main" id="{BF98D298-373A-4294-99D1-A00ECF9D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33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예측 4,760억 원</a:t>
            </a:r>
          </a:p>
        </p:txBody>
      </p:sp>
      <p:sp>
        <p:nvSpPr>
          <p:cNvPr id="54" name="spend-target">
            <a:extLst xmlns:a="http://schemas.openxmlformats.org/drawingml/2006/main">
              <a:ext uri="{FF2B5EF4-FFF2-40B4-BE49-F238E27FC236}">
                <a16:creationId xmlns:a16="http://schemas.microsoft.com/office/drawing/2014/main" id="{5CF522C7-7887-4EE2-9BF6-55BF0B1B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814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목표 4,879억 원</a:t>
            </a:r>
          </a:p>
        </p:txBody>
      </p:sp>
      <p:sp>
        <p:nvSpPr>
          <p:cNvPr id="55" name="spend-arrow">
            <a:extLst xmlns:a="http://schemas.openxmlformats.org/drawingml/2006/main">
              <a:ext uri="{FF2B5EF4-FFF2-40B4-BE49-F238E27FC236}">
                <a16:creationId xmlns:a16="http://schemas.microsoft.com/office/drawing/2014/main" id="{32493DB0-02BB-4272-9572-526BAEF8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6" name="foreign-forecast-bar">
            <a:extLst xmlns:a="http://schemas.openxmlformats.org/drawingml/2006/main">
              <a:ext uri="{FF2B5EF4-FFF2-40B4-BE49-F238E27FC236}">
                <a16:creationId xmlns:a16="http://schemas.microsoft.com/office/drawing/2014/main" id="{2DE1DBAA-9C91-4923-A9C6-E608902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52950"/>
            <a:ext cx="81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</p:sp>
      <p:sp>
        <p:nvSpPr>
          <p:cNvPr id="57" name="foreign-target-bar">
            <a:extLst xmlns:a="http://schemas.openxmlformats.org/drawingml/2006/main">
              <a:ext uri="{FF2B5EF4-FFF2-40B4-BE49-F238E27FC236}">
                <a16:creationId xmlns:a16="http://schemas.microsoft.com/office/drawing/2014/main" id="{778E10A6-2AC7-4CF8-BF38-C7790D86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4286250"/>
            <a:ext cx="819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</p:sp>
      <p:sp>
        <p:nvSpPr>
          <p:cNvPr id="58" name="foreign-forecast">
            <a:extLst xmlns:a="http://schemas.openxmlformats.org/drawingml/2006/main">
              <a:ext uri="{FF2B5EF4-FFF2-40B4-BE49-F238E27FC236}">
                <a16:creationId xmlns:a16="http://schemas.microsoft.com/office/drawing/2014/main" id="{09F54D75-4425-47AB-9B00-EFDA46E4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33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예측 950명</a:t>
            </a:r>
          </a:p>
        </p:txBody>
      </p:sp>
      <p:sp>
        <p:nvSpPr>
          <p:cNvPr id="59" name="foreign-target">
            <a:extLst xmlns:a="http://schemas.openxmlformats.org/drawingml/2006/main">
              <a:ext uri="{FF2B5EF4-FFF2-40B4-BE49-F238E27FC236}">
                <a16:creationId xmlns:a16="http://schemas.microsoft.com/office/drawing/2014/main" id="{66CB0B58-B33B-4150-9904-FA24C37C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9814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목표 1,000명</a:t>
            </a:r>
          </a:p>
        </p:txBody>
      </p:sp>
      <p:sp>
        <p:nvSpPr>
          <p:cNvPr id="60" name="foreign-arrow">
            <a:extLst xmlns:a="http://schemas.openxmlformats.org/drawingml/2006/main">
              <a:ext uri="{FF2B5EF4-FFF2-40B4-BE49-F238E27FC236}">
                <a16:creationId xmlns:a16="http://schemas.microsoft.com/office/drawing/2014/main" id="{DC5BC4F7-29C7-4FA1-9677-A81C0CFC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5537420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7D48FBA-7209-4694-8898-345F9345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076325"/>
            <a:ext cx="3533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BUDGET ESTIMATE &amp; KPI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B47A03-506E-4149-B937-66765324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457325"/>
            <a:ext cx="81248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6개월 시범사업 예산: 약 2.40억 원</a:t>
            </a:r>
            <a:endParaRPr sz="3600" b="1">
              <a:solidFill>
                <a:srgbClr val="00C1D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17D69D-823C-4D07-A9EB-0AC744C1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66950"/>
            <a:ext cx="791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6329FC8E-195C-45D9-8123-1B9D8429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47975"/>
            <a:ext cx="760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1개 권역·월 8회 운영을 가정한 샘플 견적입니다. 실제 집행 전에는 참여 규모, 안전 요건, 개인정보 검토를 반영해 3개 이상 비교견적으로 확정합니다.</a:t>
            </a:r>
          </a:p>
        </p:txBody>
      </p:sp>
      <p:sp>
        <p:nvSpPr>
          <p:cNvPr id="6" name="dashboard-rail">
            <a:extLst xmlns:a="http://schemas.openxmlformats.org/drawingml/2006/main">
              <a:ext uri="{FF2B5EF4-FFF2-40B4-BE49-F238E27FC236}">
                <a16:creationId xmlns:a16="http://schemas.microsoft.com/office/drawing/2014/main" id="{9BE94A36-2943-4E88-B24E-66109F70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238625"/>
            <a:ext cx="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ashboard-title">
            <a:extLst xmlns:a="http://schemas.openxmlformats.org/drawingml/2006/main">
              <a:ext uri="{FF2B5EF4-FFF2-40B4-BE49-F238E27FC236}">
                <a16:creationId xmlns:a16="http://schemas.microsoft.com/office/drawing/2014/main" id="{5A8CD150-B4FE-4BF8-B6C6-DE88B588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86250"/>
            <a:ext cx="3533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예산 산정 기준</a:t>
            </a:r>
          </a:p>
        </p:txBody>
      </p:sp>
      <p:sp>
        <p:nvSpPr>
          <p:cNvPr id="8" name="dashboard-body">
            <a:extLst xmlns:a="http://schemas.openxmlformats.org/drawingml/2006/main">
              <a:ext uri="{FF2B5EF4-FFF2-40B4-BE49-F238E27FC236}">
                <a16:creationId xmlns:a16="http://schemas.microsoft.com/office/drawing/2014/main" id="{C4465979-A2B2-432C-8E9B-859897CE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24400"/>
            <a:ext cx="3476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운영일수 × 현장운영 단가 + 참여혜택 + 예약·결제 연동 + 성과 측정 + 예비비로 구성합니다.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할인 단가와 발행량은 참여업체 확정 뒤 조정합니다.</a:t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analysis-rail">
            <a:extLst xmlns:a="http://schemas.openxmlformats.org/drawingml/2006/main">
              <a:ext uri="{FF2B5EF4-FFF2-40B4-BE49-F238E27FC236}">
                <a16:creationId xmlns:a16="http://schemas.microsoft.com/office/drawing/2014/main" id="{1572652E-8668-4368-ACB8-903355EF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38625"/>
            <a:ext cx="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analysis-title">
            <a:extLst xmlns:a="http://schemas.openxmlformats.org/drawingml/2006/main">
              <a:ext uri="{FF2B5EF4-FFF2-40B4-BE49-F238E27FC236}">
                <a16:creationId xmlns:a16="http://schemas.microsoft.com/office/drawing/2014/main" id="{0C654D2C-AC31-4495-9545-0DAE5ED6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86250"/>
            <a:ext cx="3533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성과·집행 동시 관리</a:t>
            </a:r>
          </a:p>
        </p:txBody>
      </p:sp>
      <p:sp>
        <p:nvSpPr>
          <p:cNvPr id="11" name="analysis-body">
            <a:extLst xmlns:a="http://schemas.openxmlformats.org/drawingml/2006/main">
              <a:ext uri="{FF2B5EF4-FFF2-40B4-BE49-F238E27FC236}">
                <a16:creationId xmlns:a16="http://schemas.microsoft.com/office/drawing/2014/main" id="{DB2F5A81-D4FD-489F-82C8-C6166E89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724400"/>
            <a:ext cx="3476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완료 1건당 공공비용, 당일결제율, 이용완료율, 민원을 월별로 확인합니다. 상한을 넘으면 다음 달 혜택·운영일을 줄이거나 보완합니다.</a:t>
            </a:r>
          </a:p>
        </p:txBody>
      </p:sp>
      <p:sp>
        <p:nvSpPr>
          <p:cNvPr id="12" name="report-card">
            <a:extLst xmlns:a="http://schemas.openxmlformats.org/drawingml/2006/main">
              <a:ext uri="{FF2B5EF4-FFF2-40B4-BE49-F238E27FC236}">
                <a16:creationId xmlns:a16="http://schemas.microsoft.com/office/drawing/2014/main" id="{01ECDF9F-37D9-484C-997E-3809C467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000750"/>
            <a:ext cx="3810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port-card-title">
            <a:extLst xmlns:a="http://schemas.openxmlformats.org/drawingml/2006/main">
              <a:ext uri="{FF2B5EF4-FFF2-40B4-BE49-F238E27FC236}">
                <a16:creationId xmlns:a16="http://schemas.microsoft.com/office/drawing/2014/main" id="{1353BCF8-2C10-48C9-B173-6A79000E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5792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확정 전 원칙</a:t>
            </a:r>
          </a:p>
        </p:txBody>
      </p:sp>
      <p:sp>
        <p:nvSpPr>
          <p:cNvPr id="14" name="report-card-body">
            <a:extLst xmlns:a="http://schemas.openxmlformats.org/drawingml/2006/main">
              <a:ext uri="{FF2B5EF4-FFF2-40B4-BE49-F238E27FC236}">
                <a16:creationId xmlns:a16="http://schemas.microsoft.com/office/drawing/2014/main" id="{796461ED-E207-428E-ADB1-53B8A04F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6294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3개 이상 비교견적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 범위 재확인</a:t>
            </a:r>
          </a:p>
        </p:txBody>
      </p:sp>
      <p:sp>
        <p:nvSpPr>
          <p:cNvPr id="15" name="report-card-orange">
            <a:extLst xmlns:a="http://schemas.openxmlformats.org/drawingml/2006/main">
              <a:ext uri="{FF2B5EF4-FFF2-40B4-BE49-F238E27FC236}">
                <a16:creationId xmlns:a16="http://schemas.microsoft.com/office/drawing/2014/main" id="{9F582882-6E9C-4D93-8DCC-9FDEE65D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0562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계약 전 단가 검증</a:t>
            </a:r>
          </a:p>
        </p:txBody>
      </p:sp>
      <p:sp>
        <p:nvSpPr>
          <p:cNvPr id="16" name="map-card">
            <a:extLst xmlns:a="http://schemas.openxmlformats.org/drawingml/2006/main">
              <a:ext uri="{FF2B5EF4-FFF2-40B4-BE49-F238E27FC236}">
                <a16:creationId xmlns:a16="http://schemas.microsoft.com/office/drawing/2014/main" id="{60160296-0010-438C-8C26-7EBA5D46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000750"/>
            <a:ext cx="381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map-card-title">
            <a:extLst xmlns:a="http://schemas.openxmlformats.org/drawingml/2006/main">
              <a:ext uri="{FF2B5EF4-FFF2-40B4-BE49-F238E27FC236}">
                <a16:creationId xmlns:a16="http://schemas.microsoft.com/office/drawing/2014/main" id="{BE455A73-544C-45BA-A88B-6981407D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25792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운영 중 원칙</a:t>
            </a:r>
          </a:p>
        </p:txBody>
      </p:sp>
      <p:sp>
        <p:nvSpPr>
          <p:cNvPr id="18" name="map-card-body">
            <a:extLst xmlns:a="http://schemas.openxmlformats.org/drawingml/2006/main">
              <a:ext uri="{FF2B5EF4-FFF2-40B4-BE49-F238E27FC236}">
                <a16:creationId xmlns:a16="http://schemas.microsoft.com/office/drawing/2014/main" id="{0E481C2C-4BC3-4728-82FE-9D729B77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6294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월별 집행·KPI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같은 기준으로 비교</a:t>
            </a:r>
          </a:p>
        </p:txBody>
      </p:sp>
      <p:sp>
        <p:nvSpPr>
          <p:cNvPr id="19" name="map-card-orange">
            <a:extLst xmlns:a="http://schemas.openxmlformats.org/drawingml/2006/main">
              <a:ext uri="{FF2B5EF4-FFF2-40B4-BE49-F238E27FC236}">
                <a16:creationId xmlns:a16="http://schemas.microsoft.com/office/drawing/2014/main" id="{40E98527-DF47-4B36-8CA4-81AD0B8A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90562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성과에 따라 조정</a:t>
            </a:r>
          </a:p>
        </p:txBody>
      </p:sp>
      <p:sp>
        <p:nvSpPr>
          <p:cNvPr id="20" name="budget-table-title">
            <a:extLst xmlns:a="http://schemas.openxmlformats.org/drawingml/2006/main">
              <a:ext uri="{FF2B5EF4-FFF2-40B4-BE49-F238E27FC236}">
                <a16:creationId xmlns:a16="http://schemas.microsoft.com/office/drawing/2014/main" id="{4B7C0E87-B747-49E5-9D6E-79288544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200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6개월 시범 견적 · 총 2.40억 원</a:t>
            </a:r>
          </a:p>
        </p:txBody>
      </p:sp>
      <p:graphicFrame>
        <p:nvGraphicFramePr>
          <p:cNvPr id="43" name=""/>
          <p:cNvGraphicFramePr/>
          <p:nvPr/>
        </p:nvGraphicFramePr>
        <p:xfrm>
          <a:off xmlns:a="http://schemas.openxmlformats.org/drawingml/2006/main" x="9763125" y="1695450"/>
          <a:ext xmlns:a="http://schemas.openxmlformats.org/drawingml/2006/main" cx="4810125" cy="4905375"/>
        </p:xfrm>
        <a:graphic xmlns:a="http://schemas.openxmlformats.org/drawingml/2006/main">
          <a:graphicData uri="http://schemas.openxmlformats.org/drawingml/2006/table">
            <a:tbl>
              <a:tblPr firstRow="1" firstCol="1" lastRow="1" bandRow="1"/>
              <a:tblGrid>
                <a:gridCol w="2257425"/>
                <a:gridCol w="1143000"/>
                <a:gridCol w="1409700"/>
              </a:tblGrid>
              <a:tr h="533400">
                <a:tc>
                  <a:txBody>
                    <a:bodyPr/>
                    <a:lstStyle/>
                    <a:p>
                      <a:r>
                        <a:rPr sz="1050" b="1">
                          <a:latin typeface="Noto Sans KR"/>
                          <a:ea typeface="Noto Sans KR"/>
                          <a:cs typeface="Noto Sans KR"/>
                          <a:solidFill>
                            <a:srgbClr val="FFFFFF"/>
                          </a:solidFill>
                        </a:rPr>
                        <a:t>세부 항목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latin typeface="Noto Sans KR"/>
                          <a:ea typeface="Noto Sans KR"/>
                          <a:cs typeface="Noto Sans KR"/>
                          <a:solidFill>
                            <a:srgbClr val="FFFFFF"/>
                          </a:solidFill>
                        </a:rPr>
                        <a:t>예산 비중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latin typeface="Noto Sans KR"/>
                          <a:ea typeface="Noto Sans KR"/>
                          <a:cs typeface="Noto Sans KR"/>
                          <a:solidFill>
                            <a:srgbClr val="FFFFFF"/>
                          </a:solidFill>
                        </a:rPr>
                        <a:t>금액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975">
                          <a:latin typeface="Noto Sans KR"/>
                          <a:ea typeface="Noto Sans KR"/>
                          <a:cs typeface="Noto Sans KR"/>
                          <a:solidFill>
                            <a:srgbClr val="1B1F23"/>
                          </a:solidFill>
                        </a:rPr>
                        <a:t>프로그램 운영·안전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latin typeface="Noto Sans KR"/>
                          <a:ea typeface="Noto Sans KR"/>
                          <a:cs typeface="Noto Sans KR"/>
                          <a:solidFill>
                            <a:srgbClr val="1B1F23"/>
                          </a:solidFill>
                        </a:rPr>
                        <a:t>45.00%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latin typeface="Noto Sans KR"/>
                          <a:ea typeface="Noto Sans KR"/>
                          <a:cs typeface="Noto Sans KR"/>
                          <a:solidFill>
                            <a:srgbClr val="1B1F23"/>
                          </a:solidFill>
                        </a:rPr>
                        <a:t>1.08억 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975">
                          <a:latin typeface="Noto Sans KR"/>
                          <a:ea typeface="Noto Sans KR"/>
                          <a:cs typeface="Noto Sans KR"/>
                          <a:solidFill>
                            <a:srgbClr val="1B1F23"/>
                          </a:solidFill>
                        </a:rPr>
                        <a:t>참여 혜택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latin typeface="Noto Sans KR"/>
                          <a:ea typeface="Noto Sans KR"/>
                          <a:cs typeface="Noto Sans KR"/>
                          <a:solidFill>
                            <a:srgbClr val="1B1F23"/>
                          </a:solidFill>
                        </a:rPr>
                        <a:t>25.00%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latin typeface="Noto Sans KR"/>
                          <a:ea typeface="Noto Sans KR"/>
                          <a:cs typeface="Noto Sans KR"/>
                          <a:solidFill>
                            <a:srgbClr val="1B1F23"/>
                          </a:solidFill>
                        </a:rPr>
                        <a:t>0.60억 원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975">
                          <a:latin typeface="Noto Sans KR"/>
                          <a:ea typeface="Noto Sans KR"/>
                          <a:cs typeface="Noto Sans KR"/>
                          <a:solidFill>
                            <a:srgbClr val="1B1F23"/>
                          </a:solidFill>
                        </a:rPr>
                        <a:t>예약·결제 연동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latin typeface="Noto Sans KR"/>
                          <a:ea typeface="Noto Sans KR"/>
                          <a:cs typeface="Noto Sans KR"/>
                          <a:solidFill>
                            <a:srgbClr val="1B1F23"/>
                          </a:solidFill>
                        </a:rPr>
                        <a:t>11.67%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latin typeface="Noto Sans KR"/>
                          <a:ea typeface="Noto Sans KR"/>
                          <a:cs typeface="Noto Sans KR"/>
                          <a:solidFill>
                            <a:srgbClr val="1B1F23"/>
                          </a:solidFill>
                        </a:rPr>
                        <a:t>0.28억 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975">
                          <a:latin typeface="Noto Sans KR"/>
                          <a:ea typeface="Noto Sans KR"/>
                          <a:cs typeface="Noto Sans KR"/>
                          <a:solidFill>
                            <a:srgbClr val="1B1F23"/>
                          </a:solidFill>
                        </a:rPr>
                        <a:t>홍보·다국어 콘텐츠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latin typeface="Noto Sans KR"/>
                          <a:ea typeface="Noto Sans KR"/>
                          <a:cs typeface="Noto Sans KR"/>
                          <a:solidFill>
                            <a:srgbClr val="1B1F23"/>
                          </a:solidFill>
                        </a:rPr>
                        <a:t>9.17%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latin typeface="Noto Sans KR"/>
                          <a:ea typeface="Noto Sans KR"/>
                          <a:cs typeface="Noto Sans KR"/>
                          <a:solidFill>
                            <a:srgbClr val="1B1F23"/>
                          </a:solidFill>
                        </a:rPr>
                        <a:t>0.22억 원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975">
                          <a:latin typeface="Noto Sans KR"/>
                          <a:ea typeface="Noto Sans KR"/>
                          <a:cs typeface="Noto Sans KR"/>
                          <a:solidFill>
                            <a:srgbClr val="1B1F23"/>
                          </a:solidFill>
                        </a:rPr>
                        <a:t>성과 측정·검토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latin typeface="Noto Sans KR"/>
                          <a:ea typeface="Noto Sans KR"/>
                          <a:cs typeface="Noto Sans KR"/>
                          <a:solidFill>
                            <a:srgbClr val="1B1F23"/>
                          </a:solidFill>
                        </a:rPr>
                        <a:t>5.83%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latin typeface="Noto Sans KR"/>
                          <a:ea typeface="Noto Sans KR"/>
                          <a:cs typeface="Noto Sans KR"/>
                          <a:solidFill>
                            <a:srgbClr val="1B1F23"/>
                          </a:solidFill>
                        </a:rPr>
                        <a:t>0.14억 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975">
                          <a:latin typeface="Noto Sans KR"/>
                          <a:ea typeface="Noto Sans KR"/>
                          <a:cs typeface="Noto Sans KR"/>
                          <a:solidFill>
                            <a:srgbClr val="1B1F23"/>
                          </a:solidFill>
                        </a:rPr>
                        <a:t>예비비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latin typeface="Noto Sans KR"/>
                          <a:ea typeface="Noto Sans KR"/>
                          <a:cs typeface="Noto Sans KR"/>
                          <a:solidFill>
                            <a:srgbClr val="1B1F23"/>
                          </a:solidFill>
                        </a:rPr>
                        <a:t>3.33%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latin typeface="Noto Sans KR"/>
                          <a:ea typeface="Noto Sans KR"/>
                          <a:cs typeface="Noto Sans KR"/>
                          <a:solidFill>
                            <a:srgbClr val="1B1F23"/>
                          </a:solidFill>
                        </a:rPr>
                        <a:t>0.08억 원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050" b="1">
                          <a:latin typeface="Noto Sans KR"/>
                          <a:ea typeface="Noto Sans KR"/>
                          <a:cs typeface="Noto Sans KR"/>
                          <a:solidFill>
                            <a:srgbClr val="004EA2"/>
                          </a:solidFill>
                        </a:rPr>
                        <a:t>합계</a:t>
                      </a:r>
                    </a:p>
                  </a:txBody>
                  <a:tcPr marL="91440" marR="91440" marT="45720" marB="45720">
                    <a:solidFill>
                      <a:srgbClr val="DD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latin typeface="Noto Sans KR"/>
                          <a:ea typeface="Noto Sans KR"/>
                          <a:cs typeface="Noto Sans KR"/>
                          <a:solidFill>
                            <a:srgbClr val="004EA2"/>
                          </a:solidFill>
                        </a:rPr>
                        <a:t>100.00%</a:t>
                      </a:r>
                    </a:p>
                  </a:txBody>
                  <a:tcPr marL="91440" marR="91440" marT="45720" marB="45720">
                    <a:solidFill>
                      <a:srgbClr val="DD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latin typeface="Noto Sans KR"/>
                          <a:ea typeface="Noto Sans KR"/>
                          <a:cs typeface="Noto Sans KR"/>
                          <a:solidFill>
                            <a:srgbClr val="004EA2"/>
                          </a:solidFill>
                        </a:rPr>
                        <a:t>2.40억 원</a:t>
                      </a:r>
                    </a:p>
                  </a:txBody>
                  <a:tcPr marL="91440" marR="91440" marT="45720" marB="45720">
                    <a:solidFill>
                      <a:srgbClr val="DDF4F7"/>
                    </a:solidFill>
                  </a:tcPr>
                </a:tc>
              </a:tr>
            </a:tbl>
          </a:graphicData>
        </a:graphic>
      </p:graphicFrame>
      <p:sp>
        <p:nvSpPr>
          <p:cNvPr id="22" name="budget-table-note">
            <a:extLst xmlns:a="http://schemas.openxmlformats.org/drawingml/2006/main">
              <a:ext uri="{FF2B5EF4-FFF2-40B4-BE49-F238E27FC236}">
                <a16:creationId xmlns:a16="http://schemas.microsoft.com/office/drawing/2014/main" id="{93D0AAD8-9B43-408B-B46B-CE7F4F01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8580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※ 샘플 견적 · 실제 집행 전 비교견적·부가세·계약 조건을 확정합니다.</a:t>
            </a:r>
          </a:p>
        </p:txBody>
      </p:sp>
    </p:spTree>
    <p:extLst>
      <p:ext uri="{BB962C8B-B14F-4D97-AF65-F5344CB8AC3E}">
        <p14:creationId xmlns:p14="http://schemas.microsoft.com/office/powerpoint/2010/main" val="18231333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7809EB03-E1D8-4B3D-96C4-AA327A20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66950"/>
            <a:ext cx="63531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근거가 쌓이면 확대합니다</a:t>
            </a:r>
          </a:p>
        </p:txBody>
      </p:sp>
      <p:sp>
        <p:nvSpPr>
          <p:cNvPr id="2" name="column-line-1">
            <a:extLst xmlns:a="http://schemas.openxmlformats.org/drawingml/2006/main">
              <a:ext uri="{FF2B5EF4-FFF2-40B4-BE49-F238E27FC236}">
                <a16:creationId xmlns:a16="http://schemas.microsoft.com/office/drawing/2014/main" id="{7AF7F9BF-3A99-474E-A050-C5588CC7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718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olumn-line-2">
            <a:extLst xmlns:a="http://schemas.openxmlformats.org/drawingml/2006/main">
              <a:ext uri="{FF2B5EF4-FFF2-40B4-BE49-F238E27FC236}">
                <a16:creationId xmlns:a16="http://schemas.microsoft.com/office/drawing/2014/main" id="{66D57082-5011-45CA-9E18-88DF7DD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718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xpected-pill">
            <a:extLst xmlns:a="http://schemas.openxmlformats.org/drawingml/2006/main">
              <a:ext uri="{FF2B5EF4-FFF2-40B4-BE49-F238E27FC236}">
                <a16:creationId xmlns:a16="http://schemas.microsoft.com/office/drawing/2014/main" id="{07AC9F43-995E-47B2-B264-6586997C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1. 시범에서 확인할 변화</a:t>
            </a:r>
          </a:p>
        </p:txBody>
      </p:sp>
      <p:sp>
        <p:nvSpPr>
          <p:cNvPr id="5" name="expected-card">
            <a:extLst xmlns:a="http://schemas.openxmlformats.org/drawingml/2006/main">
              <a:ext uri="{FF2B5EF4-FFF2-40B4-BE49-F238E27FC236}">
                <a16:creationId xmlns:a16="http://schemas.microsoft.com/office/drawing/2014/main" id="{D2C6D383-FF5C-4128-AE40-7ECFDDEF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4048125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xpected-body">
            <a:extLst xmlns:a="http://schemas.openxmlformats.org/drawingml/2006/main">
              <a:ext uri="{FF2B5EF4-FFF2-40B4-BE49-F238E27FC236}">
                <a16:creationId xmlns:a16="http://schemas.microsoft.com/office/drawing/2014/main" id="{36A6D734-2976-4831-B0D4-1AE2CBC1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33900"/>
            <a:ext cx="3486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운영일·비운영일을 같은 기준으로 비교해 이용완료율, 당일결제율, 체류 흐름을 확인합니다.</a:t>
            </a:r>
          </a:p>
        </p:txBody>
      </p:sp>
      <p:sp>
        <p:nvSpPr>
          <p:cNvPr id="7" name="indicator-pill">
            <a:extLst xmlns:a="http://schemas.openxmlformats.org/drawingml/2006/main">
              <a:ext uri="{FF2B5EF4-FFF2-40B4-BE49-F238E27FC236}">
                <a16:creationId xmlns:a16="http://schemas.microsoft.com/office/drawing/2014/main" id="{2AA1FD02-C801-4C5E-96B8-C2B7A85F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6개 기록 항목</a:t>
            </a:r>
          </a:p>
        </p:txBody>
      </p:sp>
      <p:sp>
        <p:nvSpPr>
          <p:cNvPr id="8" name="indicator-circle-0">
            <a:extLst xmlns:a="http://schemas.openxmlformats.org/drawingml/2006/main">
              <a:ext uri="{FF2B5EF4-FFF2-40B4-BE49-F238E27FC236}">
                <a16:creationId xmlns:a16="http://schemas.microsoft.com/office/drawing/2014/main" id="{B5AA79C5-B445-4282-8187-486E81F2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indicator-glyph-0">
            <a:extLst xmlns:a="http://schemas.openxmlformats.org/drawingml/2006/main">
              <a:ext uri="{FF2B5EF4-FFF2-40B4-BE49-F238E27FC236}">
                <a16:creationId xmlns:a16="http://schemas.microsoft.com/office/drawing/2014/main" id="{9B4A4D83-3DB0-474E-9D3C-195E6DC3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완</a:t>
            </a:r>
          </a:p>
        </p:txBody>
      </p:sp>
      <p:sp>
        <p:nvSpPr>
          <p:cNvPr id="10" name="indicator-circle-1">
            <a:extLst xmlns:a="http://schemas.openxmlformats.org/drawingml/2006/main">
              <a:ext uri="{FF2B5EF4-FFF2-40B4-BE49-F238E27FC236}">
                <a16:creationId xmlns:a16="http://schemas.microsoft.com/office/drawing/2014/main" id="{B719D672-73A0-4417-8018-07989F7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indicator-glyph-1">
            <a:extLst xmlns:a="http://schemas.openxmlformats.org/drawingml/2006/main">
              <a:ext uri="{FF2B5EF4-FFF2-40B4-BE49-F238E27FC236}">
                <a16:creationId xmlns:a16="http://schemas.microsoft.com/office/drawing/2014/main" id="{596F5692-71BF-434F-958A-89B6868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</a:t>
            </a:r>
          </a:p>
        </p:txBody>
      </p:sp>
      <p:sp>
        <p:nvSpPr>
          <p:cNvPr id="12" name="indicator-circle-2">
            <a:extLst xmlns:a="http://schemas.openxmlformats.org/drawingml/2006/main">
              <a:ext uri="{FF2B5EF4-FFF2-40B4-BE49-F238E27FC236}">
                <a16:creationId xmlns:a16="http://schemas.microsoft.com/office/drawing/2014/main" id="{2AC0D30B-DDD4-4E74-A314-636D7CF5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indicator-glyph-2">
            <a:extLst xmlns:a="http://schemas.openxmlformats.org/drawingml/2006/main">
              <a:ext uri="{FF2B5EF4-FFF2-40B4-BE49-F238E27FC236}">
                <a16:creationId xmlns:a16="http://schemas.microsoft.com/office/drawing/2014/main" id="{93B5A93F-29C9-4AE1-AA73-2BE737B4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원</a:t>
            </a:r>
          </a:p>
        </p:txBody>
      </p:sp>
      <p:sp>
        <p:nvSpPr>
          <p:cNvPr id="14" name="indicator-circle-3">
            <a:extLst xmlns:a="http://schemas.openxmlformats.org/drawingml/2006/main">
              <a:ext uri="{FF2B5EF4-FFF2-40B4-BE49-F238E27FC236}">
                <a16:creationId xmlns:a16="http://schemas.microsoft.com/office/drawing/2014/main" id="{E235D51A-DF5E-4DB8-810A-B9FE1052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indicator-glyph-3">
            <a:extLst xmlns:a="http://schemas.openxmlformats.org/drawingml/2006/main">
              <a:ext uri="{FF2B5EF4-FFF2-40B4-BE49-F238E27FC236}">
                <a16:creationId xmlns:a16="http://schemas.microsoft.com/office/drawing/2014/main" id="{1CA00698-1BA7-4C47-B7D1-49D23AAA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민</a:t>
            </a:r>
          </a:p>
        </p:txBody>
      </p:sp>
      <p:sp>
        <p:nvSpPr>
          <p:cNvPr id="16" name="indicator-circle-4">
            <a:extLst xmlns:a="http://schemas.openxmlformats.org/drawingml/2006/main">
              <a:ext uri="{FF2B5EF4-FFF2-40B4-BE49-F238E27FC236}">
                <a16:creationId xmlns:a16="http://schemas.microsoft.com/office/drawing/2014/main" id="{223D3B08-E01D-4662-8D68-EC230DF9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indicator-glyph-4">
            <a:extLst xmlns:a="http://schemas.openxmlformats.org/drawingml/2006/main">
              <a:ext uri="{FF2B5EF4-FFF2-40B4-BE49-F238E27FC236}">
                <a16:creationId xmlns:a16="http://schemas.microsoft.com/office/drawing/2014/main" id="{AC65B1CB-640D-4DE4-93B2-1B5C183D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</a:t>
            </a:r>
          </a:p>
        </p:txBody>
      </p:sp>
      <p:sp>
        <p:nvSpPr>
          <p:cNvPr id="18" name="indicator-circle-5">
            <a:extLst xmlns:a="http://schemas.openxmlformats.org/drawingml/2006/main">
              <a:ext uri="{FF2B5EF4-FFF2-40B4-BE49-F238E27FC236}">
                <a16:creationId xmlns:a16="http://schemas.microsoft.com/office/drawing/2014/main" id="{6019C75D-1FC2-4667-B692-DDD073C8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D4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indicator-glyph-5">
            <a:extLst xmlns:a="http://schemas.openxmlformats.org/drawingml/2006/main">
              <a:ext uri="{FF2B5EF4-FFF2-40B4-BE49-F238E27FC236}">
                <a16:creationId xmlns:a16="http://schemas.microsoft.com/office/drawing/2014/main" id="{C7AF409C-91A3-4936-BB4D-7B252755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협</a:t>
            </a:r>
          </a:p>
        </p:txBody>
      </p:sp>
      <p:sp>
        <p:nvSpPr>
          <p:cNvPr id="20" name="service-pill">
            <a:extLst xmlns:a="http://schemas.openxmlformats.org/drawingml/2006/main">
              <a:ext uri="{FF2B5EF4-FFF2-40B4-BE49-F238E27FC236}">
                <a16:creationId xmlns:a16="http://schemas.microsoft.com/office/drawing/2014/main" id="{FBBEFB7E-A7FD-4723-AE5B-8D90775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37185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2. 6개월 확대 판단 게이트</a:t>
            </a:r>
          </a:p>
        </p:txBody>
      </p:sp>
      <p:sp>
        <p:nvSpPr>
          <p:cNvPr id="21" name="service-body">
            <a:extLst xmlns:a="http://schemas.openxmlformats.org/drawingml/2006/main">
              <a:ext uri="{FF2B5EF4-FFF2-40B4-BE49-F238E27FC236}">
                <a16:creationId xmlns:a16="http://schemas.microsoft.com/office/drawing/2014/main" id="{0599DDA5-9C77-4328-A928-CB50C56F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257800"/>
            <a:ext cx="3648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4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월별 기록을 기준선·운영일·비운영일로 나눠 보고, 사전 상한을 충족하는지 판단합니다.</a:t>
            </a:r>
          </a:p>
        </p:txBody>
      </p:sp>
      <p:sp>
        <p:nvSpPr>
          <p:cNvPr id="22" name="service-note">
            <a:extLst xmlns:a="http://schemas.openxmlformats.org/drawingml/2006/main">
              <a:ext uri="{FF2B5EF4-FFF2-40B4-BE49-F238E27FC236}">
                <a16:creationId xmlns:a16="http://schemas.microsoft.com/office/drawing/2014/main" id="{880D0D04-81DF-42E1-BC18-56D5BF8F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772150"/>
            <a:ext cx="3648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* 목표치와 자연추세를 구분하고, 비교 설계가 약하면 효과를 단정하지 않습니다.</a:t>
            </a:r>
          </a:p>
        </p:txBody>
      </p:sp>
      <p:sp>
        <p:nvSpPr>
          <p:cNvPr id="23" name="service-scope">
            <a:extLst xmlns:a="http://schemas.openxmlformats.org/drawingml/2006/main">
              <a:ext uri="{FF2B5EF4-FFF2-40B4-BE49-F238E27FC236}">
                <a16:creationId xmlns:a16="http://schemas.microsoft.com/office/drawing/2014/main" id="{3F7087DF-6EBD-4030-AAA5-C6BF09B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55320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C1D4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의사결정: 월별 근거 공개</a:t>
            </a:r>
          </a:p>
        </p:txBody>
      </p:sp>
      <p:sp>
        <p:nvSpPr>
          <p:cNvPr id="24" name="private-pill">
            <a:extLst xmlns:a="http://schemas.openxmlformats.org/drawingml/2006/main">
              <a:ext uri="{FF2B5EF4-FFF2-40B4-BE49-F238E27FC236}">
                <a16:creationId xmlns:a16="http://schemas.microsoft.com/office/drawing/2014/main" id="{ECE9BD08-611B-4247-AFD8-D71CC91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718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3. 데이터 협약 후 단계 확장</a:t>
            </a:r>
          </a:p>
        </p:txBody>
      </p:sp>
      <p:sp>
        <p:nvSpPr>
          <p:cNvPr id="25" name="private-body">
            <a:extLst xmlns:a="http://schemas.openxmlformats.org/drawingml/2006/main">
              <a:ext uri="{FF2B5EF4-FFF2-40B4-BE49-F238E27FC236}">
                <a16:creationId xmlns:a16="http://schemas.microsoft.com/office/drawing/2014/main" id="{FC8E1C19-1A9B-4031-B62F-74F7EE4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295775"/>
            <a:ext cx="4048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숙박·외국인·민간결제 데이터는 제휴 범위와 개인정보 검토가 끝난 항목부터 연결합니다.</a:t>
            </a:r>
          </a:p>
        </p:txBody>
      </p:sp>
      <p:sp>
        <p:nvSpPr>
          <p:cNvPr id="26" name="private-info">
            <a:extLst xmlns:a="http://schemas.openxmlformats.org/drawingml/2006/main">
              <a:ext uri="{FF2B5EF4-FFF2-40B4-BE49-F238E27FC236}">
                <a16:creationId xmlns:a16="http://schemas.microsoft.com/office/drawing/2014/main" id="{D48F3C63-9D79-481C-991B-B8716C1F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9720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private-info-label">
            <a:extLst xmlns:a="http://schemas.openxmlformats.org/drawingml/2006/main">
              <a:ext uri="{FF2B5EF4-FFF2-40B4-BE49-F238E27FC236}">
                <a16:creationId xmlns:a16="http://schemas.microsoft.com/office/drawing/2014/main" id="{A5D8162B-C8F7-4F75-8A4B-B9894BFF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972050"/>
            <a:ext cx="95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</a:t>
            </a:r>
          </a:p>
        </p:txBody>
      </p:sp>
      <p:sp>
        <p:nvSpPr>
          <p:cNvPr id="28" name="private-goal">
            <a:extLst xmlns:a="http://schemas.openxmlformats.org/drawingml/2006/main">
              <a:ext uri="{FF2B5EF4-FFF2-40B4-BE49-F238E27FC236}">
                <a16:creationId xmlns:a16="http://schemas.microsoft.com/office/drawing/2014/main" id="{3909FDE3-5FF2-4500-AD50-B44FF021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743575"/>
            <a:ext cx="3438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핵심: 증거가 쌓일수록 예산을 확대</a:t>
            </a:r>
          </a:p>
        </p:txBody>
      </p:sp>
      <p:sp>
        <p:nvSpPr>
          <p:cNvPr id="29" name="private-scope">
            <a:extLst xmlns:a="http://schemas.openxmlformats.org/drawingml/2006/main">
              <a:ext uri="{FF2B5EF4-FFF2-40B4-BE49-F238E27FC236}">
                <a16:creationId xmlns:a16="http://schemas.microsoft.com/office/drawing/2014/main" id="{F2BCDD9E-4568-4754-A8AC-9B695D88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532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6B0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원칙: 효과를 단정하지 않음</a:t>
            </a:r>
          </a:p>
        </p:txBody>
      </p:sp>
      <p:sp>
        <p:nvSpPr>
          <p:cNvPr id="31" name="decision-indicator-legend">
            <a:extLst xmlns:a="http://schemas.openxmlformats.org/drawingml/2006/main">
              <a:ext uri="{FF2B5EF4-FFF2-40B4-BE49-F238E27FC236}">
                <a16:creationId xmlns:a16="http://schemas.microsoft.com/office/drawing/2014/main" id="{5CE20498-4888-428A-ADD4-4C5EB0C2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7124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완료 · 결제 · 원가 · 민원 · 비교 · 협약</a:t>
            </a:r>
          </a:p>
        </p:txBody>
      </p:sp>
      <p:sp>
        <p:nvSpPr>
          <p:cNvPr id="32" name="decision-record-box">
            <a:extLst xmlns:a="http://schemas.openxmlformats.org/drawingml/2006/main">
              <a:ext uri="{FF2B5EF4-FFF2-40B4-BE49-F238E27FC236}">
                <a16:creationId xmlns:a16="http://schemas.microsoft.com/office/drawing/2014/main" id="{4678F96D-DA04-46E7-8BD8-59211511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719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</p:sp>
      <p:sp>
        <p:nvSpPr>
          <p:cNvPr id="33" name="decision-record-label">
            <a:extLst xmlns:a="http://schemas.openxmlformats.org/drawingml/2006/main">
              <a:ext uri="{FF2B5EF4-FFF2-40B4-BE49-F238E27FC236}">
                <a16:creationId xmlns:a16="http://schemas.microsoft.com/office/drawing/2014/main" id="{A793475A-C866-449C-81D7-59E22867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2576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기록</a:t>
            </a:r>
          </a:p>
        </p:txBody>
      </p:sp>
      <p:sp>
        <p:nvSpPr>
          <p:cNvPr id="34" name="decision-arrow-1">
            <a:extLst xmlns:a="http://schemas.openxmlformats.org/drawingml/2006/main">
              <a:ext uri="{FF2B5EF4-FFF2-40B4-BE49-F238E27FC236}">
                <a16:creationId xmlns:a16="http://schemas.microsoft.com/office/drawing/2014/main" id="{E4D67867-B59F-4F92-90A6-58F2A652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481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5" name="decision-compare-box">
            <a:extLst xmlns:a="http://schemas.openxmlformats.org/drawingml/2006/main">
              <a:ext uri="{FF2B5EF4-FFF2-40B4-BE49-F238E27FC236}">
                <a16:creationId xmlns:a16="http://schemas.microsoft.com/office/drawing/2014/main" id="{770C43C2-772E-4934-9D28-692A93C1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719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</p:sp>
      <p:sp>
        <p:nvSpPr>
          <p:cNvPr id="36" name="decision-compare-label">
            <a:extLst xmlns:a="http://schemas.openxmlformats.org/drawingml/2006/main">
              <a:ext uri="{FF2B5EF4-FFF2-40B4-BE49-F238E27FC236}">
                <a16:creationId xmlns:a16="http://schemas.microsoft.com/office/drawing/2014/main" id="{ADCC7FC7-781C-4DD0-84DC-A87A0741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576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비교</a:t>
            </a:r>
          </a:p>
        </p:txBody>
      </p:sp>
      <p:sp>
        <p:nvSpPr>
          <p:cNvPr id="37" name="decision-arrow-2">
            <a:extLst xmlns:a="http://schemas.openxmlformats.org/drawingml/2006/main">
              <a:ext uri="{FF2B5EF4-FFF2-40B4-BE49-F238E27FC236}">
                <a16:creationId xmlns:a16="http://schemas.microsoft.com/office/drawing/2014/main" id="{F41C823F-466A-42C8-8E18-03C20802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481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8" name="decision-judge-box">
            <a:extLst xmlns:a="http://schemas.openxmlformats.org/drawingml/2006/main">
              <a:ext uri="{FF2B5EF4-FFF2-40B4-BE49-F238E27FC236}">
                <a16:creationId xmlns:a16="http://schemas.microsoft.com/office/drawing/2014/main" id="{C083B893-805C-4E28-B1A3-6070103E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719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</p:sp>
      <p:sp>
        <p:nvSpPr>
          <p:cNvPr id="39" name="decision-judge-label">
            <a:extLst xmlns:a="http://schemas.openxmlformats.org/drawingml/2006/main">
              <a:ext uri="{FF2B5EF4-FFF2-40B4-BE49-F238E27FC236}">
                <a16:creationId xmlns:a16="http://schemas.microsoft.com/office/drawing/2014/main" id="{FE445EF7-C12A-4E84-8ED0-41CBCA81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2576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판정</a:t>
            </a:r>
          </a:p>
        </p:txBody>
      </p:sp>
      <p:sp>
        <p:nvSpPr>
          <p:cNvPr id="40" name="decision-flow-caption">
            <a:extLst xmlns:a="http://schemas.openxmlformats.org/drawingml/2006/main">
              <a:ext uri="{FF2B5EF4-FFF2-40B4-BE49-F238E27FC236}">
                <a16:creationId xmlns:a16="http://schemas.microsoft.com/office/drawing/2014/main" id="{E89AFFAF-A47D-4867-8599-E4500CC7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7148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월별 동일 기준 · 다음 달 운영 범위 조정</a:t>
            </a:r>
          </a:p>
        </p:txBody>
      </p:sp>
      <p:sp>
        <p:nvSpPr>
          <p:cNvPr id="41" name="private-flow">
            <a:extLst xmlns:a="http://schemas.openxmlformats.org/drawingml/2006/main">
              <a:ext uri="{FF2B5EF4-FFF2-40B4-BE49-F238E27FC236}">
                <a16:creationId xmlns:a16="http://schemas.microsoft.com/office/drawing/2014/main" id="{608F424E-0F59-496E-92EE-F4F78144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6115050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데이터 협약  →  소규모 확대  →  월별 재판단</a:t>
            </a:r>
          </a:p>
        </p:txBody>
      </p:sp>
    </p:spTree>
    <p:extLst>
      <p:ext uri="{BB962C8B-B14F-4D97-AF65-F5344CB8AC3E}">
        <p14:creationId xmlns:p14="http://schemas.microsoft.com/office/powerpoint/2010/main" val="3347729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7809EB03-E1D8-4B3D-96C4-AA327A20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66950"/>
            <a:ext cx="63531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사실·전망·검증을 구분합니다</a:t>
            </a:r>
          </a:p>
        </p:txBody>
      </p:sp>
      <p:sp>
        <p:nvSpPr>
          <p:cNvPr id="2" name="column-line-1">
            <a:extLst xmlns:a="http://schemas.openxmlformats.org/drawingml/2006/main">
              <a:ext uri="{FF2B5EF4-FFF2-40B4-BE49-F238E27FC236}">
                <a16:creationId xmlns:a16="http://schemas.microsoft.com/office/drawing/2014/main" id="{7AF7F9BF-3A99-474E-A050-C5588CC7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718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olumn-line-2">
            <a:extLst xmlns:a="http://schemas.openxmlformats.org/drawingml/2006/main">
              <a:ext uri="{FF2B5EF4-FFF2-40B4-BE49-F238E27FC236}">
                <a16:creationId xmlns:a16="http://schemas.microsoft.com/office/drawing/2014/main" id="{66D57082-5011-45CA-9E18-88DF7DD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718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xpected-pill">
            <a:extLst xmlns:a="http://schemas.openxmlformats.org/drawingml/2006/main">
              <a:ext uri="{FF2B5EF4-FFF2-40B4-BE49-F238E27FC236}">
                <a16:creationId xmlns:a16="http://schemas.microsoft.com/office/drawing/2014/main" id="{07AC9F43-995E-47B2-B264-6586997C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1. 공식 관측값</a:t>
            </a:r>
          </a:p>
        </p:txBody>
      </p:sp>
      <p:sp>
        <p:nvSpPr>
          <p:cNvPr id="5" name="expected-card">
            <a:extLst xmlns:a="http://schemas.openxmlformats.org/drawingml/2006/main">
              <a:ext uri="{FF2B5EF4-FFF2-40B4-BE49-F238E27FC236}">
                <a16:creationId xmlns:a16="http://schemas.microsoft.com/office/drawing/2014/main" id="{D2C6D383-FF5C-4128-AE40-7ECFDDEF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4048125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xpected-body">
            <a:extLst xmlns:a="http://schemas.openxmlformats.org/drawingml/2006/main">
              <a:ext uri="{FF2B5EF4-FFF2-40B4-BE49-F238E27FC236}">
                <a16:creationId xmlns:a16="http://schemas.microsoft.com/office/drawing/2014/main" id="{36A6D734-2976-4831-B0D4-1AE2CBC1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33900"/>
            <a:ext cx="3486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방문자·관광소비·숙박 방문 비율은 한국관광 데이터랩에서 확인한 과거·현재 측정값입니다.</a:t>
            </a:r>
          </a:p>
        </p:txBody>
      </p:sp>
      <p:sp>
        <p:nvSpPr>
          <p:cNvPr id="7" name="indicator-pill">
            <a:extLst xmlns:a="http://schemas.openxmlformats.org/drawingml/2006/main">
              <a:ext uri="{FF2B5EF4-FFF2-40B4-BE49-F238E27FC236}">
                <a16:creationId xmlns:a16="http://schemas.microsoft.com/office/drawing/2014/main" id="{2AA1FD02-C801-4C5E-96B8-C2B7A85F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표기: 관측 사실</a:t>
            </a:r>
          </a:p>
        </p:txBody>
      </p:sp>
      <p:sp>
        <p:nvSpPr>
          <p:cNvPr id="8" name="indicator-circle-0">
            <a:extLst xmlns:a="http://schemas.openxmlformats.org/drawingml/2006/main">
              <a:ext uri="{FF2B5EF4-FFF2-40B4-BE49-F238E27FC236}">
                <a16:creationId xmlns:a16="http://schemas.microsoft.com/office/drawing/2014/main" id="{B5AA79C5-B445-4282-8187-486E81F2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indicator-glyph-0">
            <a:extLst xmlns:a="http://schemas.openxmlformats.org/drawingml/2006/main">
              <a:ext uri="{FF2B5EF4-FFF2-40B4-BE49-F238E27FC236}">
                <a16:creationId xmlns:a16="http://schemas.microsoft.com/office/drawing/2014/main" id="{9B4A4D83-3DB0-474E-9D3C-195E6DC3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</a:t>
            </a:r>
          </a:p>
        </p:txBody>
      </p:sp>
      <p:sp>
        <p:nvSpPr>
          <p:cNvPr id="10" name="indicator-circle-1">
            <a:extLst xmlns:a="http://schemas.openxmlformats.org/drawingml/2006/main">
              <a:ext uri="{FF2B5EF4-FFF2-40B4-BE49-F238E27FC236}">
                <a16:creationId xmlns:a16="http://schemas.microsoft.com/office/drawing/2014/main" id="{B719D672-73A0-4417-8018-07989F7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indicator-glyph-1">
            <a:extLst xmlns:a="http://schemas.openxmlformats.org/drawingml/2006/main">
              <a:ext uri="{FF2B5EF4-FFF2-40B4-BE49-F238E27FC236}">
                <a16:creationId xmlns:a16="http://schemas.microsoft.com/office/drawing/2014/main" id="{596F5692-71BF-434F-958A-89B6868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소</a:t>
            </a:r>
          </a:p>
        </p:txBody>
      </p:sp>
      <p:sp>
        <p:nvSpPr>
          <p:cNvPr id="12" name="indicator-circle-2">
            <a:extLst xmlns:a="http://schemas.openxmlformats.org/drawingml/2006/main">
              <a:ext uri="{FF2B5EF4-FFF2-40B4-BE49-F238E27FC236}">
                <a16:creationId xmlns:a16="http://schemas.microsoft.com/office/drawing/2014/main" id="{2AC0D30B-DDD4-4E74-A314-636D7CF5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indicator-glyph-2">
            <a:extLst xmlns:a="http://schemas.openxmlformats.org/drawingml/2006/main">
              <a:ext uri="{FF2B5EF4-FFF2-40B4-BE49-F238E27FC236}">
                <a16:creationId xmlns:a16="http://schemas.microsoft.com/office/drawing/2014/main" id="{93B5A93F-29C9-4AE1-AA73-2BE737B4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숙</a:t>
            </a:r>
          </a:p>
        </p:txBody>
      </p:sp>
      <p:sp>
        <p:nvSpPr>
          <p:cNvPr id="14" name="indicator-circle-3">
            <a:extLst xmlns:a="http://schemas.openxmlformats.org/drawingml/2006/main">
              <a:ext uri="{FF2B5EF4-FFF2-40B4-BE49-F238E27FC236}">
                <a16:creationId xmlns:a16="http://schemas.microsoft.com/office/drawing/2014/main" id="{E235D51A-DF5E-4DB8-810A-B9FE1052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indicator-glyph-3">
            <a:extLst xmlns:a="http://schemas.openxmlformats.org/drawingml/2006/main">
              <a:ext uri="{FF2B5EF4-FFF2-40B4-BE49-F238E27FC236}">
                <a16:creationId xmlns:a16="http://schemas.microsoft.com/office/drawing/2014/main" id="{1CA00698-1BA7-4C47-B7D1-49D23AAA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</a:t>
            </a:r>
          </a:p>
        </p:txBody>
      </p:sp>
      <p:sp>
        <p:nvSpPr>
          <p:cNvPr id="16" name="indicator-circle-4">
            <a:extLst xmlns:a="http://schemas.openxmlformats.org/drawingml/2006/main">
              <a:ext uri="{FF2B5EF4-FFF2-40B4-BE49-F238E27FC236}">
                <a16:creationId xmlns:a16="http://schemas.microsoft.com/office/drawing/2014/main" id="{223D3B08-E01D-4662-8D68-EC230DF9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indicator-glyph-4">
            <a:extLst xmlns:a="http://schemas.openxmlformats.org/drawingml/2006/main">
              <a:ext uri="{FF2B5EF4-FFF2-40B4-BE49-F238E27FC236}">
                <a16:creationId xmlns:a16="http://schemas.microsoft.com/office/drawing/2014/main" id="{AC65B1CB-640D-4DE4-93B2-1B5C183D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출</a:t>
            </a:r>
          </a:p>
        </p:txBody>
      </p:sp>
      <p:sp>
        <p:nvSpPr>
          <p:cNvPr id="18" name="indicator-circle-5">
            <a:extLst xmlns:a="http://schemas.openxmlformats.org/drawingml/2006/main">
              <a:ext uri="{FF2B5EF4-FFF2-40B4-BE49-F238E27FC236}">
                <a16:creationId xmlns:a16="http://schemas.microsoft.com/office/drawing/2014/main" id="{6019C75D-1FC2-4667-B692-DDD073C8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D4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indicator-glyph-5">
            <a:extLst xmlns:a="http://schemas.openxmlformats.org/drawingml/2006/main">
              <a:ext uri="{FF2B5EF4-FFF2-40B4-BE49-F238E27FC236}">
                <a16:creationId xmlns:a16="http://schemas.microsoft.com/office/drawing/2014/main" id="{C7AF409C-91A3-4936-BB4D-7B252755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처</a:t>
            </a:r>
          </a:p>
        </p:txBody>
      </p:sp>
      <p:sp>
        <p:nvSpPr>
          <p:cNvPr id="20" name="service-pill">
            <a:extLst xmlns:a="http://schemas.openxmlformats.org/drawingml/2006/main">
              <a:ext uri="{FF2B5EF4-FFF2-40B4-BE49-F238E27FC236}">
                <a16:creationId xmlns:a16="http://schemas.microsoft.com/office/drawing/2014/main" id="{FBBEFB7E-A7FD-4723-AE5B-8D90775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37185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2. ML 자연추세</a:t>
            </a:r>
          </a:p>
        </p:txBody>
      </p:sp>
      <p:sp>
        <p:nvSpPr>
          <p:cNvPr id="21" name="service-body">
            <a:extLst xmlns:a="http://schemas.openxmlformats.org/drawingml/2006/main">
              <a:ext uri="{FF2B5EF4-FFF2-40B4-BE49-F238E27FC236}">
                <a16:creationId xmlns:a16="http://schemas.microsoft.com/office/drawing/2014/main" id="{0599DDA5-9C77-4328-A928-CB50C56F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257800"/>
            <a:ext cx="3648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4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2024.01~2026.07 월별 데이터를 학습해 다음 달과 3개월의 가능 범위를 제시합니다.</a:t>
            </a:r>
          </a:p>
        </p:txBody>
      </p:sp>
      <p:sp>
        <p:nvSpPr>
          <p:cNvPr id="22" name="service-note">
            <a:extLst xmlns:a="http://schemas.openxmlformats.org/drawingml/2006/main">
              <a:ext uri="{FF2B5EF4-FFF2-40B4-BE49-F238E27FC236}">
                <a16:creationId xmlns:a16="http://schemas.microsoft.com/office/drawing/2014/main" id="{880D0D04-81DF-42E1-BC18-56D5BF8F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781675"/>
            <a:ext cx="3648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* 시범사업 효과가 아닌, 운영 시기 참고를 위한 자연추세입니다.</a:t>
            </a:r>
          </a:p>
        </p:txBody>
      </p:sp>
      <p:sp>
        <p:nvSpPr>
          <p:cNvPr id="23" name="service-scope">
            <a:extLst xmlns:a="http://schemas.openxmlformats.org/drawingml/2006/main">
              <a:ext uri="{FF2B5EF4-FFF2-40B4-BE49-F238E27FC236}">
                <a16:creationId xmlns:a16="http://schemas.microsoft.com/office/drawing/2014/main" id="{3F7087DF-6EBD-4030-AAA5-C6BF09B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55320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C1D4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해석: 성과 보장 아님</a:t>
            </a:r>
          </a:p>
        </p:txBody>
      </p:sp>
      <p:sp>
        <p:nvSpPr>
          <p:cNvPr id="24" name="private-pill">
            <a:extLst xmlns:a="http://schemas.openxmlformats.org/drawingml/2006/main">
              <a:ext uri="{FF2B5EF4-FFF2-40B4-BE49-F238E27FC236}">
                <a16:creationId xmlns:a16="http://schemas.microsoft.com/office/drawing/2014/main" id="{ECE9BD08-611B-4247-AFD8-D71CC91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718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3. 시범 운영 결과</a:t>
            </a:r>
          </a:p>
        </p:txBody>
      </p:sp>
      <p:sp>
        <p:nvSpPr>
          <p:cNvPr id="25" name="private-body">
            <a:extLst xmlns:a="http://schemas.openxmlformats.org/drawingml/2006/main">
              <a:ext uri="{FF2B5EF4-FFF2-40B4-BE49-F238E27FC236}">
                <a16:creationId xmlns:a16="http://schemas.microsoft.com/office/drawing/2014/main" id="{FC8E1C19-1A9B-4031-B62F-74F7EE4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295775"/>
            <a:ext cx="4048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운영일·비운영일의 실제 기록이 쌓인 뒤에만 확대·보완·중단을 판단합니다.</a:t>
            </a:r>
          </a:p>
        </p:txBody>
      </p:sp>
      <p:sp>
        <p:nvSpPr>
          <p:cNvPr id="26" name="private-info">
            <a:extLst xmlns:a="http://schemas.openxmlformats.org/drawingml/2006/main">
              <a:ext uri="{FF2B5EF4-FFF2-40B4-BE49-F238E27FC236}">
                <a16:creationId xmlns:a16="http://schemas.microsoft.com/office/drawing/2014/main" id="{D48F3C63-9D79-481C-991B-B8716C1F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9720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private-info-label">
            <a:extLst xmlns:a="http://schemas.openxmlformats.org/drawingml/2006/main">
              <a:ext uri="{FF2B5EF4-FFF2-40B4-BE49-F238E27FC236}">
                <a16:creationId xmlns:a16="http://schemas.microsoft.com/office/drawing/2014/main" id="{A5D8162B-C8F7-4F75-8A4B-B9894BFF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972050"/>
            <a:ext cx="95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</a:t>
            </a:r>
          </a:p>
        </p:txBody>
      </p:sp>
      <p:sp>
        <p:nvSpPr>
          <p:cNvPr id="28" name="private-goal">
            <a:extLst xmlns:a="http://schemas.openxmlformats.org/drawingml/2006/main">
              <a:ext uri="{FF2B5EF4-FFF2-40B4-BE49-F238E27FC236}">
                <a16:creationId xmlns:a16="http://schemas.microsoft.com/office/drawing/2014/main" id="{3909FDE3-5FF2-4500-AD50-B44FF021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743575"/>
            <a:ext cx="3438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핵심: 기록된 효과만 다음 판단에 사용</a:t>
            </a:r>
          </a:p>
        </p:txBody>
      </p:sp>
      <p:sp>
        <p:nvSpPr>
          <p:cNvPr id="29" name="private-scope">
            <a:extLst xmlns:a="http://schemas.openxmlformats.org/drawingml/2006/main">
              <a:ext uri="{FF2B5EF4-FFF2-40B4-BE49-F238E27FC236}">
                <a16:creationId xmlns:a16="http://schemas.microsoft.com/office/drawing/2014/main" id="{F2BCDD9E-4568-4754-A8AC-9B695D88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532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6B0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판정: 확대 · 보완 · 중단</a:t>
            </a:r>
          </a:p>
        </p:txBody>
      </p:sp>
      <p:sp>
        <p:nvSpPr>
          <p:cNvPr id="31" name="evidence-legend">
            <a:extLst xmlns:a="http://schemas.openxmlformats.org/drawingml/2006/main">
              <a:ext uri="{FF2B5EF4-FFF2-40B4-BE49-F238E27FC236}">
                <a16:creationId xmlns:a16="http://schemas.microsoft.com/office/drawing/2014/main" id="{12639D96-A67A-4BFA-8CFA-2D4B0339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24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방문 · 소비 · 숙박 · 기준월 · 출처 · 확인</a:t>
            </a:r>
          </a:p>
        </p:txBody>
      </p:sp>
      <p:sp>
        <p:nvSpPr>
          <p:cNvPr id="32" name="evidence-input-box">
            <a:extLst xmlns:a="http://schemas.openxmlformats.org/drawingml/2006/main">
              <a:ext uri="{FF2B5EF4-FFF2-40B4-BE49-F238E27FC236}">
                <a16:creationId xmlns:a16="http://schemas.microsoft.com/office/drawing/2014/main" id="{B2CFD366-26B8-4D6D-BB6D-D38E5952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71950"/>
            <a:ext cx="838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</p:sp>
      <p:sp>
        <p:nvSpPr>
          <p:cNvPr id="33" name="evidence-input-label">
            <a:extLst xmlns:a="http://schemas.openxmlformats.org/drawingml/2006/main">
              <a:ext uri="{FF2B5EF4-FFF2-40B4-BE49-F238E27FC236}">
                <a16:creationId xmlns:a16="http://schemas.microsoft.com/office/drawing/2014/main" id="{FDB304C7-734E-475C-B21A-042B8AF8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576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월별</a:t>
            </a:r>
          </a:p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원자료</a:t>
            </a:r>
          </a:p>
        </p:txBody>
      </p:sp>
      <p:sp>
        <p:nvSpPr>
          <p:cNvPr id="34" name="evidence-arrow-1">
            <a:extLst xmlns:a="http://schemas.openxmlformats.org/drawingml/2006/main">
              <a:ext uri="{FF2B5EF4-FFF2-40B4-BE49-F238E27FC236}">
                <a16:creationId xmlns:a16="http://schemas.microsoft.com/office/drawing/2014/main" id="{58F1A183-EB63-4513-88B5-34963034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57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5" name="evidence-validate-box">
            <a:extLst xmlns:a="http://schemas.openxmlformats.org/drawingml/2006/main">
              <a:ext uri="{FF2B5EF4-FFF2-40B4-BE49-F238E27FC236}">
                <a16:creationId xmlns:a16="http://schemas.microsoft.com/office/drawing/2014/main" id="{8D95D6B2-E6E4-44C3-A674-3B88F34D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71950"/>
            <a:ext cx="838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</p:sp>
      <p:sp>
        <p:nvSpPr>
          <p:cNvPr id="36" name="evidence-validate-label">
            <a:extLst xmlns:a="http://schemas.openxmlformats.org/drawingml/2006/main">
              <a:ext uri="{FF2B5EF4-FFF2-40B4-BE49-F238E27FC236}">
                <a16:creationId xmlns:a16="http://schemas.microsoft.com/office/drawing/2014/main" id="{E3C30E98-238B-431D-9EC8-1FD6B8EE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2576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시간순</a:t>
            </a:r>
          </a:p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검증</a:t>
            </a:r>
          </a:p>
        </p:txBody>
      </p:sp>
      <p:sp>
        <p:nvSpPr>
          <p:cNvPr id="37" name="evidence-arrow-2">
            <a:extLst xmlns:a="http://schemas.openxmlformats.org/drawingml/2006/main">
              <a:ext uri="{FF2B5EF4-FFF2-40B4-BE49-F238E27FC236}">
                <a16:creationId xmlns:a16="http://schemas.microsoft.com/office/drawing/2014/main" id="{582F6E78-63A4-4120-B60D-E86E2D4A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57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8" name="evidence-forecast-box">
            <a:extLst xmlns:a="http://schemas.openxmlformats.org/drawingml/2006/main">
              <a:ext uri="{FF2B5EF4-FFF2-40B4-BE49-F238E27FC236}">
                <a16:creationId xmlns:a16="http://schemas.microsoft.com/office/drawing/2014/main" id="{7B9C5A78-D9EA-43D6-A6A3-0524FC18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71950"/>
            <a:ext cx="838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</p:sp>
      <p:sp>
        <p:nvSpPr>
          <p:cNvPr id="39" name="evidence-forecast-label">
            <a:extLst xmlns:a="http://schemas.openxmlformats.org/drawingml/2006/main">
              <a:ext uri="{FF2B5EF4-FFF2-40B4-BE49-F238E27FC236}">
                <a16:creationId xmlns:a16="http://schemas.microsoft.com/office/drawing/2014/main" id="{B1B9F64A-36B5-4EA5-AC4F-26008C65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2576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자연</a:t>
            </a:r>
          </a:p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추세</a:t>
            </a:r>
          </a:p>
        </p:txBody>
      </p:sp>
      <p:sp>
        <p:nvSpPr>
          <p:cNvPr id="40" name="evidence-flow-caption">
            <a:extLst xmlns:a="http://schemas.openxmlformats.org/drawingml/2006/main">
              <a:ext uri="{FF2B5EF4-FFF2-40B4-BE49-F238E27FC236}">
                <a16:creationId xmlns:a16="http://schemas.microsoft.com/office/drawing/2014/main" id="{22CAF890-50C2-47C5-B0EF-48B568B3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24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학습값과 운영성과를 같은 뜻으로 해석하지 않습니다</a:t>
            </a:r>
          </a:p>
        </p:txBody>
      </p:sp>
      <p:sp>
        <p:nvSpPr>
          <p:cNvPr id="41" name="evidence-result-flow">
            <a:extLst xmlns:a="http://schemas.openxmlformats.org/drawingml/2006/main">
              <a:ext uri="{FF2B5EF4-FFF2-40B4-BE49-F238E27FC236}">
                <a16:creationId xmlns:a16="http://schemas.microsoft.com/office/drawing/2014/main" id="{62F47E62-73AB-4A0E-B70F-1EF10C2F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115050"/>
            <a:ext cx="384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운영기록  →  비교분석  →  다음 달 조정</a:t>
            </a:r>
          </a:p>
        </p:txBody>
      </p:sp>
    </p:spTree>
    <p:extLst>
      <p:ext uri="{BB962C8B-B14F-4D97-AF65-F5344CB8AC3E}">
        <p14:creationId xmlns:p14="http://schemas.microsoft.com/office/powerpoint/2010/main" val="3347729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89566C74-171B-4CC1-A081-68E147C8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952500"/>
            <a:ext cx="758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월별 성과관리: 기록이 다음 예산을 결정합니다</a:t>
            </a:r>
            <a:endParaRPr sz="390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06725C-B232-4DB7-96F0-03854DF8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192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51BFB9C-216A-4C33-A839-B04730D3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시범 기간에는 ‘예측값’보다 운영일·비운영일의 실제 기록을 먼저 확인합니다.</a:t>
            </a:r>
            <a:endParaRPr sz="1350" b="0" i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audience-card-0">
            <a:extLst xmlns:a="http://schemas.openxmlformats.org/drawingml/2006/main">
              <a:ext uri="{FF2B5EF4-FFF2-40B4-BE49-F238E27FC236}">
                <a16:creationId xmlns:a16="http://schemas.microsoft.com/office/drawing/2014/main" id="{4C5D9B42-9585-431B-9F85-6047030B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audience-pill-0">
            <a:extLst xmlns:a="http://schemas.openxmlformats.org/drawingml/2006/main">
              <a:ext uri="{FF2B5EF4-FFF2-40B4-BE49-F238E27FC236}">
                <a16:creationId xmlns:a16="http://schemas.microsoft.com/office/drawing/2014/main" id="{78EAE8B0-7A2C-4232-829C-9DE3D07F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9월 · 기준선·협약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audience-body-0">
            <a:extLst xmlns:a="http://schemas.openxmlformats.org/drawingml/2006/main">
              <a:ext uri="{FF2B5EF4-FFF2-40B4-BE49-F238E27FC236}">
                <a16:creationId xmlns:a16="http://schemas.microsoft.com/office/drawing/2014/main" id="{18036271-88F0-4820-8017-27AD9D82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예측과 실제 방문·소비를 구분하고, 예약·입장·결제의 같은 기준을 확정합니다.</a:t>
            </a:r>
          </a:p>
        </p:txBody>
      </p:sp>
      <p:sp>
        <p:nvSpPr>
          <p:cNvPr id="19" name="audience-divider-0">
            <a:extLst xmlns:a="http://schemas.openxmlformats.org/drawingml/2006/main">
              <a:ext uri="{FF2B5EF4-FFF2-40B4-BE49-F238E27FC236}">
                <a16:creationId xmlns:a16="http://schemas.microsoft.com/office/drawing/2014/main" id="{D37CFD94-BBEC-4549-A877-861B6AF8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audience-role-0">
            <a:extLst xmlns:a="http://schemas.openxmlformats.org/drawingml/2006/main">
              <a:ext uri="{FF2B5EF4-FFF2-40B4-BE49-F238E27FC236}">
                <a16:creationId xmlns:a16="http://schemas.microsoft.com/office/drawing/2014/main" id="{431424E7-8452-4D5A-BFBC-7C483C02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기준선·운영 규칙</a:t>
            </a:r>
            <a:endParaRPr sz="1050" b="1" i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audience-card-1">
            <a:extLst xmlns:a="http://schemas.openxmlformats.org/drawingml/2006/main">
              <a:ext uri="{FF2B5EF4-FFF2-40B4-BE49-F238E27FC236}">
                <a16:creationId xmlns:a16="http://schemas.microsoft.com/office/drawing/2014/main" id="{E4BF1616-4E6A-46E9-A604-B8790B8D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audience-pill-1">
            <a:extLst xmlns:a="http://schemas.openxmlformats.org/drawingml/2006/main">
              <a:ext uri="{FF2B5EF4-FFF2-40B4-BE49-F238E27FC236}">
                <a16:creationId xmlns:a16="http://schemas.microsoft.com/office/drawing/2014/main" id="{DC565623-691C-46E9-9B1E-CA335ADD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10~1월 · 주간 기록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audience-body-1">
            <a:extLst xmlns:a="http://schemas.openxmlformats.org/drawingml/2006/main">
              <a:ext uri="{FF2B5EF4-FFF2-40B4-BE49-F238E27FC236}">
                <a16:creationId xmlns:a16="http://schemas.microsoft.com/office/drawing/2014/main" id="{06949467-623E-4320-80B3-3600A711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운영일·비운영일의 이용완료율·당일결제율·민원을 같은 주기에 기록합니다.</a:t>
            </a:r>
          </a:p>
        </p:txBody>
      </p:sp>
      <p:sp>
        <p:nvSpPr>
          <p:cNvPr id="30" name="audience-divider-1">
            <a:extLst xmlns:a="http://schemas.openxmlformats.org/drawingml/2006/main">
              <a:ext uri="{FF2B5EF4-FFF2-40B4-BE49-F238E27FC236}">
                <a16:creationId xmlns:a16="http://schemas.microsoft.com/office/drawing/2014/main" id="{70E4CE22-3136-4945-B6F8-3CBFD1A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audience-role-1">
            <a:extLst xmlns:a="http://schemas.openxmlformats.org/drawingml/2006/main">
              <a:ext uri="{FF2B5EF4-FFF2-40B4-BE49-F238E27FC236}">
                <a16:creationId xmlns:a16="http://schemas.microsoft.com/office/drawing/2014/main" id="{91A14E64-F9D6-4991-AF2A-62B1E572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주간 운영 현황표</a:t>
            </a:r>
          </a:p>
        </p:txBody>
      </p:sp>
      <p:sp>
        <p:nvSpPr>
          <p:cNvPr id="32" name="audience-card-2">
            <a:extLst xmlns:a="http://schemas.openxmlformats.org/drawingml/2006/main">
              <a:ext uri="{FF2B5EF4-FFF2-40B4-BE49-F238E27FC236}">
                <a16:creationId xmlns:a16="http://schemas.microsoft.com/office/drawing/2014/main" id="{29361FBB-3A70-4672-AA0E-E8B8C32A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audience-pill-2">
            <a:extLst xmlns:a="http://schemas.openxmlformats.org/drawingml/2006/main">
              <a:ext uri="{FF2B5EF4-FFF2-40B4-BE49-F238E27FC236}">
                <a16:creationId xmlns:a16="http://schemas.microsoft.com/office/drawing/2014/main" id="{46094810-6C0A-47A8-AF7A-34677C91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2월 · 확대·보완·중단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9" name="audience-body-2">
            <a:extLst xmlns:a="http://schemas.openxmlformats.org/drawingml/2006/main">
              <a:ext uri="{FF2B5EF4-FFF2-40B4-BE49-F238E27FC236}">
                <a16:creationId xmlns:a16="http://schemas.microsoft.com/office/drawing/2014/main" id="{D9085674-740D-4428-BE90-51011B8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사전 상한을 충족하면 확대하고, 미달·위험 항목은 보완 또는 축소합니다.</a:t>
            </a:r>
          </a:p>
        </p:txBody>
      </p:sp>
      <p:sp>
        <p:nvSpPr>
          <p:cNvPr id="40" name="audience-divider-2">
            <a:extLst xmlns:a="http://schemas.openxmlformats.org/drawingml/2006/main">
              <a:ext uri="{FF2B5EF4-FFF2-40B4-BE49-F238E27FC236}">
                <a16:creationId xmlns:a16="http://schemas.microsoft.com/office/drawing/2014/main" id="{5F839689-58C2-4B5A-B556-CA2230F2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audience-role-2">
            <a:extLst xmlns:a="http://schemas.openxmlformats.org/drawingml/2006/main">
              <a:ext uri="{FF2B5EF4-FFF2-40B4-BE49-F238E27FC236}">
                <a16:creationId xmlns:a16="http://schemas.microsoft.com/office/drawing/2014/main" id="{8FBFEBB1-BE5F-4E74-B007-0FC209D0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최종 판단표</a:t>
            </a:r>
          </a:p>
        </p:txBody>
      </p:sp>
      <p:sp>
        <p:nvSpPr>
          <p:cNvPr id="46" name="score-base-visit-box">
            <a:extLst xmlns:a="http://schemas.openxmlformats.org/drawingml/2006/main">
              <a:ext uri="{FF2B5EF4-FFF2-40B4-BE49-F238E27FC236}">
                <a16:creationId xmlns:a16="http://schemas.microsoft.com/office/drawing/2014/main" id="{DB3BE161-CC53-4F73-9010-521C47D0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3624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</p:sp>
      <p:sp>
        <p:nvSpPr>
          <p:cNvPr id="47" name="score-base-visit-label">
            <a:extLst xmlns:a="http://schemas.openxmlformats.org/drawingml/2006/main">
              <a:ext uri="{FF2B5EF4-FFF2-40B4-BE49-F238E27FC236}">
                <a16:creationId xmlns:a16="http://schemas.microsoft.com/office/drawing/2014/main" id="{2318F0C2-E8A7-4D91-BA2C-0700C1A0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48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방문</a:t>
            </a:r>
          </a:p>
        </p:txBody>
      </p:sp>
      <p:sp>
        <p:nvSpPr>
          <p:cNvPr id="48" name="score-base-arrow-1">
            <a:extLst xmlns:a="http://schemas.openxmlformats.org/drawingml/2006/main">
              <a:ext uri="{FF2B5EF4-FFF2-40B4-BE49-F238E27FC236}">
                <a16:creationId xmlns:a16="http://schemas.microsoft.com/office/drawing/2014/main" id="{78DCD6EA-AEF7-412F-9DFB-0959E7AB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438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49" name="score-base-spend-box">
            <a:extLst xmlns:a="http://schemas.openxmlformats.org/drawingml/2006/main">
              <a:ext uri="{FF2B5EF4-FFF2-40B4-BE49-F238E27FC236}">
                <a16:creationId xmlns:a16="http://schemas.microsoft.com/office/drawing/2014/main" id="{0D090E8D-52FF-4AE0-B555-67F73BF1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3624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</p:sp>
      <p:sp>
        <p:nvSpPr>
          <p:cNvPr id="50" name="score-base-spend-label">
            <a:extLst xmlns:a="http://schemas.openxmlformats.org/drawingml/2006/main">
              <a:ext uri="{FF2B5EF4-FFF2-40B4-BE49-F238E27FC236}">
                <a16:creationId xmlns:a16="http://schemas.microsoft.com/office/drawing/2014/main" id="{0107FBB0-B18E-4E62-8147-11E9B636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48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소비</a:t>
            </a:r>
          </a:p>
        </p:txBody>
      </p:sp>
      <p:sp>
        <p:nvSpPr>
          <p:cNvPr id="51" name="score-base-arrow-2">
            <a:extLst xmlns:a="http://schemas.openxmlformats.org/drawingml/2006/main">
              <a:ext uri="{FF2B5EF4-FFF2-40B4-BE49-F238E27FC236}">
                <a16:creationId xmlns:a16="http://schemas.microsoft.com/office/drawing/2014/main" id="{74E8EDCA-8B96-459E-BC70-77CDD221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38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2" name="score-base-rule-box">
            <a:extLst xmlns:a="http://schemas.openxmlformats.org/drawingml/2006/main">
              <a:ext uri="{FF2B5EF4-FFF2-40B4-BE49-F238E27FC236}">
                <a16:creationId xmlns:a16="http://schemas.microsoft.com/office/drawing/2014/main" id="{2000A70A-16D1-4528-8E0B-D111FFF7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624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</p:sp>
      <p:sp>
        <p:nvSpPr>
          <p:cNvPr id="53" name="score-base-rule-label">
            <a:extLst xmlns:a="http://schemas.openxmlformats.org/drawingml/2006/main">
              <a:ext uri="{FF2B5EF4-FFF2-40B4-BE49-F238E27FC236}">
                <a16:creationId xmlns:a16="http://schemas.microsoft.com/office/drawing/2014/main" id="{4B0832CC-4ED6-4839-AC50-EA77A1DB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48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기준</a:t>
            </a:r>
          </a:p>
        </p:txBody>
      </p:sp>
      <p:sp>
        <p:nvSpPr>
          <p:cNvPr id="54" name="score-base-caption">
            <a:extLst xmlns:a="http://schemas.openxmlformats.org/drawingml/2006/main">
              <a:ext uri="{FF2B5EF4-FFF2-40B4-BE49-F238E27FC236}">
                <a16:creationId xmlns:a16="http://schemas.microsoft.com/office/drawing/2014/main" id="{3D9D445A-6130-40ED-AC32-3F855577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953000"/>
            <a:ext cx="297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기록 기준을 먼저 합의</a:t>
            </a:r>
          </a:p>
        </p:txBody>
      </p:sp>
      <p:sp>
        <p:nvSpPr>
          <p:cNvPr id="55" name="score-week-완료">
            <a:extLst xmlns:a="http://schemas.openxmlformats.org/drawingml/2006/main">
              <a:ext uri="{FF2B5EF4-FFF2-40B4-BE49-F238E27FC236}">
                <a16:creationId xmlns:a16="http://schemas.microsoft.com/office/drawing/2014/main" id="{F295D678-A1F4-482E-A251-F1278A83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33875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56" name="score-week-완료-label">
            <a:extLst xmlns:a="http://schemas.openxmlformats.org/drawingml/2006/main">
              <a:ext uri="{FF2B5EF4-FFF2-40B4-BE49-F238E27FC236}">
                <a16:creationId xmlns:a16="http://schemas.microsoft.com/office/drawing/2014/main" id="{361F169E-6A98-4A25-BD32-F844ED11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76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완료</a:t>
            </a:r>
          </a:p>
        </p:txBody>
      </p:sp>
      <p:sp>
        <p:nvSpPr>
          <p:cNvPr id="57" name="score-week-결제">
            <a:extLst xmlns:a="http://schemas.openxmlformats.org/drawingml/2006/main">
              <a:ext uri="{FF2B5EF4-FFF2-40B4-BE49-F238E27FC236}">
                <a16:creationId xmlns:a16="http://schemas.microsoft.com/office/drawing/2014/main" id="{FA8DCA8C-5BE9-4DAC-8441-80BE1596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33875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58" name="score-week-결제-label">
            <a:extLst xmlns:a="http://schemas.openxmlformats.org/drawingml/2006/main">
              <a:ext uri="{FF2B5EF4-FFF2-40B4-BE49-F238E27FC236}">
                <a16:creationId xmlns:a16="http://schemas.microsoft.com/office/drawing/2014/main" id="{BCD123C9-E871-4489-9BB2-1F06EB0B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결제</a:t>
            </a:r>
          </a:p>
        </p:txBody>
      </p:sp>
      <p:sp>
        <p:nvSpPr>
          <p:cNvPr id="59" name="score-week-원가">
            <a:extLst xmlns:a="http://schemas.openxmlformats.org/drawingml/2006/main">
              <a:ext uri="{FF2B5EF4-FFF2-40B4-BE49-F238E27FC236}">
                <a16:creationId xmlns:a16="http://schemas.microsoft.com/office/drawing/2014/main" id="{51620C7F-5EEB-4E9D-AFA5-3BC64CF9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33875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60" name="score-week-원가-label">
            <a:extLst xmlns:a="http://schemas.openxmlformats.org/drawingml/2006/main">
              <a:ext uri="{FF2B5EF4-FFF2-40B4-BE49-F238E27FC236}">
                <a16:creationId xmlns:a16="http://schemas.microsoft.com/office/drawing/2014/main" id="{9F1FDC0D-AAD3-4195-A648-6D7E0622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76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원가</a:t>
            </a:r>
          </a:p>
        </p:txBody>
      </p:sp>
      <p:sp>
        <p:nvSpPr>
          <p:cNvPr id="61" name="score-week-민원">
            <a:extLst xmlns:a="http://schemas.openxmlformats.org/drawingml/2006/main">
              <a:ext uri="{FF2B5EF4-FFF2-40B4-BE49-F238E27FC236}">
                <a16:creationId xmlns:a16="http://schemas.microsoft.com/office/drawing/2014/main" id="{77088DF9-880D-4E95-82CE-72E0D14B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33875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62" name="score-week-민원-label">
            <a:extLst xmlns:a="http://schemas.openxmlformats.org/drawingml/2006/main">
              <a:ext uri="{FF2B5EF4-FFF2-40B4-BE49-F238E27FC236}">
                <a16:creationId xmlns:a16="http://schemas.microsoft.com/office/drawing/2014/main" id="{EF057D3D-ED56-4BCD-8C0C-2F04DE42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76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민원</a:t>
            </a:r>
          </a:p>
        </p:txBody>
      </p:sp>
      <p:sp>
        <p:nvSpPr>
          <p:cNvPr id="63" name="score-week-rule">
            <a:extLst xmlns:a="http://schemas.openxmlformats.org/drawingml/2006/main">
              <a:ext uri="{FF2B5EF4-FFF2-40B4-BE49-F238E27FC236}">
                <a16:creationId xmlns:a16="http://schemas.microsoft.com/office/drawing/2014/main" id="{9FA1E043-77F8-4F0B-AB2B-773AA275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000625"/>
            <a:ext cx="287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B7C9"/>
            </a:solidFill>
            <a:prstDash val="solid"/>
          </a:ln>
        </p:spPr>
      </p:sp>
      <p:sp>
        <p:nvSpPr>
          <p:cNvPr id="64" name="score-week-caption">
            <a:extLst xmlns:a="http://schemas.openxmlformats.org/drawingml/2006/main">
              <a:ext uri="{FF2B5EF4-FFF2-40B4-BE49-F238E27FC236}">
                <a16:creationId xmlns:a16="http://schemas.microsoft.com/office/drawing/2014/main" id="{BA14F833-D28C-4B87-B970-7771BA0E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43500"/>
            <a:ext cx="2914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매주 동일 기준으로 업데이트</a:t>
            </a:r>
          </a:p>
        </p:txBody>
      </p:sp>
      <p:sp>
        <p:nvSpPr>
          <p:cNvPr id="65" name="score-decision-expand-box">
            <a:extLst xmlns:a="http://schemas.openxmlformats.org/drawingml/2006/main">
              <a:ext uri="{FF2B5EF4-FFF2-40B4-BE49-F238E27FC236}">
                <a16:creationId xmlns:a16="http://schemas.microsoft.com/office/drawing/2014/main" id="{7068FD8F-B4F8-4794-AEB9-C8AB72F3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362450"/>
            <a:ext cx="781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</p:sp>
      <p:sp>
        <p:nvSpPr>
          <p:cNvPr id="66" name="score-decision-expand-label">
            <a:extLst xmlns:a="http://schemas.openxmlformats.org/drawingml/2006/main">
              <a:ext uri="{FF2B5EF4-FFF2-40B4-BE49-F238E27FC236}">
                <a16:creationId xmlns:a16="http://schemas.microsoft.com/office/drawing/2014/main" id="{8A09EC0C-CBF7-4036-9224-4DFCA836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44481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확대</a:t>
            </a:r>
          </a:p>
        </p:txBody>
      </p:sp>
      <p:sp>
        <p:nvSpPr>
          <p:cNvPr id="67" name="score-decision-adjust-box">
            <a:extLst xmlns:a="http://schemas.openxmlformats.org/drawingml/2006/main">
              <a:ext uri="{FF2B5EF4-FFF2-40B4-BE49-F238E27FC236}">
                <a16:creationId xmlns:a16="http://schemas.microsoft.com/office/drawing/2014/main" id="{DF2304B2-36B1-4F10-92A7-D1EAF40B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362450"/>
            <a:ext cx="781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</p:sp>
      <p:sp>
        <p:nvSpPr>
          <p:cNvPr id="68" name="score-decision-adjust-label">
            <a:extLst xmlns:a="http://schemas.openxmlformats.org/drawingml/2006/main">
              <a:ext uri="{FF2B5EF4-FFF2-40B4-BE49-F238E27FC236}">
                <a16:creationId xmlns:a16="http://schemas.microsoft.com/office/drawing/2014/main" id="{A7065591-8370-4FD3-9CF3-3E9E5443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44481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보완</a:t>
            </a:r>
          </a:p>
        </p:txBody>
      </p:sp>
      <p:sp>
        <p:nvSpPr>
          <p:cNvPr id="69" name="score-decision-stop-box">
            <a:extLst xmlns:a="http://schemas.openxmlformats.org/drawingml/2006/main">
              <a:ext uri="{FF2B5EF4-FFF2-40B4-BE49-F238E27FC236}">
                <a16:creationId xmlns:a16="http://schemas.microsoft.com/office/drawing/2014/main" id="{7493B4F4-6828-4166-8C6C-2829BB65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4362450"/>
            <a:ext cx="781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70" name="score-decision-stop-label">
            <a:extLst xmlns:a="http://schemas.openxmlformats.org/drawingml/2006/main">
              <a:ext uri="{FF2B5EF4-FFF2-40B4-BE49-F238E27FC236}">
                <a16:creationId xmlns:a16="http://schemas.microsoft.com/office/drawing/2014/main" id="{0EC6DB21-4D0F-4F6F-84CD-2D0888EA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3075" y="44481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축소</a:t>
            </a:r>
          </a:p>
        </p:txBody>
      </p:sp>
      <p:sp>
        <p:nvSpPr>
          <p:cNvPr id="71" name="score-decision-caption">
            <a:extLst xmlns:a="http://schemas.openxmlformats.org/drawingml/2006/main">
              <a:ext uri="{FF2B5EF4-FFF2-40B4-BE49-F238E27FC236}">
                <a16:creationId xmlns:a16="http://schemas.microsoft.com/office/drawing/2014/main" id="{EE3C14EC-34EB-4E35-8FF5-B0E819F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000625"/>
            <a:ext cx="325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다음 예산은 확인된 근거에서만 조정</a:t>
            </a:r>
          </a:p>
        </p:txBody>
      </p:sp>
    </p:spTree>
    <p:extLst>
      <p:ext uri="{BB962C8B-B14F-4D97-AF65-F5344CB8AC3E}">
        <p14:creationId xmlns:p14="http://schemas.microsoft.com/office/powerpoint/2010/main" val="553742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2026-09-03T11:43:35.4550000Z</dcterms:created>
  <dcterms:modified xsi:type="dcterms:W3CDTF">2026-09-03T11:43:35.4550000Z</dcterms:modified>
</coreProperties>
</file>