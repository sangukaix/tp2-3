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be8834ad794c38" /><Relationship Type="http://schemas.openxmlformats.org/officeDocument/2006/relationships/extended-properties" Target="/docProps/app.xml" Id="Rc31b3fd2ba784990" /><Relationship Type="http://schemas.openxmlformats.org/officeDocument/2006/relationships/officeDocument" Target="/ppt/presentation.xml" Id="Rcb3a9d73544746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ee356bd0a248b3"/>
  </p:sldMasterIdLst>
  <p:notesMasterIdLst>
    <p:notesMasterId xmlns:r="http://schemas.openxmlformats.org/officeDocument/2006/relationships" r:id="Rca1ff2866e3140c3"/>
  </p:notesMasterIdLst>
  <p:sldIdLst>
    <p:sldId xmlns:r="http://schemas.openxmlformats.org/officeDocument/2006/relationships" id="256" r:id="R19eaadf34ce0419f"/>
    <p:sldId xmlns:r="http://schemas.openxmlformats.org/officeDocument/2006/relationships" id="257" r:id="Rfeceba5becf44f7c"/>
    <p:sldId xmlns:r="http://schemas.openxmlformats.org/officeDocument/2006/relationships" id="258" r:id="Rfdf3a827f8244aa1"/>
    <p:sldId xmlns:r="http://schemas.openxmlformats.org/officeDocument/2006/relationships" id="259" r:id="R0b62800dee5b415d"/>
    <p:sldId xmlns:r="http://schemas.openxmlformats.org/officeDocument/2006/relationships" id="260" r:id="R4ec045bd0da242ea"/>
    <p:sldId xmlns:r="http://schemas.openxmlformats.org/officeDocument/2006/relationships" id="261" r:id="R7dc1f9bf389545c2"/>
    <p:sldId xmlns:r="http://schemas.openxmlformats.org/officeDocument/2006/relationships" id="262" r:id="Rf5ae0c2213964e71"/>
    <p:sldId xmlns:r="http://schemas.openxmlformats.org/officeDocument/2006/relationships" id="263" r:id="R8dd351e0a44749c3"/>
    <p:sldId xmlns:r="http://schemas.openxmlformats.org/officeDocument/2006/relationships" id="264" r:id="Rd0eb6643dae94786"/>
    <p:sldId xmlns:r="http://schemas.openxmlformats.org/officeDocument/2006/relationships" id="265" r:id="R1ced11fcd0884fa5"/>
    <p:sldId xmlns:r="http://schemas.openxmlformats.org/officeDocument/2006/relationships" id="266" r:id="R352450d501cb4065"/>
    <p:sldId xmlns:r="http://schemas.openxmlformats.org/officeDocument/2006/relationships" id="267" r:id="R4d7a4f3890984a5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86bcfdbe6e4026" /><Relationship Type="http://schemas.openxmlformats.org/officeDocument/2006/relationships/slideMaster" Target="/ppt/slideMasters/slideMaster1.xml" Id="R1cee356bd0a248b3" /><Relationship Type="http://schemas.openxmlformats.org/officeDocument/2006/relationships/notesMaster" Target="/ppt/notesMasters/notesMaster1.xml" Id="Rca1ff2866e3140c3" /><Relationship Type="http://schemas.openxmlformats.org/officeDocument/2006/relationships/presProps" Target="/ppt/presProps.xml" Id="Rdb6ca1f877e14068" /><Relationship Type="http://schemas.openxmlformats.org/officeDocument/2006/relationships/viewProps" Target="/ppt/viewProps.xml" Id="R9cfa282d22444e84" /><Relationship Type="http://schemas.openxmlformats.org/officeDocument/2006/relationships/tableStyles" Target="/ppt/tableStyles.xml" Id="R6be8266431a54e71" /><Relationship Type="http://schemas.openxmlformats.org/officeDocument/2006/relationships/slide" Target="/ppt/slides/slide1.xml" Id="R19eaadf34ce0419f" /><Relationship Type="http://schemas.openxmlformats.org/officeDocument/2006/relationships/slide" Target="/ppt/slides/slide2.xml" Id="Rfeceba5becf44f7c" /><Relationship Type="http://schemas.openxmlformats.org/officeDocument/2006/relationships/slide" Target="/ppt/slides/slide3.xml" Id="Rfdf3a827f8244aa1" /><Relationship Type="http://schemas.openxmlformats.org/officeDocument/2006/relationships/slide" Target="/ppt/slides/slide4.xml" Id="R0b62800dee5b415d" /><Relationship Type="http://schemas.openxmlformats.org/officeDocument/2006/relationships/slide" Target="/ppt/slides/slide5.xml" Id="R4ec045bd0da242ea" /><Relationship Type="http://schemas.openxmlformats.org/officeDocument/2006/relationships/slide" Target="/ppt/slides/slide6.xml" Id="R7dc1f9bf389545c2" /><Relationship Type="http://schemas.openxmlformats.org/officeDocument/2006/relationships/slide" Target="/ppt/slides/slide7.xml" Id="Rf5ae0c2213964e71" /><Relationship Type="http://schemas.openxmlformats.org/officeDocument/2006/relationships/slide" Target="/ppt/slides/slide8.xml" Id="R8dd351e0a44749c3" /><Relationship Type="http://schemas.openxmlformats.org/officeDocument/2006/relationships/slide" Target="/ppt/slides/slide9.xml" Id="Rd0eb6643dae94786" /><Relationship Type="http://schemas.openxmlformats.org/officeDocument/2006/relationships/slide" Target="/ppt/slides/slide10.xml" Id="R1ced11fcd0884fa5" /><Relationship Type="http://schemas.openxmlformats.org/officeDocument/2006/relationships/slide" Target="/ppt/slides/slide11.xml" Id="R352450d501cb4065" /><Relationship Type="http://schemas.openxmlformats.org/officeDocument/2006/relationships/slide" Target="/ppt/slides/slide12.xml" Id="R4d7a4f3890984a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50b87c65f344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b3aeb7f0724a3b" /><Relationship Type="http://schemas.openxmlformats.org/officeDocument/2006/relationships/notesMaster" Target="/ppt/notesMasters/notesMaster1.xml" Id="R1db1126fbda240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f024e34a854e24" /><Relationship Type="http://schemas.openxmlformats.org/officeDocument/2006/relationships/notesMaster" Target="/ppt/notesMasters/notesMaster1.xml" Id="R8e0c822679b040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867f402d324f78" /><Relationship Type="http://schemas.openxmlformats.org/officeDocument/2006/relationships/notesMaster" Target="/ppt/notesMasters/notesMaster1.xml" Id="R94e793c9b15048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8fed7268524f03" /><Relationship Type="http://schemas.openxmlformats.org/officeDocument/2006/relationships/notesMaster" Target="/ppt/notesMasters/notesMaster1.xml" Id="Re55f5ce02b7944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d5ac410a0d4a74" /><Relationship Type="http://schemas.openxmlformats.org/officeDocument/2006/relationships/notesMaster" Target="/ppt/notesMasters/notesMaster1.xml" Id="R333f428fe3f5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0c930283944e09" /><Relationship Type="http://schemas.openxmlformats.org/officeDocument/2006/relationships/notesMaster" Target="/ppt/notesMasters/notesMaster1.xml" Id="R7020d71b8b2643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92f8f0e75a417f" /><Relationship Type="http://schemas.openxmlformats.org/officeDocument/2006/relationships/notesMaster" Target="/ppt/notesMasters/notesMaster1.xml" Id="Ra02b8bb3694d4d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c9281fe5b84315" /><Relationship Type="http://schemas.openxmlformats.org/officeDocument/2006/relationships/notesMaster" Target="/ppt/notesMasters/notesMaster1.xml" Id="Rd4da1a1aee334a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2e4b45571b442a" /><Relationship Type="http://schemas.openxmlformats.org/officeDocument/2006/relationships/notesMaster" Target="/ppt/notesMasters/notesMaster1.xml" Id="Rf07681cfac584c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b2e15d1a7742c4" /><Relationship Type="http://schemas.openxmlformats.org/officeDocument/2006/relationships/notesMaster" Target="/ppt/notesMasters/notesMaster1.xml" Id="Rf91a277fd5314a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e0f566f9af4f57" /><Relationship Type="http://schemas.openxmlformats.org/officeDocument/2006/relationships/notesMaster" Target="/ppt/notesMasters/notesMaster1.xml" Id="Rb50bc925140949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60d1f3ef9544ad" /><Relationship Type="http://schemas.openxmlformats.org/officeDocument/2006/relationships/notesMaster" Target="/ppt/notesMasters/notesMaster1.xml" Id="R0a3206f25e8443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1 retained from the user-approved editable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2 retained and extended with the revised twelve-slide sequence.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3 retained from the user-approved editable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6 layout reused. Core-plan wording is an illustrative sample based on the current Gangnam half-day-course concept.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4 retained. Forecast and target values remain labeled as educational dummy values.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5 retained. No new actual peer-region fact was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Existing implementation steps and deliverables were reorganized into a rising execution roadmap. No external asset or new factual claim was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7 retained. Target values remain labeled as educational dummy values.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8 retained. Illustrative budget: 108+60+28+22+14+8=240 million KRW; not a vendor quotation.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9 layout reused and rewritten as a post-pilot continuous operating model.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rules: C:/Users/Admin/mbca/TP2-3/docs/DATA_AND_AI_RULES.md and C:/Users/Admin/mbca/TP2-3/docs/ARCHITECTURE.md. Actual generation must display only the dataset/model/source/AI trace that was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1 layout reused for the close. No external claim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24710bf8b47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bec1454c904933" /><Relationship Type="http://schemas.openxmlformats.org/officeDocument/2006/relationships/slideLayout" Target="/ppt/slideLayouts/slideLayout1.xml" Id="Rd03282a957a44b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3282a957a44b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b6b06090e45ef" /><Relationship Type="http://schemas.openxmlformats.org/officeDocument/2006/relationships/notesSlide" Target="/ppt/notesSlides/notesSlide1.xml" Id="R631c98c451c440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aff3298ad4618" /><Relationship Type="http://schemas.openxmlformats.org/officeDocument/2006/relationships/notesSlide" Target="/ppt/notesSlides/notesSlide2.xml" Id="R47d168c718dc4e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dc558cf7d4539" /><Relationship Type="http://schemas.openxmlformats.org/officeDocument/2006/relationships/image" Target="/ppt/media/image.png" Id="R1c66374b3384401d" /><Relationship Type="http://schemas.openxmlformats.org/officeDocument/2006/relationships/notesSlide" Target="/ppt/notesSlides/notesSlide3.xml" Id="R0fd8125cc3b646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04e3c6f8a46be" /><Relationship Type="http://schemas.openxmlformats.org/officeDocument/2006/relationships/notesSlide" Target="/ppt/notesSlides/notesSlide4.xml" Id="R2577f76397e74d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b89cb34a643bd" /><Relationship Type="http://schemas.openxmlformats.org/officeDocument/2006/relationships/chart" Target="/ppt/slides/charts/chart1.xml" Id="R997153e066e74c25" /><Relationship Type="http://schemas.openxmlformats.org/officeDocument/2006/relationships/chart" Target="/ppt/slides/charts/chart2.xml" Id="R1db40d1e2cdb46b5" /><Relationship Type="http://schemas.openxmlformats.org/officeDocument/2006/relationships/notesSlide" Target="/ppt/notesSlides/notesSlide5.xml" Id="Rb6cfaf9dc41447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b5e4a99f54241" /><Relationship Type="http://schemas.openxmlformats.org/officeDocument/2006/relationships/chart" Target="/ppt/slides/charts/chart3.xml" Id="R8620c16990e642ac" /><Relationship Type="http://schemas.openxmlformats.org/officeDocument/2006/relationships/notesSlide" Target="/ppt/notesSlides/notesSlide6.xml" Id="Rae19ba13691b46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20f9d80964abc" /><Relationship Type="http://schemas.openxmlformats.org/officeDocument/2006/relationships/notesSlide" Target="/ppt/notesSlides/notesSlide7.xml" Id="Re19ffb2497354d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4c49fccaf452b" /><Relationship Type="http://schemas.openxmlformats.org/officeDocument/2006/relationships/notesSlide" Target="/ppt/notesSlides/notesSlide8.xml" Id="R680274ea01b04b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7cee0d23f43d0" /><Relationship Type="http://schemas.openxmlformats.org/officeDocument/2006/relationships/notesSlide" Target="/ppt/notesSlides/notesSlide9.xml" Id="R202a8272c44241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7e6087edf45ef" /><Relationship Type="http://schemas.openxmlformats.org/officeDocument/2006/relationships/notesSlide" Target="/ppt/notesSlides/notesSlide10.xml" Id="Rcdd899e27ca84f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a6dc0749a40a9" /><Relationship Type="http://schemas.openxmlformats.org/officeDocument/2006/relationships/notesSlide" Target="/ppt/notesSlides/notesSlide11.xml" Id="R6cd335e936764a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593ca9efe4675" /><Relationship Type="http://schemas.openxmlformats.org/officeDocument/2006/relationships/notesSlide" Target="/ppt/notesSlides/notesSlide12.xml" Id="R6a03546990004389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방문자 수</c:v>
                </c:pt>
              </c:strCache>
            </c:strRef>
          </c:tx>
          <c:spPr>
            <a:ln xmlns:a="http://schemas.openxmlformats.org/drawingml/2006/main" w="19050">
              <a:solidFill>
                <a:srgbClr val="004EA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04EA2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26.07</c:v>
                </c:pt>
                <c:pt idx="1">
                  <c:v>9월</c:v>
                </c:pt>
                <c:pt idx="2">
                  <c:v>10월</c:v>
                </c:pt>
                <c:pt idx="3">
                  <c:v>11월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1796.3</c:v>
                </c:pt>
                <c:pt idx="1">
                  <c:v>1815</c:v>
                </c:pt>
                <c:pt idx="2">
                  <c:v>1848</c:v>
                </c:pt>
                <c:pt idx="3">
                  <c:v>1873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4EA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관광소비액</c:v>
                </c:pt>
              </c:strCache>
            </c:strRef>
          </c:tx>
          <c:spPr>
            <a:solidFill xmlns:a="http://schemas.openxmlformats.org/drawingml/2006/main">
              <a:srgbClr val="00B7C9"/>
            </a:solidFill>
            <a:ln xmlns:a="http://schemas.openxmlformats.org/drawingml/2006/main" w="19050">
              <a:solidFill>
                <a:srgbClr val="00B7C9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>
                    <a:solidFill>
                      <a:srgbClr val="1B1F2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9월</c:v>
                </c:pt>
                <c:pt idx="1">
                  <c:v>10월</c:v>
                </c:pt>
                <c:pt idx="2">
                  <c:v>11월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4760</c:v>
                </c:pt>
                <c:pt idx="1">
                  <c:v>4910</c:v>
                </c:pt>
                <c:pt idx="2">
                  <c:v>5060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4EA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오프라인 샘플 · Agent 미실행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방문을 지역 소비로 연결하는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2026년 09월 03일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 검토용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API 미호출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2026-09-03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핵심 기획 실행 모델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ML 전망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KPI·측정 기준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견적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지속 운영 방안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oc-0-4-num">
            <a:extLst xmlns:a="http://schemas.openxmlformats.org/drawingml/2006/main">
              <a:ext uri="{FF2B5EF4-FFF2-40B4-BE49-F238E27FC236}">
                <a16:creationId xmlns:a16="http://schemas.microsoft.com/office/drawing/2014/main" id="{02F91E1B-599D-4553-9D03-1D8C841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1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590B7DEF-49B2-4D23-8A8B-1D6A3CF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42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D7C43C6B-AF9A-4000-B6C1-13664E4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8FE51AF2-0D3C-40D0-8E71-F835BA9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DB285E2A-959A-4748-AAA0-B6A1D4B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데이터·AI 근거</a:t>
            </a:r>
          </a:p>
        </p:txBody>
      </p:sp>
      <p:sp>
        <p:nvSpPr>
          <p:cNvPr id="4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1FFFDDA2-F09C-40C0-A3EC-C586F4F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60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A5EB5BCF-344D-4D69-9CC1-EBFB2670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C3A13E9F-EE81-45C2-838B-476389ED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맺음말</a:t>
            </a:r>
          </a:p>
        </p:txBody>
      </p:sp>
      <p:sp>
        <p:nvSpPr>
          <p:cNvPr id="4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CBA3A83D-9A31-40EB-8EE3-21FC8394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6374b3384401d"/>
          <a:srcRect xmlns:a="http://schemas.openxmlformats.org/drawingml/2006/main" l="347" t="0" r="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667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486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이미지: 첨부 템플릿 시각화 · 공식 장소 사진 아님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2417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수요를 체류·소비로 잇는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관광코스를 시범 운영합니다.</a:t>
            </a:r>
            <a:endParaRPr sz="2175" b="1" i="0">
              <a:solidFill>
                <a:srgbClr val="1B1F2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0025"/>
            <a:ext cx="852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명소와 참여 상점을 한 동선으로 묶습니다. 코스 이용과 후속 결제 기록을 확인해, 방문이 지역 소비로 이어지는지 검증합니다.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전년 같은 달 대비 방문 변화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약 8% 감소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05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 기획안을 제안한 이유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예시에서는 방문이 전년 같은 달보다 줄었습니다. 신규 집객만 늘리기보다, 이미 방문한 사람이 지역 안에서 더 이용하고 소비할 수 있는 동선을 시험합니다.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CORE OPERATING MODEL · SAMPLE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관광객 한 번의 방문을 지역 체류와 소비로 연결합니다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01 · 무엇을 만드나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반나절 추천코스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명소·체험·식음·쇼핑을 3~6시간 동선으로 묶고, 모바일 안내에서 순서·운영시간·혜택을 보여줍니다.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02 · 무엇을 준비하나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조건 확정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권역 1곳과 참여처를 정하고, 혜택·정산 기준, 안전·민원 대응, 데이터 제공 역할을 협약합니다.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03 · 어떻게 운영하나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이용에서 결제까지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선택 → 현장 이용 확인 → 참여 상점 결제 → 조건 충족 혜택 제공 순서로 한 번의 방문을 연결합니다.</a:t>
            </a: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04 · 무엇을 기록하나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성과와 개선점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완료, 후속 결제, 체류시간, 건당 비용과 이용자 의견을 주별로 기록해 다음 회차 운영에 반영합니다.</a:t>
            </a: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81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최종적으로 남기는 것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122015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가능한 관광코스 · 참여처 지도 · 모바일 안내 · 운영 매뉴얼 · 주간 성과표 · 다음 회차 개선안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※ 운영 수량과 혜택은 실제 협약·예산 확정 후 조정합니다.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ML FORECAST · DEMO VALUES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28750"/>
            <a:ext cx="1285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향후 3개월 방문자·소비액 ML 전망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757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더미값입니다. 실제 보고서는 2024년 이후 확보한 월별 원자료로 학습한 저장 ML 전망을 사용합니다. 사업의 추가 효과와 자연추세는 구분합니다.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수: 1,815만 명 → 1,873만 명</a:t>
            </a:r>
            <a:endParaRPr sz="1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사업을 하지 않을 때의 자연추세 예시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244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만 명 · 더미값</a:t>
            </a:r>
          </a:p>
        </p:txBody>
      </p:sp>
      <p:sp>
        <p:nvSpPr>
          <p:cNvPr id="20" name="forecast-reading-title">
            <a:extLst xmlns:a="http://schemas.openxmlformats.org/drawingml/2006/main">
              <a:ext uri="{FF2B5EF4-FFF2-40B4-BE49-F238E27FC236}">
                <a16:creationId xmlns:a16="http://schemas.microsoft.com/office/drawing/2014/main" id="{1EED468A-01C8-4F6D-9CB2-67932C2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442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해석할 때 주의할 점</a:t>
            </a:r>
          </a:p>
        </p:txBody>
      </p:sp>
      <p:sp>
        <p:nvSpPr>
          <p:cNvPr id="21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DB356FE-1E33-4CFE-92F2-A52EB3A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4210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예측 증가분은 사업 효과가 아닙니다.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운영 기록과 비교해 추가 변화를 봅니다.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1009650" y="6229350"/>
          <a:ext xmlns:a="http://schemas.openxmlformats.org/drawingml/2006/main" cx="7524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7153e066e74c25"/>
          </a:graphicData>
        </a:graphic>
      </p:graphicFrame>
      <p:sp>
        <p:nvSpPr>
          <p:cNvPr id="23" name="consumption-kicker">
            <a:extLst xmlns:a="http://schemas.openxmlformats.org/drawingml/2006/main">
              <a:ext uri="{FF2B5EF4-FFF2-40B4-BE49-F238E27FC236}">
                <a16:creationId xmlns:a16="http://schemas.microsoft.com/office/drawing/2014/main" id="{FCD36470-B9D8-4ADA-BEDF-FCC2196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TOURISM SPENDING FORECAST</a:t>
            </a:r>
          </a:p>
        </p:txBody>
      </p:sp>
      <p:sp>
        <p:nvSpPr>
          <p:cNvPr id="24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5B3B3740-826D-4442-BB95-F7F2309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24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관광소비액: 4,760억 원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9486900" y="3905250"/>
          <a:ext xmlns:a="http://schemas.openxmlformats.org/drawingml/2006/main" cx="4476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b40d1e2cdb46b5"/>
          </a:graphicData>
        </a:graphic>
      </p:graphicFrame>
      <p:sp>
        <p:nvSpPr>
          <p:cNvPr id="26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6CA0B01A-B738-454D-A615-D2A73D4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505575"/>
            <a:ext cx="4286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단위: 억 원 · 교육용 더미값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생성 시 저장 ML 전망으로 대체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사업 성과는 별도 비교로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306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유사 지역·사례로 검토하는 강남구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3058775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6700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현재 방문 흐름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예시의 전년 동월 대비 방문 변화입니다.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 규모와 지역 내 소비 연결을 함께 확인합니다.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577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샘플 수치 · 실제 비교 자료 아님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577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같은 기준으로 지역 비교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유사 지역의 수치뿐 아니라 운영 비용·참여처·동선을 비교해 강남구에 옮길 수 있는 요소를 고릅니다.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577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샘플에서는 타 지역 우열을 단정하지 않음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577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사례의 작동 방식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사례의 행사명보다 참여 구조·혜택 지급·정산 방식을 봅니다. 운영 근거가 확인된 요소만 가져옵니다.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성과 수치와 현장 조건을 함께 확인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강남구에서 검증할 방식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작은 권역에서 안내·이용·결제를 연결합니다. 이탈 구간과 비용을 기록해 다음 운영안을 결정합니다.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한 권역에서 시범 → 검증 후 확대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76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95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30" name="peer-visit-index">
            <a:extLst xmlns:a="http://schemas.openxmlformats.org/drawingml/2006/main">
              <a:ext uri="{FF2B5EF4-FFF2-40B4-BE49-F238E27FC236}">
                <a16:creationId xmlns:a16="http://schemas.microsoft.com/office/drawing/2014/main" id="{00528A64-C003-44FB-BF9E-0E37119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전년 같은 달 = 100</a:t>
            </a:r>
          </a:p>
        </p:txBody>
      </p:sp>
      <p:sp>
        <p:nvSpPr>
          <p:cNvPr id="35" name="peer-visit-delta">
            <a:extLst xmlns:a="http://schemas.openxmlformats.org/drawingml/2006/main">
              <a:ext uri="{FF2B5EF4-FFF2-40B4-BE49-F238E27FC236}">
                <a16:creationId xmlns:a16="http://schemas.microsoft.com/office/drawing/2014/main" id="{F7AE130C-2B73-4C32-BF6B-F051844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3053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약 8% 감소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 대상을 고를 세 가지 기준</a:t>
            </a:r>
          </a:p>
        </p:txBody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규모   ·   체류·소비   ·   운영 여건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0050"/>
            <a:ext cx="595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기간 · 같은 정의를 먼저 맞춥니다.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체험 콘텐츠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이동 동선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상권 이용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코스 안내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 확인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후속 결제</a:t>
            </a:r>
          </a:p>
        </p:txBody>
      </p:sp>
      <p:graphicFrame>
        <p:nvGraphicFramePr>
          <p:cNvPr id="112" name="peer-visitors-yoy-index"/>
          <p:cNvGraphicFramePr/>
          <p:nvPr/>
        </p:nvGraphicFramePr>
        <p:xfrm>
          <a:off xmlns:a="http://schemas.openxmlformats.org/drawingml/2006/main" x="4095750" y="3590925"/>
          <a:ext xmlns:a="http://schemas.openxmlformats.org/drawingml/2006/main" cx="2857500" cy="657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20c16990e642ac"/>
          </a:graphicData>
        </a:graphic>
      </p:graphicFrame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 · 3~6개월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작게 시작해, 기록으로 다음 운영을 결정합니다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5943600" y="504825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후보 권역·기준선 확정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19575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1곳을 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8401050" y="419100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76DB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577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A"/>
          </a:solidFill>
          <a:ln xmlns:a="http://schemas.openxmlformats.org/drawingml/2006/main" w="0">
            <a:solidFill>
              <a:srgbClr val="176DB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참여처·동선 설계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57825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식음·쇼핑 참여처와 관광 지점을 연결하고 혜택·정산·안전 기준을 확정합니다.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코스 지도·참여 기준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10858500" y="333375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04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solidFill>
              <a:srgbClr val="00B7C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안내·혜택 시범 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62225"/>
            <a:ext cx="238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모바일 안내와 공통 혜택을 열고 참여처 교육과 문의 대응을 시작합니다.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안내 페이지·운영 매뉴얼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2724150"/>
            <a:ext cx="57150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43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solidFill>
              <a:srgbClr val="FF6B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04 · 3~4개월차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257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주간 기록·운영 조정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052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이용·결제·체류·민원을 주간으로 확인하고 동선과 혜택을 조정합니다.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월간 운영 결과표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952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900" b="1">
                <a:solidFill>
                  <a:srgbClr val="7ADBE4"/>
                </a:solidFill>
                <a:latin typeface="Noto Sans KR"/>
                <a:ea typeface="Noto Sans KR"/>
                <a:cs typeface="Noto Sans KR"/>
              </a:rPr>
              <a:t>FINAL OUTPUT</a:t>
            </a:r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0" cy="504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0510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산출물 · 5~6개월차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22479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EAF3FB"/>
                </a:solidFill>
                <a:latin typeface="Noto Sans KR"/>
                <a:ea typeface="Noto Sans KR"/>
                <a:cs typeface="Noto Sans KR"/>
              </a:rPr>
              <a:t>이용·결제 기록, 참여처별 비용, 민원과 개선 의견을 한 장의 결과표로 정리합니다.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EAF3FB"/>
                </a:solidFill>
                <a:latin typeface="Noto Sans KR"/>
                <a:ea typeface="Noto Sans KR"/>
                <a:cs typeface="Noto Sans KR"/>
              </a:rPr>
              <a:t>기준선과 시범 결과를 같은 방식으로 비교해 다음 회차의 유지·보완·확대 범위를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14400"/>
            <a:ext cx="11906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목표 · 자연추세와 운영 목표를 구분합니다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더미값입니다. 실제 수치와 목표는 저장 ML·집행 여건에 따라 결정합니다.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예시 목표 +2%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자연추세와 운영 목표의 배치 예시입니다.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 예시 목표 +3%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관광소비 추세와 운영 목표의 배치 예시입니다.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완료율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예약·이용·결제를 모두 확인한 참여 건을 기준으로 완료율과 민원을 관리합니다.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측정: 예약·입장·결제·민원 기록</a:t>
            </a:r>
          </a:p>
        </p:txBody>
      </p:sp>
      <p:sp>
        <p:nvSpPr>
          <p:cNvPr id="46" name="visit-forecast-bar">
            <a:extLst xmlns:a="http://schemas.openxmlformats.org/drawingml/2006/main">
              <a:ext uri="{FF2B5EF4-FFF2-40B4-BE49-F238E27FC236}">
                <a16:creationId xmlns:a16="http://schemas.microsoft.com/office/drawing/2014/main" id="{7EAE788A-E562-434D-AC49-CD849B5E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81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visit-target-bar">
            <a:extLst xmlns:a="http://schemas.openxmlformats.org/drawingml/2006/main">
              <a:ext uri="{FF2B5EF4-FFF2-40B4-BE49-F238E27FC236}">
                <a16:creationId xmlns:a16="http://schemas.microsoft.com/office/drawing/2014/main" id="{9D78738B-2F2C-452C-B80F-CC489B9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48150"/>
            <a:ext cx="819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50B12863-8786-4034-A890-14F4B6A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1,815만 명</a:t>
            </a:r>
          </a:p>
        </p:txBody>
      </p:sp>
      <p:sp>
        <p:nvSpPr>
          <p:cNvPr id="49" name="visit-target">
            <a:extLst xmlns:a="http://schemas.openxmlformats.org/drawingml/2006/main">
              <a:ext uri="{FF2B5EF4-FFF2-40B4-BE49-F238E27FC236}">
                <a16:creationId xmlns:a16="http://schemas.microsoft.com/office/drawing/2014/main" id="{30BAFE74-EC27-4531-B6DD-98B79F26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338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1,851만 명</a:t>
            </a:r>
          </a:p>
        </p:txBody>
      </p:sp>
      <p:sp>
        <p:nvSpPr>
          <p:cNvPr id="50" name="visit-arrow">
            <a:extLst xmlns:a="http://schemas.openxmlformats.org/drawingml/2006/main">
              <a:ext uri="{FF2B5EF4-FFF2-40B4-BE49-F238E27FC236}">
                <a16:creationId xmlns:a16="http://schemas.microsoft.com/office/drawing/2014/main" id="{28A8A9DD-D353-4D59-83BB-5A64A32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spend-forecast-bar">
            <a:extLst xmlns:a="http://schemas.openxmlformats.org/drawingml/2006/main">
              <a:ext uri="{FF2B5EF4-FFF2-40B4-BE49-F238E27FC236}">
                <a16:creationId xmlns:a16="http://schemas.microsoft.com/office/drawing/2014/main" id="{9F13A2C2-BBB7-4A8F-8B9B-018741C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81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spend-target-bar">
            <a:extLst xmlns:a="http://schemas.openxmlformats.org/drawingml/2006/main">
              <a:ext uri="{FF2B5EF4-FFF2-40B4-BE49-F238E27FC236}">
                <a16:creationId xmlns:a16="http://schemas.microsoft.com/office/drawing/2014/main" id="{E26096D6-3133-437B-953E-A9E0485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8191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BF98D298-373A-4294-99D1-A00ECF9D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052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4,760억 원</a:t>
            </a:r>
          </a:p>
        </p:txBody>
      </p:sp>
      <p:sp>
        <p:nvSpPr>
          <p:cNvPr id="54" name="spend-target">
            <a:extLst xmlns:a="http://schemas.openxmlformats.org/drawingml/2006/main">
              <a:ext uri="{FF2B5EF4-FFF2-40B4-BE49-F238E27FC236}">
                <a16:creationId xmlns:a16="http://schemas.microsoft.com/office/drawing/2014/main" id="{5CF522C7-7887-4EE2-9BF6-55BF0B1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338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4,903억 원</a:t>
            </a:r>
          </a:p>
        </p:txBody>
      </p:sp>
      <p:sp>
        <p:nvSpPr>
          <p:cNvPr id="55" name="spend-arrow">
            <a:extLst xmlns:a="http://schemas.openxmlformats.org/drawingml/2006/main">
              <a:ext uri="{FF2B5EF4-FFF2-40B4-BE49-F238E27FC236}">
                <a16:creationId xmlns:a16="http://schemas.microsoft.com/office/drawing/2014/main" id="{32493DB0-02BB-4272-9572-526BAEF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6" name="foreign-forecast-bar">
            <a:extLst xmlns:a="http://schemas.openxmlformats.org/drawingml/2006/main">
              <a:ext uri="{FF2B5EF4-FFF2-40B4-BE49-F238E27FC236}">
                <a16:creationId xmlns:a16="http://schemas.microsoft.com/office/drawing/2014/main" id="{2DE1DBAA-9C91-4923-A9C6-E608902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foreign-target-bar">
            <a:extLst xmlns:a="http://schemas.openxmlformats.org/drawingml/2006/main">
              <a:ext uri="{FF2B5EF4-FFF2-40B4-BE49-F238E27FC236}">
                <a16:creationId xmlns:a16="http://schemas.microsoft.com/office/drawing/2014/main" id="{778E10A6-2AC7-4CF8-BF38-C7790D8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foreign-forecast">
            <a:extLst xmlns:a="http://schemas.openxmlformats.org/drawingml/2006/main">
              <a:ext uri="{FF2B5EF4-FFF2-40B4-BE49-F238E27FC236}">
                <a16:creationId xmlns:a16="http://schemas.microsoft.com/office/drawing/2014/main" id="{09F54D75-4425-47AB-9B00-EFDA46E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276725"/>
            <a:ext cx="1762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기준선 확정</a:t>
            </a:r>
          </a:p>
        </p:txBody>
      </p:sp>
      <p:sp>
        <p:nvSpPr>
          <p:cNvPr id="59" name="foreign-target">
            <a:extLst xmlns:a="http://schemas.openxmlformats.org/drawingml/2006/main">
              <a:ext uri="{FF2B5EF4-FFF2-40B4-BE49-F238E27FC236}">
                <a16:creationId xmlns:a16="http://schemas.microsoft.com/office/drawing/2014/main" id="{66CB0B58-B33B-4150-9904-FA24C37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276725"/>
            <a:ext cx="2047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확인</a:t>
            </a:r>
          </a:p>
        </p:txBody>
      </p:sp>
      <p:sp>
        <p:nvSpPr>
          <p:cNvPr id="60" name="foreign-arrow">
            <a:extLst xmlns:a="http://schemas.openxmlformats.org/drawingml/2006/main">
              <a:ext uri="{FF2B5EF4-FFF2-40B4-BE49-F238E27FC236}">
                <a16:creationId xmlns:a16="http://schemas.microsoft.com/office/drawing/2014/main" id="{DC5BC4F7-29C7-4FA1-9677-A81C0CF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BUDGET ESTIMATE · SAMPLE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7915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견적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90825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6개월 시범을 가정한 예시입니다. 운영 권역·기간·참여처·혜택 단가를 정한 뒤 비교견적으로 확정합니다.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95750"/>
            <a:ext cx="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산출 기준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6572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① 운영일수 × 현장 인력·안전 단가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② 참여 건수 × 혜택 단가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③ 예약·결제·데이터 연동 구축비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④ 홍보·평가비 + 예비비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3410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확정 절차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055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범위 확정 → 3개 이상 비교견적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865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계약·정산 조건 확인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134100"/>
            <a:ext cx="3219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금액 조정 기준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505575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수량·혜택 단가 반영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886575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부가세·예비비 포함 여부 확인</a:t>
            </a:r>
          </a:p>
        </p:txBody>
      </p:sp>
      <p:sp>
        <p:nvSpPr>
          <p:cNvPr id="20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4B7C0E87-B747-49E5-9D6E-7928854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6개월 시범 예시 견적  |  총 2억 4,000만 원</a:t>
            </a:r>
          </a:p>
        </p:txBody>
      </p:sp>
      <p:graphicFrame>
        <p:nvGraphicFramePr>
          <p:cNvPr id="40" name="표 42"/>
          <p:cNvGraphicFramePr/>
          <p:nvPr/>
        </p:nvGraphicFramePr>
        <p:xfrm>
          <a:off xmlns:a="http://schemas.openxmlformats.org/drawingml/2006/main" x="8877300" y="2295525"/>
          <a:ext xmlns:a="http://schemas.openxmlformats.org/drawingml/2006/main" cx="5619750" cy="4648200"/>
        </p:xfrm>
        <a:graphic xmlns:a="http://schemas.openxmlformats.org/drawingml/2006/main">
          <a:graphicData uri="http://schemas.openxmlformats.org/drawingml/2006/table">
            <a:tbl>
              <a:tblPr firstRow="0" firstCol="1" lastRow="0" bandRow="0"/>
              <a:tblGrid>
                <a:gridCol w="2686050"/>
                <a:gridCol w="1028700"/>
                <a:gridCol w="1905000"/>
              </a:tblGrid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세부 항목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비중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예산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프로그램 운영·안전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1억 800만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참여 혜택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예약·결제 연동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홍보·다국어 콘텐츠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성과 측정·검토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예비비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500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2억 4,000만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</a:tr>
            </a:tbl>
          </a:graphicData>
        </a:graphic>
      </p:graphicFrame>
      <p:sp>
        <p:nvSpPr>
          <p:cNvPr id="22" name="budget-table-note">
            <a:extLst xmlns:a="http://schemas.openxmlformats.org/drawingml/2006/main">
              <a:ext uri="{FF2B5EF4-FFF2-40B4-BE49-F238E27FC236}">
                <a16:creationId xmlns:a16="http://schemas.microsoft.com/office/drawing/2014/main" id="{93D0AAD8-9B43-408B-B46B-CE7F4F0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229475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예시 견적이며 확정 금액이 아닙니다.</a:t>
            </a:r>
          </a:p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계약 전 운영 범위·단가·부가세·정산 조건을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12192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종료 후에도 데이터로 코스를 계속 개선합니다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매월 운영 점검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95775"/>
            <a:ext cx="3533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코스 완료·결제·체류시간·민원을 같은 기준으로 기록합니다. 이탈 구간은 다음 달 동선·혜택에 바로 반영합니다.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운영지표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체류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협약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003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분기별 코스 보완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36480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성과가 낮은 구간은 동선·운영시간·혜택을 조정합니다. 확인된 범위에서만 참여처와 운영일을 늘립니다.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657850"/>
            <a:ext cx="3648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분기마다 코스와 참여처 운영안을 갱신합니다.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6294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분기 산출물 · 개편 코스·운영안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계절·대상별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4048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기본 코스의 운영 기준을 유지한 채 계절 행사, 외국인 안내, 숙박 연계를 단계적으로 추가합니다. 신규 권역은 별도 기준선을 만든 뒤 시험합니다.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8162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운영 원칙 · 작게 시작 → 매월 개선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6294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연간 산출물 · 다음 연도 운영계획·예산안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008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산출물 · 운영 현황표·개선 목록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원인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개선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433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확인하고 수정합니다.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5790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기본 코스 → 계절 행사 → 외국인·숙박 연계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306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근거·데이터·AI 활용 내역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3058775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6700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원자료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7662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한국관광 데이터랩과 허용 Open API의 지역별 월간 방문·소비 지표를 사용합니다. 지역코드·기준월·지표 정의를 함께 저장합니다.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지표명 · 기준월 · 지역코드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01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머신러닝 전망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7662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확보한 월별 데이터를 시간순으로 학습·검증합니다. 계절 기준 모델보다 나은 전망만 사용하고 모델 버전을 남깁니다.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학습기간 · 모델명 · MAE/RMSE · 버전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01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사례·웹검색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20077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문화체육관광부·한국관광공사·지자체 등 공식 원문을 우선 확인합니다. 운영 방식과 강남 적용 차이를 출처와 함께 기록합니다.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5342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기관 · 문서명 · URL · 확인일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5342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AI 작성·검수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0077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실행 이력에 사용한 로컬 LLM·OpenAI 단계만 표시합니다. 관측 사실, ML 전망, 전략 제안을 서로 분리해 검수합니다.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342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모델 · 단계 · 근거 연결 · 검수 결과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5342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432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TOURISM STRATEGY · NEXT STEP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검증하고,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권역 · 운영기간 · 예산 범위 확정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[담당부서 / 담당자]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NEXT STEP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조건 확정 및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참여처 협약 착수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2026-09-04T03:33:21.1740000Z</dcterms:created>
  <dcterms:modified xsi:type="dcterms:W3CDTF">2026-09-04T03:33:21.1740000Z</dcterms:modified>
</coreProperties>
</file>