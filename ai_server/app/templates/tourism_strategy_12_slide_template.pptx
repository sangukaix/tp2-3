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9acad3462d47f4" /><Relationship Type="http://schemas.openxmlformats.org/officeDocument/2006/relationships/extended-properties" Target="/docProps/app.xml" Id="Ra16f1779ee944664" /><Relationship Type="http://schemas.openxmlformats.org/officeDocument/2006/relationships/officeDocument" Target="/ppt/presentation.xml" Id="R45c0ced956484f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f75127518841e9"/>
  </p:sldMasterIdLst>
  <p:notesMasterIdLst>
    <p:notesMasterId xmlns:r="http://schemas.openxmlformats.org/officeDocument/2006/relationships" r:id="R39a2950bce3543d9"/>
  </p:notesMasterIdLst>
  <p:sldIdLst>
    <p:sldId xmlns:r="http://schemas.openxmlformats.org/officeDocument/2006/relationships" id="256" r:id="R886a7c7854c24ea4"/>
    <p:sldId xmlns:r="http://schemas.openxmlformats.org/officeDocument/2006/relationships" id="257" r:id="Rf0fd60d93fe24e2b"/>
    <p:sldId xmlns:r="http://schemas.openxmlformats.org/officeDocument/2006/relationships" id="258" r:id="Rb96b5134fc1b4629"/>
    <p:sldId xmlns:r="http://schemas.openxmlformats.org/officeDocument/2006/relationships" id="259" r:id="R5b6702ccd7664af1"/>
    <p:sldId xmlns:r="http://schemas.openxmlformats.org/officeDocument/2006/relationships" id="260" r:id="R7a735fe575034424"/>
    <p:sldId xmlns:r="http://schemas.openxmlformats.org/officeDocument/2006/relationships" id="261" r:id="Rbf371966fa964fc8"/>
    <p:sldId xmlns:r="http://schemas.openxmlformats.org/officeDocument/2006/relationships" id="262" r:id="R4c9d0e3030fa4c5f"/>
    <p:sldId xmlns:r="http://schemas.openxmlformats.org/officeDocument/2006/relationships" id="263" r:id="Rbbe47957bc6641c0"/>
    <p:sldId xmlns:r="http://schemas.openxmlformats.org/officeDocument/2006/relationships" id="264" r:id="R72f63d3229d64861"/>
    <p:sldId xmlns:r="http://schemas.openxmlformats.org/officeDocument/2006/relationships" id="265" r:id="R270f215da2344ea4"/>
    <p:sldId xmlns:r="http://schemas.openxmlformats.org/officeDocument/2006/relationships" id="266" r:id="R029df0519ade4c8b"/>
    <p:sldId xmlns:r="http://schemas.openxmlformats.org/officeDocument/2006/relationships" id="267" r:id="R3ccf286ad037494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8d7671ebe14b00" /><Relationship Type="http://schemas.openxmlformats.org/officeDocument/2006/relationships/slideMaster" Target="/ppt/slideMasters/slideMaster1.xml" Id="Rdef75127518841e9" /><Relationship Type="http://schemas.openxmlformats.org/officeDocument/2006/relationships/notesMaster" Target="/ppt/notesMasters/notesMaster1.xml" Id="R39a2950bce3543d9" /><Relationship Type="http://schemas.openxmlformats.org/officeDocument/2006/relationships/presProps" Target="/ppt/presProps.xml" Id="R667c03bfc37b4314" /><Relationship Type="http://schemas.openxmlformats.org/officeDocument/2006/relationships/viewProps" Target="/ppt/viewProps.xml" Id="R0fdc956208c94083" /><Relationship Type="http://schemas.openxmlformats.org/officeDocument/2006/relationships/tableStyles" Target="/ppt/tableStyles.xml" Id="R08a84642cb64493b" /><Relationship Type="http://schemas.openxmlformats.org/officeDocument/2006/relationships/slide" Target="/ppt/slides/slide1.xml" Id="R886a7c7854c24ea4" /><Relationship Type="http://schemas.openxmlformats.org/officeDocument/2006/relationships/slide" Target="/ppt/slides/slide2.xml" Id="Rf0fd60d93fe24e2b" /><Relationship Type="http://schemas.openxmlformats.org/officeDocument/2006/relationships/slide" Target="/ppt/slides/slide3.xml" Id="Rb96b5134fc1b4629" /><Relationship Type="http://schemas.openxmlformats.org/officeDocument/2006/relationships/slide" Target="/ppt/slides/slide4.xml" Id="R5b6702ccd7664af1" /><Relationship Type="http://schemas.openxmlformats.org/officeDocument/2006/relationships/slide" Target="/ppt/slides/slide5.xml" Id="R7a735fe575034424" /><Relationship Type="http://schemas.openxmlformats.org/officeDocument/2006/relationships/slide" Target="/ppt/slides/slide6.xml" Id="Rbf371966fa964fc8" /><Relationship Type="http://schemas.openxmlformats.org/officeDocument/2006/relationships/slide" Target="/ppt/slides/slide7.xml" Id="R4c9d0e3030fa4c5f" /><Relationship Type="http://schemas.openxmlformats.org/officeDocument/2006/relationships/slide" Target="/ppt/slides/slide8.xml" Id="Rbbe47957bc6641c0" /><Relationship Type="http://schemas.openxmlformats.org/officeDocument/2006/relationships/slide" Target="/ppt/slides/slide9.xml" Id="R72f63d3229d64861" /><Relationship Type="http://schemas.openxmlformats.org/officeDocument/2006/relationships/slide" Target="/ppt/slides/slide10.xml" Id="R270f215da2344ea4" /><Relationship Type="http://schemas.openxmlformats.org/officeDocument/2006/relationships/slide" Target="/ppt/slides/slide11.xml" Id="R029df0519ade4c8b" /><Relationship Type="http://schemas.openxmlformats.org/officeDocument/2006/relationships/slide" Target="/ppt/slides/slide12.xml" Id="R3ccf286ad03749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21e18921444c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f0191c0919446c" /><Relationship Type="http://schemas.openxmlformats.org/officeDocument/2006/relationships/notesMaster" Target="/ppt/notesMasters/notesMaster1.xml" Id="R24ae6f84cfdd42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1d388ffb344ce3" /><Relationship Type="http://schemas.openxmlformats.org/officeDocument/2006/relationships/notesMaster" Target="/ppt/notesMasters/notesMaster1.xml" Id="Ra78cbacf853a4d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3025fa502d4be3" /><Relationship Type="http://schemas.openxmlformats.org/officeDocument/2006/relationships/notesMaster" Target="/ppt/notesMasters/notesMaster1.xml" Id="R3ac37f364ddb4b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f52324b55d4359" /><Relationship Type="http://schemas.openxmlformats.org/officeDocument/2006/relationships/notesMaster" Target="/ppt/notesMasters/notesMaster1.xml" Id="Rc24a4727af3340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878d3c3cce434c" /><Relationship Type="http://schemas.openxmlformats.org/officeDocument/2006/relationships/notesMaster" Target="/ppt/notesMasters/notesMaster1.xml" Id="R75abab3d5c0a48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673709257246ec" /><Relationship Type="http://schemas.openxmlformats.org/officeDocument/2006/relationships/notesMaster" Target="/ppt/notesMasters/notesMaster1.xml" Id="R8a8db54fee0348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a20545e0fc4e86" /><Relationship Type="http://schemas.openxmlformats.org/officeDocument/2006/relationships/notesMaster" Target="/ppt/notesMasters/notesMaster1.xml" Id="Rfa2c23df5fe342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37972f86794e31" /><Relationship Type="http://schemas.openxmlformats.org/officeDocument/2006/relationships/notesMaster" Target="/ppt/notesMasters/notesMaster1.xml" Id="Ree8343e0b08c42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bc773065c84609" /><Relationship Type="http://schemas.openxmlformats.org/officeDocument/2006/relationships/notesMaster" Target="/ppt/notesMasters/notesMaster1.xml" Id="Re2513d2c2a0348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e850e0ab3a4c91" /><Relationship Type="http://schemas.openxmlformats.org/officeDocument/2006/relationships/notesMaster" Target="/ppt/notesMasters/notesMaster1.xml" Id="Re53ce02560ec4f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d8aadeedb5427e" /><Relationship Type="http://schemas.openxmlformats.org/officeDocument/2006/relationships/notesMaster" Target="/ppt/notesMasters/notesMaster1.xml" Id="Rbec1f386e4f647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0bca06bbea4ea5" /><Relationship Type="http://schemas.openxmlformats.org/officeDocument/2006/relationships/notesMaster" Target="/ppt/notesMasters/notesMaster1.xml" Id="Rd1e7cf7dd16341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1 retained from the user-approved editable deck.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2 retained and extended with the revised twelve-slide sequence.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3 retained from the user-approved editable deck.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6 layout reused. Core-plan wording is an illustrative sample based on the current Gangnam half-day-course concept.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4 retained. Forecast and target values remain labeled as educational dummy values.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5 retained. No new actual peer-region fact was introduced.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Existing implementation steps and deliverables were reorganized into a rising execution roadmap. No external asset or new factual claim was introduced.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7 retained. Target values remain labeled as educational dummy values.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8 retained. Illustrative budget: 108+60+28+22+14+8=240 million KRW; not a vendor quotation.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9 layout reused and rewritten as a post-pilot continuous operating model.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rules: C:/Users/Admin/mbca/TP2-3/docs/DATA_AND_AI_RULES.md and C:/Users/Admin/mbca/TP2-3/docs/ARCHITECTURE.md. Actual generation must display only the dataset/model/source/AI trace that was 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1 layout reused for the close. No external claim introduced.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a5f6510e4e49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3d06999bd7418f" /><Relationship Type="http://schemas.openxmlformats.org/officeDocument/2006/relationships/slideLayout" Target="/ppt/slideLayouts/slideLayout1.xml" Id="R032212eb627044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2212eb627044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d442cc9394c75" /><Relationship Type="http://schemas.openxmlformats.org/officeDocument/2006/relationships/notesSlide" Target="/ppt/notesSlides/notesSlide1.xml" Id="R23aa0b3f3fe84a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b7c120e7d4793" /><Relationship Type="http://schemas.openxmlformats.org/officeDocument/2006/relationships/notesSlide" Target="/ppt/notesSlides/notesSlide2.xml" Id="Ra91e1cfda5554f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fe741e78644e3" /><Relationship Type="http://schemas.openxmlformats.org/officeDocument/2006/relationships/image" Target="/ppt/media/image.png" Id="Re0802ea4bb724ca1" /><Relationship Type="http://schemas.openxmlformats.org/officeDocument/2006/relationships/notesSlide" Target="/ppt/notesSlides/notesSlide3.xml" Id="R9925e0cf7f4b4a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ce5977e6c41d3" /><Relationship Type="http://schemas.openxmlformats.org/officeDocument/2006/relationships/notesSlide" Target="/ppt/notesSlides/notesSlide4.xml" Id="Reab760d5cc7545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8f6e0b0904a5a" /><Relationship Type="http://schemas.openxmlformats.org/officeDocument/2006/relationships/chart" Target="/ppt/slides/charts/chart1.xml" Id="R07faa7af13f94f8d" /><Relationship Type="http://schemas.openxmlformats.org/officeDocument/2006/relationships/chart" Target="/ppt/slides/charts/chart2.xml" Id="R506628f95068476b" /><Relationship Type="http://schemas.openxmlformats.org/officeDocument/2006/relationships/notesSlide" Target="/ppt/notesSlides/notesSlide5.xml" Id="R8b5bd3ad70a047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25c991d43491c" /><Relationship Type="http://schemas.openxmlformats.org/officeDocument/2006/relationships/chart" Target="/ppt/slides/charts/chart3.xml" Id="R08a1a66771e34c37" /><Relationship Type="http://schemas.openxmlformats.org/officeDocument/2006/relationships/notesSlide" Target="/ppt/notesSlides/notesSlide6.xml" Id="Rf95ef34647d642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77a48420b4e2a" /><Relationship Type="http://schemas.openxmlformats.org/officeDocument/2006/relationships/notesSlide" Target="/ppt/notesSlides/notesSlide7.xml" Id="R41faa7af3ee946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2205ec88f49e3" /><Relationship Type="http://schemas.openxmlformats.org/officeDocument/2006/relationships/notesSlide" Target="/ppt/notesSlides/notesSlide8.xml" Id="Rb37c049fb3e949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a3d71d95d4e4d" /><Relationship Type="http://schemas.openxmlformats.org/officeDocument/2006/relationships/notesSlide" Target="/ppt/notesSlides/notesSlide9.xml" Id="R724bd060d32142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d0071495e48e4" /><Relationship Type="http://schemas.openxmlformats.org/officeDocument/2006/relationships/notesSlide" Target="/ppt/notesSlides/notesSlide10.xml" Id="Rc6898d145a4240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b0fa3c5764ae2" /><Relationship Type="http://schemas.openxmlformats.org/officeDocument/2006/relationships/notesSlide" Target="/ppt/notesSlides/notesSlide11.xml" Id="R57a3c6d1d032454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7c5de0f064511" /><Relationship Type="http://schemas.openxmlformats.org/officeDocument/2006/relationships/notesSlide" Target="/ppt/notesSlides/notesSlide12.xml" Id="R9f79db7a81fa4a26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방문자 수</c:v>
                </c:pt>
              </c:strCache>
            </c:strRef>
          </c:tx>
          <c:spPr>
            <a:ln xmlns:a="http://schemas.openxmlformats.org/drawingml/2006/main" w="19050">
              <a:solidFill>
                <a:srgbClr val="004EA2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FFFF"/>
              </a:solidFill>
            </c:spPr>
          </c:marke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 b="1">
                    <a:solidFill>
                      <a:srgbClr val="004EA2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26.07</c:v>
                </c:pt>
                <c:pt idx="1">
                  <c:v>9월</c:v>
                </c:pt>
                <c:pt idx="2">
                  <c:v>10월</c:v>
                </c:pt>
                <c:pt idx="3">
                  <c:v>11월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1796.3</c:v>
                </c:pt>
                <c:pt idx="1">
                  <c:v>1815</c:v>
                </c:pt>
                <c:pt idx="2">
                  <c:v>1848</c:v>
                </c:pt>
                <c:pt idx="3">
                  <c:v>1873</c:v>
                </c:pt>
              </c:numCache>
            </c:numRef>
          </c:val>
          <c:smooth val="1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004EA2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36E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5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36E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관광소비액</c:v>
                </c:pt>
              </c:strCache>
            </c:strRef>
          </c:tx>
          <c:spPr>
            <a:solidFill xmlns:a="http://schemas.openxmlformats.org/drawingml/2006/main">
              <a:srgbClr val="00B7C9"/>
            </a:solidFill>
            <a:ln xmlns:a="http://schemas.openxmlformats.org/drawingml/2006/main" w="19050">
              <a:solidFill>
                <a:srgbClr val="00B7C9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1">
                    <a:solidFill>
                      <a:srgbClr val="1B1F2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9월</c:v>
                </c:pt>
                <c:pt idx="1">
                  <c:v>10월</c:v>
                </c:pt>
                <c:pt idx="2">
                  <c:v>11월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4760</c:v>
                </c:pt>
                <c:pt idx="1">
                  <c:v>4910</c:v>
                </c:pt>
                <c:pt idx="2">
                  <c:v>5060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004EA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36E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5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36E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방문 지수</c:v>
          </c:tx>
          <c:spPr>
            <a:solidFill xmlns:a="http://schemas.openxmlformats.org/drawingml/2006/main">
              <a:srgbClr val="004EA2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FD0E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04EA2"/>
              </a:solidFill>
            </c:spPr>
          </c:dPt>
          <c:cat>
            <c:strLit>
              <c:ptCount val="2"/>
              <c:pt idx="0">
                <c:v>전년</c:v>
              </c:pt>
              <c:pt idx="1">
                <c:v>현재</c:v>
              </c:pt>
            </c:strLit>
          </c:cat>
          <c:val>
            <c:numLit>
              <c:formatCode>General</c:formatCode>
              <c:ptCount val="2"/>
              <c:pt idx="0">
                <c:v>100</c:v>
              </c:pt>
              <c:pt idx="1">
                <c:v>91.7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432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오프라인 샘플 · Agent 미실행</a:t>
            </a:r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방문을 지역 소비로 연결하는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410075"/>
            <a:ext cx="6924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반나절 관광코스 실행 기획안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340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2026년 09월 03일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009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rg-owner">
            <a:extLst xmlns:a="http://schemas.openxmlformats.org/drawingml/2006/main"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15811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샘플 검토용</a:t>
            </a:r>
          </a:p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API 미호출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91C450AB-B31C-4B87-BDB0-6281DF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3514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보고서 출력일 2026-09-03</a:t>
            </a:r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강남구 관광 활성화</a:t>
            </a:r>
          </a:p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실행안</a:t>
            </a:r>
            <a:endParaRPr sz="315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brand">
            <a:extLst xmlns:a="http://schemas.openxmlformats.org/drawingml/2006/main">
              <a:ext uri="{FF2B5EF4-FFF2-40B4-BE49-F238E27FC236}">
                <a16:creationId xmlns:a16="http://schemas.microsoft.com/office/drawing/2014/main" id="{BC511F59-C000-4ABE-8C07-97806516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 관광 전략기획안</a:t>
            </a:r>
          </a:p>
        </p:txBody>
      </p:sp>
      <p:sp>
        <p:nvSpPr>
          <p:cNvPr id="2" name="top-date">
            <a:extLst xmlns:a="http://schemas.openxmlformats.org/drawingml/2006/main">
              <a:ext uri="{FF2B5EF4-FFF2-40B4-BE49-F238E27FC236}">
                <a16:creationId xmlns:a16="http://schemas.microsoft.com/office/drawing/2014/main" id="{B2EA0AA8-9451-4577-B2DB-64FEA4AE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23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2026. 09. 03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578AD546-B3C6-4345-964E-CA38D80C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1518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ntents-rail">
            <a:extLst xmlns:a="http://schemas.openxmlformats.org/drawingml/2006/main">
              <a:ext uri="{FF2B5EF4-FFF2-40B4-BE49-F238E27FC236}">
                <a16:creationId xmlns:a16="http://schemas.microsoft.com/office/drawing/2014/main" id="{7FA9108D-F5FC-4EF8-882D-8BF062FD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4810125" cy="759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contents-vertical">
            <a:extLst xmlns:a="http://schemas.openxmlformats.org/drawingml/2006/main">
              <a:ext uri="{FF2B5EF4-FFF2-40B4-BE49-F238E27FC236}">
                <a16:creationId xmlns:a16="http://schemas.microsoft.com/office/drawing/2014/main" id="{8A649E8C-B469-49E6-9B71-2587FA31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866775" y="4162425"/>
            <a:ext cx="676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defRPr>
            </a:pPr>
            <a:r>
              <a: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rPr>
              <a:t>CONTENTS</a:t>
            </a:r>
          </a:p>
        </p:txBody>
      </p:sp>
      <p:sp>
        <p:nvSpPr>
          <p:cNvPr id="6" name="contents-en">
            <a:extLst xmlns:a="http://schemas.openxmlformats.org/drawingml/2006/main">
              <a:ext uri="{FF2B5EF4-FFF2-40B4-BE49-F238E27FC236}">
                <a16:creationId xmlns:a16="http://schemas.microsoft.com/office/drawing/2014/main" id="{A4545508-3408-4837-8886-DBD8CE26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95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TABLE OF CONTENTS</a:t>
            </a:r>
          </a:p>
        </p:txBody>
      </p:sp>
      <p:sp>
        <p:nvSpPr>
          <p:cNvPr id="7" name="contents-ko">
            <a:extLst xmlns:a="http://schemas.openxmlformats.org/drawingml/2006/main">
              <a:ext uri="{FF2B5EF4-FFF2-40B4-BE49-F238E27FC236}">
                <a16:creationId xmlns:a16="http://schemas.microsoft.com/office/drawing/2014/main" id="{99A460E5-8765-444E-944E-1A8069AB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0057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목차 안내</a:t>
            </a:r>
          </a:p>
        </p:txBody>
      </p:sp>
      <p:sp>
        <p:nvSpPr>
          <p:cNvPr id="8" name="contents-orange">
            <a:extLst xmlns:a="http://schemas.openxmlformats.org/drawingml/2006/main">
              <a:ext uri="{FF2B5EF4-FFF2-40B4-BE49-F238E27FC236}">
                <a16:creationId xmlns:a16="http://schemas.microsoft.com/office/drawing/2014/main" id="{D5323B82-A54D-47BA-8350-BCD7E58D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816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oc-0-0-num">
            <a:extLst xmlns:a="http://schemas.openxmlformats.org/drawingml/2006/main">
              <a:ext uri="{FF2B5EF4-FFF2-40B4-BE49-F238E27FC236}">
                <a16:creationId xmlns:a16="http://schemas.microsoft.com/office/drawing/2014/main" id="{9A4D7DD5-B7C1-4FE0-B663-1C335B73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48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toc-0-0-label">
            <a:extLst xmlns:a="http://schemas.openxmlformats.org/drawingml/2006/main">
              <a:ext uri="{FF2B5EF4-FFF2-40B4-BE49-F238E27FC236}">
                <a16:creationId xmlns:a16="http://schemas.microsoft.com/office/drawing/2014/main" id="{F2F2D109-397D-42C2-AF7E-720371CC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프로젝트 개요</a:t>
            </a:r>
            <a:endParaRPr sz="1500" b="1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toc-0-0-rule">
            <a:extLst xmlns:a="http://schemas.openxmlformats.org/drawingml/2006/main">
              <a:ext uri="{FF2B5EF4-FFF2-40B4-BE49-F238E27FC236}">
                <a16:creationId xmlns:a16="http://schemas.microsoft.com/office/drawing/2014/main" id="{7A9B4322-D952-4704-8A34-AFE4DB84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385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oc-0-1-num">
            <a:extLst xmlns:a="http://schemas.openxmlformats.org/drawingml/2006/main">
              <a:ext uri="{FF2B5EF4-FFF2-40B4-BE49-F238E27FC236}">
                <a16:creationId xmlns:a16="http://schemas.microsoft.com/office/drawing/2014/main" id="{BB7EB441-7049-4AEE-B4A6-EB8A8907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671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toc-0-1-label">
            <a:extLst xmlns:a="http://schemas.openxmlformats.org/drawingml/2006/main">
              <a:ext uri="{FF2B5EF4-FFF2-40B4-BE49-F238E27FC236}">
                <a16:creationId xmlns:a16="http://schemas.microsoft.com/office/drawing/2014/main" id="{A858F0DB-1B50-472E-BCED-A95D8FDF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671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핵심 기획 실행 모델</a:t>
            </a:r>
          </a:p>
        </p:txBody>
      </p:sp>
      <p:sp>
        <p:nvSpPr>
          <p:cNvPr id="14" name="toc-0-1-rule">
            <a:extLst xmlns:a="http://schemas.openxmlformats.org/drawingml/2006/main">
              <a:ext uri="{FF2B5EF4-FFF2-40B4-BE49-F238E27FC236}">
                <a16:creationId xmlns:a16="http://schemas.microsoft.com/office/drawing/2014/main" id="{8BB674AB-E001-4E54-9B2D-138021E3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4577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oc-0-2-num">
            <a:extLst xmlns:a="http://schemas.openxmlformats.org/drawingml/2006/main">
              <a:ext uri="{FF2B5EF4-FFF2-40B4-BE49-F238E27FC236}">
                <a16:creationId xmlns:a16="http://schemas.microsoft.com/office/drawing/2014/main" id="{2A73ED54-5EB7-481A-AA22-31B5FA78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863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toc-0-2-label">
            <a:extLst xmlns:a="http://schemas.openxmlformats.org/drawingml/2006/main">
              <a:ext uri="{FF2B5EF4-FFF2-40B4-BE49-F238E27FC236}">
                <a16:creationId xmlns:a16="http://schemas.microsoft.com/office/drawing/2014/main" id="{49778DA9-2C34-4F19-86EC-61157A1D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86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방문자·소비액 ML 전망</a:t>
            </a:r>
          </a:p>
        </p:txBody>
      </p:sp>
      <p:sp>
        <p:nvSpPr>
          <p:cNvPr id="17" name="toc-0-2-rule">
            <a:extLst xmlns:a="http://schemas.openxmlformats.org/drawingml/2006/main">
              <a:ext uri="{FF2B5EF4-FFF2-40B4-BE49-F238E27FC236}">
                <a16:creationId xmlns:a16="http://schemas.microsoft.com/office/drawing/2014/main" id="{1EE5059E-9C45-4D3E-B828-82D1F098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2768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oc-0-3-num">
            <a:extLst xmlns:a="http://schemas.openxmlformats.org/drawingml/2006/main">
              <a:ext uri="{FF2B5EF4-FFF2-40B4-BE49-F238E27FC236}">
                <a16:creationId xmlns:a16="http://schemas.microsoft.com/office/drawing/2014/main" id="{09D69393-9477-46BB-9754-B3834388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5054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9" name="toc-0-3-label">
            <a:extLst xmlns:a="http://schemas.openxmlformats.org/drawingml/2006/main">
              <a:ext uri="{FF2B5EF4-FFF2-40B4-BE49-F238E27FC236}">
                <a16:creationId xmlns:a16="http://schemas.microsoft.com/office/drawing/2014/main" id="{E1D92E25-FA72-4D2D-83BA-E4E956D7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0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유사 지역·사례 비교</a:t>
            </a:r>
          </a:p>
        </p:txBody>
      </p:sp>
      <p:sp>
        <p:nvSpPr>
          <p:cNvPr id="20" name="toc-0-3-rule">
            <a:extLst xmlns:a="http://schemas.openxmlformats.org/drawingml/2006/main">
              <a:ext uri="{FF2B5EF4-FFF2-40B4-BE49-F238E27FC236}">
                <a16:creationId xmlns:a16="http://schemas.microsoft.com/office/drawing/2014/main" id="{978F3F46-82E5-4C13-B76B-BB791D14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0960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oc-1-0-num">
            <a:extLst xmlns:a="http://schemas.openxmlformats.org/drawingml/2006/main">
              <a:ext uri="{FF2B5EF4-FFF2-40B4-BE49-F238E27FC236}">
                <a16:creationId xmlns:a16="http://schemas.microsoft.com/office/drawing/2014/main" id="{CF8AF870-2DD7-4DF0-935E-A7B18F51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48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5" name="toc-1-0-label">
            <a:extLst xmlns:a="http://schemas.openxmlformats.org/drawingml/2006/main">
              <a:ext uri="{FF2B5EF4-FFF2-40B4-BE49-F238E27FC236}">
                <a16:creationId xmlns:a16="http://schemas.microsoft.com/office/drawing/2014/main" id="{BD4D99A2-3331-4C55-B657-C250B681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시범 KPI·측정 기준</a:t>
            </a:r>
          </a:p>
        </p:txBody>
      </p:sp>
      <p:sp>
        <p:nvSpPr>
          <p:cNvPr id="26" name="toc-1-0-rule">
            <a:extLst xmlns:a="http://schemas.openxmlformats.org/drawingml/2006/main">
              <a:ext uri="{FF2B5EF4-FFF2-40B4-BE49-F238E27FC236}">
                <a16:creationId xmlns:a16="http://schemas.microsoft.com/office/drawing/2014/main" id="{F1965004-3508-48E4-8EAB-5E1F64F0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385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oc-1-1-num">
            <a:extLst xmlns:a="http://schemas.openxmlformats.org/drawingml/2006/main">
              <a:ext uri="{FF2B5EF4-FFF2-40B4-BE49-F238E27FC236}">
                <a16:creationId xmlns:a16="http://schemas.microsoft.com/office/drawing/2014/main" id="{F550A570-A5C8-441C-B223-B8C2688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8671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28" name="toc-1-1-label">
            <a:extLst xmlns:a="http://schemas.openxmlformats.org/drawingml/2006/main">
              <a:ext uri="{FF2B5EF4-FFF2-40B4-BE49-F238E27FC236}">
                <a16:creationId xmlns:a16="http://schemas.microsoft.com/office/drawing/2014/main" id="{FF9F868A-CDE5-4A20-B0C5-802AA73C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671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견적</a:t>
            </a:r>
          </a:p>
        </p:txBody>
      </p:sp>
      <p:sp>
        <p:nvSpPr>
          <p:cNvPr id="29" name="toc-1-1-rule">
            <a:extLst xmlns:a="http://schemas.openxmlformats.org/drawingml/2006/main">
              <a:ext uri="{FF2B5EF4-FFF2-40B4-BE49-F238E27FC236}">
                <a16:creationId xmlns:a16="http://schemas.microsoft.com/office/drawing/2014/main" id="{3DE11471-853F-4C00-8EAD-1C16A596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577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oc-1-2-num">
            <a:extLst xmlns:a="http://schemas.openxmlformats.org/drawingml/2006/main">
              <a:ext uri="{FF2B5EF4-FFF2-40B4-BE49-F238E27FC236}">
                <a16:creationId xmlns:a16="http://schemas.microsoft.com/office/drawing/2014/main" id="{30C761BB-7DA1-4AF8-AFF7-38427A28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863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1" name="toc-1-2-label">
            <a:extLst xmlns:a="http://schemas.openxmlformats.org/drawingml/2006/main">
              <a:ext uri="{FF2B5EF4-FFF2-40B4-BE49-F238E27FC236}">
                <a16:creationId xmlns:a16="http://schemas.microsoft.com/office/drawing/2014/main" id="{9767F6A9-0960-4EE5-8571-54C6805A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86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지속 운영 방안</a:t>
            </a:r>
          </a:p>
        </p:txBody>
      </p:sp>
      <p:sp>
        <p:nvSpPr>
          <p:cNvPr id="32" name="toc-1-2-rule">
            <a:extLst xmlns:a="http://schemas.openxmlformats.org/drawingml/2006/main">
              <a:ext uri="{FF2B5EF4-FFF2-40B4-BE49-F238E27FC236}">
                <a16:creationId xmlns:a16="http://schemas.microsoft.com/office/drawing/2014/main" id="{E0A4D40C-2FAB-4908-8300-E58CB3AC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768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toc-0-4-num">
            <a:extLst xmlns:a="http://schemas.openxmlformats.org/drawingml/2006/main">
              <a:ext uri="{FF2B5EF4-FFF2-40B4-BE49-F238E27FC236}">
                <a16:creationId xmlns:a16="http://schemas.microsoft.com/office/drawing/2014/main" id="{02F91E1B-599D-4553-9D03-1D8C841D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3246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41" name="toc-0-4-label">
            <a:extLst xmlns:a="http://schemas.openxmlformats.org/drawingml/2006/main">
              <a:ext uri="{FF2B5EF4-FFF2-40B4-BE49-F238E27FC236}">
                <a16:creationId xmlns:a16="http://schemas.microsoft.com/office/drawing/2014/main" id="{590B7DEF-49B2-4D23-8A8B-1D6A3CF4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24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4단계 실행 가이드</a:t>
            </a:r>
          </a:p>
        </p:txBody>
      </p:sp>
      <p:sp>
        <p:nvSpPr>
          <p:cNvPr id="42" name="toc-0-4-rule">
            <a:extLst xmlns:a="http://schemas.openxmlformats.org/drawingml/2006/main">
              <a:ext uri="{FF2B5EF4-FFF2-40B4-BE49-F238E27FC236}">
                <a16:creationId xmlns:a16="http://schemas.microsoft.com/office/drawing/2014/main" id="{D7C43C6B-AF9A-4000-B6C1-13664E41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91515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oc-1-3-num">
            <a:extLst xmlns:a="http://schemas.openxmlformats.org/drawingml/2006/main">
              <a:ext uri="{FF2B5EF4-FFF2-40B4-BE49-F238E27FC236}">
                <a16:creationId xmlns:a16="http://schemas.microsoft.com/office/drawing/2014/main" id="{8FE51AF2-0D3C-40D0-8E71-F835BA9F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5054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44" name="toc-1-3-label">
            <a:extLst xmlns:a="http://schemas.openxmlformats.org/drawingml/2006/main">
              <a:ext uri="{FF2B5EF4-FFF2-40B4-BE49-F238E27FC236}">
                <a16:creationId xmlns:a16="http://schemas.microsoft.com/office/drawing/2014/main" id="{DB285E2A-959A-4748-AAA0-B6A1D4B9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0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데이터·AI 근거</a:t>
            </a:r>
          </a:p>
        </p:txBody>
      </p:sp>
      <p:sp>
        <p:nvSpPr>
          <p:cNvPr id="45" name="toc-1-3-rule">
            <a:extLst xmlns:a="http://schemas.openxmlformats.org/drawingml/2006/main">
              <a:ext uri="{FF2B5EF4-FFF2-40B4-BE49-F238E27FC236}">
                <a16:creationId xmlns:a16="http://schemas.microsoft.com/office/drawing/2014/main" id="{1FFFDDA2-F09C-40C0-A3EC-C586F4FA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600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toc-1-4-num">
            <a:extLst xmlns:a="http://schemas.openxmlformats.org/drawingml/2006/main">
              <a:ext uri="{FF2B5EF4-FFF2-40B4-BE49-F238E27FC236}">
                <a16:creationId xmlns:a16="http://schemas.microsoft.com/office/drawing/2014/main" id="{A5EB5BCF-344D-4D69-9CC1-EBFB2670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3246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47" name="toc-1-4-label">
            <a:extLst xmlns:a="http://schemas.openxmlformats.org/drawingml/2006/main">
              <a:ext uri="{FF2B5EF4-FFF2-40B4-BE49-F238E27FC236}">
                <a16:creationId xmlns:a16="http://schemas.microsoft.com/office/drawing/2014/main" id="{C3A13E9F-EE81-45C2-838B-476389ED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맺음말</a:t>
            </a:r>
          </a:p>
        </p:txBody>
      </p:sp>
      <p:sp>
        <p:nvSpPr>
          <p:cNvPr id="48" name="toc-1-4-rule">
            <a:extLst xmlns:a="http://schemas.openxmlformats.org/drawingml/2006/main">
              <a:ext uri="{FF2B5EF4-FFF2-40B4-BE49-F238E27FC236}">
                <a16:creationId xmlns:a16="http://schemas.microsoft.com/office/drawing/2014/main" id="{CBA3A83D-9A31-40EB-8EE3-21FC8394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1515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0192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visito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02ea4bb724ca1"/>
          <a:srcRect xmlns:a="http://schemas.openxmlformats.org/drawingml/2006/main" l="347" t="0" r="3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791075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43173D-B090-48BB-AB55-94D36611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866775"/>
            <a:ext cx="904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반나절 관광코스 실행 기획안</a:t>
            </a:r>
            <a:endParaRPr sz="4425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BB0242C-FDEC-4963-ABFB-596DC97C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526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hero-source-bg">
            <a:extLst xmlns:a="http://schemas.openxmlformats.org/drawingml/2006/main">
              <a:ext uri="{FF2B5EF4-FFF2-40B4-BE49-F238E27FC236}">
                <a16:creationId xmlns:a16="http://schemas.microsoft.com/office/drawing/2014/main" id="{CDA4A852-90A1-4F7A-85C3-CC9CF369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020050"/>
            <a:ext cx="4333875" cy="3429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B2F5B"/>
          </a:solidFill>
          <a:ln xmlns:a="http://schemas.openxmlformats.org/drawingml/2006/main" w="9525">
            <a:solidFill>
              <a:srgbClr val="0B2F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hero-source-label">
            <a:extLst xmlns:a="http://schemas.openxmlformats.org/drawingml/2006/main">
              <a:ext uri="{FF2B5EF4-FFF2-40B4-BE49-F238E27FC236}">
                <a16:creationId xmlns:a16="http://schemas.microsoft.com/office/drawing/2014/main" id="{D1920FBE-F92C-4035-AAA5-C13D7F35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048625"/>
            <a:ext cx="4143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이미지: 첨부 템플릿 시각화 · 공식 장소 사진 아님</a:t>
            </a:r>
          </a:p>
        </p:txBody>
      </p:sp>
      <p:sp>
        <p:nvSpPr>
          <p:cNvPr id="17" name="s3-kicker">
            <a:extLst xmlns:a="http://schemas.openxmlformats.org/drawingml/2006/main">
              <a:ext uri="{FF2B5EF4-FFF2-40B4-BE49-F238E27FC236}">
                <a16:creationId xmlns:a16="http://schemas.microsoft.com/office/drawing/2014/main" id="{947C42A4-61CC-45FE-B37C-6E874EA8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6193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PROJECT CONCEPT</a:t>
            </a:r>
          </a:p>
        </p:txBody>
      </p:sp>
      <p:sp>
        <p:nvSpPr>
          <p:cNvPr id="18" name="s3-thesis">
            <a:extLst xmlns:a="http://schemas.openxmlformats.org/drawingml/2006/main">
              <a:ext uri="{FF2B5EF4-FFF2-40B4-BE49-F238E27FC236}">
                <a16:creationId xmlns:a16="http://schemas.microsoft.com/office/drawing/2014/main" id="{8775F730-FE05-41BC-A601-3D13345E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92417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 수요를 체류·소비로 잇는</a:t>
            </a:r>
          </a:p>
          <a:p xmlns:a="http://schemas.openxmlformats.org/drawingml/2006/main">
            <a:pPr algn="l">
              <a:buNone/>
              <a:def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반나절 관광코스를 시범 운영합니다.</a:t>
            </a:r>
            <a:endParaRPr sz="2175" b="1" i="0">
              <a:solidFill>
                <a:srgbClr val="1B1F2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s3-desc">
            <a:extLst xmlns:a="http://schemas.openxmlformats.org/drawingml/2006/main">
              <a:ext uri="{FF2B5EF4-FFF2-40B4-BE49-F238E27FC236}">
                <a16:creationId xmlns:a16="http://schemas.microsoft.com/office/drawing/2014/main" id="{AFC98867-BACB-480A-8E65-B91D555B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010025"/>
            <a:ext cx="8524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관광 명소와 참여 상점을 한 동선으로 묶습니다. 코스 이용과 후속 결제 기록을 확인해, 방문이 지역 소비로 이어지는지 검증합니다.</a:t>
            </a:r>
          </a:p>
        </p:txBody>
      </p:sp>
      <p:sp>
        <p:nvSpPr>
          <p:cNvPr id="20" name="s3-metric-1-box">
            <a:extLst xmlns:a="http://schemas.openxmlformats.org/drawingml/2006/main">
              <a:ext uri="{FF2B5EF4-FFF2-40B4-BE49-F238E27FC236}">
                <a16:creationId xmlns:a16="http://schemas.microsoft.com/office/drawing/2014/main" id="{AB14D907-4E4C-4EFD-B69F-3250B75E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000625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3-metric-1-label">
            <a:extLst xmlns:a="http://schemas.openxmlformats.org/drawingml/2006/main">
              <a:ext uri="{FF2B5EF4-FFF2-40B4-BE49-F238E27FC236}">
                <a16:creationId xmlns:a16="http://schemas.microsoft.com/office/drawing/2014/main" id="{58F6CA00-84DC-4AE3-87D4-9BBCCFE2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1530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방문자 수</a:t>
            </a:r>
          </a:p>
        </p:txBody>
      </p:sp>
      <p:sp>
        <p:nvSpPr>
          <p:cNvPr id="22" name="s3-metric-1-value">
            <a:extLst xmlns:a="http://schemas.openxmlformats.org/drawingml/2006/main">
              <a:ext uri="{FF2B5EF4-FFF2-40B4-BE49-F238E27FC236}">
                <a16:creationId xmlns:a16="http://schemas.microsoft.com/office/drawing/2014/main" id="{6EA07604-98B1-489C-B68A-2B9C997A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4102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1,796만 명</a:t>
            </a:r>
          </a:p>
        </p:txBody>
      </p:sp>
      <p:sp>
        <p:nvSpPr>
          <p:cNvPr id="23" name="s3-metric-2-box">
            <a:extLst xmlns:a="http://schemas.openxmlformats.org/drawingml/2006/main">
              <a:ext uri="{FF2B5EF4-FFF2-40B4-BE49-F238E27FC236}">
                <a16:creationId xmlns:a16="http://schemas.microsoft.com/office/drawing/2014/main" id="{8EB3D0E8-ACEF-4043-821E-0A4FD604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00625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3-metric-2-label">
            <a:extLst xmlns:a="http://schemas.openxmlformats.org/drawingml/2006/main">
              <a:ext uri="{FF2B5EF4-FFF2-40B4-BE49-F238E27FC236}">
                <a16:creationId xmlns:a16="http://schemas.microsoft.com/office/drawing/2014/main" id="{76DB9DAA-DBE4-4CE5-BE49-C73F772B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530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전년 같은 달 대비 방문 변화</a:t>
            </a:r>
          </a:p>
        </p:txBody>
      </p:sp>
      <p:sp>
        <p:nvSpPr>
          <p:cNvPr id="25" name="s3-metric-2-value">
            <a:extLst xmlns:a="http://schemas.openxmlformats.org/drawingml/2006/main">
              <a:ext uri="{FF2B5EF4-FFF2-40B4-BE49-F238E27FC236}">
                <a16:creationId xmlns:a16="http://schemas.microsoft.com/office/drawing/2014/main" id="{E6DF14E8-8EEE-46E6-9D6C-47360F69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102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약 8% 감소</a:t>
            </a:r>
          </a:p>
        </p:txBody>
      </p:sp>
      <p:sp>
        <p:nvSpPr>
          <p:cNvPr id="26" name="s3-metric-3-box">
            <a:extLst xmlns:a="http://schemas.openxmlformats.org/drawingml/2006/main">
              <a:ext uri="{FF2B5EF4-FFF2-40B4-BE49-F238E27FC236}">
                <a16:creationId xmlns:a16="http://schemas.microsoft.com/office/drawing/2014/main" id="{579A3EDD-FC7C-452B-8D03-ED8503E7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5000625"/>
            <a:ext cx="285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s3-metric-3-label">
            <a:extLst xmlns:a="http://schemas.openxmlformats.org/drawingml/2006/main">
              <a:ext uri="{FF2B5EF4-FFF2-40B4-BE49-F238E27FC236}">
                <a16:creationId xmlns:a16="http://schemas.microsoft.com/office/drawing/2014/main" id="{592B3FE8-5125-489E-8EA2-40DB1359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15302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관광소비액</a:t>
            </a:r>
          </a:p>
        </p:txBody>
      </p:sp>
      <p:sp>
        <p:nvSpPr>
          <p:cNvPr id="28" name="s3-metric-3-value">
            <a:extLst xmlns:a="http://schemas.openxmlformats.org/drawingml/2006/main">
              <a:ext uri="{FF2B5EF4-FFF2-40B4-BE49-F238E27FC236}">
                <a16:creationId xmlns:a16="http://schemas.microsoft.com/office/drawing/2014/main" id="{527F2D92-C3C7-42DC-A6CF-DB6EF4F4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4102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4,820억 원</a:t>
            </a:r>
          </a:p>
        </p:txBody>
      </p:sp>
      <p:sp>
        <p:nvSpPr>
          <p:cNvPr id="29" name="s3-evidence-box">
            <a:extLst xmlns:a="http://schemas.openxmlformats.org/drawingml/2006/main">
              <a:ext uri="{FF2B5EF4-FFF2-40B4-BE49-F238E27FC236}">
                <a16:creationId xmlns:a16="http://schemas.microsoft.com/office/drawing/2014/main" id="{B7277C91-A0FE-4BAD-B208-BDAF628B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6305550"/>
            <a:ext cx="84010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s3-evidence-title">
            <a:extLst xmlns:a="http://schemas.openxmlformats.org/drawingml/2006/main">
              <a:ext uri="{FF2B5EF4-FFF2-40B4-BE49-F238E27FC236}">
                <a16:creationId xmlns:a16="http://schemas.microsoft.com/office/drawing/2014/main" id="{9AE22B7F-1105-4FF7-85C5-FB4B4D49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50557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 기획안을 제안한 이유</a:t>
            </a:r>
          </a:p>
        </p:txBody>
      </p:sp>
      <p:sp>
        <p:nvSpPr>
          <p:cNvPr id="31" name="s3-evidence-body">
            <a:extLst xmlns:a="http://schemas.openxmlformats.org/drawingml/2006/main">
              <a:ext uri="{FF2B5EF4-FFF2-40B4-BE49-F238E27FC236}">
                <a16:creationId xmlns:a16="http://schemas.microsoft.com/office/drawing/2014/main" id="{3F123C44-F1DD-49F8-B8D6-6566CBA9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8770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첨부 예시에서는 방문이 전년 같은 달보다 줄었습니다. 신규 집객만 늘리기보다, 이미 방문한 사람이 지역 안에서 더 이용하고 소비할 수 있는 동선을 시험합니다.</a:t>
            </a:r>
          </a:p>
        </p:txBody>
      </p:sp>
    </p:spTree>
    <p:extLst>
      <p:ext uri="{BB962C8B-B14F-4D97-AF65-F5344CB8AC3E}">
        <p14:creationId xmlns:p14="http://schemas.microsoft.com/office/powerpoint/2010/main" val="1308887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56D2C68C-9804-4F78-AFF6-72BE73CF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CORE OPERATING MODEL · SAMPLE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C8465E-D0F9-4EEF-AA67-014E6735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19175"/>
            <a:ext cx="1343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관광객 한 번의 방문을 지역 체류와 소비로 연결합니다</a:t>
            </a:r>
            <a:endParaRPr sz="367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746C03D-7627-4B08-A838-FDEDDCBA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1333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tep-0-rule">
            <a:extLst xmlns:a="http://schemas.openxmlformats.org/drawingml/2006/main">
              <a:ext uri="{FF2B5EF4-FFF2-40B4-BE49-F238E27FC236}">
                <a16:creationId xmlns:a16="http://schemas.microsoft.com/office/drawing/2014/main" id="{6FD80474-E3B5-4508-9AC4-E8AD6531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tep-0-label">
            <a:extLst xmlns:a="http://schemas.openxmlformats.org/drawingml/2006/main">
              <a:ext uri="{FF2B5EF4-FFF2-40B4-BE49-F238E27FC236}">
                <a16:creationId xmlns:a16="http://schemas.microsoft.com/office/drawing/2014/main" id="{E97A8DBE-CE91-46C0-9CCD-63E1F1CA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01 · 무엇을 만드나</a:t>
            </a:r>
          </a:p>
        </p:txBody>
      </p:sp>
      <p:sp>
        <p:nvSpPr>
          <p:cNvPr id="6" name="step-0-title">
            <a:extLst xmlns:a="http://schemas.openxmlformats.org/drawingml/2006/main">
              <a:ext uri="{FF2B5EF4-FFF2-40B4-BE49-F238E27FC236}">
                <a16:creationId xmlns:a16="http://schemas.microsoft.com/office/drawing/2014/main" id="{59B9BEF0-4231-459C-9517-C04054B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반나절 추천코스</a:t>
            </a:r>
          </a:p>
        </p:txBody>
      </p:sp>
      <p:sp>
        <p:nvSpPr>
          <p:cNvPr id="7" name="step-0-body">
            <a:extLst xmlns:a="http://schemas.openxmlformats.org/drawingml/2006/main">
              <a:ext uri="{FF2B5EF4-FFF2-40B4-BE49-F238E27FC236}">
                <a16:creationId xmlns:a16="http://schemas.microsoft.com/office/drawing/2014/main" id="{07941CCA-2692-4F3B-B5FF-8DEBA22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관광 명소·체험·식음·쇼핑을 3~6시간 동선으로 묶고, 모바일 안내에서 순서·운영시간·혜택을 보여줍니다.</a:t>
            </a:r>
          </a:p>
        </p:txBody>
      </p:sp>
      <p:sp>
        <p:nvSpPr>
          <p:cNvPr id="8" name="step-1-rule">
            <a:extLst xmlns:a="http://schemas.openxmlformats.org/drawingml/2006/main">
              <a:ext uri="{FF2B5EF4-FFF2-40B4-BE49-F238E27FC236}">
                <a16:creationId xmlns:a16="http://schemas.microsoft.com/office/drawing/2014/main" id="{271037CD-3D94-4954-A9B7-62A07A13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5310D594-B49B-4A22-8DE6-7E9C62CC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02 · 무엇을 준비하나</a:t>
            </a:r>
          </a:p>
        </p:txBody>
      </p:sp>
      <p:sp>
        <p:nvSpPr>
          <p:cNvPr id="10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BF52D1D6-661A-435F-8541-DBE90D7A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운영 조건 확정</a:t>
            </a:r>
          </a:p>
        </p:txBody>
      </p:sp>
      <p:sp>
        <p:nvSpPr>
          <p:cNvPr id="11" name="step-1-body">
            <a:extLst xmlns:a="http://schemas.openxmlformats.org/drawingml/2006/main">
              <a:ext uri="{FF2B5EF4-FFF2-40B4-BE49-F238E27FC236}">
                <a16:creationId xmlns:a16="http://schemas.microsoft.com/office/drawing/2014/main" id="{B1CA67F2-083B-484D-B979-9EA70E2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시범 권역 1곳과 참여처를 정하고, 혜택·정산 기준, 안전·민원 대응, 데이터 제공 역할을 협약합니다.</a:t>
            </a:r>
          </a:p>
        </p:txBody>
      </p:sp>
      <p:sp>
        <p:nvSpPr>
          <p:cNvPr id="12" name="step-2-rule">
            <a:extLst xmlns:a="http://schemas.openxmlformats.org/drawingml/2006/main">
              <a:ext uri="{FF2B5EF4-FFF2-40B4-BE49-F238E27FC236}">
                <a16:creationId xmlns:a16="http://schemas.microsoft.com/office/drawing/2014/main" id="{9818F010-1CC6-465C-A6DB-482EF862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ACA8C8F1-D10F-43C1-A65D-52FACF40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03 · 어떻게 운영하나</a:t>
            </a:r>
          </a:p>
        </p:txBody>
      </p:sp>
      <p:sp>
        <p:nvSpPr>
          <p:cNvPr id="14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08134B86-8D30-402C-9CEF-074FEC17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이용에서 결제까지</a:t>
            </a:r>
          </a:p>
        </p:txBody>
      </p:sp>
      <p:sp>
        <p:nvSpPr>
          <p:cNvPr id="15" name="step-2-body">
            <a:extLst xmlns:a="http://schemas.openxmlformats.org/drawingml/2006/main">
              <a:ext uri="{FF2B5EF4-FFF2-40B4-BE49-F238E27FC236}">
                <a16:creationId xmlns:a16="http://schemas.microsoft.com/office/drawing/2014/main" id="{A3D6FB23-F5E8-415A-9C62-CDDD2FC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코스 선택 → 현장 이용 확인 → 참여 상점 결제 → 조건 충족 혜택 제공 순서로 한 번의 방문을 연결합니다.</a:t>
            </a:r>
          </a:p>
        </p:txBody>
      </p:sp>
      <p:sp>
        <p:nvSpPr>
          <p:cNvPr id="16" name="step-3-rule">
            <a:extLst xmlns:a="http://schemas.openxmlformats.org/drawingml/2006/main">
              <a:ext uri="{FF2B5EF4-FFF2-40B4-BE49-F238E27FC236}">
                <a16:creationId xmlns:a16="http://schemas.microsoft.com/office/drawing/2014/main" id="{D0CBC112-A98C-4EA5-BA4F-54DB9D5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tep-3-label">
            <a:extLst xmlns:a="http://schemas.openxmlformats.org/drawingml/2006/main">
              <a:ext uri="{FF2B5EF4-FFF2-40B4-BE49-F238E27FC236}">
                <a16:creationId xmlns:a16="http://schemas.microsoft.com/office/drawing/2014/main" id="{F0662ED8-32C0-41E6-86B5-4085829F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04 · 무엇을 기록하나</a:t>
            </a:r>
          </a:p>
        </p:txBody>
      </p:sp>
      <p:sp>
        <p:nvSpPr>
          <p:cNvPr id="18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F4EEECAE-8F09-478C-9B9E-19776C1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성과와 개선점</a:t>
            </a:r>
          </a:p>
        </p:txBody>
      </p:sp>
      <p:sp>
        <p:nvSpPr>
          <p:cNvPr id="19" name="step-3-body">
            <a:extLst xmlns:a="http://schemas.openxmlformats.org/drawingml/2006/main">
              <a:ext uri="{FF2B5EF4-FFF2-40B4-BE49-F238E27FC236}">
                <a16:creationId xmlns:a16="http://schemas.microsoft.com/office/drawing/2014/main" id="{C705A7EA-982B-4870-B075-B69149AF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코스 완료, 후속 결제, 체류시간, 건당 비용과 이용자 의견을 주별로 기록해 다음 회차 운영에 반영합니다.</a:t>
            </a:r>
          </a:p>
        </p:txBody>
      </p:sp>
      <p:sp>
        <p:nvSpPr>
          <p:cNvPr id="20" name="value-panel">
            <a:extLst xmlns:a="http://schemas.openxmlformats.org/drawingml/2006/main">
              <a:ext uri="{FF2B5EF4-FFF2-40B4-BE49-F238E27FC236}">
                <a16:creationId xmlns:a16="http://schemas.microsoft.com/office/drawing/2014/main" id="{0A5928CC-5352-494A-82B9-C6E3C567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13201650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value-panel-rail">
            <a:extLst xmlns:a="http://schemas.openxmlformats.org/drawingml/2006/main">
              <a:ext uri="{FF2B5EF4-FFF2-40B4-BE49-F238E27FC236}">
                <a16:creationId xmlns:a16="http://schemas.microsoft.com/office/drawing/2014/main" id="{FF527866-641E-44D2-8381-B96977E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0" cy="2352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value-title">
            <a:extLst xmlns:a="http://schemas.openxmlformats.org/drawingml/2006/main">
              <a:ext uri="{FF2B5EF4-FFF2-40B4-BE49-F238E27FC236}">
                <a16:creationId xmlns:a16="http://schemas.microsoft.com/office/drawing/2014/main" id="{3506D103-ACC9-4612-8F44-8648D01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9817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최종적으로 남기는 것</a:t>
            </a:r>
          </a:p>
        </p:txBody>
      </p:sp>
      <p:sp>
        <p:nvSpPr>
          <p:cNvPr id="23" name="value-body">
            <a:extLst xmlns:a="http://schemas.openxmlformats.org/drawingml/2006/main">
              <a:ext uri="{FF2B5EF4-FFF2-40B4-BE49-F238E27FC236}">
                <a16:creationId xmlns:a16="http://schemas.microsoft.com/office/drawing/2014/main" id="{E6BA8404-9624-4B90-BC5C-9706A7B2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496050"/>
            <a:ext cx="122015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13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 가능한 관광코스 · 참여처 지도 · 모바일 안내 · 운영 매뉴얼 · 주간 성과표 · 다음 회차 개선안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13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※ 운영 수량과 혜택은 실제 협약·예산 확정 후 조정합니다.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9965D2B-742B-49AB-AFFC-0141FF20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057275"/>
            <a:ext cx="3533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ML FORECAST · DEMO VALUES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BDAA44-8EBB-4981-B6CE-1EDFB0FD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28750"/>
            <a:ext cx="1285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향후 3개월 방문자·소비액 ML 전망</a:t>
            </a:r>
            <a:endParaRPr sz="35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09610720-202B-4F09-8037-567ABC57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733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F4CE408F-7D39-483A-AE7E-5DDC832E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757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교육용 더미값입니다. 실제 보고서는 2024년 이후 확보한 월별 원자료로 학습한 저장 ML 전망을 사용합니다. 사업의 추가 효과와 자연추세는 구분합니다.</a:t>
            </a:r>
          </a:p>
        </p:txBody>
      </p:sp>
      <p:sp>
        <p:nvSpPr>
          <p:cNvPr id="6" name="prediction-rail">
            <a:extLst xmlns:a="http://schemas.openxmlformats.org/drawingml/2006/main">
              <a:ext uri="{FF2B5EF4-FFF2-40B4-BE49-F238E27FC236}">
                <a16:creationId xmlns:a16="http://schemas.microsoft.com/office/drawing/2014/main" id="{3CC9773F-81A2-46D4-897F-04FD3941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prediction-title">
            <a:extLst xmlns:a="http://schemas.openxmlformats.org/drawingml/2006/main">
              <a:ext uri="{FF2B5EF4-FFF2-40B4-BE49-F238E27FC236}">
                <a16:creationId xmlns:a16="http://schemas.microsoft.com/office/drawing/2014/main" id="{9D7B9C8E-7531-4597-8395-092405B0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433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방문자 수: 1,815만 명 → 1,873만 명</a:t>
            </a:r>
            <a:endParaRPr sz="1425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prediction-body">
            <a:extLst xmlns:a="http://schemas.openxmlformats.org/drawingml/2006/main">
              <a:ext uri="{FF2B5EF4-FFF2-40B4-BE49-F238E27FC236}">
                <a16:creationId xmlns:a16="http://schemas.microsoft.com/office/drawing/2014/main" id="{CD0582B5-403A-4E15-B748-8572E400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007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사업을 하지 않을 때의 자연추세 예시</a:t>
            </a:r>
            <a:endParaRPr sz="1275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rag-rail">
            <a:extLst xmlns:a="http://schemas.openxmlformats.org/drawingml/2006/main">
              <a:ext uri="{FF2B5EF4-FFF2-40B4-BE49-F238E27FC236}">
                <a16:creationId xmlns:a16="http://schemas.microsoft.com/office/drawing/2014/main" id="{59B93260-E909-441F-A152-9596530C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67325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forecast-chart-note">
            <a:extLst xmlns:a="http://schemas.openxmlformats.org/drawingml/2006/main">
              <a:ext uri="{FF2B5EF4-FFF2-40B4-BE49-F238E27FC236}">
                <a16:creationId xmlns:a16="http://schemas.microsoft.com/office/drawing/2014/main" id="{9EC9EF53-B27B-48CD-AA6D-1B07121C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244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만 명 · 더미값</a:t>
            </a:r>
          </a:p>
        </p:txBody>
      </p:sp>
      <p:sp>
        <p:nvSpPr>
          <p:cNvPr id="20" name="forecast-reading-title">
            <a:extLst xmlns:a="http://schemas.openxmlformats.org/drawingml/2006/main">
              <a:ext uri="{FF2B5EF4-FFF2-40B4-BE49-F238E27FC236}">
                <a16:creationId xmlns:a16="http://schemas.microsoft.com/office/drawing/2014/main" id="{1EED468A-01C8-4F6D-9CB2-67932C29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86375"/>
            <a:ext cx="4429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해석할 때 주의할 점</a:t>
            </a:r>
          </a:p>
        </p:txBody>
      </p:sp>
      <p:sp>
        <p:nvSpPr>
          <p:cNvPr id="21" name="forecast-reading-body">
            <a:extLst xmlns:a="http://schemas.openxmlformats.org/drawingml/2006/main">
              <a:ext uri="{FF2B5EF4-FFF2-40B4-BE49-F238E27FC236}">
                <a16:creationId xmlns:a16="http://schemas.microsoft.com/office/drawing/2014/main" id="{5DB356FE-1E33-4CFE-92F2-A52EB3A6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4210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예측 증가분은 사업 효과가 아닙니다.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실제 운영 기록과 비교해 추가 변화를 봅니다.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1009650" y="6229350"/>
          <a:ext xmlns:a="http://schemas.openxmlformats.org/drawingml/2006/main" cx="7524750" cy="1524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faa7af13f94f8d"/>
          </a:graphicData>
        </a:graphic>
      </p:graphicFrame>
      <p:sp>
        <p:nvSpPr>
          <p:cNvPr id="23" name="consumption-kicker">
            <a:extLst xmlns:a="http://schemas.openxmlformats.org/drawingml/2006/main">
              <a:ext uri="{FF2B5EF4-FFF2-40B4-BE49-F238E27FC236}">
                <a16:creationId xmlns:a16="http://schemas.microsoft.com/office/drawing/2014/main" id="{FCD36470-B9D8-4ADA-BEDF-FCC21969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09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TOURISM SPENDING FORECAST</a:t>
            </a:r>
          </a:p>
        </p:txBody>
      </p:sp>
      <p:sp>
        <p:nvSpPr>
          <p:cNvPr id="24" name="consumption-title">
            <a:extLst xmlns:a="http://schemas.openxmlformats.org/drawingml/2006/main">
              <a:ext uri="{FF2B5EF4-FFF2-40B4-BE49-F238E27FC236}">
                <a16:creationId xmlns:a16="http://schemas.microsoft.com/office/drawing/2014/main" id="{5B3B3740-826D-4442-BB95-F7F23091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242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관광소비액: 4,760억 원</a:t>
            </a:r>
          </a:p>
        </p:txBody>
      </p:sp>
      <p:graphicFrame>
        <p:nvGraphicFramePr>
          <p:cNvPr id="43" name="Chart"/>
          <p:cNvGraphicFramePr/>
          <p:nvPr/>
        </p:nvGraphicFramePr>
        <p:xfrm>
          <a:off xmlns:a="http://schemas.openxmlformats.org/drawingml/2006/main" x="9486900" y="3905250"/>
          <a:ext xmlns:a="http://schemas.openxmlformats.org/drawingml/2006/main" cx="4476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6628f95068476b"/>
          </a:graphicData>
        </a:graphic>
      </p:graphicFrame>
      <p:sp>
        <p:nvSpPr>
          <p:cNvPr id="26" name="consumption-note">
            <a:extLst xmlns:a="http://schemas.openxmlformats.org/drawingml/2006/main">
              <a:ext uri="{FF2B5EF4-FFF2-40B4-BE49-F238E27FC236}">
                <a16:creationId xmlns:a16="http://schemas.microsoft.com/office/drawing/2014/main" id="{6CA0B01A-B738-454D-A615-D2A73D4F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6505575"/>
            <a:ext cx="4286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단위: 억 원 · 교육용 더미값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실제 생성 시 저장 ML 전망으로 대체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사업 성과는 별도 비교로 판단합니다.</a:t>
            </a:r>
          </a:p>
        </p:txBody>
      </p:sp>
    </p:spTree>
    <p:extLst>
      <p:ext uri="{BB962C8B-B14F-4D97-AF65-F5344CB8AC3E}">
        <p14:creationId xmlns:p14="http://schemas.microsoft.com/office/powerpoint/2010/main" val="1767458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30D6B92A-E8CC-48F5-9680-60F39CE8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6275"/>
            <a:ext cx="448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PEER COMPARISON · APPLY WITH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1DBCD6-2592-41E7-A3B6-2AEB4418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23950"/>
            <a:ext cx="13068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유사 지역·사례로 검토하는 강남구 적용 논리</a:t>
            </a:r>
            <a:endParaRPr sz="3600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E468CD8-9AB7-4607-A79D-2796B31D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85975"/>
            <a:ext cx="1306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grid">
            <a:extLst xmlns:a="http://schemas.openxmlformats.org/drawingml/2006/main">
              <a:ext uri="{FF2B5EF4-FFF2-40B4-BE49-F238E27FC236}">
                <a16:creationId xmlns:a16="http://schemas.microsoft.com/office/drawing/2014/main" id="{82EDB80F-7AEA-4B4C-9FC2-33090AC4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13068300" cy="537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8111BC7A-2C75-4CBD-AB98-B0DC44AC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67000"/>
            <a:ext cx="0" cy="537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grid-h">
            <a:extLst xmlns:a="http://schemas.openxmlformats.org/drawingml/2006/main">
              <a:ext uri="{FF2B5EF4-FFF2-40B4-BE49-F238E27FC236}">
                <a16:creationId xmlns:a16="http://schemas.microsoft.com/office/drawing/2014/main" id="{28241900-71DE-48EC-A279-4E2A6684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53050"/>
            <a:ext cx="1306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diff-num-0">
            <a:extLst xmlns:a="http://schemas.openxmlformats.org/drawingml/2006/main">
              <a:ext uri="{FF2B5EF4-FFF2-40B4-BE49-F238E27FC236}">
                <a16:creationId xmlns:a16="http://schemas.microsoft.com/office/drawing/2014/main" id="{5B179CE8-6329-4234-8846-DA66D254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1940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diff-title-0">
            <a:extLst xmlns:a="http://schemas.openxmlformats.org/drawingml/2006/main">
              <a:ext uri="{FF2B5EF4-FFF2-40B4-BE49-F238E27FC236}">
                <a16:creationId xmlns:a16="http://schemas.microsoft.com/office/drawing/2014/main" id="{3FC5221D-E74B-4DAB-9F37-4393399B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384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현재 방문 흐름</a:t>
            </a:r>
          </a:p>
        </p:txBody>
      </p:sp>
      <p:sp>
        <p:nvSpPr>
          <p:cNvPr id="9" name="diff-body-0">
            <a:extLst xmlns:a="http://schemas.openxmlformats.org/drawingml/2006/main">
              <a:ext uri="{FF2B5EF4-FFF2-40B4-BE49-F238E27FC236}">
                <a16:creationId xmlns:a16="http://schemas.microsoft.com/office/drawing/2014/main" id="{397EA389-F953-4FF3-BE82-156ECEFA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95800"/>
            <a:ext cx="595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첨부 예시의 전년 동월 대비 방문 변화입니다.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방문 규모와 지역 내 소비 연결을 함께 확인합니다.</a:t>
            </a:r>
          </a:p>
        </p:txBody>
      </p:sp>
      <p:sp>
        <p:nvSpPr>
          <p:cNvPr id="10" name="diff-plus-0">
            <a:extLst xmlns:a="http://schemas.openxmlformats.org/drawingml/2006/main">
              <a:ext uri="{FF2B5EF4-FFF2-40B4-BE49-F238E27FC236}">
                <a16:creationId xmlns:a16="http://schemas.microsoft.com/office/drawing/2014/main" id="{FA8127FD-DDBD-4B6D-8DD4-2CDCD182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첨부 샘플 수치 · 실제 비교 자료 아님</a:t>
            </a:r>
          </a:p>
        </p:txBody>
      </p:sp>
      <p:sp>
        <p:nvSpPr>
          <p:cNvPr id="11" name="diff-plus-orange-0">
            <a:extLst xmlns:a="http://schemas.openxmlformats.org/drawingml/2006/main">
              <a:ext uri="{FF2B5EF4-FFF2-40B4-BE49-F238E27FC236}">
                <a16:creationId xmlns:a16="http://schemas.microsoft.com/office/drawing/2014/main" id="{A57412D2-7DF5-4C59-A785-8AEB4428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67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diff-num-1">
            <a:extLst xmlns:a="http://schemas.openxmlformats.org/drawingml/2006/main">
              <a:ext uri="{FF2B5EF4-FFF2-40B4-BE49-F238E27FC236}">
                <a16:creationId xmlns:a16="http://schemas.microsoft.com/office/drawing/2014/main" id="{042D6BFD-8C70-44F2-A6AF-68361E6F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1940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diff-title-1">
            <a:extLst xmlns:a="http://schemas.openxmlformats.org/drawingml/2006/main">
              <a:ext uri="{FF2B5EF4-FFF2-40B4-BE49-F238E27FC236}">
                <a16:creationId xmlns:a16="http://schemas.microsoft.com/office/drawing/2014/main" id="{39052A63-7565-4AFB-A81A-781058D9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8384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같은 기준으로 지역 비교</a:t>
            </a:r>
            <a:endParaRPr sz="2400" b="0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diff-body-1">
            <a:extLst xmlns:a="http://schemas.openxmlformats.org/drawingml/2006/main">
              <a:ext uri="{FF2B5EF4-FFF2-40B4-BE49-F238E27FC236}">
                <a16:creationId xmlns:a16="http://schemas.microsoft.com/office/drawing/2014/main" id="{749EFAD3-629C-4E57-9A57-2F5E396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95800"/>
            <a:ext cx="595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유사 지역의 수치뿐 아니라 운영 비용·참여처·동선을 비교해 강남구에 옮길 수 있는 요소를 고릅니다.</a:t>
            </a:r>
          </a:p>
        </p:txBody>
      </p:sp>
      <p:sp>
        <p:nvSpPr>
          <p:cNvPr id="15" name="diff-plus-1">
            <a:extLst xmlns:a="http://schemas.openxmlformats.org/drawingml/2006/main">
              <a:ext uri="{FF2B5EF4-FFF2-40B4-BE49-F238E27FC236}">
                <a16:creationId xmlns:a16="http://schemas.microsoft.com/office/drawing/2014/main" id="{BEE72E06-DEDE-432B-B6B9-6F96F1CF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67300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샘플에서는 타 지역 우열을 단정하지 않음</a:t>
            </a:r>
          </a:p>
        </p:txBody>
      </p:sp>
      <p:sp>
        <p:nvSpPr>
          <p:cNvPr id="16" name="diff-plus-orange-1">
            <a:extLst xmlns:a="http://schemas.openxmlformats.org/drawingml/2006/main">
              <a:ext uri="{FF2B5EF4-FFF2-40B4-BE49-F238E27FC236}">
                <a16:creationId xmlns:a16="http://schemas.microsoft.com/office/drawing/2014/main" id="{9BFE81BE-C35B-4BD3-9F38-0E41CB9F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67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diff-num-2">
            <a:extLst xmlns:a="http://schemas.openxmlformats.org/drawingml/2006/main">
              <a:ext uri="{FF2B5EF4-FFF2-40B4-BE49-F238E27FC236}">
                <a16:creationId xmlns:a16="http://schemas.microsoft.com/office/drawing/2014/main" id="{4D448592-403C-4EF4-8007-F16B4D59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0545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diff-title-2">
            <a:extLst xmlns:a="http://schemas.openxmlformats.org/drawingml/2006/main">
              <a:ext uri="{FF2B5EF4-FFF2-40B4-BE49-F238E27FC236}">
                <a16:creationId xmlns:a16="http://schemas.microsoft.com/office/drawing/2014/main" id="{5D9F67B1-93E0-43C5-91C6-C0426605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5245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사례의 작동 방식</a:t>
            </a:r>
          </a:p>
        </p:txBody>
      </p:sp>
      <p:sp>
        <p:nvSpPr>
          <p:cNvPr id="19" name="diff-body-2">
            <a:extLst xmlns:a="http://schemas.openxmlformats.org/drawingml/2006/main">
              <a:ext uri="{FF2B5EF4-FFF2-40B4-BE49-F238E27FC236}">
                <a16:creationId xmlns:a16="http://schemas.microsoft.com/office/drawing/2014/main" id="{EB459863-C1CA-487A-9CB6-3FB96BA5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924675"/>
            <a:ext cx="5953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사례의 행사명보다 참여 구조·혜택 지급·정산 방식을 봅니다. 운영 근거가 확인된 요소만 가져옵니다.</a:t>
            </a:r>
          </a:p>
        </p:txBody>
      </p:sp>
      <p:sp>
        <p:nvSpPr>
          <p:cNvPr id="20" name="diff-plus-2">
            <a:extLst xmlns:a="http://schemas.openxmlformats.org/drawingml/2006/main">
              <a:ext uri="{FF2B5EF4-FFF2-40B4-BE49-F238E27FC236}">
                <a16:creationId xmlns:a16="http://schemas.microsoft.com/office/drawing/2014/main" id="{7303984B-C6EE-4C86-9BC4-B30BBF18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68667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성과 수치와 현장 조건을 함께 확인</a:t>
            </a:r>
          </a:p>
        </p:txBody>
      </p:sp>
      <p:sp>
        <p:nvSpPr>
          <p:cNvPr id="21" name="diff-plus-orange-2">
            <a:extLst xmlns:a="http://schemas.openxmlformats.org/drawingml/2006/main">
              <a:ext uri="{FF2B5EF4-FFF2-40B4-BE49-F238E27FC236}">
                <a16:creationId xmlns:a16="http://schemas.microsoft.com/office/drawing/2014/main" id="{0B6717C1-A26D-4507-A5EF-57A37FEF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6866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2" name="diff-num-3">
            <a:extLst xmlns:a="http://schemas.openxmlformats.org/drawingml/2006/main">
              <a:ext uri="{FF2B5EF4-FFF2-40B4-BE49-F238E27FC236}">
                <a16:creationId xmlns:a16="http://schemas.microsoft.com/office/drawing/2014/main" id="{557E9041-6D43-44D5-AC83-F2F91E6F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0545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3" name="diff-title-3">
            <a:extLst xmlns:a="http://schemas.openxmlformats.org/drawingml/2006/main">
              <a:ext uri="{FF2B5EF4-FFF2-40B4-BE49-F238E27FC236}">
                <a16:creationId xmlns:a16="http://schemas.microsoft.com/office/drawing/2014/main" id="{87DB96F2-E1FB-4ACE-9435-CA826544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5245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강남구에서 검증할 방식</a:t>
            </a:r>
          </a:p>
        </p:txBody>
      </p:sp>
      <p:sp>
        <p:nvSpPr>
          <p:cNvPr id="24" name="diff-body-3">
            <a:extLst xmlns:a="http://schemas.openxmlformats.org/drawingml/2006/main">
              <a:ext uri="{FF2B5EF4-FFF2-40B4-BE49-F238E27FC236}">
                <a16:creationId xmlns:a16="http://schemas.microsoft.com/office/drawing/2014/main" id="{7D299F22-9EC3-4717-985C-5C94FACD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924675"/>
            <a:ext cx="5953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작은 권역에서 안내·이용·결제를 연결합니다. 이탈 구간과 비용을 기록해 다음 운영안을 결정합니다.</a:t>
            </a:r>
          </a:p>
        </p:txBody>
      </p:sp>
      <p:sp>
        <p:nvSpPr>
          <p:cNvPr id="25" name="diff-plus-3">
            <a:extLst xmlns:a="http://schemas.openxmlformats.org/drawingml/2006/main">
              <a:ext uri="{FF2B5EF4-FFF2-40B4-BE49-F238E27FC236}">
                <a16:creationId xmlns:a16="http://schemas.microsoft.com/office/drawing/2014/main" id="{13001AD4-1711-4DB5-801D-66759E0A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68667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한 권역에서 시범 → 검증 후 확대</a:t>
            </a:r>
          </a:p>
        </p:txBody>
      </p:sp>
      <p:sp>
        <p:nvSpPr>
          <p:cNvPr id="26" name="diff-plus-orange-3">
            <a:extLst xmlns:a="http://schemas.openxmlformats.org/drawingml/2006/main">
              <a:ext uri="{FF2B5EF4-FFF2-40B4-BE49-F238E27FC236}">
                <a16:creationId xmlns:a16="http://schemas.microsoft.com/office/drawing/2014/main" id="{2AA2B92A-6911-4A37-BBF4-70B85C3E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76866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8" name="peer-visit-label">
            <a:extLst xmlns:a="http://schemas.openxmlformats.org/drawingml/2006/main">
              <a:ext uri="{FF2B5EF4-FFF2-40B4-BE49-F238E27FC236}">
                <a16:creationId xmlns:a16="http://schemas.microsoft.com/office/drawing/2014/main" id="{A0522FF0-3328-448E-91F3-FBDC6FCC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48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r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 방문자 수</a:t>
            </a:r>
          </a:p>
        </p:txBody>
      </p:sp>
      <p:sp>
        <p:nvSpPr>
          <p:cNvPr id="29" name="peer-visit-value">
            <a:extLst xmlns:a="http://schemas.openxmlformats.org/drawingml/2006/main">
              <a:ext uri="{FF2B5EF4-FFF2-40B4-BE49-F238E27FC236}">
                <a16:creationId xmlns:a16="http://schemas.microsoft.com/office/drawing/2014/main" id="{1A5BC1B9-5C74-4F53-8138-A2CD3D78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290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r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1,796만 명</a:t>
            </a:r>
          </a:p>
        </p:txBody>
      </p:sp>
      <p:sp>
        <p:nvSpPr>
          <p:cNvPr id="30" name="peer-visit-index">
            <a:extLst xmlns:a="http://schemas.openxmlformats.org/drawingml/2006/main">
              <a:ext uri="{FF2B5EF4-FFF2-40B4-BE49-F238E27FC236}">
                <a16:creationId xmlns:a16="http://schemas.microsoft.com/office/drawing/2014/main" id="{00528A64-C003-44FB-BF9E-0E37119F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333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전년 같은 달 = 100</a:t>
            </a:r>
          </a:p>
        </p:txBody>
      </p:sp>
      <p:sp>
        <p:nvSpPr>
          <p:cNvPr id="35" name="peer-visit-delta">
            <a:extLst xmlns:a="http://schemas.openxmlformats.org/drawingml/2006/main">
              <a:ext uri="{FF2B5EF4-FFF2-40B4-BE49-F238E27FC236}">
                <a16:creationId xmlns:a16="http://schemas.microsoft.com/office/drawing/2014/main" id="{F7AE130C-2B73-4C32-BF6B-F0518441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21005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약 8% 감소</a:t>
            </a:r>
          </a:p>
        </p:txBody>
      </p:sp>
      <p:sp>
        <p:nvSpPr>
          <p:cNvPr id="36" name="peer-stay-title">
            <a:extLst xmlns:a="http://schemas.openxmlformats.org/drawingml/2006/main">
              <a:ext uri="{FF2B5EF4-FFF2-40B4-BE49-F238E27FC236}">
                <a16:creationId xmlns:a16="http://schemas.microsoft.com/office/drawing/2014/main" id="{999CD307-FF95-4C92-BB7B-7D92D186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48050"/>
            <a:ext cx="5953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비교 대상을 고를 세 가지 기준</a:t>
            </a:r>
          </a:p>
        </p:txBody>
      </p:sp>
      <p:sp>
        <p:nvSpPr>
          <p:cNvPr id="39" name="peer-stay-gangnam-value">
            <a:extLst xmlns:a="http://schemas.openxmlformats.org/drawingml/2006/main">
              <a:ext uri="{FF2B5EF4-FFF2-40B4-BE49-F238E27FC236}">
                <a16:creationId xmlns:a16="http://schemas.microsoft.com/office/drawing/2014/main" id="{B752C66F-3AB0-4D5B-8262-9772C231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29050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 규모   ·   체류·소비   ·   운영 여건</a:t>
            </a:r>
          </a:p>
        </p:txBody>
      </p:sp>
      <p:sp>
        <p:nvSpPr>
          <p:cNvPr id="43" name="peer-stay-gap">
            <a:extLst xmlns:a="http://schemas.openxmlformats.org/drawingml/2006/main">
              <a:ext uri="{FF2B5EF4-FFF2-40B4-BE49-F238E27FC236}">
                <a16:creationId xmlns:a16="http://schemas.microsoft.com/office/drawing/2014/main" id="{674B2675-AD04-4584-9AD0-C3D37716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10050"/>
            <a:ext cx="5953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같은 기간 · 같은 정의를 먼저 맞춥니다.</a:t>
            </a:r>
          </a:p>
        </p:txBody>
      </p:sp>
      <p:sp>
        <p:nvSpPr>
          <p:cNvPr id="45" name="peer-case-program-box">
            <a:extLst xmlns:a="http://schemas.openxmlformats.org/drawingml/2006/main">
              <a:ext uri="{FF2B5EF4-FFF2-40B4-BE49-F238E27FC236}">
                <a16:creationId xmlns:a16="http://schemas.microsoft.com/office/drawing/2014/main" id="{D29F5E93-8A48-4477-AE53-AB44974B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181725"/>
            <a:ext cx="1666875" cy="5143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peer-case-program-label">
            <a:extLst xmlns:a="http://schemas.openxmlformats.org/drawingml/2006/main">
              <a:ext uri="{FF2B5EF4-FFF2-40B4-BE49-F238E27FC236}">
                <a16:creationId xmlns:a16="http://schemas.microsoft.com/office/drawing/2014/main" id="{FCB1E8F3-1953-4399-BCD2-F7618ABA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체험 콘텐츠</a:t>
            </a:r>
          </a:p>
        </p:txBody>
      </p:sp>
      <p:sp>
        <p:nvSpPr>
          <p:cNvPr id="47" name="peer-case-arrow1">
            <a:extLst xmlns:a="http://schemas.openxmlformats.org/drawingml/2006/main">
              <a:ext uri="{FF2B5EF4-FFF2-40B4-BE49-F238E27FC236}">
                <a16:creationId xmlns:a16="http://schemas.microsoft.com/office/drawing/2014/main" id="{D7C53076-95ED-4224-AD03-80EAF1C2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6276975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48" name="peer-case-walk-box">
            <a:extLst xmlns:a="http://schemas.openxmlformats.org/drawingml/2006/main">
              <a:ext uri="{FF2B5EF4-FFF2-40B4-BE49-F238E27FC236}">
                <a16:creationId xmlns:a16="http://schemas.microsoft.com/office/drawing/2014/main" id="{D21F321C-55CF-47DA-83C0-2454766F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181725"/>
            <a:ext cx="1666875" cy="5143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peer-case-walk-label">
            <a:extLst xmlns:a="http://schemas.openxmlformats.org/drawingml/2006/main">
              <a:ext uri="{FF2B5EF4-FFF2-40B4-BE49-F238E27FC236}">
                <a16:creationId xmlns:a16="http://schemas.microsoft.com/office/drawing/2014/main" id="{4A5EE3BA-AB46-42D4-BD1E-2A45E88E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이동 동선</a:t>
            </a:r>
          </a:p>
        </p:txBody>
      </p:sp>
      <p:sp>
        <p:nvSpPr>
          <p:cNvPr id="50" name="peer-case-arrow2">
            <a:extLst xmlns:a="http://schemas.openxmlformats.org/drawingml/2006/main">
              <a:ext uri="{FF2B5EF4-FFF2-40B4-BE49-F238E27FC236}">
                <a16:creationId xmlns:a16="http://schemas.microsoft.com/office/drawing/2014/main" id="{F5515124-65E5-4FB7-9CB1-E8C62FD4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6276975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1" name="peer-case-spend-box">
            <a:extLst xmlns:a="http://schemas.openxmlformats.org/drawingml/2006/main">
              <a:ext uri="{FF2B5EF4-FFF2-40B4-BE49-F238E27FC236}">
                <a16:creationId xmlns:a16="http://schemas.microsoft.com/office/drawing/2014/main" id="{FAF56F1E-DD15-4F74-9790-432BE35E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181725"/>
            <a:ext cx="1666875" cy="5143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peer-case-spend-label">
            <a:extLst xmlns:a="http://schemas.openxmlformats.org/drawingml/2006/main">
              <a:ext uri="{FF2B5EF4-FFF2-40B4-BE49-F238E27FC236}">
                <a16:creationId xmlns:a16="http://schemas.microsoft.com/office/drawing/2014/main" id="{93F13B79-4114-460E-AE2B-BEE1138F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상권 이용</a:t>
            </a:r>
          </a:p>
        </p:txBody>
      </p:sp>
      <p:sp>
        <p:nvSpPr>
          <p:cNvPr id="54" name="peer-pilot-reserve-box">
            <a:extLst xmlns:a="http://schemas.openxmlformats.org/drawingml/2006/main">
              <a:ext uri="{FF2B5EF4-FFF2-40B4-BE49-F238E27FC236}">
                <a16:creationId xmlns:a16="http://schemas.microsoft.com/office/drawing/2014/main" id="{9846D74D-D959-4EF7-B2F3-19D4EC62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181725"/>
            <a:ext cx="1666875" cy="5143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peer-pilot-reserve-label">
            <a:extLst xmlns:a="http://schemas.openxmlformats.org/drawingml/2006/main">
              <a:ext uri="{FF2B5EF4-FFF2-40B4-BE49-F238E27FC236}">
                <a16:creationId xmlns:a16="http://schemas.microsoft.com/office/drawing/2014/main" id="{51919EB4-CC9F-431C-AE74-4E0011FD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코스 안내</a:t>
            </a:r>
          </a:p>
        </p:txBody>
      </p:sp>
      <p:sp>
        <p:nvSpPr>
          <p:cNvPr id="56" name="peer-pilot-arrow1">
            <a:extLst xmlns:a="http://schemas.openxmlformats.org/drawingml/2006/main">
              <a:ext uri="{FF2B5EF4-FFF2-40B4-BE49-F238E27FC236}">
                <a16:creationId xmlns:a16="http://schemas.microsoft.com/office/drawing/2014/main" id="{99EF7212-9B9C-444B-9C33-A1348B48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276975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7" name="peer-pilot-use-box">
            <a:extLst xmlns:a="http://schemas.openxmlformats.org/drawingml/2006/main">
              <a:ext uri="{FF2B5EF4-FFF2-40B4-BE49-F238E27FC236}">
                <a16:creationId xmlns:a16="http://schemas.microsoft.com/office/drawing/2014/main" id="{962AFB49-71D9-4D2B-A11E-D0FB5145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181725"/>
            <a:ext cx="1666875" cy="5143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peer-pilot-use-label">
            <a:extLst xmlns:a="http://schemas.openxmlformats.org/drawingml/2006/main">
              <a:ext uri="{FF2B5EF4-FFF2-40B4-BE49-F238E27FC236}">
                <a16:creationId xmlns:a16="http://schemas.microsoft.com/office/drawing/2014/main" id="{24F9BB10-042C-4D0A-AFB9-4530EDB2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이용 확인</a:t>
            </a:r>
          </a:p>
        </p:txBody>
      </p:sp>
      <p:sp>
        <p:nvSpPr>
          <p:cNvPr id="59" name="peer-pilot-arrow2">
            <a:extLst xmlns:a="http://schemas.openxmlformats.org/drawingml/2006/main">
              <a:ext uri="{FF2B5EF4-FFF2-40B4-BE49-F238E27FC236}">
                <a16:creationId xmlns:a16="http://schemas.microsoft.com/office/drawing/2014/main" id="{B94864D0-667C-42D0-89BA-BC2100C2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276975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60" name="peer-pilot-pay-box">
            <a:extLst xmlns:a="http://schemas.openxmlformats.org/drawingml/2006/main">
              <a:ext uri="{FF2B5EF4-FFF2-40B4-BE49-F238E27FC236}">
                <a16:creationId xmlns:a16="http://schemas.microsoft.com/office/drawing/2014/main" id="{CD376544-7663-4870-96FA-400ED7FB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181725"/>
            <a:ext cx="1666875" cy="5143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peer-pilot-pay-label">
            <a:extLst xmlns:a="http://schemas.openxmlformats.org/drawingml/2006/main">
              <a:ext uri="{FF2B5EF4-FFF2-40B4-BE49-F238E27FC236}">
                <a16:creationId xmlns:a16="http://schemas.microsoft.com/office/drawing/2014/main" id="{016017E8-BE2C-483A-BD86-11714940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후속 결제</a:t>
            </a:r>
          </a:p>
        </p:txBody>
      </p:sp>
      <p:graphicFrame>
        <p:nvGraphicFramePr>
          <p:cNvPr id="112" name="peer-visitors-yoy-index"/>
          <p:cNvGraphicFramePr/>
          <p:nvPr/>
        </p:nvGraphicFramePr>
        <p:xfrm>
          <a:off xmlns:a="http://schemas.openxmlformats.org/drawingml/2006/main" x="4095750" y="3590925"/>
          <a:ext xmlns:a="http://schemas.openxmlformats.org/drawingml/2006/main" cx="285750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a1a66771e34c37"/>
          </a:graphicData>
        </a:graphic>
      </p:graphicFrame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56D2C68C-9804-4F78-AFF6-72BE73CF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IMPLEMENTATION ROADMAP · 3~6개월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C8465E-D0F9-4EEF-AA67-014E6735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19175"/>
            <a:ext cx="1343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작게 시작해, 기록으로 다음 운영을 결정합니다</a:t>
            </a:r>
            <a:endParaRPr sz="367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746C03D-7627-4B08-A838-FDEDDCBA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13335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tep-0-rule">
            <a:extLst xmlns:a="http://schemas.openxmlformats.org/drawingml/2006/main">
              <a:ext uri="{FF2B5EF4-FFF2-40B4-BE49-F238E27FC236}">
                <a16:creationId xmlns:a16="http://schemas.microsoft.com/office/drawing/2014/main" id="{6FD80474-E3B5-4508-9AC4-E8AD6531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80000">
            <a:off x="5943600" y="5048250"/>
            <a:ext cx="10763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tep-0-label">
            <a:extLst xmlns:a="http://schemas.openxmlformats.org/drawingml/2006/main">
              <a:ext uri="{FF2B5EF4-FFF2-40B4-BE49-F238E27FC236}">
                <a16:creationId xmlns:a16="http://schemas.microsoft.com/office/drawing/2014/main" id="{E97A8DBE-CE91-46C0-9CCD-63E1F1CA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1495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STEP 01 · 1~2주</a:t>
            </a:r>
          </a:p>
        </p:txBody>
      </p:sp>
      <p:sp>
        <p:nvSpPr>
          <p:cNvPr id="6" name="step-0-title">
            <a:extLst xmlns:a="http://schemas.openxmlformats.org/drawingml/2006/main">
              <a:ext uri="{FF2B5EF4-FFF2-40B4-BE49-F238E27FC236}">
                <a16:creationId xmlns:a16="http://schemas.microsoft.com/office/drawing/2014/main" id="{59B9BEF0-4231-459C-9517-C04054B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719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763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후보 권역·기준선 확정</a:t>
            </a:r>
          </a:p>
        </p:txBody>
      </p:sp>
      <p:sp>
        <p:nvSpPr>
          <p:cNvPr id="7" name="step-0-body">
            <a:extLst xmlns:a="http://schemas.openxmlformats.org/drawingml/2006/main">
              <a:ext uri="{FF2B5EF4-FFF2-40B4-BE49-F238E27FC236}">
                <a16:creationId xmlns:a16="http://schemas.microsoft.com/office/drawing/2014/main" id="{07941CCA-2692-4F3B-B5FF-8DEBA22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19575"/>
            <a:ext cx="238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최근 12개월 방문·소비·검색 자료에서 후보 권역 1곳을 정합니다.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후보 권역 선정표</a:t>
            </a:r>
          </a:p>
        </p:txBody>
      </p:sp>
      <p:sp>
        <p:nvSpPr>
          <p:cNvPr id="8" name="step-1-rule">
            <a:extLst xmlns:a="http://schemas.openxmlformats.org/drawingml/2006/main">
              <a:ext uri="{FF2B5EF4-FFF2-40B4-BE49-F238E27FC236}">
                <a16:creationId xmlns:a16="http://schemas.microsoft.com/office/drawing/2014/main" id="{271037CD-3D94-4954-A9B7-62A07A13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80000">
            <a:off x="8401050" y="4191000"/>
            <a:ext cx="10763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76DB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5310D594-B49B-4A22-8DE6-7E9C62CC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5770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A"/>
          </a:solidFill>
          <a:ln xmlns:a="http://schemas.openxmlformats.org/drawingml/2006/main" w="0">
            <a:solidFill>
              <a:srgbClr val="176DB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STEP 02 · 3~4주</a:t>
            </a:r>
          </a:p>
        </p:txBody>
      </p:sp>
      <p:sp>
        <p:nvSpPr>
          <p:cNvPr id="10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BF52D1D6-661A-435F-8541-DBE90D7A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10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763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참여처·동선 설계</a:t>
            </a:r>
          </a:p>
        </p:txBody>
      </p:sp>
      <p:sp>
        <p:nvSpPr>
          <p:cNvPr id="11" name="step-1-body">
            <a:extLst xmlns:a="http://schemas.openxmlformats.org/drawingml/2006/main">
              <a:ext uri="{FF2B5EF4-FFF2-40B4-BE49-F238E27FC236}">
                <a16:creationId xmlns:a16="http://schemas.microsoft.com/office/drawing/2014/main" id="{B1CA67F2-083B-484D-B979-9EA70E2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457825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식음·쇼핑 참여처와 관광 지점을 연결하고 혜택·정산·안전 기준을 확정합니다.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코스 지도·참여 기준</a:t>
            </a:r>
          </a:p>
        </p:txBody>
      </p:sp>
      <p:sp>
        <p:nvSpPr>
          <p:cNvPr id="12" name="step-2-rule">
            <a:extLst xmlns:a="http://schemas.openxmlformats.org/drawingml/2006/main">
              <a:ext uri="{FF2B5EF4-FFF2-40B4-BE49-F238E27FC236}">
                <a16:creationId xmlns:a16="http://schemas.microsoft.com/office/drawing/2014/main" id="{9818F010-1CC6-465C-A6DB-482EF862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80000">
            <a:off x="10858500" y="3333750"/>
            <a:ext cx="10763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ACA8C8F1-D10F-43C1-A65D-52FACF40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0045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7C9"/>
          </a:solidFill>
          <a:ln xmlns:a="http://schemas.openxmlformats.org/drawingml/2006/main" w="0">
            <a:solidFill>
              <a:srgbClr val="00B7C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STEP 03 · 2개월차</a:t>
            </a:r>
          </a:p>
        </p:txBody>
      </p:sp>
      <p:sp>
        <p:nvSpPr>
          <p:cNvPr id="14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08134B86-8D30-402C-9CEF-074FEC17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14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763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안내·혜택 시범 운영</a:t>
            </a:r>
          </a:p>
        </p:txBody>
      </p:sp>
      <p:sp>
        <p:nvSpPr>
          <p:cNvPr id="15" name="step-2-body">
            <a:extLst xmlns:a="http://schemas.openxmlformats.org/drawingml/2006/main">
              <a:ext uri="{FF2B5EF4-FFF2-40B4-BE49-F238E27FC236}">
                <a16:creationId xmlns:a16="http://schemas.microsoft.com/office/drawing/2014/main" id="{A3D6FB23-F5E8-415A-9C62-CDDD2FC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62225"/>
            <a:ext cx="2381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모바일 안내와 공통 혜택을 열고 참여처 교육과 문의 대응을 시작합니다.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안내 페이지·운영 매뉴얼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step-3-rule">
            <a:extLst xmlns:a="http://schemas.openxmlformats.org/drawingml/2006/main">
              <a:ext uri="{FF2B5EF4-FFF2-40B4-BE49-F238E27FC236}">
                <a16:creationId xmlns:a16="http://schemas.microsoft.com/office/drawing/2014/main" id="{D0CBC112-A98C-4EA5-BA4F-54DB9D5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2250" y="2724150"/>
            <a:ext cx="57150" cy="2495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tep-3-label">
            <a:extLst xmlns:a="http://schemas.openxmlformats.org/drawingml/2006/main">
              <a:ext uri="{FF2B5EF4-FFF2-40B4-BE49-F238E27FC236}">
                <a16:creationId xmlns:a16="http://schemas.microsoft.com/office/drawing/2014/main" id="{F0662ED8-32C0-41E6-86B5-4085829F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7432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solidFill>
              <a:srgbClr val="FF6B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STEP 04 · 3~4개월차</a:t>
            </a:r>
          </a:p>
        </p:txBody>
      </p:sp>
      <p:sp>
        <p:nvSpPr>
          <p:cNvPr id="18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F4EEECAE-8F09-478C-9B9E-19776C1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257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763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주간 기록·운영 조정</a:t>
            </a:r>
          </a:p>
        </p:txBody>
      </p:sp>
      <p:sp>
        <p:nvSpPr>
          <p:cNvPr id="19" name="step-3-body">
            <a:extLst xmlns:a="http://schemas.openxmlformats.org/drawingml/2006/main">
              <a:ext uri="{FF2B5EF4-FFF2-40B4-BE49-F238E27FC236}">
                <a16:creationId xmlns:a16="http://schemas.microsoft.com/office/drawing/2014/main" id="{C705A7EA-982B-4870-B075-B69149AF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705225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이용·결제·체류·민원을 주간으로 확인하고 동선과 혜택을 조정합니다.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월간 운영 결과표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value-panel">
            <a:extLst xmlns:a="http://schemas.openxmlformats.org/drawingml/2006/main">
              <a:ext uri="{FF2B5EF4-FFF2-40B4-BE49-F238E27FC236}">
                <a16:creationId xmlns:a16="http://schemas.microsoft.com/office/drawing/2014/main" id="{0A5928CC-5352-494A-82B9-C6E3C567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29527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7ADBE4"/>
                </a:solidFill>
                <a:latin typeface="Noto Sans KR"/>
                <a:ea typeface="Noto Sans KR"/>
                <a:cs typeface="Noto Sans KR"/>
              </a:rPr>
              <a:t>FINAL OUTPUT</a:t>
            </a:r>
            <a:endParaRPr/>
          </a:p>
        </p:txBody>
      </p:sp>
      <p:sp>
        <p:nvSpPr>
          <p:cNvPr id="21" name="value-panel-rail">
            <a:extLst xmlns:a="http://schemas.openxmlformats.org/drawingml/2006/main">
              <a:ext uri="{FF2B5EF4-FFF2-40B4-BE49-F238E27FC236}">
                <a16:creationId xmlns:a16="http://schemas.microsoft.com/office/drawing/2014/main" id="{FF527866-641E-44D2-8381-B96977E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0" cy="504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value-title">
            <a:extLst xmlns:a="http://schemas.openxmlformats.org/drawingml/2006/main">
              <a:ext uri="{FF2B5EF4-FFF2-40B4-BE49-F238E27FC236}">
                <a16:creationId xmlns:a16="http://schemas.microsoft.com/office/drawing/2014/main" id="{3506D103-ACC9-4612-8F44-8648D01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05100"/>
            <a:ext cx="224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최종 산출물 · 5~6개월차</a:t>
            </a:r>
          </a:p>
        </p:txBody>
      </p:sp>
      <p:sp>
        <p:nvSpPr>
          <p:cNvPr id="23" name="value-body">
            <a:extLst xmlns:a="http://schemas.openxmlformats.org/drawingml/2006/main">
              <a:ext uri="{FF2B5EF4-FFF2-40B4-BE49-F238E27FC236}">
                <a16:creationId xmlns:a16="http://schemas.microsoft.com/office/drawing/2014/main" id="{E6BA8404-9624-4B90-BC5C-9706A7B2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29050"/>
            <a:ext cx="22479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0" i="0">
                <a:solidFill>
                  <a:srgbClr val="EAF3FB"/>
                </a:solidFill>
                <a:latin typeface="Noto Sans KR"/>
                <a:ea typeface="Noto Sans KR"/>
                <a:cs typeface="Noto Sans KR"/>
              </a:rPr>
              <a:t>이용·결제 기록, 참여처별 비용, 민원과 개선 의견을 한 장의 결과표로 정리합니다.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/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0" i="0">
                <a:solidFill>
                  <a:srgbClr val="EAF3FB"/>
                </a:solidFill>
                <a:latin typeface="Noto Sans KR"/>
                <a:ea typeface="Noto Sans KR"/>
                <a:cs typeface="Noto Sans KR"/>
              </a:rPr>
              <a:t>기준선과 시범 결과를 같은 방식으로 비교해 다음 회차의 유지·보완·확대 범위를 결정합니다.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89566C74-171B-4CC1-A081-68E147C8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914400"/>
            <a:ext cx="11906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시범 목표 · 자연추세와 운영 목표를 구분합니다</a:t>
            </a:r>
            <a:endParaRPr sz="390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06725C-B232-4DB7-96F0-03854DF8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192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51BFB9C-216A-4C33-A839-B04730D3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526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교육용 더미값입니다. 실제 수치와 목표는 저장 ML·집행 여건에 따라 결정합니다.</a:t>
            </a:r>
            <a:endParaRPr sz="1350" b="0" i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audience-card-0">
            <a:extLst xmlns:a="http://schemas.openxmlformats.org/drawingml/2006/main">
              <a:ext uri="{FF2B5EF4-FFF2-40B4-BE49-F238E27FC236}">
                <a16:creationId xmlns:a16="http://schemas.microsoft.com/office/drawing/2014/main" id="{4C5D9B42-9585-431B-9F85-6047030B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audience-pill-0">
            <a:extLst xmlns:a="http://schemas.openxmlformats.org/drawingml/2006/main">
              <a:ext uri="{FF2B5EF4-FFF2-40B4-BE49-F238E27FC236}">
                <a16:creationId xmlns:a16="http://schemas.microsoft.com/office/drawing/2014/main" id="{78EAE8B0-7A2C-4232-829C-9DE3D07F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방문자 예시 목표 +2%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audience-body-0">
            <a:extLst xmlns:a="http://schemas.openxmlformats.org/drawingml/2006/main">
              <a:ext uri="{FF2B5EF4-FFF2-40B4-BE49-F238E27FC236}">
                <a16:creationId xmlns:a16="http://schemas.microsoft.com/office/drawing/2014/main" id="{18036271-88F0-4820-8017-27AD9D82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24550"/>
            <a:ext cx="3695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더미 자연추세와 운영 목표의 배치 예시입니다.</a:t>
            </a:r>
          </a:p>
        </p:txBody>
      </p:sp>
      <p:sp>
        <p:nvSpPr>
          <p:cNvPr id="19" name="audience-divider-0">
            <a:extLst xmlns:a="http://schemas.openxmlformats.org/drawingml/2006/main">
              <a:ext uri="{FF2B5EF4-FFF2-40B4-BE49-F238E27FC236}">
                <a16:creationId xmlns:a16="http://schemas.microsoft.com/office/drawing/2014/main" id="{D37CFD94-BBEC-4549-A877-861B6AF8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743700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audience-role-0">
            <a:extLst xmlns:a="http://schemas.openxmlformats.org/drawingml/2006/main">
              <a:ext uri="{FF2B5EF4-FFF2-40B4-BE49-F238E27FC236}">
                <a16:creationId xmlns:a16="http://schemas.microsoft.com/office/drawing/2014/main" id="{431424E7-8452-4D5A-BFBC-7C483C02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924675"/>
            <a:ext cx="3600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샘플: 실제 저장 ML 등록 뒤 대체</a:t>
            </a:r>
            <a:endParaRPr sz="1050" b="1" i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audience-card-1">
            <a:extLst xmlns:a="http://schemas.openxmlformats.org/drawingml/2006/main">
              <a:ext uri="{FF2B5EF4-FFF2-40B4-BE49-F238E27FC236}">
                <a16:creationId xmlns:a16="http://schemas.microsoft.com/office/drawing/2014/main" id="{E4BF1616-4E6A-46E9-A604-B8790B8D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audience-pill-1">
            <a:extLst xmlns:a="http://schemas.openxmlformats.org/drawingml/2006/main">
              <a:ext uri="{FF2B5EF4-FFF2-40B4-BE49-F238E27FC236}">
                <a16:creationId xmlns:a16="http://schemas.microsoft.com/office/drawing/2014/main" id="{DC565623-691C-46E9-9B1E-CA335ADD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관광소비 예시 목표 +3%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audience-body-1">
            <a:extLst xmlns:a="http://schemas.openxmlformats.org/drawingml/2006/main">
              <a:ext uri="{FF2B5EF4-FFF2-40B4-BE49-F238E27FC236}">
                <a16:creationId xmlns:a16="http://schemas.microsoft.com/office/drawing/2014/main" id="{06949467-623E-4320-80B3-3600A711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913" y="5924550"/>
            <a:ext cx="3695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더미 관광소비 추세와 운영 목표의 배치 예시입니다.</a:t>
            </a:r>
          </a:p>
        </p:txBody>
      </p:sp>
      <p:sp>
        <p:nvSpPr>
          <p:cNvPr id="30" name="audience-divider-1">
            <a:extLst xmlns:a="http://schemas.openxmlformats.org/drawingml/2006/main">
              <a:ext uri="{FF2B5EF4-FFF2-40B4-BE49-F238E27FC236}">
                <a16:creationId xmlns:a16="http://schemas.microsoft.com/office/drawing/2014/main" id="{70E4CE22-3136-4945-B6F8-3CBFD1AC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913" y="6743700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audience-role-1">
            <a:extLst xmlns:a="http://schemas.openxmlformats.org/drawingml/2006/main">
              <a:ext uri="{FF2B5EF4-FFF2-40B4-BE49-F238E27FC236}">
                <a16:creationId xmlns:a16="http://schemas.microsoft.com/office/drawing/2014/main" id="{91A14E64-F9D6-4991-AF2A-62B1E572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538" y="6924675"/>
            <a:ext cx="3600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샘플: 실제 저장 ML 등록 뒤 대체</a:t>
            </a:r>
          </a:p>
        </p:txBody>
      </p:sp>
      <p:sp>
        <p:nvSpPr>
          <p:cNvPr id="32" name="audience-card-2">
            <a:extLst xmlns:a="http://schemas.openxmlformats.org/drawingml/2006/main">
              <a:ext uri="{FF2B5EF4-FFF2-40B4-BE49-F238E27FC236}">
                <a16:creationId xmlns:a16="http://schemas.microsoft.com/office/drawing/2014/main" id="{29361FBB-3A70-4672-AA0E-E8B8C32A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audience-pill-2">
            <a:extLst xmlns:a="http://schemas.openxmlformats.org/drawingml/2006/main">
              <a:ext uri="{FF2B5EF4-FFF2-40B4-BE49-F238E27FC236}">
                <a16:creationId xmlns:a16="http://schemas.microsoft.com/office/drawing/2014/main" id="{46094810-6C0A-47A8-AF7A-34677C91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63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시범 운영 완료율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9" name="audience-body-2">
            <a:extLst xmlns:a="http://schemas.openxmlformats.org/drawingml/2006/main">
              <a:ext uri="{FF2B5EF4-FFF2-40B4-BE49-F238E27FC236}">
                <a16:creationId xmlns:a16="http://schemas.microsoft.com/office/drawing/2014/main" id="{D9085674-740D-4428-BE90-51011B86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924550"/>
            <a:ext cx="3695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예약·이용·결제를 모두 확인한 참여 건을 기준으로 완료율과 민원을 관리합니다.</a:t>
            </a:r>
          </a:p>
        </p:txBody>
      </p:sp>
      <p:sp>
        <p:nvSpPr>
          <p:cNvPr id="40" name="audience-divider-2">
            <a:extLst xmlns:a="http://schemas.openxmlformats.org/drawingml/2006/main">
              <a:ext uri="{FF2B5EF4-FFF2-40B4-BE49-F238E27FC236}">
                <a16:creationId xmlns:a16="http://schemas.microsoft.com/office/drawing/2014/main" id="{5F839689-58C2-4B5A-B556-CA2230F2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743700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audience-role-2">
            <a:extLst xmlns:a="http://schemas.openxmlformats.org/drawingml/2006/main">
              <a:ext uri="{FF2B5EF4-FFF2-40B4-BE49-F238E27FC236}">
                <a16:creationId xmlns:a16="http://schemas.microsoft.com/office/drawing/2014/main" id="{8FBFEBB1-BE5F-4E74-B007-0FC209D0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6924675"/>
            <a:ext cx="3600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측정: 예약·입장·결제·민원 기록</a:t>
            </a:r>
          </a:p>
        </p:txBody>
      </p:sp>
      <p:sp>
        <p:nvSpPr>
          <p:cNvPr id="46" name="visit-forecast-bar">
            <a:extLst xmlns:a="http://schemas.openxmlformats.org/drawingml/2006/main">
              <a:ext uri="{FF2B5EF4-FFF2-40B4-BE49-F238E27FC236}">
                <a16:creationId xmlns:a16="http://schemas.microsoft.com/office/drawing/2014/main" id="{7EAE788A-E562-434D-AC49-CD849B5E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67200"/>
            <a:ext cx="819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visit-target-bar">
            <a:extLst xmlns:a="http://schemas.openxmlformats.org/drawingml/2006/main">
              <a:ext uri="{FF2B5EF4-FFF2-40B4-BE49-F238E27FC236}">
                <a16:creationId xmlns:a16="http://schemas.microsoft.com/office/drawing/2014/main" id="{9D78738B-2F2C-452C-B80F-CC489B95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48150"/>
            <a:ext cx="819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visit-forecast">
            <a:extLst xmlns:a="http://schemas.openxmlformats.org/drawingml/2006/main">
              <a:ext uri="{FF2B5EF4-FFF2-40B4-BE49-F238E27FC236}">
                <a16:creationId xmlns:a16="http://schemas.microsoft.com/office/drawing/2014/main" id="{50B12863-8786-4034-A890-14F4B6A7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예시 1,815만 명</a:t>
            </a:r>
          </a:p>
        </p:txBody>
      </p:sp>
      <p:sp>
        <p:nvSpPr>
          <p:cNvPr id="49" name="visit-target">
            <a:extLst xmlns:a="http://schemas.openxmlformats.org/drawingml/2006/main">
              <a:ext uri="{FF2B5EF4-FFF2-40B4-BE49-F238E27FC236}">
                <a16:creationId xmlns:a16="http://schemas.microsoft.com/office/drawing/2014/main" id="{30BAFE74-EC27-4531-B6DD-98B79F26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33825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예시 목표 1,851만 명</a:t>
            </a:r>
          </a:p>
        </p:txBody>
      </p:sp>
      <p:sp>
        <p:nvSpPr>
          <p:cNvPr id="50" name="visit-arrow">
            <a:extLst xmlns:a="http://schemas.openxmlformats.org/drawingml/2006/main">
              <a:ext uri="{FF2B5EF4-FFF2-40B4-BE49-F238E27FC236}">
                <a16:creationId xmlns:a16="http://schemas.microsoft.com/office/drawing/2014/main" id="{28A8A9DD-D353-4D59-83BB-5A64A328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743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288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1" name="spend-forecast-bar">
            <a:extLst xmlns:a="http://schemas.openxmlformats.org/drawingml/2006/main">
              <a:ext uri="{FF2B5EF4-FFF2-40B4-BE49-F238E27FC236}">
                <a16:creationId xmlns:a16="http://schemas.microsoft.com/office/drawing/2014/main" id="{9F13A2C2-BBB7-4A8F-8B9B-018741CA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67200"/>
            <a:ext cx="819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spend-target-bar">
            <a:extLst xmlns:a="http://schemas.openxmlformats.org/drawingml/2006/main">
              <a:ext uri="{FF2B5EF4-FFF2-40B4-BE49-F238E27FC236}">
                <a16:creationId xmlns:a16="http://schemas.microsoft.com/office/drawing/2014/main" id="{E26096D6-3133-437B-953E-A9E04854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38625"/>
            <a:ext cx="8191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pend-forecast">
            <a:extLst xmlns:a="http://schemas.openxmlformats.org/drawingml/2006/main">
              <a:ext uri="{FF2B5EF4-FFF2-40B4-BE49-F238E27FC236}">
                <a16:creationId xmlns:a16="http://schemas.microsoft.com/office/drawing/2014/main" id="{BF98D298-373A-4294-99D1-A00ECF9D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05250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예시 4,760억 원</a:t>
            </a:r>
          </a:p>
        </p:txBody>
      </p:sp>
      <p:sp>
        <p:nvSpPr>
          <p:cNvPr id="54" name="spend-target">
            <a:extLst xmlns:a="http://schemas.openxmlformats.org/drawingml/2006/main">
              <a:ext uri="{FF2B5EF4-FFF2-40B4-BE49-F238E27FC236}">
                <a16:creationId xmlns:a16="http://schemas.microsoft.com/office/drawing/2014/main" id="{5CF522C7-7887-4EE2-9BF6-55BF0B1B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33825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예시 목표 4,903억 원</a:t>
            </a:r>
          </a:p>
        </p:txBody>
      </p:sp>
      <p:sp>
        <p:nvSpPr>
          <p:cNvPr id="55" name="spend-arrow">
            <a:extLst xmlns:a="http://schemas.openxmlformats.org/drawingml/2006/main">
              <a:ext uri="{FF2B5EF4-FFF2-40B4-BE49-F238E27FC236}">
                <a16:creationId xmlns:a16="http://schemas.microsoft.com/office/drawing/2014/main" id="{32493DB0-02BB-4272-9572-526BAEF8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43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288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6" name="foreign-forecast-bar">
            <a:extLst xmlns:a="http://schemas.openxmlformats.org/drawingml/2006/main">
              <a:ext uri="{FF2B5EF4-FFF2-40B4-BE49-F238E27FC236}">
                <a16:creationId xmlns:a16="http://schemas.microsoft.com/office/drawing/2014/main" id="{2DE1DBAA-9C91-4923-A9C6-E608902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52950"/>
            <a:ext cx="81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foreign-target-bar">
            <a:extLst xmlns:a="http://schemas.openxmlformats.org/drawingml/2006/main">
              <a:ext uri="{FF2B5EF4-FFF2-40B4-BE49-F238E27FC236}">
                <a16:creationId xmlns:a16="http://schemas.microsoft.com/office/drawing/2014/main" id="{778E10A6-2AC7-4CF8-BF38-C7790D86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4552950"/>
            <a:ext cx="81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foreign-forecast">
            <a:extLst xmlns:a="http://schemas.openxmlformats.org/drawingml/2006/main">
              <a:ext uri="{FF2B5EF4-FFF2-40B4-BE49-F238E27FC236}">
                <a16:creationId xmlns:a16="http://schemas.microsoft.com/office/drawing/2014/main" id="{09F54D75-4425-47AB-9B00-EFDA46E4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276725"/>
            <a:ext cx="1762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기준선 확정</a:t>
            </a:r>
          </a:p>
        </p:txBody>
      </p:sp>
      <p:sp>
        <p:nvSpPr>
          <p:cNvPr id="59" name="foreign-target">
            <a:extLst xmlns:a="http://schemas.openxmlformats.org/drawingml/2006/main">
              <a:ext uri="{FF2B5EF4-FFF2-40B4-BE49-F238E27FC236}">
                <a16:creationId xmlns:a16="http://schemas.microsoft.com/office/drawing/2014/main" id="{66CB0B58-B33B-4150-9904-FA24C37C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4276725"/>
            <a:ext cx="2047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운영 후 확인</a:t>
            </a:r>
          </a:p>
        </p:txBody>
      </p:sp>
      <p:sp>
        <p:nvSpPr>
          <p:cNvPr id="60" name="foreign-arrow">
            <a:extLst xmlns:a="http://schemas.openxmlformats.org/drawingml/2006/main">
              <a:ext uri="{FF2B5EF4-FFF2-40B4-BE49-F238E27FC236}">
                <a16:creationId xmlns:a16="http://schemas.microsoft.com/office/drawing/2014/main" id="{DC5BC4F7-29C7-4FA1-9677-A81C0CFC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4743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288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5537420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7D48FBA-7209-4694-8898-345F9345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076325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BUDGET ESTIMATE · SAMPLE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B47A03-506E-4149-B937-66765324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457325"/>
            <a:ext cx="79152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견적</a:t>
            </a:r>
            <a:endParaRPr sz="3600" b="1">
              <a:solidFill>
                <a:srgbClr val="00C1D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17D69D-823C-4D07-A9EB-0AC744C1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66950"/>
            <a:ext cx="791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6329FC8E-195C-45D9-8123-1B9D8429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790825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6개월 시범을 가정한 예시입니다. 운영 권역·기간·참여처·혜택 단가를 정한 뒤 비교견적으로 확정합니다.</a:t>
            </a:r>
          </a:p>
        </p:txBody>
      </p:sp>
      <p:sp>
        <p:nvSpPr>
          <p:cNvPr id="6" name="dashboard-rail">
            <a:extLst xmlns:a="http://schemas.openxmlformats.org/drawingml/2006/main">
              <a:ext uri="{FF2B5EF4-FFF2-40B4-BE49-F238E27FC236}">
                <a16:creationId xmlns:a16="http://schemas.microsoft.com/office/drawing/2014/main" id="{9BE94A36-2943-4E88-B24E-66109F70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95750"/>
            <a:ext cx="0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dashboard-title">
            <a:extLst xmlns:a="http://schemas.openxmlformats.org/drawingml/2006/main">
              <a:ext uri="{FF2B5EF4-FFF2-40B4-BE49-F238E27FC236}">
                <a16:creationId xmlns:a16="http://schemas.microsoft.com/office/drawing/2014/main" id="{5A8CD150-B4FE-4BF8-B6C6-DE88B588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338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산출 기준</a:t>
            </a:r>
          </a:p>
        </p:txBody>
      </p:sp>
      <p:sp>
        <p:nvSpPr>
          <p:cNvPr id="8" name="dashboard-body">
            <a:extLst xmlns:a="http://schemas.openxmlformats.org/drawingml/2006/main">
              <a:ext uri="{FF2B5EF4-FFF2-40B4-BE49-F238E27FC236}">
                <a16:creationId xmlns:a16="http://schemas.microsoft.com/office/drawing/2014/main" id="{C4465979-A2B2-432C-8E9B-859897CE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6572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① 운영일수 × 현장 인력·안전 단가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② 참여 건수 × 혜택 단가</a:t>
            </a:r>
            <a:endParaRPr sz="1275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③ 예약·결제·데이터 연동 구축비</a:t>
            </a:r>
            <a:endParaRPr sz="1275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④ 홍보·평가비 + 예비비</a:t>
            </a:r>
            <a:endParaRPr sz="1275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report-card">
            <a:extLst xmlns:a="http://schemas.openxmlformats.org/drawingml/2006/main">
              <a:ext uri="{FF2B5EF4-FFF2-40B4-BE49-F238E27FC236}">
                <a16:creationId xmlns:a16="http://schemas.microsoft.com/office/drawing/2014/main" id="{01ECDF9F-37D9-484C-997E-3809C467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000750"/>
            <a:ext cx="3810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port-card-title">
            <a:extLst xmlns:a="http://schemas.openxmlformats.org/drawingml/2006/main">
              <a:ext uri="{FF2B5EF4-FFF2-40B4-BE49-F238E27FC236}">
                <a16:creationId xmlns:a16="http://schemas.microsoft.com/office/drawing/2014/main" id="{1353BCF8-2C10-48C9-B173-6A79000E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34100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확정 절차</a:t>
            </a:r>
          </a:p>
        </p:txBody>
      </p:sp>
      <p:sp>
        <p:nvSpPr>
          <p:cNvPr id="14" name="report-card-body">
            <a:extLst xmlns:a="http://schemas.openxmlformats.org/drawingml/2006/main">
              <a:ext uri="{FF2B5EF4-FFF2-40B4-BE49-F238E27FC236}">
                <a16:creationId xmlns:a16="http://schemas.microsoft.com/office/drawing/2014/main" id="{796461ED-E207-428E-ADB1-53B8A04F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50557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 범위 확정 → 3개 이상 비교견적</a:t>
            </a:r>
          </a:p>
        </p:txBody>
      </p:sp>
      <p:sp>
        <p:nvSpPr>
          <p:cNvPr id="15" name="report-card-orange">
            <a:extLst xmlns:a="http://schemas.openxmlformats.org/drawingml/2006/main">
              <a:ext uri="{FF2B5EF4-FFF2-40B4-BE49-F238E27FC236}">
                <a16:creationId xmlns:a16="http://schemas.microsoft.com/office/drawing/2014/main" id="{9F582882-6E9C-4D93-8DCC-9FDEE65D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865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계약·정산 조건 확인</a:t>
            </a:r>
          </a:p>
        </p:txBody>
      </p:sp>
      <p:sp>
        <p:nvSpPr>
          <p:cNvPr id="16" name="map-card">
            <a:extLst xmlns:a="http://schemas.openxmlformats.org/drawingml/2006/main">
              <a:ext uri="{FF2B5EF4-FFF2-40B4-BE49-F238E27FC236}">
                <a16:creationId xmlns:a16="http://schemas.microsoft.com/office/drawing/2014/main" id="{60160296-0010-438C-8C26-7EBA5D46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000750"/>
            <a:ext cx="3819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map-card-title">
            <a:extLst xmlns:a="http://schemas.openxmlformats.org/drawingml/2006/main">
              <a:ext uri="{FF2B5EF4-FFF2-40B4-BE49-F238E27FC236}">
                <a16:creationId xmlns:a16="http://schemas.microsoft.com/office/drawing/2014/main" id="{BE455A73-544C-45BA-A88B-6981407D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134100"/>
            <a:ext cx="3219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금액 조정 기준</a:t>
            </a:r>
          </a:p>
        </p:txBody>
      </p:sp>
      <p:sp>
        <p:nvSpPr>
          <p:cNvPr id="18" name="map-card-body">
            <a:extLst xmlns:a="http://schemas.openxmlformats.org/drawingml/2006/main">
              <a:ext uri="{FF2B5EF4-FFF2-40B4-BE49-F238E27FC236}">
                <a16:creationId xmlns:a16="http://schemas.microsoft.com/office/drawing/2014/main" id="{0E481C2C-4BC3-4728-82FE-9D729B77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505575"/>
            <a:ext cx="3219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 수량·혜택 단가 반영</a:t>
            </a:r>
          </a:p>
        </p:txBody>
      </p:sp>
      <p:sp>
        <p:nvSpPr>
          <p:cNvPr id="19" name="map-card-orange">
            <a:extLst xmlns:a="http://schemas.openxmlformats.org/drawingml/2006/main">
              <a:ext uri="{FF2B5EF4-FFF2-40B4-BE49-F238E27FC236}">
                <a16:creationId xmlns:a16="http://schemas.microsoft.com/office/drawing/2014/main" id="{40E98527-DF47-4B36-8CA4-81AD0B8A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886575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부가세·예비비 포함 여부 확인</a:t>
            </a:r>
          </a:p>
        </p:txBody>
      </p:sp>
      <p:sp>
        <p:nvSpPr>
          <p:cNvPr id="20" name="budget-table-title">
            <a:extLst xmlns:a="http://schemas.openxmlformats.org/drawingml/2006/main">
              <a:ext uri="{FF2B5EF4-FFF2-40B4-BE49-F238E27FC236}">
                <a16:creationId xmlns:a16="http://schemas.microsoft.com/office/drawing/2014/main" id="{4B7C0E87-B747-49E5-9D6E-79288544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954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6개월 시범 예시 견적  |  총 2억 4,000만 원</a:t>
            </a:r>
          </a:p>
        </p:txBody>
      </p:sp>
      <p:graphicFrame>
        <p:nvGraphicFramePr>
          <p:cNvPr id="40" name="표 42"/>
          <p:cNvGraphicFramePr/>
          <p:nvPr/>
        </p:nvGraphicFramePr>
        <p:xfrm>
          <a:off xmlns:a="http://schemas.openxmlformats.org/drawingml/2006/main" x="8877300" y="2295525"/>
          <a:ext xmlns:a="http://schemas.openxmlformats.org/drawingml/2006/main" cx="5619750" cy="4648200"/>
        </p:xfrm>
        <a:graphic xmlns:a="http://schemas.openxmlformats.org/drawingml/2006/main">
          <a:graphicData uri="http://schemas.openxmlformats.org/drawingml/2006/table">
            <a:tbl>
              <a:tblPr firstRow="0" firstCol="1" lastRow="0" bandRow="0"/>
              <a:tblGrid>
                <a:gridCol w="2686050"/>
                <a:gridCol w="1028700"/>
                <a:gridCol w="1905000"/>
              </a:tblGrid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세부 항목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비중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예산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프로그램 운영·안전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45%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425" b="1">
                          <a:solidFill>
                            <a:srgbClr val="00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1억 800만 원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참여 혜택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25%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425" b="1">
                          <a:solidFill>
                            <a:srgbClr val="00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6,000만 원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예약·결제 연동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12%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425" b="1">
                          <a:solidFill>
                            <a:srgbClr val="00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2,800만 원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홍보·다국어 콘텐츠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9%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425" b="1">
                          <a:solidFill>
                            <a:srgbClr val="00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2,200만 원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성과 측정·검토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6%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425" b="1">
                          <a:solidFill>
                            <a:srgbClr val="00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1,400만 원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예비비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3%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425" b="1">
                          <a:solidFill>
                            <a:srgbClr val="00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800만 원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합계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E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100%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EF1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500" b="1">
                          <a:solidFill>
                            <a:srgbClr val="00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2억 4,000만 원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EF1F6"/>
                    </a:solidFill>
                  </a:tcPr>
                </a:tc>
              </a:tr>
            </a:tbl>
          </a:graphicData>
        </a:graphic>
      </p:graphicFrame>
      <p:sp>
        <p:nvSpPr>
          <p:cNvPr id="22" name="budget-table-note">
            <a:extLst xmlns:a="http://schemas.openxmlformats.org/drawingml/2006/main">
              <a:ext uri="{FF2B5EF4-FFF2-40B4-BE49-F238E27FC236}">
                <a16:creationId xmlns:a16="http://schemas.microsoft.com/office/drawing/2014/main" id="{93D0AAD8-9B43-408B-B46B-CE7F4F01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7229475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예시 견적이며 확정 금액이 아닙니다.</a:t>
            </a:r>
          </a:p>
          <a:p xmlns:a="http://schemas.openxmlformats.org/drawingml/2006/main">
            <a:pPr algn="l">
              <a:buNone/>
              <a:defRPr sz="90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계약 전 운영 범위·단가·부가세·정산 조건을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8231333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7809EB03-E1D8-4B3D-96C4-AA327A20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52575"/>
            <a:ext cx="12192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시범 종료 후에도 데이터로 코스를 계속 개선합니다</a:t>
            </a:r>
          </a:p>
        </p:txBody>
      </p:sp>
      <p:sp>
        <p:nvSpPr>
          <p:cNvPr id="2" name="column-line-1">
            <a:extLst xmlns:a="http://schemas.openxmlformats.org/drawingml/2006/main">
              <a:ext uri="{FF2B5EF4-FFF2-40B4-BE49-F238E27FC236}">
                <a16:creationId xmlns:a16="http://schemas.microsoft.com/office/drawing/2014/main" id="{7AF7F9BF-3A99-474E-A050-C5588CC7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003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olumn-line-2">
            <a:extLst xmlns:a="http://schemas.openxmlformats.org/drawingml/2006/main">
              <a:ext uri="{FF2B5EF4-FFF2-40B4-BE49-F238E27FC236}">
                <a16:creationId xmlns:a16="http://schemas.microsoft.com/office/drawing/2014/main" id="{66D57082-5011-45CA-9E18-88DF7DD7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003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xpected-pill">
            <a:extLst xmlns:a="http://schemas.openxmlformats.org/drawingml/2006/main">
              <a:ext uri="{FF2B5EF4-FFF2-40B4-BE49-F238E27FC236}">
                <a16:creationId xmlns:a16="http://schemas.microsoft.com/office/drawing/2014/main" id="{07AC9F43-995E-47B2-B264-6586997C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1. 매월 운영 점검</a:t>
            </a:r>
          </a:p>
        </p:txBody>
      </p:sp>
      <p:sp>
        <p:nvSpPr>
          <p:cNvPr id="5" name="expected-card">
            <a:extLst xmlns:a="http://schemas.openxmlformats.org/drawingml/2006/main">
              <a:ext uri="{FF2B5EF4-FFF2-40B4-BE49-F238E27FC236}">
                <a16:creationId xmlns:a16="http://schemas.microsoft.com/office/drawing/2014/main" id="{D2C6D383-FF5C-4128-AE40-7ECFDDEF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4048125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xpected-body">
            <a:extLst xmlns:a="http://schemas.openxmlformats.org/drawingml/2006/main">
              <a:ext uri="{FF2B5EF4-FFF2-40B4-BE49-F238E27FC236}">
                <a16:creationId xmlns:a16="http://schemas.microsoft.com/office/drawing/2014/main" id="{36A6D734-2976-4831-B0D4-1AE2CBC1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295775"/>
            <a:ext cx="35337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코스 완료·결제·체류시간·민원을 같은 기준으로 기록합니다. 이탈 구간은 다음 달 동선·혜택에 바로 반영합니다.</a:t>
            </a:r>
          </a:p>
        </p:txBody>
      </p:sp>
      <p:sp>
        <p:nvSpPr>
          <p:cNvPr id="7" name="indicator-pill">
            <a:extLst xmlns:a="http://schemas.openxmlformats.org/drawingml/2006/main">
              <a:ext uri="{FF2B5EF4-FFF2-40B4-BE49-F238E27FC236}">
                <a16:creationId xmlns:a16="http://schemas.microsoft.com/office/drawing/2014/main" id="{2AA1FD02-C801-4C5E-96B8-C2B7A85F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월간 운영지표</a:t>
            </a:r>
          </a:p>
        </p:txBody>
      </p:sp>
      <p:sp>
        <p:nvSpPr>
          <p:cNvPr id="8" name="indicator-circle-0">
            <a:extLst xmlns:a="http://schemas.openxmlformats.org/drawingml/2006/main">
              <a:ext uri="{FF2B5EF4-FFF2-40B4-BE49-F238E27FC236}">
                <a16:creationId xmlns:a16="http://schemas.microsoft.com/office/drawing/2014/main" id="{B5AA79C5-B445-4282-8187-486E81F2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indicator-glyph-0">
            <a:extLst xmlns:a="http://schemas.openxmlformats.org/drawingml/2006/main">
              <a:ext uri="{FF2B5EF4-FFF2-40B4-BE49-F238E27FC236}">
                <a16:creationId xmlns:a16="http://schemas.microsoft.com/office/drawing/2014/main" id="{9B4A4D83-3DB0-474E-9D3C-195E6DC3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이용</a:t>
            </a:r>
          </a:p>
        </p:txBody>
      </p:sp>
      <p:sp>
        <p:nvSpPr>
          <p:cNvPr id="10" name="indicator-circle-1">
            <a:extLst xmlns:a="http://schemas.openxmlformats.org/drawingml/2006/main">
              <a:ext uri="{FF2B5EF4-FFF2-40B4-BE49-F238E27FC236}">
                <a16:creationId xmlns:a16="http://schemas.microsoft.com/office/drawing/2014/main" id="{B719D672-73A0-4417-8018-07989F70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indicator-glyph-1">
            <a:extLst xmlns:a="http://schemas.openxmlformats.org/drawingml/2006/main">
              <a:ext uri="{FF2B5EF4-FFF2-40B4-BE49-F238E27FC236}">
                <a16:creationId xmlns:a16="http://schemas.microsoft.com/office/drawing/2014/main" id="{596F5692-71BF-434F-958A-89B6868A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결제</a:t>
            </a:r>
          </a:p>
        </p:txBody>
      </p:sp>
      <p:sp>
        <p:nvSpPr>
          <p:cNvPr id="12" name="indicator-circle-2">
            <a:extLst xmlns:a="http://schemas.openxmlformats.org/drawingml/2006/main">
              <a:ext uri="{FF2B5EF4-FFF2-40B4-BE49-F238E27FC236}">
                <a16:creationId xmlns:a16="http://schemas.microsoft.com/office/drawing/2014/main" id="{2AC0D30B-DDD4-4E74-A314-636D7CF5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indicator-glyph-2">
            <a:extLst xmlns:a="http://schemas.openxmlformats.org/drawingml/2006/main">
              <a:ext uri="{FF2B5EF4-FFF2-40B4-BE49-F238E27FC236}">
                <a16:creationId xmlns:a16="http://schemas.microsoft.com/office/drawing/2014/main" id="{93B5A93F-29C9-4AE1-AA73-2BE737B4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체류</a:t>
            </a:r>
          </a:p>
        </p:txBody>
      </p:sp>
      <p:sp>
        <p:nvSpPr>
          <p:cNvPr id="14" name="indicator-circle-3">
            <a:extLst xmlns:a="http://schemas.openxmlformats.org/drawingml/2006/main">
              <a:ext uri="{FF2B5EF4-FFF2-40B4-BE49-F238E27FC236}">
                <a16:creationId xmlns:a16="http://schemas.microsoft.com/office/drawing/2014/main" id="{E235D51A-DF5E-4DB8-810A-B9FE1052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indicator-glyph-3">
            <a:extLst xmlns:a="http://schemas.openxmlformats.org/drawingml/2006/main">
              <a:ext uri="{FF2B5EF4-FFF2-40B4-BE49-F238E27FC236}">
                <a16:creationId xmlns:a16="http://schemas.microsoft.com/office/drawing/2014/main" id="{1CA00698-1BA7-4C47-B7D1-49D23AAA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비용</a:t>
            </a:r>
          </a:p>
        </p:txBody>
      </p:sp>
      <p:sp>
        <p:nvSpPr>
          <p:cNvPr id="16" name="indicator-circle-4">
            <a:extLst xmlns:a="http://schemas.openxmlformats.org/drawingml/2006/main">
              <a:ext uri="{FF2B5EF4-FFF2-40B4-BE49-F238E27FC236}">
                <a16:creationId xmlns:a16="http://schemas.microsoft.com/office/drawing/2014/main" id="{223D3B08-E01D-4662-8D68-EC230DF9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indicator-glyph-4">
            <a:extLst xmlns:a="http://schemas.openxmlformats.org/drawingml/2006/main">
              <a:ext uri="{FF2B5EF4-FFF2-40B4-BE49-F238E27FC236}">
                <a16:creationId xmlns:a16="http://schemas.microsoft.com/office/drawing/2014/main" id="{AC65B1CB-640D-4DE4-93B2-1B5C183D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민원</a:t>
            </a:r>
          </a:p>
        </p:txBody>
      </p:sp>
      <p:sp>
        <p:nvSpPr>
          <p:cNvPr id="18" name="indicator-circle-5">
            <a:extLst xmlns:a="http://schemas.openxmlformats.org/drawingml/2006/main">
              <a:ext uri="{FF2B5EF4-FFF2-40B4-BE49-F238E27FC236}">
                <a16:creationId xmlns:a16="http://schemas.microsoft.com/office/drawing/2014/main" id="{6019C75D-1FC2-4667-B692-DDD073C8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D4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indicator-glyph-5">
            <a:extLst xmlns:a="http://schemas.openxmlformats.org/drawingml/2006/main">
              <a:ext uri="{FF2B5EF4-FFF2-40B4-BE49-F238E27FC236}">
                <a16:creationId xmlns:a16="http://schemas.microsoft.com/office/drawing/2014/main" id="{C7AF409C-91A3-4936-BB4D-7B252755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협약</a:t>
            </a:r>
          </a:p>
        </p:txBody>
      </p:sp>
      <p:sp>
        <p:nvSpPr>
          <p:cNvPr id="20" name="service-pill">
            <a:extLst xmlns:a="http://schemas.openxmlformats.org/drawingml/2006/main">
              <a:ext uri="{FF2B5EF4-FFF2-40B4-BE49-F238E27FC236}">
                <a16:creationId xmlns:a16="http://schemas.microsoft.com/office/drawing/2014/main" id="{FBBEFB7E-A7FD-4723-AE5B-8D907756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80035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2. 분기별 코스 보완</a:t>
            </a:r>
          </a:p>
        </p:txBody>
      </p:sp>
      <p:sp>
        <p:nvSpPr>
          <p:cNvPr id="21" name="service-body">
            <a:extLst xmlns:a="http://schemas.openxmlformats.org/drawingml/2006/main">
              <a:ext uri="{FF2B5EF4-FFF2-40B4-BE49-F238E27FC236}">
                <a16:creationId xmlns:a16="http://schemas.microsoft.com/office/drawing/2014/main" id="{0599DDA5-9C77-4328-A928-CB50C56F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514850"/>
            <a:ext cx="36480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성과가 낮은 구간은 동선·운영시간·혜택을 조정합니다. 확인된 범위에서만 참여처와 운영일을 늘립니다.</a:t>
            </a:r>
          </a:p>
        </p:txBody>
      </p:sp>
      <p:sp>
        <p:nvSpPr>
          <p:cNvPr id="22" name="service-note">
            <a:extLst xmlns:a="http://schemas.openxmlformats.org/drawingml/2006/main">
              <a:ext uri="{FF2B5EF4-FFF2-40B4-BE49-F238E27FC236}">
                <a16:creationId xmlns:a16="http://schemas.microsoft.com/office/drawing/2014/main" id="{880D0D04-81DF-42E1-BC18-56D5BF8F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657850"/>
            <a:ext cx="3648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분기마다 코스와 참여처 운영안을 갱신합니다.</a:t>
            </a:r>
          </a:p>
        </p:txBody>
      </p:sp>
      <p:sp>
        <p:nvSpPr>
          <p:cNvPr id="23" name="service-scope">
            <a:extLst xmlns:a="http://schemas.openxmlformats.org/drawingml/2006/main">
              <a:ext uri="{FF2B5EF4-FFF2-40B4-BE49-F238E27FC236}">
                <a16:creationId xmlns:a16="http://schemas.microsoft.com/office/drawing/2014/main" id="{3F7087DF-6EBD-4030-AAA5-C6BF09BE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62940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C1D4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분기 산출물 · 개편 코스·운영안</a:t>
            </a:r>
          </a:p>
        </p:txBody>
      </p:sp>
      <p:sp>
        <p:nvSpPr>
          <p:cNvPr id="24" name="private-pill">
            <a:extLst xmlns:a="http://schemas.openxmlformats.org/drawingml/2006/main">
              <a:ext uri="{FF2B5EF4-FFF2-40B4-BE49-F238E27FC236}">
                <a16:creationId xmlns:a16="http://schemas.microsoft.com/office/drawing/2014/main" id="{ECE9BD08-611B-4247-AFD8-D71CC91E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8003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3. 계절·대상별 확장</a:t>
            </a:r>
          </a:p>
        </p:txBody>
      </p:sp>
      <p:sp>
        <p:nvSpPr>
          <p:cNvPr id="25" name="private-body">
            <a:extLst xmlns:a="http://schemas.openxmlformats.org/drawingml/2006/main">
              <a:ext uri="{FF2B5EF4-FFF2-40B4-BE49-F238E27FC236}">
                <a16:creationId xmlns:a16="http://schemas.microsoft.com/office/drawing/2014/main" id="{FC8E1C19-1A9B-4031-B62F-74F7EE45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657600"/>
            <a:ext cx="4048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기본 코스의 운영 기준을 유지한 채 계절 행사, 외국인 안내, 숙박 연계를 단계적으로 추가합니다. 신규 권역은 별도 기준선을 만든 뒤 시험합니다.</a:t>
            </a:r>
          </a:p>
        </p:txBody>
      </p:sp>
      <p:sp>
        <p:nvSpPr>
          <p:cNvPr id="28" name="private-goal">
            <a:extLst xmlns:a="http://schemas.openxmlformats.org/drawingml/2006/main">
              <a:ext uri="{FF2B5EF4-FFF2-40B4-BE49-F238E27FC236}">
                <a16:creationId xmlns:a16="http://schemas.microsoft.com/office/drawing/2014/main" id="{3909FDE3-5FF2-4500-AD50-B44FF021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381625"/>
            <a:ext cx="404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63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운영 원칙 · 작게 시작 → 매월 개선</a:t>
            </a:r>
          </a:p>
        </p:txBody>
      </p:sp>
      <p:sp>
        <p:nvSpPr>
          <p:cNvPr id="29" name="private-scope">
            <a:extLst xmlns:a="http://schemas.openxmlformats.org/drawingml/2006/main">
              <a:ext uri="{FF2B5EF4-FFF2-40B4-BE49-F238E27FC236}">
                <a16:creationId xmlns:a16="http://schemas.microsoft.com/office/drawing/2014/main" id="{F2BCDD9E-4568-4754-A8AC-9B695D88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6294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F6B0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연간 산출물 · 다음 연도 운영계획·예산안</a:t>
            </a:r>
          </a:p>
        </p:txBody>
      </p:sp>
      <p:sp>
        <p:nvSpPr>
          <p:cNvPr id="31" name="decision-indicator-legend">
            <a:extLst xmlns:a="http://schemas.openxmlformats.org/drawingml/2006/main">
              <a:ext uri="{FF2B5EF4-FFF2-40B4-BE49-F238E27FC236}">
                <a16:creationId xmlns:a16="http://schemas.microsoft.com/office/drawing/2014/main" id="{5CE20498-4888-428A-ADD4-4C5EB0C2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6008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월간 산출물 · 운영 현황표·개선 목록</a:t>
            </a:r>
          </a:p>
        </p:txBody>
      </p:sp>
      <p:sp>
        <p:nvSpPr>
          <p:cNvPr id="32" name="decision-record-box">
            <a:extLst xmlns:a="http://schemas.openxmlformats.org/drawingml/2006/main">
              <a:ext uri="{FF2B5EF4-FFF2-40B4-BE49-F238E27FC236}">
                <a16:creationId xmlns:a16="http://schemas.microsoft.com/office/drawing/2014/main" id="{4678F96D-DA04-46E7-8BD8-59211511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004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decision-record-label">
            <a:extLst xmlns:a="http://schemas.openxmlformats.org/drawingml/2006/main">
              <a:ext uri="{FF2B5EF4-FFF2-40B4-BE49-F238E27FC236}">
                <a16:creationId xmlns:a16="http://schemas.microsoft.com/office/drawing/2014/main" id="{A793475A-C866-449C-81D7-59E22867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6861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기록</a:t>
            </a:r>
          </a:p>
        </p:txBody>
      </p:sp>
      <p:sp>
        <p:nvSpPr>
          <p:cNvPr id="34" name="decision-arrow-1">
            <a:extLst xmlns:a="http://schemas.openxmlformats.org/drawingml/2006/main">
              <a:ext uri="{FF2B5EF4-FFF2-40B4-BE49-F238E27FC236}">
                <a16:creationId xmlns:a16="http://schemas.microsoft.com/office/drawing/2014/main" id="{E4D67867-B59F-4F92-90A6-58F2A652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76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5" name="decision-compare-box">
            <a:extLst xmlns:a="http://schemas.openxmlformats.org/drawingml/2006/main">
              <a:ext uri="{FF2B5EF4-FFF2-40B4-BE49-F238E27FC236}">
                <a16:creationId xmlns:a16="http://schemas.microsoft.com/office/drawing/2014/main" id="{770C43C2-772E-4934-9D28-692A93C1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04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decision-compare-label">
            <a:extLst xmlns:a="http://schemas.openxmlformats.org/drawingml/2006/main">
              <a:ext uri="{FF2B5EF4-FFF2-40B4-BE49-F238E27FC236}">
                <a16:creationId xmlns:a16="http://schemas.microsoft.com/office/drawing/2014/main" id="{ADCC7FC7-781C-4DD0-84DC-A87A0741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원인</a:t>
            </a:r>
          </a:p>
        </p:txBody>
      </p:sp>
      <p:sp>
        <p:nvSpPr>
          <p:cNvPr id="37" name="decision-arrow-2">
            <a:extLst xmlns:a="http://schemas.openxmlformats.org/drawingml/2006/main">
              <a:ext uri="{FF2B5EF4-FFF2-40B4-BE49-F238E27FC236}">
                <a16:creationId xmlns:a16="http://schemas.microsoft.com/office/drawing/2014/main" id="{F41C823F-466A-42C8-8E18-03C20802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76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8" name="decision-judge-box">
            <a:extLst xmlns:a="http://schemas.openxmlformats.org/drawingml/2006/main">
              <a:ext uri="{FF2B5EF4-FFF2-40B4-BE49-F238E27FC236}">
                <a16:creationId xmlns:a16="http://schemas.microsoft.com/office/drawing/2014/main" id="{C083B893-805C-4E28-B1A3-6070103E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decision-judge-label">
            <a:extLst xmlns:a="http://schemas.openxmlformats.org/drawingml/2006/main">
              <a:ext uri="{FF2B5EF4-FFF2-40B4-BE49-F238E27FC236}">
                <a16:creationId xmlns:a16="http://schemas.microsoft.com/office/drawing/2014/main" id="{FE445EF7-C12A-4E84-8ED0-41CBCA81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6861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개선</a:t>
            </a:r>
          </a:p>
        </p:txBody>
      </p:sp>
      <p:sp>
        <p:nvSpPr>
          <p:cNvPr id="40" name="decision-flow-caption">
            <a:extLst xmlns:a="http://schemas.openxmlformats.org/drawingml/2006/main">
              <a:ext uri="{FF2B5EF4-FFF2-40B4-BE49-F238E27FC236}">
                <a16:creationId xmlns:a16="http://schemas.microsoft.com/office/drawing/2014/main" id="{E89AFFAF-A47D-4867-8599-E4500CC7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1433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같은 기준으로 확인하고 수정합니다.</a:t>
            </a:r>
          </a:p>
        </p:txBody>
      </p:sp>
      <p:sp>
        <p:nvSpPr>
          <p:cNvPr id="41" name="private-flow">
            <a:extLst xmlns:a="http://schemas.openxmlformats.org/drawingml/2006/main">
              <a:ext uri="{FF2B5EF4-FFF2-40B4-BE49-F238E27FC236}">
                <a16:creationId xmlns:a16="http://schemas.microsoft.com/office/drawing/2014/main" id="{608F424E-0F59-496E-92EE-F4F78144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057900"/>
            <a:ext cx="4048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기본 코스 → 계절 행사 → 외국인·숙박 연계</a:t>
            </a:r>
          </a:p>
        </p:txBody>
      </p:sp>
    </p:spTree>
    <p:extLst>
      <p:ext uri="{BB962C8B-B14F-4D97-AF65-F5344CB8AC3E}">
        <p14:creationId xmlns:p14="http://schemas.microsoft.com/office/powerpoint/2010/main" val="3347729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30D6B92A-E8CC-48F5-9680-60F39CE8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6275"/>
            <a:ext cx="448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EVIDENCE &amp; TRACEABILITY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1DBCD6-2592-41E7-A3B6-2AEB4418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23950"/>
            <a:ext cx="13068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근거·데이터·AI 활용 내역</a:t>
            </a:r>
            <a:endParaRPr sz="3600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E468CD8-9AB7-4607-A79D-2796B31D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85975"/>
            <a:ext cx="1306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grid">
            <a:extLst xmlns:a="http://schemas.openxmlformats.org/drawingml/2006/main">
              <a:ext uri="{FF2B5EF4-FFF2-40B4-BE49-F238E27FC236}">
                <a16:creationId xmlns:a16="http://schemas.microsoft.com/office/drawing/2014/main" id="{82EDB80F-7AEA-4B4C-9FC2-33090AC4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13058775" cy="537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8111BC7A-2C75-4CBD-AB98-B0DC44AC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67000"/>
            <a:ext cx="0" cy="537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grid-h">
            <a:extLst xmlns:a="http://schemas.openxmlformats.org/drawingml/2006/main">
              <a:ext uri="{FF2B5EF4-FFF2-40B4-BE49-F238E27FC236}">
                <a16:creationId xmlns:a16="http://schemas.microsoft.com/office/drawing/2014/main" id="{28241900-71DE-48EC-A279-4E2A6684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13058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diff-num-0">
            <a:extLst xmlns:a="http://schemas.openxmlformats.org/drawingml/2006/main">
              <a:ext uri="{FF2B5EF4-FFF2-40B4-BE49-F238E27FC236}">
                <a16:creationId xmlns:a16="http://schemas.microsoft.com/office/drawing/2014/main" id="{5B179CE8-6329-4234-8846-DA66D254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diff-title-0">
            <a:extLst xmlns:a="http://schemas.openxmlformats.org/drawingml/2006/main">
              <a:ext uri="{FF2B5EF4-FFF2-40B4-BE49-F238E27FC236}">
                <a16:creationId xmlns:a16="http://schemas.microsoft.com/office/drawing/2014/main" id="{3FC5221D-E74B-4DAB-9F37-4393399B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003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공식 원자료</a:t>
            </a:r>
          </a:p>
        </p:txBody>
      </p:sp>
      <p:sp>
        <p:nvSpPr>
          <p:cNvPr id="9" name="diff-body-0">
            <a:extLst xmlns:a="http://schemas.openxmlformats.org/drawingml/2006/main">
              <a:ext uri="{FF2B5EF4-FFF2-40B4-BE49-F238E27FC236}">
                <a16:creationId xmlns:a16="http://schemas.microsoft.com/office/drawing/2014/main" id="{397EA389-F953-4FF3-BE82-156ECEFA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76625"/>
            <a:ext cx="5953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한국관광 데이터랩과 허용 Open API의 지역별 월간 방문·소비 지표를 사용합니다. 지역코드·기준월·지표 정의를 함께 저장합니다.</a:t>
            </a:r>
          </a:p>
        </p:txBody>
      </p:sp>
      <p:sp>
        <p:nvSpPr>
          <p:cNvPr id="10" name="diff-plus-0">
            <a:extLst xmlns:a="http://schemas.openxmlformats.org/drawingml/2006/main">
              <a:ext uri="{FF2B5EF4-FFF2-40B4-BE49-F238E27FC236}">
                <a16:creationId xmlns:a16="http://schemas.microsoft.com/office/drawing/2014/main" id="{FA8127FD-DDBD-4B6D-8DD4-2CDCD182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012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지표명 · 기준월 · 지역코드</a:t>
            </a:r>
          </a:p>
        </p:txBody>
      </p:sp>
      <p:sp>
        <p:nvSpPr>
          <p:cNvPr id="11" name="diff-plus-orange-0">
            <a:extLst xmlns:a="http://schemas.openxmlformats.org/drawingml/2006/main">
              <a:ext uri="{FF2B5EF4-FFF2-40B4-BE49-F238E27FC236}">
                <a16:creationId xmlns:a16="http://schemas.microsoft.com/office/drawing/2014/main" id="{A57412D2-7DF5-4C59-A785-8AEB4428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1012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diff-num-1">
            <a:extLst xmlns:a="http://schemas.openxmlformats.org/drawingml/2006/main">
              <a:ext uri="{FF2B5EF4-FFF2-40B4-BE49-F238E27FC236}">
                <a16:creationId xmlns:a16="http://schemas.microsoft.com/office/drawing/2014/main" id="{042D6BFD-8C70-44F2-A6AF-68361E6F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8130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diff-title-1">
            <a:extLst xmlns:a="http://schemas.openxmlformats.org/drawingml/2006/main">
              <a:ext uri="{FF2B5EF4-FFF2-40B4-BE49-F238E27FC236}">
                <a16:creationId xmlns:a16="http://schemas.microsoft.com/office/drawing/2014/main" id="{39052A63-7565-4AFB-A81A-781058D9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8003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머신러닝 전망</a:t>
            </a:r>
            <a:endParaRPr sz="2400" b="0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diff-body-1">
            <a:extLst xmlns:a="http://schemas.openxmlformats.org/drawingml/2006/main">
              <a:ext uri="{FF2B5EF4-FFF2-40B4-BE49-F238E27FC236}">
                <a16:creationId xmlns:a16="http://schemas.microsoft.com/office/drawing/2014/main" id="{749EFAD3-629C-4E57-9A57-2F5E396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76625"/>
            <a:ext cx="5953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확보한 월별 데이터를 시간순으로 학습·검증합니다. 계절 기준 모델보다 나은 전망만 사용하고 모델 버전을 남깁니다.</a:t>
            </a:r>
          </a:p>
        </p:txBody>
      </p:sp>
      <p:sp>
        <p:nvSpPr>
          <p:cNvPr id="15" name="diff-plus-1">
            <a:extLst xmlns:a="http://schemas.openxmlformats.org/drawingml/2006/main">
              <a:ext uri="{FF2B5EF4-FFF2-40B4-BE49-F238E27FC236}">
                <a16:creationId xmlns:a16="http://schemas.microsoft.com/office/drawing/2014/main" id="{BEE72E06-DEDE-432B-B6B9-6F96F1CF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1012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학습기간 · 모델명 · MAE/RMSE · 버전</a:t>
            </a:r>
          </a:p>
        </p:txBody>
      </p:sp>
      <p:sp>
        <p:nvSpPr>
          <p:cNvPr id="16" name="diff-plus-orange-1">
            <a:extLst xmlns:a="http://schemas.openxmlformats.org/drawingml/2006/main">
              <a:ext uri="{FF2B5EF4-FFF2-40B4-BE49-F238E27FC236}">
                <a16:creationId xmlns:a16="http://schemas.microsoft.com/office/drawing/2014/main" id="{9BFE81BE-C35B-4BD3-9F38-0E41CB9F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1012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diff-num-2">
            <a:extLst xmlns:a="http://schemas.openxmlformats.org/drawingml/2006/main">
              <a:ext uri="{FF2B5EF4-FFF2-40B4-BE49-F238E27FC236}">
                <a16:creationId xmlns:a16="http://schemas.microsoft.com/office/drawing/2014/main" id="{4D448592-403C-4EF4-8007-F16B4D59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0545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diff-title-2">
            <a:extLst xmlns:a="http://schemas.openxmlformats.org/drawingml/2006/main">
              <a:ext uri="{FF2B5EF4-FFF2-40B4-BE49-F238E27FC236}">
                <a16:creationId xmlns:a16="http://schemas.microsoft.com/office/drawing/2014/main" id="{5D9F67B1-93E0-43C5-91C6-C0426605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5245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공식 사례·웹검색</a:t>
            </a:r>
          </a:p>
        </p:txBody>
      </p:sp>
      <p:sp>
        <p:nvSpPr>
          <p:cNvPr id="19" name="diff-body-2">
            <a:extLst xmlns:a="http://schemas.openxmlformats.org/drawingml/2006/main">
              <a:ext uri="{FF2B5EF4-FFF2-40B4-BE49-F238E27FC236}">
                <a16:creationId xmlns:a16="http://schemas.microsoft.com/office/drawing/2014/main" id="{EB459863-C1CA-487A-9CB6-3FB96BA5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200775"/>
            <a:ext cx="5953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문화체육관광부·한국관광공사·지자체 등 공식 원문을 우선 확인합니다. 운영 방식과 강남 적용 차이를 출처와 함께 기록합니다.</a:t>
            </a:r>
          </a:p>
        </p:txBody>
      </p:sp>
      <p:sp>
        <p:nvSpPr>
          <p:cNvPr id="20" name="diff-plus-2">
            <a:extLst xmlns:a="http://schemas.openxmlformats.org/drawingml/2006/main">
              <a:ext uri="{FF2B5EF4-FFF2-40B4-BE49-F238E27FC236}">
                <a16:creationId xmlns:a16="http://schemas.microsoft.com/office/drawing/2014/main" id="{7303984B-C6EE-4C86-9BC4-B30BBF18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53427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기관 · 문서명 · URL · 확인일</a:t>
            </a:r>
          </a:p>
        </p:txBody>
      </p:sp>
      <p:sp>
        <p:nvSpPr>
          <p:cNvPr id="21" name="diff-plus-orange-2">
            <a:extLst xmlns:a="http://schemas.openxmlformats.org/drawingml/2006/main">
              <a:ext uri="{FF2B5EF4-FFF2-40B4-BE49-F238E27FC236}">
                <a16:creationId xmlns:a16="http://schemas.microsoft.com/office/drawing/2014/main" id="{0B6717C1-A26D-4507-A5EF-57A37FEF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5342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2" name="diff-num-3">
            <a:extLst xmlns:a="http://schemas.openxmlformats.org/drawingml/2006/main">
              <a:ext uri="{FF2B5EF4-FFF2-40B4-BE49-F238E27FC236}">
                <a16:creationId xmlns:a16="http://schemas.microsoft.com/office/drawing/2014/main" id="{557E9041-6D43-44D5-AC83-F2F91E6F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0545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3" name="diff-title-3">
            <a:extLst xmlns:a="http://schemas.openxmlformats.org/drawingml/2006/main">
              <a:ext uri="{FF2B5EF4-FFF2-40B4-BE49-F238E27FC236}">
                <a16:creationId xmlns:a16="http://schemas.microsoft.com/office/drawing/2014/main" id="{87DB96F2-E1FB-4ACE-9435-CA826544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5245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AI 작성·검수</a:t>
            </a:r>
          </a:p>
        </p:txBody>
      </p:sp>
      <p:sp>
        <p:nvSpPr>
          <p:cNvPr id="24" name="diff-body-3">
            <a:extLst xmlns:a="http://schemas.openxmlformats.org/drawingml/2006/main">
              <a:ext uri="{FF2B5EF4-FFF2-40B4-BE49-F238E27FC236}">
                <a16:creationId xmlns:a16="http://schemas.microsoft.com/office/drawing/2014/main" id="{7D299F22-9EC3-4717-985C-5C94FACD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200775"/>
            <a:ext cx="5953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실제 실행 이력에 사용한 로컬 LLM·OpenAI 단계만 표시합니다. 관측 사실, ML 전망, 전략 제안을 서로 분리해 검수합니다.</a:t>
            </a:r>
          </a:p>
        </p:txBody>
      </p:sp>
      <p:sp>
        <p:nvSpPr>
          <p:cNvPr id="25" name="diff-plus-3">
            <a:extLst xmlns:a="http://schemas.openxmlformats.org/drawingml/2006/main">
              <a:ext uri="{FF2B5EF4-FFF2-40B4-BE49-F238E27FC236}">
                <a16:creationId xmlns:a16="http://schemas.microsoft.com/office/drawing/2014/main" id="{13001AD4-1711-4DB5-801D-66759E0A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53427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모델 · 단계 · 근거 연결 · 검수 결과</a:t>
            </a:r>
          </a:p>
        </p:txBody>
      </p:sp>
      <p:sp>
        <p:nvSpPr>
          <p:cNvPr id="26" name="diff-plus-orange-3">
            <a:extLst xmlns:a="http://schemas.openxmlformats.org/drawingml/2006/main">
              <a:ext uri="{FF2B5EF4-FFF2-40B4-BE49-F238E27FC236}">
                <a16:creationId xmlns:a16="http://schemas.microsoft.com/office/drawing/2014/main" id="{2AA2B92A-6911-4A37-BBF4-70B85C3E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75342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4322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TOURISM STRATEGY · NEXT STEP</a:t>
            </a:r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감사합니다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438650"/>
            <a:ext cx="7381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데이터로 검증하고, 현장에서 완성합니다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149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3340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시범 권역 · 운영기간 · 예산 범위 확정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5149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009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rg-owner">
            <a:extLst xmlns:a="http://schemas.openxmlformats.org/drawingml/2006/main"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15811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[담당부서 / 담당자]</a:t>
            </a:r>
          </a:p>
        </p:txBody>
      </p:sp>
      <p:sp>
        <p:nvSpPr>
          <p:cNvPr id="15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91C450AB-B31C-4B87-BDB0-6281DF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3514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NEXT STEP</a:t>
            </a:r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시범 운영 조건 확정 및</a:t>
            </a:r>
          </a:p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참여처 협약 착수</a:t>
            </a:r>
            <a:endParaRPr sz="315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2026-09-04T04:44:41.2670000Z</dcterms:created>
  <dcterms:modified xsi:type="dcterms:W3CDTF">2026-09-04T04:44:41.2670000Z</dcterms:modified>
</coreProperties>
</file>