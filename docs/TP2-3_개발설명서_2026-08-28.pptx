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8d824bce81247fc" /><Relationship Type="http://schemas.openxmlformats.org/officeDocument/2006/relationships/extended-properties" Target="/docProps/app.xml" Id="Rf3b6d3c2987e498b" /><Relationship Type="http://schemas.openxmlformats.org/officeDocument/2006/relationships/officeDocument" Target="/ppt/presentation.xml" Id="R06723d97d5b04e9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0d8f7fc1b314d89"/>
  </p:sldMasterIdLst>
  <p:notesMasterIdLst>
    <p:notesMasterId xmlns:r="http://schemas.openxmlformats.org/officeDocument/2006/relationships" r:id="Rc45fbd25c8ea40f4"/>
  </p:notesMasterIdLst>
  <p:sldIdLst>
    <p:sldId xmlns:r="http://schemas.openxmlformats.org/officeDocument/2006/relationships" id="256" r:id="R0a63e80649994549"/>
    <p:sldId xmlns:r="http://schemas.openxmlformats.org/officeDocument/2006/relationships" id="257" r:id="R519d34cf952e4c34"/>
    <p:sldId xmlns:r="http://schemas.openxmlformats.org/officeDocument/2006/relationships" id="258" r:id="R83bfdf3415eb4fb1"/>
    <p:sldId xmlns:r="http://schemas.openxmlformats.org/officeDocument/2006/relationships" id="259" r:id="R8b1fb8b7aa97452c"/>
    <p:sldId xmlns:r="http://schemas.openxmlformats.org/officeDocument/2006/relationships" id="260" r:id="R9edea6d1b6c4453c"/>
    <p:sldId xmlns:r="http://schemas.openxmlformats.org/officeDocument/2006/relationships" id="261" r:id="R62ae0a32097a4577"/>
    <p:sldId xmlns:r="http://schemas.openxmlformats.org/officeDocument/2006/relationships" id="262" r:id="Rf3b260bea22d4919"/>
    <p:sldId xmlns:r="http://schemas.openxmlformats.org/officeDocument/2006/relationships" id="263" r:id="Rc67a29096e7a43f5"/>
    <p:sldId xmlns:r="http://schemas.openxmlformats.org/officeDocument/2006/relationships" id="264" r:id="R400fed75c1f94dc3"/>
    <p:sldId xmlns:r="http://schemas.openxmlformats.org/officeDocument/2006/relationships" id="265" r:id="Rca86d2b2028e42a3"/>
    <p:sldId xmlns:r="http://schemas.openxmlformats.org/officeDocument/2006/relationships" id="266" r:id="R68b5c50b8748443f"/>
    <p:sldId xmlns:r="http://schemas.openxmlformats.org/officeDocument/2006/relationships" id="267" r:id="Reae04e11a9414729"/>
    <p:sldId xmlns:r="http://schemas.openxmlformats.org/officeDocument/2006/relationships" id="268" r:id="Radb89c62747e4f7d"/>
    <p:sldId xmlns:r="http://schemas.openxmlformats.org/officeDocument/2006/relationships" id="269" r:id="R292bd1b39dde47a1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386c50d4b1a4be1" /><Relationship Type="http://schemas.openxmlformats.org/officeDocument/2006/relationships/slideMaster" Target="/ppt/slideMasters/slideMaster1.xml" Id="R90d8f7fc1b314d89" /><Relationship Type="http://schemas.openxmlformats.org/officeDocument/2006/relationships/notesMaster" Target="/ppt/notesMasters/notesMaster1.xml" Id="Rc45fbd25c8ea40f4" /><Relationship Type="http://schemas.openxmlformats.org/officeDocument/2006/relationships/presProps" Target="/ppt/presProps.xml" Id="Raae43dfd861841c9" /><Relationship Type="http://schemas.openxmlformats.org/officeDocument/2006/relationships/tableStyles" Target="/ppt/tableStyles.xml" Id="Rb8edce71e75d43bf" /><Relationship Type="http://schemas.openxmlformats.org/officeDocument/2006/relationships/slide" Target="/ppt/slides/slide1.xml" Id="R0a63e80649994549" /><Relationship Type="http://schemas.openxmlformats.org/officeDocument/2006/relationships/slide" Target="/ppt/slides/slide2.xml" Id="R519d34cf952e4c34" /><Relationship Type="http://schemas.openxmlformats.org/officeDocument/2006/relationships/slide" Target="/ppt/slides/slide3.xml" Id="R83bfdf3415eb4fb1" /><Relationship Type="http://schemas.openxmlformats.org/officeDocument/2006/relationships/slide" Target="/ppt/slides/slide4.xml" Id="R8b1fb8b7aa97452c" /><Relationship Type="http://schemas.openxmlformats.org/officeDocument/2006/relationships/slide" Target="/ppt/slides/slide5.xml" Id="R9edea6d1b6c4453c" /><Relationship Type="http://schemas.openxmlformats.org/officeDocument/2006/relationships/slide" Target="/ppt/slides/slide6.xml" Id="R62ae0a32097a4577" /><Relationship Type="http://schemas.openxmlformats.org/officeDocument/2006/relationships/slide" Target="/ppt/slides/slide7.xml" Id="Rf3b260bea22d4919" /><Relationship Type="http://schemas.openxmlformats.org/officeDocument/2006/relationships/slide" Target="/ppt/slides/slide8.xml" Id="Rc67a29096e7a43f5" /><Relationship Type="http://schemas.openxmlformats.org/officeDocument/2006/relationships/slide" Target="/ppt/slides/slide9.xml" Id="R400fed75c1f94dc3" /><Relationship Type="http://schemas.openxmlformats.org/officeDocument/2006/relationships/slide" Target="/ppt/slides/slide10.xml" Id="Rca86d2b2028e42a3" /><Relationship Type="http://schemas.openxmlformats.org/officeDocument/2006/relationships/slide" Target="/ppt/slides/slide11.xml" Id="R68b5c50b8748443f" /><Relationship Type="http://schemas.openxmlformats.org/officeDocument/2006/relationships/slide" Target="/ppt/slides/slide12.xml" Id="Reae04e11a9414729" /><Relationship Type="http://schemas.openxmlformats.org/officeDocument/2006/relationships/slide" Target="/ppt/slides/slide13.xml" Id="Radb89c62747e4f7d" /><Relationship Type="http://schemas.openxmlformats.org/officeDocument/2006/relationships/slide" Target="/ppt/slides/slide14.xml" Id="R292bd1b39dde47a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178914d8d0043c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e0062952cd049b3" /><Relationship Type="http://schemas.openxmlformats.org/officeDocument/2006/relationships/notesMaster" Target="/ppt/notesMasters/notesMaster1.xml" Id="R5c3c4a1b3c454fe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2b3f1e010184303" /><Relationship Type="http://schemas.openxmlformats.org/officeDocument/2006/relationships/notesMaster" Target="/ppt/notesMasters/notesMaster1.xml" Id="Rbaf590892594402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cefc92096154847" /><Relationship Type="http://schemas.openxmlformats.org/officeDocument/2006/relationships/notesMaster" Target="/ppt/notesMasters/notesMaster1.xml" Id="R8a502dfbe5b84b1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23e0dc99c324cce" /><Relationship Type="http://schemas.openxmlformats.org/officeDocument/2006/relationships/notesMaster" Target="/ppt/notesMasters/notesMaster1.xml" Id="R6dd8fe6e448040e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7ac9501f13b4ba3" /><Relationship Type="http://schemas.openxmlformats.org/officeDocument/2006/relationships/notesMaster" Target="/ppt/notesMasters/notesMaster1.xml" Id="Rbe1df265e7a4454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14ddfae9e8e4f99" /><Relationship Type="http://schemas.openxmlformats.org/officeDocument/2006/relationships/notesMaster" Target="/ppt/notesMasters/notesMaster1.xml" Id="R0fd83ae7f8d140b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6f5c7c3571f479f" /><Relationship Type="http://schemas.openxmlformats.org/officeDocument/2006/relationships/notesMaster" Target="/ppt/notesMasters/notesMaster1.xml" Id="Ra2cc5f910b5f435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dc066aa87b746b6" /><Relationship Type="http://schemas.openxmlformats.org/officeDocument/2006/relationships/notesMaster" Target="/ppt/notesMasters/notesMaster1.xml" Id="Rbcd2ff615164461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81ffdea8feb45de" /><Relationship Type="http://schemas.openxmlformats.org/officeDocument/2006/relationships/notesMaster" Target="/ppt/notesMasters/notesMaster1.xml" Id="R53c2d4d6b4784ce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bca61597feb4cd3" /><Relationship Type="http://schemas.openxmlformats.org/officeDocument/2006/relationships/notesMaster" Target="/ppt/notesMasters/notesMaster1.xml" Id="R1b966b0a768e415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1ae1dfb175743f0" /><Relationship Type="http://schemas.openxmlformats.org/officeDocument/2006/relationships/notesMaster" Target="/ppt/notesMasters/notesMaster1.xml" Id="R76e3974d4ebf43c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291de9f7b224d6b" /><Relationship Type="http://schemas.openxmlformats.org/officeDocument/2006/relationships/notesMaster" Target="/ppt/notesMasters/notesMaster1.xml" Id="Rb77df1e32ce24db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3fe69c91345441b" /><Relationship Type="http://schemas.openxmlformats.org/officeDocument/2006/relationships/notesMaster" Target="/ppt/notesMasters/notesMaster1.xml" Id="Rf216e3ec017748b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9ed4cb220274ff5" /><Relationship Type="http://schemas.openxmlformats.org/officeDocument/2006/relationships/notesMaster" Target="/ppt/notesMasters/notesMaster1.xml" Id="R7e3422e2ab8a4e2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C:/Users/Admin/mbca/TP2-3/frontend/src/App.jsx</a:t>
            </a:r>
          </a:p>
          <a:p xmlns:a="http://schemas.openxmlformats.org/drawingml/2006/main">
            <a:r>
              <a:t>C:/Users/Admin/mbca/TP2-3/docs/PROJECT_BRIEF.md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확인일: 2026-08-28. API 재생성 없이 코드·설정·원자료를 읽어 확인.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실제 경로: / 소개, /dashboard 지역 선택, /strategy AI 전략기획, /saved-plans 저장 목록. React Router 의존성이 아닌 window.location.pathname으로 페이지를 고릅니다. /diagnosis와 /proposal은 기존 링크 호환입니다. MySQL은 목표 아키텍처이며 현재 데이터 경로에 없습니다. 지도 코드는 이번 문서 작업에서 변경하지 않았습니다.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C:/Users/Admin/mbca/TP2-3/frontend/vite.config.js</a:t>
            </a:r>
          </a:p>
          <a:p xmlns:a="http://schemas.openxmlformats.org/drawingml/2006/main">
            <a:r>
              <a:t>C:/Users/Admin/mbca/TP2-3/frontend/src/App.jsx</a:t>
            </a:r>
          </a:p>
          <a:p xmlns:a="http://schemas.openxmlformats.org/drawingml/2006/main">
            <a:r>
              <a:t>C:/Users/Admin/mbca/TP2-3/backend/app/main.py</a:t>
            </a:r>
          </a:p>
          <a:p xmlns:a="http://schemas.openxmlformats.org/drawingml/2006/main">
            <a:r>
              <a:t>C:/Users/Admin/mbca/TP2-3/ai_server/app/main.py</a:t>
            </a:r>
          </a:p>
          <a:p xmlns:a="http://schemas.openxmlformats.org/drawingml/2006/main">
            <a:r>
              <a:t>C:/Users/Admin/mbca/TP2-3/frontend/src/pages/tourismWorkspace.js</a:t>
            </a:r>
          </a:p>
          <a:p xmlns:a="http://schemas.openxmlformats.org/drawingml/2006/main">
            <a:r>
              <a:t>C:/Users/Admin/mbca/TP2-3/start-dev.ps1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확인일: 2026-08-28. API 재생성 없이 코드·설정·원자료를 읽어 확인.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C:/Users/Admin/mbca/TP2-3/frontend/package.json</a:t>
            </a:r>
          </a:p>
          <a:p xmlns:a="http://schemas.openxmlformats.org/drawingml/2006/main">
            <a:r>
              <a:t>C:/Users/Admin/mbca/TP2-3/requirements.txt</a:t>
            </a:r>
          </a:p>
          <a:p xmlns:a="http://schemas.openxmlformats.org/drawingml/2006/main">
            <a:r>
              <a:t>C:/Users/Admin/mbca/TP2-3/ai_server/app/raw_data_repository.py</a:t>
            </a:r>
          </a:p>
          <a:p xmlns:a="http://schemas.openxmlformats.org/drawingml/2006/main">
            <a:r>
              <a:t>C:/Users/Admin/mbca/TP2-3/ai_server/app/openai_responses.py</a:t>
            </a:r>
          </a:p>
          <a:p xmlns:a="http://schemas.openxmlformats.org/drawingml/2006/main">
            <a:r>
              <a:t>C:/Users/Admin/mbca/TP2-3/test-gangnam-dashboard/requirements.txt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확인일: 2026-08-28. API 재생성 없이 코드·설정·원자료를 읽어 확인.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한국관광공사 국문관광정보 KorService2의 areaCode2, areaBasedList2를 실제 코드에서 호출합니다. TOUR_CONTENT_LAB_API_KEY 등 변수 이름만으로 별도 콘텐츠랩 API 통합을 주장하지 않습니다. mcst.go.kr은 허용 웹 검색 도메인이지 별도 문화체육관광부 통계 API 호출이 아닙니다. Tourgo 참고 화면도 API 연동의 증거가 아닙니다. 관광자원 목록은 제한된 조회 결과이며 지역 전체 업소 수가 아닙니다.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C:/Users/Admin/mbca/TP2-3/ai_server/app/tourism_open_api.py</a:t>
            </a:r>
          </a:p>
          <a:p xmlns:a="http://schemas.openxmlformats.org/drawingml/2006/main">
            <a:r>
              <a:t>C:/Users/Admin/mbca/TP2-3/ai_server/app/agents/evidence_agent.py</a:t>
            </a:r>
          </a:p>
          <a:p xmlns:a="http://schemas.openxmlformats.org/drawingml/2006/main">
            <a:r>
              <a:t>C:/Users/Admin/mbca/TP2-3/backend/app/services/vworld.py</a:t>
            </a:r>
          </a:p>
          <a:p xmlns:a="http://schemas.openxmlformats.org/drawingml/2006/main">
            <a:r>
              <a:t>C:/Users/Admin/mbca/TP2-3/docs/DATA_SOURCE_USAGE.md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확인일: 2026-08-28. API 재생성 없이 코드·설정·원자료를 읽어 확인.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2026-08-28 build_region_snapshot 및 build_region_dashboard를 로컬에서 실제 호출해 확인했습니다. 방문자 17,963,441명, 소비 481,986,415,000원, 숙박 3.1%, 평균 숙박일수 2.91일. 내비 773,380건, SNS 318,919건. 방문자 전월 -0.7%, 소비 +3.1%, 숙박일 +0.02일. 순 방문자수와 연인원 YoY(-8.3%)는 별도 기준입니다. 현재 강남구의 동일 시도 비교는 available=false입니다.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C:/Users/Admin/mbca/TP2-3/ai_server/app/main.py:260</a:t>
            </a:r>
          </a:p>
          <a:p xmlns:a="http://schemas.openxmlformats.org/drawingml/2006/main">
            <a:r>
              <a:t>C:/Users/Admin/mbca/TP2-3/ai_server/app/main.py:435</a:t>
            </a:r>
          </a:p>
          <a:p xmlns:a="http://schemas.openxmlformats.org/drawingml/2006/main">
            <a:r>
              <a:t>C:/Users/Admin/mbca/TP2-3/ai_server/app/main.py:552</a:t>
            </a:r>
          </a:p>
          <a:p xmlns:a="http://schemas.openxmlformats.org/drawingml/2006/main">
            <a:r>
              <a:t>C:/Users/Admin/mbca/TP2-3/ai_server/app/raw_data_repository.py</a:t>
            </a:r>
          </a:p>
          <a:p xmlns:a="http://schemas.openxmlformats.org/drawingml/2006/main">
            <a:r>
              <a:t>C:/Users/Admin/mbca/TP2-3/data/raw/서울특별시/강남구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확인일: 2026-08-28. API 재생성 없이 코드·설정·원자료를 읽어 확인.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Evidence.collect와 CaseStudy.collect는 asyncio.gather로 병렬 실행합니다. Evidence 내부도 Open API/RAG/공식 웹을 병렬 조회합니다. 이후 Transferability.assess → Planner.write → Reviewer.review 순서. approved=false일 때 Planner.write(revision_feedback=review) 후 Reviewer.review를 최대 1회 더 실행합니다. 재검수 실패 결과도 approved=false로 반환될 수 있으므로 최종 승인과 생성 완료를 구분해야 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C:/Users/Admin/mbca/TP2-3/ai_server/app/agents/report_orchestrator.py</a:t>
            </a:r>
          </a:p>
          <a:p xmlns:a="http://schemas.openxmlformats.org/drawingml/2006/main">
            <a:r>
              <a:t>C:/Users/Admin/mbca/TP2-3/ai_server/app/main.py:708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확인일: 2026-08-28. API 재생성 없이 코드·설정·원자료를 읽어 확인.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C:/Users/Admin/mbca/TP2-3/ai_server/app/agents/evidence_agent.py</a:t>
            </a:r>
          </a:p>
          <a:p xmlns:a="http://schemas.openxmlformats.org/drawingml/2006/main">
            <a:r>
              <a:t>C:/Users/Admin/mbca/TP2-3/ai_server/app/agents/case_study_agent.py</a:t>
            </a:r>
          </a:p>
          <a:p xmlns:a="http://schemas.openxmlformats.org/drawingml/2006/main">
            <a:r>
              <a:t>C:/Users/Admin/mbca/TP2-3/ai_server/app/agents/transferability_agent.py</a:t>
            </a:r>
          </a:p>
          <a:p xmlns:a="http://schemas.openxmlformats.org/drawingml/2006/main">
            <a:r>
              <a:t>C:/Users/Admin/mbca/TP2-3/ai_server/app/agents/planner_agent.py</a:t>
            </a:r>
          </a:p>
          <a:p xmlns:a="http://schemas.openxmlformats.org/drawingml/2006/main">
            <a:r>
              <a:t>C:/Users/Admin/mbca/TP2-3/ai_server/app/agents/reviewer_agent.py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확인일: 2026-08-28. API 재생성 없이 코드·설정·원자료를 읽어 확인.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페르소나와 규칙: EVIDENCE_RESEARCH_INSTRUCTIONS, CASE_STUDY_RESEARCH_INSTRUCTIONS, TRANSFERABILITY_INSTRUCTIONS, PLANNER_INSTRUCTIONS, REVIEW_INSTRUCTIONS. 실제 호출은 httpx.AsyncClient.post(https://api.openai.com/v1/responses). text.format={type:json_schema,strict:true,schema:...}, store=false. JSON Schema는 구조를 제한하며 사실의 진위를 보장하지 않습니다. Planner summary 2문장·200자 이내, 주요 항목 2문장·180자 이내는 프롬프트 규칙이며 서버 문자열 길이 검증과 동일하지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C:/Users/Admin/mbca/TP2-3/ai_server/app/agents/prompts.py</a:t>
            </a:r>
          </a:p>
          <a:p xmlns:a="http://schemas.openxmlformats.org/drawingml/2006/main">
            <a:r>
              <a:t>C:/Users/Admin/mbca/TP2-3/ai_server/app/agents/planner_agent.py</a:t>
            </a:r>
          </a:p>
          <a:p xmlns:a="http://schemas.openxmlformats.org/drawingml/2006/main">
            <a:r>
              <a:t>C:/Users/Admin/mbca/TP2-3/ai_server/app/main.py:633</a:t>
            </a:r>
          </a:p>
          <a:p xmlns:a="http://schemas.openxmlformats.org/drawingml/2006/main">
            <a:r>
              <a:t>C:/Users/Admin/mbca/TP2-3/ai_server/app/openai_responses.py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확인일: 2026-08-28. API 재생성 없이 코드·설정·원자료를 읽어 확인.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환경변수 우선순위: OS 환경변수가 .env를 덮어씁니다. OPENAI_RESEARCH_MODEL=gpt-5.6-terra, OPENAI_REPORT_MODEL=gpt-5.6-sol, OPENAI_REVIEW_MODEL=gpt-5.6-sol. CASE는 RESEARCH를, TRANSFER와 CHAT은 REPORT를 상속합니다. OPENAI_MODEL=gpt-5-mini는 공통 fallback이며 이 Agent 설정을 대체하지 않습니다. Embedding 모델은 text-embedding-3-small. max_output_tokens는 눈에 보이는 답변과 reasoning 토큰을 합친 상한이지 실제 사용량이나 총 입력 한도가 아닙니다. API usage를 앱에서 저장하지 않아 보고서별 실제 비용을 코드만으로 알 수 없습니다. 웹 도구는 호출별 max_tool_calls=6.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C:/Users/Admin/mbca/TP2-3/.env (모델명만 확인; 키 제외)</a:t>
            </a:r>
          </a:p>
          <a:p xmlns:a="http://schemas.openxmlformats.org/drawingml/2006/main">
            <a:r>
              <a:t>C:/Users/Admin/mbca/TP2-3/ai_server/app/agents/report_orchestrator.py</a:t>
            </a:r>
          </a:p>
          <a:p xmlns:a="http://schemas.openxmlformats.org/drawingml/2006/main">
            <a:r>
              <a:t>C:/Users/Admin/mbca/TP2-3/ai_server/app/agents/chat_assistant_agent.py</a:t>
            </a:r>
          </a:p>
          <a:p xmlns:a="http://schemas.openxmlformats.org/drawingml/2006/main">
            <a:r>
              <a:t>C:/Users/Admin/mbca/TP2-3/ai_server/app/openai_responses.py</a:t>
            </a:r>
          </a:p>
          <a:p xmlns:a="http://schemas.openxmlformats.org/drawingml/2006/main">
            <a:r>
              <a:t>https://developers.openai.com/api/reference/cli/resources/responses/methods/create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확인일: 2026-08-28. API 재생성 없이 코드·설정·원자료를 읽어 확인.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읽기 전용 SQLite 연결로 Chroma 내부 embeddings 행 수 0개를 확인했습니다. SQLite 앱 DB를 새로 쓰는 것이 아니라 Chroma 내부 저장 형식을 확인한 것입니다. 사례 JSONL은 비어 있지 않은 레코드 4개. index_documents는 850자 간격, 이전 120자 겹침으로 문서 chunk를 만들고 embedding API 후 upsert합니다. search는 코사인 기반 후보를 가져온 뒤 지역코드/지역명/ALL과 공식 도메인으로 후필터링합니다. Evidence top_k=5, Case Scout top_k=8. 월별 수치 표는 색인 대상이 아닙니다.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C:/Users/Admin/mbca/TP2-3/ai_server/app/rag_store.py</a:t>
            </a:r>
          </a:p>
          <a:p xmlns:a="http://schemas.openxmlformats.org/drawingml/2006/main">
            <a:r>
              <a:t>C:/Users/Admin/mbca/TP2-3/ai_server/index_rag_documents.py</a:t>
            </a:r>
          </a:p>
          <a:p xmlns:a="http://schemas.openxmlformats.org/drawingml/2006/main">
            <a:r>
              <a:t>C:/Users/Admin/mbca/TP2-3/data/rag/official_case_studies.jsonl</a:t>
            </a:r>
          </a:p>
          <a:p xmlns:a="http://schemas.openxmlformats.org/drawingml/2006/main">
            <a:r>
              <a:t>C:/Users/Admin/mbca/TP2-3/data/chroma/chroma.sqlite3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확인일: 2026-08-28. API 재생성 없이 코드·설정·원자료를 읽어 확인.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별도 Streamlit model_demo는 lag_1, month_sin, month_cos를 사용하고 마지막 2~3개월을 test로 나눕니다. LinearRegression, RandomForestRegressor와 직전월 baseline을 MAE로 비교하며 test에서 최저 모델을 선택하므로 독립 검증을 갖춘 production 성능평가가 아닙니다. 현재 artifacts에 joblib 파일은 없고 generate_orchestrated_report에 model predict 경로도 없습니다. Word _execution_target 기본값은 방문 5%, 소비 8%; 6개월 균등 증가 목표선이며 실제 전망이 아닙니다.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C:/Users/Admin/mbca/TP2-3/test-gangnam-dashboard/app.py:129</a:t>
            </a:r>
          </a:p>
          <a:p xmlns:a="http://schemas.openxmlformats.org/drawingml/2006/main">
            <a:r>
              <a:t>C:/Users/Admin/mbca/TP2-3/ai_server/app/main.py:708</a:t>
            </a:r>
          </a:p>
          <a:p xmlns:a="http://schemas.openxmlformats.org/drawingml/2006/main">
            <a:r>
              <a:t>C:/Users/Admin/mbca/TP2-3/ai_server/app/proposal_document.py:160</a:t>
            </a:r>
          </a:p>
          <a:p xmlns:a="http://schemas.openxmlformats.org/drawingml/2006/main">
            <a:r>
              <a:t>C:/Users/Admin/mbca/TP2-3/docs/ARCHITECTURE.md</a:t>
            </a:r>
          </a:p>
          <a:p xmlns:a="http://schemas.openxmlformats.org/drawingml/2006/main">
            <a:r>
              <a:t>C:/Users/Admin/mbca/TP2-3/docs/PROJECT_AUDIT.md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확인일: 2026-08-28. API 재생성 없이 코드·설정·원자료를 읽어 확인.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POST /ai/v1/demo/11680/strategy-report/jobs → 202. GET 같은 경로/{job_id}로 상태와 최종 report를 가져옵니다. 서버 STRATEGY_REPORT_JOBS는 프로세스 메모리. 브라우저는 지역별 job_id를 localStorage에 보관하고 전략 페이지 마운트 동안 3초마다 조회합니다. 다른 페이지에 머무르는 동안에는 결과의 브라우저 저장이 이루어지지 않고 돌아와 완료 응답을 받아야 saveReport가 실행됩니다. 서버 재시작 후 작업 복구는 미구현입니다. 로딩 애니메이션은 실제 Agent별 완료율이 아닙니다.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C:/Users/Admin/mbca/TP2-3/ai_server/app/main.py:741</a:t>
            </a:r>
          </a:p>
          <a:p xmlns:a="http://schemas.openxmlformats.org/drawingml/2006/main">
            <a:r>
              <a:t>C:/Users/Admin/mbca/TP2-3/ai_server/app/main.py:895</a:t>
            </a:r>
          </a:p>
          <a:p xmlns:a="http://schemas.openxmlformats.org/drawingml/2006/main">
            <a:r>
              <a:t>C:/Users/Admin/mbca/TP2-3/frontend/src/pages/TourismStrategyPage.jsx</a:t>
            </a:r>
          </a:p>
          <a:p xmlns:a="http://schemas.openxmlformats.org/drawingml/2006/main">
            <a:r>
              <a:t>C:/Users/Admin/mbca/TP2-3/frontend/src/pages/tourismWorkspace.js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확인일: 2026-08-28. API 재생성 없이 코드·설정·원자료를 읽어 확인.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DOCX: create_strategy_proposal_document(report), python-docx와 Matplotlib. 실제 월별 추이, 5단계 표·타임라인, 가정 기반 실행 비교, 출처와 선택 공식 API 이미지. PPTX: create_strategy_proposal_presentation(report), python-pptx의 편집 가능한 텍스트·차트. 두 export endpoint는 입력 ReportResponse를 변환하며 새로운 LLM 작성 요청을 하지 않습니다. Word의 공식 이미지는 외부 조회가 발생할 수 있습니다. 챗봇은 별도 TourismChatAssistantAgent.answer; snapshot+current_report+최근8개 대화+질문(+선택적 공식 웹)을 사용합니다. 수정안 적용은 사용자 결정이며 적용 뒤 5-Agent 전체 재검수는 자동 실행하지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C:/Users/Admin/mbca/TP2-3/ai_server/app/proposal_document.py:287</a:t>
            </a:r>
          </a:p>
          <a:p xmlns:a="http://schemas.openxmlformats.org/drawingml/2006/main">
            <a:r>
              <a:t>C:/Users/Admin/mbca/TP2-3/ai_server/app/proposal_presentation.py:102</a:t>
            </a:r>
          </a:p>
          <a:p xmlns:a="http://schemas.openxmlformats.org/drawingml/2006/main">
            <a:r>
              <a:t>C:/Users/Admin/mbca/TP2-3/ai_server/app/agents/chat_assistant_agent.py</a:t>
            </a:r>
          </a:p>
          <a:p xmlns:a="http://schemas.openxmlformats.org/drawingml/2006/main">
            <a:r>
              <a:t>C:/Users/Admin/mbca/TP2-3/frontend/src/components/WorkspaceAssistantPanel.jsx</a:t>
            </a:r>
          </a:p>
          <a:p xmlns:a="http://schemas.openxmlformats.org/drawingml/2006/main">
            <a:r>
              <a:t>C:/Users/Admin/mbca/TP2-3/ai_server/app/main.py:998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확인일: 2026-08-28. API 재생성 없이 코드·설정·원자료를 읽어 확인.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로컬 실행은 C:/Users/Admin/mbca/TP2-3에서 ./start-dev.ps1. 기존 backend/.venv와 frontend 의존성 설치가 전제입니다. Python 의존성은 루트 requirements.txt, JS는 frontend/package.json 및 lockfile. 초기 설치는 venv 생성, pip install -r requirements.txt, frontend npm install(잠금파일이 유지되면 npm ci). 키는 루트 .env, 프론트에 넣지 않습니다. 이번 작업은 코드 변경 없이 문서 생성과 읽기 전용 원자료 검증만 수행했습니다. 실제 유료 보고서 생성/모델 접근권한/외부 API 성공률/배포 성능은 재검증하지 않았습니다.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C:/Users/Admin/mbca/TP2-3/ai_server/app/agents/README.md</a:t>
            </a:r>
          </a:p>
          <a:p xmlns:a="http://schemas.openxmlformats.org/drawingml/2006/main">
            <a:r>
              <a:t>C:/Users/Admin/mbca/TP2-3/frontend/package.json</a:t>
            </a:r>
          </a:p>
          <a:p xmlns:a="http://schemas.openxmlformats.org/drawingml/2006/main">
            <a:r>
              <a:t>C:/Users/Admin/mbca/TP2-3/requirements.txt</a:t>
            </a:r>
          </a:p>
          <a:p xmlns:a="http://schemas.openxmlformats.org/drawingml/2006/main">
            <a:r>
              <a:t>C:/Users/Admin/mbca/TP2-3/start-dev.ps1</a:t>
            </a:r>
          </a:p>
          <a:p xmlns:a="http://schemas.openxmlformats.org/drawingml/2006/main">
            <a:r>
              <a:t>C:/Users/Admin/mbca/TP2-3/docs/DATA_SOURCE_USAGE.md</a:t>
            </a:r>
          </a:p>
          <a:p xmlns:a="http://schemas.openxmlformats.org/drawingml/2006/main">
            <a:r>
              <a:t>C:/Users/Admin/mbca/TP2-3/docs/DECISIONS.md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확인일: 2026-08-28. API 재생성 없이 코드·설정·원자료를 읽어 확인.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581f4fbc5c4db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24c6b6245304df7" /><Relationship Type="http://schemas.openxmlformats.org/officeDocument/2006/relationships/slideLayout" Target="/ppt/slideLayouts/slideLayout1.xml" Id="Re7e7a7d926164a6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7e7a7d926164a6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061569e05146ed" /><Relationship Type="http://schemas.openxmlformats.org/officeDocument/2006/relationships/notesSlide" Target="/ppt/notesSlides/notesSlide1.xml" Id="Rac42cf1ddc7543b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1b574640b54115" /><Relationship Type="http://schemas.openxmlformats.org/officeDocument/2006/relationships/notesSlide" Target="/ppt/notesSlides/notesSlide2.xml" Id="R00c978ae859c492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e4b417866a4b3f" /><Relationship Type="http://schemas.openxmlformats.org/officeDocument/2006/relationships/notesSlide" Target="/ppt/notesSlides/notesSlide3.xml" Id="R456d3a9f77f5482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3c35e4cb634dc1" /><Relationship Type="http://schemas.openxmlformats.org/officeDocument/2006/relationships/notesSlide" Target="/ppt/notesSlides/notesSlide4.xml" Id="R25e3afdc40b94b7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81ddae3b42430d" /><Relationship Type="http://schemas.openxmlformats.org/officeDocument/2006/relationships/notesSlide" Target="/ppt/notesSlides/notesSlide5.xml" Id="R8447aced94f14c1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af6e42d54a4d3e" /><Relationship Type="http://schemas.openxmlformats.org/officeDocument/2006/relationships/notesSlide" Target="/ppt/notesSlides/notesSlide6.xml" Id="R006e2b43c0be440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6778c451a142e5" /><Relationship Type="http://schemas.openxmlformats.org/officeDocument/2006/relationships/notesSlide" Target="/ppt/notesSlides/notesSlide7.xml" Id="Re03dc8fb5607468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3c8e839e73407d" /><Relationship Type="http://schemas.openxmlformats.org/officeDocument/2006/relationships/notesSlide" Target="/ppt/notesSlides/notesSlide8.xml" Id="R7b29b63fe0794ed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a82fd2ba704fbb" /><Relationship Type="http://schemas.openxmlformats.org/officeDocument/2006/relationships/notesSlide" Target="/ppt/notesSlides/notesSlide9.xml" Id="Raa7b3c589f97440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30f74db8b944d2" /><Relationship Type="http://schemas.openxmlformats.org/officeDocument/2006/relationships/notesSlide" Target="/ppt/notesSlides/notesSlide10.xml" Id="Rc40598cde6d34b5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9b0e01766f48ab" /><Relationship Type="http://schemas.openxmlformats.org/officeDocument/2006/relationships/notesSlide" Target="/ppt/notesSlides/notesSlide11.xml" Id="Rbaecef04019f44f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618af9f0104042" /><Relationship Type="http://schemas.openxmlformats.org/officeDocument/2006/relationships/notesSlide" Target="/ppt/notesSlides/notesSlide12.xml" Id="R30f21795737049e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dec2561d694ff2" /><Relationship Type="http://schemas.openxmlformats.org/officeDocument/2006/relationships/notesSlide" Target="/ppt/notesSlides/notesSlide13.xml" Id="Racbaf8562ef9414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793b260c40424e" /><Relationship Type="http://schemas.openxmlformats.org/officeDocument/2006/relationships/notesSlide" Target="/ppt/notesSlides/notesSlide14.xml" Id="Rb0fc7fe2952c494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hape-1">
            <a:extLst xmlns:a="http://schemas.openxmlformats.org/drawingml/2006/main">
              <a:ext uri="{FF2B5EF4-FFF2-40B4-BE49-F238E27FC236}">
                <a16:creationId xmlns:a16="http://schemas.microsoft.com/office/drawing/2014/main" id="{DA49441D-F973-4DB9-B40D-B7A2A97C3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"/>
            <a:ext cx="1238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68AD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468AD"/>
                </a:solidFill>
                <a:latin typeface="Malgun Gothic"/>
                <a:ea typeface="Malgun Gothic"/>
                <a:cs typeface="Malgun Gothic"/>
              </a:rPr>
              <a:t>프로젝트 구조 · 데이터 · AI 생성 원리</a:t>
            </a:r>
          </a:p>
        </p:txBody>
      </p:sp>
      <p:sp>
        <p:nvSpPr>
          <p:cNvPr id="2" name="shape-2">
            <a:extLst xmlns:a="http://schemas.openxmlformats.org/drawingml/2006/main">
              <a:ext uri="{FF2B5EF4-FFF2-40B4-BE49-F238E27FC236}">
                <a16:creationId xmlns:a16="http://schemas.microsoft.com/office/drawing/2014/main" id="{4F6699E7-6D23-4890-A538-71B84DAF5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04875"/>
            <a:ext cx="1371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" name="shape-3">
            <a:extLst xmlns:a="http://schemas.openxmlformats.org/drawingml/2006/main">
              <a:ext uri="{FF2B5EF4-FFF2-40B4-BE49-F238E27FC236}">
                <a16:creationId xmlns:a16="http://schemas.microsoft.com/office/drawing/2014/main" id="{E56C9B7F-478A-49E5-9EE1-6A4E3AB90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96225"/>
            <a:ext cx="13716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hape-4">
            <a:extLst xmlns:a="http://schemas.openxmlformats.org/drawingml/2006/main">
              <a:ext uri="{FF2B5EF4-FFF2-40B4-BE49-F238E27FC236}">
                <a16:creationId xmlns:a16="http://schemas.microsoft.com/office/drawing/2014/main" id="{500E4CA9-F8D8-4C9A-A29C-44AFEF328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96250"/>
            <a:ext cx="1143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rPr>
              <a:t>TOUR INSIGHT  ·  TP2-3 개발 설명서</a:t>
            </a:r>
          </a:p>
        </p:txBody>
      </p:sp>
      <p:sp>
        <p:nvSpPr>
          <p:cNvPr id="5" name="shape-5">
            <a:extLst xmlns:a="http://schemas.openxmlformats.org/drawingml/2006/main">
              <a:ext uri="{FF2B5EF4-FFF2-40B4-BE49-F238E27FC236}">
                <a16:creationId xmlns:a16="http://schemas.microsoft.com/office/drawing/2014/main" id="{0EA33CDC-4ADE-4591-A946-C023C8B19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0962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6" name="shape-6">
            <a:extLst xmlns:a="http://schemas.openxmlformats.org/drawingml/2006/main">
              <a:ext uri="{FF2B5EF4-FFF2-40B4-BE49-F238E27FC236}">
                <a16:creationId xmlns:a16="http://schemas.microsoft.com/office/drawing/2014/main" id="{37E7BAF7-5478-44EA-9B32-99B31EEE0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150" b="1">
                <a:solidFill>
                  <a:srgbClr val="17202D"/>
                </a:solidFill>
                <a:latin typeface="Malgun Gothic"/>
                <a:ea typeface="Malgun Gothic"/>
                <a:cs typeface="Malgun Gothic"/>
              </a:defRPr>
            </a:pPr>
            <a:r>
              <a:rPr sz="6150" b="1">
                <a:solidFill>
                  <a:srgbClr val="17202D"/>
                </a:solidFill>
                <a:latin typeface="Malgun Gothic"/>
                <a:ea typeface="Malgun Gothic"/>
                <a:cs typeface="Malgun Gothic"/>
              </a:rPr>
              <a:t>TOUR INSIGHT</a:t>
            </a:r>
          </a:p>
        </p:txBody>
      </p:sp>
      <p:sp>
        <p:nvSpPr>
          <p:cNvPr id="7" name="shape-7">
            <a:extLst xmlns:a="http://schemas.openxmlformats.org/drawingml/2006/main">
              <a:ext uri="{FF2B5EF4-FFF2-40B4-BE49-F238E27FC236}">
                <a16:creationId xmlns:a16="http://schemas.microsoft.com/office/drawing/2014/main" id="{E3A71447-ED83-46B7-870D-C3E5F2A22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1333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17202D"/>
                </a:solidFill>
                <a:latin typeface="Malgun Gothic"/>
                <a:ea typeface="Malgun Gothic"/>
                <a:cs typeface="Malgun Gothic"/>
              </a:defRPr>
            </a:pPr>
            <a:r>
              <a:rPr sz="5250" b="1">
                <a:solidFill>
                  <a:srgbClr val="17202D"/>
                </a:solidFill>
                <a:latin typeface="Malgun Gothic"/>
                <a:ea typeface="Malgun Gothic"/>
                <a:cs typeface="Malgun Gothic"/>
              </a:rPr>
              <a:t>TP2-3 개발 설명서</a:t>
            </a:r>
          </a:p>
        </p:txBody>
      </p:sp>
      <p:sp>
        <p:nvSpPr>
          <p:cNvPr id="8" name="shape-8">
            <a:extLst xmlns:a="http://schemas.openxmlformats.org/drawingml/2006/main">
              <a:ext uri="{FF2B5EF4-FFF2-40B4-BE49-F238E27FC236}">
                <a16:creationId xmlns:a16="http://schemas.microsoft.com/office/drawing/2014/main" id="{B2CA08F2-15A4-4FDA-8B78-08643337A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0125"/>
            <a:ext cx="13049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rPr>
              <a:t>강남구 기획안이 만들어지는 과정을</a:t>
            </a:r>
          </a:p>
          <a:p xmlns:a="http://schemas.openxmlformats.org/drawingml/2006/main">
            <a:pPr algn="l">
              <a:defRPr sz="2550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rPr>
              <a:t>실제 코드와 함수 이름으로 따라갑니다.</a:t>
            </a:r>
          </a:p>
        </p:txBody>
      </p:sp>
      <p:sp>
        <p:nvSpPr>
          <p:cNvPr id="9" name="shape-9">
            <a:extLst xmlns:a="http://schemas.openxmlformats.org/drawingml/2006/main">
              <a:ext uri="{FF2B5EF4-FFF2-40B4-BE49-F238E27FC236}">
                <a16:creationId xmlns:a16="http://schemas.microsoft.com/office/drawing/2014/main" id="{C67F836C-8C2D-4263-B114-F4FDD1B07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77000"/>
            <a:ext cx="13716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hape-10">
            <a:extLst xmlns:a="http://schemas.openxmlformats.org/drawingml/2006/main">
              <a:ext uri="{FF2B5EF4-FFF2-40B4-BE49-F238E27FC236}">
                <a16:creationId xmlns:a16="http://schemas.microsoft.com/office/drawing/2014/main" id="{9D39BE67-049A-44B4-AC11-347C6A73B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81800"/>
            <a:ext cx="1371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468AD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2468AD"/>
                </a:solidFill>
                <a:latin typeface="Malgun Gothic"/>
                <a:ea typeface="Malgun Gothic"/>
                <a:cs typeface="Malgun Gothic"/>
              </a:rPr>
              <a:t>구조와 기술  02–04     생성 과정  05–09     RAG·ML·운영  10–14</a:t>
            </a:r>
          </a:p>
        </p:txBody>
      </p:sp>
      <p:sp>
        <p:nvSpPr>
          <p:cNvPr id="11" name="shape-11">
            <a:extLst xmlns:a="http://schemas.openxmlformats.org/drawingml/2006/main">
              <a:ext uri="{FF2B5EF4-FFF2-40B4-BE49-F238E27FC236}">
                <a16:creationId xmlns:a16="http://schemas.microsoft.com/office/drawing/2014/main" id="{62FF2F45-BF63-4631-99FC-D42F24CA6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24725"/>
            <a:ext cx="1371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rPr>
              <a:t>2026.08.28 코드 기준  /  구현·부분 구현·설계를 구분</a:t>
            </a:r>
          </a:p>
        </p:txBody>
      </p:sp>
    </p:spTree>
    <p:extLst>
      <p:ext uri="{BB962C8B-B14F-4D97-AF65-F5344CB8AC3E}">
        <p14:creationId xmlns:p14="http://schemas.microsoft.com/office/powerpoint/2010/main" val="11272865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shape-12">
            <a:extLst xmlns:a="http://schemas.openxmlformats.org/drawingml/2006/main">
              <a:ext uri="{FF2B5EF4-FFF2-40B4-BE49-F238E27FC236}">
                <a16:creationId xmlns:a16="http://schemas.microsoft.com/office/drawing/2014/main" id="{0C1B7605-B19C-43AB-98B7-FFC8DB182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"/>
            <a:ext cx="1238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68AD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468AD"/>
                </a:solidFill>
                <a:latin typeface="Malgun Gothic"/>
                <a:ea typeface="Malgun Gothic"/>
                <a:cs typeface="Malgun Gothic"/>
              </a:rPr>
              <a:t>01  시스템 구조</a:t>
            </a:r>
          </a:p>
        </p:txBody>
      </p:sp>
      <p:sp>
        <p:nvSpPr>
          <p:cNvPr id="2" name="shape-13">
            <a:extLst xmlns:a="http://schemas.openxmlformats.org/drawingml/2006/main">
              <a:ext uri="{FF2B5EF4-FFF2-40B4-BE49-F238E27FC236}">
                <a16:creationId xmlns:a16="http://schemas.microsoft.com/office/drawing/2014/main" id="{3B992E65-6603-4238-9129-5318BCA30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04875"/>
            <a:ext cx="1371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7202D"/>
                </a:solidFill>
                <a:latin typeface="Malgun Gothic"/>
                <a:ea typeface="Malgun Gothic"/>
                <a:cs typeface="Malgun Gothic"/>
              </a:defRPr>
            </a:pPr>
            <a:r>
              <a:rPr sz="3900" b="1">
                <a:solidFill>
                  <a:srgbClr val="17202D"/>
                </a:solidFill>
                <a:latin typeface="Malgun Gothic"/>
                <a:ea typeface="Malgun Gothic"/>
                <a:cs typeface="Malgun Gothic"/>
              </a:rPr>
              <a:t>화면·지도·AI를 세 서버로 나눕니다</a:t>
            </a:r>
          </a:p>
        </p:txBody>
      </p:sp>
      <p:sp>
        <p:nvSpPr>
          <p:cNvPr id="3" name="shape-14">
            <a:extLst xmlns:a="http://schemas.openxmlformats.org/drawingml/2006/main">
              <a:ext uri="{FF2B5EF4-FFF2-40B4-BE49-F238E27FC236}">
                <a16:creationId xmlns:a16="http://schemas.microsoft.com/office/drawing/2014/main" id="{71479C39-8A37-48DF-8F41-649FB1964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1371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rPr>
              <a:t>bid3의 업무공간 UI를 재사용하고, TP2의 관광 분석·Agent 로직을 연결했습니다.</a:t>
            </a:r>
          </a:p>
        </p:txBody>
      </p:sp>
      <p:sp>
        <p:nvSpPr>
          <p:cNvPr id="4" name="shape-15">
            <a:extLst xmlns:a="http://schemas.openxmlformats.org/drawingml/2006/main">
              <a:ext uri="{FF2B5EF4-FFF2-40B4-BE49-F238E27FC236}">
                <a16:creationId xmlns:a16="http://schemas.microsoft.com/office/drawing/2014/main" id="{108A5BA7-2CFB-46DA-9F27-8EB149E77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96225"/>
            <a:ext cx="13716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hape-16">
            <a:extLst xmlns:a="http://schemas.openxmlformats.org/drawingml/2006/main">
              <a:ext uri="{FF2B5EF4-FFF2-40B4-BE49-F238E27FC236}">
                <a16:creationId xmlns:a16="http://schemas.microsoft.com/office/drawing/2014/main" id="{3303CF73-3F26-4D6E-913D-8829F9808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96250"/>
            <a:ext cx="1143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rPr>
              <a:t>TOUR INSIGHT  ·  TP2-3 개발 설명서</a:t>
            </a:r>
          </a:p>
        </p:txBody>
      </p:sp>
      <p:sp>
        <p:nvSpPr>
          <p:cNvPr id="6" name="shape-17">
            <a:extLst xmlns:a="http://schemas.openxmlformats.org/drawingml/2006/main">
              <a:ext uri="{FF2B5EF4-FFF2-40B4-BE49-F238E27FC236}">
                <a16:creationId xmlns:a16="http://schemas.microsoft.com/office/drawing/2014/main" id="{60CA158A-F437-418B-B06B-D4E5570DB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0962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7" name="shape-18">
            <a:extLst xmlns:a="http://schemas.openxmlformats.org/drawingml/2006/main">
              <a:ext uri="{FF2B5EF4-FFF2-40B4-BE49-F238E27FC236}">
                <a16:creationId xmlns:a16="http://schemas.microsoft.com/office/drawing/2014/main" id="{69A3D463-A1CD-4D1B-A7F7-A6C9D7104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9575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8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hape-19">
            <a:extLst xmlns:a="http://schemas.openxmlformats.org/drawingml/2006/main">
              <a:ext uri="{FF2B5EF4-FFF2-40B4-BE49-F238E27FC236}">
                <a16:creationId xmlns:a16="http://schemas.microsoft.com/office/drawing/2014/main" id="{23F30FAF-0AA7-463D-91DA-CC9021CBA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3476625"/>
            <a:ext cx="190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8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hape-20">
            <a:extLst xmlns:a="http://schemas.openxmlformats.org/drawingml/2006/main">
              <a:ext uri="{FF2B5EF4-FFF2-40B4-BE49-F238E27FC236}">
                <a16:creationId xmlns:a16="http://schemas.microsoft.com/office/drawing/2014/main" id="{CC793878-5F9F-41F0-B45F-B52CD4129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3362325"/>
            <a:ext cx="3429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68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hape-21">
            <a:extLst xmlns:a="http://schemas.openxmlformats.org/drawingml/2006/main">
              <a:ext uri="{FF2B5EF4-FFF2-40B4-BE49-F238E27FC236}">
                <a16:creationId xmlns:a16="http://schemas.microsoft.com/office/drawing/2014/main" id="{B81EE24C-03EB-44F3-8BDD-DAC26A92F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5362575"/>
            <a:ext cx="3429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68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hape-22">
            <a:extLst xmlns:a="http://schemas.openxmlformats.org/drawingml/2006/main">
              <a:ext uri="{FF2B5EF4-FFF2-40B4-BE49-F238E27FC236}">
                <a16:creationId xmlns:a16="http://schemas.microsoft.com/office/drawing/2014/main" id="{56D994E8-1B13-4F65-BCB3-FDD41EAB3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0"/>
            <a:ext cx="5715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68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hape-23">
            <a:extLst xmlns:a="http://schemas.openxmlformats.org/drawingml/2006/main">
              <a:ext uri="{FF2B5EF4-FFF2-40B4-BE49-F238E27FC236}">
                <a16:creationId xmlns:a16="http://schemas.microsoft.com/office/drawing/2014/main" id="{FD0704C0-DADB-404E-A80A-3E9E44379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334000"/>
            <a:ext cx="5715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68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hape-24">
            <a:extLst xmlns:a="http://schemas.openxmlformats.org/drawingml/2006/main">
              <a:ext uri="{FF2B5EF4-FFF2-40B4-BE49-F238E27FC236}">
                <a16:creationId xmlns:a16="http://schemas.microsoft.com/office/drawing/2014/main" id="{0288266D-CE3A-40D3-AC78-DAED3374F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36195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hape-25">
            <a:extLst xmlns:a="http://schemas.openxmlformats.org/drawingml/2006/main">
              <a:ext uri="{FF2B5EF4-FFF2-40B4-BE49-F238E27FC236}">
                <a16:creationId xmlns:a16="http://schemas.microsoft.com/office/drawing/2014/main" id="{B4F1E5D3-EB4A-4DE7-9165-4CEDCD8A3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71800"/>
            <a:ext cx="320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2D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7202D"/>
                </a:solidFill>
                <a:latin typeface="Malgun Gothic"/>
                <a:ea typeface="Malgun Gothic"/>
                <a:cs typeface="Malgun Gothic"/>
              </a:rPr>
              <a:t>React + Vite  :5175</a:t>
            </a:r>
          </a:p>
        </p:txBody>
      </p:sp>
      <p:sp>
        <p:nvSpPr>
          <p:cNvPr id="15" name="shape-26">
            <a:extLst xmlns:a="http://schemas.openxmlformats.org/drawingml/2006/main">
              <a:ext uri="{FF2B5EF4-FFF2-40B4-BE49-F238E27FC236}">
                <a16:creationId xmlns:a16="http://schemas.microsoft.com/office/drawing/2014/main" id="{7C43CB81-1BC3-4571-828B-43D6AB7AE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24250"/>
            <a:ext cx="32004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rPr>
              <a:t>지도·지표·기획안·챗봇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rPr>
              <a:t>/api, /ai 요청을</a:t>
            </a:r>
          </a:p>
          <a:p xmlns:a="http://schemas.openxmlformats.org/drawingml/2006/main">
            <a:pPr algn="l">
              <a:defRPr sz="1875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rPr>
              <a:t>개발 프록시로 전달</a:t>
            </a:r>
          </a:p>
        </p:txBody>
      </p:sp>
      <p:sp>
        <p:nvSpPr>
          <p:cNvPr id="16" name="shape-27">
            <a:extLst xmlns:a="http://schemas.openxmlformats.org/drawingml/2006/main">
              <a:ext uri="{FF2B5EF4-FFF2-40B4-BE49-F238E27FC236}">
                <a16:creationId xmlns:a16="http://schemas.microsoft.com/office/drawing/2014/main" id="{6415E1C7-C7FC-4C9E-8C1C-DC7B5458E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714625"/>
            <a:ext cx="414337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hape-28">
            <a:extLst xmlns:a="http://schemas.openxmlformats.org/drawingml/2006/main">
              <a:ext uri="{FF2B5EF4-FFF2-40B4-BE49-F238E27FC236}">
                <a16:creationId xmlns:a16="http://schemas.microsoft.com/office/drawing/2014/main" id="{F3A46509-4C5C-49A4-B4A0-6B044A43E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924175"/>
            <a:ext cx="37242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2D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7202D"/>
                </a:solidFill>
                <a:latin typeface="Malgun Gothic"/>
                <a:ea typeface="Malgun Gothic"/>
                <a:cs typeface="Malgun Gothic"/>
              </a:rPr>
              <a:t>Backend  :8100</a:t>
            </a:r>
          </a:p>
        </p:txBody>
      </p:sp>
      <p:sp>
        <p:nvSpPr>
          <p:cNvPr id="18" name="shape-29">
            <a:extLst xmlns:a="http://schemas.openxmlformats.org/drawingml/2006/main">
              <a:ext uri="{FF2B5EF4-FFF2-40B4-BE49-F238E27FC236}">
                <a16:creationId xmlns:a16="http://schemas.microsoft.com/office/drawing/2014/main" id="{2DD1A2A0-05B2-495D-9F65-DAB7248D1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476625"/>
            <a:ext cx="37242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rPr>
              <a:t>/api → VWorld 행정경계</a:t>
            </a:r>
          </a:p>
        </p:txBody>
      </p:sp>
      <p:sp>
        <p:nvSpPr>
          <p:cNvPr id="19" name="shape-30">
            <a:extLst xmlns:a="http://schemas.openxmlformats.org/drawingml/2006/main">
              <a:ext uri="{FF2B5EF4-FFF2-40B4-BE49-F238E27FC236}">
                <a16:creationId xmlns:a16="http://schemas.microsoft.com/office/drawing/2014/main" id="{4D18CD1D-E35A-4939-8E76-E1DFCD1B8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619625"/>
            <a:ext cx="4143375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hape-31">
            <a:extLst xmlns:a="http://schemas.openxmlformats.org/drawingml/2006/main">
              <a:ext uri="{FF2B5EF4-FFF2-40B4-BE49-F238E27FC236}">
                <a16:creationId xmlns:a16="http://schemas.microsoft.com/office/drawing/2014/main" id="{740CFA81-A366-4108-8193-D5395FD35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829175"/>
            <a:ext cx="37242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2D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7202D"/>
                </a:solidFill>
                <a:latin typeface="Malgun Gothic"/>
                <a:ea typeface="Malgun Gothic"/>
                <a:cs typeface="Malgun Gothic"/>
              </a:rPr>
              <a:t>AI Server  :8101</a:t>
            </a:r>
          </a:p>
        </p:txBody>
      </p:sp>
      <p:sp>
        <p:nvSpPr>
          <p:cNvPr id="21" name="shape-32">
            <a:extLst xmlns:a="http://schemas.openxmlformats.org/drawingml/2006/main">
              <a:ext uri="{FF2B5EF4-FFF2-40B4-BE49-F238E27FC236}">
                <a16:creationId xmlns:a16="http://schemas.microsoft.com/office/drawing/2014/main" id="{504382D0-6D2F-4947-8B6E-8F7770ED5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5381625"/>
            <a:ext cx="37242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rPr>
              <a:t>/ai → 원자료 계산</a:t>
            </a:r>
          </a:p>
          <a:p xmlns:a="http://schemas.openxmlformats.org/drawingml/2006/main">
            <a:pPr algn="l">
              <a:defRPr sz="1875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rPr>
              <a:t>5개 Agent · 문서 출력</a:t>
            </a:r>
          </a:p>
        </p:txBody>
      </p:sp>
      <p:sp>
        <p:nvSpPr>
          <p:cNvPr id="22" name="shape-33">
            <a:extLst xmlns:a="http://schemas.openxmlformats.org/drawingml/2006/main">
              <a:ext uri="{FF2B5EF4-FFF2-40B4-BE49-F238E27FC236}">
                <a16:creationId xmlns:a16="http://schemas.microsoft.com/office/drawing/2014/main" id="{62422128-B195-4236-9F67-069CEDD21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714625"/>
            <a:ext cx="41910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hape-34">
            <a:extLst xmlns:a="http://schemas.openxmlformats.org/drawingml/2006/main">
              <a:ext uri="{FF2B5EF4-FFF2-40B4-BE49-F238E27FC236}">
                <a16:creationId xmlns:a16="http://schemas.microsoft.com/office/drawing/2014/main" id="{9B78924B-0C93-4AFD-842D-DF97CE445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24175"/>
            <a:ext cx="3771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2D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7202D"/>
                </a:solidFill>
                <a:latin typeface="Malgun Gothic"/>
                <a:ea typeface="Malgun Gothic"/>
                <a:cs typeface="Malgun Gothic"/>
              </a:rPr>
              <a:t>외부 지도 API</a:t>
            </a:r>
          </a:p>
        </p:txBody>
      </p:sp>
      <p:sp>
        <p:nvSpPr>
          <p:cNvPr id="24" name="shape-35">
            <a:extLst xmlns:a="http://schemas.openxmlformats.org/drawingml/2006/main">
              <a:ext uri="{FF2B5EF4-FFF2-40B4-BE49-F238E27FC236}">
                <a16:creationId xmlns:a16="http://schemas.microsoft.com/office/drawing/2014/main" id="{006D3C09-2C16-4F5E-8A5D-6CF561F0C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476625"/>
            <a:ext cx="37719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rPr>
              <a:t>VWorld WFS → GeoJSON</a:t>
            </a:r>
          </a:p>
        </p:txBody>
      </p:sp>
      <p:sp>
        <p:nvSpPr>
          <p:cNvPr id="25" name="shape-36">
            <a:extLst xmlns:a="http://schemas.openxmlformats.org/drawingml/2006/main">
              <a:ext uri="{FF2B5EF4-FFF2-40B4-BE49-F238E27FC236}">
                <a16:creationId xmlns:a16="http://schemas.microsoft.com/office/drawing/2014/main" id="{76870190-4208-4E67-8485-DF725F6FA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619625"/>
            <a:ext cx="41910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shape-37">
            <a:extLst xmlns:a="http://schemas.openxmlformats.org/drawingml/2006/main">
              <a:ext uri="{FF2B5EF4-FFF2-40B4-BE49-F238E27FC236}">
                <a16:creationId xmlns:a16="http://schemas.microsoft.com/office/drawing/2014/main" id="{D3EA2B8C-34CF-4E9A-9112-A983B505C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829175"/>
            <a:ext cx="3771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2D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7202D"/>
                </a:solidFill>
                <a:latin typeface="Malgun Gothic"/>
                <a:ea typeface="Malgun Gothic"/>
                <a:cs typeface="Malgun Gothic"/>
              </a:rPr>
              <a:t>데이터와 AI</a:t>
            </a:r>
          </a:p>
        </p:txBody>
      </p:sp>
      <p:sp>
        <p:nvSpPr>
          <p:cNvPr id="27" name="shape-38">
            <a:extLst xmlns:a="http://schemas.openxmlformats.org/drawingml/2006/main">
              <a:ext uri="{FF2B5EF4-FFF2-40B4-BE49-F238E27FC236}">
                <a16:creationId xmlns:a16="http://schemas.microsoft.com/office/drawing/2014/main" id="{3992B0EA-9A65-472E-A61C-69E83594F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381625"/>
            <a:ext cx="37719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rPr>
              <a:t>ZIP · TourAPI · 공식 웹</a:t>
            </a:r>
          </a:p>
          <a:p xmlns:a="http://schemas.openxmlformats.org/drawingml/2006/main">
            <a:pPr algn="l">
              <a:defRPr sz="1875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rPr>
              <a:t>ChromaDB · OpenAI</a:t>
            </a:r>
          </a:p>
        </p:txBody>
      </p:sp>
      <p:sp>
        <p:nvSpPr>
          <p:cNvPr id="28" name="shape-39">
            <a:extLst xmlns:a="http://schemas.openxmlformats.org/drawingml/2006/main">
              <a:ext uri="{FF2B5EF4-FFF2-40B4-BE49-F238E27FC236}">
                <a16:creationId xmlns:a16="http://schemas.microsoft.com/office/drawing/2014/main" id="{0290B2A9-17DD-4F37-91C5-88C78DB91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8662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68A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468AD"/>
                </a:solidFill>
                <a:latin typeface="Malgun Gothic"/>
                <a:ea typeface="Malgun Gothic"/>
                <a:cs typeface="Malgun Gothic"/>
              </a:rPr>
              <a:t>현재 저장: 브라우저 localStorage / 서버 작업 메모리  ·  MySQL·운영 작업 큐는 미연결</a:t>
            </a:r>
          </a:p>
        </p:txBody>
      </p:sp>
    </p:spTree>
    <p:extLst>
      <p:ext uri="{BB962C8B-B14F-4D97-AF65-F5344CB8AC3E}">
        <p14:creationId xmlns:p14="http://schemas.microsoft.com/office/powerpoint/2010/main" val="32629013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hape-40">
            <a:extLst xmlns:a="http://schemas.openxmlformats.org/drawingml/2006/main">
              <a:ext uri="{FF2B5EF4-FFF2-40B4-BE49-F238E27FC236}">
                <a16:creationId xmlns:a16="http://schemas.microsoft.com/office/drawing/2014/main" id="{91DB0451-CD27-4C19-8048-8F64E0628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"/>
            <a:ext cx="1238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68AD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468AD"/>
                </a:solidFill>
                <a:latin typeface="Malgun Gothic"/>
                <a:ea typeface="Malgun Gothic"/>
                <a:cs typeface="Malgun Gothic"/>
              </a:rPr>
              <a:t>02  기술 목록</a:t>
            </a:r>
          </a:p>
        </p:txBody>
      </p:sp>
      <p:sp>
        <p:nvSpPr>
          <p:cNvPr id="2" name="shape-41">
            <a:extLst xmlns:a="http://schemas.openxmlformats.org/drawingml/2006/main">
              <a:ext uri="{FF2B5EF4-FFF2-40B4-BE49-F238E27FC236}">
                <a16:creationId xmlns:a16="http://schemas.microsoft.com/office/drawing/2014/main" id="{83E5C616-CECA-4656-870C-542967AAC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04875"/>
            <a:ext cx="1371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7202D"/>
                </a:solidFill>
                <a:latin typeface="Malgun Gothic"/>
                <a:ea typeface="Malgun Gothic"/>
                <a:cs typeface="Malgun Gothic"/>
              </a:defRPr>
            </a:pPr>
            <a:r>
              <a:rPr sz="3900" b="1">
                <a:solidFill>
                  <a:srgbClr val="17202D"/>
                </a:solidFill>
                <a:latin typeface="Malgun Gothic"/>
                <a:ea typeface="Malgun Gothic"/>
                <a:cs typeface="Malgun Gothic"/>
              </a:rPr>
              <a:t>사용 기술을 역할별로 구분합니다</a:t>
            </a:r>
          </a:p>
        </p:txBody>
      </p:sp>
      <p:sp>
        <p:nvSpPr>
          <p:cNvPr id="3" name="shape-42">
            <a:extLst xmlns:a="http://schemas.openxmlformats.org/drawingml/2006/main">
              <a:ext uri="{FF2B5EF4-FFF2-40B4-BE49-F238E27FC236}">
                <a16:creationId xmlns:a16="http://schemas.microsoft.com/office/drawing/2014/main" id="{9969FEC3-DFF6-4E88-9516-906D42982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1371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rPr>
              <a:t>설치된 라이브러리와 본 서비스에 연결된 기능은 같은 뜻이 아닙니다.</a:t>
            </a:r>
          </a:p>
        </p:txBody>
      </p:sp>
      <p:sp>
        <p:nvSpPr>
          <p:cNvPr id="4" name="shape-43">
            <a:extLst xmlns:a="http://schemas.openxmlformats.org/drawingml/2006/main">
              <a:ext uri="{FF2B5EF4-FFF2-40B4-BE49-F238E27FC236}">
                <a16:creationId xmlns:a16="http://schemas.microsoft.com/office/drawing/2014/main" id="{E0079DA8-8DF8-4B7D-9664-C2BD5F7C1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96225"/>
            <a:ext cx="13716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hape-44">
            <a:extLst xmlns:a="http://schemas.openxmlformats.org/drawingml/2006/main">
              <a:ext uri="{FF2B5EF4-FFF2-40B4-BE49-F238E27FC236}">
                <a16:creationId xmlns:a16="http://schemas.microsoft.com/office/drawing/2014/main" id="{9C76D765-EAD1-4779-9F37-F40D390A2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96250"/>
            <a:ext cx="1143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rPr>
              <a:t>TOUR INSIGHT  ·  TP2-3 개발 설명서</a:t>
            </a:r>
          </a:p>
        </p:txBody>
      </p:sp>
      <p:sp>
        <p:nvSpPr>
          <p:cNvPr id="6" name="shape-45">
            <a:extLst xmlns:a="http://schemas.openxmlformats.org/drawingml/2006/main">
              <a:ext uri="{FF2B5EF4-FFF2-40B4-BE49-F238E27FC236}">
                <a16:creationId xmlns:a16="http://schemas.microsoft.com/office/drawing/2014/main" id="{5B58E930-095B-4C27-88E4-110F7A32F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0962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62000" y="2571750"/>
          <a:ext xmlns:a="http://schemas.openxmlformats.org/drawingml/2006/main" cx="13716000" cy="4514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6286500"/>
                <a:gridCol w="5334000"/>
              </a:tblGrid>
              <a:tr h="564356">
                <a:tc>
                  <a:txBody>
                    <a:bodyPr lIns="152400" tIns="95250" rIns="15240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202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영역</a:t>
                      </a:r>
                    </a:p>
                  </a:txBody>
                  <a:tcPr marL="91440" marR="91440" marT="45720" marB="45720" anchor="ctr">
                    <a:solidFill>
                      <a:srgbClr val="F2F4F6"/>
                    </a:solidFill>
                  </a:tcPr>
                </a:tc>
                <a:tc>
                  <a:txBody>
                    <a:bodyPr lIns="152400" tIns="95250" rIns="15240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202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기술 / 개발 용어</a:t>
                      </a:r>
                    </a:p>
                  </a:txBody>
                  <a:tcPr marL="91440" marR="91440" marT="45720" marB="45720" anchor="ctr">
                    <a:solidFill>
                      <a:srgbClr val="F2F4F6"/>
                    </a:solidFill>
                  </a:tcPr>
                </a:tc>
                <a:tc>
                  <a:txBody>
                    <a:bodyPr lIns="152400" tIns="95250" rIns="15240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202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프로젝트에서 하는 일</a:t>
                      </a:r>
                    </a:p>
                  </a:txBody>
                  <a:tcPr marL="91440" marR="91440" marT="45720" marB="45720" anchor="ctr">
                    <a:solidFill>
                      <a:srgbClr val="F2F4F6"/>
                    </a:solidFill>
                  </a:tcPr>
                </a:tc>
              </a:tr>
              <a:tr h="564356">
                <a:tc>
                  <a:txBody>
                    <a:bodyPr lIns="152400" tIns="95250" rIns="1524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58647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화면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524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58647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JavaScript·JSX / React 19 / Vite 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524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58647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페이지·상태 관리·개발 서버·번들 빌드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64356">
                <a:tc>
                  <a:txBody>
                    <a:bodyPr lIns="152400" tIns="95250" rIns="1524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58647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지도·차트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524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58647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Leaflet·React Leaflet / Recharts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524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58647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행정경계 지도 / 방문·소비 차트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64356">
                <a:tc>
                  <a:txBody>
                    <a:bodyPr lIns="152400" tIns="95250" rIns="1524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58647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524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58647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Python / FastAPI·Uvicorn / Pydantic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524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58647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REST API / 요청·응답 데이터 형태 검증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64356">
                <a:tc>
                  <a:txBody>
                    <a:bodyPr lIns="152400" tIns="95250" rIns="1524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58647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원자료·통신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524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58647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zipfile·csv / httpx / asyncio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524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58647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ZIP·CSV 읽기 / 외부 요청 / 병렬·백그라운드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64356">
                <a:tc>
                  <a:txBody>
                    <a:bodyPr lIns="152400" tIns="95250" rIns="1524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58647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AI·문서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524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58647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Responses API / python-docx·python-pptx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524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58647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전략 JSON 생성 / Word·PPT 템플릿 출력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64356">
                <a:tc>
                  <a:txBody>
                    <a:bodyPr lIns="152400" tIns="95250" rIns="1524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58647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응답·로딩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524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58647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React lazy·Suspense / LRU·GZip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524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58647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페이지 분할 / 원자료 캐시 / JSON 압축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64356">
                <a:tc>
                  <a:txBody>
                    <a:bodyPr lIns="152400" tIns="95250" rIns="1524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58647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부분·준비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524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58647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ChromaDB / Pandas·NumPy·scikit-learn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524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58647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RAG 검색 코드 / 별도 ML 시연 앱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-46">
            <a:extLst xmlns:a="http://schemas.openxmlformats.org/drawingml/2006/main">
              <a:ext uri="{FF2B5EF4-FFF2-40B4-BE49-F238E27FC236}">
                <a16:creationId xmlns:a16="http://schemas.microsoft.com/office/drawing/2014/main" id="{F6015601-F9D0-4DB7-9D9D-D4CE47203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8662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68A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468AD"/>
                </a:solidFill>
                <a:latin typeface="Malgun Gothic"/>
                <a:ea typeface="Malgun Gothic"/>
                <a:cs typeface="Malgun Gothic"/>
              </a:rPr>
              <a:t>LangChain·LangGraph·OpenAI Agents SDK가 아닌, Python으로 직접 구성한 고정 Agent 파이프라인</a:t>
            </a:r>
          </a:p>
        </p:txBody>
      </p:sp>
    </p:spTree>
    <p:extLst>
      <p:ext uri="{BB962C8B-B14F-4D97-AF65-F5344CB8AC3E}">
        <p14:creationId xmlns:p14="http://schemas.microsoft.com/office/powerpoint/2010/main" val="102432149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hape-47">
            <a:extLst xmlns:a="http://schemas.openxmlformats.org/drawingml/2006/main">
              <a:ext uri="{FF2B5EF4-FFF2-40B4-BE49-F238E27FC236}">
                <a16:creationId xmlns:a16="http://schemas.microsoft.com/office/drawing/2014/main" id="{52FF9ABC-87EF-4A21-B116-A2FE6F093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"/>
            <a:ext cx="1238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68AD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468AD"/>
                </a:solidFill>
                <a:latin typeface="Malgun Gothic"/>
                <a:ea typeface="Malgun Gothic"/>
                <a:cs typeface="Malgun Gothic"/>
              </a:rPr>
              <a:t>03  데이터·API 목록</a:t>
            </a:r>
          </a:p>
        </p:txBody>
      </p:sp>
      <p:sp>
        <p:nvSpPr>
          <p:cNvPr id="2" name="shape-48">
            <a:extLst xmlns:a="http://schemas.openxmlformats.org/drawingml/2006/main">
              <a:ext uri="{FF2B5EF4-FFF2-40B4-BE49-F238E27FC236}">
                <a16:creationId xmlns:a16="http://schemas.microsoft.com/office/drawing/2014/main" id="{EAFE4610-5B74-4B6D-99EA-777B74CD3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04875"/>
            <a:ext cx="1371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7202D"/>
                </a:solidFill>
                <a:latin typeface="Malgun Gothic"/>
                <a:ea typeface="Malgun Gothic"/>
                <a:cs typeface="Malgun Gothic"/>
              </a:defRPr>
            </a:pPr>
            <a:r>
              <a:rPr sz="3900" b="1">
                <a:solidFill>
                  <a:srgbClr val="17202D"/>
                </a:solidFill>
                <a:latin typeface="Malgun Gothic"/>
                <a:ea typeface="Malgun Gothic"/>
                <a:cs typeface="Malgun Gothic"/>
              </a:rPr>
              <a:t>숫자와 관광 맥락은 출처가 다릅니다</a:t>
            </a:r>
          </a:p>
        </p:txBody>
      </p:sp>
      <p:sp>
        <p:nvSpPr>
          <p:cNvPr id="3" name="shape-49">
            <a:extLst xmlns:a="http://schemas.openxmlformats.org/drawingml/2006/main">
              <a:ext uri="{FF2B5EF4-FFF2-40B4-BE49-F238E27FC236}">
                <a16:creationId xmlns:a16="http://schemas.microsoft.com/office/drawing/2014/main" id="{5B78DB49-18B5-473F-9E18-B97DF9060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1371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rPr>
              <a:t>월간 수치는 ZIP, 관광자원은 TourAPI, 지도는 VWorld에서 가져옵니다.</a:t>
            </a:r>
          </a:p>
        </p:txBody>
      </p:sp>
      <p:sp>
        <p:nvSpPr>
          <p:cNvPr id="4" name="shape-50">
            <a:extLst xmlns:a="http://schemas.openxmlformats.org/drawingml/2006/main">
              <a:ext uri="{FF2B5EF4-FFF2-40B4-BE49-F238E27FC236}">
                <a16:creationId xmlns:a16="http://schemas.microsoft.com/office/drawing/2014/main" id="{0CAEB34A-AA85-4884-8E75-ABE3D06F8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96225"/>
            <a:ext cx="13716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hape-51">
            <a:extLst xmlns:a="http://schemas.openxmlformats.org/drawingml/2006/main">
              <a:ext uri="{FF2B5EF4-FFF2-40B4-BE49-F238E27FC236}">
                <a16:creationId xmlns:a16="http://schemas.microsoft.com/office/drawing/2014/main" id="{91B30BC9-D891-4690-9CA9-21EFE147E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96250"/>
            <a:ext cx="1143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rPr>
              <a:t>TOUR INSIGHT  ·  TP2-3 개발 설명서</a:t>
            </a:r>
          </a:p>
        </p:txBody>
      </p:sp>
      <p:sp>
        <p:nvSpPr>
          <p:cNvPr id="6" name="shape-52">
            <a:extLst xmlns:a="http://schemas.openxmlformats.org/drawingml/2006/main">
              <a:ext uri="{FF2B5EF4-FFF2-40B4-BE49-F238E27FC236}">
                <a16:creationId xmlns:a16="http://schemas.microsoft.com/office/drawing/2014/main" id="{BA8E0F0C-6B2B-42E1-97C5-5C89218C9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0962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62000" y="2571750"/>
          <a:ext xmlns:a="http://schemas.openxmlformats.org/drawingml/2006/main" cx="13716000" cy="4381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5810250"/>
                <a:gridCol w="4476750"/>
              </a:tblGrid>
              <a:tr h="730250">
                <a:tc>
                  <a:txBody>
                    <a:bodyPr lIns="152400" tIns="95250" rIns="15240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202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출처</a:t>
                      </a:r>
                    </a:p>
                  </a:txBody>
                  <a:tcPr marL="91440" marR="91440" marT="45720" marB="45720" anchor="ctr">
                    <a:solidFill>
                      <a:srgbClr val="F2F4F6"/>
                    </a:solidFill>
                  </a:tcPr>
                </a:tc>
                <a:tc>
                  <a:txBody>
                    <a:bodyPr lIns="152400" tIns="95250" rIns="15240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202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호출 / 파일</a:t>
                      </a:r>
                    </a:p>
                  </a:txBody>
                  <a:tcPr marL="91440" marR="91440" marT="45720" marB="45720" anchor="ctr">
                    <a:solidFill>
                      <a:srgbClr val="F2F4F6"/>
                    </a:solidFill>
                  </a:tcPr>
                </a:tc>
                <a:tc>
                  <a:txBody>
                    <a:bodyPr lIns="152400" tIns="95250" rIns="15240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202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 목적</a:t>
                      </a:r>
                    </a:p>
                  </a:txBody>
                  <a:tcPr marL="91440" marR="91440" marT="45720" marB="45720" anchor="ctr">
                    <a:solidFill>
                      <a:srgbClr val="F2F4F6"/>
                    </a:solidFill>
                  </a:tcPr>
                </a:tc>
              </a:tr>
              <a:tr h="730250">
                <a:tc>
                  <a:txBody>
                    <a:bodyPr lIns="152400" tIns="95250" rIns="1524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58647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한국관광 데이터랩</a:t>
                      </a:r>
                    </a:p>
                    <a:p>
                      <a:r>
                        <a:rPr sz="1800" b="0">
                          <a:solidFill>
                            <a:srgbClr val="58647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공식 다운로드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524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58647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data/raw/{시도}/{시군구}/…zip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524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58647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방문·소비·숙박·내비·SNS 월별 수치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30250">
                <a:tc>
                  <a:txBody>
                    <a:bodyPr lIns="152400" tIns="95250" rIns="1524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58647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한국관광공사</a:t>
                      </a:r>
                    </a:p>
                    <a:p>
                      <a:r>
                        <a:rPr sz="1800" b="0">
                          <a:solidFill>
                            <a:srgbClr val="58647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국문관광정보 API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524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58647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KorService2</a:t>
                      </a:r>
                    </a:p>
                    <a:p>
                      <a:r>
                        <a:rPr sz="1800" b="0">
                          <a:solidFill>
                            <a:srgbClr val="58647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areaCode2 → areaBasedList2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524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58647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관광자원명·주소·분류·공식 이미지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30250">
                <a:tc>
                  <a:txBody>
                    <a:bodyPr lIns="152400" tIns="95250" rIns="1524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58647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VWorld WFS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524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58647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Backend → GeoJSON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524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58647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시도·시군구 경계 / 지역 선택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30250">
                <a:tc>
                  <a:txBody>
                    <a:bodyPr lIns="152400" tIns="95250" rIns="1524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58647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공식 웹 조사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524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58647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OpenAI web_search + allowed_domains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524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58647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지역 정책·사업·예산·성과 사례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30250">
                <a:tc>
                  <a:txBody>
                    <a:bodyPr lIns="152400" tIns="95250" rIns="1524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58647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검수 사례·공식 문서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524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58647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official_case_studies.jsonl / ChromaDB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524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58647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운영 방식과 적용 조건 재사용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-53">
            <a:extLst xmlns:a="http://schemas.openxmlformats.org/drawingml/2006/main">
              <a:ext uri="{FF2B5EF4-FFF2-40B4-BE49-F238E27FC236}">
                <a16:creationId xmlns:a16="http://schemas.microsoft.com/office/drawing/2014/main" id="{290F1272-3FCB-4072-81F9-11A0992B6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8662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68A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468AD"/>
                </a:solidFill>
                <a:latin typeface="Malgun Gothic"/>
                <a:ea typeface="Malgun Gothic"/>
                <a:cs typeface="Malgun Gothic"/>
              </a:rPr>
              <a:t>문화체육관광부(mcst.go.kr)는 공식 웹 조사 대상입니다. 별도 문체부 통계 API 연동으로 표기하지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13374752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hape-54">
            <a:extLst xmlns:a="http://schemas.openxmlformats.org/drawingml/2006/main">
              <a:ext uri="{FF2B5EF4-FFF2-40B4-BE49-F238E27FC236}">
                <a16:creationId xmlns:a16="http://schemas.microsoft.com/office/drawing/2014/main" id="{55D91ADE-8E2D-47B6-8C59-F27C5A5CA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"/>
            <a:ext cx="1238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68AD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468AD"/>
                </a:solidFill>
                <a:latin typeface="Malgun Gothic"/>
                <a:ea typeface="Malgun Gothic"/>
                <a:cs typeface="Malgun Gothic"/>
              </a:rPr>
              <a:t>04  강남구 예시  ·  입력 준비</a:t>
            </a:r>
          </a:p>
        </p:txBody>
      </p:sp>
      <p:sp>
        <p:nvSpPr>
          <p:cNvPr id="2" name="shape-55">
            <a:extLst xmlns:a="http://schemas.openxmlformats.org/drawingml/2006/main">
              <a:ext uri="{FF2B5EF4-FFF2-40B4-BE49-F238E27FC236}">
                <a16:creationId xmlns:a16="http://schemas.microsoft.com/office/drawing/2014/main" id="{38B5F5CB-56DA-44A8-8E00-8C2D8603F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04875"/>
            <a:ext cx="1371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7202D"/>
                </a:solidFill>
                <a:latin typeface="Malgun Gothic"/>
                <a:ea typeface="Malgun Gothic"/>
                <a:cs typeface="Malgun Gothic"/>
              </a:defRPr>
            </a:pPr>
            <a:r>
              <a:rPr sz="3900" b="1">
                <a:solidFill>
                  <a:srgbClr val="17202D"/>
                </a:solidFill>
                <a:latin typeface="Malgun Gothic"/>
                <a:ea typeface="Malgun Gothic"/>
                <a:cs typeface="Malgun Gothic"/>
              </a:rPr>
              <a:t>강남구 ZIP을 AI용 사실 묶음으로 만듭니다</a:t>
            </a:r>
          </a:p>
        </p:txBody>
      </p:sp>
      <p:sp>
        <p:nvSpPr>
          <p:cNvPr id="3" name="shape-56">
            <a:extLst xmlns:a="http://schemas.openxmlformats.org/drawingml/2006/main">
              <a:ext uri="{FF2B5EF4-FFF2-40B4-BE49-F238E27FC236}">
                <a16:creationId xmlns:a16="http://schemas.microsoft.com/office/drawing/2014/main" id="{EC7A5724-E262-4AAE-9484-3E00E3872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1371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rPr>
              <a:t>지역코드 11680  /  현재 입력 기간 2025-08 ~ 2026-07  /  이 단계는 OpenAI를 호출하지 않습니다.</a:t>
            </a:r>
          </a:p>
        </p:txBody>
      </p:sp>
      <p:sp>
        <p:nvSpPr>
          <p:cNvPr id="4" name="shape-57">
            <a:extLst xmlns:a="http://schemas.openxmlformats.org/drawingml/2006/main">
              <a:ext uri="{FF2B5EF4-FFF2-40B4-BE49-F238E27FC236}">
                <a16:creationId xmlns:a16="http://schemas.microsoft.com/office/drawing/2014/main" id="{515EF8A6-653A-4E4C-8523-195CB30AD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96225"/>
            <a:ext cx="13716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hape-58">
            <a:extLst xmlns:a="http://schemas.openxmlformats.org/drawingml/2006/main">
              <a:ext uri="{FF2B5EF4-FFF2-40B4-BE49-F238E27FC236}">
                <a16:creationId xmlns:a16="http://schemas.microsoft.com/office/drawing/2014/main" id="{FA01131D-ED93-43A4-80FC-0DEAC5DEE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96250"/>
            <a:ext cx="1143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rPr>
              <a:t>TOUR INSIGHT  ·  TP2-3 개발 설명서</a:t>
            </a:r>
          </a:p>
        </p:txBody>
      </p:sp>
      <p:sp>
        <p:nvSpPr>
          <p:cNvPr id="6" name="shape-59">
            <a:extLst xmlns:a="http://schemas.openxmlformats.org/drawingml/2006/main">
              <a:ext uri="{FF2B5EF4-FFF2-40B4-BE49-F238E27FC236}">
                <a16:creationId xmlns:a16="http://schemas.microsoft.com/office/drawing/2014/main" id="{1A1B6C98-B514-4855-9F51-92EF8D87D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0962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7" name="shape-60">
            <a:extLst xmlns:a="http://schemas.openxmlformats.org/drawingml/2006/main">
              <a:ext uri="{FF2B5EF4-FFF2-40B4-BE49-F238E27FC236}">
                <a16:creationId xmlns:a16="http://schemas.microsoft.com/office/drawing/2014/main" id="{ACC1F922-87BD-463C-AB49-4A976BFCC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638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D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7202D"/>
                </a:solidFill>
                <a:latin typeface="Malgun Gothic"/>
                <a:ea typeface="Malgun Gothic"/>
                <a:cs typeface="Malgun Gothic"/>
              </a:rPr>
              <a:t>파일 → 표 → 수치</a:t>
            </a:r>
          </a:p>
        </p:txBody>
      </p:sp>
      <p:sp>
        <p:nvSpPr>
          <p:cNvPr id="8" name="shape-61">
            <a:extLst xmlns:a="http://schemas.openxmlformats.org/drawingml/2006/main">
              <a:ext uri="{FF2B5EF4-FFF2-40B4-BE49-F238E27FC236}">
                <a16:creationId xmlns:a16="http://schemas.microsoft.com/office/drawing/2014/main" id="{3CF21C49-BC85-4925-ADEB-BD6B56B4E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57550"/>
            <a:ext cx="66198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rPr>
              <a:t>① _find_region_directory()</a:t>
            </a:r>
          </a:p>
          <a:p xmlns:a="http://schemas.openxmlformats.org/drawingml/2006/main">
            <a:pPr algn="l">
              <a:defRPr sz="1875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rPr>
              <a:t>    data/raw/서울특별시/강남구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rPr>
              <a:t>② read_region_tables()</a:t>
            </a:r>
          </a:p>
          <a:p xmlns:a="http://schemas.openxmlformats.org/drawingml/2006/main">
            <a:pPr algn="l">
              <a:defRPr sz="1875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rPr>
              <a:t>    ZIP → CSV / UTF-8·CP949·EUC-KR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rPr>
              <a:t>③ _find_table() · _monthly_values()</a:t>
            </a:r>
          </a:p>
          <a:p xmlns:a="http://schemas.openxmlformats.org/drawingml/2006/main">
            <a:pPr algn="l">
              <a:defRPr sz="1875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rPr>
              <a:t>    표 선택 / 월 정리 / 천 원 × 1,000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rPr>
              <a:t>④ build_region_snapshot()</a:t>
            </a:r>
          </a:p>
          <a:p xmlns:a="http://schemas.openxmlformats.org/drawingml/2006/main">
            <a:pPr algn="l">
              <a:defRPr sz="1875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rPr>
              <a:t>    관측값·12개월 추이·업종·비교 묶음</a:t>
            </a:r>
          </a:p>
        </p:txBody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7953375" y="2667000"/>
          <a:ext xmlns:a="http://schemas.openxmlformats.org/drawingml/2006/main" cx="6524625" cy="40671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3095625"/>
              </a:tblGrid>
              <a:tr h="677863">
                <a:tc>
                  <a:txBody>
                    <a:bodyPr lIns="152400" tIns="95250" rIns="15240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202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2026년 7월 관측값</a:t>
                      </a:r>
                    </a:p>
                  </a:txBody>
                  <a:tcPr marL="91440" marR="91440" marT="45720" marB="45720" anchor="ctr">
                    <a:solidFill>
                      <a:srgbClr val="F2F4F6"/>
                    </a:solidFill>
                  </a:tcPr>
                </a:tc>
                <a:tc>
                  <a:txBody>
                    <a:bodyPr lIns="152400" tIns="95250" rIns="15240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202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실제 입력</a:t>
                      </a:r>
                    </a:p>
                  </a:txBody>
                  <a:tcPr marL="91440" marR="91440" marT="45720" marB="45720" anchor="ctr">
                    <a:solidFill>
                      <a:srgbClr val="F2F4F6"/>
                    </a:solidFill>
                  </a:tcPr>
                </a:tc>
              </a:tr>
              <a:tr h="677863">
                <a:tc>
                  <a:txBody>
                    <a:bodyPr lIns="152400" tIns="95250" rIns="1524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58647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월간 순 방문자 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524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58647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17,963,441명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77863">
                <a:tc>
                  <a:txBody>
                    <a:bodyPr lIns="152400" tIns="95250" rIns="1524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58647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외지인 관광소비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524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58647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481,986,415,000원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77863">
                <a:tc>
                  <a:txBody>
                    <a:bodyPr lIns="152400" tIns="95250" rIns="1524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58647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숙박 방문 비율 / 평균 숙박일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524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58647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3.1% / 2.91일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77863">
                <a:tc>
                  <a:txBody>
                    <a:bodyPr lIns="152400" tIns="95250" rIns="1524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58647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관심도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524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58647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내비 검색·SNS 언급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77863">
                <a:tc>
                  <a:txBody>
                    <a:bodyPr lIns="152400" tIns="95250" rIns="1524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58647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업종 / 동일 시도 비교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524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58647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7개 업종 / 강남구 비교 불가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-62">
            <a:extLst xmlns:a="http://schemas.openxmlformats.org/drawingml/2006/main">
              <a:ext uri="{FF2B5EF4-FFF2-40B4-BE49-F238E27FC236}">
                <a16:creationId xmlns:a16="http://schemas.microsoft.com/office/drawing/2014/main" id="{1A1F4D3E-D2D0-483C-AE75-9D91360B3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6962775"/>
            <a:ext cx="6524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68AD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468AD"/>
                </a:solidFill>
                <a:latin typeface="Malgun Gothic"/>
                <a:ea typeface="Malgun Gothic"/>
                <a:cs typeface="Malgun Gothic"/>
              </a:rPr>
              <a:t>snapshot = AI에 전달하는 특정 시점의 사실 묶음</a:t>
            </a:r>
          </a:p>
          <a:p xmlns:a="http://schemas.openxmlformats.org/drawingml/2006/main">
            <a:pPr algn="l">
              <a:defRPr sz="1725" b="0">
                <a:solidFill>
                  <a:srgbClr val="2468AD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468AD"/>
                </a:solidFill>
                <a:latin typeface="Malgun Gothic"/>
                <a:ea typeface="Malgun Gothic"/>
                <a:cs typeface="Malgun Gothic"/>
              </a:rPr>
              <a:t>외지인 지표를 ‘관광 목적만 온 인원’으로 단정하지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45580974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shape-63">
            <a:extLst xmlns:a="http://schemas.openxmlformats.org/drawingml/2006/main">
              <a:ext uri="{FF2B5EF4-FFF2-40B4-BE49-F238E27FC236}">
                <a16:creationId xmlns:a16="http://schemas.microsoft.com/office/drawing/2014/main" id="{A2F33FFB-0154-4A53-A1BA-7C94757C0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"/>
            <a:ext cx="1238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68AD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468AD"/>
                </a:solidFill>
                <a:latin typeface="Malgun Gothic"/>
                <a:ea typeface="Malgun Gothic"/>
                <a:cs typeface="Malgun Gothic"/>
              </a:rPr>
              <a:t>05  강남구 예시  ·  생성 파이프라인</a:t>
            </a:r>
          </a:p>
        </p:txBody>
      </p:sp>
      <p:sp>
        <p:nvSpPr>
          <p:cNvPr id="2" name="shape-64">
            <a:extLst xmlns:a="http://schemas.openxmlformats.org/drawingml/2006/main">
              <a:ext uri="{FF2B5EF4-FFF2-40B4-BE49-F238E27FC236}">
                <a16:creationId xmlns:a16="http://schemas.microsoft.com/office/drawing/2014/main" id="{40ED7F53-A513-489A-810A-DF4F1938A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04875"/>
            <a:ext cx="1371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7202D"/>
                </a:solidFill>
                <a:latin typeface="Malgun Gothic"/>
                <a:ea typeface="Malgun Gothic"/>
                <a:cs typeface="Malgun Gothic"/>
              </a:defRPr>
            </a:pPr>
            <a:r>
              <a:rPr sz="3900" b="1">
                <a:solidFill>
                  <a:srgbClr val="17202D"/>
                </a:solidFill>
                <a:latin typeface="Malgun Gothic"/>
                <a:ea typeface="Malgun Gothic"/>
                <a:cs typeface="Malgun Gothic"/>
              </a:rPr>
              <a:t>다섯 Agent가 조사·판단·작성·검수를 나눕니다</a:t>
            </a:r>
          </a:p>
        </p:txBody>
      </p:sp>
      <p:sp>
        <p:nvSpPr>
          <p:cNvPr id="3" name="shape-65">
            <a:extLst xmlns:a="http://schemas.openxmlformats.org/drawingml/2006/main">
              <a:ext uri="{FF2B5EF4-FFF2-40B4-BE49-F238E27FC236}">
                <a16:creationId xmlns:a16="http://schemas.microsoft.com/office/drawing/2014/main" id="{C4454F33-CCFE-4879-99B9-301A278EE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1371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rPr>
              <a:t>orchestrate_strategy_report()가 실행 순서와 1회 보완을 통제합니다.</a:t>
            </a:r>
          </a:p>
        </p:txBody>
      </p:sp>
      <p:sp>
        <p:nvSpPr>
          <p:cNvPr id="4" name="shape-66">
            <a:extLst xmlns:a="http://schemas.openxmlformats.org/drawingml/2006/main">
              <a:ext uri="{FF2B5EF4-FFF2-40B4-BE49-F238E27FC236}">
                <a16:creationId xmlns:a16="http://schemas.microsoft.com/office/drawing/2014/main" id="{EE514813-69B2-471E-AA20-590A6165A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96225"/>
            <a:ext cx="13716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hape-67">
            <a:extLst xmlns:a="http://schemas.openxmlformats.org/drawingml/2006/main">
              <a:ext uri="{FF2B5EF4-FFF2-40B4-BE49-F238E27FC236}">
                <a16:creationId xmlns:a16="http://schemas.microsoft.com/office/drawing/2014/main" id="{1123F276-F285-42D6-B7A9-80DE19F8C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96250"/>
            <a:ext cx="1143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rPr>
              <a:t>TOUR INSIGHT  ·  TP2-3 개발 설명서</a:t>
            </a:r>
          </a:p>
        </p:txBody>
      </p:sp>
      <p:sp>
        <p:nvSpPr>
          <p:cNvPr id="6" name="shape-68">
            <a:extLst xmlns:a="http://schemas.openxmlformats.org/drawingml/2006/main">
              <a:ext uri="{FF2B5EF4-FFF2-40B4-BE49-F238E27FC236}">
                <a16:creationId xmlns:a16="http://schemas.microsoft.com/office/drawing/2014/main" id="{81E0623A-C53C-4A36-8F6C-A74B4E6B2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0962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7" name="shape-69">
            <a:extLst xmlns:a="http://schemas.openxmlformats.org/drawingml/2006/main">
              <a:ext uri="{FF2B5EF4-FFF2-40B4-BE49-F238E27FC236}">
                <a16:creationId xmlns:a16="http://schemas.microsoft.com/office/drawing/2014/main" id="{E132C0D6-DE66-4592-A171-4F32E93CA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286125"/>
            <a:ext cx="5524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68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hape-70">
            <a:extLst xmlns:a="http://schemas.openxmlformats.org/drawingml/2006/main">
              <a:ext uri="{FF2B5EF4-FFF2-40B4-BE49-F238E27FC236}">
                <a16:creationId xmlns:a16="http://schemas.microsoft.com/office/drawing/2014/main" id="{35F125BD-84BF-4DBA-B8EE-E3F837100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429250"/>
            <a:ext cx="5524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68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hape-71">
            <a:extLst xmlns:a="http://schemas.openxmlformats.org/drawingml/2006/main">
              <a:ext uri="{FF2B5EF4-FFF2-40B4-BE49-F238E27FC236}">
                <a16:creationId xmlns:a16="http://schemas.microsoft.com/office/drawing/2014/main" id="{A783EAA2-9768-4A65-916A-2364EE3BA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286250"/>
            <a:ext cx="5334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68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hape-72">
            <a:extLst xmlns:a="http://schemas.openxmlformats.org/drawingml/2006/main">
              <a:ext uri="{FF2B5EF4-FFF2-40B4-BE49-F238E27FC236}">
                <a16:creationId xmlns:a16="http://schemas.microsoft.com/office/drawing/2014/main" id="{9208FE90-E49F-4431-AF7A-81C536603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6700" y="4286250"/>
            <a:ext cx="5334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68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hape-73">
            <a:extLst xmlns:a="http://schemas.openxmlformats.org/drawingml/2006/main">
              <a:ext uri="{FF2B5EF4-FFF2-40B4-BE49-F238E27FC236}">
                <a16:creationId xmlns:a16="http://schemas.microsoft.com/office/drawing/2014/main" id="{3AE9E781-23D6-4F6E-AAE6-E8A3CF8BA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400425"/>
            <a:ext cx="190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8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hape-74">
            <a:extLst xmlns:a="http://schemas.openxmlformats.org/drawingml/2006/main">
              <a:ext uri="{FF2B5EF4-FFF2-40B4-BE49-F238E27FC236}">
                <a16:creationId xmlns:a16="http://schemas.microsoft.com/office/drawing/2014/main" id="{9C12AF1F-5DA1-42EE-BE9E-F54FBA5E2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391025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8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hape-75">
            <a:extLst xmlns:a="http://schemas.openxmlformats.org/drawingml/2006/main">
              <a:ext uri="{FF2B5EF4-FFF2-40B4-BE49-F238E27FC236}">
                <a16:creationId xmlns:a16="http://schemas.microsoft.com/office/drawing/2014/main" id="{12A091A9-BA5E-47F5-87C8-F7344E464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37623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hape-76">
            <a:extLst xmlns:a="http://schemas.openxmlformats.org/drawingml/2006/main">
              <a:ext uri="{FF2B5EF4-FFF2-40B4-BE49-F238E27FC236}">
                <a16:creationId xmlns:a16="http://schemas.microsoft.com/office/drawing/2014/main" id="{9A64FAB4-B0DC-4642-B99F-E23F23659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76550"/>
            <a:ext cx="33432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2D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7202D"/>
                </a:solidFill>
                <a:latin typeface="Malgun Gothic"/>
                <a:ea typeface="Malgun Gothic"/>
                <a:cs typeface="Malgun Gothic"/>
              </a:rPr>
              <a:t>01  Evidence</a:t>
            </a:r>
          </a:p>
        </p:txBody>
      </p:sp>
      <p:sp>
        <p:nvSpPr>
          <p:cNvPr id="15" name="shape-77">
            <a:extLst xmlns:a="http://schemas.openxmlformats.org/drawingml/2006/main">
              <a:ext uri="{FF2B5EF4-FFF2-40B4-BE49-F238E27FC236}">
                <a16:creationId xmlns:a16="http://schemas.microsoft.com/office/drawing/2014/main" id="{89986195-7371-4399-BB8F-CB4D80E7C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29000"/>
            <a:ext cx="33432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rPr>
              <a:t>강남구 수치 + 관광자원</a:t>
            </a:r>
          </a:p>
          <a:p xmlns:a="http://schemas.openxmlformats.org/drawingml/2006/main">
            <a:pPr algn="l">
              <a:defRPr sz="1875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rPr>
              <a:t>지역 정책·공식 근거</a:t>
            </a:r>
          </a:p>
        </p:txBody>
      </p:sp>
      <p:sp>
        <p:nvSpPr>
          <p:cNvPr id="16" name="shape-78">
            <a:extLst xmlns:a="http://schemas.openxmlformats.org/drawingml/2006/main">
              <a:ext uri="{FF2B5EF4-FFF2-40B4-BE49-F238E27FC236}">
                <a16:creationId xmlns:a16="http://schemas.microsoft.com/office/drawing/2014/main" id="{151E182A-37F5-4284-8EB7-28ED9AB6D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0125"/>
            <a:ext cx="37623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hape-79">
            <a:extLst xmlns:a="http://schemas.openxmlformats.org/drawingml/2006/main">
              <a:ext uri="{FF2B5EF4-FFF2-40B4-BE49-F238E27FC236}">
                <a16:creationId xmlns:a16="http://schemas.microsoft.com/office/drawing/2014/main" id="{06E82EF5-B532-4D87-9255-435CB0B1B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019675"/>
            <a:ext cx="33432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2D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7202D"/>
                </a:solidFill>
                <a:latin typeface="Malgun Gothic"/>
                <a:ea typeface="Malgun Gothic"/>
                <a:cs typeface="Malgun Gothic"/>
              </a:rPr>
              <a:t>02  Case Scout</a:t>
            </a:r>
          </a:p>
        </p:txBody>
      </p:sp>
      <p:sp>
        <p:nvSpPr>
          <p:cNvPr id="18" name="shape-80">
            <a:extLst xmlns:a="http://schemas.openxmlformats.org/drawingml/2006/main">
              <a:ext uri="{FF2B5EF4-FFF2-40B4-BE49-F238E27FC236}">
                <a16:creationId xmlns:a16="http://schemas.microsoft.com/office/drawing/2014/main" id="{454BEB71-0AD8-4BF3-9CCE-C5C053103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572125"/>
            <a:ext cx="33432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rPr>
              <a:t>다른 지역 사업 조사</a:t>
            </a:r>
          </a:p>
          <a:p xmlns:a="http://schemas.openxmlformats.org/drawingml/2006/main">
            <a:pPr algn="l">
              <a:defRPr sz="1875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rPr>
              <a:t>운영·예산·성과·조건</a:t>
            </a:r>
          </a:p>
        </p:txBody>
      </p:sp>
      <p:sp>
        <p:nvSpPr>
          <p:cNvPr id="19" name="shape-81">
            <a:extLst xmlns:a="http://schemas.openxmlformats.org/drawingml/2006/main">
              <a:ext uri="{FF2B5EF4-FFF2-40B4-BE49-F238E27FC236}">
                <a16:creationId xmlns:a16="http://schemas.microsoft.com/office/drawing/2014/main" id="{11A1BA66-E720-4A85-B645-E8D990B33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286125"/>
            <a:ext cx="2667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hape-82">
            <a:extLst xmlns:a="http://schemas.openxmlformats.org/drawingml/2006/main">
              <a:ext uri="{FF2B5EF4-FFF2-40B4-BE49-F238E27FC236}">
                <a16:creationId xmlns:a16="http://schemas.microsoft.com/office/drawing/2014/main" id="{6AB6ADAC-91FD-45D6-B084-DB62E51DF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495675"/>
            <a:ext cx="2247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2D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7202D"/>
                </a:solidFill>
                <a:latin typeface="Malgun Gothic"/>
                <a:ea typeface="Malgun Gothic"/>
                <a:cs typeface="Malgun Gothic"/>
              </a:rPr>
              <a:t>03  적합성 평가</a:t>
            </a:r>
          </a:p>
        </p:txBody>
      </p:sp>
      <p:sp>
        <p:nvSpPr>
          <p:cNvPr id="21" name="shape-83">
            <a:extLst xmlns:a="http://schemas.openxmlformats.org/drawingml/2006/main">
              <a:ext uri="{FF2B5EF4-FFF2-40B4-BE49-F238E27FC236}">
                <a16:creationId xmlns:a16="http://schemas.microsoft.com/office/drawing/2014/main" id="{5999C1F7-3AD6-4B98-A48D-D312F6E79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048125"/>
            <a:ext cx="22479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rPr>
              <a:t>Transferability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rPr>
              <a:t>강남구에 맞는</a:t>
            </a:r>
          </a:p>
          <a:p xmlns:a="http://schemas.openxmlformats.org/drawingml/2006/main">
            <a:pPr algn="l">
              <a:defRPr sz="1875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rPr>
              <a:t>사례 1~3개 선별</a:t>
            </a:r>
          </a:p>
        </p:txBody>
      </p:sp>
      <p:sp>
        <p:nvSpPr>
          <p:cNvPr id="22" name="shape-84">
            <a:extLst xmlns:a="http://schemas.openxmlformats.org/drawingml/2006/main">
              <a:ext uri="{FF2B5EF4-FFF2-40B4-BE49-F238E27FC236}">
                <a16:creationId xmlns:a16="http://schemas.microsoft.com/office/drawing/2014/main" id="{17EED049-B1CF-4D71-872B-C86EC949E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86125"/>
            <a:ext cx="28384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hape-85">
            <a:extLst xmlns:a="http://schemas.openxmlformats.org/drawingml/2006/main">
              <a:ext uri="{FF2B5EF4-FFF2-40B4-BE49-F238E27FC236}">
                <a16:creationId xmlns:a16="http://schemas.microsoft.com/office/drawing/2014/main" id="{5AF20864-F3E2-4A83-8817-4652D0AC3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495675"/>
            <a:ext cx="2419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2D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7202D"/>
                </a:solidFill>
                <a:latin typeface="Malgun Gothic"/>
                <a:ea typeface="Malgun Gothic"/>
                <a:cs typeface="Malgun Gothic"/>
              </a:rPr>
              <a:t>04  Planner</a:t>
            </a:r>
          </a:p>
        </p:txBody>
      </p:sp>
      <p:sp>
        <p:nvSpPr>
          <p:cNvPr id="24" name="shape-86">
            <a:extLst xmlns:a="http://schemas.openxmlformats.org/drawingml/2006/main">
              <a:ext uri="{FF2B5EF4-FFF2-40B4-BE49-F238E27FC236}">
                <a16:creationId xmlns:a16="http://schemas.microsoft.com/office/drawing/2014/main" id="{E2C198EC-9CCC-45CE-89E0-2CEF28F49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048125"/>
            <a:ext cx="24193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rPr>
              <a:t>기획안 작성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rPr>
              <a:t>3~6개월 단일안</a:t>
            </a:r>
          </a:p>
          <a:p xmlns:a="http://schemas.openxmlformats.org/drawingml/2006/main">
            <a:pPr algn="l">
              <a:defRPr sz="1875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rPr>
              <a:t>정확히 5개 실행단계</a:t>
            </a:r>
          </a:p>
        </p:txBody>
      </p:sp>
      <p:sp>
        <p:nvSpPr>
          <p:cNvPr id="25" name="shape-87">
            <a:extLst xmlns:a="http://schemas.openxmlformats.org/drawingml/2006/main">
              <a:ext uri="{FF2B5EF4-FFF2-40B4-BE49-F238E27FC236}">
                <a16:creationId xmlns:a16="http://schemas.microsoft.com/office/drawing/2014/main" id="{9F2F5AB5-A83B-4A2F-9ACD-97ED7A94C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3286125"/>
            <a:ext cx="21526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shape-88">
            <a:extLst xmlns:a="http://schemas.openxmlformats.org/drawingml/2006/main">
              <a:ext uri="{FF2B5EF4-FFF2-40B4-BE49-F238E27FC236}">
                <a16:creationId xmlns:a16="http://schemas.microsoft.com/office/drawing/2014/main" id="{81A291A0-6D16-428F-8642-2B71D99D9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4900" y="3495675"/>
            <a:ext cx="1733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2D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7202D"/>
                </a:solidFill>
                <a:latin typeface="Malgun Gothic"/>
                <a:ea typeface="Malgun Gothic"/>
                <a:cs typeface="Malgun Gothic"/>
              </a:rPr>
              <a:t>05  검수</a:t>
            </a:r>
          </a:p>
        </p:txBody>
      </p:sp>
      <p:sp>
        <p:nvSpPr>
          <p:cNvPr id="27" name="shape-89">
            <a:extLst xmlns:a="http://schemas.openxmlformats.org/drawingml/2006/main">
              <a:ext uri="{FF2B5EF4-FFF2-40B4-BE49-F238E27FC236}">
                <a16:creationId xmlns:a16="http://schemas.microsoft.com/office/drawing/2014/main" id="{FD4D88B1-B051-494F-B472-3E5F2634C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4900" y="4048125"/>
            <a:ext cx="17335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rPr>
              <a:t>Reviewer</a:t>
            </a:r>
          </a:p>
          <a:p xmlns:a="http://schemas.openxmlformats.org/drawingml/2006/main">
            <a:pPr algn="l">
              <a:defRPr sz="1875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rPr>
              <a:t>근거·실행성</a:t>
            </a:r>
          </a:p>
          <a:p xmlns:a="http://schemas.openxmlformats.org/drawingml/2006/main">
            <a:pPr algn="l">
              <a:defRPr sz="1875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rPr>
              <a:t>오류 검토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rPr>
              <a:t>승인 또는 보완</a:t>
            </a:r>
          </a:p>
        </p:txBody>
      </p:sp>
      <p:sp>
        <p:nvSpPr>
          <p:cNvPr id="28" name="shape-90">
            <a:extLst xmlns:a="http://schemas.openxmlformats.org/drawingml/2006/main">
              <a:ext uri="{FF2B5EF4-FFF2-40B4-BE49-F238E27FC236}">
                <a16:creationId xmlns:a16="http://schemas.microsoft.com/office/drawing/2014/main" id="{AC37C539-3EE0-4EBE-A377-6D476B0CD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29425"/>
            <a:ext cx="4429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468A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468AD"/>
                </a:solidFill>
                <a:latin typeface="Malgun Gothic"/>
                <a:ea typeface="Malgun Gothic"/>
                <a:cs typeface="Malgun Gothic"/>
              </a:rPr>
              <a:t>두 조사 Agent 병렬 실행</a:t>
            </a:r>
          </a:p>
        </p:txBody>
      </p:sp>
      <p:sp>
        <p:nvSpPr>
          <p:cNvPr id="29" name="shape-91">
            <a:extLst xmlns:a="http://schemas.openxmlformats.org/drawingml/2006/main">
              <a:ext uri="{FF2B5EF4-FFF2-40B4-BE49-F238E27FC236}">
                <a16:creationId xmlns:a16="http://schemas.microsoft.com/office/drawing/2014/main" id="{114C8502-8647-4346-99A2-0AF786773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6829425"/>
            <a:ext cx="8915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468A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468AD"/>
                </a:solidFill>
                <a:latin typeface="Malgun Gothic"/>
                <a:ea typeface="Malgun Gothic"/>
                <a:cs typeface="Malgun Gothic"/>
              </a:rPr>
              <a:t>미승인 → Planner 보완 → Reviewer 재검수  (최대 1회)</a:t>
            </a:r>
          </a:p>
        </p:txBody>
      </p:sp>
      <p:sp>
        <p:nvSpPr>
          <p:cNvPr id="30" name="shape-92">
            <a:extLst xmlns:a="http://schemas.openxmlformats.org/drawingml/2006/main">
              <a:ext uri="{FF2B5EF4-FFF2-40B4-BE49-F238E27FC236}">
                <a16:creationId xmlns:a16="http://schemas.microsoft.com/office/drawing/2014/main" id="{7852924F-611C-4438-B70E-9F8993AE0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00925"/>
            <a:ext cx="1371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rPr>
              <a:t>근거 캐시 1시간 · 사례 캐시 6시간  /  기획 작성·검수는 매번 실행</a:t>
            </a:r>
          </a:p>
        </p:txBody>
      </p:sp>
    </p:spTree>
    <p:extLst>
      <p:ext uri="{BB962C8B-B14F-4D97-AF65-F5344CB8AC3E}">
        <p14:creationId xmlns:p14="http://schemas.microsoft.com/office/powerpoint/2010/main" val="27907546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hape-93">
            <a:extLst xmlns:a="http://schemas.openxmlformats.org/drawingml/2006/main">
              <a:ext uri="{FF2B5EF4-FFF2-40B4-BE49-F238E27FC236}">
                <a16:creationId xmlns:a16="http://schemas.microsoft.com/office/drawing/2014/main" id="{82126426-0BA4-4677-9880-9589F10A6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"/>
            <a:ext cx="1238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68AD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468AD"/>
                </a:solidFill>
                <a:latin typeface="Malgun Gothic"/>
                <a:ea typeface="Malgun Gothic"/>
                <a:cs typeface="Malgun Gothic"/>
              </a:rPr>
              <a:t>06  Agent 책임표</a:t>
            </a:r>
          </a:p>
        </p:txBody>
      </p:sp>
      <p:sp>
        <p:nvSpPr>
          <p:cNvPr id="2" name="shape-94">
            <a:extLst xmlns:a="http://schemas.openxmlformats.org/drawingml/2006/main">
              <a:ext uri="{FF2B5EF4-FFF2-40B4-BE49-F238E27FC236}">
                <a16:creationId xmlns:a16="http://schemas.microsoft.com/office/drawing/2014/main" id="{18415FA6-485A-4899-AF30-DD897FE0D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04875"/>
            <a:ext cx="1371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7202D"/>
                </a:solidFill>
                <a:latin typeface="Malgun Gothic"/>
                <a:ea typeface="Malgun Gothic"/>
                <a:cs typeface="Malgun Gothic"/>
              </a:defRPr>
            </a:pPr>
            <a:r>
              <a:rPr sz="3900" b="1">
                <a:solidFill>
                  <a:srgbClr val="17202D"/>
                </a:solidFill>
                <a:latin typeface="Malgun Gothic"/>
                <a:ea typeface="Malgun Gothic"/>
                <a:cs typeface="Malgun Gothic"/>
              </a:rPr>
              <a:t>Agent마다 입력과 산출물이 정해져 있습니다</a:t>
            </a:r>
          </a:p>
        </p:txBody>
      </p:sp>
      <p:sp>
        <p:nvSpPr>
          <p:cNvPr id="3" name="shape-95">
            <a:extLst xmlns:a="http://schemas.openxmlformats.org/drawingml/2006/main">
              <a:ext uri="{FF2B5EF4-FFF2-40B4-BE49-F238E27FC236}">
                <a16:creationId xmlns:a16="http://schemas.microsoft.com/office/drawing/2014/main" id="{4AC1EFBC-AD8C-4A73-AF19-C738DF8D8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1371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rPr>
              <a:t>Agent는 ‘별도 학습한 모델 5개’가 아니라, 역할·프롬프트·함수로 나눈 5개 작업자입니다.</a:t>
            </a:r>
          </a:p>
        </p:txBody>
      </p:sp>
      <p:sp>
        <p:nvSpPr>
          <p:cNvPr id="4" name="shape-96">
            <a:extLst xmlns:a="http://schemas.openxmlformats.org/drawingml/2006/main">
              <a:ext uri="{FF2B5EF4-FFF2-40B4-BE49-F238E27FC236}">
                <a16:creationId xmlns:a16="http://schemas.microsoft.com/office/drawing/2014/main" id="{4D8CFA26-3A14-4B72-A1E2-7D33E68FC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96225"/>
            <a:ext cx="13716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hape-97">
            <a:extLst xmlns:a="http://schemas.openxmlformats.org/drawingml/2006/main">
              <a:ext uri="{FF2B5EF4-FFF2-40B4-BE49-F238E27FC236}">
                <a16:creationId xmlns:a16="http://schemas.microsoft.com/office/drawing/2014/main" id="{8B023CF1-01B0-42C5-A771-F73F20576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96250"/>
            <a:ext cx="1143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rPr>
              <a:t>TOUR INSIGHT  ·  TP2-3 개발 설명서</a:t>
            </a:r>
          </a:p>
        </p:txBody>
      </p:sp>
      <p:sp>
        <p:nvSpPr>
          <p:cNvPr id="6" name="shape-98">
            <a:extLst xmlns:a="http://schemas.openxmlformats.org/drawingml/2006/main">
              <a:ext uri="{FF2B5EF4-FFF2-40B4-BE49-F238E27FC236}">
                <a16:creationId xmlns:a16="http://schemas.microsoft.com/office/drawing/2014/main" id="{F7AF264B-9D75-468D-B4CE-1997819B8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0962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62000" y="2571750"/>
          <a:ext xmlns:a="http://schemas.openxmlformats.org/drawingml/2006/main" cx="13716000" cy="4229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62250"/>
                <a:gridCol w="5048250"/>
                <a:gridCol w="5905500"/>
              </a:tblGrid>
              <a:tr h="704850">
                <a:tc>
                  <a:txBody>
                    <a:bodyPr lIns="152400" tIns="95250" rIns="15240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202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</a:t>
                      </a:r>
                    </a:p>
                  </a:txBody>
                  <a:tcPr marL="91440" marR="91440" marT="45720" marB="45720" anchor="ctr">
                    <a:solidFill>
                      <a:srgbClr val="F2F4F6"/>
                    </a:solidFill>
                  </a:tcPr>
                </a:tc>
                <a:tc>
                  <a:txBody>
                    <a:bodyPr lIns="152400" tIns="95250" rIns="15240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202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실제 클래스·메서드</a:t>
                      </a:r>
                    </a:p>
                  </a:txBody>
                  <a:tcPr marL="91440" marR="91440" marT="45720" marB="45720" anchor="ctr">
                    <a:solidFill>
                      <a:srgbClr val="F2F4F6"/>
                    </a:solidFill>
                  </a:tcPr>
                </a:tc>
                <a:tc>
                  <a:txBody>
                    <a:bodyPr lIns="152400" tIns="95250" rIns="15240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202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 → 산출물</a:t>
                      </a:r>
                    </a:p>
                  </a:txBody>
                  <a:tcPr marL="91440" marR="91440" marT="45720" marB="45720" anchor="ctr">
                    <a:solidFill>
                      <a:srgbClr val="F2F4F6"/>
                    </a:solidFill>
                  </a:tcPr>
                </a:tc>
              </a:tr>
              <a:tr h="704850">
                <a:tc>
                  <a:txBody>
                    <a:bodyPr lIns="152400" tIns="95250" rIns="1524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58647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01 근거 수집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524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58647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EvidenceAgent.collect()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524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58647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snapshot + API·RAG·웹 → sources, research_gaps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 lIns="152400" tIns="95250" rIns="1524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58647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02 사례 조사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524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58647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CaseStudyAgent.collect()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524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58647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지역 현황 + 사례 파일·웹 → benchmark_cases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 lIns="152400" tIns="95250" rIns="1524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58647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03 지역 적합성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524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58647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TransferabilityAgent.assess()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524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58647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근거 + 사례 → 추천 사례·strategy_brief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 lIns="152400" tIns="95250" rIns="1524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58647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04 기획 작성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524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58647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PlannerAgent.write()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524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58647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evidence_pack + 보완 지시 → 기획안 JSON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 lIns="152400" tIns="95250" rIns="1524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58647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05 품질 검토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524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58647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ReviewerAgent.review()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524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58647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근거 묶음 + 초안 → approved·점수·issues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-99">
            <a:extLst xmlns:a="http://schemas.openxmlformats.org/drawingml/2006/main">
              <a:ext uri="{FF2B5EF4-FFF2-40B4-BE49-F238E27FC236}">
                <a16:creationId xmlns:a16="http://schemas.microsoft.com/office/drawing/2014/main" id="{C5B77828-1897-46CB-99B1-AD562D070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8662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68A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468AD"/>
                </a:solidFill>
                <a:latin typeface="Malgun Gothic"/>
                <a:ea typeface="Malgun Gothic"/>
                <a:cs typeface="Malgun Gothic"/>
              </a:rPr>
              <a:t>검수 프롬프트 기준: 82점 이상 + critical 0건. AI 검수 점수는 실제 정책 효과나 사실성 보장이 아닙니다.</a:t>
            </a:r>
          </a:p>
        </p:txBody>
      </p:sp>
    </p:spTree>
    <p:extLst>
      <p:ext uri="{BB962C8B-B14F-4D97-AF65-F5344CB8AC3E}">
        <p14:creationId xmlns:p14="http://schemas.microsoft.com/office/powerpoint/2010/main" val="104148337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hape-100">
            <a:extLst xmlns:a="http://schemas.openxmlformats.org/drawingml/2006/main">
              <a:ext uri="{FF2B5EF4-FFF2-40B4-BE49-F238E27FC236}">
                <a16:creationId xmlns:a16="http://schemas.microsoft.com/office/drawing/2014/main" id="{7B1E57FC-AB8C-4ACE-81B6-33F4A55E4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"/>
            <a:ext cx="1238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68AD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468AD"/>
                </a:solidFill>
                <a:latin typeface="Malgun Gothic"/>
                <a:ea typeface="Malgun Gothic"/>
                <a:cs typeface="Malgun Gothic"/>
              </a:rPr>
              <a:t>07  프롬프트·구조화 출력</a:t>
            </a:r>
          </a:p>
        </p:txBody>
      </p:sp>
      <p:sp>
        <p:nvSpPr>
          <p:cNvPr id="2" name="shape-101">
            <a:extLst xmlns:a="http://schemas.openxmlformats.org/drawingml/2006/main">
              <a:ext uri="{FF2B5EF4-FFF2-40B4-BE49-F238E27FC236}">
                <a16:creationId xmlns:a16="http://schemas.microsoft.com/office/drawing/2014/main" id="{54919DD7-69A2-48A5-A2FF-2C1189FF3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04875"/>
            <a:ext cx="1371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7202D"/>
                </a:solidFill>
                <a:latin typeface="Malgun Gothic"/>
                <a:ea typeface="Malgun Gothic"/>
                <a:cs typeface="Malgun Gothic"/>
              </a:defRPr>
            </a:pPr>
            <a:r>
              <a:rPr sz="3900" b="1">
                <a:solidFill>
                  <a:srgbClr val="17202D"/>
                </a:solidFill>
                <a:latin typeface="Malgun Gothic"/>
                <a:ea typeface="Malgun Gothic"/>
                <a:cs typeface="Malgun Gothic"/>
              </a:rPr>
              <a:t>프롬프트가 쓰는 법, Schema가 형식을 정합니다</a:t>
            </a:r>
          </a:p>
        </p:txBody>
      </p:sp>
      <p:sp>
        <p:nvSpPr>
          <p:cNvPr id="3" name="shape-102">
            <a:extLst xmlns:a="http://schemas.openxmlformats.org/drawingml/2006/main">
              <a:ext uri="{FF2B5EF4-FFF2-40B4-BE49-F238E27FC236}">
                <a16:creationId xmlns:a16="http://schemas.microsoft.com/office/drawing/2014/main" id="{8982386F-8799-4A77-9E8B-F6F94305F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1371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rPr>
              <a:t>instructions + input_payload + JSON Schema → create_structured_response()</a:t>
            </a:r>
          </a:p>
        </p:txBody>
      </p:sp>
      <p:sp>
        <p:nvSpPr>
          <p:cNvPr id="4" name="shape-103">
            <a:extLst xmlns:a="http://schemas.openxmlformats.org/drawingml/2006/main">
              <a:ext uri="{FF2B5EF4-FFF2-40B4-BE49-F238E27FC236}">
                <a16:creationId xmlns:a16="http://schemas.microsoft.com/office/drawing/2014/main" id="{CB037A27-AC63-4206-A5FD-A868692C2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96225"/>
            <a:ext cx="13716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hape-104">
            <a:extLst xmlns:a="http://schemas.openxmlformats.org/drawingml/2006/main">
              <a:ext uri="{FF2B5EF4-FFF2-40B4-BE49-F238E27FC236}">
                <a16:creationId xmlns:a16="http://schemas.microsoft.com/office/drawing/2014/main" id="{4C83F1C8-78E6-49E6-8FF4-DCA7D6024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96250"/>
            <a:ext cx="1143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rPr>
              <a:t>TOUR INSIGHT  ·  TP2-3 개발 설명서</a:t>
            </a:r>
          </a:p>
        </p:txBody>
      </p:sp>
      <p:sp>
        <p:nvSpPr>
          <p:cNvPr id="6" name="shape-105">
            <a:extLst xmlns:a="http://schemas.openxmlformats.org/drawingml/2006/main">
              <a:ext uri="{FF2B5EF4-FFF2-40B4-BE49-F238E27FC236}">
                <a16:creationId xmlns:a16="http://schemas.microsoft.com/office/drawing/2014/main" id="{79B83406-8C52-4FD7-B300-EE7676818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0962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7" name="shape-106">
            <a:extLst xmlns:a="http://schemas.openxmlformats.org/drawingml/2006/main">
              <a:ext uri="{FF2B5EF4-FFF2-40B4-BE49-F238E27FC236}">
                <a16:creationId xmlns:a16="http://schemas.microsoft.com/office/drawing/2014/main" id="{4359E7D1-92E0-4286-A357-D816BA3A9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14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D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7202D"/>
                </a:solidFill>
                <a:latin typeface="Malgun Gothic"/>
                <a:ea typeface="Malgun Gothic"/>
                <a:cs typeface="Malgun Gothic"/>
              </a:rPr>
              <a:t>어떻게 쓰게 하나?</a:t>
            </a:r>
          </a:p>
        </p:txBody>
      </p:sp>
      <p:sp>
        <p:nvSpPr>
          <p:cNvPr id="8" name="shape-107">
            <a:extLst xmlns:a="http://schemas.openxmlformats.org/drawingml/2006/main">
              <a:ext uri="{FF2B5EF4-FFF2-40B4-BE49-F238E27FC236}">
                <a16:creationId xmlns:a16="http://schemas.microsoft.com/office/drawing/2014/main" id="{15AAD284-812E-4AEB-9053-54ADABC4A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0"/>
            <a:ext cx="6619875" cy="382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rPr>
              <a:t>파일  agents/prompts.py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rPr>
              <a:t>• 페르소나: 조사자 / 기획자 / 검토자</a:t>
            </a:r>
          </a:p>
          <a:p xmlns:a="http://schemas.openxmlformats.org/drawingml/2006/main">
            <a:pPr algn="l">
              <a:defRPr sz="2025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rPr>
              <a:t>• 쉬운 한국어, 짧은 문장</a:t>
            </a:r>
          </a:p>
          <a:p xmlns:a="http://schemas.openxmlformats.org/drawingml/2006/main">
            <a:pPr algn="l">
              <a:defRPr sz="2025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rPr>
              <a:t>• 수치·관광지·예산을 만들지 않기</a:t>
            </a:r>
          </a:p>
          <a:p xmlns:a="http://schemas.openxmlformats.org/drawingml/2006/main">
            <a:pPr algn="l">
              <a:defRPr sz="2025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rPr>
              <a:t>• 쿠폰 조건·운영 방식 등 구체적으로</a:t>
            </a:r>
          </a:p>
          <a:p xmlns:a="http://schemas.openxmlformats.org/drawingml/2006/main">
            <a:pPr algn="l">
              <a:defRPr sz="2025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rPr>
              <a:t>• 관측 사실과 기대 변화를 구분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rPr>
              <a:t>입력  snapshot + sources + 사례 평가</a:t>
            </a:r>
          </a:p>
          <a:p xmlns:a="http://schemas.openxmlformats.org/drawingml/2006/main">
            <a:pPr algn="l">
              <a:defRPr sz="2025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rPr>
              <a:t>보완  revision_feedback</a:t>
            </a:r>
          </a:p>
        </p:txBody>
      </p:sp>
      <p:sp>
        <p:nvSpPr>
          <p:cNvPr id="9" name="shape-108">
            <a:extLst xmlns:a="http://schemas.openxmlformats.org/drawingml/2006/main">
              <a:ext uri="{FF2B5EF4-FFF2-40B4-BE49-F238E27FC236}">
                <a16:creationId xmlns:a16="http://schemas.microsoft.com/office/drawing/2014/main" id="{EAEDA059-A31D-448B-9397-BF3B084A4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714625"/>
            <a:ext cx="6429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D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7202D"/>
                </a:solidFill>
                <a:latin typeface="Malgun Gothic"/>
                <a:ea typeface="Malgun Gothic"/>
                <a:cs typeface="Malgun Gothic"/>
              </a:rPr>
              <a:t>어떤 형태로 받나?</a:t>
            </a:r>
          </a:p>
        </p:txBody>
      </p:sp>
      <p:sp>
        <p:nvSpPr>
          <p:cNvPr id="10" name="shape-109">
            <a:extLst xmlns:a="http://schemas.openxmlformats.org/drawingml/2006/main">
              <a:ext uri="{FF2B5EF4-FFF2-40B4-BE49-F238E27FC236}">
                <a16:creationId xmlns:a16="http://schemas.microsoft.com/office/drawing/2014/main" id="{02FA3362-31A0-446F-A125-8E57D8C7E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352800"/>
            <a:ext cx="6429375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hape-110">
            <a:extLst xmlns:a="http://schemas.openxmlformats.org/drawingml/2006/main">
              <a:ext uri="{FF2B5EF4-FFF2-40B4-BE49-F238E27FC236}">
                <a16:creationId xmlns:a16="http://schemas.microsoft.com/office/drawing/2014/main" id="{E16305E7-6329-4C77-AE5F-157680261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543300"/>
            <a:ext cx="6019800" cy="3305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2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202D"/>
                </a:solidFill>
                <a:latin typeface="Malgun Gothic"/>
                <a:ea typeface="Malgun Gothic"/>
                <a:cs typeface="Malgun Gothic"/>
              </a:rPr>
              <a:t>summary                 핵심 요약</a:t>
            </a:r>
          </a:p>
          <a:p xmlns:a="http://schemas.openxmlformats.org/drawingml/2006/main">
            <a:pPr algn="l">
              <a:defRPr sz="1800" b="0">
                <a:solidFill>
                  <a:srgbClr val="17202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202D"/>
                </a:solidFill>
                <a:latin typeface="Malgun Gothic"/>
                <a:ea typeface="Malgun Gothic"/>
                <a:cs typeface="Malgun Gothic"/>
              </a:rPr>
              <a:t>observed_findings       관측 사실 3~5개</a:t>
            </a:r>
          </a:p>
          <a:p xmlns:a="http://schemas.openxmlformats.org/drawingml/2006/main">
            <a:pPr algn="l">
              <a:defRPr sz="1800" b="0">
                <a:solidFill>
                  <a:srgbClr val="17202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202D"/>
                </a:solidFill>
                <a:latin typeface="Malgun Gothic"/>
                <a:ea typeface="Malgun Gothic"/>
                <a:cs typeface="Malgun Gothic"/>
              </a:rPr>
              <a:t>strategies[0]           통합 기획안 1개</a:t>
            </a:r>
          </a:p>
          <a:p xmlns:a="http://schemas.openxmlformats.org/drawingml/2006/main">
            <a:pPr algn="l">
              <a:defRPr sz="1800" b="0">
                <a:solidFill>
                  <a:srgbClr val="17202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202D"/>
                </a:solidFill>
                <a:latin typeface="Malgun Gothic"/>
                <a:ea typeface="Malgun Gothic"/>
                <a:cs typeface="Malgun Gothic"/>
              </a:rPr>
              <a:t>  problem_to_solve      문제 / 제안</a:t>
            </a:r>
          </a:p>
          <a:p xmlns:a="http://schemas.openxmlformats.org/drawingml/2006/main">
            <a:pPr algn="l">
              <a:defRPr sz="1800" b="0">
                <a:solidFill>
                  <a:srgbClr val="17202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202D"/>
                </a:solidFill>
                <a:latin typeface="Malgun Gothic"/>
                <a:ea typeface="Malgun Gothic"/>
                <a:cs typeface="Malgun Gothic"/>
              </a:rPr>
              <a:t>  comparison_analysis   제안한 이유</a:t>
            </a:r>
          </a:p>
          <a:p xmlns:a="http://schemas.openxmlformats.org/drawingml/2006/main">
            <a:pPr algn="l">
              <a:defRPr sz="1800" b="0">
                <a:solidFill>
                  <a:srgbClr val="17202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202D"/>
                </a:solidFill>
                <a:latin typeface="Malgun Gothic"/>
                <a:ea typeface="Malgun Gothic"/>
                <a:cs typeface="Malgun Gothic"/>
              </a:rPr>
              <a:t>  solution              해결 방법</a:t>
            </a:r>
          </a:p>
          <a:p xmlns:a="http://schemas.openxmlformats.org/drawingml/2006/main">
            <a:pPr algn="l">
              <a:defRPr sz="1800" b="0">
                <a:solidFill>
                  <a:srgbClr val="17202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202D"/>
                </a:solidFill>
                <a:latin typeface="Malgun Gothic"/>
                <a:ea typeface="Malgun Gothic"/>
                <a:cs typeface="Malgun Gothic"/>
              </a:rPr>
              <a:t>  implementation_steps  일정·작업·산출물 × 5</a:t>
            </a:r>
          </a:p>
          <a:p xmlns:a="http://schemas.openxmlformats.org/drawingml/2006/main">
            <a:pPr algn="l">
              <a:defRPr sz="1800" b="0">
                <a:solidFill>
                  <a:srgbClr val="17202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202D"/>
                </a:solidFill>
                <a:latin typeface="Malgun Gothic"/>
                <a:ea typeface="Malgun Gothic"/>
                <a:cs typeface="Malgun Gothic"/>
              </a:rPr>
              <a:t>  budget / kpi          비용식 / 확인 지표</a:t>
            </a:r>
          </a:p>
        </p:txBody>
      </p:sp>
      <p:sp>
        <p:nvSpPr>
          <p:cNvPr id="12" name="shape-111">
            <a:extLst xmlns:a="http://schemas.openxmlformats.org/drawingml/2006/main">
              <a:ext uri="{FF2B5EF4-FFF2-40B4-BE49-F238E27FC236}">
                <a16:creationId xmlns:a16="http://schemas.microsoft.com/office/drawing/2014/main" id="{91513E35-16D9-440F-92A7-3C120499A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8662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68A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468AD"/>
                </a:solidFill>
                <a:latin typeface="Malgun Gothic"/>
                <a:ea typeface="Malgun Gothic"/>
                <a:cs typeface="Malgun Gothic"/>
              </a:rPr>
              <a:t>JSON은 내용을 담는 공통 데이터 형식입니다. 화면·Word·PPT가 같은 JSON을 읽어 서로 다른 모습으로 보여 줍니다.</a:t>
            </a:r>
          </a:p>
        </p:txBody>
      </p:sp>
    </p:spTree>
    <p:extLst>
      <p:ext uri="{BB962C8B-B14F-4D97-AF65-F5344CB8AC3E}">
        <p14:creationId xmlns:p14="http://schemas.microsoft.com/office/powerpoint/2010/main" val="5711241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hape-112">
            <a:extLst xmlns:a="http://schemas.openxmlformats.org/drawingml/2006/main">
              <a:ext uri="{FF2B5EF4-FFF2-40B4-BE49-F238E27FC236}">
                <a16:creationId xmlns:a16="http://schemas.microsoft.com/office/drawing/2014/main" id="{46032A47-FC89-4E5E-AF34-95F36081C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"/>
            <a:ext cx="1238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68AD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468AD"/>
                </a:solidFill>
                <a:latin typeface="Malgun Gothic"/>
                <a:ea typeface="Malgun Gothic"/>
                <a:cs typeface="Malgun Gothic"/>
              </a:rPr>
              <a:t>08  모델·토큰</a:t>
            </a:r>
          </a:p>
        </p:txBody>
      </p:sp>
      <p:sp>
        <p:nvSpPr>
          <p:cNvPr id="2" name="shape-113">
            <a:extLst xmlns:a="http://schemas.openxmlformats.org/drawingml/2006/main">
              <a:ext uri="{FF2B5EF4-FFF2-40B4-BE49-F238E27FC236}">
                <a16:creationId xmlns:a16="http://schemas.microsoft.com/office/drawing/2014/main" id="{2DC65DB5-0CBB-4D5F-B7C8-7A95C36B9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04875"/>
            <a:ext cx="1371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7202D"/>
                </a:solidFill>
                <a:latin typeface="Malgun Gothic"/>
                <a:ea typeface="Malgun Gothic"/>
                <a:cs typeface="Malgun Gothic"/>
              </a:defRPr>
            </a:pPr>
            <a:r>
              <a:rPr sz="3900" b="1">
                <a:solidFill>
                  <a:srgbClr val="17202D"/>
                </a:solidFill>
                <a:latin typeface="Malgun Gothic"/>
                <a:ea typeface="Malgun Gothic"/>
                <a:cs typeface="Malgun Gothic"/>
              </a:rPr>
              <a:t>조사는 Terra, 작성·검토는 Sol로 설정되어 있습니다</a:t>
            </a:r>
          </a:p>
        </p:txBody>
      </p:sp>
      <p:sp>
        <p:nvSpPr>
          <p:cNvPr id="3" name="shape-114">
            <a:extLst xmlns:a="http://schemas.openxmlformats.org/drawingml/2006/main">
              <a:ext uri="{FF2B5EF4-FFF2-40B4-BE49-F238E27FC236}">
                <a16:creationId xmlns:a16="http://schemas.microsoft.com/office/drawing/2014/main" id="{B389989B-005E-4A7B-9CEE-8CA8C9F8D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1371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rPr>
              <a:t>아래는 현재 .env와 코드의 설정값입니다. 계정의 모델 접근 가능 여부·실호출 성공은 이번에 재시험하지 않았습니다.</a:t>
            </a:r>
          </a:p>
        </p:txBody>
      </p:sp>
      <p:sp>
        <p:nvSpPr>
          <p:cNvPr id="4" name="shape-115">
            <a:extLst xmlns:a="http://schemas.openxmlformats.org/drawingml/2006/main">
              <a:ext uri="{FF2B5EF4-FFF2-40B4-BE49-F238E27FC236}">
                <a16:creationId xmlns:a16="http://schemas.microsoft.com/office/drawing/2014/main" id="{94919B7C-641B-4B9D-B8C5-07BC66146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96225"/>
            <a:ext cx="13716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hape-116">
            <a:extLst xmlns:a="http://schemas.openxmlformats.org/drawingml/2006/main">
              <a:ext uri="{FF2B5EF4-FFF2-40B4-BE49-F238E27FC236}">
                <a16:creationId xmlns:a16="http://schemas.microsoft.com/office/drawing/2014/main" id="{BF05BCF3-AC23-49A0-B746-47568FBE2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96250"/>
            <a:ext cx="1143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rPr>
              <a:t>TOUR INSIGHT  ·  TP2-3 개발 설명서</a:t>
            </a:r>
          </a:p>
        </p:txBody>
      </p:sp>
      <p:sp>
        <p:nvSpPr>
          <p:cNvPr id="6" name="shape-117">
            <a:extLst xmlns:a="http://schemas.openxmlformats.org/drawingml/2006/main">
              <a:ext uri="{FF2B5EF4-FFF2-40B4-BE49-F238E27FC236}">
                <a16:creationId xmlns:a16="http://schemas.microsoft.com/office/drawing/2014/main" id="{4F49B54A-7325-4F64-A3F2-338F4B40C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0962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762000" y="2571750"/>
          <a:ext xmlns:a="http://schemas.openxmlformats.org/drawingml/2006/main" cx="137160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90875"/>
                <a:gridCol w="4619625"/>
                <a:gridCol w="2095500"/>
                <a:gridCol w="3810000"/>
              </a:tblGrid>
              <a:tr h="619125">
                <a:tc>
                  <a:txBody>
                    <a:bodyPr lIns="152400" tIns="95250" rIns="15240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202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작업</a:t>
                      </a:r>
                    </a:p>
                  </a:txBody>
                  <a:tcPr marL="91440" marR="91440" marT="45720" marB="45720" anchor="ctr">
                    <a:solidFill>
                      <a:srgbClr val="F2F4F6"/>
                    </a:solidFill>
                  </a:tcPr>
                </a:tc>
                <a:tc>
                  <a:txBody>
                    <a:bodyPr lIns="152400" tIns="95250" rIns="15240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202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모델 설정 문자열</a:t>
                      </a:r>
                    </a:p>
                  </a:txBody>
                  <a:tcPr marL="91440" marR="91440" marT="45720" marB="45720" anchor="ctr">
                    <a:solidFill>
                      <a:srgbClr val="F2F4F6"/>
                    </a:solidFill>
                  </a:tcPr>
                </a:tc>
                <a:tc>
                  <a:txBody>
                    <a:bodyPr lIns="152400" tIns="95250" rIns="15240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202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추론 강도</a:t>
                      </a:r>
                    </a:p>
                  </a:txBody>
                  <a:tcPr marL="91440" marR="91440" marT="45720" marB="45720" anchor="ctr">
                    <a:solidFill>
                      <a:srgbClr val="F2F4F6"/>
                    </a:solidFill>
                  </a:tcPr>
                </a:tc>
                <a:tc>
                  <a:txBody>
                    <a:bodyPr lIns="152400" tIns="95250" rIns="15240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202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출력 상한 / 호출</a:t>
                      </a:r>
                    </a:p>
                  </a:txBody>
                  <a:tcPr marL="91440" marR="91440" marT="45720" marB="45720" anchor="ctr">
                    <a:solidFill>
                      <a:srgbClr val="F2F4F6"/>
                    </a:solidFill>
                  </a:tcPr>
                </a:tc>
              </a:tr>
              <a:tr h="619125">
                <a:tc>
                  <a:txBody>
                    <a:bodyPr lIns="152400" tIns="95250" rIns="1524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58647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Evidence 웹 조사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524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58647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gpt-5.6-terra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524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58647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low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524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58647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8,000 tokens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lIns="152400" tIns="95250" rIns="1524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58647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Case Scout 웹 조사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524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58647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gpt-5.6-terra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524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58647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medium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524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58647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10,000 tokens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lIns="152400" tIns="95250" rIns="1524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58647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Transferability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524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58647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gpt-5.6-sol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524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58647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high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524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58647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9,000 tokens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lIns="152400" tIns="95250" rIns="1524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58647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Planner / Reviewer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524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58647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gpt-5.6-sol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524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58647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high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524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58647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16,000 / 5,500 tokens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lIns="152400" tIns="95250" rIns="1524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58647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AI 챗봇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524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58647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gpt-5.6-sol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524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58647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medium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524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58647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6,000 tokens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-118">
            <a:extLst xmlns:a="http://schemas.openxmlformats.org/drawingml/2006/main">
              <a:ext uri="{FF2B5EF4-FFF2-40B4-BE49-F238E27FC236}">
                <a16:creationId xmlns:a16="http://schemas.microsoft.com/office/drawing/2014/main" id="{40722512-5B2E-4012-8C34-5925F16FD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572250"/>
            <a:ext cx="1371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rPr>
              <a:t>토큰 = 모델이 텍스트를 처리하는 조각. 상한은 실제 사용량이 아닙니다. 입력·추론·출력량은 요청마다 달라집니다.</a:t>
            </a:r>
          </a:p>
        </p:txBody>
      </p:sp>
      <p:sp>
        <p:nvSpPr>
          <p:cNvPr id="9" name="shape-119">
            <a:extLst xmlns:a="http://schemas.openxmlformats.org/drawingml/2006/main">
              <a:ext uri="{FF2B5EF4-FFF2-40B4-BE49-F238E27FC236}">
                <a16:creationId xmlns:a16="http://schemas.microsoft.com/office/drawing/2014/main" id="{9B55B15F-1D6C-444C-AF36-62DEFC448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8662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68A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468AD"/>
                </a:solidFill>
                <a:latin typeface="Malgun Gothic"/>
                <a:ea typeface="Malgun Gothic"/>
                <a:cs typeface="Malgun Gothic"/>
              </a:rPr>
              <a:t>현재 usage 비용 기록은 미구현  /  공통 fallback: gpt-5-mini  /  앱 모델은 Codex에서 선택한 개발 모델과 별개</a:t>
            </a:r>
          </a:p>
        </p:txBody>
      </p:sp>
    </p:spTree>
    <p:extLst>
      <p:ext uri="{BB962C8B-B14F-4D97-AF65-F5344CB8AC3E}">
        <p14:creationId xmlns:p14="http://schemas.microsoft.com/office/powerpoint/2010/main" val="108554572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shape-120">
            <a:extLst xmlns:a="http://schemas.openxmlformats.org/drawingml/2006/main">
              <a:ext uri="{FF2B5EF4-FFF2-40B4-BE49-F238E27FC236}">
                <a16:creationId xmlns:a16="http://schemas.microsoft.com/office/drawing/2014/main" id="{88F51B15-474D-4C7A-B5AC-669E4BBBD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"/>
            <a:ext cx="1238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68AD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468AD"/>
                </a:solidFill>
                <a:latin typeface="Malgun Gothic"/>
                <a:ea typeface="Malgun Gothic"/>
                <a:cs typeface="Malgun Gothic"/>
              </a:rPr>
              <a:t>09  RAG  ·  Retrieval-Augmented Generation</a:t>
            </a:r>
          </a:p>
        </p:txBody>
      </p:sp>
      <p:sp>
        <p:nvSpPr>
          <p:cNvPr id="2" name="shape-121">
            <a:extLst xmlns:a="http://schemas.openxmlformats.org/drawingml/2006/main">
              <a:ext uri="{FF2B5EF4-FFF2-40B4-BE49-F238E27FC236}">
                <a16:creationId xmlns:a16="http://schemas.microsoft.com/office/drawing/2014/main" id="{3831DDE2-62BA-489C-AC8F-231905920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04875"/>
            <a:ext cx="1371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7202D"/>
                </a:solidFill>
                <a:latin typeface="Malgun Gothic"/>
                <a:ea typeface="Malgun Gothic"/>
                <a:cs typeface="Malgun Gothic"/>
              </a:defRPr>
            </a:pPr>
            <a:r>
              <a:rPr sz="3900" b="1">
                <a:solidFill>
                  <a:srgbClr val="17202D"/>
                </a:solidFill>
                <a:latin typeface="Malgun Gothic"/>
                <a:ea typeface="Malgun Gothic"/>
                <a:cs typeface="Malgun Gothic"/>
              </a:rPr>
              <a:t>RAG는 문서 검색 장치이며, 아직 색인이 비어 있습니다</a:t>
            </a:r>
          </a:p>
        </p:txBody>
      </p:sp>
      <p:sp>
        <p:nvSpPr>
          <p:cNvPr id="3" name="shape-122">
            <a:extLst xmlns:a="http://schemas.openxmlformats.org/drawingml/2006/main">
              <a:ext uri="{FF2B5EF4-FFF2-40B4-BE49-F238E27FC236}">
                <a16:creationId xmlns:a16="http://schemas.microsoft.com/office/drawing/2014/main" id="{DAB735A6-5841-47D8-8394-7852FBEEA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1371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rPr>
              <a:t>RAG = 관련 문서를 먼저 찾고, 그 근거를 AI 입력에 붙이는 방식입니다. 모델 재학습이 아닙니다.</a:t>
            </a:r>
          </a:p>
        </p:txBody>
      </p:sp>
      <p:sp>
        <p:nvSpPr>
          <p:cNvPr id="4" name="shape-123">
            <a:extLst xmlns:a="http://schemas.openxmlformats.org/drawingml/2006/main">
              <a:ext uri="{FF2B5EF4-FFF2-40B4-BE49-F238E27FC236}">
                <a16:creationId xmlns:a16="http://schemas.microsoft.com/office/drawing/2014/main" id="{AF30F41A-45C7-40A1-9DF1-76953445C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96225"/>
            <a:ext cx="13716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hape-124">
            <a:extLst xmlns:a="http://schemas.openxmlformats.org/drawingml/2006/main">
              <a:ext uri="{FF2B5EF4-FFF2-40B4-BE49-F238E27FC236}">
                <a16:creationId xmlns:a16="http://schemas.microsoft.com/office/drawing/2014/main" id="{BEF71CFF-AACB-46B5-BC9E-083BCDA5E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96250"/>
            <a:ext cx="1143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rPr>
              <a:t>TOUR INSIGHT  ·  TP2-3 개발 설명서</a:t>
            </a:r>
          </a:p>
        </p:txBody>
      </p:sp>
      <p:sp>
        <p:nvSpPr>
          <p:cNvPr id="6" name="shape-125">
            <a:extLst xmlns:a="http://schemas.openxmlformats.org/drawingml/2006/main">
              <a:ext uri="{FF2B5EF4-FFF2-40B4-BE49-F238E27FC236}">
                <a16:creationId xmlns:a16="http://schemas.microsoft.com/office/drawing/2014/main" id="{2F400D9D-B608-4CD5-B112-3FB0ABE9D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0962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7" name="shape-126">
            <a:extLst xmlns:a="http://schemas.openxmlformats.org/drawingml/2006/main">
              <a:ext uri="{FF2B5EF4-FFF2-40B4-BE49-F238E27FC236}">
                <a16:creationId xmlns:a16="http://schemas.microsoft.com/office/drawing/2014/main" id="{322C8511-5485-47B9-AF65-587DA9D4C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1371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D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7202D"/>
                </a:solidFill>
                <a:latin typeface="Malgun Gothic"/>
                <a:ea typeface="Malgun Gothic"/>
                <a:cs typeface="Malgun Gothic"/>
              </a:rPr>
              <a:t>색인  ·  문서를 검색 가능하게 저장</a:t>
            </a:r>
          </a:p>
        </p:txBody>
      </p:sp>
      <p:sp>
        <p:nvSpPr>
          <p:cNvPr id="8" name="shape-127">
            <a:extLst xmlns:a="http://schemas.openxmlformats.org/drawingml/2006/main">
              <a:ext uri="{FF2B5EF4-FFF2-40B4-BE49-F238E27FC236}">
                <a16:creationId xmlns:a16="http://schemas.microsoft.com/office/drawing/2014/main" id="{28DA46FB-8FE6-4C92-BDDD-E7EDC3A6F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781425"/>
            <a:ext cx="4000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68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hape-128">
            <a:extLst xmlns:a="http://schemas.openxmlformats.org/drawingml/2006/main">
              <a:ext uri="{FF2B5EF4-FFF2-40B4-BE49-F238E27FC236}">
                <a16:creationId xmlns:a16="http://schemas.microsoft.com/office/drawing/2014/main" id="{DA9A8706-8D29-47D9-BDD4-A1362CBD4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781425"/>
            <a:ext cx="4000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68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hape-129">
            <a:extLst xmlns:a="http://schemas.openxmlformats.org/drawingml/2006/main">
              <a:ext uri="{FF2B5EF4-FFF2-40B4-BE49-F238E27FC236}">
                <a16:creationId xmlns:a16="http://schemas.microsoft.com/office/drawing/2014/main" id="{698EAC91-B14E-444F-A386-CC0F64B97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781425"/>
            <a:ext cx="4000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68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hape-130">
            <a:extLst xmlns:a="http://schemas.openxmlformats.org/drawingml/2006/main">
              <a:ext uri="{FF2B5EF4-FFF2-40B4-BE49-F238E27FC236}">
                <a16:creationId xmlns:a16="http://schemas.microsoft.com/office/drawing/2014/main" id="{295AD78E-E0D9-4849-B4CF-A90D61809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71850"/>
            <a:ext cx="27146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hape-131">
            <a:extLst xmlns:a="http://schemas.openxmlformats.org/drawingml/2006/main">
              <a:ext uri="{FF2B5EF4-FFF2-40B4-BE49-F238E27FC236}">
                <a16:creationId xmlns:a16="http://schemas.microsoft.com/office/drawing/2014/main" id="{8E12E9DF-B97F-4404-91B8-3D949812E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81400"/>
            <a:ext cx="22955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2D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7202D"/>
                </a:solidFill>
                <a:latin typeface="Malgun Gothic"/>
                <a:ea typeface="Malgun Gothic"/>
                <a:cs typeface="Malgun Gothic"/>
              </a:rPr>
              <a:t>공식 문서</a:t>
            </a:r>
          </a:p>
        </p:txBody>
      </p:sp>
      <p:sp>
        <p:nvSpPr>
          <p:cNvPr id="13" name="shape-132">
            <a:extLst xmlns:a="http://schemas.openxmlformats.org/drawingml/2006/main">
              <a:ext uri="{FF2B5EF4-FFF2-40B4-BE49-F238E27FC236}">
                <a16:creationId xmlns:a16="http://schemas.microsoft.com/office/drawing/2014/main" id="{8CC1D445-E156-4A54-9ECA-F2C9FCD32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33850"/>
            <a:ext cx="22955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rPr>
              <a:t>URL·지역·날짜 보존</a:t>
            </a:r>
          </a:p>
        </p:txBody>
      </p:sp>
      <p:sp>
        <p:nvSpPr>
          <p:cNvPr id="14" name="shape-133">
            <a:extLst xmlns:a="http://schemas.openxmlformats.org/drawingml/2006/main">
              <a:ext uri="{FF2B5EF4-FFF2-40B4-BE49-F238E27FC236}">
                <a16:creationId xmlns:a16="http://schemas.microsoft.com/office/drawing/2014/main" id="{4316E29D-6DB4-43E4-A7CE-B80CC61D9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371850"/>
            <a:ext cx="27146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hape-134">
            <a:extLst xmlns:a="http://schemas.openxmlformats.org/drawingml/2006/main">
              <a:ext uri="{FF2B5EF4-FFF2-40B4-BE49-F238E27FC236}">
                <a16:creationId xmlns:a16="http://schemas.microsoft.com/office/drawing/2014/main" id="{B1341949-F8AA-4701-9C7E-73F22212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581400"/>
            <a:ext cx="22955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2D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7202D"/>
                </a:solidFill>
                <a:latin typeface="Malgun Gothic"/>
                <a:ea typeface="Malgun Gothic"/>
                <a:cs typeface="Malgun Gothic"/>
              </a:rPr>
              <a:t>Chunk</a:t>
            </a:r>
          </a:p>
        </p:txBody>
      </p:sp>
      <p:sp>
        <p:nvSpPr>
          <p:cNvPr id="16" name="shape-135">
            <a:extLst xmlns:a="http://schemas.openxmlformats.org/drawingml/2006/main">
              <a:ext uri="{FF2B5EF4-FFF2-40B4-BE49-F238E27FC236}">
                <a16:creationId xmlns:a16="http://schemas.microsoft.com/office/drawing/2014/main" id="{38BA8F85-9563-40F4-9327-338EE57B9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4133850"/>
            <a:ext cx="22955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rPr>
              <a:t>850자 간격</a:t>
            </a:r>
          </a:p>
          <a:p xmlns:a="http://schemas.openxmlformats.org/drawingml/2006/main">
            <a:pPr algn="l">
              <a:defRPr sz="1875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rPr>
              <a:t>120자 겹침</a:t>
            </a:r>
          </a:p>
        </p:txBody>
      </p:sp>
      <p:sp>
        <p:nvSpPr>
          <p:cNvPr id="17" name="shape-136">
            <a:extLst xmlns:a="http://schemas.openxmlformats.org/drawingml/2006/main">
              <a:ext uri="{FF2B5EF4-FFF2-40B4-BE49-F238E27FC236}">
                <a16:creationId xmlns:a16="http://schemas.microsoft.com/office/drawing/2014/main" id="{84176636-C046-4F1B-8556-D8D5FF3B8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371850"/>
            <a:ext cx="27146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hape-137">
            <a:extLst xmlns:a="http://schemas.openxmlformats.org/drawingml/2006/main">
              <a:ext uri="{FF2B5EF4-FFF2-40B4-BE49-F238E27FC236}">
                <a16:creationId xmlns:a16="http://schemas.microsoft.com/office/drawing/2014/main" id="{DA374C4D-98B9-4F5F-8F6B-C4FB1BEF3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581400"/>
            <a:ext cx="22955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2D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7202D"/>
                </a:solidFill>
                <a:latin typeface="Malgun Gothic"/>
                <a:ea typeface="Malgun Gothic"/>
                <a:cs typeface="Malgun Gothic"/>
              </a:rPr>
              <a:t>Embedding</a:t>
            </a:r>
          </a:p>
        </p:txBody>
      </p:sp>
      <p:sp>
        <p:nvSpPr>
          <p:cNvPr id="19" name="shape-138">
            <a:extLst xmlns:a="http://schemas.openxmlformats.org/drawingml/2006/main">
              <a:ext uri="{FF2B5EF4-FFF2-40B4-BE49-F238E27FC236}">
                <a16:creationId xmlns:a16="http://schemas.microsoft.com/office/drawing/2014/main" id="{FF581F45-45F5-49F2-9552-CF44BA3FF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133850"/>
            <a:ext cx="22955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rPr>
              <a:t>의미 → 숫자 벡터</a:t>
            </a:r>
          </a:p>
          <a:p xmlns:a="http://schemas.openxmlformats.org/drawingml/2006/main">
            <a:pPr algn="l">
              <a:defRPr sz="1875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rPr>
              <a:t>OpenAI Embeddings</a:t>
            </a:r>
          </a:p>
        </p:txBody>
      </p:sp>
      <p:sp>
        <p:nvSpPr>
          <p:cNvPr id="20" name="shape-139">
            <a:extLst xmlns:a="http://schemas.openxmlformats.org/drawingml/2006/main">
              <a:ext uri="{FF2B5EF4-FFF2-40B4-BE49-F238E27FC236}">
                <a16:creationId xmlns:a16="http://schemas.microsoft.com/office/drawing/2014/main" id="{C6F83FBB-2393-4B98-97EE-8B1D2DA22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3371850"/>
            <a:ext cx="32861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hape-140">
            <a:extLst xmlns:a="http://schemas.openxmlformats.org/drawingml/2006/main">
              <a:ext uri="{FF2B5EF4-FFF2-40B4-BE49-F238E27FC236}">
                <a16:creationId xmlns:a16="http://schemas.microsoft.com/office/drawing/2014/main" id="{917D63BD-B87B-4326-A520-2F0817AFE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1425" y="3581400"/>
            <a:ext cx="28670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2D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7202D"/>
                </a:solidFill>
                <a:latin typeface="Malgun Gothic"/>
                <a:ea typeface="Malgun Gothic"/>
                <a:cs typeface="Malgun Gothic"/>
              </a:rPr>
              <a:t>ChromaDB</a:t>
            </a:r>
          </a:p>
        </p:txBody>
      </p:sp>
      <p:sp>
        <p:nvSpPr>
          <p:cNvPr id="22" name="shape-141">
            <a:extLst xmlns:a="http://schemas.openxmlformats.org/drawingml/2006/main">
              <a:ext uri="{FF2B5EF4-FFF2-40B4-BE49-F238E27FC236}">
                <a16:creationId xmlns:a16="http://schemas.microsoft.com/office/drawing/2014/main" id="{83FB7170-4A6A-48D9-A25C-117ECA6C4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1425" y="4133850"/>
            <a:ext cx="28670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rPr>
              <a:t>벡터·본문·출처 저장</a:t>
            </a:r>
          </a:p>
        </p:txBody>
      </p:sp>
      <p:sp>
        <p:nvSpPr>
          <p:cNvPr id="23" name="shape-142">
            <a:extLst xmlns:a="http://schemas.openxmlformats.org/drawingml/2006/main">
              <a:ext uri="{FF2B5EF4-FFF2-40B4-BE49-F238E27FC236}">
                <a16:creationId xmlns:a16="http://schemas.microsoft.com/office/drawing/2014/main" id="{819DD691-97B6-4EF4-88AB-1FD870AEE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91150"/>
            <a:ext cx="1371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D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7202D"/>
                </a:solidFill>
                <a:latin typeface="Malgun Gothic"/>
                <a:ea typeface="Malgun Gothic"/>
                <a:cs typeface="Malgun Gothic"/>
              </a:rPr>
              <a:t>검색  질문 → 벡터화 → 유사 문서 → 지역·출처 필터 → AI 근거 입력</a:t>
            </a:r>
          </a:p>
        </p:txBody>
      </p:sp>
      <p:sp>
        <p:nvSpPr>
          <p:cNvPr id="24" name="shape-143">
            <a:extLst xmlns:a="http://schemas.openxmlformats.org/drawingml/2006/main">
              <a:ext uri="{FF2B5EF4-FFF2-40B4-BE49-F238E27FC236}">
                <a16:creationId xmlns:a16="http://schemas.microsoft.com/office/drawing/2014/main" id="{8E937A9C-4632-43CD-A227-17BEF1A80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3887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468A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2468AD"/>
                </a:solidFill>
                <a:latin typeface="Malgun Gothic"/>
                <a:ea typeface="Malgun Gothic"/>
                <a:cs typeface="Malgun Gothic"/>
              </a:rPr>
              <a:t>Chroma 색인 0개 / 사례 JSONL 4건 / 임베딩 모델: text-embedding-3-small</a:t>
            </a:r>
          </a:p>
          <a:p xmlns:a="http://schemas.openxmlformats.org/drawingml/2006/main">
            <a:pPr algn="l">
              <a:defRPr sz="2100" b="0">
                <a:solidFill>
                  <a:srgbClr val="2468A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2468AD"/>
                </a:solidFill>
                <a:latin typeface="Malgun Gothic"/>
                <a:ea typeface="Malgun Gothic"/>
                <a:cs typeface="Malgun Gothic"/>
              </a:rPr>
              <a:t>사례 파일은 직접 읽지만, 벡터 검색은 아직 사용할 문서가 없는 상태입니다.</a:t>
            </a:r>
          </a:p>
        </p:txBody>
      </p:sp>
      <p:sp>
        <p:nvSpPr>
          <p:cNvPr id="25" name="shape-144">
            <a:extLst xmlns:a="http://schemas.openxmlformats.org/drawingml/2006/main">
              <a:ext uri="{FF2B5EF4-FFF2-40B4-BE49-F238E27FC236}">
                <a16:creationId xmlns:a16="http://schemas.microsoft.com/office/drawing/2014/main" id="{2725189C-2493-4218-898C-899273063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72350"/>
            <a:ext cx="1371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rPr>
              <a:t>색인 명령  python -m ai_server.index_rag_documents --input data/rag/official_case_studies.jsonl</a:t>
            </a:r>
          </a:p>
        </p:txBody>
      </p:sp>
    </p:spTree>
    <p:extLst>
      <p:ext uri="{BB962C8B-B14F-4D97-AF65-F5344CB8AC3E}">
        <p14:creationId xmlns:p14="http://schemas.microsoft.com/office/powerpoint/2010/main" val="153049912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hape-145">
            <a:extLst xmlns:a="http://schemas.openxmlformats.org/drawingml/2006/main">
              <a:ext uri="{FF2B5EF4-FFF2-40B4-BE49-F238E27FC236}">
                <a16:creationId xmlns:a16="http://schemas.microsoft.com/office/drawing/2014/main" id="{9EC87FF2-0487-47F6-9887-F7C043A54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"/>
            <a:ext cx="1238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68AD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468AD"/>
                </a:solidFill>
                <a:latin typeface="Malgun Gothic"/>
                <a:ea typeface="Malgun Gothic"/>
                <a:cs typeface="Malgun Gothic"/>
              </a:rPr>
              <a:t>10  머신러닝·시나리오</a:t>
            </a:r>
          </a:p>
        </p:txBody>
      </p:sp>
      <p:sp>
        <p:nvSpPr>
          <p:cNvPr id="2" name="shape-146">
            <a:extLst xmlns:a="http://schemas.openxmlformats.org/drawingml/2006/main">
              <a:ext uri="{FF2B5EF4-FFF2-40B4-BE49-F238E27FC236}">
                <a16:creationId xmlns:a16="http://schemas.microsoft.com/office/drawing/2014/main" id="{1F6B4B0C-8858-4FE2-AC7D-9B79B8D2B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04875"/>
            <a:ext cx="1371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7202D"/>
                </a:solidFill>
                <a:latin typeface="Malgun Gothic"/>
                <a:ea typeface="Malgun Gothic"/>
                <a:cs typeface="Malgun Gothic"/>
              </a:defRPr>
            </a:pPr>
            <a:r>
              <a:rPr sz="3900" b="1">
                <a:solidFill>
                  <a:srgbClr val="17202D"/>
                </a:solidFill>
                <a:latin typeface="Malgun Gothic"/>
                <a:ea typeface="Malgun Gothic"/>
                <a:cs typeface="Malgun Gothic"/>
              </a:rPr>
              <a:t>ML 시연은 있지만, 본 기획안에 예측 모델은 없습니다</a:t>
            </a:r>
          </a:p>
        </p:txBody>
      </p:sp>
      <p:sp>
        <p:nvSpPr>
          <p:cNvPr id="3" name="shape-147">
            <a:extLst xmlns:a="http://schemas.openxmlformats.org/drawingml/2006/main">
              <a:ext uri="{FF2B5EF4-FFF2-40B4-BE49-F238E27FC236}">
                <a16:creationId xmlns:a16="http://schemas.microsoft.com/office/drawing/2014/main" id="{437DB44F-003F-483F-9ED8-D6BE31ACB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1371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rPr>
              <a:t>LLM은 전략을 작성합니다. 검증된 미래 방문객 수를 자동으로 계산하는 ML 역할과는 다릅니다.</a:t>
            </a:r>
          </a:p>
        </p:txBody>
      </p:sp>
      <p:sp>
        <p:nvSpPr>
          <p:cNvPr id="4" name="shape-148">
            <a:extLst xmlns:a="http://schemas.openxmlformats.org/drawingml/2006/main">
              <a:ext uri="{FF2B5EF4-FFF2-40B4-BE49-F238E27FC236}">
                <a16:creationId xmlns:a16="http://schemas.microsoft.com/office/drawing/2014/main" id="{B61CDDE5-AF12-402E-9958-6A461B326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96225"/>
            <a:ext cx="13716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hape-149">
            <a:extLst xmlns:a="http://schemas.openxmlformats.org/drawingml/2006/main">
              <a:ext uri="{FF2B5EF4-FFF2-40B4-BE49-F238E27FC236}">
                <a16:creationId xmlns:a16="http://schemas.microsoft.com/office/drawing/2014/main" id="{133BD78F-4F4B-47AC-ACD9-D24C4B928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96250"/>
            <a:ext cx="1143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rPr>
              <a:t>TOUR INSIGHT  ·  TP2-3 개발 설명서</a:t>
            </a:r>
          </a:p>
        </p:txBody>
      </p:sp>
      <p:sp>
        <p:nvSpPr>
          <p:cNvPr id="6" name="shape-150">
            <a:extLst xmlns:a="http://schemas.openxmlformats.org/drawingml/2006/main">
              <a:ext uri="{FF2B5EF4-FFF2-40B4-BE49-F238E27FC236}">
                <a16:creationId xmlns:a16="http://schemas.microsoft.com/office/drawing/2014/main" id="{39EAFCE1-AC4C-4E7B-9B6D-468BD2DF1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0962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7" name="shape-151">
            <a:extLst xmlns:a="http://schemas.openxmlformats.org/drawingml/2006/main">
              <a:ext uri="{FF2B5EF4-FFF2-40B4-BE49-F238E27FC236}">
                <a16:creationId xmlns:a16="http://schemas.microsoft.com/office/drawing/2014/main" id="{AAEFAF35-27A2-4DBE-BE3D-1E88EE597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47950"/>
            <a:ext cx="647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D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7202D"/>
                </a:solidFill>
                <a:latin typeface="Malgun Gothic"/>
                <a:ea typeface="Malgun Gothic"/>
                <a:cs typeface="Malgun Gothic"/>
              </a:rPr>
              <a:t>현재  ·  별도 실험 코드</a:t>
            </a:r>
          </a:p>
        </p:txBody>
      </p:sp>
      <p:sp>
        <p:nvSpPr>
          <p:cNvPr id="8" name="shape-152">
            <a:extLst xmlns:a="http://schemas.openxmlformats.org/drawingml/2006/main">
              <a:ext uri="{FF2B5EF4-FFF2-40B4-BE49-F238E27FC236}">
                <a16:creationId xmlns:a16="http://schemas.microsoft.com/office/drawing/2014/main" id="{B67244C7-E641-49D2-BDCC-3A2AF205F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19475"/>
            <a:ext cx="657225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rPr>
              <a:t>test-gangnam-dashboard/app.py</a:t>
            </a:r>
          </a:p>
          <a:p xmlns:a="http://schemas.openxmlformats.org/drawingml/2006/main">
            <a:pPr algn="l">
              <a:defRPr sz="1950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rPr>
              <a:t>model_demo()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rPr>
              <a:t>입력: 전월값(lag_1)·월 계절성(sin/cos)</a:t>
            </a:r>
          </a:p>
          <a:p xmlns:a="http://schemas.openxmlformats.org/drawingml/2006/main">
            <a:pPr algn="l">
              <a:defRPr sz="1950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rPr>
              <a:t>모델: LinearRegression / RandomForest</a:t>
            </a:r>
          </a:p>
          <a:p xmlns:a="http://schemas.openxmlformats.org/drawingml/2006/main">
            <a:pPr algn="l">
              <a:defRPr sz="1950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rPr>
              <a:t>비교: 직전월 기준선 / MAE(평균 절대오차)</a:t>
            </a:r>
          </a:p>
          <a:p xmlns:a="http://schemas.openxmlformats.org/drawingml/2006/main">
            <a:pPr algn="l">
              <a:defRPr sz="1950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rPr>
              <a:t>분리: 마지막 2~3개월을 테스트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rPr>
              <a:t>본 서비스 연결·저장 모델 없음</a:t>
            </a:r>
          </a:p>
          <a:p xmlns:a="http://schemas.openxmlformats.org/drawingml/2006/main">
            <a:pPr algn="l">
              <a:defRPr sz="1950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rPr>
              <a:t>성능 검증 완료로 소개하면 안 됩니다.</a:t>
            </a:r>
          </a:p>
        </p:txBody>
      </p:sp>
      <p:sp>
        <p:nvSpPr>
          <p:cNvPr id="9" name="shape-153">
            <a:extLst xmlns:a="http://schemas.openxmlformats.org/drawingml/2006/main">
              <a:ext uri="{FF2B5EF4-FFF2-40B4-BE49-F238E27FC236}">
                <a16:creationId xmlns:a16="http://schemas.microsoft.com/office/drawing/2014/main" id="{42B4BF6D-CBF1-4950-BED5-3B7EFA79F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647950"/>
            <a:ext cx="6429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D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7202D"/>
                </a:solidFill>
                <a:latin typeface="Malgun Gothic"/>
                <a:ea typeface="Malgun Gothic"/>
                <a:cs typeface="Malgun Gothic"/>
              </a:rPr>
              <a:t>정식 연결에 필요한 과정</a:t>
            </a:r>
          </a:p>
        </p:txBody>
      </p:sp>
      <p:sp>
        <p:nvSpPr>
          <p:cNvPr id="10" name="shape-154">
            <a:extLst xmlns:a="http://schemas.openxmlformats.org/drawingml/2006/main">
              <a:ext uri="{FF2B5EF4-FFF2-40B4-BE49-F238E27FC236}">
                <a16:creationId xmlns:a16="http://schemas.microsoft.com/office/drawing/2014/main" id="{796F2113-7E24-4255-A4D3-6BEECD147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419475"/>
            <a:ext cx="6429375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rPr>
              <a:t>동일 기준 장기간 월별 원자료</a:t>
            </a:r>
          </a:p>
          <a:p xmlns:a="http://schemas.openxmlformats.org/drawingml/2006/main">
            <a:pPr algn="l">
              <a:defRPr sz="1950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rPr>
              <a:t>       ↓</a:t>
            </a:r>
          </a:p>
          <a:p xmlns:a="http://schemas.openxmlformats.org/drawingml/2006/main">
            <a:pPr algn="l">
              <a:defRPr sz="1950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rPr>
              <a:t>시간순 Train / Validation / Test</a:t>
            </a:r>
          </a:p>
          <a:p xmlns:a="http://schemas.openxmlformats.org/drawingml/2006/main">
            <a:pPr algn="l">
              <a:defRPr sz="1950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rPr>
              <a:t>       ↓</a:t>
            </a:r>
          </a:p>
          <a:p xmlns:a="http://schemas.openxmlformats.org/drawingml/2006/main">
            <a:pPr algn="l">
              <a:defRPr sz="1950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rPr>
              <a:t>전년 동월 기준선(seasonal-naive) 비교</a:t>
            </a:r>
          </a:p>
          <a:p xmlns:a="http://schemas.openxmlformats.org/drawingml/2006/main">
            <a:pPr algn="l">
              <a:defRPr sz="1950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rPr>
              <a:t>       ↓</a:t>
            </a:r>
          </a:p>
          <a:p xmlns:a="http://schemas.openxmlformats.org/drawingml/2006/main">
            <a:pPr algn="l">
              <a:defRPr sz="1950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rPr>
              <a:t>학습된 Pipeline·Joblib·평가표 저장</a:t>
            </a:r>
          </a:p>
          <a:p xmlns:a="http://schemas.openxmlformats.org/drawingml/2006/main">
            <a:pPr algn="l">
              <a:defRPr sz="1950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rPr>
              <a:t>       ↓</a:t>
            </a:r>
          </a:p>
          <a:p xmlns:a="http://schemas.openxmlformats.org/drawingml/2006/main">
            <a:pPr algn="l">
              <a:defRPr sz="1950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rPr>
              <a:t>예측 API → snapshot의 예측 항목</a:t>
            </a:r>
          </a:p>
        </p:txBody>
      </p:sp>
      <p:sp>
        <p:nvSpPr>
          <p:cNvPr id="11" name="shape-155">
            <a:extLst xmlns:a="http://schemas.openxmlformats.org/drawingml/2006/main">
              <a:ext uri="{FF2B5EF4-FFF2-40B4-BE49-F238E27FC236}">
                <a16:creationId xmlns:a16="http://schemas.microsoft.com/office/drawing/2014/main" id="{E88A2F8D-530B-42DB-B5F7-7837F64A3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8662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68A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468AD"/>
                </a:solidFill>
                <a:latin typeface="Malgun Gothic"/>
                <a:ea typeface="Malgun Gothic"/>
                <a:cs typeface="Malgun Gothic"/>
              </a:rPr>
              <a:t>Word 실행 비교선 = 최근 월 × (1 + 목표율 × 진행 비율). ML 예측·정책 인과효과가 아닌 가정입니다.</a:t>
            </a:r>
          </a:p>
        </p:txBody>
      </p:sp>
    </p:spTree>
    <p:extLst>
      <p:ext uri="{BB962C8B-B14F-4D97-AF65-F5344CB8AC3E}">
        <p14:creationId xmlns:p14="http://schemas.microsoft.com/office/powerpoint/2010/main" val="137638619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hape-156">
            <a:extLst xmlns:a="http://schemas.openxmlformats.org/drawingml/2006/main">
              <a:ext uri="{FF2B5EF4-FFF2-40B4-BE49-F238E27FC236}">
                <a16:creationId xmlns:a16="http://schemas.microsoft.com/office/drawing/2014/main" id="{9B7FDAA6-8625-4D43-9367-18C48F845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"/>
            <a:ext cx="1238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68AD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468AD"/>
                </a:solidFill>
                <a:latin typeface="Malgun Gothic"/>
                <a:ea typeface="Malgun Gothic"/>
                <a:cs typeface="Malgun Gothic"/>
              </a:rPr>
              <a:t>11  비동기 생성·저장</a:t>
            </a:r>
          </a:p>
        </p:txBody>
      </p:sp>
      <p:sp>
        <p:nvSpPr>
          <p:cNvPr id="2" name="shape-157">
            <a:extLst xmlns:a="http://schemas.openxmlformats.org/drawingml/2006/main">
              <a:ext uri="{FF2B5EF4-FFF2-40B4-BE49-F238E27FC236}">
                <a16:creationId xmlns:a16="http://schemas.microsoft.com/office/drawing/2014/main" id="{8DEE6A97-5405-4AE3-92CE-8A8F348AE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04875"/>
            <a:ext cx="1371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7202D"/>
                </a:solidFill>
                <a:latin typeface="Malgun Gothic"/>
                <a:ea typeface="Malgun Gothic"/>
                <a:cs typeface="Malgun Gothic"/>
              </a:defRPr>
            </a:pPr>
            <a:r>
              <a:rPr sz="3900" b="1">
                <a:solidFill>
                  <a:srgbClr val="17202D"/>
                </a:solidFill>
                <a:latin typeface="Malgun Gothic"/>
                <a:ea typeface="Malgun Gothic"/>
                <a:cs typeface="Malgun Gothic"/>
              </a:rPr>
              <a:t>페이지를 나가도 서버 작업은 계속됩니다</a:t>
            </a:r>
          </a:p>
        </p:txBody>
      </p:sp>
      <p:sp>
        <p:nvSpPr>
          <p:cNvPr id="3" name="shape-158">
            <a:extLst xmlns:a="http://schemas.openxmlformats.org/drawingml/2006/main">
              <a:ext uri="{FF2B5EF4-FFF2-40B4-BE49-F238E27FC236}">
                <a16:creationId xmlns:a16="http://schemas.microsoft.com/office/drawing/2014/main" id="{3FA420CC-A4A1-424B-B9D7-8983F5E1C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1371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rPr>
              <a:t>HTTP 요청은 빨리 끝내고, 긴 AI 작업은 asyncio.create_task()로 따로 진행합니다.</a:t>
            </a:r>
          </a:p>
        </p:txBody>
      </p:sp>
      <p:sp>
        <p:nvSpPr>
          <p:cNvPr id="4" name="shape-159">
            <a:extLst xmlns:a="http://schemas.openxmlformats.org/drawingml/2006/main">
              <a:ext uri="{FF2B5EF4-FFF2-40B4-BE49-F238E27FC236}">
                <a16:creationId xmlns:a16="http://schemas.microsoft.com/office/drawing/2014/main" id="{C8015F94-3437-43AA-AE81-F0F9B26AE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96225"/>
            <a:ext cx="13716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hape-160">
            <a:extLst xmlns:a="http://schemas.openxmlformats.org/drawingml/2006/main">
              <a:ext uri="{FF2B5EF4-FFF2-40B4-BE49-F238E27FC236}">
                <a16:creationId xmlns:a16="http://schemas.microsoft.com/office/drawing/2014/main" id="{07411582-A579-4584-B5BE-99145EBCC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96250"/>
            <a:ext cx="1143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rPr>
              <a:t>TOUR INSIGHT  ·  TP2-3 개발 설명서</a:t>
            </a:r>
          </a:p>
        </p:txBody>
      </p:sp>
      <p:sp>
        <p:nvSpPr>
          <p:cNvPr id="6" name="shape-161">
            <a:extLst xmlns:a="http://schemas.openxmlformats.org/drawingml/2006/main">
              <a:ext uri="{FF2B5EF4-FFF2-40B4-BE49-F238E27FC236}">
                <a16:creationId xmlns:a16="http://schemas.microsoft.com/office/drawing/2014/main" id="{E71C5474-D181-4E4A-9087-9D6884D22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0962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62000" y="2571750"/>
          <a:ext xmlns:a="http://schemas.openxmlformats.org/drawingml/2006/main" cx="13716000" cy="3943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6191250"/>
                <a:gridCol w="5048250"/>
              </a:tblGrid>
              <a:tr h="657225">
                <a:tc>
                  <a:txBody>
                    <a:bodyPr lIns="152400" tIns="95250" rIns="15240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202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단계</a:t>
                      </a:r>
                    </a:p>
                  </a:txBody>
                  <a:tcPr marL="91440" marR="91440" marT="45720" marB="45720" anchor="ctr">
                    <a:solidFill>
                      <a:srgbClr val="F2F4F6"/>
                    </a:solidFill>
                  </a:tcPr>
                </a:tc>
                <a:tc>
                  <a:txBody>
                    <a:bodyPr lIns="152400" tIns="95250" rIns="15240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202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실제 함수 / 상태</a:t>
                      </a:r>
                    </a:p>
                  </a:txBody>
                  <a:tcPr marL="91440" marR="91440" marT="45720" marB="45720" anchor="ctr">
                    <a:solidFill>
                      <a:srgbClr val="F2F4F6"/>
                    </a:solidFill>
                  </a:tcPr>
                </a:tc>
                <a:tc>
                  <a:txBody>
                    <a:bodyPr lIns="152400" tIns="95250" rIns="15240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202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사용자에게 보이는 일</a:t>
                      </a:r>
                    </a:p>
                  </a:txBody>
                  <a:tcPr marL="91440" marR="91440" marT="45720" marB="45720" anchor="ctr">
                    <a:solidFill>
                      <a:srgbClr val="F2F4F6"/>
                    </a:solidFill>
                  </a:tcPr>
                </a:tc>
              </a:tr>
              <a:tr h="657225">
                <a:tc>
                  <a:txBody>
                    <a:bodyPr lIns="152400" tIns="95250" rIns="1524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58647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 생성 요청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524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58647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startAiStrategyReportJob() → HTTP 202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524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58647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작업 ID 저장 / 로딩 시작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 lIns="152400" tIns="95250" rIns="1524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58647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 서버 실행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524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58647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_run_strategy_report_job() / running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524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58647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5개 Agent 수행 / 화면 이동과 분리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 lIns="152400" tIns="95250" rIns="1524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58647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 상태 확인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524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58647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getAiStrategyReportJob() / 3초 polling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524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58647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다시 돌아오면 기존 작업 이어서 조회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 lIns="152400" tIns="95250" rIns="1524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58647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 완료 수신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524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58647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completed → saveReport()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524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58647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화면 결과 / 저장된 기획서 목록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 lIns="152400" tIns="95250" rIns="1524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58647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 다시 열기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524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58647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readSavedReport() / localStorage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524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58647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같은 결과 열람·재다운로드 / AI 재호출 없음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-162">
            <a:extLst xmlns:a="http://schemas.openxmlformats.org/drawingml/2006/main">
              <a:ext uri="{FF2B5EF4-FFF2-40B4-BE49-F238E27FC236}">
                <a16:creationId xmlns:a16="http://schemas.microsoft.com/office/drawing/2014/main" id="{7C1EC6CD-7D6E-49FB-BEA8-E1FA9A91E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96100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68A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468AD"/>
                </a:solidFill>
                <a:latin typeface="Malgun Gothic"/>
                <a:ea typeface="Malgun Gothic"/>
                <a:cs typeface="Malgun Gothic"/>
              </a:rPr>
              <a:t>주의: 서버 재시작 시 작업은 사라집니다. 브라우저 저장은 다른 PC·다른 origin과 공유되지 않습니다.</a:t>
            </a:r>
          </a:p>
          <a:p xmlns:a="http://schemas.openxmlformats.org/drawingml/2006/main">
            <a:pPr algn="l">
              <a:defRPr sz="1800" b="1">
                <a:solidFill>
                  <a:srgbClr val="2468A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468AD"/>
                </a:solidFill>
                <a:latin typeface="Malgun Gothic"/>
                <a:ea typeface="Malgun Gothic"/>
                <a:cs typeface="Malgun Gothic"/>
              </a:rPr>
              <a:t>완료 결과는 전략 페이지가 받아야 게시판에 저장됩니다. 운영용 영속 큐·공용 DB는 별도 구현이 필요합니다.</a:t>
            </a:r>
          </a:p>
        </p:txBody>
      </p:sp>
    </p:spTree>
    <p:extLst>
      <p:ext uri="{BB962C8B-B14F-4D97-AF65-F5344CB8AC3E}">
        <p14:creationId xmlns:p14="http://schemas.microsoft.com/office/powerpoint/2010/main" val="179099949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hape-163">
            <a:extLst xmlns:a="http://schemas.openxmlformats.org/drawingml/2006/main">
              <a:ext uri="{FF2B5EF4-FFF2-40B4-BE49-F238E27FC236}">
                <a16:creationId xmlns:a16="http://schemas.microsoft.com/office/drawing/2014/main" id="{48115B68-E2A5-4D61-9E1F-66732A097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"/>
            <a:ext cx="1238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68AD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468AD"/>
                </a:solidFill>
                <a:latin typeface="Malgun Gothic"/>
                <a:ea typeface="Malgun Gothic"/>
                <a:cs typeface="Malgun Gothic"/>
              </a:rPr>
              <a:t>12  출력·챗봇</a:t>
            </a:r>
          </a:p>
        </p:txBody>
      </p:sp>
      <p:sp>
        <p:nvSpPr>
          <p:cNvPr id="2" name="shape-164">
            <a:extLst xmlns:a="http://schemas.openxmlformats.org/drawingml/2006/main">
              <a:ext uri="{FF2B5EF4-FFF2-40B4-BE49-F238E27FC236}">
                <a16:creationId xmlns:a16="http://schemas.microsoft.com/office/drawing/2014/main" id="{F26C20E6-1123-4E2D-8C42-E9AC69F1B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04875"/>
            <a:ext cx="1371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7202D"/>
                </a:solidFill>
                <a:latin typeface="Malgun Gothic"/>
                <a:ea typeface="Malgun Gothic"/>
                <a:cs typeface="Malgun Gothic"/>
              </a:defRPr>
            </a:pPr>
            <a:r>
              <a:rPr sz="3900" b="1">
                <a:solidFill>
                  <a:srgbClr val="17202D"/>
                </a:solidFill>
                <a:latin typeface="Malgun Gothic"/>
                <a:ea typeface="Malgun Gothic"/>
                <a:cs typeface="Malgun Gothic"/>
              </a:rPr>
              <a:t>같은 기획안 JSON을 화면·Word·PPT로 사용합니다</a:t>
            </a:r>
          </a:p>
        </p:txBody>
      </p:sp>
      <p:sp>
        <p:nvSpPr>
          <p:cNvPr id="3" name="shape-165">
            <a:extLst xmlns:a="http://schemas.openxmlformats.org/drawingml/2006/main">
              <a:ext uri="{FF2B5EF4-FFF2-40B4-BE49-F238E27FC236}">
                <a16:creationId xmlns:a16="http://schemas.microsoft.com/office/drawing/2014/main" id="{7CE780C0-8464-455A-B3BF-D9E02EDB6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1371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rPr>
              <a:t>모델이 문서 파일을 직접 그리는 것이 아니라, 서버의 문서 템플릿 코드가 배치합니다.</a:t>
            </a:r>
          </a:p>
        </p:txBody>
      </p:sp>
      <p:sp>
        <p:nvSpPr>
          <p:cNvPr id="4" name="shape-166">
            <a:extLst xmlns:a="http://schemas.openxmlformats.org/drawingml/2006/main">
              <a:ext uri="{FF2B5EF4-FFF2-40B4-BE49-F238E27FC236}">
                <a16:creationId xmlns:a16="http://schemas.microsoft.com/office/drawing/2014/main" id="{5AD032B8-C573-4D7E-9EBC-A39CD8121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96225"/>
            <a:ext cx="13716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hape-167">
            <a:extLst xmlns:a="http://schemas.openxmlformats.org/drawingml/2006/main">
              <a:ext uri="{FF2B5EF4-FFF2-40B4-BE49-F238E27FC236}">
                <a16:creationId xmlns:a16="http://schemas.microsoft.com/office/drawing/2014/main" id="{EFC43502-C73A-4A13-9B61-321F1AC80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96250"/>
            <a:ext cx="1143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rPr>
              <a:t>TOUR INSIGHT  ·  TP2-3 개발 설명서</a:t>
            </a:r>
          </a:p>
        </p:txBody>
      </p:sp>
      <p:sp>
        <p:nvSpPr>
          <p:cNvPr id="6" name="shape-168">
            <a:extLst xmlns:a="http://schemas.openxmlformats.org/drawingml/2006/main">
              <a:ext uri="{FF2B5EF4-FFF2-40B4-BE49-F238E27FC236}">
                <a16:creationId xmlns:a16="http://schemas.microsoft.com/office/drawing/2014/main" id="{0ED40865-4C79-4A0D-BE55-CE18F8CCD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0962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sp>
        <p:nvSpPr>
          <p:cNvPr id="7" name="shape-169">
            <a:extLst xmlns:a="http://schemas.openxmlformats.org/drawingml/2006/main">
              <a:ext uri="{FF2B5EF4-FFF2-40B4-BE49-F238E27FC236}">
                <a16:creationId xmlns:a16="http://schemas.microsoft.com/office/drawing/2014/main" id="{4DC11475-806B-48AB-A6D0-3C9F64AAE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57525"/>
            <a:ext cx="19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8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hape-170">
            <a:extLst xmlns:a="http://schemas.openxmlformats.org/drawingml/2006/main">
              <a:ext uri="{FF2B5EF4-FFF2-40B4-BE49-F238E27FC236}">
                <a16:creationId xmlns:a16="http://schemas.microsoft.com/office/drawing/2014/main" id="{4741755D-71F9-4DF5-9067-FEFEEEBF9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371850"/>
            <a:ext cx="933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8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hape-171">
            <a:extLst xmlns:a="http://schemas.openxmlformats.org/drawingml/2006/main">
              <a:ext uri="{FF2B5EF4-FFF2-40B4-BE49-F238E27FC236}">
                <a16:creationId xmlns:a16="http://schemas.microsoft.com/office/drawing/2014/main" id="{7E14E925-DCA2-4189-8497-3079B0808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371850"/>
            <a:ext cx="19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8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hape-172">
            <a:extLst xmlns:a="http://schemas.openxmlformats.org/drawingml/2006/main">
              <a:ext uri="{FF2B5EF4-FFF2-40B4-BE49-F238E27FC236}">
                <a16:creationId xmlns:a16="http://schemas.microsoft.com/office/drawing/2014/main" id="{4948DBF1-1BFE-4439-9D6F-284908E63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371850"/>
            <a:ext cx="19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8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hape-173">
            <a:extLst xmlns:a="http://schemas.openxmlformats.org/drawingml/2006/main">
              <a:ext uri="{FF2B5EF4-FFF2-40B4-BE49-F238E27FC236}">
                <a16:creationId xmlns:a16="http://schemas.microsoft.com/office/drawing/2014/main" id="{71D03196-6574-44D6-96AC-A8C3B7118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3371850"/>
            <a:ext cx="19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8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hape-174">
            <a:extLst xmlns:a="http://schemas.openxmlformats.org/drawingml/2006/main">
              <a:ext uri="{FF2B5EF4-FFF2-40B4-BE49-F238E27FC236}">
                <a16:creationId xmlns:a16="http://schemas.microsoft.com/office/drawing/2014/main" id="{42FA30E9-3303-4E4B-935F-A05F0804E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3638550"/>
            <a:ext cx="152400" cy="1714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468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hape-175">
            <a:extLst xmlns:a="http://schemas.openxmlformats.org/drawingml/2006/main">
              <a:ext uri="{FF2B5EF4-FFF2-40B4-BE49-F238E27FC236}">
                <a16:creationId xmlns:a16="http://schemas.microsoft.com/office/drawing/2014/main" id="{617E9287-FE33-4CFB-A53B-B0E281204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638550"/>
            <a:ext cx="152400" cy="1714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468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hape-176">
            <a:extLst xmlns:a="http://schemas.openxmlformats.org/drawingml/2006/main">
              <a:ext uri="{FF2B5EF4-FFF2-40B4-BE49-F238E27FC236}">
                <a16:creationId xmlns:a16="http://schemas.microsoft.com/office/drawing/2014/main" id="{AD6EA0B5-A2E0-41D9-A045-0D1E200C1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20575" y="3638550"/>
            <a:ext cx="152400" cy="1714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468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hape-177">
            <a:extLst xmlns:a="http://schemas.openxmlformats.org/drawingml/2006/main">
              <a:ext uri="{FF2B5EF4-FFF2-40B4-BE49-F238E27FC236}">
                <a16:creationId xmlns:a16="http://schemas.microsoft.com/office/drawing/2014/main" id="{C608408B-1079-4ADB-A82D-BDE046B2B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86025"/>
            <a:ext cx="5334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hape-178">
            <a:extLst xmlns:a="http://schemas.openxmlformats.org/drawingml/2006/main">
              <a:ext uri="{FF2B5EF4-FFF2-40B4-BE49-F238E27FC236}">
                <a16:creationId xmlns:a16="http://schemas.microsoft.com/office/drawing/2014/main" id="{FEAC3680-759D-46E6-BD46-29F6BCB44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6289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02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7202D"/>
                </a:solidFill>
                <a:latin typeface="Malgun Gothic"/>
                <a:ea typeface="Malgun Gothic"/>
                <a:cs typeface="Malgun Gothic"/>
              </a:rPr>
              <a:t>ReportResponse  ·  같은 기획안 JSON</a:t>
            </a:r>
          </a:p>
        </p:txBody>
      </p:sp>
      <p:sp>
        <p:nvSpPr>
          <p:cNvPr id="17" name="shape-179">
            <a:extLst xmlns:a="http://schemas.openxmlformats.org/drawingml/2006/main">
              <a:ext uri="{FF2B5EF4-FFF2-40B4-BE49-F238E27FC236}">
                <a16:creationId xmlns:a16="http://schemas.microsoft.com/office/drawing/2014/main" id="{605F8579-E2A6-4A33-9327-FA0533168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57625"/>
            <a:ext cx="4238625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hape-180">
            <a:extLst xmlns:a="http://schemas.openxmlformats.org/drawingml/2006/main">
              <a:ext uri="{FF2B5EF4-FFF2-40B4-BE49-F238E27FC236}">
                <a16:creationId xmlns:a16="http://schemas.microsoft.com/office/drawing/2014/main" id="{824040F6-1FB8-453A-8319-D65C33637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67175"/>
            <a:ext cx="38195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2D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7202D"/>
                </a:solidFill>
                <a:latin typeface="Malgun Gothic"/>
                <a:ea typeface="Malgun Gothic"/>
                <a:cs typeface="Malgun Gothic"/>
              </a:rPr>
              <a:t>React 화면</a:t>
            </a:r>
          </a:p>
        </p:txBody>
      </p:sp>
      <p:sp>
        <p:nvSpPr>
          <p:cNvPr id="19" name="shape-181">
            <a:extLst xmlns:a="http://schemas.openxmlformats.org/drawingml/2006/main">
              <a:ext uri="{FF2B5EF4-FFF2-40B4-BE49-F238E27FC236}">
                <a16:creationId xmlns:a16="http://schemas.microsoft.com/office/drawing/2014/main" id="{04A9D955-B688-471E-AB23-10B4B4271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19625"/>
            <a:ext cx="38195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rPr>
              <a:t>문제·솔루션·실행표·차트</a:t>
            </a:r>
          </a:p>
        </p:txBody>
      </p:sp>
      <p:sp>
        <p:nvSpPr>
          <p:cNvPr id="20" name="shape-182">
            <a:extLst xmlns:a="http://schemas.openxmlformats.org/drawingml/2006/main">
              <a:ext uri="{FF2B5EF4-FFF2-40B4-BE49-F238E27FC236}">
                <a16:creationId xmlns:a16="http://schemas.microsoft.com/office/drawing/2014/main" id="{17C60A68-F5E9-4C02-AB4A-B2E137C18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857625"/>
            <a:ext cx="4238625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hape-183">
            <a:extLst xmlns:a="http://schemas.openxmlformats.org/drawingml/2006/main">
              <a:ext uri="{FF2B5EF4-FFF2-40B4-BE49-F238E27FC236}">
                <a16:creationId xmlns:a16="http://schemas.microsoft.com/office/drawing/2014/main" id="{32E33F73-CB08-458B-8CAB-DD12E6C3F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067175"/>
            <a:ext cx="38195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2D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7202D"/>
                </a:solidFill>
                <a:latin typeface="Malgun Gothic"/>
                <a:ea typeface="Malgun Gothic"/>
                <a:cs typeface="Malgun Gothic"/>
              </a:rPr>
              <a:t>Word (.docx)</a:t>
            </a:r>
          </a:p>
        </p:txBody>
      </p:sp>
      <p:sp>
        <p:nvSpPr>
          <p:cNvPr id="22" name="shape-184">
            <a:extLst xmlns:a="http://schemas.openxmlformats.org/drawingml/2006/main">
              <a:ext uri="{FF2B5EF4-FFF2-40B4-BE49-F238E27FC236}">
                <a16:creationId xmlns:a16="http://schemas.microsoft.com/office/drawing/2014/main" id="{A3DFD120-9CD1-4402-A604-7331D0606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619625"/>
            <a:ext cx="38195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rPr>
              <a:t>python-docx + Matplotlib</a:t>
            </a:r>
          </a:p>
        </p:txBody>
      </p:sp>
      <p:sp>
        <p:nvSpPr>
          <p:cNvPr id="23" name="shape-185">
            <a:extLst xmlns:a="http://schemas.openxmlformats.org/drawingml/2006/main">
              <a:ext uri="{FF2B5EF4-FFF2-40B4-BE49-F238E27FC236}">
                <a16:creationId xmlns:a16="http://schemas.microsoft.com/office/drawing/2014/main" id="{34A52DEB-60D9-4D6B-9FFF-67B5DF955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857625"/>
            <a:ext cx="4238625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shape-186">
            <a:extLst xmlns:a="http://schemas.openxmlformats.org/drawingml/2006/main">
              <a:ext uri="{FF2B5EF4-FFF2-40B4-BE49-F238E27FC236}">
                <a16:creationId xmlns:a16="http://schemas.microsoft.com/office/drawing/2014/main" id="{61BCFB7F-4E49-45B1-95CC-0B67F33F7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4067175"/>
            <a:ext cx="38195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2D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7202D"/>
                </a:solidFill>
                <a:latin typeface="Malgun Gothic"/>
                <a:ea typeface="Malgun Gothic"/>
                <a:cs typeface="Malgun Gothic"/>
              </a:rPr>
              <a:t>PPT (.pptx)</a:t>
            </a:r>
          </a:p>
        </p:txBody>
      </p:sp>
      <p:sp>
        <p:nvSpPr>
          <p:cNvPr id="25" name="shape-187">
            <a:extLst xmlns:a="http://schemas.openxmlformats.org/drawingml/2006/main">
              <a:ext uri="{FF2B5EF4-FFF2-40B4-BE49-F238E27FC236}">
                <a16:creationId xmlns:a16="http://schemas.microsoft.com/office/drawing/2014/main" id="{48BB736D-58F0-4525-ADBA-88C0A1AE6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4619625"/>
            <a:ext cx="38195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rPr>
              <a:t>python-pptx / 편집형 슬라이드</a:t>
            </a:r>
          </a:p>
        </p:txBody>
      </p:sp>
      <p:sp>
        <p:nvSpPr>
          <p:cNvPr id="26" name="shape-188">
            <a:extLst xmlns:a="http://schemas.openxmlformats.org/drawingml/2006/main">
              <a:ext uri="{FF2B5EF4-FFF2-40B4-BE49-F238E27FC236}">
                <a16:creationId xmlns:a16="http://schemas.microsoft.com/office/drawing/2014/main" id="{0981D219-29FF-4DB2-9DA3-EA65327BD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29275"/>
            <a:ext cx="1371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468AD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2468AD"/>
                </a:solidFill>
                <a:latin typeface="Malgun Gothic"/>
                <a:ea typeface="Malgun Gothic"/>
                <a:cs typeface="Malgun Gothic"/>
              </a:rPr>
              <a:t>다운로드는 저장된 JSON을 템플릿으로 변환합니다. 문서별로 AI를 다시 호출하지 않습니다.</a:t>
            </a:r>
          </a:p>
        </p:txBody>
      </p:sp>
      <p:sp>
        <p:nvSpPr>
          <p:cNvPr id="27" name="shape-189">
            <a:extLst xmlns:a="http://schemas.openxmlformats.org/drawingml/2006/main">
              <a:ext uri="{FF2B5EF4-FFF2-40B4-BE49-F238E27FC236}">
                <a16:creationId xmlns:a16="http://schemas.microsoft.com/office/drawing/2014/main" id="{FB89BEBF-1815-4819-BE41-4C58083EF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43625"/>
            <a:ext cx="13716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shape-190">
            <a:extLst xmlns:a="http://schemas.openxmlformats.org/drawingml/2006/main">
              <a:ext uri="{FF2B5EF4-FFF2-40B4-BE49-F238E27FC236}">
                <a16:creationId xmlns:a16="http://schemas.microsoft.com/office/drawing/2014/main" id="{8EBDE2F1-D390-4224-BCE6-079E0BF28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38900"/>
            <a:ext cx="1371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7202D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1">
                <a:solidFill>
                  <a:srgbClr val="17202D"/>
                </a:solidFill>
                <a:latin typeface="Malgun Gothic"/>
                <a:ea typeface="Malgun Gothic"/>
                <a:cs typeface="Malgun Gothic"/>
              </a:rPr>
              <a:t>챗봇  TourismChatAssistantAgent.answer()</a:t>
            </a:r>
          </a:p>
        </p:txBody>
      </p:sp>
      <p:sp>
        <p:nvSpPr>
          <p:cNvPr id="29" name="shape-191">
            <a:extLst xmlns:a="http://schemas.openxmlformats.org/drawingml/2006/main">
              <a:ext uri="{FF2B5EF4-FFF2-40B4-BE49-F238E27FC236}">
                <a16:creationId xmlns:a16="http://schemas.microsoft.com/office/drawing/2014/main" id="{92E48CF4-2FC4-47D6-9B9C-8B75CDA41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991350"/>
            <a:ext cx="137160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rPr>
              <a:t>선택 지역 + 현재 기획안 + 최근 대화 8개 + 질문 → 설명 / 공식 웹 조사 / 수정안</a:t>
            </a:r>
          </a:p>
          <a:p xmlns:a="http://schemas.openxmlformats.org/drawingml/2006/main">
            <a:pPr algn="l">
              <a:defRPr sz="1875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rPr>
              <a:t>사용자가 “적용”하면 저장본 갱신. 챗봇은 5개 생성 Agent와 별도 기능입니다.</a:t>
            </a:r>
          </a:p>
        </p:txBody>
      </p:sp>
    </p:spTree>
    <p:extLst>
      <p:ext uri="{BB962C8B-B14F-4D97-AF65-F5344CB8AC3E}">
        <p14:creationId xmlns:p14="http://schemas.microsoft.com/office/powerpoint/2010/main" val="193325890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hape-192">
            <a:extLst xmlns:a="http://schemas.openxmlformats.org/drawingml/2006/main">
              <a:ext uri="{FF2B5EF4-FFF2-40B4-BE49-F238E27FC236}">
                <a16:creationId xmlns:a16="http://schemas.microsoft.com/office/drawing/2014/main" id="{A791C216-87E2-4DF4-AC5C-C29412C54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"/>
            <a:ext cx="1238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68AD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468AD"/>
                </a:solidFill>
                <a:latin typeface="Malgun Gothic"/>
                <a:ea typeface="Malgun Gothic"/>
                <a:cs typeface="Malgun Gothic"/>
              </a:rPr>
              <a:t>13  개발·운영 안내</a:t>
            </a:r>
          </a:p>
        </p:txBody>
      </p:sp>
      <p:sp>
        <p:nvSpPr>
          <p:cNvPr id="2" name="shape-193">
            <a:extLst xmlns:a="http://schemas.openxmlformats.org/drawingml/2006/main">
              <a:ext uri="{FF2B5EF4-FFF2-40B4-BE49-F238E27FC236}">
                <a16:creationId xmlns:a16="http://schemas.microsoft.com/office/drawing/2014/main" id="{B351DCB4-0342-4CD0-A8F1-99E20DA41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04875"/>
            <a:ext cx="1371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7202D"/>
                </a:solidFill>
                <a:latin typeface="Malgun Gothic"/>
                <a:ea typeface="Malgun Gothic"/>
                <a:cs typeface="Malgun Gothic"/>
              </a:defRPr>
            </a:pPr>
            <a:r>
              <a:rPr sz="3900" b="1">
                <a:solidFill>
                  <a:srgbClr val="17202D"/>
                </a:solidFill>
                <a:latin typeface="Malgun Gothic"/>
                <a:ea typeface="Malgun Gothic"/>
                <a:cs typeface="Malgun Gothic"/>
              </a:rPr>
              <a:t>팀원은 이 파일부터 보면 됩니다</a:t>
            </a:r>
          </a:p>
        </p:txBody>
      </p:sp>
      <p:sp>
        <p:nvSpPr>
          <p:cNvPr id="3" name="shape-194">
            <a:extLst xmlns:a="http://schemas.openxmlformats.org/drawingml/2006/main">
              <a:ext uri="{FF2B5EF4-FFF2-40B4-BE49-F238E27FC236}">
                <a16:creationId xmlns:a16="http://schemas.microsoft.com/office/drawing/2014/main" id="{023B188A-8F69-47F5-BB28-C108060E3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1371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rPr>
              <a:t>수치 계산·AI 지시·출력 디자인을 분리해 수정하면 변경 범위를 이해하기 쉽습니다.</a:t>
            </a:r>
          </a:p>
        </p:txBody>
      </p:sp>
      <p:sp>
        <p:nvSpPr>
          <p:cNvPr id="4" name="shape-195">
            <a:extLst xmlns:a="http://schemas.openxmlformats.org/drawingml/2006/main">
              <a:ext uri="{FF2B5EF4-FFF2-40B4-BE49-F238E27FC236}">
                <a16:creationId xmlns:a16="http://schemas.microsoft.com/office/drawing/2014/main" id="{A8943F50-FB7B-49BA-886E-C652AD897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96225"/>
            <a:ext cx="13716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hape-196">
            <a:extLst xmlns:a="http://schemas.openxmlformats.org/drawingml/2006/main">
              <a:ext uri="{FF2B5EF4-FFF2-40B4-BE49-F238E27FC236}">
                <a16:creationId xmlns:a16="http://schemas.microsoft.com/office/drawing/2014/main" id="{B127A3D5-624C-42D9-A3BC-D0FE6A888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96250"/>
            <a:ext cx="1143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rPr>
              <a:t>TOUR INSIGHT  ·  TP2-3 개발 설명서</a:t>
            </a:r>
          </a:p>
        </p:txBody>
      </p:sp>
      <p:sp>
        <p:nvSpPr>
          <p:cNvPr id="6" name="shape-197">
            <a:extLst xmlns:a="http://schemas.openxmlformats.org/drawingml/2006/main">
              <a:ext uri="{FF2B5EF4-FFF2-40B4-BE49-F238E27FC236}">
                <a16:creationId xmlns:a16="http://schemas.microsoft.com/office/drawing/2014/main" id="{0106EAC8-D291-4742-8A41-89D1CFE47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0962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762000" y="2476500"/>
          <a:ext xmlns:a="http://schemas.openxmlformats.org/drawingml/2006/main" cx="13716000" cy="3448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95625"/>
                <a:gridCol w="10620375"/>
              </a:tblGrid>
              <a:tr h="574675">
                <a:tc>
                  <a:txBody>
                    <a:bodyPr lIns="152400" tIns="95250" rIns="15240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202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바꿀 내용</a:t>
                      </a:r>
                    </a:p>
                  </a:txBody>
                  <a:tcPr marL="91440" marR="91440" marT="45720" marB="45720" anchor="ctr">
                    <a:solidFill>
                      <a:srgbClr val="F2F4F6"/>
                    </a:solidFill>
                  </a:tcPr>
                </a:tc>
                <a:tc>
                  <a:txBody>
                    <a:bodyPr lIns="152400" tIns="95250" rIns="15240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202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먼저 볼 파일  (TP2-3 기준)</a:t>
                      </a:r>
                    </a:p>
                  </a:txBody>
                  <a:tcPr marL="91440" marR="91440" marT="45720" marB="45720" anchor="ctr">
                    <a:solidFill>
                      <a:srgbClr val="F2F4F6"/>
                    </a:solidFill>
                  </a:tcPr>
                </a:tc>
              </a:tr>
              <a:tr h="574675">
                <a:tc>
                  <a:txBody>
                    <a:bodyPr lIns="152400" tIns="95250" rIns="1524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58647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화면·저장 게시판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524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58647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frontend/src/pages/ · App.jsx · tourismWorkspace.js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74675">
                <a:tc>
                  <a:txBody>
                    <a:bodyPr lIns="152400" tIns="95250" rIns="1524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58647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원자료·월간 지표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524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58647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ai_server/app/raw_data_repository.py · main.py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74675">
                <a:tc>
                  <a:txBody>
                    <a:bodyPr lIns="152400" tIns="95250" rIns="1524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58647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Agent 역할·순서·말투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524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58647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ai_server/app/agents/ 각 Agent · report_orchestrator.py · prompts.py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74675">
                <a:tc>
                  <a:txBody>
                    <a:bodyPr lIns="152400" tIns="95250" rIns="1524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58647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문서·RAG·관광 API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524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58647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proposal_document.py · proposal_presentation.py · rag_store.py · tourism_open_api.py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74675">
                <a:tc>
                  <a:txBody>
                    <a:bodyPr lIns="152400" tIns="95250" rIns="1524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58647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모델·키·의존성·변경 이력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524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58647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.env / requirements.txt / frontend/package.json / docs/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-198">
            <a:extLst xmlns:a="http://schemas.openxmlformats.org/drawingml/2006/main">
              <a:ext uri="{FF2B5EF4-FFF2-40B4-BE49-F238E27FC236}">
                <a16:creationId xmlns:a16="http://schemas.microsoft.com/office/drawing/2014/main" id="{DFAF7B3B-7E56-407C-8DE9-FB92E9E10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43650"/>
            <a:ext cx="1381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D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7202D"/>
                </a:solidFill>
                <a:latin typeface="Malgun Gothic"/>
                <a:ea typeface="Malgun Gothic"/>
                <a:cs typeface="Malgun Gothic"/>
              </a:rPr>
              <a:t>실행</a:t>
            </a:r>
          </a:p>
        </p:txBody>
      </p:sp>
      <p:sp>
        <p:nvSpPr>
          <p:cNvPr id="9" name="shape-199">
            <a:extLst xmlns:a="http://schemas.openxmlformats.org/drawingml/2006/main">
              <a:ext uri="{FF2B5EF4-FFF2-40B4-BE49-F238E27FC236}">
                <a16:creationId xmlns:a16="http://schemas.microsoft.com/office/drawing/2014/main" id="{5FEB3CF4-1EE7-40A5-8B52-E73E6442E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305550"/>
            <a:ext cx="121443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rPr>
              <a:t>cd C:/Users/Admin/mbca/TP2-3</a:t>
            </a:r>
          </a:p>
          <a:p xmlns:a="http://schemas.openxmlformats.org/drawingml/2006/main">
            <a:pPr algn="l">
              <a:defRPr sz="2025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86473"/>
                </a:solidFill>
                <a:latin typeface="Malgun Gothic"/>
                <a:ea typeface="Malgun Gothic"/>
                <a:cs typeface="Malgun Gothic"/>
              </a:rPr>
              <a:t>./start-dev.ps1   →   http://localhost:5175</a:t>
            </a:r>
          </a:p>
        </p:txBody>
      </p:sp>
      <p:sp>
        <p:nvSpPr>
          <p:cNvPr id="10" name="shape-200">
            <a:extLst xmlns:a="http://schemas.openxmlformats.org/drawingml/2006/main">
              <a:ext uri="{FF2B5EF4-FFF2-40B4-BE49-F238E27FC236}">
                <a16:creationId xmlns:a16="http://schemas.microsoft.com/office/drawing/2014/main" id="{9B47FAE5-DDF2-4979-BAE9-7B857C9FA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15200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68A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468AD"/>
                </a:solidFill>
                <a:latin typeface="Malgun Gothic"/>
                <a:ea typeface="Malgun Gothic"/>
                <a:cs typeface="Malgun Gothic"/>
              </a:rPr>
              <a:t>핵심: 코드가 숫자를 계산하고, 근거 검색이 맥락을 보강하며, AI가 기획하고 템플릿이 문서로 만듭니다.</a:t>
            </a:r>
          </a:p>
        </p:txBody>
      </p:sp>
    </p:spTree>
    <p:extLst>
      <p:ext uri="{BB962C8B-B14F-4D97-AF65-F5344CB8AC3E}">
        <p14:creationId xmlns:p14="http://schemas.microsoft.com/office/powerpoint/2010/main" val="13296081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2026-08-27T23:55:33.4810000Z</dcterms:created>
  <dcterms:modified xsi:type="dcterms:W3CDTF">2026-08-27T23:55:33.4810000Z</dcterms:modified>
</coreProperties>
</file>